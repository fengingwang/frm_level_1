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theme/themeOverride2.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0" r:id="rId2"/>
  </p:sldMasterIdLst>
  <p:notesMasterIdLst>
    <p:notesMasterId r:id="rId264"/>
  </p:notesMasterIdLst>
  <p:sldIdLst>
    <p:sldId id="351" r:id="rId3"/>
    <p:sldId id="258" r:id="rId4"/>
    <p:sldId id="259" r:id="rId5"/>
    <p:sldId id="347" r:id="rId6"/>
    <p:sldId id="261" r:id="rId7"/>
    <p:sldId id="264" r:id="rId8"/>
    <p:sldId id="353" r:id="rId9"/>
    <p:sldId id="354" r:id="rId10"/>
    <p:sldId id="355" r:id="rId11"/>
    <p:sldId id="356" r:id="rId12"/>
    <p:sldId id="358" r:id="rId13"/>
    <p:sldId id="359" r:id="rId14"/>
    <p:sldId id="360" r:id="rId15"/>
    <p:sldId id="361" r:id="rId16"/>
    <p:sldId id="362" r:id="rId17"/>
    <p:sldId id="363" r:id="rId18"/>
    <p:sldId id="364" r:id="rId19"/>
    <p:sldId id="365" r:id="rId20"/>
    <p:sldId id="366" r:id="rId21"/>
    <p:sldId id="367" r:id="rId22"/>
    <p:sldId id="357" r:id="rId23"/>
    <p:sldId id="368" r:id="rId24"/>
    <p:sldId id="369" r:id="rId25"/>
    <p:sldId id="370" r:id="rId26"/>
    <p:sldId id="371" r:id="rId27"/>
    <p:sldId id="391" r:id="rId28"/>
    <p:sldId id="372" r:id="rId29"/>
    <p:sldId id="373" r:id="rId30"/>
    <p:sldId id="374" r:id="rId31"/>
    <p:sldId id="375" r:id="rId32"/>
    <p:sldId id="376" r:id="rId33"/>
    <p:sldId id="377" r:id="rId34"/>
    <p:sldId id="378" r:id="rId35"/>
    <p:sldId id="379" r:id="rId36"/>
    <p:sldId id="380" r:id="rId37"/>
    <p:sldId id="381" r:id="rId38"/>
    <p:sldId id="382" r:id="rId39"/>
    <p:sldId id="383" r:id="rId40"/>
    <p:sldId id="384" r:id="rId41"/>
    <p:sldId id="392" r:id="rId42"/>
    <p:sldId id="393" r:id="rId43"/>
    <p:sldId id="394" r:id="rId44"/>
    <p:sldId id="395" r:id="rId45"/>
    <p:sldId id="396" r:id="rId46"/>
    <p:sldId id="397" r:id="rId47"/>
    <p:sldId id="398" r:id="rId48"/>
    <p:sldId id="399" r:id="rId49"/>
    <p:sldId id="400" r:id="rId50"/>
    <p:sldId id="401" r:id="rId51"/>
    <p:sldId id="402" r:id="rId52"/>
    <p:sldId id="403" r:id="rId53"/>
    <p:sldId id="404" r:id="rId54"/>
    <p:sldId id="405" r:id="rId55"/>
    <p:sldId id="406" r:id="rId56"/>
    <p:sldId id="407" r:id="rId57"/>
    <p:sldId id="408" r:id="rId58"/>
    <p:sldId id="409" r:id="rId59"/>
    <p:sldId id="410" r:id="rId60"/>
    <p:sldId id="411" r:id="rId61"/>
    <p:sldId id="412" r:id="rId62"/>
    <p:sldId id="413" r:id="rId63"/>
    <p:sldId id="414" r:id="rId64"/>
    <p:sldId id="415" r:id="rId65"/>
    <p:sldId id="417" r:id="rId66"/>
    <p:sldId id="418" r:id="rId67"/>
    <p:sldId id="416" r:id="rId68"/>
    <p:sldId id="419" r:id="rId69"/>
    <p:sldId id="420" r:id="rId70"/>
    <p:sldId id="421" r:id="rId71"/>
    <p:sldId id="422" r:id="rId72"/>
    <p:sldId id="423" r:id="rId73"/>
    <p:sldId id="424" r:id="rId74"/>
    <p:sldId id="425" r:id="rId75"/>
    <p:sldId id="426" r:id="rId76"/>
    <p:sldId id="427" r:id="rId77"/>
    <p:sldId id="428" r:id="rId78"/>
    <p:sldId id="429" r:id="rId79"/>
    <p:sldId id="430" r:id="rId80"/>
    <p:sldId id="431" r:id="rId81"/>
    <p:sldId id="432" r:id="rId82"/>
    <p:sldId id="433" r:id="rId83"/>
    <p:sldId id="434" r:id="rId84"/>
    <p:sldId id="435" r:id="rId85"/>
    <p:sldId id="436" r:id="rId86"/>
    <p:sldId id="437" r:id="rId87"/>
    <p:sldId id="438" r:id="rId88"/>
    <p:sldId id="439" r:id="rId89"/>
    <p:sldId id="440" r:id="rId90"/>
    <p:sldId id="441" r:id="rId91"/>
    <p:sldId id="442" r:id="rId92"/>
    <p:sldId id="443" r:id="rId93"/>
    <p:sldId id="444" r:id="rId94"/>
    <p:sldId id="445" r:id="rId95"/>
    <p:sldId id="446" r:id="rId96"/>
    <p:sldId id="447" r:id="rId97"/>
    <p:sldId id="448" r:id="rId98"/>
    <p:sldId id="449" r:id="rId99"/>
    <p:sldId id="450" r:id="rId100"/>
    <p:sldId id="451" r:id="rId101"/>
    <p:sldId id="452" r:id="rId102"/>
    <p:sldId id="453" r:id="rId103"/>
    <p:sldId id="454" r:id="rId104"/>
    <p:sldId id="455" r:id="rId105"/>
    <p:sldId id="456" r:id="rId106"/>
    <p:sldId id="457" r:id="rId107"/>
    <p:sldId id="458" r:id="rId108"/>
    <p:sldId id="459" r:id="rId109"/>
    <p:sldId id="460" r:id="rId110"/>
    <p:sldId id="461" r:id="rId111"/>
    <p:sldId id="462" r:id="rId112"/>
    <p:sldId id="463" r:id="rId113"/>
    <p:sldId id="464" r:id="rId114"/>
    <p:sldId id="465" r:id="rId115"/>
    <p:sldId id="466" r:id="rId116"/>
    <p:sldId id="467" r:id="rId117"/>
    <p:sldId id="468" r:id="rId118"/>
    <p:sldId id="469" r:id="rId119"/>
    <p:sldId id="470" r:id="rId120"/>
    <p:sldId id="471" r:id="rId121"/>
    <p:sldId id="472" r:id="rId122"/>
    <p:sldId id="473" r:id="rId123"/>
    <p:sldId id="474" r:id="rId124"/>
    <p:sldId id="475" r:id="rId125"/>
    <p:sldId id="476" r:id="rId126"/>
    <p:sldId id="477" r:id="rId127"/>
    <p:sldId id="478" r:id="rId128"/>
    <p:sldId id="479" r:id="rId129"/>
    <p:sldId id="480" r:id="rId130"/>
    <p:sldId id="481" r:id="rId131"/>
    <p:sldId id="482" r:id="rId132"/>
    <p:sldId id="483" r:id="rId133"/>
    <p:sldId id="484" r:id="rId134"/>
    <p:sldId id="485" r:id="rId135"/>
    <p:sldId id="486" r:id="rId136"/>
    <p:sldId id="487" r:id="rId137"/>
    <p:sldId id="488" r:id="rId138"/>
    <p:sldId id="489" r:id="rId139"/>
    <p:sldId id="490" r:id="rId140"/>
    <p:sldId id="497" r:id="rId141"/>
    <p:sldId id="498" r:id="rId142"/>
    <p:sldId id="491" r:id="rId143"/>
    <p:sldId id="499" r:id="rId144"/>
    <p:sldId id="500" r:id="rId145"/>
    <p:sldId id="501" r:id="rId146"/>
    <p:sldId id="502" r:id="rId147"/>
    <p:sldId id="503" r:id="rId148"/>
    <p:sldId id="504" r:id="rId149"/>
    <p:sldId id="505" r:id="rId150"/>
    <p:sldId id="506" r:id="rId151"/>
    <p:sldId id="507" r:id="rId152"/>
    <p:sldId id="508" r:id="rId153"/>
    <p:sldId id="509" r:id="rId154"/>
    <p:sldId id="510" r:id="rId155"/>
    <p:sldId id="511" r:id="rId156"/>
    <p:sldId id="512" r:id="rId157"/>
    <p:sldId id="513" r:id="rId158"/>
    <p:sldId id="514" r:id="rId159"/>
    <p:sldId id="515" r:id="rId160"/>
    <p:sldId id="516" r:id="rId161"/>
    <p:sldId id="517" r:id="rId162"/>
    <p:sldId id="518" r:id="rId163"/>
    <p:sldId id="519" r:id="rId164"/>
    <p:sldId id="520" r:id="rId165"/>
    <p:sldId id="521" r:id="rId166"/>
    <p:sldId id="522" r:id="rId167"/>
    <p:sldId id="523" r:id="rId168"/>
    <p:sldId id="524" r:id="rId169"/>
    <p:sldId id="525" r:id="rId170"/>
    <p:sldId id="526" r:id="rId171"/>
    <p:sldId id="527" r:id="rId172"/>
    <p:sldId id="528" r:id="rId173"/>
    <p:sldId id="529" r:id="rId174"/>
    <p:sldId id="530" r:id="rId175"/>
    <p:sldId id="531" r:id="rId176"/>
    <p:sldId id="532" r:id="rId177"/>
    <p:sldId id="533" r:id="rId178"/>
    <p:sldId id="535" r:id="rId179"/>
    <p:sldId id="536" r:id="rId180"/>
    <p:sldId id="534" r:id="rId181"/>
    <p:sldId id="540" r:id="rId182"/>
    <p:sldId id="541" r:id="rId183"/>
    <p:sldId id="542" r:id="rId184"/>
    <p:sldId id="543" r:id="rId185"/>
    <p:sldId id="544" r:id="rId186"/>
    <p:sldId id="545" r:id="rId187"/>
    <p:sldId id="546" r:id="rId188"/>
    <p:sldId id="547" r:id="rId189"/>
    <p:sldId id="548" r:id="rId190"/>
    <p:sldId id="549" r:id="rId191"/>
    <p:sldId id="550" r:id="rId192"/>
    <p:sldId id="551" r:id="rId193"/>
    <p:sldId id="552" r:id="rId194"/>
    <p:sldId id="553" r:id="rId195"/>
    <p:sldId id="554" r:id="rId196"/>
    <p:sldId id="555" r:id="rId197"/>
    <p:sldId id="556" r:id="rId198"/>
    <p:sldId id="557" r:id="rId199"/>
    <p:sldId id="558" r:id="rId200"/>
    <p:sldId id="559" r:id="rId201"/>
    <p:sldId id="560" r:id="rId202"/>
    <p:sldId id="561" r:id="rId203"/>
    <p:sldId id="562" r:id="rId204"/>
    <p:sldId id="563" r:id="rId205"/>
    <p:sldId id="564" r:id="rId206"/>
    <p:sldId id="565" r:id="rId207"/>
    <p:sldId id="566" r:id="rId208"/>
    <p:sldId id="567" r:id="rId209"/>
    <p:sldId id="569" r:id="rId210"/>
    <p:sldId id="570" r:id="rId211"/>
    <p:sldId id="571" r:id="rId212"/>
    <p:sldId id="572" r:id="rId213"/>
    <p:sldId id="573" r:id="rId214"/>
    <p:sldId id="574" r:id="rId215"/>
    <p:sldId id="575" r:id="rId216"/>
    <p:sldId id="576" r:id="rId217"/>
    <p:sldId id="577" r:id="rId218"/>
    <p:sldId id="578" r:id="rId219"/>
    <p:sldId id="537" r:id="rId220"/>
    <p:sldId id="539" r:id="rId221"/>
    <p:sldId id="579" r:id="rId222"/>
    <p:sldId id="580" r:id="rId223"/>
    <p:sldId id="581" r:id="rId224"/>
    <p:sldId id="582" r:id="rId225"/>
    <p:sldId id="583" r:id="rId226"/>
    <p:sldId id="584" r:id="rId227"/>
    <p:sldId id="585" r:id="rId228"/>
    <p:sldId id="586" r:id="rId229"/>
    <p:sldId id="587" r:id="rId230"/>
    <p:sldId id="588" r:id="rId231"/>
    <p:sldId id="589" r:id="rId232"/>
    <p:sldId id="590" r:id="rId233"/>
    <p:sldId id="591" r:id="rId234"/>
    <p:sldId id="352" r:id="rId235"/>
    <p:sldId id="601" r:id="rId236"/>
    <p:sldId id="600" r:id="rId237"/>
    <p:sldId id="602" r:id="rId238"/>
    <p:sldId id="603" r:id="rId239"/>
    <p:sldId id="604" r:id="rId240"/>
    <p:sldId id="605" r:id="rId241"/>
    <p:sldId id="606" r:id="rId242"/>
    <p:sldId id="607" r:id="rId243"/>
    <p:sldId id="608" r:id="rId244"/>
    <p:sldId id="609" r:id="rId245"/>
    <p:sldId id="610" r:id="rId246"/>
    <p:sldId id="611" r:id="rId247"/>
    <p:sldId id="612" r:id="rId248"/>
    <p:sldId id="613" r:id="rId249"/>
    <p:sldId id="614" r:id="rId250"/>
    <p:sldId id="615" r:id="rId251"/>
    <p:sldId id="616" r:id="rId252"/>
    <p:sldId id="617" r:id="rId253"/>
    <p:sldId id="618" r:id="rId254"/>
    <p:sldId id="619" r:id="rId255"/>
    <p:sldId id="628" r:id="rId256"/>
    <p:sldId id="629" r:id="rId257"/>
    <p:sldId id="630" r:id="rId258"/>
    <p:sldId id="631" r:id="rId259"/>
    <p:sldId id="632" r:id="rId260"/>
    <p:sldId id="620" r:id="rId261"/>
    <p:sldId id="621" r:id="rId262"/>
    <p:sldId id="633" r:id="rId263"/>
  </p:sldIdLst>
  <p:sldSz cx="12192000" cy="6858000"/>
  <p:notesSz cx="6858000" cy="9144000"/>
  <p:custDataLst>
    <p:tags r:id="rId26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EA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31" autoAdjust="0"/>
  </p:normalViewPr>
  <p:slideViewPr>
    <p:cSldViewPr snapToGrid="0">
      <p:cViewPr varScale="1">
        <p:scale>
          <a:sx n="81" d="100"/>
          <a:sy n="81" d="100"/>
        </p:scale>
        <p:origin x="725"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slide" Target="slides/slide224.xml"/><Relationship Id="rId247" Type="http://schemas.openxmlformats.org/officeDocument/2006/relationships/slide" Target="slides/slide245.xml"/><Relationship Id="rId107" Type="http://schemas.openxmlformats.org/officeDocument/2006/relationships/slide" Target="slides/slide105.xml"/><Relationship Id="rId268" Type="http://schemas.openxmlformats.org/officeDocument/2006/relationships/theme" Target="theme/theme1.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37" Type="http://schemas.openxmlformats.org/officeDocument/2006/relationships/slide" Target="slides/slide235.xml"/><Relationship Id="rId258" Type="http://schemas.openxmlformats.org/officeDocument/2006/relationships/slide" Target="slides/slide256.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248" Type="http://schemas.openxmlformats.org/officeDocument/2006/relationships/slide" Target="slides/slide246.xml"/><Relationship Id="rId269" Type="http://schemas.openxmlformats.org/officeDocument/2006/relationships/tableStyles" Target="tableStyles.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8" Type="http://schemas.openxmlformats.org/officeDocument/2006/relationships/slide" Target="slides/slide236.xml"/><Relationship Id="rId259" Type="http://schemas.openxmlformats.org/officeDocument/2006/relationships/slide" Target="slides/slide257.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172" Type="http://schemas.openxmlformats.org/officeDocument/2006/relationships/slide" Target="slides/slide170.xml"/><Relationship Id="rId193" Type="http://schemas.openxmlformats.org/officeDocument/2006/relationships/slide" Target="slides/slide191.xml"/><Relationship Id="rId202" Type="http://schemas.openxmlformats.org/officeDocument/2006/relationships/slide" Target="slides/slide200.xml"/><Relationship Id="rId207" Type="http://schemas.openxmlformats.org/officeDocument/2006/relationships/slide" Target="slides/slide205.xml"/><Relationship Id="rId223" Type="http://schemas.openxmlformats.org/officeDocument/2006/relationships/slide" Target="slides/slide221.xml"/><Relationship Id="rId228" Type="http://schemas.openxmlformats.org/officeDocument/2006/relationships/slide" Target="slides/slide226.xml"/><Relationship Id="rId244" Type="http://schemas.openxmlformats.org/officeDocument/2006/relationships/slide" Target="slides/slide242.xml"/><Relationship Id="rId249" Type="http://schemas.openxmlformats.org/officeDocument/2006/relationships/slide" Target="slides/slide24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260" Type="http://schemas.openxmlformats.org/officeDocument/2006/relationships/slide" Target="slides/slide258.xml"/><Relationship Id="rId265" Type="http://schemas.openxmlformats.org/officeDocument/2006/relationships/tags" Target="tags/tag1.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13" Type="http://schemas.openxmlformats.org/officeDocument/2006/relationships/slide" Target="slides/slide211.xml"/><Relationship Id="rId218" Type="http://schemas.openxmlformats.org/officeDocument/2006/relationships/slide" Target="slides/slide216.xml"/><Relationship Id="rId234" Type="http://schemas.openxmlformats.org/officeDocument/2006/relationships/slide" Target="slides/slide232.xml"/><Relationship Id="rId239" Type="http://schemas.openxmlformats.org/officeDocument/2006/relationships/slide" Target="slides/slide237.xml"/><Relationship Id="rId2" Type="http://schemas.openxmlformats.org/officeDocument/2006/relationships/slideMaster" Target="slideMasters/slideMaster2.xml"/><Relationship Id="rId29" Type="http://schemas.openxmlformats.org/officeDocument/2006/relationships/slide" Target="slides/slide27.xml"/><Relationship Id="rId250" Type="http://schemas.openxmlformats.org/officeDocument/2006/relationships/slide" Target="slides/slide248.xml"/><Relationship Id="rId255" Type="http://schemas.openxmlformats.org/officeDocument/2006/relationships/slide" Target="slides/slide253.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slide" Target="slides/slide197.xml"/><Relationship Id="rId203" Type="http://schemas.openxmlformats.org/officeDocument/2006/relationships/slide" Target="slides/slide201.xml"/><Relationship Id="rId208" Type="http://schemas.openxmlformats.org/officeDocument/2006/relationships/slide" Target="slides/slide206.xml"/><Relationship Id="rId229" Type="http://schemas.openxmlformats.org/officeDocument/2006/relationships/slide" Target="slides/slide227.xml"/><Relationship Id="rId19" Type="http://schemas.openxmlformats.org/officeDocument/2006/relationships/slide" Target="slides/slide17.xml"/><Relationship Id="rId224" Type="http://schemas.openxmlformats.org/officeDocument/2006/relationships/slide" Target="slides/slide222.xml"/><Relationship Id="rId240" Type="http://schemas.openxmlformats.org/officeDocument/2006/relationships/slide" Target="slides/slide238.xml"/><Relationship Id="rId245" Type="http://schemas.openxmlformats.org/officeDocument/2006/relationships/slide" Target="slides/slide243.xml"/><Relationship Id="rId261" Type="http://schemas.openxmlformats.org/officeDocument/2006/relationships/slide" Target="slides/slide259.xml"/><Relationship Id="rId266" Type="http://schemas.openxmlformats.org/officeDocument/2006/relationships/presProps" Target="presProps.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219" Type="http://schemas.openxmlformats.org/officeDocument/2006/relationships/slide" Target="slides/slide217.xml"/><Relationship Id="rId3" Type="http://schemas.openxmlformats.org/officeDocument/2006/relationships/slide" Target="slides/slide1.xml"/><Relationship Id="rId214" Type="http://schemas.openxmlformats.org/officeDocument/2006/relationships/slide" Target="slides/slide212.xml"/><Relationship Id="rId230" Type="http://schemas.openxmlformats.org/officeDocument/2006/relationships/slide" Target="slides/slide228.xml"/><Relationship Id="rId235" Type="http://schemas.openxmlformats.org/officeDocument/2006/relationships/slide" Target="slides/slide233.xml"/><Relationship Id="rId251" Type="http://schemas.openxmlformats.org/officeDocument/2006/relationships/slide" Target="slides/slide249.xml"/><Relationship Id="rId256" Type="http://schemas.openxmlformats.org/officeDocument/2006/relationships/slide" Target="slides/slide254.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slide" Target="slides/slide207.xml"/><Relationship Id="rId190" Type="http://schemas.openxmlformats.org/officeDocument/2006/relationships/slide" Target="slides/slide188.xml"/><Relationship Id="rId204" Type="http://schemas.openxmlformats.org/officeDocument/2006/relationships/slide" Target="slides/slide202.xml"/><Relationship Id="rId220" Type="http://schemas.openxmlformats.org/officeDocument/2006/relationships/slide" Target="slides/slide218.xml"/><Relationship Id="rId225" Type="http://schemas.openxmlformats.org/officeDocument/2006/relationships/slide" Target="slides/slide223.xml"/><Relationship Id="rId241" Type="http://schemas.openxmlformats.org/officeDocument/2006/relationships/slide" Target="slides/slide239.xml"/><Relationship Id="rId246" Type="http://schemas.openxmlformats.org/officeDocument/2006/relationships/slide" Target="slides/slide244.xml"/><Relationship Id="rId267" Type="http://schemas.openxmlformats.org/officeDocument/2006/relationships/viewProps" Target="view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262" Type="http://schemas.openxmlformats.org/officeDocument/2006/relationships/slide" Target="slides/slide260.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slide" Target="slides/slide208.xml"/><Relationship Id="rId215" Type="http://schemas.openxmlformats.org/officeDocument/2006/relationships/slide" Target="slides/slide213.xml"/><Relationship Id="rId236" Type="http://schemas.openxmlformats.org/officeDocument/2006/relationships/slide" Target="slides/slide234.xml"/><Relationship Id="rId257" Type="http://schemas.openxmlformats.org/officeDocument/2006/relationships/slide" Target="slides/slide255.xml"/><Relationship Id="rId26" Type="http://schemas.openxmlformats.org/officeDocument/2006/relationships/slide" Target="slides/slide24.xml"/><Relationship Id="rId231" Type="http://schemas.openxmlformats.org/officeDocument/2006/relationships/slide" Target="slides/slide229.xml"/><Relationship Id="rId252" Type="http://schemas.openxmlformats.org/officeDocument/2006/relationships/slide" Target="slides/slide250.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slide" Target="slides/slide240.xml"/><Relationship Id="rId263" Type="http://schemas.openxmlformats.org/officeDocument/2006/relationships/slide" Target="slides/slide261.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slide" Target="slides/slide230.xml"/><Relationship Id="rId253" Type="http://schemas.openxmlformats.org/officeDocument/2006/relationships/slide" Target="slides/slide25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slide" Target="slides/slide241.xml"/><Relationship Id="rId264" Type="http://schemas.openxmlformats.org/officeDocument/2006/relationships/notesMaster" Target="notesMasters/notesMaster1.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slide" Target="slides/slide231.xml"/><Relationship Id="rId254" Type="http://schemas.openxmlformats.org/officeDocument/2006/relationships/slide" Target="slides/slide25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29579;&#22825;&#23431;\AppData\Local\Temp\Rar$DIa16708.41734\FTSE100_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openxmlformats.org/officeDocument/2006/relationships/oleObject" Target="&#24037;&#20316;&#31807;1" TargetMode="External"/><Relationship Id="rId1" Type="http://schemas.openxmlformats.org/officeDocument/2006/relationships/themeOverride" Target="../theme/themeOverride1.xml"/></Relationships>
</file>

<file path=ppt/charts/_rels/chart3.xml.rels><?xml version="1.0" encoding="UTF-8" standalone="yes"?>
<Relationships xmlns="http://schemas.openxmlformats.org/package/2006/relationships"><Relationship Id="rId2" Type="http://schemas.openxmlformats.org/officeDocument/2006/relationships/oleObject" Target="&#24037;&#20316;&#31807;1" TargetMode="External"/><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CN" altLang="en-US"/>
              <a:t>收益率分布图</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scatterChart>
        <c:scatterStyle val="smoothMarker"/>
        <c:varyColors val="0"/>
        <c:ser>
          <c:idx val="0"/>
          <c:order val="0"/>
          <c:tx>
            <c:v>FTSE100</c:v>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'Historic Data'!$G$13:$G$33</c:f>
              <c:numCache>
                <c:formatCode>General</c:formatCode>
                <c:ptCount val="21"/>
                <c:pt idx="0">
                  <c:v>-4.9999999999999982E-2</c:v>
                </c:pt>
                <c:pt idx="1">
                  <c:v>-4.4999999999999984E-2</c:v>
                </c:pt>
                <c:pt idx="2">
                  <c:v>-3.9999999999999987E-2</c:v>
                </c:pt>
                <c:pt idx="3">
                  <c:v>-3.4999999999999989E-2</c:v>
                </c:pt>
                <c:pt idx="4">
                  <c:v>-2.9999999999999988E-2</c:v>
                </c:pt>
                <c:pt idx="5">
                  <c:v>-2.4999999999999988E-2</c:v>
                </c:pt>
                <c:pt idx="6">
                  <c:v>-1.9999999999999987E-2</c:v>
                </c:pt>
                <c:pt idx="7">
                  <c:v>-1.4999999999999986E-2</c:v>
                </c:pt>
                <c:pt idx="8">
                  <c:v>-9.9999999999999846E-3</c:v>
                </c:pt>
                <c:pt idx="9">
                  <c:v>-4.9999999999999845E-3</c:v>
                </c:pt>
                <c:pt idx="10">
                  <c:v>1.5612511283791264E-17</c:v>
                </c:pt>
                <c:pt idx="11">
                  <c:v>5.0000000000000157E-3</c:v>
                </c:pt>
                <c:pt idx="12">
                  <c:v>1.0000000000000016E-2</c:v>
                </c:pt>
                <c:pt idx="13">
                  <c:v>1.5000000000000017E-2</c:v>
                </c:pt>
                <c:pt idx="14">
                  <c:v>2.0000000000000018E-2</c:v>
                </c:pt>
                <c:pt idx="15">
                  <c:v>2.5000000000000019E-2</c:v>
                </c:pt>
                <c:pt idx="16">
                  <c:v>3.000000000000002E-2</c:v>
                </c:pt>
                <c:pt idx="17">
                  <c:v>3.5000000000000017E-2</c:v>
                </c:pt>
                <c:pt idx="18">
                  <c:v>4.0000000000000015E-2</c:v>
                </c:pt>
                <c:pt idx="19">
                  <c:v>4.5000000000000012E-2</c:v>
                </c:pt>
                <c:pt idx="20">
                  <c:v>5.000000000000001E-2</c:v>
                </c:pt>
              </c:numCache>
            </c:numRef>
          </c:xVal>
          <c:yVal>
            <c:numRef>
              <c:f>'Historic Data'!$H$13:$H$33</c:f>
              <c:numCache>
                <c:formatCode>0_);[Red]\(0\)</c:formatCode>
                <c:ptCount val="21"/>
                <c:pt idx="0">
                  <c:v>2</c:v>
                </c:pt>
                <c:pt idx="1">
                  <c:v>0</c:v>
                </c:pt>
                <c:pt idx="2">
                  <c:v>1</c:v>
                </c:pt>
                <c:pt idx="3">
                  <c:v>7</c:v>
                </c:pt>
                <c:pt idx="4">
                  <c:v>10</c:v>
                </c:pt>
                <c:pt idx="5">
                  <c:v>19</c:v>
                </c:pt>
                <c:pt idx="6">
                  <c:v>38</c:v>
                </c:pt>
                <c:pt idx="7">
                  <c:v>76</c:v>
                </c:pt>
                <c:pt idx="8">
                  <c:v>111</c:v>
                </c:pt>
                <c:pt idx="9">
                  <c:v>211</c:v>
                </c:pt>
                <c:pt idx="10">
                  <c:v>221</c:v>
                </c:pt>
                <c:pt idx="11">
                  <c:v>158</c:v>
                </c:pt>
                <c:pt idx="12">
                  <c:v>83</c:v>
                </c:pt>
                <c:pt idx="13">
                  <c:v>42</c:v>
                </c:pt>
                <c:pt idx="14">
                  <c:v>13</c:v>
                </c:pt>
                <c:pt idx="15">
                  <c:v>7</c:v>
                </c:pt>
                <c:pt idx="16">
                  <c:v>6</c:v>
                </c:pt>
                <c:pt idx="17">
                  <c:v>2</c:v>
                </c:pt>
                <c:pt idx="18">
                  <c:v>0</c:v>
                </c:pt>
                <c:pt idx="19">
                  <c:v>0</c:v>
                </c:pt>
                <c:pt idx="20">
                  <c:v>1</c:v>
                </c:pt>
              </c:numCache>
            </c:numRef>
          </c:yVal>
          <c:smooth val="1"/>
          <c:extLst>
            <c:ext xmlns:c16="http://schemas.microsoft.com/office/drawing/2014/chart" uri="{C3380CC4-5D6E-409C-BE32-E72D297353CC}">
              <c16:uniqueId val="{00000000-5905-4677-A64D-255586D4C43D}"/>
            </c:ext>
          </c:extLst>
        </c:ser>
        <c:ser>
          <c:idx val="1"/>
          <c:order val="1"/>
          <c:tx>
            <c:v>正态分布</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'Historic Data'!$G$13:$G$33</c:f>
              <c:numCache>
                <c:formatCode>General</c:formatCode>
                <c:ptCount val="21"/>
                <c:pt idx="0">
                  <c:v>-4.9999999999999982E-2</c:v>
                </c:pt>
                <c:pt idx="1">
                  <c:v>-4.4999999999999984E-2</c:v>
                </c:pt>
                <c:pt idx="2">
                  <c:v>-3.9999999999999987E-2</c:v>
                </c:pt>
                <c:pt idx="3">
                  <c:v>-3.4999999999999989E-2</c:v>
                </c:pt>
                <c:pt idx="4">
                  <c:v>-2.9999999999999988E-2</c:v>
                </c:pt>
                <c:pt idx="5">
                  <c:v>-2.4999999999999988E-2</c:v>
                </c:pt>
                <c:pt idx="6">
                  <c:v>-1.9999999999999987E-2</c:v>
                </c:pt>
                <c:pt idx="7">
                  <c:v>-1.4999999999999986E-2</c:v>
                </c:pt>
                <c:pt idx="8">
                  <c:v>-9.9999999999999846E-3</c:v>
                </c:pt>
                <c:pt idx="9">
                  <c:v>-4.9999999999999845E-3</c:v>
                </c:pt>
                <c:pt idx="10">
                  <c:v>1.5612511283791264E-17</c:v>
                </c:pt>
                <c:pt idx="11">
                  <c:v>5.0000000000000157E-3</c:v>
                </c:pt>
                <c:pt idx="12">
                  <c:v>1.0000000000000016E-2</c:v>
                </c:pt>
                <c:pt idx="13">
                  <c:v>1.5000000000000017E-2</c:v>
                </c:pt>
                <c:pt idx="14">
                  <c:v>2.0000000000000018E-2</c:v>
                </c:pt>
                <c:pt idx="15">
                  <c:v>2.5000000000000019E-2</c:v>
                </c:pt>
                <c:pt idx="16">
                  <c:v>3.000000000000002E-2</c:v>
                </c:pt>
                <c:pt idx="17">
                  <c:v>3.5000000000000017E-2</c:v>
                </c:pt>
                <c:pt idx="18">
                  <c:v>4.0000000000000015E-2</c:v>
                </c:pt>
                <c:pt idx="19">
                  <c:v>4.5000000000000012E-2</c:v>
                </c:pt>
                <c:pt idx="20">
                  <c:v>5.000000000000001E-2</c:v>
                </c:pt>
              </c:numCache>
            </c:numRef>
          </c:xVal>
          <c:yVal>
            <c:numRef>
              <c:f>'Historic Data'!$I$13:$I$33</c:f>
              <c:numCache>
                <c:formatCode>General</c:formatCode>
                <c:ptCount val="21"/>
                <c:pt idx="0">
                  <c:v>0</c:v>
                </c:pt>
                <c:pt idx="1">
                  <c:v>0</c:v>
                </c:pt>
                <c:pt idx="2">
                  <c:v>0.7</c:v>
                </c:pt>
                <c:pt idx="3">
                  <c:v>1.9</c:v>
                </c:pt>
                <c:pt idx="4">
                  <c:v>6.4</c:v>
                </c:pt>
                <c:pt idx="5">
                  <c:v>21.6</c:v>
                </c:pt>
                <c:pt idx="6">
                  <c:v>48.1</c:v>
                </c:pt>
                <c:pt idx="7">
                  <c:v>88.1</c:v>
                </c:pt>
                <c:pt idx="8">
                  <c:v>141.69999999999999</c:v>
                </c:pt>
                <c:pt idx="9">
                  <c:v>172.3</c:v>
                </c:pt>
                <c:pt idx="10">
                  <c:v>182.4</c:v>
                </c:pt>
                <c:pt idx="11">
                  <c:v>147.19999999999999</c:v>
                </c:pt>
                <c:pt idx="12">
                  <c:v>96.6</c:v>
                </c:pt>
                <c:pt idx="13">
                  <c:v>55.6</c:v>
                </c:pt>
                <c:pt idx="14">
                  <c:v>26.4</c:v>
                </c:pt>
                <c:pt idx="15">
                  <c:v>8.6</c:v>
                </c:pt>
                <c:pt idx="16">
                  <c:v>2</c:v>
                </c:pt>
                <c:pt idx="17">
                  <c:v>0.7</c:v>
                </c:pt>
                <c:pt idx="18">
                  <c:v>0.5</c:v>
                </c:pt>
                <c:pt idx="19">
                  <c:v>0</c:v>
                </c:pt>
                <c:pt idx="20">
                  <c:v>0</c:v>
                </c:pt>
              </c:numCache>
            </c:numRef>
          </c:yVal>
          <c:smooth val="1"/>
          <c:extLst>
            <c:ext xmlns:c16="http://schemas.microsoft.com/office/drawing/2014/chart" uri="{C3380CC4-5D6E-409C-BE32-E72D297353CC}">
              <c16:uniqueId val="{00000001-5905-4677-A64D-255586D4C43D}"/>
            </c:ext>
          </c:extLst>
        </c:ser>
        <c:dLbls>
          <c:showLegendKey val="0"/>
          <c:showVal val="0"/>
          <c:showCatName val="0"/>
          <c:showSerName val="0"/>
          <c:showPercent val="0"/>
          <c:showBubbleSize val="0"/>
        </c:dLbls>
        <c:axId val="638095560"/>
        <c:axId val="638093920"/>
      </c:scatterChart>
      <c:valAx>
        <c:axId val="63809556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638093920"/>
        <c:crosses val="autoZero"/>
        <c:crossBetween val="midCat"/>
      </c:valAx>
      <c:valAx>
        <c:axId val="638093920"/>
        <c:scaling>
          <c:orientation val="minMax"/>
        </c:scaling>
        <c:delete val="0"/>
        <c:axPos val="l"/>
        <c:majorGridlines>
          <c:spPr>
            <a:ln w="9525" cap="flat" cmpd="sng" algn="ctr">
              <a:solidFill>
                <a:schemeClr val="tx1">
                  <a:lumMod val="15000"/>
                  <a:lumOff val="85000"/>
                </a:schemeClr>
              </a:solidFill>
              <a:round/>
            </a:ln>
            <a:effectLst/>
          </c:spPr>
        </c:majorGridlines>
        <c:numFmt formatCode="0_);[Red]\(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638095560"/>
        <c:crosses val="autoZero"/>
        <c:crossBetween val="midCat"/>
      </c:valAx>
      <c:spPr>
        <a:noFill/>
        <a:ln>
          <a:noFill/>
        </a:ln>
        <a:effectLst/>
      </c:spPr>
    </c:plotArea>
    <c:legend>
      <c:legendPos val="b"/>
      <c:layout>
        <c:manualLayout>
          <c:xMode val="edge"/>
          <c:yMode val="edge"/>
          <c:x val="0.34757786526684165"/>
          <c:y val="0.89409667541557303"/>
          <c:w val="0.38243372703412071"/>
          <c:h val="7.812554680664918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1"/>
    </mc:Choice>
    <mc:Fallback>
      <c:style val="1"/>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9586788775866501"/>
          <c:y val="7.9383429672447048E-2"/>
          <c:w val="0.76694084913205629"/>
          <c:h val="0.77189052235522648"/>
        </c:manualLayout>
      </c:layout>
      <c:lineChart>
        <c:grouping val="stacked"/>
        <c:varyColors val="0"/>
        <c:ser>
          <c:idx val="0"/>
          <c:order val="0"/>
          <c:tx>
            <c:strRef>
              <c:f>Sheet1!$I$6</c:f>
              <c:strCache>
                <c:ptCount val="1"/>
                <c:pt idx="0">
                  <c:v>Spot Rate</c:v>
                </c:pt>
              </c:strCache>
            </c:strRef>
          </c:tx>
          <c:spPr>
            <a:ln w="25400" cap="rnd" cmpd="sng" algn="ctr">
              <a:solidFill>
                <a:srgbClr val="FF0000"/>
              </a:solidFill>
              <a:prstDash val="solid"/>
              <a:round/>
            </a:ln>
            <a:effectLst>
              <a:outerShdw blurRad="50800" dist="12700" dir="2700000" algn="tl" rotWithShape="0">
                <a:srgbClr val="00B0F0">
                  <a:alpha val="40000"/>
                </a:srgbClr>
              </a:outerShdw>
            </a:effectLst>
          </c:spPr>
          <c:marker>
            <c:symbol val="circle"/>
            <c:size val="8"/>
            <c:spPr>
              <a:solidFill>
                <a:schemeClr val="dk1">
                  <a:tint val="88500"/>
                </a:schemeClr>
              </a:solidFill>
              <a:ln w="6350" cap="flat" cmpd="sng" algn="ctr">
                <a:solidFill>
                  <a:schemeClr val="dk1">
                    <a:tint val="88500"/>
                  </a:schemeClr>
                </a:solidFill>
                <a:prstDash val="solid"/>
                <a:round/>
              </a:ln>
              <a:effectLst>
                <a:outerShdw blurRad="50800" dist="12700" dir="2700000" algn="tl" rotWithShape="0">
                  <a:srgbClr val="00B0F0">
                    <a:alpha val="40000"/>
                  </a:srgbClr>
                </a:outerShdw>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f>Sheet1!$J$5:$O$5</c:f>
              <c:numCache>
                <c:formatCode>General</c:formatCode>
                <c:ptCount val="6"/>
                <c:pt idx="0">
                  <c:v>0.5</c:v>
                </c:pt>
                <c:pt idx="1">
                  <c:v>1</c:v>
                </c:pt>
                <c:pt idx="2">
                  <c:v>1.5</c:v>
                </c:pt>
                <c:pt idx="3">
                  <c:v>2</c:v>
                </c:pt>
                <c:pt idx="4">
                  <c:v>2.5</c:v>
                </c:pt>
                <c:pt idx="5">
                  <c:v>3</c:v>
                </c:pt>
              </c:numCache>
            </c:numRef>
          </c:cat>
          <c:val>
            <c:numRef>
              <c:f>Sheet1!$J$6:$O$6</c:f>
              <c:numCache>
                <c:formatCode>0.00%</c:formatCode>
                <c:ptCount val="6"/>
                <c:pt idx="0">
                  <c:v>1.4999657450058398E-2</c:v>
                </c:pt>
                <c:pt idx="1">
                  <c:v>2.1499777201804217E-2</c:v>
                </c:pt>
                <c:pt idx="2">
                  <c:v>2.5300188982347198E-2</c:v>
                </c:pt>
                <c:pt idx="3">
                  <c:v>2.9399981848753101E-2</c:v>
                </c:pt>
                <c:pt idx="4">
                  <c:v>3.30999906505327E-2</c:v>
                </c:pt>
                <c:pt idx="5">
                  <c:v>3.6199922176797523E-2</c:v>
                </c:pt>
              </c:numCache>
            </c:numRef>
          </c:val>
          <c:smooth val="0"/>
          <c:extLst>
            <c:ext xmlns:c16="http://schemas.microsoft.com/office/drawing/2014/chart" uri="{C3380CC4-5D6E-409C-BE32-E72D297353CC}">
              <c16:uniqueId val="{00000000-096E-439C-9A77-DE8F5F4D0F58}"/>
            </c:ext>
          </c:extLst>
        </c:ser>
        <c:dLbls>
          <c:showLegendKey val="0"/>
          <c:showVal val="0"/>
          <c:showCatName val="0"/>
          <c:showSerName val="0"/>
          <c:showPercent val="0"/>
          <c:showBubbleSize val="0"/>
        </c:dLbls>
        <c:marker val="1"/>
        <c:smooth val="0"/>
        <c:axId val="309551104"/>
        <c:axId val="309560064"/>
      </c:lineChart>
      <c:catAx>
        <c:axId val="309551104"/>
        <c:scaling>
          <c:orientation val="minMax"/>
        </c:scaling>
        <c:delete val="0"/>
        <c:axPos val="b"/>
        <c:majorGridlines>
          <c:spPr>
            <a:ln w="9525" cap="flat" cmpd="sng" algn="ctr">
              <a:solidFill>
                <a:schemeClr val="bg1"/>
              </a:solidFill>
              <a:prstDash val="solid"/>
              <a:round/>
            </a:ln>
            <a:effectLst/>
          </c:spPr>
        </c:majorGridlines>
        <c:title>
          <c:tx>
            <c:rich>
              <a:bodyPr rot="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r>
                  <a:rPr lang="en-US" altLang="zh-CN"/>
                  <a:t>Maturity (Years)</a:t>
                </a:r>
              </a:p>
            </c:rich>
          </c:tx>
          <c:layout>
            <c:manualLayout>
              <c:xMode val="edge"/>
              <c:yMode val="edge"/>
              <c:x val="0.74178455818022804"/>
              <c:y val="0.93580594545247131"/>
            </c:manualLayout>
          </c:layout>
          <c:overlay val="0"/>
          <c:spPr>
            <a:noFill/>
            <a:ln>
              <a:noFill/>
            </a:ln>
            <a:effectLst/>
          </c:spPr>
        </c:title>
        <c:numFmt formatCode="General" sourceLinked="1"/>
        <c:majorTickMark val="none"/>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zh-CN"/>
          </a:p>
        </c:txPr>
        <c:crossAx val="309560064"/>
        <c:crosses val="autoZero"/>
        <c:auto val="1"/>
        <c:lblAlgn val="ctr"/>
        <c:lblOffset val="100"/>
        <c:noMultiLvlLbl val="0"/>
      </c:catAx>
      <c:valAx>
        <c:axId val="309560064"/>
        <c:scaling>
          <c:orientation val="minMax"/>
        </c:scaling>
        <c:delete val="0"/>
        <c:axPos val="l"/>
        <c:majorGridlines>
          <c:spPr>
            <a:ln w="9525" cap="flat" cmpd="sng" algn="ctr">
              <a:solidFill>
                <a:schemeClr val="bg1"/>
              </a:solidFill>
              <a:prstDash val="solid"/>
              <a:round/>
            </a:ln>
            <a:effectLst/>
          </c:spPr>
        </c:majorGridlines>
        <c:title>
          <c:tx>
            <c:rich>
              <a:bodyPr rot="-54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r>
                  <a:rPr lang="en-US" altLang="zh-CN"/>
                  <a:t>Spot Rate</a:t>
                </a:r>
                <a:endParaRPr lang="zh-CN" altLang="en-US"/>
              </a:p>
            </c:rich>
          </c:tx>
          <c:layout>
            <c:manualLayout>
              <c:xMode val="edge"/>
              <c:yMode val="edge"/>
              <c:x val="3.5625021121286897E-2"/>
              <c:y val="5.9928087023804123E-2"/>
            </c:manualLayout>
          </c:layout>
          <c:overlay val="0"/>
          <c:spPr>
            <a:noFill/>
            <a:ln>
              <a:noFill/>
            </a:ln>
            <a:effectLst/>
          </c:spPr>
        </c:title>
        <c:numFmt formatCode="0.0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Arial" panose="020B0604020202020204" pitchFamily="34" charset="0"/>
                <a:ea typeface="宋体" panose="02010600030101010101" pitchFamily="2" charset="-122"/>
                <a:cs typeface="Arial" panose="020B0604020202020204" pitchFamily="34" charset="0"/>
              </a:defRPr>
            </a:pPr>
            <a:endParaRPr lang="zh-CN"/>
          </a:p>
        </c:txPr>
        <c:crossAx val="309551104"/>
        <c:crosses val="autoZero"/>
        <c:crossBetween val="midCat"/>
      </c:valAx>
      <c:spPr>
        <a:solidFill>
          <a:schemeClr val="bg1">
            <a:lumMod val="95000"/>
          </a:schemeClr>
        </a:solidFill>
        <a:ln>
          <a:noFill/>
        </a:ln>
        <a:effectLst/>
      </c:spPr>
    </c:plotArea>
    <c:plotVisOnly val="1"/>
    <c:dispBlanksAs val="zero"/>
    <c:showDLblsOverMax val="0"/>
  </c:chart>
  <c:spPr>
    <a:noFill/>
    <a:ln w="9525" cap="flat" cmpd="sng" algn="ctr">
      <a:solidFill>
        <a:schemeClr val="bg1"/>
      </a:solidFill>
      <a:prstDash val="solid"/>
      <a:round/>
    </a:ln>
    <a:effectLst/>
  </c:spPr>
  <c:txPr>
    <a:bodyPr/>
    <a:lstStyle/>
    <a:p>
      <a:pPr>
        <a:defRPr>
          <a:solidFill>
            <a:sysClr val="windowText" lastClr="000000"/>
          </a:solidFill>
        </a:defRPr>
      </a:pPr>
      <a:endParaRPr lang="zh-CN"/>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1"/>
    </mc:Choice>
    <mc:Fallback>
      <c:style val="1"/>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5414727218138313"/>
          <c:y val="9.0476190476190502E-2"/>
          <c:w val="0.82246816011467172"/>
          <c:h val="0.72197787776527933"/>
        </c:manualLayout>
      </c:layout>
      <c:lineChart>
        <c:grouping val="stacked"/>
        <c:varyColors val="0"/>
        <c:ser>
          <c:idx val="0"/>
          <c:order val="0"/>
          <c:tx>
            <c:strRef>
              <c:f>Sheet2!$F$5</c:f>
              <c:strCache>
                <c:ptCount val="1"/>
                <c:pt idx="0">
                  <c:v>Forward Rate</c:v>
                </c:pt>
              </c:strCache>
            </c:strRef>
          </c:tx>
          <c:spPr>
            <a:ln w="25400" cap="rnd" cmpd="sng" algn="ctr">
              <a:solidFill>
                <a:srgbClr val="FF0000"/>
              </a:solidFill>
              <a:prstDash val="solid"/>
              <a:round/>
            </a:ln>
            <a:effectLst>
              <a:outerShdw blurRad="50800" dist="12700" dir="2700000" algn="tl" rotWithShape="0">
                <a:srgbClr val="00B0F0">
                  <a:alpha val="40000"/>
                </a:srgbClr>
              </a:outerShdw>
            </a:effectLst>
          </c:spPr>
          <c:marker>
            <c:symbol val="circle"/>
            <c:size val="8"/>
            <c:spPr>
              <a:solidFill>
                <a:schemeClr val="dk1">
                  <a:tint val="88500"/>
                </a:schemeClr>
              </a:solidFill>
              <a:ln w="6350" cap="flat" cmpd="sng" algn="ctr">
                <a:solidFill>
                  <a:schemeClr val="dk1">
                    <a:tint val="88500"/>
                  </a:schemeClr>
                </a:solidFill>
                <a:prstDash val="solid"/>
                <a:round/>
              </a:ln>
              <a:effectLst>
                <a:outerShdw blurRad="50800" dist="12700" dir="2700000" algn="tl" rotWithShape="0">
                  <a:srgbClr val="00B0F0">
                    <a:alpha val="40000"/>
                  </a:srgbClr>
                </a:outerShdw>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f>Sheet2!$G$4:$L$4</c:f>
              <c:numCache>
                <c:formatCode>General</c:formatCode>
                <c:ptCount val="6"/>
                <c:pt idx="0">
                  <c:v>0.5</c:v>
                </c:pt>
                <c:pt idx="1">
                  <c:v>1</c:v>
                </c:pt>
                <c:pt idx="2">
                  <c:v>1.5</c:v>
                </c:pt>
                <c:pt idx="3">
                  <c:v>2</c:v>
                </c:pt>
                <c:pt idx="4">
                  <c:v>2.5</c:v>
                </c:pt>
                <c:pt idx="5">
                  <c:v>3</c:v>
                </c:pt>
              </c:numCache>
            </c:numRef>
          </c:cat>
          <c:val>
            <c:numRef>
              <c:f>Sheet2!$G$5:$L$5</c:f>
              <c:numCache>
                <c:formatCode>0.00%</c:formatCode>
                <c:ptCount val="6"/>
                <c:pt idx="0">
                  <c:v>1.4999657450058398E-2</c:v>
                </c:pt>
                <c:pt idx="1">
                  <c:v>2.8020967741935601E-2</c:v>
                </c:pt>
                <c:pt idx="2">
                  <c:v>3.2921443059213719E-2</c:v>
                </c:pt>
                <c:pt idx="3">
                  <c:v>4.1749222674888474E-2</c:v>
                </c:pt>
                <c:pt idx="4">
                  <c:v>4.7967607644336156E-2</c:v>
                </c:pt>
                <c:pt idx="5">
                  <c:v>5.1770622554876425E-2</c:v>
                </c:pt>
              </c:numCache>
            </c:numRef>
          </c:val>
          <c:smooth val="0"/>
          <c:extLst>
            <c:ext xmlns:c16="http://schemas.microsoft.com/office/drawing/2014/chart" uri="{C3380CC4-5D6E-409C-BE32-E72D297353CC}">
              <c16:uniqueId val="{00000000-1581-4B31-BA68-E86E06C7D94D}"/>
            </c:ext>
          </c:extLst>
        </c:ser>
        <c:dLbls>
          <c:showLegendKey val="0"/>
          <c:showVal val="0"/>
          <c:showCatName val="0"/>
          <c:showSerName val="0"/>
          <c:showPercent val="0"/>
          <c:showBubbleSize val="0"/>
        </c:dLbls>
        <c:marker val="1"/>
        <c:smooth val="0"/>
        <c:axId val="320526976"/>
        <c:axId val="322147072"/>
      </c:lineChart>
      <c:catAx>
        <c:axId val="320526976"/>
        <c:scaling>
          <c:orientation val="minMax"/>
        </c:scaling>
        <c:delete val="0"/>
        <c:axPos val="b"/>
        <c:majorGridlines>
          <c:spPr>
            <a:ln w="9525" cap="flat" cmpd="sng" algn="ctr">
              <a:solidFill>
                <a:schemeClr val="bg1"/>
              </a:solidFill>
              <a:prstDash val="solid"/>
              <a:round/>
            </a:ln>
            <a:effectLst/>
          </c:spPr>
        </c:majorGridlines>
        <c:title>
          <c:tx>
            <c:rich>
              <a:bodyPr rot="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r>
                  <a:rPr lang="en-US" altLang="zh-CN"/>
                  <a:t>Maturity</a:t>
                </a:r>
                <a:endParaRPr lang="zh-CN" altLang="en-US"/>
              </a:p>
            </c:rich>
          </c:tx>
          <c:layout>
            <c:manualLayout>
              <c:xMode val="edge"/>
              <c:yMode val="edge"/>
              <c:x val="0.87938499384993796"/>
              <c:y val="0.9222238470191233"/>
            </c:manualLayout>
          </c:layout>
          <c:overlay val="0"/>
          <c:spPr>
            <a:noFill/>
            <a:ln>
              <a:noFill/>
            </a:ln>
            <a:effectLst/>
          </c:spPr>
        </c:title>
        <c:numFmt formatCode="General" sourceLinked="1"/>
        <c:majorTickMark val="none"/>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zh-CN"/>
          </a:p>
        </c:txPr>
        <c:crossAx val="322147072"/>
        <c:crosses val="autoZero"/>
        <c:auto val="1"/>
        <c:lblAlgn val="ctr"/>
        <c:lblOffset val="100"/>
        <c:noMultiLvlLbl val="0"/>
      </c:catAx>
      <c:valAx>
        <c:axId val="322147072"/>
        <c:scaling>
          <c:orientation val="minMax"/>
        </c:scaling>
        <c:delete val="0"/>
        <c:axPos val="l"/>
        <c:majorGridlines>
          <c:spPr>
            <a:ln w="9525" cap="flat" cmpd="sng" algn="ctr">
              <a:solidFill>
                <a:schemeClr val="bg1"/>
              </a:solidFill>
              <a:prstDash val="solid"/>
              <a:round/>
            </a:ln>
            <a:effectLst/>
          </c:spPr>
        </c:majorGridlines>
        <c:title>
          <c:tx>
            <c:rich>
              <a:bodyPr rot="-54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r>
                  <a:rPr lang="en-US" altLang="zh-CN"/>
                  <a:t>Forward Rate</a:t>
                </a:r>
                <a:endParaRPr lang="zh-CN" altLang="en-US"/>
              </a:p>
            </c:rich>
          </c:tx>
          <c:layout>
            <c:manualLayout>
              <c:xMode val="edge"/>
              <c:yMode val="edge"/>
              <c:x val="1.4255745707063399E-2"/>
              <c:y val="0.12729846269216413"/>
            </c:manualLayout>
          </c:layout>
          <c:overlay val="0"/>
          <c:spPr>
            <a:noFill/>
            <a:ln>
              <a:noFill/>
            </a:ln>
            <a:effectLst/>
          </c:spPr>
        </c:title>
        <c:numFmt formatCode="0.0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zh-CN"/>
          </a:p>
        </c:txPr>
        <c:crossAx val="320526976"/>
        <c:crosses val="autoZero"/>
        <c:crossBetween val="midCat"/>
      </c:valAx>
      <c:spPr>
        <a:solidFill>
          <a:schemeClr val="bg1">
            <a:lumMod val="95000"/>
          </a:schemeClr>
        </a:solidFill>
        <a:ln>
          <a:noFill/>
        </a:ln>
        <a:effectLst/>
      </c:spPr>
    </c:plotArea>
    <c:plotVisOnly val="1"/>
    <c:dispBlanksAs val="zero"/>
    <c:showDLblsOverMax val="0"/>
  </c:chart>
  <c:spPr>
    <a:noFill/>
    <a:ln w="9525" cap="flat" cmpd="sng" algn="ctr">
      <a:solidFill>
        <a:schemeClr val="bg1"/>
      </a:solidFill>
      <a:prstDash val="solid"/>
      <a:round/>
    </a:ln>
    <a:effectLst/>
  </c:spPr>
  <c:txPr>
    <a:bodyPr/>
    <a:lstStyle/>
    <a:p>
      <a:pPr>
        <a:defRPr>
          <a:solidFill>
            <a:sysClr val="windowText" lastClr="000000"/>
          </a:solidFill>
        </a:defRPr>
      </a:pPr>
      <a:endParaRPr lang="zh-CN"/>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22.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29.wmf"/><Relationship Id="rId1" Type="http://schemas.openxmlformats.org/officeDocument/2006/relationships/image" Target="../media/image128.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30.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image" Target="../media/image134.wmf"/><Relationship Id="rId1" Type="http://schemas.openxmlformats.org/officeDocument/2006/relationships/image" Target="../media/image133.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37.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3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5B3421-B99B-4B5C-82C9-A3B0C4AC91F7}" type="datetimeFigureOut">
              <a:rPr lang="zh-CN" altLang="en-US" smtClean="0"/>
              <a:t>2019/3/14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981161-460F-4A2D-B57E-C43B8FD67BE1}" type="slidenum">
              <a:rPr lang="zh-CN" altLang="en-US" smtClean="0"/>
              <a:t>‹#›</a:t>
            </a:fld>
            <a:endParaRPr lang="zh-CN" altLang="en-US"/>
          </a:p>
        </p:txBody>
      </p:sp>
    </p:spTree>
    <p:extLst>
      <p:ext uri="{BB962C8B-B14F-4D97-AF65-F5344CB8AC3E}">
        <p14:creationId xmlns:p14="http://schemas.microsoft.com/office/powerpoint/2010/main" val="459815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1981161-460F-4A2D-B57E-C43B8FD67BE1}" type="slidenum">
              <a:rPr lang="zh-CN" altLang="en-US" smtClean="0"/>
              <a:t>3</a:t>
            </a:fld>
            <a:endParaRPr lang="zh-CN" altLang="en-US"/>
          </a:p>
        </p:txBody>
      </p:sp>
    </p:spTree>
    <p:extLst>
      <p:ext uri="{BB962C8B-B14F-4D97-AF65-F5344CB8AC3E}">
        <p14:creationId xmlns:p14="http://schemas.microsoft.com/office/powerpoint/2010/main" val="1758656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Consider a forward contract on a non-dividend-paying stock whose value is given as:</a:t>
            </a:r>
          </a:p>
          <a:p>
            <a:r>
              <a:rPr lang="en-US" altLang="zh-CN" dirty="0"/>
              <a:t>S0-Ke^-rt</a:t>
            </a:r>
          </a:p>
          <a:p>
            <a:r>
              <a:rPr lang="en-US" altLang="zh-CN" dirty="0"/>
              <a:t>The futures price for a contract on a non-dividend-paying stock is given by:  S0e^rt.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63</a:t>
            </a:fld>
            <a:endParaRPr lang="zh-CN" altLang="en-US"/>
          </a:p>
        </p:txBody>
      </p:sp>
    </p:spTree>
    <p:extLst>
      <p:ext uri="{BB962C8B-B14F-4D97-AF65-F5344CB8AC3E}">
        <p14:creationId xmlns:p14="http://schemas.microsoft.com/office/powerpoint/2010/main" val="368164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0" lang="en-US" altLang="zh-CN" dirty="0"/>
              <a:t>Relationship between coupon rate, YTM, and bond prices</a:t>
            </a:r>
          </a:p>
          <a:p>
            <a:r>
              <a:rPr kumimoji="0" lang="en-US" altLang="zh-CN" dirty="0"/>
              <a:t>Coupon effect: fairly priced bonds of the same maturity but different coupons have different yields to maturity.</a:t>
            </a:r>
          </a:p>
          <a:p>
            <a:r>
              <a:rPr kumimoji="0" lang="en-US" altLang="zh-CN" dirty="0"/>
              <a:t>If a firm issues a bond at par, it means that the market rate for the bond is precisely that of the coupon rate. Immediately after this bond is issued and before the market has time to adjust, the bond will trade at par. </a:t>
            </a:r>
          </a:p>
          <a:p>
            <a:r>
              <a:rPr kumimoji="0" lang="en-US" altLang="zh-CN" dirty="0"/>
              <a:t>After the bond begins trading in the market, the same cannot be said, the price of the bond will reflect market conditions.</a:t>
            </a:r>
          </a:p>
          <a:p>
            <a:r>
              <a:rPr kumimoji="0" lang="en-US" altLang="zh-CN" dirty="0"/>
              <a:t>the relationship among a bond’s coupon rate, the yield required by the market, and the bond’s price relative to par value </a:t>
            </a:r>
          </a:p>
          <a:p>
            <a:r>
              <a:rPr kumimoji="0" lang="en-US" altLang="zh-CN" dirty="0"/>
              <a:t>Coupon rate = market yield, bond trade at par value</a:t>
            </a:r>
          </a:p>
          <a:p>
            <a:r>
              <a:rPr kumimoji="0" lang="en-US" altLang="zh-CN" dirty="0"/>
              <a:t>Coupon rate &gt; market yield, bond trade at premium</a:t>
            </a:r>
          </a:p>
          <a:p>
            <a:r>
              <a:rPr kumimoji="0" lang="en-US" altLang="zh-CN" dirty="0"/>
              <a:t>Coupon rate &lt; market yield, bond trade at discount</a:t>
            </a:r>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66</a:t>
            </a:fld>
            <a:endParaRPr lang="zh-CN" altLang="en-US"/>
          </a:p>
        </p:txBody>
      </p:sp>
    </p:spTree>
    <p:extLst>
      <p:ext uri="{BB962C8B-B14F-4D97-AF65-F5344CB8AC3E}">
        <p14:creationId xmlns:p14="http://schemas.microsoft.com/office/powerpoint/2010/main" val="1678964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T-bills</a:t>
            </a:r>
            <a:r>
              <a:rPr lang="zh-CN" altLang="en-US" dirty="0"/>
              <a:t>：一二两段都是</a:t>
            </a:r>
            <a:r>
              <a:rPr lang="en-US" altLang="zh-CN" dirty="0"/>
              <a:t>T-bills</a:t>
            </a:r>
            <a:r>
              <a:rPr lang="zh-CN" altLang="en-US" dirty="0"/>
              <a:t>。</a:t>
            </a:r>
            <a:r>
              <a:rPr lang="en-US" altLang="zh-CN" dirty="0"/>
              <a:t>Paid no interest.</a:t>
            </a:r>
            <a:r>
              <a:rPr lang="zh-CN" altLang="en-US" dirty="0"/>
              <a:t> </a:t>
            </a:r>
            <a:r>
              <a:rPr lang="en-US" altLang="zh-CN" dirty="0"/>
              <a:t>Par value=$1000,</a:t>
            </a:r>
            <a:r>
              <a:rPr lang="zh-CN" altLang="en-US" dirty="0"/>
              <a:t> </a:t>
            </a:r>
            <a:r>
              <a:rPr lang="en-US" altLang="zh-CN" dirty="0"/>
              <a:t>purchase</a:t>
            </a:r>
            <a:r>
              <a:rPr lang="zh-CN" altLang="en-US" dirty="0"/>
              <a:t> </a:t>
            </a:r>
            <a:r>
              <a:rPr lang="en-US" altLang="zh-CN" dirty="0"/>
              <a:t>price=$950</a:t>
            </a:r>
          </a:p>
          <a:p>
            <a:r>
              <a:rPr lang="en-US" altLang="zh-CN" dirty="0"/>
              <a:t>T-notes: 1-10</a:t>
            </a:r>
            <a:r>
              <a:rPr lang="zh-CN" altLang="en-US" dirty="0"/>
              <a:t>年。</a:t>
            </a:r>
            <a:endParaRPr lang="en-US" altLang="zh-CN" dirty="0"/>
          </a:p>
          <a:p>
            <a:r>
              <a:rPr lang="en-US" altLang="zh-CN" dirty="0"/>
              <a:t>T-notes </a:t>
            </a:r>
            <a:r>
              <a:rPr lang="zh-CN" altLang="en-US" dirty="0"/>
              <a:t>和</a:t>
            </a:r>
            <a:r>
              <a:rPr lang="en-US" altLang="zh-CN" dirty="0"/>
              <a:t>T-bonds</a:t>
            </a:r>
            <a:r>
              <a:rPr lang="zh-CN" altLang="en-US" dirty="0"/>
              <a:t>唯一区别是</a:t>
            </a:r>
            <a:r>
              <a:rPr lang="en-US" altLang="zh-CN" dirty="0"/>
              <a:t>maturity</a:t>
            </a:r>
            <a:r>
              <a:rPr lang="zh-CN" altLang="en-US" dirty="0"/>
              <a:t>。</a:t>
            </a:r>
            <a:r>
              <a:rPr lang="en-US" altLang="zh-CN" dirty="0"/>
              <a:t>Paid fixed int rate twice a</a:t>
            </a:r>
            <a:r>
              <a:rPr lang="zh-CN" altLang="en-US" dirty="0"/>
              <a:t> </a:t>
            </a:r>
            <a:r>
              <a:rPr lang="en-US" altLang="zh-CN" dirty="0"/>
              <a:t>year.</a:t>
            </a:r>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67</a:t>
            </a:fld>
            <a:endParaRPr lang="zh-CN" altLang="en-US"/>
          </a:p>
        </p:txBody>
      </p:sp>
    </p:spTree>
    <p:extLst>
      <p:ext uri="{BB962C8B-B14F-4D97-AF65-F5344CB8AC3E}">
        <p14:creationId xmlns:p14="http://schemas.microsoft.com/office/powerpoint/2010/main" val="2274172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68</a:t>
            </a:fld>
            <a:endParaRPr lang="zh-CN" altLang="en-US"/>
          </a:p>
        </p:txBody>
      </p:sp>
    </p:spTree>
    <p:extLst>
      <p:ext uri="{BB962C8B-B14F-4D97-AF65-F5344CB8AC3E}">
        <p14:creationId xmlns:p14="http://schemas.microsoft.com/office/powerpoint/2010/main" val="2437524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定制的东西肯定没有标准的好卖</a:t>
            </a:r>
            <a:endParaRPr lang="en-US" altLang="zh-CN" dirty="0"/>
          </a:p>
          <a:p>
            <a:r>
              <a:rPr lang="en-US" altLang="zh-CN" sz="1200" b="0" i="0" u="none" strike="noStrike" kern="1200" dirty="0">
                <a:solidFill>
                  <a:schemeClr val="tx1"/>
                </a:solidFill>
                <a:effectLst/>
                <a:latin typeface="+mn-lt"/>
                <a:ea typeface="+mn-ea"/>
                <a:cs typeface="+mn-cs"/>
              </a:rPr>
              <a:t>PO</a:t>
            </a:r>
            <a:r>
              <a:rPr lang="zh-CN" altLang="en-US" sz="1200" b="0" i="0" u="none" strike="noStrike" kern="1200" dirty="0">
                <a:solidFill>
                  <a:schemeClr val="tx1"/>
                </a:solidFill>
                <a:effectLst/>
                <a:latin typeface="+mn-lt"/>
                <a:ea typeface="+mn-ea"/>
                <a:cs typeface="+mn-cs"/>
              </a:rPr>
              <a:t>与</a:t>
            </a:r>
            <a:r>
              <a:rPr lang="en-US" altLang="zh-CN" sz="1200" b="0" i="0" u="none" strike="noStrike" kern="1200" dirty="0">
                <a:solidFill>
                  <a:schemeClr val="tx1"/>
                </a:solidFill>
                <a:effectLst/>
                <a:latin typeface="+mn-lt"/>
                <a:ea typeface="+mn-ea"/>
                <a:cs typeface="+mn-cs"/>
              </a:rPr>
              <a:t>IO</a:t>
            </a:r>
            <a:r>
              <a:rPr lang="zh-CN" altLang="en-US" sz="1200" b="0" i="0" u="none" strike="noStrike" kern="1200" dirty="0">
                <a:solidFill>
                  <a:schemeClr val="tx1"/>
                </a:solidFill>
                <a:effectLst/>
                <a:latin typeface="+mn-lt"/>
                <a:ea typeface="+mn-ea"/>
                <a:cs typeface="+mn-cs"/>
              </a:rPr>
              <a:t>在偿付来源上的区别决定了投资</a:t>
            </a:r>
            <a:r>
              <a:rPr lang="en-US" altLang="zh-CN" sz="1200" b="0" i="0" u="none" strike="noStrike" kern="1200" dirty="0">
                <a:solidFill>
                  <a:schemeClr val="tx1"/>
                </a:solidFill>
                <a:effectLst/>
                <a:latin typeface="+mn-lt"/>
                <a:ea typeface="+mn-ea"/>
                <a:cs typeface="+mn-cs"/>
              </a:rPr>
              <a:t>PO</a:t>
            </a:r>
            <a:r>
              <a:rPr lang="zh-CN" altLang="en-US" sz="1200" b="0" i="0" u="none" strike="noStrike" kern="1200" dirty="0">
                <a:solidFill>
                  <a:schemeClr val="tx1"/>
                </a:solidFill>
                <a:effectLst/>
                <a:latin typeface="+mn-lt"/>
                <a:ea typeface="+mn-ea"/>
                <a:cs typeface="+mn-cs"/>
              </a:rPr>
              <a:t>与投资</a:t>
            </a:r>
            <a:r>
              <a:rPr lang="en-US" altLang="zh-CN" sz="1200" b="0" i="0" u="none" strike="noStrike" kern="1200" dirty="0">
                <a:solidFill>
                  <a:schemeClr val="tx1"/>
                </a:solidFill>
                <a:effectLst/>
                <a:latin typeface="+mn-lt"/>
                <a:ea typeface="+mn-ea"/>
                <a:cs typeface="+mn-cs"/>
              </a:rPr>
              <a:t>IO</a:t>
            </a:r>
            <a:r>
              <a:rPr lang="zh-CN" altLang="en-US" sz="1200" b="0" i="0" u="none" strike="noStrike" kern="1200" dirty="0">
                <a:solidFill>
                  <a:schemeClr val="tx1"/>
                </a:solidFill>
                <a:effectLst/>
                <a:latin typeface="+mn-lt"/>
                <a:ea typeface="+mn-ea"/>
                <a:cs typeface="+mn-cs"/>
              </a:rPr>
              <a:t>有截然不同的投资风险。</a:t>
            </a:r>
            <a:r>
              <a:rPr lang="en-US" altLang="zh-CN" sz="1200" b="0" i="0" u="none" strike="noStrike" kern="1200" dirty="0">
                <a:solidFill>
                  <a:schemeClr val="tx1"/>
                </a:solidFill>
                <a:effectLst/>
                <a:latin typeface="+mn-lt"/>
                <a:ea typeface="+mn-ea"/>
                <a:cs typeface="+mn-cs"/>
              </a:rPr>
              <a:t>PO</a:t>
            </a:r>
            <a:r>
              <a:rPr lang="zh-CN" altLang="en-US" sz="1200" b="0" i="0" u="none" strike="noStrike" kern="1200" dirty="0">
                <a:solidFill>
                  <a:schemeClr val="tx1"/>
                </a:solidFill>
                <a:effectLst/>
                <a:latin typeface="+mn-lt"/>
                <a:ea typeface="+mn-ea"/>
                <a:cs typeface="+mn-cs"/>
              </a:rPr>
              <a:t>以证券化贷款的本金受偿，而证券化贷款本金额是确定的，只是支付的时间可能产生偏差。因此，投资者的投资本金不会受到损失，风险只在于收益率的大小。但对于</a:t>
            </a:r>
            <a:r>
              <a:rPr lang="en-US" altLang="zh-CN" sz="1200" b="0" i="0" u="none" strike="noStrike" kern="1200" dirty="0">
                <a:solidFill>
                  <a:schemeClr val="tx1"/>
                </a:solidFill>
                <a:effectLst/>
                <a:latin typeface="+mn-lt"/>
                <a:ea typeface="+mn-ea"/>
                <a:cs typeface="+mn-cs"/>
              </a:rPr>
              <a:t>IO</a:t>
            </a:r>
            <a:r>
              <a:rPr lang="zh-CN" altLang="en-US" sz="1200" b="0" i="0" u="none" strike="noStrike" kern="1200" dirty="0">
                <a:solidFill>
                  <a:schemeClr val="tx1"/>
                </a:solidFill>
                <a:effectLst/>
                <a:latin typeface="+mn-lt"/>
                <a:ea typeface="+mn-ea"/>
                <a:cs typeface="+mn-cs"/>
              </a:rPr>
              <a:t>而言，如果证券化贷款的早偿（不论由利率变化或其它原因所致）速度足够快，则有可能发生的情形是，支持资产所产生的利息总额可能还不及投资者所支付的</a:t>
            </a:r>
            <a:r>
              <a:rPr lang="en-US" altLang="zh-CN" sz="1200" b="0" i="0" u="none" strike="noStrike" kern="1200" dirty="0">
                <a:solidFill>
                  <a:schemeClr val="tx1"/>
                </a:solidFill>
                <a:effectLst/>
                <a:latin typeface="+mn-lt"/>
                <a:ea typeface="+mn-ea"/>
                <a:cs typeface="+mn-cs"/>
              </a:rPr>
              <a:t>IO</a:t>
            </a:r>
            <a:r>
              <a:rPr lang="zh-CN" altLang="en-US" sz="1200" b="0" i="0" u="none" strike="noStrike" kern="1200" dirty="0">
                <a:solidFill>
                  <a:schemeClr val="tx1"/>
                </a:solidFill>
                <a:effectLst/>
                <a:latin typeface="+mn-lt"/>
                <a:ea typeface="+mn-ea"/>
                <a:cs typeface="+mn-cs"/>
              </a:rPr>
              <a:t>购买价格，也即投资者连投资本金都不能收回，更不用说投资资金的利息损失了。</a:t>
            </a:r>
            <a:endParaRPr lang="en-US" altLang="zh-CN" sz="1200" b="0" i="0" u="none" strike="noStrike" kern="1200" dirty="0">
              <a:solidFill>
                <a:schemeClr val="tx1"/>
              </a:solidFill>
              <a:effectLst/>
              <a:latin typeface="+mn-lt"/>
              <a:ea typeface="+mn-ea"/>
              <a:cs typeface="+mn-cs"/>
            </a:endParaRPr>
          </a:p>
          <a:p>
            <a:r>
              <a:rPr lang="en-US" altLang="zh-CN" sz="1200" b="0" i="0" u="none" strike="noStrike" kern="1200" dirty="0">
                <a:solidFill>
                  <a:schemeClr val="tx1"/>
                </a:solidFill>
                <a:effectLst/>
                <a:latin typeface="+mn-lt"/>
                <a:ea typeface="+mn-ea"/>
                <a:cs typeface="+mn-cs"/>
              </a:rPr>
              <a:t>PO </a:t>
            </a:r>
            <a:r>
              <a:rPr lang="zh-CN" altLang="en-US" sz="1200" b="0" i="0" u="none" strike="noStrike" kern="1200" dirty="0">
                <a:solidFill>
                  <a:schemeClr val="tx1"/>
                </a:solidFill>
                <a:effectLst/>
                <a:latin typeface="+mn-lt"/>
                <a:ea typeface="+mn-ea"/>
                <a:cs typeface="+mn-cs"/>
              </a:rPr>
              <a:t>和</a:t>
            </a:r>
            <a:r>
              <a:rPr lang="en-US" altLang="zh-CN" sz="1200" b="0" i="0" u="none" strike="noStrike" kern="1200" dirty="0">
                <a:solidFill>
                  <a:schemeClr val="tx1"/>
                </a:solidFill>
                <a:effectLst/>
                <a:latin typeface="+mn-lt"/>
                <a:ea typeface="+mn-ea"/>
                <a:cs typeface="+mn-cs"/>
              </a:rPr>
              <a:t>IO</a:t>
            </a:r>
            <a:r>
              <a:rPr lang="zh-CN" altLang="en-US" sz="1200" b="0" i="0" u="none" strike="noStrike" kern="1200" dirty="0">
                <a:solidFill>
                  <a:schemeClr val="tx1"/>
                </a:solidFill>
                <a:effectLst/>
                <a:latin typeface="+mn-lt"/>
                <a:ea typeface="+mn-ea"/>
                <a:cs typeface="+mn-cs"/>
              </a:rPr>
              <a:t>的价格对利率变化非常敏感的特性使得其常被用作利率套期交易工具。例如，</a:t>
            </a:r>
            <a:r>
              <a:rPr lang="en-US" altLang="zh-CN" sz="1200" b="0" i="0" u="none" strike="noStrike" kern="1200" dirty="0">
                <a:solidFill>
                  <a:schemeClr val="tx1"/>
                </a:solidFill>
                <a:effectLst/>
                <a:latin typeface="+mn-lt"/>
                <a:ea typeface="+mn-ea"/>
                <a:cs typeface="+mn-cs"/>
              </a:rPr>
              <a:t>PO</a:t>
            </a:r>
            <a:r>
              <a:rPr lang="zh-CN" altLang="en-US" sz="1200" b="0" i="0" u="none" strike="noStrike" kern="1200" dirty="0">
                <a:solidFill>
                  <a:schemeClr val="tx1"/>
                </a:solidFill>
                <a:effectLst/>
                <a:latin typeface="+mn-lt"/>
                <a:ea typeface="+mn-ea"/>
                <a:cs typeface="+mn-cs"/>
              </a:rPr>
              <a:t>可用作固定利率负债的套期保值工具，因为当市场利率的下降时，</a:t>
            </a:r>
            <a:r>
              <a:rPr lang="en-US" altLang="zh-CN" sz="1200" b="0" i="0" u="none" strike="noStrike" kern="1200" dirty="0">
                <a:solidFill>
                  <a:schemeClr val="tx1"/>
                </a:solidFill>
                <a:effectLst/>
                <a:latin typeface="+mn-lt"/>
                <a:ea typeface="+mn-ea"/>
                <a:cs typeface="+mn-cs"/>
              </a:rPr>
              <a:t>PO</a:t>
            </a:r>
            <a:r>
              <a:rPr lang="zh-CN" altLang="en-US" sz="1200" b="0" i="0" u="none" strike="noStrike" kern="1200" dirty="0">
                <a:solidFill>
                  <a:schemeClr val="tx1"/>
                </a:solidFill>
                <a:effectLst/>
                <a:latin typeface="+mn-lt"/>
                <a:ea typeface="+mn-ea"/>
                <a:cs typeface="+mn-cs"/>
              </a:rPr>
              <a:t>的价值上升，正好可弥补固定利率负债因利率下降而产生的负增值损失。对于</a:t>
            </a:r>
            <a:r>
              <a:rPr lang="en-US" altLang="zh-CN" sz="1200" b="0" i="0" u="none" strike="noStrike" kern="1200" dirty="0">
                <a:solidFill>
                  <a:schemeClr val="tx1"/>
                </a:solidFill>
                <a:effectLst/>
                <a:latin typeface="+mn-lt"/>
                <a:ea typeface="+mn-ea"/>
                <a:cs typeface="+mn-cs"/>
              </a:rPr>
              <a:t>IO</a:t>
            </a:r>
            <a:r>
              <a:rPr lang="zh-CN" altLang="en-US" sz="1200" b="0" i="0" u="none" strike="noStrike" kern="1200" dirty="0">
                <a:solidFill>
                  <a:schemeClr val="tx1"/>
                </a:solidFill>
                <a:effectLst/>
                <a:latin typeface="+mn-lt"/>
                <a:ea typeface="+mn-ea"/>
                <a:cs typeface="+mn-cs"/>
              </a:rPr>
              <a:t>而言，当市场利率处于临界点利率之下时，</a:t>
            </a:r>
            <a:r>
              <a:rPr lang="en-US" altLang="zh-CN" sz="1200" b="0" i="0" u="none" strike="noStrike" kern="1200" dirty="0">
                <a:solidFill>
                  <a:schemeClr val="tx1"/>
                </a:solidFill>
                <a:effectLst/>
                <a:latin typeface="+mn-lt"/>
                <a:ea typeface="+mn-ea"/>
                <a:cs typeface="+mn-cs"/>
              </a:rPr>
              <a:t>IO</a:t>
            </a:r>
            <a:r>
              <a:rPr lang="zh-CN" altLang="en-US" sz="1200" b="0" i="0" u="none" strike="noStrike" kern="1200" dirty="0">
                <a:solidFill>
                  <a:schemeClr val="tx1"/>
                </a:solidFill>
                <a:effectLst/>
                <a:latin typeface="+mn-lt"/>
                <a:ea typeface="+mn-ea"/>
                <a:cs typeface="+mn-cs"/>
              </a:rPr>
              <a:t>可用作固定利率资产的套期保值工具；反之，则可用于固定利率负债的套期保值。因为在此两种情形下，</a:t>
            </a:r>
            <a:r>
              <a:rPr lang="en-US" altLang="zh-CN" sz="1200" b="0" i="0" u="none" strike="noStrike" kern="1200" dirty="0">
                <a:solidFill>
                  <a:schemeClr val="tx1"/>
                </a:solidFill>
                <a:effectLst/>
                <a:latin typeface="+mn-lt"/>
                <a:ea typeface="+mn-ea"/>
                <a:cs typeface="+mn-cs"/>
              </a:rPr>
              <a:t>IO</a:t>
            </a:r>
            <a:r>
              <a:rPr lang="zh-CN" altLang="en-US" sz="1200" b="0" i="0" u="none" strike="noStrike" kern="1200" dirty="0">
                <a:solidFill>
                  <a:schemeClr val="tx1"/>
                </a:solidFill>
                <a:effectLst/>
                <a:latin typeface="+mn-lt"/>
                <a:ea typeface="+mn-ea"/>
                <a:cs typeface="+mn-cs"/>
              </a:rPr>
              <a:t>价值随市场利率变动而变动的方向刚好与套期保值对象的变动方向相反。</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69</a:t>
            </a:fld>
            <a:endParaRPr lang="zh-CN" altLang="en-US"/>
          </a:p>
        </p:txBody>
      </p:sp>
    </p:spTree>
    <p:extLst>
      <p:ext uri="{BB962C8B-B14F-4D97-AF65-F5344CB8AC3E}">
        <p14:creationId xmlns:p14="http://schemas.microsoft.com/office/powerpoint/2010/main" val="1265628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70</a:t>
            </a:fld>
            <a:endParaRPr lang="zh-CN" altLang="en-US"/>
          </a:p>
        </p:txBody>
      </p:sp>
    </p:spTree>
    <p:extLst>
      <p:ext uri="{BB962C8B-B14F-4D97-AF65-F5344CB8AC3E}">
        <p14:creationId xmlns:p14="http://schemas.microsoft.com/office/powerpoint/2010/main" val="390417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71</a:t>
            </a:fld>
            <a:endParaRPr lang="zh-CN" altLang="en-US"/>
          </a:p>
        </p:txBody>
      </p:sp>
    </p:spTree>
    <p:extLst>
      <p:ext uri="{BB962C8B-B14F-4D97-AF65-F5344CB8AC3E}">
        <p14:creationId xmlns:p14="http://schemas.microsoft.com/office/powerpoint/2010/main" val="3640749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72</a:t>
            </a:fld>
            <a:endParaRPr lang="zh-CN" altLang="en-US"/>
          </a:p>
        </p:txBody>
      </p:sp>
    </p:spTree>
    <p:extLst>
      <p:ext uri="{BB962C8B-B14F-4D97-AF65-F5344CB8AC3E}">
        <p14:creationId xmlns:p14="http://schemas.microsoft.com/office/powerpoint/2010/main" val="1674337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73</a:t>
            </a:fld>
            <a:endParaRPr lang="zh-CN" altLang="en-US"/>
          </a:p>
        </p:txBody>
      </p:sp>
    </p:spTree>
    <p:extLst>
      <p:ext uri="{BB962C8B-B14F-4D97-AF65-F5344CB8AC3E}">
        <p14:creationId xmlns:p14="http://schemas.microsoft.com/office/powerpoint/2010/main" val="1811071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74</a:t>
            </a:fld>
            <a:endParaRPr lang="zh-CN" altLang="en-US"/>
          </a:p>
        </p:txBody>
      </p:sp>
    </p:spTree>
    <p:extLst>
      <p:ext uri="{BB962C8B-B14F-4D97-AF65-F5344CB8AC3E}">
        <p14:creationId xmlns:p14="http://schemas.microsoft.com/office/powerpoint/2010/main" val="2995793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75</a:t>
            </a:fld>
            <a:endParaRPr lang="zh-CN" altLang="en-US"/>
          </a:p>
        </p:txBody>
      </p:sp>
    </p:spTree>
    <p:extLst>
      <p:ext uri="{BB962C8B-B14F-4D97-AF65-F5344CB8AC3E}">
        <p14:creationId xmlns:p14="http://schemas.microsoft.com/office/powerpoint/2010/main" val="2327095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76</a:t>
            </a:fld>
            <a:endParaRPr lang="zh-CN" altLang="en-US"/>
          </a:p>
        </p:txBody>
      </p:sp>
    </p:spTree>
    <p:extLst>
      <p:ext uri="{BB962C8B-B14F-4D97-AF65-F5344CB8AC3E}">
        <p14:creationId xmlns:p14="http://schemas.microsoft.com/office/powerpoint/2010/main" val="1472623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77</a:t>
            </a:fld>
            <a:endParaRPr lang="zh-CN" altLang="en-US"/>
          </a:p>
        </p:txBody>
      </p:sp>
    </p:spTree>
    <p:extLst>
      <p:ext uri="{BB962C8B-B14F-4D97-AF65-F5344CB8AC3E}">
        <p14:creationId xmlns:p14="http://schemas.microsoft.com/office/powerpoint/2010/main" val="496849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78</a:t>
            </a:fld>
            <a:endParaRPr lang="zh-CN" altLang="en-US"/>
          </a:p>
        </p:txBody>
      </p:sp>
    </p:spTree>
    <p:extLst>
      <p:ext uri="{BB962C8B-B14F-4D97-AF65-F5344CB8AC3E}">
        <p14:creationId xmlns:p14="http://schemas.microsoft.com/office/powerpoint/2010/main" val="4170629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0" lang="en-US" altLang="zh-CN" dirty="0"/>
              <a:t>The price of premium bonds will gradually fall until they trade at par value at maturity.</a:t>
            </a:r>
          </a:p>
          <a:p>
            <a:r>
              <a:rPr kumimoji="0" lang="en-US" altLang="zh-CN" dirty="0"/>
              <a:t>The price of discount bonds will gradually rise to par values as maturity gets closer. This converging effect is known as pull to par.</a:t>
            </a:r>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79</a:t>
            </a:fld>
            <a:endParaRPr lang="zh-CN" altLang="en-US"/>
          </a:p>
        </p:txBody>
      </p:sp>
    </p:spTree>
    <p:extLst>
      <p:ext uri="{BB962C8B-B14F-4D97-AF65-F5344CB8AC3E}">
        <p14:creationId xmlns:p14="http://schemas.microsoft.com/office/powerpoint/2010/main" val="29095456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80</a:t>
            </a:fld>
            <a:endParaRPr lang="zh-CN" altLang="en-US"/>
          </a:p>
        </p:txBody>
      </p:sp>
    </p:spTree>
    <p:extLst>
      <p:ext uri="{BB962C8B-B14F-4D97-AF65-F5344CB8AC3E}">
        <p14:creationId xmlns:p14="http://schemas.microsoft.com/office/powerpoint/2010/main" val="7181979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81</a:t>
            </a:fld>
            <a:endParaRPr lang="zh-CN" altLang="en-US"/>
          </a:p>
        </p:txBody>
      </p:sp>
    </p:spTree>
    <p:extLst>
      <p:ext uri="{BB962C8B-B14F-4D97-AF65-F5344CB8AC3E}">
        <p14:creationId xmlns:p14="http://schemas.microsoft.com/office/powerpoint/2010/main" val="3179014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82</a:t>
            </a:fld>
            <a:endParaRPr lang="zh-CN" altLang="en-US"/>
          </a:p>
        </p:txBody>
      </p:sp>
    </p:spTree>
    <p:extLst>
      <p:ext uri="{BB962C8B-B14F-4D97-AF65-F5344CB8AC3E}">
        <p14:creationId xmlns:p14="http://schemas.microsoft.com/office/powerpoint/2010/main" val="25034177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83</a:t>
            </a:fld>
            <a:endParaRPr lang="zh-CN" altLang="en-US"/>
          </a:p>
        </p:txBody>
      </p:sp>
    </p:spTree>
    <p:extLst>
      <p:ext uri="{BB962C8B-B14F-4D97-AF65-F5344CB8AC3E}">
        <p14:creationId xmlns:p14="http://schemas.microsoft.com/office/powerpoint/2010/main" val="41125049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84</a:t>
            </a:fld>
            <a:endParaRPr lang="zh-CN" altLang="en-US"/>
          </a:p>
        </p:txBody>
      </p:sp>
    </p:spTree>
    <p:extLst>
      <p:ext uri="{BB962C8B-B14F-4D97-AF65-F5344CB8AC3E}">
        <p14:creationId xmlns:p14="http://schemas.microsoft.com/office/powerpoint/2010/main" val="36530552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85</a:t>
            </a:fld>
            <a:endParaRPr lang="zh-CN" altLang="en-US"/>
          </a:p>
        </p:txBody>
      </p:sp>
    </p:spTree>
    <p:extLst>
      <p:ext uri="{BB962C8B-B14F-4D97-AF65-F5344CB8AC3E}">
        <p14:creationId xmlns:p14="http://schemas.microsoft.com/office/powerpoint/2010/main" val="28636191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86</a:t>
            </a:fld>
            <a:endParaRPr lang="zh-CN" altLang="en-US"/>
          </a:p>
        </p:txBody>
      </p:sp>
    </p:spTree>
    <p:extLst>
      <p:ext uri="{BB962C8B-B14F-4D97-AF65-F5344CB8AC3E}">
        <p14:creationId xmlns:p14="http://schemas.microsoft.com/office/powerpoint/2010/main" val="3540574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87</a:t>
            </a:fld>
            <a:endParaRPr lang="zh-CN" altLang="en-US"/>
          </a:p>
        </p:txBody>
      </p:sp>
    </p:spTree>
    <p:extLst>
      <p:ext uri="{BB962C8B-B14F-4D97-AF65-F5344CB8AC3E}">
        <p14:creationId xmlns:p14="http://schemas.microsoft.com/office/powerpoint/2010/main" val="27310864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88</a:t>
            </a:fld>
            <a:endParaRPr lang="zh-CN" altLang="en-US"/>
          </a:p>
        </p:txBody>
      </p:sp>
    </p:spTree>
    <p:extLst>
      <p:ext uri="{BB962C8B-B14F-4D97-AF65-F5344CB8AC3E}">
        <p14:creationId xmlns:p14="http://schemas.microsoft.com/office/powerpoint/2010/main" val="2855088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89</a:t>
            </a:fld>
            <a:endParaRPr lang="zh-CN" altLang="en-US"/>
          </a:p>
        </p:txBody>
      </p:sp>
    </p:spTree>
    <p:extLst>
      <p:ext uri="{BB962C8B-B14F-4D97-AF65-F5344CB8AC3E}">
        <p14:creationId xmlns:p14="http://schemas.microsoft.com/office/powerpoint/2010/main" val="29202420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90</a:t>
            </a:fld>
            <a:endParaRPr lang="zh-CN" altLang="en-US"/>
          </a:p>
        </p:txBody>
      </p:sp>
    </p:spTree>
    <p:extLst>
      <p:ext uri="{BB962C8B-B14F-4D97-AF65-F5344CB8AC3E}">
        <p14:creationId xmlns:p14="http://schemas.microsoft.com/office/powerpoint/2010/main" val="42168560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91</a:t>
            </a:fld>
            <a:endParaRPr lang="zh-CN" altLang="en-US"/>
          </a:p>
        </p:txBody>
      </p:sp>
    </p:spTree>
    <p:extLst>
      <p:ext uri="{BB962C8B-B14F-4D97-AF65-F5344CB8AC3E}">
        <p14:creationId xmlns:p14="http://schemas.microsoft.com/office/powerpoint/2010/main" val="11934868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92</a:t>
            </a:fld>
            <a:endParaRPr lang="zh-CN" altLang="en-US"/>
          </a:p>
        </p:txBody>
      </p:sp>
    </p:spTree>
    <p:extLst>
      <p:ext uri="{BB962C8B-B14F-4D97-AF65-F5344CB8AC3E}">
        <p14:creationId xmlns:p14="http://schemas.microsoft.com/office/powerpoint/2010/main" val="14176939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93</a:t>
            </a:fld>
            <a:endParaRPr lang="zh-CN" altLang="en-US"/>
          </a:p>
        </p:txBody>
      </p:sp>
    </p:spTree>
    <p:extLst>
      <p:ext uri="{BB962C8B-B14F-4D97-AF65-F5344CB8AC3E}">
        <p14:creationId xmlns:p14="http://schemas.microsoft.com/office/powerpoint/2010/main" val="6615958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94</a:t>
            </a:fld>
            <a:endParaRPr lang="zh-CN" altLang="en-US"/>
          </a:p>
        </p:txBody>
      </p:sp>
    </p:spTree>
    <p:extLst>
      <p:ext uri="{BB962C8B-B14F-4D97-AF65-F5344CB8AC3E}">
        <p14:creationId xmlns:p14="http://schemas.microsoft.com/office/powerpoint/2010/main" val="17945234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95</a:t>
            </a:fld>
            <a:endParaRPr lang="zh-CN" altLang="en-US"/>
          </a:p>
        </p:txBody>
      </p:sp>
    </p:spTree>
    <p:extLst>
      <p:ext uri="{BB962C8B-B14F-4D97-AF65-F5344CB8AC3E}">
        <p14:creationId xmlns:p14="http://schemas.microsoft.com/office/powerpoint/2010/main" val="22339700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96</a:t>
            </a:fld>
            <a:endParaRPr lang="zh-CN" altLang="en-US"/>
          </a:p>
        </p:txBody>
      </p:sp>
    </p:spTree>
    <p:extLst>
      <p:ext uri="{BB962C8B-B14F-4D97-AF65-F5344CB8AC3E}">
        <p14:creationId xmlns:p14="http://schemas.microsoft.com/office/powerpoint/2010/main" val="17497981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97</a:t>
            </a:fld>
            <a:endParaRPr lang="zh-CN" altLang="en-US"/>
          </a:p>
        </p:txBody>
      </p:sp>
    </p:spTree>
    <p:extLst>
      <p:ext uri="{BB962C8B-B14F-4D97-AF65-F5344CB8AC3E}">
        <p14:creationId xmlns:p14="http://schemas.microsoft.com/office/powerpoint/2010/main" val="21282443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98</a:t>
            </a:fld>
            <a:endParaRPr lang="zh-CN" altLang="en-US"/>
          </a:p>
        </p:txBody>
      </p:sp>
    </p:spTree>
    <p:extLst>
      <p:ext uri="{BB962C8B-B14F-4D97-AF65-F5344CB8AC3E}">
        <p14:creationId xmlns:p14="http://schemas.microsoft.com/office/powerpoint/2010/main" val="18761288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99</a:t>
            </a:fld>
            <a:endParaRPr lang="zh-CN" altLang="en-US"/>
          </a:p>
        </p:txBody>
      </p:sp>
    </p:spTree>
    <p:extLst>
      <p:ext uri="{BB962C8B-B14F-4D97-AF65-F5344CB8AC3E}">
        <p14:creationId xmlns:p14="http://schemas.microsoft.com/office/powerpoint/2010/main" val="27667807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100</a:t>
            </a:fld>
            <a:endParaRPr lang="zh-CN" altLang="en-US"/>
          </a:p>
        </p:txBody>
      </p:sp>
    </p:spTree>
    <p:extLst>
      <p:ext uri="{BB962C8B-B14F-4D97-AF65-F5344CB8AC3E}">
        <p14:creationId xmlns:p14="http://schemas.microsoft.com/office/powerpoint/2010/main" val="14977299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101</a:t>
            </a:fld>
            <a:endParaRPr lang="zh-CN" altLang="en-US"/>
          </a:p>
        </p:txBody>
      </p:sp>
    </p:spTree>
    <p:extLst>
      <p:ext uri="{BB962C8B-B14F-4D97-AF65-F5344CB8AC3E}">
        <p14:creationId xmlns:p14="http://schemas.microsoft.com/office/powerpoint/2010/main" val="19045429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N=29,I/Y=8,PV=1.8,PMT=1.8,CPT FV=-203.91</a:t>
            </a:r>
          </a:p>
          <a:p>
            <a:r>
              <a:rPr lang="en-US" altLang="zh-CN" dirty="0"/>
              <a:t>N=30,PV=20,PMT=0,FV=-(203.91+20),CPT</a:t>
            </a:r>
            <a:r>
              <a:rPr lang="en-US" altLang="zh-CN" baseline="0" dirty="0"/>
              <a:t> I/Y=8.385</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102</a:t>
            </a:fld>
            <a:endParaRPr lang="zh-CN" altLang="en-US"/>
          </a:p>
        </p:txBody>
      </p:sp>
    </p:spTree>
    <p:extLst>
      <p:ext uri="{BB962C8B-B14F-4D97-AF65-F5344CB8AC3E}">
        <p14:creationId xmlns:p14="http://schemas.microsoft.com/office/powerpoint/2010/main" val="10987225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103</a:t>
            </a:fld>
            <a:endParaRPr lang="zh-CN" altLang="en-US"/>
          </a:p>
        </p:txBody>
      </p:sp>
    </p:spTree>
    <p:extLst>
      <p:ext uri="{BB962C8B-B14F-4D97-AF65-F5344CB8AC3E}">
        <p14:creationId xmlns:p14="http://schemas.microsoft.com/office/powerpoint/2010/main" val="513170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104</a:t>
            </a:fld>
            <a:endParaRPr lang="zh-CN" altLang="en-US"/>
          </a:p>
        </p:txBody>
      </p:sp>
    </p:spTree>
    <p:extLst>
      <p:ext uri="{BB962C8B-B14F-4D97-AF65-F5344CB8AC3E}">
        <p14:creationId xmlns:p14="http://schemas.microsoft.com/office/powerpoint/2010/main" val="7188908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105</a:t>
            </a:fld>
            <a:endParaRPr lang="zh-CN" altLang="en-US"/>
          </a:p>
        </p:txBody>
      </p:sp>
    </p:spTree>
    <p:extLst>
      <p:ext uri="{BB962C8B-B14F-4D97-AF65-F5344CB8AC3E}">
        <p14:creationId xmlns:p14="http://schemas.microsoft.com/office/powerpoint/2010/main" val="10547740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106</a:t>
            </a:fld>
            <a:endParaRPr lang="zh-CN" altLang="en-US"/>
          </a:p>
        </p:txBody>
      </p:sp>
    </p:spTree>
    <p:extLst>
      <p:ext uri="{BB962C8B-B14F-4D97-AF65-F5344CB8AC3E}">
        <p14:creationId xmlns:p14="http://schemas.microsoft.com/office/powerpoint/2010/main" val="28463460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107</a:t>
            </a:fld>
            <a:endParaRPr lang="zh-CN" altLang="en-US"/>
          </a:p>
        </p:txBody>
      </p:sp>
    </p:spTree>
    <p:extLst>
      <p:ext uri="{BB962C8B-B14F-4D97-AF65-F5344CB8AC3E}">
        <p14:creationId xmlns:p14="http://schemas.microsoft.com/office/powerpoint/2010/main" val="31203239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108</a:t>
            </a:fld>
            <a:endParaRPr lang="zh-CN" altLang="en-US"/>
          </a:p>
        </p:txBody>
      </p:sp>
    </p:spTree>
    <p:extLst>
      <p:ext uri="{BB962C8B-B14F-4D97-AF65-F5344CB8AC3E}">
        <p14:creationId xmlns:p14="http://schemas.microsoft.com/office/powerpoint/2010/main" val="9631662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109</a:t>
            </a:fld>
            <a:endParaRPr lang="zh-CN" altLang="en-US"/>
          </a:p>
        </p:txBody>
      </p:sp>
    </p:spTree>
    <p:extLst>
      <p:ext uri="{BB962C8B-B14F-4D97-AF65-F5344CB8AC3E}">
        <p14:creationId xmlns:p14="http://schemas.microsoft.com/office/powerpoint/2010/main" val="24194290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110</a:t>
            </a:fld>
            <a:endParaRPr lang="zh-CN" altLang="en-US"/>
          </a:p>
        </p:txBody>
      </p:sp>
    </p:spTree>
    <p:extLst>
      <p:ext uri="{BB962C8B-B14F-4D97-AF65-F5344CB8AC3E}">
        <p14:creationId xmlns:p14="http://schemas.microsoft.com/office/powerpoint/2010/main" val="26730093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111</a:t>
            </a:fld>
            <a:endParaRPr lang="zh-CN" altLang="en-US"/>
          </a:p>
        </p:txBody>
      </p:sp>
    </p:spTree>
    <p:extLst>
      <p:ext uri="{BB962C8B-B14F-4D97-AF65-F5344CB8AC3E}">
        <p14:creationId xmlns:p14="http://schemas.microsoft.com/office/powerpoint/2010/main" val="35411737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112</a:t>
            </a:fld>
            <a:endParaRPr lang="zh-CN" altLang="en-US"/>
          </a:p>
        </p:txBody>
      </p:sp>
    </p:spTree>
    <p:extLst>
      <p:ext uri="{BB962C8B-B14F-4D97-AF65-F5344CB8AC3E}">
        <p14:creationId xmlns:p14="http://schemas.microsoft.com/office/powerpoint/2010/main" val="41151948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113</a:t>
            </a:fld>
            <a:endParaRPr lang="zh-CN" altLang="en-US"/>
          </a:p>
        </p:txBody>
      </p:sp>
    </p:spTree>
    <p:extLst>
      <p:ext uri="{BB962C8B-B14F-4D97-AF65-F5344CB8AC3E}">
        <p14:creationId xmlns:p14="http://schemas.microsoft.com/office/powerpoint/2010/main" val="14757403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114</a:t>
            </a:fld>
            <a:endParaRPr lang="zh-CN" altLang="en-US"/>
          </a:p>
        </p:txBody>
      </p:sp>
    </p:spTree>
    <p:extLst>
      <p:ext uri="{BB962C8B-B14F-4D97-AF65-F5344CB8AC3E}">
        <p14:creationId xmlns:p14="http://schemas.microsoft.com/office/powerpoint/2010/main" val="12296640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115</a:t>
            </a:fld>
            <a:endParaRPr lang="zh-CN" altLang="en-US"/>
          </a:p>
        </p:txBody>
      </p:sp>
    </p:spTree>
    <p:extLst>
      <p:ext uri="{BB962C8B-B14F-4D97-AF65-F5344CB8AC3E}">
        <p14:creationId xmlns:p14="http://schemas.microsoft.com/office/powerpoint/2010/main" val="4320608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116</a:t>
            </a:fld>
            <a:endParaRPr lang="zh-CN" altLang="en-US"/>
          </a:p>
        </p:txBody>
      </p:sp>
    </p:spTree>
    <p:extLst>
      <p:ext uri="{BB962C8B-B14F-4D97-AF65-F5344CB8AC3E}">
        <p14:creationId xmlns:p14="http://schemas.microsoft.com/office/powerpoint/2010/main" val="28841960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0" lang="en-US" altLang="zh-CN" dirty="0">
                <a:cs typeface="Arial" panose="020B0604020202020204" pitchFamily="34" charset="0"/>
              </a:rPr>
              <a:t>The difference is 49.992-50.257=-0.265, as percentage of -0.53%</a:t>
            </a:r>
          </a:p>
          <a:p>
            <a:r>
              <a:rPr kumimoji="0" lang="en-US" altLang="zh-CN" dirty="0">
                <a:cs typeface="Arial" panose="020B0604020202020204" pitchFamily="34" charset="0"/>
              </a:rPr>
              <a:t>Question: can we get a more accurate approximation?</a:t>
            </a:r>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117</a:t>
            </a:fld>
            <a:endParaRPr lang="zh-CN" altLang="en-US"/>
          </a:p>
        </p:txBody>
      </p:sp>
    </p:spTree>
    <p:extLst>
      <p:ext uri="{BB962C8B-B14F-4D97-AF65-F5344CB8AC3E}">
        <p14:creationId xmlns:p14="http://schemas.microsoft.com/office/powerpoint/2010/main" val="23150918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118</a:t>
            </a:fld>
            <a:endParaRPr lang="zh-CN" altLang="en-US"/>
          </a:p>
        </p:txBody>
      </p:sp>
    </p:spTree>
    <p:extLst>
      <p:ext uri="{BB962C8B-B14F-4D97-AF65-F5344CB8AC3E}">
        <p14:creationId xmlns:p14="http://schemas.microsoft.com/office/powerpoint/2010/main" val="23520907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119</a:t>
            </a:fld>
            <a:endParaRPr lang="zh-CN" altLang="en-US"/>
          </a:p>
        </p:txBody>
      </p:sp>
    </p:spTree>
    <p:extLst>
      <p:ext uri="{BB962C8B-B14F-4D97-AF65-F5344CB8AC3E}">
        <p14:creationId xmlns:p14="http://schemas.microsoft.com/office/powerpoint/2010/main" val="30070320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120</a:t>
            </a:fld>
            <a:endParaRPr lang="zh-CN" altLang="en-US"/>
          </a:p>
        </p:txBody>
      </p:sp>
    </p:spTree>
    <p:extLst>
      <p:ext uri="{BB962C8B-B14F-4D97-AF65-F5344CB8AC3E}">
        <p14:creationId xmlns:p14="http://schemas.microsoft.com/office/powerpoint/2010/main" val="341407633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0" lang="en-US" altLang="zh-CN" dirty="0"/>
              <a:t>If a bond that exhibits negative convexity is used to hedge a bond with positive convexity or vice versa, it is unstable when rates move away from y’.</a:t>
            </a:r>
            <a:br>
              <a:rPr kumimoji="0" lang="en-US" altLang="zh-CN" dirty="0"/>
            </a:br>
            <a:r>
              <a:rPr kumimoji="0" lang="en-US" altLang="zh-CN" dirty="0"/>
              <a:t>This negative convexity could also characterize a mortgage-backed security.</a:t>
            </a:r>
          </a:p>
          <a:p>
            <a:endParaRPr kumimoji="0"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121</a:t>
            </a:fld>
            <a:endParaRPr lang="zh-CN" altLang="en-US"/>
          </a:p>
        </p:txBody>
      </p:sp>
    </p:spTree>
    <p:extLst>
      <p:ext uri="{BB962C8B-B14F-4D97-AF65-F5344CB8AC3E}">
        <p14:creationId xmlns:p14="http://schemas.microsoft.com/office/powerpoint/2010/main" val="17861574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122</a:t>
            </a:fld>
            <a:endParaRPr lang="zh-CN" altLang="en-US"/>
          </a:p>
        </p:txBody>
      </p:sp>
    </p:spTree>
    <p:extLst>
      <p:ext uri="{BB962C8B-B14F-4D97-AF65-F5344CB8AC3E}">
        <p14:creationId xmlns:p14="http://schemas.microsoft.com/office/powerpoint/2010/main" val="21265452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123</a:t>
            </a:fld>
            <a:endParaRPr lang="zh-CN" altLang="en-US"/>
          </a:p>
        </p:txBody>
      </p:sp>
    </p:spTree>
    <p:extLst>
      <p:ext uri="{BB962C8B-B14F-4D97-AF65-F5344CB8AC3E}">
        <p14:creationId xmlns:p14="http://schemas.microsoft.com/office/powerpoint/2010/main" val="327056113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124</a:t>
            </a:fld>
            <a:endParaRPr lang="zh-CN" altLang="en-US"/>
          </a:p>
        </p:txBody>
      </p:sp>
    </p:spTree>
    <p:extLst>
      <p:ext uri="{BB962C8B-B14F-4D97-AF65-F5344CB8AC3E}">
        <p14:creationId xmlns:p14="http://schemas.microsoft.com/office/powerpoint/2010/main" val="408327445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125</a:t>
            </a:fld>
            <a:endParaRPr lang="zh-CN" altLang="en-US"/>
          </a:p>
        </p:txBody>
      </p:sp>
    </p:spTree>
    <p:extLst>
      <p:ext uri="{BB962C8B-B14F-4D97-AF65-F5344CB8AC3E}">
        <p14:creationId xmlns:p14="http://schemas.microsoft.com/office/powerpoint/2010/main" val="28899057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126</a:t>
            </a:fld>
            <a:endParaRPr lang="zh-CN" altLang="en-US"/>
          </a:p>
        </p:txBody>
      </p:sp>
    </p:spTree>
    <p:extLst>
      <p:ext uri="{BB962C8B-B14F-4D97-AF65-F5344CB8AC3E}">
        <p14:creationId xmlns:p14="http://schemas.microsoft.com/office/powerpoint/2010/main" val="180558896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127</a:t>
            </a:fld>
            <a:endParaRPr lang="zh-CN" altLang="en-US"/>
          </a:p>
        </p:txBody>
      </p:sp>
    </p:spTree>
    <p:extLst>
      <p:ext uri="{BB962C8B-B14F-4D97-AF65-F5344CB8AC3E}">
        <p14:creationId xmlns:p14="http://schemas.microsoft.com/office/powerpoint/2010/main" val="282530272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128</a:t>
            </a:fld>
            <a:endParaRPr lang="zh-CN" altLang="en-US"/>
          </a:p>
        </p:txBody>
      </p:sp>
    </p:spTree>
    <p:extLst>
      <p:ext uri="{BB962C8B-B14F-4D97-AF65-F5344CB8AC3E}">
        <p14:creationId xmlns:p14="http://schemas.microsoft.com/office/powerpoint/2010/main" val="67087863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Typically, liquid instruments are picked, which generally implies maturities of 2-year, 5-year, 10-year and 30-year rates as these are among the most heavily traded instruments.</a:t>
            </a:r>
          </a:p>
          <a:p>
            <a:r>
              <a:rPr lang="en-US" altLang="zh-CN" dirty="0"/>
              <a:t>For example, a shift in the 10-year rate is determined by the changes in the 5-year and 30-year rates. That is, if the 5-year and 1-year rates were to stay constant, a change in the 1-year rate would not change the 10-year rate.</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129</a:t>
            </a:fld>
            <a:endParaRPr lang="zh-CN" altLang="en-US"/>
          </a:p>
        </p:txBody>
      </p:sp>
    </p:spTree>
    <p:extLst>
      <p:ext uri="{BB962C8B-B14F-4D97-AF65-F5344CB8AC3E}">
        <p14:creationId xmlns:p14="http://schemas.microsoft.com/office/powerpoint/2010/main" val="275494775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130</a:t>
            </a:fld>
            <a:endParaRPr lang="zh-CN" altLang="en-US"/>
          </a:p>
        </p:txBody>
      </p:sp>
    </p:spTree>
    <p:extLst>
      <p:ext uri="{BB962C8B-B14F-4D97-AF65-F5344CB8AC3E}">
        <p14:creationId xmlns:p14="http://schemas.microsoft.com/office/powerpoint/2010/main" val="259491947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131</a:t>
            </a:fld>
            <a:endParaRPr lang="zh-CN" altLang="en-US"/>
          </a:p>
        </p:txBody>
      </p:sp>
    </p:spTree>
    <p:extLst>
      <p:ext uri="{BB962C8B-B14F-4D97-AF65-F5344CB8AC3E}">
        <p14:creationId xmlns:p14="http://schemas.microsoft.com/office/powerpoint/2010/main" val="24709429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132</a:t>
            </a:fld>
            <a:endParaRPr lang="zh-CN" altLang="en-US"/>
          </a:p>
        </p:txBody>
      </p:sp>
    </p:spTree>
    <p:extLst>
      <p:ext uri="{BB962C8B-B14F-4D97-AF65-F5344CB8AC3E}">
        <p14:creationId xmlns:p14="http://schemas.microsoft.com/office/powerpoint/2010/main" val="250752476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For example, if a curve fitting algorithm fits the three-month London Interbank Offered Rate and par rates at 2-, 5-, 10-, and 30-year maturities, then the two-year partial ’01 would be the change in the value of a portfolio for a one-basis point decline in the two-year par rate and a refitting of the curve, where the three-month LIBOR and the par 5-, 10- and 30-year rates are kept the same.</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133</a:t>
            </a:fld>
            <a:endParaRPr lang="zh-CN" altLang="en-US"/>
          </a:p>
        </p:txBody>
      </p:sp>
    </p:spTree>
    <p:extLst>
      <p:ext uri="{BB962C8B-B14F-4D97-AF65-F5344CB8AC3E}">
        <p14:creationId xmlns:p14="http://schemas.microsoft.com/office/powerpoint/2010/main" val="323742910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134</a:t>
            </a:fld>
            <a:endParaRPr lang="zh-CN" altLang="en-US"/>
          </a:p>
        </p:txBody>
      </p:sp>
    </p:spTree>
    <p:extLst>
      <p:ext uri="{BB962C8B-B14F-4D97-AF65-F5344CB8AC3E}">
        <p14:creationId xmlns:p14="http://schemas.microsoft.com/office/powerpoint/2010/main" val="14207064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135</a:t>
            </a:fld>
            <a:endParaRPr lang="zh-CN" altLang="en-US"/>
          </a:p>
        </p:txBody>
      </p:sp>
    </p:spTree>
    <p:extLst>
      <p:ext uri="{BB962C8B-B14F-4D97-AF65-F5344CB8AC3E}">
        <p14:creationId xmlns:p14="http://schemas.microsoft.com/office/powerpoint/2010/main" val="31806388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136</a:t>
            </a:fld>
            <a:endParaRPr lang="zh-CN" altLang="en-US"/>
          </a:p>
        </p:txBody>
      </p:sp>
    </p:spTree>
    <p:extLst>
      <p:ext uri="{BB962C8B-B14F-4D97-AF65-F5344CB8AC3E}">
        <p14:creationId xmlns:p14="http://schemas.microsoft.com/office/powerpoint/2010/main" val="117965604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0" lang="zh-CN" altLang="en-US" b="1" dirty="0"/>
              <a:t>答案：</a:t>
            </a:r>
            <a:r>
              <a:rPr kumimoji="0" lang="en-US" altLang="zh-CN" b="1" dirty="0"/>
              <a:t>C</a:t>
            </a:r>
          </a:p>
          <a:p>
            <a:r>
              <a:rPr kumimoji="0" lang="en-US" altLang="zh-CN" dirty="0"/>
              <a:t>Key rate’01 with respect to the 30-year shift is calculated as follows:</a:t>
            </a:r>
          </a:p>
          <a:p>
            <a:r>
              <a:rPr kumimoji="0" lang="en-US" altLang="zh-CN" dirty="0">
                <a:latin typeface="Cambria Math" panose="02040503050406030204" pitchFamily="18" charset="0"/>
              </a:rPr>
              <a:t>−1/10,000 (25.01254−25.11584)/(0.01%)</a:t>
            </a:r>
            <a:r>
              <a:rPr kumimoji="0" lang="en-US" altLang="zh-CN" dirty="0"/>
              <a:t>=0.103</a:t>
            </a:r>
          </a:p>
          <a:p>
            <a:r>
              <a:rPr kumimoji="0" lang="en-US" altLang="zh-CN" dirty="0"/>
              <a:t>This implies that the C-strip decreases in price by 0.103 per 100 face amount for a positive one basis point 30-year shift.</a:t>
            </a:r>
          </a:p>
          <a:p>
            <a:r>
              <a:rPr kumimoji="0" lang="zh-CN" altLang="en-US" dirty="0"/>
              <a:t>答案：</a:t>
            </a:r>
            <a:r>
              <a:rPr kumimoji="0" lang="en-US" altLang="zh-CN" dirty="0"/>
              <a:t>D</a:t>
            </a:r>
          </a:p>
          <a:p>
            <a:r>
              <a:rPr kumimoji="0" lang="en-US" altLang="zh-CN" dirty="0"/>
              <a:t>Key rate duration for the 30-year shift is calculated as follows:</a:t>
            </a:r>
          </a:p>
          <a:p>
            <a:r>
              <a:rPr kumimoji="0" lang="en-US" altLang="zh-CN" dirty="0">
                <a:latin typeface="Cambria Math" panose="02040503050406030204" pitchFamily="18" charset="0"/>
              </a:rPr>
              <a:t>−1/25.11584 (25.01254−25.11584)/(0.01%)</a:t>
            </a:r>
            <a:r>
              <a:rPr kumimoji="0" lang="en-US" altLang="zh-CN" dirty="0"/>
              <a:t>=41.13</a:t>
            </a:r>
            <a:endParaRPr kumimoji="0"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137</a:t>
            </a:fld>
            <a:endParaRPr lang="zh-CN" altLang="en-US"/>
          </a:p>
        </p:txBody>
      </p:sp>
    </p:spTree>
    <p:extLst>
      <p:ext uri="{BB962C8B-B14F-4D97-AF65-F5344CB8AC3E}">
        <p14:creationId xmlns:p14="http://schemas.microsoft.com/office/powerpoint/2010/main" val="155705846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138</a:t>
            </a:fld>
            <a:endParaRPr lang="zh-CN" altLang="en-US"/>
          </a:p>
        </p:txBody>
      </p:sp>
    </p:spTree>
    <p:extLst>
      <p:ext uri="{BB962C8B-B14F-4D97-AF65-F5344CB8AC3E}">
        <p14:creationId xmlns:p14="http://schemas.microsoft.com/office/powerpoint/2010/main" val="148112403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141</a:t>
            </a:fld>
            <a:endParaRPr lang="zh-CN" altLang="en-US"/>
          </a:p>
        </p:txBody>
      </p:sp>
    </p:spTree>
    <p:extLst>
      <p:ext uri="{BB962C8B-B14F-4D97-AF65-F5344CB8AC3E}">
        <p14:creationId xmlns:p14="http://schemas.microsoft.com/office/powerpoint/2010/main" val="283518784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kumimoji="0" lang="zh-CN" altLang="en-US" sz="2000" dirty="0"/>
              <a:t>How much can we lose on our trading portfolio by tomorrow's close?</a:t>
            </a:r>
          </a:p>
          <a:p>
            <a:pPr eaLnBrk="1" hangingPunct="1">
              <a:lnSpc>
                <a:spcPct val="120000"/>
              </a:lnSpc>
              <a:spcBef>
                <a:spcPct val="0"/>
              </a:spcBef>
            </a:pPr>
            <a:r>
              <a:rPr kumimoji="0" lang="en-US" altLang="zh-CN" dirty="0">
                <a:cs typeface="Times New Roman" panose="02020603050405020304" pitchFamily="18" charset="0"/>
              </a:rPr>
              <a:t>JP</a:t>
            </a:r>
            <a:r>
              <a:rPr kumimoji="0" lang="zh-CN" altLang="en-US" dirty="0">
                <a:cs typeface="Times New Roman" panose="02020603050405020304" pitchFamily="18" charset="0"/>
              </a:rPr>
              <a:t>摩根公司在</a:t>
            </a:r>
            <a:r>
              <a:rPr kumimoji="0" lang="en-US" altLang="zh-CN" dirty="0">
                <a:cs typeface="Times New Roman" panose="02020603050405020304" pitchFamily="18" charset="0"/>
              </a:rPr>
              <a:t>2004</a:t>
            </a:r>
            <a:r>
              <a:rPr kumimoji="0" lang="zh-CN" altLang="en-US" dirty="0">
                <a:cs typeface="Times New Roman" panose="02020603050405020304" pitchFamily="18" charset="0"/>
              </a:rPr>
              <a:t>年置信水平为</a:t>
            </a:r>
            <a:r>
              <a:rPr kumimoji="0" lang="en-US" altLang="zh-CN" dirty="0">
                <a:cs typeface="Times New Roman" panose="02020603050405020304" pitchFamily="18" charset="0"/>
              </a:rPr>
              <a:t>95%</a:t>
            </a:r>
            <a:r>
              <a:rPr kumimoji="0" lang="zh-CN" altLang="en-US" dirty="0">
                <a:cs typeface="Times New Roman" panose="02020603050405020304" pitchFamily="18" charset="0"/>
              </a:rPr>
              <a:t>的日</a:t>
            </a:r>
            <a:r>
              <a:rPr kumimoji="0" lang="en-US" altLang="zh-CN" dirty="0" err="1">
                <a:cs typeface="Times New Roman" panose="02020603050405020304" pitchFamily="18" charset="0"/>
              </a:rPr>
              <a:t>VaR</a:t>
            </a:r>
            <a:r>
              <a:rPr kumimoji="0" lang="zh-CN" altLang="en-US" dirty="0">
                <a:cs typeface="Times New Roman" panose="02020603050405020304" pitchFamily="18" charset="0"/>
              </a:rPr>
              <a:t>值为</a:t>
            </a:r>
            <a:r>
              <a:rPr kumimoji="0" lang="en-US" altLang="zh-CN" dirty="0">
                <a:cs typeface="Times New Roman" panose="02020603050405020304" pitchFamily="18" charset="0"/>
              </a:rPr>
              <a:t>1500</a:t>
            </a:r>
            <a:r>
              <a:rPr kumimoji="0" lang="zh-CN" altLang="en-US" dirty="0">
                <a:cs typeface="Times New Roman" panose="02020603050405020304" pitchFamily="18" charset="0"/>
              </a:rPr>
              <a:t>万美元</a:t>
            </a:r>
          </a:p>
          <a:p>
            <a:pPr marL="0" lvl="1" eaLnBrk="1" hangingPunct="1">
              <a:lnSpc>
                <a:spcPct val="120000"/>
              </a:lnSpc>
              <a:spcBef>
                <a:spcPct val="0"/>
              </a:spcBef>
              <a:buFont typeface="Wingdings" panose="05000000000000000000" pitchFamily="2" charset="2"/>
              <a:buChar char="ü"/>
            </a:pPr>
            <a:r>
              <a:rPr kumimoji="0" lang="zh-CN" altLang="en-US" dirty="0">
                <a:cs typeface="Arial" panose="020B0604020202020204" pitchFamily="34" charset="0"/>
              </a:rPr>
              <a:t>其含义指该公司可以以</a:t>
            </a:r>
            <a:r>
              <a:rPr kumimoji="0" lang="en-US" altLang="zh-CN" dirty="0">
                <a:cs typeface="Arial" panose="020B0604020202020204" pitchFamily="34" charset="0"/>
              </a:rPr>
              <a:t>95%</a:t>
            </a:r>
            <a:r>
              <a:rPr kumimoji="0" lang="zh-CN" altLang="en-US" dirty="0">
                <a:cs typeface="Arial" panose="020B0604020202020204" pitchFamily="34" charset="0"/>
              </a:rPr>
              <a:t>的把握保证，</a:t>
            </a:r>
            <a:r>
              <a:rPr kumimoji="0" lang="en-US" altLang="zh-CN" dirty="0">
                <a:cs typeface="Arial" panose="020B0604020202020204" pitchFamily="34" charset="0"/>
              </a:rPr>
              <a:t>2004</a:t>
            </a:r>
            <a:r>
              <a:rPr kumimoji="0" lang="zh-CN" altLang="en-US" dirty="0">
                <a:cs typeface="Arial" panose="020B0604020202020204" pitchFamily="34" charset="0"/>
              </a:rPr>
              <a:t>年某一特定时点上的金融资产在未来</a:t>
            </a:r>
            <a:r>
              <a:rPr kumimoji="0" lang="en-US" altLang="zh-CN" dirty="0">
                <a:cs typeface="Arial" panose="020B0604020202020204" pitchFamily="34" charset="0"/>
              </a:rPr>
              <a:t>24</a:t>
            </a:r>
            <a:r>
              <a:rPr kumimoji="0" lang="zh-CN" altLang="en-US" dirty="0">
                <a:cs typeface="Arial" panose="020B0604020202020204" pitchFamily="34" charset="0"/>
              </a:rPr>
              <a:t>小时内，由于市场价格变动带来的损失不会超过</a:t>
            </a:r>
            <a:r>
              <a:rPr kumimoji="0" lang="en-US" altLang="zh-CN" dirty="0">
                <a:cs typeface="Arial" panose="020B0604020202020204" pitchFamily="34" charset="0"/>
              </a:rPr>
              <a:t>1500</a:t>
            </a:r>
            <a:r>
              <a:rPr kumimoji="0" lang="zh-CN" altLang="en-US" dirty="0">
                <a:cs typeface="Arial" panose="020B0604020202020204" pitchFamily="34" charset="0"/>
              </a:rPr>
              <a:t>万美元；</a:t>
            </a:r>
          </a:p>
          <a:p>
            <a:pPr marL="0" lvl="1" eaLnBrk="1" hangingPunct="1">
              <a:lnSpc>
                <a:spcPct val="120000"/>
              </a:lnSpc>
              <a:spcBef>
                <a:spcPct val="0"/>
              </a:spcBef>
              <a:buFont typeface="Wingdings" panose="05000000000000000000" pitchFamily="2" charset="2"/>
              <a:buChar char="ü"/>
            </a:pPr>
            <a:r>
              <a:rPr kumimoji="0" lang="zh-CN" altLang="en-US" dirty="0">
                <a:cs typeface="Arial" panose="020B0604020202020204" pitchFamily="34" charset="0"/>
              </a:rPr>
              <a:t>或者说，只有</a:t>
            </a:r>
            <a:r>
              <a:rPr kumimoji="0" lang="en-US" altLang="zh-CN" dirty="0">
                <a:cs typeface="Arial" panose="020B0604020202020204" pitchFamily="34" charset="0"/>
              </a:rPr>
              <a:t>5%</a:t>
            </a:r>
            <a:r>
              <a:rPr kumimoji="0" lang="zh-CN" altLang="en-US" dirty="0">
                <a:cs typeface="Arial" panose="020B0604020202020204" pitchFamily="34" charset="0"/>
              </a:rPr>
              <a:t>的可能损失超过</a:t>
            </a:r>
            <a:r>
              <a:rPr kumimoji="0" lang="en-US" altLang="zh-CN" dirty="0">
                <a:cs typeface="Arial" panose="020B0604020202020204" pitchFamily="34" charset="0"/>
              </a:rPr>
              <a:t>1500</a:t>
            </a:r>
            <a:r>
              <a:rPr kumimoji="0" lang="zh-CN" altLang="en-US" dirty="0">
                <a:cs typeface="Arial" panose="020B0604020202020204" pitchFamily="34" charset="0"/>
              </a:rPr>
              <a:t>万美元；</a:t>
            </a:r>
          </a:p>
          <a:p>
            <a:pPr marL="0" lvl="1" eaLnBrk="1" hangingPunct="1">
              <a:lnSpc>
                <a:spcPct val="120000"/>
              </a:lnSpc>
              <a:spcBef>
                <a:spcPct val="0"/>
              </a:spcBef>
              <a:buFont typeface="Wingdings" panose="05000000000000000000" pitchFamily="2" charset="2"/>
              <a:buChar char="ü"/>
            </a:pPr>
            <a:r>
              <a:rPr kumimoji="0" lang="zh-CN" altLang="en-US" dirty="0">
                <a:cs typeface="Arial" panose="020B0604020202020204" pitchFamily="34" charset="0"/>
              </a:rPr>
              <a:t>我们有95%的信心，我们所有交易活动带来的日风险估计值约为1500万美元。</a:t>
            </a:r>
          </a:p>
          <a:p>
            <a:pPr marL="0" lvl="1" eaLnBrk="1" hangingPunct="1">
              <a:lnSpc>
                <a:spcPct val="120000"/>
              </a:lnSpc>
              <a:spcBef>
                <a:spcPct val="0"/>
              </a:spcBef>
              <a:buFont typeface="Wingdings" panose="05000000000000000000" pitchFamily="2" charset="2"/>
              <a:buChar char="ü"/>
            </a:pPr>
            <a:endParaRPr kumimoji="0" lang="zh-CN" altLang="en-US" dirty="0">
              <a:cs typeface="Arial" panose="020B0604020202020204" pitchFamily="34" charset="0"/>
            </a:endParaRPr>
          </a:p>
          <a:p>
            <a:pPr eaLnBrk="1" hangingPunct="1">
              <a:lnSpc>
                <a:spcPct val="120000"/>
              </a:lnSpc>
              <a:spcBef>
                <a:spcPct val="0"/>
              </a:spcBef>
            </a:pPr>
            <a:r>
              <a:rPr kumimoji="0" lang="zh-CN" altLang="en-US" dirty="0">
                <a:cs typeface="Times New Roman" panose="02020603050405020304" pitchFamily="18" charset="0"/>
              </a:rPr>
              <a:t>VaR的来源与用途：</a:t>
            </a:r>
          </a:p>
          <a:p>
            <a:pPr marL="0" lvl="1" eaLnBrk="1" hangingPunct="1">
              <a:lnSpc>
                <a:spcPct val="120000"/>
              </a:lnSpc>
              <a:spcBef>
                <a:spcPct val="0"/>
              </a:spcBef>
              <a:buFont typeface="Wingdings" panose="05000000000000000000" pitchFamily="2" charset="2"/>
              <a:buChar char="ü"/>
            </a:pPr>
            <a:r>
              <a:rPr kumimoji="0" lang="zh-CN" altLang="en-US" dirty="0">
                <a:cs typeface="Arial" panose="020B0604020202020204" pitchFamily="34" charset="0"/>
              </a:rPr>
              <a:t>J.P Morgan用来计算市场风险的产物</a:t>
            </a:r>
          </a:p>
          <a:p>
            <a:pPr marL="0" lvl="1" eaLnBrk="1" hangingPunct="1">
              <a:lnSpc>
                <a:spcPct val="120000"/>
              </a:lnSpc>
              <a:spcBef>
                <a:spcPct val="0"/>
              </a:spcBef>
              <a:buFont typeface="Wingdings" panose="05000000000000000000" pitchFamily="2" charset="2"/>
              <a:buChar char="ü"/>
            </a:pPr>
            <a:r>
              <a:rPr kumimoji="0" lang="zh-CN" altLang="en-US" dirty="0">
                <a:cs typeface="Arial" panose="020B0604020202020204" pitchFamily="34" charset="0"/>
              </a:rPr>
              <a:t>基于统计分析基础上的风险度量技术</a:t>
            </a:r>
          </a:p>
          <a:p>
            <a:pPr marL="0" lvl="1" eaLnBrk="1" hangingPunct="1">
              <a:lnSpc>
                <a:spcPct val="120000"/>
              </a:lnSpc>
              <a:spcBef>
                <a:spcPct val="0"/>
              </a:spcBef>
              <a:buFont typeface="Wingdings" panose="05000000000000000000" pitchFamily="2" charset="2"/>
              <a:buChar char="ü"/>
            </a:pPr>
            <a:r>
              <a:rPr kumimoji="0" lang="zh-CN" altLang="en-US" dirty="0">
                <a:cs typeface="Arial" panose="020B0604020202020204" pitchFamily="34" charset="0"/>
              </a:rPr>
              <a:t>组合风险概括为一个数字，表示潜在亏损</a:t>
            </a:r>
          </a:p>
          <a:p>
            <a:pPr marL="0" lvl="1" eaLnBrk="1" hangingPunct="1">
              <a:lnSpc>
                <a:spcPct val="120000"/>
              </a:lnSpc>
              <a:spcBef>
                <a:spcPct val="0"/>
              </a:spcBef>
              <a:buFont typeface="Wingdings" panose="05000000000000000000" pitchFamily="2" charset="2"/>
              <a:buChar char="ü"/>
            </a:pPr>
            <a:r>
              <a:rPr kumimoji="0" lang="zh-CN" altLang="en-US" dirty="0">
                <a:cs typeface="Arial" panose="020B0604020202020204" pitchFamily="34" charset="0"/>
              </a:rPr>
              <a:t>逐步扩展到信用和操作风险管理领域</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142</a:t>
            </a:fld>
            <a:endParaRPr lang="zh-CN" altLang="en-US"/>
          </a:p>
        </p:txBody>
      </p:sp>
    </p:spTree>
    <p:extLst>
      <p:ext uri="{BB962C8B-B14F-4D97-AF65-F5344CB8AC3E}">
        <p14:creationId xmlns:p14="http://schemas.microsoft.com/office/powerpoint/2010/main" val="71045944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143</a:t>
            </a:fld>
            <a:endParaRPr lang="zh-CN" altLang="en-US"/>
          </a:p>
        </p:txBody>
      </p:sp>
    </p:spTree>
    <p:extLst>
      <p:ext uri="{BB962C8B-B14F-4D97-AF65-F5344CB8AC3E}">
        <p14:creationId xmlns:p14="http://schemas.microsoft.com/office/powerpoint/2010/main" val="266058193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历史数据越多，精确度越高。置信区间越大，</a:t>
            </a:r>
            <a:r>
              <a:rPr lang="en-US" altLang="zh-CN" dirty="0"/>
              <a:t>var</a:t>
            </a:r>
            <a:r>
              <a:rPr lang="zh-CN" altLang="en-US" dirty="0"/>
              <a:t>越大，精确程度越低。置信区间越小，</a:t>
            </a:r>
            <a:r>
              <a:rPr lang="en-US" altLang="zh-CN" dirty="0"/>
              <a:t>var</a:t>
            </a:r>
            <a:r>
              <a:rPr lang="zh-CN" altLang="en-US" dirty="0"/>
              <a:t>越小，精确程度越高。</a:t>
            </a:r>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144</a:t>
            </a:fld>
            <a:endParaRPr lang="zh-CN" altLang="en-US"/>
          </a:p>
        </p:txBody>
      </p:sp>
    </p:spTree>
    <p:extLst>
      <p:ext uri="{BB962C8B-B14F-4D97-AF65-F5344CB8AC3E}">
        <p14:creationId xmlns:p14="http://schemas.microsoft.com/office/powerpoint/2010/main" val="310016197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145</a:t>
            </a:fld>
            <a:endParaRPr lang="zh-CN" altLang="en-US"/>
          </a:p>
        </p:txBody>
      </p:sp>
    </p:spTree>
    <p:extLst>
      <p:ext uri="{BB962C8B-B14F-4D97-AF65-F5344CB8AC3E}">
        <p14:creationId xmlns:p14="http://schemas.microsoft.com/office/powerpoint/2010/main" val="99226242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0" lang="en-US" altLang="zh-CN" dirty="0"/>
              <a:t>S</a:t>
            </a:r>
            <a:r>
              <a:rPr kumimoji="0" lang="zh-CN" altLang="en-US" dirty="0"/>
              <a:t>uppose a trader invests three bonds A,B and C which are with the same chracteristics and independent payoffs. Each bond has a face value of $100,000 and a default probability of 0.5%. Then the sum of the VaR of the three bonds ($0) is less than the portfolio VaR ($100,000). </a:t>
            </a:r>
            <a:r>
              <a:rPr kumimoji="0" lang="en-US" altLang="zh-CN" dirty="0"/>
              <a:t>(99% confidence level).</a:t>
            </a:r>
          </a:p>
          <a:p>
            <a:pPr eaLnBrk="1" hangingPunct="1">
              <a:spcBef>
                <a:spcPct val="0"/>
              </a:spcBef>
            </a:pPr>
            <a:r>
              <a:rPr kumimoji="0" lang="en-US" altLang="zh-CN" dirty="0"/>
              <a:t>Over the next period, we can either have no default, with a return of zero, or default with a loss of $100,000. The payoffs are thus −$100,000 with probability of 0.5% and +$0 with probability of 99.5%. Since the probability of getting $0 is greater than 99%, the VAR at the 99% confidence level is $0.</a:t>
            </a:r>
          </a:p>
          <a:p>
            <a:pPr eaLnBrk="1" hangingPunct="1">
              <a:spcBef>
                <a:spcPct val="0"/>
              </a:spcBef>
            </a:pPr>
            <a:r>
              <a:rPr kumimoji="0" lang="en-US" altLang="zh-CN" dirty="0"/>
              <a:t>Now, consider a portfolio invested in three bonds (A,B,C) with the same characteristics and independent payoffs. The VAR numbers add up to VAR</a:t>
            </a:r>
            <a:r>
              <a:rPr kumimoji="0" lang="en-US" altLang="zh-CN" baseline="-25000" dirty="0"/>
              <a:t>1</a:t>
            </a:r>
            <a:r>
              <a:rPr kumimoji="0" lang="en-US" altLang="zh-CN" i="1" dirty="0"/>
              <a:t>+ </a:t>
            </a:r>
            <a:r>
              <a:rPr kumimoji="0" lang="en-US" altLang="zh-CN" dirty="0"/>
              <a:t>VAR</a:t>
            </a:r>
            <a:r>
              <a:rPr kumimoji="0" lang="en-US" altLang="zh-CN" baseline="-25000" dirty="0"/>
              <a:t>2</a:t>
            </a:r>
            <a:r>
              <a:rPr kumimoji="0" lang="en-US" altLang="zh-CN" i="1" dirty="0"/>
              <a:t>+ </a:t>
            </a:r>
            <a:r>
              <a:rPr kumimoji="0" lang="en-US" altLang="zh-CN" dirty="0"/>
              <a:t>VAR</a:t>
            </a:r>
            <a:r>
              <a:rPr kumimoji="0" lang="en-US" altLang="zh-CN" baseline="-25000" dirty="0"/>
              <a:t>3</a:t>
            </a:r>
            <a:r>
              <a:rPr kumimoji="0" lang="en-US" altLang="zh-CN" i="1" dirty="0"/>
              <a:t> </a:t>
            </a:r>
            <a:r>
              <a:rPr kumimoji="0" lang="en-US" altLang="zh-CN" dirty="0"/>
              <a:t>= $0. To compute the portfolio VAR, we tabulate the payoffs and probabilities: </a:t>
            </a:r>
          </a:p>
          <a:p>
            <a:endParaRPr lang="en-US" altLang="zh-CN" dirty="0"/>
          </a:p>
          <a:p>
            <a:pPr eaLnBrk="1" hangingPunct="1">
              <a:spcBef>
                <a:spcPct val="0"/>
              </a:spcBef>
            </a:pPr>
            <a:r>
              <a:rPr kumimoji="0" lang="en-US" altLang="zh-CN" dirty="0"/>
              <a:t>Here, the probability of zero or one default is 0</a:t>
            </a:r>
            <a:r>
              <a:rPr kumimoji="0" lang="en-US" altLang="zh-CN" i="1" dirty="0"/>
              <a:t>.</a:t>
            </a:r>
            <a:r>
              <a:rPr kumimoji="0" lang="en-US" altLang="zh-CN" dirty="0"/>
              <a:t>9851 + 0</a:t>
            </a:r>
            <a:r>
              <a:rPr kumimoji="0" lang="en-US" altLang="zh-CN" i="1" dirty="0"/>
              <a:t>.</a:t>
            </a:r>
            <a:r>
              <a:rPr kumimoji="0" lang="en-US" altLang="zh-CN" dirty="0"/>
              <a:t>0148 = 99</a:t>
            </a:r>
            <a:r>
              <a:rPr kumimoji="0" lang="en-US" altLang="zh-CN" i="1" dirty="0"/>
              <a:t>.</a:t>
            </a:r>
            <a:r>
              <a:rPr kumimoji="0" lang="en-US" altLang="zh-CN" dirty="0"/>
              <a:t>99%. The portfolio VAR is therefore $100,000, which is the lowest number, such that the probability exceeds 99%. Thus, the portfolio VAR is greater than the sum of individual </a:t>
            </a:r>
            <a:r>
              <a:rPr kumimoji="0" lang="en-US" altLang="zh-CN" dirty="0" err="1"/>
              <a:t>VARs.</a:t>
            </a:r>
            <a:r>
              <a:rPr kumimoji="0" lang="en-US" altLang="zh-CN" dirty="0"/>
              <a:t> </a:t>
            </a:r>
          </a:p>
          <a:p>
            <a:pPr eaLnBrk="1" hangingPunct="1">
              <a:spcBef>
                <a:spcPct val="0"/>
              </a:spcBef>
            </a:pPr>
            <a:r>
              <a:rPr kumimoji="0" lang="en-US" altLang="zh-CN" dirty="0"/>
              <a:t>In this example, VAR is not </a:t>
            </a:r>
            <a:r>
              <a:rPr kumimoji="0" lang="en-US" altLang="zh-CN" dirty="0" err="1"/>
              <a:t>subadditive</a:t>
            </a:r>
            <a:r>
              <a:rPr kumimoji="0" lang="en-US" altLang="zh-CN" dirty="0"/>
              <a:t>. This is an undesirable property because it creates disincentives to aggregate the portfolio, since it appears to have higher risk.</a:t>
            </a:r>
            <a:endParaRPr kumimoji="0" lang="zh-CN" altLang="en-US"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146</a:t>
            </a:fld>
            <a:endParaRPr lang="zh-CN" altLang="en-US"/>
          </a:p>
        </p:txBody>
      </p:sp>
    </p:spTree>
    <p:extLst>
      <p:ext uri="{BB962C8B-B14F-4D97-AF65-F5344CB8AC3E}">
        <p14:creationId xmlns:p14="http://schemas.microsoft.com/office/powerpoint/2010/main" val="215108318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147</a:t>
            </a:fld>
            <a:endParaRPr lang="zh-CN" altLang="en-US"/>
          </a:p>
        </p:txBody>
      </p:sp>
    </p:spTree>
    <p:extLst>
      <p:ext uri="{BB962C8B-B14F-4D97-AF65-F5344CB8AC3E}">
        <p14:creationId xmlns:p14="http://schemas.microsoft.com/office/powerpoint/2010/main" val="389652166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Square root of time scaling assumes independent price moves (random walk) and constant volatility.</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148</a:t>
            </a:fld>
            <a:endParaRPr lang="zh-CN" altLang="en-US"/>
          </a:p>
        </p:txBody>
      </p:sp>
    </p:spTree>
    <p:extLst>
      <p:ext uri="{BB962C8B-B14F-4D97-AF65-F5344CB8AC3E}">
        <p14:creationId xmlns:p14="http://schemas.microsoft.com/office/powerpoint/2010/main" val="120926781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149</a:t>
            </a:fld>
            <a:endParaRPr lang="zh-CN" altLang="en-US"/>
          </a:p>
        </p:txBody>
      </p:sp>
    </p:spTree>
    <p:extLst>
      <p:ext uri="{BB962C8B-B14F-4D97-AF65-F5344CB8AC3E}">
        <p14:creationId xmlns:p14="http://schemas.microsoft.com/office/powerpoint/2010/main" val="41964558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150</a:t>
            </a:fld>
            <a:endParaRPr lang="zh-CN" altLang="en-US"/>
          </a:p>
        </p:txBody>
      </p:sp>
    </p:spTree>
    <p:extLst>
      <p:ext uri="{BB962C8B-B14F-4D97-AF65-F5344CB8AC3E}">
        <p14:creationId xmlns:p14="http://schemas.microsoft.com/office/powerpoint/2010/main" val="62548753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151</a:t>
            </a:fld>
            <a:endParaRPr lang="zh-CN" altLang="en-US"/>
          </a:p>
        </p:txBody>
      </p:sp>
    </p:spTree>
    <p:extLst>
      <p:ext uri="{BB962C8B-B14F-4D97-AF65-F5344CB8AC3E}">
        <p14:creationId xmlns:p14="http://schemas.microsoft.com/office/powerpoint/2010/main" val="336162571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152</a:t>
            </a:fld>
            <a:endParaRPr lang="zh-CN" altLang="en-US"/>
          </a:p>
        </p:txBody>
      </p:sp>
    </p:spTree>
    <p:extLst>
      <p:ext uri="{BB962C8B-B14F-4D97-AF65-F5344CB8AC3E}">
        <p14:creationId xmlns:p14="http://schemas.microsoft.com/office/powerpoint/2010/main" val="291741376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futures contract on S&amp;P 500 index is approximately linear. A stock option is non-linear.</a:t>
            </a:r>
          </a:p>
          <a:p>
            <a:r>
              <a:rPr kumimoji="0" lang="en-US" altLang="zh-CN" dirty="0">
                <a:solidFill>
                  <a:srgbClr val="000000"/>
                </a:solidFill>
              </a:rPr>
              <a:t>For example, an equity option is the classic example of a non-linear derivative: the option is convex in the value of the underlying. But maybe a better perspective is that its delta is not constant. The option delta is the slope of the tangent line.</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153</a:t>
            </a:fld>
            <a:endParaRPr lang="zh-CN" altLang="en-US"/>
          </a:p>
        </p:txBody>
      </p:sp>
    </p:spTree>
    <p:extLst>
      <p:ext uri="{BB962C8B-B14F-4D97-AF65-F5344CB8AC3E}">
        <p14:creationId xmlns:p14="http://schemas.microsoft.com/office/powerpoint/2010/main" val="387477764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Notes about this classic FRM-type question: First, see how it is satisfied to apply the linear approximation using only option delta. Second, we do realize this is an estimate: the accurate relationship is non-linear such that we are omitting the curvature (option gamma)</a:t>
            </a:r>
          </a:p>
          <a:p>
            <a:endParaRPr lang="en-US" altLang="zh-CN" dirty="0"/>
          </a:p>
          <a:p>
            <a:r>
              <a:rPr lang="en-US" altLang="zh-CN" dirty="0"/>
              <a:t>We use delta-normal, for example, when relying on both option delta and bond duration to estimate underlying price changes-based respectively on asset price and yield changes (the risk factors.)</a:t>
            </a:r>
          </a:p>
          <a:p>
            <a:r>
              <a:rPr lang="en-US" altLang="zh-CN" dirty="0"/>
              <a:t>In the case of an option, the underlying factor is the stock price and we’d assume the stock price is normally distributed.</a:t>
            </a:r>
          </a:p>
          <a:p>
            <a:r>
              <a:rPr lang="en-US" altLang="zh-CN" dirty="0"/>
              <a:t>In the case of a bond, we’d assume the yield is normally distributed.</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154</a:t>
            </a:fld>
            <a:endParaRPr lang="zh-CN" altLang="en-US"/>
          </a:p>
        </p:txBody>
      </p:sp>
    </p:spTree>
    <p:extLst>
      <p:ext uri="{BB962C8B-B14F-4D97-AF65-F5344CB8AC3E}">
        <p14:creationId xmlns:p14="http://schemas.microsoft.com/office/powerpoint/2010/main" val="93466582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Notes about this classic FRM-type question: First, see how it is satisfied to apply the linear approximation using only option delta. Second, we do realize this is an estimate: the accurate relationship is non-linear such that we are omitting the curvature (option gamma)</a:t>
            </a:r>
          </a:p>
          <a:p>
            <a:endParaRPr lang="en-US" altLang="zh-CN" dirty="0"/>
          </a:p>
          <a:p>
            <a:r>
              <a:rPr lang="en-US" altLang="zh-CN" dirty="0"/>
              <a:t>We use delta-normal, for example, when relying on both option delta and bond duration to estimate underlying price changes-based respectively on asset price and yield changes (the risk factors.)</a:t>
            </a:r>
          </a:p>
          <a:p>
            <a:r>
              <a:rPr lang="en-US" altLang="zh-CN" dirty="0"/>
              <a:t>In the case of an option, the underlying factor is the stock price and we’d assume the stock price is normally distributed.</a:t>
            </a:r>
          </a:p>
          <a:p>
            <a:r>
              <a:rPr lang="en-US" altLang="zh-CN" dirty="0"/>
              <a:t>In the case of a bond, we’d assume the yield is normally distributed.</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155</a:t>
            </a:fld>
            <a:endParaRPr lang="zh-CN" altLang="en-US"/>
          </a:p>
        </p:txBody>
      </p:sp>
    </p:spTree>
    <p:extLst>
      <p:ext uri="{BB962C8B-B14F-4D97-AF65-F5344CB8AC3E}">
        <p14:creationId xmlns:p14="http://schemas.microsoft.com/office/powerpoint/2010/main" val="250528782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Repricing a portfolio of complex derivatives of MBSs, swaptions, exotic option can require many computations.</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156</a:t>
            </a:fld>
            <a:endParaRPr lang="zh-CN" altLang="en-US"/>
          </a:p>
        </p:txBody>
      </p:sp>
    </p:spTree>
    <p:extLst>
      <p:ext uri="{BB962C8B-B14F-4D97-AF65-F5344CB8AC3E}">
        <p14:creationId xmlns:p14="http://schemas.microsoft.com/office/powerpoint/2010/main" val="226608195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refers to any method that randomly generates trials, involves developing a model for future stock price returns and running multiple hypothetical trials through the model.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157</a:t>
            </a:fld>
            <a:endParaRPr lang="zh-CN" altLang="en-US"/>
          </a:p>
        </p:txBody>
      </p:sp>
    </p:spTree>
    <p:extLst>
      <p:ext uri="{BB962C8B-B14F-4D97-AF65-F5344CB8AC3E}">
        <p14:creationId xmlns:p14="http://schemas.microsoft.com/office/powerpoint/2010/main" val="27006748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Compare this to VAR, which asks, what is the worst expected loss with 95% or 99% confidence? The probability of a “worst loss” is certain (100%); the issue is its location</a:t>
            </a:r>
          </a:p>
          <a:p>
            <a:r>
              <a:rPr lang="en-US" altLang="zh-CN" dirty="0"/>
              <a:t>As an extension to VAR</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158</a:t>
            </a:fld>
            <a:endParaRPr lang="zh-CN" altLang="en-US"/>
          </a:p>
        </p:txBody>
      </p:sp>
    </p:spTree>
    <p:extLst>
      <p:ext uri="{BB962C8B-B14F-4D97-AF65-F5344CB8AC3E}">
        <p14:creationId xmlns:p14="http://schemas.microsoft.com/office/powerpoint/2010/main" val="276141264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159</a:t>
            </a:fld>
            <a:endParaRPr lang="zh-CN" altLang="en-US"/>
          </a:p>
        </p:txBody>
      </p:sp>
    </p:spTree>
    <p:extLst>
      <p:ext uri="{BB962C8B-B14F-4D97-AF65-F5344CB8AC3E}">
        <p14:creationId xmlns:p14="http://schemas.microsoft.com/office/powerpoint/2010/main" val="39822612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160</a:t>
            </a:fld>
            <a:endParaRPr lang="zh-CN" altLang="en-US"/>
          </a:p>
        </p:txBody>
      </p:sp>
    </p:spTree>
    <p:extLst>
      <p:ext uri="{BB962C8B-B14F-4D97-AF65-F5344CB8AC3E}">
        <p14:creationId xmlns:p14="http://schemas.microsoft.com/office/powerpoint/2010/main" val="64918904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err="1"/>
              <a:t>VaR</a:t>
            </a:r>
            <a:r>
              <a:rPr lang="en-US" altLang="zh-CN" b="0" dirty="0"/>
              <a:t>(Option)=</a:t>
            </a:r>
            <a:r>
              <a:rPr lang="el-GR" altLang="zh-CN" b="0" dirty="0">
                <a:latin typeface="Calibri" panose="020F0502020204030204" pitchFamily="34" charset="0"/>
              </a:rPr>
              <a:t>Δ</a:t>
            </a:r>
            <a:r>
              <a:rPr lang="en-US" altLang="zh-CN" b="0" dirty="0">
                <a:latin typeface="Calibri" panose="020F0502020204030204" pitchFamily="34" charset="0"/>
              </a:rPr>
              <a:t>*</a:t>
            </a:r>
            <a:r>
              <a:rPr lang="en-US" altLang="zh-CN" b="0" dirty="0" err="1">
                <a:latin typeface="Calibri" panose="020F0502020204030204" pitchFamily="34" charset="0"/>
              </a:rPr>
              <a:t>VaR</a:t>
            </a:r>
            <a:r>
              <a:rPr lang="en-US" altLang="zh-CN" b="0" dirty="0">
                <a:latin typeface="Calibri" panose="020F0502020204030204" pitchFamily="34" charset="0"/>
              </a:rPr>
              <a:t>(S)</a:t>
            </a:r>
          </a:p>
          <a:p>
            <a:r>
              <a:rPr lang="en-US" altLang="zh-CN" b="0" dirty="0">
                <a:latin typeface="Calibri" panose="020F0502020204030204" pitchFamily="34" charset="0"/>
              </a:rPr>
              <a:t>=0.6*(104*1.89%*1.65)</a:t>
            </a:r>
          </a:p>
          <a:p>
            <a:r>
              <a:rPr lang="en-US" altLang="zh-CN" b="0" dirty="0">
                <a:latin typeface="Calibri" panose="020F0502020204030204" pitchFamily="34" charset="0"/>
              </a:rPr>
              <a:t>=1.946</a:t>
            </a:r>
            <a:endParaRPr lang="zh-CN" altLang="en-US" b="0"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161</a:t>
            </a:fld>
            <a:endParaRPr lang="zh-CN" altLang="en-US"/>
          </a:p>
        </p:txBody>
      </p:sp>
    </p:spTree>
    <p:extLst>
      <p:ext uri="{BB962C8B-B14F-4D97-AF65-F5344CB8AC3E}">
        <p14:creationId xmlns:p14="http://schemas.microsoft.com/office/powerpoint/2010/main" val="274447603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en-US" altLang="zh-CN" dirty="0"/>
              <a:t>The second possible explanation for “</a:t>
            </a:r>
            <a:r>
              <a:rPr lang="en-US" altLang="zh-CN" b="1" dirty="0"/>
              <a:t>fat tails</a:t>
            </a:r>
            <a:r>
              <a:rPr lang="en-US" altLang="zh-CN" dirty="0"/>
              <a:t>” is that the volatility is </a:t>
            </a:r>
            <a:r>
              <a:rPr lang="en-US" altLang="zh-CN" u="sng" dirty="0"/>
              <a:t>time-varying. </a:t>
            </a:r>
          </a:p>
          <a:p>
            <a:pPr marL="0" lvl="1"/>
            <a:r>
              <a:rPr lang="en-US" altLang="zh-CN" u="sng" dirty="0"/>
              <a:t>Conditional parameter (e.g., conditional volatility): a parameter such as variance that depends on (is conditional on) circumstances or prior information. A conditional parameter, by definition, changes over time.</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162</a:t>
            </a:fld>
            <a:endParaRPr lang="zh-CN" altLang="en-US"/>
          </a:p>
        </p:txBody>
      </p:sp>
    </p:spTree>
    <p:extLst>
      <p:ext uri="{BB962C8B-B14F-4D97-AF65-F5344CB8AC3E}">
        <p14:creationId xmlns:p14="http://schemas.microsoft.com/office/powerpoint/2010/main" val="238224582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en-US" altLang="zh-CN" u="sng" dirty="0"/>
              <a:t>Conditional parameter (e.g., conditional volatility): a parameter such as variance that depends on (is conditional on) circumstances or prior information. A conditional parameter, by definition, changes over time.</a:t>
            </a:r>
          </a:p>
          <a:p>
            <a:r>
              <a:rPr lang="en-US" altLang="zh-CN" dirty="0"/>
              <a:t>An unconditional distribution is the same regardless of market or economic conditions; for this reason, it is likely to be unrealistic.</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163</a:t>
            </a:fld>
            <a:endParaRPr lang="zh-CN" altLang="en-US"/>
          </a:p>
        </p:txBody>
      </p:sp>
    </p:spTree>
    <p:extLst>
      <p:ext uri="{BB962C8B-B14F-4D97-AF65-F5344CB8AC3E}">
        <p14:creationId xmlns:p14="http://schemas.microsoft.com/office/powerpoint/2010/main" val="97793378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typical distribution is a regime-switching volatility model: the regime (state) switches from low to high volatility, but is never in between.</a:t>
            </a:r>
          </a:p>
          <a:p>
            <a:r>
              <a:rPr lang="en-US" altLang="zh-CN" dirty="0"/>
              <a:t>a risk manager may assume (and measure) an unconditional volatility but the distribution is actually regime switching. In this case, the distribution is conditional (i.e., it depends on conditions) and might be normal but regime switching; e.g., volatility is 10% during a low-volatility regime and 20% during a high-volatility regime but during both regimes, the distribution may be normal. However, the risk manager may incorrectly assume a single 15% unconditional volatility. But in this case, the unconditional volatility is likely to exhibit fat tails because it does not account for the regime switching.</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164</a:t>
            </a:fld>
            <a:endParaRPr lang="zh-CN" altLang="en-US"/>
          </a:p>
        </p:txBody>
      </p:sp>
    </p:spTree>
    <p:extLst>
      <p:ext uri="{BB962C8B-B14F-4D97-AF65-F5344CB8AC3E}">
        <p14:creationId xmlns:p14="http://schemas.microsoft.com/office/powerpoint/2010/main" val="94933495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en-US" altLang="zh-CN" dirty="0"/>
              <a:t>A value at risk (</a:t>
            </a:r>
            <a:r>
              <a:rPr lang="en-US" altLang="zh-CN" dirty="0" err="1"/>
              <a:t>VaR</a:t>
            </a:r>
            <a:r>
              <a:rPr lang="en-US" altLang="zh-CN" dirty="0"/>
              <a:t>) method for estimating risk is typically either a historical-based approach or an implied-volatility-based approach. </a:t>
            </a:r>
          </a:p>
          <a:p>
            <a:r>
              <a:rPr lang="en-US" altLang="zh-CN" dirty="0"/>
              <a:t>The advantage of implied volatility is the forward-looking predictive nature of the model. The implied volatility model reacts immediately to changing market conditions.</a:t>
            </a:r>
          </a:p>
          <a:p>
            <a:r>
              <a:rPr lang="en-US" altLang="zh-CN" b="1" dirty="0"/>
              <a:t>Risk varies over time</a:t>
            </a:r>
            <a:r>
              <a:rPr lang="en-US" altLang="zh-CN" dirty="0"/>
              <a:t>. Models often assume a normal (Gaussian) distribution (“normality”) with constant volatility from period to period. But actual returns are non-normal and volatility varies over time (volatility is “time-varying” or “non-constant”). Therefore, it is hard to use parametric approaches to random returns; in technical terms, it is hard to find robust “distributional assumptions for stochastic asset returns” </a:t>
            </a:r>
          </a:p>
          <a:p>
            <a:endParaRPr lang="zh-CN" altLang="en-US" dirty="0"/>
          </a:p>
          <a:p>
            <a:endParaRPr lang="en-US" altLang="zh-CN"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165</a:t>
            </a:fld>
            <a:endParaRPr lang="zh-CN" altLang="en-US"/>
          </a:p>
        </p:txBody>
      </p:sp>
    </p:spTree>
    <p:extLst>
      <p:ext uri="{BB962C8B-B14F-4D97-AF65-F5344CB8AC3E}">
        <p14:creationId xmlns:p14="http://schemas.microsoft.com/office/powerpoint/2010/main" val="270078418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en-US" altLang="zh-CN" dirty="0"/>
              <a:t>A value at risk (</a:t>
            </a:r>
            <a:r>
              <a:rPr lang="en-US" altLang="zh-CN" dirty="0" err="1"/>
              <a:t>VaR</a:t>
            </a:r>
            <a:r>
              <a:rPr lang="en-US" altLang="zh-CN" dirty="0"/>
              <a:t>) method for estimating risk is typically either a historical-based approach or an implied-volatility-based approach. </a:t>
            </a:r>
          </a:p>
          <a:p>
            <a:r>
              <a:rPr lang="en-US" altLang="zh-CN" dirty="0"/>
              <a:t>The advantage of implied volatility is the forward-looking predictive nature of the model. The implied volatility model reacts immediately to changing market conditions.</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166</a:t>
            </a:fld>
            <a:endParaRPr lang="zh-CN" altLang="en-US"/>
          </a:p>
        </p:txBody>
      </p:sp>
    </p:spTree>
    <p:extLst>
      <p:ext uri="{BB962C8B-B14F-4D97-AF65-F5344CB8AC3E}">
        <p14:creationId xmlns:p14="http://schemas.microsoft.com/office/powerpoint/2010/main" val="179397033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key feature of multivariate density estimation is that the weights (assigned to historical square returns) are not a constant function of time. Rather, the current state—as parameterized by a state vector—is compared to the historical state: the more similar the states (current versus historical period), the greater the assigned weight.</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167</a:t>
            </a:fld>
            <a:endParaRPr lang="zh-CN" altLang="en-US"/>
          </a:p>
        </p:txBody>
      </p:sp>
    </p:spTree>
    <p:extLst>
      <p:ext uri="{BB962C8B-B14F-4D97-AF65-F5344CB8AC3E}">
        <p14:creationId xmlns:p14="http://schemas.microsoft.com/office/powerpoint/2010/main" val="67763811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Hybrid approach does not require distribution assumptions because it uses a historical simulation approach with an exponential weighting scheme.</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168</a:t>
            </a:fld>
            <a:endParaRPr lang="zh-CN" altLang="en-US"/>
          </a:p>
        </p:txBody>
      </p:sp>
    </p:spTree>
    <p:extLst>
      <p:ext uri="{BB962C8B-B14F-4D97-AF65-F5344CB8AC3E}">
        <p14:creationId xmlns:p14="http://schemas.microsoft.com/office/powerpoint/2010/main" val="157280037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169</a:t>
            </a:fld>
            <a:endParaRPr lang="zh-CN" altLang="en-US"/>
          </a:p>
        </p:txBody>
      </p:sp>
    </p:spTree>
    <p:extLst>
      <p:ext uri="{BB962C8B-B14F-4D97-AF65-F5344CB8AC3E}">
        <p14:creationId xmlns:p14="http://schemas.microsoft.com/office/powerpoint/2010/main" val="70271242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170</a:t>
            </a:fld>
            <a:endParaRPr lang="zh-CN" altLang="en-US"/>
          </a:p>
        </p:txBody>
      </p:sp>
    </p:spTree>
    <p:extLst>
      <p:ext uri="{BB962C8B-B14F-4D97-AF65-F5344CB8AC3E}">
        <p14:creationId xmlns:p14="http://schemas.microsoft.com/office/powerpoint/2010/main" val="269129418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171</a:t>
            </a:fld>
            <a:endParaRPr lang="zh-CN" altLang="en-US"/>
          </a:p>
        </p:txBody>
      </p:sp>
    </p:spTree>
    <p:extLst>
      <p:ext uri="{BB962C8B-B14F-4D97-AF65-F5344CB8AC3E}">
        <p14:creationId xmlns:p14="http://schemas.microsoft.com/office/powerpoint/2010/main" val="412174695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figure of EWMA model: λ is called decay factor. </a:t>
            </a:r>
          </a:p>
          <a:p>
            <a:endParaRPr lang="en-US" altLang="zh-CN" dirty="0"/>
          </a:p>
          <a:p>
            <a:r>
              <a:rPr lang="en-US" altLang="zh-CN" dirty="0"/>
              <a:t>ARCH</a:t>
            </a:r>
          </a:p>
          <a:p>
            <a:r>
              <a:rPr lang="en-US" altLang="zh-CN" dirty="0"/>
              <a:t>Autoregressive: Recursive. A parameter (today’s variance) is a function of itself (yesterday’s variance).</a:t>
            </a:r>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172</a:t>
            </a:fld>
            <a:endParaRPr lang="zh-CN" altLang="en-US"/>
          </a:p>
        </p:txBody>
      </p:sp>
    </p:spTree>
    <p:extLst>
      <p:ext uri="{BB962C8B-B14F-4D97-AF65-F5344CB8AC3E}">
        <p14:creationId xmlns:p14="http://schemas.microsoft.com/office/powerpoint/2010/main" val="236948347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173</a:t>
            </a:fld>
            <a:endParaRPr lang="zh-CN" altLang="en-US"/>
          </a:p>
        </p:txBody>
      </p:sp>
    </p:spTree>
    <p:extLst>
      <p:ext uri="{BB962C8B-B14F-4D97-AF65-F5344CB8AC3E}">
        <p14:creationId xmlns:p14="http://schemas.microsoft.com/office/powerpoint/2010/main" val="320698241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Autoregressive (AR): tomorrow’s variance (or volatility) is a regressed function of today’s variance—it regresses on itself </a:t>
            </a:r>
          </a:p>
          <a:p>
            <a:r>
              <a:rPr lang="en-US" altLang="zh-CN" dirty="0"/>
              <a:t>Conditional (C): tomorrow’s variance depends—is conditional on—the most recent variance. An unconditional variance would not depend on today’s variance </a:t>
            </a:r>
          </a:p>
          <a:p>
            <a:r>
              <a:rPr lang="en-US" altLang="zh-CN" dirty="0"/>
              <a:t>Heteroskedastic (H): variances are not constant they flux over time </a:t>
            </a:r>
          </a:p>
          <a:p>
            <a:endParaRPr lang="zh-CN" altLang="en-US" dirty="0"/>
          </a:p>
          <a:p>
            <a:r>
              <a:rPr lang="en-US" altLang="zh-CN" dirty="0"/>
              <a:t>The generic GARCH (p, q) model regresses on (p) squared returns and (q) variances.</a:t>
            </a:r>
          </a:p>
          <a:p>
            <a:endParaRPr lang="en-US" altLang="zh-CN" dirty="0"/>
          </a:p>
          <a:p>
            <a:r>
              <a:rPr lang="en-US" altLang="zh-CN" dirty="0"/>
              <a:t>Modern methods place more weight on recent information.</a:t>
            </a:r>
          </a:p>
          <a:p>
            <a:r>
              <a:rPr lang="en-US" altLang="zh-CN" dirty="0"/>
              <a:t>The figure of EWMA model: λ is called decay factor. </a:t>
            </a:r>
          </a:p>
          <a:p>
            <a:endParaRPr lang="en-US" altLang="zh-CN" dirty="0"/>
          </a:p>
          <a:p>
            <a:r>
              <a:rPr lang="en-US" altLang="zh-CN" dirty="0"/>
              <a:t>ARCH</a:t>
            </a:r>
          </a:p>
          <a:p>
            <a:r>
              <a:rPr lang="en-US" altLang="zh-CN" dirty="0"/>
              <a:t>Autoregressive: Recursive. A parameter (today’s variance) is a function of itself (yesterday’s variance).</a:t>
            </a:r>
          </a:p>
          <a:p>
            <a:endParaRPr lang="en-US" altLang="zh-CN" dirty="0"/>
          </a:p>
          <a:p>
            <a:r>
              <a:rPr lang="en-US" altLang="zh-CN" dirty="0"/>
              <a:t>GARCH estimates improve upon these weaknesses in two ways:</a:t>
            </a:r>
          </a:p>
          <a:p>
            <a:r>
              <a:rPr lang="en-US" altLang="zh-CN" dirty="0"/>
              <a:t>1. More recent observations are assigned greater weights. This overcomes ghosting because a volatility shock will immediately impact the estimate but its influence will fade gradually as time passes</a:t>
            </a:r>
          </a:p>
          <a:p>
            <a:r>
              <a:rPr lang="en-US" altLang="zh-CN" dirty="0"/>
              <a:t>2. A term is added to incorporate reversion to the mean</a:t>
            </a:r>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174</a:t>
            </a:fld>
            <a:endParaRPr lang="zh-CN" altLang="en-US"/>
          </a:p>
        </p:txBody>
      </p:sp>
    </p:spTree>
    <p:extLst>
      <p:ext uri="{BB962C8B-B14F-4D97-AF65-F5344CB8AC3E}">
        <p14:creationId xmlns:p14="http://schemas.microsoft.com/office/powerpoint/2010/main" val="255214929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175</a:t>
            </a:fld>
            <a:endParaRPr lang="zh-CN" altLang="en-US"/>
          </a:p>
        </p:txBody>
      </p:sp>
    </p:spTree>
    <p:extLst>
      <p:ext uri="{BB962C8B-B14F-4D97-AF65-F5344CB8AC3E}">
        <p14:creationId xmlns:p14="http://schemas.microsoft.com/office/powerpoint/2010/main" val="418377148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176</a:t>
            </a:fld>
            <a:endParaRPr lang="zh-CN" altLang="en-US"/>
          </a:p>
        </p:txBody>
      </p:sp>
    </p:spTree>
    <p:extLst>
      <p:ext uri="{BB962C8B-B14F-4D97-AF65-F5344CB8AC3E}">
        <p14:creationId xmlns:p14="http://schemas.microsoft.com/office/powerpoint/2010/main" val="5087612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179</a:t>
            </a:fld>
            <a:endParaRPr lang="zh-CN" altLang="en-US"/>
          </a:p>
        </p:txBody>
      </p:sp>
    </p:spTree>
    <p:extLst>
      <p:ext uri="{BB962C8B-B14F-4D97-AF65-F5344CB8AC3E}">
        <p14:creationId xmlns:p14="http://schemas.microsoft.com/office/powerpoint/2010/main" val="347385932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180</a:t>
            </a:fld>
            <a:endParaRPr lang="zh-CN" altLang="en-US"/>
          </a:p>
        </p:txBody>
      </p:sp>
    </p:spTree>
    <p:extLst>
      <p:ext uri="{BB962C8B-B14F-4D97-AF65-F5344CB8AC3E}">
        <p14:creationId xmlns:p14="http://schemas.microsoft.com/office/powerpoint/2010/main" val="2425098"/>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181</a:t>
            </a:fld>
            <a:endParaRPr lang="zh-CN" altLang="en-US"/>
          </a:p>
        </p:txBody>
      </p:sp>
    </p:spTree>
    <p:extLst>
      <p:ext uri="{BB962C8B-B14F-4D97-AF65-F5344CB8AC3E}">
        <p14:creationId xmlns:p14="http://schemas.microsoft.com/office/powerpoint/2010/main" val="210107131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182</a:t>
            </a:fld>
            <a:endParaRPr lang="zh-CN" altLang="en-US"/>
          </a:p>
        </p:txBody>
      </p:sp>
    </p:spTree>
    <p:extLst>
      <p:ext uri="{BB962C8B-B14F-4D97-AF65-F5344CB8AC3E}">
        <p14:creationId xmlns:p14="http://schemas.microsoft.com/office/powerpoint/2010/main" val="143570267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migrations across states are independent from one period to the next, no carry-over effect.</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183</a:t>
            </a:fld>
            <a:endParaRPr lang="zh-CN" altLang="en-US"/>
          </a:p>
        </p:txBody>
      </p:sp>
    </p:spTree>
    <p:extLst>
      <p:ext uri="{BB962C8B-B14F-4D97-AF65-F5344CB8AC3E}">
        <p14:creationId xmlns:p14="http://schemas.microsoft.com/office/powerpoint/2010/main" val="415709801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184</a:t>
            </a:fld>
            <a:endParaRPr lang="zh-CN" altLang="en-US"/>
          </a:p>
        </p:txBody>
      </p:sp>
    </p:spTree>
    <p:extLst>
      <p:ext uri="{BB962C8B-B14F-4D97-AF65-F5344CB8AC3E}">
        <p14:creationId xmlns:p14="http://schemas.microsoft.com/office/powerpoint/2010/main" val="139565444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However, the cumulative probability of default increases more rapidly for non-investment grade obligors.</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185</a:t>
            </a:fld>
            <a:endParaRPr lang="zh-CN" altLang="en-US"/>
          </a:p>
        </p:txBody>
      </p:sp>
    </p:spTree>
    <p:extLst>
      <p:ext uri="{BB962C8B-B14F-4D97-AF65-F5344CB8AC3E}">
        <p14:creationId xmlns:p14="http://schemas.microsoft.com/office/powerpoint/2010/main" val="2666341883"/>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Supply and demand (policy asset allocation) policy: Some portfolios by policy may only hold investment grade bonds. For these, if a holding is downgraded to speculative (junk), the position must be sold. Therefore, a bond that is downgraded from investment-grade to speculative will experience less demand. A decrease in demand (or increase in supply) will lower the price.</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186</a:t>
            </a:fld>
            <a:endParaRPr lang="zh-CN" altLang="en-US"/>
          </a:p>
        </p:txBody>
      </p:sp>
    </p:spTree>
    <p:extLst>
      <p:ext uri="{BB962C8B-B14F-4D97-AF65-F5344CB8AC3E}">
        <p14:creationId xmlns:p14="http://schemas.microsoft.com/office/powerpoint/2010/main" val="2598194929"/>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187</a:t>
            </a:fld>
            <a:endParaRPr lang="zh-CN" altLang="en-US"/>
          </a:p>
        </p:txBody>
      </p:sp>
    </p:spTree>
    <p:extLst>
      <p:ext uri="{BB962C8B-B14F-4D97-AF65-F5344CB8AC3E}">
        <p14:creationId xmlns:p14="http://schemas.microsoft.com/office/powerpoint/2010/main" val="116227330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188</a:t>
            </a:fld>
            <a:endParaRPr lang="zh-CN" altLang="en-US"/>
          </a:p>
        </p:txBody>
      </p:sp>
    </p:spTree>
    <p:extLst>
      <p:ext uri="{BB962C8B-B14F-4D97-AF65-F5344CB8AC3E}">
        <p14:creationId xmlns:p14="http://schemas.microsoft.com/office/powerpoint/2010/main" val="8760682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189</a:t>
            </a:fld>
            <a:endParaRPr lang="zh-CN" altLang="en-US"/>
          </a:p>
        </p:txBody>
      </p:sp>
    </p:spTree>
    <p:extLst>
      <p:ext uri="{BB962C8B-B14F-4D97-AF65-F5344CB8AC3E}">
        <p14:creationId xmlns:p14="http://schemas.microsoft.com/office/powerpoint/2010/main" val="2133897675"/>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190</a:t>
            </a:fld>
            <a:endParaRPr lang="zh-CN" altLang="en-US"/>
          </a:p>
        </p:txBody>
      </p:sp>
    </p:spTree>
    <p:extLst>
      <p:ext uri="{BB962C8B-B14F-4D97-AF65-F5344CB8AC3E}">
        <p14:creationId xmlns:p14="http://schemas.microsoft.com/office/powerpoint/2010/main" val="30682380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191</a:t>
            </a:fld>
            <a:endParaRPr lang="zh-CN" altLang="en-US"/>
          </a:p>
        </p:txBody>
      </p:sp>
    </p:spTree>
    <p:extLst>
      <p:ext uri="{BB962C8B-B14F-4D97-AF65-F5344CB8AC3E}">
        <p14:creationId xmlns:p14="http://schemas.microsoft.com/office/powerpoint/2010/main" val="30682380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192</a:t>
            </a:fld>
            <a:endParaRPr lang="zh-CN" altLang="en-US"/>
          </a:p>
        </p:txBody>
      </p:sp>
    </p:spTree>
    <p:extLst>
      <p:ext uri="{BB962C8B-B14F-4D97-AF65-F5344CB8AC3E}">
        <p14:creationId xmlns:p14="http://schemas.microsoft.com/office/powerpoint/2010/main" val="30682380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Standard deviation of actual credit losses around the expected loss average</a:t>
            </a:r>
          </a:p>
          <a:p>
            <a:r>
              <a:rPr lang="en-US" altLang="zh-CN" dirty="0"/>
              <a:t>For an individual loan, PD is independent of the EA and the LR, in most situations, EA and the LR can be viewed as being independent.</a:t>
            </a:r>
          </a:p>
          <a:p>
            <a:endParaRPr lang="en-US" altLang="zh-CN" dirty="0"/>
          </a:p>
          <a:p>
            <a:r>
              <a:rPr lang="en-US" altLang="zh-CN" dirty="0"/>
              <a:t>Since the expected exposure amount EA can vary, but is (typically) not</a:t>
            </a:r>
          </a:p>
          <a:p>
            <a:r>
              <a:rPr lang="en-US" altLang="zh-CN" dirty="0"/>
              <a:t>subject to changes in the credit characteristics itself, UL is dependent on the</a:t>
            </a:r>
          </a:p>
          <a:p>
            <a:r>
              <a:rPr lang="en-US" altLang="zh-CN" dirty="0"/>
              <a:t>default probability PD, the loss rate LR, and their corresponding variances,</a:t>
            </a:r>
          </a:p>
          <a:p>
            <a:r>
              <a:rPr lang="en-US" altLang="zh-CN" dirty="0"/>
              <a:t>σ2</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193</a:t>
            </a:fld>
            <a:endParaRPr lang="zh-CN" altLang="en-US"/>
          </a:p>
        </p:txBody>
      </p:sp>
    </p:spTree>
    <p:extLst>
      <p:ext uri="{BB962C8B-B14F-4D97-AF65-F5344CB8AC3E}">
        <p14:creationId xmlns:p14="http://schemas.microsoft.com/office/powerpoint/2010/main" val="30682380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EL = 7200</a:t>
            </a:r>
          </a:p>
          <a:p>
            <a:r>
              <a:rPr lang="en-US" altLang="zh-CN" dirty="0"/>
              <a:t>UL = 64900</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194</a:t>
            </a:fld>
            <a:endParaRPr lang="zh-CN" altLang="en-US"/>
          </a:p>
        </p:txBody>
      </p:sp>
    </p:spTree>
    <p:extLst>
      <p:ext uri="{BB962C8B-B14F-4D97-AF65-F5344CB8AC3E}">
        <p14:creationId xmlns:p14="http://schemas.microsoft.com/office/powerpoint/2010/main" val="30682380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195</a:t>
            </a:fld>
            <a:endParaRPr lang="zh-CN" altLang="en-US"/>
          </a:p>
        </p:txBody>
      </p:sp>
    </p:spTree>
    <p:extLst>
      <p:ext uri="{BB962C8B-B14F-4D97-AF65-F5344CB8AC3E}">
        <p14:creationId xmlns:p14="http://schemas.microsoft.com/office/powerpoint/2010/main" val="30682380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Marginal contribution of loan I the overall portfolio unexpected loss.</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196</a:t>
            </a:fld>
            <a:endParaRPr lang="zh-CN" altLang="en-US"/>
          </a:p>
        </p:txBody>
      </p:sp>
    </p:spTree>
    <p:extLst>
      <p:ext uri="{BB962C8B-B14F-4D97-AF65-F5344CB8AC3E}">
        <p14:creationId xmlns:p14="http://schemas.microsoft.com/office/powerpoint/2010/main" val="30682380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197</a:t>
            </a:fld>
            <a:endParaRPr lang="zh-CN" altLang="en-US"/>
          </a:p>
        </p:txBody>
      </p:sp>
    </p:spTree>
    <p:extLst>
      <p:ext uri="{BB962C8B-B14F-4D97-AF65-F5344CB8AC3E}">
        <p14:creationId xmlns:p14="http://schemas.microsoft.com/office/powerpoint/2010/main" val="30682380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198</a:t>
            </a:fld>
            <a:endParaRPr lang="zh-CN" altLang="en-US"/>
          </a:p>
        </p:txBody>
      </p:sp>
    </p:spTree>
    <p:extLst>
      <p:ext uri="{BB962C8B-B14F-4D97-AF65-F5344CB8AC3E}">
        <p14:creationId xmlns:p14="http://schemas.microsoft.com/office/powerpoint/2010/main" val="30682380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199</a:t>
            </a:fld>
            <a:endParaRPr lang="zh-CN" altLang="en-US"/>
          </a:p>
        </p:txBody>
      </p:sp>
    </p:spTree>
    <p:extLst>
      <p:ext uri="{BB962C8B-B14F-4D97-AF65-F5344CB8AC3E}">
        <p14:creationId xmlns:p14="http://schemas.microsoft.com/office/powerpoint/2010/main" val="30682380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200</a:t>
            </a:fld>
            <a:endParaRPr lang="zh-CN" altLang="en-US"/>
          </a:p>
        </p:txBody>
      </p:sp>
    </p:spTree>
    <p:extLst>
      <p:ext uri="{BB962C8B-B14F-4D97-AF65-F5344CB8AC3E}">
        <p14:creationId xmlns:p14="http://schemas.microsoft.com/office/powerpoint/2010/main" val="363963145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201</a:t>
            </a:fld>
            <a:endParaRPr lang="zh-CN" altLang="en-US"/>
          </a:p>
        </p:txBody>
      </p:sp>
    </p:spTree>
    <p:extLst>
      <p:ext uri="{BB962C8B-B14F-4D97-AF65-F5344CB8AC3E}">
        <p14:creationId xmlns:p14="http://schemas.microsoft.com/office/powerpoint/2010/main" val="2719327773"/>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202</a:t>
            </a:fld>
            <a:endParaRPr lang="zh-CN" altLang="en-US"/>
          </a:p>
        </p:txBody>
      </p:sp>
    </p:spTree>
    <p:extLst>
      <p:ext uri="{BB962C8B-B14F-4D97-AF65-F5344CB8AC3E}">
        <p14:creationId xmlns:p14="http://schemas.microsoft.com/office/powerpoint/2010/main" val="353471886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203</a:t>
            </a:fld>
            <a:endParaRPr lang="zh-CN" altLang="en-US"/>
          </a:p>
        </p:txBody>
      </p:sp>
    </p:spTree>
    <p:extLst>
      <p:ext uri="{BB962C8B-B14F-4D97-AF65-F5344CB8AC3E}">
        <p14:creationId xmlns:p14="http://schemas.microsoft.com/office/powerpoint/2010/main" val="101915648"/>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204</a:t>
            </a:fld>
            <a:endParaRPr lang="zh-CN" altLang="en-US"/>
          </a:p>
        </p:txBody>
      </p:sp>
    </p:spTree>
    <p:extLst>
      <p:ext uri="{BB962C8B-B14F-4D97-AF65-F5344CB8AC3E}">
        <p14:creationId xmlns:p14="http://schemas.microsoft.com/office/powerpoint/2010/main" val="1984384728"/>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205</a:t>
            </a:fld>
            <a:endParaRPr lang="zh-CN" altLang="en-US"/>
          </a:p>
        </p:txBody>
      </p:sp>
    </p:spTree>
    <p:extLst>
      <p:ext uri="{BB962C8B-B14F-4D97-AF65-F5344CB8AC3E}">
        <p14:creationId xmlns:p14="http://schemas.microsoft.com/office/powerpoint/2010/main" val="1823672249"/>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206</a:t>
            </a:fld>
            <a:endParaRPr lang="zh-CN" altLang="en-US"/>
          </a:p>
        </p:txBody>
      </p:sp>
    </p:spTree>
    <p:extLst>
      <p:ext uri="{BB962C8B-B14F-4D97-AF65-F5344CB8AC3E}">
        <p14:creationId xmlns:p14="http://schemas.microsoft.com/office/powerpoint/2010/main" val="214498574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207</a:t>
            </a:fld>
            <a:endParaRPr lang="zh-CN" altLang="en-US"/>
          </a:p>
        </p:txBody>
      </p:sp>
    </p:spTree>
    <p:extLst>
      <p:ext uri="{BB962C8B-B14F-4D97-AF65-F5344CB8AC3E}">
        <p14:creationId xmlns:p14="http://schemas.microsoft.com/office/powerpoint/2010/main" val="4169633609"/>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208</a:t>
            </a:fld>
            <a:endParaRPr lang="zh-CN" altLang="en-US"/>
          </a:p>
        </p:txBody>
      </p:sp>
    </p:spTree>
    <p:extLst>
      <p:ext uri="{BB962C8B-B14F-4D97-AF65-F5344CB8AC3E}">
        <p14:creationId xmlns:p14="http://schemas.microsoft.com/office/powerpoint/2010/main" val="2179729492"/>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209</a:t>
            </a:fld>
            <a:endParaRPr lang="zh-CN" altLang="en-US"/>
          </a:p>
        </p:txBody>
      </p:sp>
    </p:spTree>
    <p:extLst>
      <p:ext uri="{BB962C8B-B14F-4D97-AF65-F5344CB8AC3E}">
        <p14:creationId xmlns:p14="http://schemas.microsoft.com/office/powerpoint/2010/main" val="1888545442"/>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210</a:t>
            </a:fld>
            <a:endParaRPr lang="zh-CN" altLang="en-US"/>
          </a:p>
        </p:txBody>
      </p:sp>
    </p:spTree>
    <p:extLst>
      <p:ext uri="{BB962C8B-B14F-4D97-AF65-F5344CB8AC3E}">
        <p14:creationId xmlns:p14="http://schemas.microsoft.com/office/powerpoint/2010/main" val="1783205315"/>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211</a:t>
            </a:fld>
            <a:endParaRPr lang="zh-CN" altLang="en-US"/>
          </a:p>
        </p:txBody>
      </p:sp>
    </p:spTree>
    <p:extLst>
      <p:ext uri="{BB962C8B-B14F-4D97-AF65-F5344CB8AC3E}">
        <p14:creationId xmlns:p14="http://schemas.microsoft.com/office/powerpoint/2010/main" val="1648711770"/>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212</a:t>
            </a:fld>
            <a:endParaRPr lang="zh-CN" altLang="en-US"/>
          </a:p>
        </p:txBody>
      </p:sp>
    </p:spTree>
    <p:extLst>
      <p:ext uri="{BB962C8B-B14F-4D97-AF65-F5344CB8AC3E}">
        <p14:creationId xmlns:p14="http://schemas.microsoft.com/office/powerpoint/2010/main" val="1399312183"/>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213</a:t>
            </a:fld>
            <a:endParaRPr lang="zh-CN" altLang="en-US"/>
          </a:p>
        </p:txBody>
      </p:sp>
    </p:spTree>
    <p:extLst>
      <p:ext uri="{BB962C8B-B14F-4D97-AF65-F5344CB8AC3E}">
        <p14:creationId xmlns:p14="http://schemas.microsoft.com/office/powerpoint/2010/main" val="3084342354"/>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214</a:t>
            </a:fld>
            <a:endParaRPr lang="zh-CN" altLang="en-US"/>
          </a:p>
        </p:txBody>
      </p:sp>
    </p:spTree>
    <p:extLst>
      <p:ext uri="{BB962C8B-B14F-4D97-AF65-F5344CB8AC3E}">
        <p14:creationId xmlns:p14="http://schemas.microsoft.com/office/powerpoint/2010/main" val="301403236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215</a:t>
            </a:fld>
            <a:endParaRPr lang="zh-CN" altLang="en-US"/>
          </a:p>
        </p:txBody>
      </p:sp>
    </p:spTree>
    <p:extLst>
      <p:ext uri="{BB962C8B-B14F-4D97-AF65-F5344CB8AC3E}">
        <p14:creationId xmlns:p14="http://schemas.microsoft.com/office/powerpoint/2010/main" val="4267285289"/>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216</a:t>
            </a:fld>
            <a:endParaRPr lang="zh-CN" altLang="en-US"/>
          </a:p>
        </p:txBody>
      </p:sp>
    </p:spTree>
    <p:extLst>
      <p:ext uri="{BB962C8B-B14F-4D97-AF65-F5344CB8AC3E}">
        <p14:creationId xmlns:p14="http://schemas.microsoft.com/office/powerpoint/2010/main" val="1737824975"/>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217</a:t>
            </a:fld>
            <a:endParaRPr lang="zh-CN" altLang="en-US"/>
          </a:p>
        </p:txBody>
      </p:sp>
    </p:spTree>
    <p:extLst>
      <p:ext uri="{BB962C8B-B14F-4D97-AF65-F5344CB8AC3E}">
        <p14:creationId xmlns:p14="http://schemas.microsoft.com/office/powerpoint/2010/main" val="788832223"/>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High-frequency, low-severity (HFLS) events are operational losses that occur frequently but that result in small losses.</a:t>
            </a:r>
          </a:p>
          <a:p>
            <a:r>
              <a:rPr lang="en-US" altLang="zh-CN" dirty="0"/>
              <a:t>Low-frequency, high-severity (LFHS) events are rare but impose potentially catastrophic costs on the firm.</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219</a:t>
            </a:fld>
            <a:endParaRPr lang="zh-CN" altLang="en-US"/>
          </a:p>
        </p:txBody>
      </p:sp>
    </p:spTree>
    <p:extLst>
      <p:ext uri="{BB962C8B-B14F-4D97-AF65-F5344CB8AC3E}">
        <p14:creationId xmlns:p14="http://schemas.microsoft.com/office/powerpoint/2010/main" val="415842066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220</a:t>
            </a:fld>
            <a:endParaRPr lang="zh-CN" altLang="en-US"/>
          </a:p>
        </p:txBody>
      </p:sp>
    </p:spTree>
    <p:extLst>
      <p:ext uri="{BB962C8B-B14F-4D97-AF65-F5344CB8AC3E}">
        <p14:creationId xmlns:p14="http://schemas.microsoft.com/office/powerpoint/2010/main" val="398100361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221</a:t>
            </a:fld>
            <a:endParaRPr lang="zh-CN" altLang="en-US"/>
          </a:p>
        </p:txBody>
      </p:sp>
    </p:spTree>
    <p:extLst>
      <p:ext uri="{BB962C8B-B14F-4D97-AF65-F5344CB8AC3E}">
        <p14:creationId xmlns:p14="http://schemas.microsoft.com/office/powerpoint/2010/main" val="979015683"/>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10000"/>
              </a:lnSpc>
              <a:buFont typeface="Wingdings" panose="05000000000000000000" pitchFamily="2" charset="2"/>
              <a:buChar char="ü"/>
            </a:pPr>
            <a:r>
              <a:rPr lang="zh-CN" altLang="en-US" sz="1700" dirty="0"/>
              <a:t>corporate finance 				18%</a:t>
            </a:r>
          </a:p>
          <a:p>
            <a:pPr lvl="1">
              <a:lnSpc>
                <a:spcPct val="110000"/>
              </a:lnSpc>
              <a:buFont typeface="Wingdings" panose="05000000000000000000" pitchFamily="2" charset="2"/>
              <a:buChar char="ü"/>
            </a:pPr>
            <a:r>
              <a:rPr lang="zh-CN" altLang="en-US" sz="1700" dirty="0"/>
              <a:t>trading and sales				18%</a:t>
            </a:r>
          </a:p>
          <a:p>
            <a:pPr lvl="1">
              <a:lnSpc>
                <a:spcPct val="110000"/>
              </a:lnSpc>
              <a:buFont typeface="Wingdings" panose="05000000000000000000" pitchFamily="2" charset="2"/>
              <a:buChar char="ü"/>
            </a:pPr>
            <a:r>
              <a:rPr lang="zh-CN" altLang="en-US" sz="1700" dirty="0"/>
              <a:t>retail banking 				12%</a:t>
            </a:r>
          </a:p>
          <a:p>
            <a:pPr lvl="1">
              <a:lnSpc>
                <a:spcPct val="110000"/>
              </a:lnSpc>
              <a:buFont typeface="Wingdings" panose="05000000000000000000" pitchFamily="2" charset="2"/>
              <a:buChar char="ü"/>
            </a:pPr>
            <a:r>
              <a:rPr lang="zh-CN" altLang="en-US" sz="1700" dirty="0"/>
              <a:t>commercial banking 				15%</a:t>
            </a:r>
          </a:p>
          <a:p>
            <a:pPr lvl="1">
              <a:lnSpc>
                <a:spcPct val="110000"/>
              </a:lnSpc>
              <a:buFont typeface="Wingdings" panose="05000000000000000000" pitchFamily="2" charset="2"/>
              <a:buChar char="ü"/>
            </a:pPr>
            <a:r>
              <a:rPr lang="zh-CN" altLang="en-US" sz="1700" dirty="0"/>
              <a:t>settlement and payment activities 		18%</a:t>
            </a:r>
          </a:p>
          <a:p>
            <a:pPr lvl="1">
              <a:lnSpc>
                <a:spcPct val="110000"/>
              </a:lnSpc>
              <a:buFont typeface="Wingdings" panose="05000000000000000000" pitchFamily="2" charset="2"/>
              <a:buChar char="ü"/>
            </a:pPr>
            <a:r>
              <a:rPr lang="zh-CN" altLang="en-US" sz="1700" dirty="0"/>
              <a:t>angency and custody services 			15%</a:t>
            </a:r>
          </a:p>
          <a:p>
            <a:pPr lvl="1">
              <a:lnSpc>
                <a:spcPct val="110000"/>
              </a:lnSpc>
              <a:buFont typeface="Wingdings" panose="05000000000000000000" pitchFamily="2" charset="2"/>
              <a:buChar char="ü"/>
            </a:pPr>
            <a:r>
              <a:rPr lang="zh-CN" altLang="en-US" sz="1700" dirty="0"/>
              <a:t>asset management 				12%</a:t>
            </a:r>
          </a:p>
          <a:p>
            <a:pPr lvl="1">
              <a:lnSpc>
                <a:spcPct val="110000"/>
              </a:lnSpc>
              <a:buFont typeface="Wingdings" panose="05000000000000000000" pitchFamily="2" charset="2"/>
              <a:buChar char="ü"/>
            </a:pPr>
            <a:r>
              <a:rPr lang="zh-CN" altLang="en-US" sz="1700" dirty="0"/>
              <a:t>retail brokerage 				12%</a:t>
            </a:r>
            <a:endParaRPr lang="en-US" altLang="zh-CN" sz="1700"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222</a:t>
            </a:fld>
            <a:endParaRPr lang="zh-CN" altLang="en-US"/>
          </a:p>
        </p:txBody>
      </p:sp>
    </p:spTree>
    <p:extLst>
      <p:ext uri="{BB962C8B-B14F-4D97-AF65-F5344CB8AC3E}">
        <p14:creationId xmlns:p14="http://schemas.microsoft.com/office/powerpoint/2010/main" val="1486967580"/>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223</a:t>
            </a:fld>
            <a:endParaRPr lang="zh-CN" altLang="en-US"/>
          </a:p>
        </p:txBody>
      </p:sp>
    </p:spTree>
    <p:extLst>
      <p:ext uri="{BB962C8B-B14F-4D97-AF65-F5344CB8AC3E}">
        <p14:creationId xmlns:p14="http://schemas.microsoft.com/office/powerpoint/2010/main" val="1236673006"/>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224</a:t>
            </a:fld>
            <a:endParaRPr lang="zh-CN" altLang="en-US"/>
          </a:p>
        </p:txBody>
      </p:sp>
    </p:spTree>
    <p:extLst>
      <p:ext uri="{BB962C8B-B14F-4D97-AF65-F5344CB8AC3E}">
        <p14:creationId xmlns:p14="http://schemas.microsoft.com/office/powerpoint/2010/main" val="3216319588"/>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225</a:t>
            </a:fld>
            <a:endParaRPr lang="zh-CN" altLang="en-US"/>
          </a:p>
        </p:txBody>
      </p:sp>
    </p:spTree>
    <p:extLst>
      <p:ext uri="{BB962C8B-B14F-4D97-AF65-F5344CB8AC3E}">
        <p14:creationId xmlns:p14="http://schemas.microsoft.com/office/powerpoint/2010/main" val="3275884989"/>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226</a:t>
            </a:fld>
            <a:endParaRPr lang="zh-CN" altLang="en-US"/>
          </a:p>
        </p:txBody>
      </p:sp>
    </p:spTree>
    <p:extLst>
      <p:ext uri="{BB962C8B-B14F-4D97-AF65-F5344CB8AC3E}">
        <p14:creationId xmlns:p14="http://schemas.microsoft.com/office/powerpoint/2010/main" val="1891032566"/>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227</a:t>
            </a:fld>
            <a:endParaRPr lang="zh-CN" altLang="en-US"/>
          </a:p>
        </p:txBody>
      </p:sp>
    </p:spTree>
    <p:extLst>
      <p:ext uri="{BB962C8B-B14F-4D97-AF65-F5344CB8AC3E}">
        <p14:creationId xmlns:p14="http://schemas.microsoft.com/office/powerpoint/2010/main" val="1037235242"/>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228</a:t>
            </a:fld>
            <a:endParaRPr lang="zh-CN" altLang="en-US"/>
          </a:p>
        </p:txBody>
      </p:sp>
    </p:spTree>
    <p:extLst>
      <p:ext uri="{BB962C8B-B14F-4D97-AF65-F5344CB8AC3E}">
        <p14:creationId xmlns:p14="http://schemas.microsoft.com/office/powerpoint/2010/main" val="39062218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229</a:t>
            </a:fld>
            <a:endParaRPr lang="zh-CN" altLang="en-US"/>
          </a:p>
        </p:txBody>
      </p:sp>
    </p:spTree>
    <p:extLst>
      <p:ext uri="{BB962C8B-B14F-4D97-AF65-F5344CB8AC3E}">
        <p14:creationId xmlns:p14="http://schemas.microsoft.com/office/powerpoint/2010/main" val="383621355"/>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For example, banks without good internal controls are more likely to enter into rogue trader insurance contracts; banks without good internal controls are more likely to buy insurance policies to protect themselves against external fraud. For example, banks without good internal controls are more likely to enter into rogue trader insurance contracts; banks without good internal controls are more likely to buy insurance policies to protect themselves against external fraud.</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230</a:t>
            </a:fld>
            <a:endParaRPr lang="zh-CN" altLang="en-US"/>
          </a:p>
        </p:txBody>
      </p:sp>
    </p:spTree>
    <p:extLst>
      <p:ext uri="{BB962C8B-B14F-4D97-AF65-F5344CB8AC3E}">
        <p14:creationId xmlns:p14="http://schemas.microsoft.com/office/powerpoint/2010/main" val="3875844434"/>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231</a:t>
            </a:fld>
            <a:endParaRPr lang="zh-CN" altLang="en-US"/>
          </a:p>
        </p:txBody>
      </p:sp>
    </p:spTree>
    <p:extLst>
      <p:ext uri="{BB962C8B-B14F-4D97-AF65-F5344CB8AC3E}">
        <p14:creationId xmlns:p14="http://schemas.microsoft.com/office/powerpoint/2010/main" val="236845424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232</a:t>
            </a:fld>
            <a:endParaRPr lang="zh-CN" altLang="en-US"/>
          </a:p>
        </p:txBody>
      </p:sp>
    </p:spTree>
    <p:extLst>
      <p:ext uri="{BB962C8B-B14F-4D97-AF65-F5344CB8AC3E}">
        <p14:creationId xmlns:p14="http://schemas.microsoft.com/office/powerpoint/2010/main" val="1052558135"/>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235</a:t>
            </a:fld>
            <a:endParaRPr lang="zh-CN" altLang="en-US"/>
          </a:p>
        </p:txBody>
      </p:sp>
    </p:spTree>
    <p:extLst>
      <p:ext uri="{BB962C8B-B14F-4D97-AF65-F5344CB8AC3E}">
        <p14:creationId xmlns:p14="http://schemas.microsoft.com/office/powerpoint/2010/main" val="2294819678"/>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236</a:t>
            </a:fld>
            <a:endParaRPr lang="zh-CN" altLang="en-US"/>
          </a:p>
        </p:txBody>
      </p:sp>
    </p:spTree>
    <p:extLst>
      <p:ext uri="{BB962C8B-B14F-4D97-AF65-F5344CB8AC3E}">
        <p14:creationId xmlns:p14="http://schemas.microsoft.com/office/powerpoint/2010/main" val="4179948826"/>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237</a:t>
            </a:fld>
            <a:endParaRPr lang="zh-CN" altLang="en-US"/>
          </a:p>
        </p:txBody>
      </p:sp>
    </p:spTree>
    <p:extLst>
      <p:ext uri="{BB962C8B-B14F-4D97-AF65-F5344CB8AC3E}">
        <p14:creationId xmlns:p14="http://schemas.microsoft.com/office/powerpoint/2010/main" val="174086032"/>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238</a:t>
            </a:fld>
            <a:endParaRPr lang="zh-CN" altLang="en-US"/>
          </a:p>
        </p:txBody>
      </p:sp>
    </p:spTree>
    <p:extLst>
      <p:ext uri="{BB962C8B-B14F-4D97-AF65-F5344CB8AC3E}">
        <p14:creationId xmlns:p14="http://schemas.microsoft.com/office/powerpoint/2010/main" val="2312956643"/>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2"/>
            <a:r>
              <a:rPr lang="en-US" altLang="zh-CN" dirty="0"/>
              <a:t>The one-month period in October 1987 (S&amp;P 500 index fell by &gt; 21%)</a:t>
            </a:r>
          </a:p>
          <a:p>
            <a:pPr lvl="2"/>
            <a:r>
              <a:rPr lang="en-US" altLang="zh-CN" dirty="0"/>
              <a:t>Exchange rate crisis (1992) and U.S. dollar interest rates changes (spring of 1994)</a:t>
            </a:r>
          </a:p>
          <a:p>
            <a:pPr lvl="2"/>
            <a:r>
              <a:rPr lang="en-US" altLang="zh-CN" dirty="0"/>
              <a:t> The 1995 Mexican crisis</a:t>
            </a:r>
          </a:p>
          <a:p>
            <a:pPr lvl="2"/>
            <a:r>
              <a:rPr lang="en-US" altLang="zh-CN" dirty="0"/>
              <a:t> The East Asian crisis (summer of 1997)</a:t>
            </a:r>
          </a:p>
          <a:p>
            <a:pPr lvl="2"/>
            <a:r>
              <a:rPr lang="en-US" altLang="zh-CN" dirty="0"/>
              <a:t>The Russian devaluation of August 1998 and the Brazilian devaluation of 1999</a:t>
            </a:r>
            <a:endParaRPr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239</a:t>
            </a:fld>
            <a:endParaRPr lang="zh-CN" altLang="en-US"/>
          </a:p>
        </p:txBody>
      </p:sp>
    </p:spTree>
    <p:extLst>
      <p:ext uri="{BB962C8B-B14F-4D97-AF65-F5344CB8AC3E}">
        <p14:creationId xmlns:p14="http://schemas.microsoft.com/office/powerpoint/2010/main" val="38168541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240</a:t>
            </a:fld>
            <a:endParaRPr lang="zh-CN" altLang="en-US"/>
          </a:p>
        </p:txBody>
      </p:sp>
    </p:spTree>
    <p:extLst>
      <p:ext uri="{BB962C8B-B14F-4D97-AF65-F5344CB8AC3E}">
        <p14:creationId xmlns:p14="http://schemas.microsoft.com/office/powerpoint/2010/main" val="2530927103"/>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SPAN® system is used to recommend margin requirements on futures and options exchanges. This system focuses on overall portfolio risk. The SPAN system estimates the effect on portfolio values of a large set of alternative scenarios. The margin then takes into account the largest loss that the portfolio might suffer. </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241</a:t>
            </a:fld>
            <a:endParaRPr lang="zh-CN" altLang="en-US"/>
          </a:p>
        </p:txBody>
      </p:sp>
    </p:spTree>
    <p:extLst>
      <p:ext uri="{BB962C8B-B14F-4D97-AF65-F5344CB8AC3E}">
        <p14:creationId xmlns:p14="http://schemas.microsoft.com/office/powerpoint/2010/main" val="2875498966"/>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242</a:t>
            </a:fld>
            <a:endParaRPr lang="zh-CN" altLang="en-US"/>
          </a:p>
        </p:txBody>
      </p:sp>
    </p:spTree>
    <p:extLst>
      <p:ext uri="{BB962C8B-B14F-4D97-AF65-F5344CB8AC3E}">
        <p14:creationId xmlns:p14="http://schemas.microsoft.com/office/powerpoint/2010/main" val="2153298492"/>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243</a:t>
            </a:fld>
            <a:endParaRPr lang="zh-CN" altLang="en-US"/>
          </a:p>
        </p:txBody>
      </p:sp>
    </p:spTree>
    <p:extLst>
      <p:ext uri="{BB962C8B-B14F-4D97-AF65-F5344CB8AC3E}">
        <p14:creationId xmlns:p14="http://schemas.microsoft.com/office/powerpoint/2010/main" val="14567652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244</a:t>
            </a:fld>
            <a:endParaRPr lang="zh-CN" altLang="en-US"/>
          </a:p>
        </p:txBody>
      </p:sp>
    </p:spTree>
    <p:extLst>
      <p:ext uri="{BB962C8B-B14F-4D97-AF65-F5344CB8AC3E}">
        <p14:creationId xmlns:p14="http://schemas.microsoft.com/office/powerpoint/2010/main" val="1053118144"/>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Warehousing and pipeline risk refers to the event where originating banks are unable to off-load assets due to unexpected changes in market conditions. Involuntary holding of these assets expose the bank to losses due to declining values of these assets.</a:t>
            </a:r>
          </a:p>
          <a:p>
            <a:endParaRPr lang="en-US" altLang="zh-CN" dirty="0"/>
          </a:p>
          <a:p>
            <a:r>
              <a:rPr lang="en-US" altLang="zh-CN" dirty="0"/>
              <a:t>Another weakness of the models was that they did not adequately capture contingent risks that arose either from legally binding credit and liquidity lines or from reputational concerns related, for example, to off-balance sheet vehicles.</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245</a:t>
            </a:fld>
            <a:endParaRPr lang="zh-CN" altLang="en-US"/>
          </a:p>
        </p:txBody>
      </p:sp>
    </p:spTree>
    <p:extLst>
      <p:ext uri="{BB962C8B-B14F-4D97-AF65-F5344CB8AC3E}">
        <p14:creationId xmlns:p14="http://schemas.microsoft.com/office/powerpoint/2010/main" val="2414341734"/>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246</a:t>
            </a:fld>
            <a:endParaRPr lang="zh-CN" altLang="en-US"/>
          </a:p>
        </p:txBody>
      </p:sp>
    </p:spTree>
    <p:extLst>
      <p:ext uri="{BB962C8B-B14F-4D97-AF65-F5344CB8AC3E}">
        <p14:creationId xmlns:p14="http://schemas.microsoft.com/office/powerpoint/2010/main" val="584146117"/>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247</a:t>
            </a:fld>
            <a:endParaRPr lang="zh-CN" altLang="en-US"/>
          </a:p>
        </p:txBody>
      </p:sp>
    </p:spTree>
    <p:extLst>
      <p:ext uri="{BB962C8B-B14F-4D97-AF65-F5344CB8AC3E}">
        <p14:creationId xmlns:p14="http://schemas.microsoft.com/office/powerpoint/2010/main" val="4238066927"/>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248</a:t>
            </a:fld>
            <a:endParaRPr lang="zh-CN" altLang="en-US"/>
          </a:p>
        </p:txBody>
      </p:sp>
    </p:spTree>
    <p:extLst>
      <p:ext uri="{BB962C8B-B14F-4D97-AF65-F5344CB8AC3E}">
        <p14:creationId xmlns:p14="http://schemas.microsoft.com/office/powerpoint/2010/main" val="3565986428"/>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249</a:t>
            </a:fld>
            <a:endParaRPr lang="zh-CN" altLang="en-US"/>
          </a:p>
        </p:txBody>
      </p:sp>
    </p:spTree>
    <p:extLst>
      <p:ext uri="{BB962C8B-B14F-4D97-AF65-F5344CB8AC3E}">
        <p14:creationId xmlns:p14="http://schemas.microsoft.com/office/powerpoint/2010/main" val="799172368"/>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250</a:t>
            </a:fld>
            <a:endParaRPr lang="zh-CN" altLang="en-US"/>
          </a:p>
        </p:txBody>
      </p:sp>
    </p:spTree>
    <p:extLst>
      <p:ext uri="{BB962C8B-B14F-4D97-AF65-F5344CB8AC3E}">
        <p14:creationId xmlns:p14="http://schemas.microsoft.com/office/powerpoint/2010/main" val="2455301380"/>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251</a:t>
            </a:fld>
            <a:endParaRPr lang="zh-CN" altLang="en-US"/>
          </a:p>
        </p:txBody>
      </p:sp>
    </p:spTree>
    <p:extLst>
      <p:ext uri="{BB962C8B-B14F-4D97-AF65-F5344CB8AC3E}">
        <p14:creationId xmlns:p14="http://schemas.microsoft.com/office/powerpoint/2010/main" val="851848507"/>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252</a:t>
            </a:fld>
            <a:endParaRPr lang="zh-CN" altLang="en-US"/>
          </a:p>
        </p:txBody>
      </p:sp>
    </p:spTree>
    <p:extLst>
      <p:ext uri="{BB962C8B-B14F-4D97-AF65-F5344CB8AC3E}">
        <p14:creationId xmlns:p14="http://schemas.microsoft.com/office/powerpoint/2010/main" val="1331961683"/>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253</a:t>
            </a:fld>
            <a:endParaRPr lang="zh-CN" altLang="en-US"/>
          </a:p>
        </p:txBody>
      </p:sp>
    </p:spTree>
    <p:extLst>
      <p:ext uri="{BB962C8B-B14F-4D97-AF65-F5344CB8AC3E}">
        <p14:creationId xmlns:p14="http://schemas.microsoft.com/office/powerpoint/2010/main" val="2499868087"/>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254</a:t>
            </a:fld>
            <a:endParaRPr lang="zh-CN" altLang="en-US"/>
          </a:p>
        </p:txBody>
      </p:sp>
    </p:spTree>
    <p:extLst>
      <p:ext uri="{BB962C8B-B14F-4D97-AF65-F5344CB8AC3E}">
        <p14:creationId xmlns:p14="http://schemas.microsoft.com/office/powerpoint/2010/main" val="390124824"/>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255</a:t>
            </a:fld>
            <a:endParaRPr lang="zh-CN" altLang="en-US"/>
          </a:p>
        </p:txBody>
      </p:sp>
    </p:spTree>
    <p:extLst>
      <p:ext uri="{BB962C8B-B14F-4D97-AF65-F5344CB8AC3E}">
        <p14:creationId xmlns:p14="http://schemas.microsoft.com/office/powerpoint/2010/main" val="2993695347"/>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256</a:t>
            </a:fld>
            <a:endParaRPr lang="zh-CN" altLang="en-US"/>
          </a:p>
        </p:txBody>
      </p:sp>
    </p:spTree>
    <p:extLst>
      <p:ext uri="{BB962C8B-B14F-4D97-AF65-F5344CB8AC3E}">
        <p14:creationId xmlns:p14="http://schemas.microsoft.com/office/powerpoint/2010/main" val="1969646884"/>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257</a:t>
            </a:fld>
            <a:endParaRPr lang="zh-CN" altLang="en-US"/>
          </a:p>
        </p:txBody>
      </p:sp>
    </p:spTree>
    <p:extLst>
      <p:ext uri="{BB962C8B-B14F-4D97-AF65-F5344CB8AC3E}">
        <p14:creationId xmlns:p14="http://schemas.microsoft.com/office/powerpoint/2010/main" val="2357446036"/>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258</a:t>
            </a:fld>
            <a:endParaRPr lang="zh-CN" altLang="en-US"/>
          </a:p>
        </p:txBody>
      </p:sp>
    </p:spTree>
    <p:extLst>
      <p:ext uri="{BB962C8B-B14F-4D97-AF65-F5344CB8AC3E}">
        <p14:creationId xmlns:p14="http://schemas.microsoft.com/office/powerpoint/2010/main" val="37314671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259</a:t>
            </a:fld>
            <a:endParaRPr lang="zh-CN" altLang="en-US"/>
          </a:p>
        </p:txBody>
      </p:sp>
    </p:spTree>
    <p:extLst>
      <p:ext uri="{BB962C8B-B14F-4D97-AF65-F5344CB8AC3E}">
        <p14:creationId xmlns:p14="http://schemas.microsoft.com/office/powerpoint/2010/main" val="3671571266"/>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260</a:t>
            </a:fld>
            <a:endParaRPr lang="zh-CN" altLang="en-US"/>
          </a:p>
        </p:txBody>
      </p:sp>
    </p:spTree>
    <p:extLst>
      <p:ext uri="{BB962C8B-B14F-4D97-AF65-F5344CB8AC3E}">
        <p14:creationId xmlns:p14="http://schemas.microsoft.com/office/powerpoint/2010/main" val="25699866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科目">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grpSp>
        <p:nvGrpSpPr>
          <p:cNvPr id="9" name="组合 8">
            <a:extLst>
              <a:ext uri="{FF2B5EF4-FFF2-40B4-BE49-F238E27FC236}">
                <a16:creationId xmlns:a16="http://schemas.microsoft.com/office/drawing/2014/main" id="{0412969C-5F90-4E96-B585-14A6E1954127}"/>
              </a:ext>
            </a:extLst>
          </p:cNvPr>
          <p:cNvGrpSpPr/>
          <p:nvPr userDrawn="1"/>
        </p:nvGrpSpPr>
        <p:grpSpPr>
          <a:xfrm>
            <a:off x="0" y="2388291"/>
            <a:ext cx="4433455" cy="4559212"/>
            <a:chOff x="0" y="1814946"/>
            <a:chExt cx="4990985" cy="5132557"/>
          </a:xfrm>
        </p:grpSpPr>
        <p:grpSp>
          <p:nvGrpSpPr>
            <p:cNvPr id="10" name="组合 9">
              <a:extLst>
                <a:ext uri="{FF2B5EF4-FFF2-40B4-BE49-F238E27FC236}">
                  <a16:creationId xmlns:a16="http://schemas.microsoft.com/office/drawing/2014/main" id="{36904DEF-A29B-4827-B6E3-FFD7CF540525}"/>
                </a:ext>
              </a:extLst>
            </p:cNvPr>
            <p:cNvGrpSpPr/>
            <p:nvPr userDrawn="1"/>
          </p:nvGrpSpPr>
          <p:grpSpPr>
            <a:xfrm>
              <a:off x="0" y="1814946"/>
              <a:ext cx="3698628" cy="3693247"/>
              <a:chOff x="-33357" y="2313710"/>
              <a:chExt cx="3375724" cy="3370813"/>
            </a:xfrm>
          </p:grpSpPr>
          <p:sp>
            <p:nvSpPr>
              <p:cNvPr id="34" name="Freeform 5">
                <a:extLst>
                  <a:ext uri="{FF2B5EF4-FFF2-40B4-BE49-F238E27FC236}">
                    <a16:creationId xmlns:a16="http://schemas.microsoft.com/office/drawing/2014/main" id="{05BF9A91-9553-4FEE-9DD0-D84C357EBDCE}"/>
                  </a:ext>
                </a:extLst>
              </p:cNvPr>
              <p:cNvSpPr>
                <a:spLocks/>
              </p:cNvSpPr>
              <p:nvPr userDrawn="1"/>
            </p:nvSpPr>
            <p:spPr bwMode="auto">
              <a:xfrm>
                <a:off x="-33357" y="2313710"/>
                <a:ext cx="3375724" cy="3370813"/>
              </a:xfrm>
              <a:custGeom>
                <a:avLst/>
                <a:gdLst>
                  <a:gd name="T0" fmla="*/ 0 w 2062"/>
                  <a:gd name="T1" fmla="*/ 555 h 2059"/>
                  <a:gd name="T2" fmla="*/ 2062 w 2062"/>
                  <a:gd name="T3" fmla="*/ 0 h 2059"/>
                  <a:gd name="T4" fmla="*/ 1512 w 2062"/>
                  <a:gd name="T5" fmla="*/ 2059 h 2059"/>
                  <a:gd name="T6" fmla="*/ 0 w 2062"/>
                  <a:gd name="T7" fmla="*/ 555 h 2059"/>
                </a:gdLst>
                <a:ahLst/>
                <a:cxnLst>
                  <a:cxn ang="0">
                    <a:pos x="T0" y="T1"/>
                  </a:cxn>
                  <a:cxn ang="0">
                    <a:pos x="T2" y="T3"/>
                  </a:cxn>
                  <a:cxn ang="0">
                    <a:pos x="T4" y="T5"/>
                  </a:cxn>
                  <a:cxn ang="0">
                    <a:pos x="T6" y="T7"/>
                  </a:cxn>
                </a:cxnLst>
                <a:rect l="0" t="0" r="r" b="b"/>
                <a:pathLst>
                  <a:path w="2062" h="2059">
                    <a:moveTo>
                      <a:pt x="0" y="555"/>
                    </a:moveTo>
                    <a:lnTo>
                      <a:pt x="2062" y="0"/>
                    </a:lnTo>
                    <a:lnTo>
                      <a:pt x="1512" y="2059"/>
                    </a:lnTo>
                    <a:lnTo>
                      <a:pt x="0" y="55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7">
                <a:extLst>
                  <a:ext uri="{FF2B5EF4-FFF2-40B4-BE49-F238E27FC236}">
                    <a16:creationId xmlns:a16="http://schemas.microsoft.com/office/drawing/2014/main" id="{4F494B81-3C15-4C71-9A0A-29EB5AF5C755}"/>
                  </a:ext>
                </a:extLst>
              </p:cNvPr>
              <p:cNvSpPr>
                <a:spLocks/>
              </p:cNvSpPr>
              <p:nvPr userDrawn="1"/>
            </p:nvSpPr>
            <p:spPr bwMode="auto">
              <a:xfrm>
                <a:off x="-33357" y="3222306"/>
                <a:ext cx="2475313" cy="2462216"/>
              </a:xfrm>
              <a:custGeom>
                <a:avLst/>
                <a:gdLst>
                  <a:gd name="T0" fmla="*/ 0 w 1512"/>
                  <a:gd name="T1" fmla="*/ 0 h 1504"/>
                  <a:gd name="T2" fmla="*/ 1512 w 1512"/>
                  <a:gd name="T3" fmla="*/ 1504 h 1504"/>
                  <a:gd name="T4" fmla="*/ 1120 w 1512"/>
                  <a:gd name="T5" fmla="*/ 193 h 1504"/>
                  <a:gd name="T6" fmla="*/ 0 w 1512"/>
                  <a:gd name="T7" fmla="*/ 0 h 1504"/>
                </a:gdLst>
                <a:ahLst/>
                <a:cxnLst>
                  <a:cxn ang="0">
                    <a:pos x="T0" y="T1"/>
                  </a:cxn>
                  <a:cxn ang="0">
                    <a:pos x="T2" y="T3"/>
                  </a:cxn>
                  <a:cxn ang="0">
                    <a:pos x="T4" y="T5"/>
                  </a:cxn>
                  <a:cxn ang="0">
                    <a:pos x="T6" y="T7"/>
                  </a:cxn>
                </a:cxnLst>
                <a:rect l="0" t="0" r="r" b="b"/>
                <a:pathLst>
                  <a:path w="1512" h="1504">
                    <a:moveTo>
                      <a:pt x="0" y="0"/>
                    </a:moveTo>
                    <a:lnTo>
                      <a:pt x="1512" y="1504"/>
                    </a:lnTo>
                    <a:lnTo>
                      <a:pt x="1120" y="193"/>
                    </a:lnTo>
                    <a:lnTo>
                      <a:pt x="0"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8">
                <a:extLst>
                  <a:ext uri="{FF2B5EF4-FFF2-40B4-BE49-F238E27FC236}">
                    <a16:creationId xmlns:a16="http://schemas.microsoft.com/office/drawing/2014/main" id="{D8A2DB86-82B3-43BA-A913-246C7D7D372C}"/>
                  </a:ext>
                </a:extLst>
              </p:cNvPr>
              <p:cNvSpPr>
                <a:spLocks/>
              </p:cNvSpPr>
              <p:nvPr userDrawn="1"/>
            </p:nvSpPr>
            <p:spPr bwMode="auto">
              <a:xfrm>
                <a:off x="1800208" y="2313710"/>
                <a:ext cx="1542159" cy="3370813"/>
              </a:xfrm>
              <a:custGeom>
                <a:avLst/>
                <a:gdLst>
                  <a:gd name="T0" fmla="*/ 392 w 942"/>
                  <a:gd name="T1" fmla="*/ 2059 h 2059"/>
                  <a:gd name="T2" fmla="*/ 942 w 942"/>
                  <a:gd name="T3" fmla="*/ 0 h 2059"/>
                  <a:gd name="T4" fmla="*/ 0 w 942"/>
                  <a:gd name="T5" fmla="*/ 748 h 2059"/>
                  <a:gd name="T6" fmla="*/ 392 w 942"/>
                  <a:gd name="T7" fmla="*/ 2059 h 2059"/>
                </a:gdLst>
                <a:ahLst/>
                <a:cxnLst>
                  <a:cxn ang="0">
                    <a:pos x="T0" y="T1"/>
                  </a:cxn>
                  <a:cxn ang="0">
                    <a:pos x="T2" y="T3"/>
                  </a:cxn>
                  <a:cxn ang="0">
                    <a:pos x="T4" y="T5"/>
                  </a:cxn>
                  <a:cxn ang="0">
                    <a:pos x="T6" y="T7"/>
                  </a:cxn>
                </a:cxnLst>
                <a:rect l="0" t="0" r="r" b="b"/>
                <a:pathLst>
                  <a:path w="942" h="2059">
                    <a:moveTo>
                      <a:pt x="392" y="2059"/>
                    </a:moveTo>
                    <a:lnTo>
                      <a:pt x="942" y="0"/>
                    </a:lnTo>
                    <a:lnTo>
                      <a:pt x="0" y="748"/>
                    </a:lnTo>
                    <a:lnTo>
                      <a:pt x="392" y="2059"/>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1" name="任意多边形: 形状 81">
              <a:extLst>
                <a:ext uri="{FF2B5EF4-FFF2-40B4-BE49-F238E27FC236}">
                  <a16:creationId xmlns:a16="http://schemas.microsoft.com/office/drawing/2014/main" id="{B1776A3A-8500-4A9A-A690-7CEA1816428C}"/>
                </a:ext>
              </a:extLst>
            </p:cNvPr>
            <p:cNvSpPr>
              <a:spLocks/>
            </p:cNvSpPr>
            <p:nvPr userDrawn="1"/>
          </p:nvSpPr>
          <p:spPr bwMode="auto">
            <a:xfrm>
              <a:off x="0" y="3884886"/>
              <a:ext cx="1746891" cy="2817918"/>
            </a:xfrm>
            <a:custGeom>
              <a:avLst/>
              <a:gdLst>
                <a:gd name="connsiteX0" fmla="*/ 1746891 w 1746891"/>
                <a:gd name="connsiteY0" fmla="*/ 0 h 2817918"/>
                <a:gd name="connsiteX1" fmla="*/ 1007883 w 1746891"/>
                <a:gd name="connsiteY1" fmla="*/ 2817918 h 2817918"/>
                <a:gd name="connsiteX2" fmla="*/ 0 w 1746891"/>
                <a:gd name="connsiteY2" fmla="*/ 1825729 h 2817918"/>
                <a:gd name="connsiteX3" fmla="*/ 0 w 1746891"/>
                <a:gd name="connsiteY3" fmla="*/ 482401 h 2817918"/>
              </a:gdLst>
              <a:ahLst/>
              <a:cxnLst>
                <a:cxn ang="0">
                  <a:pos x="connsiteX0" y="connsiteY0"/>
                </a:cxn>
                <a:cxn ang="0">
                  <a:pos x="connsiteX1" y="connsiteY1"/>
                </a:cxn>
                <a:cxn ang="0">
                  <a:pos x="connsiteX2" y="connsiteY2"/>
                </a:cxn>
                <a:cxn ang="0">
                  <a:pos x="connsiteX3" y="connsiteY3"/>
                </a:cxn>
              </a:cxnLst>
              <a:rect l="l" t="t" r="r" b="b"/>
              <a:pathLst>
                <a:path w="1746891" h="2817918">
                  <a:moveTo>
                    <a:pt x="1746891" y="0"/>
                  </a:moveTo>
                  <a:lnTo>
                    <a:pt x="1007883" y="2817918"/>
                  </a:lnTo>
                  <a:lnTo>
                    <a:pt x="0" y="1825729"/>
                  </a:lnTo>
                  <a:lnTo>
                    <a:pt x="0" y="482401"/>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4" name="任意多边形: 形状 83">
              <a:extLst>
                <a:ext uri="{FF2B5EF4-FFF2-40B4-BE49-F238E27FC236}">
                  <a16:creationId xmlns:a16="http://schemas.microsoft.com/office/drawing/2014/main" id="{B31F9719-A6E2-4A68-9E26-007E829B2EE6}"/>
                </a:ext>
              </a:extLst>
            </p:cNvPr>
            <p:cNvSpPr>
              <a:spLocks/>
            </p:cNvSpPr>
            <p:nvPr userDrawn="1"/>
          </p:nvSpPr>
          <p:spPr bwMode="auto">
            <a:xfrm>
              <a:off x="0" y="5072864"/>
              <a:ext cx="1007883" cy="1629939"/>
            </a:xfrm>
            <a:custGeom>
              <a:avLst/>
              <a:gdLst>
                <a:gd name="connsiteX0" fmla="*/ 0 w 1007883"/>
                <a:gd name="connsiteY0" fmla="*/ 0 h 1629939"/>
                <a:gd name="connsiteX1" fmla="*/ 467976 w 1007883"/>
                <a:gd name="connsiteY1" fmla="*/ 180622 h 1629939"/>
                <a:gd name="connsiteX2" fmla="*/ 1007883 w 1007883"/>
                <a:gd name="connsiteY2" fmla="*/ 1629939 h 1629939"/>
                <a:gd name="connsiteX3" fmla="*/ 0 w 1007883"/>
                <a:gd name="connsiteY3" fmla="*/ 637750 h 1629939"/>
              </a:gdLst>
              <a:ahLst/>
              <a:cxnLst>
                <a:cxn ang="0">
                  <a:pos x="connsiteX0" y="connsiteY0"/>
                </a:cxn>
                <a:cxn ang="0">
                  <a:pos x="connsiteX1" y="connsiteY1"/>
                </a:cxn>
                <a:cxn ang="0">
                  <a:pos x="connsiteX2" y="connsiteY2"/>
                </a:cxn>
                <a:cxn ang="0">
                  <a:pos x="connsiteX3" y="connsiteY3"/>
                </a:cxn>
              </a:cxnLst>
              <a:rect l="l" t="t" r="r" b="b"/>
              <a:pathLst>
                <a:path w="1007883" h="1629939">
                  <a:moveTo>
                    <a:pt x="0" y="0"/>
                  </a:moveTo>
                  <a:lnTo>
                    <a:pt x="467976" y="180622"/>
                  </a:lnTo>
                  <a:lnTo>
                    <a:pt x="1007883" y="1629939"/>
                  </a:lnTo>
                  <a:lnTo>
                    <a:pt x="0" y="637750"/>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7" name="Freeform 31">
              <a:extLst>
                <a:ext uri="{FF2B5EF4-FFF2-40B4-BE49-F238E27FC236}">
                  <a16:creationId xmlns:a16="http://schemas.microsoft.com/office/drawing/2014/main" id="{0858C27D-3B61-40EB-BB3F-3FAA0118294B}"/>
                </a:ext>
              </a:extLst>
            </p:cNvPr>
            <p:cNvSpPr>
              <a:spLocks/>
            </p:cNvSpPr>
            <p:nvPr userDrawn="1"/>
          </p:nvSpPr>
          <p:spPr bwMode="auto">
            <a:xfrm>
              <a:off x="467976" y="3884886"/>
              <a:ext cx="1278914" cy="2817918"/>
            </a:xfrm>
            <a:custGeom>
              <a:avLst/>
              <a:gdLst>
                <a:gd name="T0" fmla="*/ 301 w 713"/>
                <a:gd name="T1" fmla="*/ 1571 h 1571"/>
                <a:gd name="T2" fmla="*/ 713 w 713"/>
                <a:gd name="T3" fmla="*/ 0 h 1571"/>
                <a:gd name="T4" fmla="*/ 0 w 713"/>
                <a:gd name="T5" fmla="*/ 763 h 1571"/>
                <a:gd name="T6" fmla="*/ 301 w 713"/>
                <a:gd name="T7" fmla="*/ 1571 h 1571"/>
              </a:gdLst>
              <a:ahLst/>
              <a:cxnLst>
                <a:cxn ang="0">
                  <a:pos x="T0" y="T1"/>
                </a:cxn>
                <a:cxn ang="0">
                  <a:pos x="T2" y="T3"/>
                </a:cxn>
                <a:cxn ang="0">
                  <a:pos x="T4" y="T5"/>
                </a:cxn>
                <a:cxn ang="0">
                  <a:pos x="T6" y="T7"/>
                </a:cxn>
              </a:cxnLst>
              <a:rect l="0" t="0" r="r" b="b"/>
              <a:pathLst>
                <a:path w="713" h="1571">
                  <a:moveTo>
                    <a:pt x="301" y="1571"/>
                  </a:moveTo>
                  <a:lnTo>
                    <a:pt x="713" y="0"/>
                  </a:lnTo>
                  <a:lnTo>
                    <a:pt x="0" y="763"/>
                  </a:lnTo>
                  <a:lnTo>
                    <a:pt x="301" y="1571"/>
                  </a:ln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8" name="组合 17">
              <a:extLst>
                <a:ext uri="{FF2B5EF4-FFF2-40B4-BE49-F238E27FC236}">
                  <a16:creationId xmlns:a16="http://schemas.microsoft.com/office/drawing/2014/main" id="{A2EC3842-A5D0-4936-A7C3-E5418585DDD2}"/>
                </a:ext>
              </a:extLst>
            </p:cNvPr>
            <p:cNvGrpSpPr/>
            <p:nvPr userDrawn="1"/>
          </p:nvGrpSpPr>
          <p:grpSpPr>
            <a:xfrm>
              <a:off x="1515683" y="4961112"/>
              <a:ext cx="1562320" cy="1569496"/>
              <a:chOff x="1350001" y="5185204"/>
              <a:chExt cx="1425924" cy="1432473"/>
            </a:xfrm>
          </p:grpSpPr>
          <p:sp>
            <p:nvSpPr>
              <p:cNvPr id="31" name="Freeform 33">
                <a:extLst>
                  <a:ext uri="{FF2B5EF4-FFF2-40B4-BE49-F238E27FC236}">
                    <a16:creationId xmlns:a16="http://schemas.microsoft.com/office/drawing/2014/main" id="{D5B1E0F4-3C85-41ED-BCC8-21997E7E4C3E}"/>
                  </a:ext>
                </a:extLst>
              </p:cNvPr>
              <p:cNvSpPr>
                <a:spLocks/>
              </p:cNvSpPr>
              <p:nvPr userDrawn="1"/>
            </p:nvSpPr>
            <p:spPr bwMode="auto">
              <a:xfrm>
                <a:off x="1350001" y="5185204"/>
                <a:ext cx="1425924" cy="1432473"/>
              </a:xfrm>
              <a:custGeom>
                <a:avLst/>
                <a:gdLst>
                  <a:gd name="T0" fmla="*/ 0 w 871"/>
                  <a:gd name="T1" fmla="*/ 875 h 875"/>
                  <a:gd name="T2" fmla="*/ 224 w 871"/>
                  <a:gd name="T3" fmla="*/ 0 h 875"/>
                  <a:gd name="T4" fmla="*/ 871 w 871"/>
                  <a:gd name="T5" fmla="*/ 631 h 875"/>
                  <a:gd name="T6" fmla="*/ 0 w 871"/>
                  <a:gd name="T7" fmla="*/ 875 h 875"/>
                </a:gdLst>
                <a:ahLst/>
                <a:cxnLst>
                  <a:cxn ang="0">
                    <a:pos x="T0" y="T1"/>
                  </a:cxn>
                  <a:cxn ang="0">
                    <a:pos x="T2" y="T3"/>
                  </a:cxn>
                  <a:cxn ang="0">
                    <a:pos x="T4" y="T5"/>
                  </a:cxn>
                  <a:cxn ang="0">
                    <a:pos x="T6" y="T7"/>
                  </a:cxn>
                </a:cxnLst>
                <a:rect l="0" t="0" r="r" b="b"/>
                <a:pathLst>
                  <a:path w="871" h="875">
                    <a:moveTo>
                      <a:pt x="0" y="875"/>
                    </a:moveTo>
                    <a:lnTo>
                      <a:pt x="224" y="0"/>
                    </a:lnTo>
                    <a:lnTo>
                      <a:pt x="871" y="631"/>
                    </a:lnTo>
                    <a:lnTo>
                      <a:pt x="0" y="87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34">
                <a:extLst>
                  <a:ext uri="{FF2B5EF4-FFF2-40B4-BE49-F238E27FC236}">
                    <a16:creationId xmlns:a16="http://schemas.microsoft.com/office/drawing/2014/main" id="{2B881A2C-6EF7-4367-BB1D-A766EBA4061D}"/>
                  </a:ext>
                </a:extLst>
              </p:cNvPr>
              <p:cNvSpPr>
                <a:spLocks/>
              </p:cNvSpPr>
              <p:nvPr userDrawn="1"/>
            </p:nvSpPr>
            <p:spPr bwMode="auto">
              <a:xfrm>
                <a:off x="1350001" y="5185204"/>
                <a:ext cx="500956" cy="1432473"/>
              </a:xfrm>
              <a:custGeom>
                <a:avLst/>
                <a:gdLst>
                  <a:gd name="T0" fmla="*/ 0 w 306"/>
                  <a:gd name="T1" fmla="*/ 875 h 875"/>
                  <a:gd name="T2" fmla="*/ 224 w 306"/>
                  <a:gd name="T3" fmla="*/ 0 h 875"/>
                  <a:gd name="T4" fmla="*/ 306 w 306"/>
                  <a:gd name="T5" fmla="*/ 504 h 875"/>
                  <a:gd name="T6" fmla="*/ 0 w 306"/>
                  <a:gd name="T7" fmla="*/ 875 h 875"/>
                </a:gdLst>
                <a:ahLst/>
                <a:cxnLst>
                  <a:cxn ang="0">
                    <a:pos x="T0" y="T1"/>
                  </a:cxn>
                  <a:cxn ang="0">
                    <a:pos x="T2" y="T3"/>
                  </a:cxn>
                  <a:cxn ang="0">
                    <a:pos x="T4" y="T5"/>
                  </a:cxn>
                  <a:cxn ang="0">
                    <a:pos x="T6" y="T7"/>
                  </a:cxn>
                </a:cxnLst>
                <a:rect l="0" t="0" r="r" b="b"/>
                <a:pathLst>
                  <a:path w="306" h="875">
                    <a:moveTo>
                      <a:pt x="0" y="875"/>
                    </a:moveTo>
                    <a:lnTo>
                      <a:pt x="224" y="0"/>
                    </a:lnTo>
                    <a:lnTo>
                      <a:pt x="306" y="504"/>
                    </a:lnTo>
                    <a:lnTo>
                      <a:pt x="0" y="87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35">
                <a:extLst>
                  <a:ext uri="{FF2B5EF4-FFF2-40B4-BE49-F238E27FC236}">
                    <a16:creationId xmlns:a16="http://schemas.microsoft.com/office/drawing/2014/main" id="{A5EFA1AF-B367-49CB-B4EC-93319EB9C1EE}"/>
                  </a:ext>
                </a:extLst>
              </p:cNvPr>
              <p:cNvSpPr>
                <a:spLocks/>
              </p:cNvSpPr>
              <p:nvPr userDrawn="1"/>
            </p:nvSpPr>
            <p:spPr bwMode="auto">
              <a:xfrm>
                <a:off x="1350001" y="6010308"/>
                <a:ext cx="1425924" cy="607369"/>
              </a:xfrm>
              <a:custGeom>
                <a:avLst/>
                <a:gdLst>
                  <a:gd name="T0" fmla="*/ 0 w 871"/>
                  <a:gd name="T1" fmla="*/ 371 h 371"/>
                  <a:gd name="T2" fmla="*/ 871 w 871"/>
                  <a:gd name="T3" fmla="*/ 127 h 371"/>
                  <a:gd name="T4" fmla="*/ 306 w 871"/>
                  <a:gd name="T5" fmla="*/ 0 h 371"/>
                  <a:gd name="T6" fmla="*/ 0 w 871"/>
                  <a:gd name="T7" fmla="*/ 371 h 371"/>
                </a:gdLst>
                <a:ahLst/>
                <a:cxnLst>
                  <a:cxn ang="0">
                    <a:pos x="T0" y="T1"/>
                  </a:cxn>
                  <a:cxn ang="0">
                    <a:pos x="T2" y="T3"/>
                  </a:cxn>
                  <a:cxn ang="0">
                    <a:pos x="T4" y="T5"/>
                  </a:cxn>
                  <a:cxn ang="0">
                    <a:pos x="T6" y="T7"/>
                  </a:cxn>
                </a:cxnLst>
                <a:rect l="0" t="0" r="r" b="b"/>
                <a:pathLst>
                  <a:path w="871" h="371">
                    <a:moveTo>
                      <a:pt x="0" y="371"/>
                    </a:moveTo>
                    <a:lnTo>
                      <a:pt x="871" y="127"/>
                    </a:lnTo>
                    <a:lnTo>
                      <a:pt x="306" y="0"/>
                    </a:lnTo>
                    <a:lnTo>
                      <a:pt x="0" y="37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a:extLst>
                <a:ext uri="{FF2B5EF4-FFF2-40B4-BE49-F238E27FC236}">
                  <a16:creationId xmlns:a16="http://schemas.microsoft.com/office/drawing/2014/main" id="{459B8FC3-40F8-4320-8261-E04D3F1B857F}"/>
                </a:ext>
              </a:extLst>
            </p:cNvPr>
            <p:cNvGrpSpPr/>
            <p:nvPr userDrawn="1"/>
          </p:nvGrpSpPr>
          <p:grpSpPr>
            <a:xfrm rot="19800000">
              <a:off x="2689563" y="3277532"/>
              <a:ext cx="2301422" cy="2305825"/>
              <a:chOff x="-899390" y="4202937"/>
              <a:chExt cx="2566991" cy="2571903"/>
            </a:xfrm>
          </p:grpSpPr>
          <p:sp>
            <p:nvSpPr>
              <p:cNvPr id="28" name="Freeform 29">
                <a:extLst>
                  <a:ext uri="{FF2B5EF4-FFF2-40B4-BE49-F238E27FC236}">
                    <a16:creationId xmlns:a16="http://schemas.microsoft.com/office/drawing/2014/main" id="{0ADA7518-6DF5-4584-B719-DD59E8DA3F32}"/>
                  </a:ext>
                </a:extLst>
              </p:cNvPr>
              <p:cNvSpPr>
                <a:spLocks/>
              </p:cNvSpPr>
              <p:nvPr userDrawn="1"/>
            </p:nvSpPr>
            <p:spPr bwMode="auto">
              <a:xfrm>
                <a:off x="-899390" y="4202937"/>
                <a:ext cx="2566991" cy="2571903"/>
              </a:xfrm>
              <a:custGeom>
                <a:avLst/>
                <a:gdLst>
                  <a:gd name="T0" fmla="*/ 1156 w 1568"/>
                  <a:gd name="T1" fmla="*/ 1571 h 1571"/>
                  <a:gd name="T2" fmla="*/ 0 w 1568"/>
                  <a:gd name="T3" fmla="*/ 433 h 1571"/>
                  <a:gd name="T4" fmla="*/ 1568 w 1568"/>
                  <a:gd name="T5" fmla="*/ 0 h 1571"/>
                  <a:gd name="T6" fmla="*/ 1156 w 1568"/>
                  <a:gd name="T7" fmla="*/ 1571 h 1571"/>
                </a:gdLst>
                <a:ahLst/>
                <a:cxnLst>
                  <a:cxn ang="0">
                    <a:pos x="T0" y="T1"/>
                  </a:cxn>
                  <a:cxn ang="0">
                    <a:pos x="T2" y="T3"/>
                  </a:cxn>
                  <a:cxn ang="0">
                    <a:pos x="T4" y="T5"/>
                  </a:cxn>
                  <a:cxn ang="0">
                    <a:pos x="T6" y="T7"/>
                  </a:cxn>
                </a:cxnLst>
                <a:rect l="0" t="0" r="r" b="b"/>
                <a:pathLst>
                  <a:path w="1568" h="1571">
                    <a:moveTo>
                      <a:pt x="1156" y="1571"/>
                    </a:moveTo>
                    <a:lnTo>
                      <a:pt x="0" y="433"/>
                    </a:lnTo>
                    <a:lnTo>
                      <a:pt x="1568" y="0"/>
                    </a:lnTo>
                    <a:lnTo>
                      <a:pt x="1156" y="1571"/>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30">
                <a:extLst>
                  <a:ext uri="{FF2B5EF4-FFF2-40B4-BE49-F238E27FC236}">
                    <a16:creationId xmlns:a16="http://schemas.microsoft.com/office/drawing/2014/main" id="{D6B3F8B0-55AA-411D-89D4-850079304F2B}"/>
                  </a:ext>
                </a:extLst>
              </p:cNvPr>
              <p:cNvSpPr>
                <a:spLocks/>
              </p:cNvSpPr>
              <p:nvPr userDrawn="1"/>
            </p:nvSpPr>
            <p:spPr bwMode="auto">
              <a:xfrm>
                <a:off x="-899390" y="4911806"/>
                <a:ext cx="1892501" cy="1863033"/>
              </a:xfrm>
              <a:custGeom>
                <a:avLst/>
                <a:gdLst>
                  <a:gd name="T0" fmla="*/ 1156 w 1156"/>
                  <a:gd name="T1" fmla="*/ 1138 h 1138"/>
                  <a:gd name="T2" fmla="*/ 0 w 1156"/>
                  <a:gd name="T3" fmla="*/ 0 h 1138"/>
                  <a:gd name="T4" fmla="*/ 855 w 1156"/>
                  <a:gd name="T5" fmla="*/ 330 h 1138"/>
                  <a:gd name="T6" fmla="*/ 1156 w 1156"/>
                  <a:gd name="T7" fmla="*/ 1138 h 1138"/>
                </a:gdLst>
                <a:ahLst/>
                <a:cxnLst>
                  <a:cxn ang="0">
                    <a:pos x="T0" y="T1"/>
                  </a:cxn>
                  <a:cxn ang="0">
                    <a:pos x="T2" y="T3"/>
                  </a:cxn>
                  <a:cxn ang="0">
                    <a:pos x="T4" y="T5"/>
                  </a:cxn>
                  <a:cxn ang="0">
                    <a:pos x="T6" y="T7"/>
                  </a:cxn>
                </a:cxnLst>
                <a:rect l="0" t="0" r="r" b="b"/>
                <a:pathLst>
                  <a:path w="1156" h="1138">
                    <a:moveTo>
                      <a:pt x="1156" y="1138"/>
                    </a:moveTo>
                    <a:lnTo>
                      <a:pt x="0" y="0"/>
                    </a:lnTo>
                    <a:lnTo>
                      <a:pt x="855" y="330"/>
                    </a:lnTo>
                    <a:lnTo>
                      <a:pt x="1156" y="1138"/>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31">
                <a:extLst>
                  <a:ext uri="{FF2B5EF4-FFF2-40B4-BE49-F238E27FC236}">
                    <a16:creationId xmlns:a16="http://schemas.microsoft.com/office/drawing/2014/main" id="{CA25763A-E27B-4181-B8ED-004BFC30B31D}"/>
                  </a:ext>
                </a:extLst>
              </p:cNvPr>
              <p:cNvSpPr>
                <a:spLocks/>
              </p:cNvSpPr>
              <p:nvPr userDrawn="1"/>
            </p:nvSpPr>
            <p:spPr bwMode="auto">
              <a:xfrm>
                <a:off x="500341" y="4202937"/>
                <a:ext cx="1167260" cy="2571903"/>
              </a:xfrm>
              <a:custGeom>
                <a:avLst/>
                <a:gdLst>
                  <a:gd name="T0" fmla="*/ 301 w 713"/>
                  <a:gd name="T1" fmla="*/ 1571 h 1571"/>
                  <a:gd name="T2" fmla="*/ 713 w 713"/>
                  <a:gd name="T3" fmla="*/ 0 h 1571"/>
                  <a:gd name="T4" fmla="*/ 0 w 713"/>
                  <a:gd name="T5" fmla="*/ 763 h 1571"/>
                  <a:gd name="T6" fmla="*/ 301 w 713"/>
                  <a:gd name="T7" fmla="*/ 1571 h 1571"/>
                </a:gdLst>
                <a:ahLst/>
                <a:cxnLst>
                  <a:cxn ang="0">
                    <a:pos x="T0" y="T1"/>
                  </a:cxn>
                  <a:cxn ang="0">
                    <a:pos x="T2" y="T3"/>
                  </a:cxn>
                  <a:cxn ang="0">
                    <a:pos x="T4" y="T5"/>
                  </a:cxn>
                  <a:cxn ang="0">
                    <a:pos x="T6" y="T7"/>
                  </a:cxn>
                </a:cxnLst>
                <a:rect l="0" t="0" r="r" b="b"/>
                <a:pathLst>
                  <a:path w="713" h="1571">
                    <a:moveTo>
                      <a:pt x="301" y="1571"/>
                    </a:moveTo>
                    <a:lnTo>
                      <a:pt x="713" y="0"/>
                    </a:lnTo>
                    <a:lnTo>
                      <a:pt x="0" y="763"/>
                    </a:lnTo>
                    <a:lnTo>
                      <a:pt x="301" y="1571"/>
                    </a:ln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F79B4DE5-AEA4-4F1F-9A62-A0C87B3B6029}"/>
                </a:ext>
              </a:extLst>
            </p:cNvPr>
            <p:cNvGrpSpPr/>
            <p:nvPr userDrawn="1"/>
          </p:nvGrpSpPr>
          <p:grpSpPr>
            <a:xfrm rot="12600000">
              <a:off x="2990757" y="4894091"/>
              <a:ext cx="1689356" cy="1697115"/>
              <a:chOff x="1350001" y="5185204"/>
              <a:chExt cx="1425924" cy="1432473"/>
            </a:xfrm>
          </p:grpSpPr>
          <p:sp>
            <p:nvSpPr>
              <p:cNvPr id="25" name="Freeform 33">
                <a:extLst>
                  <a:ext uri="{FF2B5EF4-FFF2-40B4-BE49-F238E27FC236}">
                    <a16:creationId xmlns:a16="http://schemas.microsoft.com/office/drawing/2014/main" id="{003A2DFE-93DF-4FD0-923E-F322930F074C}"/>
                  </a:ext>
                </a:extLst>
              </p:cNvPr>
              <p:cNvSpPr>
                <a:spLocks/>
              </p:cNvSpPr>
              <p:nvPr userDrawn="1"/>
            </p:nvSpPr>
            <p:spPr bwMode="auto">
              <a:xfrm>
                <a:off x="1350001" y="5185204"/>
                <a:ext cx="1425924" cy="1432473"/>
              </a:xfrm>
              <a:custGeom>
                <a:avLst/>
                <a:gdLst>
                  <a:gd name="T0" fmla="*/ 0 w 871"/>
                  <a:gd name="T1" fmla="*/ 875 h 875"/>
                  <a:gd name="T2" fmla="*/ 224 w 871"/>
                  <a:gd name="T3" fmla="*/ 0 h 875"/>
                  <a:gd name="T4" fmla="*/ 871 w 871"/>
                  <a:gd name="T5" fmla="*/ 631 h 875"/>
                  <a:gd name="T6" fmla="*/ 0 w 871"/>
                  <a:gd name="T7" fmla="*/ 875 h 875"/>
                </a:gdLst>
                <a:ahLst/>
                <a:cxnLst>
                  <a:cxn ang="0">
                    <a:pos x="T0" y="T1"/>
                  </a:cxn>
                  <a:cxn ang="0">
                    <a:pos x="T2" y="T3"/>
                  </a:cxn>
                  <a:cxn ang="0">
                    <a:pos x="T4" y="T5"/>
                  </a:cxn>
                  <a:cxn ang="0">
                    <a:pos x="T6" y="T7"/>
                  </a:cxn>
                </a:cxnLst>
                <a:rect l="0" t="0" r="r" b="b"/>
                <a:pathLst>
                  <a:path w="871" h="875">
                    <a:moveTo>
                      <a:pt x="0" y="875"/>
                    </a:moveTo>
                    <a:lnTo>
                      <a:pt x="224" y="0"/>
                    </a:lnTo>
                    <a:lnTo>
                      <a:pt x="871" y="631"/>
                    </a:lnTo>
                    <a:lnTo>
                      <a:pt x="0" y="87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34">
                <a:extLst>
                  <a:ext uri="{FF2B5EF4-FFF2-40B4-BE49-F238E27FC236}">
                    <a16:creationId xmlns:a16="http://schemas.microsoft.com/office/drawing/2014/main" id="{975BD6D9-5ED6-4E6F-BA2E-E15B943C7E49}"/>
                  </a:ext>
                </a:extLst>
              </p:cNvPr>
              <p:cNvSpPr>
                <a:spLocks/>
              </p:cNvSpPr>
              <p:nvPr userDrawn="1"/>
            </p:nvSpPr>
            <p:spPr bwMode="auto">
              <a:xfrm>
                <a:off x="1350001" y="5185204"/>
                <a:ext cx="500956" cy="1432473"/>
              </a:xfrm>
              <a:custGeom>
                <a:avLst/>
                <a:gdLst>
                  <a:gd name="T0" fmla="*/ 0 w 306"/>
                  <a:gd name="T1" fmla="*/ 875 h 875"/>
                  <a:gd name="T2" fmla="*/ 224 w 306"/>
                  <a:gd name="T3" fmla="*/ 0 h 875"/>
                  <a:gd name="T4" fmla="*/ 306 w 306"/>
                  <a:gd name="T5" fmla="*/ 504 h 875"/>
                  <a:gd name="T6" fmla="*/ 0 w 306"/>
                  <a:gd name="T7" fmla="*/ 875 h 875"/>
                </a:gdLst>
                <a:ahLst/>
                <a:cxnLst>
                  <a:cxn ang="0">
                    <a:pos x="T0" y="T1"/>
                  </a:cxn>
                  <a:cxn ang="0">
                    <a:pos x="T2" y="T3"/>
                  </a:cxn>
                  <a:cxn ang="0">
                    <a:pos x="T4" y="T5"/>
                  </a:cxn>
                  <a:cxn ang="0">
                    <a:pos x="T6" y="T7"/>
                  </a:cxn>
                </a:cxnLst>
                <a:rect l="0" t="0" r="r" b="b"/>
                <a:pathLst>
                  <a:path w="306" h="875">
                    <a:moveTo>
                      <a:pt x="0" y="875"/>
                    </a:moveTo>
                    <a:lnTo>
                      <a:pt x="224" y="0"/>
                    </a:lnTo>
                    <a:lnTo>
                      <a:pt x="306" y="504"/>
                    </a:lnTo>
                    <a:lnTo>
                      <a:pt x="0" y="87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35">
                <a:extLst>
                  <a:ext uri="{FF2B5EF4-FFF2-40B4-BE49-F238E27FC236}">
                    <a16:creationId xmlns:a16="http://schemas.microsoft.com/office/drawing/2014/main" id="{BBB0879C-3085-4593-B820-B612A7B98472}"/>
                  </a:ext>
                </a:extLst>
              </p:cNvPr>
              <p:cNvSpPr>
                <a:spLocks/>
              </p:cNvSpPr>
              <p:nvPr userDrawn="1"/>
            </p:nvSpPr>
            <p:spPr bwMode="auto">
              <a:xfrm>
                <a:off x="1350001" y="6010308"/>
                <a:ext cx="1425924" cy="607369"/>
              </a:xfrm>
              <a:custGeom>
                <a:avLst/>
                <a:gdLst>
                  <a:gd name="T0" fmla="*/ 0 w 871"/>
                  <a:gd name="T1" fmla="*/ 371 h 371"/>
                  <a:gd name="T2" fmla="*/ 871 w 871"/>
                  <a:gd name="T3" fmla="*/ 127 h 371"/>
                  <a:gd name="T4" fmla="*/ 306 w 871"/>
                  <a:gd name="T5" fmla="*/ 0 h 371"/>
                  <a:gd name="T6" fmla="*/ 0 w 871"/>
                  <a:gd name="T7" fmla="*/ 371 h 371"/>
                </a:gdLst>
                <a:ahLst/>
                <a:cxnLst>
                  <a:cxn ang="0">
                    <a:pos x="T0" y="T1"/>
                  </a:cxn>
                  <a:cxn ang="0">
                    <a:pos x="T2" y="T3"/>
                  </a:cxn>
                  <a:cxn ang="0">
                    <a:pos x="T4" y="T5"/>
                  </a:cxn>
                  <a:cxn ang="0">
                    <a:pos x="T6" y="T7"/>
                  </a:cxn>
                </a:cxnLst>
                <a:rect l="0" t="0" r="r" b="b"/>
                <a:pathLst>
                  <a:path w="871" h="371">
                    <a:moveTo>
                      <a:pt x="0" y="371"/>
                    </a:moveTo>
                    <a:lnTo>
                      <a:pt x="871" y="127"/>
                    </a:lnTo>
                    <a:lnTo>
                      <a:pt x="306" y="0"/>
                    </a:lnTo>
                    <a:lnTo>
                      <a:pt x="0" y="37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1" name="任意多边形: 形状 94">
              <a:extLst>
                <a:ext uri="{FF2B5EF4-FFF2-40B4-BE49-F238E27FC236}">
                  <a16:creationId xmlns:a16="http://schemas.microsoft.com/office/drawing/2014/main" id="{0845FCBA-925F-42B0-8644-32E743140555}"/>
                </a:ext>
              </a:extLst>
            </p:cNvPr>
            <p:cNvSpPr>
              <a:spLocks/>
            </p:cNvSpPr>
            <p:nvPr userDrawn="1"/>
          </p:nvSpPr>
          <p:spPr bwMode="auto">
            <a:xfrm rot="5189261">
              <a:off x="2860960" y="6190506"/>
              <a:ext cx="631486" cy="750679"/>
            </a:xfrm>
            <a:custGeom>
              <a:avLst/>
              <a:gdLst>
                <a:gd name="connsiteX0" fmla="*/ 0 w 631486"/>
                <a:gd name="connsiteY0" fmla="*/ 174384 h 750679"/>
                <a:gd name="connsiteX1" fmla="*/ 631486 w 631486"/>
                <a:gd name="connsiteY1" fmla="*/ 0 h 750679"/>
                <a:gd name="connsiteX2" fmla="*/ 585410 w 631486"/>
                <a:gd name="connsiteY2" fmla="*/ 750679 h 750679"/>
              </a:gdLst>
              <a:ahLst/>
              <a:cxnLst>
                <a:cxn ang="0">
                  <a:pos x="connsiteX0" y="connsiteY0"/>
                </a:cxn>
                <a:cxn ang="0">
                  <a:pos x="connsiteX1" y="connsiteY1"/>
                </a:cxn>
                <a:cxn ang="0">
                  <a:pos x="connsiteX2" y="connsiteY2"/>
                </a:cxn>
              </a:cxnLst>
              <a:rect l="l" t="t" r="r" b="b"/>
              <a:pathLst>
                <a:path w="631486" h="750679">
                  <a:moveTo>
                    <a:pt x="0" y="174384"/>
                  </a:moveTo>
                  <a:lnTo>
                    <a:pt x="631486" y="0"/>
                  </a:lnTo>
                  <a:lnTo>
                    <a:pt x="585410" y="750679"/>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2" name="任意多边形: 形状 91">
              <a:extLst>
                <a:ext uri="{FF2B5EF4-FFF2-40B4-BE49-F238E27FC236}">
                  <a16:creationId xmlns:a16="http://schemas.microsoft.com/office/drawing/2014/main" id="{C4B29FC2-D183-470F-AAFE-76EA9D0BF6BE}"/>
                </a:ext>
              </a:extLst>
            </p:cNvPr>
            <p:cNvSpPr>
              <a:spLocks/>
            </p:cNvSpPr>
            <p:nvPr userDrawn="1"/>
          </p:nvSpPr>
          <p:spPr bwMode="auto">
            <a:xfrm rot="5189261">
              <a:off x="2785699" y="6270528"/>
              <a:ext cx="606416" cy="576295"/>
            </a:xfrm>
            <a:custGeom>
              <a:avLst/>
              <a:gdLst>
                <a:gd name="connsiteX0" fmla="*/ 0 w 606416"/>
                <a:gd name="connsiteY0" fmla="*/ 0 h 576295"/>
                <a:gd name="connsiteX1" fmla="*/ 606416 w 606416"/>
                <a:gd name="connsiteY1" fmla="*/ 234055 h 576295"/>
                <a:gd name="connsiteX2" fmla="*/ 585410 w 606416"/>
                <a:gd name="connsiteY2" fmla="*/ 576295 h 576295"/>
              </a:gdLst>
              <a:ahLst/>
              <a:cxnLst>
                <a:cxn ang="0">
                  <a:pos x="connsiteX0" y="connsiteY0"/>
                </a:cxn>
                <a:cxn ang="0">
                  <a:pos x="connsiteX1" y="connsiteY1"/>
                </a:cxn>
                <a:cxn ang="0">
                  <a:pos x="connsiteX2" y="connsiteY2"/>
                </a:cxn>
              </a:cxnLst>
              <a:rect l="l" t="t" r="r" b="b"/>
              <a:pathLst>
                <a:path w="606416" h="576295">
                  <a:moveTo>
                    <a:pt x="0" y="0"/>
                  </a:moveTo>
                  <a:lnTo>
                    <a:pt x="606416" y="234055"/>
                  </a:lnTo>
                  <a:lnTo>
                    <a:pt x="585410" y="576295"/>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3" name="任意多边形: 形状 90">
              <a:extLst>
                <a:ext uri="{FF2B5EF4-FFF2-40B4-BE49-F238E27FC236}">
                  <a16:creationId xmlns:a16="http://schemas.microsoft.com/office/drawing/2014/main" id="{B8325B1A-E382-4FD1-AEF6-5A10C1B01511}"/>
                </a:ext>
              </a:extLst>
            </p:cNvPr>
            <p:cNvSpPr>
              <a:spLocks/>
            </p:cNvSpPr>
            <p:nvPr userDrawn="1"/>
          </p:nvSpPr>
          <p:spPr bwMode="auto">
            <a:xfrm rot="14413077">
              <a:off x="2085024" y="6535142"/>
              <a:ext cx="233740" cy="420980"/>
            </a:xfrm>
            <a:custGeom>
              <a:avLst/>
              <a:gdLst>
                <a:gd name="connsiteX0" fmla="*/ 233740 w 233740"/>
                <a:gd name="connsiteY0" fmla="*/ 420980 h 420980"/>
                <a:gd name="connsiteX1" fmla="*/ 0 w 233740"/>
                <a:gd name="connsiteY1" fmla="*/ 188477 h 420980"/>
                <a:gd name="connsiteX2" fmla="*/ 107863 w 233740"/>
                <a:gd name="connsiteY2" fmla="*/ 0 h 420980"/>
              </a:gdLst>
              <a:ahLst/>
              <a:cxnLst>
                <a:cxn ang="0">
                  <a:pos x="connsiteX0" y="connsiteY0"/>
                </a:cxn>
                <a:cxn ang="0">
                  <a:pos x="connsiteX1" y="connsiteY1"/>
                </a:cxn>
                <a:cxn ang="0">
                  <a:pos x="connsiteX2" y="connsiteY2"/>
                </a:cxn>
              </a:cxnLst>
              <a:rect l="l" t="t" r="r" b="b"/>
              <a:pathLst>
                <a:path w="233740" h="420980">
                  <a:moveTo>
                    <a:pt x="233740" y="420980"/>
                  </a:moveTo>
                  <a:lnTo>
                    <a:pt x="0" y="188477"/>
                  </a:lnTo>
                  <a:lnTo>
                    <a:pt x="107863" y="0"/>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 name="任意多边形: 形状 88">
              <a:extLst>
                <a:ext uri="{FF2B5EF4-FFF2-40B4-BE49-F238E27FC236}">
                  <a16:creationId xmlns:a16="http://schemas.microsoft.com/office/drawing/2014/main" id="{7AA8B293-6946-40C9-8DC5-F1CED6F06F6E}"/>
                </a:ext>
              </a:extLst>
            </p:cNvPr>
            <p:cNvSpPr>
              <a:spLocks/>
            </p:cNvSpPr>
            <p:nvPr userDrawn="1"/>
          </p:nvSpPr>
          <p:spPr bwMode="auto">
            <a:xfrm rot="14413077">
              <a:off x="1603089" y="6193125"/>
              <a:ext cx="417400" cy="1091355"/>
            </a:xfrm>
            <a:custGeom>
              <a:avLst/>
              <a:gdLst>
                <a:gd name="connsiteX0" fmla="*/ 125877 w 417400"/>
                <a:gd name="connsiteY0" fmla="*/ 1091355 h 1091355"/>
                <a:gd name="connsiteX1" fmla="*/ 0 w 417400"/>
                <a:gd name="connsiteY1" fmla="*/ 670375 h 1091355"/>
                <a:gd name="connsiteX2" fmla="*/ 355536 w 417400"/>
                <a:gd name="connsiteY2" fmla="*/ 49124 h 1091355"/>
                <a:gd name="connsiteX3" fmla="*/ 417400 w 417400"/>
                <a:gd name="connsiteY3" fmla="*/ 0 h 1091355"/>
              </a:gdLst>
              <a:ahLst/>
              <a:cxnLst>
                <a:cxn ang="0">
                  <a:pos x="connsiteX0" y="connsiteY0"/>
                </a:cxn>
                <a:cxn ang="0">
                  <a:pos x="connsiteX1" y="connsiteY1"/>
                </a:cxn>
                <a:cxn ang="0">
                  <a:pos x="connsiteX2" y="connsiteY2"/>
                </a:cxn>
                <a:cxn ang="0">
                  <a:pos x="connsiteX3" y="connsiteY3"/>
                </a:cxn>
              </a:cxnLst>
              <a:rect l="l" t="t" r="r" b="b"/>
              <a:pathLst>
                <a:path w="417400" h="1091355">
                  <a:moveTo>
                    <a:pt x="125877" y="1091355"/>
                  </a:moveTo>
                  <a:lnTo>
                    <a:pt x="0" y="670375"/>
                  </a:lnTo>
                  <a:lnTo>
                    <a:pt x="355536" y="49124"/>
                  </a:lnTo>
                  <a:lnTo>
                    <a:pt x="41740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37" name="组合 36">
            <a:extLst>
              <a:ext uri="{FF2B5EF4-FFF2-40B4-BE49-F238E27FC236}">
                <a16:creationId xmlns:a16="http://schemas.microsoft.com/office/drawing/2014/main" id="{C9A282B9-3374-41E6-AC2D-7784354EFF5A}"/>
              </a:ext>
            </a:extLst>
          </p:cNvPr>
          <p:cNvGrpSpPr/>
          <p:nvPr userDrawn="1"/>
        </p:nvGrpSpPr>
        <p:grpSpPr>
          <a:xfrm>
            <a:off x="9774834" y="941392"/>
            <a:ext cx="2417166" cy="3285611"/>
            <a:chOff x="9774834" y="0"/>
            <a:chExt cx="2417166" cy="3285611"/>
          </a:xfrm>
        </p:grpSpPr>
        <p:sp>
          <p:nvSpPr>
            <p:cNvPr id="38" name="任意多边形: 形状 138">
              <a:extLst>
                <a:ext uri="{FF2B5EF4-FFF2-40B4-BE49-F238E27FC236}">
                  <a16:creationId xmlns:a16="http://schemas.microsoft.com/office/drawing/2014/main" id="{50261AD0-962D-480B-B039-48A3CF72EF02}"/>
                </a:ext>
              </a:extLst>
            </p:cNvPr>
            <p:cNvSpPr/>
            <p:nvPr/>
          </p:nvSpPr>
          <p:spPr>
            <a:xfrm>
              <a:off x="10569108" y="287512"/>
              <a:ext cx="1622892" cy="2444653"/>
            </a:xfrm>
            <a:custGeom>
              <a:avLst/>
              <a:gdLst>
                <a:gd name="connsiteX0" fmla="*/ 652542 w 1622892"/>
                <a:gd name="connsiteY0" fmla="*/ 0 h 2444653"/>
                <a:gd name="connsiteX1" fmla="*/ 1622892 w 1622892"/>
                <a:gd name="connsiteY1" fmla="*/ 968289 h 2444653"/>
                <a:gd name="connsiteX2" fmla="*/ 1622892 w 1622892"/>
                <a:gd name="connsiteY2" fmla="*/ 2008935 h 2444653"/>
                <a:gd name="connsiteX3" fmla="*/ 0 w 1622892"/>
                <a:gd name="connsiteY3" fmla="*/ 2444653 h 2444653"/>
              </a:gdLst>
              <a:ahLst/>
              <a:cxnLst>
                <a:cxn ang="0">
                  <a:pos x="connsiteX0" y="connsiteY0"/>
                </a:cxn>
                <a:cxn ang="0">
                  <a:pos x="connsiteX1" y="connsiteY1"/>
                </a:cxn>
                <a:cxn ang="0">
                  <a:pos x="connsiteX2" y="connsiteY2"/>
                </a:cxn>
                <a:cxn ang="0">
                  <a:pos x="connsiteX3" y="connsiteY3"/>
                </a:cxn>
              </a:cxnLst>
              <a:rect l="l" t="t" r="r" b="b"/>
              <a:pathLst>
                <a:path w="1622892" h="2444653">
                  <a:moveTo>
                    <a:pt x="652542" y="0"/>
                  </a:moveTo>
                  <a:lnTo>
                    <a:pt x="1622892" y="968289"/>
                  </a:lnTo>
                  <a:lnTo>
                    <a:pt x="1622892" y="2008935"/>
                  </a:lnTo>
                  <a:lnTo>
                    <a:pt x="0" y="2444653"/>
                  </a:lnTo>
                  <a:close/>
                </a:path>
              </a:pathLst>
            </a:custGeom>
            <a:solidFill>
              <a:srgbClr val="B4B4B4"/>
            </a:solidFill>
            <a:ln w="9525" cap="flat">
              <a:noFill/>
              <a:prstDash val="solid"/>
              <a:miter/>
            </a:ln>
          </p:spPr>
          <p:txBody>
            <a:bodyPr rtlCol="0" anchor="ctr"/>
            <a:lstStyle/>
            <a:p>
              <a:endParaRPr lang="zh-CN" altLang="en-US"/>
            </a:p>
          </p:txBody>
        </p:sp>
        <p:sp>
          <p:nvSpPr>
            <p:cNvPr id="39" name="任意多边形: 形状 139">
              <a:extLst>
                <a:ext uri="{FF2B5EF4-FFF2-40B4-BE49-F238E27FC236}">
                  <a16:creationId xmlns:a16="http://schemas.microsoft.com/office/drawing/2014/main" id="{DF9E2CDB-F747-4283-B9FD-0DA2015F4517}"/>
                </a:ext>
              </a:extLst>
            </p:cNvPr>
            <p:cNvSpPr/>
            <p:nvPr/>
          </p:nvSpPr>
          <p:spPr>
            <a:xfrm>
              <a:off x="10569108" y="1843720"/>
              <a:ext cx="1622892" cy="888447"/>
            </a:xfrm>
            <a:custGeom>
              <a:avLst/>
              <a:gdLst>
                <a:gd name="connsiteX0" fmla="*/ 1114838 w 1622892"/>
                <a:gd name="connsiteY0" fmla="*/ 0 h 888447"/>
                <a:gd name="connsiteX1" fmla="*/ 1622892 w 1622892"/>
                <a:gd name="connsiteY1" fmla="*/ 88674 h 888447"/>
                <a:gd name="connsiteX2" fmla="*/ 1622892 w 1622892"/>
                <a:gd name="connsiteY2" fmla="*/ 452729 h 888447"/>
                <a:gd name="connsiteX3" fmla="*/ 0 w 1622892"/>
                <a:gd name="connsiteY3" fmla="*/ 888447 h 888447"/>
              </a:gdLst>
              <a:ahLst/>
              <a:cxnLst>
                <a:cxn ang="0">
                  <a:pos x="connsiteX0" y="connsiteY0"/>
                </a:cxn>
                <a:cxn ang="0">
                  <a:pos x="connsiteX1" y="connsiteY1"/>
                </a:cxn>
                <a:cxn ang="0">
                  <a:pos x="connsiteX2" y="connsiteY2"/>
                </a:cxn>
                <a:cxn ang="0">
                  <a:pos x="connsiteX3" y="connsiteY3"/>
                </a:cxn>
              </a:cxnLst>
              <a:rect l="l" t="t" r="r" b="b"/>
              <a:pathLst>
                <a:path w="1622892" h="888447">
                  <a:moveTo>
                    <a:pt x="1114838" y="0"/>
                  </a:moveTo>
                  <a:lnTo>
                    <a:pt x="1622892" y="88674"/>
                  </a:lnTo>
                  <a:lnTo>
                    <a:pt x="1622892" y="452729"/>
                  </a:lnTo>
                  <a:lnTo>
                    <a:pt x="0" y="888447"/>
                  </a:lnTo>
                  <a:close/>
                </a:path>
              </a:pathLst>
            </a:custGeom>
            <a:solidFill>
              <a:srgbClr val="D8D8D8"/>
            </a:solidFill>
            <a:ln w="9525" cap="flat">
              <a:noFill/>
              <a:prstDash val="solid"/>
              <a:miter/>
            </a:ln>
          </p:spPr>
          <p:txBody>
            <a:bodyPr rtlCol="0" anchor="ctr"/>
            <a:lstStyle/>
            <a:p>
              <a:endParaRPr lang="zh-CN" altLang="en-US"/>
            </a:p>
          </p:txBody>
        </p:sp>
        <p:sp>
          <p:nvSpPr>
            <p:cNvPr id="40" name="任意多边形: 形状 137">
              <a:extLst>
                <a:ext uri="{FF2B5EF4-FFF2-40B4-BE49-F238E27FC236}">
                  <a16:creationId xmlns:a16="http://schemas.microsoft.com/office/drawing/2014/main" id="{FBE8ED51-4463-4D5A-93B0-85FA65C21F09}"/>
                </a:ext>
              </a:extLst>
            </p:cNvPr>
            <p:cNvSpPr/>
            <p:nvPr/>
          </p:nvSpPr>
          <p:spPr>
            <a:xfrm>
              <a:off x="11221649" y="287512"/>
              <a:ext cx="970351" cy="1644881"/>
            </a:xfrm>
            <a:custGeom>
              <a:avLst/>
              <a:gdLst>
                <a:gd name="connsiteX0" fmla="*/ 0 w 970351"/>
                <a:gd name="connsiteY0" fmla="*/ 0 h 1644881"/>
                <a:gd name="connsiteX1" fmla="*/ 970351 w 970351"/>
                <a:gd name="connsiteY1" fmla="*/ 968290 h 1644881"/>
                <a:gd name="connsiteX2" fmla="*/ 970351 w 970351"/>
                <a:gd name="connsiteY2" fmla="*/ 1644881 h 1644881"/>
                <a:gd name="connsiteX3" fmla="*/ 462297 w 970351"/>
                <a:gd name="connsiteY3" fmla="*/ 1556208 h 1644881"/>
              </a:gdLst>
              <a:ahLst/>
              <a:cxnLst>
                <a:cxn ang="0">
                  <a:pos x="connsiteX0" y="connsiteY0"/>
                </a:cxn>
                <a:cxn ang="0">
                  <a:pos x="connsiteX1" y="connsiteY1"/>
                </a:cxn>
                <a:cxn ang="0">
                  <a:pos x="connsiteX2" y="connsiteY2"/>
                </a:cxn>
                <a:cxn ang="0">
                  <a:pos x="connsiteX3" y="connsiteY3"/>
                </a:cxn>
              </a:cxnLst>
              <a:rect l="l" t="t" r="r" b="b"/>
              <a:pathLst>
                <a:path w="970351" h="1644881">
                  <a:moveTo>
                    <a:pt x="0" y="0"/>
                  </a:moveTo>
                  <a:lnTo>
                    <a:pt x="970351" y="968290"/>
                  </a:lnTo>
                  <a:lnTo>
                    <a:pt x="970351" y="1644881"/>
                  </a:lnTo>
                  <a:lnTo>
                    <a:pt x="462297" y="1556208"/>
                  </a:lnTo>
                  <a:close/>
                </a:path>
              </a:pathLst>
            </a:custGeom>
            <a:solidFill>
              <a:srgbClr val="F0F0F0"/>
            </a:solidFill>
            <a:ln w="9525" cap="flat">
              <a:noFill/>
              <a:prstDash val="solid"/>
              <a:miter/>
            </a:ln>
          </p:spPr>
          <p:txBody>
            <a:bodyPr rtlCol="0" anchor="ctr"/>
            <a:lstStyle/>
            <a:p>
              <a:endParaRPr lang="zh-CN" altLang="en-US"/>
            </a:p>
          </p:txBody>
        </p:sp>
        <p:sp>
          <p:nvSpPr>
            <p:cNvPr id="41" name="任意多边形: 形状 9819">
              <a:extLst>
                <a:ext uri="{FF2B5EF4-FFF2-40B4-BE49-F238E27FC236}">
                  <a16:creationId xmlns:a16="http://schemas.microsoft.com/office/drawing/2014/main" id="{F341B9C7-FEFA-463D-82DE-D1042A71D192}"/>
                </a:ext>
              </a:extLst>
            </p:cNvPr>
            <p:cNvSpPr/>
            <p:nvPr/>
          </p:nvSpPr>
          <p:spPr>
            <a:xfrm>
              <a:off x="9774834" y="22121"/>
              <a:ext cx="1483914" cy="1483913"/>
            </a:xfrm>
            <a:custGeom>
              <a:avLst/>
              <a:gdLst>
                <a:gd name="connsiteX0" fmla="*/ 14268 w 1483913"/>
                <a:gd name="connsiteY0" fmla="*/ 398564 h 1483913"/>
                <a:gd name="connsiteX1" fmla="*/ 1479158 w 1483913"/>
                <a:gd name="connsiteY1" fmla="*/ 14268 h 1483913"/>
                <a:gd name="connsiteX2" fmla="*/ 1079642 w 1483913"/>
                <a:gd name="connsiteY2" fmla="*/ 1475353 h 1483913"/>
              </a:gdLst>
              <a:ahLst/>
              <a:cxnLst>
                <a:cxn ang="0">
                  <a:pos x="connsiteX0" y="connsiteY0"/>
                </a:cxn>
                <a:cxn ang="0">
                  <a:pos x="connsiteX1" y="connsiteY1"/>
                </a:cxn>
                <a:cxn ang="0">
                  <a:pos x="connsiteX2" y="connsiteY2"/>
                </a:cxn>
              </a:cxnLst>
              <a:rect l="l" t="t" r="r" b="b"/>
              <a:pathLst>
                <a:path w="1483913" h="1483913">
                  <a:moveTo>
                    <a:pt x="14268" y="398564"/>
                  </a:moveTo>
                  <a:lnTo>
                    <a:pt x="1479158" y="14268"/>
                  </a:lnTo>
                  <a:lnTo>
                    <a:pt x="1079642" y="1475353"/>
                  </a:lnTo>
                  <a:close/>
                </a:path>
              </a:pathLst>
            </a:custGeom>
            <a:solidFill>
              <a:srgbClr val="B4B4B4"/>
            </a:solidFill>
            <a:ln w="9525" cap="flat">
              <a:noFill/>
              <a:prstDash val="solid"/>
              <a:miter/>
            </a:ln>
          </p:spPr>
          <p:txBody>
            <a:bodyPr rtlCol="0" anchor="ctr"/>
            <a:lstStyle/>
            <a:p>
              <a:endParaRPr lang="zh-CN" altLang="en-US"/>
            </a:p>
          </p:txBody>
        </p:sp>
        <p:sp>
          <p:nvSpPr>
            <p:cNvPr id="42" name="任意多边形: 形状 9820">
              <a:extLst>
                <a:ext uri="{FF2B5EF4-FFF2-40B4-BE49-F238E27FC236}">
                  <a16:creationId xmlns:a16="http://schemas.microsoft.com/office/drawing/2014/main" id="{9878DE74-3C47-4F64-BD72-CAD242D68E5F}"/>
                </a:ext>
              </a:extLst>
            </p:cNvPr>
            <p:cNvSpPr/>
            <p:nvPr/>
          </p:nvSpPr>
          <p:spPr>
            <a:xfrm>
              <a:off x="9774834" y="22121"/>
              <a:ext cx="1483914" cy="551711"/>
            </a:xfrm>
            <a:custGeom>
              <a:avLst/>
              <a:gdLst>
                <a:gd name="connsiteX0" fmla="*/ 14268 w 1483913"/>
                <a:gd name="connsiteY0" fmla="*/ 398564 h 551711"/>
                <a:gd name="connsiteX1" fmla="*/ 1479158 w 1483913"/>
                <a:gd name="connsiteY1" fmla="*/ 14268 h 551711"/>
                <a:gd name="connsiteX2" fmla="*/ 809494 w 1483913"/>
                <a:gd name="connsiteY2" fmla="*/ 541248 h 551711"/>
              </a:gdLst>
              <a:ahLst/>
              <a:cxnLst>
                <a:cxn ang="0">
                  <a:pos x="connsiteX0" y="connsiteY0"/>
                </a:cxn>
                <a:cxn ang="0">
                  <a:pos x="connsiteX1" y="connsiteY1"/>
                </a:cxn>
                <a:cxn ang="0">
                  <a:pos x="connsiteX2" y="connsiteY2"/>
                </a:cxn>
              </a:cxnLst>
              <a:rect l="l" t="t" r="r" b="b"/>
              <a:pathLst>
                <a:path w="1483913" h="551711">
                  <a:moveTo>
                    <a:pt x="14268" y="398564"/>
                  </a:moveTo>
                  <a:lnTo>
                    <a:pt x="1479158" y="14268"/>
                  </a:lnTo>
                  <a:lnTo>
                    <a:pt x="809494" y="541248"/>
                  </a:lnTo>
                  <a:close/>
                </a:path>
              </a:pathLst>
            </a:custGeom>
            <a:solidFill>
              <a:srgbClr val="F0F0F0"/>
            </a:solidFill>
            <a:ln w="9525" cap="flat">
              <a:noFill/>
              <a:prstDash val="solid"/>
              <a:miter/>
            </a:ln>
          </p:spPr>
          <p:txBody>
            <a:bodyPr rtlCol="0" anchor="ctr"/>
            <a:lstStyle/>
            <a:p>
              <a:endParaRPr lang="zh-CN" altLang="en-US"/>
            </a:p>
          </p:txBody>
        </p:sp>
        <p:sp>
          <p:nvSpPr>
            <p:cNvPr id="43" name="任意多边形: 形状 9822">
              <a:extLst>
                <a:ext uri="{FF2B5EF4-FFF2-40B4-BE49-F238E27FC236}">
                  <a16:creationId xmlns:a16="http://schemas.microsoft.com/office/drawing/2014/main" id="{B0812A02-7B92-4DEA-9683-82A1B285267D}"/>
                </a:ext>
              </a:extLst>
            </p:cNvPr>
            <p:cNvSpPr/>
            <p:nvPr/>
          </p:nvSpPr>
          <p:spPr>
            <a:xfrm>
              <a:off x="10570059" y="22121"/>
              <a:ext cx="684883" cy="1483913"/>
            </a:xfrm>
            <a:custGeom>
              <a:avLst/>
              <a:gdLst>
                <a:gd name="connsiteX0" fmla="*/ 284417 w 684883"/>
                <a:gd name="connsiteY0" fmla="*/ 1475353 h 1483913"/>
                <a:gd name="connsiteX1" fmla="*/ 683932 w 684883"/>
                <a:gd name="connsiteY1" fmla="*/ 14268 h 1483913"/>
                <a:gd name="connsiteX2" fmla="*/ 14268 w 684883"/>
                <a:gd name="connsiteY2" fmla="*/ 541248 h 1483913"/>
              </a:gdLst>
              <a:ahLst/>
              <a:cxnLst>
                <a:cxn ang="0">
                  <a:pos x="connsiteX0" y="connsiteY0"/>
                </a:cxn>
                <a:cxn ang="0">
                  <a:pos x="connsiteX1" y="connsiteY1"/>
                </a:cxn>
                <a:cxn ang="0">
                  <a:pos x="connsiteX2" y="connsiteY2"/>
                </a:cxn>
              </a:cxnLst>
              <a:rect l="l" t="t" r="r" b="b"/>
              <a:pathLst>
                <a:path w="684883" h="1483913">
                  <a:moveTo>
                    <a:pt x="284417" y="1475353"/>
                  </a:moveTo>
                  <a:lnTo>
                    <a:pt x="683932" y="14268"/>
                  </a:lnTo>
                  <a:lnTo>
                    <a:pt x="14268" y="541248"/>
                  </a:lnTo>
                  <a:close/>
                </a:path>
              </a:pathLst>
            </a:custGeom>
            <a:solidFill>
              <a:srgbClr val="D8D8D8"/>
            </a:solidFill>
            <a:ln w="9525" cap="flat">
              <a:noFill/>
              <a:prstDash val="solid"/>
              <a:miter/>
            </a:ln>
          </p:spPr>
          <p:txBody>
            <a:bodyPr rtlCol="0" anchor="ctr"/>
            <a:lstStyle/>
            <a:p>
              <a:endParaRPr lang="zh-CN" altLang="en-US"/>
            </a:p>
          </p:txBody>
        </p:sp>
        <p:sp>
          <p:nvSpPr>
            <p:cNvPr id="44" name="任意多边形: 形状 31">
              <a:extLst>
                <a:ext uri="{FF2B5EF4-FFF2-40B4-BE49-F238E27FC236}">
                  <a16:creationId xmlns:a16="http://schemas.microsoft.com/office/drawing/2014/main" id="{62213F4B-3D8F-4CE2-9902-6D9838165829}"/>
                </a:ext>
              </a:extLst>
            </p:cNvPr>
            <p:cNvSpPr/>
            <p:nvPr/>
          </p:nvSpPr>
          <p:spPr>
            <a:xfrm>
              <a:off x="11255993" y="2353409"/>
              <a:ext cx="932202" cy="932202"/>
            </a:xfrm>
            <a:custGeom>
              <a:avLst/>
              <a:gdLst>
                <a:gd name="connsiteX0" fmla="*/ 687737 w 932202"/>
                <a:gd name="connsiteY0" fmla="*/ 933153 h 932202"/>
                <a:gd name="connsiteX1" fmla="*/ 14268 w 932202"/>
                <a:gd name="connsiteY1" fmla="*/ 261587 h 932202"/>
                <a:gd name="connsiteX2" fmla="*/ 933154 w 932202"/>
                <a:gd name="connsiteY2" fmla="*/ 14268 h 932202"/>
              </a:gdLst>
              <a:ahLst/>
              <a:cxnLst>
                <a:cxn ang="0">
                  <a:pos x="connsiteX0" y="connsiteY0"/>
                </a:cxn>
                <a:cxn ang="0">
                  <a:pos x="connsiteX1" y="connsiteY1"/>
                </a:cxn>
                <a:cxn ang="0">
                  <a:pos x="connsiteX2" y="connsiteY2"/>
                </a:cxn>
              </a:cxnLst>
              <a:rect l="l" t="t" r="r" b="b"/>
              <a:pathLst>
                <a:path w="932202" h="932202">
                  <a:moveTo>
                    <a:pt x="687737" y="933153"/>
                  </a:moveTo>
                  <a:lnTo>
                    <a:pt x="14268" y="261587"/>
                  </a:lnTo>
                  <a:lnTo>
                    <a:pt x="933154" y="14268"/>
                  </a:lnTo>
                  <a:close/>
                </a:path>
              </a:pathLst>
            </a:custGeom>
            <a:solidFill>
              <a:srgbClr val="B4B4B4"/>
            </a:solidFill>
            <a:ln w="9525" cap="flat">
              <a:noFill/>
              <a:prstDash val="solid"/>
              <a:miter/>
            </a:ln>
          </p:spPr>
          <p:txBody>
            <a:bodyPr rtlCol="0" anchor="ctr"/>
            <a:lstStyle/>
            <a:p>
              <a:endParaRPr lang="zh-CN" altLang="en-US"/>
            </a:p>
          </p:txBody>
        </p:sp>
        <p:sp>
          <p:nvSpPr>
            <p:cNvPr id="45" name="任意多边形: 形状 32">
              <a:extLst>
                <a:ext uri="{FF2B5EF4-FFF2-40B4-BE49-F238E27FC236}">
                  <a16:creationId xmlns:a16="http://schemas.microsoft.com/office/drawing/2014/main" id="{48E3B64C-E8DE-46B2-B215-E9A88A283AEF}"/>
                </a:ext>
              </a:extLst>
            </p:cNvPr>
            <p:cNvSpPr/>
            <p:nvPr/>
          </p:nvSpPr>
          <p:spPr>
            <a:xfrm>
              <a:off x="11255993" y="2600728"/>
              <a:ext cx="684883" cy="684883"/>
            </a:xfrm>
            <a:custGeom>
              <a:avLst/>
              <a:gdLst>
                <a:gd name="connsiteX0" fmla="*/ 687737 w 684883"/>
                <a:gd name="connsiteY0" fmla="*/ 685834 h 684883"/>
                <a:gd name="connsiteX1" fmla="*/ 14268 w 684883"/>
                <a:gd name="connsiteY1" fmla="*/ 14268 h 684883"/>
                <a:gd name="connsiteX2" fmla="*/ 512711 w 684883"/>
                <a:gd name="connsiteY2" fmla="*/ 210221 h 684883"/>
              </a:gdLst>
              <a:ahLst/>
              <a:cxnLst>
                <a:cxn ang="0">
                  <a:pos x="connsiteX0" y="connsiteY0"/>
                </a:cxn>
                <a:cxn ang="0">
                  <a:pos x="connsiteX1" y="connsiteY1"/>
                </a:cxn>
                <a:cxn ang="0">
                  <a:pos x="connsiteX2" y="connsiteY2"/>
                </a:cxn>
              </a:cxnLst>
              <a:rect l="l" t="t" r="r" b="b"/>
              <a:pathLst>
                <a:path w="684883" h="684883">
                  <a:moveTo>
                    <a:pt x="687737" y="685834"/>
                  </a:moveTo>
                  <a:lnTo>
                    <a:pt x="14268" y="14268"/>
                  </a:lnTo>
                  <a:lnTo>
                    <a:pt x="512711" y="210221"/>
                  </a:lnTo>
                  <a:close/>
                </a:path>
              </a:pathLst>
            </a:custGeom>
            <a:solidFill>
              <a:srgbClr val="F0F0F0"/>
            </a:solidFill>
            <a:ln w="9525" cap="flat">
              <a:noFill/>
              <a:prstDash val="solid"/>
              <a:miter/>
            </a:ln>
          </p:spPr>
          <p:txBody>
            <a:bodyPr rtlCol="0" anchor="ctr"/>
            <a:lstStyle/>
            <a:p>
              <a:endParaRPr lang="zh-CN" altLang="en-US"/>
            </a:p>
          </p:txBody>
        </p:sp>
        <p:sp>
          <p:nvSpPr>
            <p:cNvPr id="46" name="任意多边形: 形状 33">
              <a:extLst>
                <a:ext uri="{FF2B5EF4-FFF2-40B4-BE49-F238E27FC236}">
                  <a16:creationId xmlns:a16="http://schemas.microsoft.com/office/drawing/2014/main" id="{927F048F-3C99-4074-9A69-F88460B27E30}"/>
                </a:ext>
              </a:extLst>
            </p:cNvPr>
            <p:cNvSpPr/>
            <p:nvPr/>
          </p:nvSpPr>
          <p:spPr>
            <a:xfrm>
              <a:off x="11754436" y="2353409"/>
              <a:ext cx="437564" cy="932202"/>
            </a:xfrm>
            <a:custGeom>
              <a:avLst/>
              <a:gdLst>
                <a:gd name="connsiteX0" fmla="*/ 189294 w 437564"/>
                <a:gd name="connsiteY0" fmla="*/ 933153 h 932202"/>
                <a:gd name="connsiteX1" fmla="*/ 434711 w 437564"/>
                <a:gd name="connsiteY1" fmla="*/ 14268 h 932202"/>
                <a:gd name="connsiteX2" fmla="*/ 14268 w 437564"/>
                <a:gd name="connsiteY2" fmla="*/ 457540 h 932202"/>
              </a:gdLst>
              <a:ahLst/>
              <a:cxnLst>
                <a:cxn ang="0">
                  <a:pos x="connsiteX0" y="connsiteY0"/>
                </a:cxn>
                <a:cxn ang="0">
                  <a:pos x="connsiteX1" y="connsiteY1"/>
                </a:cxn>
                <a:cxn ang="0">
                  <a:pos x="connsiteX2" y="connsiteY2"/>
                </a:cxn>
              </a:cxnLst>
              <a:rect l="l" t="t" r="r" b="b"/>
              <a:pathLst>
                <a:path w="437564" h="932202">
                  <a:moveTo>
                    <a:pt x="189294" y="933153"/>
                  </a:moveTo>
                  <a:lnTo>
                    <a:pt x="434711" y="14268"/>
                  </a:lnTo>
                  <a:lnTo>
                    <a:pt x="14268" y="457540"/>
                  </a:lnTo>
                  <a:close/>
                </a:path>
              </a:pathLst>
            </a:custGeom>
            <a:solidFill>
              <a:srgbClr val="D8D8D8"/>
            </a:solidFill>
            <a:ln w="9525" cap="flat">
              <a:noFill/>
              <a:prstDash val="solid"/>
              <a:miter/>
            </a:ln>
          </p:spPr>
          <p:txBody>
            <a:bodyPr rtlCol="0" anchor="ctr"/>
            <a:lstStyle/>
            <a:p>
              <a:endParaRPr lang="zh-CN" altLang="en-US"/>
            </a:p>
          </p:txBody>
        </p:sp>
        <p:sp>
          <p:nvSpPr>
            <p:cNvPr id="47" name="任意多边形: 形状 130">
              <a:extLst>
                <a:ext uri="{FF2B5EF4-FFF2-40B4-BE49-F238E27FC236}">
                  <a16:creationId xmlns:a16="http://schemas.microsoft.com/office/drawing/2014/main" id="{74D9498E-2BA6-44E4-B3FB-A6DA8DBFE96D}"/>
                </a:ext>
              </a:extLst>
            </p:cNvPr>
            <p:cNvSpPr/>
            <p:nvPr/>
          </p:nvSpPr>
          <p:spPr>
            <a:xfrm>
              <a:off x="11231161" y="0"/>
              <a:ext cx="236678" cy="251368"/>
            </a:xfrm>
            <a:custGeom>
              <a:avLst/>
              <a:gdLst>
                <a:gd name="connsiteX0" fmla="*/ 65797 w 236678"/>
                <a:gd name="connsiteY0" fmla="*/ 0 h 251368"/>
                <a:gd name="connsiteX1" fmla="*/ 236678 w 236678"/>
                <a:gd name="connsiteY1" fmla="*/ 0 h 251368"/>
                <a:gd name="connsiteX2" fmla="*/ 0 w 236678"/>
                <a:gd name="connsiteY2" fmla="*/ 251368 h 251368"/>
              </a:gdLst>
              <a:ahLst/>
              <a:cxnLst>
                <a:cxn ang="0">
                  <a:pos x="connsiteX0" y="connsiteY0"/>
                </a:cxn>
                <a:cxn ang="0">
                  <a:pos x="connsiteX1" y="connsiteY1"/>
                </a:cxn>
                <a:cxn ang="0">
                  <a:pos x="connsiteX2" y="connsiteY2"/>
                </a:cxn>
              </a:cxnLst>
              <a:rect l="l" t="t" r="r" b="b"/>
              <a:pathLst>
                <a:path w="236678" h="251368">
                  <a:moveTo>
                    <a:pt x="65797" y="0"/>
                  </a:moveTo>
                  <a:lnTo>
                    <a:pt x="236678" y="0"/>
                  </a:lnTo>
                  <a:lnTo>
                    <a:pt x="0" y="251368"/>
                  </a:lnTo>
                  <a:close/>
                </a:path>
              </a:pathLst>
            </a:custGeom>
            <a:solidFill>
              <a:schemeClr val="accent3"/>
            </a:solidFill>
            <a:ln w="9525" cap="flat">
              <a:noFill/>
              <a:prstDash val="solid"/>
              <a:miter/>
            </a:ln>
          </p:spPr>
          <p:txBody>
            <a:bodyPr rtlCol="0" anchor="ctr"/>
            <a:lstStyle/>
            <a:p>
              <a:endParaRPr lang="zh-CN" altLang="en-US"/>
            </a:p>
          </p:txBody>
        </p:sp>
        <p:sp>
          <p:nvSpPr>
            <p:cNvPr id="48" name="任意多边形: 形状 128">
              <a:extLst>
                <a:ext uri="{FF2B5EF4-FFF2-40B4-BE49-F238E27FC236}">
                  <a16:creationId xmlns:a16="http://schemas.microsoft.com/office/drawing/2014/main" id="{EA738A62-D78C-4250-B583-C8A7EC8F6874}"/>
                </a:ext>
              </a:extLst>
            </p:cNvPr>
            <p:cNvSpPr/>
            <p:nvPr/>
          </p:nvSpPr>
          <p:spPr>
            <a:xfrm>
              <a:off x="11231161" y="0"/>
              <a:ext cx="918787" cy="251366"/>
            </a:xfrm>
            <a:custGeom>
              <a:avLst/>
              <a:gdLst>
                <a:gd name="connsiteX0" fmla="*/ 236676 w 918787"/>
                <a:gd name="connsiteY0" fmla="*/ 0 h 251366"/>
                <a:gd name="connsiteX1" fmla="*/ 918787 w 918787"/>
                <a:gd name="connsiteY1" fmla="*/ 0 h 251366"/>
                <a:gd name="connsiteX2" fmla="*/ 0 w 918787"/>
                <a:gd name="connsiteY2" fmla="*/ 251366 h 251366"/>
              </a:gdLst>
              <a:ahLst/>
              <a:cxnLst>
                <a:cxn ang="0">
                  <a:pos x="connsiteX0" y="connsiteY0"/>
                </a:cxn>
                <a:cxn ang="0">
                  <a:pos x="connsiteX1" y="connsiteY1"/>
                </a:cxn>
                <a:cxn ang="0">
                  <a:pos x="connsiteX2" y="connsiteY2"/>
                </a:cxn>
              </a:cxnLst>
              <a:rect l="l" t="t" r="r" b="b"/>
              <a:pathLst>
                <a:path w="918787" h="251366">
                  <a:moveTo>
                    <a:pt x="236676" y="0"/>
                  </a:moveTo>
                  <a:lnTo>
                    <a:pt x="918787" y="0"/>
                  </a:lnTo>
                  <a:lnTo>
                    <a:pt x="0" y="251366"/>
                  </a:lnTo>
                  <a:close/>
                </a:path>
              </a:pathLst>
            </a:custGeom>
            <a:solidFill>
              <a:schemeClr val="accent1"/>
            </a:solidFill>
            <a:ln w="9525" cap="flat">
              <a:noFill/>
              <a:prstDash val="solid"/>
              <a:miter/>
            </a:ln>
          </p:spPr>
          <p:txBody>
            <a:bodyPr rtlCol="0" anchor="ctr"/>
            <a:lstStyle/>
            <a:p>
              <a:endParaRPr lang="zh-CN" altLang="en-US"/>
            </a:p>
          </p:txBody>
        </p:sp>
        <p:sp>
          <p:nvSpPr>
            <p:cNvPr id="49" name="任意多边形: 形状 133">
              <a:extLst>
                <a:ext uri="{FF2B5EF4-FFF2-40B4-BE49-F238E27FC236}">
                  <a16:creationId xmlns:a16="http://schemas.microsoft.com/office/drawing/2014/main" id="{D2A5CA47-5484-4C28-8EE0-85A4E455BDEC}"/>
                </a:ext>
              </a:extLst>
            </p:cNvPr>
            <p:cNvSpPr/>
            <p:nvPr userDrawn="1"/>
          </p:nvSpPr>
          <p:spPr>
            <a:xfrm>
              <a:off x="11253991" y="12283"/>
              <a:ext cx="938009" cy="1013382"/>
            </a:xfrm>
            <a:custGeom>
              <a:avLst/>
              <a:gdLst>
                <a:gd name="connsiteX0" fmla="*/ 938009 w 938009"/>
                <a:gd name="connsiteY0" fmla="*/ 0 h 1013382"/>
                <a:gd name="connsiteX1" fmla="*/ 938009 w 938009"/>
                <a:gd name="connsiteY1" fmla="*/ 351444 h 1013382"/>
                <a:gd name="connsiteX2" fmla="*/ 768592 w 938009"/>
                <a:gd name="connsiteY2" fmla="*/ 1013382 h 1013382"/>
                <a:gd name="connsiteX3" fmla="*/ 0 w 938009"/>
                <a:gd name="connsiteY3" fmla="*/ 263815 h 1013382"/>
              </a:gdLst>
              <a:ahLst/>
              <a:cxnLst>
                <a:cxn ang="0">
                  <a:pos x="connsiteX0" y="connsiteY0"/>
                </a:cxn>
                <a:cxn ang="0">
                  <a:pos x="connsiteX1" y="connsiteY1"/>
                </a:cxn>
                <a:cxn ang="0">
                  <a:pos x="connsiteX2" y="connsiteY2"/>
                </a:cxn>
                <a:cxn ang="0">
                  <a:pos x="connsiteX3" y="connsiteY3"/>
                </a:cxn>
              </a:cxnLst>
              <a:rect l="l" t="t" r="r" b="b"/>
              <a:pathLst>
                <a:path w="938009" h="1013382">
                  <a:moveTo>
                    <a:pt x="938009" y="0"/>
                  </a:moveTo>
                  <a:lnTo>
                    <a:pt x="938009" y="351444"/>
                  </a:lnTo>
                  <a:lnTo>
                    <a:pt x="768592" y="1013382"/>
                  </a:lnTo>
                  <a:lnTo>
                    <a:pt x="0" y="263815"/>
                  </a:lnTo>
                  <a:close/>
                </a:path>
              </a:pathLst>
            </a:custGeom>
            <a:solidFill>
              <a:schemeClr val="accent1"/>
            </a:solidFill>
            <a:ln w="9525" cap="flat">
              <a:noFill/>
              <a:prstDash val="solid"/>
              <a:miter/>
            </a:ln>
          </p:spPr>
          <p:txBody>
            <a:bodyPr rtlCol="0" anchor="ctr"/>
            <a:lstStyle/>
            <a:p>
              <a:endParaRPr lang="zh-CN" altLang="en-US"/>
            </a:p>
          </p:txBody>
        </p:sp>
        <p:sp>
          <p:nvSpPr>
            <p:cNvPr id="50" name="任意多边形: 形状 134">
              <a:extLst>
                <a:ext uri="{FF2B5EF4-FFF2-40B4-BE49-F238E27FC236}">
                  <a16:creationId xmlns:a16="http://schemas.microsoft.com/office/drawing/2014/main" id="{1858AD30-FC4D-4A4A-B365-5F476D5CE41D}"/>
                </a:ext>
              </a:extLst>
            </p:cNvPr>
            <p:cNvSpPr/>
            <p:nvPr/>
          </p:nvSpPr>
          <p:spPr>
            <a:xfrm>
              <a:off x="11253991" y="12283"/>
              <a:ext cx="938009" cy="416012"/>
            </a:xfrm>
            <a:custGeom>
              <a:avLst/>
              <a:gdLst>
                <a:gd name="connsiteX0" fmla="*/ 938009 w 938009"/>
                <a:gd name="connsiteY0" fmla="*/ 0 h 416012"/>
                <a:gd name="connsiteX1" fmla="*/ 938009 w 938009"/>
                <a:gd name="connsiteY1" fmla="*/ 90979 h 416012"/>
                <a:gd name="connsiteX2" fmla="*/ 671567 w 938009"/>
                <a:gd name="connsiteY2" fmla="*/ 416012 h 416012"/>
                <a:gd name="connsiteX3" fmla="*/ 0 w 938009"/>
                <a:gd name="connsiteY3" fmla="*/ 263816 h 416012"/>
              </a:gdLst>
              <a:ahLst/>
              <a:cxnLst>
                <a:cxn ang="0">
                  <a:pos x="connsiteX0" y="connsiteY0"/>
                </a:cxn>
                <a:cxn ang="0">
                  <a:pos x="connsiteX1" y="connsiteY1"/>
                </a:cxn>
                <a:cxn ang="0">
                  <a:pos x="connsiteX2" y="connsiteY2"/>
                </a:cxn>
                <a:cxn ang="0">
                  <a:pos x="connsiteX3" y="connsiteY3"/>
                </a:cxn>
              </a:cxnLst>
              <a:rect l="l" t="t" r="r" b="b"/>
              <a:pathLst>
                <a:path w="938009" h="416012">
                  <a:moveTo>
                    <a:pt x="938009" y="0"/>
                  </a:moveTo>
                  <a:lnTo>
                    <a:pt x="938009" y="90979"/>
                  </a:lnTo>
                  <a:lnTo>
                    <a:pt x="671567" y="416012"/>
                  </a:lnTo>
                  <a:lnTo>
                    <a:pt x="0" y="263816"/>
                  </a:lnTo>
                  <a:close/>
                </a:path>
              </a:pathLst>
            </a:custGeom>
            <a:solidFill>
              <a:schemeClr val="accent3"/>
            </a:solidFill>
            <a:ln w="9525" cap="flat">
              <a:noFill/>
              <a:prstDash val="solid"/>
              <a:miter/>
            </a:ln>
          </p:spPr>
          <p:txBody>
            <a:bodyPr rtlCol="0" anchor="ctr"/>
            <a:lstStyle/>
            <a:p>
              <a:endParaRPr lang="zh-CN" altLang="en-US"/>
            </a:p>
          </p:txBody>
        </p:sp>
        <p:sp>
          <p:nvSpPr>
            <p:cNvPr id="51" name="任意多边形: 形状 50">
              <a:extLst>
                <a:ext uri="{FF2B5EF4-FFF2-40B4-BE49-F238E27FC236}">
                  <a16:creationId xmlns:a16="http://schemas.microsoft.com/office/drawing/2014/main" id="{E372FD86-9F7A-45A6-90F6-B07D7A2080EC}"/>
                </a:ext>
              </a:extLst>
            </p:cNvPr>
            <p:cNvSpPr/>
            <p:nvPr/>
          </p:nvSpPr>
          <p:spPr>
            <a:xfrm>
              <a:off x="11239723" y="261830"/>
              <a:ext cx="780006" cy="760981"/>
            </a:xfrm>
            <a:custGeom>
              <a:avLst/>
              <a:gdLst>
                <a:gd name="connsiteX0" fmla="*/ 14268 w 780005"/>
                <a:gd name="connsiteY0" fmla="*/ 14268 h 760981"/>
                <a:gd name="connsiteX1" fmla="*/ 782860 w 780005"/>
                <a:gd name="connsiteY1" fmla="*/ 763835 h 760981"/>
                <a:gd name="connsiteX2" fmla="*/ 685835 w 780005"/>
                <a:gd name="connsiteY2" fmla="*/ 166465 h 760981"/>
              </a:gdLst>
              <a:ahLst/>
              <a:cxnLst>
                <a:cxn ang="0">
                  <a:pos x="connsiteX0" y="connsiteY0"/>
                </a:cxn>
                <a:cxn ang="0">
                  <a:pos x="connsiteX1" y="connsiteY1"/>
                </a:cxn>
                <a:cxn ang="0">
                  <a:pos x="connsiteX2" y="connsiteY2"/>
                </a:cxn>
              </a:cxnLst>
              <a:rect l="l" t="t" r="r" b="b"/>
              <a:pathLst>
                <a:path w="780005" h="760981">
                  <a:moveTo>
                    <a:pt x="14268" y="14268"/>
                  </a:moveTo>
                  <a:lnTo>
                    <a:pt x="782860" y="763835"/>
                  </a:lnTo>
                  <a:lnTo>
                    <a:pt x="685835" y="166465"/>
                  </a:lnTo>
                  <a:close/>
                </a:path>
              </a:pathLst>
            </a:custGeom>
            <a:solidFill>
              <a:schemeClr val="accent2"/>
            </a:solidFill>
            <a:ln w="9525" cap="flat">
              <a:noFill/>
              <a:prstDash val="solid"/>
              <a:miter/>
            </a:ln>
          </p:spPr>
          <p:txBody>
            <a:bodyPr rtlCol="0" anchor="ctr"/>
            <a:lstStyle/>
            <a:p>
              <a:endParaRPr lang="zh-CN" altLang="en-US"/>
            </a:p>
          </p:txBody>
        </p:sp>
      </p:grpSp>
      <p:sp>
        <p:nvSpPr>
          <p:cNvPr id="52" name="标题 1"/>
          <p:cNvSpPr>
            <a:spLocks noGrp="1"/>
          </p:cNvSpPr>
          <p:nvPr>
            <p:ph type="ctrTitle"/>
          </p:nvPr>
        </p:nvSpPr>
        <p:spPr>
          <a:xfrm>
            <a:off x="4405746" y="2175164"/>
            <a:ext cx="6877626" cy="1528893"/>
          </a:xfr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53" name="副标题 2"/>
          <p:cNvSpPr>
            <a:spLocks noGrp="1"/>
          </p:cNvSpPr>
          <p:nvPr>
            <p:ph type="subTitle" idx="1" hasCustomPrompt="1"/>
          </p:nvPr>
        </p:nvSpPr>
        <p:spPr>
          <a:xfrm>
            <a:off x="4405746" y="3704057"/>
            <a:ext cx="6877626" cy="558799"/>
          </a:xfrm>
          <a:ln>
            <a:solidFill>
              <a:schemeClr val="accent1"/>
            </a:solidFill>
          </a:ln>
        </p:spPr>
        <p:txBody>
          <a:bodyPr anchor="ctr">
            <a:normAutofit/>
          </a:bodyPr>
          <a:lstStyle>
            <a:lvl1pPr marL="0" indent="0" algn="l">
              <a:buNone/>
              <a:defRPr sz="200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FRM</a:t>
            </a:r>
            <a:r>
              <a:rPr lang="zh-CN" altLang="en-US" dirty="0"/>
              <a:t>一级培训讲义</a:t>
            </a:r>
            <a:endParaRPr lang="en-US" dirty="0"/>
          </a:p>
        </p:txBody>
      </p:sp>
      <p:sp>
        <p:nvSpPr>
          <p:cNvPr id="54" name="文本占位符 13"/>
          <p:cNvSpPr>
            <a:spLocks noGrp="1"/>
          </p:cNvSpPr>
          <p:nvPr>
            <p:ph type="body" sz="quarter" idx="10" hasCustomPrompt="1"/>
          </p:nvPr>
        </p:nvSpPr>
        <p:spPr>
          <a:xfrm>
            <a:off x="4405746" y="4677656"/>
            <a:ext cx="6877626" cy="296271"/>
          </a:xfrm>
          <a:ln>
            <a:solidFill>
              <a:schemeClr val="accent1"/>
            </a:solidFill>
          </a:ln>
        </p:spPr>
        <p:txBody>
          <a:bodyPr vert="horz" anchor="ctr">
            <a:noAutofit/>
          </a:bodyPr>
          <a:lstStyle>
            <a:lvl1pPr marL="0" indent="0" algn="l">
              <a:buNone/>
              <a:defRPr sz="1500" b="0">
                <a:solidFill>
                  <a:schemeClr val="tx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55" name="文本占位符 13"/>
          <p:cNvSpPr>
            <a:spLocks noGrp="1"/>
          </p:cNvSpPr>
          <p:nvPr>
            <p:ph type="body" sz="quarter" idx="11" hasCustomPrompt="1"/>
          </p:nvPr>
        </p:nvSpPr>
        <p:spPr>
          <a:xfrm>
            <a:off x="4405746" y="4973927"/>
            <a:ext cx="6877626" cy="296271"/>
          </a:xfrm>
          <a:ln>
            <a:solidFill>
              <a:schemeClr val="accent1"/>
            </a:solidFill>
          </a:ln>
        </p:spPr>
        <p:txBody>
          <a:bodyPr vert="horz" anchor="ctr">
            <a:noAutofit/>
          </a:bodyPr>
          <a:lstStyle>
            <a:lvl1pPr marL="0" indent="0" algn="l">
              <a:buNone/>
              <a:defRPr sz="1500" b="0">
                <a:solidFill>
                  <a:schemeClr val="tx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spTree>
    <p:extLst>
      <p:ext uri="{BB962C8B-B14F-4D97-AF65-F5344CB8AC3E}">
        <p14:creationId xmlns:p14="http://schemas.microsoft.com/office/powerpoint/2010/main" val="2659357406"/>
      </p:ext>
    </p:extLst>
  </p:cSld>
  <p:clrMapOvr>
    <a:masterClrMapping/>
  </p:clrMapOvr>
  <p:extLst mod="1">
    <p:ext uri="{DCECCB84-F9BA-43D5-87BE-67443E8EF086}">
      <p15:sldGuideLst xmlns:p15="http://schemas.microsoft.com/office/powerpoint/2012/main">
        <p15:guide id="1" orient="horz" pos="1892">
          <p15:clr>
            <a:srgbClr val="FBAE40"/>
          </p15:clr>
        </p15:guide>
        <p15:guide id="2" pos="55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科目权重页">
    <p:spTree>
      <p:nvGrpSpPr>
        <p:cNvPr id="1" name=""/>
        <p:cNvGrpSpPr/>
        <p:nvPr/>
      </p:nvGrpSpPr>
      <p:grpSpPr>
        <a:xfrm>
          <a:off x="0" y="0"/>
          <a:ext cx="0" cy="0"/>
          <a:chOff x="0" y="0"/>
          <a:chExt cx="0" cy="0"/>
        </a:xfrm>
      </p:grpSpPr>
      <p:sp>
        <p:nvSpPr>
          <p:cNvPr id="15"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cxnSp>
        <p:nvCxnSpPr>
          <p:cNvPr id="6" name="直接连接符 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7"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17503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科目框架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858917"/>
            <a:ext cx="9264352" cy="0"/>
          </a:xfrm>
          <a:prstGeom prst="line">
            <a:avLst/>
          </a:prstGeom>
          <a:noFill/>
          <a:ln w="38100">
            <a:solidFill>
              <a:schemeClr val="accent3"/>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a:noFill/>
        </p:spPr>
        <p:txBody>
          <a:bodyPr/>
          <a:lstStyle>
            <a:lvl1pPr marL="457189" indent="-457189" algn="l" defTabSz="1219170" rtl="0" eaLnBrk="1" latinLnBrk="0" hangingPunct="1">
              <a:lnSpc>
                <a:spcPct val="120000"/>
              </a:lnSpc>
              <a:spcBef>
                <a:spcPts val="0"/>
              </a:spcBef>
              <a:buFont typeface="Wingdings" panose="05000000000000000000" pitchFamily="2" charset="2"/>
              <a:buChar char="Ø"/>
              <a:defRPr lang="zh-CN" altLang="en-US" sz="2400" b="1" i="0" kern="1200" baseline="0" dirty="0" smtClean="0">
                <a:solidFill>
                  <a:schemeClr val="accent6">
                    <a:lumMod val="75000"/>
                  </a:schemeClr>
                </a:solidFill>
                <a:latin typeface="+mn-lt"/>
                <a:ea typeface="+mn-ea"/>
                <a:cs typeface="+mn-ea"/>
              </a:defRPr>
            </a:lvl1pPr>
            <a:lvl2pPr marL="990575" indent="-380990">
              <a:lnSpc>
                <a:spcPct val="120000"/>
              </a:lnSpc>
              <a:spcBef>
                <a:spcPts val="0"/>
              </a:spcBef>
              <a:defRPr lang="zh-CN" altLang="en-US" sz="2400" kern="1200" baseline="0" dirty="0" smtClean="0">
                <a:solidFill>
                  <a:schemeClr val="tx1"/>
                </a:solidFill>
                <a:latin typeface="+mn-lt"/>
                <a:ea typeface="+mn-ea"/>
                <a:cs typeface="+mn-ea"/>
              </a:defRPr>
            </a:lvl2pPr>
          </a:lstStyle>
          <a:p>
            <a:pPr lvl="0"/>
            <a:r>
              <a:rPr lang="zh-CN" altLang="en-US" dirty="0"/>
              <a:t>编辑母版文本样式</a:t>
            </a:r>
          </a:p>
          <a:p>
            <a:pPr marL="990575" lvl="1" indent="-380990" algn="l" defTabSz="1219170" rtl="0" eaLnBrk="1" latinLnBrk="0" hangingPunct="1">
              <a:lnSpc>
                <a:spcPct val="120000"/>
              </a:lnSpc>
              <a:spcBef>
                <a:spcPts val="0"/>
              </a:spcBef>
              <a:buFont typeface="Arial" panose="020B0604020202020204" pitchFamily="34" charset="0"/>
              <a:buChar char="•"/>
            </a:pPr>
            <a:r>
              <a:rPr lang="zh-CN" altLang="en-US" dirty="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F</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40"/>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ramework</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3071833235"/>
      </p:ext>
    </p:extLst>
  </p:cSld>
  <p:clrMapOvr>
    <a:masterClrMapping/>
  </p:clrMapOvr>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知识点页">
    <p:spTree>
      <p:nvGrpSpPr>
        <p:cNvPr id="1" name=""/>
        <p:cNvGrpSpPr/>
        <p:nvPr/>
      </p:nvGrpSpPr>
      <p:grpSpPr>
        <a:xfrm>
          <a:off x="0" y="0"/>
          <a:ext cx="0" cy="0"/>
          <a:chOff x="0" y="0"/>
          <a:chExt cx="0" cy="0"/>
        </a:xfrm>
      </p:grpSpPr>
      <p:sp>
        <p:nvSpPr>
          <p:cNvPr id="7" name="Freeform 5">
            <a:extLst>
              <a:ext uri="{FF2B5EF4-FFF2-40B4-BE49-F238E27FC236}">
                <a16:creationId xmlns:a16="http://schemas.microsoft.com/office/drawing/2014/main" id="{433B396D-7790-42BC-AF50-047D0B0821F6}"/>
              </a:ext>
            </a:extLst>
          </p:cNvPr>
          <p:cNvSpPr>
            <a:spLocks/>
          </p:cNvSpPr>
          <p:nvPr userDrawn="1"/>
        </p:nvSpPr>
        <p:spPr bwMode="auto">
          <a:xfrm>
            <a:off x="2948458" y="1744663"/>
            <a:ext cx="1887538" cy="1633538"/>
          </a:xfrm>
          <a:custGeom>
            <a:avLst/>
            <a:gdLst>
              <a:gd name="T0" fmla="*/ 891 w 1189"/>
              <a:gd name="T1" fmla="*/ 0 h 1029"/>
              <a:gd name="T2" fmla="*/ 298 w 1189"/>
              <a:gd name="T3" fmla="*/ 0 h 1029"/>
              <a:gd name="T4" fmla="*/ 0 w 1189"/>
              <a:gd name="T5" fmla="*/ 515 h 1029"/>
              <a:gd name="T6" fmla="*/ 298 w 1189"/>
              <a:gd name="T7" fmla="*/ 1029 h 1029"/>
              <a:gd name="T8" fmla="*/ 891 w 1189"/>
              <a:gd name="T9" fmla="*/ 1029 h 1029"/>
              <a:gd name="T10" fmla="*/ 1189 w 1189"/>
              <a:gd name="T11" fmla="*/ 515 h 1029"/>
              <a:gd name="T12" fmla="*/ 891 w 1189"/>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9" h="1029">
                <a:moveTo>
                  <a:pt x="891" y="0"/>
                </a:moveTo>
                <a:lnTo>
                  <a:pt x="298" y="0"/>
                </a:lnTo>
                <a:lnTo>
                  <a:pt x="0" y="515"/>
                </a:lnTo>
                <a:lnTo>
                  <a:pt x="298" y="1029"/>
                </a:lnTo>
                <a:lnTo>
                  <a:pt x="891" y="1029"/>
                </a:lnTo>
                <a:lnTo>
                  <a:pt x="1189" y="515"/>
                </a:lnTo>
                <a:lnTo>
                  <a:pt x="891"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a16="http://schemas.microsoft.com/office/drawing/2014/main" id="{2E69467A-673E-46CD-9A18-F70940E3CF82}"/>
              </a:ext>
            </a:extLst>
          </p:cNvPr>
          <p:cNvSpPr>
            <a:spLocks/>
          </p:cNvSpPr>
          <p:nvPr userDrawn="1"/>
        </p:nvSpPr>
        <p:spPr bwMode="auto">
          <a:xfrm>
            <a:off x="4447058" y="2614613"/>
            <a:ext cx="1885950" cy="1633538"/>
          </a:xfrm>
          <a:custGeom>
            <a:avLst/>
            <a:gdLst>
              <a:gd name="T0" fmla="*/ 891 w 1188"/>
              <a:gd name="T1" fmla="*/ 0 h 1029"/>
              <a:gd name="T2" fmla="*/ 297 w 1188"/>
              <a:gd name="T3" fmla="*/ 0 h 1029"/>
              <a:gd name="T4" fmla="*/ 0 w 1188"/>
              <a:gd name="T5" fmla="*/ 514 h 1029"/>
              <a:gd name="T6" fmla="*/ 297 w 1188"/>
              <a:gd name="T7" fmla="*/ 1029 h 1029"/>
              <a:gd name="T8" fmla="*/ 891 w 1188"/>
              <a:gd name="T9" fmla="*/ 1029 h 1029"/>
              <a:gd name="T10" fmla="*/ 1188 w 1188"/>
              <a:gd name="T11" fmla="*/ 514 h 1029"/>
              <a:gd name="T12" fmla="*/ 891 w 1188"/>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8" h="1029">
                <a:moveTo>
                  <a:pt x="891" y="0"/>
                </a:moveTo>
                <a:lnTo>
                  <a:pt x="297" y="0"/>
                </a:lnTo>
                <a:lnTo>
                  <a:pt x="0" y="514"/>
                </a:lnTo>
                <a:lnTo>
                  <a:pt x="297" y="1029"/>
                </a:lnTo>
                <a:lnTo>
                  <a:pt x="891" y="1029"/>
                </a:lnTo>
                <a:lnTo>
                  <a:pt x="1188" y="514"/>
                </a:lnTo>
                <a:lnTo>
                  <a:pt x="891"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8">
            <a:extLst>
              <a:ext uri="{FF2B5EF4-FFF2-40B4-BE49-F238E27FC236}">
                <a16:creationId xmlns:a16="http://schemas.microsoft.com/office/drawing/2014/main" id="{D8027134-E46D-48A6-AAB3-AF30EFC06F22}"/>
              </a:ext>
            </a:extLst>
          </p:cNvPr>
          <p:cNvSpPr>
            <a:spLocks/>
          </p:cNvSpPr>
          <p:nvPr userDrawn="1"/>
        </p:nvSpPr>
        <p:spPr bwMode="auto">
          <a:xfrm>
            <a:off x="2948458" y="3484563"/>
            <a:ext cx="1887538" cy="1631950"/>
          </a:xfrm>
          <a:custGeom>
            <a:avLst/>
            <a:gdLst>
              <a:gd name="T0" fmla="*/ 891 w 1189"/>
              <a:gd name="T1" fmla="*/ 0 h 1028"/>
              <a:gd name="T2" fmla="*/ 298 w 1189"/>
              <a:gd name="T3" fmla="*/ 0 h 1028"/>
              <a:gd name="T4" fmla="*/ 0 w 1189"/>
              <a:gd name="T5" fmla="*/ 514 h 1028"/>
              <a:gd name="T6" fmla="*/ 298 w 1189"/>
              <a:gd name="T7" fmla="*/ 1028 h 1028"/>
              <a:gd name="T8" fmla="*/ 891 w 1189"/>
              <a:gd name="T9" fmla="*/ 1028 h 1028"/>
              <a:gd name="T10" fmla="*/ 1189 w 1189"/>
              <a:gd name="T11" fmla="*/ 514 h 1028"/>
              <a:gd name="T12" fmla="*/ 891 w 1189"/>
              <a:gd name="T13" fmla="*/ 0 h 1028"/>
            </a:gdLst>
            <a:ahLst/>
            <a:cxnLst>
              <a:cxn ang="0">
                <a:pos x="T0" y="T1"/>
              </a:cxn>
              <a:cxn ang="0">
                <a:pos x="T2" y="T3"/>
              </a:cxn>
              <a:cxn ang="0">
                <a:pos x="T4" y="T5"/>
              </a:cxn>
              <a:cxn ang="0">
                <a:pos x="T6" y="T7"/>
              </a:cxn>
              <a:cxn ang="0">
                <a:pos x="T8" y="T9"/>
              </a:cxn>
              <a:cxn ang="0">
                <a:pos x="T10" y="T11"/>
              </a:cxn>
              <a:cxn ang="0">
                <a:pos x="T12" y="T13"/>
              </a:cxn>
            </a:cxnLst>
            <a:rect l="0" t="0" r="r" b="b"/>
            <a:pathLst>
              <a:path w="1189" h="1028">
                <a:moveTo>
                  <a:pt x="891" y="0"/>
                </a:moveTo>
                <a:lnTo>
                  <a:pt x="298" y="0"/>
                </a:lnTo>
                <a:lnTo>
                  <a:pt x="0" y="514"/>
                </a:lnTo>
                <a:lnTo>
                  <a:pt x="298" y="1028"/>
                </a:lnTo>
                <a:lnTo>
                  <a:pt x="891" y="1028"/>
                </a:lnTo>
                <a:lnTo>
                  <a:pt x="1189" y="514"/>
                </a:lnTo>
                <a:lnTo>
                  <a:pt x="891"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8">
            <a:extLst>
              <a:ext uri="{FF2B5EF4-FFF2-40B4-BE49-F238E27FC236}">
                <a16:creationId xmlns:a16="http://schemas.microsoft.com/office/drawing/2014/main" id="{C6498189-ECB6-41C8-A7ED-CF672A9E763E}"/>
              </a:ext>
            </a:extLst>
          </p:cNvPr>
          <p:cNvSpPr>
            <a:spLocks/>
          </p:cNvSpPr>
          <p:nvPr userDrawn="1"/>
        </p:nvSpPr>
        <p:spPr bwMode="auto">
          <a:xfrm>
            <a:off x="0" y="2613025"/>
            <a:ext cx="3311995" cy="1631950"/>
          </a:xfrm>
          <a:custGeom>
            <a:avLst/>
            <a:gdLst>
              <a:gd name="connsiteX0" fmla="*/ 0 w 3311995"/>
              <a:gd name="connsiteY0" fmla="*/ 0 h 1631950"/>
              <a:gd name="connsiteX1" fmla="*/ 2838920 w 3311995"/>
              <a:gd name="connsiteY1" fmla="*/ 0 h 1631950"/>
              <a:gd name="connsiteX2" fmla="*/ 3311995 w 3311995"/>
              <a:gd name="connsiteY2" fmla="*/ 815975 h 1631950"/>
              <a:gd name="connsiteX3" fmla="*/ 2838920 w 3311995"/>
              <a:gd name="connsiteY3" fmla="*/ 1631950 h 1631950"/>
              <a:gd name="connsiteX4" fmla="*/ 0 w 3311995"/>
              <a:gd name="connsiteY4" fmla="*/ 1631950 h 163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1995" h="1631950">
                <a:moveTo>
                  <a:pt x="0" y="0"/>
                </a:moveTo>
                <a:lnTo>
                  <a:pt x="2838920" y="0"/>
                </a:lnTo>
                <a:lnTo>
                  <a:pt x="3311995" y="815975"/>
                </a:lnTo>
                <a:lnTo>
                  <a:pt x="2838920" y="1631950"/>
                </a:lnTo>
                <a:lnTo>
                  <a:pt x="0" y="1631950"/>
                </a:lnTo>
                <a:close/>
              </a:path>
            </a:pathLst>
          </a:custGeom>
          <a:solidFill>
            <a:srgbClr val="C3D92F"/>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3" name="标题 1"/>
          <p:cNvSpPr>
            <a:spLocks noGrp="1"/>
          </p:cNvSpPr>
          <p:nvPr>
            <p:ph type="title"/>
          </p:nvPr>
        </p:nvSpPr>
        <p:spPr>
          <a:xfrm>
            <a:off x="6584962" y="2418973"/>
            <a:ext cx="4702164"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14" name="文本占位符 2"/>
          <p:cNvSpPr>
            <a:spLocks noGrp="1"/>
          </p:cNvSpPr>
          <p:nvPr>
            <p:ph type="body" idx="1"/>
          </p:nvPr>
        </p:nvSpPr>
        <p:spPr>
          <a:xfrm>
            <a:off x="6586078" y="3314323"/>
            <a:ext cx="4702164" cy="1015623"/>
          </a:xfrm>
        </p:spPr>
        <p:txBody>
          <a:bodyPr anchor="t">
            <a:normAutofit/>
          </a:bodyPr>
          <a:lstStyle>
            <a:lvl1pPr marL="0" indent="0" algn="l">
              <a:lnSpc>
                <a:spcPct val="100000"/>
              </a:lnSpc>
              <a:buNone/>
              <a:defRPr sz="1100">
                <a:solidFill>
                  <a:schemeClr val="tx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spTree>
    <p:extLst>
      <p:ext uri="{BB962C8B-B14F-4D97-AF65-F5344CB8AC3E}">
        <p14:creationId xmlns:p14="http://schemas.microsoft.com/office/powerpoint/2010/main" val="198014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ading的知识点框架页">
    <p:spTree>
      <p:nvGrpSpPr>
        <p:cNvPr id="1" name=""/>
        <p:cNvGrpSpPr/>
        <p:nvPr/>
      </p:nvGrpSpPr>
      <p:grpSpPr>
        <a:xfrm>
          <a:off x="0" y="0"/>
          <a:ext cx="0" cy="0"/>
          <a:chOff x="0" y="0"/>
          <a:chExt cx="0" cy="0"/>
        </a:xfrm>
      </p:grpSpPr>
      <p:sp>
        <p:nvSpPr>
          <p:cNvPr id="3" name="矩形 2"/>
          <p:cNvSpPr/>
          <p:nvPr userDrawn="1"/>
        </p:nvSpPr>
        <p:spPr>
          <a:xfrm>
            <a:off x="7295456" y="3115512"/>
            <a:ext cx="4896544" cy="1056117"/>
          </a:xfrm>
          <a:prstGeom prst="rect">
            <a:avLst/>
          </a:prstGeom>
          <a:noFill/>
          <a:ln>
            <a:noFill/>
          </a:ln>
          <a:effectLst>
            <a:outerShdw blurRad="254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3"/>
                </a:solidFill>
                <a:effectLst/>
                <a:uLnTx/>
                <a:uFillTx/>
                <a:latin typeface="Roboto" panose="02000000000000000000" pitchFamily="2" charset="0"/>
                <a:ea typeface="Roboto" panose="02000000000000000000" pitchFamily="2" charset="0"/>
                <a:cs typeface="Roboto" panose="02000000000000000000" pitchFamily="2" charset="0"/>
              </a:rPr>
              <a:t>FRAMEWORK</a:t>
            </a:r>
            <a:endParaRPr kumimoji="0" lang="zh-CN" altLang="en-US" sz="6000" b="1" i="0" u="none" strike="noStrike" kern="1200" cap="none" spc="0" normalizeH="0" baseline="0" noProof="0" dirty="0">
              <a:ln>
                <a:noFill/>
              </a:ln>
              <a:solidFill>
                <a:schemeClr val="accent3"/>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5" name="文本占位符 4"/>
          <p:cNvSpPr>
            <a:spLocks noGrp="1"/>
          </p:cNvSpPr>
          <p:nvPr>
            <p:ph type="body" sz="quarter" idx="10" hasCustomPrompt="1"/>
          </p:nvPr>
        </p:nvSpPr>
        <p:spPr>
          <a:xfrm>
            <a:off x="393600" y="624043"/>
            <a:ext cx="6758517" cy="5838796"/>
          </a:xfrm>
        </p:spPr>
        <p:txBody>
          <a:bodyPr/>
          <a:lstStyle>
            <a:lvl1pPr marL="457189" indent="-457189">
              <a:buFont typeface="+mj-lt"/>
              <a:buAutoNum type="arabicPeriod"/>
              <a:defRPr i="0" baseline="0">
                <a:solidFill>
                  <a:schemeClr val="accent3"/>
                </a:solidFill>
              </a:defRPr>
            </a:lvl1pPr>
          </a:lstStyle>
          <a:p>
            <a:pPr lvl="0"/>
            <a:r>
              <a:rPr lang="zh-CN" altLang="en-US" dirty="0"/>
              <a:t>一二三</a:t>
            </a:r>
          </a:p>
        </p:txBody>
      </p:sp>
      <p:sp>
        <p:nvSpPr>
          <p:cNvPr id="9" name="圆角右箭头 8"/>
          <p:cNvSpPr/>
          <p:nvPr userDrawn="1"/>
        </p:nvSpPr>
        <p:spPr>
          <a:xfrm rot="5400000">
            <a:off x="974538" y="5526"/>
            <a:ext cx="6114479" cy="6816759"/>
          </a:xfrm>
          <a:prstGeom prst="bentArrow">
            <a:avLst>
              <a:gd name="adj1" fmla="val 2008"/>
              <a:gd name="adj2" fmla="val 2623"/>
              <a:gd name="adj3" fmla="val 2444"/>
              <a:gd name="adj4" fmla="val 6713"/>
            </a:avLst>
          </a:prstGeom>
          <a:solidFill>
            <a:srgbClr val="BCB4C4"/>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AutoShape 52"/>
          <p:cNvSpPr>
            <a:spLocks noChangeAspect="1"/>
          </p:cNvSpPr>
          <p:nvPr userDrawn="1"/>
        </p:nvSpPr>
        <p:spPr bwMode="auto">
          <a:xfrm>
            <a:off x="144000" y="212659"/>
            <a:ext cx="285824" cy="28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708" y="14020"/>
                </a:moveTo>
                <a:cubicBezTo>
                  <a:pt x="20951" y="14020"/>
                  <a:pt x="21161" y="14125"/>
                  <a:pt x="21335" y="14334"/>
                </a:cubicBezTo>
                <a:cubicBezTo>
                  <a:pt x="21511" y="14548"/>
                  <a:pt x="21599" y="14810"/>
                  <a:pt x="21599" y="15115"/>
                </a:cubicBezTo>
                <a:lnTo>
                  <a:pt x="21599" y="20504"/>
                </a:lnTo>
                <a:cubicBezTo>
                  <a:pt x="21599" y="20815"/>
                  <a:pt x="21511" y="21071"/>
                  <a:pt x="21335" y="21285"/>
                </a:cubicBezTo>
                <a:cubicBezTo>
                  <a:pt x="21161" y="21494"/>
                  <a:pt x="20951" y="21599"/>
                  <a:pt x="20708" y="21599"/>
                </a:cubicBezTo>
                <a:lnTo>
                  <a:pt x="16197" y="21599"/>
                </a:lnTo>
                <a:cubicBezTo>
                  <a:pt x="15940" y="21599"/>
                  <a:pt x="15729" y="21494"/>
                  <a:pt x="15563" y="21285"/>
                </a:cubicBezTo>
                <a:cubicBezTo>
                  <a:pt x="15399" y="21071"/>
                  <a:pt x="15316" y="20815"/>
                  <a:pt x="15316" y="20504"/>
                </a:cubicBezTo>
                <a:lnTo>
                  <a:pt x="15316" y="15115"/>
                </a:lnTo>
                <a:cubicBezTo>
                  <a:pt x="15316" y="14810"/>
                  <a:pt x="15399" y="14548"/>
                  <a:pt x="15570" y="14334"/>
                </a:cubicBezTo>
                <a:cubicBezTo>
                  <a:pt x="15737" y="14125"/>
                  <a:pt x="15945" y="14020"/>
                  <a:pt x="16197" y="14020"/>
                </a:cubicBezTo>
                <a:lnTo>
                  <a:pt x="17788" y="14020"/>
                </a:lnTo>
                <a:lnTo>
                  <a:pt x="17788" y="11869"/>
                </a:lnTo>
                <a:cubicBezTo>
                  <a:pt x="17788" y="11699"/>
                  <a:pt x="17707" y="11610"/>
                  <a:pt x="17543" y="11602"/>
                </a:cubicBezTo>
                <a:lnTo>
                  <a:pt x="11473" y="11602"/>
                </a:lnTo>
                <a:lnTo>
                  <a:pt x="11473" y="14019"/>
                </a:lnTo>
                <a:lnTo>
                  <a:pt x="13054" y="14019"/>
                </a:lnTo>
                <a:cubicBezTo>
                  <a:pt x="13296" y="14019"/>
                  <a:pt x="13507" y="14125"/>
                  <a:pt x="13681" y="14334"/>
                </a:cubicBezTo>
                <a:cubicBezTo>
                  <a:pt x="13857" y="14548"/>
                  <a:pt x="13945" y="14810"/>
                  <a:pt x="13945" y="15115"/>
                </a:cubicBezTo>
                <a:lnTo>
                  <a:pt x="13945" y="20504"/>
                </a:lnTo>
                <a:cubicBezTo>
                  <a:pt x="13945" y="20815"/>
                  <a:pt x="13857" y="21071"/>
                  <a:pt x="13681" y="21285"/>
                </a:cubicBezTo>
                <a:cubicBezTo>
                  <a:pt x="13507" y="21494"/>
                  <a:pt x="13296" y="21599"/>
                  <a:pt x="13054" y="21599"/>
                </a:cubicBezTo>
                <a:lnTo>
                  <a:pt x="8543" y="21599"/>
                </a:lnTo>
                <a:cubicBezTo>
                  <a:pt x="8298" y="21599"/>
                  <a:pt x="8090" y="21494"/>
                  <a:pt x="7913" y="21285"/>
                </a:cubicBezTo>
                <a:cubicBezTo>
                  <a:pt x="7740" y="21071"/>
                  <a:pt x="7651" y="20815"/>
                  <a:pt x="7651" y="20504"/>
                </a:cubicBezTo>
                <a:lnTo>
                  <a:pt x="7651" y="15115"/>
                </a:lnTo>
                <a:cubicBezTo>
                  <a:pt x="7651" y="14810"/>
                  <a:pt x="7740" y="14548"/>
                  <a:pt x="7913" y="14334"/>
                </a:cubicBezTo>
                <a:cubicBezTo>
                  <a:pt x="8090" y="14125"/>
                  <a:pt x="8298" y="14019"/>
                  <a:pt x="8543" y="14019"/>
                </a:cubicBezTo>
                <a:lnTo>
                  <a:pt x="10124" y="14019"/>
                </a:lnTo>
                <a:lnTo>
                  <a:pt x="10124" y="11602"/>
                </a:lnTo>
                <a:lnTo>
                  <a:pt x="4056" y="11602"/>
                </a:lnTo>
                <a:cubicBezTo>
                  <a:pt x="3901" y="11602"/>
                  <a:pt x="3821" y="11690"/>
                  <a:pt x="3821" y="11869"/>
                </a:cubicBezTo>
                <a:lnTo>
                  <a:pt x="3821" y="14020"/>
                </a:lnTo>
                <a:lnTo>
                  <a:pt x="5402" y="14020"/>
                </a:lnTo>
                <a:cubicBezTo>
                  <a:pt x="5661" y="14020"/>
                  <a:pt x="5874" y="14125"/>
                  <a:pt x="6053" y="14334"/>
                </a:cubicBezTo>
                <a:cubicBezTo>
                  <a:pt x="6229" y="14548"/>
                  <a:pt x="6315" y="14810"/>
                  <a:pt x="6315" y="15115"/>
                </a:cubicBezTo>
                <a:lnTo>
                  <a:pt x="6315" y="20504"/>
                </a:lnTo>
                <a:cubicBezTo>
                  <a:pt x="6315" y="20815"/>
                  <a:pt x="6229" y="21071"/>
                  <a:pt x="6053" y="21285"/>
                </a:cubicBezTo>
                <a:cubicBezTo>
                  <a:pt x="5877" y="21494"/>
                  <a:pt x="5664" y="21599"/>
                  <a:pt x="5402" y="21599"/>
                </a:cubicBezTo>
                <a:lnTo>
                  <a:pt x="913" y="21599"/>
                </a:lnTo>
                <a:cubicBezTo>
                  <a:pt x="658" y="21599"/>
                  <a:pt x="440" y="21494"/>
                  <a:pt x="261" y="21285"/>
                </a:cubicBezTo>
                <a:cubicBezTo>
                  <a:pt x="88" y="21071"/>
                  <a:pt x="0" y="20815"/>
                  <a:pt x="0" y="20504"/>
                </a:cubicBezTo>
                <a:lnTo>
                  <a:pt x="0" y="15115"/>
                </a:lnTo>
                <a:cubicBezTo>
                  <a:pt x="0" y="14810"/>
                  <a:pt x="88" y="14548"/>
                  <a:pt x="261" y="14334"/>
                </a:cubicBezTo>
                <a:cubicBezTo>
                  <a:pt x="438" y="14125"/>
                  <a:pt x="656" y="14020"/>
                  <a:pt x="913" y="14020"/>
                </a:cubicBezTo>
                <a:lnTo>
                  <a:pt x="2472" y="14020"/>
                </a:lnTo>
                <a:lnTo>
                  <a:pt x="2472" y="11869"/>
                </a:lnTo>
                <a:cubicBezTo>
                  <a:pt x="2472" y="11352"/>
                  <a:pt x="2629" y="10911"/>
                  <a:pt x="2942" y="10544"/>
                </a:cubicBezTo>
                <a:cubicBezTo>
                  <a:pt x="3253" y="10180"/>
                  <a:pt x="3622" y="9997"/>
                  <a:pt x="4053" y="9997"/>
                </a:cubicBezTo>
                <a:lnTo>
                  <a:pt x="10121" y="9997"/>
                </a:lnTo>
                <a:lnTo>
                  <a:pt x="10121" y="7550"/>
                </a:lnTo>
                <a:lnTo>
                  <a:pt x="8540" y="7550"/>
                </a:lnTo>
                <a:cubicBezTo>
                  <a:pt x="8295" y="7550"/>
                  <a:pt x="8087" y="7450"/>
                  <a:pt x="7911" y="7248"/>
                </a:cubicBezTo>
                <a:cubicBezTo>
                  <a:pt x="7737" y="7045"/>
                  <a:pt x="7649" y="6789"/>
                  <a:pt x="7649" y="6484"/>
                </a:cubicBezTo>
                <a:lnTo>
                  <a:pt x="7649" y="1066"/>
                </a:lnTo>
                <a:cubicBezTo>
                  <a:pt x="7649" y="775"/>
                  <a:pt x="7737" y="522"/>
                  <a:pt x="7911" y="314"/>
                </a:cubicBezTo>
                <a:cubicBezTo>
                  <a:pt x="8087" y="102"/>
                  <a:pt x="8295" y="0"/>
                  <a:pt x="8540" y="0"/>
                </a:cubicBezTo>
                <a:lnTo>
                  <a:pt x="13052" y="0"/>
                </a:lnTo>
                <a:cubicBezTo>
                  <a:pt x="13294" y="0"/>
                  <a:pt x="13504" y="102"/>
                  <a:pt x="13678" y="314"/>
                </a:cubicBezTo>
                <a:cubicBezTo>
                  <a:pt x="13854" y="522"/>
                  <a:pt x="13943" y="775"/>
                  <a:pt x="13943" y="1066"/>
                </a:cubicBezTo>
                <a:lnTo>
                  <a:pt x="13943" y="6484"/>
                </a:lnTo>
                <a:cubicBezTo>
                  <a:pt x="13943" y="6789"/>
                  <a:pt x="13854" y="7045"/>
                  <a:pt x="13678" y="7248"/>
                </a:cubicBezTo>
                <a:cubicBezTo>
                  <a:pt x="13504" y="7450"/>
                  <a:pt x="13294" y="7550"/>
                  <a:pt x="13052" y="7550"/>
                </a:cubicBezTo>
                <a:lnTo>
                  <a:pt x="11470" y="7550"/>
                </a:lnTo>
                <a:lnTo>
                  <a:pt x="11470" y="9997"/>
                </a:lnTo>
                <a:lnTo>
                  <a:pt x="17541" y="9997"/>
                </a:lnTo>
                <a:cubicBezTo>
                  <a:pt x="17969" y="9997"/>
                  <a:pt x="18339" y="10177"/>
                  <a:pt x="18652" y="10538"/>
                </a:cubicBezTo>
                <a:cubicBezTo>
                  <a:pt x="18966" y="10899"/>
                  <a:pt x="19122" y="11343"/>
                  <a:pt x="19122" y="11869"/>
                </a:cubicBezTo>
                <a:lnTo>
                  <a:pt x="19122" y="14020"/>
                </a:lnTo>
                <a:lnTo>
                  <a:pt x="20708" y="14020"/>
                </a:lnTo>
                <a:close/>
              </a:path>
            </a:pathLst>
          </a:custGeom>
          <a:solidFill>
            <a:schemeClr val="accent6">
              <a:lumMod val="50000"/>
            </a:schemeClr>
          </a:solidFill>
          <a:ln>
            <a:noFill/>
          </a:ln>
          <a:effectLst>
            <a:outerShdw blurRad="25400" dist="12700" dir="8100000" algn="tr" rotWithShape="0">
              <a:srgbClr val="5F4B8B">
                <a:alpha val="40000"/>
              </a:srgbClr>
            </a:outerShdw>
          </a:effectLst>
          <a:extLst/>
        </p:spPr>
        <p:txBody>
          <a:bodyPr lIns="50789" tIns="50789" rIns="50789" bIns="50789" anchor="ctr"/>
          <a:lstStyle/>
          <a:p>
            <a:pPr marL="0" marR="0" lvl="0" indent="0" algn="l" defTabSz="457086" rtl="0" eaLnBrk="1" fontAlgn="auto" latinLnBrk="0" hangingPunct="1">
              <a:lnSpc>
                <a:spcPct val="100000"/>
              </a:lnSpc>
              <a:spcBef>
                <a:spcPts val="0"/>
              </a:spcBef>
              <a:spcAft>
                <a:spcPts val="0"/>
              </a:spcAft>
              <a:buClrTx/>
              <a:buSzTx/>
              <a:buFontTx/>
              <a:buNone/>
              <a:tabLst/>
              <a:defRPr/>
            </a:pPr>
            <a:endParaRPr kumimoji="0" lang="es-ES" sz="2933" b="0" i="0" u="none" strike="noStrike" kern="1200" cap="none" spc="0" normalizeH="0" baseline="0" noProof="0" dirty="0">
              <a:ln>
                <a:noFill/>
              </a:ln>
              <a:solidFill>
                <a:prstClr val="white"/>
              </a:solidFill>
              <a:effectLst>
                <a:outerShdw blurRad="38100" dist="38100" dir="2700000" algn="tl">
                  <a:srgbClr val="000000"/>
                </a:outerShdw>
              </a:effectLst>
              <a:uLnTx/>
              <a:uFillTx/>
              <a:latin typeface="Gill Sans" charset="0"/>
              <a:ea typeface="+mn-ea"/>
              <a:cs typeface="Gill Sans" charset="0"/>
              <a:sym typeface="Gill Sans" charset="0"/>
            </a:endParaRPr>
          </a:p>
        </p:txBody>
      </p:sp>
    </p:spTree>
    <p:extLst>
      <p:ext uri="{BB962C8B-B14F-4D97-AF65-F5344CB8AC3E}">
        <p14:creationId xmlns:p14="http://schemas.microsoft.com/office/powerpoint/2010/main" val="2844645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本内容页">
    <p:spTree>
      <p:nvGrpSpPr>
        <p:cNvPr id="1" name=""/>
        <p:cNvGrpSpPr/>
        <p:nvPr/>
      </p:nvGrpSpPr>
      <p:grpSpPr>
        <a:xfrm>
          <a:off x="0" y="0"/>
          <a:ext cx="0" cy="0"/>
          <a:chOff x="0" y="0"/>
          <a:chExt cx="0" cy="0"/>
        </a:xfrm>
      </p:grpSpPr>
      <p:cxnSp>
        <p:nvCxnSpPr>
          <p:cNvPr id="7" name="直接连接符 6"/>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9"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sp>
        <p:nvSpPr>
          <p:cNvPr id="3" name="文本占位符 2"/>
          <p:cNvSpPr>
            <a:spLocks noGrp="1"/>
          </p:cNvSpPr>
          <p:nvPr>
            <p:ph type="body" sz="quarter" idx="10"/>
          </p:nvPr>
        </p:nvSpPr>
        <p:spPr>
          <a:xfrm>
            <a:off x="393599" y="813469"/>
            <a:ext cx="11404800" cy="5660163"/>
          </a:xfrm>
        </p:spPr>
        <p:txBody>
          <a:bodyPr/>
          <a:lstStyle>
            <a:lvl1pPr>
              <a:defRPr i="0" baseline="0">
                <a:solidFill>
                  <a:schemeClr val="accent6"/>
                </a:solidFill>
                <a:latin typeface="微软雅黑" panose="020B0503020204020204" pitchFamily="34" charset="-122"/>
                <a:ea typeface="微软雅黑" panose="020B0503020204020204" pitchFamily="34" charset="-122"/>
                <a:cs typeface="Segoe UI" panose="020B0502040204020203" pitchFamily="34" charset="0"/>
              </a:defRPr>
            </a:lvl1pPr>
            <a:lvl2pPr marL="990575" indent="-380990">
              <a:buFont typeface="Wingdings" panose="05000000000000000000" pitchFamily="2" charset="2"/>
              <a:buChar char="l"/>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2pPr>
            <a:lvl3pPr>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3pPr>
            <a:lvl4pPr>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4pPr>
            <a:lvl5pPr>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748370326"/>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例子内容页">
    <p:spTree>
      <p:nvGrpSpPr>
        <p:cNvPr id="1" name=""/>
        <p:cNvGrpSpPr/>
        <p:nvPr/>
      </p:nvGrpSpPr>
      <p:grpSpPr>
        <a:xfrm>
          <a:off x="0" y="0"/>
          <a:ext cx="0" cy="0"/>
          <a:chOff x="0" y="0"/>
          <a:chExt cx="0" cy="0"/>
        </a:xfrm>
      </p:grpSpPr>
      <p:sp>
        <p:nvSpPr>
          <p:cNvPr id="11" name="文本占位符 2"/>
          <p:cNvSpPr>
            <a:spLocks noGrp="1"/>
          </p:cNvSpPr>
          <p:nvPr>
            <p:ph type="body" sz="quarter" idx="10"/>
          </p:nvPr>
        </p:nvSpPr>
        <p:spPr>
          <a:xfrm>
            <a:off x="609599" y="816000"/>
            <a:ext cx="10972800" cy="5657629"/>
          </a:xfrm>
          <a:solidFill>
            <a:srgbClr val="B7C0D7">
              <a:alpha val="50196"/>
            </a:srgbClr>
          </a:solidFill>
        </p:spPr>
        <p:txBody>
          <a:bodyPr/>
          <a:lstStyle>
            <a:lvl1pPr>
              <a:defRPr b="0" i="0">
                <a:solidFill>
                  <a:schemeClr val="accent6"/>
                </a:solidFill>
                <a:latin typeface="微软雅黑" panose="020B0503020204020204" pitchFamily="34" charset="-122"/>
                <a:ea typeface="微软雅黑" panose="020B0503020204020204" pitchFamily="34" charset="-122"/>
              </a:defRPr>
            </a:lvl1pPr>
            <a:lvl2pPr>
              <a:defRPr>
                <a:solidFill>
                  <a:schemeClr val="accent6">
                    <a:lumMod val="75000"/>
                  </a:schemeClr>
                </a:solidFill>
                <a:latin typeface="微软雅黑" panose="020B0503020204020204" pitchFamily="34" charset="-122"/>
                <a:ea typeface="微软雅黑" panose="020B0503020204020204" pitchFamily="34" charset="-122"/>
              </a:defRPr>
            </a:lvl2pPr>
            <a:lvl3pPr>
              <a:defRPr>
                <a:solidFill>
                  <a:schemeClr val="accent6">
                    <a:lumMod val="75000"/>
                  </a:schemeClr>
                </a:solidFill>
                <a:latin typeface="微软雅黑" panose="020B0503020204020204" pitchFamily="34" charset="-122"/>
                <a:ea typeface="微软雅黑" panose="020B0503020204020204" pitchFamily="34" charset="-122"/>
              </a:defRPr>
            </a:lvl3pPr>
            <a:lvl4pPr>
              <a:defRPr>
                <a:solidFill>
                  <a:schemeClr val="accent6">
                    <a:lumMod val="75000"/>
                  </a:schemeClr>
                </a:solidFill>
                <a:latin typeface="微软雅黑" panose="020B0503020204020204" pitchFamily="34" charset="-122"/>
                <a:ea typeface="微软雅黑" panose="020B0503020204020204" pitchFamily="34" charset="-122"/>
              </a:defRPr>
            </a:lvl4pPr>
            <a:lvl5pPr>
              <a:defRPr>
                <a:solidFill>
                  <a:schemeClr val="accent6">
                    <a:lumMod val="75000"/>
                  </a:schemeClr>
                </a:solidFill>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Freeform 112"/>
          <p:cNvSpPr>
            <a:spLocks noChangeAspect="1" noChangeArrowheads="1"/>
          </p:cNvSpPr>
          <p:nvPr userDrawn="1"/>
        </p:nvSpPr>
        <p:spPr bwMode="auto">
          <a:xfrm>
            <a:off x="143339" y="816003"/>
            <a:ext cx="249600" cy="286156"/>
          </a:xfrm>
          <a:custGeom>
            <a:avLst/>
            <a:gdLst>
              <a:gd name="T0" fmla="*/ 410607 w 390"/>
              <a:gd name="T1" fmla="*/ 0 h 444"/>
              <a:gd name="T2" fmla="*/ 0 w 390"/>
              <a:gd name="T3" fmla="*/ 63592 h 444"/>
              <a:gd name="T4" fmla="*/ 52367 w 390"/>
              <a:gd name="T5" fmla="*/ 531536 h 444"/>
              <a:gd name="T6" fmla="*/ 462974 w 390"/>
              <a:gd name="T7" fmla="*/ 478742 h 444"/>
              <a:gd name="T8" fmla="*/ 410607 w 390"/>
              <a:gd name="T9" fmla="*/ 0 h 444"/>
              <a:gd name="T10" fmla="*/ 410607 w 390"/>
              <a:gd name="T11" fmla="*/ 478742 h 444"/>
              <a:gd name="T12" fmla="*/ 52367 w 390"/>
              <a:gd name="T13" fmla="*/ 63592 h 444"/>
              <a:gd name="T14" fmla="*/ 410607 w 390"/>
              <a:gd name="T15" fmla="*/ 478742 h 444"/>
              <a:gd name="T16" fmla="*/ 263026 w 390"/>
              <a:gd name="T17" fmla="*/ 329960 h 444"/>
              <a:gd name="T18" fmla="*/ 115446 w 390"/>
              <a:gd name="T19" fmla="*/ 362356 h 444"/>
              <a:gd name="T20" fmla="*/ 263026 w 390"/>
              <a:gd name="T21" fmla="*/ 329960 h 444"/>
              <a:gd name="T22" fmla="*/ 347528 w 390"/>
              <a:gd name="T23" fmla="*/ 212374 h 444"/>
              <a:gd name="T24" fmla="*/ 232082 w 390"/>
              <a:gd name="T25" fmla="*/ 235172 h 444"/>
              <a:gd name="T26" fmla="*/ 347528 w 390"/>
              <a:gd name="T27" fmla="*/ 212374 h 444"/>
              <a:gd name="T28" fmla="*/ 232082 w 390"/>
              <a:gd name="T29" fmla="*/ 181178 h 444"/>
              <a:gd name="T30" fmla="*/ 347528 w 390"/>
              <a:gd name="T31" fmla="*/ 117586 h 444"/>
              <a:gd name="T32" fmla="*/ 232082 w 390"/>
              <a:gd name="T33" fmla="*/ 181178 h 444"/>
              <a:gd name="T34" fmla="*/ 199948 w 390"/>
              <a:gd name="T35" fmla="*/ 117586 h 444"/>
              <a:gd name="T36" fmla="*/ 115446 w 390"/>
              <a:gd name="T37" fmla="*/ 235172 h 444"/>
              <a:gd name="T38" fmla="*/ 199948 w 390"/>
              <a:gd name="T39" fmla="*/ 117586 h 444"/>
              <a:gd name="T40" fmla="*/ 167813 w 390"/>
              <a:gd name="T41" fmla="*/ 266368 h 444"/>
              <a:gd name="T42" fmla="*/ 115446 w 390"/>
              <a:gd name="T43" fmla="*/ 298764 h 444"/>
              <a:gd name="T44" fmla="*/ 167813 w 390"/>
              <a:gd name="T45" fmla="*/ 266368 h 444"/>
              <a:gd name="T46" fmla="*/ 199948 w 390"/>
              <a:gd name="T47" fmla="*/ 298764 h 444"/>
              <a:gd name="T48" fmla="*/ 347528 w 390"/>
              <a:gd name="T49" fmla="*/ 266368 h 444"/>
              <a:gd name="T50" fmla="*/ 199948 w 390"/>
              <a:gd name="T51" fmla="*/ 298764 h 444"/>
              <a:gd name="T52" fmla="*/ 347528 w 390"/>
              <a:gd name="T53" fmla="*/ 382754 h 444"/>
              <a:gd name="T54" fmla="*/ 115446 w 390"/>
              <a:gd name="T55" fmla="*/ 415150 h 444"/>
              <a:gd name="T56" fmla="*/ 347528 w 390"/>
              <a:gd name="T57" fmla="*/ 382754 h 444"/>
              <a:gd name="T58" fmla="*/ 295161 w 390"/>
              <a:gd name="T59" fmla="*/ 362356 h 444"/>
              <a:gd name="T60" fmla="*/ 347528 w 390"/>
              <a:gd name="T61" fmla="*/ 329960 h 444"/>
              <a:gd name="T62" fmla="*/ 295161 w 390"/>
              <a:gd name="T63" fmla="*/ 362356 h 44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90" h="444">
                <a:moveTo>
                  <a:pt x="345" y="0"/>
                </a:moveTo>
                <a:lnTo>
                  <a:pt x="345" y="0"/>
                </a:lnTo>
                <a:cubicBezTo>
                  <a:pt x="44" y="0"/>
                  <a:pt x="44" y="0"/>
                  <a:pt x="44" y="0"/>
                </a:cubicBezTo>
                <a:cubicBezTo>
                  <a:pt x="17" y="0"/>
                  <a:pt x="0" y="27"/>
                  <a:pt x="0" y="53"/>
                </a:cubicBezTo>
                <a:cubicBezTo>
                  <a:pt x="0" y="399"/>
                  <a:pt x="0" y="399"/>
                  <a:pt x="0" y="399"/>
                </a:cubicBezTo>
                <a:cubicBezTo>
                  <a:pt x="0" y="425"/>
                  <a:pt x="17" y="443"/>
                  <a:pt x="44" y="443"/>
                </a:cubicBezTo>
                <a:cubicBezTo>
                  <a:pt x="345" y="443"/>
                  <a:pt x="345" y="443"/>
                  <a:pt x="345" y="443"/>
                </a:cubicBezTo>
                <a:cubicBezTo>
                  <a:pt x="372" y="443"/>
                  <a:pt x="389" y="425"/>
                  <a:pt x="389" y="399"/>
                </a:cubicBezTo>
                <a:cubicBezTo>
                  <a:pt x="389" y="53"/>
                  <a:pt x="389" y="53"/>
                  <a:pt x="389" y="53"/>
                </a:cubicBezTo>
                <a:cubicBezTo>
                  <a:pt x="389" y="27"/>
                  <a:pt x="372" y="0"/>
                  <a:pt x="345" y="0"/>
                </a:cubicBezTo>
                <a:close/>
                <a:moveTo>
                  <a:pt x="345" y="399"/>
                </a:moveTo>
                <a:lnTo>
                  <a:pt x="345" y="399"/>
                </a:lnTo>
                <a:cubicBezTo>
                  <a:pt x="44" y="399"/>
                  <a:pt x="44" y="399"/>
                  <a:pt x="44" y="399"/>
                </a:cubicBezTo>
                <a:cubicBezTo>
                  <a:pt x="44" y="53"/>
                  <a:pt x="44" y="53"/>
                  <a:pt x="44" y="53"/>
                </a:cubicBezTo>
                <a:cubicBezTo>
                  <a:pt x="345" y="53"/>
                  <a:pt x="345" y="53"/>
                  <a:pt x="345" y="53"/>
                </a:cubicBezTo>
                <a:lnTo>
                  <a:pt x="345" y="399"/>
                </a:lnTo>
                <a:close/>
                <a:moveTo>
                  <a:pt x="221" y="275"/>
                </a:moveTo>
                <a:lnTo>
                  <a:pt x="221" y="275"/>
                </a:lnTo>
                <a:cubicBezTo>
                  <a:pt x="97" y="275"/>
                  <a:pt x="97" y="275"/>
                  <a:pt x="97" y="275"/>
                </a:cubicBezTo>
                <a:cubicBezTo>
                  <a:pt x="97" y="302"/>
                  <a:pt x="97" y="302"/>
                  <a:pt x="97" y="302"/>
                </a:cubicBezTo>
                <a:cubicBezTo>
                  <a:pt x="221" y="302"/>
                  <a:pt x="221" y="302"/>
                  <a:pt x="221" y="302"/>
                </a:cubicBezTo>
                <a:lnTo>
                  <a:pt x="221" y="275"/>
                </a:lnTo>
                <a:close/>
                <a:moveTo>
                  <a:pt x="292" y="177"/>
                </a:moveTo>
                <a:lnTo>
                  <a:pt x="292" y="177"/>
                </a:lnTo>
                <a:cubicBezTo>
                  <a:pt x="195" y="177"/>
                  <a:pt x="195" y="177"/>
                  <a:pt x="195" y="177"/>
                </a:cubicBezTo>
                <a:cubicBezTo>
                  <a:pt x="195" y="196"/>
                  <a:pt x="195" y="196"/>
                  <a:pt x="195" y="196"/>
                </a:cubicBezTo>
                <a:cubicBezTo>
                  <a:pt x="292" y="196"/>
                  <a:pt x="292" y="196"/>
                  <a:pt x="292" y="196"/>
                </a:cubicBezTo>
                <a:lnTo>
                  <a:pt x="292" y="177"/>
                </a:lnTo>
                <a:close/>
                <a:moveTo>
                  <a:pt x="195" y="151"/>
                </a:moveTo>
                <a:lnTo>
                  <a:pt x="195" y="151"/>
                </a:lnTo>
                <a:cubicBezTo>
                  <a:pt x="292" y="151"/>
                  <a:pt x="292" y="151"/>
                  <a:pt x="292" y="151"/>
                </a:cubicBezTo>
                <a:cubicBezTo>
                  <a:pt x="292" y="98"/>
                  <a:pt x="292" y="98"/>
                  <a:pt x="292" y="98"/>
                </a:cubicBezTo>
                <a:cubicBezTo>
                  <a:pt x="195" y="98"/>
                  <a:pt x="195" y="98"/>
                  <a:pt x="195" y="98"/>
                </a:cubicBezTo>
                <a:lnTo>
                  <a:pt x="195" y="151"/>
                </a:lnTo>
                <a:close/>
                <a:moveTo>
                  <a:pt x="168" y="98"/>
                </a:moveTo>
                <a:lnTo>
                  <a:pt x="168" y="98"/>
                </a:lnTo>
                <a:cubicBezTo>
                  <a:pt x="97" y="98"/>
                  <a:pt x="97" y="98"/>
                  <a:pt x="97" y="98"/>
                </a:cubicBezTo>
                <a:cubicBezTo>
                  <a:pt x="97" y="196"/>
                  <a:pt x="97" y="196"/>
                  <a:pt x="97" y="196"/>
                </a:cubicBezTo>
                <a:cubicBezTo>
                  <a:pt x="168" y="196"/>
                  <a:pt x="168" y="196"/>
                  <a:pt x="168" y="196"/>
                </a:cubicBezTo>
                <a:lnTo>
                  <a:pt x="168" y="98"/>
                </a:lnTo>
                <a:close/>
                <a:moveTo>
                  <a:pt x="141" y="222"/>
                </a:moveTo>
                <a:lnTo>
                  <a:pt x="141" y="222"/>
                </a:lnTo>
                <a:cubicBezTo>
                  <a:pt x="97" y="222"/>
                  <a:pt x="97" y="222"/>
                  <a:pt x="97" y="222"/>
                </a:cubicBezTo>
                <a:cubicBezTo>
                  <a:pt x="97" y="249"/>
                  <a:pt x="97" y="249"/>
                  <a:pt x="97" y="249"/>
                </a:cubicBezTo>
                <a:cubicBezTo>
                  <a:pt x="141" y="249"/>
                  <a:pt x="141" y="249"/>
                  <a:pt x="141" y="249"/>
                </a:cubicBezTo>
                <a:lnTo>
                  <a:pt x="141" y="222"/>
                </a:lnTo>
                <a:close/>
                <a:moveTo>
                  <a:pt x="168" y="249"/>
                </a:moveTo>
                <a:lnTo>
                  <a:pt x="168" y="249"/>
                </a:lnTo>
                <a:cubicBezTo>
                  <a:pt x="292" y="249"/>
                  <a:pt x="292" y="249"/>
                  <a:pt x="292" y="249"/>
                </a:cubicBezTo>
                <a:cubicBezTo>
                  <a:pt x="292" y="222"/>
                  <a:pt x="292" y="222"/>
                  <a:pt x="292" y="222"/>
                </a:cubicBezTo>
                <a:cubicBezTo>
                  <a:pt x="168" y="222"/>
                  <a:pt x="168" y="222"/>
                  <a:pt x="168" y="222"/>
                </a:cubicBezTo>
                <a:lnTo>
                  <a:pt x="168" y="249"/>
                </a:lnTo>
                <a:close/>
                <a:moveTo>
                  <a:pt x="292" y="319"/>
                </a:moveTo>
                <a:lnTo>
                  <a:pt x="292" y="319"/>
                </a:lnTo>
                <a:cubicBezTo>
                  <a:pt x="97" y="319"/>
                  <a:pt x="97" y="319"/>
                  <a:pt x="97" y="319"/>
                </a:cubicBezTo>
                <a:cubicBezTo>
                  <a:pt x="97" y="346"/>
                  <a:pt x="97" y="346"/>
                  <a:pt x="97" y="346"/>
                </a:cubicBezTo>
                <a:cubicBezTo>
                  <a:pt x="292" y="346"/>
                  <a:pt x="292" y="346"/>
                  <a:pt x="292" y="346"/>
                </a:cubicBezTo>
                <a:lnTo>
                  <a:pt x="292" y="319"/>
                </a:lnTo>
                <a:close/>
                <a:moveTo>
                  <a:pt x="248" y="302"/>
                </a:moveTo>
                <a:lnTo>
                  <a:pt x="248" y="302"/>
                </a:lnTo>
                <a:cubicBezTo>
                  <a:pt x="292" y="302"/>
                  <a:pt x="292" y="302"/>
                  <a:pt x="292" y="302"/>
                </a:cubicBezTo>
                <a:cubicBezTo>
                  <a:pt x="292" y="275"/>
                  <a:pt x="292" y="275"/>
                  <a:pt x="292" y="275"/>
                </a:cubicBezTo>
                <a:cubicBezTo>
                  <a:pt x="248" y="275"/>
                  <a:pt x="248" y="275"/>
                  <a:pt x="248" y="275"/>
                </a:cubicBezTo>
                <a:lnTo>
                  <a:pt x="248" y="302"/>
                </a:lnTo>
                <a:close/>
              </a:path>
            </a:pathLst>
          </a:custGeom>
          <a:solidFill>
            <a:srgbClr val="5F4B8B"/>
          </a:solidFill>
          <a:ln>
            <a:noFill/>
          </a:ln>
          <a:effectLst>
            <a:outerShdw blurRad="25400" dist="12700" dir="2700000" algn="tl" rotWithShape="0">
              <a:prstClr val="black">
                <a:alpha val="40000"/>
              </a:prstClr>
            </a:outerShdw>
          </a:effectLst>
          <a:extLst/>
        </p:spPr>
        <p:txBody>
          <a:bodyPr wrap="none" lIns="45720" tIns="22860" rIns="45720" bIns="2286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cxnSp>
        <p:nvCxnSpPr>
          <p:cNvPr id="16" name="直接连接符 1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17"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spTree>
    <p:extLst>
      <p:ext uri="{BB962C8B-B14F-4D97-AF65-F5344CB8AC3E}">
        <p14:creationId xmlns:p14="http://schemas.microsoft.com/office/powerpoint/2010/main" val="2994730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672000"/>
            <a:ext cx="9264352" cy="0"/>
          </a:xfrm>
          <a:prstGeom prst="line">
            <a:avLst/>
          </a:prstGeom>
          <a:noFill/>
          <a:ln w="38100">
            <a:solidFill>
              <a:srgbClr val="5F4B8B"/>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i="0">
                <a:latin typeface="微软雅黑" panose="020B0503020204020204" pitchFamily="34" charset="-122"/>
                <a:ea typeface="微软雅黑" panose="020B0503020204020204" pitchFamily="34" charset="-122"/>
              </a:defRPr>
            </a:lvl1pPr>
            <a:lvl2pPr>
              <a:lnSpc>
                <a:spcPct val="120000"/>
              </a:lnSpc>
              <a:spcBef>
                <a:spcPts val="0"/>
              </a:spcBef>
              <a:defRPr baseline="0">
                <a:solidFill>
                  <a:schemeClr val="accent6"/>
                </a:solidFill>
                <a:latin typeface="微软雅黑" panose="020B0503020204020204" pitchFamily="34" charset="-122"/>
                <a:ea typeface="微软雅黑" panose="020B0503020204020204" pitchFamily="34" charset="-122"/>
              </a:defRPr>
            </a:lvl2pPr>
          </a:lstStyle>
          <a:p>
            <a:pPr lvl="0"/>
            <a:r>
              <a:rPr lang="zh-CN" altLang="en-US" dirty="0"/>
              <a:t>编辑母版文本样式</a:t>
            </a:r>
          </a:p>
          <a:p>
            <a:pPr lvl="1"/>
            <a:r>
              <a:rPr lang="zh-CN" altLang="en-US" dirty="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T</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40"/>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hank You! </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1513862343"/>
      </p:ext>
    </p:extLst>
  </p:cSld>
  <p:clrMapOvr>
    <a:masterClrMapping/>
  </p:clrMapOvr>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524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科目权重页">
    <p:spTree>
      <p:nvGrpSpPr>
        <p:cNvPr id="1" name=""/>
        <p:cNvGrpSpPr/>
        <p:nvPr/>
      </p:nvGrpSpPr>
      <p:grpSpPr>
        <a:xfrm>
          <a:off x="0" y="0"/>
          <a:ext cx="0" cy="0"/>
          <a:chOff x="0" y="0"/>
          <a:chExt cx="0" cy="0"/>
        </a:xfrm>
      </p:grpSpPr>
      <p:sp>
        <p:nvSpPr>
          <p:cNvPr id="15"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cxnSp>
        <p:nvCxnSpPr>
          <p:cNvPr id="6" name="直接连接符 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7"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3749400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科目框架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672000"/>
            <a:ext cx="9264352" cy="0"/>
          </a:xfrm>
          <a:prstGeom prst="line">
            <a:avLst/>
          </a:prstGeom>
          <a:noFill/>
          <a:ln w="38100">
            <a:solidFill>
              <a:srgbClr val="5F4B8B"/>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baseline="0">
                <a:solidFill>
                  <a:schemeClr val="accent6">
                    <a:lumMod val="50000"/>
                  </a:schemeClr>
                </a:solidFill>
              </a:defRPr>
            </a:lvl1pPr>
            <a:lvl2pPr>
              <a:lnSpc>
                <a:spcPct val="120000"/>
              </a:lnSpc>
              <a:spcBef>
                <a:spcPts val="0"/>
              </a:spcBef>
              <a:defRPr i="0"/>
            </a:lvl2pPr>
          </a:lstStyle>
          <a:p>
            <a:pPr lvl="0"/>
            <a:r>
              <a:rPr lang="zh-CN" altLang="en-US" dirty="0"/>
              <a:t>编辑母版文本样式</a:t>
            </a:r>
          </a:p>
          <a:p>
            <a:pPr lvl="1"/>
            <a:r>
              <a:rPr lang="zh-CN" altLang="en-US" dirty="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F</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39"/>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ramework</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2653987345"/>
      </p:ext>
    </p:extLst>
  </p:cSld>
  <p:clrMapOvr>
    <a:masterClrMapping/>
  </p:clrMapOvr>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ading的知识点框架页">
    <p:spTree>
      <p:nvGrpSpPr>
        <p:cNvPr id="1" name=""/>
        <p:cNvGrpSpPr/>
        <p:nvPr/>
      </p:nvGrpSpPr>
      <p:grpSpPr>
        <a:xfrm>
          <a:off x="0" y="0"/>
          <a:ext cx="0" cy="0"/>
          <a:chOff x="0" y="0"/>
          <a:chExt cx="0" cy="0"/>
        </a:xfrm>
      </p:grpSpPr>
      <p:sp>
        <p:nvSpPr>
          <p:cNvPr id="3" name="矩形 2"/>
          <p:cNvSpPr/>
          <p:nvPr userDrawn="1"/>
        </p:nvSpPr>
        <p:spPr>
          <a:xfrm>
            <a:off x="7295456" y="3115511"/>
            <a:ext cx="4896544" cy="1056117"/>
          </a:xfrm>
          <a:prstGeom prst="rect">
            <a:avLst/>
          </a:prstGeom>
          <a:noFill/>
          <a:ln>
            <a:noFill/>
          </a:ln>
          <a:effectLst>
            <a:outerShdw blurRad="254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3"/>
                </a:solidFill>
                <a:effectLst/>
                <a:uLnTx/>
                <a:uFillTx/>
                <a:latin typeface="Roboto" panose="02000000000000000000" pitchFamily="2" charset="0"/>
                <a:ea typeface="Roboto" panose="02000000000000000000" pitchFamily="2" charset="0"/>
                <a:cs typeface="Roboto" panose="02000000000000000000" pitchFamily="2" charset="0"/>
              </a:rPr>
              <a:t>FRAMEWORK</a:t>
            </a:r>
            <a:endParaRPr kumimoji="0" lang="zh-CN" altLang="en-US" sz="6000" b="1" i="0" u="none" strike="noStrike" kern="1200" cap="none" spc="0" normalizeH="0" baseline="0" noProof="0" dirty="0">
              <a:ln>
                <a:noFill/>
              </a:ln>
              <a:solidFill>
                <a:schemeClr val="accent3"/>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5" name="文本占位符 4"/>
          <p:cNvSpPr>
            <a:spLocks noGrp="1"/>
          </p:cNvSpPr>
          <p:nvPr>
            <p:ph type="body" sz="quarter" idx="10"/>
          </p:nvPr>
        </p:nvSpPr>
        <p:spPr>
          <a:xfrm>
            <a:off x="393600" y="624043"/>
            <a:ext cx="6758517" cy="5838796"/>
          </a:xfrm>
        </p:spPr>
        <p:txBody>
          <a:bodyPr/>
          <a:lstStyle>
            <a:lvl1pPr marL="457189" indent="-457189">
              <a:buFont typeface="+mj-lt"/>
              <a:buAutoNum type="arabicPeriod"/>
              <a:defRPr i="0" baseline="0"/>
            </a:lvl1pPr>
          </a:lstStyle>
          <a:p>
            <a:pPr lvl="0"/>
            <a:endParaRPr lang="zh-CN" altLang="en-US" dirty="0"/>
          </a:p>
        </p:txBody>
      </p:sp>
      <p:sp>
        <p:nvSpPr>
          <p:cNvPr id="9" name="圆角右箭头 8"/>
          <p:cNvSpPr/>
          <p:nvPr userDrawn="1"/>
        </p:nvSpPr>
        <p:spPr>
          <a:xfrm rot="5400000">
            <a:off x="974533" y="5522"/>
            <a:ext cx="6114479" cy="6816759"/>
          </a:xfrm>
          <a:prstGeom prst="bentArrow">
            <a:avLst>
              <a:gd name="adj1" fmla="val 2008"/>
              <a:gd name="adj2" fmla="val 2623"/>
              <a:gd name="adj3" fmla="val 2444"/>
              <a:gd name="adj4" fmla="val 6713"/>
            </a:avLst>
          </a:prstGeom>
          <a:solidFill>
            <a:srgbClr val="BCB4C4"/>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AutoShape 52"/>
          <p:cNvSpPr>
            <a:spLocks noChangeAspect="1"/>
          </p:cNvSpPr>
          <p:nvPr userDrawn="1"/>
        </p:nvSpPr>
        <p:spPr bwMode="auto">
          <a:xfrm>
            <a:off x="144000" y="212659"/>
            <a:ext cx="285824" cy="28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708" y="14020"/>
                </a:moveTo>
                <a:cubicBezTo>
                  <a:pt x="20951" y="14020"/>
                  <a:pt x="21161" y="14125"/>
                  <a:pt x="21335" y="14334"/>
                </a:cubicBezTo>
                <a:cubicBezTo>
                  <a:pt x="21511" y="14548"/>
                  <a:pt x="21599" y="14810"/>
                  <a:pt x="21599" y="15115"/>
                </a:cubicBezTo>
                <a:lnTo>
                  <a:pt x="21599" y="20504"/>
                </a:lnTo>
                <a:cubicBezTo>
                  <a:pt x="21599" y="20815"/>
                  <a:pt x="21511" y="21071"/>
                  <a:pt x="21335" y="21285"/>
                </a:cubicBezTo>
                <a:cubicBezTo>
                  <a:pt x="21161" y="21494"/>
                  <a:pt x="20951" y="21599"/>
                  <a:pt x="20708" y="21599"/>
                </a:cubicBezTo>
                <a:lnTo>
                  <a:pt x="16197" y="21599"/>
                </a:lnTo>
                <a:cubicBezTo>
                  <a:pt x="15940" y="21599"/>
                  <a:pt x="15729" y="21494"/>
                  <a:pt x="15563" y="21285"/>
                </a:cubicBezTo>
                <a:cubicBezTo>
                  <a:pt x="15399" y="21071"/>
                  <a:pt x="15316" y="20815"/>
                  <a:pt x="15316" y="20504"/>
                </a:cubicBezTo>
                <a:lnTo>
                  <a:pt x="15316" y="15115"/>
                </a:lnTo>
                <a:cubicBezTo>
                  <a:pt x="15316" y="14810"/>
                  <a:pt x="15399" y="14548"/>
                  <a:pt x="15570" y="14334"/>
                </a:cubicBezTo>
                <a:cubicBezTo>
                  <a:pt x="15737" y="14125"/>
                  <a:pt x="15945" y="14020"/>
                  <a:pt x="16197" y="14020"/>
                </a:cubicBezTo>
                <a:lnTo>
                  <a:pt x="17788" y="14020"/>
                </a:lnTo>
                <a:lnTo>
                  <a:pt x="17788" y="11869"/>
                </a:lnTo>
                <a:cubicBezTo>
                  <a:pt x="17788" y="11699"/>
                  <a:pt x="17707" y="11610"/>
                  <a:pt x="17543" y="11602"/>
                </a:cubicBezTo>
                <a:lnTo>
                  <a:pt x="11473" y="11602"/>
                </a:lnTo>
                <a:lnTo>
                  <a:pt x="11473" y="14019"/>
                </a:lnTo>
                <a:lnTo>
                  <a:pt x="13054" y="14019"/>
                </a:lnTo>
                <a:cubicBezTo>
                  <a:pt x="13296" y="14019"/>
                  <a:pt x="13507" y="14125"/>
                  <a:pt x="13681" y="14334"/>
                </a:cubicBezTo>
                <a:cubicBezTo>
                  <a:pt x="13857" y="14548"/>
                  <a:pt x="13945" y="14810"/>
                  <a:pt x="13945" y="15115"/>
                </a:cubicBezTo>
                <a:lnTo>
                  <a:pt x="13945" y="20504"/>
                </a:lnTo>
                <a:cubicBezTo>
                  <a:pt x="13945" y="20815"/>
                  <a:pt x="13857" y="21071"/>
                  <a:pt x="13681" y="21285"/>
                </a:cubicBezTo>
                <a:cubicBezTo>
                  <a:pt x="13507" y="21494"/>
                  <a:pt x="13296" y="21599"/>
                  <a:pt x="13054" y="21599"/>
                </a:cubicBezTo>
                <a:lnTo>
                  <a:pt x="8543" y="21599"/>
                </a:lnTo>
                <a:cubicBezTo>
                  <a:pt x="8298" y="21599"/>
                  <a:pt x="8090" y="21494"/>
                  <a:pt x="7913" y="21285"/>
                </a:cubicBezTo>
                <a:cubicBezTo>
                  <a:pt x="7740" y="21071"/>
                  <a:pt x="7651" y="20815"/>
                  <a:pt x="7651" y="20504"/>
                </a:cubicBezTo>
                <a:lnTo>
                  <a:pt x="7651" y="15115"/>
                </a:lnTo>
                <a:cubicBezTo>
                  <a:pt x="7651" y="14810"/>
                  <a:pt x="7740" y="14548"/>
                  <a:pt x="7913" y="14334"/>
                </a:cubicBezTo>
                <a:cubicBezTo>
                  <a:pt x="8090" y="14125"/>
                  <a:pt x="8298" y="14019"/>
                  <a:pt x="8543" y="14019"/>
                </a:cubicBezTo>
                <a:lnTo>
                  <a:pt x="10124" y="14019"/>
                </a:lnTo>
                <a:lnTo>
                  <a:pt x="10124" y="11602"/>
                </a:lnTo>
                <a:lnTo>
                  <a:pt x="4056" y="11602"/>
                </a:lnTo>
                <a:cubicBezTo>
                  <a:pt x="3901" y="11602"/>
                  <a:pt x="3821" y="11690"/>
                  <a:pt x="3821" y="11869"/>
                </a:cubicBezTo>
                <a:lnTo>
                  <a:pt x="3821" y="14020"/>
                </a:lnTo>
                <a:lnTo>
                  <a:pt x="5402" y="14020"/>
                </a:lnTo>
                <a:cubicBezTo>
                  <a:pt x="5661" y="14020"/>
                  <a:pt x="5874" y="14125"/>
                  <a:pt x="6053" y="14334"/>
                </a:cubicBezTo>
                <a:cubicBezTo>
                  <a:pt x="6229" y="14548"/>
                  <a:pt x="6315" y="14810"/>
                  <a:pt x="6315" y="15115"/>
                </a:cubicBezTo>
                <a:lnTo>
                  <a:pt x="6315" y="20504"/>
                </a:lnTo>
                <a:cubicBezTo>
                  <a:pt x="6315" y="20815"/>
                  <a:pt x="6229" y="21071"/>
                  <a:pt x="6053" y="21285"/>
                </a:cubicBezTo>
                <a:cubicBezTo>
                  <a:pt x="5877" y="21494"/>
                  <a:pt x="5664" y="21599"/>
                  <a:pt x="5402" y="21599"/>
                </a:cubicBezTo>
                <a:lnTo>
                  <a:pt x="913" y="21599"/>
                </a:lnTo>
                <a:cubicBezTo>
                  <a:pt x="658" y="21599"/>
                  <a:pt x="440" y="21494"/>
                  <a:pt x="261" y="21285"/>
                </a:cubicBezTo>
                <a:cubicBezTo>
                  <a:pt x="88" y="21071"/>
                  <a:pt x="0" y="20815"/>
                  <a:pt x="0" y="20504"/>
                </a:cubicBezTo>
                <a:lnTo>
                  <a:pt x="0" y="15115"/>
                </a:lnTo>
                <a:cubicBezTo>
                  <a:pt x="0" y="14810"/>
                  <a:pt x="88" y="14548"/>
                  <a:pt x="261" y="14334"/>
                </a:cubicBezTo>
                <a:cubicBezTo>
                  <a:pt x="438" y="14125"/>
                  <a:pt x="656" y="14020"/>
                  <a:pt x="913" y="14020"/>
                </a:cubicBezTo>
                <a:lnTo>
                  <a:pt x="2472" y="14020"/>
                </a:lnTo>
                <a:lnTo>
                  <a:pt x="2472" y="11869"/>
                </a:lnTo>
                <a:cubicBezTo>
                  <a:pt x="2472" y="11352"/>
                  <a:pt x="2629" y="10911"/>
                  <a:pt x="2942" y="10544"/>
                </a:cubicBezTo>
                <a:cubicBezTo>
                  <a:pt x="3253" y="10180"/>
                  <a:pt x="3622" y="9997"/>
                  <a:pt x="4053" y="9997"/>
                </a:cubicBezTo>
                <a:lnTo>
                  <a:pt x="10121" y="9997"/>
                </a:lnTo>
                <a:lnTo>
                  <a:pt x="10121" y="7550"/>
                </a:lnTo>
                <a:lnTo>
                  <a:pt x="8540" y="7550"/>
                </a:lnTo>
                <a:cubicBezTo>
                  <a:pt x="8295" y="7550"/>
                  <a:pt x="8087" y="7450"/>
                  <a:pt x="7911" y="7248"/>
                </a:cubicBezTo>
                <a:cubicBezTo>
                  <a:pt x="7737" y="7045"/>
                  <a:pt x="7649" y="6789"/>
                  <a:pt x="7649" y="6484"/>
                </a:cubicBezTo>
                <a:lnTo>
                  <a:pt x="7649" y="1066"/>
                </a:lnTo>
                <a:cubicBezTo>
                  <a:pt x="7649" y="775"/>
                  <a:pt x="7737" y="522"/>
                  <a:pt x="7911" y="314"/>
                </a:cubicBezTo>
                <a:cubicBezTo>
                  <a:pt x="8087" y="102"/>
                  <a:pt x="8295" y="0"/>
                  <a:pt x="8540" y="0"/>
                </a:cubicBezTo>
                <a:lnTo>
                  <a:pt x="13052" y="0"/>
                </a:lnTo>
                <a:cubicBezTo>
                  <a:pt x="13294" y="0"/>
                  <a:pt x="13504" y="102"/>
                  <a:pt x="13678" y="314"/>
                </a:cubicBezTo>
                <a:cubicBezTo>
                  <a:pt x="13854" y="522"/>
                  <a:pt x="13943" y="775"/>
                  <a:pt x="13943" y="1066"/>
                </a:cubicBezTo>
                <a:lnTo>
                  <a:pt x="13943" y="6484"/>
                </a:lnTo>
                <a:cubicBezTo>
                  <a:pt x="13943" y="6789"/>
                  <a:pt x="13854" y="7045"/>
                  <a:pt x="13678" y="7248"/>
                </a:cubicBezTo>
                <a:cubicBezTo>
                  <a:pt x="13504" y="7450"/>
                  <a:pt x="13294" y="7550"/>
                  <a:pt x="13052" y="7550"/>
                </a:cubicBezTo>
                <a:lnTo>
                  <a:pt x="11470" y="7550"/>
                </a:lnTo>
                <a:lnTo>
                  <a:pt x="11470" y="9997"/>
                </a:lnTo>
                <a:lnTo>
                  <a:pt x="17541" y="9997"/>
                </a:lnTo>
                <a:cubicBezTo>
                  <a:pt x="17969" y="9997"/>
                  <a:pt x="18339" y="10177"/>
                  <a:pt x="18652" y="10538"/>
                </a:cubicBezTo>
                <a:cubicBezTo>
                  <a:pt x="18966" y="10899"/>
                  <a:pt x="19122" y="11343"/>
                  <a:pt x="19122" y="11869"/>
                </a:cubicBezTo>
                <a:lnTo>
                  <a:pt x="19122" y="14020"/>
                </a:lnTo>
                <a:lnTo>
                  <a:pt x="20708" y="14020"/>
                </a:lnTo>
                <a:close/>
              </a:path>
            </a:pathLst>
          </a:custGeom>
          <a:solidFill>
            <a:schemeClr val="accent6">
              <a:lumMod val="50000"/>
            </a:schemeClr>
          </a:solidFill>
          <a:ln>
            <a:noFill/>
          </a:ln>
          <a:effectLst>
            <a:outerShdw blurRad="25400" dist="12700" dir="8100000" algn="tr" rotWithShape="0">
              <a:srgbClr val="5F4B8B">
                <a:alpha val="40000"/>
              </a:srgbClr>
            </a:outerShdw>
          </a:effectLst>
          <a:extLst/>
        </p:spPr>
        <p:txBody>
          <a:bodyPr lIns="50789" tIns="50789" rIns="50789" bIns="50789" anchor="ctr"/>
          <a:lstStyle/>
          <a:p>
            <a:pPr marL="0" marR="0" lvl="0" indent="0" algn="l" defTabSz="457086" rtl="0" eaLnBrk="1" fontAlgn="auto" latinLnBrk="0" hangingPunct="1">
              <a:lnSpc>
                <a:spcPct val="100000"/>
              </a:lnSpc>
              <a:spcBef>
                <a:spcPts val="0"/>
              </a:spcBef>
              <a:spcAft>
                <a:spcPts val="0"/>
              </a:spcAft>
              <a:buClrTx/>
              <a:buSzTx/>
              <a:buFontTx/>
              <a:buNone/>
              <a:tabLst/>
              <a:defRPr/>
            </a:pPr>
            <a:endParaRPr kumimoji="0" lang="es-ES" sz="2933" b="0" i="0" u="none" strike="noStrike" kern="1200" cap="none" spc="0" normalizeH="0" baseline="0" noProof="0" dirty="0">
              <a:ln>
                <a:noFill/>
              </a:ln>
              <a:solidFill>
                <a:prstClr val="white"/>
              </a:solidFill>
              <a:effectLst>
                <a:outerShdw blurRad="38100" dist="38100" dir="2700000" algn="tl">
                  <a:srgbClr val="000000"/>
                </a:outerShdw>
              </a:effectLst>
              <a:uLnTx/>
              <a:uFillTx/>
              <a:latin typeface="Gill Sans" charset="0"/>
              <a:ea typeface="+mn-ea"/>
              <a:cs typeface="Gill Sans" charset="0"/>
              <a:sym typeface="Gill Sans" charset="0"/>
            </a:endParaRPr>
          </a:p>
        </p:txBody>
      </p:sp>
    </p:spTree>
    <p:extLst>
      <p:ext uri="{BB962C8B-B14F-4D97-AF65-F5344CB8AC3E}">
        <p14:creationId xmlns:p14="http://schemas.microsoft.com/office/powerpoint/2010/main" val="3540077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文本内容页">
    <p:spTree>
      <p:nvGrpSpPr>
        <p:cNvPr id="1" name=""/>
        <p:cNvGrpSpPr/>
        <p:nvPr/>
      </p:nvGrpSpPr>
      <p:grpSpPr>
        <a:xfrm>
          <a:off x="0" y="0"/>
          <a:ext cx="0" cy="0"/>
          <a:chOff x="0" y="0"/>
          <a:chExt cx="0" cy="0"/>
        </a:xfrm>
      </p:grpSpPr>
      <p:cxnSp>
        <p:nvCxnSpPr>
          <p:cNvPr id="7" name="直接连接符 6"/>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9"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sp>
        <p:nvSpPr>
          <p:cNvPr id="3" name="文本占位符 2"/>
          <p:cNvSpPr>
            <a:spLocks noGrp="1"/>
          </p:cNvSpPr>
          <p:nvPr>
            <p:ph type="body" sz="quarter" idx="10"/>
          </p:nvPr>
        </p:nvSpPr>
        <p:spPr>
          <a:xfrm>
            <a:off x="393599" y="813468"/>
            <a:ext cx="11404800" cy="5660163"/>
          </a:xfrm>
        </p:spPr>
        <p:txBody>
          <a:bodyPr/>
          <a:lstStyle>
            <a:lvl1pPr>
              <a:lnSpc>
                <a:spcPct val="150000"/>
              </a:lnSpc>
              <a:defRPr b="1" i="0" baseline="0">
                <a:solidFill>
                  <a:schemeClr val="accent6"/>
                </a:solidFill>
                <a:latin typeface="微软雅黑" panose="020B0503020204020204" pitchFamily="34" charset="-122"/>
                <a:ea typeface="微软雅黑" panose="020B0503020204020204" pitchFamily="34" charset="-122"/>
              </a:defRPr>
            </a:lvl1pPr>
            <a:lvl2pPr marL="990575" indent="-380990">
              <a:lnSpc>
                <a:spcPct val="150000"/>
              </a:lnSpc>
              <a:buFont typeface="Wingdings" panose="05000000000000000000" pitchFamily="2" charset="2"/>
              <a:buChar char="l"/>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2pPr>
            <a:lvl3pPr>
              <a:lnSpc>
                <a:spcPct val="150000"/>
              </a:lnSpc>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3pPr>
            <a:lvl4pPr>
              <a:lnSpc>
                <a:spcPct val="150000"/>
              </a:lnSpc>
              <a:defRPr>
                <a:solidFill>
                  <a:schemeClr val="tx1"/>
                </a:solidFill>
                <a:latin typeface="微软雅黑" panose="020B0503020204020204" pitchFamily="34" charset="-122"/>
                <a:ea typeface="微软雅黑" panose="020B0503020204020204" pitchFamily="34" charset="-122"/>
              </a:defRPr>
            </a:lvl4pPr>
            <a:lvl5pPr>
              <a:lnSpc>
                <a:spcPct val="150000"/>
              </a:lnSpc>
              <a:defRPr>
                <a:solidFill>
                  <a:schemeClr val="tx1"/>
                </a:solidFill>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035228403"/>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例子内容页">
    <p:spTree>
      <p:nvGrpSpPr>
        <p:cNvPr id="1" name=""/>
        <p:cNvGrpSpPr/>
        <p:nvPr/>
      </p:nvGrpSpPr>
      <p:grpSpPr>
        <a:xfrm>
          <a:off x="0" y="0"/>
          <a:ext cx="0" cy="0"/>
          <a:chOff x="0" y="0"/>
          <a:chExt cx="0" cy="0"/>
        </a:xfrm>
      </p:grpSpPr>
      <p:sp>
        <p:nvSpPr>
          <p:cNvPr id="11" name="文本占位符 2"/>
          <p:cNvSpPr>
            <a:spLocks noGrp="1"/>
          </p:cNvSpPr>
          <p:nvPr>
            <p:ph type="body" sz="quarter" idx="10"/>
          </p:nvPr>
        </p:nvSpPr>
        <p:spPr>
          <a:xfrm>
            <a:off x="609600" y="816002"/>
            <a:ext cx="10972800" cy="5657629"/>
          </a:xfrm>
          <a:solidFill>
            <a:schemeClr val="accent1">
              <a:lumMod val="40000"/>
              <a:lumOff val="60000"/>
              <a:alpha val="50196"/>
            </a:schemeClr>
          </a:solidFill>
        </p:spPr>
        <p:txBody>
          <a:bodyPr/>
          <a:lstStyle>
            <a:lvl1pPr>
              <a:defRPr baseline="0">
                <a:solidFill>
                  <a:schemeClr val="accent6"/>
                </a:solidFill>
                <a:latin typeface="微软雅黑" panose="020B0503020204020204" pitchFamily="34" charset="-122"/>
                <a:ea typeface="微软雅黑" panose="020B0503020204020204" pitchFamily="34" charset="-122"/>
              </a:defRPr>
            </a:lvl1pPr>
            <a:lvl2pPr>
              <a:defRPr>
                <a:solidFill>
                  <a:srgbClr val="002060"/>
                </a:solidFill>
                <a:latin typeface="微软雅黑" panose="020B0503020204020204" pitchFamily="34" charset="-122"/>
                <a:ea typeface="微软雅黑" panose="020B0503020204020204" pitchFamily="34" charset="-122"/>
              </a:defRPr>
            </a:lvl2pPr>
            <a:lvl3pPr>
              <a:defRPr>
                <a:solidFill>
                  <a:srgbClr val="002060"/>
                </a:solidFill>
                <a:latin typeface="微软雅黑" panose="020B0503020204020204" pitchFamily="34" charset="-122"/>
                <a:ea typeface="微软雅黑" panose="020B0503020204020204" pitchFamily="34" charset="-122"/>
              </a:defRPr>
            </a:lvl3pPr>
            <a:lvl4pPr>
              <a:defRPr>
                <a:solidFill>
                  <a:srgbClr val="002060"/>
                </a:solidFill>
                <a:latin typeface="微软雅黑" panose="020B0503020204020204" pitchFamily="34" charset="-122"/>
                <a:ea typeface="微软雅黑" panose="020B0503020204020204" pitchFamily="34" charset="-122"/>
              </a:defRPr>
            </a:lvl4pPr>
            <a:lvl5pPr>
              <a:defRPr>
                <a:solidFill>
                  <a:srgbClr val="002060"/>
                </a:solidFill>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6" name="直接连接符 1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17"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sp>
        <p:nvSpPr>
          <p:cNvPr id="7" name="graduation-hat-filled-hand-drawn-tool_57183"/>
          <p:cNvSpPr>
            <a:spLocks noChangeAspect="1"/>
          </p:cNvSpPr>
          <p:nvPr userDrawn="1"/>
        </p:nvSpPr>
        <p:spPr bwMode="auto">
          <a:xfrm>
            <a:off x="0" y="139624"/>
            <a:ext cx="609685" cy="460375"/>
          </a:xfrm>
          <a:custGeom>
            <a:avLst/>
            <a:gdLst>
              <a:gd name="connsiteX0" fmla="*/ 332354 w 599637"/>
              <a:gd name="connsiteY0" fmla="*/ 225843 h 452788"/>
              <a:gd name="connsiteX1" fmla="*/ 328896 w 599637"/>
              <a:gd name="connsiteY1" fmla="*/ 226993 h 452788"/>
              <a:gd name="connsiteX2" fmla="*/ 321982 w 599637"/>
              <a:gd name="connsiteY2" fmla="*/ 231596 h 452788"/>
              <a:gd name="connsiteX3" fmla="*/ 321982 w 599637"/>
              <a:gd name="connsiteY3" fmla="*/ 232516 h 452788"/>
              <a:gd name="connsiteX4" fmla="*/ 332354 w 599637"/>
              <a:gd name="connsiteY4" fmla="*/ 225843 h 452788"/>
              <a:gd name="connsiteX5" fmla="*/ 437426 w 599637"/>
              <a:gd name="connsiteY5" fmla="*/ 220794 h 452788"/>
              <a:gd name="connsiteX6" fmla="*/ 442957 w 599637"/>
              <a:gd name="connsiteY6" fmla="*/ 223785 h 452788"/>
              <a:gd name="connsiteX7" fmla="*/ 447106 w 599637"/>
              <a:gd name="connsiteY7" fmla="*/ 263365 h 452788"/>
              <a:gd name="connsiteX8" fmla="*/ 449411 w 599637"/>
              <a:gd name="connsiteY8" fmla="*/ 314910 h 452788"/>
              <a:gd name="connsiteX9" fmla="*/ 448489 w 599637"/>
              <a:gd name="connsiteY9" fmla="*/ 399591 h 452788"/>
              <a:gd name="connsiteX10" fmla="*/ 443879 w 599637"/>
              <a:gd name="connsiteY10" fmla="*/ 406495 h 452788"/>
              <a:gd name="connsiteX11" fmla="*/ 434429 w 599637"/>
              <a:gd name="connsiteY11" fmla="*/ 406495 h 452788"/>
              <a:gd name="connsiteX12" fmla="*/ 360673 w 599637"/>
              <a:gd name="connsiteY12" fmla="*/ 401432 h 452788"/>
              <a:gd name="connsiteX13" fmla="*/ 271934 w 599637"/>
              <a:gd name="connsiteY13" fmla="*/ 406265 h 452788"/>
              <a:gd name="connsiteX14" fmla="*/ 179508 w 599637"/>
              <a:gd name="connsiteY14" fmla="*/ 410637 h 452788"/>
              <a:gd name="connsiteX15" fmla="*/ 122116 w 599637"/>
              <a:gd name="connsiteY15" fmla="*/ 404194 h 452788"/>
              <a:gd name="connsiteX16" fmla="*/ 117736 w 599637"/>
              <a:gd name="connsiteY16" fmla="*/ 402353 h 452788"/>
              <a:gd name="connsiteX17" fmla="*/ 112666 w 599637"/>
              <a:gd name="connsiteY17" fmla="*/ 331938 h 452788"/>
              <a:gd name="connsiteX18" fmla="*/ 111052 w 599637"/>
              <a:gd name="connsiteY18" fmla="*/ 227007 h 452788"/>
              <a:gd name="connsiteX19" fmla="*/ 115432 w 599637"/>
              <a:gd name="connsiteY19" fmla="*/ 221714 h 452788"/>
              <a:gd name="connsiteX20" fmla="*/ 122116 w 599637"/>
              <a:gd name="connsiteY20" fmla="*/ 221254 h 452788"/>
              <a:gd name="connsiteX21" fmla="*/ 213390 w 599637"/>
              <a:gd name="connsiteY21" fmla="*/ 260833 h 452788"/>
              <a:gd name="connsiteX22" fmla="*/ 296366 w 599637"/>
              <a:gd name="connsiteY22" fmla="*/ 281083 h 452788"/>
              <a:gd name="connsiteX23" fmla="*/ 429589 w 599637"/>
              <a:gd name="connsiteY23" fmla="*/ 221254 h 452788"/>
              <a:gd name="connsiteX24" fmla="*/ 437426 w 599637"/>
              <a:gd name="connsiteY24" fmla="*/ 220794 h 452788"/>
              <a:gd name="connsiteX25" fmla="*/ 367618 w 599637"/>
              <a:gd name="connsiteY25" fmla="*/ 52332 h 452788"/>
              <a:gd name="connsiteX26" fmla="*/ 373150 w 599637"/>
              <a:gd name="connsiteY26" fmla="*/ 54634 h 452788"/>
              <a:gd name="connsiteX27" fmla="*/ 398273 w 599637"/>
              <a:gd name="connsiteY27" fmla="*/ 63838 h 452788"/>
              <a:gd name="connsiteX28" fmla="*/ 367618 w 599637"/>
              <a:gd name="connsiteY28" fmla="*/ 52332 h 452788"/>
              <a:gd name="connsiteX29" fmla="*/ 282569 w 599637"/>
              <a:gd name="connsiteY29" fmla="*/ 95 h 452788"/>
              <a:gd name="connsiteX30" fmla="*/ 369232 w 599637"/>
              <a:gd name="connsiteY30" fmla="*/ 28860 h 452788"/>
              <a:gd name="connsiteX31" fmla="*/ 462809 w 599637"/>
              <a:gd name="connsiteY31" fmla="*/ 61307 h 452788"/>
              <a:gd name="connsiteX32" fmla="*/ 545784 w 599637"/>
              <a:gd name="connsiteY32" fmla="*/ 83168 h 452788"/>
              <a:gd name="connsiteX33" fmla="*/ 598566 w 599637"/>
              <a:gd name="connsiteY33" fmla="*/ 111473 h 452788"/>
              <a:gd name="connsiteX34" fmla="*/ 596952 w 599637"/>
              <a:gd name="connsiteY34" fmla="*/ 120218 h 452788"/>
              <a:gd name="connsiteX35" fmla="*/ 591190 w 599637"/>
              <a:gd name="connsiteY35" fmla="*/ 128732 h 452788"/>
              <a:gd name="connsiteX36" fmla="*/ 514208 w 599637"/>
              <a:gd name="connsiteY36" fmla="*/ 162560 h 452788"/>
              <a:gd name="connsiteX37" fmla="*/ 524349 w 599637"/>
              <a:gd name="connsiteY37" fmla="*/ 358622 h 452788"/>
              <a:gd name="connsiteX38" fmla="*/ 524349 w 599637"/>
              <a:gd name="connsiteY38" fmla="*/ 358852 h 452788"/>
              <a:gd name="connsiteX39" fmla="*/ 525041 w 599637"/>
              <a:gd name="connsiteY39" fmla="*/ 359542 h 452788"/>
              <a:gd name="connsiteX40" fmla="*/ 497152 w 599637"/>
              <a:gd name="connsiteY40" fmla="*/ 448599 h 452788"/>
              <a:gd name="connsiteX41" fmla="*/ 507524 w 599637"/>
              <a:gd name="connsiteY41" fmla="*/ 351488 h 452788"/>
              <a:gd name="connsiteX42" fmla="*/ 499918 w 599637"/>
              <a:gd name="connsiteY42" fmla="*/ 169233 h 452788"/>
              <a:gd name="connsiteX43" fmla="*/ 431232 w 599637"/>
              <a:gd name="connsiteY43" fmla="*/ 200529 h 452788"/>
              <a:gd name="connsiteX44" fmla="*/ 343417 w 599637"/>
              <a:gd name="connsiteY44" fmla="*/ 238729 h 452788"/>
              <a:gd name="connsiteX45" fmla="*/ 300316 w 599637"/>
              <a:gd name="connsiteY45" fmla="*/ 254608 h 452788"/>
              <a:gd name="connsiteX46" fmla="*/ 289253 w 599637"/>
              <a:gd name="connsiteY46" fmla="*/ 258750 h 452788"/>
              <a:gd name="connsiteX47" fmla="*/ 112700 w 599637"/>
              <a:gd name="connsiteY47" fmla="*/ 181199 h 452788"/>
              <a:gd name="connsiteX48" fmla="*/ 50007 w 599637"/>
              <a:gd name="connsiteY48" fmla="*/ 146221 h 452788"/>
              <a:gd name="connsiteX49" fmla="*/ 2527 w 599637"/>
              <a:gd name="connsiteY49" fmla="*/ 125971 h 452788"/>
              <a:gd name="connsiteX50" fmla="*/ 914 w 599637"/>
              <a:gd name="connsiteY50" fmla="*/ 118607 h 452788"/>
              <a:gd name="connsiteX51" fmla="*/ 3449 w 599637"/>
              <a:gd name="connsiteY51" fmla="*/ 111473 h 452788"/>
              <a:gd name="connsiteX52" fmla="*/ 162024 w 599637"/>
              <a:gd name="connsiteY52" fmla="*/ 50261 h 452788"/>
              <a:gd name="connsiteX53" fmla="*/ 279803 w 599637"/>
              <a:gd name="connsiteY53" fmla="*/ 325 h 452788"/>
              <a:gd name="connsiteX54" fmla="*/ 282569 w 599637"/>
              <a:gd name="connsiteY54" fmla="*/ 95 h 45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99637" h="452788">
                <a:moveTo>
                  <a:pt x="332354" y="225843"/>
                </a:moveTo>
                <a:cubicBezTo>
                  <a:pt x="331201" y="226303"/>
                  <a:pt x="330049" y="226533"/>
                  <a:pt x="328896" y="226993"/>
                </a:cubicBezTo>
                <a:cubicBezTo>
                  <a:pt x="326592" y="228604"/>
                  <a:pt x="324287" y="230215"/>
                  <a:pt x="321982" y="231596"/>
                </a:cubicBezTo>
                <a:cubicBezTo>
                  <a:pt x="321982" y="231826"/>
                  <a:pt x="321982" y="232286"/>
                  <a:pt x="321982" y="232516"/>
                </a:cubicBezTo>
                <a:cubicBezTo>
                  <a:pt x="325439" y="230215"/>
                  <a:pt x="328896" y="227914"/>
                  <a:pt x="332354" y="225843"/>
                </a:cubicBezTo>
                <a:close/>
                <a:moveTo>
                  <a:pt x="437426" y="220794"/>
                </a:moveTo>
                <a:cubicBezTo>
                  <a:pt x="439500" y="220794"/>
                  <a:pt x="441805" y="221944"/>
                  <a:pt x="442957" y="223785"/>
                </a:cubicBezTo>
                <a:cubicBezTo>
                  <a:pt x="449411" y="234831"/>
                  <a:pt x="446415" y="250939"/>
                  <a:pt x="447106" y="263365"/>
                </a:cubicBezTo>
                <a:cubicBezTo>
                  <a:pt x="447798" y="280623"/>
                  <a:pt x="448489" y="297651"/>
                  <a:pt x="449411" y="314910"/>
                </a:cubicBezTo>
                <a:cubicBezTo>
                  <a:pt x="451255" y="341833"/>
                  <a:pt x="461627" y="374279"/>
                  <a:pt x="448489" y="399591"/>
                </a:cubicBezTo>
                <a:cubicBezTo>
                  <a:pt x="448259" y="402583"/>
                  <a:pt x="446645" y="405574"/>
                  <a:pt x="443879" y="406495"/>
                </a:cubicBezTo>
                <a:cubicBezTo>
                  <a:pt x="441114" y="409486"/>
                  <a:pt x="436504" y="409026"/>
                  <a:pt x="434429" y="406495"/>
                </a:cubicBezTo>
                <a:cubicBezTo>
                  <a:pt x="409767" y="404654"/>
                  <a:pt x="385796" y="400742"/>
                  <a:pt x="360673" y="401432"/>
                </a:cubicBezTo>
                <a:cubicBezTo>
                  <a:pt x="330939" y="402353"/>
                  <a:pt x="301437" y="404884"/>
                  <a:pt x="271934" y="406265"/>
                </a:cubicBezTo>
                <a:cubicBezTo>
                  <a:pt x="241048" y="407645"/>
                  <a:pt x="210163" y="410407"/>
                  <a:pt x="179508" y="410637"/>
                </a:cubicBezTo>
                <a:cubicBezTo>
                  <a:pt x="163143" y="410637"/>
                  <a:pt x="138020" y="413168"/>
                  <a:pt x="122116" y="404194"/>
                </a:cubicBezTo>
                <a:cubicBezTo>
                  <a:pt x="120733" y="404194"/>
                  <a:pt x="119119" y="403733"/>
                  <a:pt x="117736" y="402353"/>
                </a:cubicBezTo>
                <a:cubicBezTo>
                  <a:pt x="101602" y="387165"/>
                  <a:pt x="111052" y="351268"/>
                  <a:pt x="112666" y="331938"/>
                </a:cubicBezTo>
                <a:cubicBezTo>
                  <a:pt x="115432" y="296961"/>
                  <a:pt x="109439" y="261984"/>
                  <a:pt x="111052" y="227007"/>
                </a:cubicBezTo>
                <a:cubicBezTo>
                  <a:pt x="111283" y="224245"/>
                  <a:pt x="113127" y="222405"/>
                  <a:pt x="115432" y="221714"/>
                </a:cubicBezTo>
                <a:cubicBezTo>
                  <a:pt x="117045" y="220564"/>
                  <a:pt x="119580" y="220103"/>
                  <a:pt x="122116" y="221254"/>
                </a:cubicBezTo>
                <a:cubicBezTo>
                  <a:pt x="152310" y="235061"/>
                  <a:pt x="182043" y="249788"/>
                  <a:pt x="213390" y="260833"/>
                </a:cubicBezTo>
                <a:cubicBezTo>
                  <a:pt x="238052" y="269578"/>
                  <a:pt x="269860" y="283615"/>
                  <a:pt x="296366" y="281083"/>
                </a:cubicBezTo>
                <a:cubicBezTo>
                  <a:pt x="342694" y="276481"/>
                  <a:pt x="392711" y="248868"/>
                  <a:pt x="429589" y="221254"/>
                </a:cubicBezTo>
                <a:cubicBezTo>
                  <a:pt x="432124" y="219183"/>
                  <a:pt x="435121" y="219413"/>
                  <a:pt x="437426" y="220794"/>
                </a:cubicBezTo>
                <a:close/>
                <a:moveTo>
                  <a:pt x="367618" y="52332"/>
                </a:moveTo>
                <a:cubicBezTo>
                  <a:pt x="369462" y="53023"/>
                  <a:pt x="371306" y="53943"/>
                  <a:pt x="373150" y="54634"/>
                </a:cubicBezTo>
                <a:cubicBezTo>
                  <a:pt x="381447" y="57625"/>
                  <a:pt x="389975" y="60847"/>
                  <a:pt x="398273" y="63838"/>
                </a:cubicBezTo>
                <a:cubicBezTo>
                  <a:pt x="388362" y="59466"/>
                  <a:pt x="377990" y="55324"/>
                  <a:pt x="367618" y="52332"/>
                </a:cubicBezTo>
                <a:close/>
                <a:moveTo>
                  <a:pt x="282569" y="95"/>
                </a:moveTo>
                <a:cubicBezTo>
                  <a:pt x="312762" y="3087"/>
                  <a:pt x="341573" y="16894"/>
                  <a:pt x="369232" y="28860"/>
                </a:cubicBezTo>
                <a:cubicBezTo>
                  <a:pt x="399886" y="41977"/>
                  <a:pt x="430311" y="53483"/>
                  <a:pt x="462809" y="61307"/>
                </a:cubicBezTo>
                <a:cubicBezTo>
                  <a:pt x="490468" y="68211"/>
                  <a:pt x="518817" y="73964"/>
                  <a:pt x="545784" y="83168"/>
                </a:cubicBezTo>
                <a:cubicBezTo>
                  <a:pt x="563301" y="89151"/>
                  <a:pt x="587733" y="95365"/>
                  <a:pt x="598566" y="111473"/>
                </a:cubicBezTo>
                <a:cubicBezTo>
                  <a:pt x="600640" y="114465"/>
                  <a:pt x="599488" y="118147"/>
                  <a:pt x="596952" y="120218"/>
                </a:cubicBezTo>
                <a:cubicBezTo>
                  <a:pt x="596952" y="123669"/>
                  <a:pt x="595108" y="127121"/>
                  <a:pt x="591190" y="128732"/>
                </a:cubicBezTo>
                <a:cubicBezTo>
                  <a:pt x="564915" y="138627"/>
                  <a:pt x="539561" y="150363"/>
                  <a:pt x="514208" y="162560"/>
                </a:cubicBezTo>
                <a:cubicBezTo>
                  <a:pt x="538178" y="195697"/>
                  <a:pt x="525502" y="336300"/>
                  <a:pt x="524349" y="358622"/>
                </a:cubicBezTo>
                <a:cubicBezTo>
                  <a:pt x="524349" y="358622"/>
                  <a:pt x="524349" y="358852"/>
                  <a:pt x="524349" y="358852"/>
                </a:cubicBezTo>
                <a:cubicBezTo>
                  <a:pt x="524580" y="359082"/>
                  <a:pt x="524810" y="359312"/>
                  <a:pt x="525041" y="359542"/>
                </a:cubicBezTo>
                <a:cubicBezTo>
                  <a:pt x="543940" y="388998"/>
                  <a:pt x="558922" y="472301"/>
                  <a:pt x="497152" y="448599"/>
                </a:cubicBezTo>
                <a:cubicBezTo>
                  <a:pt x="454512" y="432260"/>
                  <a:pt x="468571" y="362764"/>
                  <a:pt x="507524" y="351488"/>
                </a:cubicBezTo>
                <a:cubicBezTo>
                  <a:pt x="510750" y="290736"/>
                  <a:pt x="514899" y="228374"/>
                  <a:pt x="499918" y="169233"/>
                </a:cubicBezTo>
                <a:cubicBezTo>
                  <a:pt x="477330" y="180049"/>
                  <a:pt x="454512" y="190864"/>
                  <a:pt x="431232" y="200529"/>
                </a:cubicBezTo>
                <a:cubicBezTo>
                  <a:pt x="402191" y="212496"/>
                  <a:pt x="369923" y="221931"/>
                  <a:pt x="343417" y="238729"/>
                </a:cubicBezTo>
                <a:cubicBezTo>
                  <a:pt x="328896" y="247704"/>
                  <a:pt x="316681" y="256218"/>
                  <a:pt x="300316" y="254608"/>
                </a:cubicBezTo>
                <a:cubicBezTo>
                  <a:pt x="298703" y="258750"/>
                  <a:pt x="294323" y="261741"/>
                  <a:pt x="289253" y="258750"/>
                </a:cubicBezTo>
                <a:cubicBezTo>
                  <a:pt x="233936" y="224692"/>
                  <a:pt x="169630" y="211575"/>
                  <a:pt x="112700" y="181199"/>
                </a:cubicBezTo>
                <a:cubicBezTo>
                  <a:pt x="91495" y="169924"/>
                  <a:pt x="71212" y="157497"/>
                  <a:pt x="50007" y="146221"/>
                </a:cubicBezTo>
                <a:cubicBezTo>
                  <a:pt x="35487" y="138627"/>
                  <a:pt x="15895" y="134715"/>
                  <a:pt x="2527" y="125971"/>
                </a:cubicBezTo>
                <a:cubicBezTo>
                  <a:pt x="222" y="124590"/>
                  <a:pt x="-930" y="120908"/>
                  <a:pt x="914" y="118607"/>
                </a:cubicBezTo>
                <a:cubicBezTo>
                  <a:pt x="-239" y="116076"/>
                  <a:pt x="222" y="112854"/>
                  <a:pt x="3449" y="111473"/>
                </a:cubicBezTo>
                <a:cubicBezTo>
                  <a:pt x="55309" y="88921"/>
                  <a:pt x="111317" y="75574"/>
                  <a:pt x="162024" y="50261"/>
                </a:cubicBezTo>
                <a:cubicBezTo>
                  <a:pt x="199824" y="31391"/>
                  <a:pt x="237624" y="7229"/>
                  <a:pt x="279803" y="325"/>
                </a:cubicBezTo>
                <a:cubicBezTo>
                  <a:pt x="280725" y="95"/>
                  <a:pt x="281647" y="-135"/>
                  <a:pt x="282569" y="95"/>
                </a:cubicBezTo>
                <a:close/>
              </a:path>
            </a:pathLst>
          </a:custGeom>
          <a:solidFill>
            <a:schemeClr val="accent6">
              <a:lumMod val="50000"/>
            </a:schemeClr>
          </a:solidFill>
          <a:ln>
            <a:noFill/>
          </a:ln>
        </p:spPr>
      </p:sp>
    </p:spTree>
    <p:extLst>
      <p:ext uri="{BB962C8B-B14F-4D97-AF65-F5344CB8AC3E}">
        <p14:creationId xmlns:p14="http://schemas.microsoft.com/office/powerpoint/2010/main" val="4139999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836712"/>
            <a:ext cx="9264352" cy="0"/>
          </a:xfrm>
          <a:prstGeom prst="line">
            <a:avLst/>
          </a:prstGeom>
          <a:noFill/>
          <a:ln w="38100">
            <a:solidFill>
              <a:schemeClr val="accent2"/>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a:latin typeface="微软雅黑" panose="020B0503020204020204" pitchFamily="34" charset="-122"/>
                <a:ea typeface="微软雅黑" panose="020B0503020204020204" pitchFamily="34" charset="-122"/>
              </a:defRPr>
            </a:lvl1pPr>
            <a:lvl2pPr>
              <a:lnSpc>
                <a:spcPct val="120000"/>
              </a:lnSpc>
              <a:spcBef>
                <a:spcPts val="0"/>
              </a:spcBef>
              <a:defRPr>
                <a:latin typeface="微软雅黑" panose="020B0503020204020204" pitchFamily="34" charset="-122"/>
                <a:ea typeface="微软雅黑" panose="020B0503020204020204" pitchFamily="34" charset="-122"/>
              </a:defRPr>
            </a:lvl2pPr>
          </a:lstStyle>
          <a:p>
            <a:pPr lvl="0"/>
            <a:r>
              <a:rPr lang="zh-CN" altLang="en-US" dirty="0"/>
              <a:t>编辑母版文本样式</a:t>
            </a:r>
          </a:p>
          <a:p>
            <a:pPr lvl="1"/>
            <a:r>
              <a:rPr lang="zh-CN" altLang="en-US" dirty="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a:ln>
                  <a:noFill/>
                </a:ln>
                <a:solidFill>
                  <a:schemeClr val="accent2"/>
                </a:solidFill>
                <a:effectLst/>
                <a:uLnTx/>
                <a:uFillTx/>
                <a:latin typeface="Roboto" panose="02000000000000000000" pitchFamily="2" charset="0"/>
                <a:ea typeface="Roboto" panose="02000000000000000000" pitchFamily="2" charset="0"/>
                <a:cs typeface="Roboto" panose="02000000000000000000" pitchFamily="2" charset="0"/>
              </a:rPr>
              <a:t>T</a:t>
            </a:r>
            <a:endParaRPr kumimoji="0" lang="zh-CN" altLang="en-US" sz="14933" b="1" i="0" u="none" strike="noStrike" kern="1200" cap="none" spc="0" normalizeH="0" baseline="0" noProof="0" dirty="0">
              <a:ln>
                <a:noFill/>
              </a:ln>
              <a:solidFill>
                <a:schemeClr val="accent2"/>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39"/>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2"/>
                </a:solidFill>
                <a:effectLst/>
                <a:uLnTx/>
                <a:uFillTx/>
                <a:latin typeface="Roboto" panose="02000000000000000000" pitchFamily="2" charset="0"/>
                <a:ea typeface="Roboto" panose="02000000000000000000" pitchFamily="2" charset="0"/>
                <a:cs typeface="Roboto" panose="02000000000000000000" pitchFamily="2" charset="0"/>
              </a:rPr>
              <a:t>hank You! </a:t>
            </a:r>
            <a:endParaRPr kumimoji="0" lang="zh-CN" altLang="en-US" sz="6000" b="1" i="0" u="none" strike="noStrike" kern="1200" cap="none" spc="0" normalizeH="0" baseline="0" noProof="0" dirty="0">
              <a:ln>
                <a:noFill/>
              </a:ln>
              <a:solidFill>
                <a:schemeClr val="accent2"/>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474053110"/>
      </p:ext>
    </p:extLst>
  </p:cSld>
  <p:clrMapOvr>
    <a:masterClrMapping/>
  </p:clrMapOvr>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2188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 name="图片 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spTree>
    <p:extLst>
      <p:ext uri="{BB962C8B-B14F-4D97-AF65-F5344CB8AC3E}">
        <p14:creationId xmlns:p14="http://schemas.microsoft.com/office/powerpoint/2010/main" val="25100695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6" r:id="rId5"/>
    <p:sldLayoutId id="2147483667" r:id="rId6"/>
    <p:sldLayoutId id="2147483668" r:id="rId7"/>
    <p:sldLayoutId id="2147483669" r:id="rId8"/>
    <p:sldLayoutId id="2147483680" r:id="rId9"/>
  </p:sldLayoutIdLst>
  <p:hf sldNum="0" hdr="0" ftr="0" dt="0"/>
  <p:txStyles>
    <p:titleStyle>
      <a:lvl1pPr algn="ctr" defTabSz="1219170" rtl="0" eaLnBrk="1" latinLnBrk="0" hangingPunct="1">
        <a:spcBef>
          <a:spcPct val="0"/>
        </a:spcBef>
        <a:buNone/>
        <a:defRPr sz="5867" kern="1200">
          <a:solidFill>
            <a:srgbClr val="263238"/>
          </a:solidFill>
          <a:latin typeface="微软雅黑" panose="020B0503020204020204" pitchFamily="34" charset="-122"/>
          <a:ea typeface="微软雅黑" panose="020B0503020204020204" pitchFamily="34" charset="-122"/>
          <a:cs typeface="+mj-cs"/>
        </a:defRPr>
      </a:lvl1pPr>
    </p:titleStyle>
    <p:bodyStyle>
      <a:lvl1pPr marL="457189" indent="-457189" algn="l" defTabSz="1219170" rtl="0" eaLnBrk="1" latinLnBrk="0" hangingPunct="1">
        <a:lnSpc>
          <a:spcPct val="150000"/>
        </a:lnSpc>
        <a:spcBef>
          <a:spcPts val="0"/>
        </a:spcBef>
        <a:buFont typeface="Wingdings" panose="05000000000000000000" pitchFamily="2" charset="2"/>
        <a:buChar char="Ø"/>
        <a:defRPr sz="2400" b="1" i="1" kern="1200" baseline="0">
          <a:solidFill>
            <a:schemeClr val="accent6">
              <a:lumMod val="50000"/>
            </a:schemeClr>
          </a:solidFill>
          <a:latin typeface="微软雅黑" panose="020B0503020204020204" pitchFamily="34" charset="-122"/>
          <a:ea typeface="微软雅黑" panose="020B0503020204020204" pitchFamily="34" charset="-122"/>
          <a:cs typeface="+mn-cs"/>
        </a:defRPr>
      </a:lvl1pPr>
      <a:lvl2pPr marL="990575" indent="-380990" algn="l" defTabSz="1219170" rtl="0" eaLnBrk="1" latinLnBrk="0" hangingPunct="1">
        <a:lnSpc>
          <a:spcPct val="150000"/>
        </a:lnSpc>
        <a:spcBef>
          <a:spcPts val="0"/>
        </a:spcBef>
        <a:buFont typeface="Arial" panose="020B0604020202020204" pitchFamily="34" charset="0"/>
        <a:buChar char="•"/>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2pPr>
      <a:lvl3pPr marL="1523962" indent="-304792" algn="l" defTabSz="1219170" rtl="0" eaLnBrk="1" latinLnBrk="0" hangingPunct="1">
        <a:lnSpc>
          <a:spcPct val="150000"/>
        </a:lnSpc>
        <a:spcBef>
          <a:spcPts val="0"/>
        </a:spcBef>
        <a:buFont typeface="Wingdings" panose="05000000000000000000" pitchFamily="2" charset="2"/>
        <a:buChar char="ü"/>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3pPr>
      <a:lvl4pPr marL="2133547" indent="-304792" algn="l" defTabSz="1219170" rtl="0" eaLnBrk="1" latinLnBrk="0" hangingPunct="1">
        <a:lnSpc>
          <a:spcPct val="150000"/>
        </a:lnSpc>
        <a:spcBef>
          <a:spcPts val="0"/>
        </a:spcBef>
        <a:buFont typeface="Wingdings" panose="05000000000000000000" pitchFamily="2" charset="2"/>
        <a:buChar char="n"/>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4pPr>
      <a:lvl5pPr marL="2743131" indent="-304792" algn="l" defTabSz="1219170" rtl="0" eaLnBrk="1" latinLnBrk="0" hangingPunct="1">
        <a:lnSpc>
          <a:spcPct val="150000"/>
        </a:lnSpc>
        <a:spcBef>
          <a:spcPts val="0"/>
        </a:spcBef>
        <a:buFont typeface="Wingdings" panose="05000000000000000000" pitchFamily="2" charset="2"/>
        <a:buChar char="p"/>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3392" y="1700808"/>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 name="图片 3"/>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spTree>
    <p:extLst>
      <p:ext uri="{BB962C8B-B14F-4D97-AF65-F5344CB8AC3E}">
        <p14:creationId xmlns:p14="http://schemas.microsoft.com/office/powerpoint/2010/main" val="931453798"/>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6" r:id="rId3"/>
    <p:sldLayoutId id="2147483677" r:id="rId4"/>
    <p:sldLayoutId id="2147483678" r:id="rId5"/>
    <p:sldLayoutId id="2147483679" r:id="rId6"/>
    <p:sldLayoutId id="2147483683" r:id="rId7"/>
  </p:sldLayoutIdLst>
  <p:hf sldNum="0" hdr="0" ftr="0" dt="0"/>
  <p:txStyles>
    <p:titleStyle>
      <a:lvl1pPr algn="ctr" defTabSz="1219170" rtl="0" eaLnBrk="1" latinLnBrk="0" hangingPunct="1">
        <a:spcBef>
          <a:spcPct val="0"/>
        </a:spcBef>
        <a:buNone/>
        <a:defRPr sz="5867" kern="1200">
          <a:solidFill>
            <a:srgbClr val="263238"/>
          </a:solidFill>
          <a:latin typeface="微软雅黑" panose="020B0503020204020204" pitchFamily="34" charset="-122"/>
          <a:ea typeface="微软雅黑" panose="020B0503020204020204" pitchFamily="34" charset="-122"/>
          <a:cs typeface="+mj-cs"/>
        </a:defRPr>
      </a:lvl1pPr>
    </p:titleStyle>
    <p:bodyStyle>
      <a:lvl1pPr marL="457189" indent="-457189" algn="l" defTabSz="1219170" rtl="0" eaLnBrk="1" latinLnBrk="0" hangingPunct="1">
        <a:lnSpc>
          <a:spcPct val="120000"/>
        </a:lnSpc>
        <a:spcBef>
          <a:spcPts val="0"/>
        </a:spcBef>
        <a:buFont typeface="Wingdings" panose="05000000000000000000" pitchFamily="2" charset="2"/>
        <a:buChar char="Ø"/>
        <a:defRPr sz="2400" kern="1200" baseline="0">
          <a:solidFill>
            <a:srgbClr val="263238"/>
          </a:solidFill>
          <a:latin typeface="Roboto" panose="02000000000000000000" pitchFamily="2" charset="0"/>
          <a:ea typeface="微软雅黑" panose="020B0503020204020204" pitchFamily="34" charset="-122"/>
          <a:cs typeface="+mn-cs"/>
        </a:defRPr>
      </a:lvl1pPr>
      <a:lvl2pPr marL="990575" indent="-380990" algn="l" defTabSz="1219170" rtl="0" eaLnBrk="1" latinLnBrk="0" hangingPunct="1">
        <a:lnSpc>
          <a:spcPct val="120000"/>
        </a:lnSpc>
        <a:spcBef>
          <a:spcPts val="0"/>
        </a:spcBef>
        <a:buFont typeface="Arial" panose="020B0604020202020204" pitchFamily="34" charset="0"/>
        <a:buChar char="•"/>
        <a:defRPr sz="2400" kern="1200" baseline="0">
          <a:solidFill>
            <a:schemeClr val="accent2"/>
          </a:solidFill>
          <a:latin typeface="Roboto" panose="02000000000000000000" pitchFamily="2" charset="0"/>
          <a:ea typeface="微软雅黑" panose="020B0503020204020204" pitchFamily="34" charset="-122"/>
          <a:cs typeface="+mn-cs"/>
        </a:defRPr>
      </a:lvl2pPr>
      <a:lvl3pPr marL="1523962" indent="-304792" algn="l" defTabSz="1219170" rtl="0" eaLnBrk="1" latinLnBrk="0" hangingPunct="1">
        <a:lnSpc>
          <a:spcPct val="120000"/>
        </a:lnSpc>
        <a:spcBef>
          <a:spcPts val="0"/>
        </a:spcBef>
        <a:buFont typeface="Wingdings" panose="05000000000000000000" pitchFamily="2" charset="2"/>
        <a:buChar char="ü"/>
        <a:defRPr sz="2400" kern="1200" baseline="0">
          <a:solidFill>
            <a:schemeClr val="accent2"/>
          </a:solidFill>
          <a:latin typeface="Roboto" panose="02000000000000000000" pitchFamily="2" charset="0"/>
          <a:ea typeface="微软雅黑" panose="020B0503020204020204" pitchFamily="34" charset="-122"/>
          <a:cs typeface="+mn-cs"/>
        </a:defRPr>
      </a:lvl3pPr>
      <a:lvl4pPr marL="2133547" indent="-304792" algn="l" defTabSz="1219170" rtl="0" eaLnBrk="1" latinLnBrk="0" hangingPunct="1">
        <a:lnSpc>
          <a:spcPct val="120000"/>
        </a:lnSpc>
        <a:spcBef>
          <a:spcPts val="0"/>
        </a:spcBef>
        <a:buFont typeface="Wingdings" panose="05000000000000000000" pitchFamily="2" charset="2"/>
        <a:buChar char="n"/>
        <a:defRPr sz="2400" kern="1200" baseline="0">
          <a:solidFill>
            <a:schemeClr val="accent2"/>
          </a:solidFill>
          <a:latin typeface="Roboto" panose="02000000000000000000" pitchFamily="2" charset="0"/>
          <a:ea typeface="微软雅黑" panose="020B0503020204020204" pitchFamily="34" charset="-122"/>
          <a:cs typeface="+mn-cs"/>
        </a:defRPr>
      </a:lvl4pPr>
      <a:lvl5pPr marL="2743131" indent="-304792" algn="l" defTabSz="1219170" rtl="0" eaLnBrk="1" latinLnBrk="0" hangingPunct="1">
        <a:lnSpc>
          <a:spcPct val="120000"/>
        </a:lnSpc>
        <a:spcBef>
          <a:spcPts val="0"/>
        </a:spcBef>
        <a:buFont typeface="Wingdings" panose="05000000000000000000" pitchFamily="2" charset="2"/>
        <a:buChar char="p"/>
        <a:defRPr sz="2400" kern="1200" baseline="0">
          <a:solidFill>
            <a:schemeClr val="accent2"/>
          </a:solidFill>
          <a:latin typeface="Roboto" panose="02000000000000000000" pitchFamily="2" charset="0"/>
          <a:ea typeface="微软雅黑" panose="020B0503020204020204" pitchFamily="34" charset="-122"/>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6.bin"/><Relationship Id="rId4" Type="http://schemas.openxmlformats.org/officeDocument/2006/relationships/image" Target="../media/image8.wmf"/></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11.wmf"/><Relationship Id="rId5" Type="http://schemas.openxmlformats.org/officeDocument/2006/relationships/oleObject" Target="../embeddings/oleObject8.bin"/><Relationship Id="rId4" Type="http://schemas.openxmlformats.org/officeDocument/2006/relationships/image" Target="../media/image10.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26.wmf"/><Relationship Id="rId5" Type="http://schemas.openxmlformats.org/officeDocument/2006/relationships/oleObject" Target="../embeddings/oleObject11.bin"/><Relationship Id="rId4" Type="http://schemas.openxmlformats.org/officeDocument/2006/relationships/image" Target="../media/image25.wmf"/><Relationship Id="rId9"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6.xml"/><Relationship Id="rId5" Type="http://schemas.openxmlformats.org/officeDocument/2006/relationships/image" Target="../media/image47.png"/><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image" Target="../media/image28.wmf"/></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image" Target="../media/image30.wmf"/><Relationship Id="rId5" Type="http://schemas.openxmlformats.org/officeDocument/2006/relationships/oleObject" Target="../embeddings/oleObject15.bin"/><Relationship Id="rId4" Type="http://schemas.openxmlformats.org/officeDocument/2006/relationships/image" Target="../media/image29.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image" Target="../media/image32.wmf"/><Relationship Id="rId5" Type="http://schemas.openxmlformats.org/officeDocument/2006/relationships/oleObject" Target="../embeddings/oleObject17.bin"/><Relationship Id="rId4" Type="http://schemas.openxmlformats.org/officeDocument/2006/relationships/image" Target="../media/image31.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6.xml"/><Relationship Id="rId1" Type="http://schemas.openxmlformats.org/officeDocument/2006/relationships/vmlDrawing" Target="../drawings/vmlDrawing8.vml"/><Relationship Id="rId4" Type="http://schemas.openxmlformats.org/officeDocument/2006/relationships/image" Target="../media/image36.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38.wmf"/><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oleObject" Target="../embeddings/oleObject20.bin"/><Relationship Id="rId5" Type="http://schemas.openxmlformats.org/officeDocument/2006/relationships/image" Target="../media/image37.wmf"/><Relationship Id="rId4" Type="http://schemas.openxmlformats.org/officeDocument/2006/relationships/oleObject" Target="../embeddings/oleObject19.bin"/></Relationships>
</file>

<file path=ppt/slides/_rels/slide72.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notesSlide" Target="../notesSlides/notesSlide9.xml"/><Relationship Id="rId7" Type="http://schemas.openxmlformats.org/officeDocument/2006/relationships/oleObject" Target="../embeddings/oleObject22.bin"/><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image" Target="../media/image39.wmf"/><Relationship Id="rId5" Type="http://schemas.openxmlformats.org/officeDocument/2006/relationships/oleObject" Target="../embeddings/oleObject21.bin"/><Relationship Id="rId4" Type="http://schemas.openxmlformats.org/officeDocument/2006/relationships/chart" Target="../charts/chart2.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vmlDrawing" Target="../drawings/vmlDrawing11.vml"/><Relationship Id="rId5" Type="http://schemas.openxmlformats.org/officeDocument/2006/relationships/image" Target="../media/image41.wmf"/><Relationship Id="rId4" Type="http://schemas.openxmlformats.org/officeDocument/2006/relationships/oleObject" Target="../embeddings/oleObject23.bin"/></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vmlDrawing" Target="../drawings/vmlDrawing12.vml"/><Relationship Id="rId6" Type="http://schemas.openxmlformats.org/officeDocument/2006/relationships/image" Target="../media/image42.wmf"/><Relationship Id="rId5" Type="http://schemas.openxmlformats.org/officeDocument/2006/relationships/oleObject" Target="../embeddings/oleObject24.bin"/><Relationship Id="rId4" Type="http://schemas.openxmlformats.org/officeDocument/2006/relationships/chart" Target="../charts/chart3.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vmlDrawing" Target="../drawings/vmlDrawing13.vml"/><Relationship Id="rId5" Type="http://schemas.openxmlformats.org/officeDocument/2006/relationships/image" Target="../media/image43.wmf"/><Relationship Id="rId4" Type="http://schemas.openxmlformats.org/officeDocument/2006/relationships/oleObject" Target="../embeddings/oleObject25.bin"/></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45.wmf"/><Relationship Id="rId2" Type="http://schemas.openxmlformats.org/officeDocument/2006/relationships/slideLayout" Target="../slideLayouts/slideLayout6.xml"/><Relationship Id="rId1" Type="http://schemas.openxmlformats.org/officeDocument/2006/relationships/vmlDrawing" Target="../drawings/vmlDrawing14.vml"/><Relationship Id="rId6" Type="http://schemas.openxmlformats.org/officeDocument/2006/relationships/oleObject" Target="../embeddings/oleObject27.bin"/><Relationship Id="rId5" Type="http://schemas.openxmlformats.org/officeDocument/2006/relationships/image" Target="../media/image44.wmf"/><Relationship Id="rId4" Type="http://schemas.openxmlformats.org/officeDocument/2006/relationships/oleObject" Target="../embeddings/oleObject26.bin"/></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vmlDrawing" Target="../drawings/vmlDrawing15.vml"/><Relationship Id="rId5" Type="http://schemas.openxmlformats.org/officeDocument/2006/relationships/image" Target="../media/image46.wmf"/><Relationship Id="rId4" Type="http://schemas.openxmlformats.org/officeDocument/2006/relationships/oleObject" Target="../embeddings/oleObject28.bin"/></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48.wmf"/><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oleObject" Target="../embeddings/oleObject30.bin"/><Relationship Id="rId5" Type="http://schemas.openxmlformats.org/officeDocument/2006/relationships/image" Target="../media/image47.wmf"/><Relationship Id="rId4" Type="http://schemas.openxmlformats.org/officeDocument/2006/relationships/oleObject" Target="../embeddings/oleObject29.bin"/></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vmlDrawing" Target="../drawings/vmlDrawing17.vml"/><Relationship Id="rId5" Type="http://schemas.openxmlformats.org/officeDocument/2006/relationships/image" Target="../media/image49.wmf"/><Relationship Id="rId4" Type="http://schemas.openxmlformats.org/officeDocument/2006/relationships/oleObject" Target="../embeddings/oleObject31.bin"/></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vmlDrawing" Target="../drawings/vmlDrawing18.vml"/><Relationship Id="rId5" Type="http://schemas.openxmlformats.org/officeDocument/2006/relationships/image" Target="../media/image50.wmf"/><Relationship Id="rId4" Type="http://schemas.openxmlformats.org/officeDocument/2006/relationships/oleObject" Target="../embeddings/oleObject32.bin"/></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vmlDrawing" Target="../drawings/vmlDrawing19.vml"/><Relationship Id="rId5" Type="http://schemas.openxmlformats.org/officeDocument/2006/relationships/image" Target="../media/image51.wmf"/><Relationship Id="rId4" Type="http://schemas.openxmlformats.org/officeDocument/2006/relationships/oleObject" Target="../embeddings/oleObject33.bin"/></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vmlDrawing" Target="../drawings/vmlDrawing20.vml"/><Relationship Id="rId5" Type="http://schemas.openxmlformats.org/officeDocument/2006/relationships/image" Target="../media/image52.wmf"/><Relationship Id="rId4" Type="http://schemas.openxmlformats.org/officeDocument/2006/relationships/oleObject" Target="../embeddings/oleObject34.bin"/></Relationships>
</file>

<file path=ppt/slides/_rels/slide9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57.png"/></Relationships>
</file>

<file path=ppt/slides/_rels/slide9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61.png"/><Relationship Id="rId2" Type="http://schemas.openxmlformats.org/officeDocument/2006/relationships/slideLayout" Target="../slideLayouts/slideLayout6.xml"/><Relationship Id="rId1" Type="http://schemas.openxmlformats.org/officeDocument/2006/relationships/vmlDrawing" Target="../drawings/vmlDrawing21.vml"/><Relationship Id="rId6" Type="http://schemas.openxmlformats.org/officeDocument/2006/relationships/image" Target="../media/image60.png"/><Relationship Id="rId5" Type="http://schemas.openxmlformats.org/officeDocument/2006/relationships/image" Target="../media/image53.wmf"/><Relationship Id="rId4" Type="http://schemas.openxmlformats.org/officeDocument/2006/relationships/oleObject" Target="../embeddings/oleObject35.bin"/></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vmlDrawing" Target="../drawings/vmlDrawing22.vml"/><Relationship Id="rId6" Type="http://schemas.openxmlformats.org/officeDocument/2006/relationships/image" Target="../media/image62.png"/><Relationship Id="rId5" Type="http://schemas.openxmlformats.org/officeDocument/2006/relationships/image" Target="../media/image53.wmf"/><Relationship Id="rId4" Type="http://schemas.openxmlformats.org/officeDocument/2006/relationships/oleObject" Target="../embeddings/oleObject36.bin"/></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6.xml"/><Relationship Id="rId1" Type="http://schemas.openxmlformats.org/officeDocument/2006/relationships/vmlDrawing" Target="../drawings/vmlDrawing23.vml"/><Relationship Id="rId5" Type="http://schemas.openxmlformats.org/officeDocument/2006/relationships/image" Target="../media/image54.wmf"/><Relationship Id="rId4" Type="http://schemas.openxmlformats.org/officeDocument/2006/relationships/oleObject" Target="../embeddings/oleObject37.bin"/></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9.xml"/><Relationship Id="rId1" Type="http://schemas.openxmlformats.org/officeDocument/2006/relationships/slideLayout" Target="../slideLayouts/slideLayout6.xml"/><Relationship Id="rId5" Type="http://schemas.openxmlformats.org/officeDocument/2006/relationships/image" Target="../media/image70.png"/><Relationship Id="rId4" Type="http://schemas.openxmlformats.org/officeDocument/2006/relationships/image" Target="../media/image69.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6.xml"/><Relationship Id="rId1" Type="http://schemas.openxmlformats.org/officeDocument/2006/relationships/vmlDrawing" Target="../drawings/vmlDrawing24.vml"/><Relationship Id="rId6" Type="http://schemas.openxmlformats.org/officeDocument/2006/relationships/image" Target="../media/image55.wmf"/><Relationship Id="rId5" Type="http://schemas.openxmlformats.org/officeDocument/2006/relationships/oleObject" Target="../embeddings/oleObject38.bin"/><Relationship Id="rId4" Type="http://schemas.openxmlformats.org/officeDocument/2006/relationships/image" Target="../media/image72.png"/></Relationships>
</file>

<file path=ppt/slides/_rels/slide11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notesSlide" Target="../notesSlides/notesSlide53.xml"/><Relationship Id="rId7" Type="http://schemas.openxmlformats.org/officeDocument/2006/relationships/image" Target="../media/image76.png"/><Relationship Id="rId2" Type="http://schemas.openxmlformats.org/officeDocument/2006/relationships/slideLayout" Target="../slideLayouts/slideLayout6.xml"/><Relationship Id="rId1" Type="http://schemas.openxmlformats.org/officeDocument/2006/relationships/vmlDrawing" Target="../drawings/vmlDrawing25.vml"/><Relationship Id="rId6" Type="http://schemas.openxmlformats.org/officeDocument/2006/relationships/image" Target="../media/image75.png"/><Relationship Id="rId5" Type="http://schemas.openxmlformats.org/officeDocument/2006/relationships/image" Target="../media/image56.wmf"/><Relationship Id="rId4" Type="http://schemas.openxmlformats.org/officeDocument/2006/relationships/oleObject" Target="../embeddings/oleObject39.bin"/><Relationship Id="rId9" Type="http://schemas.openxmlformats.org/officeDocument/2006/relationships/image" Target="../media/image78.png"/></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55.xml"/><Relationship Id="rId7" Type="http://schemas.openxmlformats.org/officeDocument/2006/relationships/image" Target="../media/image80.png"/><Relationship Id="rId2" Type="http://schemas.openxmlformats.org/officeDocument/2006/relationships/slideLayout" Target="../slideLayouts/slideLayout6.xml"/><Relationship Id="rId1" Type="http://schemas.openxmlformats.org/officeDocument/2006/relationships/vmlDrawing" Target="../drawings/vmlDrawing26.vml"/><Relationship Id="rId6" Type="http://schemas.openxmlformats.org/officeDocument/2006/relationships/image" Target="../media/image79.png"/><Relationship Id="rId5" Type="http://schemas.openxmlformats.org/officeDocument/2006/relationships/image" Target="../media/image53.wmf"/><Relationship Id="rId4" Type="http://schemas.openxmlformats.org/officeDocument/2006/relationships/oleObject" Target="../embeddings/oleObject40.bin"/></Relationships>
</file>

<file path=ppt/slides/_rels/slide1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6.xml"/><Relationship Id="rId1" Type="http://schemas.openxmlformats.org/officeDocument/2006/relationships/slideLayout" Target="../slideLayouts/slideLayout6.xml"/><Relationship Id="rId4" Type="http://schemas.openxmlformats.org/officeDocument/2006/relationships/image" Target="../media/image82.png"/></Relationships>
</file>

<file path=ppt/slides/_rels/slide12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7.xml"/><Relationship Id="rId1" Type="http://schemas.openxmlformats.org/officeDocument/2006/relationships/slideLayout" Target="../slideLayouts/slideLayout6.xml"/><Relationship Id="rId4" Type="http://schemas.openxmlformats.org/officeDocument/2006/relationships/image" Target="../media/image84.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1.xml"/><Relationship Id="rId1" Type="http://schemas.openxmlformats.org/officeDocument/2006/relationships/slideLayout" Target="../slideLayouts/slideLayout6.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8.xml"/><Relationship Id="rId1" Type="http://schemas.openxmlformats.org/officeDocument/2006/relationships/slideLayout" Target="../slideLayouts/slideLayout6.xml"/><Relationship Id="rId4" Type="http://schemas.openxmlformats.org/officeDocument/2006/relationships/image" Target="../media/image90.png"/></Relationships>
</file>

<file path=ppt/slides/_rels/slide13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9.xml"/><Relationship Id="rId1" Type="http://schemas.openxmlformats.org/officeDocument/2006/relationships/slideLayout" Target="../slideLayouts/slideLayout6.xml"/><Relationship Id="rId5" Type="http://schemas.openxmlformats.org/officeDocument/2006/relationships/image" Target="../media/image93.png"/><Relationship Id="rId4" Type="http://schemas.openxmlformats.org/officeDocument/2006/relationships/image" Target="../media/image92.png"/></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76.xml"/><Relationship Id="rId1" Type="http://schemas.openxmlformats.org/officeDocument/2006/relationships/slideLayout" Target="../slideLayouts/slideLayout6.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8.xml"/><Relationship Id="rId1" Type="http://schemas.openxmlformats.org/officeDocument/2006/relationships/slideLayout" Target="../slideLayouts/slideLayout6.xml"/><Relationship Id="rId4" Type="http://schemas.openxmlformats.org/officeDocument/2006/relationships/image" Target="../media/image85.png"/></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81.xml"/><Relationship Id="rId1" Type="http://schemas.openxmlformats.org/officeDocument/2006/relationships/slideLayout" Target="../slideLayouts/slideLayout6.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14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82.xml"/><Relationship Id="rId1" Type="http://schemas.openxmlformats.org/officeDocument/2006/relationships/slideLayout" Target="../slideLayouts/slideLayout6.xml"/><Relationship Id="rId4" Type="http://schemas.openxmlformats.org/officeDocument/2006/relationships/image" Target="../media/image106.png"/></Relationships>
</file>

<file path=ppt/slides/_rels/slide14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9.xml"/><Relationship Id="rId1" Type="http://schemas.openxmlformats.org/officeDocument/2006/relationships/slideLayout" Target="../slideLayouts/slideLayout6.xml"/><Relationship Id="rId4" Type="http://schemas.openxmlformats.org/officeDocument/2006/relationships/image" Target="../media/image109.png"/></Relationships>
</file>

<file path=ppt/slides/_rels/slide15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0.xml"/><Relationship Id="rId1" Type="http://schemas.openxmlformats.org/officeDocument/2006/relationships/slideLayout" Target="../slideLayouts/slideLayout6.xml"/><Relationship Id="rId4" Type="http://schemas.openxmlformats.org/officeDocument/2006/relationships/image" Target="../media/image111.png"/></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3.xml"/><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07.xml"/><Relationship Id="rId1" Type="http://schemas.openxmlformats.org/officeDocument/2006/relationships/slideLayout" Target="../slideLayouts/slideLayout6.xml"/><Relationship Id="rId5" Type="http://schemas.openxmlformats.org/officeDocument/2006/relationships/image" Target="../media/image117.png"/><Relationship Id="rId4" Type="http://schemas.openxmlformats.org/officeDocument/2006/relationships/image" Target="../media/image116.png"/></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09.xml"/><Relationship Id="rId1" Type="http://schemas.openxmlformats.org/officeDocument/2006/relationships/slideLayout" Target="../slideLayouts/slideLayout6.xml"/><Relationship Id="rId4" Type="http://schemas.openxmlformats.org/officeDocument/2006/relationships/image" Target="../media/image119.png"/></Relationships>
</file>

<file path=ppt/slides/_rels/slide17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10.xml"/><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6.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16.xml"/><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17.xml"/><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20.xml"/><Relationship Id="rId1" Type="http://schemas.openxmlformats.org/officeDocument/2006/relationships/slideLayout" Target="../slideLayouts/slideLayout6.xml"/><Relationship Id="rId4" Type="http://schemas.openxmlformats.org/officeDocument/2006/relationships/image" Target="../media/image114.png"/></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22.xml"/><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6.xml"/><Relationship Id="rId1" Type="http://schemas.openxmlformats.org/officeDocument/2006/relationships/vmlDrawing" Target="../drawings/vmlDrawing27.vml"/><Relationship Id="rId5" Type="http://schemas.openxmlformats.org/officeDocument/2006/relationships/image" Target="../media/image122.wmf"/><Relationship Id="rId4" Type="http://schemas.openxmlformats.org/officeDocument/2006/relationships/oleObject" Target="../embeddings/oleObject41.bin"/></Relationships>
</file>

<file path=ppt/slides/_rels/slide19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26.xml"/><Relationship Id="rId1" Type="http://schemas.openxmlformats.org/officeDocument/2006/relationships/slideLayout" Target="../slideLayouts/slideLayout6.xml"/><Relationship Id="rId4" Type="http://schemas.openxmlformats.org/officeDocument/2006/relationships/image" Target="../media/image124.png"/></Relationships>
</file>

<file path=ppt/slides/_rels/slide194.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27.xml"/><Relationship Id="rId1" Type="http://schemas.openxmlformats.org/officeDocument/2006/relationships/slideLayout" Target="../slideLayouts/slideLayout6.xml"/><Relationship Id="rId5" Type="http://schemas.openxmlformats.org/officeDocument/2006/relationships/image" Target="../media/image127.png"/><Relationship Id="rId4" Type="http://schemas.openxmlformats.org/officeDocument/2006/relationships/image" Target="../media/image126.png"/></Relationships>
</file>

<file path=ppt/slides/_rels/slide195.xml.rels><?xml version="1.0" encoding="UTF-8" standalone="yes"?>
<Relationships xmlns="http://schemas.openxmlformats.org/package/2006/relationships"><Relationship Id="rId3" Type="http://schemas.openxmlformats.org/officeDocument/2006/relationships/notesSlide" Target="../notesSlides/notesSlide128.xml"/><Relationship Id="rId7" Type="http://schemas.openxmlformats.org/officeDocument/2006/relationships/image" Target="../media/image129.wmf"/><Relationship Id="rId2" Type="http://schemas.openxmlformats.org/officeDocument/2006/relationships/slideLayout" Target="../slideLayouts/slideLayout6.xml"/><Relationship Id="rId1" Type="http://schemas.openxmlformats.org/officeDocument/2006/relationships/vmlDrawing" Target="../drawings/vmlDrawing28.vml"/><Relationship Id="rId6" Type="http://schemas.openxmlformats.org/officeDocument/2006/relationships/oleObject" Target="../embeddings/oleObject43.bin"/><Relationship Id="rId5" Type="http://schemas.openxmlformats.org/officeDocument/2006/relationships/image" Target="../media/image128.wmf"/><Relationship Id="rId4" Type="http://schemas.openxmlformats.org/officeDocument/2006/relationships/oleObject" Target="../embeddings/oleObject42.bin"/></Relationships>
</file>

<file path=ppt/slides/_rels/slide196.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notesSlide" Target="../notesSlides/notesSlide129.xml"/><Relationship Id="rId7" Type="http://schemas.openxmlformats.org/officeDocument/2006/relationships/image" Target="../media/image131.wmf"/><Relationship Id="rId2" Type="http://schemas.openxmlformats.org/officeDocument/2006/relationships/slideLayout" Target="../slideLayouts/slideLayout6.xml"/><Relationship Id="rId1" Type="http://schemas.openxmlformats.org/officeDocument/2006/relationships/vmlDrawing" Target="../drawings/vmlDrawing29.vml"/><Relationship Id="rId6" Type="http://schemas.openxmlformats.org/officeDocument/2006/relationships/oleObject" Target="../embeddings/oleObject45.bin"/><Relationship Id="rId5" Type="http://schemas.openxmlformats.org/officeDocument/2006/relationships/image" Target="../media/image130.wmf"/><Relationship Id="rId4" Type="http://schemas.openxmlformats.org/officeDocument/2006/relationships/oleObject" Target="../embeddings/oleObject44.bin"/><Relationship Id="rId9" Type="http://schemas.openxmlformats.org/officeDocument/2006/relationships/image" Target="../media/image132.wmf"/></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6.xml"/></Relationships>
</file>

<file path=ppt/slides/_rels/slide198.xml.rels><?xml version="1.0" encoding="UTF-8" standalone="yes"?>
<Relationships xmlns="http://schemas.openxmlformats.org/package/2006/relationships"><Relationship Id="rId8" Type="http://schemas.openxmlformats.org/officeDocument/2006/relationships/image" Target="../media/image134.wmf"/><Relationship Id="rId3" Type="http://schemas.openxmlformats.org/officeDocument/2006/relationships/notesSlide" Target="../notesSlides/notesSlide131.xml"/><Relationship Id="rId7" Type="http://schemas.openxmlformats.org/officeDocument/2006/relationships/oleObject" Target="../embeddings/oleObject48.bin"/><Relationship Id="rId2" Type="http://schemas.openxmlformats.org/officeDocument/2006/relationships/slideLayout" Target="../slideLayouts/slideLayout6.xml"/><Relationship Id="rId1" Type="http://schemas.openxmlformats.org/officeDocument/2006/relationships/vmlDrawing" Target="../drawings/vmlDrawing30.vml"/><Relationship Id="rId6" Type="http://schemas.openxmlformats.org/officeDocument/2006/relationships/image" Target="../media/image133.wmf"/><Relationship Id="rId5" Type="http://schemas.openxmlformats.org/officeDocument/2006/relationships/oleObject" Target="../embeddings/oleObject47.bin"/><Relationship Id="rId10" Type="http://schemas.openxmlformats.org/officeDocument/2006/relationships/image" Target="../media/image135.wmf"/><Relationship Id="rId4" Type="http://schemas.openxmlformats.org/officeDocument/2006/relationships/image" Target="../media/image136.png"/><Relationship Id="rId9" Type="http://schemas.openxmlformats.org/officeDocument/2006/relationships/oleObject" Target="../embeddings/oleObject49.bin"/></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6.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6.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6.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6.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6.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6.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6.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6.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6.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6.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6.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6.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6.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6.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6.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6.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6.xml"/></Relationships>
</file>

<file path=ppt/slides/_rels/slide221.xml.rels><?xml version="1.0" encoding="UTF-8" standalone="yes"?>
<Relationships xmlns="http://schemas.openxmlformats.org/package/2006/relationships"><Relationship Id="rId3" Type="http://schemas.openxmlformats.org/officeDocument/2006/relationships/notesSlide" Target="../notesSlides/notesSlide153.xml"/><Relationship Id="rId2" Type="http://schemas.openxmlformats.org/officeDocument/2006/relationships/slideLayout" Target="../slideLayouts/slideLayout6.xml"/><Relationship Id="rId1" Type="http://schemas.openxmlformats.org/officeDocument/2006/relationships/vmlDrawing" Target="../drawings/vmlDrawing31.vml"/><Relationship Id="rId5" Type="http://schemas.openxmlformats.org/officeDocument/2006/relationships/image" Target="../media/image137.wmf"/><Relationship Id="rId4" Type="http://schemas.openxmlformats.org/officeDocument/2006/relationships/oleObject" Target="../embeddings/oleObject50.bin"/></Relationships>
</file>

<file path=ppt/slides/_rels/slide222.xml.rels><?xml version="1.0" encoding="UTF-8" standalone="yes"?>
<Relationships xmlns="http://schemas.openxmlformats.org/package/2006/relationships"><Relationship Id="rId3" Type="http://schemas.openxmlformats.org/officeDocument/2006/relationships/notesSlide" Target="../notesSlides/notesSlide154.xml"/><Relationship Id="rId2" Type="http://schemas.openxmlformats.org/officeDocument/2006/relationships/slideLayout" Target="../slideLayouts/slideLayout6.xml"/><Relationship Id="rId1" Type="http://schemas.openxmlformats.org/officeDocument/2006/relationships/vmlDrawing" Target="../drawings/vmlDrawing32.vml"/><Relationship Id="rId5" Type="http://schemas.openxmlformats.org/officeDocument/2006/relationships/image" Target="../media/image138.wmf"/><Relationship Id="rId4" Type="http://schemas.openxmlformats.org/officeDocument/2006/relationships/oleObject" Target="../embeddings/oleObject51.bin"/></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6.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6.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6.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6.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6.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6.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6.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6.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6.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6.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6.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6.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6.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6.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6.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6.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6.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6.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6.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6.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6.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6.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6.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6.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6.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6.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6.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6.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6.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6.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6.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6.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6.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6.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6.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6.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405746" y="2175164"/>
            <a:ext cx="5432317" cy="1528893"/>
          </a:xfrm>
          <a:ln>
            <a:noFill/>
          </a:ln>
        </p:spPr>
        <p:txBody>
          <a:bodyPr>
            <a:normAutofit/>
          </a:bodyPr>
          <a:lstStyle/>
          <a:p>
            <a:r>
              <a:rPr lang="en-US" altLang="zh-CN" sz="440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Valuation and Risk Models</a:t>
            </a:r>
            <a:endParaRPr lang="zh-CN" altLang="en-US" sz="440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副标题 2"/>
          <p:cNvSpPr>
            <a:spLocks noGrp="1"/>
          </p:cNvSpPr>
          <p:nvPr>
            <p:ph type="subTitle" idx="1"/>
          </p:nvPr>
        </p:nvSpPr>
        <p:spPr>
          <a:xfrm>
            <a:off x="4405746" y="3410176"/>
            <a:ext cx="4187410" cy="1269870"/>
          </a:xfrm>
          <a:ln>
            <a:noFill/>
          </a:ln>
        </p:spPr>
        <p:txBody>
          <a:bodyPr>
            <a:normAutofit/>
          </a:bodyPr>
          <a:lstStyle/>
          <a:p>
            <a:r>
              <a:rPr lang="en-US" altLang="zh-CN"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FRM</a:t>
            </a:r>
            <a:r>
              <a:rPr lang="zh-CN" altLang="en-US"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zh-CN" sz="2600"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Part</a:t>
            </a:r>
            <a:r>
              <a:rPr lang="en-US" altLang="zh-CN"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I </a:t>
            </a:r>
            <a:r>
              <a:rPr lang="zh-CN" altLang="en-US"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培训讲义</a:t>
            </a:r>
          </a:p>
        </p:txBody>
      </p:sp>
      <p:sp>
        <p:nvSpPr>
          <p:cNvPr id="4" name="文本占位符 3"/>
          <p:cNvSpPr>
            <a:spLocks noGrp="1"/>
          </p:cNvSpPr>
          <p:nvPr>
            <p:ph type="body" sz="quarter" idx="10"/>
          </p:nvPr>
        </p:nvSpPr>
        <p:spPr>
          <a:xfrm>
            <a:off x="4405746" y="4677656"/>
            <a:ext cx="6886543" cy="296271"/>
          </a:xfrm>
          <a:ln>
            <a:noFill/>
          </a:ln>
        </p:spPr>
        <p:txBody>
          <a:bodyPr/>
          <a:lstStyle/>
          <a:p>
            <a:pPr algn="just"/>
            <a:r>
              <a:rPr lang="zh-CN" altLang="en-US" sz="1600" b="1" i="0" dirty="0"/>
              <a:t>                                                                       </a:t>
            </a:r>
            <a:r>
              <a:rPr lang="zh-CN" altLang="en-US" sz="1600" b="1" i="0" dirty="0">
                <a:solidFill>
                  <a:schemeClr val="accent6">
                    <a:lumMod val="50000"/>
                  </a:schemeClr>
                </a:solidFill>
              </a:rPr>
              <a:t>讲师：王天宇</a:t>
            </a:r>
          </a:p>
        </p:txBody>
      </p:sp>
    </p:spTree>
    <p:extLst>
      <p:ext uri="{BB962C8B-B14F-4D97-AF65-F5344CB8AC3E}">
        <p14:creationId xmlns:p14="http://schemas.microsoft.com/office/powerpoint/2010/main" val="3429462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3667" y="293755"/>
            <a:ext cx="6734539" cy="576064"/>
          </a:xfrm>
        </p:spPr>
        <p:txBody>
          <a:bodyPr>
            <a:normAutofit fontScale="90000"/>
          </a:bodyPr>
          <a:lstStyle/>
          <a:p>
            <a:r>
              <a:rPr lang="en-US" altLang="zh-CN" sz="3600" dirty="0">
                <a:latin typeface="+mn-lt"/>
                <a:ea typeface="+mn-ea"/>
                <a:cs typeface="+mn-ea"/>
                <a:sym typeface="+mn-lt"/>
              </a:rPr>
              <a:t>Topic Weightings in FRM Part I</a:t>
            </a:r>
            <a:br>
              <a:rPr lang="en-US" altLang="zh-CN" dirty="0">
                <a:latin typeface="+mn-lt"/>
                <a:ea typeface="+mn-ea"/>
                <a:cs typeface="+mn-ea"/>
                <a:sym typeface="+mn-lt"/>
              </a:rPr>
            </a:br>
            <a:endParaRPr lang="zh-CN" altLang="en-US" dirty="0">
              <a:latin typeface="+mn-lt"/>
              <a:ea typeface="+mn-ea"/>
              <a:cs typeface="+mn-ea"/>
              <a:sym typeface="+mn-lt"/>
            </a:endParaRPr>
          </a:p>
        </p:txBody>
      </p:sp>
      <p:graphicFrame>
        <p:nvGraphicFramePr>
          <p:cNvPr id="3" name="表格 2"/>
          <p:cNvGraphicFramePr>
            <a:graphicFrameLocks noGrp="1"/>
          </p:cNvGraphicFramePr>
          <p:nvPr>
            <p:extLst>
              <p:ext uri="{D42A27DB-BD31-4B8C-83A1-F6EECF244321}">
                <p14:modId xmlns:p14="http://schemas.microsoft.com/office/powerpoint/2010/main" val="441566597"/>
              </p:ext>
            </p:extLst>
          </p:nvPr>
        </p:nvGraphicFramePr>
        <p:xfrm>
          <a:off x="653667" y="1410161"/>
          <a:ext cx="10040880" cy="4323335"/>
        </p:xfrm>
        <a:graphic>
          <a:graphicData uri="http://schemas.openxmlformats.org/drawingml/2006/table">
            <a:tbl>
              <a:tblPr/>
              <a:tblGrid>
                <a:gridCol w="2652229">
                  <a:extLst>
                    <a:ext uri="{9D8B030D-6E8A-4147-A177-3AD203B41FA5}">
                      <a16:colId xmlns:a16="http://schemas.microsoft.com/office/drawing/2014/main" val="20000"/>
                    </a:ext>
                  </a:extLst>
                </a:gridCol>
                <a:gridCol w="5210482">
                  <a:extLst>
                    <a:ext uri="{9D8B030D-6E8A-4147-A177-3AD203B41FA5}">
                      <a16:colId xmlns:a16="http://schemas.microsoft.com/office/drawing/2014/main" val="20001"/>
                    </a:ext>
                  </a:extLst>
                </a:gridCol>
                <a:gridCol w="2178169">
                  <a:extLst>
                    <a:ext uri="{9D8B030D-6E8A-4147-A177-3AD203B41FA5}">
                      <a16:colId xmlns:a16="http://schemas.microsoft.com/office/drawing/2014/main" val="20002"/>
                    </a:ext>
                  </a:extLst>
                </a:gridCol>
              </a:tblGrid>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Session NO.</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Content</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Weights</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extLst>
                  <a:ext uri="{0D108BD9-81ED-4DB2-BD59-A6C34878D82A}">
                    <a16:rowId xmlns:a16="http://schemas.microsoft.com/office/drawing/2014/main" val="10000"/>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Study Session 1 </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Foundations of Risk Management</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20</a:t>
                      </a:r>
                      <a:endParaRPr kumimoji="1" lang="zh-CN" altLang="en-US" sz="2400" b="0" i="0" u="none" strike="noStrike" kern="1200" cap="none" normalizeH="0" baseline="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Study Session 2 </a:t>
                      </a:r>
                      <a:endParaRPr kumimoji="1" lang="zh-CN" altLang="en-US" sz="2400" b="0" i="0" u="none" strike="noStrike" kern="1200" cap="none" normalizeH="0" baseline="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Quantitative Analysis</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20</a:t>
                      </a:r>
                      <a:endParaRPr kumimoji="1" lang="zh-CN" altLang="en-US" sz="2400" b="0" i="0" u="none" strike="noStrike" kern="1200" cap="none" normalizeH="0" baseline="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Study Session 3</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bg1"/>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Financial Markets and Products</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bg1"/>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30</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3"/>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Study Session 4 </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DEADA"/>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Valuation and Risk Models</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DEADA"/>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30</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DEADA"/>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83205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a:xfrm>
            <a:off x="431800" y="1796820"/>
            <a:ext cx="11112500" cy="4696056"/>
          </a:xfrm>
        </p:spPr>
        <p:txBody>
          <a:bodyPr>
            <a:normAutofit/>
          </a:bodyPr>
          <a:lstStyle/>
          <a:p>
            <a:pPr>
              <a:lnSpc>
                <a:spcPct val="150000"/>
              </a:lnSpc>
            </a:pPr>
            <a:r>
              <a:rPr lang="en-US" altLang="zh-CN" dirty="0"/>
              <a:t>Valuation </a:t>
            </a:r>
            <a:r>
              <a:rPr lang="zh-CN" altLang="en-US" dirty="0"/>
              <a:t>估值                                               </a:t>
            </a:r>
            <a:endParaRPr lang="en-US" altLang="zh-CN" dirty="0"/>
          </a:p>
          <a:p>
            <a:pPr lvl="1">
              <a:lnSpc>
                <a:spcPct val="150000"/>
              </a:lnSpc>
            </a:pPr>
            <a:r>
              <a:rPr lang="en-US" altLang="zh-CN" dirty="0"/>
              <a:t>Option Valuation </a:t>
            </a:r>
            <a:r>
              <a:rPr lang="zh-CN" altLang="en-US" dirty="0"/>
              <a:t>期权估值</a:t>
            </a:r>
            <a:endParaRPr lang="en-US" altLang="zh-CN" dirty="0"/>
          </a:p>
          <a:p>
            <a:pPr lvl="1">
              <a:lnSpc>
                <a:spcPct val="150000"/>
              </a:lnSpc>
            </a:pPr>
            <a:r>
              <a:rPr lang="en-US" altLang="zh-CN" dirty="0"/>
              <a:t>Fixed Income Valuation </a:t>
            </a:r>
            <a:r>
              <a:rPr lang="zh-CN" altLang="en-US" dirty="0"/>
              <a:t>固定收益证券估值</a:t>
            </a:r>
            <a:endParaRPr lang="en-US" altLang="zh-CN" dirty="0"/>
          </a:p>
          <a:p>
            <a:pPr>
              <a:lnSpc>
                <a:spcPct val="150000"/>
              </a:lnSpc>
            </a:pPr>
            <a:r>
              <a:rPr lang="en-US" altLang="zh-CN" dirty="0"/>
              <a:t>Risk Models </a:t>
            </a:r>
            <a:r>
              <a:rPr lang="zh-CN" altLang="en-US" dirty="0"/>
              <a:t>风险模型</a:t>
            </a:r>
            <a:endParaRPr lang="en-US" altLang="zh-CN" dirty="0"/>
          </a:p>
          <a:p>
            <a:pPr lvl="1">
              <a:lnSpc>
                <a:spcPct val="150000"/>
              </a:lnSpc>
            </a:pPr>
            <a:r>
              <a:rPr lang="en-US" altLang="zh-CN" dirty="0"/>
              <a:t>Market Risk Measurement and Management</a:t>
            </a:r>
            <a:r>
              <a:rPr lang="zh-CN" altLang="en-US" dirty="0"/>
              <a:t> 市场风险度量和管理</a:t>
            </a:r>
            <a:endParaRPr lang="en-US" altLang="zh-CN" dirty="0"/>
          </a:p>
          <a:p>
            <a:pPr lvl="1"/>
            <a:r>
              <a:rPr lang="en-US" altLang="zh-CN" dirty="0"/>
              <a:t>Credit Risk Measurement and Management</a:t>
            </a:r>
            <a:r>
              <a:rPr lang="zh-CN" altLang="en-US" dirty="0"/>
              <a:t> 信用风险度量和管理</a:t>
            </a:r>
            <a:endParaRPr lang="en-US" altLang="zh-CN" dirty="0"/>
          </a:p>
          <a:p>
            <a:pPr lvl="1"/>
            <a:r>
              <a:rPr lang="en-US" altLang="zh-CN" dirty="0"/>
              <a:t>Operational Risk Measurement and Management </a:t>
            </a:r>
            <a:r>
              <a:rPr lang="zh-CN" altLang="en-US" dirty="0"/>
              <a:t>操作风险度量和管理</a:t>
            </a:r>
            <a:endParaRPr lang="en-US" altLang="zh-CN" dirty="0"/>
          </a:p>
          <a:p>
            <a:pPr lvl="1"/>
            <a:r>
              <a:rPr lang="en-US" altLang="zh-CN" dirty="0"/>
              <a:t>Stress Testing </a:t>
            </a:r>
            <a:r>
              <a:rPr lang="zh-CN" altLang="en-US" dirty="0"/>
              <a:t>压力测试</a:t>
            </a:r>
            <a:endParaRPr lang="en-US" altLang="zh-CN" dirty="0"/>
          </a:p>
          <a:p>
            <a:pPr lvl="1">
              <a:lnSpc>
                <a:spcPct val="150000"/>
              </a:lnSpc>
            </a:pPr>
            <a:endParaRPr lang="en-US" altLang="zh-CN" dirty="0"/>
          </a:p>
          <a:p>
            <a:pPr lvl="1"/>
            <a:endParaRPr lang="en-US" altLang="zh-CN" dirty="0">
              <a:latin typeface="+mn-lt"/>
              <a:ea typeface="+mn-ea"/>
              <a:cs typeface="+mn-ea"/>
              <a:sym typeface="+mn-lt"/>
            </a:endParaRPr>
          </a:p>
          <a:p>
            <a:endParaRPr lang="zh-CN" altLang="en-US" b="0" dirty="0">
              <a:latin typeface="+mn-lt"/>
              <a:ea typeface="+mn-ea"/>
              <a:cs typeface="+mn-ea"/>
              <a:sym typeface="+mn-lt"/>
            </a:endParaRPr>
          </a:p>
        </p:txBody>
      </p:sp>
    </p:spTree>
    <p:extLst>
      <p:ext uri="{BB962C8B-B14F-4D97-AF65-F5344CB8AC3E}">
        <p14:creationId xmlns:p14="http://schemas.microsoft.com/office/powerpoint/2010/main" val="3661900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0dcd307-9ca5-411e-aa47-63bb535c667f" descr="BA8AAB+LCAAAAAAABADdVU2P2jAQ/S9ue6Mo8Ra1yo10lRb1Cy2o3VXFwU0G4jZxkGNW7CL++9oQBzsJEPayBXEh4zf2mzdjvxV6LR7mgDw0SgkX15TMOEkHAlLUQYMIeWyRJB3kUxZRNvvEs8U8R97vVZlmrvyiIv5JkgWoXEYFJcn206vhNewbZTRdpAXM6ToyRJZGyHW2QRpFCZiwARPA78sTXBXb/B8JLg8IMp4SIQ9cOes3qFhCXu+q66xVcgRLmdRB4y0tzaegpwRorFMtqDKHWS5oxnYZQyJ1A0mpodhK0g4qaQEXNCRJP6EzlgJTjGUBIMJYrn7OOH3MmLDXb+gsFnL1C8C80G9EH+V5U5LkoFWIyRy+y3N0cZuAK9NuICGC3lsIK+aidVlWCVJqVGEda+dJKeZOHFmq5GxpvO7s1WcMS3GaoirDlLOp9/uK2dBRG5jUCwqn8dayPGsoKslmNT+m0xzE7RB4KNn4D5b8xTWoYnYdQd5bt4s14m7/Lr06xtrFQNxap94VX80Dt5W2ed7MuTnYH3vSqt2qC9/UuElD68r36mOWZPz4e6VhtXWpBA1hHEMKGjOmTPRZJKlHuks+V3eWQZ5rAf/8hVAYaV5PoRZ5LPd8FQRXwQccvEO6Umfd9GjpA9s+WhV8m+ncpNRnsh+qOSmYGxNRq1PTb99jn4T/zB5r0lZnt8EDV/LFSsUnPTeHijs4tv+7zfZMm8VnabNfYfpMl8VtXBa3c1lsuSw+X5fFZ+qy7jGXdV7aZPeNmzk2xx9gbJosvlCTfW+ZbOD7147baLL4Ik0WmyaLL9lk2xY3kb8nrhbizAQPAAA=">
            <a:extLst>
              <a:ext uri="{FF2B5EF4-FFF2-40B4-BE49-F238E27FC236}">
                <a16:creationId xmlns:a16="http://schemas.microsoft.com/office/drawing/2014/main" id="{1493A4F0-9A06-4464-AD29-020579B7968E}"/>
              </a:ext>
            </a:extLst>
          </p:cNvPr>
          <p:cNvGrpSpPr>
            <a:grpSpLocks noChangeAspect="1"/>
          </p:cNvGrpSpPr>
          <p:nvPr/>
        </p:nvGrpSpPr>
        <p:grpSpPr>
          <a:xfrm>
            <a:off x="1099614" y="1788195"/>
            <a:ext cx="9992772" cy="3281611"/>
            <a:chOff x="1262052" y="1623553"/>
            <a:chExt cx="9992772" cy="3281611"/>
          </a:xfrm>
        </p:grpSpPr>
        <p:sp>
          <p:nvSpPr>
            <p:cNvPr id="3" name="AreaShape">
              <a:extLst>
                <a:ext uri="{FF2B5EF4-FFF2-40B4-BE49-F238E27FC236}">
                  <a16:creationId xmlns:a16="http://schemas.microsoft.com/office/drawing/2014/main" id="{0801B548-BC6D-4D7A-82C0-DE4BE113F0FD}"/>
                </a:ext>
              </a:extLst>
            </p:cNvPr>
            <p:cNvSpPr/>
            <p:nvPr/>
          </p:nvSpPr>
          <p:spPr bwMode="auto">
            <a:xfrm>
              <a:off x="1262052" y="1623553"/>
              <a:ext cx="9992772" cy="3281611"/>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4" name="ValueBack1">
              <a:extLst>
                <a:ext uri="{FF2B5EF4-FFF2-40B4-BE49-F238E27FC236}">
                  <a16:creationId xmlns:a16="http://schemas.microsoft.com/office/drawing/2014/main" id="{0A0BE5B9-BB5E-4CC4-8E7A-0375A904DFDC}"/>
                </a:ext>
              </a:extLst>
            </p:cNvPr>
            <p:cNvSpPr/>
            <p:nvPr/>
          </p:nvSpPr>
          <p:spPr>
            <a:xfrm>
              <a:off x="5255344" y="2583639"/>
              <a:ext cx="933168" cy="1436347"/>
            </a:xfrm>
            <a:custGeom>
              <a:avLst/>
              <a:gdLst>
                <a:gd name="connsiteX0" fmla="*/ 0 w 783762"/>
                <a:gd name="connsiteY0" fmla="*/ 97330 h 1206379"/>
                <a:gd name="connsiteX1" fmla="*/ 783761 w 783762"/>
                <a:gd name="connsiteY1" fmla="*/ 563490 h 1206379"/>
                <a:gd name="connsiteX2" fmla="*/ 783761 w 783762"/>
                <a:gd name="connsiteY2" fmla="*/ 1206379 h 1206379"/>
                <a:gd name="connsiteX3" fmla="*/ 0 w 783762"/>
                <a:gd name="connsiteY3" fmla="*/ 742781 h 1206379"/>
                <a:gd name="connsiteX4" fmla="*/ 71718 w 783762"/>
                <a:gd name="connsiteY4" fmla="*/ 35858 h 1206379"/>
                <a:gd name="connsiteX5" fmla="*/ 345779 w 783762"/>
                <a:gd name="connsiteY5" fmla="*/ 215150 h 1206379"/>
                <a:gd name="connsiteX6" fmla="*/ 770957 w 783762"/>
                <a:gd name="connsiteY6" fmla="*/ 514824 h 1206379"/>
                <a:gd name="connsiteX7" fmla="*/ 527632 w 783762"/>
                <a:gd name="connsiteY7" fmla="*/ 366268 h 1206379"/>
                <a:gd name="connsiteX8" fmla="*/ 71718 w 783762"/>
                <a:gd name="connsiteY8" fmla="*/ 97330 h 1206379"/>
                <a:gd name="connsiteX9" fmla="*/ 163925 w 783762"/>
                <a:gd name="connsiteY9" fmla="*/ 0 h 1206379"/>
                <a:gd name="connsiteX10" fmla="*/ 420055 w 783762"/>
                <a:gd name="connsiteY10" fmla="*/ 179292 h 1206379"/>
                <a:gd name="connsiteX11" fmla="*/ 783762 w 783762"/>
                <a:gd name="connsiteY11" fmla="*/ 499456 h 1206379"/>
                <a:gd name="connsiteX12" fmla="*/ 494334 w 783762"/>
                <a:gd name="connsiteY12" fmla="*/ 253571 h 1206379"/>
                <a:gd name="connsiteX13" fmla="*/ 163925 w 783762"/>
                <a:gd name="connsiteY13" fmla="*/ 87085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3762" h="1206379">
                  <a:moveTo>
                    <a:pt x="0" y="97330"/>
                  </a:moveTo>
                  <a:lnTo>
                    <a:pt x="783761" y="563490"/>
                  </a:lnTo>
                  <a:lnTo>
                    <a:pt x="783761" y="1206379"/>
                  </a:lnTo>
                  <a:lnTo>
                    <a:pt x="0" y="742781"/>
                  </a:lnTo>
                  <a:close/>
                  <a:moveTo>
                    <a:pt x="71718" y="35858"/>
                  </a:moveTo>
                  <a:cubicBezTo>
                    <a:pt x="89648" y="92207"/>
                    <a:pt x="345779" y="217712"/>
                    <a:pt x="345779" y="215150"/>
                  </a:cubicBezTo>
                  <a:cubicBezTo>
                    <a:pt x="673626" y="353462"/>
                    <a:pt x="770957" y="514824"/>
                    <a:pt x="770957" y="514824"/>
                  </a:cubicBezTo>
                  <a:cubicBezTo>
                    <a:pt x="719731" y="471282"/>
                    <a:pt x="527632" y="366268"/>
                    <a:pt x="527632" y="366268"/>
                  </a:cubicBezTo>
                  <a:cubicBezTo>
                    <a:pt x="437986" y="320164"/>
                    <a:pt x="71718" y="97330"/>
                    <a:pt x="71718" y="97330"/>
                  </a:cubicBezTo>
                  <a:close/>
                  <a:moveTo>
                    <a:pt x="163925" y="0"/>
                  </a:moveTo>
                  <a:cubicBezTo>
                    <a:pt x="189538" y="79402"/>
                    <a:pt x="420055" y="179292"/>
                    <a:pt x="420055" y="179292"/>
                  </a:cubicBezTo>
                  <a:cubicBezTo>
                    <a:pt x="776078" y="368830"/>
                    <a:pt x="783762" y="499456"/>
                    <a:pt x="783762" y="499456"/>
                  </a:cubicBezTo>
                  <a:cubicBezTo>
                    <a:pt x="714606" y="371391"/>
                    <a:pt x="494334" y="253571"/>
                    <a:pt x="494334" y="253571"/>
                  </a:cubicBezTo>
                  <a:cubicBezTo>
                    <a:pt x="356023" y="207467"/>
                    <a:pt x="163925" y="87085"/>
                    <a:pt x="163925" y="87085"/>
                  </a:cubicBezTo>
                  <a:close/>
                </a:path>
              </a:pathLst>
            </a:custGeom>
            <a:solidFill>
              <a:schemeClr val="accent1">
                <a:lumMod val="100000"/>
              </a:schemeClr>
            </a:solidFill>
            <a:ln w="20534" cap="flat">
              <a:noFill/>
              <a:prstDash val="solid"/>
              <a:miter/>
            </a:ln>
          </p:spPr>
          <p:txBody>
            <a:bodyPr rtlCol="0" anchor="ctr"/>
            <a:lstStyle/>
            <a:p>
              <a:endParaRPr lang="zh-CN" altLang="en-US"/>
            </a:p>
          </p:txBody>
        </p:sp>
        <p:sp>
          <p:nvSpPr>
            <p:cNvPr id="5" name="ValueBack2">
              <a:extLst>
                <a:ext uri="{FF2B5EF4-FFF2-40B4-BE49-F238E27FC236}">
                  <a16:creationId xmlns:a16="http://schemas.microsoft.com/office/drawing/2014/main" id="{3EF3DEE4-FD95-4FF7-8A3C-0CA049379F52}"/>
                </a:ext>
              </a:extLst>
            </p:cNvPr>
            <p:cNvSpPr/>
            <p:nvPr/>
          </p:nvSpPr>
          <p:spPr>
            <a:xfrm>
              <a:off x="6374534" y="2583639"/>
              <a:ext cx="933165" cy="1436347"/>
            </a:xfrm>
            <a:custGeom>
              <a:avLst/>
              <a:gdLst>
                <a:gd name="connsiteX0" fmla="*/ 783760 w 783760"/>
                <a:gd name="connsiteY0" fmla="*/ 97330 h 1206379"/>
                <a:gd name="connsiteX1" fmla="*/ 783760 w 783760"/>
                <a:gd name="connsiteY1" fmla="*/ 742781 h 1206379"/>
                <a:gd name="connsiteX2" fmla="*/ 0 w 783760"/>
                <a:gd name="connsiteY2" fmla="*/ 1206379 h 1206379"/>
                <a:gd name="connsiteX3" fmla="*/ 0 w 783760"/>
                <a:gd name="connsiteY3" fmla="*/ 563490 h 1206379"/>
                <a:gd name="connsiteX4" fmla="*/ 712044 w 783760"/>
                <a:gd name="connsiteY4" fmla="*/ 35858 h 1206379"/>
                <a:gd name="connsiteX5" fmla="*/ 712044 w 783760"/>
                <a:gd name="connsiteY5" fmla="*/ 97330 h 1206379"/>
                <a:gd name="connsiteX6" fmla="*/ 256131 w 783760"/>
                <a:gd name="connsiteY6" fmla="*/ 366268 h 1206379"/>
                <a:gd name="connsiteX7" fmla="*/ 12807 w 783760"/>
                <a:gd name="connsiteY7" fmla="*/ 514824 h 1206379"/>
                <a:gd name="connsiteX8" fmla="*/ 437985 w 783760"/>
                <a:gd name="connsiteY8" fmla="*/ 215150 h 1206379"/>
                <a:gd name="connsiteX9" fmla="*/ 712044 w 783760"/>
                <a:gd name="connsiteY9" fmla="*/ 35858 h 1206379"/>
                <a:gd name="connsiteX10" fmla="*/ 619837 w 783760"/>
                <a:gd name="connsiteY10" fmla="*/ 0 h 1206379"/>
                <a:gd name="connsiteX11" fmla="*/ 619837 w 783760"/>
                <a:gd name="connsiteY11" fmla="*/ 87085 h 1206379"/>
                <a:gd name="connsiteX12" fmla="*/ 289428 w 783760"/>
                <a:gd name="connsiteY12" fmla="*/ 253571 h 1206379"/>
                <a:gd name="connsiteX13" fmla="*/ 0 w 783760"/>
                <a:gd name="connsiteY13" fmla="*/ 499456 h 1206379"/>
                <a:gd name="connsiteX14" fmla="*/ 363706 w 783760"/>
                <a:gd name="connsiteY14" fmla="*/ 179292 h 1206379"/>
                <a:gd name="connsiteX15" fmla="*/ 619837 w 783760"/>
                <a:gd name="connsiteY15" fmla="*/ 0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83760" h="1206379">
                  <a:moveTo>
                    <a:pt x="783760" y="97330"/>
                  </a:moveTo>
                  <a:lnTo>
                    <a:pt x="783760" y="742781"/>
                  </a:lnTo>
                  <a:lnTo>
                    <a:pt x="0" y="1206379"/>
                  </a:lnTo>
                  <a:lnTo>
                    <a:pt x="0" y="563490"/>
                  </a:lnTo>
                  <a:close/>
                  <a:moveTo>
                    <a:pt x="712044" y="35858"/>
                  </a:moveTo>
                  <a:lnTo>
                    <a:pt x="712044" y="97330"/>
                  </a:lnTo>
                  <a:cubicBezTo>
                    <a:pt x="712044" y="97330"/>
                    <a:pt x="345776" y="320164"/>
                    <a:pt x="256131" y="366268"/>
                  </a:cubicBezTo>
                  <a:cubicBezTo>
                    <a:pt x="256131" y="366268"/>
                    <a:pt x="64033" y="471282"/>
                    <a:pt x="12807" y="514824"/>
                  </a:cubicBezTo>
                  <a:cubicBezTo>
                    <a:pt x="12807" y="514824"/>
                    <a:pt x="110136" y="353462"/>
                    <a:pt x="437985" y="215150"/>
                  </a:cubicBezTo>
                  <a:cubicBezTo>
                    <a:pt x="437985" y="217712"/>
                    <a:pt x="691553" y="92207"/>
                    <a:pt x="712044" y="35858"/>
                  </a:cubicBezTo>
                  <a:close/>
                  <a:moveTo>
                    <a:pt x="619837" y="0"/>
                  </a:moveTo>
                  <a:lnTo>
                    <a:pt x="619837" y="87085"/>
                  </a:lnTo>
                  <a:cubicBezTo>
                    <a:pt x="619837" y="87085"/>
                    <a:pt x="427739" y="207467"/>
                    <a:pt x="289428" y="253571"/>
                  </a:cubicBezTo>
                  <a:cubicBezTo>
                    <a:pt x="289428" y="253571"/>
                    <a:pt x="69155" y="371391"/>
                    <a:pt x="0" y="499456"/>
                  </a:cubicBezTo>
                  <a:cubicBezTo>
                    <a:pt x="0" y="499456"/>
                    <a:pt x="7684" y="368830"/>
                    <a:pt x="363706" y="179292"/>
                  </a:cubicBezTo>
                  <a:cubicBezTo>
                    <a:pt x="363706" y="179292"/>
                    <a:pt x="594224" y="79402"/>
                    <a:pt x="619837" y="0"/>
                  </a:cubicBezTo>
                  <a:close/>
                </a:path>
              </a:pathLst>
            </a:custGeom>
            <a:solidFill>
              <a:schemeClr val="accent3">
                <a:lumMod val="100000"/>
              </a:schemeClr>
            </a:solidFill>
            <a:ln w="20534" cap="flat">
              <a:noFill/>
              <a:prstDash val="solid"/>
              <a:miter/>
            </a:ln>
          </p:spPr>
          <p:txBody>
            <a:bodyPr rtlCol="0" anchor="ctr"/>
            <a:lstStyle/>
            <a:p>
              <a:endParaRPr lang="zh-CN" altLang="en-US"/>
            </a:p>
          </p:txBody>
        </p:sp>
        <p:sp>
          <p:nvSpPr>
            <p:cNvPr id="6" name="RelativeShape1">
              <a:extLst>
                <a:ext uri="{FF2B5EF4-FFF2-40B4-BE49-F238E27FC236}">
                  <a16:creationId xmlns:a16="http://schemas.microsoft.com/office/drawing/2014/main" id="{93746CF1-0B19-410A-A38E-CE512D993243}"/>
                </a:ext>
              </a:extLst>
            </p:cNvPr>
            <p:cNvSpPr/>
            <p:nvPr/>
          </p:nvSpPr>
          <p:spPr bwMode="auto">
            <a:xfrm>
              <a:off x="2135559"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7" name="RelativeShape2">
              <a:extLst>
                <a:ext uri="{FF2B5EF4-FFF2-40B4-BE49-F238E27FC236}">
                  <a16:creationId xmlns:a16="http://schemas.microsoft.com/office/drawing/2014/main" id="{D66CF947-5A01-4839-B102-747EFDD7281A}"/>
                </a:ext>
              </a:extLst>
            </p:cNvPr>
            <p:cNvSpPr/>
            <p:nvPr/>
          </p:nvSpPr>
          <p:spPr bwMode="auto">
            <a:xfrm>
              <a:off x="7364516"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8" name="ValueShape1">
              <a:extLst>
                <a:ext uri="{FF2B5EF4-FFF2-40B4-BE49-F238E27FC236}">
                  <a16:creationId xmlns:a16="http://schemas.microsoft.com/office/drawing/2014/main" id="{FB26877B-79B9-4CD8-8BC2-839063D1BB76}"/>
                </a:ext>
              </a:extLst>
            </p:cNvPr>
            <p:cNvSpPr/>
            <p:nvPr/>
          </p:nvSpPr>
          <p:spPr bwMode="auto">
            <a:xfrm>
              <a:off x="3578684" y="2723405"/>
              <a:ext cx="1627354" cy="754798"/>
            </a:xfrm>
            <a:prstGeom prst="rect">
              <a:avLst/>
            </a:prstGeom>
            <a:solidFill>
              <a:schemeClr val="accent1">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9" name="ValueShape2">
              <a:extLst>
                <a:ext uri="{FF2B5EF4-FFF2-40B4-BE49-F238E27FC236}">
                  <a16:creationId xmlns:a16="http://schemas.microsoft.com/office/drawing/2014/main" id="{8BE80031-FBBD-47D1-B814-D039F3BF91FC}"/>
                </a:ext>
              </a:extLst>
            </p:cNvPr>
            <p:cNvSpPr/>
            <p:nvPr/>
          </p:nvSpPr>
          <p:spPr bwMode="auto">
            <a:xfrm>
              <a:off x="7364516" y="2723405"/>
              <a:ext cx="1688763" cy="754798"/>
            </a:xfrm>
            <a:prstGeom prst="rect">
              <a:avLst/>
            </a:prstGeom>
            <a:solidFill>
              <a:schemeClr val="accent3">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10" name="ExtraShape">
              <a:extLst>
                <a:ext uri="{FF2B5EF4-FFF2-40B4-BE49-F238E27FC236}">
                  <a16:creationId xmlns:a16="http://schemas.microsoft.com/office/drawing/2014/main" id="{4DE28724-19BC-419C-BCCD-CC6E2D97C58F}"/>
                </a:ext>
              </a:extLst>
            </p:cNvPr>
            <p:cNvSpPr/>
            <p:nvPr/>
          </p:nvSpPr>
          <p:spPr bwMode="auto">
            <a:xfrm rot="7966385">
              <a:off x="5372123" y="1998499"/>
              <a:ext cx="1772631" cy="1717988"/>
            </a:xfrm>
            <a:custGeom>
              <a:avLst/>
              <a:gdLst>
                <a:gd name="connsiteX0" fmla="*/ 1009389 w 1488822"/>
                <a:gd name="connsiteY0" fmla="*/ 531908 h 1442928"/>
                <a:gd name="connsiteX1" fmla="*/ 927638 w 1488822"/>
                <a:gd name="connsiteY1" fmla="*/ 443542 h 1442928"/>
                <a:gd name="connsiteX2" fmla="*/ 1407071 w 1488822"/>
                <a:gd name="connsiteY2" fmla="*/ 0 h 1442928"/>
                <a:gd name="connsiteX3" fmla="*/ 1488822 w 1488822"/>
                <a:gd name="connsiteY3" fmla="*/ 88366 h 1442928"/>
                <a:gd name="connsiteX4" fmla="*/ 175265 w 1488822"/>
                <a:gd name="connsiteY4" fmla="*/ 1240780 h 1442928"/>
                <a:gd name="connsiteX5" fmla="*/ 0 w 1488822"/>
                <a:gd name="connsiteY5" fmla="*/ 900466 h 1442928"/>
                <a:gd name="connsiteX6" fmla="*/ 1 w 1488822"/>
                <a:gd name="connsiteY6" fmla="*/ 900467 h 1442928"/>
                <a:gd name="connsiteX7" fmla="*/ 1 w 1488822"/>
                <a:gd name="connsiteY7" fmla="*/ 900466 h 1442928"/>
                <a:gd name="connsiteX8" fmla="*/ 109696 w 1488822"/>
                <a:gd name="connsiteY8" fmla="*/ 798983 h 1442928"/>
                <a:gd name="connsiteX9" fmla="*/ 103102 w 1488822"/>
                <a:gd name="connsiteY9" fmla="*/ 783064 h 1442928"/>
                <a:gd name="connsiteX10" fmla="*/ 130693 w 1488822"/>
                <a:gd name="connsiteY10" fmla="*/ 755473 h 1442928"/>
                <a:gd name="connsiteX11" fmla="*/ 158284 w 1488822"/>
                <a:gd name="connsiteY11" fmla="*/ 755473 h 1442928"/>
                <a:gd name="connsiteX12" fmla="*/ 158284 w 1488822"/>
                <a:gd name="connsiteY12" fmla="*/ 783064 h 1442928"/>
                <a:gd name="connsiteX13" fmla="*/ 130693 w 1488822"/>
                <a:gd name="connsiteY13" fmla="*/ 810655 h 1442928"/>
                <a:gd name="connsiteX14" fmla="*/ 117896 w 1488822"/>
                <a:gd name="connsiteY14" fmla="*/ 805354 h 1442928"/>
                <a:gd name="connsiteX15" fmla="*/ 9205 w 1488822"/>
                <a:gd name="connsiteY15" fmla="*/ 905909 h 1442928"/>
                <a:gd name="connsiteX16" fmla="*/ 195140 w 1488822"/>
                <a:gd name="connsiteY16" fmla="*/ 1015874 h 1442928"/>
                <a:gd name="connsiteX17" fmla="*/ 194925 w 1488822"/>
                <a:gd name="connsiteY17" fmla="*/ 1014140 h 1442928"/>
                <a:gd name="connsiteX18" fmla="*/ 263892 w 1488822"/>
                <a:gd name="connsiteY18" fmla="*/ 872665 h 1442928"/>
                <a:gd name="connsiteX19" fmla="*/ 410296 w 1488822"/>
                <a:gd name="connsiteY19" fmla="*/ 814892 h 1442928"/>
                <a:gd name="connsiteX20" fmla="*/ 457989 w 1488822"/>
                <a:gd name="connsiteY20" fmla="*/ 824618 h 1442928"/>
                <a:gd name="connsiteX21" fmla="*/ 418631 w 1488822"/>
                <a:gd name="connsiteY21" fmla="*/ 775714 h 1442928"/>
                <a:gd name="connsiteX22" fmla="*/ 288313 w 1488822"/>
                <a:gd name="connsiteY22" fmla="*/ 570929 h 1442928"/>
                <a:gd name="connsiteX23" fmla="*/ 297512 w 1488822"/>
                <a:gd name="connsiteY23" fmla="*/ 380976 h 1442928"/>
                <a:gd name="connsiteX24" fmla="*/ 639727 w 1488822"/>
                <a:gd name="connsiteY24" fmla="*/ 483096 h 1442928"/>
                <a:gd name="connsiteX25" fmla="*/ 715184 w 1488822"/>
                <a:gd name="connsiteY25" fmla="*/ 640092 h 1442928"/>
                <a:gd name="connsiteX26" fmla="*/ 703903 w 1488822"/>
                <a:gd name="connsiteY26" fmla="*/ 650528 h 1442928"/>
                <a:gd name="connsiteX27" fmla="*/ 628648 w 1488822"/>
                <a:gd name="connsiteY27" fmla="*/ 674788 h 1442928"/>
                <a:gd name="connsiteX28" fmla="*/ 625067 w 1488822"/>
                <a:gd name="connsiteY28" fmla="*/ 786543 h 1442928"/>
                <a:gd name="connsiteX29" fmla="*/ 632189 w 1488822"/>
                <a:gd name="connsiteY29" fmla="*/ 795409 h 1442928"/>
                <a:gd name="connsiteX30" fmla="*/ 640720 w 1488822"/>
                <a:gd name="connsiteY30" fmla="*/ 803463 h 1442928"/>
                <a:gd name="connsiteX31" fmla="*/ 753882 w 1488822"/>
                <a:gd name="connsiteY31" fmla="*/ 810157 h 1442928"/>
                <a:gd name="connsiteX32" fmla="*/ 783914 w 1488822"/>
                <a:gd name="connsiteY32" fmla="*/ 737014 h 1442928"/>
                <a:gd name="connsiteX33" fmla="*/ 795195 w 1488822"/>
                <a:gd name="connsiteY33" fmla="*/ 726577 h 1442928"/>
                <a:gd name="connsiteX34" fmla="*/ 945856 w 1488822"/>
                <a:gd name="connsiteY34" fmla="*/ 813997 h 1442928"/>
                <a:gd name="connsiteX35" fmla="*/ 1021093 w 1488822"/>
                <a:gd name="connsiteY35" fmla="*/ 1163109 h 1442928"/>
                <a:gd name="connsiteX36" fmla="*/ 830999 w 1488822"/>
                <a:gd name="connsiteY36" fmla="*/ 1157529 h 1442928"/>
                <a:gd name="connsiteX37" fmla="*/ 635921 w 1488822"/>
                <a:gd name="connsiteY37" fmla="*/ 1010587 h 1442928"/>
                <a:gd name="connsiteX38" fmla="*/ 591226 w 1488822"/>
                <a:gd name="connsiteY38" fmla="*/ 968448 h 1442928"/>
                <a:gd name="connsiteX39" fmla="*/ 597245 w 1488822"/>
                <a:gd name="connsiteY39" fmla="*/ 1016969 h 1442928"/>
                <a:gd name="connsiteX40" fmla="*/ 528278 w 1488822"/>
                <a:gd name="connsiteY40" fmla="*/ 1158444 h 1442928"/>
                <a:gd name="connsiteX41" fmla="*/ 458611 w 1488822"/>
                <a:gd name="connsiteY41" fmla="*/ 1202056 h 1442928"/>
                <a:gd name="connsiteX42" fmla="*/ 397138 w 1488822"/>
                <a:gd name="connsiteY42" fmla="*/ 1213400 h 1442928"/>
                <a:gd name="connsiteX43" fmla="*/ 526279 w 1488822"/>
                <a:gd name="connsiteY43" fmla="*/ 1442928 h 144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8822" h="1442928">
                  <a:moveTo>
                    <a:pt x="1009389" y="531908"/>
                  </a:moveTo>
                  <a:lnTo>
                    <a:pt x="927638" y="443542"/>
                  </a:lnTo>
                  <a:lnTo>
                    <a:pt x="1407071" y="0"/>
                  </a:lnTo>
                  <a:lnTo>
                    <a:pt x="1488822" y="88366"/>
                  </a:lnTo>
                  <a:close/>
                  <a:moveTo>
                    <a:pt x="175265" y="1240780"/>
                  </a:moveTo>
                  <a:lnTo>
                    <a:pt x="0" y="900466"/>
                  </a:lnTo>
                  <a:lnTo>
                    <a:pt x="1" y="900467"/>
                  </a:lnTo>
                  <a:lnTo>
                    <a:pt x="1" y="900466"/>
                  </a:lnTo>
                  <a:lnTo>
                    <a:pt x="109696" y="798983"/>
                  </a:lnTo>
                  <a:lnTo>
                    <a:pt x="103102" y="783064"/>
                  </a:lnTo>
                  <a:cubicBezTo>
                    <a:pt x="103102" y="767826"/>
                    <a:pt x="115455" y="755473"/>
                    <a:pt x="130693" y="755473"/>
                  </a:cubicBezTo>
                  <a:lnTo>
                    <a:pt x="158284" y="755473"/>
                  </a:lnTo>
                  <a:lnTo>
                    <a:pt x="158284" y="783064"/>
                  </a:lnTo>
                  <a:cubicBezTo>
                    <a:pt x="158284" y="798302"/>
                    <a:pt x="145931" y="810655"/>
                    <a:pt x="130693" y="810655"/>
                  </a:cubicBezTo>
                  <a:lnTo>
                    <a:pt x="117896" y="805354"/>
                  </a:lnTo>
                  <a:lnTo>
                    <a:pt x="9205" y="905909"/>
                  </a:lnTo>
                  <a:lnTo>
                    <a:pt x="195140" y="1015874"/>
                  </a:lnTo>
                  <a:lnTo>
                    <a:pt x="194925" y="1014140"/>
                  </a:lnTo>
                  <a:cubicBezTo>
                    <a:pt x="198561" y="962786"/>
                    <a:pt x="221838" y="911570"/>
                    <a:pt x="263892" y="872665"/>
                  </a:cubicBezTo>
                  <a:cubicBezTo>
                    <a:pt x="305945" y="833759"/>
                    <a:pt x="358815" y="814530"/>
                    <a:pt x="410296" y="814892"/>
                  </a:cubicBezTo>
                  <a:lnTo>
                    <a:pt x="457989" y="824618"/>
                  </a:lnTo>
                  <a:lnTo>
                    <a:pt x="418631" y="775714"/>
                  </a:lnTo>
                  <a:cubicBezTo>
                    <a:pt x="370542" y="712719"/>
                    <a:pt x="322348" y="639541"/>
                    <a:pt x="288313" y="570929"/>
                  </a:cubicBezTo>
                  <a:cubicBezTo>
                    <a:pt x="227807" y="448953"/>
                    <a:pt x="297512" y="380976"/>
                    <a:pt x="297512" y="380976"/>
                  </a:cubicBezTo>
                  <a:lnTo>
                    <a:pt x="639727" y="483096"/>
                  </a:lnTo>
                  <a:cubicBezTo>
                    <a:pt x="617778" y="534804"/>
                    <a:pt x="715184" y="640092"/>
                    <a:pt x="715184" y="640092"/>
                  </a:cubicBezTo>
                  <a:lnTo>
                    <a:pt x="703903" y="650528"/>
                  </a:lnTo>
                  <a:cubicBezTo>
                    <a:pt x="667708" y="649120"/>
                    <a:pt x="628648" y="674788"/>
                    <a:pt x="628648" y="674788"/>
                  </a:cubicBezTo>
                  <a:cubicBezTo>
                    <a:pt x="590047" y="723584"/>
                    <a:pt x="611785" y="767589"/>
                    <a:pt x="625067" y="786543"/>
                  </a:cubicBezTo>
                  <a:lnTo>
                    <a:pt x="632189" y="795409"/>
                  </a:lnTo>
                  <a:lnTo>
                    <a:pt x="640720" y="803463"/>
                  </a:lnTo>
                  <a:cubicBezTo>
                    <a:pt x="659074" y="818705"/>
                    <a:pt x="702237" y="844852"/>
                    <a:pt x="753882" y="810157"/>
                  </a:cubicBezTo>
                  <a:cubicBezTo>
                    <a:pt x="753882" y="810157"/>
                    <a:pt x="782507" y="773209"/>
                    <a:pt x="783914" y="737014"/>
                  </a:cubicBezTo>
                  <a:lnTo>
                    <a:pt x="795195" y="726577"/>
                  </a:lnTo>
                  <a:cubicBezTo>
                    <a:pt x="795195" y="726577"/>
                    <a:pt x="892600" y="831864"/>
                    <a:pt x="945856" y="813997"/>
                  </a:cubicBezTo>
                  <a:lnTo>
                    <a:pt x="1021093" y="1163109"/>
                  </a:lnTo>
                  <a:cubicBezTo>
                    <a:pt x="1021093" y="1163109"/>
                    <a:pt x="947908" y="1227325"/>
                    <a:pt x="830999" y="1157529"/>
                  </a:cubicBezTo>
                  <a:cubicBezTo>
                    <a:pt x="765237" y="1118269"/>
                    <a:pt x="695473" y="1063943"/>
                    <a:pt x="635921" y="1010587"/>
                  </a:cubicBezTo>
                  <a:lnTo>
                    <a:pt x="591226" y="968448"/>
                  </a:lnTo>
                  <a:lnTo>
                    <a:pt x="597245" y="1016969"/>
                  </a:lnTo>
                  <a:cubicBezTo>
                    <a:pt x="593608" y="1068323"/>
                    <a:pt x="570331" y="1119539"/>
                    <a:pt x="528278" y="1158444"/>
                  </a:cubicBezTo>
                  <a:cubicBezTo>
                    <a:pt x="507251" y="1177897"/>
                    <a:pt x="483520" y="1192431"/>
                    <a:pt x="458611" y="1202056"/>
                  </a:cubicBezTo>
                  <a:lnTo>
                    <a:pt x="397138" y="1213400"/>
                  </a:lnTo>
                  <a:lnTo>
                    <a:pt x="526279" y="1442928"/>
                  </a:lnTo>
                  <a:close/>
                </a:path>
              </a:pathLst>
            </a:custGeom>
            <a:solidFill>
              <a:schemeClr val="accent1"/>
            </a:solidFill>
            <a:ln w="19050">
              <a:noFill/>
              <a:round/>
              <a:headEnd/>
              <a:tailEnd/>
            </a:ln>
          </p:spPr>
          <p:txBody>
            <a:bodyPr rot="0" spcFirstLastPara="0" vert="horz" wrap="square" lIns="91440" tIns="45720" rIns="91440" bIns="45720" numCol="1" spcCol="0" rtlCol="0" fromWordArt="0" anchor="ctr" anchorCtr="1" forceAA="0" compatLnSpc="1">
              <a:prstTxWarp prst="textNoShape">
                <a:avLst/>
              </a:prstTxWarp>
              <a:noAutofit/>
            </a:bodyPr>
            <a:lstStyle/>
            <a:p>
              <a:pPr algn="ctr"/>
              <a:endParaRPr lang="zh-CN" altLang="en-US" sz="1200" b="1" dirty="0">
                <a:solidFill>
                  <a:schemeClr val="tx1">
                    <a:lumMod val="75000"/>
                    <a:lumOff val="25000"/>
                  </a:schemeClr>
                </a:solidFill>
              </a:endParaRPr>
            </a:p>
          </p:txBody>
        </p:sp>
        <p:sp>
          <p:nvSpPr>
            <p:cNvPr id="11" name="ValueText1">
              <a:extLst>
                <a:ext uri="{FF2B5EF4-FFF2-40B4-BE49-F238E27FC236}">
                  <a16:creationId xmlns:a16="http://schemas.microsoft.com/office/drawing/2014/main" id="{EDBDD775-3579-4CA8-974B-1036888707D0}"/>
                </a:ext>
              </a:extLst>
            </p:cNvPr>
            <p:cNvSpPr txBox="1"/>
            <p:nvPr/>
          </p:nvSpPr>
          <p:spPr>
            <a:xfrm>
              <a:off x="2910028"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a:solidFill>
                    <a:schemeClr val="accent1">
                      <a:lumMod val="100000"/>
                    </a:schemeClr>
                  </a:solidFill>
                  <a:latin typeface="Impact" panose="020B0806030902050204" pitchFamily="34" charset="0"/>
                </a:rPr>
                <a:t>53%</a:t>
              </a:r>
              <a:endParaRPr lang="en-US" altLang="zh-CN" sz="3600" b="1" dirty="0">
                <a:solidFill>
                  <a:schemeClr val="accent1">
                    <a:lumMod val="100000"/>
                  </a:schemeClr>
                </a:solidFill>
                <a:latin typeface="Impact" panose="020B0806030902050204" pitchFamily="34" charset="0"/>
              </a:endParaRPr>
            </a:p>
          </p:txBody>
        </p:sp>
        <p:sp>
          <p:nvSpPr>
            <p:cNvPr id="12" name="ValueText2">
              <a:extLst>
                <a:ext uri="{FF2B5EF4-FFF2-40B4-BE49-F238E27FC236}">
                  <a16:creationId xmlns:a16="http://schemas.microsoft.com/office/drawing/2014/main" id="{3A46D92B-9B9E-4C45-9D21-0E83583F0B0C}"/>
                </a:ext>
              </a:extLst>
            </p:cNvPr>
            <p:cNvSpPr txBox="1"/>
            <p:nvPr/>
          </p:nvSpPr>
          <p:spPr>
            <a:xfrm>
              <a:off x="9164722"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dirty="0">
                  <a:solidFill>
                    <a:schemeClr val="accent3">
                      <a:lumMod val="100000"/>
                    </a:schemeClr>
                  </a:solidFill>
                  <a:latin typeface="Impact" panose="020B0806030902050204" pitchFamily="34" charset="0"/>
                </a:rPr>
                <a:t>55%</a:t>
              </a:r>
            </a:p>
          </p:txBody>
        </p:sp>
        <p:sp>
          <p:nvSpPr>
            <p:cNvPr id="15" name="CustomText">
              <a:extLst>
                <a:ext uri="{FF2B5EF4-FFF2-40B4-BE49-F238E27FC236}">
                  <a16:creationId xmlns:a16="http://schemas.microsoft.com/office/drawing/2014/main" id="{D579BF51-77EB-4085-9DCF-88AD3E5322E0}"/>
                </a:ext>
              </a:extLst>
            </p:cNvPr>
            <p:cNvSpPr/>
            <p:nvPr/>
          </p:nvSpPr>
          <p:spPr>
            <a:xfrm>
              <a:off x="4636728" y="4100308"/>
              <a:ext cx="3438697" cy="382921"/>
            </a:xfrm>
            <a:prstGeom prst="rect">
              <a:avLst/>
            </a:prstGeom>
            <a:noFill/>
          </p:spPr>
          <p:txBody>
            <a:bodyPr wrap="square" lIns="90000" tIns="46800" rIns="90000" bIns="46800" anchor="ctr">
              <a:noAutofit/>
            </a:bodyPr>
            <a:lstStyle/>
            <a:p>
              <a:pPr lvl="0" algn="ctr">
                <a:defRPr/>
              </a:pPr>
              <a:r>
                <a:rPr lang="en-US" altLang="zh-CN" sz="2400" b="1" dirty="0">
                  <a:solidFill>
                    <a:schemeClr val="tx1">
                      <a:lumMod val="75000"/>
                      <a:lumOff val="25000"/>
                    </a:schemeClr>
                  </a:solidFill>
                </a:rPr>
                <a:t>Option Valuation</a:t>
              </a:r>
            </a:p>
          </p:txBody>
        </p:sp>
      </p:grpSp>
    </p:spTree>
    <p:extLst>
      <p:ext uri="{BB962C8B-B14F-4D97-AF65-F5344CB8AC3E}">
        <p14:creationId xmlns:p14="http://schemas.microsoft.com/office/powerpoint/2010/main" val="2812986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b="0" dirty="0">
                <a:solidFill>
                  <a:srgbClr val="002060"/>
                </a:solidFill>
                <a:latin typeface="+mn-lt"/>
                <a:ea typeface="+mn-ea"/>
                <a:cs typeface="+mn-ea"/>
                <a:sym typeface="+mn-lt"/>
              </a:rPr>
              <a:t>Binomial Trees </a:t>
            </a:r>
            <a:r>
              <a:rPr lang="zh-CN" altLang="en-US" b="0" dirty="0">
                <a:solidFill>
                  <a:srgbClr val="002060"/>
                </a:solidFill>
                <a:latin typeface="+mn-lt"/>
                <a:ea typeface="+mn-ea"/>
                <a:cs typeface="+mn-ea"/>
                <a:sym typeface="+mn-lt"/>
              </a:rPr>
              <a:t>二叉树法</a:t>
            </a:r>
          </a:p>
          <a:p>
            <a:r>
              <a:rPr lang="en-US" altLang="zh-CN" b="0" dirty="0">
                <a:solidFill>
                  <a:srgbClr val="002060"/>
                </a:solidFill>
                <a:latin typeface="+mn-lt"/>
                <a:ea typeface="+mn-ea"/>
                <a:cs typeface="+mn-ea"/>
                <a:sym typeface="+mn-lt"/>
              </a:rPr>
              <a:t>The Black-Scholes-Merton Model BSM</a:t>
            </a:r>
            <a:r>
              <a:rPr lang="zh-CN" altLang="en-US" b="0" dirty="0">
                <a:solidFill>
                  <a:srgbClr val="002060"/>
                </a:solidFill>
                <a:latin typeface="+mn-lt"/>
                <a:ea typeface="+mn-ea"/>
                <a:cs typeface="+mn-ea"/>
                <a:sym typeface="+mn-lt"/>
              </a:rPr>
              <a:t>模型法</a:t>
            </a:r>
          </a:p>
          <a:p>
            <a:r>
              <a:rPr lang="en-US" altLang="zh-CN" b="0" dirty="0">
                <a:solidFill>
                  <a:srgbClr val="002060"/>
                </a:solidFill>
                <a:latin typeface="+mn-lt"/>
                <a:ea typeface="+mn-ea"/>
                <a:cs typeface="+mn-ea"/>
                <a:sym typeface="+mn-lt"/>
              </a:rPr>
              <a:t>The Greek Letters </a:t>
            </a:r>
            <a:r>
              <a:rPr lang="zh-CN" altLang="en-US" b="0" dirty="0">
                <a:solidFill>
                  <a:srgbClr val="002060"/>
                </a:solidFill>
                <a:latin typeface="+mn-lt"/>
                <a:ea typeface="+mn-ea"/>
                <a:cs typeface="+mn-ea"/>
                <a:sym typeface="+mn-lt"/>
              </a:rPr>
              <a:t>希腊字母</a:t>
            </a:r>
          </a:p>
          <a:p>
            <a:endParaRPr lang="zh-CN" altLang="en-US" b="0" dirty="0">
              <a:solidFill>
                <a:srgbClr val="002060"/>
              </a:solidFill>
              <a:latin typeface="+mn-lt"/>
              <a:ea typeface="+mn-ea"/>
              <a:cs typeface="+mn-ea"/>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3598555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Payoffs of European Options at Expiring Time T </a:t>
            </a:r>
            <a:r>
              <a:rPr lang="zh-CN" altLang="en-US" dirty="0">
                <a:latin typeface="+mn-lt"/>
                <a:ea typeface="+mn-ea"/>
                <a:cs typeface="+mn-ea"/>
                <a:sym typeface="+mn-lt"/>
              </a:rPr>
              <a:t>欧式期权在到期日（</a:t>
            </a:r>
            <a:r>
              <a:rPr lang="en-US" altLang="zh-CN" dirty="0">
                <a:latin typeface="+mn-lt"/>
                <a:ea typeface="+mn-ea"/>
                <a:cs typeface="+mn-ea"/>
                <a:sym typeface="+mn-lt"/>
              </a:rPr>
              <a:t>T</a:t>
            </a:r>
            <a:r>
              <a:rPr lang="zh-CN" altLang="en-US" dirty="0">
                <a:latin typeface="+mn-lt"/>
                <a:ea typeface="+mn-ea"/>
                <a:cs typeface="+mn-ea"/>
                <a:sym typeface="+mn-lt"/>
              </a:rPr>
              <a:t>）的收益</a:t>
            </a:r>
          </a:p>
          <a:p>
            <a:endParaRPr lang="zh-CN" altLang="en-US" dirty="0">
              <a:latin typeface="+mn-lt"/>
              <a:ea typeface="+mn-ea"/>
              <a:cs typeface="+mn-ea"/>
              <a:sym typeface="+mn-lt"/>
            </a:endParaRPr>
          </a:p>
          <a:p>
            <a:endParaRPr lang="zh-CN" altLang="en-US" dirty="0">
              <a:latin typeface="+mn-lt"/>
              <a:ea typeface="+mn-ea"/>
              <a:cs typeface="+mn-ea"/>
              <a:sym typeface="+mn-lt"/>
            </a:endParaRPr>
          </a:p>
          <a:p>
            <a:endParaRPr lang="zh-CN" altLang="en-US" dirty="0">
              <a:latin typeface="+mn-lt"/>
              <a:ea typeface="+mn-ea"/>
              <a:cs typeface="+mn-ea"/>
              <a:sym typeface="+mn-lt"/>
            </a:endParaRPr>
          </a:p>
          <a:p>
            <a:r>
              <a:rPr lang="en-US" altLang="zh-CN" dirty="0">
                <a:latin typeface="+mn-lt"/>
                <a:ea typeface="+mn-ea"/>
                <a:cs typeface="+mn-ea"/>
                <a:sym typeface="+mn-lt"/>
              </a:rPr>
              <a:t>Payoffs of American Options at Exercise Time t </a:t>
            </a:r>
            <a:r>
              <a:rPr lang="zh-CN" altLang="en-US" dirty="0">
                <a:latin typeface="+mn-lt"/>
                <a:ea typeface="+mn-ea"/>
                <a:cs typeface="+mn-ea"/>
                <a:sym typeface="+mn-lt"/>
              </a:rPr>
              <a:t>美式期权在行权日（</a:t>
            </a:r>
            <a:r>
              <a:rPr lang="en-US" altLang="zh-CN" dirty="0">
                <a:latin typeface="+mn-lt"/>
                <a:ea typeface="+mn-ea"/>
                <a:cs typeface="+mn-ea"/>
                <a:sym typeface="+mn-lt"/>
              </a:rPr>
              <a:t>t</a:t>
            </a:r>
            <a:r>
              <a:rPr lang="zh-CN" altLang="en-US" dirty="0">
                <a:latin typeface="+mn-lt"/>
                <a:ea typeface="+mn-ea"/>
                <a:cs typeface="+mn-ea"/>
                <a:sym typeface="+mn-lt"/>
              </a:rPr>
              <a:t>）的收益</a:t>
            </a:r>
          </a:p>
          <a:p>
            <a:endParaRPr lang="zh-CN" altLang="en-US" dirty="0">
              <a:latin typeface="+mn-lt"/>
              <a:ea typeface="+mn-ea"/>
              <a:cs typeface="+mn-ea"/>
              <a:sym typeface="+mn-lt"/>
            </a:endParaRPr>
          </a:p>
          <a:p>
            <a:endParaRPr lang="zh-CN" altLang="en-US" dirty="0">
              <a:latin typeface="+mn-lt"/>
              <a:ea typeface="+mn-ea"/>
              <a:cs typeface="+mn-ea"/>
              <a:sym typeface="+mn-lt"/>
            </a:endParaRPr>
          </a:p>
        </p:txBody>
      </p:sp>
      <p:pic>
        <p:nvPicPr>
          <p:cNvPr id="4" name="图片 3">
            <a:extLst>
              <a:ext uri="{FF2B5EF4-FFF2-40B4-BE49-F238E27FC236}">
                <a16:creationId xmlns:a16="http://schemas.microsoft.com/office/drawing/2014/main" id="{924DA0DE-4C25-42A7-9B74-72ADD0147692}"/>
              </a:ext>
            </a:extLst>
          </p:cNvPr>
          <p:cNvPicPr>
            <a:picLocks noChangeAspect="1"/>
          </p:cNvPicPr>
          <p:nvPr/>
        </p:nvPicPr>
        <p:blipFill>
          <a:blip r:embed="rId2"/>
          <a:stretch>
            <a:fillRect/>
          </a:stretch>
        </p:blipFill>
        <p:spPr>
          <a:xfrm>
            <a:off x="2006630" y="2138896"/>
            <a:ext cx="8178739" cy="1156754"/>
          </a:xfrm>
          <a:prstGeom prst="rect">
            <a:avLst/>
          </a:prstGeom>
        </p:spPr>
      </p:pic>
      <p:pic>
        <p:nvPicPr>
          <p:cNvPr id="5" name="图片 4">
            <a:extLst>
              <a:ext uri="{FF2B5EF4-FFF2-40B4-BE49-F238E27FC236}">
                <a16:creationId xmlns:a16="http://schemas.microsoft.com/office/drawing/2014/main" id="{C27751E0-ECD8-4249-8ACD-406953CBA853}"/>
              </a:ext>
            </a:extLst>
          </p:cNvPr>
          <p:cNvPicPr>
            <a:picLocks noChangeAspect="1"/>
          </p:cNvPicPr>
          <p:nvPr/>
        </p:nvPicPr>
        <p:blipFill>
          <a:blip r:embed="rId3"/>
          <a:stretch>
            <a:fillRect/>
          </a:stretch>
        </p:blipFill>
        <p:spPr>
          <a:xfrm>
            <a:off x="1962916" y="4850680"/>
            <a:ext cx="8266168" cy="1169119"/>
          </a:xfrm>
          <a:prstGeom prst="rect">
            <a:avLst/>
          </a:prstGeom>
        </p:spPr>
      </p:pic>
    </p:spTree>
    <p:extLst>
      <p:ext uri="{BB962C8B-B14F-4D97-AF65-F5344CB8AC3E}">
        <p14:creationId xmlns:p14="http://schemas.microsoft.com/office/powerpoint/2010/main" val="2959083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Example</a:t>
            </a:r>
          </a:p>
          <a:p>
            <a:pPr lvl="1"/>
            <a:r>
              <a:rPr lang="en-US" altLang="zh-CN" dirty="0">
                <a:latin typeface="+mn-lt"/>
                <a:ea typeface="+mn-ea"/>
                <a:cs typeface="+mn-ea"/>
                <a:sym typeface="+mn-lt"/>
              </a:rPr>
              <a:t>The stock price of ABC company is $20 presently. The stock will go up to 22 or down to 18 three months later. What is the European call price of this stock three months from now? Suppose the strike price is K = $21, continuously compounded risk-free rate is 4%.</a:t>
            </a:r>
          </a:p>
          <a:p>
            <a:endParaRPr lang="en-US" altLang="zh-CN" dirty="0">
              <a:latin typeface="+mn-lt"/>
              <a:ea typeface="+mn-ea"/>
              <a:cs typeface="+mn-ea"/>
              <a:sym typeface="+mn-lt"/>
            </a:endParaRPr>
          </a:p>
        </p:txBody>
      </p:sp>
      <p:grpSp>
        <p:nvGrpSpPr>
          <p:cNvPr id="4" name="组合 20">
            <a:extLst>
              <a:ext uri="{FF2B5EF4-FFF2-40B4-BE49-F238E27FC236}">
                <a16:creationId xmlns:a16="http://schemas.microsoft.com/office/drawing/2014/main" id="{363F90F2-7A41-489D-ABDA-2B020969857E}"/>
              </a:ext>
            </a:extLst>
          </p:cNvPr>
          <p:cNvGrpSpPr>
            <a:grpSpLocks/>
          </p:cNvGrpSpPr>
          <p:nvPr/>
        </p:nvGrpSpPr>
        <p:grpSpPr bwMode="auto">
          <a:xfrm>
            <a:off x="1303040" y="4000500"/>
            <a:ext cx="4431010" cy="1776092"/>
            <a:chOff x="142506" y="-63473"/>
            <a:chExt cx="6770050" cy="2619733"/>
          </a:xfrm>
        </p:grpSpPr>
        <mc:AlternateContent xmlns:mc="http://schemas.openxmlformats.org/markup-compatibility/2006" xmlns:a14="http://schemas.microsoft.com/office/drawing/2010/main">
          <mc:Choice Requires="a14">
            <p:sp>
              <p:nvSpPr>
                <p:cNvPr id="5" name="文本框 3">
                  <a:extLst>
                    <a:ext uri="{FF2B5EF4-FFF2-40B4-BE49-F238E27FC236}">
                      <a16:creationId xmlns:a16="http://schemas.microsoft.com/office/drawing/2014/main" id="{E594DBD0-5ECD-4638-A347-049CBFE49E1F}"/>
                    </a:ext>
                  </a:extLst>
                </p:cNvPr>
                <p:cNvSpPr txBox="1">
                  <a:spLocks noChangeArrowheads="1"/>
                </p:cNvSpPr>
                <p:nvPr/>
              </p:nvSpPr>
              <p:spPr bwMode="auto">
                <a:xfrm>
                  <a:off x="142506" y="744220"/>
                  <a:ext cx="2160414" cy="8996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Stock Price = $20</a:t>
                  </a:r>
                </a:p>
                <a:p>
                  <a:pPr algn="ctr">
                    <a:spcBef>
                      <a:spcPct val="3000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Option Price </a:t>
                  </a:r>
                  <a14:m>
                    <m:oMath xmlns:m="http://schemas.openxmlformats.org/officeDocument/2006/math">
                      <m:r>
                        <a:rPr lang="en-US" altLang="zh-CN" sz="1400" b="0" i="1" dirty="0" smtClean="0">
                          <a:solidFill>
                            <a:srgbClr val="2C3E50"/>
                          </a:solidFill>
                          <a:latin typeface="Cambria Math" panose="02040503050406030204" pitchFamily="18" charset="0"/>
                          <a:ea typeface="Segoe UI" panose="020B0502040204020203" pitchFamily="34" charset="0"/>
                          <a:cs typeface="Segoe UI" panose="020B0502040204020203" pitchFamily="34" charset="0"/>
                        </a:rPr>
                        <m:t>𝑓</m:t>
                      </m:r>
                    </m:oMath>
                  </a14:m>
                  <a:endParaRPr lang="zh-CN" altLang="en-US" sz="1400" b="0" dirty="0">
                    <a:solidFill>
                      <a:srgbClr val="2C3E50"/>
                    </a:solidFill>
                    <a:latin typeface="Segoe UI" panose="020B0502040204020203" pitchFamily="34" charset="0"/>
                    <a:cs typeface="Segoe UI" panose="020B0502040204020203" pitchFamily="34" charset="0"/>
                  </a:endParaRPr>
                </a:p>
              </p:txBody>
            </p:sp>
          </mc:Choice>
          <mc:Fallback xmlns="">
            <p:sp>
              <p:nvSpPr>
                <p:cNvPr id="7" name="文本框 3">
                  <a:extLst>
                    <a:ext uri="{FF2B5EF4-FFF2-40B4-BE49-F238E27FC236}">
                      <a16:creationId xmlns:a16="http://schemas.microsoft.com/office/drawing/2014/main" id="{2D3257DF-3440-4B38-BB2D-A23AA491B795}"/>
                    </a:ext>
                  </a:extLst>
                </p:cNvPr>
                <p:cNvSpPr txBox="1">
                  <a:spLocks noRot="1" noChangeAspect="1" noMove="1" noResize="1" noEditPoints="1" noAdjustHandles="1" noChangeArrowheads="1" noChangeShapeType="1" noTextEdit="1"/>
                </p:cNvSpPr>
                <p:nvPr/>
              </p:nvSpPr>
              <p:spPr bwMode="auto">
                <a:xfrm>
                  <a:off x="142506" y="744220"/>
                  <a:ext cx="2160414" cy="899617"/>
                </a:xfrm>
                <a:prstGeom prst="rect">
                  <a:avLst/>
                </a:prstGeom>
                <a:blipFill>
                  <a:blip r:embed="rId2"/>
                  <a:stretch>
                    <a:fillRect l="-15000" t="-14103" r="-15000" b="-2435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 name="椭圆 4">
              <a:extLst>
                <a:ext uri="{FF2B5EF4-FFF2-40B4-BE49-F238E27FC236}">
                  <a16:creationId xmlns:a16="http://schemas.microsoft.com/office/drawing/2014/main" id="{159AD879-38CE-4EC4-8819-B9D7383D6F7B}"/>
                </a:ext>
              </a:extLst>
            </p:cNvPr>
            <p:cNvSpPr>
              <a:spLocks noChangeArrowheads="1"/>
            </p:cNvSpPr>
            <p:nvPr/>
          </p:nvSpPr>
          <p:spPr bwMode="auto">
            <a:xfrm>
              <a:off x="2375356" y="1056825"/>
              <a:ext cx="176246" cy="176138"/>
            </a:xfrm>
            <a:prstGeom prst="ellipse">
              <a:avLst/>
            </a:prstGeom>
            <a:solidFill>
              <a:srgbClr val="2C3E50"/>
            </a:solidFill>
            <a:ln w="25400">
              <a:solidFill>
                <a:srgbClr val="2C3E50"/>
              </a:solidFill>
              <a:round/>
              <a:headEnd/>
              <a:tailEnd/>
            </a:ln>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7" name="椭圆 5">
              <a:extLst>
                <a:ext uri="{FF2B5EF4-FFF2-40B4-BE49-F238E27FC236}">
                  <a16:creationId xmlns:a16="http://schemas.microsoft.com/office/drawing/2014/main" id="{3EDC3D24-257C-4972-8BBB-A9D97CF864FB}"/>
                </a:ext>
              </a:extLst>
            </p:cNvPr>
            <p:cNvSpPr>
              <a:spLocks noChangeArrowheads="1"/>
            </p:cNvSpPr>
            <p:nvPr/>
          </p:nvSpPr>
          <p:spPr bwMode="auto">
            <a:xfrm>
              <a:off x="4536357" y="312605"/>
              <a:ext cx="176247" cy="176137"/>
            </a:xfrm>
            <a:prstGeom prst="ellipse">
              <a:avLst/>
            </a:prstGeom>
            <a:solidFill>
              <a:srgbClr val="2C3E50"/>
            </a:solidFill>
            <a:ln w="25400">
              <a:solidFill>
                <a:srgbClr val="2C3E50"/>
              </a:solidFill>
              <a:round/>
              <a:headEnd/>
              <a:tailEnd/>
            </a:ln>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8" name="椭圆 6">
              <a:extLst>
                <a:ext uri="{FF2B5EF4-FFF2-40B4-BE49-F238E27FC236}">
                  <a16:creationId xmlns:a16="http://schemas.microsoft.com/office/drawing/2014/main" id="{8D05A745-9D50-40DE-9D7E-9BAFC46146C4}"/>
                </a:ext>
              </a:extLst>
            </p:cNvPr>
            <p:cNvSpPr>
              <a:spLocks noChangeArrowheads="1"/>
            </p:cNvSpPr>
            <p:nvPr/>
          </p:nvSpPr>
          <p:spPr bwMode="auto">
            <a:xfrm>
              <a:off x="4536357" y="1967661"/>
              <a:ext cx="176247" cy="176138"/>
            </a:xfrm>
            <a:prstGeom prst="ellipse">
              <a:avLst/>
            </a:prstGeom>
            <a:solidFill>
              <a:srgbClr val="2C3E50"/>
            </a:solidFill>
            <a:ln w="25400">
              <a:solidFill>
                <a:srgbClr val="2C3E50"/>
              </a:solidFill>
              <a:round/>
              <a:headEnd/>
              <a:tailEnd/>
            </a:ln>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cxnSp>
          <p:nvCxnSpPr>
            <p:cNvPr id="9" name="直接箭头连接符 8">
              <a:extLst>
                <a:ext uri="{FF2B5EF4-FFF2-40B4-BE49-F238E27FC236}">
                  <a16:creationId xmlns:a16="http://schemas.microsoft.com/office/drawing/2014/main" id="{1E14DCA5-7CF5-42EB-8737-066E23E115E5}"/>
                </a:ext>
              </a:extLst>
            </p:cNvPr>
            <p:cNvCxnSpPr>
              <a:cxnSpLocks noChangeShapeType="1"/>
              <a:stCxn id="6" idx="6"/>
              <a:endCxn id="7" idx="3"/>
            </p:cNvCxnSpPr>
            <p:nvPr/>
          </p:nvCxnSpPr>
          <p:spPr bwMode="auto">
            <a:xfrm flipV="1">
              <a:off x="2551601" y="461766"/>
              <a:ext cx="2010161" cy="682334"/>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p:cxnSp>
          <p:nvCxnSpPr>
            <p:cNvPr id="10" name="直接箭头连接符 15">
              <a:extLst>
                <a:ext uri="{FF2B5EF4-FFF2-40B4-BE49-F238E27FC236}">
                  <a16:creationId xmlns:a16="http://schemas.microsoft.com/office/drawing/2014/main" id="{E42D6C6E-E1F3-416C-AF3B-08FC26CB7AAD}"/>
                </a:ext>
              </a:extLst>
            </p:cNvPr>
            <p:cNvCxnSpPr>
              <a:cxnSpLocks noChangeShapeType="1"/>
              <a:stCxn id="6" idx="6"/>
              <a:endCxn id="8" idx="1"/>
            </p:cNvCxnSpPr>
            <p:nvPr/>
          </p:nvCxnSpPr>
          <p:spPr bwMode="auto">
            <a:xfrm>
              <a:off x="2551601" y="1144100"/>
              <a:ext cx="2010161" cy="85053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p:sp>
          <p:nvSpPr>
            <p:cNvPr id="11" name="文本框 16">
              <a:extLst>
                <a:ext uri="{FF2B5EF4-FFF2-40B4-BE49-F238E27FC236}">
                  <a16:creationId xmlns:a16="http://schemas.microsoft.com/office/drawing/2014/main" id="{5899F020-D8CB-4C12-99B9-4E1D3B449024}"/>
                </a:ext>
              </a:extLst>
            </p:cNvPr>
            <p:cNvSpPr txBox="1">
              <a:spLocks noChangeArrowheads="1"/>
            </p:cNvSpPr>
            <p:nvPr/>
          </p:nvSpPr>
          <p:spPr bwMode="auto">
            <a:xfrm>
              <a:off x="4824477" y="-63473"/>
              <a:ext cx="2088079" cy="899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Stock Price = $22</a:t>
              </a:r>
            </a:p>
            <a:p>
              <a:pPr algn="ctr">
                <a:spcBef>
                  <a:spcPct val="3000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Option Price = $1</a:t>
              </a:r>
              <a:endParaRPr lang="zh-CN" altLang="en-US" sz="1400" b="0" dirty="0">
                <a:solidFill>
                  <a:srgbClr val="2C3E50"/>
                </a:solidFill>
                <a:latin typeface="Segoe UI" panose="020B0502040204020203" pitchFamily="34" charset="0"/>
                <a:cs typeface="Segoe UI" panose="020B0502040204020203" pitchFamily="34" charset="0"/>
              </a:endParaRPr>
            </a:p>
          </p:txBody>
        </p:sp>
        <p:sp>
          <p:nvSpPr>
            <p:cNvPr id="12" name="文本框 17">
              <a:extLst>
                <a:ext uri="{FF2B5EF4-FFF2-40B4-BE49-F238E27FC236}">
                  <a16:creationId xmlns:a16="http://schemas.microsoft.com/office/drawing/2014/main" id="{1974F1ED-C385-4223-A85E-3084BFCFB64C}"/>
                </a:ext>
              </a:extLst>
            </p:cNvPr>
            <p:cNvSpPr txBox="1">
              <a:spLocks noChangeArrowheads="1"/>
            </p:cNvSpPr>
            <p:nvPr/>
          </p:nvSpPr>
          <p:spPr bwMode="auto">
            <a:xfrm>
              <a:off x="4824477" y="1656643"/>
              <a:ext cx="2088079" cy="899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Stock Price = $18</a:t>
              </a:r>
            </a:p>
            <a:p>
              <a:pPr algn="ctr">
                <a:spcBef>
                  <a:spcPct val="3000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Option Price = $0</a:t>
              </a:r>
              <a:endParaRPr lang="zh-CN" altLang="en-US" sz="1400" b="0" dirty="0">
                <a:solidFill>
                  <a:srgbClr val="2C3E50"/>
                </a:solidFill>
                <a:latin typeface="Segoe UI" panose="020B0502040204020203" pitchFamily="34" charset="0"/>
                <a:cs typeface="Segoe UI" panose="020B0502040204020203" pitchFamily="34" charset="0"/>
              </a:endParaRPr>
            </a:p>
          </p:txBody>
        </p:sp>
      </p:gr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928805E-F44D-488A-AAF9-AE7B712465D2}"/>
                  </a:ext>
                </a:extLst>
              </p:cNvPr>
              <p:cNvSpPr txBox="1"/>
              <p:nvPr/>
            </p:nvSpPr>
            <p:spPr>
              <a:xfrm>
                <a:off x="8340215" y="4436859"/>
                <a:ext cx="1943975"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𝑢</m:t>
                      </m:r>
                      <m:r>
                        <a:rPr lang="en-US" altLang="zh-CN" b="0" i="1" smtClean="0">
                          <a:latin typeface="Cambria Math" panose="02040503050406030204" pitchFamily="18" charset="0"/>
                        </a:rPr>
                        <m:t>=1.1</m:t>
                      </m:r>
                    </m:oMath>
                  </m:oMathPara>
                </a14:m>
                <a:endParaRPr lang="en-US" altLang="zh-CN" b="0" dirty="0"/>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𝑑</m:t>
                      </m:r>
                      <m:r>
                        <a:rPr lang="en-US" altLang="zh-CN" b="0" i="1" smtClean="0">
                          <a:latin typeface="Cambria Math" panose="02040503050406030204" pitchFamily="18" charset="0"/>
                        </a:rPr>
                        <m:t>=0.9</m:t>
                      </m:r>
                    </m:oMath>
                  </m:oMathPara>
                </a14:m>
                <a:endParaRPr lang="zh-CN" altLang="en-US" dirty="0"/>
              </a:p>
            </p:txBody>
          </p:sp>
        </mc:Choice>
        <mc:Fallback xmlns="">
          <p:sp>
            <p:nvSpPr>
              <p:cNvPr id="13" name="文本框 12">
                <a:extLst>
                  <a:ext uri="{FF2B5EF4-FFF2-40B4-BE49-F238E27FC236}">
                    <a16:creationId xmlns:a16="http://schemas.microsoft.com/office/drawing/2014/main" id="{8928805E-F44D-488A-AAF9-AE7B712465D2}"/>
                  </a:ext>
                </a:extLst>
              </p:cNvPr>
              <p:cNvSpPr txBox="1">
                <a:spLocks noRot="1" noChangeAspect="1" noMove="1" noResize="1" noEditPoints="1" noAdjustHandles="1" noChangeArrowheads="1" noChangeShapeType="1" noTextEdit="1"/>
              </p:cNvSpPr>
              <p:nvPr/>
            </p:nvSpPr>
            <p:spPr>
              <a:xfrm>
                <a:off x="8340215" y="4436859"/>
                <a:ext cx="1943975" cy="646331"/>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3066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a:bodyPr>
              <a:lstStyle/>
              <a:p>
                <a:r>
                  <a:rPr lang="en-US" altLang="zh-CN" dirty="0">
                    <a:latin typeface="+mn-lt"/>
                    <a:ea typeface="+mn-ea"/>
                    <a:cs typeface="+mn-ea"/>
                  </a:rPr>
                  <a:t>Solution 1: No-Arbitrage Valuation </a:t>
                </a:r>
                <a:r>
                  <a:rPr lang="zh-CN" altLang="en-US" dirty="0">
                    <a:latin typeface="+mn-lt"/>
                    <a:ea typeface="+mn-ea"/>
                    <a:cs typeface="+mn-ea"/>
                  </a:rPr>
                  <a:t>无套利定价法</a:t>
                </a:r>
                <a:endParaRPr lang="en-US" altLang="zh-CN" dirty="0">
                  <a:latin typeface="+mn-lt"/>
                  <a:ea typeface="+mn-ea"/>
                  <a:cs typeface="+mn-ea"/>
                </a:endParaRPr>
              </a:p>
              <a:p>
                <a:pPr lvl="1"/>
                <a:endParaRPr lang="en-US" altLang="zh-CN" dirty="0">
                  <a:solidFill>
                    <a:schemeClr val="accent4">
                      <a:lumMod val="75000"/>
                    </a:schemeClr>
                  </a:solidFill>
                </a:endParaRPr>
              </a:p>
              <a:p>
                <a:pPr lvl="1"/>
                <a:r>
                  <a:rPr lang="en-US" altLang="zh-CN" dirty="0">
                    <a:solidFill>
                      <a:schemeClr val="tx1"/>
                    </a:solidFill>
                  </a:rPr>
                  <a:t>Construct a</a:t>
                </a:r>
                <a:r>
                  <a:rPr lang="zh-CN" altLang="en-US" dirty="0">
                    <a:solidFill>
                      <a:schemeClr val="tx1"/>
                    </a:solidFill>
                  </a:rPr>
                  <a:t> </a:t>
                </a:r>
                <a:r>
                  <a:rPr lang="en-US" altLang="zh-CN" dirty="0">
                    <a:solidFill>
                      <a:schemeClr val="tx1"/>
                    </a:solidFill>
                  </a:rPr>
                  <a:t>portfolio:</a:t>
                </a:r>
              </a:p>
              <a:p>
                <a:pPr marL="457200" lvl="1" indent="0">
                  <a:buNone/>
                </a:pPr>
                <a14:m>
                  <m:oMathPara xmlns:m="http://schemas.openxmlformats.org/officeDocument/2006/math">
                    <m:oMathParaPr>
                      <m:jc m:val="centerGroup"/>
                    </m:oMathParaPr>
                    <m:oMath xmlns:m="http://schemas.openxmlformats.org/officeDocument/2006/math">
                      <m:r>
                        <m:rPr>
                          <m:sty m:val="p"/>
                        </m:rPr>
                        <a:rPr lang="el-GR" altLang="zh-CN" i="1">
                          <a:solidFill>
                            <a:schemeClr val="tx1"/>
                          </a:solidFill>
                          <a:latin typeface="Cambria Math" panose="02040503050406030204" pitchFamily="18" charset="0"/>
                          <a:ea typeface="Cambria Math" panose="02040503050406030204" pitchFamily="18" charset="0"/>
                        </a:rPr>
                        <m:t>Π</m:t>
                      </m:r>
                      <m:r>
                        <a:rPr lang="en-US" altLang="zh-CN" i="1">
                          <a:solidFill>
                            <a:schemeClr val="tx1"/>
                          </a:solidFill>
                          <a:latin typeface="Cambria Math" panose="02040503050406030204" pitchFamily="18" charset="0"/>
                          <a:ea typeface="Cambria Math" panose="02040503050406030204" pitchFamily="18" charset="0"/>
                        </a:rPr>
                        <m:t>=</m:t>
                      </m:r>
                      <m:r>
                        <m:rPr>
                          <m:sty m:val="p"/>
                        </m:rPr>
                        <a:rPr lang="el-GR" altLang="zh-CN" i="1">
                          <a:solidFill>
                            <a:schemeClr val="tx1"/>
                          </a:solidFill>
                          <a:latin typeface="Cambria Math" panose="02040503050406030204" pitchFamily="18" charset="0"/>
                          <a:ea typeface="Cambria Math" panose="02040503050406030204" pitchFamily="18" charset="0"/>
                        </a:rPr>
                        <m:t>Δ</m:t>
                      </m:r>
                      <m:r>
                        <a:rPr lang="en-US" altLang="zh-CN" i="1">
                          <a:solidFill>
                            <a:schemeClr val="tx1"/>
                          </a:solidFill>
                          <a:latin typeface="Cambria Math" panose="02040503050406030204" pitchFamily="18" charset="0"/>
                          <a:ea typeface="Cambria Math" panose="02040503050406030204" pitchFamily="18" charset="0"/>
                        </a:rPr>
                        <m:t>𝑆𝑡𝑜𝑐𝑘</m:t>
                      </m:r>
                      <m:r>
                        <a:rPr lang="en-US" altLang="zh-CN" i="1">
                          <a:solidFill>
                            <a:schemeClr val="tx1"/>
                          </a:solidFill>
                          <a:latin typeface="Cambria Math" panose="02040503050406030204" pitchFamily="18" charset="0"/>
                          <a:ea typeface="Cambria Math" panose="02040503050406030204" pitchFamily="18" charset="0"/>
                        </a:rPr>
                        <m:t>−1</m:t>
                      </m:r>
                      <m:r>
                        <a:rPr lang="en-US" altLang="zh-CN" i="1">
                          <a:solidFill>
                            <a:schemeClr val="tx1"/>
                          </a:solidFill>
                          <a:latin typeface="Cambria Math" panose="02040503050406030204" pitchFamily="18" charset="0"/>
                          <a:ea typeface="Cambria Math" panose="02040503050406030204" pitchFamily="18" charset="0"/>
                        </a:rPr>
                        <m:t>𝐶𝑎𝑙𝑙</m:t>
                      </m:r>
                      <m:r>
                        <a:rPr lang="en-US" altLang="zh-CN" i="1">
                          <a:solidFill>
                            <a:schemeClr val="tx1"/>
                          </a:solidFill>
                          <a:latin typeface="Cambria Math" panose="02040503050406030204" pitchFamily="18" charset="0"/>
                          <a:ea typeface="Cambria Math" panose="02040503050406030204" pitchFamily="18" charset="0"/>
                        </a:rPr>
                        <m:t> </m:t>
                      </m:r>
                      <m:r>
                        <a:rPr lang="en-US" altLang="zh-CN" i="1">
                          <a:solidFill>
                            <a:schemeClr val="tx1"/>
                          </a:solidFill>
                          <a:latin typeface="Cambria Math" panose="02040503050406030204" pitchFamily="18" charset="0"/>
                          <a:ea typeface="Cambria Math" panose="02040503050406030204" pitchFamily="18" charset="0"/>
                        </a:rPr>
                        <m:t>𝑂𝑝𝑡𝑖𝑜𝑛</m:t>
                      </m:r>
                    </m:oMath>
                  </m:oMathPara>
                </a14:m>
                <a:endParaRPr lang="en-US" altLang="zh-CN" dirty="0">
                  <a:solidFill>
                    <a:schemeClr val="tx1"/>
                  </a:solidFill>
                </a:endParaRPr>
              </a:p>
              <a:p>
                <a:pPr lvl="1"/>
                <a:r>
                  <a:rPr lang="en-US" altLang="zh-CN" dirty="0">
                    <a:solidFill>
                      <a:schemeClr val="tx1"/>
                    </a:solidFill>
                  </a:rPr>
                  <a:t>The portfolio is riskless if:</a:t>
                </a:r>
              </a:p>
              <a:p>
                <a:pPr marL="457200" lvl="1" indent="0">
                  <a:buNone/>
                </a:pPr>
                <a14:m>
                  <m:oMathPara xmlns:m="http://schemas.openxmlformats.org/officeDocument/2006/math">
                    <m:oMathParaPr>
                      <m:jc m:val="centerGroup"/>
                    </m:oMathParaPr>
                    <m:oMath xmlns:m="http://schemas.openxmlformats.org/officeDocument/2006/math">
                      <m:sSub>
                        <m:sSubPr>
                          <m:ctrlPr>
                            <a:rPr lang="el-GR" altLang="zh-CN" i="1" dirty="0">
                              <a:solidFill>
                                <a:schemeClr val="tx1"/>
                              </a:solidFill>
                              <a:latin typeface="Cambria Math" panose="02040503050406030204" pitchFamily="18" charset="0"/>
                              <a:ea typeface="Cambria Math" panose="02040503050406030204" pitchFamily="18" charset="0"/>
                            </a:rPr>
                          </m:ctrlPr>
                        </m:sSubPr>
                        <m:e>
                          <m:r>
                            <m:rPr>
                              <m:sty m:val="p"/>
                            </m:rPr>
                            <a:rPr lang="el-GR" altLang="zh-CN" dirty="0">
                              <a:solidFill>
                                <a:schemeClr val="tx1"/>
                              </a:solidFill>
                              <a:latin typeface="Cambria Math" panose="02040503050406030204" pitchFamily="18" charset="0"/>
                              <a:ea typeface="Cambria Math" panose="02040503050406030204" pitchFamily="18" charset="0"/>
                            </a:rPr>
                            <m:t>Π</m:t>
                          </m:r>
                        </m:e>
                        <m:sub>
                          <m:r>
                            <a:rPr lang="en-US" altLang="zh-CN" i="1" dirty="0">
                              <a:solidFill>
                                <a:schemeClr val="tx1"/>
                              </a:solidFill>
                              <a:latin typeface="Cambria Math" panose="02040503050406030204" pitchFamily="18" charset="0"/>
                              <a:ea typeface="Cambria Math" panose="02040503050406030204" pitchFamily="18" charset="0"/>
                            </a:rPr>
                            <m:t>𝑢</m:t>
                          </m:r>
                        </m:sub>
                      </m:sSub>
                      <m:r>
                        <a:rPr lang="en-US" altLang="zh-CN" i="1" dirty="0">
                          <a:solidFill>
                            <a:schemeClr val="tx1"/>
                          </a:solidFill>
                          <a:latin typeface="Cambria Math" panose="02040503050406030204" pitchFamily="18" charset="0"/>
                          <a:ea typeface="Cambria Math" panose="02040503050406030204" pitchFamily="18" charset="0"/>
                        </a:rPr>
                        <m:t>=</m:t>
                      </m:r>
                      <m:sSub>
                        <m:sSubPr>
                          <m:ctrlPr>
                            <a:rPr lang="el-GR" altLang="zh-CN" i="1" dirty="0">
                              <a:solidFill>
                                <a:schemeClr val="tx1"/>
                              </a:solidFill>
                              <a:latin typeface="Cambria Math" panose="02040503050406030204" pitchFamily="18" charset="0"/>
                              <a:ea typeface="Cambria Math" panose="02040503050406030204" pitchFamily="18" charset="0"/>
                            </a:rPr>
                          </m:ctrlPr>
                        </m:sSubPr>
                        <m:e>
                          <m:r>
                            <m:rPr>
                              <m:sty m:val="p"/>
                            </m:rPr>
                            <a:rPr lang="el-GR" altLang="zh-CN" dirty="0">
                              <a:solidFill>
                                <a:schemeClr val="tx1"/>
                              </a:solidFill>
                              <a:latin typeface="Cambria Math" panose="02040503050406030204" pitchFamily="18" charset="0"/>
                              <a:ea typeface="Cambria Math" panose="02040503050406030204" pitchFamily="18" charset="0"/>
                            </a:rPr>
                            <m:t>Π</m:t>
                          </m:r>
                        </m:e>
                        <m:sub>
                          <m:r>
                            <a:rPr lang="en-US" altLang="zh-CN" i="1" dirty="0">
                              <a:solidFill>
                                <a:schemeClr val="tx1"/>
                              </a:solidFill>
                              <a:latin typeface="Cambria Math" panose="02040503050406030204" pitchFamily="18" charset="0"/>
                              <a:ea typeface="Cambria Math" panose="02040503050406030204" pitchFamily="18" charset="0"/>
                            </a:rPr>
                            <m:t>𝑑</m:t>
                          </m:r>
                        </m:sub>
                      </m:sSub>
                    </m:oMath>
                  </m:oMathPara>
                </a14:m>
                <a:endParaRPr lang="en-US" altLang="zh-CN" dirty="0">
                  <a:solidFill>
                    <a:schemeClr val="tx1"/>
                  </a:solidFill>
                </a:endParaRPr>
              </a:p>
              <a:p>
                <a:pPr marL="457200" lvl="1" indent="0">
                  <a:buNone/>
                </a:pPr>
                <a14:m>
                  <m:oMathPara xmlns:m="http://schemas.openxmlformats.org/officeDocument/2006/math">
                    <m:oMathParaPr>
                      <m:jc m:val="centerGroup"/>
                    </m:oMathParaPr>
                    <m:oMath xmlns:m="http://schemas.openxmlformats.org/officeDocument/2006/math">
                      <m:sSub>
                        <m:sSubPr>
                          <m:ctrlPr>
                            <a:rPr lang="el-GR" altLang="zh-CN" i="1">
                              <a:solidFill>
                                <a:schemeClr val="tx1"/>
                              </a:solidFill>
                              <a:latin typeface="Cambria Math" panose="02040503050406030204" pitchFamily="18" charset="0"/>
                              <a:ea typeface="Cambria Math" panose="02040503050406030204" pitchFamily="18" charset="0"/>
                            </a:rPr>
                          </m:ctrlPr>
                        </m:sSubPr>
                        <m:e>
                          <m:r>
                            <a:rPr lang="en-US" altLang="zh-CN" i="1">
                              <a:solidFill>
                                <a:schemeClr val="tx1"/>
                              </a:solidFill>
                              <a:latin typeface="Cambria Math" panose="02040503050406030204" pitchFamily="18" charset="0"/>
                              <a:ea typeface="Cambria Math" panose="02040503050406030204" pitchFamily="18" charset="0"/>
                            </a:rPr>
                            <m:t>𝑆</m:t>
                          </m:r>
                        </m:e>
                        <m:sub>
                          <m:r>
                            <a:rPr lang="en-US" altLang="zh-CN" i="1">
                              <a:solidFill>
                                <a:schemeClr val="tx1"/>
                              </a:solidFill>
                              <a:latin typeface="Cambria Math" panose="02040503050406030204" pitchFamily="18" charset="0"/>
                              <a:ea typeface="Cambria Math" panose="02040503050406030204" pitchFamily="18" charset="0"/>
                            </a:rPr>
                            <m:t>0</m:t>
                          </m:r>
                        </m:sub>
                      </m:sSub>
                      <m:r>
                        <a:rPr lang="en-US" altLang="zh-CN" i="1">
                          <a:solidFill>
                            <a:schemeClr val="tx1"/>
                          </a:solidFill>
                          <a:latin typeface="Cambria Math" panose="02040503050406030204" pitchFamily="18" charset="0"/>
                          <a:ea typeface="Cambria Math" panose="02040503050406030204" pitchFamily="18" charset="0"/>
                        </a:rPr>
                        <m:t>𝑢</m:t>
                      </m:r>
                      <m:r>
                        <m:rPr>
                          <m:sty m:val="p"/>
                        </m:rPr>
                        <a:rPr lang="el-GR" altLang="zh-CN" i="1">
                          <a:solidFill>
                            <a:schemeClr val="tx1"/>
                          </a:solidFill>
                          <a:latin typeface="Cambria Math" panose="02040503050406030204" pitchFamily="18" charset="0"/>
                          <a:ea typeface="Cambria Math" panose="02040503050406030204" pitchFamily="18" charset="0"/>
                        </a:rPr>
                        <m:t>Δ</m:t>
                      </m:r>
                      <m:r>
                        <a:rPr lang="en-US" altLang="zh-CN" i="1">
                          <a:solidFill>
                            <a:schemeClr val="tx1"/>
                          </a:solidFill>
                          <a:latin typeface="Cambria Math" panose="02040503050406030204" pitchFamily="18" charset="0"/>
                          <a:ea typeface="Cambria Math" panose="02040503050406030204" pitchFamily="18" charset="0"/>
                        </a:rPr>
                        <m:t>−</m:t>
                      </m:r>
                      <m:sSub>
                        <m:sSubPr>
                          <m:ctrlPr>
                            <a:rPr lang="en-US" altLang="zh-CN" i="1">
                              <a:solidFill>
                                <a:schemeClr val="tx1"/>
                              </a:solidFill>
                              <a:latin typeface="Cambria Math" panose="02040503050406030204" pitchFamily="18" charset="0"/>
                              <a:ea typeface="Cambria Math" panose="02040503050406030204" pitchFamily="18" charset="0"/>
                            </a:rPr>
                          </m:ctrlPr>
                        </m:sSubPr>
                        <m:e>
                          <m:r>
                            <a:rPr lang="en-US" altLang="zh-CN" i="1">
                              <a:solidFill>
                                <a:schemeClr val="tx1"/>
                              </a:solidFill>
                              <a:latin typeface="Cambria Math" panose="02040503050406030204" pitchFamily="18" charset="0"/>
                              <a:ea typeface="Cambria Math" panose="02040503050406030204" pitchFamily="18" charset="0"/>
                            </a:rPr>
                            <m:t>𝑓</m:t>
                          </m:r>
                        </m:e>
                        <m:sub>
                          <m:r>
                            <a:rPr lang="en-US" altLang="zh-CN" i="1">
                              <a:solidFill>
                                <a:schemeClr val="tx1"/>
                              </a:solidFill>
                              <a:latin typeface="Cambria Math" panose="02040503050406030204" pitchFamily="18" charset="0"/>
                              <a:ea typeface="Cambria Math" panose="02040503050406030204" pitchFamily="18" charset="0"/>
                            </a:rPr>
                            <m:t>𝑢</m:t>
                          </m:r>
                        </m:sub>
                      </m:sSub>
                      <m:r>
                        <a:rPr lang="en-US" altLang="zh-CN" i="1">
                          <a:solidFill>
                            <a:schemeClr val="tx1"/>
                          </a:solidFill>
                          <a:latin typeface="Cambria Math" panose="02040503050406030204" pitchFamily="18" charset="0"/>
                          <a:ea typeface="Cambria Math" panose="02040503050406030204" pitchFamily="18" charset="0"/>
                        </a:rPr>
                        <m:t>=</m:t>
                      </m:r>
                      <m:sSub>
                        <m:sSubPr>
                          <m:ctrlPr>
                            <a:rPr lang="el-GR" altLang="zh-CN" i="1">
                              <a:solidFill>
                                <a:schemeClr val="tx1"/>
                              </a:solidFill>
                              <a:latin typeface="Cambria Math" panose="02040503050406030204" pitchFamily="18" charset="0"/>
                              <a:ea typeface="Cambria Math" panose="02040503050406030204" pitchFamily="18" charset="0"/>
                            </a:rPr>
                          </m:ctrlPr>
                        </m:sSubPr>
                        <m:e>
                          <m:r>
                            <a:rPr lang="en-US" altLang="zh-CN" i="1">
                              <a:solidFill>
                                <a:schemeClr val="tx1"/>
                              </a:solidFill>
                              <a:latin typeface="Cambria Math" panose="02040503050406030204" pitchFamily="18" charset="0"/>
                              <a:ea typeface="Cambria Math" panose="02040503050406030204" pitchFamily="18" charset="0"/>
                            </a:rPr>
                            <m:t>𝑆</m:t>
                          </m:r>
                        </m:e>
                        <m:sub>
                          <m:r>
                            <a:rPr lang="en-US" altLang="zh-CN" i="1">
                              <a:solidFill>
                                <a:schemeClr val="tx1"/>
                              </a:solidFill>
                              <a:latin typeface="Cambria Math" panose="02040503050406030204" pitchFamily="18" charset="0"/>
                              <a:ea typeface="Cambria Math" panose="02040503050406030204" pitchFamily="18" charset="0"/>
                            </a:rPr>
                            <m:t>0</m:t>
                          </m:r>
                        </m:sub>
                      </m:sSub>
                      <m:r>
                        <a:rPr lang="en-US" altLang="zh-CN" i="1">
                          <a:solidFill>
                            <a:schemeClr val="tx1"/>
                          </a:solidFill>
                          <a:latin typeface="Cambria Math" panose="02040503050406030204" pitchFamily="18" charset="0"/>
                          <a:ea typeface="Cambria Math" panose="02040503050406030204" pitchFamily="18" charset="0"/>
                        </a:rPr>
                        <m:t>𝑑</m:t>
                      </m:r>
                      <m:r>
                        <m:rPr>
                          <m:sty m:val="p"/>
                        </m:rPr>
                        <a:rPr lang="el-GR" altLang="zh-CN" i="1">
                          <a:solidFill>
                            <a:schemeClr val="tx1"/>
                          </a:solidFill>
                          <a:latin typeface="Cambria Math" panose="02040503050406030204" pitchFamily="18" charset="0"/>
                          <a:ea typeface="Cambria Math" panose="02040503050406030204" pitchFamily="18" charset="0"/>
                        </a:rPr>
                        <m:t>Δ</m:t>
                      </m:r>
                      <m:r>
                        <a:rPr lang="en-US" altLang="zh-CN" i="1">
                          <a:solidFill>
                            <a:schemeClr val="tx1"/>
                          </a:solidFill>
                          <a:latin typeface="Cambria Math" panose="02040503050406030204" pitchFamily="18" charset="0"/>
                          <a:ea typeface="Cambria Math" panose="02040503050406030204" pitchFamily="18" charset="0"/>
                        </a:rPr>
                        <m:t>−</m:t>
                      </m:r>
                      <m:sSub>
                        <m:sSubPr>
                          <m:ctrlPr>
                            <a:rPr lang="en-US" altLang="zh-CN" i="1">
                              <a:solidFill>
                                <a:schemeClr val="tx1"/>
                              </a:solidFill>
                              <a:latin typeface="Cambria Math" panose="02040503050406030204" pitchFamily="18" charset="0"/>
                              <a:ea typeface="Cambria Math" panose="02040503050406030204" pitchFamily="18" charset="0"/>
                            </a:rPr>
                          </m:ctrlPr>
                        </m:sSubPr>
                        <m:e>
                          <m:r>
                            <a:rPr lang="en-US" altLang="zh-CN" i="1">
                              <a:solidFill>
                                <a:schemeClr val="tx1"/>
                              </a:solidFill>
                              <a:latin typeface="Cambria Math" panose="02040503050406030204" pitchFamily="18" charset="0"/>
                              <a:ea typeface="Cambria Math" panose="02040503050406030204" pitchFamily="18" charset="0"/>
                            </a:rPr>
                            <m:t>𝑓</m:t>
                          </m:r>
                        </m:e>
                        <m:sub>
                          <m:r>
                            <a:rPr lang="en-US" altLang="zh-CN" i="1">
                              <a:solidFill>
                                <a:schemeClr val="tx1"/>
                              </a:solidFill>
                              <a:latin typeface="Cambria Math" panose="02040503050406030204" pitchFamily="18" charset="0"/>
                              <a:ea typeface="Cambria Math" panose="02040503050406030204" pitchFamily="18" charset="0"/>
                            </a:rPr>
                            <m:t>𝑑</m:t>
                          </m:r>
                        </m:sub>
                      </m:sSub>
                    </m:oMath>
                  </m:oMathPara>
                </a14:m>
                <a:endParaRPr lang="en-US" altLang="zh-CN" dirty="0">
                  <a:solidFill>
                    <a:schemeClr val="tx1"/>
                  </a:solidFill>
                </a:endParaRPr>
              </a:p>
              <a:p>
                <a:pPr marL="457200" lvl="1" indent="0">
                  <a:buNone/>
                </a:pPr>
                <a14:m>
                  <m:oMathPara xmlns:m="http://schemas.openxmlformats.org/officeDocument/2006/math">
                    <m:oMathParaPr>
                      <m:jc m:val="center"/>
                    </m:oMathParaPr>
                    <m:oMath xmlns:m="http://schemas.openxmlformats.org/officeDocument/2006/math">
                      <m:r>
                        <a:rPr lang="en-US" altLang="zh-CN" i="1">
                          <a:solidFill>
                            <a:schemeClr val="tx1"/>
                          </a:solidFill>
                          <a:latin typeface="Cambria Math" panose="02040503050406030204" pitchFamily="18" charset="0"/>
                        </a:rPr>
                        <m:t>22</m:t>
                      </m:r>
                      <m:r>
                        <m:rPr>
                          <m:sty m:val="p"/>
                        </m:rPr>
                        <a:rPr lang="el-GR" altLang="zh-CN" i="1">
                          <a:solidFill>
                            <a:schemeClr val="tx1"/>
                          </a:solidFill>
                          <a:latin typeface="Cambria Math" panose="02040503050406030204" pitchFamily="18" charset="0"/>
                          <a:ea typeface="Cambria Math" panose="02040503050406030204" pitchFamily="18" charset="0"/>
                        </a:rPr>
                        <m:t>Δ</m:t>
                      </m:r>
                      <m:r>
                        <a:rPr lang="en-US" altLang="zh-CN" i="1">
                          <a:solidFill>
                            <a:schemeClr val="tx1"/>
                          </a:solidFill>
                          <a:latin typeface="Cambria Math" panose="02040503050406030204" pitchFamily="18" charset="0"/>
                          <a:ea typeface="Cambria Math" panose="02040503050406030204" pitchFamily="18" charset="0"/>
                        </a:rPr>
                        <m:t>−1=18</m:t>
                      </m:r>
                      <m:r>
                        <m:rPr>
                          <m:sty m:val="p"/>
                        </m:rPr>
                        <a:rPr lang="el-GR" altLang="zh-CN" i="1">
                          <a:solidFill>
                            <a:schemeClr val="tx1"/>
                          </a:solidFill>
                          <a:latin typeface="Cambria Math" panose="02040503050406030204" pitchFamily="18" charset="0"/>
                          <a:ea typeface="Cambria Math" panose="02040503050406030204" pitchFamily="18" charset="0"/>
                        </a:rPr>
                        <m:t>Δ</m:t>
                      </m:r>
                      <m:r>
                        <a:rPr lang="en-US" altLang="zh-CN">
                          <a:solidFill>
                            <a:schemeClr val="tx1"/>
                          </a:solidFill>
                          <a:latin typeface="Cambria Math" panose="02040503050406030204" pitchFamily="18" charset="0"/>
                          <a:ea typeface="Cambria Math" panose="02040503050406030204" pitchFamily="18" charset="0"/>
                        </a:rPr>
                        <m:t>−0</m:t>
                      </m:r>
                    </m:oMath>
                  </m:oMathPara>
                </a14:m>
                <a:endParaRPr lang="en-US" altLang="zh-CN" dirty="0">
                  <a:solidFill>
                    <a:schemeClr val="tx1"/>
                  </a:solidFill>
                </a:endParaRPr>
              </a:p>
              <a:p>
                <a:pPr marL="457200" lvl="1" indent="0">
                  <a:buNone/>
                </a:pPr>
                <a14:m>
                  <m:oMathPara xmlns:m="http://schemas.openxmlformats.org/officeDocument/2006/math">
                    <m:oMathParaPr>
                      <m:jc m:val="centerGroup"/>
                    </m:oMathParaPr>
                    <m:oMath xmlns:m="http://schemas.openxmlformats.org/officeDocument/2006/math">
                      <m:r>
                        <m:rPr>
                          <m:sty m:val="p"/>
                        </m:rPr>
                        <a:rPr lang="el-GR" altLang="zh-CN" dirty="0">
                          <a:solidFill>
                            <a:schemeClr val="tx1"/>
                          </a:solidFill>
                          <a:latin typeface="Cambria Math" panose="02040503050406030204" pitchFamily="18" charset="0"/>
                        </a:rPr>
                        <m:t>Δ</m:t>
                      </m:r>
                      <m:r>
                        <a:rPr lang="en-US" altLang="zh-CN" i="1" dirty="0">
                          <a:solidFill>
                            <a:schemeClr val="tx1"/>
                          </a:solidFill>
                          <a:latin typeface="Cambria Math" panose="02040503050406030204" pitchFamily="18" charset="0"/>
                        </a:rPr>
                        <m:t> = 0.25</m:t>
                      </m:r>
                    </m:oMath>
                  </m:oMathPara>
                </a14:m>
                <a:endParaRPr lang="en-US" altLang="zh-CN" dirty="0">
                  <a:solidFill>
                    <a:schemeClr val="tx1"/>
                  </a:solidFill>
                </a:endParaRPr>
              </a:p>
              <a:p>
                <a:endParaRPr lang="zh-CN" altLang="en-US" dirty="0">
                  <a:latin typeface="+mn-lt"/>
                  <a:ea typeface="+mn-ea"/>
                  <a:cs typeface="+mn-ea"/>
                  <a:sym typeface="+mn-lt"/>
                </a:endParaRPr>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95488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lnSpcReduction="10000"/>
              </a:bodyPr>
              <a:lstStyle/>
              <a:p>
                <a:r>
                  <a:rPr lang="en-US" altLang="zh-CN" dirty="0">
                    <a:latin typeface="+mn-lt"/>
                    <a:ea typeface="+mn-ea"/>
                    <a:cs typeface="+mn-ea"/>
                  </a:rPr>
                  <a:t>Solution 1: No-Arbitrage Valuation </a:t>
                </a:r>
                <a:r>
                  <a:rPr lang="zh-CN" altLang="en-US" dirty="0">
                    <a:latin typeface="+mn-lt"/>
                    <a:ea typeface="+mn-ea"/>
                    <a:cs typeface="+mn-ea"/>
                  </a:rPr>
                  <a:t>无套利定价法</a:t>
                </a:r>
                <a:endParaRPr lang="en-US" altLang="zh-CN" dirty="0">
                  <a:latin typeface="+mn-lt"/>
                  <a:ea typeface="+mn-ea"/>
                  <a:cs typeface="+mn-ea"/>
                </a:endParaRPr>
              </a:p>
              <a:p>
                <a:pPr lvl="1"/>
                <a:endParaRPr lang="en-US" altLang="zh-CN" b="1" dirty="0">
                  <a:solidFill>
                    <a:schemeClr val="accent6"/>
                  </a:solidFill>
                  <a:latin typeface="+mn-lt"/>
                  <a:ea typeface="+mn-ea"/>
                  <a:cs typeface="+mn-ea"/>
                </a:endParaRPr>
              </a:p>
              <a:p>
                <a:pPr lvl="1"/>
                <a:r>
                  <a:rPr lang="en-US" altLang="zh-CN" dirty="0">
                    <a:solidFill>
                      <a:schemeClr val="tx1"/>
                    </a:solidFill>
                  </a:rPr>
                  <a:t>Portfolio value at t=T:</a:t>
                </a:r>
              </a:p>
              <a:p>
                <a:pPr marL="457200" lvl="1" indent="0">
                  <a:buNone/>
                </a:pPr>
                <a14:m>
                  <m:oMathPara xmlns:m="http://schemas.openxmlformats.org/officeDocument/2006/math">
                    <m:oMathParaPr>
                      <m:jc m:val="center"/>
                    </m:oMathParaPr>
                    <m:oMath xmlns:m="http://schemas.openxmlformats.org/officeDocument/2006/math">
                      <m:sSub>
                        <m:sSubPr>
                          <m:ctrlPr>
                            <a:rPr lang="el-GR" altLang="zh-CN" i="1" dirty="0">
                              <a:solidFill>
                                <a:schemeClr val="tx1"/>
                              </a:solidFill>
                              <a:latin typeface="Cambria Math" panose="02040503050406030204" pitchFamily="18" charset="0"/>
                              <a:ea typeface="Cambria Math" panose="02040503050406030204" pitchFamily="18" charset="0"/>
                            </a:rPr>
                          </m:ctrlPr>
                        </m:sSubPr>
                        <m:e>
                          <m:r>
                            <m:rPr>
                              <m:sty m:val="p"/>
                            </m:rPr>
                            <a:rPr lang="el-GR" altLang="zh-CN" dirty="0">
                              <a:solidFill>
                                <a:schemeClr val="tx1"/>
                              </a:solidFill>
                              <a:latin typeface="Cambria Math" panose="02040503050406030204" pitchFamily="18" charset="0"/>
                              <a:ea typeface="Cambria Math" panose="02040503050406030204" pitchFamily="18" charset="0"/>
                            </a:rPr>
                            <m:t>Π</m:t>
                          </m:r>
                        </m:e>
                        <m:sub>
                          <m:r>
                            <a:rPr lang="en-US" altLang="zh-CN" i="1" dirty="0">
                              <a:solidFill>
                                <a:schemeClr val="tx1"/>
                              </a:solidFill>
                              <a:latin typeface="Cambria Math" panose="02040503050406030204" pitchFamily="18" charset="0"/>
                              <a:ea typeface="Cambria Math" panose="02040503050406030204" pitchFamily="18" charset="0"/>
                            </a:rPr>
                            <m:t>𝑇</m:t>
                          </m:r>
                        </m:sub>
                      </m:sSub>
                      <m:r>
                        <a:rPr lang="en-US" altLang="zh-CN" i="1" dirty="0">
                          <a:solidFill>
                            <a:schemeClr val="tx1"/>
                          </a:solidFill>
                          <a:latin typeface="Cambria Math" panose="02040503050406030204" pitchFamily="18" charset="0"/>
                          <a:ea typeface="Cambria Math" panose="02040503050406030204" pitchFamily="18" charset="0"/>
                        </a:rPr>
                        <m:t>=</m:t>
                      </m:r>
                      <m:sSub>
                        <m:sSubPr>
                          <m:ctrlPr>
                            <a:rPr lang="el-GR" altLang="zh-CN" i="1" dirty="0">
                              <a:solidFill>
                                <a:schemeClr val="tx1"/>
                              </a:solidFill>
                              <a:latin typeface="Cambria Math" panose="02040503050406030204" pitchFamily="18" charset="0"/>
                              <a:ea typeface="Cambria Math" panose="02040503050406030204" pitchFamily="18" charset="0"/>
                            </a:rPr>
                          </m:ctrlPr>
                        </m:sSubPr>
                        <m:e>
                          <m:r>
                            <m:rPr>
                              <m:sty m:val="p"/>
                            </m:rPr>
                            <a:rPr lang="el-GR" altLang="zh-CN" dirty="0">
                              <a:solidFill>
                                <a:schemeClr val="tx1"/>
                              </a:solidFill>
                              <a:latin typeface="Cambria Math" panose="02040503050406030204" pitchFamily="18" charset="0"/>
                              <a:ea typeface="Cambria Math" panose="02040503050406030204" pitchFamily="18" charset="0"/>
                            </a:rPr>
                            <m:t>Π</m:t>
                          </m:r>
                        </m:e>
                        <m:sub>
                          <m:r>
                            <a:rPr lang="en-US" altLang="zh-CN" i="1" dirty="0">
                              <a:solidFill>
                                <a:schemeClr val="tx1"/>
                              </a:solidFill>
                              <a:latin typeface="Cambria Math" panose="02040503050406030204" pitchFamily="18" charset="0"/>
                              <a:ea typeface="Cambria Math" panose="02040503050406030204" pitchFamily="18" charset="0"/>
                            </a:rPr>
                            <m:t>𝑢</m:t>
                          </m:r>
                        </m:sub>
                      </m:sSub>
                      <m:r>
                        <a:rPr lang="en-US" altLang="zh-CN" i="1" dirty="0">
                          <a:solidFill>
                            <a:schemeClr val="tx1"/>
                          </a:solidFill>
                          <a:latin typeface="Cambria Math" panose="02040503050406030204" pitchFamily="18" charset="0"/>
                          <a:ea typeface="Cambria Math" panose="02040503050406030204" pitchFamily="18" charset="0"/>
                        </a:rPr>
                        <m:t>=</m:t>
                      </m:r>
                      <m:sSub>
                        <m:sSubPr>
                          <m:ctrlPr>
                            <a:rPr lang="el-GR" altLang="zh-CN" i="1" dirty="0">
                              <a:solidFill>
                                <a:schemeClr val="tx1"/>
                              </a:solidFill>
                              <a:latin typeface="Cambria Math" panose="02040503050406030204" pitchFamily="18" charset="0"/>
                              <a:ea typeface="Cambria Math" panose="02040503050406030204" pitchFamily="18" charset="0"/>
                            </a:rPr>
                          </m:ctrlPr>
                        </m:sSubPr>
                        <m:e>
                          <m:r>
                            <m:rPr>
                              <m:sty m:val="p"/>
                            </m:rPr>
                            <a:rPr lang="el-GR" altLang="zh-CN" dirty="0">
                              <a:solidFill>
                                <a:schemeClr val="tx1"/>
                              </a:solidFill>
                              <a:latin typeface="Cambria Math" panose="02040503050406030204" pitchFamily="18" charset="0"/>
                              <a:ea typeface="Cambria Math" panose="02040503050406030204" pitchFamily="18" charset="0"/>
                            </a:rPr>
                            <m:t>Π</m:t>
                          </m:r>
                        </m:e>
                        <m:sub>
                          <m:r>
                            <a:rPr lang="en-US" altLang="zh-CN" i="1" dirty="0">
                              <a:solidFill>
                                <a:schemeClr val="tx1"/>
                              </a:solidFill>
                              <a:latin typeface="Cambria Math" panose="02040503050406030204" pitchFamily="18" charset="0"/>
                              <a:ea typeface="Cambria Math" panose="02040503050406030204" pitchFamily="18" charset="0"/>
                            </a:rPr>
                            <m:t>𝑑</m:t>
                          </m:r>
                        </m:sub>
                      </m:sSub>
                    </m:oMath>
                  </m:oMathPara>
                </a14:m>
                <a:endParaRPr lang="en-US" altLang="zh-CN" dirty="0">
                  <a:solidFill>
                    <a:schemeClr val="tx1"/>
                  </a:solidFill>
                </a:endParaRPr>
              </a:p>
              <a:p>
                <a:pPr marL="457200" lvl="1" indent="0">
                  <a:buNone/>
                </a:pPr>
                <a14:m>
                  <m:oMathPara xmlns:m="http://schemas.openxmlformats.org/officeDocument/2006/math">
                    <m:oMathParaPr>
                      <m:jc m:val="center"/>
                    </m:oMathParaPr>
                    <m:oMath xmlns:m="http://schemas.openxmlformats.org/officeDocument/2006/math">
                      <m:sSub>
                        <m:sSubPr>
                          <m:ctrlPr>
                            <a:rPr lang="el-GR" altLang="zh-CN" i="1" dirty="0">
                              <a:solidFill>
                                <a:schemeClr val="tx1"/>
                              </a:solidFill>
                              <a:latin typeface="Cambria Math" panose="02040503050406030204" pitchFamily="18" charset="0"/>
                              <a:ea typeface="Cambria Math" panose="02040503050406030204" pitchFamily="18" charset="0"/>
                            </a:rPr>
                          </m:ctrlPr>
                        </m:sSubPr>
                        <m:e>
                          <m:r>
                            <m:rPr>
                              <m:sty m:val="p"/>
                            </m:rPr>
                            <a:rPr lang="el-GR" altLang="zh-CN" dirty="0">
                              <a:solidFill>
                                <a:schemeClr val="tx1"/>
                              </a:solidFill>
                              <a:latin typeface="Cambria Math" panose="02040503050406030204" pitchFamily="18" charset="0"/>
                              <a:ea typeface="Cambria Math" panose="02040503050406030204" pitchFamily="18" charset="0"/>
                            </a:rPr>
                            <m:t>Π</m:t>
                          </m:r>
                        </m:e>
                        <m:sub>
                          <m:r>
                            <a:rPr lang="en-US" altLang="zh-CN" i="1" dirty="0">
                              <a:solidFill>
                                <a:schemeClr val="tx1"/>
                              </a:solidFill>
                              <a:latin typeface="Cambria Math" panose="02040503050406030204" pitchFamily="18" charset="0"/>
                              <a:ea typeface="Cambria Math" panose="02040503050406030204" pitchFamily="18" charset="0"/>
                            </a:rPr>
                            <m:t>𝑇</m:t>
                          </m:r>
                        </m:sub>
                      </m:sSub>
                      <m:r>
                        <a:rPr lang="en-US" altLang="zh-CN" i="1" dirty="0">
                          <a:solidFill>
                            <a:schemeClr val="tx1"/>
                          </a:solidFill>
                          <a:latin typeface="Cambria Math" panose="02040503050406030204" pitchFamily="18" charset="0"/>
                          <a:ea typeface="Cambria Math" panose="02040503050406030204" pitchFamily="18" charset="0"/>
                        </a:rPr>
                        <m:t>=</m:t>
                      </m:r>
                      <m:r>
                        <a:rPr lang="en-US" altLang="zh-CN" dirty="0">
                          <a:solidFill>
                            <a:schemeClr val="tx1"/>
                          </a:solidFill>
                          <a:latin typeface="Cambria Math" panose="02040503050406030204" pitchFamily="18" charset="0"/>
                          <a:ea typeface="Cambria Math" panose="02040503050406030204" pitchFamily="18" charset="0"/>
                        </a:rPr>
                        <m:t>4.5</m:t>
                      </m:r>
                    </m:oMath>
                  </m:oMathPara>
                </a14:m>
                <a:endParaRPr lang="en-US" altLang="zh-CN" dirty="0">
                  <a:solidFill>
                    <a:schemeClr val="tx1"/>
                  </a:solidFill>
                </a:endParaRPr>
              </a:p>
              <a:p>
                <a:pPr lvl="1"/>
                <a:r>
                  <a:rPr lang="en-US" altLang="zh-CN" dirty="0">
                    <a:solidFill>
                      <a:schemeClr val="tx1"/>
                    </a:solidFill>
                  </a:rPr>
                  <a:t>Portfolio value at t=0:</a:t>
                </a:r>
              </a:p>
              <a:p>
                <a:pPr marL="457200" lvl="1" indent="0">
                  <a:buNone/>
                </a:pPr>
                <a14:m>
                  <m:oMathPara xmlns:m="http://schemas.openxmlformats.org/officeDocument/2006/math">
                    <m:oMathParaPr>
                      <m:jc m:val="centerGroup"/>
                    </m:oMathParaPr>
                    <m:oMath xmlns:m="http://schemas.openxmlformats.org/officeDocument/2006/math">
                      <m:d>
                        <m:dPr>
                          <m:begChr m:val="{"/>
                          <m:endChr m:val=""/>
                          <m:ctrlPr>
                            <a:rPr lang="en-US" altLang="zh-CN" i="1">
                              <a:solidFill>
                                <a:schemeClr val="tx1"/>
                              </a:solidFill>
                              <a:latin typeface="Cambria Math" panose="02040503050406030204" pitchFamily="18" charset="0"/>
                            </a:rPr>
                          </m:ctrlPr>
                        </m:dPr>
                        <m:e>
                          <m:eqArr>
                            <m:eqArrPr>
                              <m:ctrlPr>
                                <a:rPr lang="en-US" altLang="zh-CN" i="1">
                                  <a:solidFill>
                                    <a:schemeClr val="tx1"/>
                                  </a:solidFill>
                                  <a:latin typeface="Cambria Math" panose="02040503050406030204" pitchFamily="18" charset="0"/>
                                </a:rPr>
                              </m:ctrlPr>
                            </m:eqArrPr>
                            <m:e>
                              <m:sSub>
                                <m:sSubPr>
                                  <m:ctrlPr>
                                    <a:rPr lang="el-GR" altLang="zh-CN" i="1" dirty="0">
                                      <a:solidFill>
                                        <a:schemeClr val="tx1"/>
                                      </a:solidFill>
                                      <a:latin typeface="Cambria Math" panose="02040503050406030204" pitchFamily="18" charset="0"/>
                                      <a:ea typeface="Cambria Math" panose="02040503050406030204" pitchFamily="18" charset="0"/>
                                    </a:rPr>
                                  </m:ctrlPr>
                                </m:sSubPr>
                                <m:e>
                                  <m:r>
                                    <m:rPr>
                                      <m:sty m:val="p"/>
                                    </m:rPr>
                                    <a:rPr lang="el-GR" altLang="zh-CN" dirty="0">
                                      <a:solidFill>
                                        <a:schemeClr val="tx1"/>
                                      </a:solidFill>
                                      <a:latin typeface="Cambria Math" panose="02040503050406030204" pitchFamily="18" charset="0"/>
                                      <a:ea typeface="Cambria Math" panose="02040503050406030204" pitchFamily="18" charset="0"/>
                                    </a:rPr>
                                    <m:t>Π</m:t>
                                  </m:r>
                                </m:e>
                                <m:sub>
                                  <m:r>
                                    <a:rPr lang="en-US" altLang="zh-CN" i="1" dirty="0">
                                      <a:solidFill>
                                        <a:schemeClr val="tx1"/>
                                      </a:solidFill>
                                      <a:latin typeface="Cambria Math" panose="02040503050406030204" pitchFamily="18" charset="0"/>
                                      <a:ea typeface="Cambria Math" panose="02040503050406030204" pitchFamily="18" charset="0"/>
                                    </a:rPr>
                                    <m:t>0</m:t>
                                  </m:r>
                                </m:sub>
                              </m:sSub>
                              <m:r>
                                <a:rPr lang="en-US" altLang="zh-CN" i="1" dirty="0">
                                  <a:solidFill>
                                    <a:schemeClr val="tx1"/>
                                  </a:solidFill>
                                  <a:latin typeface="Cambria Math" panose="02040503050406030204" pitchFamily="18" charset="0"/>
                                  <a:ea typeface="Cambria Math" panose="02040503050406030204" pitchFamily="18" charset="0"/>
                                </a:rPr>
                                <m:t>=</m:t>
                              </m:r>
                              <m:sSub>
                                <m:sSubPr>
                                  <m:ctrlPr>
                                    <a:rPr lang="en-US" altLang="zh-CN" i="1" dirty="0">
                                      <a:solidFill>
                                        <a:schemeClr val="tx1"/>
                                      </a:solidFill>
                                      <a:latin typeface="Cambria Math" panose="02040503050406030204" pitchFamily="18" charset="0"/>
                                      <a:ea typeface="Cambria Math" panose="02040503050406030204" pitchFamily="18" charset="0"/>
                                    </a:rPr>
                                  </m:ctrlPr>
                                </m:sSubPr>
                                <m:e>
                                  <m:r>
                                    <a:rPr lang="en-US" altLang="zh-CN" i="1" dirty="0">
                                      <a:solidFill>
                                        <a:schemeClr val="tx1"/>
                                      </a:solidFill>
                                      <a:latin typeface="Cambria Math" panose="02040503050406030204" pitchFamily="18" charset="0"/>
                                      <a:ea typeface="Cambria Math" panose="02040503050406030204" pitchFamily="18" charset="0"/>
                                    </a:rPr>
                                    <m:t>𝑆</m:t>
                                  </m:r>
                                </m:e>
                                <m:sub>
                                  <m:r>
                                    <a:rPr lang="en-US" altLang="zh-CN" i="1" dirty="0">
                                      <a:solidFill>
                                        <a:schemeClr val="tx1"/>
                                      </a:solidFill>
                                      <a:latin typeface="Cambria Math" panose="02040503050406030204" pitchFamily="18" charset="0"/>
                                      <a:ea typeface="Cambria Math" panose="02040503050406030204" pitchFamily="18" charset="0"/>
                                    </a:rPr>
                                    <m:t>0</m:t>
                                  </m:r>
                                </m:sub>
                              </m:sSub>
                              <m:r>
                                <m:rPr>
                                  <m:sty m:val="p"/>
                                </m:rPr>
                                <a:rPr lang="el-GR" altLang="zh-CN" dirty="0">
                                  <a:solidFill>
                                    <a:schemeClr val="tx1"/>
                                  </a:solidFill>
                                  <a:latin typeface="Cambria Math" panose="02040503050406030204" pitchFamily="18" charset="0"/>
                                </a:rPr>
                                <m:t>Δ</m:t>
                              </m:r>
                              <m:r>
                                <a:rPr lang="en-US" altLang="zh-CN" i="1" dirty="0">
                                  <a:solidFill>
                                    <a:schemeClr val="tx1"/>
                                  </a:solidFill>
                                  <a:latin typeface="Cambria Math" panose="02040503050406030204" pitchFamily="18" charset="0"/>
                                </a:rPr>
                                <m:t> –</m:t>
                              </m:r>
                              <m:r>
                                <a:rPr lang="en-US" altLang="zh-CN" i="1" dirty="0">
                                  <a:solidFill>
                                    <a:schemeClr val="tx1"/>
                                  </a:solidFill>
                                  <a:latin typeface="Cambria Math" panose="02040503050406030204" pitchFamily="18" charset="0"/>
                                </a:rPr>
                                <m:t>𝑓</m:t>
                              </m:r>
                              <m:r>
                                <m:rPr>
                                  <m:nor/>
                                </m:rPr>
                                <a:rPr lang="en-US" altLang="zh-CN" baseline="-25000" dirty="0">
                                  <a:solidFill>
                                    <a:schemeClr val="tx1"/>
                                  </a:solidFill>
                                </a:rPr>
                                <m:t> </m:t>
                              </m:r>
                            </m:e>
                            <m:e>
                              <m:sSub>
                                <m:sSubPr>
                                  <m:ctrlPr>
                                    <a:rPr lang="el-GR" altLang="zh-CN" i="1" dirty="0">
                                      <a:solidFill>
                                        <a:schemeClr val="tx1"/>
                                      </a:solidFill>
                                      <a:latin typeface="Cambria Math" panose="02040503050406030204" pitchFamily="18" charset="0"/>
                                      <a:ea typeface="Cambria Math" panose="02040503050406030204" pitchFamily="18" charset="0"/>
                                    </a:rPr>
                                  </m:ctrlPr>
                                </m:sSubPr>
                                <m:e>
                                  <m:r>
                                    <m:rPr>
                                      <m:sty m:val="p"/>
                                    </m:rPr>
                                    <a:rPr lang="el-GR" altLang="zh-CN" dirty="0">
                                      <a:solidFill>
                                        <a:schemeClr val="tx1"/>
                                      </a:solidFill>
                                      <a:latin typeface="Cambria Math" panose="02040503050406030204" pitchFamily="18" charset="0"/>
                                      <a:ea typeface="Cambria Math" panose="02040503050406030204" pitchFamily="18" charset="0"/>
                                    </a:rPr>
                                    <m:t>Π</m:t>
                                  </m:r>
                                </m:e>
                                <m:sub>
                                  <m:r>
                                    <a:rPr lang="en-US" altLang="zh-CN" i="1" dirty="0">
                                      <a:solidFill>
                                        <a:schemeClr val="tx1"/>
                                      </a:solidFill>
                                      <a:latin typeface="Cambria Math" panose="02040503050406030204" pitchFamily="18" charset="0"/>
                                      <a:ea typeface="Cambria Math" panose="02040503050406030204" pitchFamily="18" charset="0"/>
                                    </a:rPr>
                                    <m:t>0</m:t>
                                  </m:r>
                                </m:sub>
                              </m:sSub>
                              <m:r>
                                <a:rPr lang="en-US" altLang="zh-CN" i="1" dirty="0">
                                  <a:solidFill>
                                    <a:schemeClr val="tx1"/>
                                  </a:solidFill>
                                  <a:latin typeface="Cambria Math" panose="02040503050406030204" pitchFamily="18" charset="0"/>
                                  <a:ea typeface="Cambria Math" panose="02040503050406030204" pitchFamily="18" charset="0"/>
                                </a:rPr>
                                <m:t>=</m:t>
                              </m:r>
                              <m:sSub>
                                <m:sSubPr>
                                  <m:ctrlPr>
                                    <a:rPr lang="el-GR" altLang="zh-CN" i="1" dirty="0">
                                      <a:solidFill>
                                        <a:schemeClr val="tx1"/>
                                      </a:solidFill>
                                      <a:latin typeface="Cambria Math" panose="02040503050406030204" pitchFamily="18" charset="0"/>
                                      <a:ea typeface="Cambria Math" panose="02040503050406030204" pitchFamily="18" charset="0"/>
                                    </a:rPr>
                                  </m:ctrlPr>
                                </m:sSubPr>
                                <m:e>
                                  <m:r>
                                    <m:rPr>
                                      <m:sty m:val="p"/>
                                    </m:rPr>
                                    <a:rPr lang="el-GR" altLang="zh-CN" dirty="0">
                                      <a:solidFill>
                                        <a:schemeClr val="tx1"/>
                                      </a:solidFill>
                                      <a:latin typeface="Cambria Math" panose="02040503050406030204" pitchFamily="18" charset="0"/>
                                      <a:ea typeface="Cambria Math" panose="02040503050406030204" pitchFamily="18" charset="0"/>
                                    </a:rPr>
                                    <m:t>Π</m:t>
                                  </m:r>
                                </m:e>
                                <m:sub>
                                  <m:r>
                                    <a:rPr lang="en-US" altLang="zh-CN" i="1" dirty="0">
                                      <a:solidFill>
                                        <a:schemeClr val="tx1"/>
                                      </a:solidFill>
                                      <a:latin typeface="Cambria Math" panose="02040503050406030204" pitchFamily="18" charset="0"/>
                                      <a:ea typeface="Cambria Math" panose="02040503050406030204" pitchFamily="18" charset="0"/>
                                    </a:rPr>
                                    <m:t>𝑇</m:t>
                                  </m:r>
                                </m:sub>
                              </m:sSub>
                              <m:sSup>
                                <m:sSupPr>
                                  <m:ctrlPr>
                                    <a:rPr lang="en-US" altLang="zh-CN" i="1" dirty="0">
                                      <a:solidFill>
                                        <a:schemeClr val="tx1"/>
                                      </a:solidFill>
                                      <a:latin typeface="Cambria Math" panose="02040503050406030204" pitchFamily="18" charset="0"/>
                                      <a:ea typeface="Cambria Math" panose="02040503050406030204" pitchFamily="18" charset="0"/>
                                    </a:rPr>
                                  </m:ctrlPr>
                                </m:sSupPr>
                                <m:e>
                                  <m:r>
                                    <a:rPr lang="en-US" altLang="zh-CN" i="1" dirty="0">
                                      <a:solidFill>
                                        <a:schemeClr val="tx1"/>
                                      </a:solidFill>
                                      <a:latin typeface="Cambria Math" panose="02040503050406030204" pitchFamily="18" charset="0"/>
                                      <a:ea typeface="Cambria Math" panose="02040503050406030204" pitchFamily="18" charset="0"/>
                                    </a:rPr>
                                    <m:t>𝑒</m:t>
                                  </m:r>
                                </m:e>
                                <m:sup>
                                  <m:r>
                                    <a:rPr lang="en-US" altLang="zh-CN" i="1" dirty="0">
                                      <a:solidFill>
                                        <a:schemeClr val="tx1"/>
                                      </a:solidFill>
                                      <a:latin typeface="Cambria Math" panose="02040503050406030204" pitchFamily="18" charset="0"/>
                                      <a:ea typeface="Cambria Math" panose="02040503050406030204" pitchFamily="18" charset="0"/>
                                    </a:rPr>
                                    <m:t>−</m:t>
                                  </m:r>
                                  <m:r>
                                    <a:rPr lang="en-US" altLang="zh-CN" i="1" dirty="0">
                                      <a:solidFill>
                                        <a:schemeClr val="tx1"/>
                                      </a:solidFill>
                                      <a:latin typeface="Cambria Math" panose="02040503050406030204" pitchFamily="18" charset="0"/>
                                      <a:ea typeface="Cambria Math" panose="02040503050406030204" pitchFamily="18" charset="0"/>
                                    </a:rPr>
                                    <m:t>𝑟𝑇</m:t>
                                  </m:r>
                                </m:sup>
                              </m:sSup>
                            </m:e>
                          </m:eqArr>
                        </m:e>
                      </m:d>
                    </m:oMath>
                  </m:oMathPara>
                </a14:m>
                <a:endParaRPr lang="en-US" altLang="zh-CN" dirty="0">
                  <a:solidFill>
                    <a:schemeClr val="tx1"/>
                  </a:solidFill>
                </a:endParaRPr>
              </a:p>
              <a:p>
                <a:pPr lvl="1"/>
                <a:r>
                  <a:rPr lang="en-US" altLang="zh-CN" dirty="0">
                    <a:solidFill>
                      <a:schemeClr val="tx1"/>
                    </a:solidFill>
                  </a:rPr>
                  <a:t>Option value at t=0:</a:t>
                </a:r>
                <a:endParaRPr lang="en-US" altLang="zh-CN" i="1" dirty="0">
                  <a:solidFill>
                    <a:schemeClr val="tx1"/>
                  </a:solidFill>
                  <a:latin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r>
                        <a:rPr lang="en-US" altLang="zh-CN" i="1" dirty="0">
                          <a:solidFill>
                            <a:schemeClr val="tx1"/>
                          </a:solidFill>
                          <a:latin typeface="Cambria Math" panose="02040503050406030204" pitchFamily="18" charset="0"/>
                        </a:rPr>
                        <m:t>𝑓</m:t>
                      </m:r>
                      <m:r>
                        <a:rPr lang="en-US" altLang="zh-CN" i="1" dirty="0">
                          <a:solidFill>
                            <a:schemeClr val="tx1"/>
                          </a:solidFill>
                          <a:latin typeface="Cambria Math" panose="02040503050406030204" pitchFamily="18" charset="0"/>
                        </a:rPr>
                        <m:t>=0.545</m:t>
                      </m:r>
                    </m:oMath>
                  </m:oMathPara>
                </a14:m>
                <a:endParaRPr lang="zh-CN" altLang="en-US" dirty="0">
                  <a:latin typeface="+mn-lt"/>
                  <a:ea typeface="+mn-ea"/>
                  <a:cs typeface="+mn-ea"/>
                  <a:sym typeface="+mn-lt"/>
                </a:endParaRPr>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71173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rPr>
              <a:t>Solution 2: Risk-Neutral Valuation </a:t>
            </a:r>
            <a:r>
              <a:rPr lang="zh-CN" altLang="en-US" dirty="0">
                <a:latin typeface="+mn-lt"/>
                <a:ea typeface="+mn-ea"/>
                <a:cs typeface="+mn-ea"/>
              </a:rPr>
              <a:t>风险中性定价法</a:t>
            </a:r>
            <a:endParaRPr lang="en-US" altLang="zh-CN" dirty="0">
              <a:latin typeface="+mn-lt"/>
              <a:ea typeface="+mn-ea"/>
              <a:cs typeface="+mn-ea"/>
            </a:endParaRPr>
          </a:p>
          <a:p>
            <a:pPr lvl="1"/>
            <a:endParaRPr lang="en-US" altLang="zh-CN" b="1" dirty="0">
              <a:solidFill>
                <a:schemeClr val="accent6"/>
              </a:solidFill>
              <a:latin typeface="+mn-lt"/>
              <a:ea typeface="+mn-ea"/>
              <a:cs typeface="+mn-ea"/>
            </a:endParaRPr>
          </a:p>
          <a:p>
            <a:pPr lvl="1">
              <a:buFont typeface="Wingdings" panose="05000000000000000000" pitchFamily="2" charset="2"/>
              <a:buChar char="ü"/>
            </a:pPr>
            <a:r>
              <a:rPr lang="en-US" altLang="zh-CN" sz="1600" b="1" dirty="0"/>
              <a:t>Risk-neutral investors:</a:t>
            </a:r>
          </a:p>
          <a:p>
            <a:pPr lvl="1"/>
            <a:r>
              <a:rPr lang="en-US" altLang="zh-CN" sz="1600" dirty="0"/>
              <a:t>They do not increase the expected return they require from an investment to compensate for increased risk.</a:t>
            </a:r>
          </a:p>
          <a:p>
            <a:pPr lvl="1">
              <a:buFont typeface="Wingdings" panose="05000000000000000000" pitchFamily="2" charset="2"/>
              <a:buChar char="ü"/>
            </a:pPr>
            <a:endParaRPr lang="en-US" altLang="zh-CN" sz="1600" b="1" dirty="0"/>
          </a:p>
          <a:p>
            <a:pPr lvl="1">
              <a:buFont typeface="Wingdings" panose="05000000000000000000" pitchFamily="2" charset="2"/>
              <a:buChar char="ü"/>
            </a:pPr>
            <a:endParaRPr lang="en-US" altLang="zh-CN" sz="1600" b="1" dirty="0"/>
          </a:p>
          <a:p>
            <a:pPr lvl="1">
              <a:buFont typeface="Wingdings" panose="05000000000000000000" pitchFamily="2" charset="2"/>
              <a:buChar char="ü"/>
            </a:pPr>
            <a:r>
              <a:rPr lang="en-US" altLang="zh-CN" sz="1600" b="1" dirty="0"/>
              <a:t>Features of a risk-neutral world:</a:t>
            </a:r>
          </a:p>
          <a:p>
            <a:pPr lvl="1"/>
            <a:r>
              <a:rPr lang="en-US" altLang="zh-CN" sz="1600" dirty="0"/>
              <a:t>The expected return on a stock (or any other investment) is the risk-free rate.</a:t>
            </a:r>
          </a:p>
          <a:p>
            <a:pPr lvl="1"/>
            <a:r>
              <a:rPr lang="en-US" altLang="zh-CN" sz="1600" dirty="0"/>
              <a:t>The discount rate used for the expected payoff on an option (or any other instrument) is risk-free rate.</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761953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a:bodyPr>
              <a:lstStyle/>
              <a:p>
                <a:r>
                  <a:rPr lang="en-US" altLang="zh-CN" dirty="0">
                    <a:latin typeface="+mn-lt"/>
                    <a:ea typeface="+mn-ea"/>
                    <a:cs typeface="+mn-ea"/>
                  </a:rPr>
                  <a:t>Solution 2: Risk-Neutral Valuation </a:t>
                </a:r>
                <a:r>
                  <a:rPr lang="zh-CN" altLang="en-US" dirty="0">
                    <a:latin typeface="+mn-lt"/>
                    <a:ea typeface="+mn-ea"/>
                    <a:cs typeface="+mn-ea"/>
                  </a:rPr>
                  <a:t>风险中性定价法</a:t>
                </a:r>
                <a:endParaRPr lang="en-US" altLang="zh-CN" dirty="0">
                  <a:latin typeface="+mn-lt"/>
                  <a:ea typeface="+mn-ea"/>
                  <a:cs typeface="+mn-ea"/>
                </a:endParaRPr>
              </a:p>
              <a:p>
                <a:pPr lvl="1"/>
                <a:endParaRPr lang="en-US" altLang="zh-CN" dirty="0">
                  <a:solidFill>
                    <a:schemeClr val="accent4">
                      <a:lumMod val="75000"/>
                    </a:schemeClr>
                  </a:solidFill>
                </a:endParaRPr>
              </a:p>
              <a:p>
                <a:pPr lvl="1"/>
                <a:r>
                  <a:rPr lang="en-US" altLang="zh-CN" sz="1600" dirty="0">
                    <a:solidFill>
                      <a:schemeClr val="tx1"/>
                    </a:solidFill>
                  </a:rPr>
                  <a:t>Let </a:t>
                </a:r>
                <a14:m>
                  <m:oMath xmlns:m="http://schemas.openxmlformats.org/officeDocument/2006/math">
                    <m:r>
                      <a:rPr lang="en-US" altLang="zh-CN" sz="1600" i="1">
                        <a:solidFill>
                          <a:schemeClr val="tx1"/>
                        </a:solidFill>
                        <a:latin typeface="Cambria Math" panose="02040503050406030204" pitchFamily="18" charset="0"/>
                      </a:rPr>
                      <m:t>𝑝</m:t>
                    </m:r>
                  </m:oMath>
                </a14:m>
                <a:r>
                  <a:rPr lang="en-US" altLang="zh-CN" sz="1600" dirty="0">
                    <a:solidFill>
                      <a:schemeClr val="tx1"/>
                    </a:solidFill>
                  </a:rPr>
                  <a:t> be the probability of an up movement, then the expected stock price is:</a:t>
                </a:r>
              </a:p>
              <a:p>
                <a:pPr marL="457200" lvl="1" indent="0">
                  <a:buNone/>
                </a:pPr>
                <a14:m>
                  <m:oMathPara xmlns:m="http://schemas.openxmlformats.org/officeDocument/2006/math">
                    <m:oMathParaPr>
                      <m:jc m:val="centerGroup"/>
                    </m:oMathParaPr>
                    <m:oMath xmlns:m="http://schemas.openxmlformats.org/officeDocument/2006/math">
                      <m:r>
                        <a:rPr lang="en-US" altLang="zh-CN" sz="1600" i="1" dirty="0">
                          <a:solidFill>
                            <a:schemeClr val="tx1"/>
                          </a:solidFill>
                          <a:latin typeface="Cambria Math" panose="02040503050406030204" pitchFamily="18" charset="0"/>
                          <a:ea typeface="Cambria Math" panose="02040503050406030204" pitchFamily="18" charset="0"/>
                        </a:rPr>
                        <m:t>𝐸</m:t>
                      </m:r>
                      <m:d>
                        <m:dPr>
                          <m:ctrlPr>
                            <a:rPr lang="en-US" altLang="zh-CN" sz="1600" i="1" dirty="0">
                              <a:solidFill>
                                <a:schemeClr val="tx1"/>
                              </a:solidFill>
                              <a:latin typeface="Cambria Math" panose="02040503050406030204" pitchFamily="18" charset="0"/>
                              <a:ea typeface="Cambria Math" panose="02040503050406030204" pitchFamily="18" charset="0"/>
                            </a:rPr>
                          </m:ctrlPr>
                        </m:dPr>
                        <m:e>
                          <m:sSub>
                            <m:sSubPr>
                              <m:ctrlPr>
                                <a:rPr lang="en-US" altLang="zh-CN" sz="1600" i="1" dirty="0">
                                  <a:solidFill>
                                    <a:schemeClr val="tx1"/>
                                  </a:solidFill>
                                  <a:latin typeface="Cambria Math" panose="02040503050406030204" pitchFamily="18" charset="0"/>
                                  <a:ea typeface="Cambria Math" panose="02040503050406030204" pitchFamily="18" charset="0"/>
                                </a:rPr>
                              </m:ctrlPr>
                            </m:sSubPr>
                            <m:e>
                              <m:r>
                                <a:rPr lang="en-US" altLang="zh-CN" sz="1600" i="1" dirty="0">
                                  <a:solidFill>
                                    <a:schemeClr val="tx1"/>
                                  </a:solidFill>
                                  <a:latin typeface="Cambria Math" panose="02040503050406030204" pitchFamily="18" charset="0"/>
                                  <a:ea typeface="Cambria Math" panose="02040503050406030204" pitchFamily="18" charset="0"/>
                                </a:rPr>
                                <m:t>𝑆</m:t>
                              </m:r>
                            </m:e>
                            <m:sub>
                              <m:r>
                                <a:rPr lang="en-US" altLang="zh-CN" sz="1600" i="1" dirty="0">
                                  <a:solidFill>
                                    <a:schemeClr val="tx1"/>
                                  </a:solidFill>
                                  <a:latin typeface="Cambria Math" panose="02040503050406030204" pitchFamily="18" charset="0"/>
                                  <a:ea typeface="Cambria Math" panose="02040503050406030204" pitchFamily="18" charset="0"/>
                                </a:rPr>
                                <m:t>𝑇</m:t>
                              </m:r>
                            </m:sub>
                          </m:sSub>
                        </m:e>
                      </m:d>
                      <m:r>
                        <a:rPr lang="en-US" altLang="zh-CN" sz="1600" i="1" dirty="0">
                          <a:solidFill>
                            <a:schemeClr val="tx1"/>
                          </a:solidFill>
                          <a:latin typeface="Cambria Math" panose="02040503050406030204" pitchFamily="18" charset="0"/>
                          <a:ea typeface="Cambria Math" panose="02040503050406030204" pitchFamily="18" charset="0"/>
                        </a:rPr>
                        <m:t>=</m:t>
                      </m:r>
                      <m:r>
                        <a:rPr lang="en-US" altLang="zh-CN" sz="1600" i="1" dirty="0">
                          <a:solidFill>
                            <a:schemeClr val="tx1"/>
                          </a:solidFill>
                          <a:latin typeface="Cambria Math" panose="02040503050406030204" pitchFamily="18" charset="0"/>
                          <a:ea typeface="Cambria Math" panose="02040503050406030204" pitchFamily="18" charset="0"/>
                        </a:rPr>
                        <m:t>𝑝</m:t>
                      </m:r>
                      <m:sSub>
                        <m:sSubPr>
                          <m:ctrlPr>
                            <a:rPr lang="en-US" altLang="zh-CN" sz="1600" i="1" dirty="0">
                              <a:solidFill>
                                <a:schemeClr val="tx1"/>
                              </a:solidFill>
                              <a:latin typeface="Cambria Math" panose="02040503050406030204" pitchFamily="18" charset="0"/>
                              <a:ea typeface="Cambria Math" panose="02040503050406030204" pitchFamily="18" charset="0"/>
                            </a:rPr>
                          </m:ctrlPr>
                        </m:sSubPr>
                        <m:e>
                          <m:r>
                            <a:rPr lang="en-US" altLang="zh-CN" sz="1600" i="1" dirty="0">
                              <a:solidFill>
                                <a:schemeClr val="tx1"/>
                              </a:solidFill>
                              <a:latin typeface="Cambria Math" panose="02040503050406030204" pitchFamily="18" charset="0"/>
                              <a:ea typeface="Cambria Math" panose="02040503050406030204" pitchFamily="18" charset="0"/>
                            </a:rPr>
                            <m:t>𝑆</m:t>
                          </m:r>
                        </m:e>
                        <m:sub>
                          <m:r>
                            <a:rPr lang="en-US" altLang="zh-CN" sz="1600" i="1" dirty="0">
                              <a:solidFill>
                                <a:schemeClr val="tx1"/>
                              </a:solidFill>
                              <a:latin typeface="Cambria Math" panose="02040503050406030204" pitchFamily="18" charset="0"/>
                              <a:ea typeface="Cambria Math" panose="02040503050406030204" pitchFamily="18" charset="0"/>
                            </a:rPr>
                            <m:t>0</m:t>
                          </m:r>
                        </m:sub>
                      </m:sSub>
                      <m:r>
                        <a:rPr lang="en-US" altLang="zh-CN" sz="1600" i="1" dirty="0">
                          <a:solidFill>
                            <a:schemeClr val="tx1"/>
                          </a:solidFill>
                          <a:latin typeface="Cambria Math" panose="02040503050406030204" pitchFamily="18" charset="0"/>
                          <a:ea typeface="Cambria Math" panose="02040503050406030204" pitchFamily="18" charset="0"/>
                        </a:rPr>
                        <m:t>𝑢</m:t>
                      </m:r>
                      <m:r>
                        <a:rPr lang="en-US" altLang="zh-CN" sz="1600" i="1" dirty="0">
                          <a:solidFill>
                            <a:schemeClr val="tx1"/>
                          </a:solidFill>
                          <a:latin typeface="Cambria Math" panose="02040503050406030204" pitchFamily="18" charset="0"/>
                          <a:ea typeface="Cambria Math" panose="02040503050406030204" pitchFamily="18" charset="0"/>
                        </a:rPr>
                        <m:t>+(1−</m:t>
                      </m:r>
                      <m:r>
                        <a:rPr lang="en-US" altLang="zh-CN" sz="1600" i="1" dirty="0">
                          <a:solidFill>
                            <a:schemeClr val="tx1"/>
                          </a:solidFill>
                          <a:latin typeface="Cambria Math" panose="02040503050406030204" pitchFamily="18" charset="0"/>
                          <a:ea typeface="Cambria Math" panose="02040503050406030204" pitchFamily="18" charset="0"/>
                        </a:rPr>
                        <m:t>𝑝</m:t>
                      </m:r>
                      <m:r>
                        <a:rPr lang="en-US" altLang="zh-CN" sz="1600" i="1" dirty="0">
                          <a:solidFill>
                            <a:schemeClr val="tx1"/>
                          </a:solidFill>
                          <a:latin typeface="Cambria Math" panose="02040503050406030204" pitchFamily="18" charset="0"/>
                          <a:ea typeface="Cambria Math" panose="02040503050406030204" pitchFamily="18" charset="0"/>
                        </a:rPr>
                        <m:t>)</m:t>
                      </m:r>
                      <m:sSub>
                        <m:sSubPr>
                          <m:ctrlPr>
                            <a:rPr lang="en-US" altLang="zh-CN" sz="1600" i="1" dirty="0">
                              <a:solidFill>
                                <a:schemeClr val="tx1"/>
                              </a:solidFill>
                              <a:latin typeface="Cambria Math" panose="02040503050406030204" pitchFamily="18" charset="0"/>
                              <a:ea typeface="Cambria Math" panose="02040503050406030204" pitchFamily="18" charset="0"/>
                            </a:rPr>
                          </m:ctrlPr>
                        </m:sSubPr>
                        <m:e>
                          <m:r>
                            <a:rPr lang="en-US" altLang="zh-CN" sz="1600" i="1" dirty="0">
                              <a:solidFill>
                                <a:schemeClr val="tx1"/>
                              </a:solidFill>
                              <a:latin typeface="Cambria Math" panose="02040503050406030204" pitchFamily="18" charset="0"/>
                              <a:ea typeface="Cambria Math" panose="02040503050406030204" pitchFamily="18" charset="0"/>
                            </a:rPr>
                            <m:t>𝑆</m:t>
                          </m:r>
                        </m:e>
                        <m:sub>
                          <m:r>
                            <a:rPr lang="en-US" altLang="zh-CN" sz="1600" i="1" dirty="0">
                              <a:solidFill>
                                <a:schemeClr val="tx1"/>
                              </a:solidFill>
                              <a:latin typeface="Cambria Math" panose="02040503050406030204" pitchFamily="18" charset="0"/>
                              <a:ea typeface="Cambria Math" panose="02040503050406030204" pitchFamily="18" charset="0"/>
                            </a:rPr>
                            <m:t>0</m:t>
                          </m:r>
                        </m:sub>
                      </m:sSub>
                      <m:r>
                        <a:rPr lang="en-US" altLang="zh-CN" sz="1600" i="1" dirty="0">
                          <a:solidFill>
                            <a:schemeClr val="tx1"/>
                          </a:solidFill>
                          <a:latin typeface="Cambria Math" panose="02040503050406030204" pitchFamily="18" charset="0"/>
                          <a:ea typeface="Cambria Math" panose="02040503050406030204" pitchFamily="18" charset="0"/>
                        </a:rPr>
                        <m:t>𝑑</m:t>
                      </m:r>
                    </m:oMath>
                  </m:oMathPara>
                </a14:m>
                <a:endParaRPr lang="en-US" altLang="zh-CN" sz="1600" dirty="0">
                  <a:solidFill>
                    <a:schemeClr val="tx1"/>
                  </a:solidFill>
                </a:endParaRPr>
              </a:p>
              <a:p>
                <a:pPr lvl="1"/>
                <a:r>
                  <a:rPr lang="en-US" altLang="zh-CN" sz="1600" dirty="0">
                    <a:solidFill>
                      <a:schemeClr val="tx1"/>
                    </a:solidFill>
                  </a:rPr>
                  <a:t>The expected return on a stock should be risk-free rate (feature 1), so the expected stock price is:</a:t>
                </a:r>
              </a:p>
              <a:p>
                <a:pPr marL="457200" lvl="1" indent="0">
                  <a:buNone/>
                </a:pPr>
                <a14:m>
                  <m:oMathPara xmlns:m="http://schemas.openxmlformats.org/officeDocument/2006/math">
                    <m:oMathParaPr>
                      <m:jc m:val="center"/>
                    </m:oMathParaPr>
                    <m:oMath xmlns:m="http://schemas.openxmlformats.org/officeDocument/2006/math">
                      <m:r>
                        <a:rPr lang="en-US" altLang="zh-CN" sz="1600" i="1" dirty="0">
                          <a:solidFill>
                            <a:schemeClr val="tx1"/>
                          </a:solidFill>
                          <a:latin typeface="Cambria Math" panose="02040503050406030204" pitchFamily="18" charset="0"/>
                          <a:ea typeface="Cambria Math" panose="02040503050406030204" pitchFamily="18" charset="0"/>
                        </a:rPr>
                        <m:t>𝐸</m:t>
                      </m:r>
                      <m:d>
                        <m:dPr>
                          <m:ctrlPr>
                            <a:rPr lang="en-US" altLang="zh-CN" sz="1600" i="1" dirty="0">
                              <a:solidFill>
                                <a:schemeClr val="tx1"/>
                              </a:solidFill>
                              <a:latin typeface="Cambria Math" panose="02040503050406030204" pitchFamily="18" charset="0"/>
                              <a:ea typeface="Cambria Math" panose="02040503050406030204" pitchFamily="18" charset="0"/>
                            </a:rPr>
                          </m:ctrlPr>
                        </m:dPr>
                        <m:e>
                          <m:sSub>
                            <m:sSubPr>
                              <m:ctrlPr>
                                <a:rPr lang="en-US" altLang="zh-CN" sz="1600" i="1" dirty="0">
                                  <a:solidFill>
                                    <a:schemeClr val="tx1"/>
                                  </a:solidFill>
                                  <a:latin typeface="Cambria Math" panose="02040503050406030204" pitchFamily="18" charset="0"/>
                                  <a:ea typeface="Cambria Math" panose="02040503050406030204" pitchFamily="18" charset="0"/>
                                </a:rPr>
                              </m:ctrlPr>
                            </m:sSubPr>
                            <m:e>
                              <m:r>
                                <a:rPr lang="en-US" altLang="zh-CN" sz="1600" i="1" dirty="0">
                                  <a:solidFill>
                                    <a:schemeClr val="tx1"/>
                                  </a:solidFill>
                                  <a:latin typeface="Cambria Math" panose="02040503050406030204" pitchFamily="18" charset="0"/>
                                  <a:ea typeface="Cambria Math" panose="02040503050406030204" pitchFamily="18" charset="0"/>
                                </a:rPr>
                                <m:t>𝑆</m:t>
                              </m:r>
                            </m:e>
                            <m:sub>
                              <m:r>
                                <a:rPr lang="en-US" altLang="zh-CN" sz="1600" i="1" dirty="0">
                                  <a:solidFill>
                                    <a:schemeClr val="tx1"/>
                                  </a:solidFill>
                                  <a:latin typeface="Cambria Math" panose="02040503050406030204" pitchFamily="18" charset="0"/>
                                  <a:ea typeface="Cambria Math" panose="02040503050406030204" pitchFamily="18" charset="0"/>
                                </a:rPr>
                                <m:t>𝑇</m:t>
                              </m:r>
                            </m:sub>
                          </m:sSub>
                        </m:e>
                      </m:d>
                      <m:r>
                        <a:rPr lang="en-US" altLang="zh-CN" sz="1600" i="1" dirty="0">
                          <a:solidFill>
                            <a:schemeClr val="tx1"/>
                          </a:solidFill>
                          <a:latin typeface="Cambria Math" panose="02040503050406030204" pitchFamily="18" charset="0"/>
                          <a:ea typeface="Cambria Math" panose="02040503050406030204" pitchFamily="18" charset="0"/>
                        </a:rPr>
                        <m:t>=</m:t>
                      </m:r>
                      <m:sSub>
                        <m:sSubPr>
                          <m:ctrlPr>
                            <a:rPr lang="en-US" altLang="zh-CN" sz="1600" i="1" dirty="0">
                              <a:solidFill>
                                <a:schemeClr val="tx1"/>
                              </a:solidFill>
                              <a:latin typeface="Cambria Math" panose="02040503050406030204" pitchFamily="18" charset="0"/>
                              <a:ea typeface="Cambria Math" panose="02040503050406030204" pitchFamily="18" charset="0"/>
                            </a:rPr>
                          </m:ctrlPr>
                        </m:sSubPr>
                        <m:e>
                          <m:r>
                            <a:rPr lang="en-US" altLang="zh-CN" sz="1600" i="1" dirty="0">
                              <a:solidFill>
                                <a:schemeClr val="tx1"/>
                              </a:solidFill>
                              <a:latin typeface="Cambria Math" panose="02040503050406030204" pitchFamily="18" charset="0"/>
                              <a:ea typeface="Cambria Math" panose="02040503050406030204" pitchFamily="18" charset="0"/>
                            </a:rPr>
                            <m:t>𝑆</m:t>
                          </m:r>
                        </m:e>
                        <m:sub>
                          <m:r>
                            <a:rPr lang="en-US" altLang="zh-CN" sz="1600" i="1" dirty="0">
                              <a:solidFill>
                                <a:schemeClr val="tx1"/>
                              </a:solidFill>
                              <a:latin typeface="Cambria Math" panose="02040503050406030204" pitchFamily="18" charset="0"/>
                              <a:ea typeface="Cambria Math" panose="02040503050406030204" pitchFamily="18" charset="0"/>
                            </a:rPr>
                            <m:t>0</m:t>
                          </m:r>
                        </m:sub>
                      </m:sSub>
                      <m:sSup>
                        <m:sSupPr>
                          <m:ctrlPr>
                            <a:rPr lang="en-US" altLang="zh-CN" sz="1600" i="1" dirty="0">
                              <a:solidFill>
                                <a:schemeClr val="tx1"/>
                              </a:solidFill>
                              <a:latin typeface="Cambria Math" panose="02040503050406030204" pitchFamily="18" charset="0"/>
                              <a:ea typeface="Cambria Math" panose="02040503050406030204" pitchFamily="18" charset="0"/>
                            </a:rPr>
                          </m:ctrlPr>
                        </m:sSupPr>
                        <m:e>
                          <m:r>
                            <a:rPr lang="en-US" altLang="zh-CN" sz="1600" i="1" dirty="0">
                              <a:solidFill>
                                <a:schemeClr val="tx1"/>
                              </a:solidFill>
                              <a:latin typeface="Cambria Math" panose="02040503050406030204" pitchFamily="18" charset="0"/>
                              <a:ea typeface="Cambria Math" panose="02040503050406030204" pitchFamily="18" charset="0"/>
                            </a:rPr>
                            <m:t>𝑒</m:t>
                          </m:r>
                        </m:e>
                        <m:sup>
                          <m:r>
                            <a:rPr lang="en-US" altLang="zh-CN" sz="1600" i="1" dirty="0">
                              <a:solidFill>
                                <a:schemeClr val="tx1"/>
                              </a:solidFill>
                              <a:latin typeface="Cambria Math" panose="02040503050406030204" pitchFamily="18" charset="0"/>
                              <a:ea typeface="Cambria Math" panose="02040503050406030204" pitchFamily="18" charset="0"/>
                            </a:rPr>
                            <m:t>𝑟𝑇</m:t>
                          </m:r>
                        </m:sup>
                      </m:sSup>
                    </m:oMath>
                  </m:oMathPara>
                </a14:m>
                <a:endParaRPr lang="en-US" altLang="zh-CN" sz="1600" dirty="0">
                  <a:solidFill>
                    <a:schemeClr val="tx1"/>
                  </a:solidFill>
                </a:endParaRPr>
              </a:p>
              <a:p>
                <a:pPr lvl="1"/>
                <a:r>
                  <a:rPr lang="en-US" altLang="zh-CN" sz="1600" dirty="0">
                    <a:solidFill>
                      <a:schemeClr val="tx1"/>
                    </a:solidFill>
                  </a:rPr>
                  <a:t>Hence:</a:t>
                </a:r>
              </a:p>
              <a:p>
                <a:pPr marL="457200" lvl="1" indent="0">
                  <a:buNone/>
                </a:pPr>
                <a14:m>
                  <m:oMathPara xmlns:m="http://schemas.openxmlformats.org/officeDocument/2006/math">
                    <m:oMathParaPr>
                      <m:jc m:val="centerGroup"/>
                    </m:oMathParaPr>
                    <m:oMath xmlns:m="http://schemas.openxmlformats.org/officeDocument/2006/math">
                      <m:r>
                        <a:rPr lang="en-US" altLang="zh-CN" sz="1600" i="1" dirty="0">
                          <a:solidFill>
                            <a:schemeClr val="tx1"/>
                          </a:solidFill>
                          <a:latin typeface="Cambria Math" panose="02040503050406030204" pitchFamily="18" charset="0"/>
                          <a:ea typeface="Cambria Math" panose="02040503050406030204" pitchFamily="18" charset="0"/>
                        </a:rPr>
                        <m:t>𝑝</m:t>
                      </m:r>
                      <m:sSub>
                        <m:sSubPr>
                          <m:ctrlPr>
                            <a:rPr lang="en-US" altLang="zh-CN" sz="1600" i="1" dirty="0">
                              <a:solidFill>
                                <a:schemeClr val="tx1"/>
                              </a:solidFill>
                              <a:latin typeface="Cambria Math" panose="02040503050406030204" pitchFamily="18" charset="0"/>
                              <a:ea typeface="Cambria Math" panose="02040503050406030204" pitchFamily="18" charset="0"/>
                            </a:rPr>
                          </m:ctrlPr>
                        </m:sSubPr>
                        <m:e>
                          <m:r>
                            <a:rPr lang="en-US" altLang="zh-CN" sz="1600" i="1" dirty="0">
                              <a:solidFill>
                                <a:schemeClr val="tx1"/>
                              </a:solidFill>
                              <a:latin typeface="Cambria Math" panose="02040503050406030204" pitchFamily="18" charset="0"/>
                              <a:ea typeface="Cambria Math" panose="02040503050406030204" pitchFamily="18" charset="0"/>
                            </a:rPr>
                            <m:t>𝑆</m:t>
                          </m:r>
                        </m:e>
                        <m:sub>
                          <m:r>
                            <a:rPr lang="en-US" altLang="zh-CN" sz="1600" i="1" dirty="0">
                              <a:solidFill>
                                <a:schemeClr val="tx1"/>
                              </a:solidFill>
                              <a:latin typeface="Cambria Math" panose="02040503050406030204" pitchFamily="18" charset="0"/>
                              <a:ea typeface="Cambria Math" panose="02040503050406030204" pitchFamily="18" charset="0"/>
                            </a:rPr>
                            <m:t>0</m:t>
                          </m:r>
                        </m:sub>
                      </m:sSub>
                      <m:r>
                        <a:rPr lang="en-US" altLang="zh-CN" sz="1600" i="1" dirty="0">
                          <a:solidFill>
                            <a:schemeClr val="tx1"/>
                          </a:solidFill>
                          <a:latin typeface="Cambria Math" panose="02040503050406030204" pitchFamily="18" charset="0"/>
                          <a:ea typeface="Cambria Math" panose="02040503050406030204" pitchFamily="18" charset="0"/>
                        </a:rPr>
                        <m:t>𝑢</m:t>
                      </m:r>
                      <m:r>
                        <a:rPr lang="en-US" altLang="zh-CN" sz="1600" i="1" dirty="0">
                          <a:solidFill>
                            <a:schemeClr val="tx1"/>
                          </a:solidFill>
                          <a:latin typeface="Cambria Math" panose="02040503050406030204" pitchFamily="18" charset="0"/>
                          <a:ea typeface="Cambria Math" panose="02040503050406030204" pitchFamily="18" charset="0"/>
                        </a:rPr>
                        <m:t>+</m:t>
                      </m:r>
                      <m:d>
                        <m:dPr>
                          <m:ctrlPr>
                            <a:rPr lang="en-US" altLang="zh-CN" sz="1600" i="1" dirty="0">
                              <a:solidFill>
                                <a:schemeClr val="tx1"/>
                              </a:solidFill>
                              <a:latin typeface="Cambria Math" panose="02040503050406030204" pitchFamily="18" charset="0"/>
                              <a:ea typeface="Cambria Math" panose="02040503050406030204" pitchFamily="18" charset="0"/>
                            </a:rPr>
                          </m:ctrlPr>
                        </m:dPr>
                        <m:e>
                          <m:r>
                            <a:rPr lang="en-US" altLang="zh-CN" sz="1600" i="1" dirty="0">
                              <a:solidFill>
                                <a:schemeClr val="tx1"/>
                              </a:solidFill>
                              <a:latin typeface="Cambria Math" panose="02040503050406030204" pitchFamily="18" charset="0"/>
                              <a:ea typeface="Cambria Math" panose="02040503050406030204" pitchFamily="18" charset="0"/>
                            </a:rPr>
                            <m:t>1−</m:t>
                          </m:r>
                          <m:r>
                            <a:rPr lang="en-US" altLang="zh-CN" sz="1600" i="1" dirty="0">
                              <a:solidFill>
                                <a:schemeClr val="tx1"/>
                              </a:solidFill>
                              <a:latin typeface="Cambria Math" panose="02040503050406030204" pitchFamily="18" charset="0"/>
                              <a:ea typeface="Cambria Math" panose="02040503050406030204" pitchFamily="18" charset="0"/>
                            </a:rPr>
                            <m:t>𝑝</m:t>
                          </m:r>
                        </m:e>
                      </m:d>
                      <m:sSub>
                        <m:sSubPr>
                          <m:ctrlPr>
                            <a:rPr lang="en-US" altLang="zh-CN" sz="1600" i="1" dirty="0">
                              <a:solidFill>
                                <a:schemeClr val="tx1"/>
                              </a:solidFill>
                              <a:latin typeface="Cambria Math" panose="02040503050406030204" pitchFamily="18" charset="0"/>
                              <a:ea typeface="Cambria Math" panose="02040503050406030204" pitchFamily="18" charset="0"/>
                            </a:rPr>
                          </m:ctrlPr>
                        </m:sSubPr>
                        <m:e>
                          <m:r>
                            <a:rPr lang="en-US" altLang="zh-CN" sz="1600" i="1" dirty="0">
                              <a:solidFill>
                                <a:schemeClr val="tx1"/>
                              </a:solidFill>
                              <a:latin typeface="Cambria Math" panose="02040503050406030204" pitchFamily="18" charset="0"/>
                              <a:ea typeface="Cambria Math" panose="02040503050406030204" pitchFamily="18" charset="0"/>
                            </a:rPr>
                            <m:t>𝑆</m:t>
                          </m:r>
                        </m:e>
                        <m:sub>
                          <m:r>
                            <a:rPr lang="en-US" altLang="zh-CN" sz="1600" i="1" dirty="0">
                              <a:solidFill>
                                <a:schemeClr val="tx1"/>
                              </a:solidFill>
                              <a:latin typeface="Cambria Math" panose="02040503050406030204" pitchFamily="18" charset="0"/>
                              <a:ea typeface="Cambria Math" panose="02040503050406030204" pitchFamily="18" charset="0"/>
                            </a:rPr>
                            <m:t>0</m:t>
                          </m:r>
                        </m:sub>
                      </m:sSub>
                      <m:r>
                        <a:rPr lang="en-US" altLang="zh-CN" sz="1600" i="1" dirty="0">
                          <a:solidFill>
                            <a:schemeClr val="tx1"/>
                          </a:solidFill>
                          <a:latin typeface="Cambria Math" panose="02040503050406030204" pitchFamily="18" charset="0"/>
                          <a:ea typeface="Cambria Math" panose="02040503050406030204" pitchFamily="18" charset="0"/>
                        </a:rPr>
                        <m:t>𝑑</m:t>
                      </m:r>
                      <m:r>
                        <a:rPr lang="en-US" altLang="zh-CN" sz="1600" i="1" dirty="0">
                          <a:solidFill>
                            <a:schemeClr val="tx1"/>
                          </a:solidFill>
                          <a:latin typeface="Cambria Math" panose="02040503050406030204" pitchFamily="18" charset="0"/>
                          <a:ea typeface="Cambria Math" panose="02040503050406030204" pitchFamily="18" charset="0"/>
                        </a:rPr>
                        <m:t>=</m:t>
                      </m:r>
                      <m:sSub>
                        <m:sSubPr>
                          <m:ctrlPr>
                            <a:rPr lang="en-US" altLang="zh-CN" sz="1600" i="1" dirty="0">
                              <a:solidFill>
                                <a:schemeClr val="tx1"/>
                              </a:solidFill>
                              <a:latin typeface="Cambria Math" panose="02040503050406030204" pitchFamily="18" charset="0"/>
                              <a:ea typeface="Cambria Math" panose="02040503050406030204" pitchFamily="18" charset="0"/>
                            </a:rPr>
                          </m:ctrlPr>
                        </m:sSubPr>
                        <m:e>
                          <m:r>
                            <a:rPr lang="en-US" altLang="zh-CN" sz="1600" i="1" dirty="0">
                              <a:solidFill>
                                <a:schemeClr val="tx1"/>
                              </a:solidFill>
                              <a:latin typeface="Cambria Math" panose="02040503050406030204" pitchFamily="18" charset="0"/>
                              <a:ea typeface="Cambria Math" panose="02040503050406030204" pitchFamily="18" charset="0"/>
                            </a:rPr>
                            <m:t>𝑆</m:t>
                          </m:r>
                        </m:e>
                        <m:sub>
                          <m:r>
                            <a:rPr lang="en-US" altLang="zh-CN" sz="1600" i="1" dirty="0">
                              <a:solidFill>
                                <a:schemeClr val="tx1"/>
                              </a:solidFill>
                              <a:latin typeface="Cambria Math" panose="02040503050406030204" pitchFamily="18" charset="0"/>
                              <a:ea typeface="Cambria Math" panose="02040503050406030204" pitchFamily="18" charset="0"/>
                            </a:rPr>
                            <m:t>0</m:t>
                          </m:r>
                        </m:sub>
                      </m:sSub>
                      <m:sSup>
                        <m:sSupPr>
                          <m:ctrlPr>
                            <a:rPr lang="en-US" altLang="zh-CN" sz="1600" i="1" dirty="0">
                              <a:solidFill>
                                <a:schemeClr val="tx1"/>
                              </a:solidFill>
                              <a:latin typeface="Cambria Math" panose="02040503050406030204" pitchFamily="18" charset="0"/>
                              <a:ea typeface="Cambria Math" panose="02040503050406030204" pitchFamily="18" charset="0"/>
                            </a:rPr>
                          </m:ctrlPr>
                        </m:sSupPr>
                        <m:e>
                          <m:r>
                            <a:rPr lang="en-US" altLang="zh-CN" sz="1600" i="1" dirty="0">
                              <a:solidFill>
                                <a:schemeClr val="tx1"/>
                              </a:solidFill>
                              <a:latin typeface="Cambria Math" panose="02040503050406030204" pitchFamily="18" charset="0"/>
                              <a:ea typeface="Cambria Math" panose="02040503050406030204" pitchFamily="18" charset="0"/>
                            </a:rPr>
                            <m:t>𝑒</m:t>
                          </m:r>
                        </m:e>
                        <m:sup>
                          <m:r>
                            <a:rPr lang="en-US" altLang="zh-CN" sz="1600" i="1" dirty="0">
                              <a:solidFill>
                                <a:schemeClr val="tx1"/>
                              </a:solidFill>
                              <a:latin typeface="Cambria Math" panose="02040503050406030204" pitchFamily="18" charset="0"/>
                              <a:ea typeface="Cambria Math" panose="02040503050406030204" pitchFamily="18" charset="0"/>
                            </a:rPr>
                            <m:t>𝑟𝑇</m:t>
                          </m:r>
                        </m:sup>
                      </m:sSup>
                    </m:oMath>
                  </m:oMathPara>
                </a14:m>
                <a:endParaRPr lang="en-US" altLang="zh-CN" sz="1600" i="1" dirty="0">
                  <a:solidFill>
                    <a:schemeClr val="tx1"/>
                  </a:solidFill>
                  <a:latin typeface="Cambria Math" panose="02040503050406030204" pitchFamily="18" charset="0"/>
                  <a:ea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r>
                        <a:rPr lang="en-US" altLang="zh-CN" sz="1600" i="1" dirty="0">
                          <a:solidFill>
                            <a:schemeClr val="tx1"/>
                          </a:solidFill>
                          <a:latin typeface="Cambria Math" panose="02040503050406030204" pitchFamily="18" charset="0"/>
                          <a:ea typeface="Cambria Math" panose="02040503050406030204" pitchFamily="18" charset="0"/>
                        </a:rPr>
                        <m:t>𝑝</m:t>
                      </m:r>
                      <m:r>
                        <a:rPr lang="en-US" altLang="zh-CN" sz="1600" i="1" dirty="0">
                          <a:solidFill>
                            <a:schemeClr val="tx1"/>
                          </a:solidFill>
                          <a:latin typeface="Cambria Math" panose="02040503050406030204" pitchFamily="18" charset="0"/>
                          <a:ea typeface="Cambria Math" panose="02040503050406030204" pitchFamily="18" charset="0"/>
                        </a:rPr>
                        <m:t>=</m:t>
                      </m:r>
                      <m:f>
                        <m:fPr>
                          <m:ctrlPr>
                            <a:rPr lang="en-US" altLang="zh-CN" sz="1600" i="1" dirty="0">
                              <a:solidFill>
                                <a:schemeClr val="tx1"/>
                              </a:solidFill>
                              <a:latin typeface="Cambria Math" panose="02040503050406030204" pitchFamily="18" charset="0"/>
                              <a:ea typeface="Cambria Math" panose="02040503050406030204" pitchFamily="18" charset="0"/>
                            </a:rPr>
                          </m:ctrlPr>
                        </m:fPr>
                        <m:num>
                          <m:sSup>
                            <m:sSupPr>
                              <m:ctrlPr>
                                <a:rPr lang="en-US" altLang="zh-CN" sz="1600" i="1" dirty="0">
                                  <a:solidFill>
                                    <a:schemeClr val="tx1"/>
                                  </a:solidFill>
                                  <a:latin typeface="Cambria Math" panose="02040503050406030204" pitchFamily="18" charset="0"/>
                                  <a:ea typeface="Cambria Math" panose="02040503050406030204" pitchFamily="18" charset="0"/>
                                </a:rPr>
                              </m:ctrlPr>
                            </m:sSupPr>
                            <m:e>
                              <m:r>
                                <a:rPr lang="en-US" altLang="zh-CN" sz="1600" i="1" dirty="0">
                                  <a:solidFill>
                                    <a:schemeClr val="tx1"/>
                                  </a:solidFill>
                                  <a:latin typeface="Cambria Math" panose="02040503050406030204" pitchFamily="18" charset="0"/>
                                  <a:ea typeface="Cambria Math" panose="02040503050406030204" pitchFamily="18" charset="0"/>
                                </a:rPr>
                                <m:t>𝑒</m:t>
                              </m:r>
                            </m:e>
                            <m:sup>
                              <m:r>
                                <a:rPr lang="en-US" altLang="zh-CN" sz="1600" i="1" dirty="0">
                                  <a:solidFill>
                                    <a:schemeClr val="tx1"/>
                                  </a:solidFill>
                                  <a:latin typeface="Cambria Math" panose="02040503050406030204" pitchFamily="18" charset="0"/>
                                  <a:ea typeface="Cambria Math" panose="02040503050406030204" pitchFamily="18" charset="0"/>
                                </a:rPr>
                                <m:t>𝑟𝑇</m:t>
                              </m:r>
                            </m:sup>
                          </m:sSup>
                          <m:r>
                            <a:rPr lang="en-US" altLang="zh-CN" sz="1600" i="1" dirty="0">
                              <a:solidFill>
                                <a:schemeClr val="tx1"/>
                              </a:solidFill>
                              <a:latin typeface="Cambria Math" panose="02040503050406030204" pitchFamily="18" charset="0"/>
                              <a:ea typeface="Cambria Math" panose="02040503050406030204" pitchFamily="18" charset="0"/>
                            </a:rPr>
                            <m:t>−</m:t>
                          </m:r>
                          <m:r>
                            <a:rPr lang="en-US" altLang="zh-CN" sz="1600" i="1" dirty="0">
                              <a:solidFill>
                                <a:schemeClr val="tx1"/>
                              </a:solidFill>
                              <a:latin typeface="Cambria Math" panose="02040503050406030204" pitchFamily="18" charset="0"/>
                              <a:ea typeface="Cambria Math" panose="02040503050406030204" pitchFamily="18" charset="0"/>
                            </a:rPr>
                            <m:t>𝑑</m:t>
                          </m:r>
                        </m:num>
                        <m:den>
                          <m:r>
                            <a:rPr lang="en-US" altLang="zh-CN" sz="1600" i="1" dirty="0">
                              <a:solidFill>
                                <a:schemeClr val="tx1"/>
                              </a:solidFill>
                              <a:latin typeface="Cambria Math" panose="02040503050406030204" pitchFamily="18" charset="0"/>
                              <a:ea typeface="Cambria Math" panose="02040503050406030204" pitchFamily="18" charset="0"/>
                            </a:rPr>
                            <m:t>𝑢</m:t>
                          </m:r>
                          <m:r>
                            <a:rPr lang="en-US" altLang="zh-CN" sz="1600" i="1" dirty="0">
                              <a:solidFill>
                                <a:schemeClr val="tx1"/>
                              </a:solidFill>
                              <a:latin typeface="Cambria Math" panose="02040503050406030204" pitchFamily="18" charset="0"/>
                              <a:ea typeface="Cambria Math" panose="02040503050406030204" pitchFamily="18" charset="0"/>
                            </a:rPr>
                            <m:t>−</m:t>
                          </m:r>
                          <m:r>
                            <a:rPr lang="en-US" altLang="zh-CN" sz="1600" i="1" dirty="0">
                              <a:solidFill>
                                <a:schemeClr val="tx1"/>
                              </a:solidFill>
                              <a:latin typeface="Cambria Math" panose="02040503050406030204" pitchFamily="18" charset="0"/>
                              <a:ea typeface="Cambria Math" panose="02040503050406030204" pitchFamily="18" charset="0"/>
                            </a:rPr>
                            <m:t>𝑑</m:t>
                          </m:r>
                        </m:den>
                      </m:f>
                      <m:r>
                        <a:rPr lang="en-US" altLang="zh-CN" sz="1600" i="1" dirty="0">
                          <a:solidFill>
                            <a:schemeClr val="tx1"/>
                          </a:solidFill>
                          <a:latin typeface="Cambria Math" panose="02040503050406030204" pitchFamily="18" charset="0"/>
                          <a:ea typeface="Cambria Math" panose="02040503050406030204" pitchFamily="18" charset="0"/>
                        </a:rPr>
                        <m:t>=</m:t>
                      </m:r>
                      <m:r>
                        <a:rPr lang="en-US" altLang="zh-CN" sz="1600" dirty="0">
                          <a:solidFill>
                            <a:schemeClr val="tx1"/>
                          </a:solidFill>
                          <a:latin typeface="Cambria Math" panose="02040503050406030204" pitchFamily="18" charset="0"/>
                          <a:ea typeface="Cambria Math" panose="02040503050406030204" pitchFamily="18" charset="0"/>
                        </a:rPr>
                        <m:t>0.5503</m:t>
                      </m:r>
                    </m:oMath>
                  </m:oMathPara>
                </a14:m>
                <a:endParaRPr lang="en-US" altLang="zh-CN" sz="1600" dirty="0">
                  <a:solidFill>
                    <a:schemeClr val="tx1"/>
                  </a:solidFill>
                </a:endParaRPr>
              </a:p>
              <a:p>
                <a:endParaRPr lang="zh-CN" altLang="en-US" dirty="0">
                  <a:latin typeface="+mn-lt"/>
                  <a:ea typeface="+mn-ea"/>
                  <a:cs typeface="+mn-ea"/>
                  <a:sym typeface="+mn-lt"/>
                </a:endParaRPr>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7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20601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a:bodyPr>
              <a:lstStyle/>
              <a:p>
                <a:r>
                  <a:rPr lang="en-US" altLang="zh-CN" sz="2000" dirty="0"/>
                  <a:t>Solution 2: Risk-Neutral Valuation </a:t>
                </a:r>
                <a:r>
                  <a:rPr lang="zh-CN" altLang="en-US" sz="2000" dirty="0"/>
                  <a:t>风险中性定价法</a:t>
                </a:r>
                <a:endParaRPr lang="en-US" altLang="zh-CN" sz="2000" dirty="0"/>
              </a:p>
              <a:p>
                <a:pPr lvl="1"/>
                <a:endParaRPr lang="en-US" altLang="zh-CN" dirty="0">
                  <a:solidFill>
                    <a:schemeClr val="accent4">
                      <a:lumMod val="75000"/>
                    </a:schemeClr>
                  </a:solidFill>
                </a:endParaRPr>
              </a:p>
              <a:p>
                <a:pPr lvl="1"/>
                <a:r>
                  <a:rPr lang="en-US" altLang="zh-CN" sz="1600" dirty="0">
                    <a:solidFill>
                      <a:schemeClr val="tx1"/>
                    </a:solidFill>
                  </a:rPr>
                  <a:t>The discount rate used for the expected payoff on an option (or any other instrument) is risk-free rate (feature 2), so the option price should be:</a:t>
                </a:r>
                <a:endParaRPr lang="en-US" altLang="zh-CN" sz="1600" i="1" dirty="0">
                  <a:solidFill>
                    <a:schemeClr val="tx1"/>
                  </a:solidFill>
                  <a:latin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r>
                        <a:rPr lang="en-US" altLang="zh-CN" sz="1600" i="1" dirty="0">
                          <a:solidFill>
                            <a:schemeClr val="tx1"/>
                          </a:solidFill>
                          <a:latin typeface="Cambria Math" panose="02040503050406030204" pitchFamily="18" charset="0"/>
                        </a:rPr>
                        <m:t>𝑓</m:t>
                      </m:r>
                      <m:r>
                        <a:rPr lang="en-US" altLang="zh-CN" sz="1600"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ea typeface="Cambria Math" panose="02040503050406030204" pitchFamily="18" charset="0"/>
                            </a:rPr>
                          </m:ctrlPr>
                        </m:sSupPr>
                        <m:e>
                          <m:r>
                            <a:rPr lang="en-US" altLang="zh-CN" sz="1600" i="1" dirty="0">
                              <a:solidFill>
                                <a:schemeClr val="tx1"/>
                              </a:solidFill>
                              <a:latin typeface="Cambria Math" panose="02040503050406030204" pitchFamily="18" charset="0"/>
                              <a:ea typeface="Cambria Math" panose="02040503050406030204" pitchFamily="18" charset="0"/>
                            </a:rPr>
                            <m:t>𝑒</m:t>
                          </m:r>
                        </m:e>
                        <m:sup>
                          <m:r>
                            <a:rPr lang="en-US" altLang="zh-CN" sz="1600" i="1" dirty="0">
                              <a:solidFill>
                                <a:schemeClr val="tx1"/>
                              </a:solidFill>
                              <a:latin typeface="Cambria Math" panose="02040503050406030204" pitchFamily="18" charset="0"/>
                              <a:ea typeface="Cambria Math" panose="02040503050406030204" pitchFamily="18" charset="0"/>
                            </a:rPr>
                            <m:t>−</m:t>
                          </m:r>
                          <m:r>
                            <a:rPr lang="en-US" altLang="zh-CN" sz="1600" i="1" dirty="0">
                              <a:solidFill>
                                <a:schemeClr val="tx1"/>
                              </a:solidFill>
                              <a:latin typeface="Cambria Math" panose="02040503050406030204" pitchFamily="18" charset="0"/>
                              <a:ea typeface="Cambria Math" panose="02040503050406030204" pitchFamily="18" charset="0"/>
                            </a:rPr>
                            <m:t>𝑟𝑇</m:t>
                          </m:r>
                        </m:sup>
                      </m:sSup>
                      <m:d>
                        <m:dPr>
                          <m:begChr m:val="["/>
                          <m:endChr m:val="]"/>
                          <m:ctrlPr>
                            <a:rPr lang="en-US" altLang="zh-CN" sz="1600" i="1" dirty="0">
                              <a:solidFill>
                                <a:schemeClr val="tx1"/>
                              </a:solidFill>
                              <a:latin typeface="Cambria Math" panose="02040503050406030204" pitchFamily="18" charset="0"/>
                              <a:ea typeface="Cambria Math" panose="02040503050406030204" pitchFamily="18" charset="0"/>
                            </a:rPr>
                          </m:ctrlPr>
                        </m:dPr>
                        <m:e>
                          <m:r>
                            <a:rPr lang="en-US" altLang="zh-CN" sz="1600" i="1" dirty="0">
                              <a:solidFill>
                                <a:schemeClr val="tx1"/>
                              </a:solidFill>
                              <a:latin typeface="Cambria Math" panose="02040503050406030204" pitchFamily="18" charset="0"/>
                            </a:rPr>
                            <m:t>𝑝</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𝑓</m:t>
                              </m:r>
                            </m:e>
                            <m:sub>
                              <m:r>
                                <a:rPr lang="en-US" altLang="zh-CN" sz="1600" i="1" dirty="0">
                                  <a:solidFill>
                                    <a:schemeClr val="tx1"/>
                                  </a:solidFill>
                                  <a:latin typeface="Cambria Math" panose="02040503050406030204" pitchFamily="18" charset="0"/>
                                </a:rPr>
                                <m:t>𝑢</m:t>
                              </m:r>
                            </m:sub>
                          </m:sSub>
                          <m:r>
                            <a:rPr lang="en-US" altLang="zh-CN" sz="1600" i="1" dirty="0">
                              <a:solidFill>
                                <a:schemeClr val="tx1"/>
                              </a:solidFill>
                              <a:latin typeface="Cambria Math" panose="02040503050406030204" pitchFamily="18" charset="0"/>
                            </a:rPr>
                            <m:t>+</m:t>
                          </m:r>
                          <m:d>
                            <m:dPr>
                              <m:ctrlPr>
                                <a:rPr lang="en-US" altLang="zh-CN" sz="1600" i="1" dirty="0">
                                  <a:solidFill>
                                    <a:schemeClr val="tx1"/>
                                  </a:solidFill>
                                  <a:latin typeface="Cambria Math" panose="02040503050406030204" pitchFamily="18" charset="0"/>
                                </a:rPr>
                              </m:ctrlPr>
                            </m:dPr>
                            <m:e>
                              <m:r>
                                <a:rPr lang="en-US" altLang="zh-CN" sz="1600" i="1" dirty="0">
                                  <a:solidFill>
                                    <a:schemeClr val="tx1"/>
                                  </a:solidFill>
                                  <a:latin typeface="Cambria Math" panose="02040503050406030204" pitchFamily="18" charset="0"/>
                                </a:rPr>
                                <m:t>1−</m:t>
                              </m:r>
                              <m:r>
                                <a:rPr lang="en-US" altLang="zh-CN" sz="1600" i="1" dirty="0">
                                  <a:solidFill>
                                    <a:schemeClr val="tx1"/>
                                  </a:solidFill>
                                  <a:latin typeface="Cambria Math" panose="02040503050406030204" pitchFamily="18" charset="0"/>
                                </a:rPr>
                                <m:t>𝑝</m:t>
                              </m:r>
                            </m:e>
                          </m:d>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𝑓</m:t>
                              </m:r>
                            </m:e>
                            <m:sub>
                              <m:r>
                                <a:rPr lang="en-US" altLang="zh-CN" sz="1600" i="1" dirty="0">
                                  <a:solidFill>
                                    <a:schemeClr val="tx1"/>
                                  </a:solidFill>
                                  <a:latin typeface="Cambria Math" panose="02040503050406030204" pitchFamily="18" charset="0"/>
                                </a:rPr>
                                <m:t>𝑑</m:t>
                              </m:r>
                            </m:sub>
                          </m:sSub>
                        </m:e>
                      </m:d>
                      <m:r>
                        <a:rPr lang="en-US" altLang="zh-CN" sz="1600" i="1" dirty="0">
                          <a:solidFill>
                            <a:schemeClr val="tx1"/>
                          </a:solidFill>
                          <a:latin typeface="Cambria Math" panose="02040503050406030204" pitchFamily="18" charset="0"/>
                        </a:rPr>
                        <m:t>=0.545</m:t>
                      </m:r>
                    </m:oMath>
                  </m:oMathPara>
                </a14:m>
                <a:endParaRPr lang="en-US" altLang="zh-CN" sz="1600" dirty="0"/>
              </a:p>
              <a:p>
                <a:r>
                  <a:rPr lang="en-US" altLang="zh-CN" sz="2000" dirty="0"/>
                  <a:t>Remarks</a:t>
                </a:r>
                <a:r>
                  <a:rPr lang="zh-CN" altLang="en-US" sz="2000" dirty="0"/>
                  <a:t>：</a:t>
                </a:r>
                <a:endParaRPr lang="en-US" altLang="zh-CN" sz="2000" dirty="0"/>
              </a:p>
              <a:p>
                <a:pPr lvl="1"/>
                <a:r>
                  <a:rPr lang="en-US" altLang="zh-CN" sz="1600" dirty="0">
                    <a:solidFill>
                      <a:schemeClr val="tx1"/>
                    </a:solidFill>
                  </a:rPr>
                  <a:t>If</a:t>
                </a:r>
                <a:r>
                  <a:rPr lang="zh-CN" altLang="en-US" sz="1600" dirty="0">
                    <a:solidFill>
                      <a:schemeClr val="tx1"/>
                    </a:solidFill>
                  </a:rPr>
                  <a:t> </a:t>
                </a:r>
                <a:r>
                  <a:rPr lang="en-US" altLang="zh-CN" sz="1600" dirty="0">
                    <a:solidFill>
                      <a:schemeClr val="tx1"/>
                    </a:solidFill>
                  </a:rPr>
                  <a:t>dividend</a:t>
                </a:r>
                <a:r>
                  <a:rPr lang="zh-CN" altLang="en-US" sz="1600" dirty="0">
                    <a:solidFill>
                      <a:schemeClr val="tx1"/>
                    </a:solidFill>
                  </a:rPr>
                  <a:t> </a:t>
                </a:r>
                <a:r>
                  <a:rPr lang="en-US" altLang="zh-CN" sz="1600" dirty="0">
                    <a:solidFill>
                      <a:schemeClr val="tx1"/>
                    </a:solidFill>
                  </a:rPr>
                  <a:t>yield</a:t>
                </a:r>
                <a14:m>
                  <m:oMath xmlns:m="http://schemas.openxmlformats.org/officeDocument/2006/math">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𝑞</m:t>
                    </m:r>
                  </m:oMath>
                </a14:m>
                <a:endParaRPr lang="en-US" altLang="zh-CN" sz="1600" dirty="0">
                  <a:solidFill>
                    <a:schemeClr val="tx1"/>
                  </a:solidFill>
                </a:endParaRPr>
              </a:p>
              <a:p>
                <a:pPr marL="800100" lvl="1" indent="-342900">
                  <a:buAutoNum type="arabicPeriod"/>
                </a:pPr>
                <a:endParaRPr lang="en-US" altLang="zh-CN" sz="1600" dirty="0">
                  <a:solidFill>
                    <a:schemeClr val="tx1"/>
                  </a:solidFill>
                </a:endParaRPr>
              </a:p>
              <a:p>
                <a:pPr marL="800100" lvl="1" indent="-342900">
                  <a:buAutoNum type="arabicPeriod"/>
                </a:pPr>
                <a:endParaRPr lang="en-US" altLang="zh-CN" sz="1600" dirty="0">
                  <a:solidFill>
                    <a:schemeClr val="tx1"/>
                  </a:solidFill>
                </a:endParaRPr>
              </a:p>
              <a:p>
                <a:pPr lvl="1"/>
                <a:endParaRPr lang="en-US" altLang="zh-CN" sz="1600" dirty="0">
                  <a:solidFill>
                    <a:schemeClr val="tx1"/>
                  </a:solidFill>
                </a:endParaRPr>
              </a:p>
              <a:p>
                <a:pPr lvl="1"/>
                <a:r>
                  <a:rPr lang="en-US" altLang="zh-CN" sz="1600" dirty="0">
                    <a:solidFill>
                      <a:schemeClr val="tx1"/>
                    </a:solidFill>
                  </a:rPr>
                  <a:t>If</a:t>
                </a:r>
                <a:r>
                  <a:rPr lang="zh-CN" altLang="en-US" sz="1600" dirty="0">
                    <a:solidFill>
                      <a:schemeClr val="tx1"/>
                    </a:solidFill>
                  </a:rPr>
                  <a:t> </a:t>
                </a:r>
                <a:r>
                  <a:rPr lang="en-US" altLang="zh-CN" sz="1600" dirty="0">
                    <a:solidFill>
                      <a:schemeClr val="tx1"/>
                    </a:solidFill>
                  </a:rPr>
                  <a:t>time</a:t>
                </a:r>
                <a:r>
                  <a:rPr lang="zh-CN" altLang="en-US" sz="1600" dirty="0">
                    <a:solidFill>
                      <a:schemeClr val="tx1"/>
                    </a:solidFill>
                  </a:rPr>
                  <a:t> </a:t>
                </a:r>
                <a:r>
                  <a:rPr lang="en-US" altLang="zh-CN" sz="1600" dirty="0">
                    <a:solidFill>
                      <a:schemeClr val="tx1"/>
                    </a:solidFill>
                  </a:rPr>
                  <a:t>interval </a:t>
                </a:r>
                <a14:m>
                  <m:oMath xmlns:m="http://schemas.openxmlformats.org/officeDocument/2006/math">
                    <m:r>
                      <a:rPr lang="en-US" altLang="zh-CN" sz="1600" i="1">
                        <a:solidFill>
                          <a:schemeClr val="tx1"/>
                        </a:solidFill>
                        <a:latin typeface="Cambria Math" panose="02040503050406030204" pitchFamily="18" charset="0"/>
                        <a:ea typeface="Cambria Math" panose="02040503050406030204" pitchFamily="18" charset="0"/>
                      </a:rPr>
                      <m:t>∆</m:t>
                    </m:r>
                    <m:r>
                      <a:rPr lang="en-US" altLang="zh-CN" sz="1600" i="1">
                        <a:solidFill>
                          <a:schemeClr val="tx1"/>
                        </a:solidFill>
                        <a:latin typeface="Cambria Math" panose="02040503050406030204" pitchFamily="18" charset="0"/>
                        <a:ea typeface="Cambria Math" panose="02040503050406030204" pitchFamily="18" charset="0"/>
                      </a:rPr>
                      <m:t>𝑡</m:t>
                    </m:r>
                  </m:oMath>
                </a14:m>
                <a:r>
                  <a:rPr lang="zh-CN" altLang="en-US" sz="1600" dirty="0">
                    <a:solidFill>
                      <a:schemeClr val="tx1"/>
                    </a:solidFill>
                  </a:rPr>
                  <a:t> </a:t>
                </a:r>
                <a:r>
                  <a:rPr lang="en-US" altLang="zh-CN" sz="1600" dirty="0">
                    <a:solidFill>
                      <a:schemeClr val="tx1"/>
                    </a:solidFill>
                  </a:rPr>
                  <a:t>is</a:t>
                </a:r>
                <a:r>
                  <a:rPr lang="zh-CN" altLang="en-US" sz="1600" dirty="0">
                    <a:solidFill>
                      <a:schemeClr val="tx1"/>
                    </a:solidFill>
                  </a:rPr>
                  <a:t> </a:t>
                </a:r>
                <a:r>
                  <a:rPr lang="en-US" altLang="zh-CN" sz="1600" dirty="0">
                    <a:solidFill>
                      <a:schemeClr val="tx1"/>
                    </a:solidFill>
                  </a:rPr>
                  <a:t>small (matching volatility)</a:t>
                </a:r>
              </a:p>
              <a:p>
                <a:endParaRPr lang="zh-CN" altLang="en-US" dirty="0">
                  <a:latin typeface="+mn-lt"/>
                  <a:ea typeface="+mn-ea"/>
                  <a:cs typeface="+mn-ea"/>
                  <a:sym typeface="+mn-lt"/>
                </a:endParaRPr>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4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683A3AA-62CE-4D1B-B58B-E6760FAD7993}"/>
                  </a:ext>
                </a:extLst>
              </p:cNvPr>
              <p:cNvSpPr txBox="1"/>
              <p:nvPr/>
            </p:nvSpPr>
            <p:spPr>
              <a:xfrm>
                <a:off x="5254454" y="3853100"/>
                <a:ext cx="1683089" cy="6038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𝑝</m:t>
                      </m:r>
                      <m:r>
                        <a:rPr lang="zh-CN" altLang="en-US" sz="1600">
                          <a:latin typeface="Cambria Math" panose="02040503050406030204" pitchFamily="18" charset="0"/>
                        </a:rPr>
                        <m:t>=</m:t>
                      </m:r>
                      <m:f>
                        <m:fPr>
                          <m:ctrlPr>
                            <a:rPr lang="zh-CN" altLang="en-US" sz="1600" i="1">
                              <a:latin typeface="Cambria Math" panose="02040503050406030204" pitchFamily="18" charset="0"/>
                            </a:rPr>
                          </m:ctrlPr>
                        </m:fPr>
                        <m:num>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𝑒</m:t>
                              </m:r>
                            </m:e>
                            <m:sup>
                              <m:d>
                                <m:dPr>
                                  <m:ctrlPr>
                                    <a:rPr lang="zh-CN" altLang="en-US" sz="1600" i="1">
                                      <a:latin typeface="Cambria Math" panose="02040503050406030204" pitchFamily="18" charset="0"/>
                                    </a:rPr>
                                  </m:ctrlPr>
                                </m:dPr>
                                <m:e>
                                  <m:r>
                                    <a:rPr lang="zh-CN" altLang="en-US" sz="1600" i="1">
                                      <a:latin typeface="Cambria Math" panose="02040503050406030204" pitchFamily="18" charset="0"/>
                                    </a:rPr>
                                    <m:t>𝑟</m:t>
                                  </m:r>
                                  <m:r>
                                    <a:rPr lang="zh-CN" altLang="en-US" sz="1600">
                                      <a:latin typeface="Cambria Math" panose="02040503050406030204" pitchFamily="18" charset="0"/>
                                    </a:rPr>
                                    <m:t>−</m:t>
                                  </m:r>
                                  <m:r>
                                    <a:rPr lang="zh-CN" altLang="en-US" sz="1600" i="1">
                                      <a:latin typeface="Cambria Math" panose="02040503050406030204" pitchFamily="18" charset="0"/>
                                    </a:rPr>
                                    <m:t>𝑞</m:t>
                                  </m:r>
                                </m:e>
                              </m:d>
                              <m:r>
                                <a:rPr lang="zh-CN" altLang="en-US" sz="1600" i="1">
                                  <a:latin typeface="Cambria Math" panose="02040503050406030204" pitchFamily="18" charset="0"/>
                                </a:rPr>
                                <m:t>𝛥</m:t>
                              </m:r>
                              <m:r>
                                <a:rPr lang="zh-CN" altLang="en-US" sz="1600" i="1">
                                  <a:latin typeface="Cambria Math" panose="02040503050406030204" pitchFamily="18" charset="0"/>
                                </a:rPr>
                                <m:t>𝑡</m:t>
                              </m:r>
                            </m:sup>
                          </m:sSup>
                          <m:r>
                            <a:rPr lang="zh-CN" altLang="en-US" sz="1600">
                              <a:latin typeface="Cambria Math" panose="02040503050406030204" pitchFamily="18" charset="0"/>
                            </a:rPr>
                            <m:t>−</m:t>
                          </m:r>
                          <m:r>
                            <a:rPr lang="zh-CN" altLang="en-US" sz="1600" i="1">
                              <a:latin typeface="Cambria Math" panose="02040503050406030204" pitchFamily="18" charset="0"/>
                            </a:rPr>
                            <m:t>𝑑</m:t>
                          </m:r>
                        </m:num>
                        <m:den>
                          <m:r>
                            <a:rPr lang="zh-CN" altLang="en-US" sz="1600" i="1">
                              <a:latin typeface="Cambria Math" panose="02040503050406030204" pitchFamily="18" charset="0"/>
                            </a:rPr>
                            <m:t>𝑢</m:t>
                          </m:r>
                          <m:r>
                            <a:rPr lang="zh-CN" altLang="en-US" sz="1600">
                              <a:latin typeface="Cambria Math" panose="02040503050406030204" pitchFamily="18" charset="0"/>
                            </a:rPr>
                            <m:t>−</m:t>
                          </m:r>
                          <m:r>
                            <a:rPr lang="zh-CN" altLang="en-US" sz="1600" i="1">
                              <a:latin typeface="Cambria Math" panose="02040503050406030204" pitchFamily="18" charset="0"/>
                            </a:rPr>
                            <m:t>𝑑</m:t>
                          </m:r>
                        </m:den>
                      </m:f>
                    </m:oMath>
                  </m:oMathPara>
                </a14:m>
                <a:endParaRPr lang="zh-CN" altLang="en-US" sz="1600" dirty="0"/>
              </a:p>
            </p:txBody>
          </p:sp>
        </mc:Choice>
        <mc:Fallback xmlns="">
          <p:sp>
            <p:nvSpPr>
              <p:cNvPr id="4" name="文本框 3">
                <a:extLst>
                  <a:ext uri="{FF2B5EF4-FFF2-40B4-BE49-F238E27FC236}">
                    <a16:creationId xmlns:a16="http://schemas.microsoft.com/office/drawing/2014/main" id="{A683A3AA-62CE-4D1B-B58B-E6760FAD7993}"/>
                  </a:ext>
                </a:extLst>
              </p:cNvPr>
              <p:cNvSpPr txBox="1">
                <a:spLocks noRot="1" noChangeAspect="1" noMove="1" noResize="1" noEditPoints="1" noAdjustHandles="1" noChangeArrowheads="1" noChangeShapeType="1" noTextEdit="1"/>
              </p:cNvSpPr>
              <p:nvPr/>
            </p:nvSpPr>
            <p:spPr>
              <a:xfrm>
                <a:off x="5254454" y="3853100"/>
                <a:ext cx="1683089" cy="60382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DEB5B68-88B4-40BD-B5C6-BF0BAB05AF1C}"/>
                  </a:ext>
                </a:extLst>
              </p:cNvPr>
              <p:cNvSpPr/>
              <p:nvPr/>
            </p:nvSpPr>
            <p:spPr>
              <a:xfrm>
                <a:off x="5002622" y="5464762"/>
                <a:ext cx="2186752" cy="3820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𝑢</m:t>
                      </m:r>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𝑒</m:t>
                          </m:r>
                        </m:e>
                        <m:sup>
                          <m:r>
                            <a:rPr lang="zh-CN" altLang="en-US" sz="1600" i="1">
                              <a:latin typeface="Cambria Math" panose="02040503050406030204" pitchFamily="18" charset="0"/>
                            </a:rPr>
                            <m:t>𝜎</m:t>
                          </m:r>
                          <m:rad>
                            <m:radPr>
                              <m:degHide m:val="on"/>
                              <m:ctrlPr>
                                <a:rPr lang="zh-CN" altLang="en-US" sz="1600" i="1">
                                  <a:latin typeface="Cambria Math" panose="02040503050406030204" pitchFamily="18" charset="0"/>
                                </a:rPr>
                              </m:ctrlPr>
                            </m:radPr>
                            <m:deg/>
                            <m:e>
                              <m:r>
                                <a:rPr lang="zh-CN" altLang="en-US" sz="1600" i="1">
                                  <a:latin typeface="Cambria Math" panose="02040503050406030204" pitchFamily="18" charset="0"/>
                                </a:rPr>
                                <m:t>𝛥</m:t>
                              </m:r>
                              <m:r>
                                <a:rPr lang="zh-CN" altLang="en-US" sz="1600" i="1">
                                  <a:latin typeface="Cambria Math" panose="02040503050406030204" pitchFamily="18" charset="0"/>
                                </a:rPr>
                                <m:t>𝑡</m:t>
                              </m:r>
                            </m:e>
                          </m:rad>
                        </m:sup>
                      </m:sSup>
                      <m:r>
                        <a:rPr lang="zh-CN" altLang="en-US" sz="1600" i="0">
                          <a:latin typeface="Cambria Math" panose="02040503050406030204" pitchFamily="18" charset="0"/>
                        </a:rPr>
                        <m:t>;</m:t>
                      </m:r>
                      <m:r>
                        <a:rPr lang="zh-CN" altLang="en-US" sz="1600" i="1">
                          <a:latin typeface="Cambria Math" panose="02040503050406030204" pitchFamily="18" charset="0"/>
                        </a:rPr>
                        <m:t>𝑑</m:t>
                      </m:r>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𝑒</m:t>
                          </m:r>
                        </m:e>
                        <m:sup>
                          <m:r>
                            <a:rPr lang="zh-CN" altLang="en-US" sz="1600" i="0">
                              <a:latin typeface="Cambria Math" panose="02040503050406030204" pitchFamily="18" charset="0"/>
                            </a:rPr>
                            <m:t>−</m:t>
                          </m:r>
                          <m:r>
                            <a:rPr lang="zh-CN" altLang="en-US" sz="1600" i="1">
                              <a:latin typeface="Cambria Math" panose="02040503050406030204" pitchFamily="18" charset="0"/>
                            </a:rPr>
                            <m:t>𝜎</m:t>
                          </m:r>
                          <m:rad>
                            <m:radPr>
                              <m:degHide m:val="on"/>
                              <m:ctrlPr>
                                <a:rPr lang="zh-CN" altLang="en-US" sz="1600" i="1">
                                  <a:latin typeface="Cambria Math" panose="02040503050406030204" pitchFamily="18" charset="0"/>
                                </a:rPr>
                              </m:ctrlPr>
                            </m:radPr>
                            <m:deg/>
                            <m:e>
                              <m:r>
                                <a:rPr lang="zh-CN" altLang="en-US" sz="1600" i="1">
                                  <a:latin typeface="Cambria Math" panose="02040503050406030204" pitchFamily="18" charset="0"/>
                                </a:rPr>
                                <m:t>𝛥</m:t>
                              </m:r>
                              <m:r>
                                <a:rPr lang="zh-CN" altLang="en-US" sz="1600" i="1">
                                  <a:latin typeface="Cambria Math" panose="02040503050406030204" pitchFamily="18" charset="0"/>
                                </a:rPr>
                                <m:t>𝑡</m:t>
                              </m:r>
                            </m:e>
                          </m:rad>
                        </m:sup>
                      </m:sSup>
                    </m:oMath>
                  </m:oMathPara>
                </a14:m>
                <a:endParaRPr lang="zh-CN" altLang="en-US" sz="1600" dirty="0"/>
              </a:p>
            </p:txBody>
          </p:sp>
        </mc:Choice>
        <mc:Fallback xmlns="">
          <p:sp>
            <p:nvSpPr>
              <p:cNvPr id="5" name="矩形 4">
                <a:extLst>
                  <a:ext uri="{FF2B5EF4-FFF2-40B4-BE49-F238E27FC236}">
                    <a16:creationId xmlns:a16="http://schemas.microsoft.com/office/drawing/2014/main" id="{1DEB5B68-88B4-40BD-B5C6-BF0BAB05AF1C}"/>
                  </a:ext>
                </a:extLst>
              </p:cNvPr>
              <p:cNvSpPr>
                <a:spLocks noRot="1" noChangeAspect="1" noMove="1" noResize="1" noEditPoints="1" noAdjustHandles="1" noChangeArrowheads="1" noChangeShapeType="1" noTextEdit="1"/>
              </p:cNvSpPr>
              <p:nvPr/>
            </p:nvSpPr>
            <p:spPr>
              <a:xfrm>
                <a:off x="5002622" y="5464762"/>
                <a:ext cx="2186752" cy="382028"/>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38803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sz="2000" dirty="0"/>
              <a:t>Summary</a:t>
            </a:r>
          </a:p>
          <a:p>
            <a:pPr lvl="1"/>
            <a:r>
              <a:rPr lang="en-US" altLang="zh-CN" sz="2000" b="1" dirty="0">
                <a:solidFill>
                  <a:schemeClr val="accent6"/>
                </a:solidFill>
              </a:rPr>
              <a:t>No-Arbitrage Valuation</a:t>
            </a:r>
          </a:p>
          <a:p>
            <a:endParaRPr lang="zh-CN" altLang="en-US" dirty="0">
              <a:latin typeface="+mn-lt"/>
              <a:ea typeface="+mn-ea"/>
              <a:cs typeface="+mn-ea"/>
              <a:sym typeface="+mn-lt"/>
            </a:endParaRPr>
          </a:p>
        </p:txBody>
      </p:sp>
      <p:grpSp>
        <p:nvGrpSpPr>
          <p:cNvPr id="4" name="组合 15">
            <a:extLst>
              <a:ext uri="{FF2B5EF4-FFF2-40B4-BE49-F238E27FC236}">
                <a16:creationId xmlns:a16="http://schemas.microsoft.com/office/drawing/2014/main" id="{AA07F320-66C1-4863-B934-89B21577AC2A}"/>
              </a:ext>
            </a:extLst>
          </p:cNvPr>
          <p:cNvGrpSpPr>
            <a:grpSpLocks/>
          </p:cNvGrpSpPr>
          <p:nvPr/>
        </p:nvGrpSpPr>
        <p:grpSpPr bwMode="auto">
          <a:xfrm>
            <a:off x="3103497" y="2471352"/>
            <a:ext cx="5985005" cy="1915295"/>
            <a:chOff x="250514" y="7640"/>
            <a:chExt cx="6878906" cy="2440661"/>
          </a:xfrm>
        </p:grpSpPr>
        <mc:AlternateContent xmlns:mc="http://schemas.openxmlformats.org/markup-compatibility/2006" xmlns:a14="http://schemas.microsoft.com/office/drawing/2010/main">
          <mc:Choice Requires="a14">
            <p:sp>
              <p:nvSpPr>
                <p:cNvPr id="5" name="文本框 16">
                  <a:extLst>
                    <a:ext uri="{FF2B5EF4-FFF2-40B4-BE49-F238E27FC236}">
                      <a16:creationId xmlns:a16="http://schemas.microsoft.com/office/drawing/2014/main" id="{732DD93F-EAEA-4F82-A33E-777E428E86E8}"/>
                    </a:ext>
                  </a:extLst>
                </p:cNvPr>
                <p:cNvSpPr txBox="1">
                  <a:spLocks noChangeArrowheads="1"/>
                </p:cNvSpPr>
                <p:nvPr/>
              </p:nvSpPr>
              <p:spPr bwMode="auto">
                <a:xfrm>
                  <a:off x="250514" y="744701"/>
                  <a:ext cx="1981930" cy="8003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None/>
                  </a:pPr>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Stock Price = </a:t>
                  </a:r>
                  <a14:m>
                    <m:oMath xmlns:m="http://schemas.openxmlformats.org/officeDocument/2006/math">
                      <m:r>
                        <a:rPr lang="en-US" altLang="zh-CN" sz="1600" b="0" i="1" dirty="0" smtClean="0">
                          <a:solidFill>
                            <a:srgbClr val="2C3E50"/>
                          </a:solidFill>
                          <a:latin typeface="Cambria Math" panose="02040503050406030204" pitchFamily="18" charset="0"/>
                          <a:ea typeface="Segoe UI" panose="020B0502040204020203" pitchFamily="34" charset="0"/>
                          <a:cs typeface="Segoe UI" panose="020B0502040204020203" pitchFamily="34" charset="0"/>
                        </a:rPr>
                        <m:t>𝑆</m:t>
                      </m:r>
                      <m:r>
                        <a:rPr lang="en-US" altLang="zh-CN" sz="1600" b="0" i="1" baseline="-25000" dirty="0">
                          <a:solidFill>
                            <a:srgbClr val="2C3E50"/>
                          </a:solidFill>
                          <a:latin typeface="Cambria Math" panose="02040503050406030204" pitchFamily="18" charset="0"/>
                          <a:ea typeface="Segoe UI" panose="020B0502040204020203" pitchFamily="34" charset="0"/>
                          <a:cs typeface="Segoe UI" panose="020B0502040204020203" pitchFamily="34" charset="0"/>
                        </a:rPr>
                        <m:t>0</m:t>
                      </m:r>
                    </m:oMath>
                  </a14:m>
                  <a:endParaRPr lang="en-US" altLang="zh-CN" sz="16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endParaRPr>
                </a:p>
                <a:p>
                  <a:pPr algn="ctr">
                    <a:lnSpc>
                      <a:spcPct val="120000"/>
                    </a:lnSpc>
                    <a:spcBef>
                      <a:spcPts val="0"/>
                    </a:spcBef>
                    <a:buClr>
                      <a:srgbClr val="800000"/>
                    </a:buClr>
                    <a:buSzPct val="80000"/>
                    <a:buFont typeface="Wingdings" panose="05000000000000000000" pitchFamily="2" charset="2"/>
                    <a:buNone/>
                  </a:pPr>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Option Price </a:t>
                  </a:r>
                  <a14:m>
                    <m:oMath xmlns:m="http://schemas.openxmlformats.org/officeDocument/2006/math">
                      <m:r>
                        <a:rPr lang="en-US" altLang="zh-CN" sz="1600" b="0" i="1" dirty="0" smtClean="0">
                          <a:solidFill>
                            <a:srgbClr val="2C3E50"/>
                          </a:solidFill>
                          <a:latin typeface="Cambria Math" panose="02040503050406030204" pitchFamily="18" charset="0"/>
                          <a:ea typeface="Segoe UI" panose="020B0502040204020203" pitchFamily="34" charset="0"/>
                          <a:cs typeface="Segoe UI" panose="020B0502040204020203" pitchFamily="34" charset="0"/>
                        </a:rPr>
                        <m:t>𝑓</m:t>
                      </m:r>
                    </m:oMath>
                  </a14:m>
                  <a:endParaRPr lang="zh-CN" altLang="en-US" sz="1600" b="0" dirty="0">
                    <a:solidFill>
                      <a:srgbClr val="2C3E50"/>
                    </a:solidFill>
                    <a:latin typeface="Segoe UI" panose="020B0502040204020203" pitchFamily="34" charset="0"/>
                    <a:cs typeface="Segoe UI" panose="020B0502040204020203" pitchFamily="34" charset="0"/>
                  </a:endParaRPr>
                </a:p>
              </p:txBody>
            </p:sp>
          </mc:Choice>
          <mc:Fallback xmlns="">
            <p:sp>
              <p:nvSpPr>
                <p:cNvPr id="5" name="文本框 16">
                  <a:extLst>
                    <a:ext uri="{FF2B5EF4-FFF2-40B4-BE49-F238E27FC236}">
                      <a16:creationId xmlns:a16="http://schemas.microsoft.com/office/drawing/2014/main" id="{6E4166CF-441C-4C36-9D50-F35FEF692519}"/>
                    </a:ext>
                  </a:extLst>
                </p:cNvPr>
                <p:cNvSpPr txBox="1">
                  <a:spLocks noRot="1" noChangeAspect="1" noMove="1" noResize="1" noEditPoints="1" noAdjustHandles="1" noChangeArrowheads="1" noChangeShapeType="1" noTextEdit="1"/>
                </p:cNvSpPr>
                <p:nvPr/>
              </p:nvSpPr>
              <p:spPr bwMode="auto">
                <a:xfrm>
                  <a:off x="250514" y="744701"/>
                  <a:ext cx="1981930" cy="800395"/>
                </a:xfrm>
                <a:prstGeom prst="rect">
                  <a:avLst/>
                </a:prstGeom>
                <a:blipFill>
                  <a:blip r:embed="rId3"/>
                  <a:stretch>
                    <a:fillRect l="-6173" t="-14815" r="-412" b="-3209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 name="椭圆 17">
              <a:extLst>
                <a:ext uri="{FF2B5EF4-FFF2-40B4-BE49-F238E27FC236}">
                  <a16:creationId xmlns:a16="http://schemas.microsoft.com/office/drawing/2014/main" id="{5DB59128-0CF1-4D7A-ACC7-A6747D81C2B1}"/>
                </a:ext>
              </a:extLst>
            </p:cNvPr>
            <p:cNvSpPr>
              <a:spLocks noChangeArrowheads="1"/>
            </p:cNvSpPr>
            <p:nvPr/>
          </p:nvSpPr>
          <p:spPr bwMode="auto">
            <a:xfrm>
              <a:off x="2376695" y="1055919"/>
              <a:ext cx="180016" cy="180040"/>
            </a:xfrm>
            <a:prstGeom prst="ellipse">
              <a:avLst/>
            </a:prstGeom>
            <a:solidFill>
              <a:srgbClr val="2C3E50"/>
            </a:solidFill>
            <a:ln w="25400">
              <a:solidFill>
                <a:srgbClr val="2C3E50"/>
              </a:solidFill>
              <a:round/>
              <a:headEnd/>
              <a:tailEnd/>
            </a:ln>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7" name="椭圆 18">
              <a:extLst>
                <a:ext uri="{FF2B5EF4-FFF2-40B4-BE49-F238E27FC236}">
                  <a16:creationId xmlns:a16="http://schemas.microsoft.com/office/drawing/2014/main" id="{8F35A59D-2FC4-409B-9E2F-46CD76A1DEE3}"/>
                </a:ext>
              </a:extLst>
            </p:cNvPr>
            <p:cNvSpPr>
              <a:spLocks noChangeArrowheads="1"/>
            </p:cNvSpPr>
            <p:nvPr/>
          </p:nvSpPr>
          <p:spPr bwMode="auto">
            <a:xfrm>
              <a:off x="4535886" y="337094"/>
              <a:ext cx="180016" cy="180040"/>
            </a:xfrm>
            <a:prstGeom prst="ellipse">
              <a:avLst/>
            </a:prstGeom>
            <a:solidFill>
              <a:srgbClr val="2C3E50"/>
            </a:solidFill>
            <a:ln w="25400">
              <a:solidFill>
                <a:srgbClr val="2C3E50"/>
              </a:solidFill>
              <a:round/>
              <a:headEnd/>
              <a:tailEnd/>
            </a:ln>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8" name="椭圆 19">
              <a:extLst>
                <a:ext uri="{FF2B5EF4-FFF2-40B4-BE49-F238E27FC236}">
                  <a16:creationId xmlns:a16="http://schemas.microsoft.com/office/drawing/2014/main" id="{27404BC0-1720-49B2-ABFB-AFD84FD49BF9}"/>
                </a:ext>
              </a:extLst>
            </p:cNvPr>
            <p:cNvSpPr>
              <a:spLocks noChangeArrowheads="1"/>
            </p:cNvSpPr>
            <p:nvPr/>
          </p:nvSpPr>
          <p:spPr bwMode="auto">
            <a:xfrm>
              <a:off x="4535886" y="1777571"/>
              <a:ext cx="180016" cy="180040"/>
            </a:xfrm>
            <a:prstGeom prst="ellipse">
              <a:avLst/>
            </a:prstGeom>
            <a:solidFill>
              <a:srgbClr val="2C3E50"/>
            </a:solidFill>
            <a:ln w="25400">
              <a:solidFill>
                <a:srgbClr val="2C3E50"/>
              </a:solidFill>
              <a:round/>
              <a:headEnd/>
              <a:tailEnd/>
            </a:ln>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cxnSp>
          <p:nvCxnSpPr>
            <p:cNvPr id="9" name="直接箭头连接符 20">
              <a:extLst>
                <a:ext uri="{FF2B5EF4-FFF2-40B4-BE49-F238E27FC236}">
                  <a16:creationId xmlns:a16="http://schemas.microsoft.com/office/drawing/2014/main" id="{932C8F1E-302E-468B-A025-665A63EBB58D}"/>
                </a:ext>
              </a:extLst>
            </p:cNvPr>
            <p:cNvCxnSpPr>
              <a:cxnSpLocks noChangeShapeType="1"/>
            </p:cNvCxnSpPr>
            <p:nvPr/>
          </p:nvCxnSpPr>
          <p:spPr bwMode="auto">
            <a:xfrm flipV="1">
              <a:off x="2551336" y="439735"/>
              <a:ext cx="1980174" cy="720159"/>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p:cxnSp>
          <p:nvCxnSpPr>
            <p:cNvPr id="10" name="直接箭头连接符 21">
              <a:extLst>
                <a:ext uri="{FF2B5EF4-FFF2-40B4-BE49-F238E27FC236}">
                  <a16:creationId xmlns:a16="http://schemas.microsoft.com/office/drawing/2014/main" id="{A329F21B-92ED-4B50-82DF-E4CAA3014644}"/>
                </a:ext>
              </a:extLst>
            </p:cNvPr>
            <p:cNvCxnSpPr>
              <a:cxnSpLocks noChangeShapeType="1"/>
            </p:cNvCxnSpPr>
            <p:nvPr/>
          </p:nvCxnSpPr>
          <p:spPr bwMode="auto">
            <a:xfrm>
              <a:off x="2551336" y="1160053"/>
              <a:ext cx="1980174" cy="720159"/>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mc:AlternateContent xmlns:mc="http://schemas.openxmlformats.org/markup-compatibility/2006" xmlns:a14="http://schemas.microsoft.com/office/drawing/2010/main">
          <mc:Choice Requires="a14">
            <p:sp>
              <p:nvSpPr>
                <p:cNvPr id="11" name="文本框 22">
                  <a:extLst>
                    <a:ext uri="{FF2B5EF4-FFF2-40B4-BE49-F238E27FC236}">
                      <a16:creationId xmlns:a16="http://schemas.microsoft.com/office/drawing/2014/main" id="{142D9D42-EF9B-4CA7-A81D-88D2B275702E}"/>
                    </a:ext>
                  </a:extLst>
                </p:cNvPr>
                <p:cNvSpPr txBox="1">
                  <a:spLocks noChangeArrowheads="1"/>
                </p:cNvSpPr>
                <p:nvPr/>
              </p:nvSpPr>
              <p:spPr bwMode="auto">
                <a:xfrm>
                  <a:off x="4789213" y="7640"/>
                  <a:ext cx="2340206" cy="79217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600" b="0" i="1" dirty="0" smtClean="0">
                            <a:solidFill>
                              <a:srgbClr val="2C3E50"/>
                            </a:solidFill>
                            <a:latin typeface="Cambria Math" panose="02040503050406030204" pitchFamily="18" charset="0"/>
                            <a:ea typeface="Segoe UI" panose="020B0502040204020203" pitchFamily="34" charset="0"/>
                            <a:cs typeface="Segoe UI" panose="020B0502040204020203" pitchFamily="34" charset="0"/>
                          </a:rPr>
                          <m:t>𝑆</m:t>
                        </m:r>
                        <m:r>
                          <a:rPr lang="en-US" altLang="zh-CN" sz="1600" b="0" i="1" baseline="-25000" dirty="0">
                            <a:solidFill>
                              <a:srgbClr val="2C3E50"/>
                            </a:solidFill>
                            <a:latin typeface="Cambria Math" panose="02040503050406030204" pitchFamily="18" charset="0"/>
                            <a:ea typeface="Segoe UI" panose="020B0502040204020203" pitchFamily="34" charset="0"/>
                            <a:cs typeface="Segoe UI" panose="020B0502040204020203" pitchFamily="34" charset="0"/>
                          </a:rPr>
                          <m:t>0</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𝑢</m:t>
                        </m:r>
                      </m:oMath>
                    </m:oMathPara>
                  </a14:m>
                  <a:endPar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endParaRPr>
                </a:p>
                <a:p>
                  <a:pPr algn="ctr">
                    <a:lnSpc>
                      <a:spcPct val="120000"/>
                    </a:lnSpc>
                    <a:spcBef>
                      <a:spcPts val="0"/>
                    </a:spcBef>
                    <a:buClr>
                      <a:srgbClr val="800000"/>
                    </a:buClr>
                    <a:buSzPct val="80000"/>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600" b="0" i="1" dirty="0" smtClean="0">
                            <a:solidFill>
                              <a:srgbClr val="2C3E50"/>
                            </a:solidFill>
                            <a:latin typeface="Cambria Math" panose="02040503050406030204" pitchFamily="18" charset="0"/>
                            <a:ea typeface="Segoe UI" panose="020B0502040204020203" pitchFamily="34" charset="0"/>
                            <a:cs typeface="Segoe UI" panose="020B0502040204020203" pitchFamily="34" charset="0"/>
                          </a:rPr>
                          <m:t>𝑓</m:t>
                        </m:r>
                        <m:r>
                          <a:rPr lang="en-US" altLang="zh-CN" sz="1600" b="0" i="1" baseline="-25000" dirty="0" err="1">
                            <a:solidFill>
                              <a:srgbClr val="2C3E50"/>
                            </a:solidFill>
                            <a:latin typeface="Cambria Math" panose="02040503050406030204" pitchFamily="18" charset="0"/>
                            <a:ea typeface="Segoe UI" panose="020B0502040204020203" pitchFamily="34" charset="0"/>
                            <a:cs typeface="Segoe UI" panose="020B0502040204020203" pitchFamily="34" charset="0"/>
                          </a:rPr>
                          <m:t>𝑢</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 = </m:t>
                        </m:r>
                        <m:r>
                          <m:rPr>
                            <m:sty m:val="p"/>
                          </m:rP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max</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𝑆</m:t>
                        </m:r>
                        <m:r>
                          <a:rPr lang="en-US" altLang="zh-CN" sz="1600" b="0" i="1" baseline="-25000" dirty="0">
                            <a:solidFill>
                              <a:srgbClr val="2C3E50"/>
                            </a:solidFill>
                            <a:latin typeface="Cambria Math" panose="02040503050406030204" pitchFamily="18" charset="0"/>
                            <a:ea typeface="Segoe UI" panose="020B0502040204020203" pitchFamily="34" charset="0"/>
                            <a:cs typeface="Segoe UI" panose="020B0502040204020203" pitchFamily="34" charset="0"/>
                          </a:rPr>
                          <m:t>0</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𝑢</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 – </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𝐾</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 0)</m:t>
                        </m:r>
                      </m:oMath>
                    </m:oMathPara>
                  </a14:m>
                  <a:endParaRPr lang="zh-CN" altLang="en-US" sz="1600" b="0" dirty="0">
                    <a:solidFill>
                      <a:srgbClr val="2C3E50"/>
                    </a:solidFill>
                    <a:latin typeface="Segoe UI" panose="020B0502040204020203" pitchFamily="34" charset="0"/>
                    <a:cs typeface="Segoe UI" panose="020B0502040204020203" pitchFamily="34" charset="0"/>
                  </a:endParaRPr>
                </a:p>
              </p:txBody>
            </p:sp>
          </mc:Choice>
          <mc:Fallback xmlns="">
            <p:sp>
              <p:nvSpPr>
                <p:cNvPr id="11" name="文本框 22">
                  <a:extLst>
                    <a:ext uri="{FF2B5EF4-FFF2-40B4-BE49-F238E27FC236}">
                      <a16:creationId xmlns:a16="http://schemas.microsoft.com/office/drawing/2014/main" id="{14342AEC-1EFA-4997-A93F-78E6048D5F96}"/>
                    </a:ext>
                  </a:extLst>
                </p:cNvPr>
                <p:cNvSpPr txBox="1">
                  <a:spLocks noRot="1" noChangeAspect="1" noMove="1" noResize="1" noEditPoints="1" noAdjustHandles="1" noChangeArrowheads="1" noChangeShapeType="1" noTextEdit="1"/>
                </p:cNvSpPr>
                <p:nvPr/>
              </p:nvSpPr>
              <p:spPr bwMode="auto">
                <a:xfrm>
                  <a:off x="4789213" y="7640"/>
                  <a:ext cx="2340206" cy="792174"/>
                </a:xfrm>
                <a:prstGeom prst="rect">
                  <a:avLst/>
                </a:prstGeom>
                <a:blipFill>
                  <a:blip r:embed="rId4"/>
                  <a:stretch>
                    <a:fillRect l="-12500" r="-9375" b="-225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23">
                  <a:extLst>
                    <a:ext uri="{FF2B5EF4-FFF2-40B4-BE49-F238E27FC236}">
                      <a16:creationId xmlns:a16="http://schemas.microsoft.com/office/drawing/2014/main" id="{C1A3E44D-EE6D-4892-AD03-AE79357D9572}"/>
                    </a:ext>
                  </a:extLst>
                </p:cNvPr>
                <p:cNvSpPr txBox="1">
                  <a:spLocks noChangeArrowheads="1"/>
                </p:cNvSpPr>
                <p:nvPr/>
              </p:nvSpPr>
              <p:spPr bwMode="auto">
                <a:xfrm>
                  <a:off x="4789214" y="1656127"/>
                  <a:ext cx="2340206" cy="79217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600" b="0" i="1" dirty="0" smtClean="0">
                            <a:solidFill>
                              <a:srgbClr val="2C3E50"/>
                            </a:solidFill>
                            <a:latin typeface="Cambria Math" panose="02040503050406030204" pitchFamily="18" charset="0"/>
                            <a:ea typeface="Segoe UI" panose="020B0502040204020203" pitchFamily="34" charset="0"/>
                            <a:cs typeface="Segoe UI" panose="020B0502040204020203" pitchFamily="34" charset="0"/>
                          </a:rPr>
                          <m:t>𝑆</m:t>
                        </m:r>
                        <m:r>
                          <a:rPr lang="en-US" altLang="zh-CN" sz="1600" b="0" i="1" baseline="-25000" dirty="0">
                            <a:solidFill>
                              <a:srgbClr val="2C3E50"/>
                            </a:solidFill>
                            <a:latin typeface="Cambria Math" panose="02040503050406030204" pitchFamily="18" charset="0"/>
                            <a:ea typeface="Segoe UI" panose="020B0502040204020203" pitchFamily="34" charset="0"/>
                            <a:cs typeface="Segoe UI" panose="020B0502040204020203" pitchFamily="34" charset="0"/>
                          </a:rPr>
                          <m:t>0</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𝑑</m:t>
                        </m:r>
                      </m:oMath>
                    </m:oMathPara>
                  </a14:m>
                  <a:endPar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endParaRPr>
                </a:p>
                <a:p>
                  <a:pPr algn="ctr">
                    <a:lnSpc>
                      <a:spcPct val="120000"/>
                    </a:lnSpc>
                    <a:spcBef>
                      <a:spcPts val="0"/>
                    </a:spcBef>
                    <a:buClr>
                      <a:srgbClr val="800000"/>
                    </a:buClr>
                    <a:buSzPct val="80000"/>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600" b="0" i="1" dirty="0" smtClean="0">
                            <a:solidFill>
                              <a:srgbClr val="2C3E50"/>
                            </a:solidFill>
                            <a:latin typeface="Cambria Math" panose="02040503050406030204" pitchFamily="18" charset="0"/>
                            <a:ea typeface="Segoe UI" panose="020B0502040204020203" pitchFamily="34" charset="0"/>
                            <a:cs typeface="Segoe UI" panose="020B0502040204020203" pitchFamily="34" charset="0"/>
                          </a:rPr>
                          <m:t>𝑓</m:t>
                        </m:r>
                        <m:r>
                          <a:rPr lang="en-US" altLang="zh-CN" sz="1600" b="0" i="1" baseline="-25000" dirty="0" err="1">
                            <a:solidFill>
                              <a:srgbClr val="2C3E50"/>
                            </a:solidFill>
                            <a:latin typeface="Cambria Math" panose="02040503050406030204" pitchFamily="18" charset="0"/>
                            <a:ea typeface="Segoe UI" panose="020B0502040204020203" pitchFamily="34" charset="0"/>
                            <a:cs typeface="Segoe UI" panose="020B0502040204020203" pitchFamily="34" charset="0"/>
                          </a:rPr>
                          <m:t>𝑑</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 = </m:t>
                        </m:r>
                        <m:r>
                          <m:rPr>
                            <m:sty m:val="p"/>
                          </m:rP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max</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𝑆</m:t>
                        </m:r>
                        <m:r>
                          <a:rPr lang="en-US" altLang="zh-CN" sz="1600" b="0" i="1" baseline="-25000" dirty="0">
                            <a:solidFill>
                              <a:srgbClr val="2C3E50"/>
                            </a:solidFill>
                            <a:latin typeface="Cambria Math" panose="02040503050406030204" pitchFamily="18" charset="0"/>
                            <a:ea typeface="Segoe UI" panose="020B0502040204020203" pitchFamily="34" charset="0"/>
                            <a:cs typeface="Segoe UI" panose="020B0502040204020203" pitchFamily="34" charset="0"/>
                          </a:rPr>
                          <m:t>0</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𝑑</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 – </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𝐾</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 0) </m:t>
                        </m:r>
                      </m:oMath>
                    </m:oMathPara>
                  </a14:m>
                  <a:endParaRPr lang="zh-CN" altLang="en-US" sz="1600" b="0" dirty="0">
                    <a:solidFill>
                      <a:srgbClr val="2C3E50"/>
                    </a:solidFill>
                    <a:latin typeface="Segoe UI" panose="020B0502040204020203" pitchFamily="34" charset="0"/>
                    <a:cs typeface="Segoe UI" panose="020B0502040204020203" pitchFamily="34" charset="0"/>
                  </a:endParaRPr>
                </a:p>
              </p:txBody>
            </p:sp>
          </mc:Choice>
          <mc:Fallback xmlns="">
            <p:sp>
              <p:nvSpPr>
                <p:cNvPr id="12" name="文本框 23">
                  <a:extLst>
                    <a:ext uri="{FF2B5EF4-FFF2-40B4-BE49-F238E27FC236}">
                      <a16:creationId xmlns:a16="http://schemas.microsoft.com/office/drawing/2014/main" id="{94B5368F-D486-4C7E-8494-77868FA37803}"/>
                    </a:ext>
                  </a:extLst>
                </p:cNvPr>
                <p:cNvSpPr txBox="1">
                  <a:spLocks noRot="1" noChangeAspect="1" noMove="1" noResize="1" noEditPoints="1" noAdjustHandles="1" noChangeArrowheads="1" noChangeShapeType="1" noTextEdit="1"/>
                </p:cNvSpPr>
                <p:nvPr/>
              </p:nvSpPr>
              <p:spPr bwMode="auto">
                <a:xfrm>
                  <a:off x="4789214" y="1656127"/>
                  <a:ext cx="2340206" cy="792174"/>
                </a:xfrm>
                <a:prstGeom prst="rect">
                  <a:avLst/>
                </a:prstGeom>
                <a:blipFill>
                  <a:blip r:embed="rId5"/>
                  <a:stretch>
                    <a:fillRect l="-13889" t="-2500" r="-7986" b="-225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5688949E-1DC5-40A3-981A-A4359893B37C}"/>
                  </a:ext>
                </a:extLst>
              </p:cNvPr>
              <p:cNvSpPr/>
              <p:nvPr/>
            </p:nvSpPr>
            <p:spPr>
              <a:xfrm>
                <a:off x="1608608" y="5204655"/>
                <a:ext cx="2263105" cy="61895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𝛥</m:t>
                      </m:r>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𝑢</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𝑑</m:t>
                              </m:r>
                            </m:sub>
                          </m:sSub>
                        </m:num>
                        <m:den>
                          <m:r>
                            <a:rPr lang="zh-CN" altLang="en-US" i="1">
                              <a:latin typeface="Cambria Math" panose="02040503050406030204" pitchFamily="18" charset="0"/>
                            </a:rPr>
                            <m:t>𝑆</m:t>
                          </m:r>
                          <m:r>
                            <a:rPr lang="zh-CN" altLang="en-US" i="0">
                              <a:latin typeface="Cambria Math" panose="02040503050406030204" pitchFamily="18" charset="0"/>
                            </a:rPr>
                            <m:t>×</m:t>
                          </m:r>
                          <m:r>
                            <a:rPr lang="zh-CN" altLang="en-US" i="1">
                              <a:latin typeface="Cambria Math" panose="02040503050406030204" pitchFamily="18" charset="0"/>
                            </a:rPr>
                            <m:t>𝑢</m:t>
                          </m:r>
                          <m:r>
                            <a:rPr lang="zh-CN" altLang="en-US" i="0">
                              <a:latin typeface="Cambria Math" panose="02040503050406030204" pitchFamily="18" charset="0"/>
                            </a:rPr>
                            <m:t>−</m:t>
                          </m:r>
                          <m:r>
                            <a:rPr lang="zh-CN" altLang="en-US" i="1">
                              <a:latin typeface="Cambria Math" panose="02040503050406030204" pitchFamily="18" charset="0"/>
                            </a:rPr>
                            <m:t>𝑆</m:t>
                          </m:r>
                          <m:r>
                            <a:rPr lang="zh-CN" altLang="en-US" i="0">
                              <a:latin typeface="Cambria Math" panose="02040503050406030204" pitchFamily="18" charset="0"/>
                            </a:rPr>
                            <m:t>×</m:t>
                          </m:r>
                          <m:r>
                            <a:rPr lang="zh-CN" altLang="en-US" i="1">
                              <a:latin typeface="Cambria Math" panose="02040503050406030204" pitchFamily="18" charset="0"/>
                            </a:rPr>
                            <m:t>𝑑</m:t>
                          </m:r>
                        </m:den>
                      </m:f>
                    </m:oMath>
                  </m:oMathPara>
                </a14:m>
                <a:endParaRPr lang="zh-CN" altLang="en-US" dirty="0"/>
              </a:p>
            </p:txBody>
          </p:sp>
        </mc:Choice>
        <mc:Fallback xmlns="">
          <p:sp>
            <p:nvSpPr>
              <p:cNvPr id="14" name="矩形 13">
                <a:extLst>
                  <a:ext uri="{FF2B5EF4-FFF2-40B4-BE49-F238E27FC236}">
                    <a16:creationId xmlns:a16="http://schemas.microsoft.com/office/drawing/2014/main" id="{5688949E-1DC5-40A3-981A-A4359893B37C}"/>
                  </a:ext>
                </a:extLst>
              </p:cNvPr>
              <p:cNvSpPr>
                <a:spLocks noRot="1" noChangeAspect="1" noMove="1" noResize="1" noEditPoints="1" noAdjustHandles="1" noChangeArrowheads="1" noChangeShapeType="1" noTextEdit="1"/>
              </p:cNvSpPr>
              <p:nvPr/>
            </p:nvSpPr>
            <p:spPr>
              <a:xfrm>
                <a:off x="1608608" y="5204655"/>
                <a:ext cx="2263105" cy="61895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96244D43-357E-4289-9126-4F2AF336D611}"/>
                  </a:ext>
                </a:extLst>
              </p:cNvPr>
              <p:cNvSpPr txBox="1"/>
              <p:nvPr/>
            </p:nvSpPr>
            <p:spPr>
              <a:xfrm>
                <a:off x="7850441" y="5326473"/>
                <a:ext cx="1999826" cy="369332"/>
              </a:xfrm>
              <a:prstGeom prst="rect">
                <a:avLst/>
              </a:prstGeom>
              <a:noFill/>
            </p:spPr>
            <p:txBody>
              <a:bodyPr wrap="square" rtlCol="0">
                <a:spAutoFit/>
              </a:bodyPr>
              <a:lstStyle/>
              <a:p>
                <a14:m>
                  <m:oMath xmlns:m="http://schemas.openxmlformats.org/officeDocument/2006/math">
                    <m:r>
                      <a:rPr lang="en-US" altLang="zh-CN" i="1" dirty="0" smtClean="0">
                        <a:latin typeface="Cambria Math" panose="02040503050406030204" pitchFamily="18" charset="0"/>
                      </a:rPr>
                      <m:t>𝑓</m:t>
                    </m:r>
                  </m:oMath>
                </a14:m>
                <a:r>
                  <a:rPr lang="en-US" altLang="zh-CN" dirty="0"/>
                  <a:t>=</a:t>
                </a:r>
                <a:r>
                  <a:rPr lang="en-US" altLang="zh-CN" dirty="0">
                    <a:ea typeface="Cambria Math" panose="02040503050406030204" pitchFamily="18" charset="0"/>
                  </a:rPr>
                  <a:t> </a:t>
                </a:r>
                <a14:m>
                  <m:oMath xmlns:m="http://schemas.openxmlformats.org/officeDocument/2006/math">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𝑆</m:t>
                        </m:r>
                      </m:e>
                      <m:sub>
                        <m:r>
                          <a:rPr lang="en-US" altLang="zh-CN" i="1" dirty="0">
                            <a:latin typeface="Cambria Math" panose="02040503050406030204" pitchFamily="18" charset="0"/>
                            <a:ea typeface="Cambria Math" panose="02040503050406030204" pitchFamily="18" charset="0"/>
                          </a:rPr>
                          <m:t>0</m:t>
                        </m:r>
                      </m:sub>
                    </m:sSub>
                    <m:r>
                      <m:rPr>
                        <m:sty m:val="p"/>
                      </m:rPr>
                      <a:rPr lang="el-GR" altLang="zh-CN" dirty="0">
                        <a:latin typeface="Cambria Math" panose="02040503050406030204" pitchFamily="18" charset="0"/>
                      </a:rPr>
                      <m:t>Δ</m:t>
                    </m:r>
                    <m:r>
                      <a:rPr lang="en-US" altLang="zh-CN" i="1" dirty="0">
                        <a:latin typeface="Cambria Math" panose="02040503050406030204" pitchFamily="18" charset="0"/>
                      </a:rPr>
                      <m:t> –</m:t>
                    </m:r>
                    <m:sSub>
                      <m:sSubPr>
                        <m:ctrlPr>
                          <a:rPr lang="el-GR" altLang="zh-CN" i="1" dirty="0">
                            <a:latin typeface="Cambria Math" panose="02040503050406030204" pitchFamily="18" charset="0"/>
                            <a:ea typeface="Cambria Math" panose="02040503050406030204" pitchFamily="18" charset="0"/>
                          </a:rPr>
                        </m:ctrlPr>
                      </m:sSubPr>
                      <m:e>
                        <m:r>
                          <m:rPr>
                            <m:sty m:val="p"/>
                          </m:rPr>
                          <a:rPr lang="el-GR" altLang="zh-CN" dirty="0">
                            <a:latin typeface="Cambria Math" panose="02040503050406030204" pitchFamily="18" charset="0"/>
                            <a:ea typeface="Cambria Math" panose="02040503050406030204" pitchFamily="18" charset="0"/>
                          </a:rPr>
                          <m:t>Π</m:t>
                        </m:r>
                      </m:e>
                      <m:sub>
                        <m:r>
                          <a:rPr lang="en-US" altLang="zh-CN" i="1" dirty="0">
                            <a:latin typeface="Cambria Math" panose="02040503050406030204" pitchFamily="18" charset="0"/>
                            <a:ea typeface="Cambria Math" panose="02040503050406030204" pitchFamily="18" charset="0"/>
                          </a:rPr>
                          <m:t>𝑇</m:t>
                        </m:r>
                      </m:sub>
                    </m:sSub>
                    <m:sSup>
                      <m:sSupPr>
                        <m:ctrlPr>
                          <a:rPr lang="en-US" altLang="zh-CN" i="1" dirty="0">
                            <a:latin typeface="Cambria Math" panose="02040503050406030204" pitchFamily="18" charset="0"/>
                            <a:ea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𝑒</m:t>
                        </m:r>
                      </m:e>
                      <m:sup>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𝑟𝑇</m:t>
                        </m:r>
                      </m:sup>
                    </m:sSup>
                  </m:oMath>
                </a14:m>
                <a:endParaRPr lang="zh-CN" altLang="en-US" dirty="0"/>
              </a:p>
            </p:txBody>
          </p:sp>
        </mc:Choice>
        <mc:Fallback xmlns="">
          <p:sp>
            <p:nvSpPr>
              <p:cNvPr id="15" name="文本框 14">
                <a:extLst>
                  <a:ext uri="{FF2B5EF4-FFF2-40B4-BE49-F238E27FC236}">
                    <a16:creationId xmlns:a16="http://schemas.microsoft.com/office/drawing/2014/main" id="{96244D43-357E-4289-9126-4F2AF336D611}"/>
                  </a:ext>
                </a:extLst>
              </p:cNvPr>
              <p:cNvSpPr txBox="1">
                <a:spLocks noRot="1" noChangeAspect="1" noMove="1" noResize="1" noEditPoints="1" noAdjustHandles="1" noChangeArrowheads="1" noChangeShapeType="1" noTextEdit="1"/>
              </p:cNvSpPr>
              <p:nvPr/>
            </p:nvSpPr>
            <p:spPr>
              <a:xfrm>
                <a:off x="7850441" y="5326473"/>
                <a:ext cx="1999826" cy="369332"/>
              </a:xfrm>
              <a:prstGeom prst="rect">
                <a:avLst/>
              </a:prstGeom>
              <a:blipFill>
                <a:blip r:embed="rId7"/>
                <a:stretch>
                  <a:fillRect l="-915" t="-8333" b="-2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90D40D6-DD38-452C-AC3F-A675E2F55CB1}"/>
                  </a:ext>
                </a:extLst>
              </p:cNvPr>
              <p:cNvSpPr txBox="1"/>
              <p:nvPr/>
            </p:nvSpPr>
            <p:spPr>
              <a:xfrm>
                <a:off x="4408175" y="5337764"/>
                <a:ext cx="29812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𝑆</m:t>
                          </m:r>
                        </m:e>
                        <m:sub>
                          <m:r>
                            <a:rPr lang="en-US" altLang="zh-CN" i="1">
                              <a:latin typeface="Cambria Math" panose="02040503050406030204" pitchFamily="18" charset="0"/>
                              <a:ea typeface="Cambria Math" panose="02040503050406030204" pitchFamily="18" charset="0"/>
                            </a:rPr>
                            <m:t>0</m:t>
                          </m:r>
                        </m:sub>
                      </m:sSub>
                      <m:r>
                        <a:rPr lang="en-US" altLang="zh-CN" i="1">
                          <a:latin typeface="Cambria Math" panose="02040503050406030204" pitchFamily="18" charset="0"/>
                          <a:ea typeface="Cambria Math" panose="02040503050406030204" pitchFamily="18" charset="0"/>
                        </a:rPr>
                        <m:t>𝑢</m:t>
                      </m:r>
                      <m:r>
                        <m:rPr>
                          <m:sty m:val="p"/>
                        </m:rPr>
                        <a:rPr lang="el-GR" altLang="zh-CN" i="1">
                          <a:latin typeface="Cambria Math" panose="02040503050406030204" pitchFamily="18" charset="0"/>
                          <a:ea typeface="Cambria Math" panose="02040503050406030204" pitchFamily="18" charset="0"/>
                        </a:rPr>
                        <m:t>Δ</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𝑓</m:t>
                          </m:r>
                        </m:e>
                        <m:sub>
                          <m:r>
                            <a:rPr lang="en-US" altLang="zh-CN" i="1">
                              <a:latin typeface="Cambria Math" panose="02040503050406030204" pitchFamily="18" charset="0"/>
                              <a:ea typeface="Cambria Math" panose="02040503050406030204" pitchFamily="18" charset="0"/>
                            </a:rPr>
                            <m:t>𝑢</m:t>
                          </m:r>
                        </m:sub>
                      </m:sSub>
                      <m:r>
                        <a:rPr lang="en-US" altLang="zh-CN" i="1">
                          <a:latin typeface="Cambria Math" panose="02040503050406030204" pitchFamily="18" charset="0"/>
                          <a:ea typeface="Cambria Math" panose="02040503050406030204" pitchFamily="18" charset="0"/>
                        </a:rPr>
                        <m:t>=</m:t>
                      </m:r>
                      <m:sSub>
                        <m:sSubPr>
                          <m:ctrlPr>
                            <a:rPr lang="el-GR"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𝑆</m:t>
                          </m:r>
                        </m:e>
                        <m:sub>
                          <m:r>
                            <a:rPr lang="en-US" altLang="zh-CN" i="1">
                              <a:latin typeface="Cambria Math" panose="02040503050406030204" pitchFamily="18" charset="0"/>
                              <a:ea typeface="Cambria Math" panose="02040503050406030204" pitchFamily="18" charset="0"/>
                            </a:rPr>
                            <m:t>0</m:t>
                          </m:r>
                        </m:sub>
                      </m:sSub>
                      <m:r>
                        <a:rPr lang="en-US" altLang="zh-CN" i="1">
                          <a:latin typeface="Cambria Math" panose="02040503050406030204" pitchFamily="18" charset="0"/>
                          <a:ea typeface="Cambria Math" panose="02040503050406030204" pitchFamily="18" charset="0"/>
                        </a:rPr>
                        <m:t>𝑑</m:t>
                      </m:r>
                      <m:r>
                        <m:rPr>
                          <m:sty m:val="p"/>
                        </m:rPr>
                        <a:rPr lang="el-GR" altLang="zh-CN" i="1">
                          <a:latin typeface="Cambria Math" panose="02040503050406030204" pitchFamily="18" charset="0"/>
                          <a:ea typeface="Cambria Math" panose="02040503050406030204" pitchFamily="18" charset="0"/>
                        </a:rPr>
                        <m:t>Δ</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𝑓</m:t>
                          </m:r>
                        </m:e>
                        <m:sub>
                          <m:r>
                            <a:rPr lang="en-US" altLang="zh-CN" i="1">
                              <a:latin typeface="Cambria Math" panose="02040503050406030204" pitchFamily="18" charset="0"/>
                              <a:ea typeface="Cambria Math" panose="02040503050406030204" pitchFamily="18" charset="0"/>
                            </a:rPr>
                            <m:t>𝑑</m:t>
                          </m:r>
                        </m:sub>
                      </m:sSub>
                    </m:oMath>
                  </m:oMathPara>
                </a14:m>
                <a:endParaRPr lang="zh-CN" altLang="en-US" dirty="0"/>
              </a:p>
            </p:txBody>
          </p:sp>
        </mc:Choice>
        <mc:Fallback xmlns="">
          <p:sp>
            <p:nvSpPr>
              <p:cNvPr id="16" name="文本框 15">
                <a:extLst>
                  <a:ext uri="{FF2B5EF4-FFF2-40B4-BE49-F238E27FC236}">
                    <a16:creationId xmlns:a16="http://schemas.microsoft.com/office/drawing/2014/main" id="{590D40D6-DD38-452C-AC3F-A675E2F55CB1}"/>
                  </a:ext>
                </a:extLst>
              </p:cNvPr>
              <p:cNvSpPr txBox="1">
                <a:spLocks noRot="1" noChangeAspect="1" noMove="1" noResize="1" noEditPoints="1" noAdjustHandles="1" noChangeArrowheads="1" noChangeShapeType="1" noTextEdit="1"/>
              </p:cNvSpPr>
              <p:nvPr/>
            </p:nvSpPr>
            <p:spPr>
              <a:xfrm>
                <a:off x="4408175" y="5337764"/>
                <a:ext cx="2981291" cy="369332"/>
              </a:xfrm>
              <a:prstGeom prst="rect">
                <a:avLst/>
              </a:prstGeom>
              <a:blipFill>
                <a:blip r:embed="rId8"/>
                <a:stretch>
                  <a:fillRect b="-16667"/>
                </a:stretch>
              </a:blipFill>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AC82FEE1-41E8-46F1-8483-736780CB1C53}"/>
              </a:ext>
            </a:extLst>
          </p:cNvPr>
          <p:cNvSpPr/>
          <p:nvPr/>
        </p:nvSpPr>
        <p:spPr>
          <a:xfrm>
            <a:off x="1608609" y="5178891"/>
            <a:ext cx="8974782" cy="702001"/>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00663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Summary</a:t>
            </a:r>
          </a:p>
          <a:p>
            <a:pPr lvl="1"/>
            <a:r>
              <a:rPr lang="en-US" altLang="zh-CN" dirty="0">
                <a:latin typeface="+mn-lt"/>
                <a:ea typeface="+mn-ea"/>
                <a:cs typeface="+mn-ea"/>
                <a:sym typeface="+mn-lt"/>
              </a:rPr>
              <a:t>Risk-Neutral Valuation</a:t>
            </a:r>
          </a:p>
          <a:p>
            <a:endParaRPr lang="zh-CN" altLang="en-US" dirty="0">
              <a:latin typeface="+mn-lt"/>
              <a:ea typeface="+mn-ea"/>
              <a:cs typeface="+mn-ea"/>
              <a:sym typeface="+mn-lt"/>
            </a:endParaRPr>
          </a:p>
        </p:txBody>
      </p:sp>
      <p:sp>
        <p:nvSpPr>
          <p:cNvPr id="4" name="文本框 25">
            <a:extLst>
              <a:ext uri="{FF2B5EF4-FFF2-40B4-BE49-F238E27FC236}">
                <a16:creationId xmlns:a16="http://schemas.microsoft.com/office/drawing/2014/main" id="{7B065E5E-EB19-436B-99D3-6969932D307D}"/>
              </a:ext>
            </a:extLst>
          </p:cNvPr>
          <p:cNvSpPr txBox="1">
            <a:spLocks noChangeArrowheads="1"/>
          </p:cNvSpPr>
          <p:nvPr/>
        </p:nvSpPr>
        <p:spPr bwMode="auto">
          <a:xfrm>
            <a:off x="5552856" y="2580288"/>
            <a:ext cx="719999"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None/>
            </a:pP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p</a:t>
            </a:r>
            <a:endParaRPr lang="zh-CN" altLang="en-US" sz="2000" b="0" dirty="0">
              <a:solidFill>
                <a:srgbClr val="2C3E50"/>
              </a:solidFill>
              <a:latin typeface="Segoe UI" panose="020B0502040204020203" pitchFamily="34" charset="0"/>
              <a:cs typeface="Segoe UI" panose="020B0502040204020203" pitchFamily="34" charset="0"/>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2DA5587-9481-47AC-A634-BCE50558198E}"/>
                  </a:ext>
                </a:extLst>
              </p:cNvPr>
              <p:cNvSpPr/>
              <p:nvPr/>
            </p:nvSpPr>
            <p:spPr>
              <a:xfrm>
                <a:off x="2054675" y="4226579"/>
                <a:ext cx="8093223" cy="53976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𝑆</m:t>
                          </m:r>
                        </m:e>
                        <m:sub>
                          <m:r>
                            <a:rPr lang="zh-CN" altLang="en-US" sz="1400" i="0">
                              <a:latin typeface="Cambria Math" panose="02040503050406030204" pitchFamily="18" charset="0"/>
                            </a:rPr>
                            <m:t>0</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𝑆</m:t>
                              </m:r>
                            </m:e>
                            <m:sub>
                              <m:r>
                                <a:rPr lang="zh-CN" altLang="en-US" sz="1400" i="0">
                                  <a:latin typeface="Cambria Math" panose="02040503050406030204" pitchFamily="18" charset="0"/>
                                </a:rPr>
                                <m:t>0</m:t>
                              </m:r>
                            </m:sub>
                          </m:sSub>
                          <m:r>
                            <a:rPr lang="zh-CN" altLang="en-US" sz="1400" i="0">
                              <a:latin typeface="Cambria Math" panose="02040503050406030204" pitchFamily="18" charset="0"/>
                            </a:rPr>
                            <m:t>×</m:t>
                          </m:r>
                          <m:r>
                            <a:rPr lang="zh-CN" altLang="en-US" sz="1400" i="1">
                              <a:latin typeface="Cambria Math" panose="02040503050406030204" pitchFamily="18" charset="0"/>
                            </a:rPr>
                            <m:t>𝑢</m:t>
                          </m:r>
                          <m:r>
                            <a:rPr lang="zh-CN" altLang="en-US" sz="1400" i="0">
                              <a:latin typeface="Cambria Math" panose="02040503050406030204" pitchFamily="18" charset="0"/>
                            </a:rPr>
                            <m:t>×</m:t>
                          </m:r>
                          <m:r>
                            <a:rPr lang="zh-CN" altLang="en-US" sz="1400" i="1">
                              <a:latin typeface="Cambria Math" panose="02040503050406030204" pitchFamily="18" charset="0"/>
                            </a:rPr>
                            <m:t>𝑝</m:t>
                          </m:r>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𝑆</m:t>
                              </m:r>
                            </m:e>
                            <m:sub>
                              <m:r>
                                <a:rPr lang="zh-CN" altLang="en-US" sz="1400" i="0">
                                  <a:latin typeface="Cambria Math" panose="02040503050406030204" pitchFamily="18" charset="0"/>
                                </a:rPr>
                                <m:t>0</m:t>
                              </m:r>
                            </m:sub>
                          </m:sSub>
                          <m:r>
                            <a:rPr lang="zh-CN" altLang="en-US" sz="1400" i="0">
                              <a:latin typeface="Cambria Math" panose="02040503050406030204" pitchFamily="18" charset="0"/>
                            </a:rPr>
                            <m:t>×</m:t>
                          </m:r>
                          <m:r>
                            <a:rPr lang="zh-CN" altLang="en-US" sz="1400" i="1">
                              <a:latin typeface="Cambria Math" panose="02040503050406030204" pitchFamily="18" charset="0"/>
                            </a:rPr>
                            <m:t>𝑑</m:t>
                          </m:r>
                          <m:r>
                            <a:rPr lang="zh-CN" altLang="en-US" sz="1400" i="0">
                              <a:latin typeface="Cambria Math" panose="02040503050406030204" pitchFamily="18" charset="0"/>
                            </a:rPr>
                            <m:t>×</m:t>
                          </m:r>
                          <m:d>
                            <m:dPr>
                              <m:ctrlPr>
                                <a:rPr lang="zh-CN" altLang="en-US" sz="1400" i="1">
                                  <a:latin typeface="Cambria Math" panose="02040503050406030204" pitchFamily="18" charset="0"/>
                                </a:rPr>
                              </m:ctrlPr>
                            </m:dPr>
                            <m:e>
                              <m:r>
                                <a:rPr lang="zh-CN" altLang="en-US" sz="1400" i="0">
                                  <a:latin typeface="Cambria Math" panose="02040503050406030204" pitchFamily="18" charset="0"/>
                                </a:rPr>
                                <m:t>1−</m:t>
                              </m:r>
                              <m:r>
                                <a:rPr lang="zh-CN" altLang="en-US" sz="1400" i="1">
                                  <a:latin typeface="Cambria Math" panose="02040503050406030204" pitchFamily="18" charset="0"/>
                                </a:rPr>
                                <m:t>𝑝</m:t>
                              </m:r>
                            </m:e>
                          </m:d>
                        </m:e>
                      </m:d>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𝑒</m:t>
                          </m:r>
                        </m:e>
                        <m:sup>
                          <m:r>
                            <a:rPr lang="zh-CN" altLang="en-US" sz="1400" i="0">
                              <a:latin typeface="Cambria Math" panose="02040503050406030204" pitchFamily="18" charset="0"/>
                            </a:rPr>
                            <m:t>−</m:t>
                          </m:r>
                          <m:r>
                            <a:rPr lang="zh-CN" altLang="en-US" sz="1400" i="1">
                              <a:latin typeface="Cambria Math" panose="02040503050406030204" pitchFamily="18" charset="0"/>
                            </a:rPr>
                            <m:t>𝑟</m:t>
                          </m:r>
                          <m:r>
                            <a:rPr lang="zh-CN" altLang="en-US" sz="1400" i="1">
                              <a:latin typeface="Cambria Math" panose="02040503050406030204" pitchFamily="18" charset="0"/>
                            </a:rPr>
                            <m:t>𝛥</m:t>
                          </m:r>
                          <m:r>
                            <a:rPr lang="zh-CN" altLang="en-US" sz="1400" i="1">
                              <a:latin typeface="Cambria Math" panose="02040503050406030204" pitchFamily="18" charset="0"/>
                            </a:rPr>
                            <m:t>𝑡</m:t>
                          </m:r>
                        </m:sup>
                      </m:sSup>
                      <m:r>
                        <a:rPr lang="zh-CN" altLang="en-US" sz="1400" i="0">
                          <a:latin typeface="Cambria Math" panose="02040503050406030204" pitchFamily="18" charset="0"/>
                        </a:rPr>
                        <m:t>⇒</m:t>
                      </m:r>
                      <m:r>
                        <a:rPr lang="zh-CN" altLang="en-US" sz="1400" i="1">
                          <a:latin typeface="Cambria Math" panose="02040503050406030204" pitchFamily="18" charset="0"/>
                        </a:rPr>
                        <m:t>𝑝</m:t>
                      </m:r>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𝑒</m:t>
                              </m:r>
                            </m:e>
                            <m:sup>
                              <m:r>
                                <a:rPr lang="zh-CN" altLang="en-US" sz="1400" i="1">
                                  <a:latin typeface="Cambria Math" panose="02040503050406030204" pitchFamily="18" charset="0"/>
                                </a:rPr>
                                <m:t>𝑟</m:t>
                              </m:r>
                              <m:r>
                                <a:rPr lang="zh-CN" altLang="en-US" sz="1400" i="1">
                                  <a:latin typeface="Cambria Math" panose="02040503050406030204" pitchFamily="18" charset="0"/>
                                </a:rPr>
                                <m:t>𝛥</m:t>
                              </m:r>
                              <m:r>
                                <a:rPr lang="zh-CN" altLang="en-US" sz="1400" i="1">
                                  <a:latin typeface="Cambria Math" panose="02040503050406030204" pitchFamily="18" charset="0"/>
                                </a:rPr>
                                <m:t>𝑡</m:t>
                              </m:r>
                            </m:sup>
                          </m:sSup>
                          <m:r>
                            <a:rPr lang="zh-CN" altLang="en-US" sz="1400" i="0">
                              <a:latin typeface="Cambria Math" panose="02040503050406030204" pitchFamily="18" charset="0"/>
                            </a:rPr>
                            <m:t>−</m:t>
                          </m:r>
                          <m:r>
                            <a:rPr lang="zh-CN" altLang="en-US" sz="1400" i="1">
                              <a:latin typeface="Cambria Math" panose="02040503050406030204" pitchFamily="18" charset="0"/>
                            </a:rPr>
                            <m:t>𝑑</m:t>
                          </m:r>
                        </m:num>
                        <m:den>
                          <m:r>
                            <a:rPr lang="zh-CN" altLang="en-US" sz="1400" i="1">
                              <a:latin typeface="Cambria Math" panose="02040503050406030204" pitchFamily="18" charset="0"/>
                            </a:rPr>
                            <m:t>𝑢</m:t>
                          </m:r>
                          <m:r>
                            <a:rPr lang="zh-CN" altLang="en-US" sz="1400" i="0">
                              <a:latin typeface="Cambria Math" panose="02040503050406030204" pitchFamily="18" charset="0"/>
                            </a:rPr>
                            <m:t>−</m:t>
                          </m:r>
                          <m:r>
                            <a:rPr lang="zh-CN" altLang="en-US" sz="1400" i="1">
                              <a:latin typeface="Cambria Math" panose="02040503050406030204" pitchFamily="18" charset="0"/>
                            </a:rPr>
                            <m:t>𝑑</m:t>
                          </m:r>
                        </m:den>
                      </m:f>
                      <m:r>
                        <m:rPr>
                          <m:nor/>
                        </m:rPr>
                        <a:rPr lang="zh-CN" altLang="en-US" sz="1400" i="1">
                          <a:latin typeface="Cambria Math" panose="02040503050406030204" pitchFamily="18" charset="0"/>
                        </a:rPr>
                        <m:t> </m:t>
                      </m:r>
                      <m:r>
                        <a:rPr lang="zh-CN" altLang="en-US" sz="1400" i="1">
                          <a:latin typeface="Cambria Math" panose="02040503050406030204" pitchFamily="18" charset="0"/>
                        </a:rPr>
                        <m:t>𝑜𝑟</m:t>
                      </m:r>
                      <m:r>
                        <m:rPr>
                          <m:nor/>
                        </m:rPr>
                        <a:rPr lang="zh-CN" altLang="en-US" sz="1400" i="1">
                          <a:latin typeface="Cambria Math" panose="02040503050406030204" pitchFamily="18" charset="0"/>
                        </a:rPr>
                        <m:t> </m:t>
                      </m:r>
                      <m:r>
                        <a:rPr lang="zh-CN" altLang="en-US" sz="1400" i="1">
                          <a:latin typeface="Cambria Math" panose="02040503050406030204" pitchFamily="18" charset="0"/>
                        </a:rPr>
                        <m:t>𝑝</m:t>
                      </m:r>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𝑒</m:t>
                              </m:r>
                            </m:e>
                            <m:sup>
                              <m:d>
                                <m:dPr>
                                  <m:ctrlPr>
                                    <a:rPr lang="zh-CN" altLang="en-US" sz="1400" i="1">
                                      <a:latin typeface="Cambria Math" panose="02040503050406030204" pitchFamily="18" charset="0"/>
                                    </a:rPr>
                                  </m:ctrlPr>
                                </m:dPr>
                                <m:e>
                                  <m:r>
                                    <a:rPr lang="zh-CN" altLang="en-US" sz="1400" i="1">
                                      <a:latin typeface="Cambria Math" panose="02040503050406030204" pitchFamily="18" charset="0"/>
                                    </a:rPr>
                                    <m:t>𝑟</m:t>
                                  </m:r>
                                  <m:r>
                                    <a:rPr lang="zh-CN" altLang="en-US" sz="1400" i="0">
                                      <a:latin typeface="Cambria Math" panose="02040503050406030204" pitchFamily="18" charset="0"/>
                                    </a:rPr>
                                    <m:t>−</m:t>
                                  </m:r>
                                  <m:r>
                                    <a:rPr lang="zh-CN" altLang="en-US" sz="1400" i="1">
                                      <a:latin typeface="Cambria Math" panose="02040503050406030204" pitchFamily="18" charset="0"/>
                                    </a:rPr>
                                    <m:t>𝑞</m:t>
                                  </m:r>
                                </m:e>
                              </m:d>
                              <m:r>
                                <a:rPr lang="zh-CN" altLang="en-US" sz="1400" i="1">
                                  <a:latin typeface="Cambria Math" panose="02040503050406030204" pitchFamily="18" charset="0"/>
                                </a:rPr>
                                <m:t>𝛥</m:t>
                              </m:r>
                              <m:r>
                                <a:rPr lang="zh-CN" altLang="en-US" sz="1400" i="1">
                                  <a:latin typeface="Cambria Math" panose="02040503050406030204" pitchFamily="18" charset="0"/>
                                </a:rPr>
                                <m:t>𝑡</m:t>
                              </m:r>
                            </m:sup>
                          </m:sSup>
                          <m:r>
                            <a:rPr lang="zh-CN" altLang="en-US" sz="1400" i="0">
                              <a:latin typeface="Cambria Math" panose="02040503050406030204" pitchFamily="18" charset="0"/>
                            </a:rPr>
                            <m:t>−</m:t>
                          </m:r>
                          <m:r>
                            <a:rPr lang="zh-CN" altLang="en-US" sz="1400" i="1">
                              <a:latin typeface="Cambria Math" panose="02040503050406030204" pitchFamily="18" charset="0"/>
                            </a:rPr>
                            <m:t>𝑑</m:t>
                          </m:r>
                        </m:num>
                        <m:den>
                          <m:r>
                            <a:rPr lang="zh-CN" altLang="en-US" sz="1400" i="1">
                              <a:latin typeface="Cambria Math" panose="02040503050406030204" pitchFamily="18" charset="0"/>
                            </a:rPr>
                            <m:t>𝑢</m:t>
                          </m:r>
                          <m:r>
                            <a:rPr lang="zh-CN" altLang="en-US" sz="1400" i="0">
                              <a:latin typeface="Cambria Math" panose="02040503050406030204" pitchFamily="18" charset="0"/>
                            </a:rPr>
                            <m:t>−</m:t>
                          </m:r>
                          <m:r>
                            <a:rPr lang="zh-CN" altLang="en-US" sz="1400" i="1">
                              <a:latin typeface="Cambria Math" panose="02040503050406030204" pitchFamily="18" charset="0"/>
                            </a:rPr>
                            <m:t>𝑑</m:t>
                          </m:r>
                        </m:den>
                      </m:f>
                    </m:oMath>
                  </m:oMathPara>
                </a14:m>
                <a:endParaRPr lang="zh-CN" altLang="en-US" sz="1400" dirty="0"/>
              </a:p>
            </p:txBody>
          </p:sp>
        </mc:Choice>
        <mc:Fallback xmlns="">
          <p:sp>
            <p:nvSpPr>
              <p:cNvPr id="5" name="矩形 4">
                <a:extLst>
                  <a:ext uri="{FF2B5EF4-FFF2-40B4-BE49-F238E27FC236}">
                    <a16:creationId xmlns:a16="http://schemas.microsoft.com/office/drawing/2014/main" id="{12DA5587-9481-47AC-A634-BCE50558198E}"/>
                  </a:ext>
                </a:extLst>
              </p:cNvPr>
              <p:cNvSpPr>
                <a:spLocks noRot="1" noChangeAspect="1" noMove="1" noResize="1" noEditPoints="1" noAdjustHandles="1" noChangeArrowheads="1" noChangeShapeType="1" noTextEdit="1"/>
              </p:cNvSpPr>
              <p:nvPr/>
            </p:nvSpPr>
            <p:spPr>
              <a:xfrm>
                <a:off x="2054675" y="4226579"/>
                <a:ext cx="8093223" cy="53976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5E3FFAAA-4ED3-4F3B-959D-39D837607213}"/>
                  </a:ext>
                </a:extLst>
              </p:cNvPr>
              <p:cNvSpPr/>
              <p:nvPr/>
            </p:nvSpPr>
            <p:spPr>
              <a:xfrm>
                <a:off x="4886145" y="4818455"/>
                <a:ext cx="1936556" cy="3457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𝑢</m:t>
                      </m:r>
                      <m:r>
                        <a:rPr lang="zh-CN" altLang="en-US" sz="1400" i="0">
                          <a:latin typeface="Cambria Math" panose="02040503050406030204" pitchFamily="18" charset="0"/>
                        </a:rPr>
                        <m:t>=</m:t>
                      </m:r>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𝑒</m:t>
                          </m:r>
                        </m:e>
                        <m:sup>
                          <m:r>
                            <a:rPr lang="zh-CN" altLang="en-US" sz="1400" i="1">
                              <a:latin typeface="Cambria Math" panose="02040503050406030204" pitchFamily="18" charset="0"/>
                            </a:rPr>
                            <m:t>𝜎</m:t>
                          </m:r>
                          <m:rad>
                            <m:radPr>
                              <m:degHide m:val="on"/>
                              <m:ctrlPr>
                                <a:rPr lang="zh-CN" altLang="en-US" sz="1400" i="1">
                                  <a:latin typeface="Cambria Math" panose="02040503050406030204" pitchFamily="18" charset="0"/>
                                </a:rPr>
                              </m:ctrlPr>
                            </m:radPr>
                            <m:deg/>
                            <m:e>
                              <m:r>
                                <a:rPr lang="zh-CN" altLang="en-US" sz="1400" i="1">
                                  <a:latin typeface="Cambria Math" panose="02040503050406030204" pitchFamily="18" charset="0"/>
                                </a:rPr>
                                <m:t>𝛥</m:t>
                              </m:r>
                              <m:r>
                                <a:rPr lang="zh-CN" altLang="en-US" sz="1400" i="1">
                                  <a:latin typeface="Cambria Math" panose="02040503050406030204" pitchFamily="18" charset="0"/>
                                </a:rPr>
                                <m:t>𝑡</m:t>
                              </m:r>
                            </m:e>
                          </m:rad>
                        </m:sup>
                      </m:sSup>
                      <m:r>
                        <a:rPr lang="zh-CN" altLang="en-US" sz="1400" i="0">
                          <a:latin typeface="Cambria Math" panose="02040503050406030204" pitchFamily="18" charset="0"/>
                        </a:rPr>
                        <m:t>;</m:t>
                      </m:r>
                      <m:r>
                        <a:rPr lang="zh-CN" altLang="en-US" sz="1400" i="1">
                          <a:latin typeface="Cambria Math" panose="02040503050406030204" pitchFamily="18" charset="0"/>
                        </a:rPr>
                        <m:t>𝑑</m:t>
                      </m:r>
                      <m:r>
                        <a:rPr lang="zh-CN" altLang="en-US" sz="1400" i="0">
                          <a:latin typeface="Cambria Math" panose="02040503050406030204" pitchFamily="18" charset="0"/>
                        </a:rPr>
                        <m:t>=</m:t>
                      </m:r>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𝑒</m:t>
                          </m:r>
                        </m:e>
                        <m:sup>
                          <m:r>
                            <a:rPr lang="zh-CN" altLang="en-US" sz="1400" i="0">
                              <a:latin typeface="Cambria Math" panose="02040503050406030204" pitchFamily="18" charset="0"/>
                            </a:rPr>
                            <m:t>−</m:t>
                          </m:r>
                          <m:r>
                            <a:rPr lang="zh-CN" altLang="en-US" sz="1400" i="1">
                              <a:latin typeface="Cambria Math" panose="02040503050406030204" pitchFamily="18" charset="0"/>
                            </a:rPr>
                            <m:t>𝜎</m:t>
                          </m:r>
                          <m:rad>
                            <m:radPr>
                              <m:degHide m:val="on"/>
                              <m:ctrlPr>
                                <a:rPr lang="zh-CN" altLang="en-US" sz="1400" i="1">
                                  <a:latin typeface="Cambria Math" panose="02040503050406030204" pitchFamily="18" charset="0"/>
                                </a:rPr>
                              </m:ctrlPr>
                            </m:radPr>
                            <m:deg/>
                            <m:e>
                              <m:r>
                                <a:rPr lang="zh-CN" altLang="en-US" sz="1400" i="1">
                                  <a:latin typeface="Cambria Math" panose="02040503050406030204" pitchFamily="18" charset="0"/>
                                </a:rPr>
                                <m:t>𝛥</m:t>
                              </m:r>
                              <m:r>
                                <a:rPr lang="zh-CN" altLang="en-US" sz="1400" i="1">
                                  <a:latin typeface="Cambria Math" panose="02040503050406030204" pitchFamily="18" charset="0"/>
                                </a:rPr>
                                <m:t>𝑡</m:t>
                              </m:r>
                            </m:e>
                          </m:rad>
                        </m:sup>
                      </m:sSup>
                    </m:oMath>
                  </m:oMathPara>
                </a14:m>
                <a:endParaRPr lang="zh-CN" altLang="en-US" sz="1400" dirty="0"/>
              </a:p>
            </p:txBody>
          </p:sp>
        </mc:Choice>
        <mc:Fallback xmlns="">
          <p:sp>
            <p:nvSpPr>
              <p:cNvPr id="6" name="矩形 5">
                <a:extLst>
                  <a:ext uri="{FF2B5EF4-FFF2-40B4-BE49-F238E27FC236}">
                    <a16:creationId xmlns:a16="http://schemas.microsoft.com/office/drawing/2014/main" id="{5E3FFAAA-4ED3-4F3B-959D-39D837607213}"/>
                  </a:ext>
                </a:extLst>
              </p:cNvPr>
              <p:cNvSpPr>
                <a:spLocks noRot="1" noChangeAspect="1" noMove="1" noResize="1" noEditPoints="1" noAdjustHandles="1" noChangeArrowheads="1" noChangeShapeType="1" noTextEdit="1"/>
              </p:cNvSpPr>
              <p:nvPr/>
            </p:nvSpPr>
            <p:spPr>
              <a:xfrm>
                <a:off x="4886145" y="4818455"/>
                <a:ext cx="1936556" cy="345736"/>
              </a:xfrm>
              <a:prstGeom prst="rect">
                <a:avLst/>
              </a:prstGeom>
              <a:blipFill>
                <a:blip r:embed="rId3"/>
                <a:stretch>
                  <a:fillRect/>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DED1A73C-EB68-4790-A03E-985E305E9DCC}"/>
              </a:ext>
            </a:extLst>
          </p:cNvPr>
          <p:cNvSpPr/>
          <p:nvPr/>
        </p:nvSpPr>
        <p:spPr>
          <a:xfrm>
            <a:off x="6515260" y="4275760"/>
            <a:ext cx="2663798" cy="490582"/>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42CE5604-5CA8-41DC-8EE9-183D47AFB31A}"/>
              </a:ext>
            </a:extLst>
          </p:cNvPr>
          <p:cNvSpPr/>
          <p:nvPr/>
        </p:nvSpPr>
        <p:spPr>
          <a:xfrm>
            <a:off x="4955498" y="4841155"/>
            <a:ext cx="1775288" cy="323036"/>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15">
            <a:extLst>
              <a:ext uri="{FF2B5EF4-FFF2-40B4-BE49-F238E27FC236}">
                <a16:creationId xmlns:a16="http://schemas.microsoft.com/office/drawing/2014/main" id="{4D50A350-4A6E-417B-874A-0B7651E51FF3}"/>
              </a:ext>
            </a:extLst>
          </p:cNvPr>
          <p:cNvGrpSpPr>
            <a:grpSpLocks/>
          </p:cNvGrpSpPr>
          <p:nvPr/>
        </p:nvGrpSpPr>
        <p:grpSpPr bwMode="auto">
          <a:xfrm>
            <a:off x="3520946" y="2485255"/>
            <a:ext cx="5150107" cy="1505322"/>
            <a:chOff x="250514" y="7640"/>
            <a:chExt cx="6878906" cy="2440661"/>
          </a:xfrm>
        </p:grpSpPr>
        <mc:AlternateContent xmlns:mc="http://schemas.openxmlformats.org/markup-compatibility/2006" xmlns:a14="http://schemas.microsoft.com/office/drawing/2010/main">
          <mc:Choice Requires="a14">
            <p:sp>
              <p:nvSpPr>
                <p:cNvPr id="10" name="文本框 16">
                  <a:extLst>
                    <a:ext uri="{FF2B5EF4-FFF2-40B4-BE49-F238E27FC236}">
                      <a16:creationId xmlns:a16="http://schemas.microsoft.com/office/drawing/2014/main" id="{333171FA-8BD9-4CD0-BA63-290D25FF5802}"/>
                    </a:ext>
                  </a:extLst>
                </p:cNvPr>
                <p:cNvSpPr txBox="1">
                  <a:spLocks noChangeArrowheads="1"/>
                </p:cNvSpPr>
                <p:nvPr/>
              </p:nvSpPr>
              <p:spPr bwMode="auto">
                <a:xfrm>
                  <a:off x="250514" y="744701"/>
                  <a:ext cx="1981930" cy="8003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None/>
                  </a:pPr>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Stock Price = </a:t>
                  </a:r>
                  <a14:m>
                    <m:oMath xmlns:m="http://schemas.openxmlformats.org/officeDocument/2006/math">
                      <m:r>
                        <a:rPr lang="en-US" altLang="zh-CN" sz="1600" b="0" i="1" dirty="0" smtClean="0">
                          <a:solidFill>
                            <a:srgbClr val="2C3E50"/>
                          </a:solidFill>
                          <a:latin typeface="Cambria Math" panose="02040503050406030204" pitchFamily="18" charset="0"/>
                          <a:ea typeface="Segoe UI" panose="020B0502040204020203" pitchFamily="34" charset="0"/>
                          <a:cs typeface="Segoe UI" panose="020B0502040204020203" pitchFamily="34" charset="0"/>
                        </a:rPr>
                        <m:t>𝑆</m:t>
                      </m:r>
                      <m:r>
                        <a:rPr lang="en-US" altLang="zh-CN" sz="1600" b="0" i="1" baseline="-25000" dirty="0">
                          <a:solidFill>
                            <a:srgbClr val="2C3E50"/>
                          </a:solidFill>
                          <a:latin typeface="Cambria Math" panose="02040503050406030204" pitchFamily="18" charset="0"/>
                          <a:ea typeface="Segoe UI" panose="020B0502040204020203" pitchFamily="34" charset="0"/>
                          <a:cs typeface="Segoe UI" panose="020B0502040204020203" pitchFamily="34" charset="0"/>
                        </a:rPr>
                        <m:t>0</m:t>
                      </m:r>
                    </m:oMath>
                  </a14:m>
                  <a:endParaRPr lang="en-US" altLang="zh-CN" sz="16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endParaRPr>
                </a:p>
                <a:p>
                  <a:pPr algn="ctr">
                    <a:lnSpc>
                      <a:spcPct val="120000"/>
                    </a:lnSpc>
                    <a:spcBef>
                      <a:spcPts val="0"/>
                    </a:spcBef>
                    <a:buClr>
                      <a:srgbClr val="800000"/>
                    </a:buClr>
                    <a:buSzPct val="80000"/>
                    <a:buFont typeface="Wingdings" panose="05000000000000000000" pitchFamily="2" charset="2"/>
                    <a:buNone/>
                  </a:pPr>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Option Price </a:t>
                  </a:r>
                  <a14:m>
                    <m:oMath xmlns:m="http://schemas.openxmlformats.org/officeDocument/2006/math">
                      <m:r>
                        <a:rPr lang="en-US" altLang="zh-CN" sz="1600" b="0" i="1" dirty="0" smtClean="0">
                          <a:solidFill>
                            <a:srgbClr val="2C3E50"/>
                          </a:solidFill>
                          <a:latin typeface="Cambria Math" panose="02040503050406030204" pitchFamily="18" charset="0"/>
                          <a:ea typeface="Segoe UI" panose="020B0502040204020203" pitchFamily="34" charset="0"/>
                          <a:cs typeface="Segoe UI" panose="020B0502040204020203" pitchFamily="34" charset="0"/>
                        </a:rPr>
                        <m:t>𝑓</m:t>
                      </m:r>
                    </m:oMath>
                  </a14:m>
                  <a:endParaRPr lang="zh-CN" altLang="en-US" sz="1600" b="0" dirty="0">
                    <a:solidFill>
                      <a:srgbClr val="2C3E50"/>
                    </a:solidFill>
                    <a:latin typeface="Segoe UI" panose="020B0502040204020203" pitchFamily="34" charset="0"/>
                    <a:cs typeface="Segoe UI" panose="020B0502040204020203" pitchFamily="34" charset="0"/>
                  </a:endParaRPr>
                </a:p>
              </p:txBody>
            </p:sp>
          </mc:Choice>
          <mc:Fallback xmlns="">
            <p:sp>
              <p:nvSpPr>
                <p:cNvPr id="32" name="文本框 16">
                  <a:extLst>
                    <a:ext uri="{FF2B5EF4-FFF2-40B4-BE49-F238E27FC236}">
                      <a16:creationId xmlns:a16="http://schemas.microsoft.com/office/drawing/2014/main" id="{1ACA8150-1D46-4891-B9BB-EC5484E2EF95}"/>
                    </a:ext>
                  </a:extLst>
                </p:cNvPr>
                <p:cNvSpPr txBox="1">
                  <a:spLocks noRot="1" noChangeAspect="1" noMove="1" noResize="1" noEditPoints="1" noAdjustHandles="1" noChangeArrowheads="1" noChangeShapeType="1" noTextEdit="1"/>
                </p:cNvSpPr>
                <p:nvPr/>
              </p:nvSpPr>
              <p:spPr bwMode="auto">
                <a:xfrm>
                  <a:off x="250514" y="744701"/>
                  <a:ext cx="1981930" cy="800395"/>
                </a:xfrm>
                <a:prstGeom prst="rect">
                  <a:avLst/>
                </a:prstGeom>
                <a:blipFill>
                  <a:blip r:embed="rId4"/>
                  <a:stretch>
                    <a:fillRect l="-6173" t="-14815" r="-412" b="-3209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1" name="椭圆 17">
              <a:extLst>
                <a:ext uri="{FF2B5EF4-FFF2-40B4-BE49-F238E27FC236}">
                  <a16:creationId xmlns:a16="http://schemas.microsoft.com/office/drawing/2014/main" id="{FE4E603E-B5EA-400F-B8ED-842E25B2C6FA}"/>
                </a:ext>
              </a:extLst>
            </p:cNvPr>
            <p:cNvSpPr>
              <a:spLocks noChangeArrowheads="1"/>
            </p:cNvSpPr>
            <p:nvPr/>
          </p:nvSpPr>
          <p:spPr bwMode="auto">
            <a:xfrm>
              <a:off x="2376695" y="1055919"/>
              <a:ext cx="180016" cy="180040"/>
            </a:xfrm>
            <a:prstGeom prst="ellipse">
              <a:avLst/>
            </a:prstGeom>
            <a:solidFill>
              <a:srgbClr val="2C3E50"/>
            </a:solidFill>
            <a:ln w="25400">
              <a:solidFill>
                <a:srgbClr val="2C3E50"/>
              </a:solidFill>
              <a:round/>
              <a:headEnd/>
              <a:tailEnd/>
            </a:ln>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12" name="椭圆 18">
              <a:extLst>
                <a:ext uri="{FF2B5EF4-FFF2-40B4-BE49-F238E27FC236}">
                  <a16:creationId xmlns:a16="http://schemas.microsoft.com/office/drawing/2014/main" id="{FBB4B04C-97A6-4FB7-BA7A-733202CDC9E0}"/>
                </a:ext>
              </a:extLst>
            </p:cNvPr>
            <p:cNvSpPr>
              <a:spLocks noChangeArrowheads="1"/>
            </p:cNvSpPr>
            <p:nvPr/>
          </p:nvSpPr>
          <p:spPr bwMode="auto">
            <a:xfrm>
              <a:off x="4535886" y="337094"/>
              <a:ext cx="180016" cy="180040"/>
            </a:xfrm>
            <a:prstGeom prst="ellipse">
              <a:avLst/>
            </a:prstGeom>
            <a:solidFill>
              <a:srgbClr val="2C3E50"/>
            </a:solidFill>
            <a:ln w="25400">
              <a:solidFill>
                <a:srgbClr val="2C3E50"/>
              </a:solidFill>
              <a:round/>
              <a:headEnd/>
              <a:tailEnd/>
            </a:ln>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13" name="椭圆 19">
              <a:extLst>
                <a:ext uri="{FF2B5EF4-FFF2-40B4-BE49-F238E27FC236}">
                  <a16:creationId xmlns:a16="http://schemas.microsoft.com/office/drawing/2014/main" id="{5A274422-2154-495F-B482-29A19030A061}"/>
                </a:ext>
              </a:extLst>
            </p:cNvPr>
            <p:cNvSpPr>
              <a:spLocks noChangeArrowheads="1"/>
            </p:cNvSpPr>
            <p:nvPr/>
          </p:nvSpPr>
          <p:spPr bwMode="auto">
            <a:xfrm>
              <a:off x="4535886" y="1777571"/>
              <a:ext cx="180016" cy="180040"/>
            </a:xfrm>
            <a:prstGeom prst="ellipse">
              <a:avLst/>
            </a:prstGeom>
            <a:solidFill>
              <a:srgbClr val="2C3E50"/>
            </a:solidFill>
            <a:ln w="25400">
              <a:solidFill>
                <a:srgbClr val="2C3E50"/>
              </a:solidFill>
              <a:round/>
              <a:headEnd/>
              <a:tailEnd/>
            </a:ln>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cxnSp>
          <p:nvCxnSpPr>
            <p:cNvPr id="14" name="直接箭头连接符 20">
              <a:extLst>
                <a:ext uri="{FF2B5EF4-FFF2-40B4-BE49-F238E27FC236}">
                  <a16:creationId xmlns:a16="http://schemas.microsoft.com/office/drawing/2014/main" id="{03CE44B2-938C-4B78-9CA9-F4F02E61417C}"/>
                </a:ext>
              </a:extLst>
            </p:cNvPr>
            <p:cNvCxnSpPr>
              <a:cxnSpLocks noChangeShapeType="1"/>
            </p:cNvCxnSpPr>
            <p:nvPr/>
          </p:nvCxnSpPr>
          <p:spPr bwMode="auto">
            <a:xfrm flipV="1">
              <a:off x="2551336" y="439735"/>
              <a:ext cx="1980174" cy="720159"/>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p:cxnSp>
          <p:nvCxnSpPr>
            <p:cNvPr id="15" name="直接箭头连接符 21">
              <a:extLst>
                <a:ext uri="{FF2B5EF4-FFF2-40B4-BE49-F238E27FC236}">
                  <a16:creationId xmlns:a16="http://schemas.microsoft.com/office/drawing/2014/main" id="{D998BF52-FA2E-4A14-8B31-2C6DA1BE1097}"/>
                </a:ext>
              </a:extLst>
            </p:cNvPr>
            <p:cNvCxnSpPr>
              <a:cxnSpLocks noChangeShapeType="1"/>
            </p:cNvCxnSpPr>
            <p:nvPr/>
          </p:nvCxnSpPr>
          <p:spPr bwMode="auto">
            <a:xfrm>
              <a:off x="2551336" y="1160053"/>
              <a:ext cx="1980174" cy="720159"/>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mc:AlternateContent xmlns:mc="http://schemas.openxmlformats.org/markup-compatibility/2006" xmlns:a14="http://schemas.microsoft.com/office/drawing/2010/main">
          <mc:Choice Requires="a14">
            <p:sp>
              <p:nvSpPr>
                <p:cNvPr id="16" name="文本框 22">
                  <a:extLst>
                    <a:ext uri="{FF2B5EF4-FFF2-40B4-BE49-F238E27FC236}">
                      <a16:creationId xmlns:a16="http://schemas.microsoft.com/office/drawing/2014/main" id="{96D3B598-532A-42CF-ADCB-F1C475372202}"/>
                    </a:ext>
                  </a:extLst>
                </p:cNvPr>
                <p:cNvSpPr txBox="1">
                  <a:spLocks noChangeArrowheads="1"/>
                </p:cNvSpPr>
                <p:nvPr/>
              </p:nvSpPr>
              <p:spPr bwMode="auto">
                <a:xfrm>
                  <a:off x="4789213" y="7640"/>
                  <a:ext cx="2340206" cy="79217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600" b="0" i="1" dirty="0" smtClean="0">
                            <a:solidFill>
                              <a:srgbClr val="2C3E50"/>
                            </a:solidFill>
                            <a:latin typeface="Cambria Math" panose="02040503050406030204" pitchFamily="18" charset="0"/>
                            <a:ea typeface="Segoe UI" panose="020B0502040204020203" pitchFamily="34" charset="0"/>
                            <a:cs typeface="Segoe UI" panose="020B0502040204020203" pitchFamily="34" charset="0"/>
                          </a:rPr>
                          <m:t>𝑆</m:t>
                        </m:r>
                        <m:r>
                          <a:rPr lang="en-US" altLang="zh-CN" sz="1600" b="0" i="1" baseline="-25000" dirty="0">
                            <a:solidFill>
                              <a:srgbClr val="2C3E50"/>
                            </a:solidFill>
                            <a:latin typeface="Cambria Math" panose="02040503050406030204" pitchFamily="18" charset="0"/>
                            <a:ea typeface="Segoe UI" panose="020B0502040204020203" pitchFamily="34" charset="0"/>
                            <a:cs typeface="Segoe UI" panose="020B0502040204020203" pitchFamily="34" charset="0"/>
                          </a:rPr>
                          <m:t>0</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𝑢</m:t>
                        </m:r>
                      </m:oMath>
                    </m:oMathPara>
                  </a14:m>
                  <a:endPar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endParaRPr>
                </a:p>
                <a:p>
                  <a:pPr algn="ctr">
                    <a:lnSpc>
                      <a:spcPct val="120000"/>
                    </a:lnSpc>
                    <a:spcBef>
                      <a:spcPts val="0"/>
                    </a:spcBef>
                    <a:buClr>
                      <a:srgbClr val="800000"/>
                    </a:buClr>
                    <a:buSzPct val="80000"/>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600" b="0" i="1" dirty="0" smtClean="0">
                            <a:solidFill>
                              <a:srgbClr val="2C3E50"/>
                            </a:solidFill>
                            <a:latin typeface="Cambria Math" panose="02040503050406030204" pitchFamily="18" charset="0"/>
                            <a:ea typeface="Segoe UI" panose="020B0502040204020203" pitchFamily="34" charset="0"/>
                            <a:cs typeface="Segoe UI" panose="020B0502040204020203" pitchFamily="34" charset="0"/>
                          </a:rPr>
                          <m:t>𝑓</m:t>
                        </m:r>
                        <m:r>
                          <a:rPr lang="en-US" altLang="zh-CN" sz="1600" b="0" i="1" baseline="-25000" dirty="0" err="1">
                            <a:solidFill>
                              <a:srgbClr val="2C3E50"/>
                            </a:solidFill>
                            <a:latin typeface="Cambria Math" panose="02040503050406030204" pitchFamily="18" charset="0"/>
                            <a:ea typeface="Segoe UI" panose="020B0502040204020203" pitchFamily="34" charset="0"/>
                            <a:cs typeface="Segoe UI" panose="020B0502040204020203" pitchFamily="34" charset="0"/>
                          </a:rPr>
                          <m:t>𝑢</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 = </m:t>
                        </m:r>
                        <m:r>
                          <m:rPr>
                            <m:sty m:val="p"/>
                          </m:rP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max</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𝑆</m:t>
                        </m:r>
                        <m:r>
                          <a:rPr lang="en-US" altLang="zh-CN" sz="1600" b="0" i="1" baseline="-25000" dirty="0">
                            <a:solidFill>
                              <a:srgbClr val="2C3E50"/>
                            </a:solidFill>
                            <a:latin typeface="Cambria Math" panose="02040503050406030204" pitchFamily="18" charset="0"/>
                            <a:ea typeface="Segoe UI" panose="020B0502040204020203" pitchFamily="34" charset="0"/>
                            <a:cs typeface="Segoe UI" panose="020B0502040204020203" pitchFamily="34" charset="0"/>
                          </a:rPr>
                          <m:t>0</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𝑢</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 – </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𝐾</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 0)</m:t>
                        </m:r>
                      </m:oMath>
                    </m:oMathPara>
                  </a14:m>
                  <a:endParaRPr lang="zh-CN" altLang="en-US" sz="1600" b="0" dirty="0">
                    <a:solidFill>
                      <a:srgbClr val="2C3E50"/>
                    </a:solidFill>
                    <a:latin typeface="Segoe UI" panose="020B0502040204020203" pitchFamily="34" charset="0"/>
                    <a:cs typeface="Segoe UI" panose="020B0502040204020203" pitchFamily="34" charset="0"/>
                  </a:endParaRPr>
                </a:p>
              </p:txBody>
            </p:sp>
          </mc:Choice>
          <mc:Fallback xmlns="">
            <p:sp>
              <p:nvSpPr>
                <p:cNvPr id="38" name="文本框 22">
                  <a:extLst>
                    <a:ext uri="{FF2B5EF4-FFF2-40B4-BE49-F238E27FC236}">
                      <a16:creationId xmlns:a16="http://schemas.microsoft.com/office/drawing/2014/main" id="{B1F9E161-3D4A-4BD0-A2D5-473FD083F65E}"/>
                    </a:ext>
                  </a:extLst>
                </p:cNvPr>
                <p:cNvSpPr txBox="1">
                  <a:spLocks noRot="1" noChangeAspect="1" noMove="1" noResize="1" noEditPoints="1" noAdjustHandles="1" noChangeArrowheads="1" noChangeShapeType="1" noTextEdit="1"/>
                </p:cNvSpPr>
                <p:nvPr/>
              </p:nvSpPr>
              <p:spPr bwMode="auto">
                <a:xfrm>
                  <a:off x="4789213" y="7640"/>
                  <a:ext cx="2340206" cy="792174"/>
                </a:xfrm>
                <a:prstGeom prst="rect">
                  <a:avLst/>
                </a:prstGeom>
                <a:blipFill>
                  <a:blip r:embed="rId5"/>
                  <a:stretch>
                    <a:fillRect l="-12500" r="-9375" b="-225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23">
                  <a:extLst>
                    <a:ext uri="{FF2B5EF4-FFF2-40B4-BE49-F238E27FC236}">
                      <a16:creationId xmlns:a16="http://schemas.microsoft.com/office/drawing/2014/main" id="{D9268C66-7B85-4F16-9D34-9EBC6FCCB8E4}"/>
                    </a:ext>
                  </a:extLst>
                </p:cNvPr>
                <p:cNvSpPr txBox="1">
                  <a:spLocks noChangeArrowheads="1"/>
                </p:cNvSpPr>
                <p:nvPr/>
              </p:nvSpPr>
              <p:spPr bwMode="auto">
                <a:xfrm>
                  <a:off x="4789214" y="1656127"/>
                  <a:ext cx="2340206" cy="79217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600" b="0" i="1" dirty="0" smtClean="0">
                            <a:solidFill>
                              <a:srgbClr val="2C3E50"/>
                            </a:solidFill>
                            <a:latin typeface="Cambria Math" panose="02040503050406030204" pitchFamily="18" charset="0"/>
                            <a:ea typeface="Segoe UI" panose="020B0502040204020203" pitchFamily="34" charset="0"/>
                            <a:cs typeface="Segoe UI" panose="020B0502040204020203" pitchFamily="34" charset="0"/>
                          </a:rPr>
                          <m:t>𝑆</m:t>
                        </m:r>
                        <m:r>
                          <a:rPr lang="en-US" altLang="zh-CN" sz="1600" b="0" i="1" baseline="-25000" dirty="0">
                            <a:solidFill>
                              <a:srgbClr val="2C3E50"/>
                            </a:solidFill>
                            <a:latin typeface="Cambria Math" panose="02040503050406030204" pitchFamily="18" charset="0"/>
                            <a:ea typeface="Segoe UI" panose="020B0502040204020203" pitchFamily="34" charset="0"/>
                            <a:cs typeface="Segoe UI" panose="020B0502040204020203" pitchFamily="34" charset="0"/>
                          </a:rPr>
                          <m:t>0</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𝑑</m:t>
                        </m:r>
                      </m:oMath>
                    </m:oMathPara>
                  </a14:m>
                  <a:endPar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endParaRPr>
                </a:p>
                <a:p>
                  <a:pPr algn="ctr">
                    <a:lnSpc>
                      <a:spcPct val="120000"/>
                    </a:lnSpc>
                    <a:spcBef>
                      <a:spcPts val="0"/>
                    </a:spcBef>
                    <a:buClr>
                      <a:srgbClr val="800000"/>
                    </a:buClr>
                    <a:buSzPct val="80000"/>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600" b="0" i="1" dirty="0" smtClean="0">
                            <a:solidFill>
                              <a:srgbClr val="2C3E50"/>
                            </a:solidFill>
                            <a:latin typeface="Cambria Math" panose="02040503050406030204" pitchFamily="18" charset="0"/>
                            <a:ea typeface="Segoe UI" panose="020B0502040204020203" pitchFamily="34" charset="0"/>
                            <a:cs typeface="Segoe UI" panose="020B0502040204020203" pitchFamily="34" charset="0"/>
                          </a:rPr>
                          <m:t>𝑓</m:t>
                        </m:r>
                        <m:r>
                          <a:rPr lang="en-US" altLang="zh-CN" sz="1600" b="0" i="1" baseline="-25000" dirty="0" err="1">
                            <a:solidFill>
                              <a:srgbClr val="2C3E50"/>
                            </a:solidFill>
                            <a:latin typeface="Cambria Math" panose="02040503050406030204" pitchFamily="18" charset="0"/>
                            <a:ea typeface="Segoe UI" panose="020B0502040204020203" pitchFamily="34" charset="0"/>
                            <a:cs typeface="Segoe UI" panose="020B0502040204020203" pitchFamily="34" charset="0"/>
                          </a:rPr>
                          <m:t>𝑑</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 = </m:t>
                        </m:r>
                        <m:r>
                          <m:rPr>
                            <m:sty m:val="p"/>
                          </m:rP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max</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𝑆</m:t>
                        </m:r>
                        <m:r>
                          <a:rPr lang="en-US" altLang="zh-CN" sz="1600" b="0" i="1" baseline="-25000" dirty="0">
                            <a:solidFill>
                              <a:srgbClr val="2C3E50"/>
                            </a:solidFill>
                            <a:latin typeface="Cambria Math" panose="02040503050406030204" pitchFamily="18" charset="0"/>
                            <a:ea typeface="Segoe UI" panose="020B0502040204020203" pitchFamily="34" charset="0"/>
                            <a:cs typeface="Segoe UI" panose="020B0502040204020203" pitchFamily="34" charset="0"/>
                          </a:rPr>
                          <m:t>0</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𝑑</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 – </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𝐾</m:t>
                        </m:r>
                        <m:r>
                          <a:rPr lang="en-US" altLang="zh-CN" sz="1600" b="0" i="1" dirty="0">
                            <a:solidFill>
                              <a:srgbClr val="2C3E50"/>
                            </a:solidFill>
                            <a:latin typeface="Cambria Math" panose="02040503050406030204" pitchFamily="18" charset="0"/>
                            <a:ea typeface="Segoe UI" panose="020B0502040204020203" pitchFamily="34" charset="0"/>
                            <a:cs typeface="Segoe UI" panose="020B0502040204020203" pitchFamily="34" charset="0"/>
                          </a:rPr>
                          <m:t>, 0) </m:t>
                        </m:r>
                      </m:oMath>
                    </m:oMathPara>
                  </a14:m>
                  <a:endParaRPr lang="zh-CN" altLang="en-US" sz="1600" b="0" dirty="0">
                    <a:solidFill>
                      <a:srgbClr val="2C3E50"/>
                    </a:solidFill>
                    <a:latin typeface="Segoe UI" panose="020B0502040204020203" pitchFamily="34" charset="0"/>
                    <a:cs typeface="Segoe UI" panose="020B0502040204020203" pitchFamily="34" charset="0"/>
                  </a:endParaRPr>
                </a:p>
              </p:txBody>
            </p:sp>
          </mc:Choice>
          <mc:Fallback xmlns="">
            <p:sp>
              <p:nvSpPr>
                <p:cNvPr id="39" name="文本框 23">
                  <a:extLst>
                    <a:ext uri="{FF2B5EF4-FFF2-40B4-BE49-F238E27FC236}">
                      <a16:creationId xmlns:a16="http://schemas.microsoft.com/office/drawing/2014/main" id="{B226C060-FDFD-4E27-9BE8-C7E5351A8A38}"/>
                    </a:ext>
                  </a:extLst>
                </p:cNvPr>
                <p:cNvSpPr txBox="1">
                  <a:spLocks noRot="1" noChangeAspect="1" noMove="1" noResize="1" noEditPoints="1" noAdjustHandles="1" noChangeArrowheads="1" noChangeShapeType="1" noTextEdit="1"/>
                </p:cNvSpPr>
                <p:nvPr/>
              </p:nvSpPr>
              <p:spPr bwMode="auto">
                <a:xfrm>
                  <a:off x="4789214" y="1656127"/>
                  <a:ext cx="2340206" cy="792174"/>
                </a:xfrm>
                <a:prstGeom prst="rect">
                  <a:avLst/>
                </a:prstGeom>
                <a:blipFill>
                  <a:blip r:embed="rId6"/>
                  <a:stretch>
                    <a:fillRect l="-13889" t="-2500" r="-7986" b="-225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sp>
        <p:nvSpPr>
          <p:cNvPr id="18" name="文本框 25">
            <a:extLst>
              <a:ext uri="{FF2B5EF4-FFF2-40B4-BE49-F238E27FC236}">
                <a16:creationId xmlns:a16="http://schemas.microsoft.com/office/drawing/2014/main" id="{54DA6BAE-E335-4D0C-8139-E88080EED7BA}"/>
              </a:ext>
            </a:extLst>
          </p:cNvPr>
          <p:cNvSpPr txBox="1">
            <a:spLocks noChangeArrowheads="1"/>
          </p:cNvSpPr>
          <p:nvPr/>
        </p:nvSpPr>
        <p:spPr bwMode="auto">
          <a:xfrm>
            <a:off x="5558047" y="3384757"/>
            <a:ext cx="719999"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ts val="0"/>
              </a:spcBef>
              <a:buClr>
                <a:srgbClr val="800000"/>
              </a:buClr>
              <a:buSzPct val="80000"/>
              <a:buFont typeface="Wingdings" panose="05000000000000000000" pitchFamily="2" charset="2"/>
              <a:buNone/>
            </a:pP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1-p</a:t>
            </a:r>
            <a:endParaRPr lang="zh-CN" altLang="en-US" sz="2000" b="0" dirty="0">
              <a:solidFill>
                <a:srgbClr val="2C3E50"/>
              </a:solidFill>
              <a:latin typeface="Segoe UI" panose="020B0502040204020203" pitchFamily="34" charset="0"/>
              <a:cs typeface="Segoe UI" panose="020B0502040204020203" pitchFamily="34" charset="0"/>
            </a:endParaRPr>
          </a:p>
        </p:txBody>
      </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4AC89F17-06B7-4E05-8CD1-7A83A975B2A6}"/>
                  </a:ext>
                </a:extLst>
              </p:cNvPr>
              <p:cNvSpPr/>
              <p:nvPr/>
            </p:nvSpPr>
            <p:spPr>
              <a:xfrm>
                <a:off x="4688082" y="5389861"/>
                <a:ext cx="2310120" cy="30841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𝑓</m:t>
                      </m:r>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𝑝</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𝑓</m:t>
                              </m:r>
                            </m:e>
                            <m:sub>
                              <m:r>
                                <a:rPr lang="zh-CN" altLang="en-US" sz="1400" i="1">
                                  <a:latin typeface="Cambria Math" panose="02040503050406030204" pitchFamily="18" charset="0"/>
                                </a:rPr>
                                <m:t>𝑢</m:t>
                              </m:r>
                            </m:sub>
                          </m:sSub>
                          <m:r>
                            <a:rPr lang="zh-CN" altLang="en-US" sz="1400" i="0">
                              <a:latin typeface="Cambria Math" panose="02040503050406030204" pitchFamily="18" charset="0"/>
                            </a:rPr>
                            <m:t>+</m:t>
                          </m:r>
                          <m:d>
                            <m:dPr>
                              <m:ctrlPr>
                                <a:rPr lang="zh-CN" altLang="en-US" sz="1400" i="1">
                                  <a:latin typeface="Cambria Math" panose="02040503050406030204" pitchFamily="18" charset="0"/>
                                </a:rPr>
                              </m:ctrlPr>
                            </m:dPr>
                            <m:e>
                              <m:r>
                                <a:rPr lang="zh-CN" altLang="en-US" sz="1400" i="0">
                                  <a:latin typeface="Cambria Math" panose="02040503050406030204" pitchFamily="18" charset="0"/>
                                </a:rPr>
                                <m:t>1−</m:t>
                              </m:r>
                              <m:r>
                                <a:rPr lang="zh-CN" altLang="en-US" sz="1400" i="1">
                                  <a:latin typeface="Cambria Math" panose="02040503050406030204" pitchFamily="18" charset="0"/>
                                </a:rPr>
                                <m:t>𝑝</m:t>
                              </m:r>
                            </m:e>
                          </m:d>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𝑓</m:t>
                              </m:r>
                            </m:e>
                            <m:sub>
                              <m:r>
                                <a:rPr lang="zh-CN" altLang="en-US" sz="1400" i="1">
                                  <a:latin typeface="Cambria Math" panose="02040503050406030204" pitchFamily="18" charset="0"/>
                                </a:rPr>
                                <m:t>𝑑</m:t>
                              </m:r>
                            </m:sub>
                          </m:sSub>
                        </m:e>
                      </m:d>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𝑒</m:t>
                          </m:r>
                        </m:e>
                        <m:sup>
                          <m:r>
                            <a:rPr lang="zh-CN" altLang="en-US" sz="1400" i="0">
                              <a:latin typeface="Cambria Math" panose="02040503050406030204" pitchFamily="18" charset="0"/>
                            </a:rPr>
                            <m:t>−</m:t>
                          </m:r>
                          <m:r>
                            <a:rPr lang="zh-CN" altLang="en-US" sz="1400" i="1">
                              <a:latin typeface="Cambria Math" panose="02040503050406030204" pitchFamily="18" charset="0"/>
                            </a:rPr>
                            <m:t>𝑟</m:t>
                          </m:r>
                          <m:r>
                            <a:rPr lang="zh-CN" altLang="en-US" sz="1400" i="1">
                              <a:latin typeface="Cambria Math" panose="02040503050406030204" pitchFamily="18" charset="0"/>
                            </a:rPr>
                            <m:t>𝛥</m:t>
                          </m:r>
                          <m:r>
                            <a:rPr lang="zh-CN" altLang="en-US" sz="1400" i="1">
                              <a:latin typeface="Cambria Math" panose="02040503050406030204" pitchFamily="18" charset="0"/>
                            </a:rPr>
                            <m:t>𝑡</m:t>
                          </m:r>
                        </m:sup>
                      </m:sSup>
                    </m:oMath>
                  </m:oMathPara>
                </a14:m>
                <a:endParaRPr lang="zh-CN" altLang="en-US" sz="1400" dirty="0"/>
              </a:p>
            </p:txBody>
          </p:sp>
        </mc:Choice>
        <mc:Fallback xmlns="">
          <p:sp>
            <p:nvSpPr>
              <p:cNvPr id="19" name="矩形 18">
                <a:extLst>
                  <a:ext uri="{FF2B5EF4-FFF2-40B4-BE49-F238E27FC236}">
                    <a16:creationId xmlns:a16="http://schemas.microsoft.com/office/drawing/2014/main" id="{4AC89F17-06B7-4E05-8CD1-7A83A975B2A6}"/>
                  </a:ext>
                </a:extLst>
              </p:cNvPr>
              <p:cNvSpPr>
                <a:spLocks noRot="1" noChangeAspect="1" noMove="1" noResize="1" noEditPoints="1" noAdjustHandles="1" noChangeArrowheads="1" noChangeShapeType="1" noTextEdit="1"/>
              </p:cNvSpPr>
              <p:nvPr/>
            </p:nvSpPr>
            <p:spPr>
              <a:xfrm>
                <a:off x="4688082" y="5389861"/>
                <a:ext cx="2310120" cy="308418"/>
              </a:xfrm>
              <a:prstGeom prst="rect">
                <a:avLst/>
              </a:prstGeom>
              <a:blipFill>
                <a:blip r:embed="rId7"/>
                <a:stretch>
                  <a:fillRect b="-9804"/>
                </a:stretch>
              </a:blipFill>
            </p:spPr>
            <p:txBody>
              <a:bodyPr/>
              <a:lstStyle/>
              <a:p>
                <a:r>
                  <a:rPr lang="zh-CN" altLang="en-US">
                    <a:noFill/>
                  </a:rPr>
                  <a:t> </a:t>
                </a:r>
              </a:p>
            </p:txBody>
          </p:sp>
        </mc:Fallback>
      </mc:AlternateContent>
      <p:sp>
        <p:nvSpPr>
          <p:cNvPr id="20" name="矩形 19">
            <a:extLst>
              <a:ext uri="{FF2B5EF4-FFF2-40B4-BE49-F238E27FC236}">
                <a16:creationId xmlns:a16="http://schemas.microsoft.com/office/drawing/2014/main" id="{A73E2F35-FC24-459B-B480-8C51DEB2D917}"/>
              </a:ext>
            </a:extLst>
          </p:cNvPr>
          <p:cNvSpPr/>
          <p:nvPr/>
        </p:nvSpPr>
        <p:spPr>
          <a:xfrm>
            <a:off x="4739971" y="5378187"/>
            <a:ext cx="2211247" cy="323036"/>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49263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fontScale="92500" lnSpcReduction="20000"/>
          </a:bodyPr>
          <a:lstStyle/>
          <a:p>
            <a:r>
              <a:rPr lang="en-US" altLang="zh-CN" dirty="0"/>
              <a:t>Exercise 1</a:t>
            </a:r>
          </a:p>
          <a:p>
            <a:pPr>
              <a:buFont typeface="Wingdings" panose="05000000000000000000" pitchFamily="2" charset="2"/>
              <a:buChar char="l"/>
            </a:pPr>
            <a:r>
              <a:rPr lang="en-US" altLang="zh-CN" dirty="0">
                <a:solidFill>
                  <a:schemeClr val="tx1"/>
                </a:solidFill>
              </a:rPr>
              <a:t>A stock currently trades at $10. At the end of three months, the stock will either be $11 or $9. The continuously compounded risk-free rate of interest is 3.5% per year. The value of a 3-month European call option with a strike price of $10 is closest to:</a:t>
            </a:r>
          </a:p>
          <a:p>
            <a:pPr marL="817200" lvl="1" indent="-457200">
              <a:buSzPct val="100000"/>
              <a:buFont typeface="+mj-lt"/>
              <a:buAutoNum type="alphaUcPeriod"/>
            </a:pPr>
            <a:r>
              <a:rPr lang="en-US" altLang="zh-CN" dirty="0"/>
              <a:t>$0.11</a:t>
            </a:r>
          </a:p>
          <a:p>
            <a:pPr marL="817200" lvl="1" indent="-457200">
              <a:buSzPct val="100000"/>
              <a:buFont typeface="+mj-lt"/>
              <a:buAutoNum type="alphaUcPeriod"/>
            </a:pPr>
            <a:r>
              <a:rPr lang="en-US" altLang="zh-CN" dirty="0"/>
              <a:t>$0.54</a:t>
            </a:r>
          </a:p>
          <a:p>
            <a:pPr marL="817200" lvl="1" indent="-457200">
              <a:buSzPct val="100000"/>
              <a:buFont typeface="+mj-lt"/>
              <a:buAutoNum type="alphaUcPeriod"/>
            </a:pPr>
            <a:r>
              <a:rPr lang="en-US" altLang="zh-CN" dirty="0"/>
              <a:t>$0.65</a:t>
            </a:r>
          </a:p>
          <a:p>
            <a:pPr marL="817200" lvl="1" indent="-457200">
              <a:buSzPct val="100000"/>
              <a:buFont typeface="+mj-lt"/>
              <a:buAutoNum type="alphaUcPeriod"/>
            </a:pPr>
            <a:r>
              <a:rPr lang="en-US" altLang="zh-CN" dirty="0"/>
              <a:t>$1.01</a:t>
            </a:r>
          </a:p>
          <a:p>
            <a:pPr marL="360000" lvl="1" indent="0">
              <a:buSzPct val="100000"/>
              <a:buNone/>
            </a:pPr>
            <a:endParaRPr lang="en-US" altLang="zh-CN" dirty="0"/>
          </a:p>
          <a:p>
            <a:pPr marL="360000" lvl="1" indent="0">
              <a:buSzPct val="100000"/>
              <a:buNone/>
            </a:pPr>
            <a:endParaRPr lang="en-US" altLang="zh-CN" dirty="0"/>
          </a:p>
          <a:p>
            <a:pPr marL="245700">
              <a:buSzPct val="100000"/>
              <a:buFont typeface="Wingdings" panose="05000000000000000000" pitchFamily="2" charset="2"/>
              <a:buChar char="l"/>
            </a:pPr>
            <a:r>
              <a:rPr lang="en-US" altLang="zh-CN" dirty="0">
                <a:solidFill>
                  <a:schemeClr val="tx1"/>
                </a:solidFill>
              </a:rPr>
              <a:t>Correct Answer : B</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199461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fontScale="92500"/>
          </a:bodyPr>
          <a:lstStyle/>
          <a:p>
            <a:r>
              <a:rPr lang="en-US" altLang="zh-CN" dirty="0"/>
              <a:t>Exercise 2</a:t>
            </a:r>
          </a:p>
          <a:p>
            <a:pPr>
              <a:buFont typeface="Wingdings" panose="05000000000000000000" pitchFamily="2" charset="2"/>
              <a:buChar char="l"/>
            </a:pPr>
            <a:r>
              <a:rPr lang="en-US" altLang="zh-CN" dirty="0">
                <a:solidFill>
                  <a:schemeClr val="tx1"/>
                </a:solidFill>
              </a:rPr>
              <a:t>A trader has an American put option with strike price of $50. The underlying asset is stock with a spot price of $40. Using an one-step binomial tree to evaluate the option. Suppose the stock price will go up or down by $8 in 6 month, the risk-free rate is 6.2, what is the value of this American put?</a:t>
            </a:r>
          </a:p>
          <a:p>
            <a:pPr marL="914400" lvl="1" indent="-457200">
              <a:buFont typeface="+mj-lt"/>
              <a:buAutoNum type="alphaUcPeriod"/>
            </a:pPr>
            <a:r>
              <a:rPr lang="en-US" altLang="zh-CN" dirty="0"/>
              <a:t>USD 8.19</a:t>
            </a:r>
          </a:p>
          <a:p>
            <a:pPr marL="914400" lvl="1" indent="-457200">
              <a:buFont typeface="+mj-lt"/>
              <a:buAutoNum type="alphaUcPeriod"/>
            </a:pPr>
            <a:r>
              <a:rPr lang="en-US" altLang="zh-CN" dirty="0"/>
              <a:t>USD 8.45</a:t>
            </a:r>
          </a:p>
          <a:p>
            <a:pPr marL="914400" lvl="1" indent="-457200">
              <a:buFont typeface="+mj-lt"/>
              <a:buAutoNum type="alphaUcPeriod"/>
            </a:pPr>
            <a:r>
              <a:rPr lang="en-US" altLang="zh-CN" dirty="0"/>
              <a:t>USD 10.00</a:t>
            </a:r>
          </a:p>
          <a:p>
            <a:pPr marL="914400" lvl="1" indent="-457200">
              <a:buFont typeface="+mj-lt"/>
              <a:buAutoNum type="alphaUcPeriod"/>
            </a:pPr>
            <a:r>
              <a:rPr lang="en-US" altLang="zh-CN" dirty="0"/>
              <a:t>USD 10.32</a:t>
            </a:r>
          </a:p>
          <a:p>
            <a:pPr marL="914400" lvl="1" indent="-457200">
              <a:buFont typeface="+mj-lt"/>
              <a:buAutoNum type="alphaUcPeriod"/>
            </a:pPr>
            <a:endParaRPr lang="en-US" altLang="zh-CN" dirty="0"/>
          </a:p>
          <a:p>
            <a:pPr>
              <a:buFont typeface="Wingdings" panose="05000000000000000000" pitchFamily="2" charset="2"/>
              <a:buChar char="l"/>
            </a:pPr>
            <a:r>
              <a:rPr lang="en-US" altLang="zh-CN" dirty="0">
                <a:solidFill>
                  <a:schemeClr val="tx1"/>
                </a:solidFill>
              </a:rPr>
              <a:t>Correct Answer : C</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2491984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Example</a:t>
            </a:r>
          </a:p>
          <a:p>
            <a:endParaRPr lang="zh-CN" altLang="en-US" dirty="0">
              <a:latin typeface="+mn-lt"/>
              <a:ea typeface="+mn-ea"/>
              <a:cs typeface="+mn-ea"/>
              <a:sym typeface="+mn-lt"/>
            </a:endParaRPr>
          </a:p>
        </p:txBody>
      </p:sp>
      <p:graphicFrame>
        <p:nvGraphicFramePr>
          <p:cNvPr id="4" name="表格 3">
            <a:extLst>
              <a:ext uri="{FF2B5EF4-FFF2-40B4-BE49-F238E27FC236}">
                <a16:creationId xmlns:a16="http://schemas.microsoft.com/office/drawing/2014/main" id="{AD48E04D-AE3D-4E29-821C-F8F5414D5631}"/>
              </a:ext>
            </a:extLst>
          </p:cNvPr>
          <p:cNvGraphicFramePr>
            <a:graphicFrameLocks noGrp="1"/>
          </p:cNvGraphicFramePr>
          <p:nvPr>
            <p:extLst>
              <p:ext uri="{D42A27DB-BD31-4B8C-83A1-F6EECF244321}">
                <p14:modId xmlns:p14="http://schemas.microsoft.com/office/powerpoint/2010/main" val="3517740724"/>
              </p:ext>
            </p:extLst>
          </p:nvPr>
        </p:nvGraphicFramePr>
        <p:xfrm>
          <a:off x="2587280" y="2111465"/>
          <a:ext cx="6480000" cy="692640"/>
        </p:xfrm>
        <a:graphic>
          <a:graphicData uri="http://schemas.openxmlformats.org/drawingml/2006/table">
            <a:tbl>
              <a:tblPr firstRow="1" bandRow="1">
                <a:tableStyleId>{5C22544A-7EE6-4342-B048-85BDC9FD1C3A}</a:tableStyleId>
              </a:tblPr>
              <a:tblGrid>
                <a:gridCol w="9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tblGrid>
              <a:tr h="270187">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Asset</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Strike</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Time</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Volatility</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Riskless</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Div. Yield</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70187">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$810</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$800</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0.5</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20%</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5" name="表格 4">
            <a:extLst>
              <a:ext uri="{FF2B5EF4-FFF2-40B4-BE49-F238E27FC236}">
                <a16:creationId xmlns:a16="http://schemas.microsoft.com/office/drawing/2014/main" id="{9E8F58EA-8877-4822-BE1C-B929EA8578BD}"/>
              </a:ext>
            </a:extLst>
          </p:cNvPr>
          <p:cNvGraphicFramePr>
            <a:graphicFrameLocks noGrp="1"/>
          </p:cNvGraphicFramePr>
          <p:nvPr>
            <p:extLst>
              <p:ext uri="{D42A27DB-BD31-4B8C-83A1-F6EECF244321}">
                <p14:modId xmlns:p14="http://schemas.microsoft.com/office/powerpoint/2010/main" val="2142280287"/>
              </p:ext>
            </p:extLst>
          </p:nvPr>
        </p:nvGraphicFramePr>
        <p:xfrm>
          <a:off x="4211355" y="3530095"/>
          <a:ext cx="3240000" cy="69264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tblGrid>
              <a:tr h="270187">
                <a:tc>
                  <a:txBody>
                    <a:bodyPr/>
                    <a:lstStyle/>
                    <a:p>
                      <a:pPr algn="ctr"/>
                      <a:r>
                        <a:rPr lang="en-US" altLang="zh-CN" sz="1800" dirty="0">
                          <a:solidFill>
                            <a:srgbClr val="2C3E50"/>
                          </a:solidFill>
                          <a:latin typeface="Arial" panose="020B0604020202020204" pitchFamily="34" charset="0"/>
                          <a:cs typeface="Arial" panose="020B0604020202020204" pitchFamily="34" charset="0"/>
                        </a:rPr>
                        <a:t>u</a:t>
                      </a:r>
                      <a:endParaRPr lang="zh-CN" altLang="en-US" sz="1800" dirty="0">
                        <a:solidFill>
                          <a:srgbClr val="2C3E50"/>
                        </a:solidFill>
                        <a:latin typeface="Arial" panose="020B0604020202020204" pitchFamily="34" charset="0"/>
                        <a:cs typeface="Arial" panose="020B0604020202020204"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Arial" panose="020B0604020202020204" pitchFamily="34" charset="0"/>
                          <a:cs typeface="Arial" panose="020B0604020202020204" pitchFamily="34" charset="0"/>
                        </a:rPr>
                        <a:t>d</a:t>
                      </a:r>
                      <a:endParaRPr lang="zh-CN" altLang="en-US" sz="1800" dirty="0">
                        <a:solidFill>
                          <a:srgbClr val="2C3E50"/>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Arial" panose="020B0604020202020204" pitchFamily="34" charset="0"/>
                          <a:cs typeface="Arial" panose="020B0604020202020204" pitchFamily="34" charset="0"/>
                        </a:rPr>
                        <a:t>p</a:t>
                      </a:r>
                      <a:endParaRPr lang="zh-CN" altLang="en-US" sz="1800" dirty="0">
                        <a:solidFill>
                          <a:srgbClr val="2C3E50"/>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70187">
                <a:tc>
                  <a:txBody>
                    <a:bodyPr/>
                    <a:lstStyle/>
                    <a:p>
                      <a:pPr algn="ctr"/>
                      <a:r>
                        <a:rPr lang="en-US" altLang="zh-CN" sz="1800" dirty="0">
                          <a:solidFill>
                            <a:srgbClr val="2C3E50"/>
                          </a:solidFill>
                          <a:latin typeface="Arial" panose="020B0604020202020204" pitchFamily="34" charset="0"/>
                          <a:cs typeface="Arial" panose="020B0604020202020204" pitchFamily="34" charset="0"/>
                        </a:rPr>
                        <a:t>1.1052</a:t>
                      </a:r>
                      <a:endParaRPr lang="zh-CN" altLang="en-US" sz="1800" dirty="0">
                        <a:solidFill>
                          <a:srgbClr val="2C3E50"/>
                        </a:solidFill>
                        <a:latin typeface="Arial" panose="020B0604020202020204" pitchFamily="34" charset="0"/>
                        <a:cs typeface="Arial" panose="020B0604020202020204"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Arial" panose="020B0604020202020204" pitchFamily="34" charset="0"/>
                          <a:cs typeface="Arial" panose="020B0604020202020204" pitchFamily="34" charset="0"/>
                        </a:rPr>
                        <a:t>0.9048</a:t>
                      </a:r>
                      <a:endParaRPr lang="zh-CN" altLang="en-US" sz="1800" dirty="0">
                        <a:solidFill>
                          <a:srgbClr val="2C3E50"/>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Arial" panose="020B0604020202020204" pitchFamily="34" charset="0"/>
                          <a:cs typeface="Arial" panose="020B0604020202020204" pitchFamily="34" charset="0"/>
                        </a:rPr>
                        <a:t>0.5126</a:t>
                      </a:r>
                      <a:endParaRPr lang="zh-CN" altLang="en-US" sz="1800" dirty="0">
                        <a:solidFill>
                          <a:srgbClr val="2C3E50"/>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6" name="下箭头 24">
            <a:extLst>
              <a:ext uri="{FF2B5EF4-FFF2-40B4-BE49-F238E27FC236}">
                <a16:creationId xmlns:a16="http://schemas.microsoft.com/office/drawing/2014/main" id="{CB39AD0B-1C69-4642-89FC-26CDA9D37323}"/>
              </a:ext>
            </a:extLst>
          </p:cNvPr>
          <p:cNvSpPr/>
          <p:nvPr/>
        </p:nvSpPr>
        <p:spPr bwMode="auto">
          <a:xfrm>
            <a:off x="5705614" y="2856966"/>
            <a:ext cx="288000" cy="589985"/>
          </a:xfrm>
          <a:prstGeom prst="downArrow">
            <a:avLst/>
          </a:prstGeom>
          <a:ln>
            <a:solidFill>
              <a:srgbClr val="2C3E50"/>
            </a:solidFill>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defRPr/>
            </a:pPr>
            <a:endParaRPr lang="zh-CN" altLang="en-US">
              <a:solidFill>
                <a:schemeClr val="tx1"/>
              </a:solidFill>
              <a:latin typeface="Times New Roman" panose="02020603050405020304" pitchFamily="18" charset="0"/>
              <a:ea typeface="宋体" panose="02010600030101010101" pitchFamily="2" charset="-122"/>
            </a:endParaRPr>
          </a:p>
        </p:txBody>
      </p:sp>
      <p:grpSp>
        <p:nvGrpSpPr>
          <p:cNvPr id="7" name="组合 6">
            <a:extLst>
              <a:ext uri="{FF2B5EF4-FFF2-40B4-BE49-F238E27FC236}">
                <a16:creationId xmlns:a16="http://schemas.microsoft.com/office/drawing/2014/main" id="{3154B065-E056-4EB3-8CC2-1C5EDB556457}"/>
              </a:ext>
            </a:extLst>
          </p:cNvPr>
          <p:cNvGrpSpPr/>
          <p:nvPr/>
        </p:nvGrpSpPr>
        <p:grpSpPr>
          <a:xfrm>
            <a:off x="2443132" y="4610159"/>
            <a:ext cx="6984908" cy="1080844"/>
            <a:chOff x="611188" y="4293136"/>
            <a:chExt cx="6984908" cy="1872168"/>
          </a:xfrm>
        </p:grpSpPr>
        <p:sp>
          <p:nvSpPr>
            <p:cNvPr id="8" name="文本框 7">
              <a:extLst>
                <a:ext uri="{FF2B5EF4-FFF2-40B4-BE49-F238E27FC236}">
                  <a16:creationId xmlns:a16="http://schemas.microsoft.com/office/drawing/2014/main" id="{D5C3E481-72D4-4667-B908-805035A07B31}"/>
                </a:ext>
              </a:extLst>
            </p:cNvPr>
            <p:cNvSpPr txBox="1"/>
            <p:nvPr/>
          </p:nvSpPr>
          <p:spPr bwMode="auto">
            <a:xfrm>
              <a:off x="611188" y="5085224"/>
              <a:ext cx="720725"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$810</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10E3034A-85A8-433F-A636-F23690DCA3C0}"/>
                </a:ext>
              </a:extLst>
            </p:cNvPr>
            <p:cNvSpPr txBox="1"/>
            <p:nvPr/>
          </p:nvSpPr>
          <p:spPr bwMode="auto">
            <a:xfrm>
              <a:off x="1907704" y="4671285"/>
              <a:ext cx="1079500"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$895.19</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105D4B3A-3DEA-4F60-BEFC-5BA1CD07B80D}"/>
                </a:ext>
              </a:extLst>
            </p:cNvPr>
            <p:cNvSpPr txBox="1"/>
            <p:nvPr/>
          </p:nvSpPr>
          <p:spPr bwMode="auto">
            <a:xfrm>
              <a:off x="3491880" y="4293136"/>
              <a:ext cx="1080000"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$989.34</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BE61630A-53CA-43A0-B3FB-A765C3A53447}"/>
                </a:ext>
              </a:extLst>
            </p:cNvPr>
            <p:cNvSpPr txBox="1"/>
            <p:nvPr/>
          </p:nvSpPr>
          <p:spPr bwMode="auto">
            <a:xfrm>
              <a:off x="1907704" y="5445264"/>
              <a:ext cx="1079500"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$732.92</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798C9717-54B0-46D5-8100-F21B58FAD617}"/>
                </a:ext>
              </a:extLst>
            </p:cNvPr>
            <p:cNvSpPr txBox="1"/>
            <p:nvPr/>
          </p:nvSpPr>
          <p:spPr bwMode="auto">
            <a:xfrm>
              <a:off x="3507755" y="5013216"/>
              <a:ext cx="1080000"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$810</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1F6B9FD5-9D87-4099-8C6A-0CEA6490058A}"/>
                </a:ext>
              </a:extLst>
            </p:cNvPr>
            <p:cNvSpPr txBox="1"/>
            <p:nvPr/>
          </p:nvSpPr>
          <p:spPr bwMode="auto">
            <a:xfrm>
              <a:off x="3507755" y="5805304"/>
              <a:ext cx="1080000"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$663.17</a:t>
              </a:r>
              <a:endParaRPr lang="zh-CN" altLang="en-US" sz="1800" b="0" dirty="0">
                <a:solidFill>
                  <a:srgbClr val="2C3E50"/>
                </a:solidFill>
                <a:latin typeface="Arial" panose="020B0604020202020204" pitchFamily="34" charset="0"/>
                <a:cs typeface="Arial" panose="020B0604020202020204" pitchFamily="34" charset="0"/>
              </a:endParaRPr>
            </a:p>
          </p:txBody>
        </p:sp>
        <p:cxnSp>
          <p:nvCxnSpPr>
            <p:cNvPr id="14" name="直接箭头连接符 12">
              <a:extLst>
                <a:ext uri="{FF2B5EF4-FFF2-40B4-BE49-F238E27FC236}">
                  <a16:creationId xmlns:a16="http://schemas.microsoft.com/office/drawing/2014/main" id="{4AF2155B-2B99-4B09-8CAF-1BD99E889D6B}"/>
                </a:ext>
              </a:extLst>
            </p:cNvPr>
            <p:cNvCxnSpPr>
              <a:cxnSpLocks noChangeShapeType="1"/>
            </p:cNvCxnSpPr>
            <p:nvPr/>
          </p:nvCxnSpPr>
          <p:spPr bwMode="auto">
            <a:xfrm flipV="1">
              <a:off x="1331311" y="4895992"/>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5" name="直接箭头连接符 14">
              <a:extLst>
                <a:ext uri="{FF2B5EF4-FFF2-40B4-BE49-F238E27FC236}">
                  <a16:creationId xmlns:a16="http://schemas.microsoft.com/office/drawing/2014/main" id="{FEB64C7A-67D3-4F6F-A8A9-3C90697B1960}"/>
                </a:ext>
              </a:extLst>
            </p:cNvPr>
            <p:cNvCxnSpPr>
              <a:cxnSpLocks noChangeShapeType="1"/>
            </p:cNvCxnSpPr>
            <p:nvPr/>
          </p:nvCxnSpPr>
          <p:spPr bwMode="auto">
            <a:xfrm>
              <a:off x="1331913" y="5249062"/>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6" name="直接箭头连接符 16">
              <a:extLst>
                <a:ext uri="{FF2B5EF4-FFF2-40B4-BE49-F238E27FC236}">
                  <a16:creationId xmlns:a16="http://schemas.microsoft.com/office/drawing/2014/main" id="{D8852B1E-45ED-4CFC-8628-2841AFA6A902}"/>
                </a:ext>
              </a:extLst>
            </p:cNvPr>
            <p:cNvCxnSpPr>
              <a:cxnSpLocks noChangeShapeType="1"/>
            </p:cNvCxnSpPr>
            <p:nvPr/>
          </p:nvCxnSpPr>
          <p:spPr bwMode="auto">
            <a:xfrm flipV="1">
              <a:off x="2987824" y="4437152"/>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7" name="直接箭头连接符 18">
              <a:extLst>
                <a:ext uri="{FF2B5EF4-FFF2-40B4-BE49-F238E27FC236}">
                  <a16:creationId xmlns:a16="http://schemas.microsoft.com/office/drawing/2014/main" id="{BEA00C0A-A5EE-4FDD-AF56-0908289EEAAB}"/>
                </a:ext>
              </a:extLst>
            </p:cNvPr>
            <p:cNvCxnSpPr>
              <a:cxnSpLocks noChangeShapeType="1"/>
            </p:cNvCxnSpPr>
            <p:nvPr/>
          </p:nvCxnSpPr>
          <p:spPr bwMode="auto">
            <a:xfrm>
              <a:off x="2987824" y="4788016"/>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8" name="直接箭头连接符 20">
              <a:extLst>
                <a:ext uri="{FF2B5EF4-FFF2-40B4-BE49-F238E27FC236}">
                  <a16:creationId xmlns:a16="http://schemas.microsoft.com/office/drawing/2014/main" id="{AFF4CB8B-9746-48F8-91FC-45F8A08665D2}"/>
                </a:ext>
              </a:extLst>
            </p:cNvPr>
            <p:cNvCxnSpPr>
              <a:cxnSpLocks noChangeShapeType="1"/>
            </p:cNvCxnSpPr>
            <p:nvPr/>
          </p:nvCxnSpPr>
          <p:spPr bwMode="auto">
            <a:xfrm flipV="1">
              <a:off x="2987824" y="5274000"/>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9" name="直接箭头连接符 22">
              <a:extLst>
                <a:ext uri="{FF2B5EF4-FFF2-40B4-BE49-F238E27FC236}">
                  <a16:creationId xmlns:a16="http://schemas.microsoft.com/office/drawing/2014/main" id="{B1976505-39B9-45DA-AB06-8D36E16DBEFD}"/>
                </a:ext>
              </a:extLst>
            </p:cNvPr>
            <p:cNvCxnSpPr>
              <a:cxnSpLocks noChangeShapeType="1"/>
            </p:cNvCxnSpPr>
            <p:nvPr/>
          </p:nvCxnSpPr>
          <p:spPr bwMode="auto">
            <a:xfrm>
              <a:off x="2987824" y="5634016"/>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sp>
          <p:nvSpPr>
            <p:cNvPr id="20" name="右箭头 25">
              <a:extLst>
                <a:ext uri="{FF2B5EF4-FFF2-40B4-BE49-F238E27FC236}">
                  <a16:creationId xmlns:a16="http://schemas.microsoft.com/office/drawing/2014/main" id="{72447B45-0007-44ED-9791-217D5725310F}"/>
                </a:ext>
              </a:extLst>
            </p:cNvPr>
            <p:cNvSpPr/>
            <p:nvPr/>
          </p:nvSpPr>
          <p:spPr bwMode="auto">
            <a:xfrm>
              <a:off x="4716016" y="5022404"/>
              <a:ext cx="540000" cy="360000"/>
            </a:xfrm>
            <a:prstGeom prst="rightArrow">
              <a:avLst/>
            </a:prstGeom>
            <a:ln>
              <a:solidFill>
                <a:srgbClr val="2C3E50"/>
              </a:solidFill>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defRPr/>
              </a:pPr>
              <a:endParaRPr lang="zh-CN" altLang="en-US">
                <a:solidFill>
                  <a:srgbClr val="2C3E50"/>
                </a:solidFill>
                <a:latin typeface="Times New Roman" panose="02020603050405020304" pitchFamily="18" charset="0"/>
                <a:ea typeface="宋体" panose="02010600030101010101" pitchFamily="2" charset="-122"/>
              </a:endParaRPr>
            </a:p>
          </p:txBody>
        </p:sp>
        <p:sp>
          <p:nvSpPr>
            <p:cNvPr id="21" name="文本框 20">
              <a:extLst>
                <a:ext uri="{FF2B5EF4-FFF2-40B4-BE49-F238E27FC236}">
                  <a16:creationId xmlns:a16="http://schemas.microsoft.com/office/drawing/2014/main" id="{CEF6127E-C9FD-42CA-AEB1-9FBD9FD1CC2A}"/>
                </a:ext>
              </a:extLst>
            </p:cNvPr>
            <p:cNvSpPr txBox="1"/>
            <p:nvPr/>
          </p:nvSpPr>
          <p:spPr>
            <a:xfrm>
              <a:off x="5436096" y="5001766"/>
              <a:ext cx="2160000" cy="432000"/>
            </a:xfrm>
            <a:prstGeom prst="rect">
              <a:avLst/>
            </a:prstGeom>
            <a:noFill/>
          </p:spPr>
          <p:txBody>
            <a:bodyPr wrap="none"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Option Value = 53.40</a:t>
              </a:r>
              <a:endParaRPr lang="zh-CN" altLang="en-US" sz="1800" b="0" dirty="0">
                <a:solidFill>
                  <a:srgbClr val="2C3E5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96144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Example</a:t>
            </a:r>
          </a:p>
          <a:p>
            <a:endParaRPr lang="zh-CN" altLang="en-US" dirty="0">
              <a:latin typeface="+mn-lt"/>
              <a:ea typeface="+mn-ea"/>
              <a:cs typeface="+mn-ea"/>
              <a:sym typeface="+mn-lt"/>
            </a:endParaRPr>
          </a:p>
        </p:txBody>
      </p:sp>
      <p:graphicFrame>
        <p:nvGraphicFramePr>
          <p:cNvPr id="4" name="Object 3">
            <a:extLst>
              <a:ext uri="{FF2B5EF4-FFF2-40B4-BE49-F238E27FC236}">
                <a16:creationId xmlns:a16="http://schemas.microsoft.com/office/drawing/2014/main" id="{D958C809-7B49-416F-8538-F2693749F158}"/>
              </a:ext>
            </a:extLst>
          </p:cNvPr>
          <p:cNvGraphicFramePr>
            <a:graphicFrameLocks/>
          </p:cNvGraphicFramePr>
          <p:nvPr>
            <p:extLst>
              <p:ext uri="{D42A27DB-BD31-4B8C-83A1-F6EECF244321}">
                <p14:modId xmlns:p14="http://schemas.microsoft.com/office/powerpoint/2010/main" val="3049075091"/>
              </p:ext>
            </p:extLst>
          </p:nvPr>
        </p:nvGraphicFramePr>
        <p:xfrm>
          <a:off x="7009126" y="1719867"/>
          <a:ext cx="4268680" cy="2399279"/>
        </p:xfrm>
        <a:graphic>
          <a:graphicData uri="http://schemas.openxmlformats.org/presentationml/2006/ole">
            <mc:AlternateContent xmlns:mc="http://schemas.openxmlformats.org/markup-compatibility/2006">
              <mc:Choice xmlns:v="urn:schemas-microsoft-com:vml" Requires="v">
                <p:oleObj spid="_x0000_s1050" name="Equation" r:id="rId3" imgW="2031840" imgH="1346040" progId="Equation.DSMT4">
                  <p:embed/>
                </p:oleObj>
              </mc:Choice>
              <mc:Fallback>
                <p:oleObj name="Equation" r:id="rId3" imgW="2031840" imgH="1346040" progId="Equation.DSMT4">
                  <p:embed/>
                  <p:pic>
                    <p:nvPicPr>
                      <p:cNvPr id="23" name="Object 3">
                        <a:extLst>
                          <a:ext uri="{FF2B5EF4-FFF2-40B4-BE49-F238E27FC236}">
                            <a16:creationId xmlns:a16="http://schemas.microsoft.com/office/drawing/2014/main" id="{7D1AE797-FD25-486F-B4F6-BAF97328E03E}"/>
                          </a:ext>
                        </a:extLst>
                      </p:cNvPr>
                      <p:cNvPicPr>
                        <a:picLocks noChangeAspect="1" noChangeArrowheads="1"/>
                      </p:cNvPicPr>
                      <p:nvPr/>
                    </p:nvPicPr>
                    <p:blipFill>
                      <a:blip r:embed="rId4"/>
                      <a:srcRect/>
                      <a:stretch>
                        <a:fillRect/>
                      </a:stretch>
                    </p:blipFill>
                    <p:spPr bwMode="auto">
                      <a:xfrm>
                        <a:off x="7009126" y="1719867"/>
                        <a:ext cx="4268680" cy="2399279"/>
                      </a:xfrm>
                      <a:prstGeom prst="rect">
                        <a:avLst/>
                      </a:prstGeom>
                      <a:noFill/>
                      <a:extLst/>
                    </p:spPr>
                  </p:pic>
                </p:oleObj>
              </mc:Fallback>
            </mc:AlternateContent>
          </a:graphicData>
        </a:graphic>
      </p:graphicFrame>
      <p:graphicFrame>
        <p:nvGraphicFramePr>
          <p:cNvPr id="5" name="Object 17">
            <a:extLst>
              <a:ext uri="{FF2B5EF4-FFF2-40B4-BE49-F238E27FC236}">
                <a16:creationId xmlns:a16="http://schemas.microsoft.com/office/drawing/2014/main" id="{FC31E857-038C-4BF4-AC2A-4C206BD774FA}"/>
              </a:ext>
            </a:extLst>
          </p:cNvPr>
          <p:cNvGraphicFramePr>
            <a:graphicFrameLocks/>
          </p:cNvGraphicFramePr>
          <p:nvPr>
            <p:extLst>
              <p:ext uri="{D42A27DB-BD31-4B8C-83A1-F6EECF244321}">
                <p14:modId xmlns:p14="http://schemas.microsoft.com/office/powerpoint/2010/main" val="1945013882"/>
              </p:ext>
            </p:extLst>
          </p:nvPr>
        </p:nvGraphicFramePr>
        <p:xfrm>
          <a:off x="2395458" y="4628344"/>
          <a:ext cx="7265048" cy="450663"/>
        </p:xfrm>
        <a:graphic>
          <a:graphicData uri="http://schemas.openxmlformats.org/presentationml/2006/ole">
            <mc:AlternateContent xmlns:mc="http://schemas.openxmlformats.org/markup-compatibility/2006">
              <mc:Choice xmlns:v="urn:schemas-microsoft-com:vml" Requires="v">
                <p:oleObj spid="_x0000_s1051" name="Equation" r:id="rId5" imgW="3492360" imgH="253800" progId="Equation.DSMT4">
                  <p:embed/>
                </p:oleObj>
              </mc:Choice>
              <mc:Fallback>
                <p:oleObj name="Equation" r:id="rId5" imgW="3492360" imgH="253800" progId="Equation.DSMT4">
                  <p:embed/>
                  <p:pic>
                    <p:nvPicPr>
                      <p:cNvPr id="24" name="Object 17">
                        <a:extLst>
                          <a:ext uri="{FF2B5EF4-FFF2-40B4-BE49-F238E27FC236}">
                            <a16:creationId xmlns:a16="http://schemas.microsoft.com/office/drawing/2014/main" id="{048DDB7D-054C-4DAF-BFA2-3329EFF446A6}"/>
                          </a:ext>
                        </a:extLst>
                      </p:cNvPr>
                      <p:cNvPicPr>
                        <a:picLocks noChangeAspect="1" noChangeArrowheads="1"/>
                      </p:cNvPicPr>
                      <p:nvPr/>
                    </p:nvPicPr>
                    <p:blipFill>
                      <a:blip r:embed="rId6"/>
                      <a:srcRect/>
                      <a:stretch>
                        <a:fillRect/>
                      </a:stretch>
                    </p:blipFill>
                    <p:spPr bwMode="auto">
                      <a:xfrm>
                        <a:off x="2395458" y="4628344"/>
                        <a:ext cx="7265048" cy="450663"/>
                      </a:xfrm>
                      <a:prstGeom prst="rect">
                        <a:avLst/>
                      </a:prstGeom>
                      <a:noFill/>
                      <a:extLst/>
                    </p:spPr>
                  </p:pic>
                </p:oleObj>
              </mc:Fallback>
            </mc:AlternateContent>
          </a:graphicData>
        </a:graphic>
      </p:graphicFrame>
      <p:graphicFrame>
        <p:nvGraphicFramePr>
          <p:cNvPr id="6" name="Object 17">
            <a:extLst>
              <a:ext uri="{FF2B5EF4-FFF2-40B4-BE49-F238E27FC236}">
                <a16:creationId xmlns:a16="http://schemas.microsoft.com/office/drawing/2014/main" id="{C8DB03AC-2443-4653-9566-0C618954D1A5}"/>
              </a:ext>
            </a:extLst>
          </p:cNvPr>
          <p:cNvGraphicFramePr>
            <a:graphicFrameLocks/>
          </p:cNvGraphicFramePr>
          <p:nvPr>
            <p:extLst>
              <p:ext uri="{D42A27DB-BD31-4B8C-83A1-F6EECF244321}">
                <p14:modId xmlns:p14="http://schemas.microsoft.com/office/powerpoint/2010/main" val="1337833368"/>
              </p:ext>
            </p:extLst>
          </p:nvPr>
        </p:nvGraphicFramePr>
        <p:xfrm>
          <a:off x="2391641" y="5221809"/>
          <a:ext cx="6269897" cy="450664"/>
        </p:xfrm>
        <a:graphic>
          <a:graphicData uri="http://schemas.openxmlformats.org/presentationml/2006/ole">
            <mc:AlternateContent xmlns:mc="http://schemas.openxmlformats.org/markup-compatibility/2006">
              <mc:Choice xmlns:v="urn:schemas-microsoft-com:vml" Requires="v">
                <p:oleObj spid="_x0000_s1052" name="Equation" r:id="rId7" imgW="2958840" imgH="253800" progId="Equation.DSMT4">
                  <p:embed/>
                </p:oleObj>
              </mc:Choice>
              <mc:Fallback>
                <p:oleObj name="Equation" r:id="rId7" imgW="2958840" imgH="253800" progId="Equation.DSMT4">
                  <p:embed/>
                  <p:pic>
                    <p:nvPicPr>
                      <p:cNvPr id="44" name="Object 17">
                        <a:extLst>
                          <a:ext uri="{FF2B5EF4-FFF2-40B4-BE49-F238E27FC236}">
                            <a16:creationId xmlns:a16="http://schemas.microsoft.com/office/drawing/2014/main" id="{B57F3226-B09A-49BA-B027-D8626B3FA4F4}"/>
                          </a:ext>
                        </a:extLst>
                      </p:cNvPr>
                      <p:cNvPicPr>
                        <a:picLocks noChangeAspect="1" noChangeArrowheads="1"/>
                      </p:cNvPicPr>
                      <p:nvPr/>
                    </p:nvPicPr>
                    <p:blipFill>
                      <a:blip r:embed="rId8"/>
                      <a:srcRect/>
                      <a:stretch>
                        <a:fillRect/>
                      </a:stretch>
                    </p:blipFill>
                    <p:spPr bwMode="auto">
                      <a:xfrm>
                        <a:off x="2391641" y="5221809"/>
                        <a:ext cx="6269897" cy="450664"/>
                      </a:xfrm>
                      <a:prstGeom prst="rect">
                        <a:avLst/>
                      </a:prstGeom>
                      <a:noFill/>
                      <a:extLst/>
                    </p:spPr>
                  </p:pic>
                </p:oleObj>
              </mc:Fallback>
            </mc:AlternateContent>
          </a:graphicData>
        </a:graphic>
      </p:graphicFrame>
      <p:graphicFrame>
        <p:nvGraphicFramePr>
          <p:cNvPr id="7" name="Object 17">
            <a:extLst>
              <a:ext uri="{FF2B5EF4-FFF2-40B4-BE49-F238E27FC236}">
                <a16:creationId xmlns:a16="http://schemas.microsoft.com/office/drawing/2014/main" id="{44491161-5C5E-4389-8E14-29834468AE4D}"/>
              </a:ext>
            </a:extLst>
          </p:cNvPr>
          <p:cNvGraphicFramePr>
            <a:graphicFrameLocks/>
          </p:cNvGraphicFramePr>
          <p:nvPr>
            <p:extLst>
              <p:ext uri="{D42A27DB-BD31-4B8C-83A1-F6EECF244321}">
                <p14:modId xmlns:p14="http://schemas.microsoft.com/office/powerpoint/2010/main" val="3694969429"/>
              </p:ext>
            </p:extLst>
          </p:nvPr>
        </p:nvGraphicFramePr>
        <p:xfrm>
          <a:off x="2391250" y="5781391"/>
          <a:ext cx="7212672" cy="452488"/>
        </p:xfrm>
        <a:graphic>
          <a:graphicData uri="http://schemas.openxmlformats.org/presentationml/2006/ole">
            <mc:AlternateContent xmlns:mc="http://schemas.openxmlformats.org/markup-compatibility/2006">
              <mc:Choice xmlns:v="urn:schemas-microsoft-com:vml" Requires="v">
                <p:oleObj spid="_x0000_s1053" name="Equation" r:id="rId9" imgW="3441600" imgH="253800" progId="Equation.DSMT4">
                  <p:embed/>
                </p:oleObj>
              </mc:Choice>
              <mc:Fallback>
                <p:oleObj name="Equation" r:id="rId9" imgW="3441600" imgH="253800" progId="Equation.DSMT4">
                  <p:embed/>
                  <p:pic>
                    <p:nvPicPr>
                      <p:cNvPr id="45" name="Object 17">
                        <a:extLst>
                          <a:ext uri="{FF2B5EF4-FFF2-40B4-BE49-F238E27FC236}">
                            <a16:creationId xmlns:a16="http://schemas.microsoft.com/office/drawing/2014/main" id="{48E0C3FF-CAB5-430D-AC6B-9D7F90EF21A9}"/>
                          </a:ext>
                        </a:extLst>
                      </p:cNvPr>
                      <p:cNvPicPr>
                        <a:picLocks noChangeAspect="1" noChangeArrowheads="1"/>
                      </p:cNvPicPr>
                      <p:nvPr/>
                    </p:nvPicPr>
                    <p:blipFill>
                      <a:blip r:embed="rId10"/>
                      <a:srcRect/>
                      <a:stretch>
                        <a:fillRect/>
                      </a:stretch>
                    </p:blipFill>
                    <p:spPr bwMode="auto">
                      <a:xfrm>
                        <a:off x="2391250" y="5781391"/>
                        <a:ext cx="7212672" cy="452488"/>
                      </a:xfrm>
                      <a:prstGeom prst="rect">
                        <a:avLst/>
                      </a:prstGeom>
                      <a:noFill/>
                      <a:extLst/>
                    </p:spPr>
                  </p:pic>
                </p:oleObj>
              </mc:Fallback>
            </mc:AlternateContent>
          </a:graphicData>
        </a:graphic>
      </p:graphicFrame>
      <p:grpSp>
        <p:nvGrpSpPr>
          <p:cNvPr id="8" name="组合 7">
            <a:extLst>
              <a:ext uri="{FF2B5EF4-FFF2-40B4-BE49-F238E27FC236}">
                <a16:creationId xmlns:a16="http://schemas.microsoft.com/office/drawing/2014/main" id="{8F42BE56-3E72-40E9-B336-25737E9E7F11}"/>
              </a:ext>
            </a:extLst>
          </p:cNvPr>
          <p:cNvGrpSpPr/>
          <p:nvPr/>
        </p:nvGrpSpPr>
        <p:grpSpPr>
          <a:xfrm>
            <a:off x="1384093" y="1860228"/>
            <a:ext cx="4613493" cy="2006926"/>
            <a:chOff x="943779" y="4374320"/>
            <a:chExt cx="3355976" cy="1746184"/>
          </a:xfrm>
        </p:grpSpPr>
        <p:sp>
          <p:nvSpPr>
            <p:cNvPr id="9" name="文本框 5">
              <a:extLst>
                <a:ext uri="{FF2B5EF4-FFF2-40B4-BE49-F238E27FC236}">
                  <a16:creationId xmlns:a16="http://schemas.microsoft.com/office/drawing/2014/main" id="{52356BB1-47C9-49F6-886F-E0AD7823ED48}"/>
                </a:ext>
              </a:extLst>
            </p:cNvPr>
            <p:cNvSpPr txBox="1"/>
            <p:nvPr/>
          </p:nvSpPr>
          <p:spPr bwMode="auto">
            <a:xfrm>
              <a:off x="943779" y="5085224"/>
              <a:ext cx="720725" cy="360000"/>
            </a:xfrm>
            <a:prstGeom prst="rect">
              <a:avLst/>
            </a:prstGeom>
            <a:noFill/>
          </p:spPr>
          <p:txBody>
            <a:bodyPr lIns="36000" tIns="36000" rIns="36000" bIns="36000" anchor="ctr" anchorCtr="0">
              <a:noAutofit/>
            </a:bodyPr>
            <a:lstStyle/>
            <a:p>
              <a:pPr algn="ctr">
                <a:defRPr/>
              </a:pPr>
              <a:r>
                <a:rPr lang="en-US" altLang="zh-CN" sz="1800" b="0" dirty="0">
                  <a:solidFill>
                    <a:srgbClr val="FF0000"/>
                  </a:solidFill>
                  <a:latin typeface="Arial" panose="020B0604020202020204" pitchFamily="34" charset="0"/>
                  <a:cs typeface="Arial" panose="020B0604020202020204" pitchFamily="34" charset="0"/>
                </a:rPr>
                <a:t>53.4</a:t>
              </a:r>
              <a:endParaRPr lang="zh-CN" altLang="en-US" sz="1800" b="0" dirty="0">
                <a:solidFill>
                  <a:srgbClr val="FF0000"/>
                </a:solidFill>
                <a:latin typeface="Arial" panose="020B0604020202020204" pitchFamily="34" charset="0"/>
                <a:cs typeface="Arial" panose="020B0604020202020204" pitchFamily="34" charset="0"/>
              </a:endParaRPr>
            </a:p>
          </p:txBody>
        </p:sp>
        <p:sp>
          <p:nvSpPr>
            <p:cNvPr id="10" name="文本框 6">
              <a:extLst>
                <a:ext uri="{FF2B5EF4-FFF2-40B4-BE49-F238E27FC236}">
                  <a16:creationId xmlns:a16="http://schemas.microsoft.com/office/drawing/2014/main" id="{C8F43425-E4D3-456D-8CD3-BB82625746F8}"/>
                </a:ext>
              </a:extLst>
            </p:cNvPr>
            <p:cNvSpPr txBox="1"/>
            <p:nvPr/>
          </p:nvSpPr>
          <p:spPr bwMode="auto">
            <a:xfrm>
              <a:off x="2132969" y="4752469"/>
              <a:ext cx="900000" cy="360000"/>
            </a:xfrm>
            <a:prstGeom prst="rect">
              <a:avLst/>
            </a:prstGeom>
            <a:noFill/>
          </p:spPr>
          <p:txBody>
            <a:bodyPr lIns="36000" tIns="36000" rIns="36000" bIns="36000" anchor="ctr" anchorCtr="0">
              <a:noAutofit/>
            </a:bodyPr>
            <a:lstStyle/>
            <a:p>
              <a:pPr algn="ctr">
                <a:defRPr/>
              </a:pPr>
              <a:r>
                <a:rPr lang="en-US" altLang="zh-CN" sz="1800" b="0" dirty="0">
                  <a:solidFill>
                    <a:srgbClr val="FF0000"/>
                  </a:solidFill>
                  <a:latin typeface="Arial" panose="020B0604020202020204" pitchFamily="34" charset="0"/>
                  <a:cs typeface="Arial" panose="020B0604020202020204" pitchFamily="34" charset="0"/>
                </a:rPr>
                <a:t>100.66</a:t>
              </a:r>
            </a:p>
          </p:txBody>
        </p:sp>
        <p:sp>
          <p:nvSpPr>
            <p:cNvPr id="11" name="文本框 7">
              <a:extLst>
                <a:ext uri="{FF2B5EF4-FFF2-40B4-BE49-F238E27FC236}">
                  <a16:creationId xmlns:a16="http://schemas.microsoft.com/office/drawing/2014/main" id="{E0FF4B61-B163-47DE-B517-1DF6DEAC3BE5}"/>
                </a:ext>
              </a:extLst>
            </p:cNvPr>
            <p:cNvSpPr txBox="1"/>
            <p:nvPr/>
          </p:nvSpPr>
          <p:spPr bwMode="auto">
            <a:xfrm>
              <a:off x="3491880" y="4374320"/>
              <a:ext cx="792000"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189.34</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12" name="文本框 8">
              <a:extLst>
                <a:ext uri="{FF2B5EF4-FFF2-40B4-BE49-F238E27FC236}">
                  <a16:creationId xmlns:a16="http://schemas.microsoft.com/office/drawing/2014/main" id="{FBC404BF-837D-4470-A654-AD7E0EDD248E}"/>
                </a:ext>
              </a:extLst>
            </p:cNvPr>
            <p:cNvSpPr txBox="1"/>
            <p:nvPr/>
          </p:nvSpPr>
          <p:spPr bwMode="auto">
            <a:xfrm>
              <a:off x="2132969" y="5400464"/>
              <a:ext cx="900000" cy="360000"/>
            </a:xfrm>
            <a:prstGeom prst="rect">
              <a:avLst/>
            </a:prstGeom>
            <a:noFill/>
          </p:spPr>
          <p:txBody>
            <a:bodyPr lIns="36000" tIns="36000" rIns="36000" bIns="36000" anchor="ctr" anchorCtr="0">
              <a:noAutofit/>
            </a:bodyPr>
            <a:lstStyle/>
            <a:p>
              <a:pPr algn="ctr">
                <a:defRPr/>
              </a:pPr>
              <a:r>
                <a:rPr lang="en-US" altLang="zh-CN" sz="1800" b="0" dirty="0">
                  <a:solidFill>
                    <a:srgbClr val="FF0000"/>
                  </a:solidFill>
                  <a:latin typeface="Arial" panose="020B0604020202020204" pitchFamily="34" charset="0"/>
                  <a:cs typeface="Arial" panose="020B0604020202020204" pitchFamily="34" charset="0"/>
                </a:rPr>
                <a:t>5.06</a:t>
              </a:r>
              <a:endParaRPr lang="zh-CN" altLang="en-US" sz="1800" b="0" dirty="0">
                <a:solidFill>
                  <a:srgbClr val="FF0000"/>
                </a:solidFill>
                <a:latin typeface="Arial" panose="020B0604020202020204" pitchFamily="34" charset="0"/>
                <a:cs typeface="Arial" panose="020B0604020202020204" pitchFamily="34" charset="0"/>
              </a:endParaRPr>
            </a:p>
          </p:txBody>
        </p:sp>
        <p:sp>
          <p:nvSpPr>
            <p:cNvPr id="13" name="文本框 9">
              <a:extLst>
                <a:ext uri="{FF2B5EF4-FFF2-40B4-BE49-F238E27FC236}">
                  <a16:creationId xmlns:a16="http://schemas.microsoft.com/office/drawing/2014/main" id="{DB3AB3E5-808C-40AA-BD50-D368825F9AA9}"/>
                </a:ext>
              </a:extLst>
            </p:cNvPr>
            <p:cNvSpPr txBox="1"/>
            <p:nvPr/>
          </p:nvSpPr>
          <p:spPr bwMode="auto">
            <a:xfrm>
              <a:off x="3507755" y="5040312"/>
              <a:ext cx="792000"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10</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14" name="文本框 10">
              <a:extLst>
                <a:ext uri="{FF2B5EF4-FFF2-40B4-BE49-F238E27FC236}">
                  <a16:creationId xmlns:a16="http://schemas.microsoft.com/office/drawing/2014/main" id="{DAA79AF7-7065-4021-997F-8C9EF6ACB2CE}"/>
                </a:ext>
              </a:extLst>
            </p:cNvPr>
            <p:cNvSpPr txBox="1"/>
            <p:nvPr/>
          </p:nvSpPr>
          <p:spPr bwMode="auto">
            <a:xfrm>
              <a:off x="3507755" y="5760504"/>
              <a:ext cx="792000"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0</a:t>
              </a:r>
              <a:endParaRPr lang="zh-CN" altLang="en-US" sz="1800" b="0" dirty="0">
                <a:solidFill>
                  <a:srgbClr val="2C3E50"/>
                </a:solidFill>
                <a:latin typeface="Arial" panose="020B0604020202020204" pitchFamily="34" charset="0"/>
                <a:cs typeface="Arial" panose="020B0604020202020204" pitchFamily="34" charset="0"/>
              </a:endParaRPr>
            </a:p>
          </p:txBody>
        </p:sp>
        <p:cxnSp>
          <p:nvCxnSpPr>
            <p:cNvPr id="15" name="直接箭头连接符 12">
              <a:extLst>
                <a:ext uri="{FF2B5EF4-FFF2-40B4-BE49-F238E27FC236}">
                  <a16:creationId xmlns:a16="http://schemas.microsoft.com/office/drawing/2014/main" id="{791209B5-C3E9-4392-9458-F854BB1D985D}"/>
                </a:ext>
              </a:extLst>
            </p:cNvPr>
            <p:cNvCxnSpPr>
              <a:cxnSpLocks noChangeShapeType="1"/>
            </p:cNvCxnSpPr>
            <p:nvPr/>
          </p:nvCxnSpPr>
          <p:spPr bwMode="auto">
            <a:xfrm flipV="1">
              <a:off x="1628271" y="4895992"/>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6" name="直接箭头连接符 14">
              <a:extLst>
                <a:ext uri="{FF2B5EF4-FFF2-40B4-BE49-F238E27FC236}">
                  <a16:creationId xmlns:a16="http://schemas.microsoft.com/office/drawing/2014/main" id="{01D628D0-761D-4AD8-A6F3-0F6E620069D5}"/>
                </a:ext>
              </a:extLst>
            </p:cNvPr>
            <p:cNvCxnSpPr>
              <a:cxnSpLocks noChangeShapeType="1"/>
            </p:cNvCxnSpPr>
            <p:nvPr/>
          </p:nvCxnSpPr>
          <p:spPr bwMode="auto">
            <a:xfrm>
              <a:off x="1628873" y="5249062"/>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7" name="直接箭头连接符 16">
              <a:extLst>
                <a:ext uri="{FF2B5EF4-FFF2-40B4-BE49-F238E27FC236}">
                  <a16:creationId xmlns:a16="http://schemas.microsoft.com/office/drawing/2014/main" id="{95D23541-958D-4CB0-9B72-F6593E9A683A}"/>
                </a:ext>
              </a:extLst>
            </p:cNvPr>
            <p:cNvCxnSpPr>
              <a:cxnSpLocks noChangeShapeType="1"/>
            </p:cNvCxnSpPr>
            <p:nvPr/>
          </p:nvCxnSpPr>
          <p:spPr bwMode="auto">
            <a:xfrm flipV="1">
              <a:off x="2987824" y="4500312"/>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8" name="直接箭头连接符 18">
              <a:extLst>
                <a:ext uri="{FF2B5EF4-FFF2-40B4-BE49-F238E27FC236}">
                  <a16:creationId xmlns:a16="http://schemas.microsoft.com/office/drawing/2014/main" id="{F4634BDA-E332-4D95-88A4-569A823A5BAD}"/>
                </a:ext>
              </a:extLst>
            </p:cNvPr>
            <p:cNvCxnSpPr>
              <a:cxnSpLocks noChangeShapeType="1"/>
            </p:cNvCxnSpPr>
            <p:nvPr/>
          </p:nvCxnSpPr>
          <p:spPr bwMode="auto">
            <a:xfrm>
              <a:off x="2987824" y="4869200"/>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9" name="直接箭头连接符 20">
              <a:extLst>
                <a:ext uri="{FF2B5EF4-FFF2-40B4-BE49-F238E27FC236}">
                  <a16:creationId xmlns:a16="http://schemas.microsoft.com/office/drawing/2014/main" id="{EFB0A81E-DD00-49C8-AB8F-B14D9459BF46}"/>
                </a:ext>
              </a:extLst>
            </p:cNvPr>
            <p:cNvCxnSpPr>
              <a:cxnSpLocks noChangeShapeType="1"/>
            </p:cNvCxnSpPr>
            <p:nvPr/>
          </p:nvCxnSpPr>
          <p:spPr bwMode="auto">
            <a:xfrm flipV="1">
              <a:off x="2987824" y="5229200"/>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20" name="直接箭头连接符 22">
              <a:extLst>
                <a:ext uri="{FF2B5EF4-FFF2-40B4-BE49-F238E27FC236}">
                  <a16:creationId xmlns:a16="http://schemas.microsoft.com/office/drawing/2014/main" id="{28AED638-4873-4A32-BDCE-F122F8D408E4}"/>
                </a:ext>
              </a:extLst>
            </p:cNvPr>
            <p:cNvCxnSpPr>
              <a:cxnSpLocks noChangeShapeType="1"/>
            </p:cNvCxnSpPr>
            <p:nvPr/>
          </p:nvCxnSpPr>
          <p:spPr bwMode="auto">
            <a:xfrm>
              <a:off x="2987824" y="5589216"/>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4042391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Summary</a:t>
            </a:r>
          </a:p>
          <a:p>
            <a:endParaRPr lang="zh-CN" altLang="en-US" dirty="0">
              <a:latin typeface="+mn-lt"/>
              <a:ea typeface="+mn-ea"/>
              <a:cs typeface="+mn-ea"/>
              <a:sym typeface="+mn-lt"/>
            </a:endParaRPr>
          </a:p>
        </p:txBody>
      </p:sp>
      <p:grpSp>
        <p:nvGrpSpPr>
          <p:cNvPr id="4" name="组合 29">
            <a:extLst>
              <a:ext uri="{FF2B5EF4-FFF2-40B4-BE49-F238E27FC236}">
                <a16:creationId xmlns:a16="http://schemas.microsoft.com/office/drawing/2014/main" id="{A6F31E7C-C1B1-419F-9765-50149FB7B86F}"/>
              </a:ext>
            </a:extLst>
          </p:cNvPr>
          <p:cNvGrpSpPr>
            <a:grpSpLocks/>
          </p:cNvGrpSpPr>
          <p:nvPr/>
        </p:nvGrpSpPr>
        <p:grpSpPr bwMode="auto">
          <a:xfrm>
            <a:off x="3579581" y="1757083"/>
            <a:ext cx="5618207" cy="2754238"/>
            <a:chOff x="56018" y="-415855"/>
            <a:chExt cx="4458734" cy="3168458"/>
          </a:xfrm>
        </p:grpSpPr>
        <p:sp>
          <p:nvSpPr>
            <p:cNvPr id="5" name="文本框 3">
              <a:extLst>
                <a:ext uri="{FF2B5EF4-FFF2-40B4-BE49-F238E27FC236}">
                  <a16:creationId xmlns:a16="http://schemas.microsoft.com/office/drawing/2014/main" id="{64D21C09-11B6-468E-AE20-BAD7AC3A1B68}"/>
                </a:ext>
              </a:extLst>
            </p:cNvPr>
            <p:cNvSpPr txBox="1">
              <a:spLocks noChangeArrowheads="1"/>
            </p:cNvSpPr>
            <p:nvPr/>
          </p:nvSpPr>
          <p:spPr bwMode="auto">
            <a:xfrm>
              <a:off x="56018" y="664459"/>
              <a:ext cx="359971" cy="1080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p>
            <a:p>
              <a:pPr algn="ctr">
                <a:lnSpc>
                  <a:spcPct val="150000"/>
                </a:lnSpc>
                <a:spcBef>
                  <a:spcPts val="0"/>
                </a:spcBef>
                <a:buClr>
                  <a:srgbClr val="800000"/>
                </a:buClr>
                <a:buSzPct val="80000"/>
                <a:buFont typeface="Wingdings" panose="05000000000000000000" pitchFamily="2" charset="2"/>
                <a:buNone/>
              </a:pP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f</a:t>
              </a:r>
              <a:endParaRPr lang="zh-CN" altLang="en-US" sz="2000" b="0" dirty="0">
                <a:solidFill>
                  <a:srgbClr val="2C3E50"/>
                </a:solidFill>
                <a:latin typeface="Segoe UI" panose="020B0502040204020203" pitchFamily="34" charset="0"/>
                <a:cs typeface="Segoe UI" panose="020B0502040204020203" pitchFamily="34" charset="0"/>
              </a:endParaRPr>
            </a:p>
          </p:txBody>
        </p:sp>
        <p:sp>
          <p:nvSpPr>
            <p:cNvPr id="6" name="文本框 4">
              <a:extLst>
                <a:ext uri="{FF2B5EF4-FFF2-40B4-BE49-F238E27FC236}">
                  <a16:creationId xmlns:a16="http://schemas.microsoft.com/office/drawing/2014/main" id="{7ACF5223-E553-4B90-99BB-07A789C9E385}"/>
                </a:ext>
              </a:extLst>
            </p:cNvPr>
            <p:cNvSpPr txBox="1">
              <a:spLocks noChangeArrowheads="1"/>
            </p:cNvSpPr>
            <p:nvPr/>
          </p:nvSpPr>
          <p:spPr bwMode="auto">
            <a:xfrm>
              <a:off x="1716514" y="89822"/>
              <a:ext cx="539956" cy="1080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u</a:t>
              </a:r>
            </a:p>
            <a:p>
              <a:pPr algn="ctr">
                <a:lnSpc>
                  <a:spcPct val="150000"/>
                </a:lnSpc>
                <a:spcBef>
                  <a:spcPts val="0"/>
                </a:spcBef>
                <a:buClr>
                  <a:srgbClr val="800000"/>
                </a:buClr>
                <a:buSzPct val="80000"/>
                <a:buFont typeface="Wingdings" panose="05000000000000000000" pitchFamily="2" charset="2"/>
                <a:buNone/>
              </a:pPr>
              <a:r>
                <a:rPr lang="en-US" altLang="zh-CN" sz="1400" b="0" dirty="0" err="1">
                  <a:solidFill>
                    <a:srgbClr val="2C3E50"/>
                  </a:solidFill>
                  <a:latin typeface="Segoe UI" panose="020B0502040204020203" pitchFamily="34" charset="0"/>
                  <a:ea typeface="Segoe UI" panose="020B0502040204020203" pitchFamily="34" charset="0"/>
                  <a:cs typeface="Segoe UI" panose="020B0502040204020203" pitchFamily="34" charset="0"/>
                </a:rPr>
                <a:t>f</a:t>
              </a:r>
              <a:r>
                <a:rPr lang="en-US" altLang="zh-CN" sz="1400" b="0" baseline="-25000" dirty="0" err="1">
                  <a:solidFill>
                    <a:srgbClr val="2C3E50"/>
                  </a:solidFill>
                  <a:latin typeface="Segoe UI" panose="020B0502040204020203" pitchFamily="34" charset="0"/>
                  <a:ea typeface="Segoe UI" panose="020B0502040204020203" pitchFamily="34" charset="0"/>
                  <a:cs typeface="Segoe UI" panose="020B0502040204020203" pitchFamily="34" charset="0"/>
                </a:rPr>
                <a:t>u</a:t>
              </a:r>
              <a:endParaRPr lang="zh-CN" altLang="en-US" sz="1400" b="0" baseline="-25000" dirty="0">
                <a:solidFill>
                  <a:srgbClr val="2C3E50"/>
                </a:solidFill>
                <a:latin typeface="Segoe UI" panose="020B0502040204020203" pitchFamily="34" charset="0"/>
                <a:cs typeface="Segoe UI" panose="020B0502040204020203" pitchFamily="34" charset="0"/>
              </a:endParaRPr>
            </a:p>
          </p:txBody>
        </p:sp>
        <p:sp>
          <p:nvSpPr>
            <p:cNvPr id="7" name="文本框 5">
              <a:extLst>
                <a:ext uri="{FF2B5EF4-FFF2-40B4-BE49-F238E27FC236}">
                  <a16:creationId xmlns:a16="http://schemas.microsoft.com/office/drawing/2014/main" id="{CFBDFF5A-1E6D-4F18-9A97-3993A8F33DDF}"/>
                </a:ext>
              </a:extLst>
            </p:cNvPr>
            <p:cNvSpPr txBox="1">
              <a:spLocks noChangeArrowheads="1"/>
            </p:cNvSpPr>
            <p:nvPr/>
          </p:nvSpPr>
          <p:spPr bwMode="auto">
            <a:xfrm>
              <a:off x="1716514" y="1168550"/>
              <a:ext cx="539956" cy="1080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d</a:t>
              </a:r>
            </a:p>
            <a:p>
              <a:pPr algn="ctr">
                <a:lnSpc>
                  <a:spcPct val="150000"/>
                </a:lnSpc>
                <a:spcBef>
                  <a:spcPts val="0"/>
                </a:spcBef>
                <a:buClr>
                  <a:srgbClr val="800000"/>
                </a:buClr>
                <a:buSzPct val="80000"/>
                <a:buFont typeface="Wingdings" panose="05000000000000000000" pitchFamily="2" charset="2"/>
                <a:buNone/>
              </a:pPr>
              <a:r>
                <a:rPr lang="en-US" altLang="zh-CN" sz="1400" b="0" dirty="0" err="1">
                  <a:solidFill>
                    <a:srgbClr val="2C3E50"/>
                  </a:solidFill>
                  <a:latin typeface="Segoe UI" panose="020B0502040204020203" pitchFamily="34" charset="0"/>
                  <a:ea typeface="Segoe UI" panose="020B0502040204020203" pitchFamily="34" charset="0"/>
                  <a:cs typeface="Segoe UI" panose="020B0502040204020203" pitchFamily="34" charset="0"/>
                </a:rPr>
                <a:t>f</a:t>
              </a:r>
              <a:r>
                <a:rPr lang="en-US" altLang="zh-CN" sz="1400" b="0" baseline="-25000" dirty="0" err="1">
                  <a:solidFill>
                    <a:srgbClr val="2C3E50"/>
                  </a:solidFill>
                  <a:latin typeface="Segoe UI" panose="020B0502040204020203" pitchFamily="34" charset="0"/>
                  <a:ea typeface="Segoe UI" panose="020B0502040204020203" pitchFamily="34" charset="0"/>
                  <a:cs typeface="Segoe UI" panose="020B0502040204020203" pitchFamily="34" charset="0"/>
                </a:rPr>
                <a:t>d</a:t>
              </a:r>
              <a:endParaRPr lang="zh-CN" altLang="en-US" sz="1400" b="0" baseline="-25000" dirty="0">
                <a:solidFill>
                  <a:srgbClr val="2C3E50"/>
                </a:solidFill>
                <a:latin typeface="Segoe UI" panose="020B0502040204020203" pitchFamily="34" charset="0"/>
                <a:cs typeface="Segoe UI" panose="020B0502040204020203" pitchFamily="34" charset="0"/>
              </a:endParaRPr>
            </a:p>
          </p:txBody>
        </p:sp>
        <p:sp>
          <p:nvSpPr>
            <p:cNvPr id="8" name="文本框 6">
              <a:extLst>
                <a:ext uri="{FF2B5EF4-FFF2-40B4-BE49-F238E27FC236}">
                  <a16:creationId xmlns:a16="http://schemas.microsoft.com/office/drawing/2014/main" id="{8C732062-2CB8-4278-836D-44E38FDBFE58}"/>
                </a:ext>
              </a:extLst>
            </p:cNvPr>
            <p:cNvSpPr txBox="1">
              <a:spLocks noChangeArrowheads="1"/>
            </p:cNvSpPr>
            <p:nvPr/>
          </p:nvSpPr>
          <p:spPr bwMode="auto">
            <a:xfrm>
              <a:off x="3794810" y="-415855"/>
              <a:ext cx="719942" cy="1008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uu</a:t>
              </a:r>
            </a:p>
            <a:p>
              <a:pPr>
                <a:lnSpc>
                  <a:spcPct val="150000"/>
                </a:lnSpc>
                <a:spcBef>
                  <a:spcPts val="0"/>
                </a:spcBef>
                <a:buClr>
                  <a:srgbClr val="800000"/>
                </a:buClr>
                <a:buSzPct val="80000"/>
                <a:buFont typeface="Wingdings" panose="05000000000000000000" pitchFamily="2" charset="2"/>
                <a:buNone/>
              </a:pPr>
              <a:r>
                <a:rPr lang="en-US" altLang="zh-CN" sz="1400" b="0" dirty="0" err="1">
                  <a:solidFill>
                    <a:srgbClr val="2C3E50"/>
                  </a:solidFill>
                  <a:latin typeface="Segoe UI" panose="020B0502040204020203" pitchFamily="34" charset="0"/>
                  <a:ea typeface="Segoe UI" panose="020B0502040204020203" pitchFamily="34" charset="0"/>
                  <a:cs typeface="Segoe UI" panose="020B0502040204020203" pitchFamily="34" charset="0"/>
                </a:rPr>
                <a:t>f</a:t>
              </a:r>
              <a:r>
                <a:rPr lang="en-US" altLang="zh-CN" sz="1400" b="0" baseline="-25000" dirty="0" err="1">
                  <a:solidFill>
                    <a:srgbClr val="2C3E50"/>
                  </a:solidFill>
                  <a:latin typeface="Segoe UI" panose="020B0502040204020203" pitchFamily="34" charset="0"/>
                  <a:ea typeface="Segoe UI" panose="020B0502040204020203" pitchFamily="34" charset="0"/>
                  <a:cs typeface="Segoe UI" panose="020B0502040204020203" pitchFamily="34" charset="0"/>
                </a:rPr>
                <a:t>uu</a:t>
              </a:r>
              <a:endParaRPr lang="zh-CN" altLang="en-US" sz="1400" b="0" baseline="-25000" dirty="0">
                <a:solidFill>
                  <a:srgbClr val="2C3E50"/>
                </a:solidFill>
                <a:latin typeface="Segoe UI" panose="020B0502040204020203" pitchFamily="34" charset="0"/>
                <a:cs typeface="Segoe UI" panose="020B0502040204020203" pitchFamily="34" charset="0"/>
              </a:endParaRPr>
            </a:p>
          </p:txBody>
        </p:sp>
        <p:sp>
          <p:nvSpPr>
            <p:cNvPr id="9" name="文本框 7">
              <a:extLst>
                <a:ext uri="{FF2B5EF4-FFF2-40B4-BE49-F238E27FC236}">
                  <a16:creationId xmlns:a16="http://schemas.microsoft.com/office/drawing/2014/main" id="{7C3B1924-1B1C-4D92-804D-344D423096A0}"/>
                </a:ext>
              </a:extLst>
            </p:cNvPr>
            <p:cNvSpPr txBox="1">
              <a:spLocks noChangeArrowheads="1"/>
            </p:cNvSpPr>
            <p:nvPr/>
          </p:nvSpPr>
          <p:spPr bwMode="auto">
            <a:xfrm>
              <a:off x="3794808" y="664227"/>
              <a:ext cx="719942" cy="1008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ud</a:t>
              </a:r>
            </a:p>
            <a:p>
              <a:pP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f</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ud</a:t>
              </a:r>
              <a:endParaRPr lang="zh-CN" altLang="en-US" sz="1400" b="0" baseline="-25000" dirty="0">
                <a:solidFill>
                  <a:srgbClr val="2C3E50"/>
                </a:solidFill>
                <a:latin typeface="Segoe UI" panose="020B0502040204020203" pitchFamily="34" charset="0"/>
                <a:cs typeface="Segoe UI" panose="020B0502040204020203" pitchFamily="34" charset="0"/>
              </a:endParaRPr>
            </a:p>
          </p:txBody>
        </p:sp>
        <p:sp>
          <p:nvSpPr>
            <p:cNvPr id="10" name="文本框 8">
              <a:extLst>
                <a:ext uri="{FF2B5EF4-FFF2-40B4-BE49-F238E27FC236}">
                  <a16:creationId xmlns:a16="http://schemas.microsoft.com/office/drawing/2014/main" id="{FC6D86A0-FEA0-4EDC-B1AD-E01F126936A6}"/>
                </a:ext>
              </a:extLst>
            </p:cNvPr>
            <p:cNvSpPr txBox="1">
              <a:spLocks noChangeArrowheads="1"/>
            </p:cNvSpPr>
            <p:nvPr/>
          </p:nvSpPr>
          <p:spPr bwMode="auto">
            <a:xfrm>
              <a:off x="3794810" y="1744534"/>
              <a:ext cx="719942" cy="1008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dd</a:t>
              </a:r>
            </a:p>
            <a:p>
              <a:pPr>
                <a:lnSpc>
                  <a:spcPct val="150000"/>
                </a:lnSpc>
                <a:spcBef>
                  <a:spcPts val="0"/>
                </a:spcBef>
                <a:buClr>
                  <a:srgbClr val="800000"/>
                </a:buClr>
                <a:buSzPct val="80000"/>
                <a:buFont typeface="Wingdings" panose="05000000000000000000" pitchFamily="2" charset="2"/>
                <a:buNone/>
              </a:pPr>
              <a:r>
                <a:rPr lang="en-US" altLang="zh-CN" sz="1400" b="0" dirty="0" err="1">
                  <a:solidFill>
                    <a:srgbClr val="2C3E50"/>
                  </a:solidFill>
                  <a:latin typeface="Segoe UI" panose="020B0502040204020203" pitchFamily="34" charset="0"/>
                  <a:ea typeface="Segoe UI" panose="020B0502040204020203" pitchFamily="34" charset="0"/>
                  <a:cs typeface="Segoe UI" panose="020B0502040204020203" pitchFamily="34" charset="0"/>
                </a:rPr>
                <a:t>f</a:t>
              </a:r>
              <a:r>
                <a:rPr lang="en-US" altLang="zh-CN" sz="1400" b="0" baseline="-25000" dirty="0" err="1">
                  <a:solidFill>
                    <a:srgbClr val="2C3E50"/>
                  </a:solidFill>
                  <a:latin typeface="Segoe UI" panose="020B0502040204020203" pitchFamily="34" charset="0"/>
                  <a:ea typeface="Segoe UI" panose="020B0502040204020203" pitchFamily="34" charset="0"/>
                  <a:cs typeface="Segoe UI" panose="020B0502040204020203" pitchFamily="34" charset="0"/>
                </a:rPr>
                <a:t>dd</a:t>
              </a:r>
              <a:endParaRPr lang="zh-CN" altLang="en-US" sz="1400" b="0" baseline="-25000" dirty="0">
                <a:solidFill>
                  <a:srgbClr val="2C3E50"/>
                </a:solidFill>
                <a:latin typeface="Segoe UI" panose="020B0502040204020203" pitchFamily="34" charset="0"/>
                <a:cs typeface="Segoe UI" panose="020B0502040204020203" pitchFamily="34" charset="0"/>
              </a:endParaRPr>
            </a:p>
          </p:txBody>
        </p:sp>
        <p:sp>
          <p:nvSpPr>
            <p:cNvPr id="11" name="椭圆 9">
              <a:extLst>
                <a:ext uri="{FF2B5EF4-FFF2-40B4-BE49-F238E27FC236}">
                  <a16:creationId xmlns:a16="http://schemas.microsoft.com/office/drawing/2014/main" id="{7B28B710-95FC-4E4A-91DE-EB4F96B2F90B}"/>
                </a:ext>
              </a:extLst>
            </p:cNvPr>
            <p:cNvSpPr>
              <a:spLocks noChangeArrowheads="1"/>
            </p:cNvSpPr>
            <p:nvPr/>
          </p:nvSpPr>
          <p:spPr bwMode="auto">
            <a:xfrm>
              <a:off x="166672" y="1138314"/>
              <a:ext cx="125990" cy="126009"/>
            </a:xfrm>
            <a:prstGeom prst="ellipse">
              <a:avLst/>
            </a:prstGeom>
            <a:solidFill>
              <a:srgbClr val="2C3E50"/>
            </a:solidFill>
            <a:ln w="25400">
              <a:solidFill>
                <a:srgbClr val="2C3E50"/>
              </a:solidFill>
              <a:round/>
              <a:headEnd/>
              <a:tailEnd/>
            </a:ln>
          </p:spPr>
          <p:txBody>
            <a:bodyPr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12" name="椭圆 10">
              <a:extLst>
                <a:ext uri="{FF2B5EF4-FFF2-40B4-BE49-F238E27FC236}">
                  <a16:creationId xmlns:a16="http://schemas.microsoft.com/office/drawing/2014/main" id="{9D55D45B-8A0F-4C88-9361-FC2F6756F673}"/>
                </a:ext>
              </a:extLst>
            </p:cNvPr>
            <p:cNvSpPr>
              <a:spLocks noChangeArrowheads="1"/>
            </p:cNvSpPr>
            <p:nvPr/>
          </p:nvSpPr>
          <p:spPr bwMode="auto">
            <a:xfrm>
              <a:off x="1895321" y="608082"/>
              <a:ext cx="125990" cy="126009"/>
            </a:xfrm>
            <a:prstGeom prst="ellipse">
              <a:avLst/>
            </a:prstGeom>
            <a:solidFill>
              <a:srgbClr val="2C3E50"/>
            </a:solidFill>
            <a:ln w="25400">
              <a:solidFill>
                <a:srgbClr val="2C3E50"/>
              </a:solidFill>
              <a:round/>
              <a:headEnd/>
              <a:tailEnd/>
            </a:ln>
          </p:spPr>
          <p:txBody>
            <a:bodyPr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13" name="椭圆 11">
              <a:extLst>
                <a:ext uri="{FF2B5EF4-FFF2-40B4-BE49-F238E27FC236}">
                  <a16:creationId xmlns:a16="http://schemas.microsoft.com/office/drawing/2014/main" id="{94D6ADC9-E36D-4306-8DA7-D6F9FC26FBA1}"/>
                </a:ext>
              </a:extLst>
            </p:cNvPr>
            <p:cNvSpPr>
              <a:spLocks noChangeArrowheads="1"/>
            </p:cNvSpPr>
            <p:nvPr/>
          </p:nvSpPr>
          <p:spPr bwMode="auto">
            <a:xfrm>
              <a:off x="1887383" y="1662874"/>
              <a:ext cx="125990" cy="126009"/>
            </a:xfrm>
            <a:prstGeom prst="ellipse">
              <a:avLst/>
            </a:prstGeom>
            <a:solidFill>
              <a:srgbClr val="2C3E50"/>
            </a:solidFill>
            <a:ln w="25400">
              <a:solidFill>
                <a:srgbClr val="2C3E50"/>
              </a:solidFill>
              <a:round/>
              <a:headEnd/>
              <a:tailEnd/>
            </a:ln>
          </p:spPr>
          <p:txBody>
            <a:bodyPr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14" name="椭圆 12">
              <a:extLst>
                <a:ext uri="{FF2B5EF4-FFF2-40B4-BE49-F238E27FC236}">
                  <a16:creationId xmlns:a16="http://schemas.microsoft.com/office/drawing/2014/main" id="{993D780C-26ED-4B33-AC97-63E50BE2E117}"/>
                </a:ext>
              </a:extLst>
            </p:cNvPr>
            <p:cNvSpPr>
              <a:spLocks noChangeArrowheads="1"/>
            </p:cNvSpPr>
            <p:nvPr/>
          </p:nvSpPr>
          <p:spPr bwMode="auto">
            <a:xfrm>
              <a:off x="3626870" y="41950"/>
              <a:ext cx="125990" cy="126009"/>
            </a:xfrm>
            <a:prstGeom prst="ellipse">
              <a:avLst/>
            </a:prstGeom>
            <a:solidFill>
              <a:srgbClr val="2C3E50"/>
            </a:solidFill>
            <a:ln w="25400">
              <a:solidFill>
                <a:srgbClr val="2C3E50"/>
              </a:solidFill>
              <a:round/>
              <a:headEnd/>
              <a:tailEnd/>
            </a:ln>
          </p:spPr>
          <p:txBody>
            <a:bodyPr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15" name="椭圆 13">
              <a:extLst>
                <a:ext uri="{FF2B5EF4-FFF2-40B4-BE49-F238E27FC236}">
                  <a16:creationId xmlns:a16="http://schemas.microsoft.com/office/drawing/2014/main" id="{40E7F906-FAED-40B9-94B4-0D1D070A2B94}"/>
                </a:ext>
              </a:extLst>
            </p:cNvPr>
            <p:cNvSpPr>
              <a:spLocks noChangeArrowheads="1"/>
            </p:cNvSpPr>
            <p:nvPr/>
          </p:nvSpPr>
          <p:spPr bwMode="auto">
            <a:xfrm>
              <a:off x="3626870" y="1136728"/>
              <a:ext cx="125990" cy="126009"/>
            </a:xfrm>
            <a:prstGeom prst="ellipse">
              <a:avLst/>
            </a:prstGeom>
            <a:solidFill>
              <a:srgbClr val="2C3E50"/>
            </a:solidFill>
            <a:ln w="25400">
              <a:solidFill>
                <a:srgbClr val="2C3E50"/>
              </a:solidFill>
              <a:round/>
              <a:headEnd/>
              <a:tailEnd/>
            </a:ln>
          </p:spPr>
          <p:txBody>
            <a:bodyPr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16" name="椭圆 14">
              <a:extLst>
                <a:ext uri="{FF2B5EF4-FFF2-40B4-BE49-F238E27FC236}">
                  <a16:creationId xmlns:a16="http://schemas.microsoft.com/office/drawing/2014/main" id="{63C0DF8E-2C93-4C76-B46A-6D51E526953E}"/>
                </a:ext>
              </a:extLst>
            </p:cNvPr>
            <p:cNvSpPr>
              <a:spLocks noChangeArrowheads="1"/>
            </p:cNvSpPr>
            <p:nvPr/>
          </p:nvSpPr>
          <p:spPr bwMode="auto">
            <a:xfrm>
              <a:off x="3626870" y="2194628"/>
              <a:ext cx="125990" cy="126009"/>
            </a:xfrm>
            <a:prstGeom prst="ellipse">
              <a:avLst/>
            </a:prstGeom>
            <a:solidFill>
              <a:srgbClr val="2C3E50"/>
            </a:solidFill>
            <a:ln w="25400">
              <a:solidFill>
                <a:srgbClr val="2C3E50"/>
              </a:solidFill>
              <a:round/>
              <a:headEnd/>
              <a:tailEnd/>
            </a:ln>
          </p:spPr>
          <p:txBody>
            <a:bodyPr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cxnSp>
          <p:nvCxnSpPr>
            <p:cNvPr id="17" name="直接箭头连接符 16">
              <a:extLst>
                <a:ext uri="{FF2B5EF4-FFF2-40B4-BE49-F238E27FC236}">
                  <a16:creationId xmlns:a16="http://schemas.microsoft.com/office/drawing/2014/main" id="{48D7DEFC-C89E-48C6-B980-28E87F68B261}"/>
                </a:ext>
              </a:extLst>
            </p:cNvPr>
            <p:cNvCxnSpPr>
              <a:cxnSpLocks noChangeShapeType="1"/>
            </p:cNvCxnSpPr>
            <p:nvPr/>
          </p:nvCxnSpPr>
          <p:spPr bwMode="auto">
            <a:xfrm flipV="1">
              <a:off x="292075" y="664340"/>
              <a:ext cx="1619868" cy="540037"/>
            </a:xfrm>
            <a:prstGeom prst="straightConnector1">
              <a:avLst/>
            </a:prstGeom>
            <a:noFill/>
            <a:ln w="25400">
              <a:solidFill>
                <a:schemeClr val="tx1"/>
              </a:solidFill>
              <a:round/>
              <a:headEnd/>
              <a:tailEnd type="triangle" w="med" len="med"/>
            </a:ln>
            <a:effectLst>
              <a:outerShdw blurRad="63500" dist="20000" dir="5400000" algn="ctr" rotWithShape="0">
                <a:srgbClr val="000000">
                  <a:alpha val="31000"/>
                </a:srgbClr>
              </a:outerShdw>
            </a:effectLst>
            <a:extLst/>
          </p:spPr>
        </p:cxnSp>
        <p:cxnSp>
          <p:nvCxnSpPr>
            <p:cNvPr id="18" name="直接箭头连接符 20">
              <a:extLst>
                <a:ext uri="{FF2B5EF4-FFF2-40B4-BE49-F238E27FC236}">
                  <a16:creationId xmlns:a16="http://schemas.microsoft.com/office/drawing/2014/main" id="{4CFA649E-388A-4E1D-BB7F-E4E153D786CB}"/>
                </a:ext>
              </a:extLst>
            </p:cNvPr>
            <p:cNvCxnSpPr>
              <a:cxnSpLocks noChangeShapeType="1"/>
            </p:cNvCxnSpPr>
            <p:nvPr/>
          </p:nvCxnSpPr>
          <p:spPr bwMode="auto">
            <a:xfrm>
              <a:off x="292075" y="1200231"/>
              <a:ext cx="1619868" cy="54003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p:cxnSp>
          <p:nvCxnSpPr>
            <p:cNvPr id="19" name="直接箭头连接符 22">
              <a:extLst>
                <a:ext uri="{FF2B5EF4-FFF2-40B4-BE49-F238E27FC236}">
                  <a16:creationId xmlns:a16="http://schemas.microsoft.com/office/drawing/2014/main" id="{4854E604-42B2-40AE-86A1-54D3164A8D1E}"/>
                </a:ext>
              </a:extLst>
            </p:cNvPr>
            <p:cNvCxnSpPr>
              <a:cxnSpLocks noChangeShapeType="1"/>
            </p:cNvCxnSpPr>
            <p:nvPr/>
          </p:nvCxnSpPr>
          <p:spPr bwMode="auto">
            <a:xfrm flipV="1">
              <a:off x="2013373" y="124303"/>
              <a:ext cx="1619868" cy="54003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p:cxnSp>
          <p:nvCxnSpPr>
            <p:cNvPr id="20" name="直接箭头连接符 24">
              <a:extLst>
                <a:ext uri="{FF2B5EF4-FFF2-40B4-BE49-F238E27FC236}">
                  <a16:creationId xmlns:a16="http://schemas.microsoft.com/office/drawing/2014/main" id="{BD22089E-FC9F-42C2-B2F9-7609B3CE7917}"/>
                </a:ext>
              </a:extLst>
            </p:cNvPr>
            <p:cNvCxnSpPr>
              <a:cxnSpLocks noChangeShapeType="1"/>
            </p:cNvCxnSpPr>
            <p:nvPr/>
          </p:nvCxnSpPr>
          <p:spPr bwMode="auto">
            <a:xfrm>
              <a:off x="2013373" y="671086"/>
              <a:ext cx="1619868" cy="54003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p:cxnSp>
          <p:nvCxnSpPr>
            <p:cNvPr id="21" name="直接箭头连接符 26">
              <a:extLst>
                <a:ext uri="{FF2B5EF4-FFF2-40B4-BE49-F238E27FC236}">
                  <a16:creationId xmlns:a16="http://schemas.microsoft.com/office/drawing/2014/main" id="{13CA4B75-098D-42A3-A952-57A65F6DCE18}"/>
                </a:ext>
              </a:extLst>
            </p:cNvPr>
            <p:cNvCxnSpPr>
              <a:cxnSpLocks noChangeShapeType="1"/>
            </p:cNvCxnSpPr>
            <p:nvPr/>
          </p:nvCxnSpPr>
          <p:spPr bwMode="auto">
            <a:xfrm flipV="1">
              <a:off x="2013373" y="1199732"/>
              <a:ext cx="1619868" cy="540037"/>
            </a:xfrm>
            <a:prstGeom prst="straightConnector1">
              <a:avLst/>
            </a:prstGeom>
            <a:noFill/>
            <a:ln w="25400">
              <a:solidFill>
                <a:schemeClr val="tx1"/>
              </a:solidFill>
              <a:round/>
              <a:headEnd/>
              <a:tailEnd type="triangle" w="med" len="med"/>
            </a:ln>
            <a:effectLst>
              <a:outerShdw blurRad="63500" dist="20000" dir="5400000" algn="ctr" rotWithShape="0">
                <a:srgbClr val="000000">
                  <a:alpha val="31000"/>
                </a:srgbClr>
              </a:outerShdw>
            </a:effectLst>
            <a:extLst/>
          </p:spPr>
        </p:cxnSp>
        <p:cxnSp>
          <p:nvCxnSpPr>
            <p:cNvPr id="22" name="直接箭头连接符 28">
              <a:extLst>
                <a:ext uri="{FF2B5EF4-FFF2-40B4-BE49-F238E27FC236}">
                  <a16:creationId xmlns:a16="http://schemas.microsoft.com/office/drawing/2014/main" id="{10F7576D-886D-4AF6-9A93-12D91525B077}"/>
                </a:ext>
              </a:extLst>
            </p:cNvPr>
            <p:cNvCxnSpPr>
              <a:cxnSpLocks noChangeShapeType="1"/>
            </p:cNvCxnSpPr>
            <p:nvPr/>
          </p:nvCxnSpPr>
          <p:spPr bwMode="auto">
            <a:xfrm>
              <a:off x="2013373" y="1725878"/>
              <a:ext cx="1619868" cy="540037"/>
            </a:xfrm>
            <a:prstGeom prst="straightConnector1">
              <a:avLst/>
            </a:prstGeom>
            <a:noFill/>
            <a:ln w="25400">
              <a:solidFill>
                <a:schemeClr val="tx1"/>
              </a:solidFill>
              <a:round/>
              <a:headEnd/>
              <a:tailEnd type="triangle" w="med" len="med"/>
            </a:ln>
            <a:effectLst>
              <a:outerShdw blurRad="63500" dist="20000" dir="5400000" algn="ctr" rotWithShape="0">
                <a:srgbClr val="000000">
                  <a:alpha val="31000"/>
                </a:srgbClr>
              </a:outerShdw>
            </a:effectLst>
            <a:extLst/>
          </p:spPr>
        </p:cxnSp>
      </p:grpSp>
      <p:graphicFrame>
        <p:nvGraphicFramePr>
          <p:cNvPr id="23" name="对象 30">
            <a:extLst>
              <a:ext uri="{FF2B5EF4-FFF2-40B4-BE49-F238E27FC236}">
                <a16:creationId xmlns:a16="http://schemas.microsoft.com/office/drawing/2014/main" id="{5D8E15C3-3178-4AB2-8AB9-87F9F0837A1C}"/>
              </a:ext>
            </a:extLst>
          </p:cNvPr>
          <p:cNvGraphicFramePr>
            <a:graphicFrameLocks noChangeAspect="1"/>
          </p:cNvGraphicFramePr>
          <p:nvPr>
            <p:extLst>
              <p:ext uri="{D42A27DB-BD31-4B8C-83A1-F6EECF244321}">
                <p14:modId xmlns:p14="http://schemas.microsoft.com/office/powerpoint/2010/main" val="355874392"/>
              </p:ext>
            </p:extLst>
          </p:nvPr>
        </p:nvGraphicFramePr>
        <p:xfrm>
          <a:off x="5291428" y="4515594"/>
          <a:ext cx="1609142" cy="925238"/>
        </p:xfrm>
        <a:graphic>
          <a:graphicData uri="http://schemas.openxmlformats.org/presentationml/2006/ole">
            <mc:AlternateContent xmlns:mc="http://schemas.openxmlformats.org/markup-compatibility/2006">
              <mc:Choice xmlns:v="urn:schemas-microsoft-com:vml" Requires="v">
                <p:oleObj spid="_x0000_s2062" name="Equation" r:id="rId3" imgW="634680" imgH="368280" progId="Equation.DSMT4">
                  <p:embed/>
                </p:oleObj>
              </mc:Choice>
              <mc:Fallback>
                <p:oleObj name="Equation" r:id="rId3" imgW="634680" imgH="368280" progId="Equation.DSMT4">
                  <p:embed/>
                  <p:pic>
                    <p:nvPicPr>
                      <p:cNvPr id="25" name="对象 30">
                        <a:extLst>
                          <a:ext uri="{FF2B5EF4-FFF2-40B4-BE49-F238E27FC236}">
                            <a16:creationId xmlns:a16="http://schemas.microsoft.com/office/drawing/2014/main" id="{3BC734AE-6FE6-4F5B-94CC-54DCFED30FC8}"/>
                          </a:ext>
                        </a:extLst>
                      </p:cNvPr>
                      <p:cNvPicPr>
                        <a:picLocks noChangeAspect="1" noChangeArrowheads="1"/>
                      </p:cNvPicPr>
                      <p:nvPr/>
                    </p:nvPicPr>
                    <p:blipFill>
                      <a:blip r:embed="rId4"/>
                      <a:srcRect/>
                      <a:stretch>
                        <a:fillRect/>
                      </a:stretch>
                    </p:blipFill>
                    <p:spPr bwMode="auto">
                      <a:xfrm>
                        <a:off x="5291428" y="4515594"/>
                        <a:ext cx="1609142" cy="925238"/>
                      </a:xfrm>
                      <a:prstGeom prst="rect">
                        <a:avLst/>
                      </a:prstGeom>
                      <a:noFill/>
                      <a:ln w="19050">
                        <a:solidFill>
                          <a:schemeClr val="tx2">
                            <a:lumMod val="60000"/>
                            <a:lumOff val="40000"/>
                          </a:schemeClr>
                        </a:solidFill>
                        <a:miter lim="800000"/>
                        <a:headEnd/>
                        <a:tailEnd/>
                      </a:ln>
                      <a:extLst/>
                    </p:spPr>
                  </p:pic>
                </p:oleObj>
              </mc:Fallback>
            </mc:AlternateContent>
          </a:graphicData>
        </a:graphic>
      </p:graphicFrame>
      <p:graphicFrame>
        <p:nvGraphicFramePr>
          <p:cNvPr id="24" name="Object 93">
            <a:extLst>
              <a:ext uri="{FF2B5EF4-FFF2-40B4-BE49-F238E27FC236}">
                <a16:creationId xmlns:a16="http://schemas.microsoft.com/office/drawing/2014/main" id="{02DB0ADD-8736-4445-AF57-4A1B8314FDCB}"/>
              </a:ext>
            </a:extLst>
          </p:cNvPr>
          <p:cNvGraphicFramePr>
            <a:graphicFrameLocks noChangeAspect="1"/>
          </p:cNvGraphicFramePr>
          <p:nvPr>
            <p:extLst>
              <p:ext uri="{D42A27DB-BD31-4B8C-83A1-F6EECF244321}">
                <p14:modId xmlns:p14="http://schemas.microsoft.com/office/powerpoint/2010/main" val="2298432769"/>
              </p:ext>
            </p:extLst>
          </p:nvPr>
        </p:nvGraphicFramePr>
        <p:xfrm>
          <a:off x="3690245" y="5569188"/>
          <a:ext cx="5452622" cy="601405"/>
        </p:xfrm>
        <a:graphic>
          <a:graphicData uri="http://schemas.openxmlformats.org/presentationml/2006/ole">
            <mc:AlternateContent xmlns:mc="http://schemas.openxmlformats.org/markup-compatibility/2006">
              <mc:Choice xmlns:v="urn:schemas-microsoft-com:vml" Requires="v">
                <p:oleObj spid="_x0000_s2063" name="Equation" r:id="rId5" imgW="2209680" imgH="241200" progId="Equation.DSMT4">
                  <p:embed/>
                </p:oleObj>
              </mc:Choice>
              <mc:Fallback>
                <p:oleObj name="Equation" r:id="rId5" imgW="2209680" imgH="241200" progId="Equation.DSMT4">
                  <p:embed/>
                  <p:pic>
                    <p:nvPicPr>
                      <p:cNvPr id="26" name="Object 93">
                        <a:extLst>
                          <a:ext uri="{FF2B5EF4-FFF2-40B4-BE49-F238E27FC236}">
                            <a16:creationId xmlns:a16="http://schemas.microsoft.com/office/drawing/2014/main" id="{F4CE7403-2EAB-4503-9E0C-6D62C576C658}"/>
                          </a:ext>
                        </a:extLst>
                      </p:cNvPr>
                      <p:cNvPicPr>
                        <a:picLocks noChangeAspect="1" noChangeArrowheads="1"/>
                      </p:cNvPicPr>
                      <p:nvPr/>
                    </p:nvPicPr>
                    <p:blipFill>
                      <a:blip r:embed="rId6"/>
                      <a:srcRect/>
                      <a:stretch>
                        <a:fillRect/>
                      </a:stretch>
                    </p:blipFill>
                    <p:spPr bwMode="auto">
                      <a:xfrm>
                        <a:off x="3690245" y="5569188"/>
                        <a:ext cx="5452622" cy="601405"/>
                      </a:xfrm>
                      <a:prstGeom prst="rect">
                        <a:avLst/>
                      </a:prstGeom>
                      <a:noFill/>
                      <a:ln w="19050">
                        <a:solidFill>
                          <a:schemeClr val="tx2">
                            <a:lumMod val="60000"/>
                            <a:lumOff val="40000"/>
                          </a:schemeClr>
                        </a:solidFill>
                        <a:miter lim="800000"/>
                        <a:headEnd/>
                        <a:tailEnd/>
                      </a:ln>
                      <a:extLst/>
                    </p:spPr>
                  </p:pic>
                </p:oleObj>
              </mc:Fallback>
            </mc:AlternateContent>
          </a:graphicData>
        </a:graphic>
      </p:graphicFrame>
    </p:spTree>
    <p:extLst>
      <p:ext uri="{BB962C8B-B14F-4D97-AF65-F5344CB8AC3E}">
        <p14:creationId xmlns:p14="http://schemas.microsoft.com/office/powerpoint/2010/main" val="3983024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American Options</a:t>
            </a:r>
          </a:p>
          <a:p>
            <a:endParaRPr lang="zh-CN" altLang="en-US" dirty="0">
              <a:latin typeface="+mn-lt"/>
              <a:ea typeface="+mn-ea"/>
              <a:cs typeface="+mn-ea"/>
              <a:sym typeface="+mn-lt"/>
            </a:endParaRPr>
          </a:p>
        </p:txBody>
      </p:sp>
      <p:sp>
        <p:nvSpPr>
          <p:cNvPr id="4" name="文本框 3">
            <a:extLst>
              <a:ext uri="{FF2B5EF4-FFF2-40B4-BE49-F238E27FC236}">
                <a16:creationId xmlns:a16="http://schemas.microsoft.com/office/drawing/2014/main" id="{362C4D4B-5A2B-4EEA-A9B3-E7398DA073C8}"/>
              </a:ext>
            </a:extLst>
          </p:cNvPr>
          <p:cNvSpPr txBox="1"/>
          <p:nvPr/>
        </p:nvSpPr>
        <p:spPr>
          <a:xfrm>
            <a:off x="609600" y="5485860"/>
            <a:ext cx="5224107" cy="369332"/>
          </a:xfrm>
          <a:prstGeom prst="rect">
            <a:avLst/>
          </a:prstGeom>
          <a:noFill/>
        </p:spPr>
        <p:txBody>
          <a:bodyPr wrap="square" rtlCol="0">
            <a:spAutoFit/>
          </a:bodyPr>
          <a:lstStyle/>
          <a:p>
            <a:r>
              <a:rPr lang="en-US" altLang="zh-CN" b="1" dirty="0"/>
              <a:t>At earlier nodes, the value of the option is</a:t>
            </a:r>
            <a:endParaRPr lang="zh-CN" altLang="en-US" b="1"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607A551-5FCE-4423-8A05-7889EC630AD4}"/>
                  </a:ext>
                </a:extLst>
              </p:cNvPr>
              <p:cNvSpPr txBox="1"/>
              <p:nvPr/>
            </p:nvSpPr>
            <p:spPr>
              <a:xfrm>
                <a:off x="-568087" y="5858079"/>
                <a:ext cx="10769921" cy="6155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i="1" dirty="0" smtClean="0">
                          <a:latin typeface="Cambria Math" panose="02040503050406030204" pitchFamily="18" charset="0"/>
                        </a:rPr>
                        <m:t>𝑀𝐴𝑋</m:t>
                      </m:r>
                      <m:r>
                        <a:rPr lang="en-US" altLang="zh-CN" sz="1600" i="1" dirty="0">
                          <a:latin typeface="Cambria Math" panose="02040503050406030204" pitchFamily="18" charset="0"/>
                        </a:rPr>
                        <m:t> [</m:t>
                      </m:r>
                      <m:r>
                        <a:rPr lang="en-US" altLang="zh-CN" sz="1600" i="1" dirty="0">
                          <a:latin typeface="Cambria Math" panose="02040503050406030204" pitchFamily="18" charset="0"/>
                        </a:rPr>
                        <m:t>𝑖𝑛𝑡𝑟𝑖𝑛𝑠𝑖𝑐</m:t>
                      </m:r>
                      <m:r>
                        <a:rPr lang="en-US" altLang="zh-CN" sz="1600" i="1" dirty="0">
                          <a:latin typeface="Cambria Math" panose="02040503050406030204" pitchFamily="18" charset="0"/>
                        </a:rPr>
                        <m:t> </m:t>
                      </m:r>
                      <m:r>
                        <a:rPr lang="en-US" altLang="zh-CN" sz="1600" i="1" dirty="0">
                          <a:latin typeface="Cambria Math" panose="02040503050406030204" pitchFamily="18" charset="0"/>
                        </a:rPr>
                        <m:t>𝑣𝑎𝑙𝑢𝑒</m:t>
                      </m:r>
                      <m:r>
                        <a:rPr lang="en-US" altLang="zh-CN" sz="1600" i="1" dirty="0">
                          <a:latin typeface="Cambria Math" panose="02040503050406030204" pitchFamily="18" charset="0"/>
                        </a:rPr>
                        <m:t> </m:t>
                      </m:r>
                      <m:r>
                        <a:rPr lang="en-US" altLang="zh-CN" sz="1600" i="1" dirty="0">
                          <a:latin typeface="Cambria Math" panose="02040503050406030204" pitchFamily="18" charset="0"/>
                        </a:rPr>
                        <m:t>𝑖𝑓</m:t>
                      </m:r>
                      <m:r>
                        <a:rPr lang="en-US" altLang="zh-CN" sz="1600" i="1" dirty="0">
                          <a:latin typeface="Cambria Math" panose="02040503050406030204" pitchFamily="18" charset="0"/>
                        </a:rPr>
                        <m:t> </m:t>
                      </m:r>
                      <m:r>
                        <a:rPr lang="en-US" altLang="zh-CN" sz="1600" i="1" dirty="0">
                          <a:latin typeface="Cambria Math" panose="02040503050406030204" pitchFamily="18" charset="0"/>
                        </a:rPr>
                        <m:t>𝑜𝑝𝑡𝑖𝑜𝑛</m:t>
                      </m:r>
                      <m:r>
                        <a:rPr lang="en-US" altLang="zh-CN" sz="1600" i="1" dirty="0">
                          <a:latin typeface="Cambria Math" panose="02040503050406030204" pitchFamily="18" charset="0"/>
                        </a:rPr>
                        <m:t> </m:t>
                      </m:r>
                      <m:r>
                        <a:rPr lang="en-US" altLang="zh-CN" sz="1600" i="1" dirty="0">
                          <a:latin typeface="Cambria Math" panose="02040503050406030204" pitchFamily="18" charset="0"/>
                        </a:rPr>
                        <m:t>𝑤𝑒𝑟𝑒</m:t>
                      </m:r>
                      <m:r>
                        <a:rPr lang="en-US" altLang="zh-CN" sz="1600" i="1" dirty="0">
                          <a:latin typeface="Cambria Math" panose="02040503050406030204" pitchFamily="18" charset="0"/>
                        </a:rPr>
                        <m:t> </m:t>
                      </m:r>
                      <m:r>
                        <a:rPr lang="en-US" altLang="zh-CN" sz="1600" i="1" dirty="0">
                          <a:latin typeface="Cambria Math" panose="02040503050406030204" pitchFamily="18" charset="0"/>
                        </a:rPr>
                        <m:t>𝑒𝑥𝑒𝑟𝑐𝑖𝑠𝑒𝑑</m:t>
                      </m:r>
                      <m:r>
                        <a:rPr lang="en-US" altLang="zh-CN" sz="1600" i="1" dirty="0">
                          <a:latin typeface="Cambria Math" panose="02040503050406030204" pitchFamily="18" charset="0"/>
                        </a:rPr>
                        <m:t>, </m:t>
                      </m:r>
                      <m:r>
                        <a:rPr lang="en-US" altLang="zh-CN" sz="1600" i="1" dirty="0">
                          <a:latin typeface="Cambria Math" panose="02040503050406030204" pitchFamily="18" charset="0"/>
                        </a:rPr>
                        <m:t>𝑑𝑖𝑠𝑐𝑜𝑢𝑛𝑡𝑒𝑑</m:t>
                      </m:r>
                      <m:r>
                        <a:rPr lang="en-US" altLang="zh-CN" sz="1600" i="1" dirty="0">
                          <a:latin typeface="Cambria Math" panose="02040503050406030204" pitchFamily="18" charset="0"/>
                        </a:rPr>
                        <m:t> </m:t>
                      </m:r>
                      <m:r>
                        <a:rPr lang="en-US" altLang="zh-CN" sz="1600" i="1" dirty="0">
                          <a:latin typeface="Cambria Math" panose="02040503050406030204" pitchFamily="18" charset="0"/>
                        </a:rPr>
                        <m:t>𝑣𝑎𝑙𝑢𝑒</m:t>
                      </m:r>
                      <m:r>
                        <a:rPr lang="en-US" altLang="zh-CN" sz="1600" i="1" dirty="0">
                          <a:latin typeface="Cambria Math" panose="02040503050406030204" pitchFamily="18" charset="0"/>
                        </a:rPr>
                        <m:t> </m:t>
                      </m:r>
                      <m:r>
                        <a:rPr lang="en-US" altLang="zh-CN" sz="1600" i="1" dirty="0">
                          <a:latin typeface="Cambria Math" panose="02040503050406030204" pitchFamily="18" charset="0"/>
                        </a:rPr>
                        <m:t>𝑜𝑓</m:t>
                      </m:r>
                      <m:r>
                        <a:rPr lang="en-US" altLang="zh-CN" sz="1600" i="1" dirty="0">
                          <a:latin typeface="Cambria Math" panose="02040503050406030204" pitchFamily="18" charset="0"/>
                        </a:rPr>
                        <m:t> </m:t>
                      </m:r>
                      <m:r>
                        <a:rPr lang="en-US" altLang="zh-CN" sz="1600" i="1" dirty="0">
                          <a:latin typeface="Cambria Math" panose="02040503050406030204" pitchFamily="18" charset="0"/>
                        </a:rPr>
                        <m:t>𝑡𝑤𝑜</m:t>
                      </m:r>
                      <m:r>
                        <a:rPr lang="en-US" altLang="zh-CN" sz="1600" b="0" i="0" dirty="0" smtClean="0">
                          <a:latin typeface="Cambria Math" panose="02040503050406030204" pitchFamily="18" charset="0"/>
                        </a:rPr>
                        <m:t> </m:t>
                      </m:r>
                      <m:r>
                        <a:rPr lang="en-US" altLang="zh-CN" sz="1600" i="1" dirty="0">
                          <a:latin typeface="Cambria Math" panose="02040503050406030204" pitchFamily="18" charset="0"/>
                        </a:rPr>
                        <m:t>𝑠𝑢𝑏𝑠𝑒𝑞𝑢𝑒𝑛𝑡</m:t>
                      </m:r>
                      <m:r>
                        <a:rPr lang="en-US" altLang="zh-CN" sz="1600" i="1" dirty="0">
                          <a:latin typeface="Cambria Math" panose="02040503050406030204" pitchFamily="18" charset="0"/>
                        </a:rPr>
                        <m:t> </m:t>
                      </m:r>
                      <m:r>
                        <a:rPr lang="en-US" altLang="zh-CN" sz="1600" i="1" dirty="0">
                          <a:latin typeface="Cambria Math" panose="02040503050406030204" pitchFamily="18" charset="0"/>
                        </a:rPr>
                        <m:t>𝑛𝑜𝑑𝑒𝑠</m:t>
                      </m:r>
                      <m:r>
                        <a:rPr lang="en-US" altLang="zh-CN" sz="1600" i="1" dirty="0">
                          <a:latin typeface="Cambria Math" panose="02040503050406030204" pitchFamily="18" charset="0"/>
                        </a:rPr>
                        <m:t>]</m:t>
                      </m:r>
                    </m:oMath>
                  </m:oMathPara>
                </a14:m>
                <a:endParaRPr lang="zh-CN" altLang="en-US" sz="1600" dirty="0"/>
              </a:p>
              <a:p>
                <a:endParaRPr lang="zh-CN" altLang="en-US" dirty="0"/>
              </a:p>
            </p:txBody>
          </p:sp>
        </mc:Choice>
        <mc:Fallback xmlns="">
          <p:sp>
            <p:nvSpPr>
              <p:cNvPr id="5" name="文本框 4">
                <a:extLst>
                  <a:ext uri="{FF2B5EF4-FFF2-40B4-BE49-F238E27FC236}">
                    <a16:creationId xmlns:a16="http://schemas.microsoft.com/office/drawing/2014/main" id="{8607A551-5FCE-4423-8A05-7889EC630AD4}"/>
                  </a:ext>
                </a:extLst>
              </p:cNvPr>
              <p:cNvSpPr txBox="1">
                <a:spLocks noRot="1" noChangeAspect="1" noMove="1" noResize="1" noEditPoints="1" noAdjustHandles="1" noChangeArrowheads="1" noChangeShapeType="1" noTextEdit="1"/>
              </p:cNvSpPr>
              <p:nvPr/>
            </p:nvSpPr>
            <p:spPr>
              <a:xfrm>
                <a:off x="-568087" y="5858079"/>
                <a:ext cx="10769921" cy="615553"/>
              </a:xfrm>
              <a:prstGeom prst="rect">
                <a:avLst/>
              </a:prstGeom>
              <a:blipFill>
                <a:blip r:embed="rId2"/>
                <a:stretch>
                  <a:fillRect/>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C9A0FF0E-D01C-4725-ACEB-DFCEFD2E2A5A}"/>
              </a:ext>
            </a:extLst>
          </p:cNvPr>
          <p:cNvGrpSpPr/>
          <p:nvPr/>
        </p:nvGrpSpPr>
        <p:grpSpPr>
          <a:xfrm>
            <a:off x="1577788" y="1595717"/>
            <a:ext cx="9269506" cy="3715137"/>
            <a:chOff x="467544" y="1484784"/>
            <a:chExt cx="4536504" cy="4248472"/>
          </a:xfrm>
        </p:grpSpPr>
        <p:grpSp>
          <p:nvGrpSpPr>
            <p:cNvPr id="7" name="组合 6">
              <a:extLst>
                <a:ext uri="{FF2B5EF4-FFF2-40B4-BE49-F238E27FC236}">
                  <a16:creationId xmlns:a16="http://schemas.microsoft.com/office/drawing/2014/main" id="{DC3DE1FD-304F-4630-BB9C-E1B96FE22193}"/>
                </a:ext>
              </a:extLst>
            </p:cNvPr>
            <p:cNvGrpSpPr/>
            <p:nvPr/>
          </p:nvGrpSpPr>
          <p:grpSpPr>
            <a:xfrm>
              <a:off x="544952" y="1484784"/>
              <a:ext cx="4459096" cy="4248472"/>
              <a:chOff x="360000" y="1412776"/>
              <a:chExt cx="4459096" cy="4248472"/>
            </a:xfrm>
          </p:grpSpPr>
          <p:sp>
            <p:nvSpPr>
              <p:cNvPr id="9" name="椭圆 31">
                <a:extLst>
                  <a:ext uri="{FF2B5EF4-FFF2-40B4-BE49-F238E27FC236}">
                    <a16:creationId xmlns:a16="http://schemas.microsoft.com/office/drawing/2014/main" id="{107A6CB6-6EEC-4ECC-BED1-B7E38E649D6C}"/>
                  </a:ext>
                </a:extLst>
              </p:cNvPr>
              <p:cNvSpPr>
                <a:spLocks noChangeArrowheads="1"/>
              </p:cNvSpPr>
              <p:nvPr/>
            </p:nvSpPr>
            <p:spPr bwMode="auto">
              <a:xfrm>
                <a:off x="2011015" y="3562871"/>
                <a:ext cx="540000" cy="1008000"/>
              </a:xfrm>
              <a:prstGeom prst="ellipse">
                <a:avLst/>
              </a:prstGeom>
              <a:gradFill rotWithShape="1">
                <a:gsLst>
                  <a:gs pos="0">
                    <a:srgbClr val="EDEDED"/>
                  </a:gs>
                  <a:gs pos="64999">
                    <a:srgbClr val="D0D0D0"/>
                  </a:gs>
                  <a:gs pos="100000">
                    <a:srgbClr val="BCBCBC"/>
                  </a:gs>
                </a:gsLst>
                <a:lin ang="5400000" scaled="1"/>
              </a:gradFill>
              <a:ln w="9525">
                <a:solidFill>
                  <a:srgbClr val="000000"/>
                </a:solidFill>
                <a:round/>
                <a:headEnd/>
                <a:tailEnd/>
              </a:ln>
              <a:effectLst>
                <a:outerShdw blurRad="63500" dist="20000" dir="5400000" algn="ctr" rotWithShape="0">
                  <a:srgbClr val="000000">
                    <a:alpha val="31000"/>
                  </a:srgbClr>
                </a:outerShdw>
              </a:effectLst>
            </p:spPr>
            <p:txBody>
              <a:bodyPr lIns="36000" tIns="36000" rIns="36000" bIns="36000" anchor="ctr"/>
              <a:lstStyle/>
              <a:p>
                <a:pPr algn="ctr">
                  <a:spcBef>
                    <a:spcPts val="0"/>
                  </a:spcBef>
                  <a:buClr>
                    <a:srgbClr val="800000"/>
                  </a:buClr>
                  <a:buSzPct val="80000"/>
                  <a:buFont typeface="Wingdings" charset="0"/>
                  <a:buChar char="l"/>
                  <a:defRPr/>
                </a:pPr>
                <a:endParaRPr lang="zh-CN" altLang="en-US" sz="2000">
                  <a:solidFill>
                    <a:srgbClr val="2C3E50"/>
                  </a:solidFill>
                  <a:latin typeface="Segoe UI" panose="020B0502040204020203" pitchFamily="34" charset="0"/>
                  <a:ea typeface="宋体" charset="0"/>
                  <a:cs typeface="Segoe UI" panose="020B0502040204020203" pitchFamily="34" charset="0"/>
                </a:endParaRPr>
              </a:p>
            </p:txBody>
          </p:sp>
          <p:sp>
            <p:nvSpPr>
              <p:cNvPr id="10" name="椭圆 30">
                <a:extLst>
                  <a:ext uri="{FF2B5EF4-FFF2-40B4-BE49-F238E27FC236}">
                    <a16:creationId xmlns:a16="http://schemas.microsoft.com/office/drawing/2014/main" id="{B612098B-A6D5-4E89-9EA8-0BA54D885618}"/>
                  </a:ext>
                </a:extLst>
              </p:cNvPr>
              <p:cNvSpPr>
                <a:spLocks noChangeArrowheads="1"/>
              </p:cNvSpPr>
              <p:nvPr/>
            </p:nvSpPr>
            <p:spPr bwMode="auto">
              <a:xfrm>
                <a:off x="2011015" y="2492896"/>
                <a:ext cx="540000" cy="1008000"/>
              </a:xfrm>
              <a:prstGeom prst="ellipse">
                <a:avLst/>
              </a:prstGeom>
              <a:gradFill rotWithShape="1">
                <a:gsLst>
                  <a:gs pos="0">
                    <a:srgbClr val="EDEDED"/>
                  </a:gs>
                  <a:gs pos="64999">
                    <a:srgbClr val="D0D0D0"/>
                  </a:gs>
                  <a:gs pos="100000">
                    <a:srgbClr val="BCBCBC"/>
                  </a:gs>
                </a:gsLst>
                <a:lin ang="5400000" scaled="1"/>
              </a:gradFill>
              <a:ln w="9525">
                <a:solidFill>
                  <a:srgbClr val="000000"/>
                </a:solidFill>
                <a:round/>
                <a:headEnd/>
                <a:tailEnd/>
              </a:ln>
              <a:effectLst>
                <a:outerShdw blurRad="63500" dist="20000" dir="5400000" algn="ctr" rotWithShape="0">
                  <a:srgbClr val="000000">
                    <a:alpha val="31000"/>
                  </a:srgbClr>
                </a:outerShdw>
              </a:effectLst>
            </p:spPr>
            <p:txBody>
              <a:bodyPr lIns="36000" tIns="36000" rIns="36000" bIns="36000" anchor="ctr"/>
              <a:lstStyle/>
              <a:p>
                <a:pPr algn="ctr">
                  <a:spcBef>
                    <a:spcPts val="0"/>
                  </a:spcBef>
                  <a:buClr>
                    <a:srgbClr val="800000"/>
                  </a:buClr>
                  <a:buSzPct val="80000"/>
                  <a:buFont typeface="Wingdings" charset="0"/>
                  <a:buChar char="l"/>
                  <a:defRPr/>
                </a:pPr>
                <a:endParaRPr lang="zh-CN" altLang="en-US" sz="2000">
                  <a:solidFill>
                    <a:srgbClr val="2C3E50"/>
                  </a:solidFill>
                  <a:latin typeface="Segoe UI" panose="020B0502040204020203" pitchFamily="34" charset="0"/>
                  <a:ea typeface="宋体" charset="0"/>
                  <a:cs typeface="Segoe UI" panose="020B0502040204020203" pitchFamily="34" charset="0"/>
                </a:endParaRPr>
              </a:p>
            </p:txBody>
          </p:sp>
          <p:grpSp>
            <p:nvGrpSpPr>
              <p:cNvPr id="11" name="组合 10">
                <a:extLst>
                  <a:ext uri="{FF2B5EF4-FFF2-40B4-BE49-F238E27FC236}">
                    <a16:creationId xmlns:a16="http://schemas.microsoft.com/office/drawing/2014/main" id="{AC6B1CD1-9DC0-4F16-844F-14B67D53EE47}"/>
                  </a:ext>
                </a:extLst>
              </p:cNvPr>
              <p:cNvGrpSpPr/>
              <p:nvPr/>
            </p:nvGrpSpPr>
            <p:grpSpPr>
              <a:xfrm>
                <a:off x="360000" y="1412776"/>
                <a:ext cx="4459096" cy="4248472"/>
                <a:chOff x="4008846" y="-387424"/>
                <a:chExt cx="4459096" cy="4248472"/>
              </a:xfrm>
            </p:grpSpPr>
            <p:grpSp>
              <p:nvGrpSpPr>
                <p:cNvPr id="12" name="组合 11">
                  <a:extLst>
                    <a:ext uri="{FF2B5EF4-FFF2-40B4-BE49-F238E27FC236}">
                      <a16:creationId xmlns:a16="http://schemas.microsoft.com/office/drawing/2014/main" id="{11261023-F9B5-495A-A389-58C33C645380}"/>
                    </a:ext>
                  </a:extLst>
                </p:cNvPr>
                <p:cNvGrpSpPr>
                  <a:grpSpLocks/>
                </p:cNvGrpSpPr>
                <p:nvPr/>
              </p:nvGrpSpPr>
              <p:grpSpPr bwMode="auto">
                <a:xfrm>
                  <a:off x="4008846" y="188640"/>
                  <a:ext cx="4459096" cy="3168240"/>
                  <a:chOff x="56017" y="-396538"/>
                  <a:chExt cx="4458733" cy="3168457"/>
                </a:xfrm>
              </p:grpSpPr>
              <p:sp>
                <p:nvSpPr>
                  <p:cNvPr id="17" name="文本框 3">
                    <a:extLst>
                      <a:ext uri="{FF2B5EF4-FFF2-40B4-BE49-F238E27FC236}">
                        <a16:creationId xmlns:a16="http://schemas.microsoft.com/office/drawing/2014/main" id="{8C9424C7-3D53-42D2-BF72-D51B6B3735FA}"/>
                      </a:ext>
                    </a:extLst>
                  </p:cNvPr>
                  <p:cNvSpPr txBox="1">
                    <a:spLocks noChangeArrowheads="1"/>
                  </p:cNvSpPr>
                  <p:nvPr/>
                </p:nvSpPr>
                <p:spPr bwMode="auto">
                  <a:xfrm>
                    <a:off x="56017" y="664460"/>
                    <a:ext cx="359971" cy="1080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p>
                  <a:p>
                    <a:pPr algn="ct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f</a:t>
                    </a:r>
                    <a:endParaRPr lang="zh-CN" altLang="en-US" sz="1400" b="0" dirty="0">
                      <a:solidFill>
                        <a:srgbClr val="2C3E50"/>
                      </a:solidFill>
                      <a:latin typeface="Segoe UI" panose="020B0502040204020203" pitchFamily="34" charset="0"/>
                      <a:cs typeface="Segoe UI" panose="020B0502040204020203" pitchFamily="34" charset="0"/>
                    </a:endParaRPr>
                  </a:p>
                </p:txBody>
              </p:sp>
              <p:sp>
                <p:nvSpPr>
                  <p:cNvPr id="18" name="文本框 4">
                    <a:extLst>
                      <a:ext uri="{FF2B5EF4-FFF2-40B4-BE49-F238E27FC236}">
                        <a16:creationId xmlns:a16="http://schemas.microsoft.com/office/drawing/2014/main" id="{E512A3A7-2CEE-48BB-A98E-0FDAD01CA354}"/>
                      </a:ext>
                    </a:extLst>
                  </p:cNvPr>
                  <p:cNvSpPr txBox="1">
                    <a:spLocks noChangeArrowheads="1"/>
                  </p:cNvSpPr>
                  <p:nvPr/>
                </p:nvSpPr>
                <p:spPr bwMode="auto">
                  <a:xfrm>
                    <a:off x="1716513" y="134658"/>
                    <a:ext cx="539956" cy="108007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u</a:t>
                    </a:r>
                  </a:p>
                  <a:p>
                    <a:pPr algn="ctr">
                      <a:lnSpc>
                        <a:spcPct val="150000"/>
                      </a:lnSpc>
                      <a:spcBef>
                        <a:spcPts val="0"/>
                      </a:spcBef>
                      <a:buClr>
                        <a:srgbClr val="800000"/>
                      </a:buClr>
                      <a:buSzPct val="80000"/>
                      <a:buFont typeface="Wingdings" panose="05000000000000000000" pitchFamily="2" charset="2"/>
                      <a:buNone/>
                    </a:pPr>
                    <a:r>
                      <a:rPr lang="en-US" altLang="zh-CN" sz="1400" b="0" dirty="0" err="1">
                        <a:solidFill>
                          <a:srgbClr val="2C3E50"/>
                        </a:solidFill>
                        <a:latin typeface="Segoe UI" panose="020B0502040204020203" pitchFamily="34" charset="0"/>
                        <a:ea typeface="Segoe UI" panose="020B0502040204020203" pitchFamily="34" charset="0"/>
                        <a:cs typeface="Segoe UI" panose="020B0502040204020203" pitchFamily="34" charset="0"/>
                      </a:rPr>
                      <a:t>f</a:t>
                    </a:r>
                    <a:r>
                      <a:rPr lang="en-US" altLang="zh-CN" sz="1400" b="0" baseline="-25000" dirty="0" err="1">
                        <a:solidFill>
                          <a:srgbClr val="2C3E50"/>
                        </a:solidFill>
                        <a:latin typeface="Segoe UI" panose="020B0502040204020203" pitchFamily="34" charset="0"/>
                        <a:ea typeface="Segoe UI" panose="020B0502040204020203" pitchFamily="34" charset="0"/>
                        <a:cs typeface="Segoe UI" panose="020B0502040204020203" pitchFamily="34" charset="0"/>
                      </a:rPr>
                      <a:t>u</a:t>
                    </a:r>
                    <a:endParaRPr lang="zh-CN" altLang="en-US" sz="1400" b="0" baseline="-25000" dirty="0">
                      <a:solidFill>
                        <a:srgbClr val="2C3E50"/>
                      </a:solidFill>
                      <a:latin typeface="Segoe UI" panose="020B0502040204020203" pitchFamily="34" charset="0"/>
                      <a:cs typeface="Segoe UI" panose="020B0502040204020203" pitchFamily="34" charset="0"/>
                    </a:endParaRPr>
                  </a:p>
                </p:txBody>
              </p:sp>
              <p:sp>
                <p:nvSpPr>
                  <p:cNvPr id="19" name="文本框 5">
                    <a:extLst>
                      <a:ext uri="{FF2B5EF4-FFF2-40B4-BE49-F238E27FC236}">
                        <a16:creationId xmlns:a16="http://schemas.microsoft.com/office/drawing/2014/main" id="{63EAD7A4-C763-48A2-86CF-117CA9A9338B}"/>
                      </a:ext>
                    </a:extLst>
                  </p:cNvPr>
                  <p:cNvSpPr txBox="1">
                    <a:spLocks noChangeArrowheads="1"/>
                  </p:cNvSpPr>
                  <p:nvPr/>
                </p:nvSpPr>
                <p:spPr bwMode="auto">
                  <a:xfrm>
                    <a:off x="1716513" y="1187747"/>
                    <a:ext cx="539956" cy="108007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d</a:t>
                    </a:r>
                  </a:p>
                  <a:p>
                    <a:pPr algn="ctr">
                      <a:lnSpc>
                        <a:spcPct val="150000"/>
                      </a:lnSpc>
                      <a:spcBef>
                        <a:spcPts val="0"/>
                      </a:spcBef>
                      <a:buClr>
                        <a:srgbClr val="800000"/>
                      </a:buClr>
                      <a:buSzPct val="80000"/>
                      <a:buFont typeface="Wingdings" panose="05000000000000000000" pitchFamily="2" charset="2"/>
                      <a:buNone/>
                    </a:pPr>
                    <a:r>
                      <a:rPr lang="en-US" altLang="zh-CN" sz="1400" b="0" dirty="0" err="1">
                        <a:solidFill>
                          <a:srgbClr val="2C3E50"/>
                        </a:solidFill>
                        <a:latin typeface="Segoe UI" panose="020B0502040204020203" pitchFamily="34" charset="0"/>
                        <a:ea typeface="Segoe UI" panose="020B0502040204020203" pitchFamily="34" charset="0"/>
                        <a:cs typeface="Segoe UI" panose="020B0502040204020203" pitchFamily="34" charset="0"/>
                      </a:rPr>
                      <a:t>f</a:t>
                    </a:r>
                    <a:r>
                      <a:rPr lang="en-US" altLang="zh-CN" sz="1400" b="0" baseline="-25000" dirty="0" err="1">
                        <a:solidFill>
                          <a:srgbClr val="2C3E50"/>
                        </a:solidFill>
                        <a:latin typeface="Segoe UI" panose="020B0502040204020203" pitchFamily="34" charset="0"/>
                        <a:ea typeface="Segoe UI" panose="020B0502040204020203" pitchFamily="34" charset="0"/>
                        <a:cs typeface="Segoe UI" panose="020B0502040204020203" pitchFamily="34" charset="0"/>
                      </a:rPr>
                      <a:t>d</a:t>
                    </a:r>
                    <a:endParaRPr lang="zh-CN" altLang="en-US" sz="1400" b="0" baseline="-25000" dirty="0">
                      <a:solidFill>
                        <a:srgbClr val="2C3E50"/>
                      </a:solidFill>
                      <a:latin typeface="Segoe UI" panose="020B0502040204020203" pitchFamily="34" charset="0"/>
                      <a:cs typeface="Segoe UI" panose="020B0502040204020203" pitchFamily="34" charset="0"/>
                    </a:endParaRPr>
                  </a:p>
                </p:txBody>
              </p:sp>
              <p:sp>
                <p:nvSpPr>
                  <p:cNvPr id="20" name="文本框 6">
                    <a:extLst>
                      <a:ext uri="{FF2B5EF4-FFF2-40B4-BE49-F238E27FC236}">
                        <a16:creationId xmlns:a16="http://schemas.microsoft.com/office/drawing/2014/main" id="{EC4F7595-F476-4F4D-9227-B2CB4E87C514}"/>
                      </a:ext>
                    </a:extLst>
                  </p:cNvPr>
                  <p:cNvSpPr txBox="1">
                    <a:spLocks noChangeArrowheads="1"/>
                  </p:cNvSpPr>
                  <p:nvPr/>
                </p:nvSpPr>
                <p:spPr bwMode="auto">
                  <a:xfrm>
                    <a:off x="3794809" y="-396538"/>
                    <a:ext cx="719941" cy="1008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uu</a:t>
                    </a:r>
                  </a:p>
                  <a:p>
                    <a:pPr>
                      <a:lnSpc>
                        <a:spcPct val="150000"/>
                      </a:lnSpc>
                      <a:spcBef>
                        <a:spcPts val="0"/>
                      </a:spcBef>
                      <a:buClr>
                        <a:srgbClr val="800000"/>
                      </a:buClr>
                      <a:buSzPct val="80000"/>
                      <a:buFont typeface="Wingdings" panose="05000000000000000000" pitchFamily="2" charset="2"/>
                      <a:buNone/>
                    </a:pPr>
                    <a:r>
                      <a:rPr lang="en-US" altLang="zh-CN" sz="1400" b="0" dirty="0" err="1">
                        <a:solidFill>
                          <a:srgbClr val="2C3E50"/>
                        </a:solidFill>
                        <a:latin typeface="Segoe UI" panose="020B0502040204020203" pitchFamily="34" charset="0"/>
                        <a:ea typeface="Segoe UI" panose="020B0502040204020203" pitchFamily="34" charset="0"/>
                        <a:cs typeface="Segoe UI" panose="020B0502040204020203" pitchFamily="34" charset="0"/>
                      </a:rPr>
                      <a:t>f</a:t>
                    </a:r>
                    <a:r>
                      <a:rPr lang="en-US" altLang="zh-CN" sz="1400" b="0" baseline="-25000" dirty="0" err="1">
                        <a:solidFill>
                          <a:srgbClr val="2C3E50"/>
                        </a:solidFill>
                        <a:latin typeface="Segoe UI" panose="020B0502040204020203" pitchFamily="34" charset="0"/>
                        <a:ea typeface="Segoe UI" panose="020B0502040204020203" pitchFamily="34" charset="0"/>
                        <a:cs typeface="Segoe UI" panose="020B0502040204020203" pitchFamily="34" charset="0"/>
                      </a:rPr>
                      <a:t>uu</a:t>
                    </a:r>
                    <a:endParaRPr lang="zh-CN" altLang="en-US" sz="1400" b="0" baseline="-25000" dirty="0">
                      <a:solidFill>
                        <a:srgbClr val="2C3E50"/>
                      </a:solidFill>
                      <a:latin typeface="Segoe UI" panose="020B0502040204020203" pitchFamily="34" charset="0"/>
                      <a:cs typeface="Segoe UI" panose="020B0502040204020203" pitchFamily="34" charset="0"/>
                    </a:endParaRPr>
                  </a:p>
                </p:txBody>
              </p:sp>
              <p:sp>
                <p:nvSpPr>
                  <p:cNvPr id="21" name="文本框 7">
                    <a:extLst>
                      <a:ext uri="{FF2B5EF4-FFF2-40B4-BE49-F238E27FC236}">
                        <a16:creationId xmlns:a16="http://schemas.microsoft.com/office/drawing/2014/main" id="{0C233EC9-1F25-42A6-BB3E-3D613F9EE600}"/>
                      </a:ext>
                    </a:extLst>
                  </p:cNvPr>
                  <p:cNvSpPr txBox="1">
                    <a:spLocks noChangeArrowheads="1"/>
                  </p:cNvSpPr>
                  <p:nvPr/>
                </p:nvSpPr>
                <p:spPr bwMode="auto">
                  <a:xfrm>
                    <a:off x="3794807" y="683656"/>
                    <a:ext cx="719941" cy="1008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ud</a:t>
                    </a:r>
                  </a:p>
                  <a:p>
                    <a:pP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f</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ud</a:t>
                    </a:r>
                    <a:endParaRPr lang="zh-CN" altLang="en-US" sz="1400" b="0" baseline="-25000" dirty="0">
                      <a:solidFill>
                        <a:srgbClr val="2C3E50"/>
                      </a:solidFill>
                      <a:latin typeface="Segoe UI" panose="020B0502040204020203" pitchFamily="34" charset="0"/>
                      <a:cs typeface="Segoe UI" panose="020B0502040204020203" pitchFamily="34" charset="0"/>
                    </a:endParaRPr>
                  </a:p>
                </p:txBody>
              </p:sp>
              <p:sp>
                <p:nvSpPr>
                  <p:cNvPr id="22" name="文本框 8">
                    <a:extLst>
                      <a:ext uri="{FF2B5EF4-FFF2-40B4-BE49-F238E27FC236}">
                        <a16:creationId xmlns:a16="http://schemas.microsoft.com/office/drawing/2014/main" id="{786FB6FA-409B-4860-B557-2CAB79682779}"/>
                      </a:ext>
                    </a:extLst>
                  </p:cNvPr>
                  <p:cNvSpPr txBox="1">
                    <a:spLocks noChangeArrowheads="1"/>
                  </p:cNvSpPr>
                  <p:nvPr/>
                </p:nvSpPr>
                <p:spPr bwMode="auto">
                  <a:xfrm>
                    <a:off x="3794809" y="1763850"/>
                    <a:ext cx="719941" cy="1008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nSpc>
                        <a:spcPct val="150000"/>
                      </a:lnSpc>
                      <a:spcBef>
                        <a:spcPts val="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a:t>
                    </a:r>
                    <a:r>
                      <a:rPr lang="en-US" altLang="zh-CN" sz="14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dd</a:t>
                    </a:r>
                  </a:p>
                  <a:p>
                    <a:pPr>
                      <a:lnSpc>
                        <a:spcPct val="150000"/>
                      </a:lnSpc>
                      <a:spcBef>
                        <a:spcPts val="0"/>
                      </a:spcBef>
                      <a:buClr>
                        <a:srgbClr val="800000"/>
                      </a:buClr>
                      <a:buSzPct val="80000"/>
                      <a:buFont typeface="Wingdings" panose="05000000000000000000" pitchFamily="2" charset="2"/>
                      <a:buNone/>
                    </a:pPr>
                    <a:r>
                      <a:rPr lang="en-US" altLang="zh-CN" sz="1400" b="0" dirty="0" err="1">
                        <a:solidFill>
                          <a:srgbClr val="2C3E50"/>
                        </a:solidFill>
                        <a:latin typeface="Segoe UI" panose="020B0502040204020203" pitchFamily="34" charset="0"/>
                        <a:ea typeface="Segoe UI" panose="020B0502040204020203" pitchFamily="34" charset="0"/>
                        <a:cs typeface="Segoe UI" panose="020B0502040204020203" pitchFamily="34" charset="0"/>
                      </a:rPr>
                      <a:t>f</a:t>
                    </a:r>
                    <a:r>
                      <a:rPr lang="en-US" altLang="zh-CN" sz="1400" b="0" baseline="-25000" dirty="0" err="1">
                        <a:solidFill>
                          <a:srgbClr val="2C3E50"/>
                        </a:solidFill>
                        <a:latin typeface="Segoe UI" panose="020B0502040204020203" pitchFamily="34" charset="0"/>
                        <a:ea typeface="Segoe UI" panose="020B0502040204020203" pitchFamily="34" charset="0"/>
                        <a:cs typeface="Segoe UI" panose="020B0502040204020203" pitchFamily="34" charset="0"/>
                      </a:rPr>
                      <a:t>dd</a:t>
                    </a:r>
                    <a:endParaRPr lang="zh-CN" altLang="en-US" sz="1400" b="0" baseline="-25000" dirty="0">
                      <a:solidFill>
                        <a:srgbClr val="2C3E50"/>
                      </a:solidFill>
                      <a:latin typeface="Segoe UI" panose="020B0502040204020203" pitchFamily="34" charset="0"/>
                      <a:cs typeface="Segoe UI" panose="020B0502040204020203" pitchFamily="34" charset="0"/>
                    </a:endParaRPr>
                  </a:p>
                </p:txBody>
              </p:sp>
              <p:sp>
                <p:nvSpPr>
                  <p:cNvPr id="23" name="椭圆 9">
                    <a:extLst>
                      <a:ext uri="{FF2B5EF4-FFF2-40B4-BE49-F238E27FC236}">
                        <a16:creationId xmlns:a16="http://schemas.microsoft.com/office/drawing/2014/main" id="{BB2D5B10-0CE6-4408-B5A6-61480F081FEF}"/>
                      </a:ext>
                    </a:extLst>
                  </p:cNvPr>
                  <p:cNvSpPr>
                    <a:spLocks noChangeArrowheads="1"/>
                  </p:cNvSpPr>
                  <p:nvPr/>
                </p:nvSpPr>
                <p:spPr bwMode="auto">
                  <a:xfrm>
                    <a:off x="166671" y="1138314"/>
                    <a:ext cx="125990" cy="126009"/>
                  </a:xfrm>
                  <a:prstGeom prst="ellipse">
                    <a:avLst/>
                  </a:prstGeom>
                  <a:solidFill>
                    <a:srgbClr val="2C3E50"/>
                  </a:solidFill>
                  <a:ln w="25400">
                    <a:solidFill>
                      <a:srgbClr val="2C3E50"/>
                    </a:solidFill>
                    <a:round/>
                    <a:headEnd/>
                    <a:tailEnd/>
                  </a:ln>
                </p:spPr>
                <p:txBody>
                  <a:bodyPr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24" name="椭圆 10">
                    <a:extLst>
                      <a:ext uri="{FF2B5EF4-FFF2-40B4-BE49-F238E27FC236}">
                        <a16:creationId xmlns:a16="http://schemas.microsoft.com/office/drawing/2014/main" id="{126B3269-71AF-4EBF-8EB2-6A26F21B5127}"/>
                      </a:ext>
                    </a:extLst>
                  </p:cNvPr>
                  <p:cNvSpPr>
                    <a:spLocks noChangeArrowheads="1"/>
                  </p:cNvSpPr>
                  <p:nvPr/>
                </p:nvSpPr>
                <p:spPr bwMode="auto">
                  <a:xfrm>
                    <a:off x="1895319" y="608083"/>
                    <a:ext cx="125990" cy="126009"/>
                  </a:xfrm>
                  <a:prstGeom prst="ellipse">
                    <a:avLst/>
                  </a:prstGeom>
                  <a:solidFill>
                    <a:srgbClr val="2C3E50"/>
                  </a:solidFill>
                  <a:ln w="25400">
                    <a:solidFill>
                      <a:srgbClr val="000000"/>
                    </a:solidFill>
                    <a:round/>
                    <a:headEnd/>
                    <a:tailEnd/>
                  </a:ln>
                </p:spPr>
                <p:txBody>
                  <a:bodyPr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25" name="椭圆 11">
                    <a:extLst>
                      <a:ext uri="{FF2B5EF4-FFF2-40B4-BE49-F238E27FC236}">
                        <a16:creationId xmlns:a16="http://schemas.microsoft.com/office/drawing/2014/main" id="{7EE41E0B-8BF2-432E-903A-0B473B3A51AA}"/>
                      </a:ext>
                    </a:extLst>
                  </p:cNvPr>
                  <p:cNvSpPr>
                    <a:spLocks noChangeArrowheads="1"/>
                  </p:cNvSpPr>
                  <p:nvPr/>
                </p:nvSpPr>
                <p:spPr bwMode="auto">
                  <a:xfrm>
                    <a:off x="1887382" y="1662874"/>
                    <a:ext cx="125990" cy="126009"/>
                  </a:xfrm>
                  <a:prstGeom prst="ellipse">
                    <a:avLst/>
                  </a:prstGeom>
                  <a:solidFill>
                    <a:srgbClr val="2C3E50"/>
                  </a:solidFill>
                  <a:ln w="25400">
                    <a:solidFill>
                      <a:srgbClr val="000000"/>
                    </a:solidFill>
                    <a:round/>
                    <a:headEnd/>
                    <a:tailEnd/>
                  </a:ln>
                </p:spPr>
                <p:txBody>
                  <a:bodyPr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26" name="椭圆 12">
                    <a:extLst>
                      <a:ext uri="{FF2B5EF4-FFF2-40B4-BE49-F238E27FC236}">
                        <a16:creationId xmlns:a16="http://schemas.microsoft.com/office/drawing/2014/main" id="{CB4312E6-4691-427F-83E5-503B8628A37C}"/>
                      </a:ext>
                    </a:extLst>
                  </p:cNvPr>
                  <p:cNvSpPr>
                    <a:spLocks noChangeArrowheads="1"/>
                  </p:cNvSpPr>
                  <p:nvPr/>
                </p:nvSpPr>
                <p:spPr bwMode="auto">
                  <a:xfrm>
                    <a:off x="3626868" y="41951"/>
                    <a:ext cx="125990" cy="126009"/>
                  </a:xfrm>
                  <a:prstGeom prst="ellipse">
                    <a:avLst/>
                  </a:prstGeom>
                  <a:solidFill>
                    <a:srgbClr val="2C3E50"/>
                  </a:solidFill>
                  <a:ln w="25400">
                    <a:solidFill>
                      <a:srgbClr val="2C3E50"/>
                    </a:solidFill>
                    <a:round/>
                    <a:headEnd/>
                    <a:tailEnd/>
                  </a:ln>
                </p:spPr>
                <p:txBody>
                  <a:bodyPr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27" name="椭圆 13">
                    <a:extLst>
                      <a:ext uri="{FF2B5EF4-FFF2-40B4-BE49-F238E27FC236}">
                        <a16:creationId xmlns:a16="http://schemas.microsoft.com/office/drawing/2014/main" id="{31CAEDB1-E477-4510-BA95-F927464A0C53}"/>
                      </a:ext>
                    </a:extLst>
                  </p:cNvPr>
                  <p:cNvSpPr>
                    <a:spLocks noChangeArrowheads="1"/>
                  </p:cNvSpPr>
                  <p:nvPr/>
                </p:nvSpPr>
                <p:spPr bwMode="auto">
                  <a:xfrm>
                    <a:off x="3626868" y="1136728"/>
                    <a:ext cx="125990" cy="126009"/>
                  </a:xfrm>
                  <a:prstGeom prst="ellipse">
                    <a:avLst/>
                  </a:prstGeom>
                  <a:solidFill>
                    <a:srgbClr val="2C3E50"/>
                  </a:solidFill>
                  <a:ln w="25400">
                    <a:solidFill>
                      <a:srgbClr val="2C3E50"/>
                    </a:solidFill>
                    <a:round/>
                    <a:headEnd/>
                    <a:tailEnd/>
                  </a:ln>
                </p:spPr>
                <p:txBody>
                  <a:bodyPr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sp>
                <p:nvSpPr>
                  <p:cNvPr id="28" name="椭圆 14">
                    <a:extLst>
                      <a:ext uri="{FF2B5EF4-FFF2-40B4-BE49-F238E27FC236}">
                        <a16:creationId xmlns:a16="http://schemas.microsoft.com/office/drawing/2014/main" id="{B3D59377-F05E-4B06-BFA1-13E578E869B5}"/>
                      </a:ext>
                    </a:extLst>
                  </p:cNvPr>
                  <p:cNvSpPr>
                    <a:spLocks noChangeArrowheads="1"/>
                  </p:cNvSpPr>
                  <p:nvPr/>
                </p:nvSpPr>
                <p:spPr bwMode="auto">
                  <a:xfrm>
                    <a:off x="3626869" y="2194628"/>
                    <a:ext cx="125990" cy="126009"/>
                  </a:xfrm>
                  <a:prstGeom prst="ellipse">
                    <a:avLst/>
                  </a:prstGeom>
                  <a:solidFill>
                    <a:srgbClr val="2C3E50"/>
                  </a:solidFill>
                  <a:ln w="25400">
                    <a:solidFill>
                      <a:srgbClr val="2C3E50"/>
                    </a:solidFill>
                    <a:round/>
                    <a:headEnd/>
                    <a:tailEnd/>
                  </a:ln>
                </p:spPr>
                <p:txBody>
                  <a:bodyPr lIns="36000" tIns="36000" rIns="36000" bIns="36000" anchor="t"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ts val="0"/>
                      </a:spcBef>
                      <a:buClr>
                        <a:srgbClr val="800000"/>
                      </a:buClr>
                      <a:buSzPct val="80000"/>
                      <a:buFont typeface="Wingdings" panose="05000000000000000000" pitchFamily="2" charset="2"/>
                      <a:buChar char="l"/>
                    </a:pPr>
                    <a:endParaRPr lang="zh-CN" altLang="en-US">
                      <a:solidFill>
                        <a:srgbClr val="2C3E50"/>
                      </a:solidFill>
                      <a:latin typeface="Segoe UI" panose="020B0502040204020203" pitchFamily="34" charset="0"/>
                      <a:cs typeface="Segoe UI" panose="020B0502040204020203" pitchFamily="34" charset="0"/>
                    </a:endParaRPr>
                  </a:p>
                </p:txBody>
              </p:sp>
              <p:cxnSp>
                <p:nvCxnSpPr>
                  <p:cNvPr id="29" name="直接箭头连接符 16">
                    <a:extLst>
                      <a:ext uri="{FF2B5EF4-FFF2-40B4-BE49-F238E27FC236}">
                        <a16:creationId xmlns:a16="http://schemas.microsoft.com/office/drawing/2014/main" id="{569A40AD-33DA-45BA-8118-C21988C1A315}"/>
                      </a:ext>
                    </a:extLst>
                  </p:cNvPr>
                  <p:cNvCxnSpPr>
                    <a:cxnSpLocks noChangeShapeType="1"/>
                  </p:cNvCxnSpPr>
                  <p:nvPr/>
                </p:nvCxnSpPr>
                <p:spPr bwMode="auto">
                  <a:xfrm flipV="1">
                    <a:off x="292074" y="664341"/>
                    <a:ext cx="1619868" cy="54003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p:cxnSp>
                <p:nvCxnSpPr>
                  <p:cNvPr id="30" name="直接箭头连接符 20">
                    <a:extLst>
                      <a:ext uri="{FF2B5EF4-FFF2-40B4-BE49-F238E27FC236}">
                        <a16:creationId xmlns:a16="http://schemas.microsoft.com/office/drawing/2014/main" id="{27F1AB3D-AB1E-4C4A-8568-0EA955B2D5BE}"/>
                      </a:ext>
                    </a:extLst>
                  </p:cNvPr>
                  <p:cNvCxnSpPr>
                    <a:cxnSpLocks noChangeShapeType="1"/>
                  </p:cNvCxnSpPr>
                  <p:nvPr/>
                </p:nvCxnSpPr>
                <p:spPr bwMode="auto">
                  <a:xfrm>
                    <a:off x="292074" y="1200231"/>
                    <a:ext cx="1619868" cy="54003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p:cxnSp>
                <p:nvCxnSpPr>
                  <p:cNvPr id="31" name="直接箭头连接符 22">
                    <a:extLst>
                      <a:ext uri="{FF2B5EF4-FFF2-40B4-BE49-F238E27FC236}">
                        <a16:creationId xmlns:a16="http://schemas.microsoft.com/office/drawing/2014/main" id="{FF0D9357-339D-4F7D-95EA-822FB924C879}"/>
                      </a:ext>
                    </a:extLst>
                  </p:cNvPr>
                  <p:cNvCxnSpPr>
                    <a:cxnSpLocks noChangeShapeType="1"/>
                  </p:cNvCxnSpPr>
                  <p:nvPr/>
                </p:nvCxnSpPr>
                <p:spPr bwMode="auto">
                  <a:xfrm flipV="1">
                    <a:off x="2013372" y="124304"/>
                    <a:ext cx="1619868" cy="54003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p:cxnSp>
                <p:nvCxnSpPr>
                  <p:cNvPr id="32" name="直接箭头连接符 24">
                    <a:extLst>
                      <a:ext uri="{FF2B5EF4-FFF2-40B4-BE49-F238E27FC236}">
                        <a16:creationId xmlns:a16="http://schemas.microsoft.com/office/drawing/2014/main" id="{9562B0F0-BDA0-44DC-9C45-7BAAA53C5E2C}"/>
                      </a:ext>
                    </a:extLst>
                  </p:cNvPr>
                  <p:cNvCxnSpPr>
                    <a:cxnSpLocks noChangeShapeType="1"/>
                  </p:cNvCxnSpPr>
                  <p:nvPr/>
                </p:nvCxnSpPr>
                <p:spPr bwMode="auto">
                  <a:xfrm>
                    <a:off x="2013372" y="671086"/>
                    <a:ext cx="1619868" cy="54003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p:cxnSp>
                <p:nvCxnSpPr>
                  <p:cNvPr id="33" name="直接箭头连接符 26">
                    <a:extLst>
                      <a:ext uri="{FF2B5EF4-FFF2-40B4-BE49-F238E27FC236}">
                        <a16:creationId xmlns:a16="http://schemas.microsoft.com/office/drawing/2014/main" id="{28B8AE5C-7DE3-446C-93E2-680F2B8F47DB}"/>
                      </a:ext>
                    </a:extLst>
                  </p:cNvPr>
                  <p:cNvCxnSpPr>
                    <a:cxnSpLocks noChangeShapeType="1"/>
                  </p:cNvCxnSpPr>
                  <p:nvPr/>
                </p:nvCxnSpPr>
                <p:spPr bwMode="auto">
                  <a:xfrm flipV="1">
                    <a:off x="2013372" y="1199732"/>
                    <a:ext cx="1619868" cy="54003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p:cxnSp>
                <p:nvCxnSpPr>
                  <p:cNvPr id="34" name="直接箭头连接符 28">
                    <a:extLst>
                      <a:ext uri="{FF2B5EF4-FFF2-40B4-BE49-F238E27FC236}">
                        <a16:creationId xmlns:a16="http://schemas.microsoft.com/office/drawing/2014/main" id="{AD02CC16-6044-4D50-98F3-48CFB9CDD56E}"/>
                      </a:ext>
                    </a:extLst>
                  </p:cNvPr>
                  <p:cNvCxnSpPr>
                    <a:cxnSpLocks noChangeShapeType="1"/>
                  </p:cNvCxnSpPr>
                  <p:nvPr/>
                </p:nvCxnSpPr>
                <p:spPr bwMode="auto">
                  <a:xfrm>
                    <a:off x="2013373" y="1725878"/>
                    <a:ext cx="1619868" cy="54003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p:spPr>
              </p:cxnSp>
            </p:grpSp>
            <p:sp>
              <p:nvSpPr>
                <p:cNvPr id="13" name="文本框 23">
                  <a:extLst>
                    <a:ext uri="{FF2B5EF4-FFF2-40B4-BE49-F238E27FC236}">
                      <a16:creationId xmlns:a16="http://schemas.microsoft.com/office/drawing/2014/main" id="{55E96B91-6CDC-447E-9528-A17A950F9102}"/>
                    </a:ext>
                  </a:extLst>
                </p:cNvPr>
                <p:cNvSpPr txBox="1">
                  <a:spLocks noChangeArrowheads="1"/>
                </p:cNvSpPr>
                <p:nvPr/>
              </p:nvSpPr>
              <p:spPr bwMode="auto">
                <a:xfrm>
                  <a:off x="5443610" y="3141048"/>
                  <a:ext cx="936097"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ts val="0"/>
                    </a:spcBef>
                    <a:buClr>
                      <a:srgbClr val="800000"/>
                    </a:buClr>
                    <a:buSzPct val="80000"/>
                    <a:buFont typeface="Wingdings" panose="05000000000000000000" pitchFamily="2" charset="2"/>
                    <a:buNone/>
                  </a:pPr>
                  <a:r>
                    <a:rPr lang="zh-CN" altLang="en-US" sz="14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判断是否提前执行</a:t>
                  </a:r>
                </a:p>
              </p:txBody>
            </p:sp>
            <p:cxnSp>
              <p:nvCxnSpPr>
                <p:cNvPr id="14" name="直接箭头连接符 35">
                  <a:extLst>
                    <a:ext uri="{FF2B5EF4-FFF2-40B4-BE49-F238E27FC236}">
                      <a16:creationId xmlns:a16="http://schemas.microsoft.com/office/drawing/2014/main" id="{940DCC91-DCC0-4ECC-9BAC-BE5F0639924E}"/>
                    </a:ext>
                  </a:extLst>
                </p:cNvPr>
                <p:cNvCxnSpPr>
                  <a:cxnSpLocks noChangeShapeType="1"/>
                </p:cNvCxnSpPr>
                <p:nvPr/>
              </p:nvCxnSpPr>
              <p:spPr bwMode="auto">
                <a:xfrm>
                  <a:off x="5916590" y="2780928"/>
                  <a:ext cx="0" cy="360000"/>
                </a:xfrm>
                <a:prstGeom prst="straightConnector1">
                  <a:avLst/>
                </a:prstGeom>
                <a:noFill/>
                <a:ln w="9525">
                  <a:solidFill>
                    <a:srgbClr val="2C3E50"/>
                  </a:solidFill>
                  <a:prstDash val="lgDash"/>
                  <a:round/>
                  <a:headEnd/>
                  <a:tailEnd type="triangle" w="med" len="med"/>
                </a:ln>
                <a:extLst>
                  <a:ext uri="{909E8E84-426E-40DD-AFC4-6F175D3DCCD1}">
                    <a14:hiddenFill xmlns:a14="http://schemas.microsoft.com/office/drawing/2010/main">
                      <a:noFill/>
                    </a14:hiddenFill>
                  </a:ext>
                </a:extLst>
              </p:spPr>
            </p:cxnSp>
            <p:sp>
              <p:nvSpPr>
                <p:cNvPr id="15" name="文本框 22">
                  <a:extLst>
                    <a:ext uri="{FF2B5EF4-FFF2-40B4-BE49-F238E27FC236}">
                      <a16:creationId xmlns:a16="http://schemas.microsoft.com/office/drawing/2014/main" id="{48D4EB42-BF7D-4253-B7AC-93B0B63692D5}"/>
                    </a:ext>
                  </a:extLst>
                </p:cNvPr>
                <p:cNvSpPr txBox="1">
                  <a:spLocks noChangeArrowheads="1"/>
                </p:cNvSpPr>
                <p:nvPr/>
              </p:nvSpPr>
              <p:spPr bwMode="auto">
                <a:xfrm>
                  <a:off x="5443610" y="-387424"/>
                  <a:ext cx="936097"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ts val="0"/>
                    </a:spcBef>
                    <a:buClr>
                      <a:srgbClr val="800000"/>
                    </a:buClr>
                    <a:buSzPct val="80000"/>
                    <a:buFont typeface="Wingdings" panose="05000000000000000000" pitchFamily="2" charset="2"/>
                    <a:buNone/>
                  </a:pPr>
                  <a:r>
                    <a:rPr lang="zh-CN" altLang="en-US" sz="14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判断是否提前执行</a:t>
                  </a:r>
                </a:p>
              </p:txBody>
            </p:sp>
            <p:cxnSp>
              <p:nvCxnSpPr>
                <p:cNvPr id="16" name="直接箭头连接符 35">
                  <a:extLst>
                    <a:ext uri="{FF2B5EF4-FFF2-40B4-BE49-F238E27FC236}">
                      <a16:creationId xmlns:a16="http://schemas.microsoft.com/office/drawing/2014/main" id="{CBA054AA-9FAD-49C7-901D-B39A387D9594}"/>
                    </a:ext>
                  </a:extLst>
                </p:cNvPr>
                <p:cNvCxnSpPr>
                  <a:cxnSpLocks noChangeShapeType="1"/>
                </p:cNvCxnSpPr>
                <p:nvPr/>
              </p:nvCxnSpPr>
              <p:spPr bwMode="auto">
                <a:xfrm flipV="1">
                  <a:off x="5916590" y="332696"/>
                  <a:ext cx="0" cy="360000"/>
                </a:xfrm>
                <a:prstGeom prst="straightConnector1">
                  <a:avLst/>
                </a:prstGeom>
                <a:noFill/>
                <a:ln w="9525">
                  <a:solidFill>
                    <a:srgbClr val="2C3E50"/>
                  </a:solidFill>
                  <a:prstDash val="lgDash"/>
                  <a:round/>
                  <a:headEnd/>
                  <a:tailEnd type="triangle" w="med" len="med"/>
                </a:ln>
                <a:extLst>
                  <a:ext uri="{909E8E84-426E-40DD-AFC4-6F175D3DCCD1}">
                    <a14:hiddenFill xmlns:a14="http://schemas.microsoft.com/office/drawing/2010/main">
                      <a:noFill/>
                    </a14:hiddenFill>
                  </a:ext>
                </a:extLst>
              </p:spPr>
            </p:cxnSp>
          </p:grpSp>
        </p:grpSp>
        <p:sp>
          <p:nvSpPr>
            <p:cNvPr id="8" name="圆角矩形 3">
              <a:extLst>
                <a:ext uri="{FF2B5EF4-FFF2-40B4-BE49-F238E27FC236}">
                  <a16:creationId xmlns:a16="http://schemas.microsoft.com/office/drawing/2014/main" id="{A255F6A1-5C81-4A02-AE73-989DCC687767}"/>
                </a:ext>
              </a:extLst>
            </p:cNvPr>
            <p:cNvSpPr/>
            <p:nvPr/>
          </p:nvSpPr>
          <p:spPr>
            <a:xfrm>
              <a:off x="467544" y="1484784"/>
              <a:ext cx="4464496" cy="4248472"/>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515085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Example : American Put Option with price jump of +/- 20%</a:t>
            </a:r>
          </a:p>
          <a:p>
            <a:endParaRPr lang="zh-CN" altLang="en-US" dirty="0">
              <a:latin typeface="+mn-lt"/>
              <a:ea typeface="+mn-ea"/>
              <a:cs typeface="+mn-ea"/>
              <a:sym typeface="+mn-lt"/>
            </a:endParaRPr>
          </a:p>
        </p:txBody>
      </p:sp>
      <p:graphicFrame>
        <p:nvGraphicFramePr>
          <p:cNvPr id="4" name="表格 3">
            <a:extLst>
              <a:ext uri="{FF2B5EF4-FFF2-40B4-BE49-F238E27FC236}">
                <a16:creationId xmlns:a16="http://schemas.microsoft.com/office/drawing/2014/main" id="{F0FFF591-8C1B-4484-94B7-82D42839E467}"/>
              </a:ext>
            </a:extLst>
          </p:cNvPr>
          <p:cNvGraphicFramePr>
            <a:graphicFrameLocks noGrp="1"/>
          </p:cNvGraphicFramePr>
          <p:nvPr>
            <p:extLst>
              <p:ext uri="{D42A27DB-BD31-4B8C-83A1-F6EECF244321}">
                <p14:modId xmlns:p14="http://schemas.microsoft.com/office/powerpoint/2010/main" val="4090681095"/>
              </p:ext>
            </p:extLst>
          </p:nvPr>
        </p:nvGraphicFramePr>
        <p:xfrm>
          <a:off x="3230466" y="2032597"/>
          <a:ext cx="5220000" cy="692640"/>
        </p:xfrm>
        <a:graphic>
          <a:graphicData uri="http://schemas.openxmlformats.org/drawingml/2006/table">
            <a:tbl>
              <a:tblPr firstRow="1" bandRow="1">
                <a:tableStyleId>{5C22544A-7EE6-4342-B048-85BDC9FD1C3A}</a:tableStyleId>
              </a:tblPr>
              <a:tblGrid>
                <a:gridCol w="9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tblGrid>
              <a:tr h="273718">
                <a:tc>
                  <a:txBody>
                    <a:bodyPr/>
                    <a:lstStyle/>
                    <a:p>
                      <a:pPr algn="ctr"/>
                      <a:r>
                        <a:rPr lang="en-US" altLang="zh-CN" sz="1800" dirty="0">
                          <a:solidFill>
                            <a:srgbClr val="2C3E50"/>
                          </a:solidFill>
                        </a:rPr>
                        <a:t>Asset</a:t>
                      </a:r>
                      <a:endParaRPr lang="zh-CN" altLang="en-US" sz="1800" dirty="0">
                        <a:solidFill>
                          <a:srgbClr val="2C3E50"/>
                        </a:solidFill>
                      </a:endParaRPr>
                    </a:p>
                  </a:txBody>
                  <a:tcPr marL="36000" marR="36000" marT="36000" marB="360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rPr>
                        <a:t>Strike</a:t>
                      </a:r>
                      <a:endParaRPr lang="zh-CN" altLang="en-US" sz="18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rPr>
                        <a:t>Time</a:t>
                      </a:r>
                      <a:endParaRPr lang="zh-CN" altLang="en-US" sz="18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rPr>
                        <a:t>Riskless</a:t>
                      </a:r>
                      <a:endParaRPr lang="zh-CN" altLang="en-US" sz="18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rPr>
                        <a:t>Div. Yield</a:t>
                      </a:r>
                      <a:endParaRPr lang="zh-CN" altLang="en-US" sz="18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73718">
                <a:tc>
                  <a:txBody>
                    <a:bodyPr/>
                    <a:lstStyle/>
                    <a:p>
                      <a:pPr algn="ctr"/>
                      <a:r>
                        <a:rPr lang="en-US" altLang="zh-CN" sz="1800" dirty="0">
                          <a:solidFill>
                            <a:srgbClr val="2C3E50"/>
                          </a:solidFill>
                        </a:rPr>
                        <a:t>$50</a:t>
                      </a:r>
                      <a:endParaRPr lang="zh-CN" altLang="en-US" sz="1800" dirty="0">
                        <a:solidFill>
                          <a:srgbClr val="2C3E50"/>
                        </a:solidFill>
                      </a:endParaRPr>
                    </a:p>
                  </a:txBody>
                  <a:tcPr marL="36000" marR="36000" marT="36000" marB="360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rPr>
                        <a:t>$52</a:t>
                      </a:r>
                      <a:endParaRPr lang="zh-CN" altLang="en-US" sz="18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rPr>
                        <a:t>2</a:t>
                      </a:r>
                      <a:endParaRPr lang="zh-CN" altLang="en-US" sz="18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rPr>
                        <a:t>5%</a:t>
                      </a:r>
                      <a:endParaRPr lang="zh-CN" altLang="en-US" sz="18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rPr>
                        <a:t>0%</a:t>
                      </a:r>
                      <a:endParaRPr lang="zh-CN" altLang="en-US" sz="18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5" name="下箭头 4">
            <a:extLst>
              <a:ext uri="{FF2B5EF4-FFF2-40B4-BE49-F238E27FC236}">
                <a16:creationId xmlns:a16="http://schemas.microsoft.com/office/drawing/2014/main" id="{0503C328-B895-4006-AAF1-64FBAD35890E}"/>
              </a:ext>
            </a:extLst>
          </p:cNvPr>
          <p:cNvSpPr/>
          <p:nvPr/>
        </p:nvSpPr>
        <p:spPr bwMode="auto">
          <a:xfrm>
            <a:off x="5769326" y="2844802"/>
            <a:ext cx="288000" cy="349029"/>
          </a:xfrm>
          <a:prstGeom prst="downArrow">
            <a:avLst/>
          </a:prstGeom>
          <a:ln>
            <a:solidFill>
              <a:srgbClr val="2C3E50"/>
            </a:solidFill>
            <a:headEnd type="none" w="med" len="med"/>
            <a:tailEnd type="none" w="med" len="med"/>
          </a:ln>
          <a:extLst/>
        </p:spPr>
        <p:style>
          <a:lnRef idx="2">
            <a:schemeClr val="dk1"/>
          </a:lnRef>
          <a:fillRef idx="1">
            <a:schemeClr val="lt1"/>
          </a:fillRef>
          <a:effectRef idx="0">
            <a:schemeClr val="dk1"/>
          </a:effectRef>
          <a:fontRef idx="minor">
            <a:schemeClr val="dk1"/>
          </a:fontRef>
        </p:style>
        <p:txBody>
          <a:bodyPr lIns="36000" tIns="36000" rIns="36000" bIns="36000" anchor="ctr" anchorCtr="0"/>
          <a:lstStyle/>
          <a:p>
            <a:pPr>
              <a:defRPr/>
            </a:pPr>
            <a:endParaRPr lang="zh-CN" altLang="en-US">
              <a:solidFill>
                <a:schemeClr val="tx1"/>
              </a:solidFill>
              <a:latin typeface="Times New Roman" panose="02020603050405020304" pitchFamily="18" charset="0"/>
              <a:ea typeface="宋体" panose="02010600030101010101" pitchFamily="2" charset="-122"/>
            </a:endParaRPr>
          </a:p>
        </p:txBody>
      </p:sp>
      <p:graphicFrame>
        <p:nvGraphicFramePr>
          <p:cNvPr id="6" name="表格 5">
            <a:extLst>
              <a:ext uri="{FF2B5EF4-FFF2-40B4-BE49-F238E27FC236}">
                <a16:creationId xmlns:a16="http://schemas.microsoft.com/office/drawing/2014/main" id="{36E5FE65-5922-40C5-829A-AA37F15ECB2D}"/>
              </a:ext>
            </a:extLst>
          </p:cNvPr>
          <p:cNvGraphicFramePr>
            <a:graphicFrameLocks noGrp="1"/>
          </p:cNvGraphicFramePr>
          <p:nvPr>
            <p:extLst>
              <p:ext uri="{D42A27DB-BD31-4B8C-83A1-F6EECF244321}">
                <p14:modId xmlns:p14="http://schemas.microsoft.com/office/powerpoint/2010/main" val="3754814303"/>
              </p:ext>
            </p:extLst>
          </p:nvPr>
        </p:nvGraphicFramePr>
        <p:xfrm>
          <a:off x="4495688" y="3313397"/>
          <a:ext cx="2835276" cy="692640"/>
        </p:xfrm>
        <a:graphic>
          <a:graphicData uri="http://schemas.openxmlformats.org/drawingml/2006/table">
            <a:tbl>
              <a:tblPr firstRow="1" bandRow="1">
                <a:tableStyleId>{5C22544A-7EE6-4342-B048-85BDC9FD1C3A}</a:tableStyleId>
              </a:tblPr>
              <a:tblGrid>
                <a:gridCol w="945092">
                  <a:extLst>
                    <a:ext uri="{9D8B030D-6E8A-4147-A177-3AD203B41FA5}">
                      <a16:colId xmlns:a16="http://schemas.microsoft.com/office/drawing/2014/main" val="20000"/>
                    </a:ext>
                  </a:extLst>
                </a:gridCol>
                <a:gridCol w="945092">
                  <a:extLst>
                    <a:ext uri="{9D8B030D-6E8A-4147-A177-3AD203B41FA5}">
                      <a16:colId xmlns:a16="http://schemas.microsoft.com/office/drawing/2014/main" val="20001"/>
                    </a:ext>
                  </a:extLst>
                </a:gridCol>
                <a:gridCol w="945092">
                  <a:extLst>
                    <a:ext uri="{9D8B030D-6E8A-4147-A177-3AD203B41FA5}">
                      <a16:colId xmlns:a16="http://schemas.microsoft.com/office/drawing/2014/main" val="20002"/>
                    </a:ext>
                  </a:extLst>
                </a:gridCol>
              </a:tblGrid>
              <a:tr h="333630">
                <a:tc>
                  <a:txBody>
                    <a:bodyPr/>
                    <a:lstStyle/>
                    <a:p>
                      <a:pPr algn="ctr"/>
                      <a:r>
                        <a:rPr lang="en-US" altLang="zh-CN" sz="1800" dirty="0">
                          <a:solidFill>
                            <a:srgbClr val="2C3E50"/>
                          </a:solidFill>
                        </a:rPr>
                        <a:t>u</a:t>
                      </a:r>
                      <a:endParaRPr lang="zh-CN" altLang="en-US" sz="1800" dirty="0">
                        <a:solidFill>
                          <a:srgbClr val="2C3E50"/>
                        </a:solidFill>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rPr>
                        <a:t>d</a:t>
                      </a:r>
                      <a:endParaRPr lang="zh-CN" altLang="en-US" sz="18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rPr>
                        <a:t>p</a:t>
                      </a:r>
                      <a:endParaRPr lang="zh-CN" altLang="en-US" sz="18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33630">
                <a:tc>
                  <a:txBody>
                    <a:bodyPr/>
                    <a:lstStyle/>
                    <a:p>
                      <a:pPr algn="ctr"/>
                      <a:r>
                        <a:rPr lang="en-US" altLang="zh-CN" sz="1800" dirty="0">
                          <a:solidFill>
                            <a:srgbClr val="2C3E50"/>
                          </a:solidFill>
                        </a:rPr>
                        <a:t>1.2</a:t>
                      </a:r>
                      <a:endParaRPr lang="zh-CN" altLang="en-US" sz="1800" dirty="0">
                        <a:solidFill>
                          <a:srgbClr val="2C3E50"/>
                        </a:solidFill>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rPr>
                        <a:t>0.8</a:t>
                      </a:r>
                      <a:endParaRPr lang="zh-CN" altLang="en-US" sz="18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rPr>
                        <a:t>0.6282</a:t>
                      </a:r>
                      <a:endParaRPr lang="zh-CN" altLang="en-US" sz="18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pSp>
        <p:nvGrpSpPr>
          <p:cNvPr id="7" name="组合 6">
            <a:extLst>
              <a:ext uri="{FF2B5EF4-FFF2-40B4-BE49-F238E27FC236}">
                <a16:creationId xmlns:a16="http://schemas.microsoft.com/office/drawing/2014/main" id="{51D50901-3DFB-45EA-BF41-A93CE336CBEA}"/>
              </a:ext>
            </a:extLst>
          </p:cNvPr>
          <p:cNvGrpSpPr/>
          <p:nvPr/>
        </p:nvGrpSpPr>
        <p:grpSpPr>
          <a:xfrm>
            <a:off x="2818910" y="4325248"/>
            <a:ext cx="6286200" cy="1444375"/>
            <a:chOff x="754931" y="4059080"/>
            <a:chExt cx="6286200" cy="1746184"/>
          </a:xfrm>
        </p:grpSpPr>
        <p:sp>
          <p:nvSpPr>
            <p:cNvPr id="8" name="右箭头 19">
              <a:extLst>
                <a:ext uri="{FF2B5EF4-FFF2-40B4-BE49-F238E27FC236}">
                  <a16:creationId xmlns:a16="http://schemas.microsoft.com/office/drawing/2014/main" id="{536F115D-0A07-493E-BB4E-1CE9CE5D8A5F}"/>
                </a:ext>
              </a:extLst>
            </p:cNvPr>
            <p:cNvSpPr/>
            <p:nvPr/>
          </p:nvSpPr>
          <p:spPr bwMode="auto">
            <a:xfrm>
              <a:off x="3995936" y="4745038"/>
              <a:ext cx="540000" cy="360000"/>
            </a:xfrm>
            <a:prstGeom prst="rightArrow">
              <a:avLst/>
            </a:prstGeom>
            <a:ln>
              <a:solidFill>
                <a:srgbClr val="2C3E50"/>
              </a:solidFill>
              <a:headEnd type="none" w="med" len="med"/>
              <a:tailEnd type="none" w="med" len="med"/>
            </a:ln>
            <a:extLst/>
          </p:spPr>
          <p:style>
            <a:lnRef idx="2">
              <a:schemeClr val="dk1"/>
            </a:lnRef>
            <a:fillRef idx="1">
              <a:schemeClr val="lt1"/>
            </a:fillRef>
            <a:effectRef idx="0">
              <a:schemeClr val="dk1"/>
            </a:effectRef>
            <a:fontRef idx="minor">
              <a:schemeClr val="dk1"/>
            </a:fontRef>
          </p:style>
          <p:txBody>
            <a:bodyPr lIns="36000" tIns="36000" rIns="36000" bIns="36000" anchor="ctr" anchorCtr="0"/>
            <a:lstStyle/>
            <a:p>
              <a:pPr>
                <a:defRPr/>
              </a:pPr>
              <a:endParaRPr lang="zh-CN" altLang="en-US">
                <a:solidFill>
                  <a:srgbClr val="2C3E50"/>
                </a:solidFill>
                <a:latin typeface="Segoe UI" panose="020B0502040204020203" pitchFamily="34" charset="0"/>
                <a:ea typeface="宋体" panose="02010600030101010101" pitchFamily="2" charset="-122"/>
                <a:cs typeface="Segoe UI" panose="020B0502040204020203" pitchFamily="34" charset="0"/>
              </a:endParaRPr>
            </a:p>
          </p:txBody>
        </p:sp>
        <p:sp>
          <p:nvSpPr>
            <p:cNvPr id="9" name="文本框 8">
              <a:extLst>
                <a:ext uri="{FF2B5EF4-FFF2-40B4-BE49-F238E27FC236}">
                  <a16:creationId xmlns:a16="http://schemas.microsoft.com/office/drawing/2014/main" id="{C62C1B64-817B-4AD0-8A3B-DCBC251C6D58}"/>
                </a:ext>
              </a:extLst>
            </p:cNvPr>
            <p:cNvSpPr txBox="1"/>
            <p:nvPr/>
          </p:nvSpPr>
          <p:spPr>
            <a:xfrm>
              <a:off x="4716016" y="4724400"/>
              <a:ext cx="2325115" cy="380480"/>
            </a:xfrm>
            <a:prstGeom prst="rect">
              <a:avLst/>
            </a:prstGeom>
            <a:noFill/>
            <a:ln>
              <a:solidFill>
                <a:srgbClr val="2C3E50"/>
              </a:solidFill>
            </a:ln>
          </p:spPr>
          <p:txBody>
            <a:bodyPr wrap="none" lIns="36000" tIns="36000" rIns="36000" bIns="36000" anchor="ctr" anchorCtr="0">
              <a:spAutoFit/>
            </a:bodyPr>
            <a:lstStyle/>
            <a:p>
              <a:pPr>
                <a:defRPr/>
              </a:pP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Option Value = 5.09</a:t>
              </a:r>
              <a:endParaRPr lang="zh-CN" altLang="en-US" sz="2000" b="0" dirty="0">
                <a:solidFill>
                  <a:srgbClr val="2C3E50"/>
                </a:solidFill>
                <a:latin typeface="Segoe UI" panose="020B0502040204020203" pitchFamily="34" charset="0"/>
                <a:cs typeface="Segoe UI" panose="020B0502040204020203" pitchFamily="34" charset="0"/>
              </a:endParaRPr>
            </a:p>
          </p:txBody>
        </p:sp>
        <p:grpSp>
          <p:nvGrpSpPr>
            <p:cNvPr id="10" name="组合 9">
              <a:extLst>
                <a:ext uri="{FF2B5EF4-FFF2-40B4-BE49-F238E27FC236}">
                  <a16:creationId xmlns:a16="http://schemas.microsoft.com/office/drawing/2014/main" id="{EBD0556C-8335-4F0B-9058-845FCB3863CA}"/>
                </a:ext>
              </a:extLst>
            </p:cNvPr>
            <p:cNvGrpSpPr/>
            <p:nvPr/>
          </p:nvGrpSpPr>
          <p:grpSpPr>
            <a:xfrm>
              <a:off x="754931" y="4059080"/>
              <a:ext cx="3096997" cy="1746184"/>
              <a:chOff x="1130758" y="4374320"/>
              <a:chExt cx="3096997" cy="1746184"/>
            </a:xfrm>
          </p:grpSpPr>
          <p:sp>
            <p:nvSpPr>
              <p:cNvPr id="11" name="文本框 5">
                <a:extLst>
                  <a:ext uri="{FF2B5EF4-FFF2-40B4-BE49-F238E27FC236}">
                    <a16:creationId xmlns:a16="http://schemas.microsoft.com/office/drawing/2014/main" id="{A8770FDD-6027-405C-AE4E-F62157A2C024}"/>
                  </a:ext>
                </a:extLst>
              </p:cNvPr>
              <p:cNvSpPr txBox="1"/>
              <p:nvPr/>
            </p:nvSpPr>
            <p:spPr bwMode="auto">
              <a:xfrm>
                <a:off x="1130758" y="5085224"/>
                <a:ext cx="720725" cy="360000"/>
              </a:xfrm>
              <a:prstGeom prst="rect">
                <a:avLst/>
              </a:prstGeom>
              <a:noFill/>
              <a:ln>
                <a:solidFill>
                  <a:srgbClr val="2C3E50"/>
                </a:solidFill>
              </a:ln>
            </p:spPr>
            <p:txBody>
              <a:bodyPr lIns="36000" tIns="36000" rIns="36000" bIns="36000" anchor="ctr" anchorCtr="0">
                <a:noAutofit/>
              </a:bodyPr>
              <a:lstStyle/>
              <a:p>
                <a:pPr algn="ct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$50</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2" name="文本框 6">
                <a:extLst>
                  <a:ext uri="{FF2B5EF4-FFF2-40B4-BE49-F238E27FC236}">
                    <a16:creationId xmlns:a16="http://schemas.microsoft.com/office/drawing/2014/main" id="{C01FF74C-D22D-41A1-BDEC-9BEDD979EE14}"/>
                  </a:ext>
                </a:extLst>
              </p:cNvPr>
              <p:cNvSpPr txBox="1"/>
              <p:nvPr/>
            </p:nvSpPr>
            <p:spPr bwMode="auto">
              <a:xfrm>
                <a:off x="2283611" y="4752469"/>
                <a:ext cx="720000" cy="360000"/>
              </a:xfrm>
              <a:prstGeom prst="rect">
                <a:avLst/>
              </a:prstGeom>
              <a:noFill/>
              <a:ln>
                <a:solidFill>
                  <a:srgbClr val="2C3E50"/>
                </a:solidFill>
              </a:ln>
            </p:spPr>
            <p:txBody>
              <a:bodyPr lIns="36000" tIns="36000" rIns="36000" bIns="36000" anchor="ctr" anchorCtr="0">
                <a:noAutofit/>
              </a:bodyPr>
              <a:lstStyle/>
              <a:p>
                <a:pPr algn="ct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$60</a:t>
                </a:r>
              </a:p>
            </p:txBody>
          </p:sp>
          <p:sp>
            <p:nvSpPr>
              <p:cNvPr id="13" name="文本框 7">
                <a:extLst>
                  <a:ext uri="{FF2B5EF4-FFF2-40B4-BE49-F238E27FC236}">
                    <a16:creationId xmlns:a16="http://schemas.microsoft.com/office/drawing/2014/main" id="{567883FF-052A-4A9D-816C-40AE75B7F6E5}"/>
                  </a:ext>
                </a:extLst>
              </p:cNvPr>
              <p:cNvSpPr txBox="1"/>
              <p:nvPr/>
            </p:nvSpPr>
            <p:spPr bwMode="auto">
              <a:xfrm>
                <a:off x="3491880" y="4374320"/>
                <a:ext cx="720000" cy="360000"/>
              </a:xfrm>
              <a:prstGeom prst="rect">
                <a:avLst/>
              </a:prstGeom>
              <a:noFill/>
              <a:ln>
                <a:solidFill>
                  <a:srgbClr val="2C3E50"/>
                </a:solidFill>
              </a:ln>
            </p:spPr>
            <p:txBody>
              <a:bodyPr lIns="36000" tIns="36000" rIns="36000" bIns="36000" anchor="ctr" anchorCtr="0">
                <a:noAutofit/>
              </a:bodyPr>
              <a:lstStyle/>
              <a:p>
                <a:pPr algn="ct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$72</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4" name="文本框 8">
                <a:extLst>
                  <a:ext uri="{FF2B5EF4-FFF2-40B4-BE49-F238E27FC236}">
                    <a16:creationId xmlns:a16="http://schemas.microsoft.com/office/drawing/2014/main" id="{201DD597-0F35-48C5-B4DB-39FFA5C9F1F8}"/>
                  </a:ext>
                </a:extLst>
              </p:cNvPr>
              <p:cNvSpPr txBox="1"/>
              <p:nvPr/>
            </p:nvSpPr>
            <p:spPr bwMode="auto">
              <a:xfrm>
                <a:off x="2283611" y="5400464"/>
                <a:ext cx="720000" cy="360000"/>
              </a:xfrm>
              <a:prstGeom prst="rect">
                <a:avLst/>
              </a:prstGeom>
              <a:noFill/>
              <a:ln>
                <a:solidFill>
                  <a:srgbClr val="2C3E50"/>
                </a:solidFill>
              </a:ln>
            </p:spPr>
            <p:txBody>
              <a:bodyPr lIns="36000" tIns="36000" rIns="36000" bIns="36000" anchor="ctr" anchorCtr="0">
                <a:noAutofit/>
              </a:bodyPr>
              <a:lstStyle/>
              <a:p>
                <a:pPr algn="ctr">
                  <a:defRPr/>
                </a:pPr>
                <a:r>
                  <a:rPr lang="en-US" altLang="zh-CN" sz="1800" b="0" dirty="0">
                    <a:solidFill>
                      <a:srgbClr val="C00000"/>
                    </a:solidFill>
                    <a:latin typeface="Segoe UI" panose="020B0502040204020203" pitchFamily="34" charset="0"/>
                    <a:ea typeface="Segoe UI" panose="020B0502040204020203" pitchFamily="34" charset="0"/>
                    <a:cs typeface="Segoe UI" panose="020B0502040204020203" pitchFamily="34" charset="0"/>
                  </a:rPr>
                  <a:t>$40</a:t>
                </a:r>
                <a:endParaRPr lang="zh-CN" altLang="en-US" sz="1800" b="0" dirty="0">
                  <a:solidFill>
                    <a:srgbClr val="C00000"/>
                  </a:solidFill>
                  <a:latin typeface="Segoe UI" panose="020B0502040204020203" pitchFamily="34" charset="0"/>
                  <a:cs typeface="Segoe UI" panose="020B0502040204020203" pitchFamily="34" charset="0"/>
                </a:endParaRPr>
              </a:p>
            </p:txBody>
          </p:sp>
          <p:sp>
            <p:nvSpPr>
              <p:cNvPr id="15" name="文本框 9">
                <a:extLst>
                  <a:ext uri="{FF2B5EF4-FFF2-40B4-BE49-F238E27FC236}">
                    <a16:creationId xmlns:a16="http://schemas.microsoft.com/office/drawing/2014/main" id="{1D02A230-2BC2-4584-8E4D-94CB0F3DBA02}"/>
                  </a:ext>
                </a:extLst>
              </p:cNvPr>
              <p:cNvSpPr txBox="1"/>
              <p:nvPr/>
            </p:nvSpPr>
            <p:spPr bwMode="auto">
              <a:xfrm>
                <a:off x="3507755" y="5013176"/>
                <a:ext cx="720000" cy="360000"/>
              </a:xfrm>
              <a:prstGeom prst="rect">
                <a:avLst/>
              </a:prstGeom>
              <a:noFill/>
              <a:ln>
                <a:solidFill>
                  <a:srgbClr val="2C3E50"/>
                </a:solidFill>
              </a:ln>
            </p:spPr>
            <p:txBody>
              <a:bodyPr lIns="36000" tIns="36000" rIns="36000" bIns="36000" anchor="ctr" anchorCtr="0">
                <a:noAutofit/>
              </a:bodyPr>
              <a:lstStyle/>
              <a:p>
                <a:pPr algn="ct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$48</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6" name="文本框 10">
                <a:extLst>
                  <a:ext uri="{FF2B5EF4-FFF2-40B4-BE49-F238E27FC236}">
                    <a16:creationId xmlns:a16="http://schemas.microsoft.com/office/drawing/2014/main" id="{CA468471-7AD3-40EA-A051-990D6A1791F1}"/>
                  </a:ext>
                </a:extLst>
              </p:cNvPr>
              <p:cNvSpPr txBox="1"/>
              <p:nvPr/>
            </p:nvSpPr>
            <p:spPr bwMode="auto">
              <a:xfrm>
                <a:off x="3507755" y="5760504"/>
                <a:ext cx="720000" cy="360000"/>
              </a:xfrm>
              <a:prstGeom prst="rect">
                <a:avLst/>
              </a:prstGeom>
              <a:noFill/>
              <a:ln>
                <a:solidFill>
                  <a:srgbClr val="2C3E50"/>
                </a:solidFill>
              </a:ln>
            </p:spPr>
            <p:txBody>
              <a:bodyPr lIns="36000" tIns="36000" rIns="36000" bIns="36000" anchor="ctr" anchorCtr="0">
                <a:noAutofit/>
              </a:bodyPr>
              <a:lstStyle/>
              <a:p>
                <a:pPr algn="ct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$32</a:t>
                </a:r>
                <a:endParaRPr lang="zh-CN" altLang="en-US" sz="1800" b="0" dirty="0">
                  <a:solidFill>
                    <a:srgbClr val="2C3E50"/>
                  </a:solidFill>
                  <a:latin typeface="Segoe UI" panose="020B0502040204020203" pitchFamily="34" charset="0"/>
                  <a:cs typeface="Segoe UI" panose="020B0502040204020203" pitchFamily="34" charset="0"/>
                </a:endParaRPr>
              </a:p>
            </p:txBody>
          </p:sp>
          <p:cxnSp>
            <p:nvCxnSpPr>
              <p:cNvPr id="17" name="直接箭头连接符 12">
                <a:extLst>
                  <a:ext uri="{FF2B5EF4-FFF2-40B4-BE49-F238E27FC236}">
                    <a16:creationId xmlns:a16="http://schemas.microsoft.com/office/drawing/2014/main" id="{BE8416B1-81C3-4B23-B9DB-0B3BEF87CFF9}"/>
                  </a:ext>
                </a:extLst>
              </p:cNvPr>
              <p:cNvCxnSpPr>
                <a:cxnSpLocks noChangeShapeType="1"/>
              </p:cNvCxnSpPr>
              <p:nvPr/>
            </p:nvCxnSpPr>
            <p:spPr bwMode="auto">
              <a:xfrm flipV="1">
                <a:off x="1778913" y="4895992"/>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8" name="直接箭头连接符 14">
                <a:extLst>
                  <a:ext uri="{FF2B5EF4-FFF2-40B4-BE49-F238E27FC236}">
                    <a16:creationId xmlns:a16="http://schemas.microsoft.com/office/drawing/2014/main" id="{0F5E4351-5C60-45AA-B953-12BFFA01706C}"/>
                  </a:ext>
                </a:extLst>
              </p:cNvPr>
              <p:cNvCxnSpPr>
                <a:cxnSpLocks noChangeShapeType="1"/>
              </p:cNvCxnSpPr>
              <p:nvPr/>
            </p:nvCxnSpPr>
            <p:spPr bwMode="auto">
              <a:xfrm>
                <a:off x="1779515" y="5249062"/>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9" name="直接箭头连接符 16">
                <a:extLst>
                  <a:ext uri="{FF2B5EF4-FFF2-40B4-BE49-F238E27FC236}">
                    <a16:creationId xmlns:a16="http://schemas.microsoft.com/office/drawing/2014/main" id="{6C350664-2766-4BDD-953B-A877BF30F409}"/>
                  </a:ext>
                </a:extLst>
              </p:cNvPr>
              <p:cNvCxnSpPr>
                <a:cxnSpLocks noChangeShapeType="1"/>
              </p:cNvCxnSpPr>
              <p:nvPr/>
            </p:nvCxnSpPr>
            <p:spPr bwMode="auto">
              <a:xfrm flipV="1">
                <a:off x="2987824" y="4518336"/>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20" name="直接箭头连接符 18">
                <a:extLst>
                  <a:ext uri="{FF2B5EF4-FFF2-40B4-BE49-F238E27FC236}">
                    <a16:creationId xmlns:a16="http://schemas.microsoft.com/office/drawing/2014/main" id="{316278DB-F24E-40AC-A915-4A22D9AC162F}"/>
                  </a:ext>
                </a:extLst>
              </p:cNvPr>
              <p:cNvCxnSpPr>
                <a:cxnSpLocks noChangeShapeType="1"/>
              </p:cNvCxnSpPr>
              <p:nvPr/>
            </p:nvCxnSpPr>
            <p:spPr bwMode="auto">
              <a:xfrm>
                <a:off x="2987824" y="4869200"/>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21" name="直接箭头连接符 20">
                <a:extLst>
                  <a:ext uri="{FF2B5EF4-FFF2-40B4-BE49-F238E27FC236}">
                    <a16:creationId xmlns:a16="http://schemas.microsoft.com/office/drawing/2014/main" id="{304A9427-7D00-4064-94E0-6FE39E0914F1}"/>
                  </a:ext>
                </a:extLst>
              </p:cNvPr>
              <p:cNvCxnSpPr>
                <a:cxnSpLocks noChangeShapeType="1"/>
              </p:cNvCxnSpPr>
              <p:nvPr/>
            </p:nvCxnSpPr>
            <p:spPr bwMode="auto">
              <a:xfrm flipV="1">
                <a:off x="2987824" y="5229200"/>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22" name="直接箭头连接符 22">
                <a:extLst>
                  <a:ext uri="{FF2B5EF4-FFF2-40B4-BE49-F238E27FC236}">
                    <a16:creationId xmlns:a16="http://schemas.microsoft.com/office/drawing/2014/main" id="{A6FFFC53-000B-492F-81B0-F6C6D3C8E7FE}"/>
                  </a:ext>
                </a:extLst>
              </p:cNvPr>
              <p:cNvCxnSpPr>
                <a:cxnSpLocks noChangeShapeType="1"/>
              </p:cNvCxnSpPr>
              <p:nvPr/>
            </p:nvCxnSpPr>
            <p:spPr bwMode="auto">
              <a:xfrm>
                <a:off x="2987824" y="5589216"/>
                <a:ext cx="540000" cy="36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grpSp>
      </p:grpSp>
    </p:spTree>
    <p:extLst>
      <p:ext uri="{BB962C8B-B14F-4D97-AF65-F5344CB8AC3E}">
        <p14:creationId xmlns:p14="http://schemas.microsoft.com/office/powerpoint/2010/main" val="291557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Example : American Put Option with price jump of +/- 20%</a:t>
            </a:r>
          </a:p>
          <a:p>
            <a:endParaRPr lang="zh-CN" altLang="en-US" dirty="0">
              <a:latin typeface="+mn-lt"/>
              <a:ea typeface="+mn-ea"/>
              <a:cs typeface="+mn-ea"/>
              <a:sym typeface="+mn-lt"/>
            </a:endParaRPr>
          </a:p>
        </p:txBody>
      </p:sp>
      <p:graphicFrame>
        <p:nvGraphicFramePr>
          <p:cNvPr id="4" name="Object 17">
            <a:extLst>
              <a:ext uri="{FF2B5EF4-FFF2-40B4-BE49-F238E27FC236}">
                <a16:creationId xmlns:a16="http://schemas.microsoft.com/office/drawing/2014/main" id="{1F9789BC-7D3B-4968-92EA-3B17FA6003EE}"/>
              </a:ext>
            </a:extLst>
          </p:cNvPr>
          <p:cNvGraphicFramePr>
            <a:graphicFrameLocks/>
          </p:cNvGraphicFramePr>
          <p:nvPr>
            <p:extLst>
              <p:ext uri="{D42A27DB-BD31-4B8C-83A1-F6EECF244321}">
                <p14:modId xmlns:p14="http://schemas.microsoft.com/office/powerpoint/2010/main" val="4256201081"/>
              </p:ext>
            </p:extLst>
          </p:nvPr>
        </p:nvGraphicFramePr>
        <p:xfrm>
          <a:off x="2972865" y="4077087"/>
          <a:ext cx="6008541" cy="579967"/>
        </p:xfrm>
        <a:graphic>
          <a:graphicData uri="http://schemas.openxmlformats.org/presentationml/2006/ole">
            <mc:AlternateContent xmlns:mc="http://schemas.openxmlformats.org/markup-compatibility/2006">
              <mc:Choice xmlns:v="urn:schemas-microsoft-com:vml" Requires="v">
                <p:oleObj spid="_x0000_s3095" name="Equation" r:id="rId3" imgW="2933640" imgH="253800" progId="Equation.DSMT4">
                  <p:embed/>
                </p:oleObj>
              </mc:Choice>
              <mc:Fallback>
                <p:oleObj name="Equation" r:id="rId3" imgW="2933640" imgH="253800" progId="Equation.DSMT4">
                  <p:embed/>
                  <p:pic>
                    <p:nvPicPr>
                      <p:cNvPr id="23" name="Object 17">
                        <a:extLst>
                          <a:ext uri="{FF2B5EF4-FFF2-40B4-BE49-F238E27FC236}">
                            <a16:creationId xmlns:a16="http://schemas.microsoft.com/office/drawing/2014/main" id="{F7602B60-1DB8-4638-B0BF-ABBC7AF71085}"/>
                          </a:ext>
                        </a:extLst>
                      </p:cNvPr>
                      <p:cNvPicPr>
                        <a:picLocks noChangeAspect="1" noChangeArrowheads="1"/>
                      </p:cNvPicPr>
                      <p:nvPr/>
                    </p:nvPicPr>
                    <p:blipFill>
                      <a:blip r:embed="rId4"/>
                      <a:srcRect/>
                      <a:stretch>
                        <a:fillRect/>
                      </a:stretch>
                    </p:blipFill>
                    <p:spPr bwMode="auto">
                      <a:xfrm>
                        <a:off x="2972865" y="4077087"/>
                        <a:ext cx="6008541" cy="579967"/>
                      </a:xfrm>
                      <a:prstGeom prst="rect">
                        <a:avLst/>
                      </a:prstGeom>
                      <a:noFill/>
                      <a:extLst/>
                    </p:spPr>
                  </p:pic>
                </p:oleObj>
              </mc:Fallback>
            </mc:AlternateContent>
          </a:graphicData>
        </a:graphic>
      </p:graphicFrame>
      <p:graphicFrame>
        <p:nvGraphicFramePr>
          <p:cNvPr id="5" name="Object 17">
            <a:extLst>
              <a:ext uri="{FF2B5EF4-FFF2-40B4-BE49-F238E27FC236}">
                <a16:creationId xmlns:a16="http://schemas.microsoft.com/office/drawing/2014/main" id="{0425BE6F-1758-49CB-8D93-EE9921EC5D06}"/>
              </a:ext>
            </a:extLst>
          </p:cNvPr>
          <p:cNvGraphicFramePr>
            <a:graphicFrameLocks/>
          </p:cNvGraphicFramePr>
          <p:nvPr>
            <p:extLst>
              <p:ext uri="{D42A27DB-BD31-4B8C-83A1-F6EECF244321}">
                <p14:modId xmlns:p14="http://schemas.microsoft.com/office/powerpoint/2010/main" val="2027132133"/>
              </p:ext>
            </p:extLst>
          </p:nvPr>
        </p:nvGraphicFramePr>
        <p:xfrm>
          <a:off x="2972866" y="4772413"/>
          <a:ext cx="6309398" cy="579967"/>
        </p:xfrm>
        <a:graphic>
          <a:graphicData uri="http://schemas.openxmlformats.org/presentationml/2006/ole">
            <mc:AlternateContent xmlns:mc="http://schemas.openxmlformats.org/markup-compatibility/2006">
              <mc:Choice xmlns:v="urn:schemas-microsoft-com:vml" Requires="v">
                <p:oleObj spid="_x0000_s3096" name="Equation" r:id="rId5" imgW="3022560" imgH="253800" progId="Equation.DSMT4">
                  <p:embed/>
                </p:oleObj>
              </mc:Choice>
              <mc:Fallback>
                <p:oleObj name="Equation" r:id="rId5" imgW="3022560" imgH="253800" progId="Equation.DSMT4">
                  <p:embed/>
                  <p:pic>
                    <p:nvPicPr>
                      <p:cNvPr id="24" name="Object 17">
                        <a:extLst>
                          <a:ext uri="{FF2B5EF4-FFF2-40B4-BE49-F238E27FC236}">
                            <a16:creationId xmlns:a16="http://schemas.microsoft.com/office/drawing/2014/main" id="{5090C1D1-5A34-4063-9CE4-92FAB7F18753}"/>
                          </a:ext>
                        </a:extLst>
                      </p:cNvPr>
                      <p:cNvPicPr>
                        <a:picLocks noChangeAspect="1" noChangeArrowheads="1"/>
                      </p:cNvPicPr>
                      <p:nvPr/>
                    </p:nvPicPr>
                    <p:blipFill>
                      <a:blip r:embed="rId6"/>
                      <a:srcRect/>
                      <a:stretch>
                        <a:fillRect/>
                      </a:stretch>
                    </p:blipFill>
                    <p:spPr bwMode="auto">
                      <a:xfrm>
                        <a:off x="2972866" y="4772413"/>
                        <a:ext cx="6309398" cy="579967"/>
                      </a:xfrm>
                      <a:prstGeom prst="rect">
                        <a:avLst/>
                      </a:prstGeom>
                      <a:noFill/>
                      <a:extLst/>
                    </p:spPr>
                  </p:pic>
                </p:oleObj>
              </mc:Fallback>
            </mc:AlternateContent>
          </a:graphicData>
        </a:graphic>
      </p:graphicFrame>
      <p:graphicFrame>
        <p:nvGraphicFramePr>
          <p:cNvPr id="6" name="Object 17">
            <a:extLst>
              <a:ext uri="{FF2B5EF4-FFF2-40B4-BE49-F238E27FC236}">
                <a16:creationId xmlns:a16="http://schemas.microsoft.com/office/drawing/2014/main" id="{CA2EBB12-03DE-4B04-BC71-34B072B20051}"/>
              </a:ext>
            </a:extLst>
          </p:cNvPr>
          <p:cNvGraphicFramePr>
            <a:graphicFrameLocks/>
          </p:cNvGraphicFramePr>
          <p:nvPr>
            <p:extLst>
              <p:ext uri="{D42A27DB-BD31-4B8C-83A1-F6EECF244321}">
                <p14:modId xmlns:p14="http://schemas.microsoft.com/office/powerpoint/2010/main" val="3207576088"/>
              </p:ext>
            </p:extLst>
          </p:nvPr>
        </p:nvGraphicFramePr>
        <p:xfrm>
          <a:off x="2991916" y="5432783"/>
          <a:ext cx="6573722" cy="611748"/>
        </p:xfrm>
        <a:graphic>
          <a:graphicData uri="http://schemas.openxmlformats.org/presentationml/2006/ole">
            <mc:AlternateContent xmlns:mc="http://schemas.openxmlformats.org/markup-compatibility/2006">
              <mc:Choice xmlns:v="urn:schemas-microsoft-com:vml" Requires="v">
                <p:oleObj spid="_x0000_s3097" name="Equation" r:id="rId7" imgW="3187440" imgH="253800" progId="Equation.DSMT4">
                  <p:embed/>
                </p:oleObj>
              </mc:Choice>
              <mc:Fallback>
                <p:oleObj name="Equation" r:id="rId7" imgW="3187440" imgH="253800" progId="Equation.DSMT4">
                  <p:embed/>
                  <p:pic>
                    <p:nvPicPr>
                      <p:cNvPr id="25" name="Object 17">
                        <a:extLst>
                          <a:ext uri="{FF2B5EF4-FFF2-40B4-BE49-F238E27FC236}">
                            <a16:creationId xmlns:a16="http://schemas.microsoft.com/office/drawing/2014/main" id="{385908E6-57F1-4DEB-9808-CF6B3032E3C4}"/>
                          </a:ext>
                        </a:extLst>
                      </p:cNvPr>
                      <p:cNvPicPr>
                        <a:picLocks noChangeAspect="1" noChangeArrowheads="1"/>
                      </p:cNvPicPr>
                      <p:nvPr/>
                    </p:nvPicPr>
                    <p:blipFill>
                      <a:blip r:embed="rId8"/>
                      <a:srcRect/>
                      <a:stretch>
                        <a:fillRect/>
                      </a:stretch>
                    </p:blipFill>
                    <p:spPr bwMode="auto">
                      <a:xfrm>
                        <a:off x="2991916" y="5432783"/>
                        <a:ext cx="6573722" cy="611748"/>
                      </a:xfrm>
                      <a:prstGeom prst="rect">
                        <a:avLst/>
                      </a:prstGeom>
                      <a:noFill/>
                      <a:extLst/>
                    </p:spPr>
                  </p:pic>
                </p:oleObj>
              </mc:Fallback>
            </mc:AlternateContent>
          </a:graphicData>
        </a:graphic>
      </p:graphicFrame>
      <p:grpSp>
        <p:nvGrpSpPr>
          <p:cNvPr id="7" name="组合 6">
            <a:extLst>
              <a:ext uri="{FF2B5EF4-FFF2-40B4-BE49-F238E27FC236}">
                <a16:creationId xmlns:a16="http://schemas.microsoft.com/office/drawing/2014/main" id="{55DF302C-7808-4418-BCB8-545AF09DD62E}"/>
              </a:ext>
            </a:extLst>
          </p:cNvPr>
          <p:cNvGrpSpPr/>
          <p:nvPr/>
        </p:nvGrpSpPr>
        <p:grpSpPr>
          <a:xfrm>
            <a:off x="3582688" y="2035304"/>
            <a:ext cx="4873813" cy="1725706"/>
            <a:chOff x="505754" y="4320304"/>
            <a:chExt cx="3600400" cy="1800200"/>
          </a:xfrm>
        </p:grpSpPr>
        <p:sp>
          <p:nvSpPr>
            <p:cNvPr id="8" name="文本框 5">
              <a:extLst>
                <a:ext uri="{FF2B5EF4-FFF2-40B4-BE49-F238E27FC236}">
                  <a16:creationId xmlns:a16="http://schemas.microsoft.com/office/drawing/2014/main" id="{7F86A7C5-51CE-4771-A6C7-0635D1365DD0}"/>
                </a:ext>
              </a:extLst>
            </p:cNvPr>
            <p:cNvSpPr txBox="1"/>
            <p:nvPr/>
          </p:nvSpPr>
          <p:spPr bwMode="auto">
            <a:xfrm>
              <a:off x="505754" y="5085224"/>
              <a:ext cx="720725"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5.09/2</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9" name="文本框 6">
              <a:extLst>
                <a:ext uri="{FF2B5EF4-FFF2-40B4-BE49-F238E27FC236}">
                  <a16:creationId xmlns:a16="http://schemas.microsoft.com/office/drawing/2014/main" id="{36B9A547-B195-49C3-B8FB-D20B2F7FAA48}"/>
                </a:ext>
              </a:extLst>
            </p:cNvPr>
            <p:cNvSpPr txBox="1"/>
            <p:nvPr/>
          </p:nvSpPr>
          <p:spPr bwMode="auto">
            <a:xfrm>
              <a:off x="1838042" y="4662352"/>
              <a:ext cx="1260000"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1.4147/0</a:t>
              </a:r>
            </a:p>
          </p:txBody>
        </p:sp>
        <p:sp>
          <p:nvSpPr>
            <p:cNvPr id="10" name="文本框 7">
              <a:extLst>
                <a:ext uri="{FF2B5EF4-FFF2-40B4-BE49-F238E27FC236}">
                  <a16:creationId xmlns:a16="http://schemas.microsoft.com/office/drawing/2014/main" id="{111500C9-5A18-4806-BAC0-75DCD44AEA9E}"/>
                </a:ext>
              </a:extLst>
            </p:cNvPr>
            <p:cNvSpPr txBox="1"/>
            <p:nvPr/>
          </p:nvSpPr>
          <p:spPr bwMode="auto">
            <a:xfrm>
              <a:off x="3550279" y="4320304"/>
              <a:ext cx="540000"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0</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11" name="文本框 8">
              <a:extLst>
                <a:ext uri="{FF2B5EF4-FFF2-40B4-BE49-F238E27FC236}">
                  <a16:creationId xmlns:a16="http://schemas.microsoft.com/office/drawing/2014/main" id="{B8334FC6-7EA6-4978-8785-552050C601D1}"/>
                </a:ext>
              </a:extLst>
            </p:cNvPr>
            <p:cNvSpPr txBox="1"/>
            <p:nvPr/>
          </p:nvSpPr>
          <p:spPr bwMode="auto">
            <a:xfrm>
              <a:off x="1838042" y="5400464"/>
              <a:ext cx="1260000"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9.4634/12</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12" name="文本框 9">
              <a:extLst>
                <a:ext uri="{FF2B5EF4-FFF2-40B4-BE49-F238E27FC236}">
                  <a16:creationId xmlns:a16="http://schemas.microsoft.com/office/drawing/2014/main" id="{9849D015-B3EA-4023-9C11-7A8855E2FD50}"/>
                </a:ext>
              </a:extLst>
            </p:cNvPr>
            <p:cNvSpPr txBox="1"/>
            <p:nvPr/>
          </p:nvSpPr>
          <p:spPr bwMode="auto">
            <a:xfrm>
              <a:off x="3566154" y="5040424"/>
              <a:ext cx="540000"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4</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13" name="文本框 10">
              <a:extLst>
                <a:ext uri="{FF2B5EF4-FFF2-40B4-BE49-F238E27FC236}">
                  <a16:creationId xmlns:a16="http://schemas.microsoft.com/office/drawing/2014/main" id="{C0A3541D-961A-49B2-8FC8-CCBC3ACF0648}"/>
                </a:ext>
              </a:extLst>
            </p:cNvPr>
            <p:cNvSpPr txBox="1"/>
            <p:nvPr/>
          </p:nvSpPr>
          <p:spPr bwMode="auto">
            <a:xfrm>
              <a:off x="3566154" y="5760504"/>
              <a:ext cx="540000" cy="360000"/>
            </a:xfrm>
            <a:prstGeom prst="rect">
              <a:avLst/>
            </a:prstGeom>
            <a:noFill/>
          </p:spPr>
          <p:txBody>
            <a:bodyPr lIns="36000" tIns="36000" rIns="36000" bIns="36000" anchor="ctr" anchorCtr="0">
              <a:noAutofit/>
            </a:bodyPr>
            <a:lstStyle/>
            <a:p>
              <a:pPr algn="ctr">
                <a:defRPr/>
              </a:pPr>
              <a:r>
                <a:rPr lang="en-US" altLang="zh-CN" sz="1800" b="0" dirty="0">
                  <a:solidFill>
                    <a:srgbClr val="2C3E50"/>
                  </a:solidFill>
                  <a:latin typeface="Arial" panose="020B0604020202020204" pitchFamily="34" charset="0"/>
                  <a:cs typeface="Arial" panose="020B0604020202020204" pitchFamily="34" charset="0"/>
                </a:rPr>
                <a:t>20</a:t>
              </a:r>
              <a:endParaRPr lang="zh-CN" altLang="en-US" sz="1800" b="0" dirty="0">
                <a:solidFill>
                  <a:srgbClr val="2C3E50"/>
                </a:solidFill>
                <a:latin typeface="Arial" panose="020B0604020202020204" pitchFamily="34" charset="0"/>
                <a:cs typeface="Arial" panose="020B0604020202020204" pitchFamily="34" charset="0"/>
              </a:endParaRPr>
            </a:p>
          </p:txBody>
        </p:sp>
        <p:cxnSp>
          <p:nvCxnSpPr>
            <p:cNvPr id="14" name="直接箭头连接符 12">
              <a:extLst>
                <a:ext uri="{FF2B5EF4-FFF2-40B4-BE49-F238E27FC236}">
                  <a16:creationId xmlns:a16="http://schemas.microsoft.com/office/drawing/2014/main" id="{513FD17B-F33B-4657-8DBC-ADB4D0F3552B}"/>
                </a:ext>
              </a:extLst>
            </p:cNvPr>
            <p:cNvCxnSpPr>
              <a:cxnSpLocks noChangeShapeType="1"/>
            </p:cNvCxnSpPr>
            <p:nvPr/>
          </p:nvCxnSpPr>
          <p:spPr bwMode="auto">
            <a:xfrm flipV="1">
              <a:off x="1311839" y="4895992"/>
              <a:ext cx="540000" cy="3600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直接箭头连接符 14">
              <a:extLst>
                <a:ext uri="{FF2B5EF4-FFF2-40B4-BE49-F238E27FC236}">
                  <a16:creationId xmlns:a16="http://schemas.microsoft.com/office/drawing/2014/main" id="{29247DB5-6391-4B4B-8C16-13C45D0EEB8F}"/>
                </a:ext>
              </a:extLst>
            </p:cNvPr>
            <p:cNvCxnSpPr>
              <a:cxnSpLocks noChangeShapeType="1"/>
            </p:cNvCxnSpPr>
            <p:nvPr/>
          </p:nvCxnSpPr>
          <p:spPr bwMode="auto">
            <a:xfrm>
              <a:off x="1312441" y="5249062"/>
              <a:ext cx="540000" cy="3600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直接箭头连接符 16">
              <a:extLst>
                <a:ext uri="{FF2B5EF4-FFF2-40B4-BE49-F238E27FC236}">
                  <a16:creationId xmlns:a16="http://schemas.microsoft.com/office/drawing/2014/main" id="{6D8296B2-1953-4E8A-B096-7225C091815E}"/>
                </a:ext>
              </a:extLst>
            </p:cNvPr>
            <p:cNvCxnSpPr>
              <a:cxnSpLocks noChangeShapeType="1"/>
            </p:cNvCxnSpPr>
            <p:nvPr/>
          </p:nvCxnSpPr>
          <p:spPr bwMode="auto">
            <a:xfrm flipV="1">
              <a:off x="3082255" y="4446256"/>
              <a:ext cx="540000" cy="3600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直接箭头连接符 18">
              <a:extLst>
                <a:ext uri="{FF2B5EF4-FFF2-40B4-BE49-F238E27FC236}">
                  <a16:creationId xmlns:a16="http://schemas.microsoft.com/office/drawing/2014/main" id="{04452E66-CAAC-4B77-BB3C-96A2AEDAABA2}"/>
                </a:ext>
              </a:extLst>
            </p:cNvPr>
            <p:cNvCxnSpPr>
              <a:cxnSpLocks noChangeShapeType="1"/>
            </p:cNvCxnSpPr>
            <p:nvPr/>
          </p:nvCxnSpPr>
          <p:spPr bwMode="auto">
            <a:xfrm>
              <a:off x="3082255" y="4815144"/>
              <a:ext cx="540000" cy="3600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直接箭头连接符 20">
              <a:extLst>
                <a:ext uri="{FF2B5EF4-FFF2-40B4-BE49-F238E27FC236}">
                  <a16:creationId xmlns:a16="http://schemas.microsoft.com/office/drawing/2014/main" id="{333331F2-C39B-429F-9ADA-47EC02722FE5}"/>
                </a:ext>
              </a:extLst>
            </p:cNvPr>
            <p:cNvCxnSpPr>
              <a:cxnSpLocks noChangeShapeType="1"/>
            </p:cNvCxnSpPr>
            <p:nvPr/>
          </p:nvCxnSpPr>
          <p:spPr bwMode="auto">
            <a:xfrm flipV="1">
              <a:off x="3082255" y="5229200"/>
              <a:ext cx="540000" cy="3600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直接箭头连接符 22">
              <a:extLst>
                <a:ext uri="{FF2B5EF4-FFF2-40B4-BE49-F238E27FC236}">
                  <a16:creationId xmlns:a16="http://schemas.microsoft.com/office/drawing/2014/main" id="{4458B59B-2B56-4B8D-9D34-34A39C80B22F}"/>
                </a:ext>
              </a:extLst>
            </p:cNvPr>
            <p:cNvCxnSpPr>
              <a:cxnSpLocks noChangeShapeType="1"/>
            </p:cNvCxnSpPr>
            <p:nvPr/>
          </p:nvCxnSpPr>
          <p:spPr bwMode="auto">
            <a:xfrm>
              <a:off x="3082255" y="5589216"/>
              <a:ext cx="540000" cy="3600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20" name="圆角矩形 17">
            <a:extLst>
              <a:ext uri="{FF2B5EF4-FFF2-40B4-BE49-F238E27FC236}">
                <a16:creationId xmlns:a16="http://schemas.microsoft.com/office/drawing/2014/main" id="{594A7C22-6BE6-4E96-BDAB-ED7E79C4D564}"/>
              </a:ext>
            </a:extLst>
          </p:cNvPr>
          <p:cNvSpPr/>
          <p:nvPr/>
        </p:nvSpPr>
        <p:spPr>
          <a:xfrm>
            <a:off x="3366664" y="2035304"/>
            <a:ext cx="5458671" cy="1725706"/>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92235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Increasing the Number of Time Periods</a:t>
            </a:r>
          </a:p>
          <a:p>
            <a:pPr lvl="1"/>
            <a:r>
              <a:rPr lang="en-US" altLang="zh-CN" dirty="0">
                <a:latin typeface="+mn-lt"/>
                <a:ea typeface="+mn-ea"/>
                <a:cs typeface="+mn-ea"/>
                <a:sym typeface="+mn-lt"/>
              </a:rPr>
              <a:t>If we shorten the length of the intervals in a binomial model, there are more intervals over the same time period, more branches to consider, and more possible ending values.</a:t>
            </a:r>
          </a:p>
          <a:p>
            <a:pPr lvl="1"/>
            <a:r>
              <a:rPr lang="en-US" altLang="zh-CN" dirty="0">
                <a:latin typeface="+mn-lt"/>
                <a:ea typeface="+mn-ea"/>
                <a:cs typeface="+mn-ea"/>
                <a:sym typeface="+mn-lt"/>
              </a:rPr>
              <a:t>If we continue to shrink the length of intervals in the model until they are what mathematicians call “arbitrarily small”, we approach continuous time as the limiting case of the binomial model.</a:t>
            </a:r>
          </a:p>
          <a:p>
            <a:pPr lvl="1"/>
            <a:r>
              <a:rPr lang="en-US" altLang="zh-CN" dirty="0">
                <a:latin typeface="+mn-lt"/>
                <a:ea typeface="+mn-ea"/>
                <a:cs typeface="+mn-ea"/>
                <a:sym typeface="+mn-lt"/>
              </a:rPr>
              <a:t>The model for option valuation in the next topic (the Black-Scholes-Merton model) is a continuous time model. The binomial model “converges” to this continuous time model as we make the time periods arbitrarily small.</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236791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Using Binominal Trees to price an option</a:t>
            </a:r>
          </a:p>
          <a:p>
            <a:endParaRPr lang="zh-CN" altLang="en-US" dirty="0">
              <a:latin typeface="+mn-lt"/>
              <a:ea typeface="+mn-ea"/>
              <a:cs typeface="+mn-ea"/>
              <a:sym typeface="+mn-lt"/>
            </a:endParaRPr>
          </a:p>
        </p:txBody>
      </p:sp>
      <p:pic>
        <p:nvPicPr>
          <p:cNvPr id="4" name="图片 3">
            <a:extLst>
              <a:ext uri="{FF2B5EF4-FFF2-40B4-BE49-F238E27FC236}">
                <a16:creationId xmlns:a16="http://schemas.microsoft.com/office/drawing/2014/main" id="{32323931-10B3-44CC-8BEE-4426EBA77F09}"/>
              </a:ext>
            </a:extLst>
          </p:cNvPr>
          <p:cNvPicPr>
            <a:picLocks noChangeAspect="1"/>
          </p:cNvPicPr>
          <p:nvPr/>
        </p:nvPicPr>
        <p:blipFill>
          <a:blip r:embed="rId2"/>
          <a:stretch>
            <a:fillRect/>
          </a:stretch>
        </p:blipFill>
        <p:spPr>
          <a:xfrm>
            <a:off x="2013795" y="2043953"/>
            <a:ext cx="4082205" cy="3470353"/>
          </a:xfrm>
          <a:prstGeom prst="rect">
            <a:avLst/>
          </a:prstGeom>
        </p:spPr>
      </p:pic>
      <p:pic>
        <p:nvPicPr>
          <p:cNvPr id="5" name="图片 4">
            <a:extLst>
              <a:ext uri="{FF2B5EF4-FFF2-40B4-BE49-F238E27FC236}">
                <a16:creationId xmlns:a16="http://schemas.microsoft.com/office/drawing/2014/main" id="{6ED41AEB-9ECD-4E60-A01E-33EB5113F1DA}"/>
              </a:ext>
            </a:extLst>
          </p:cNvPr>
          <p:cNvPicPr>
            <a:picLocks noChangeAspect="1"/>
          </p:cNvPicPr>
          <p:nvPr/>
        </p:nvPicPr>
        <p:blipFill>
          <a:blip r:embed="rId3"/>
          <a:stretch>
            <a:fillRect/>
          </a:stretch>
        </p:blipFill>
        <p:spPr>
          <a:xfrm>
            <a:off x="7344139" y="2043953"/>
            <a:ext cx="3326950" cy="3594635"/>
          </a:xfrm>
          <a:prstGeom prst="rect">
            <a:avLst/>
          </a:prstGeom>
        </p:spPr>
      </p:pic>
    </p:spTree>
    <p:extLst>
      <p:ext uri="{BB962C8B-B14F-4D97-AF65-F5344CB8AC3E}">
        <p14:creationId xmlns:p14="http://schemas.microsoft.com/office/powerpoint/2010/main" val="1473172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Using Binominal Trees to price an option</a:t>
            </a:r>
          </a:p>
          <a:p>
            <a:endParaRPr lang="zh-CN" altLang="en-US" dirty="0">
              <a:latin typeface="+mn-lt"/>
              <a:ea typeface="+mn-ea"/>
              <a:cs typeface="+mn-ea"/>
              <a:sym typeface="+mn-lt"/>
            </a:endParaRPr>
          </a:p>
        </p:txBody>
      </p:sp>
      <p:sp>
        <p:nvSpPr>
          <p:cNvPr id="4" name="文本框 3">
            <a:extLst>
              <a:ext uri="{FF2B5EF4-FFF2-40B4-BE49-F238E27FC236}">
                <a16:creationId xmlns:a16="http://schemas.microsoft.com/office/drawing/2014/main" id="{C3D22057-9BF0-46BA-9806-0EE62981FBA1}"/>
              </a:ext>
            </a:extLst>
          </p:cNvPr>
          <p:cNvSpPr txBox="1"/>
          <p:nvPr/>
        </p:nvSpPr>
        <p:spPr>
          <a:xfrm>
            <a:off x="964089" y="3244334"/>
            <a:ext cx="1511827" cy="369332"/>
          </a:xfrm>
          <a:prstGeom prst="rect">
            <a:avLst/>
          </a:prstGeom>
          <a:noFill/>
        </p:spPr>
        <p:txBody>
          <a:bodyPr wrap="square" rtlCol="0">
            <a:spAutoFit/>
          </a:bodyPr>
          <a:lstStyle/>
          <a:p>
            <a:r>
              <a:rPr lang="en-US" altLang="zh-CN" dirty="0"/>
              <a:t>n=10</a:t>
            </a:r>
            <a:endParaRPr lang="zh-CN" altLang="en-US" dirty="0"/>
          </a:p>
        </p:txBody>
      </p:sp>
      <p:sp>
        <p:nvSpPr>
          <p:cNvPr id="5" name="文本框 4">
            <a:extLst>
              <a:ext uri="{FF2B5EF4-FFF2-40B4-BE49-F238E27FC236}">
                <a16:creationId xmlns:a16="http://schemas.microsoft.com/office/drawing/2014/main" id="{1BCAD464-288A-4C79-89E4-6B9CE1F5C7B8}"/>
              </a:ext>
            </a:extLst>
          </p:cNvPr>
          <p:cNvSpPr txBox="1"/>
          <p:nvPr/>
        </p:nvSpPr>
        <p:spPr>
          <a:xfrm>
            <a:off x="6167780" y="3274218"/>
            <a:ext cx="1511827" cy="369332"/>
          </a:xfrm>
          <a:prstGeom prst="rect">
            <a:avLst/>
          </a:prstGeom>
          <a:noFill/>
        </p:spPr>
        <p:txBody>
          <a:bodyPr wrap="square" rtlCol="0">
            <a:spAutoFit/>
          </a:bodyPr>
          <a:lstStyle/>
          <a:p>
            <a:r>
              <a:rPr lang="en-US" altLang="zh-CN" dirty="0"/>
              <a:t>n=50</a:t>
            </a:r>
            <a:endParaRPr lang="zh-CN" altLang="en-US" dirty="0"/>
          </a:p>
        </p:txBody>
      </p:sp>
      <p:pic>
        <p:nvPicPr>
          <p:cNvPr id="6" name="图片 5">
            <a:extLst>
              <a:ext uri="{FF2B5EF4-FFF2-40B4-BE49-F238E27FC236}">
                <a16:creationId xmlns:a16="http://schemas.microsoft.com/office/drawing/2014/main" id="{CBC34863-50BB-445C-9B9F-6BAB5B381E51}"/>
              </a:ext>
            </a:extLst>
          </p:cNvPr>
          <p:cNvPicPr>
            <a:picLocks noChangeAspect="1"/>
          </p:cNvPicPr>
          <p:nvPr/>
        </p:nvPicPr>
        <p:blipFill>
          <a:blip r:embed="rId2"/>
          <a:stretch>
            <a:fillRect/>
          </a:stretch>
        </p:blipFill>
        <p:spPr>
          <a:xfrm>
            <a:off x="6992035" y="1632646"/>
            <a:ext cx="3479962" cy="4423681"/>
          </a:xfrm>
          <a:prstGeom prst="rect">
            <a:avLst/>
          </a:prstGeom>
        </p:spPr>
      </p:pic>
      <p:pic>
        <p:nvPicPr>
          <p:cNvPr id="7" name="图片 6">
            <a:extLst>
              <a:ext uri="{FF2B5EF4-FFF2-40B4-BE49-F238E27FC236}">
                <a16:creationId xmlns:a16="http://schemas.microsoft.com/office/drawing/2014/main" id="{763F6B2B-E844-4D2F-9B39-780B8739A1D5}"/>
              </a:ext>
            </a:extLst>
          </p:cNvPr>
          <p:cNvPicPr>
            <a:picLocks noChangeAspect="1"/>
          </p:cNvPicPr>
          <p:nvPr/>
        </p:nvPicPr>
        <p:blipFill>
          <a:blip r:embed="rId3"/>
          <a:stretch>
            <a:fillRect/>
          </a:stretch>
        </p:blipFill>
        <p:spPr>
          <a:xfrm>
            <a:off x="1985131" y="1644443"/>
            <a:ext cx="3680502" cy="4411884"/>
          </a:xfrm>
          <a:prstGeom prst="rect">
            <a:avLst/>
          </a:prstGeom>
        </p:spPr>
      </p:pic>
    </p:spTree>
    <p:extLst>
      <p:ext uri="{BB962C8B-B14F-4D97-AF65-F5344CB8AC3E}">
        <p14:creationId xmlns:p14="http://schemas.microsoft.com/office/powerpoint/2010/main" val="335485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Black-Scholes-Merton Model</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Example</a:t>
            </a:r>
          </a:p>
          <a:p>
            <a:endParaRPr lang="zh-CN" altLang="en-US" dirty="0">
              <a:latin typeface="+mn-lt"/>
              <a:ea typeface="+mn-ea"/>
              <a:cs typeface="+mn-ea"/>
              <a:sym typeface="+mn-lt"/>
            </a:endParaRPr>
          </a:p>
        </p:txBody>
      </p:sp>
      <p:graphicFrame>
        <p:nvGraphicFramePr>
          <p:cNvPr id="4" name="表格 3">
            <a:extLst>
              <a:ext uri="{FF2B5EF4-FFF2-40B4-BE49-F238E27FC236}">
                <a16:creationId xmlns:a16="http://schemas.microsoft.com/office/drawing/2014/main" id="{F3F57A80-95BF-4568-B3C1-1ECC3AAFC82F}"/>
              </a:ext>
            </a:extLst>
          </p:cNvPr>
          <p:cNvGraphicFramePr>
            <a:graphicFrameLocks noGrp="1"/>
          </p:cNvGraphicFramePr>
          <p:nvPr>
            <p:extLst/>
          </p:nvPr>
        </p:nvGraphicFramePr>
        <p:xfrm>
          <a:off x="1277005" y="2004919"/>
          <a:ext cx="3868735" cy="3589056"/>
        </p:xfrm>
        <a:graphic>
          <a:graphicData uri="http://schemas.openxmlformats.org/drawingml/2006/table">
            <a:tbl>
              <a:tblPr>
                <a:tableStyleId>{5C22544A-7EE6-4342-B048-85BDC9FD1C3A}</a:tableStyleId>
              </a:tblPr>
              <a:tblGrid>
                <a:gridCol w="1186823">
                  <a:extLst>
                    <a:ext uri="{9D8B030D-6E8A-4147-A177-3AD203B41FA5}">
                      <a16:colId xmlns:a16="http://schemas.microsoft.com/office/drawing/2014/main" val="78266627"/>
                    </a:ext>
                  </a:extLst>
                </a:gridCol>
                <a:gridCol w="1371782">
                  <a:extLst>
                    <a:ext uri="{9D8B030D-6E8A-4147-A177-3AD203B41FA5}">
                      <a16:colId xmlns:a16="http://schemas.microsoft.com/office/drawing/2014/main" val="1130671200"/>
                    </a:ext>
                  </a:extLst>
                </a:gridCol>
                <a:gridCol w="1310130">
                  <a:extLst>
                    <a:ext uri="{9D8B030D-6E8A-4147-A177-3AD203B41FA5}">
                      <a16:colId xmlns:a16="http://schemas.microsoft.com/office/drawing/2014/main" val="591553649"/>
                    </a:ext>
                  </a:extLst>
                </a:gridCol>
              </a:tblGrid>
              <a:tr h="299088">
                <a:tc gridSpan="3">
                  <a:txBody>
                    <a:bodyPr/>
                    <a:lstStyle/>
                    <a:p>
                      <a:pPr algn="ctr" fontAlgn="b"/>
                      <a:r>
                        <a:rPr lang="en-US" sz="1100" u="none" strike="noStrike">
                          <a:effectLst/>
                        </a:rPr>
                        <a:t>FTSE Index</a:t>
                      </a:r>
                      <a:endParaRPr lang="en-US"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44597599"/>
                  </a:ext>
                </a:extLst>
              </a:tr>
              <a:tr h="299088">
                <a:tc>
                  <a:txBody>
                    <a:bodyPr/>
                    <a:lstStyle/>
                    <a:p>
                      <a:pPr algn="ctr" fontAlgn="b"/>
                      <a:r>
                        <a:rPr lang="en-US" sz="1100" u="none" strike="noStrike">
                          <a:effectLst/>
                        </a:rPr>
                        <a:t>Date</a:t>
                      </a:r>
                      <a:endParaRPr lang="en-US"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sz="1100" u="none" strike="noStrike">
                          <a:effectLst/>
                        </a:rPr>
                        <a:t>Closing Price</a:t>
                      </a:r>
                      <a:endParaRPr lang="en-US"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sz="1100" u="none" strike="noStrike">
                          <a:effectLst/>
                        </a:rPr>
                        <a:t>ln(S(t)/S(t-1))</a:t>
                      </a:r>
                      <a:endParaRPr lang="en-US"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extLst>
                  <a:ext uri="{0D108BD9-81ED-4DB2-BD59-A6C34878D82A}">
                    <a16:rowId xmlns:a16="http://schemas.microsoft.com/office/drawing/2014/main" val="3995409090"/>
                  </a:ext>
                </a:extLst>
              </a:tr>
              <a:tr h="299088">
                <a:tc>
                  <a:txBody>
                    <a:bodyPr/>
                    <a:lstStyle/>
                    <a:p>
                      <a:pPr algn="ctr" fontAlgn="b"/>
                      <a:r>
                        <a:rPr lang="en-US" altLang="zh-CN" sz="1100" u="none" strike="noStrike">
                          <a:effectLst/>
                        </a:rPr>
                        <a:t>2009/7/22</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dirty="0">
                          <a:effectLst/>
                        </a:rPr>
                        <a:t>4493.73</a:t>
                      </a:r>
                      <a:endParaRPr lang="en-US" altLang="zh-CN" sz="1100" b="0" i="0" u="none" strike="noStrike" dirty="0">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endParaRPr lang="zh-CN" altLang="en-US"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extLst>
                  <a:ext uri="{0D108BD9-81ED-4DB2-BD59-A6C34878D82A}">
                    <a16:rowId xmlns:a16="http://schemas.microsoft.com/office/drawing/2014/main" val="45130582"/>
                  </a:ext>
                </a:extLst>
              </a:tr>
              <a:tr h="299088">
                <a:tc>
                  <a:txBody>
                    <a:bodyPr/>
                    <a:lstStyle/>
                    <a:p>
                      <a:pPr algn="ctr" fontAlgn="b"/>
                      <a:r>
                        <a:rPr lang="en-US" altLang="zh-CN" sz="1100" u="none" strike="noStrike">
                          <a:effectLst/>
                        </a:rPr>
                        <a:t>2009/7/23</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dirty="0">
                          <a:effectLst/>
                        </a:rPr>
                        <a:t>4559.8</a:t>
                      </a:r>
                      <a:endParaRPr lang="en-US" altLang="zh-CN" sz="1100" b="0" i="0" u="none" strike="noStrike" dirty="0">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dirty="0">
                          <a:effectLst/>
                        </a:rPr>
                        <a:t>0.014596 </a:t>
                      </a:r>
                      <a:endParaRPr lang="en-US" altLang="zh-CN" sz="1100" b="0" i="0" u="none" strike="noStrike" dirty="0">
                        <a:solidFill>
                          <a:srgbClr val="000000"/>
                        </a:solidFill>
                        <a:effectLst/>
                        <a:latin typeface="DengXian" panose="02010600030101010101" pitchFamily="2" charset="-122"/>
                        <a:ea typeface="DengXian" panose="02010600030101010101" pitchFamily="2" charset="-122"/>
                      </a:endParaRPr>
                    </a:p>
                  </a:txBody>
                  <a:tcPr marL="7620" marR="7620" marT="7620" marB="0" anchor="b"/>
                </a:tc>
                <a:extLst>
                  <a:ext uri="{0D108BD9-81ED-4DB2-BD59-A6C34878D82A}">
                    <a16:rowId xmlns:a16="http://schemas.microsoft.com/office/drawing/2014/main" val="2861947186"/>
                  </a:ext>
                </a:extLst>
              </a:tr>
              <a:tr h="299088">
                <a:tc>
                  <a:txBody>
                    <a:bodyPr/>
                    <a:lstStyle/>
                    <a:p>
                      <a:pPr algn="ctr" fontAlgn="b"/>
                      <a:r>
                        <a:rPr lang="en-US" altLang="zh-CN" sz="1100" u="none" strike="noStrike">
                          <a:effectLst/>
                        </a:rPr>
                        <a:t>2009/7/24</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4576.61</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0.003680 </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extLst>
                  <a:ext uri="{0D108BD9-81ED-4DB2-BD59-A6C34878D82A}">
                    <a16:rowId xmlns:a16="http://schemas.microsoft.com/office/drawing/2014/main" val="1727115366"/>
                  </a:ext>
                </a:extLst>
              </a:tr>
              <a:tr h="299088">
                <a:tc>
                  <a:txBody>
                    <a:bodyPr/>
                    <a:lstStyle/>
                    <a:p>
                      <a:pPr algn="ctr" fontAlgn="b"/>
                      <a:r>
                        <a:rPr lang="en-US" altLang="zh-CN" sz="1100" u="none" strike="noStrike">
                          <a:effectLst/>
                        </a:rPr>
                        <a:t>2009/7/27</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4586.13</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0.002078 </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extLst>
                  <a:ext uri="{0D108BD9-81ED-4DB2-BD59-A6C34878D82A}">
                    <a16:rowId xmlns:a16="http://schemas.microsoft.com/office/drawing/2014/main" val="688637004"/>
                  </a:ext>
                </a:extLst>
              </a:tr>
              <a:tr h="299088">
                <a:tc>
                  <a:txBody>
                    <a:bodyPr/>
                    <a:lstStyle/>
                    <a:p>
                      <a:pPr algn="ctr" fontAlgn="b"/>
                      <a:r>
                        <a:rPr lang="en-US" altLang="zh-CN" sz="1100" u="none" strike="noStrike">
                          <a:effectLst/>
                        </a:rPr>
                        <a:t>2009/7/28</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4528.84</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-0.012571 </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extLst>
                  <a:ext uri="{0D108BD9-81ED-4DB2-BD59-A6C34878D82A}">
                    <a16:rowId xmlns:a16="http://schemas.microsoft.com/office/drawing/2014/main" val="1747672548"/>
                  </a:ext>
                </a:extLst>
              </a:tr>
              <a:tr h="299088">
                <a:tc>
                  <a:txBody>
                    <a:bodyPr/>
                    <a:lstStyle/>
                    <a:p>
                      <a:pPr algn="ctr" fontAlgn="b"/>
                      <a:r>
                        <a:rPr lang="en-US" altLang="zh-CN" sz="1100" u="none" strike="noStrike">
                          <a:effectLst/>
                        </a:rPr>
                        <a:t>2013/7/15</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6586.11</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0.006271 </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extLst>
                  <a:ext uri="{0D108BD9-81ED-4DB2-BD59-A6C34878D82A}">
                    <a16:rowId xmlns:a16="http://schemas.microsoft.com/office/drawing/2014/main" val="599979449"/>
                  </a:ext>
                </a:extLst>
              </a:tr>
              <a:tr h="299088">
                <a:tc>
                  <a:txBody>
                    <a:bodyPr/>
                    <a:lstStyle/>
                    <a:p>
                      <a:pPr algn="ctr" fontAlgn="b"/>
                      <a:r>
                        <a:rPr lang="en-US" altLang="zh-CN" sz="1100" u="none" strike="noStrike">
                          <a:effectLst/>
                        </a:rPr>
                        <a:t>2013/7/16</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6556.35</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-0.004529 </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extLst>
                  <a:ext uri="{0D108BD9-81ED-4DB2-BD59-A6C34878D82A}">
                    <a16:rowId xmlns:a16="http://schemas.microsoft.com/office/drawing/2014/main" val="746692494"/>
                  </a:ext>
                </a:extLst>
              </a:tr>
              <a:tr h="299088">
                <a:tc>
                  <a:txBody>
                    <a:bodyPr/>
                    <a:lstStyle/>
                    <a:p>
                      <a:pPr algn="ctr" fontAlgn="b"/>
                      <a:r>
                        <a:rPr lang="en-US" altLang="zh-CN" sz="1100" u="none" strike="noStrike">
                          <a:effectLst/>
                        </a:rPr>
                        <a:t>2013/7/17</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6571.93</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0.002374 </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extLst>
                  <a:ext uri="{0D108BD9-81ED-4DB2-BD59-A6C34878D82A}">
                    <a16:rowId xmlns:a16="http://schemas.microsoft.com/office/drawing/2014/main" val="2417044738"/>
                  </a:ext>
                </a:extLst>
              </a:tr>
              <a:tr h="299088">
                <a:tc>
                  <a:txBody>
                    <a:bodyPr/>
                    <a:lstStyle/>
                    <a:p>
                      <a:pPr algn="ctr" fontAlgn="b"/>
                      <a:r>
                        <a:rPr lang="en-US" altLang="zh-CN" sz="1100" u="none" strike="noStrike">
                          <a:effectLst/>
                        </a:rPr>
                        <a:t>2013/7/18</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6634.36</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a:effectLst/>
                        </a:rPr>
                        <a:t>0.009455 </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extLst>
                  <a:ext uri="{0D108BD9-81ED-4DB2-BD59-A6C34878D82A}">
                    <a16:rowId xmlns:a16="http://schemas.microsoft.com/office/drawing/2014/main" val="821983102"/>
                  </a:ext>
                </a:extLst>
              </a:tr>
              <a:tr h="299088">
                <a:tc>
                  <a:txBody>
                    <a:bodyPr/>
                    <a:lstStyle/>
                    <a:p>
                      <a:pPr algn="ctr" fontAlgn="b"/>
                      <a:r>
                        <a:rPr lang="en-US" altLang="zh-CN" sz="1100" u="none" strike="noStrike">
                          <a:effectLst/>
                        </a:rPr>
                        <a:t>2013/7/19</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dirty="0">
                          <a:effectLst/>
                        </a:rPr>
                        <a:t>6630.67</a:t>
                      </a:r>
                      <a:endParaRPr lang="en-US" altLang="zh-CN" sz="1100" b="0" i="0" u="none" strike="noStrike" dirty="0">
                        <a:solidFill>
                          <a:srgbClr val="000000"/>
                        </a:solidFill>
                        <a:effectLst/>
                        <a:latin typeface="DengXian" panose="02010600030101010101" pitchFamily="2" charset="-122"/>
                        <a:ea typeface="DengXian" panose="02010600030101010101" pitchFamily="2" charset="-122"/>
                      </a:endParaRPr>
                    </a:p>
                  </a:txBody>
                  <a:tcPr marL="7620" marR="7620" marT="7620" marB="0" anchor="b"/>
                </a:tc>
                <a:tc>
                  <a:txBody>
                    <a:bodyPr/>
                    <a:lstStyle/>
                    <a:p>
                      <a:pPr algn="ctr" fontAlgn="b"/>
                      <a:r>
                        <a:rPr lang="en-US" altLang="zh-CN" sz="1100" u="none" strike="noStrike" dirty="0">
                          <a:effectLst/>
                        </a:rPr>
                        <a:t>-0.000556 </a:t>
                      </a:r>
                      <a:endParaRPr lang="en-US" altLang="zh-CN" sz="1100" b="0" i="0" u="none" strike="noStrike" dirty="0">
                        <a:solidFill>
                          <a:srgbClr val="000000"/>
                        </a:solidFill>
                        <a:effectLst/>
                        <a:latin typeface="DengXian" panose="02010600030101010101" pitchFamily="2" charset="-122"/>
                        <a:ea typeface="DengXian" panose="02010600030101010101" pitchFamily="2" charset="-122"/>
                      </a:endParaRPr>
                    </a:p>
                  </a:txBody>
                  <a:tcPr marL="7620" marR="7620" marT="7620" marB="0" anchor="b"/>
                </a:tc>
                <a:extLst>
                  <a:ext uri="{0D108BD9-81ED-4DB2-BD59-A6C34878D82A}">
                    <a16:rowId xmlns:a16="http://schemas.microsoft.com/office/drawing/2014/main" val="1070763750"/>
                  </a:ext>
                </a:extLst>
              </a:tr>
            </a:tbl>
          </a:graphicData>
        </a:graphic>
      </p:graphicFrame>
      <p:graphicFrame>
        <p:nvGraphicFramePr>
          <p:cNvPr id="5" name="表格 4">
            <a:extLst>
              <a:ext uri="{FF2B5EF4-FFF2-40B4-BE49-F238E27FC236}">
                <a16:creationId xmlns:a16="http://schemas.microsoft.com/office/drawing/2014/main" id="{9C3C922A-9FCB-453A-A1A8-8F26D675E014}"/>
              </a:ext>
            </a:extLst>
          </p:cNvPr>
          <p:cNvGraphicFramePr>
            <a:graphicFrameLocks noGrp="1"/>
          </p:cNvGraphicFramePr>
          <p:nvPr>
            <p:extLst/>
          </p:nvPr>
        </p:nvGraphicFramePr>
        <p:xfrm>
          <a:off x="6871708" y="2004709"/>
          <a:ext cx="1387542" cy="417596"/>
        </p:xfrm>
        <a:graphic>
          <a:graphicData uri="http://schemas.openxmlformats.org/drawingml/2006/table">
            <a:tbl>
              <a:tblPr>
                <a:tableStyleId>{5C22544A-7EE6-4342-B048-85BDC9FD1C3A}</a:tableStyleId>
              </a:tblPr>
              <a:tblGrid>
                <a:gridCol w="645688">
                  <a:extLst>
                    <a:ext uri="{9D8B030D-6E8A-4147-A177-3AD203B41FA5}">
                      <a16:colId xmlns:a16="http://schemas.microsoft.com/office/drawing/2014/main" val="2854757980"/>
                    </a:ext>
                  </a:extLst>
                </a:gridCol>
                <a:gridCol w="741854">
                  <a:extLst>
                    <a:ext uri="{9D8B030D-6E8A-4147-A177-3AD203B41FA5}">
                      <a16:colId xmlns:a16="http://schemas.microsoft.com/office/drawing/2014/main" val="3491014095"/>
                    </a:ext>
                  </a:extLst>
                </a:gridCol>
              </a:tblGrid>
              <a:tr h="208798">
                <a:tc>
                  <a:txBody>
                    <a:bodyPr/>
                    <a:lstStyle/>
                    <a:p>
                      <a:pPr algn="ctr" fontAlgn="b"/>
                      <a:r>
                        <a:rPr lang="en-US" sz="1100" u="none" strike="noStrike">
                          <a:effectLst/>
                        </a:rPr>
                        <a:t>miu=</a:t>
                      </a:r>
                      <a:endParaRPr lang="en-US"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solidFill>
                      <a:srgbClr val="00B0F0"/>
                    </a:solidFill>
                  </a:tcPr>
                </a:tc>
                <a:tc>
                  <a:txBody>
                    <a:bodyPr/>
                    <a:lstStyle/>
                    <a:p>
                      <a:pPr algn="ctr" fontAlgn="b"/>
                      <a:r>
                        <a:rPr lang="en-US" altLang="zh-CN" sz="1100" u="none" strike="noStrike">
                          <a:effectLst/>
                        </a:rPr>
                        <a:t>0.039%</a:t>
                      </a:r>
                      <a:endParaRPr lang="en-US" altLang="zh-CN"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solidFill>
                      <a:srgbClr val="00B0F0"/>
                    </a:solidFill>
                  </a:tcPr>
                </a:tc>
                <a:extLst>
                  <a:ext uri="{0D108BD9-81ED-4DB2-BD59-A6C34878D82A}">
                    <a16:rowId xmlns:a16="http://schemas.microsoft.com/office/drawing/2014/main" val="1857640997"/>
                  </a:ext>
                </a:extLst>
              </a:tr>
              <a:tr h="208798">
                <a:tc>
                  <a:txBody>
                    <a:bodyPr/>
                    <a:lstStyle/>
                    <a:p>
                      <a:pPr algn="ctr" fontAlgn="b"/>
                      <a:r>
                        <a:rPr lang="en-US" sz="1100" u="none" strike="noStrike">
                          <a:effectLst/>
                        </a:rPr>
                        <a:t>sigma=</a:t>
                      </a:r>
                      <a:endParaRPr lang="en-US" sz="1100" b="0" i="0" u="none" strike="noStrike">
                        <a:solidFill>
                          <a:srgbClr val="000000"/>
                        </a:solidFill>
                        <a:effectLst/>
                        <a:latin typeface="DengXian" panose="02010600030101010101" pitchFamily="2" charset="-122"/>
                        <a:ea typeface="DengXian" panose="02010600030101010101" pitchFamily="2" charset="-122"/>
                      </a:endParaRPr>
                    </a:p>
                  </a:txBody>
                  <a:tcPr marL="7620" marR="7620" marT="7620" marB="0" anchor="b">
                    <a:solidFill>
                      <a:srgbClr val="00B0F0"/>
                    </a:solidFill>
                  </a:tcPr>
                </a:tc>
                <a:tc>
                  <a:txBody>
                    <a:bodyPr/>
                    <a:lstStyle/>
                    <a:p>
                      <a:pPr algn="ctr" fontAlgn="b"/>
                      <a:r>
                        <a:rPr lang="en-US" altLang="zh-CN" sz="1100" u="none" strike="noStrike" dirty="0">
                          <a:effectLst/>
                        </a:rPr>
                        <a:t>1.084%</a:t>
                      </a:r>
                      <a:endParaRPr lang="en-US" altLang="zh-CN" sz="1100" b="0" i="0" u="none" strike="noStrike" dirty="0">
                        <a:solidFill>
                          <a:srgbClr val="000000"/>
                        </a:solidFill>
                        <a:effectLst/>
                        <a:latin typeface="DengXian" panose="02010600030101010101" pitchFamily="2" charset="-122"/>
                        <a:ea typeface="DengXian" panose="02010600030101010101" pitchFamily="2" charset="-122"/>
                      </a:endParaRPr>
                    </a:p>
                  </a:txBody>
                  <a:tcPr marL="7620" marR="7620" marT="7620" marB="0" anchor="b">
                    <a:solidFill>
                      <a:srgbClr val="00B0F0"/>
                    </a:solidFill>
                  </a:tcPr>
                </a:tc>
                <a:extLst>
                  <a:ext uri="{0D108BD9-81ED-4DB2-BD59-A6C34878D82A}">
                    <a16:rowId xmlns:a16="http://schemas.microsoft.com/office/drawing/2014/main" val="3015957392"/>
                  </a:ext>
                </a:extLst>
              </a:tr>
            </a:tbl>
          </a:graphicData>
        </a:graphic>
      </p:graphicFrame>
      <p:graphicFrame>
        <p:nvGraphicFramePr>
          <p:cNvPr id="6" name="图表 5">
            <a:extLst>
              <a:ext uri="{FF2B5EF4-FFF2-40B4-BE49-F238E27FC236}">
                <a16:creationId xmlns:a16="http://schemas.microsoft.com/office/drawing/2014/main" id="{2E7F2BA0-7C6D-492B-A81B-889440CB92C8}"/>
              </a:ext>
            </a:extLst>
          </p:cNvPr>
          <p:cNvGraphicFramePr>
            <a:graphicFrameLocks/>
          </p:cNvGraphicFramePr>
          <p:nvPr>
            <p:extLst/>
          </p:nvPr>
        </p:nvGraphicFramePr>
        <p:xfrm>
          <a:off x="5227058" y="2596117"/>
          <a:ext cx="4945696" cy="326813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88859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Black-Scholes-Merton Model</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rPr>
              <a:t>Assumptions</a:t>
            </a:r>
          </a:p>
          <a:p>
            <a:pPr lvl="1"/>
            <a:r>
              <a:rPr lang="en-US" altLang="zh-CN" u="sng" dirty="0"/>
              <a:t>The price of the underlying asset follows a lognormal distribution.</a:t>
            </a:r>
          </a:p>
          <a:p>
            <a:pPr lvl="1"/>
            <a:r>
              <a:rPr lang="en-US" altLang="zh-CN" dirty="0"/>
              <a:t>The price of the underlying asset is continuous, jump is not considered.</a:t>
            </a:r>
          </a:p>
          <a:p>
            <a:pPr lvl="1"/>
            <a:r>
              <a:rPr lang="en-US" altLang="zh-CN" dirty="0"/>
              <a:t>The (continuous) risk-free rate is known and constant. </a:t>
            </a:r>
          </a:p>
          <a:p>
            <a:pPr lvl="1"/>
            <a:r>
              <a:rPr lang="en-US" altLang="zh-CN" dirty="0"/>
              <a:t>The volatility of the underlying asset is known and constant. </a:t>
            </a:r>
          </a:p>
          <a:p>
            <a:pPr lvl="1"/>
            <a:r>
              <a:rPr lang="en-US" altLang="zh-CN" dirty="0"/>
              <a:t>The markets are frictionless. </a:t>
            </a:r>
          </a:p>
          <a:p>
            <a:pPr lvl="1"/>
            <a:r>
              <a:rPr lang="en-US" altLang="zh-CN" dirty="0"/>
              <a:t>There are no cash flows on the underlying asset. </a:t>
            </a:r>
          </a:p>
          <a:p>
            <a:pPr lvl="1"/>
            <a:r>
              <a:rPr lang="en-US" altLang="zh-CN" u="sng" dirty="0"/>
              <a:t>The options valued are European options.</a:t>
            </a:r>
            <a:endParaRPr lang="zh-CN" altLang="en-US" dirty="0">
              <a:latin typeface="+mn-lt"/>
              <a:ea typeface="+mn-ea"/>
              <a:cs typeface="+mn-ea"/>
              <a:sym typeface="+mn-lt"/>
            </a:endParaRPr>
          </a:p>
        </p:txBody>
      </p:sp>
    </p:spTree>
    <p:extLst>
      <p:ext uri="{BB962C8B-B14F-4D97-AF65-F5344CB8AC3E}">
        <p14:creationId xmlns:p14="http://schemas.microsoft.com/office/powerpoint/2010/main" val="2201240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Black-Scholes-Merton Model</a:t>
            </a:r>
          </a:p>
        </p:txBody>
      </p:sp>
      <p:sp>
        <p:nvSpPr>
          <p:cNvPr id="3" name="文本占位符 2"/>
          <p:cNvSpPr>
            <a:spLocks noGrp="1"/>
          </p:cNvSpPr>
          <p:nvPr>
            <p:ph type="body" sz="quarter" idx="10"/>
          </p:nvPr>
        </p:nvSpPr>
        <p:spPr>
          <a:xfrm>
            <a:off x="393599" y="813469"/>
            <a:ext cx="11404800" cy="4852225"/>
          </a:xfrm>
        </p:spPr>
        <p:txBody>
          <a:bodyPr>
            <a:normAutofit fontScale="92500" lnSpcReduction="10000"/>
          </a:bodyPr>
          <a:lstStyle/>
          <a:p>
            <a:r>
              <a:rPr lang="en-US" altLang="zh-CN" dirty="0">
                <a:latin typeface="+mn-lt"/>
                <a:ea typeface="+mn-ea"/>
                <a:cs typeface="+mn-ea"/>
              </a:rPr>
              <a:t>Lognormal Assumption</a:t>
            </a:r>
          </a:p>
          <a:p>
            <a:pPr lvl="1"/>
            <a:r>
              <a:rPr lang="en-US" altLang="zh-CN" dirty="0"/>
              <a:t>Stock return</a:t>
            </a:r>
            <a:r>
              <a:rPr lang="zh-CN" altLang="en-US" dirty="0"/>
              <a:t>：</a:t>
            </a:r>
            <a:endParaRPr lang="en-US" altLang="zh-CN" dirty="0"/>
          </a:p>
          <a:p>
            <a:pPr lvl="1"/>
            <a:endParaRPr lang="en-US" altLang="zh-CN" dirty="0"/>
          </a:p>
          <a:p>
            <a:pPr lvl="1"/>
            <a:r>
              <a:rPr lang="en-US" altLang="zh-CN" dirty="0"/>
              <a:t>Ito’s process:</a:t>
            </a:r>
          </a:p>
          <a:p>
            <a:pPr lvl="1"/>
            <a:endParaRPr lang="en-US" altLang="zh-CN" dirty="0"/>
          </a:p>
          <a:p>
            <a:pPr lvl="1"/>
            <a:r>
              <a:rPr lang="en-US" altLang="zh-CN" dirty="0"/>
              <a:t>Ito’s Lemma:</a:t>
            </a:r>
          </a:p>
          <a:p>
            <a:pPr lvl="1"/>
            <a:endParaRPr lang="en-US" altLang="zh-CN" dirty="0"/>
          </a:p>
          <a:p>
            <a:pPr lvl="1"/>
            <a:endParaRPr lang="en-US" altLang="zh-CN" dirty="0"/>
          </a:p>
          <a:p>
            <a:pPr lvl="1"/>
            <a:r>
              <a:rPr lang="en-US" altLang="zh-CN" dirty="0"/>
              <a:t>As the stock price follows a Geometric Brownian Motion, if we define G = </a:t>
            </a:r>
            <a:r>
              <a:rPr lang="en-US" altLang="zh-CN" dirty="0" err="1"/>
              <a:t>lnS</a:t>
            </a:r>
            <a:r>
              <a:rPr lang="en-US" altLang="zh-CN" dirty="0"/>
              <a:t>, using Ito’s lemma, we have:</a:t>
            </a:r>
          </a:p>
          <a:p>
            <a:endParaRPr lang="zh-CN" altLang="en-US" dirty="0">
              <a:latin typeface="+mn-lt"/>
              <a:ea typeface="+mn-ea"/>
              <a:cs typeface="+mn-ea"/>
              <a:sym typeface="+mn-lt"/>
            </a:endParaRPr>
          </a:p>
        </p:txBody>
      </p:sp>
      <p:graphicFrame>
        <p:nvGraphicFramePr>
          <p:cNvPr id="4" name="Object 1">
            <a:extLst>
              <a:ext uri="{FF2B5EF4-FFF2-40B4-BE49-F238E27FC236}">
                <a16:creationId xmlns:a16="http://schemas.microsoft.com/office/drawing/2014/main" id="{3C926743-3F22-4849-AFF6-2B7C5C9D8368}"/>
              </a:ext>
            </a:extLst>
          </p:cNvPr>
          <p:cNvGraphicFramePr>
            <a:graphicFrameLocks/>
          </p:cNvGraphicFramePr>
          <p:nvPr>
            <p:extLst>
              <p:ext uri="{D42A27DB-BD31-4B8C-83A1-F6EECF244321}">
                <p14:modId xmlns:p14="http://schemas.microsoft.com/office/powerpoint/2010/main" val="4253734587"/>
              </p:ext>
            </p:extLst>
          </p:nvPr>
        </p:nvGraphicFramePr>
        <p:xfrm>
          <a:off x="3258950" y="3865940"/>
          <a:ext cx="4465637" cy="766762"/>
        </p:xfrm>
        <a:graphic>
          <a:graphicData uri="http://schemas.openxmlformats.org/presentationml/2006/ole">
            <mc:AlternateContent xmlns:mc="http://schemas.openxmlformats.org/markup-compatibility/2006">
              <mc:Choice xmlns:v="urn:schemas-microsoft-com:vml" Requires="v">
                <p:oleObj spid="_x0000_s4116" name="Equation" r:id="rId3" imgW="2476440" imgH="419040" progId="Equation.DSMT4">
                  <p:embed/>
                </p:oleObj>
              </mc:Choice>
              <mc:Fallback>
                <p:oleObj name="Equation" r:id="rId3" imgW="2476440" imgH="419040" progId="Equation.DSMT4">
                  <p:embed/>
                  <p:pic>
                    <p:nvPicPr>
                      <p:cNvPr id="8" name="Object 1">
                        <a:extLst>
                          <a:ext uri="{FF2B5EF4-FFF2-40B4-BE49-F238E27FC236}">
                            <a16:creationId xmlns:a16="http://schemas.microsoft.com/office/drawing/2014/main" id="{F88A5AAC-DBEF-4CE1-98C8-F95F175F240C}"/>
                          </a:ext>
                        </a:extLst>
                      </p:cNvPr>
                      <p:cNvPicPr>
                        <a:picLocks noChangeAspect="1" noChangeArrowheads="1"/>
                      </p:cNvPicPr>
                      <p:nvPr/>
                    </p:nvPicPr>
                    <p:blipFill>
                      <a:blip r:embed="rId4"/>
                      <a:srcRect/>
                      <a:stretch>
                        <a:fillRect/>
                      </a:stretch>
                    </p:blipFill>
                    <p:spPr bwMode="auto">
                      <a:xfrm>
                        <a:off x="3258950" y="3865940"/>
                        <a:ext cx="4465637" cy="766762"/>
                      </a:xfrm>
                      <a:prstGeom prst="rect">
                        <a:avLst/>
                      </a:prstGeom>
                      <a:noFill/>
                      <a:ln w="19050">
                        <a:noFill/>
                      </a:ln>
                      <a:extLst/>
                    </p:spPr>
                  </p:pic>
                </p:oleObj>
              </mc:Fallback>
            </mc:AlternateContent>
          </a:graphicData>
        </a:graphic>
      </p:graphicFrame>
      <p:graphicFrame>
        <p:nvGraphicFramePr>
          <p:cNvPr id="5" name="Object 3">
            <a:extLst>
              <a:ext uri="{FF2B5EF4-FFF2-40B4-BE49-F238E27FC236}">
                <a16:creationId xmlns:a16="http://schemas.microsoft.com/office/drawing/2014/main" id="{8AF7B96B-DE0D-4E2F-8D06-7D3D1EE9C704}"/>
              </a:ext>
            </a:extLst>
          </p:cNvPr>
          <p:cNvGraphicFramePr>
            <a:graphicFrameLocks/>
          </p:cNvGraphicFramePr>
          <p:nvPr>
            <p:extLst>
              <p:ext uri="{D42A27DB-BD31-4B8C-83A1-F6EECF244321}">
                <p14:modId xmlns:p14="http://schemas.microsoft.com/office/powerpoint/2010/main" val="298390404"/>
              </p:ext>
            </p:extLst>
          </p:nvPr>
        </p:nvGraphicFramePr>
        <p:xfrm>
          <a:off x="4173537" y="1628505"/>
          <a:ext cx="1922462" cy="711200"/>
        </p:xfrm>
        <a:graphic>
          <a:graphicData uri="http://schemas.openxmlformats.org/presentationml/2006/ole">
            <mc:AlternateContent xmlns:mc="http://schemas.openxmlformats.org/markup-compatibility/2006">
              <mc:Choice xmlns:v="urn:schemas-microsoft-com:vml" Requires="v">
                <p:oleObj spid="_x0000_s4117" name="Equation" r:id="rId5" imgW="1028520" imgH="342720" progId="Equation.DSMT4">
                  <p:embed/>
                </p:oleObj>
              </mc:Choice>
              <mc:Fallback>
                <p:oleObj name="Equation" r:id="rId5" imgW="1028520" imgH="342720" progId="Equation.DSMT4">
                  <p:embed/>
                  <p:pic>
                    <p:nvPicPr>
                      <p:cNvPr id="9" name="Object 3">
                        <a:extLst>
                          <a:ext uri="{FF2B5EF4-FFF2-40B4-BE49-F238E27FC236}">
                            <a16:creationId xmlns:a16="http://schemas.microsoft.com/office/drawing/2014/main" id="{B94B41C8-062B-4628-B19F-422DDEDB1B6D}"/>
                          </a:ext>
                        </a:extLst>
                      </p:cNvPr>
                      <p:cNvPicPr>
                        <a:picLocks noChangeAspect="1" noChangeArrowheads="1"/>
                      </p:cNvPicPr>
                      <p:nvPr/>
                    </p:nvPicPr>
                    <p:blipFill>
                      <a:blip r:embed="rId6"/>
                      <a:srcRect/>
                      <a:stretch>
                        <a:fillRect/>
                      </a:stretch>
                    </p:blipFill>
                    <p:spPr bwMode="auto">
                      <a:xfrm>
                        <a:off x="4173537" y="1628505"/>
                        <a:ext cx="1922462" cy="711200"/>
                      </a:xfrm>
                      <a:prstGeom prst="rect">
                        <a:avLst/>
                      </a:prstGeom>
                      <a:noFill/>
                      <a:ln w="19050">
                        <a:noFill/>
                      </a:ln>
                      <a:extLst/>
                    </p:spPr>
                  </p:pic>
                </p:oleObj>
              </mc:Fallback>
            </mc:AlternateContent>
          </a:graphicData>
        </a:graphic>
      </p:graphicFrame>
      <p:graphicFrame>
        <p:nvGraphicFramePr>
          <p:cNvPr id="6" name="对象 5">
            <a:extLst>
              <a:ext uri="{FF2B5EF4-FFF2-40B4-BE49-F238E27FC236}">
                <a16:creationId xmlns:a16="http://schemas.microsoft.com/office/drawing/2014/main" id="{90ADB4F8-9E03-40D6-B8A2-F618C60F675C}"/>
              </a:ext>
            </a:extLst>
          </p:cNvPr>
          <p:cNvGraphicFramePr>
            <a:graphicFrameLocks/>
          </p:cNvGraphicFramePr>
          <p:nvPr>
            <p:extLst>
              <p:ext uri="{D42A27DB-BD31-4B8C-83A1-F6EECF244321}">
                <p14:modId xmlns:p14="http://schemas.microsoft.com/office/powerpoint/2010/main" val="3291152469"/>
              </p:ext>
            </p:extLst>
          </p:nvPr>
        </p:nvGraphicFramePr>
        <p:xfrm>
          <a:off x="4411768" y="5613755"/>
          <a:ext cx="2160000" cy="720000"/>
        </p:xfrm>
        <a:graphic>
          <a:graphicData uri="http://schemas.openxmlformats.org/presentationml/2006/ole">
            <mc:AlternateContent xmlns:mc="http://schemas.openxmlformats.org/markup-compatibility/2006">
              <mc:Choice xmlns:v="urn:schemas-microsoft-com:vml" Requires="v">
                <p:oleObj spid="_x0000_s4118" name="Equation" r:id="rId7" imgW="1358640" imgH="368280" progId="Equation.DSMT4">
                  <p:embed/>
                </p:oleObj>
              </mc:Choice>
              <mc:Fallback>
                <p:oleObj name="Equation" r:id="rId7" imgW="1358640" imgH="368280" progId="Equation.DSMT4">
                  <p:embed/>
                  <p:pic>
                    <p:nvPicPr>
                      <p:cNvPr id="10" name="对象 5">
                        <a:extLst>
                          <a:ext uri="{FF2B5EF4-FFF2-40B4-BE49-F238E27FC236}">
                            <a16:creationId xmlns:a16="http://schemas.microsoft.com/office/drawing/2014/main" id="{5F623349-C8EA-4B2E-9D85-DF6BC80DEA6E}"/>
                          </a:ext>
                        </a:extLst>
                      </p:cNvPr>
                      <p:cNvPicPr>
                        <a:picLocks noChangeAspect="1" noChangeArrowheads="1"/>
                      </p:cNvPicPr>
                      <p:nvPr/>
                    </p:nvPicPr>
                    <p:blipFill>
                      <a:blip r:embed="rId8"/>
                      <a:srcRect/>
                      <a:stretch>
                        <a:fillRect/>
                      </a:stretch>
                    </p:blipFill>
                    <p:spPr bwMode="auto">
                      <a:xfrm>
                        <a:off x="4411768" y="5613755"/>
                        <a:ext cx="2160000" cy="720000"/>
                      </a:xfrm>
                      <a:prstGeom prst="rect">
                        <a:avLst/>
                      </a:prstGeom>
                      <a:noFill/>
                      <a:ln w="19050">
                        <a:noFill/>
                      </a:ln>
                      <a:extLst/>
                    </p:spPr>
                  </p:pic>
                </p:oleObj>
              </mc:Fallback>
            </mc:AlternateContent>
          </a:graphicData>
        </a:graphic>
      </p:graphicFrame>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F05EDB3-A8DC-48A3-A768-A02041CDF024}"/>
                  </a:ext>
                </a:extLst>
              </p:cNvPr>
              <p:cNvSpPr/>
              <p:nvPr/>
            </p:nvSpPr>
            <p:spPr>
              <a:xfrm>
                <a:off x="4154925" y="2828547"/>
                <a:ext cx="205825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dS</m:t>
                      </m:r>
                      <m:r>
                        <a:rPr lang="en-US" altLang="zh-CN" b="0" i="0" smtClean="0">
                          <a:latin typeface="Cambria Math" panose="02040503050406030204" pitchFamily="18" charset="0"/>
                        </a:rPr>
                        <m:t>=</m:t>
                      </m:r>
                      <m:r>
                        <m:rPr>
                          <m:sty m:val="p"/>
                        </m:rPr>
                        <a:rPr lang="zh-CN" altLang="en-US" b="0" i="0" smtClean="0">
                          <a:latin typeface="Cambria Math" panose="02040503050406030204" pitchFamily="18" charset="0"/>
                        </a:rPr>
                        <m:t>μ</m:t>
                      </m:r>
                      <m:r>
                        <m:rPr>
                          <m:sty m:val="p"/>
                        </m:rPr>
                        <a:rPr lang="en-US" altLang="zh-CN" b="0" i="0" smtClean="0">
                          <a:latin typeface="Cambria Math" panose="02040503050406030204" pitchFamily="18" charset="0"/>
                        </a:rPr>
                        <m:t>Sdt</m:t>
                      </m:r>
                      <m:r>
                        <a:rPr lang="en-US" altLang="zh-CN" b="0" i="0" smtClean="0">
                          <a:latin typeface="Cambria Math" panose="02040503050406030204" pitchFamily="18" charset="0"/>
                        </a:rPr>
                        <m:t>+</m:t>
                      </m:r>
                      <m:r>
                        <m:rPr>
                          <m:sty m:val="p"/>
                        </m:rPr>
                        <a:rPr lang="zh-CN" altLang="en-US" b="0" i="0" smtClean="0">
                          <a:latin typeface="Cambria Math" panose="02040503050406030204" pitchFamily="18" charset="0"/>
                        </a:rPr>
                        <m:t>σ</m:t>
                      </m:r>
                      <m:r>
                        <m:rPr>
                          <m:sty m:val="p"/>
                        </m:rPr>
                        <a:rPr lang="en-US" altLang="zh-CN" b="0" i="0" smtClean="0">
                          <a:latin typeface="Cambria Math" panose="02040503050406030204" pitchFamily="18" charset="0"/>
                        </a:rPr>
                        <m:t>Sdz</m:t>
                      </m:r>
                    </m:oMath>
                  </m:oMathPara>
                </a14:m>
                <a:endParaRPr lang="zh-CN" altLang="en-US" dirty="0"/>
              </a:p>
            </p:txBody>
          </p:sp>
        </mc:Choice>
        <mc:Fallback xmlns="">
          <p:sp>
            <p:nvSpPr>
              <p:cNvPr id="7" name="矩形 6">
                <a:extLst>
                  <a:ext uri="{FF2B5EF4-FFF2-40B4-BE49-F238E27FC236}">
                    <a16:creationId xmlns:a16="http://schemas.microsoft.com/office/drawing/2014/main" id="{EF05EDB3-A8DC-48A3-A768-A02041CDF024}"/>
                  </a:ext>
                </a:extLst>
              </p:cNvPr>
              <p:cNvSpPr>
                <a:spLocks noRot="1" noChangeAspect="1" noMove="1" noResize="1" noEditPoints="1" noAdjustHandles="1" noChangeArrowheads="1" noChangeShapeType="1" noTextEdit="1"/>
              </p:cNvSpPr>
              <p:nvPr/>
            </p:nvSpPr>
            <p:spPr>
              <a:xfrm>
                <a:off x="4154925" y="2828547"/>
                <a:ext cx="2058256" cy="369332"/>
              </a:xfrm>
              <a:prstGeom prst="rect">
                <a:avLst/>
              </a:prstGeom>
              <a:blipFill>
                <a:blip r:embed="rId9"/>
                <a:stretch>
                  <a:fillRect b="-81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181380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Black-Scholes-Merton Model</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Lognormal Assumption</a:t>
            </a:r>
          </a:p>
          <a:p>
            <a:pPr lvl="1"/>
            <a:r>
              <a:rPr lang="en-US" altLang="zh-CN" dirty="0">
                <a:latin typeface="+mn-lt"/>
                <a:ea typeface="+mn-ea"/>
                <a:cs typeface="+mn-ea"/>
                <a:sym typeface="+mn-lt"/>
              </a:rPr>
              <a:t>It means</a:t>
            </a:r>
            <a:r>
              <a:rPr lang="zh-CN" altLang="en-US" dirty="0">
                <a:latin typeface="+mn-lt"/>
                <a:ea typeface="+mn-ea"/>
                <a:cs typeface="+mn-ea"/>
                <a:sym typeface="+mn-lt"/>
              </a:rPr>
              <a:t>：</a:t>
            </a:r>
          </a:p>
          <a:p>
            <a:endParaRPr lang="zh-CN" altLang="en-US" dirty="0">
              <a:latin typeface="+mn-lt"/>
              <a:ea typeface="+mn-ea"/>
              <a:cs typeface="+mn-ea"/>
              <a:sym typeface="+mn-lt"/>
            </a:endParaRPr>
          </a:p>
          <a:p>
            <a:endParaRPr lang="zh-CN" altLang="en-US" dirty="0">
              <a:latin typeface="+mn-lt"/>
              <a:ea typeface="+mn-ea"/>
              <a:cs typeface="+mn-ea"/>
              <a:sym typeface="+mn-lt"/>
            </a:endParaRPr>
          </a:p>
          <a:p>
            <a:endParaRPr lang="zh-CN" altLang="en-US" dirty="0">
              <a:latin typeface="+mn-lt"/>
              <a:ea typeface="+mn-ea"/>
              <a:cs typeface="+mn-ea"/>
              <a:sym typeface="+mn-lt"/>
            </a:endParaRPr>
          </a:p>
          <a:p>
            <a:endParaRPr lang="zh-CN" altLang="en-US" dirty="0">
              <a:latin typeface="+mn-lt"/>
              <a:ea typeface="+mn-ea"/>
              <a:cs typeface="+mn-ea"/>
              <a:sym typeface="+mn-lt"/>
            </a:endParaRPr>
          </a:p>
          <a:p>
            <a:endParaRPr lang="zh-CN" altLang="en-US" dirty="0">
              <a:latin typeface="+mn-lt"/>
              <a:ea typeface="+mn-ea"/>
              <a:cs typeface="+mn-ea"/>
              <a:sym typeface="+mn-lt"/>
            </a:endParaRPr>
          </a:p>
          <a:p>
            <a:pPr lvl="1"/>
            <a:r>
              <a:rPr lang="en-US" altLang="zh-CN" dirty="0">
                <a:latin typeface="+mn-lt"/>
                <a:ea typeface="+mn-ea"/>
                <a:cs typeface="+mn-ea"/>
                <a:sym typeface="+mn-lt"/>
              </a:rPr>
              <a:t>A variable has a lognormal distribution if the natural logarithm of the variable is normally distributed. While the equation above shows that </a:t>
            </a:r>
            <a:r>
              <a:rPr lang="en-US" altLang="zh-CN" dirty="0" err="1">
                <a:latin typeface="+mn-lt"/>
                <a:ea typeface="+mn-ea"/>
                <a:cs typeface="+mn-ea"/>
                <a:sym typeface="+mn-lt"/>
              </a:rPr>
              <a:t>lnST</a:t>
            </a:r>
            <a:r>
              <a:rPr lang="en-US" altLang="zh-CN" dirty="0">
                <a:latin typeface="+mn-lt"/>
                <a:ea typeface="+mn-ea"/>
                <a:cs typeface="+mn-ea"/>
                <a:sym typeface="+mn-lt"/>
              </a:rPr>
              <a:t> is normally distributed. The stock price is lognormally distributed.</a:t>
            </a:r>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0F2DFFD-6BD1-4071-8C93-8C88493B6403}"/>
                  </a:ext>
                </a:extLst>
              </p:cNvPr>
              <p:cNvSpPr/>
              <p:nvPr/>
            </p:nvSpPr>
            <p:spPr>
              <a:xfrm>
                <a:off x="4249756" y="3123532"/>
                <a:ext cx="3692486" cy="6109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i="0" smtClean="0">
                          <a:latin typeface="Cambria Math" panose="02040503050406030204" pitchFamily="18" charset="0"/>
                        </a:rPr>
                        <m:t>ln</m:t>
                      </m:r>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S</m:t>
                          </m:r>
                        </m:e>
                        <m:sub>
                          <m:r>
                            <m:rPr>
                              <m:sty m:val="p"/>
                            </m:rPr>
                            <a:rPr lang="zh-CN" altLang="en-US" i="0">
                              <a:latin typeface="Cambria Math" panose="02040503050406030204" pitchFamily="18" charset="0"/>
                            </a:rPr>
                            <m:t>T</m:t>
                          </m:r>
                        </m:sub>
                      </m:sSub>
                      <m:r>
                        <a:rPr lang="zh-CN" altLang="en-US" i="0">
                          <a:latin typeface="Cambria Math" panose="02040503050406030204" pitchFamily="18" charset="0"/>
                        </a:rPr>
                        <m:t>∼</m:t>
                      </m:r>
                      <m:r>
                        <m:rPr>
                          <m:sty m:val="p"/>
                        </m:rPr>
                        <a:rPr lang="zh-CN" altLang="en-US" i="0">
                          <a:latin typeface="Cambria Math" panose="02040503050406030204" pitchFamily="18" charset="0"/>
                        </a:rPr>
                        <m:t>ϕ</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ln</m:t>
                      </m:r>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S</m:t>
                          </m:r>
                        </m:e>
                        <m:sub>
                          <m:r>
                            <a:rPr lang="en-US" altLang="zh-CN" i="0">
                              <a:latin typeface="Cambria Math" panose="02040503050406030204" pitchFamily="18" charset="0"/>
                            </a:rPr>
                            <m:t>0</m:t>
                          </m:r>
                        </m:sub>
                      </m:sSub>
                      <m:r>
                        <a:rPr lang="en-US" altLang="zh-CN" i="0">
                          <a:latin typeface="Cambria Math" panose="02040503050406030204" pitchFamily="18" charset="0"/>
                        </a:rPr>
                        <m:t>+</m:t>
                      </m:r>
                      <m:r>
                        <a:rPr lang="zh-CN" altLang="en-US" i="0">
                          <a:latin typeface="Cambria Math" panose="02040503050406030204" pitchFamily="18" charset="0"/>
                        </a:rPr>
                        <m:t>(</m:t>
                      </m:r>
                      <m:r>
                        <m:rPr>
                          <m:sty m:val="p"/>
                        </m:rPr>
                        <a:rPr lang="zh-CN" altLang="en-US" i="0">
                          <a:latin typeface="Cambria Math" panose="02040503050406030204" pitchFamily="18" charset="0"/>
                        </a:rPr>
                        <m:t>μ</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den>
                      </m:f>
                      <m:sSup>
                        <m:sSupPr>
                          <m:ctrlPr>
                            <a:rPr lang="zh-CN" altLang="en-US" i="1">
                              <a:latin typeface="Cambria Math" panose="02040503050406030204" pitchFamily="18" charset="0"/>
                            </a:rPr>
                          </m:ctrlPr>
                        </m:sSupPr>
                        <m:e>
                          <m:r>
                            <m:rPr>
                              <m:sty m:val="p"/>
                            </m:rPr>
                            <a:rPr lang="zh-CN" altLang="en-US" i="0">
                              <a:latin typeface="Cambria Math" panose="02040503050406030204" pitchFamily="18" charset="0"/>
                            </a:rPr>
                            <m:t>σ</m:t>
                          </m:r>
                        </m:e>
                        <m:sup>
                          <m:r>
                            <a:rPr lang="zh-CN" altLang="en-US" i="0">
                              <a:latin typeface="Cambria Math" panose="02040503050406030204" pitchFamily="18" charset="0"/>
                            </a:rPr>
                            <m:t>2</m:t>
                          </m:r>
                        </m:sup>
                      </m:sSup>
                      <m:r>
                        <a:rPr lang="zh-CN" altLang="en-US" i="0">
                          <a:latin typeface="Cambria Math" panose="02040503050406030204" pitchFamily="18" charset="0"/>
                        </a:rPr>
                        <m:t>)</m:t>
                      </m:r>
                      <m:r>
                        <m:rPr>
                          <m:sty m:val="p"/>
                        </m:rPr>
                        <a:rPr lang="zh-CN" altLang="en-US" i="0">
                          <a:latin typeface="Cambria Math" panose="02040503050406030204" pitchFamily="18" charset="0"/>
                        </a:rPr>
                        <m:t>T</m:t>
                      </m:r>
                      <m:r>
                        <a:rPr lang="zh-CN" altLang="en-US" i="0">
                          <a:latin typeface="Cambria Math" panose="02040503050406030204" pitchFamily="18" charset="0"/>
                        </a:rPr>
                        <m:t>,</m:t>
                      </m:r>
                      <m:r>
                        <m:rPr>
                          <m:sty m:val="p"/>
                        </m:rPr>
                        <a:rPr lang="zh-CN" altLang="en-US" i="0">
                          <a:latin typeface="Cambria Math" panose="02040503050406030204" pitchFamily="18" charset="0"/>
                        </a:rPr>
                        <m:t>σ</m:t>
                      </m:r>
                      <m:rad>
                        <m:radPr>
                          <m:degHide m:val="on"/>
                          <m:ctrlPr>
                            <a:rPr lang="zh-CN" altLang="en-US" i="1">
                              <a:latin typeface="Cambria Math" panose="02040503050406030204" pitchFamily="18" charset="0"/>
                            </a:rPr>
                          </m:ctrlPr>
                        </m:radPr>
                        <m:deg/>
                        <m:e>
                          <m:r>
                            <m:rPr>
                              <m:sty m:val="p"/>
                            </m:rPr>
                            <a:rPr lang="zh-CN" altLang="en-US" i="0">
                              <a:latin typeface="Cambria Math" panose="02040503050406030204" pitchFamily="18" charset="0"/>
                            </a:rPr>
                            <m:t>T</m:t>
                          </m:r>
                        </m:e>
                      </m:rad>
                      <m:r>
                        <a:rPr lang="en-US" altLang="zh-CN" b="0" i="0" smtClean="0">
                          <a:latin typeface="Cambria Math" panose="02040503050406030204" pitchFamily="18" charset="0"/>
                        </a:rPr>
                        <m:t>]</m:t>
                      </m:r>
                    </m:oMath>
                  </m:oMathPara>
                </a14:m>
                <a:endParaRPr lang="zh-CN" altLang="en-US" dirty="0"/>
              </a:p>
            </p:txBody>
          </p:sp>
        </mc:Choice>
        <mc:Fallback xmlns="">
          <p:sp>
            <p:nvSpPr>
              <p:cNvPr id="4" name="矩形 3">
                <a:extLst>
                  <a:ext uri="{FF2B5EF4-FFF2-40B4-BE49-F238E27FC236}">
                    <a16:creationId xmlns:a16="http://schemas.microsoft.com/office/drawing/2014/main" id="{60F2DFFD-6BD1-4071-8C93-8C88493B6403}"/>
                  </a:ext>
                </a:extLst>
              </p:cNvPr>
              <p:cNvSpPr>
                <a:spLocks noRot="1" noChangeAspect="1" noMove="1" noResize="1" noEditPoints="1" noAdjustHandles="1" noChangeArrowheads="1" noChangeShapeType="1" noTextEdit="1"/>
              </p:cNvSpPr>
              <p:nvPr/>
            </p:nvSpPr>
            <p:spPr>
              <a:xfrm>
                <a:off x="4249756" y="3123532"/>
                <a:ext cx="3692486" cy="610936"/>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F351F9C-59A7-4FEF-995C-CFE253C0A6D1}"/>
                  </a:ext>
                </a:extLst>
              </p:cNvPr>
              <p:cNvSpPr/>
              <p:nvPr/>
            </p:nvSpPr>
            <p:spPr>
              <a:xfrm>
                <a:off x="4312146" y="2287042"/>
                <a:ext cx="3567708" cy="483466"/>
              </a:xfrm>
              <a:prstGeom prst="rect">
                <a:avLst/>
              </a:prstGeom>
            </p:spPr>
            <p:txBody>
              <a:bodyPr wrap="square">
                <a:spAutoFit/>
              </a:bodyPr>
              <a:lstStyle/>
              <a:p>
                <a14:m>
                  <m:oMath xmlns:m="http://schemas.openxmlformats.org/officeDocument/2006/math">
                    <m:r>
                      <m:rPr>
                        <m:sty m:val="p"/>
                      </m:rPr>
                      <a:rPr lang="en-US" altLang="zh-CN" smtClean="0">
                        <a:latin typeface="Cambria Math" panose="02040503050406030204" pitchFamily="18" charset="0"/>
                      </a:rPr>
                      <m:t>l</m:t>
                    </m:r>
                    <m:r>
                      <m:rPr>
                        <m:sty m:val="p"/>
                      </m:rPr>
                      <a:rPr lang="zh-CN" altLang="en-US">
                        <a:latin typeface="Cambria Math" panose="02040503050406030204" pitchFamily="18" charset="0"/>
                      </a:rPr>
                      <m:t>n</m:t>
                    </m:r>
                    <m:sSub>
                      <m:sSubPr>
                        <m:ctrlPr>
                          <a:rPr lang="zh-CN" altLang="en-US" i="1">
                            <a:latin typeface="Cambria Math" panose="02040503050406030204" pitchFamily="18" charset="0"/>
                          </a:rPr>
                        </m:ctrlPr>
                      </m:sSubPr>
                      <m:e>
                        <m:r>
                          <m:rPr>
                            <m:sty m:val="p"/>
                          </m:rPr>
                          <a:rPr lang="zh-CN" altLang="en-US">
                            <a:latin typeface="Cambria Math" panose="02040503050406030204" pitchFamily="18" charset="0"/>
                          </a:rPr>
                          <m:t>S</m:t>
                        </m:r>
                      </m:e>
                      <m:sub>
                        <m:r>
                          <m:rPr>
                            <m:sty m:val="p"/>
                          </m:rPr>
                          <a:rPr lang="zh-CN" altLang="en-US">
                            <a:latin typeface="Cambria Math" panose="02040503050406030204" pitchFamily="18" charset="0"/>
                          </a:rPr>
                          <m:t>T</m:t>
                        </m:r>
                      </m:sub>
                    </m:sSub>
                    <m:r>
                      <a:rPr lang="zh-CN" altLang="en-US">
                        <a:latin typeface="Cambria Math" panose="02040503050406030204" pitchFamily="18" charset="0"/>
                      </a:rPr>
                      <m:t>−</m:t>
                    </m:r>
                    <m:r>
                      <m:rPr>
                        <m:sty m:val="p"/>
                      </m:rPr>
                      <a:rPr lang="zh-CN" altLang="en-US">
                        <a:latin typeface="Cambria Math" panose="02040503050406030204" pitchFamily="18" charset="0"/>
                      </a:rPr>
                      <m:t>ln</m:t>
                    </m:r>
                    <m:sSub>
                      <m:sSubPr>
                        <m:ctrlPr>
                          <a:rPr lang="zh-CN" altLang="en-US" i="1">
                            <a:latin typeface="Cambria Math" panose="02040503050406030204" pitchFamily="18" charset="0"/>
                          </a:rPr>
                        </m:ctrlPr>
                      </m:sSubPr>
                      <m:e>
                        <m:r>
                          <m:rPr>
                            <m:sty m:val="p"/>
                          </m:rPr>
                          <a:rPr lang="zh-CN" altLang="en-US">
                            <a:latin typeface="Cambria Math" panose="02040503050406030204" pitchFamily="18" charset="0"/>
                          </a:rPr>
                          <m:t>S</m:t>
                        </m:r>
                      </m:e>
                      <m:sub>
                        <m:r>
                          <a:rPr lang="zh-CN" altLang="en-US">
                            <a:latin typeface="Cambria Math" panose="02040503050406030204" pitchFamily="18" charset="0"/>
                          </a:rPr>
                          <m:t>0</m:t>
                        </m:r>
                      </m:sub>
                    </m:sSub>
                    <m:r>
                      <a:rPr lang="zh-CN" altLang="en-US">
                        <a:latin typeface="Cambria Math" panose="02040503050406030204" pitchFamily="18" charset="0"/>
                      </a:rPr>
                      <m:t>∼</m:t>
                    </m:r>
                    <m:r>
                      <m:rPr>
                        <m:sty m:val="p"/>
                      </m:rPr>
                      <a:rPr lang="zh-CN" altLang="en-US">
                        <a:latin typeface="Cambria Math" panose="02040503050406030204" pitchFamily="18" charset="0"/>
                      </a:rPr>
                      <m:t>ϕ</m:t>
                    </m:r>
                  </m:oMath>
                </a14:m>
                <a:r>
                  <a:rPr lang="en-US" altLang="zh-CN" dirty="0"/>
                  <a:t>[</a:t>
                </a:r>
                <a14:m>
                  <m:oMath xmlns:m="http://schemas.openxmlformats.org/officeDocument/2006/math">
                    <m:r>
                      <a:rPr lang="zh-CN" altLang="en-US">
                        <a:latin typeface="Cambria Math" panose="02040503050406030204" pitchFamily="18" charset="0"/>
                      </a:rPr>
                      <m:t>(</m:t>
                    </m:r>
                    <m:r>
                      <m:rPr>
                        <m:sty m:val="p"/>
                      </m:rPr>
                      <a:rPr lang="zh-CN" altLang="en-US">
                        <a:latin typeface="Cambria Math" panose="02040503050406030204" pitchFamily="18" charset="0"/>
                      </a:rPr>
                      <m:t>μ</m:t>
                    </m:r>
                    <m:r>
                      <a:rPr lang="zh-CN" altLang="en-US">
                        <a:latin typeface="Cambria Math" panose="02040503050406030204" pitchFamily="18" charset="0"/>
                      </a:rPr>
                      <m:t>−</m:t>
                    </m:r>
                    <m:f>
                      <m:fPr>
                        <m:ctrlPr>
                          <a:rPr lang="zh-CN" altLang="en-US" i="1">
                            <a:latin typeface="Cambria Math" panose="02040503050406030204" pitchFamily="18" charset="0"/>
                          </a:rPr>
                        </m:ctrlPr>
                      </m:fPr>
                      <m:num>
                        <m:r>
                          <a:rPr lang="zh-CN" altLang="en-US">
                            <a:latin typeface="Cambria Math" panose="02040503050406030204" pitchFamily="18" charset="0"/>
                          </a:rPr>
                          <m:t>1</m:t>
                        </m:r>
                      </m:num>
                      <m:den>
                        <m:r>
                          <a:rPr lang="zh-CN" altLang="en-US">
                            <a:latin typeface="Cambria Math" panose="02040503050406030204" pitchFamily="18" charset="0"/>
                          </a:rPr>
                          <m:t>2</m:t>
                        </m:r>
                      </m:den>
                    </m:f>
                    <m:sSup>
                      <m:sSupPr>
                        <m:ctrlPr>
                          <a:rPr lang="zh-CN" altLang="en-US" i="1">
                            <a:latin typeface="Cambria Math" panose="02040503050406030204" pitchFamily="18" charset="0"/>
                          </a:rPr>
                        </m:ctrlPr>
                      </m:sSupPr>
                      <m:e>
                        <m:r>
                          <m:rPr>
                            <m:sty m:val="p"/>
                          </m:rPr>
                          <a:rPr lang="zh-CN" altLang="en-US">
                            <a:latin typeface="Cambria Math" panose="02040503050406030204" pitchFamily="18" charset="0"/>
                          </a:rPr>
                          <m:t>σ</m:t>
                        </m:r>
                      </m:e>
                      <m:sup>
                        <m:r>
                          <a:rPr lang="zh-CN" altLang="en-US">
                            <a:latin typeface="Cambria Math" panose="02040503050406030204" pitchFamily="18" charset="0"/>
                          </a:rPr>
                          <m:t>2</m:t>
                        </m:r>
                      </m:sup>
                    </m:sSup>
                    <m:r>
                      <a:rPr lang="zh-CN" altLang="en-US">
                        <a:latin typeface="Cambria Math" panose="02040503050406030204" pitchFamily="18" charset="0"/>
                      </a:rPr>
                      <m:t>)</m:t>
                    </m:r>
                    <m:r>
                      <m:rPr>
                        <m:sty m:val="p"/>
                      </m:rPr>
                      <a:rPr lang="zh-CN" altLang="en-US">
                        <a:latin typeface="Cambria Math" panose="02040503050406030204" pitchFamily="18" charset="0"/>
                      </a:rPr>
                      <m:t>T</m:t>
                    </m:r>
                    <m:r>
                      <a:rPr lang="zh-CN" altLang="en-US">
                        <a:latin typeface="Cambria Math" panose="02040503050406030204" pitchFamily="18" charset="0"/>
                      </a:rPr>
                      <m:t>,</m:t>
                    </m:r>
                    <m:r>
                      <m:rPr>
                        <m:sty m:val="p"/>
                      </m:rPr>
                      <a:rPr lang="zh-CN" altLang="en-US">
                        <a:latin typeface="Cambria Math" panose="02040503050406030204" pitchFamily="18" charset="0"/>
                      </a:rPr>
                      <m:t>σ</m:t>
                    </m:r>
                    <m:rad>
                      <m:radPr>
                        <m:degHide m:val="on"/>
                        <m:ctrlPr>
                          <a:rPr lang="zh-CN" altLang="en-US" i="1">
                            <a:latin typeface="Cambria Math" panose="02040503050406030204" pitchFamily="18" charset="0"/>
                          </a:rPr>
                        </m:ctrlPr>
                      </m:radPr>
                      <m:deg/>
                      <m:e>
                        <m:r>
                          <m:rPr>
                            <m:sty m:val="p"/>
                          </m:rPr>
                          <a:rPr lang="zh-CN" altLang="en-US">
                            <a:latin typeface="Cambria Math" panose="02040503050406030204" pitchFamily="18" charset="0"/>
                          </a:rPr>
                          <m:t>T</m:t>
                        </m:r>
                      </m:e>
                    </m:rad>
                    <m:r>
                      <a:rPr lang="en-US" altLang="zh-CN" b="0" i="1" smtClean="0">
                        <a:latin typeface="Cambria Math" panose="02040503050406030204" pitchFamily="18" charset="0"/>
                      </a:rPr>
                      <m:t>]</m:t>
                    </m:r>
                  </m:oMath>
                </a14:m>
                <a:endParaRPr lang="zh-CN" altLang="en-US" dirty="0"/>
              </a:p>
            </p:txBody>
          </p:sp>
        </mc:Choice>
        <mc:Fallback xmlns="">
          <p:sp>
            <p:nvSpPr>
              <p:cNvPr id="5" name="矩形 4">
                <a:extLst>
                  <a:ext uri="{FF2B5EF4-FFF2-40B4-BE49-F238E27FC236}">
                    <a16:creationId xmlns:a16="http://schemas.microsoft.com/office/drawing/2014/main" id="{AF351F9C-59A7-4FEF-995C-CFE253C0A6D1}"/>
                  </a:ext>
                </a:extLst>
              </p:cNvPr>
              <p:cNvSpPr>
                <a:spLocks noRot="1" noChangeAspect="1" noMove="1" noResize="1" noEditPoints="1" noAdjustHandles="1" noChangeArrowheads="1" noChangeShapeType="1" noTextEdit="1"/>
              </p:cNvSpPr>
              <p:nvPr/>
            </p:nvSpPr>
            <p:spPr>
              <a:xfrm>
                <a:off x="4312146" y="2287042"/>
                <a:ext cx="3567708" cy="483466"/>
              </a:xfrm>
              <a:prstGeom prst="rect">
                <a:avLst/>
              </a:prstGeom>
              <a:blipFill>
                <a:blip r:embed="rId3"/>
                <a:stretch>
                  <a:fillRect b="-75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288944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Black-Scholes-Merton Model</a:t>
            </a:r>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0"/>
              </p:nvPr>
            </p:nvSpPr>
            <p:spPr/>
            <p:txBody>
              <a:bodyPr>
                <a:normAutofit/>
              </a:bodyPr>
              <a:lstStyle/>
              <a:p>
                <a:r>
                  <a:rPr lang="en-US" altLang="zh-CN" dirty="0">
                    <a:latin typeface="+mn-lt"/>
                    <a:ea typeface="+mn-ea"/>
                    <a:cs typeface="+mn-ea"/>
                  </a:rPr>
                  <a:t>Expected Return and Volatility</a:t>
                </a:r>
              </a:p>
              <a:p>
                <a:pPr lvl="1"/>
                <a:r>
                  <a:rPr lang="en-US" altLang="zh-CN" dirty="0"/>
                  <a:t>If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𝑆</m:t>
                        </m:r>
                      </m:e>
                      <m:sub>
                        <m:r>
                          <a:rPr lang="en-US" altLang="zh-CN" i="1" dirty="0">
                            <a:latin typeface="Cambria Math" panose="02040503050406030204" pitchFamily="18" charset="0"/>
                          </a:rPr>
                          <m:t>𝑇</m:t>
                        </m:r>
                      </m:sub>
                    </m:sSub>
                    <m:r>
                      <a:rPr lang="en-US" altLang="zh-CN" i="1" dirty="0">
                        <a:latin typeface="Cambria Math" panose="02040503050406030204" pitchFamily="18" charset="0"/>
                      </a:rPr>
                      <m:t> </m:t>
                    </m:r>
                  </m:oMath>
                </a14:m>
                <a:r>
                  <a:rPr lang="en-US" altLang="zh-CN" dirty="0"/>
                  <a:t>equals the stock price at future time </a:t>
                </a:r>
                <a14:m>
                  <m:oMath xmlns:m="http://schemas.openxmlformats.org/officeDocument/2006/math">
                    <m:r>
                      <a:rPr lang="en-US" altLang="zh-CN" i="1" dirty="0">
                        <a:latin typeface="Cambria Math" panose="02040503050406030204" pitchFamily="18" charset="0"/>
                      </a:rPr>
                      <m:t>𝑇</m:t>
                    </m:r>
                  </m:oMath>
                </a14:m>
                <a:r>
                  <a:rPr lang="en-US" altLang="zh-CN" dirty="0"/>
                  <a:t>, the expected value of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𝑆</m:t>
                        </m:r>
                      </m:e>
                      <m:sub>
                        <m:r>
                          <a:rPr lang="en-US" altLang="zh-CN" i="1" dirty="0">
                            <a:latin typeface="Cambria Math" panose="02040503050406030204" pitchFamily="18" charset="0"/>
                          </a:rPr>
                          <m:t>𝑇</m:t>
                        </m:r>
                      </m:sub>
                    </m:sSub>
                  </m:oMath>
                </a14:m>
                <a:r>
                  <a:rPr lang="en-US" altLang="zh-CN" dirty="0"/>
                  <a:t> is given as:</a:t>
                </a:r>
              </a:p>
              <a:p>
                <a:pPr lvl="1"/>
                <a:endParaRPr lang="en-US" altLang="zh-CN" dirty="0"/>
              </a:p>
              <a:p>
                <a:pPr lvl="1"/>
                <a:endParaRPr lang="en-US" altLang="zh-CN" dirty="0"/>
              </a:p>
              <a:p>
                <a:pPr lvl="1"/>
                <a:endParaRPr lang="en-US" altLang="zh-CN" dirty="0"/>
              </a:p>
              <a:p>
                <a:pPr lvl="1"/>
                <a:r>
                  <a:rPr lang="en-US" altLang="zh-CN" dirty="0"/>
                  <a:t>The variance of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𝑆</m:t>
                        </m:r>
                      </m:e>
                      <m:sub>
                        <m:r>
                          <a:rPr lang="en-US" altLang="zh-CN" i="1" dirty="0">
                            <a:latin typeface="Cambria Math" panose="02040503050406030204" pitchFamily="18" charset="0"/>
                          </a:rPr>
                          <m:t>𝑇</m:t>
                        </m:r>
                      </m:sub>
                    </m:sSub>
                  </m:oMath>
                </a14:m>
                <a:r>
                  <a:rPr lang="en-US" altLang="zh-CN" dirty="0"/>
                  <a:t> is given by:</a:t>
                </a:r>
              </a:p>
              <a:p>
                <a:endParaRPr lang="zh-CN" altLang="en-US" dirty="0">
                  <a:latin typeface="+mn-lt"/>
                  <a:ea typeface="+mn-ea"/>
                  <a:cs typeface="+mn-ea"/>
                  <a:sym typeface="+mn-lt"/>
                </a:endParaRPr>
              </a:p>
            </p:txBody>
          </p:sp>
        </mc:Choice>
        <mc:Fallback xmlns="">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7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2CBEBD9-F817-42F2-9AED-82AD039FC262}"/>
                  </a:ext>
                </a:extLst>
              </p:cNvPr>
              <p:cNvSpPr/>
              <p:nvPr/>
            </p:nvSpPr>
            <p:spPr>
              <a:xfrm>
                <a:off x="5104745" y="2967335"/>
                <a:ext cx="1982508" cy="461665"/>
              </a:xfrm>
              <a:prstGeom prst="rect">
                <a:avLst/>
              </a:prstGeom>
            </p:spPr>
            <p:txBody>
              <a:bodyPr wrap="square">
                <a:spAutoFit/>
              </a:bodyPr>
              <a:lstStyle/>
              <a:p>
                <a14:m>
                  <m:oMath xmlns:m="http://schemas.openxmlformats.org/officeDocument/2006/math">
                    <m:r>
                      <a:rPr lang="en-US" altLang="zh-CN" sz="2400" b="0" i="1" smtClean="0">
                        <a:latin typeface="Cambria Math" panose="02040503050406030204" pitchFamily="18" charset="0"/>
                      </a:rPr>
                      <m:t>𝐸</m:t>
                    </m:r>
                  </m:oMath>
                </a14:m>
                <a:r>
                  <a:rPr lang="en-US" altLang="zh-CN" sz="2400" dirty="0"/>
                  <a:t> [</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𝑆</m:t>
                        </m:r>
                      </m:e>
                      <m:sub>
                        <m:r>
                          <a:rPr lang="en-US" altLang="zh-CN" sz="2400" i="1" dirty="0">
                            <a:latin typeface="Cambria Math" panose="02040503050406030204" pitchFamily="18" charset="0"/>
                          </a:rPr>
                          <m:t>𝑇</m:t>
                        </m:r>
                      </m:sub>
                    </m:sSub>
                    <m:r>
                      <a:rPr lang="en-US" altLang="zh-CN" sz="2400" b="0" i="1" dirty="0" smtClean="0">
                        <a:latin typeface="Cambria Math" panose="02040503050406030204" pitchFamily="18" charset="0"/>
                      </a:rPr>
                      <m:t>]</m:t>
                    </m:r>
                  </m:oMath>
                </a14:m>
                <a:r>
                  <a:rPr lang="en-US" altLang="zh-CN" sz="2400" dirty="0"/>
                  <a:t>=</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𝑆</m:t>
                        </m:r>
                      </m:e>
                      <m:sub>
                        <m:r>
                          <a:rPr lang="en-US" altLang="zh-CN" sz="2400" b="0" i="1" dirty="0" smtClean="0">
                            <a:latin typeface="Cambria Math" panose="02040503050406030204" pitchFamily="18" charset="0"/>
                          </a:rPr>
                          <m:t>0</m:t>
                        </m:r>
                      </m:sub>
                    </m:sSub>
                    <m:sSup>
                      <m:sSupPr>
                        <m:ctrlPr>
                          <a:rPr lang="en-US" altLang="zh-CN" sz="2400" i="1" dirty="0" smtClean="0">
                            <a:latin typeface="Cambria Math" panose="02040503050406030204" pitchFamily="18" charset="0"/>
                          </a:rPr>
                        </m:ctrlPr>
                      </m:sSupPr>
                      <m:e>
                        <m:r>
                          <a:rPr lang="en-US" altLang="zh-CN" sz="2400" b="0" i="1" dirty="0" smtClean="0">
                            <a:latin typeface="Cambria Math" panose="02040503050406030204" pitchFamily="18" charset="0"/>
                          </a:rPr>
                          <m:t>𝑒</m:t>
                        </m:r>
                      </m:e>
                      <m:sup>
                        <m:r>
                          <a:rPr lang="zh-CN" altLang="en-US" sz="2400" i="1" dirty="0" smtClean="0">
                            <a:latin typeface="Cambria Math" panose="02040503050406030204" pitchFamily="18" charset="0"/>
                          </a:rPr>
                          <m:t>𝜇</m:t>
                        </m:r>
                        <m:r>
                          <a:rPr lang="en-US" altLang="zh-CN" sz="2400" b="0" i="1" dirty="0" smtClean="0">
                            <a:latin typeface="Cambria Math" panose="02040503050406030204" pitchFamily="18" charset="0"/>
                          </a:rPr>
                          <m:t>𝑇</m:t>
                        </m:r>
                      </m:sup>
                    </m:sSup>
                  </m:oMath>
                </a14:m>
                <a:endParaRPr lang="zh-CN" altLang="en-US" sz="2400" dirty="0"/>
              </a:p>
            </p:txBody>
          </p:sp>
        </mc:Choice>
        <mc:Fallback xmlns="">
          <p:sp>
            <p:nvSpPr>
              <p:cNvPr id="4" name="矩形 3">
                <a:extLst>
                  <a:ext uri="{FF2B5EF4-FFF2-40B4-BE49-F238E27FC236}">
                    <a16:creationId xmlns:a16="http://schemas.microsoft.com/office/drawing/2014/main" id="{22CBEBD9-F817-42F2-9AED-82AD039FC262}"/>
                  </a:ext>
                </a:extLst>
              </p:cNvPr>
              <p:cNvSpPr>
                <a:spLocks noRot="1" noChangeAspect="1" noMove="1" noResize="1" noEditPoints="1" noAdjustHandles="1" noChangeArrowheads="1" noChangeShapeType="1" noTextEdit="1"/>
              </p:cNvSpPr>
              <p:nvPr/>
            </p:nvSpPr>
            <p:spPr>
              <a:xfrm>
                <a:off x="5104745" y="2967335"/>
                <a:ext cx="1982508" cy="461665"/>
              </a:xfrm>
              <a:prstGeom prst="rect">
                <a:avLst/>
              </a:prstGeom>
              <a:blipFill>
                <a:blip r:embed="rId3"/>
                <a:stretch>
                  <a:fillRect l="-613"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21DC8BBD-D683-4D10-A3EA-9C949E1810B3}"/>
                  </a:ext>
                </a:extLst>
              </p:cNvPr>
              <p:cNvSpPr/>
              <p:nvPr/>
            </p:nvSpPr>
            <p:spPr>
              <a:xfrm>
                <a:off x="4177299" y="5325391"/>
                <a:ext cx="4375029" cy="51494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𝑉𝐴𝑅</m:t>
                      </m:r>
                      <m:d>
                        <m:dPr>
                          <m:begChr m:val="["/>
                          <m:endChr m:val="]"/>
                          <m:ctrlPr>
                            <a:rPr lang="en-US" altLang="zh-CN" sz="2400" b="0" i="1" dirty="0" smtClean="0">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𝑆</m:t>
                              </m:r>
                            </m:e>
                            <m:sub>
                              <m:r>
                                <a:rPr lang="en-US" altLang="zh-CN" sz="2400" i="1" dirty="0">
                                  <a:latin typeface="Cambria Math" panose="02040503050406030204" pitchFamily="18" charset="0"/>
                                </a:rPr>
                                <m:t>𝑇</m:t>
                              </m:r>
                            </m:sub>
                          </m:sSub>
                        </m:e>
                      </m:d>
                      <m:r>
                        <a:rPr lang="en-US" altLang="zh-CN" sz="2400" b="0" i="1" smtClean="0">
                          <a:latin typeface="Cambria Math" panose="02040503050406030204" pitchFamily="18" charset="0"/>
                        </a:rPr>
                        <m:t>=</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𝑆</m:t>
                          </m:r>
                        </m:e>
                        <m:sub>
                          <m:r>
                            <a:rPr lang="en-US" altLang="zh-CN" sz="2400" b="0" i="1" smtClean="0">
                              <a:latin typeface="Cambria Math" panose="02040503050406030204" pitchFamily="18" charset="0"/>
                            </a:rPr>
                            <m:t>0</m:t>
                          </m:r>
                        </m:sub>
                        <m:sup>
                          <m:r>
                            <a:rPr lang="en-US" altLang="zh-CN" sz="2400" b="0" i="1" smtClean="0">
                              <a:latin typeface="Cambria Math" panose="02040503050406030204" pitchFamily="18" charset="0"/>
                            </a:rPr>
                            <m:t>2</m:t>
                          </m:r>
                        </m:sup>
                      </m:sSubSup>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𝑒</m:t>
                          </m:r>
                        </m:e>
                        <m:sup>
                          <m:r>
                            <a:rPr lang="en-US" altLang="zh-CN" sz="2400" i="1" dirty="0">
                              <a:latin typeface="Cambria Math" panose="02040503050406030204" pitchFamily="18" charset="0"/>
                            </a:rPr>
                            <m:t>2</m:t>
                          </m:r>
                          <m:r>
                            <a:rPr lang="zh-CN" altLang="en-US" sz="2400" i="1" dirty="0">
                              <a:latin typeface="Cambria Math" panose="02040503050406030204" pitchFamily="18" charset="0"/>
                            </a:rPr>
                            <m:t>𝜇</m:t>
                          </m:r>
                          <m:r>
                            <a:rPr lang="en-US" altLang="zh-CN" sz="2400" i="1" dirty="0">
                              <a:latin typeface="Cambria Math" panose="02040503050406030204" pitchFamily="18" charset="0"/>
                            </a:rPr>
                            <m:t>𝑇</m:t>
                          </m:r>
                        </m:sup>
                      </m:sSup>
                      <m:r>
                        <a:rPr lang="en-US" altLang="zh-CN" sz="2400" b="0" i="1" dirty="0" smtClean="0">
                          <a:latin typeface="Cambria Math" panose="02040503050406030204" pitchFamily="18" charset="0"/>
                        </a:rPr>
                        <m:t>(</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𝑒</m:t>
                          </m:r>
                        </m:e>
                        <m:sup>
                          <m:sSup>
                            <m:sSupPr>
                              <m:ctrlPr>
                                <a:rPr lang="en-US" altLang="zh-CN" sz="2400" i="1" dirty="0" smtClean="0">
                                  <a:latin typeface="Cambria Math" panose="02040503050406030204" pitchFamily="18" charset="0"/>
                                </a:rPr>
                              </m:ctrlPr>
                            </m:sSupPr>
                            <m:e>
                              <m:r>
                                <a:rPr lang="zh-CN" altLang="en-US" sz="2400" i="1" dirty="0" smtClean="0">
                                  <a:latin typeface="Cambria Math" panose="02040503050406030204" pitchFamily="18" charset="0"/>
                                </a:rPr>
                                <m:t>𝜎</m:t>
                              </m:r>
                            </m:e>
                            <m:sup>
                              <m:r>
                                <a:rPr lang="en-US" altLang="zh-CN" sz="2400" b="0" i="1" dirty="0" smtClean="0">
                                  <a:latin typeface="Cambria Math" panose="02040503050406030204" pitchFamily="18" charset="0"/>
                                </a:rPr>
                                <m:t>2</m:t>
                              </m:r>
                            </m:sup>
                          </m:sSup>
                          <m:r>
                            <a:rPr lang="en-US" altLang="zh-CN" sz="2400" i="1" dirty="0">
                              <a:latin typeface="Cambria Math" panose="02040503050406030204" pitchFamily="18" charset="0"/>
                            </a:rPr>
                            <m:t>𝑇</m:t>
                          </m:r>
                        </m:sup>
                      </m:sSup>
                      <m:r>
                        <a:rPr lang="en-US" altLang="zh-CN" sz="2400" b="0" i="1" dirty="0" smtClean="0">
                          <a:latin typeface="Cambria Math" panose="02040503050406030204" pitchFamily="18" charset="0"/>
                        </a:rPr>
                        <m:t>−1)</m:t>
                      </m:r>
                    </m:oMath>
                  </m:oMathPara>
                </a14:m>
                <a:endParaRPr lang="zh-CN" altLang="en-US" sz="2400" dirty="0"/>
              </a:p>
            </p:txBody>
          </p:sp>
        </mc:Choice>
        <mc:Fallback xmlns="">
          <p:sp>
            <p:nvSpPr>
              <p:cNvPr id="5" name="矩形 4">
                <a:extLst>
                  <a:ext uri="{FF2B5EF4-FFF2-40B4-BE49-F238E27FC236}">
                    <a16:creationId xmlns:a16="http://schemas.microsoft.com/office/drawing/2014/main" id="{21DC8BBD-D683-4D10-A3EA-9C949E1810B3}"/>
                  </a:ext>
                </a:extLst>
              </p:cNvPr>
              <p:cNvSpPr>
                <a:spLocks noRot="1" noChangeAspect="1" noMove="1" noResize="1" noEditPoints="1" noAdjustHandles="1" noChangeArrowheads="1" noChangeShapeType="1" noTextEdit="1"/>
              </p:cNvSpPr>
              <p:nvPr/>
            </p:nvSpPr>
            <p:spPr>
              <a:xfrm>
                <a:off x="4177299" y="5325391"/>
                <a:ext cx="4375029" cy="514949"/>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69346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Black-Scholes-Merton Model</a:t>
            </a:r>
          </a:p>
        </p:txBody>
      </p:sp>
      <p:sp>
        <p:nvSpPr>
          <p:cNvPr id="3" name="文本占位符 2"/>
          <p:cNvSpPr>
            <a:spLocks noGrp="1"/>
          </p:cNvSpPr>
          <p:nvPr>
            <p:ph type="body" sz="quarter" idx="10"/>
          </p:nvPr>
        </p:nvSpPr>
        <p:spPr/>
        <p:txBody>
          <a:bodyPr>
            <a:normAutofit fontScale="92500"/>
          </a:bodyPr>
          <a:lstStyle/>
          <a:p>
            <a:r>
              <a:rPr lang="en-US" altLang="zh-CN" dirty="0">
                <a:latin typeface="+mn-lt"/>
                <a:ea typeface="+mn-ea"/>
                <a:cs typeface="+mn-ea"/>
                <a:sym typeface="+mn-lt"/>
              </a:rPr>
              <a:t>Risk-Neutral Assumption</a:t>
            </a:r>
          </a:p>
          <a:p>
            <a:pPr lvl="1"/>
            <a:r>
              <a:rPr lang="en-US" altLang="zh-CN" dirty="0">
                <a:latin typeface="+mn-lt"/>
                <a:ea typeface="+mn-ea"/>
                <a:cs typeface="+mn-ea"/>
                <a:sym typeface="+mn-lt"/>
              </a:rPr>
              <a:t>The price of a European call option is given by:</a:t>
            </a:r>
          </a:p>
          <a:p>
            <a:endParaRPr lang="en-US" altLang="zh-CN" dirty="0">
              <a:latin typeface="+mn-lt"/>
              <a:ea typeface="+mn-ea"/>
              <a:cs typeface="+mn-ea"/>
              <a:sym typeface="+mn-lt"/>
            </a:endParaRPr>
          </a:p>
          <a:p>
            <a:endParaRPr lang="en-US" altLang="zh-CN" dirty="0">
              <a:latin typeface="+mn-lt"/>
              <a:ea typeface="+mn-ea"/>
              <a:cs typeface="+mn-ea"/>
              <a:sym typeface="+mn-lt"/>
            </a:endParaRPr>
          </a:p>
          <a:p>
            <a:endParaRPr lang="en-US" altLang="zh-CN" dirty="0">
              <a:latin typeface="+mn-lt"/>
              <a:ea typeface="+mn-ea"/>
              <a:cs typeface="+mn-ea"/>
              <a:sym typeface="+mn-lt"/>
            </a:endParaRPr>
          </a:p>
          <a:p>
            <a:pPr lvl="1"/>
            <a:r>
              <a:rPr lang="en-US" altLang="zh-CN" dirty="0">
                <a:latin typeface="+mn-lt"/>
                <a:ea typeface="+mn-ea"/>
                <a:cs typeface="+mn-ea"/>
                <a:sym typeface="+mn-lt"/>
              </a:rPr>
              <a:t>The price of a European put option is given by:</a:t>
            </a:r>
          </a:p>
          <a:p>
            <a:endParaRPr lang="en-US" altLang="zh-CN" dirty="0">
              <a:latin typeface="+mn-lt"/>
              <a:ea typeface="+mn-ea"/>
              <a:cs typeface="+mn-ea"/>
              <a:sym typeface="+mn-lt"/>
            </a:endParaRPr>
          </a:p>
          <a:p>
            <a:endParaRPr lang="en-US" altLang="zh-CN" dirty="0">
              <a:latin typeface="+mn-lt"/>
              <a:ea typeface="+mn-ea"/>
              <a:cs typeface="+mn-ea"/>
              <a:sym typeface="+mn-lt"/>
            </a:endParaRPr>
          </a:p>
          <a:p>
            <a:endParaRPr lang="en-US" altLang="zh-CN" dirty="0">
              <a:latin typeface="+mn-lt"/>
              <a:ea typeface="+mn-ea"/>
              <a:cs typeface="+mn-ea"/>
              <a:sym typeface="+mn-lt"/>
            </a:endParaRPr>
          </a:p>
          <a:p>
            <a:endParaRPr lang="en-US" altLang="zh-CN" dirty="0">
              <a:latin typeface="+mn-lt"/>
              <a:ea typeface="+mn-ea"/>
              <a:cs typeface="+mn-ea"/>
              <a:sym typeface="+mn-lt"/>
            </a:endParaRPr>
          </a:p>
          <a:p>
            <a:pPr lvl="1"/>
            <a:r>
              <a:rPr lang="en-US" altLang="zh-CN" dirty="0">
                <a:latin typeface="+mn-lt"/>
                <a:ea typeface="+mn-ea"/>
                <a:cs typeface="+mn-ea"/>
                <a:sym typeface="+mn-lt"/>
              </a:rPr>
              <a:t>Where:</a:t>
            </a:r>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A509A61C-5452-46C1-98A0-78FC78C366D6}"/>
                  </a:ext>
                </a:extLst>
              </p:cNvPr>
              <p:cNvSpPr/>
              <p:nvPr/>
            </p:nvSpPr>
            <p:spPr>
              <a:xfrm>
                <a:off x="4594610" y="2153520"/>
                <a:ext cx="3217932" cy="3808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c</m:t>
                      </m:r>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m:rPr>
                              <m:sty m:val="p"/>
                            </m:rPr>
                            <a:rPr lang="zh-CN" altLang="en-US" i="0">
                              <a:latin typeface="Cambria Math" panose="02040503050406030204" pitchFamily="18" charset="0"/>
                            </a:rPr>
                            <m:t>e</m:t>
                          </m:r>
                        </m:e>
                        <m:sup>
                          <m:r>
                            <a:rPr lang="zh-CN" altLang="en-US" i="0">
                              <a:latin typeface="Cambria Math" panose="02040503050406030204" pitchFamily="18" charset="0"/>
                            </a:rPr>
                            <m:t>−</m:t>
                          </m:r>
                          <m:r>
                            <m:rPr>
                              <m:sty m:val="p"/>
                            </m:rPr>
                            <a:rPr lang="zh-CN" altLang="en-US" i="0">
                              <a:latin typeface="Cambria Math" panose="02040503050406030204" pitchFamily="18" charset="0"/>
                            </a:rPr>
                            <m:t>r</m:t>
                          </m:r>
                          <m:r>
                            <a:rPr lang="en-US" altLang="zh-CN" b="0" i="0" smtClean="0">
                              <a:latin typeface="Cambria Math" panose="02040503050406030204" pitchFamily="18" charset="0"/>
                            </a:rPr>
                            <m:t>(</m:t>
                          </m:r>
                          <m:r>
                            <m:rPr>
                              <m:sty m:val="p"/>
                            </m:rPr>
                            <a:rPr lang="zh-CN" altLang="en-US" i="0">
                              <a:latin typeface="Cambria Math" panose="02040503050406030204" pitchFamily="18" charset="0"/>
                            </a:rPr>
                            <m:t>T</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t</m:t>
                          </m:r>
                          <m:r>
                            <a:rPr lang="en-US" altLang="zh-CN" b="0" i="0" smtClean="0">
                              <a:latin typeface="Cambria Math" panose="02040503050406030204" pitchFamily="18" charset="0"/>
                            </a:rPr>
                            <m:t>)</m:t>
                          </m:r>
                        </m:sup>
                      </m:sSup>
                      <m:r>
                        <m:rPr>
                          <m:sty m:val="p"/>
                        </m:rPr>
                        <a:rPr lang="zh-CN" altLang="en-US" i="0">
                          <a:latin typeface="Cambria Math" panose="02040503050406030204" pitchFamily="18" charset="0"/>
                        </a:rPr>
                        <m:t>E</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max</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S</m:t>
                                  </m:r>
                                </m:e>
                                <m:sub>
                                  <m:r>
                                    <m:rPr>
                                      <m:sty m:val="p"/>
                                    </m:rPr>
                                    <a:rPr lang="zh-CN" altLang="en-US" i="0">
                                      <a:latin typeface="Cambria Math" panose="02040503050406030204" pitchFamily="18" charset="0"/>
                                    </a:rPr>
                                    <m:t>T</m:t>
                                  </m:r>
                                </m:sub>
                              </m:sSub>
                              <m:r>
                                <a:rPr lang="zh-CN" altLang="en-US" i="0">
                                  <a:latin typeface="Cambria Math" panose="02040503050406030204" pitchFamily="18" charset="0"/>
                                </a:rPr>
                                <m:t>−</m:t>
                              </m:r>
                              <m:r>
                                <m:rPr>
                                  <m:sty m:val="p"/>
                                </m:rPr>
                                <a:rPr lang="zh-CN" altLang="en-US" i="0">
                                  <a:latin typeface="Cambria Math" panose="02040503050406030204" pitchFamily="18" charset="0"/>
                                </a:rPr>
                                <m:t>K</m:t>
                              </m:r>
                              <m:r>
                                <a:rPr lang="zh-CN" altLang="en-US" i="0">
                                  <a:latin typeface="Cambria Math" panose="02040503050406030204" pitchFamily="18" charset="0"/>
                                </a:rPr>
                                <m:t>,0</m:t>
                              </m:r>
                            </m:e>
                          </m:d>
                        </m:e>
                      </m:d>
                    </m:oMath>
                  </m:oMathPara>
                </a14:m>
                <a:endParaRPr lang="zh-CN" altLang="en-US" dirty="0"/>
              </a:p>
            </p:txBody>
          </p:sp>
        </mc:Choice>
        <mc:Fallback xmlns="">
          <p:sp>
            <p:nvSpPr>
              <p:cNvPr id="4" name="矩形 3">
                <a:extLst>
                  <a:ext uri="{FF2B5EF4-FFF2-40B4-BE49-F238E27FC236}">
                    <a16:creationId xmlns:a16="http://schemas.microsoft.com/office/drawing/2014/main" id="{A509A61C-5452-46C1-98A0-78FC78C366D6}"/>
                  </a:ext>
                </a:extLst>
              </p:cNvPr>
              <p:cNvSpPr>
                <a:spLocks noRot="1" noChangeAspect="1" noMove="1" noResize="1" noEditPoints="1" noAdjustHandles="1" noChangeArrowheads="1" noChangeShapeType="1" noTextEdit="1"/>
              </p:cNvSpPr>
              <p:nvPr/>
            </p:nvSpPr>
            <p:spPr>
              <a:xfrm>
                <a:off x="4594610" y="2153520"/>
                <a:ext cx="3217932" cy="380810"/>
              </a:xfrm>
              <a:prstGeom prst="rect">
                <a:avLst/>
              </a:prstGeom>
              <a:blipFill>
                <a:blip r:embed="rId2"/>
                <a:stretch>
                  <a:fillRect b="-15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447751A0-7A9D-426B-B104-18A9CE4B4D74}"/>
                  </a:ext>
                </a:extLst>
              </p:cNvPr>
              <p:cNvSpPr/>
              <p:nvPr/>
            </p:nvSpPr>
            <p:spPr>
              <a:xfrm>
                <a:off x="4817940" y="2587483"/>
                <a:ext cx="2771271" cy="3742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b="0" i="0">
                          <a:latin typeface="Cambria Math" panose="02040503050406030204" pitchFamily="18" charset="0"/>
                        </a:rPr>
                        <m:t>c</m:t>
                      </m:r>
                      <m:r>
                        <a:rPr lang="zh-CN" altLang="en-US" b="0" i="0">
                          <a:latin typeface="Cambria Math" panose="02040503050406030204" pitchFamily="18" charset="0"/>
                        </a:rPr>
                        <m:t>=</m:t>
                      </m:r>
                      <m:r>
                        <m:rPr>
                          <m:sty m:val="p"/>
                        </m:rPr>
                        <a:rPr lang="zh-CN" altLang="en-US" b="0" i="0">
                          <a:latin typeface="Cambria Math" panose="02040503050406030204" pitchFamily="18" charset="0"/>
                        </a:rPr>
                        <m:t>SN</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m:rPr>
                                  <m:sty m:val="p"/>
                                </m:rPr>
                                <a:rPr lang="zh-CN" altLang="en-US" b="0" i="0">
                                  <a:latin typeface="Cambria Math" panose="02040503050406030204" pitchFamily="18" charset="0"/>
                                </a:rPr>
                                <m:t>d</m:t>
                              </m:r>
                            </m:e>
                            <m:sub>
                              <m:r>
                                <a:rPr lang="zh-CN" altLang="en-US" b="0" i="0">
                                  <a:latin typeface="Cambria Math" panose="02040503050406030204" pitchFamily="18" charset="0"/>
                                </a:rPr>
                                <m:t>1</m:t>
                              </m:r>
                            </m:sub>
                          </m:sSub>
                        </m:e>
                      </m:d>
                      <m:r>
                        <a:rPr lang="zh-CN" altLang="en-US" b="0" i="0">
                          <a:latin typeface="Cambria Math" panose="02040503050406030204" pitchFamily="18" charset="0"/>
                        </a:rPr>
                        <m:t>−</m:t>
                      </m:r>
                      <m:r>
                        <m:rPr>
                          <m:sty m:val="p"/>
                        </m:rPr>
                        <a:rPr lang="zh-CN" altLang="en-US" b="0" i="0">
                          <a:latin typeface="Cambria Math" panose="02040503050406030204" pitchFamily="18" charset="0"/>
                        </a:rPr>
                        <m:t>K</m:t>
                      </m:r>
                      <m:sSup>
                        <m:sSupPr>
                          <m:ctrlPr>
                            <a:rPr lang="zh-CN" altLang="en-US" i="1">
                              <a:latin typeface="Cambria Math" panose="02040503050406030204" pitchFamily="18" charset="0"/>
                            </a:rPr>
                          </m:ctrlPr>
                        </m:sSupPr>
                        <m:e>
                          <m:r>
                            <m:rPr>
                              <m:sty m:val="p"/>
                            </m:rPr>
                            <a:rPr lang="zh-CN" altLang="en-US" b="0" i="0">
                              <a:latin typeface="Cambria Math" panose="02040503050406030204" pitchFamily="18" charset="0"/>
                            </a:rPr>
                            <m:t>e</m:t>
                          </m:r>
                        </m:e>
                        <m:sup>
                          <m:r>
                            <a:rPr lang="zh-CN" altLang="en-US" b="0" i="0">
                              <a:latin typeface="Cambria Math" panose="02040503050406030204" pitchFamily="18" charset="0"/>
                            </a:rPr>
                            <m:t>−</m:t>
                          </m:r>
                          <m:r>
                            <m:rPr>
                              <m:sty m:val="p"/>
                            </m:rPr>
                            <a:rPr lang="zh-CN" altLang="en-US" b="0" i="0">
                              <a:latin typeface="Cambria Math" panose="02040503050406030204" pitchFamily="18" charset="0"/>
                            </a:rPr>
                            <m:t>rT</m:t>
                          </m:r>
                        </m:sup>
                      </m:sSup>
                      <m:r>
                        <m:rPr>
                          <m:sty m:val="p"/>
                        </m:rPr>
                        <a:rPr lang="zh-CN" altLang="en-US" b="0" i="0">
                          <a:latin typeface="Cambria Math" panose="02040503050406030204" pitchFamily="18" charset="0"/>
                        </a:rPr>
                        <m:t>N</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m:rPr>
                                  <m:sty m:val="p"/>
                                </m:rPr>
                                <a:rPr lang="zh-CN" altLang="en-US" b="0" i="0">
                                  <a:latin typeface="Cambria Math" panose="02040503050406030204" pitchFamily="18" charset="0"/>
                                </a:rPr>
                                <m:t>d</m:t>
                              </m:r>
                            </m:e>
                            <m:sub>
                              <m:r>
                                <a:rPr lang="zh-CN" altLang="en-US" b="0" i="0">
                                  <a:latin typeface="Cambria Math" panose="02040503050406030204" pitchFamily="18" charset="0"/>
                                </a:rPr>
                                <m:t>2</m:t>
                              </m:r>
                            </m:sub>
                          </m:sSub>
                        </m:e>
                      </m:d>
                    </m:oMath>
                  </m:oMathPara>
                </a14:m>
                <a:endParaRPr lang="zh-CN" altLang="en-US" dirty="0"/>
              </a:p>
            </p:txBody>
          </p:sp>
        </mc:Choice>
        <mc:Fallback xmlns="">
          <p:sp>
            <p:nvSpPr>
              <p:cNvPr id="5" name="矩形 4">
                <a:extLst>
                  <a:ext uri="{FF2B5EF4-FFF2-40B4-BE49-F238E27FC236}">
                    <a16:creationId xmlns:a16="http://schemas.microsoft.com/office/drawing/2014/main" id="{447751A0-7A9D-426B-B104-18A9CE4B4D74}"/>
                  </a:ext>
                </a:extLst>
              </p:cNvPr>
              <p:cNvSpPr>
                <a:spLocks noRot="1" noChangeAspect="1" noMove="1" noResize="1" noEditPoints="1" noAdjustHandles="1" noChangeArrowheads="1" noChangeShapeType="1" noTextEdit="1"/>
              </p:cNvSpPr>
              <p:nvPr/>
            </p:nvSpPr>
            <p:spPr>
              <a:xfrm>
                <a:off x="4817940" y="2587483"/>
                <a:ext cx="2771271" cy="374270"/>
              </a:xfrm>
              <a:prstGeom prst="rect">
                <a:avLst/>
              </a:prstGeom>
              <a:blipFill>
                <a:blip r:embed="rId3"/>
                <a:stretch>
                  <a:fillRect/>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4EA4D515-4FDD-49EE-91C4-F3E91C4A18A2}"/>
              </a:ext>
            </a:extLst>
          </p:cNvPr>
          <p:cNvSpPr/>
          <p:nvPr/>
        </p:nvSpPr>
        <p:spPr>
          <a:xfrm>
            <a:off x="4817940" y="2619974"/>
            <a:ext cx="2825796" cy="374270"/>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1">
            <a:extLst>
              <a:ext uri="{FF2B5EF4-FFF2-40B4-BE49-F238E27FC236}">
                <a16:creationId xmlns:a16="http://schemas.microsoft.com/office/drawing/2014/main" id="{69178480-B486-412E-888D-80AED6AFE43D}"/>
              </a:ext>
            </a:extLst>
          </p:cNvPr>
          <p:cNvSpPr txBox="1"/>
          <p:nvPr/>
        </p:nvSpPr>
        <p:spPr>
          <a:xfrm>
            <a:off x="7344139" y="5410740"/>
            <a:ext cx="3005429" cy="1267582"/>
          </a:xfrm>
          <a:prstGeom prst="rect">
            <a:avLst/>
          </a:prstGeom>
          <a:noFill/>
          <a:ln w="28575">
            <a:solidFill>
              <a:schemeClr val="tx2">
                <a:lumMod val="60000"/>
                <a:lumOff val="40000"/>
              </a:schemeClr>
            </a:solidFill>
          </a:ln>
        </p:spPr>
        <p:txBody>
          <a:bodyPr wrap="none" lIns="36000" tIns="36000" rIns="36000" bIns="36000" rtlCol="0" anchor="ctr" anchorCtr="0">
            <a:spAutoFit/>
          </a:bodyPr>
          <a:lstStyle/>
          <a:p>
            <a:pPr>
              <a:lnSpc>
                <a:spcPct val="150000"/>
              </a:lnSpc>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N(d</a:t>
            </a:r>
            <a:r>
              <a:rPr lang="en-US" altLang="zh-CN" sz="18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1</a:t>
            </a: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 delta of call</a:t>
            </a:r>
          </a:p>
          <a:p>
            <a:pPr>
              <a:lnSpc>
                <a:spcPct val="150000"/>
              </a:lnSpc>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N(d</a:t>
            </a:r>
            <a:r>
              <a:rPr lang="en-US" altLang="zh-CN" sz="18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2</a:t>
            </a: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 prob. of call exercise</a:t>
            </a:r>
          </a:p>
          <a:p>
            <a:pPr>
              <a:lnSpc>
                <a:spcPct val="150000"/>
              </a:lnSpc>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1-N(d</a:t>
            </a:r>
            <a:r>
              <a:rPr lang="en-US" altLang="zh-CN" sz="18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2</a:t>
            </a: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 prob. of put exercise</a:t>
            </a:r>
            <a:endParaRPr lang="zh-CN" altLang="en-US" sz="1800" b="0" dirty="0">
              <a:solidFill>
                <a:srgbClr val="2C3E50"/>
              </a:solidFill>
              <a:latin typeface="Segoe UI" panose="020B0502040204020203" pitchFamily="34" charset="0"/>
              <a:cs typeface="Segoe UI" panose="020B0502040204020203" pitchFamily="34"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EDEC8143-F04B-4026-A97E-5F2C155F3298}"/>
                  </a:ext>
                </a:extLst>
              </p:cNvPr>
              <p:cNvSpPr/>
              <p:nvPr/>
            </p:nvSpPr>
            <p:spPr>
              <a:xfrm>
                <a:off x="4812806" y="4514312"/>
                <a:ext cx="3144772" cy="3742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i="0">
                          <a:latin typeface="Cambria Math" panose="02040503050406030204" pitchFamily="18" charset="0"/>
                        </a:rPr>
                        <m:t>p</m:t>
                      </m:r>
                      <m:r>
                        <a:rPr lang="zh-CN" altLang="en-US" i="0">
                          <a:latin typeface="Cambria Math" panose="02040503050406030204" pitchFamily="18" charset="0"/>
                        </a:rPr>
                        <m:t>=</m:t>
                      </m:r>
                      <m:r>
                        <m:rPr>
                          <m:sty m:val="p"/>
                        </m:rPr>
                        <a:rPr lang="zh-CN" altLang="en-US" i="0">
                          <a:latin typeface="Cambria Math" panose="02040503050406030204" pitchFamily="18" charset="0"/>
                        </a:rPr>
                        <m:t>K</m:t>
                      </m:r>
                      <m:sSup>
                        <m:sSupPr>
                          <m:ctrlPr>
                            <a:rPr lang="zh-CN" altLang="en-US" i="1">
                              <a:latin typeface="Cambria Math" panose="02040503050406030204" pitchFamily="18" charset="0"/>
                            </a:rPr>
                          </m:ctrlPr>
                        </m:sSupPr>
                        <m:e>
                          <m:r>
                            <m:rPr>
                              <m:sty m:val="p"/>
                            </m:rPr>
                            <a:rPr lang="zh-CN" altLang="en-US" i="0">
                              <a:latin typeface="Cambria Math" panose="02040503050406030204" pitchFamily="18" charset="0"/>
                            </a:rPr>
                            <m:t>e</m:t>
                          </m:r>
                        </m:e>
                        <m:sup>
                          <m:r>
                            <a:rPr lang="zh-CN" altLang="en-US" i="0">
                              <a:latin typeface="Cambria Math" panose="02040503050406030204" pitchFamily="18" charset="0"/>
                            </a:rPr>
                            <m:t>−</m:t>
                          </m:r>
                          <m:r>
                            <m:rPr>
                              <m:sty m:val="p"/>
                            </m:rPr>
                            <a:rPr lang="zh-CN" altLang="en-US" i="0">
                              <a:latin typeface="Cambria Math" panose="02040503050406030204" pitchFamily="18" charset="0"/>
                            </a:rPr>
                            <m:t>rT</m:t>
                          </m:r>
                        </m:sup>
                      </m:sSup>
                      <m:r>
                        <m:rPr>
                          <m:sty m:val="p"/>
                        </m:rPr>
                        <a:rPr lang="zh-CN" altLang="en-US" i="0">
                          <a:latin typeface="Cambria Math" panose="02040503050406030204" pitchFamily="18" charset="0"/>
                        </a:rPr>
                        <m:t>N</m:t>
                      </m:r>
                      <m:d>
                        <m:dPr>
                          <m:ctrlPr>
                            <a:rPr lang="zh-CN" altLang="en-US" i="1">
                              <a:latin typeface="Cambria Math" panose="02040503050406030204" pitchFamily="18" charset="0"/>
                            </a:rPr>
                          </m:ctrlPr>
                        </m:dPr>
                        <m:e>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d</m:t>
                              </m:r>
                            </m:e>
                            <m:sub>
                              <m:r>
                                <a:rPr lang="zh-CN" altLang="en-US" i="0">
                                  <a:latin typeface="Cambria Math" panose="02040503050406030204" pitchFamily="18" charset="0"/>
                                </a:rPr>
                                <m:t>2</m:t>
                              </m:r>
                            </m:sub>
                          </m:sSub>
                        </m:e>
                      </m:d>
                      <m:r>
                        <a:rPr lang="zh-CN" altLang="en-US" i="0">
                          <a:latin typeface="Cambria Math" panose="02040503050406030204" pitchFamily="18" charset="0"/>
                        </a:rPr>
                        <m:t>−</m:t>
                      </m:r>
                      <m:r>
                        <m:rPr>
                          <m:sty m:val="p"/>
                        </m:rPr>
                        <a:rPr lang="zh-CN" altLang="en-US" i="0">
                          <a:latin typeface="Cambria Math" panose="02040503050406030204" pitchFamily="18" charset="0"/>
                        </a:rPr>
                        <m:t>SN</m:t>
                      </m:r>
                      <m:d>
                        <m:dPr>
                          <m:ctrlPr>
                            <a:rPr lang="zh-CN" altLang="en-US" i="1">
                              <a:latin typeface="Cambria Math" panose="02040503050406030204" pitchFamily="18" charset="0"/>
                            </a:rPr>
                          </m:ctrlPr>
                        </m:dPr>
                        <m:e>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d</m:t>
                              </m:r>
                            </m:e>
                            <m:sub>
                              <m:r>
                                <a:rPr lang="zh-CN" altLang="en-US" i="0">
                                  <a:latin typeface="Cambria Math" panose="02040503050406030204" pitchFamily="18" charset="0"/>
                                </a:rPr>
                                <m:t>1</m:t>
                              </m:r>
                            </m:sub>
                          </m:sSub>
                        </m:e>
                      </m:d>
                    </m:oMath>
                  </m:oMathPara>
                </a14:m>
                <a:endParaRPr lang="zh-CN" altLang="en-US" dirty="0"/>
              </a:p>
            </p:txBody>
          </p:sp>
        </mc:Choice>
        <mc:Fallback xmlns="">
          <p:sp>
            <p:nvSpPr>
              <p:cNvPr id="8" name="矩形 7">
                <a:extLst>
                  <a:ext uri="{FF2B5EF4-FFF2-40B4-BE49-F238E27FC236}">
                    <a16:creationId xmlns:a16="http://schemas.microsoft.com/office/drawing/2014/main" id="{EDEC8143-F04B-4026-A97E-5F2C155F3298}"/>
                  </a:ext>
                </a:extLst>
              </p:cNvPr>
              <p:cNvSpPr>
                <a:spLocks noRot="1" noChangeAspect="1" noMove="1" noResize="1" noEditPoints="1" noAdjustHandles="1" noChangeArrowheads="1" noChangeShapeType="1" noTextEdit="1"/>
              </p:cNvSpPr>
              <p:nvPr/>
            </p:nvSpPr>
            <p:spPr>
              <a:xfrm>
                <a:off x="4812806" y="4514312"/>
                <a:ext cx="3144772" cy="374270"/>
              </a:xfrm>
              <a:prstGeom prst="rect">
                <a:avLst/>
              </a:prstGeom>
              <a:blipFill>
                <a:blip r:embed="rId4"/>
                <a:stretch>
                  <a:fillRect b="-8197"/>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F0B0AF60-8780-434C-B552-02EF6D20B244}"/>
              </a:ext>
            </a:extLst>
          </p:cNvPr>
          <p:cNvSpPr/>
          <p:nvPr/>
        </p:nvSpPr>
        <p:spPr>
          <a:xfrm>
            <a:off x="4817940" y="4514312"/>
            <a:ext cx="3139638" cy="374270"/>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394475C3-DD0E-47B0-8909-4BFC868F517D}"/>
                  </a:ext>
                </a:extLst>
              </p:cNvPr>
              <p:cNvSpPr/>
              <p:nvPr/>
            </p:nvSpPr>
            <p:spPr>
              <a:xfrm>
                <a:off x="3940860" y="5696230"/>
                <a:ext cx="2982291" cy="7157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m:rPr>
                              <m:sty m:val="p"/>
                            </m:rPr>
                            <a:rPr lang="zh-CN" altLang="en-US" i="0">
                              <a:latin typeface="Cambria Math" panose="02040503050406030204" pitchFamily="18" charset="0"/>
                            </a:rPr>
                            <m:t>d</m:t>
                          </m:r>
                        </m:e>
                        <m:sub>
                          <m:r>
                            <a:rPr lang="zh-CN" altLang="en-US" i="0">
                              <a:latin typeface="Cambria Math" panose="02040503050406030204" pitchFamily="18" charset="0"/>
                            </a:rPr>
                            <m:t>1,2</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r>
                            <m:rPr>
                              <m:sty m:val="p"/>
                            </m:rPr>
                            <a:rPr lang="zh-CN" altLang="en-US" i="0">
                              <a:latin typeface="Cambria Math" panose="02040503050406030204" pitchFamily="18" charset="0"/>
                            </a:rPr>
                            <m:t>ln</m:t>
                          </m:r>
                          <m:d>
                            <m:dPr>
                              <m:ctrlPr>
                                <a:rPr lang="zh-CN" altLang="en-US" i="1">
                                  <a:latin typeface="Cambria Math" panose="02040503050406030204" pitchFamily="18" charset="0"/>
                                </a:rPr>
                              </m:ctrlPr>
                            </m:dPr>
                            <m:e>
                              <m:f>
                                <m:fPr>
                                  <m:type m:val="lin"/>
                                  <m:ctrlPr>
                                    <a:rPr lang="zh-CN" altLang="en-US" i="1">
                                      <a:latin typeface="Cambria Math" panose="02040503050406030204" pitchFamily="18" charset="0"/>
                                    </a:rPr>
                                  </m:ctrlPr>
                                </m:fPr>
                                <m:num>
                                  <m:r>
                                    <m:rPr>
                                      <m:sty m:val="p"/>
                                    </m:rPr>
                                    <a:rPr lang="zh-CN" altLang="en-US" i="0">
                                      <a:latin typeface="Cambria Math" panose="02040503050406030204" pitchFamily="18" charset="0"/>
                                    </a:rPr>
                                    <m:t>S</m:t>
                                  </m:r>
                                </m:num>
                                <m:den>
                                  <m:r>
                                    <m:rPr>
                                      <m:sty m:val="p"/>
                                    </m:rPr>
                                    <a:rPr lang="zh-CN" altLang="en-US" i="0">
                                      <a:latin typeface="Cambria Math" panose="02040503050406030204" pitchFamily="18" charset="0"/>
                                    </a:rPr>
                                    <m:t>K</m:t>
                                  </m:r>
                                  <m:sSup>
                                    <m:sSupPr>
                                      <m:ctrlPr>
                                        <a:rPr lang="zh-CN" altLang="en-US" i="1">
                                          <a:latin typeface="Cambria Math" panose="02040503050406030204" pitchFamily="18" charset="0"/>
                                        </a:rPr>
                                      </m:ctrlPr>
                                    </m:sSupPr>
                                    <m:e>
                                      <m:r>
                                        <m:rPr>
                                          <m:sty m:val="p"/>
                                        </m:rPr>
                                        <a:rPr lang="zh-CN" altLang="en-US" i="0">
                                          <a:latin typeface="Cambria Math" panose="02040503050406030204" pitchFamily="18" charset="0"/>
                                        </a:rPr>
                                        <m:t>e</m:t>
                                      </m:r>
                                    </m:e>
                                    <m:sup>
                                      <m:r>
                                        <a:rPr lang="zh-CN" altLang="en-US" i="0">
                                          <a:latin typeface="Cambria Math" panose="02040503050406030204" pitchFamily="18" charset="0"/>
                                        </a:rPr>
                                        <m:t>−</m:t>
                                      </m:r>
                                      <m:r>
                                        <m:rPr>
                                          <m:sty m:val="p"/>
                                        </m:rPr>
                                        <a:rPr lang="zh-CN" altLang="en-US" i="0">
                                          <a:latin typeface="Cambria Math" panose="02040503050406030204" pitchFamily="18" charset="0"/>
                                        </a:rPr>
                                        <m:t>rT</m:t>
                                      </m:r>
                                    </m:sup>
                                  </m:sSup>
                                </m:den>
                              </m:f>
                            </m:e>
                          </m:d>
                        </m:num>
                        <m:den>
                          <m:r>
                            <m:rPr>
                              <m:sty m:val="p"/>
                            </m:rPr>
                            <a:rPr lang="zh-CN" altLang="en-US" i="0">
                              <a:latin typeface="Cambria Math" panose="02040503050406030204" pitchFamily="18" charset="0"/>
                            </a:rPr>
                            <m:t>σ</m:t>
                          </m:r>
                          <m:rad>
                            <m:radPr>
                              <m:degHide m:val="on"/>
                              <m:ctrlPr>
                                <a:rPr lang="zh-CN" altLang="en-US" i="1">
                                  <a:latin typeface="Cambria Math" panose="02040503050406030204" pitchFamily="18" charset="0"/>
                                </a:rPr>
                              </m:ctrlPr>
                            </m:radPr>
                            <m:deg/>
                            <m:e>
                              <m:r>
                                <m:rPr>
                                  <m:sty m:val="p"/>
                                </m:rPr>
                                <a:rPr lang="zh-CN" altLang="en-US" i="0">
                                  <a:latin typeface="Cambria Math" panose="02040503050406030204" pitchFamily="18" charset="0"/>
                                </a:rPr>
                                <m:t>T</m:t>
                              </m:r>
                            </m:e>
                          </m:rad>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den>
                      </m:f>
                      <m:r>
                        <m:rPr>
                          <m:sty m:val="p"/>
                        </m:rPr>
                        <a:rPr lang="zh-CN" altLang="en-US" i="0">
                          <a:latin typeface="Cambria Math" panose="02040503050406030204" pitchFamily="18" charset="0"/>
                        </a:rPr>
                        <m:t>σ</m:t>
                      </m:r>
                      <m:rad>
                        <m:radPr>
                          <m:degHide m:val="on"/>
                          <m:ctrlPr>
                            <a:rPr lang="zh-CN" altLang="en-US" i="1">
                              <a:latin typeface="Cambria Math" panose="02040503050406030204" pitchFamily="18" charset="0"/>
                            </a:rPr>
                          </m:ctrlPr>
                        </m:radPr>
                        <m:deg/>
                        <m:e>
                          <m:r>
                            <m:rPr>
                              <m:sty m:val="p"/>
                            </m:rPr>
                            <a:rPr lang="zh-CN" altLang="en-US" i="0">
                              <a:latin typeface="Cambria Math" panose="02040503050406030204" pitchFamily="18" charset="0"/>
                            </a:rPr>
                            <m:t>T</m:t>
                          </m:r>
                        </m:e>
                      </m:rad>
                    </m:oMath>
                  </m:oMathPara>
                </a14:m>
                <a:endParaRPr lang="zh-CN" altLang="en-US" dirty="0"/>
              </a:p>
            </p:txBody>
          </p:sp>
        </mc:Choice>
        <mc:Fallback xmlns="">
          <p:sp>
            <p:nvSpPr>
              <p:cNvPr id="10" name="矩形 9">
                <a:extLst>
                  <a:ext uri="{FF2B5EF4-FFF2-40B4-BE49-F238E27FC236}">
                    <a16:creationId xmlns:a16="http://schemas.microsoft.com/office/drawing/2014/main" id="{394475C3-DD0E-47B0-8909-4BFC868F517D}"/>
                  </a:ext>
                </a:extLst>
              </p:cNvPr>
              <p:cNvSpPr>
                <a:spLocks noRot="1" noChangeAspect="1" noMove="1" noResize="1" noEditPoints="1" noAdjustHandles="1" noChangeArrowheads="1" noChangeShapeType="1" noTextEdit="1"/>
              </p:cNvSpPr>
              <p:nvPr/>
            </p:nvSpPr>
            <p:spPr>
              <a:xfrm>
                <a:off x="3940860" y="5696230"/>
                <a:ext cx="2982291" cy="715773"/>
              </a:xfrm>
              <a:prstGeom prst="rect">
                <a:avLst/>
              </a:prstGeom>
              <a:blipFill>
                <a:blip r:embed="rId5"/>
                <a:stretch>
                  <a:fillRect/>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03EFEE60-D16E-4DE0-ABEE-AB006A8F0743}"/>
              </a:ext>
            </a:extLst>
          </p:cNvPr>
          <p:cNvSpPr/>
          <p:nvPr/>
        </p:nvSpPr>
        <p:spPr>
          <a:xfrm>
            <a:off x="4010454" y="5696230"/>
            <a:ext cx="2882734" cy="696601"/>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87380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Black-Scholes-Merton Model</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Example</a:t>
            </a:r>
          </a:p>
          <a:p>
            <a:pPr lvl="1"/>
            <a:r>
              <a:rPr lang="en-US" altLang="zh-CN" dirty="0">
                <a:latin typeface="+mn-lt"/>
                <a:ea typeface="+mn-ea"/>
                <a:cs typeface="+mn-ea"/>
                <a:sym typeface="+mn-lt"/>
              </a:rPr>
              <a:t>Stock price is $10, Strike is $9.</a:t>
            </a:r>
          </a:p>
          <a:p>
            <a:pPr lvl="1"/>
            <a:r>
              <a:rPr lang="en-US" altLang="zh-CN" dirty="0">
                <a:latin typeface="+mn-lt"/>
                <a:ea typeface="+mn-ea"/>
                <a:cs typeface="+mn-ea"/>
                <a:sym typeface="+mn-lt"/>
              </a:rPr>
              <a:t>Volatility is 20%.</a:t>
            </a:r>
          </a:p>
          <a:p>
            <a:pPr lvl="1"/>
            <a:r>
              <a:rPr lang="en-US" altLang="zh-CN" dirty="0">
                <a:latin typeface="+mn-lt"/>
                <a:ea typeface="+mn-ea"/>
                <a:cs typeface="+mn-ea"/>
                <a:sym typeface="+mn-lt"/>
              </a:rPr>
              <a:t>Term is six months.</a:t>
            </a:r>
          </a:p>
          <a:p>
            <a:pPr lvl="1"/>
            <a:r>
              <a:rPr lang="en-US" altLang="zh-CN" dirty="0">
                <a:latin typeface="+mn-lt"/>
                <a:ea typeface="+mn-ea"/>
                <a:cs typeface="+mn-ea"/>
                <a:sym typeface="+mn-lt"/>
              </a:rPr>
              <a:t>Riskless rate is 5%.</a:t>
            </a:r>
          </a:p>
          <a:p>
            <a:endParaRPr lang="zh-CN" altLang="en-US" dirty="0">
              <a:latin typeface="+mn-lt"/>
              <a:ea typeface="+mn-ea"/>
              <a:cs typeface="+mn-ea"/>
              <a:sym typeface="+mn-lt"/>
            </a:endParaRPr>
          </a:p>
        </p:txBody>
      </p:sp>
      <p:graphicFrame>
        <p:nvGraphicFramePr>
          <p:cNvPr id="4" name="对象 3">
            <a:extLst>
              <a:ext uri="{FF2B5EF4-FFF2-40B4-BE49-F238E27FC236}">
                <a16:creationId xmlns:a16="http://schemas.microsoft.com/office/drawing/2014/main" id="{A86AF5AE-BE83-42D3-A68D-C328E12CE70C}"/>
              </a:ext>
            </a:extLst>
          </p:cNvPr>
          <p:cNvGraphicFramePr>
            <a:graphicFrameLocks/>
          </p:cNvGraphicFramePr>
          <p:nvPr>
            <p:extLst>
              <p:ext uri="{D42A27DB-BD31-4B8C-83A1-F6EECF244321}">
                <p14:modId xmlns:p14="http://schemas.microsoft.com/office/powerpoint/2010/main" val="1238042799"/>
              </p:ext>
            </p:extLst>
          </p:nvPr>
        </p:nvGraphicFramePr>
        <p:xfrm>
          <a:off x="3563631" y="4222145"/>
          <a:ext cx="5064736" cy="1633532"/>
        </p:xfrm>
        <a:graphic>
          <a:graphicData uri="http://schemas.openxmlformats.org/presentationml/2006/ole">
            <mc:AlternateContent xmlns:mc="http://schemas.openxmlformats.org/markup-compatibility/2006">
              <mc:Choice xmlns:v="urn:schemas-microsoft-com:vml" Requires="v">
                <p:oleObj spid="_x0000_s5126" name="Equation" r:id="rId3" imgW="1930320" imgH="609480" progId="Equation.DSMT4">
                  <p:embed/>
                </p:oleObj>
              </mc:Choice>
              <mc:Fallback>
                <p:oleObj name="Equation" r:id="rId3" imgW="1930320" imgH="609480" progId="Equation.DSMT4">
                  <p:embed/>
                  <p:pic>
                    <p:nvPicPr>
                      <p:cNvPr id="4" name="对象 3">
                        <a:extLst>
                          <a:ext uri="{FF2B5EF4-FFF2-40B4-BE49-F238E27FC236}">
                            <a16:creationId xmlns:a16="http://schemas.microsoft.com/office/drawing/2014/main" id="{1C994C58-2B1E-4F45-80E0-A29714CD7F2F}"/>
                          </a:ext>
                        </a:extLst>
                      </p:cNvPr>
                      <p:cNvPicPr>
                        <a:picLocks noChangeAspect="1" noChangeArrowheads="1"/>
                      </p:cNvPicPr>
                      <p:nvPr/>
                    </p:nvPicPr>
                    <p:blipFill>
                      <a:blip r:embed="rId4"/>
                      <a:srcRect/>
                      <a:stretch>
                        <a:fillRect/>
                      </a:stretch>
                    </p:blipFill>
                    <p:spPr bwMode="auto">
                      <a:xfrm>
                        <a:off x="3563631" y="4222145"/>
                        <a:ext cx="5064736" cy="1633532"/>
                      </a:xfrm>
                      <a:prstGeom prst="rect">
                        <a:avLst/>
                      </a:prstGeom>
                      <a:noFill/>
                      <a:extLst/>
                    </p:spPr>
                  </p:pic>
                </p:oleObj>
              </mc:Fallback>
            </mc:AlternateContent>
          </a:graphicData>
        </a:graphic>
      </p:graphicFrame>
    </p:spTree>
    <p:extLst>
      <p:ext uri="{BB962C8B-B14F-4D97-AF65-F5344CB8AC3E}">
        <p14:creationId xmlns:p14="http://schemas.microsoft.com/office/powerpoint/2010/main" val="3780654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Black-Scholes-Merton Model</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Effect of Dividend on BSM Model</a:t>
            </a:r>
          </a:p>
          <a:p>
            <a:pPr lvl="1"/>
            <a:r>
              <a:rPr lang="en-US" altLang="zh-CN" dirty="0">
                <a:latin typeface="+mn-lt"/>
                <a:ea typeface="+mn-ea"/>
                <a:cs typeface="+mn-ea"/>
                <a:sym typeface="+mn-lt"/>
              </a:rPr>
              <a:t>        Call Option		                     Put Option</a:t>
            </a:r>
          </a:p>
          <a:p>
            <a:endParaRPr lang="en-US" altLang="zh-CN" dirty="0">
              <a:latin typeface="+mn-lt"/>
              <a:ea typeface="+mn-ea"/>
              <a:cs typeface="+mn-ea"/>
              <a:sym typeface="+mn-lt"/>
            </a:endParaRPr>
          </a:p>
          <a:p>
            <a:endParaRPr lang="en-US" altLang="zh-CN" dirty="0">
              <a:latin typeface="+mn-lt"/>
              <a:ea typeface="+mn-ea"/>
              <a:cs typeface="+mn-ea"/>
              <a:sym typeface="+mn-lt"/>
            </a:endParaRPr>
          </a:p>
          <a:p>
            <a:endParaRPr lang="en-US" altLang="zh-CN" dirty="0">
              <a:latin typeface="+mn-lt"/>
              <a:ea typeface="+mn-ea"/>
              <a:cs typeface="+mn-ea"/>
              <a:sym typeface="+mn-lt"/>
            </a:endParaRPr>
          </a:p>
          <a:p>
            <a:endParaRPr lang="en-US" altLang="zh-CN" dirty="0">
              <a:latin typeface="+mn-lt"/>
              <a:ea typeface="+mn-ea"/>
              <a:cs typeface="+mn-ea"/>
              <a:sym typeface="+mn-lt"/>
            </a:endParaRPr>
          </a:p>
          <a:p>
            <a:r>
              <a:rPr lang="en-US" altLang="zh-CN" dirty="0">
                <a:latin typeface="+mn-lt"/>
                <a:ea typeface="+mn-ea"/>
                <a:cs typeface="+mn-ea"/>
                <a:sym typeface="+mn-lt"/>
              </a:rPr>
              <a:t>Black’s Approximation</a:t>
            </a:r>
          </a:p>
          <a:p>
            <a:pPr lvl="1"/>
            <a:r>
              <a:rPr lang="en-US" altLang="zh-CN" dirty="0">
                <a:latin typeface="+mn-lt"/>
                <a:ea typeface="+mn-ea"/>
                <a:cs typeface="+mn-ea"/>
                <a:sym typeface="+mn-lt"/>
              </a:rPr>
              <a:t>Using the procedure for European options on </a:t>
            </a:r>
            <a:r>
              <a:rPr lang="zh-CN" altLang="en-US" dirty="0">
                <a:latin typeface="+mn-lt"/>
                <a:ea typeface="+mn-ea"/>
                <a:cs typeface="+mn-ea"/>
                <a:sym typeface="+mn-lt"/>
              </a:rPr>
              <a:t>𝑇 </a:t>
            </a:r>
            <a:r>
              <a:rPr lang="en-US" altLang="zh-CN" dirty="0">
                <a:latin typeface="+mn-lt"/>
                <a:ea typeface="+mn-ea"/>
                <a:cs typeface="+mn-ea"/>
                <a:sym typeface="+mn-lt"/>
              </a:rPr>
              <a:t>and </a:t>
            </a:r>
            <a:r>
              <a:rPr lang="zh-CN" altLang="en-US" dirty="0">
                <a:latin typeface="+mn-lt"/>
                <a:ea typeface="+mn-ea"/>
                <a:cs typeface="+mn-ea"/>
                <a:sym typeface="+mn-lt"/>
              </a:rPr>
              <a:t>𝑡 </a:t>
            </a:r>
            <a:r>
              <a:rPr lang="en-US" altLang="zh-CN" dirty="0">
                <a:latin typeface="+mn-lt"/>
                <a:ea typeface="+mn-ea"/>
                <a:cs typeface="+mn-ea"/>
                <a:sym typeface="+mn-lt"/>
              </a:rPr>
              <a:t>and then taking the larger of the two as the price of American options.</a:t>
            </a:r>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18F2DB31-3ACC-439B-8B6E-28DCD5211B13}"/>
                  </a:ext>
                </a:extLst>
              </p:cNvPr>
              <p:cNvSpPr/>
              <p:nvPr/>
            </p:nvSpPr>
            <p:spPr>
              <a:xfrm>
                <a:off x="1371038" y="2604676"/>
                <a:ext cx="3353930" cy="10388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i="1">
                              <a:latin typeface="Cambria Math" panose="02040503050406030204" pitchFamily="18" charset="0"/>
                            </a:rPr>
                          </m:ctrlPr>
                        </m:mPr>
                        <m:mr>
                          <m:e>
                            <m:r>
                              <m:rPr>
                                <m:sty m:val="p"/>
                              </m:rPr>
                              <a:rPr lang="zh-CN" altLang="en-US" i="0">
                                <a:latin typeface="Cambria Math" panose="02040503050406030204" pitchFamily="18" charset="0"/>
                              </a:rPr>
                              <m:t>c</m:t>
                            </m:r>
                            <m:r>
                              <a:rPr lang="zh-CN" altLang="en-US" i="0">
                                <a:latin typeface="Cambria Math" panose="02040503050406030204" pitchFamily="18" charset="0"/>
                              </a:rPr>
                              <m:t>=</m:t>
                            </m:r>
                            <m:r>
                              <m:rPr>
                                <m:sty m:val="p"/>
                              </m:rPr>
                              <a:rPr lang="zh-CN" altLang="en-US" i="0">
                                <a:latin typeface="Cambria Math" panose="02040503050406030204" pitchFamily="18" charset="0"/>
                              </a:rPr>
                              <m:t>S</m:t>
                            </m:r>
                            <m:sSup>
                              <m:sSupPr>
                                <m:ctrlPr>
                                  <a:rPr lang="zh-CN" altLang="en-US" i="1">
                                    <a:latin typeface="Cambria Math" panose="02040503050406030204" pitchFamily="18" charset="0"/>
                                  </a:rPr>
                                </m:ctrlPr>
                              </m:sSupPr>
                              <m:e>
                                <m:r>
                                  <m:rPr>
                                    <m:sty m:val="p"/>
                                  </m:rPr>
                                  <a:rPr lang="zh-CN" altLang="en-US" i="0">
                                    <a:latin typeface="Cambria Math" panose="02040503050406030204" pitchFamily="18" charset="0"/>
                                  </a:rPr>
                                  <m:t>e</m:t>
                                </m:r>
                              </m:e>
                              <m:sup>
                                <m:r>
                                  <a:rPr lang="zh-CN" altLang="en-US" i="0">
                                    <a:latin typeface="Cambria Math" panose="02040503050406030204" pitchFamily="18" charset="0"/>
                                  </a:rPr>
                                  <m:t>−</m:t>
                                </m:r>
                                <m:r>
                                  <m:rPr>
                                    <m:sty m:val="p"/>
                                  </m:rPr>
                                  <a:rPr lang="zh-CN" altLang="en-US" i="0">
                                    <a:latin typeface="Cambria Math" panose="02040503050406030204" pitchFamily="18" charset="0"/>
                                  </a:rPr>
                                  <m:t>qT</m:t>
                                </m:r>
                              </m:sup>
                            </m:sSup>
                            <m:r>
                              <m:rPr>
                                <m:sty m:val="p"/>
                              </m:rPr>
                              <a:rPr lang="zh-CN" altLang="en-US" i="0">
                                <a:latin typeface="Cambria Math" panose="02040503050406030204" pitchFamily="18" charset="0"/>
                              </a:rPr>
                              <m:t>N</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d</m:t>
                                    </m:r>
                                  </m:e>
                                  <m:sub>
                                    <m:r>
                                      <a:rPr lang="zh-CN" altLang="en-US" i="0">
                                        <a:latin typeface="Cambria Math" panose="02040503050406030204" pitchFamily="18" charset="0"/>
                                      </a:rPr>
                                      <m:t>1</m:t>
                                    </m:r>
                                  </m:sub>
                                </m:sSub>
                              </m:e>
                            </m:d>
                            <m:r>
                              <a:rPr lang="zh-CN" altLang="en-US" i="0">
                                <a:latin typeface="Cambria Math" panose="02040503050406030204" pitchFamily="18" charset="0"/>
                              </a:rPr>
                              <m:t>−</m:t>
                            </m:r>
                            <m:r>
                              <m:rPr>
                                <m:sty m:val="p"/>
                              </m:rPr>
                              <a:rPr lang="zh-CN" altLang="en-US" i="0">
                                <a:latin typeface="Cambria Math" panose="02040503050406030204" pitchFamily="18" charset="0"/>
                              </a:rPr>
                              <m:t>K</m:t>
                            </m:r>
                            <m:sSup>
                              <m:sSupPr>
                                <m:ctrlPr>
                                  <a:rPr lang="zh-CN" altLang="en-US" i="1">
                                    <a:latin typeface="Cambria Math" panose="02040503050406030204" pitchFamily="18" charset="0"/>
                                  </a:rPr>
                                </m:ctrlPr>
                              </m:sSupPr>
                              <m:e>
                                <m:r>
                                  <m:rPr>
                                    <m:sty m:val="p"/>
                                  </m:rPr>
                                  <a:rPr lang="zh-CN" altLang="en-US" i="0">
                                    <a:latin typeface="Cambria Math" panose="02040503050406030204" pitchFamily="18" charset="0"/>
                                  </a:rPr>
                                  <m:t>e</m:t>
                                </m:r>
                              </m:e>
                              <m:sup>
                                <m:r>
                                  <a:rPr lang="zh-CN" altLang="en-US" i="0">
                                    <a:latin typeface="Cambria Math" panose="02040503050406030204" pitchFamily="18" charset="0"/>
                                  </a:rPr>
                                  <m:t>−</m:t>
                                </m:r>
                                <m:r>
                                  <m:rPr>
                                    <m:sty m:val="p"/>
                                  </m:rPr>
                                  <a:rPr lang="zh-CN" altLang="en-US" i="0">
                                    <a:latin typeface="Cambria Math" panose="02040503050406030204" pitchFamily="18" charset="0"/>
                                  </a:rPr>
                                  <m:t>rT</m:t>
                                </m:r>
                              </m:sup>
                            </m:sSup>
                            <m:r>
                              <m:rPr>
                                <m:sty m:val="p"/>
                              </m:rPr>
                              <a:rPr lang="zh-CN" altLang="en-US" i="0">
                                <a:latin typeface="Cambria Math" panose="02040503050406030204" pitchFamily="18" charset="0"/>
                              </a:rPr>
                              <m:t>N</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d</m:t>
                                    </m:r>
                                  </m:e>
                                  <m:sub>
                                    <m:r>
                                      <a:rPr lang="zh-CN" altLang="en-US" i="0">
                                        <a:latin typeface="Cambria Math" panose="02040503050406030204" pitchFamily="18" charset="0"/>
                                      </a:rPr>
                                      <m:t>2</m:t>
                                    </m:r>
                                  </m:sub>
                                </m:sSub>
                              </m:e>
                            </m:d>
                          </m:e>
                        </m:mr>
                        <m:mr>
                          <m:e>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d</m:t>
                                </m:r>
                              </m:e>
                              <m:sub>
                                <m:r>
                                  <a:rPr lang="zh-CN" altLang="en-US" i="0">
                                    <a:latin typeface="Cambria Math" panose="02040503050406030204" pitchFamily="18" charset="0"/>
                                  </a:rPr>
                                  <m:t>1,2</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r>
                                  <m:rPr>
                                    <m:sty m:val="p"/>
                                  </m:rPr>
                                  <a:rPr lang="zh-CN" altLang="en-US" i="0">
                                    <a:latin typeface="Cambria Math" panose="02040503050406030204" pitchFamily="18" charset="0"/>
                                  </a:rPr>
                                  <m:t>ln</m:t>
                                </m:r>
                                <m:d>
                                  <m:dPr>
                                    <m:ctrlPr>
                                      <a:rPr lang="zh-CN" altLang="en-US" i="1">
                                        <a:latin typeface="Cambria Math" panose="02040503050406030204" pitchFamily="18" charset="0"/>
                                      </a:rPr>
                                    </m:ctrlPr>
                                  </m:dPr>
                                  <m:e>
                                    <m:f>
                                      <m:fPr>
                                        <m:type m:val="lin"/>
                                        <m:ctrlPr>
                                          <a:rPr lang="zh-CN" altLang="en-US" i="1">
                                            <a:latin typeface="Cambria Math" panose="02040503050406030204" pitchFamily="18" charset="0"/>
                                          </a:rPr>
                                        </m:ctrlPr>
                                      </m:fPr>
                                      <m:num>
                                        <m:r>
                                          <m:rPr>
                                            <m:sty m:val="p"/>
                                          </m:rPr>
                                          <a:rPr lang="zh-CN" altLang="en-US" i="0">
                                            <a:latin typeface="Cambria Math" panose="02040503050406030204" pitchFamily="18" charset="0"/>
                                          </a:rPr>
                                          <m:t>S</m:t>
                                        </m:r>
                                      </m:num>
                                      <m:den>
                                        <m:r>
                                          <m:rPr>
                                            <m:sty m:val="p"/>
                                          </m:rPr>
                                          <a:rPr lang="zh-CN" altLang="en-US" i="0">
                                            <a:latin typeface="Cambria Math" panose="02040503050406030204" pitchFamily="18" charset="0"/>
                                          </a:rPr>
                                          <m:t>K</m:t>
                                        </m:r>
                                        <m:sSup>
                                          <m:sSupPr>
                                            <m:ctrlPr>
                                              <a:rPr lang="zh-CN" altLang="en-US" i="1">
                                                <a:latin typeface="Cambria Math" panose="02040503050406030204" pitchFamily="18" charset="0"/>
                                              </a:rPr>
                                            </m:ctrlPr>
                                          </m:sSupPr>
                                          <m:e>
                                            <m:r>
                                              <m:rPr>
                                                <m:sty m:val="p"/>
                                              </m:rPr>
                                              <a:rPr lang="zh-CN" altLang="en-US" i="0">
                                                <a:latin typeface="Cambria Math" panose="02040503050406030204" pitchFamily="18" charset="0"/>
                                              </a:rPr>
                                              <m:t>e</m:t>
                                            </m:r>
                                          </m:e>
                                          <m:sup>
                                            <m:r>
                                              <a:rPr lang="zh-CN" altLang="en-US" i="0">
                                                <a:latin typeface="Cambria Math" panose="02040503050406030204" pitchFamily="18" charset="0"/>
                                              </a:rPr>
                                              <m:t>−</m:t>
                                            </m:r>
                                            <m:d>
                                              <m:dPr>
                                                <m:ctrlPr>
                                                  <a:rPr lang="zh-CN" altLang="en-US" i="1">
                                                    <a:latin typeface="Cambria Math" panose="02040503050406030204" pitchFamily="18" charset="0"/>
                                                  </a:rPr>
                                                </m:ctrlPr>
                                              </m:dPr>
                                              <m:e>
                                                <m:r>
                                                  <m:rPr>
                                                    <m:sty m:val="p"/>
                                                  </m:rPr>
                                                  <a:rPr lang="zh-CN" altLang="en-US" i="0">
                                                    <a:latin typeface="Cambria Math" panose="02040503050406030204" pitchFamily="18" charset="0"/>
                                                  </a:rPr>
                                                  <m:t>r</m:t>
                                                </m:r>
                                                <m:r>
                                                  <a:rPr lang="zh-CN" altLang="en-US" i="0">
                                                    <a:latin typeface="Cambria Math" panose="02040503050406030204" pitchFamily="18" charset="0"/>
                                                  </a:rPr>
                                                  <m:t>−</m:t>
                                                </m:r>
                                                <m:r>
                                                  <m:rPr>
                                                    <m:sty m:val="p"/>
                                                  </m:rPr>
                                                  <a:rPr lang="zh-CN" altLang="en-US" i="0">
                                                    <a:latin typeface="Cambria Math" panose="02040503050406030204" pitchFamily="18" charset="0"/>
                                                  </a:rPr>
                                                  <m:t>q</m:t>
                                                </m:r>
                                              </m:e>
                                            </m:d>
                                            <m:r>
                                              <m:rPr>
                                                <m:sty m:val="p"/>
                                              </m:rPr>
                                              <a:rPr lang="zh-CN" altLang="en-US" i="0">
                                                <a:latin typeface="Cambria Math" panose="02040503050406030204" pitchFamily="18" charset="0"/>
                                              </a:rPr>
                                              <m:t>T</m:t>
                                            </m:r>
                                          </m:sup>
                                        </m:sSup>
                                      </m:den>
                                    </m:f>
                                  </m:e>
                                </m:d>
                              </m:num>
                              <m:den>
                                <m:r>
                                  <m:rPr>
                                    <m:sty m:val="p"/>
                                  </m:rPr>
                                  <a:rPr lang="zh-CN" altLang="en-US" i="0">
                                    <a:latin typeface="Cambria Math" panose="02040503050406030204" pitchFamily="18" charset="0"/>
                                  </a:rPr>
                                  <m:t>σ</m:t>
                                </m:r>
                                <m:rad>
                                  <m:radPr>
                                    <m:degHide m:val="on"/>
                                    <m:ctrlPr>
                                      <a:rPr lang="zh-CN" altLang="en-US" i="1">
                                        <a:latin typeface="Cambria Math" panose="02040503050406030204" pitchFamily="18" charset="0"/>
                                      </a:rPr>
                                    </m:ctrlPr>
                                  </m:radPr>
                                  <m:deg/>
                                  <m:e>
                                    <m:r>
                                      <m:rPr>
                                        <m:sty m:val="p"/>
                                      </m:rPr>
                                      <a:rPr lang="zh-CN" altLang="en-US" i="0">
                                        <a:latin typeface="Cambria Math" panose="02040503050406030204" pitchFamily="18" charset="0"/>
                                      </a:rPr>
                                      <m:t>T</m:t>
                                    </m:r>
                                  </m:e>
                                </m:rad>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m:rPr>
                                    <m:sty m:val="p"/>
                                  </m:rPr>
                                  <a:rPr lang="zh-CN" altLang="en-US" i="0">
                                    <a:latin typeface="Cambria Math" panose="02040503050406030204" pitchFamily="18" charset="0"/>
                                  </a:rPr>
                                  <m:t>σ</m:t>
                                </m:r>
                                <m:rad>
                                  <m:radPr>
                                    <m:degHide m:val="on"/>
                                    <m:ctrlPr>
                                      <a:rPr lang="zh-CN" altLang="en-US" i="1">
                                        <a:latin typeface="Cambria Math" panose="02040503050406030204" pitchFamily="18" charset="0"/>
                                      </a:rPr>
                                    </m:ctrlPr>
                                  </m:radPr>
                                  <m:deg/>
                                  <m:e>
                                    <m:r>
                                      <m:rPr>
                                        <m:sty m:val="p"/>
                                      </m:rPr>
                                      <a:rPr lang="zh-CN" altLang="en-US" i="0">
                                        <a:latin typeface="Cambria Math" panose="02040503050406030204" pitchFamily="18" charset="0"/>
                                      </a:rPr>
                                      <m:t>T</m:t>
                                    </m:r>
                                  </m:e>
                                </m:rad>
                              </m:num>
                              <m:den>
                                <m:r>
                                  <a:rPr lang="zh-CN" altLang="en-US" i="0">
                                    <a:latin typeface="Cambria Math" panose="02040503050406030204" pitchFamily="18" charset="0"/>
                                  </a:rPr>
                                  <m:t>2</m:t>
                                </m:r>
                              </m:den>
                            </m:f>
                          </m:e>
                        </m:mr>
                      </m:m>
                    </m:oMath>
                  </m:oMathPara>
                </a14:m>
                <a:endParaRPr lang="zh-CN" altLang="en-US" dirty="0"/>
              </a:p>
            </p:txBody>
          </p:sp>
        </mc:Choice>
        <mc:Fallback xmlns="">
          <p:sp>
            <p:nvSpPr>
              <p:cNvPr id="4" name="矩形 3">
                <a:extLst>
                  <a:ext uri="{FF2B5EF4-FFF2-40B4-BE49-F238E27FC236}">
                    <a16:creationId xmlns:a16="http://schemas.microsoft.com/office/drawing/2014/main" id="{18F2DB31-3ACC-439B-8B6E-28DCD5211B13}"/>
                  </a:ext>
                </a:extLst>
              </p:cNvPr>
              <p:cNvSpPr>
                <a:spLocks noRot="1" noChangeAspect="1" noMove="1" noResize="1" noEditPoints="1" noAdjustHandles="1" noChangeArrowheads="1" noChangeShapeType="1" noTextEdit="1"/>
              </p:cNvSpPr>
              <p:nvPr/>
            </p:nvSpPr>
            <p:spPr>
              <a:xfrm>
                <a:off x="1371038" y="2604676"/>
                <a:ext cx="3353930" cy="103887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FAD8951D-78F3-4D6F-8F86-19D1756E7762}"/>
                  </a:ext>
                </a:extLst>
              </p:cNvPr>
              <p:cNvSpPr/>
              <p:nvPr/>
            </p:nvSpPr>
            <p:spPr>
              <a:xfrm>
                <a:off x="6584718" y="2604676"/>
                <a:ext cx="3353930" cy="10388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i="1">
                              <a:latin typeface="Cambria Math" panose="02040503050406030204" pitchFamily="18" charset="0"/>
                            </a:rPr>
                          </m:ctrlPr>
                        </m:mPr>
                        <m:mr>
                          <m:e>
                            <m:r>
                              <m:rPr>
                                <m:sty m:val="p"/>
                              </m:rPr>
                              <a:rPr lang="zh-CN" altLang="en-US" i="0">
                                <a:latin typeface="Cambria Math" panose="02040503050406030204" pitchFamily="18" charset="0"/>
                              </a:rPr>
                              <m:t>c</m:t>
                            </m:r>
                            <m:r>
                              <a:rPr lang="zh-CN" altLang="en-US" i="0">
                                <a:latin typeface="Cambria Math" panose="02040503050406030204" pitchFamily="18" charset="0"/>
                              </a:rPr>
                              <m:t>=</m:t>
                            </m:r>
                            <m:r>
                              <m:rPr>
                                <m:sty m:val="p"/>
                              </m:rPr>
                              <a:rPr lang="zh-CN" altLang="en-US" i="0">
                                <a:latin typeface="Cambria Math" panose="02040503050406030204" pitchFamily="18" charset="0"/>
                              </a:rPr>
                              <m:t>S</m:t>
                            </m:r>
                            <m:sSup>
                              <m:sSupPr>
                                <m:ctrlPr>
                                  <a:rPr lang="zh-CN" altLang="en-US" i="1">
                                    <a:latin typeface="Cambria Math" panose="02040503050406030204" pitchFamily="18" charset="0"/>
                                  </a:rPr>
                                </m:ctrlPr>
                              </m:sSupPr>
                              <m:e>
                                <m:r>
                                  <m:rPr>
                                    <m:sty m:val="p"/>
                                  </m:rPr>
                                  <a:rPr lang="zh-CN" altLang="en-US" i="0">
                                    <a:latin typeface="Cambria Math" panose="02040503050406030204" pitchFamily="18" charset="0"/>
                                  </a:rPr>
                                  <m:t>e</m:t>
                                </m:r>
                              </m:e>
                              <m:sup>
                                <m:r>
                                  <a:rPr lang="zh-CN" altLang="en-US" i="0">
                                    <a:latin typeface="Cambria Math" panose="02040503050406030204" pitchFamily="18" charset="0"/>
                                  </a:rPr>
                                  <m:t>−</m:t>
                                </m:r>
                                <m:r>
                                  <m:rPr>
                                    <m:sty m:val="p"/>
                                  </m:rPr>
                                  <a:rPr lang="zh-CN" altLang="en-US" i="0">
                                    <a:latin typeface="Cambria Math" panose="02040503050406030204" pitchFamily="18" charset="0"/>
                                  </a:rPr>
                                  <m:t>qT</m:t>
                                </m:r>
                              </m:sup>
                            </m:sSup>
                            <m:r>
                              <m:rPr>
                                <m:sty m:val="p"/>
                              </m:rPr>
                              <a:rPr lang="zh-CN" altLang="en-US" i="0">
                                <a:latin typeface="Cambria Math" panose="02040503050406030204" pitchFamily="18" charset="0"/>
                              </a:rPr>
                              <m:t>N</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d</m:t>
                                    </m:r>
                                  </m:e>
                                  <m:sub>
                                    <m:r>
                                      <a:rPr lang="zh-CN" altLang="en-US" i="0">
                                        <a:latin typeface="Cambria Math" panose="02040503050406030204" pitchFamily="18" charset="0"/>
                                      </a:rPr>
                                      <m:t>1</m:t>
                                    </m:r>
                                  </m:sub>
                                </m:sSub>
                              </m:e>
                            </m:d>
                            <m:r>
                              <a:rPr lang="zh-CN" altLang="en-US" i="0">
                                <a:latin typeface="Cambria Math" panose="02040503050406030204" pitchFamily="18" charset="0"/>
                              </a:rPr>
                              <m:t>−</m:t>
                            </m:r>
                            <m:r>
                              <m:rPr>
                                <m:sty m:val="p"/>
                              </m:rPr>
                              <a:rPr lang="zh-CN" altLang="en-US" i="0">
                                <a:latin typeface="Cambria Math" panose="02040503050406030204" pitchFamily="18" charset="0"/>
                              </a:rPr>
                              <m:t>K</m:t>
                            </m:r>
                            <m:sSup>
                              <m:sSupPr>
                                <m:ctrlPr>
                                  <a:rPr lang="zh-CN" altLang="en-US" i="1">
                                    <a:latin typeface="Cambria Math" panose="02040503050406030204" pitchFamily="18" charset="0"/>
                                  </a:rPr>
                                </m:ctrlPr>
                              </m:sSupPr>
                              <m:e>
                                <m:r>
                                  <m:rPr>
                                    <m:sty m:val="p"/>
                                  </m:rPr>
                                  <a:rPr lang="zh-CN" altLang="en-US" i="0">
                                    <a:latin typeface="Cambria Math" panose="02040503050406030204" pitchFamily="18" charset="0"/>
                                  </a:rPr>
                                  <m:t>e</m:t>
                                </m:r>
                              </m:e>
                              <m:sup>
                                <m:r>
                                  <a:rPr lang="zh-CN" altLang="en-US" i="0">
                                    <a:latin typeface="Cambria Math" panose="02040503050406030204" pitchFamily="18" charset="0"/>
                                  </a:rPr>
                                  <m:t>−</m:t>
                                </m:r>
                                <m:r>
                                  <m:rPr>
                                    <m:sty m:val="p"/>
                                  </m:rPr>
                                  <a:rPr lang="zh-CN" altLang="en-US" i="0">
                                    <a:latin typeface="Cambria Math" panose="02040503050406030204" pitchFamily="18" charset="0"/>
                                  </a:rPr>
                                  <m:t>rT</m:t>
                                </m:r>
                              </m:sup>
                            </m:sSup>
                            <m:r>
                              <m:rPr>
                                <m:sty m:val="p"/>
                              </m:rPr>
                              <a:rPr lang="zh-CN" altLang="en-US" i="0">
                                <a:latin typeface="Cambria Math" panose="02040503050406030204" pitchFamily="18" charset="0"/>
                              </a:rPr>
                              <m:t>N</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d</m:t>
                                    </m:r>
                                  </m:e>
                                  <m:sub>
                                    <m:r>
                                      <a:rPr lang="zh-CN" altLang="en-US" i="0">
                                        <a:latin typeface="Cambria Math" panose="02040503050406030204" pitchFamily="18" charset="0"/>
                                      </a:rPr>
                                      <m:t>2</m:t>
                                    </m:r>
                                  </m:sub>
                                </m:sSub>
                              </m:e>
                            </m:d>
                          </m:e>
                        </m:mr>
                        <m:mr>
                          <m:e>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d</m:t>
                                </m:r>
                              </m:e>
                              <m:sub>
                                <m:r>
                                  <a:rPr lang="zh-CN" altLang="en-US" i="0">
                                    <a:latin typeface="Cambria Math" panose="02040503050406030204" pitchFamily="18" charset="0"/>
                                  </a:rPr>
                                  <m:t>1,2</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r>
                                  <m:rPr>
                                    <m:sty m:val="p"/>
                                  </m:rPr>
                                  <a:rPr lang="zh-CN" altLang="en-US" i="0">
                                    <a:latin typeface="Cambria Math" panose="02040503050406030204" pitchFamily="18" charset="0"/>
                                  </a:rPr>
                                  <m:t>ln</m:t>
                                </m:r>
                                <m:d>
                                  <m:dPr>
                                    <m:ctrlPr>
                                      <a:rPr lang="zh-CN" altLang="en-US" i="1">
                                        <a:latin typeface="Cambria Math" panose="02040503050406030204" pitchFamily="18" charset="0"/>
                                      </a:rPr>
                                    </m:ctrlPr>
                                  </m:dPr>
                                  <m:e>
                                    <m:f>
                                      <m:fPr>
                                        <m:type m:val="lin"/>
                                        <m:ctrlPr>
                                          <a:rPr lang="zh-CN" altLang="en-US" i="1">
                                            <a:latin typeface="Cambria Math" panose="02040503050406030204" pitchFamily="18" charset="0"/>
                                          </a:rPr>
                                        </m:ctrlPr>
                                      </m:fPr>
                                      <m:num>
                                        <m:r>
                                          <m:rPr>
                                            <m:sty m:val="p"/>
                                          </m:rPr>
                                          <a:rPr lang="zh-CN" altLang="en-US" i="0">
                                            <a:latin typeface="Cambria Math" panose="02040503050406030204" pitchFamily="18" charset="0"/>
                                          </a:rPr>
                                          <m:t>S</m:t>
                                        </m:r>
                                      </m:num>
                                      <m:den>
                                        <m:r>
                                          <m:rPr>
                                            <m:sty m:val="p"/>
                                          </m:rPr>
                                          <a:rPr lang="zh-CN" altLang="en-US" i="0">
                                            <a:latin typeface="Cambria Math" panose="02040503050406030204" pitchFamily="18" charset="0"/>
                                          </a:rPr>
                                          <m:t>K</m:t>
                                        </m:r>
                                        <m:sSup>
                                          <m:sSupPr>
                                            <m:ctrlPr>
                                              <a:rPr lang="zh-CN" altLang="en-US" i="1">
                                                <a:latin typeface="Cambria Math" panose="02040503050406030204" pitchFamily="18" charset="0"/>
                                              </a:rPr>
                                            </m:ctrlPr>
                                          </m:sSupPr>
                                          <m:e>
                                            <m:r>
                                              <m:rPr>
                                                <m:sty m:val="p"/>
                                              </m:rPr>
                                              <a:rPr lang="zh-CN" altLang="en-US" i="0">
                                                <a:latin typeface="Cambria Math" panose="02040503050406030204" pitchFamily="18" charset="0"/>
                                              </a:rPr>
                                              <m:t>e</m:t>
                                            </m:r>
                                          </m:e>
                                          <m:sup>
                                            <m:r>
                                              <a:rPr lang="zh-CN" altLang="en-US" i="0">
                                                <a:latin typeface="Cambria Math" panose="02040503050406030204" pitchFamily="18" charset="0"/>
                                              </a:rPr>
                                              <m:t>−</m:t>
                                            </m:r>
                                            <m:d>
                                              <m:dPr>
                                                <m:ctrlPr>
                                                  <a:rPr lang="zh-CN" altLang="en-US" i="1">
                                                    <a:latin typeface="Cambria Math" panose="02040503050406030204" pitchFamily="18" charset="0"/>
                                                  </a:rPr>
                                                </m:ctrlPr>
                                              </m:dPr>
                                              <m:e>
                                                <m:r>
                                                  <m:rPr>
                                                    <m:sty m:val="p"/>
                                                  </m:rPr>
                                                  <a:rPr lang="zh-CN" altLang="en-US" i="0">
                                                    <a:latin typeface="Cambria Math" panose="02040503050406030204" pitchFamily="18" charset="0"/>
                                                  </a:rPr>
                                                  <m:t>r</m:t>
                                                </m:r>
                                                <m:r>
                                                  <a:rPr lang="zh-CN" altLang="en-US" i="0">
                                                    <a:latin typeface="Cambria Math" panose="02040503050406030204" pitchFamily="18" charset="0"/>
                                                  </a:rPr>
                                                  <m:t>−</m:t>
                                                </m:r>
                                                <m:r>
                                                  <m:rPr>
                                                    <m:sty m:val="p"/>
                                                  </m:rPr>
                                                  <a:rPr lang="zh-CN" altLang="en-US" i="0">
                                                    <a:latin typeface="Cambria Math" panose="02040503050406030204" pitchFamily="18" charset="0"/>
                                                  </a:rPr>
                                                  <m:t>q</m:t>
                                                </m:r>
                                              </m:e>
                                            </m:d>
                                            <m:r>
                                              <m:rPr>
                                                <m:sty m:val="p"/>
                                              </m:rPr>
                                              <a:rPr lang="zh-CN" altLang="en-US" i="0">
                                                <a:latin typeface="Cambria Math" panose="02040503050406030204" pitchFamily="18" charset="0"/>
                                              </a:rPr>
                                              <m:t>T</m:t>
                                            </m:r>
                                          </m:sup>
                                        </m:sSup>
                                      </m:den>
                                    </m:f>
                                  </m:e>
                                </m:d>
                              </m:num>
                              <m:den>
                                <m:r>
                                  <m:rPr>
                                    <m:sty m:val="p"/>
                                  </m:rPr>
                                  <a:rPr lang="zh-CN" altLang="en-US" i="0">
                                    <a:latin typeface="Cambria Math" panose="02040503050406030204" pitchFamily="18" charset="0"/>
                                  </a:rPr>
                                  <m:t>σ</m:t>
                                </m:r>
                                <m:rad>
                                  <m:radPr>
                                    <m:degHide m:val="on"/>
                                    <m:ctrlPr>
                                      <a:rPr lang="zh-CN" altLang="en-US" i="1">
                                        <a:latin typeface="Cambria Math" panose="02040503050406030204" pitchFamily="18" charset="0"/>
                                      </a:rPr>
                                    </m:ctrlPr>
                                  </m:radPr>
                                  <m:deg/>
                                  <m:e>
                                    <m:r>
                                      <m:rPr>
                                        <m:sty m:val="p"/>
                                      </m:rPr>
                                      <a:rPr lang="zh-CN" altLang="en-US" i="0">
                                        <a:latin typeface="Cambria Math" panose="02040503050406030204" pitchFamily="18" charset="0"/>
                                      </a:rPr>
                                      <m:t>T</m:t>
                                    </m:r>
                                  </m:e>
                                </m:rad>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m:rPr>
                                    <m:sty m:val="p"/>
                                  </m:rPr>
                                  <a:rPr lang="zh-CN" altLang="en-US" i="0">
                                    <a:latin typeface="Cambria Math" panose="02040503050406030204" pitchFamily="18" charset="0"/>
                                  </a:rPr>
                                  <m:t>σ</m:t>
                                </m:r>
                                <m:rad>
                                  <m:radPr>
                                    <m:degHide m:val="on"/>
                                    <m:ctrlPr>
                                      <a:rPr lang="zh-CN" altLang="en-US" i="1">
                                        <a:latin typeface="Cambria Math" panose="02040503050406030204" pitchFamily="18" charset="0"/>
                                      </a:rPr>
                                    </m:ctrlPr>
                                  </m:radPr>
                                  <m:deg/>
                                  <m:e>
                                    <m:r>
                                      <m:rPr>
                                        <m:sty m:val="p"/>
                                      </m:rPr>
                                      <a:rPr lang="zh-CN" altLang="en-US" i="0">
                                        <a:latin typeface="Cambria Math" panose="02040503050406030204" pitchFamily="18" charset="0"/>
                                      </a:rPr>
                                      <m:t>T</m:t>
                                    </m:r>
                                  </m:e>
                                </m:rad>
                              </m:num>
                              <m:den>
                                <m:r>
                                  <a:rPr lang="zh-CN" altLang="en-US" i="0">
                                    <a:latin typeface="Cambria Math" panose="02040503050406030204" pitchFamily="18" charset="0"/>
                                  </a:rPr>
                                  <m:t>2</m:t>
                                </m:r>
                              </m:den>
                            </m:f>
                          </m:e>
                        </m:mr>
                      </m:m>
                    </m:oMath>
                  </m:oMathPara>
                </a14:m>
                <a:endParaRPr lang="zh-CN" altLang="en-US" dirty="0"/>
              </a:p>
            </p:txBody>
          </p:sp>
        </mc:Choice>
        <mc:Fallback xmlns="">
          <p:sp>
            <p:nvSpPr>
              <p:cNvPr id="5" name="矩形 4">
                <a:extLst>
                  <a:ext uri="{FF2B5EF4-FFF2-40B4-BE49-F238E27FC236}">
                    <a16:creationId xmlns:a16="http://schemas.microsoft.com/office/drawing/2014/main" id="{FAD8951D-78F3-4D6F-8F86-19D1756E7762}"/>
                  </a:ext>
                </a:extLst>
              </p:cNvPr>
              <p:cNvSpPr>
                <a:spLocks noRot="1" noChangeAspect="1" noMove="1" noResize="1" noEditPoints="1" noAdjustHandles="1" noChangeArrowheads="1" noChangeShapeType="1" noTextEdit="1"/>
              </p:cNvSpPr>
              <p:nvPr/>
            </p:nvSpPr>
            <p:spPr>
              <a:xfrm>
                <a:off x="6584718" y="2604676"/>
                <a:ext cx="3353930" cy="1038874"/>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34327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Black-Scholes-Merton Model</a:t>
            </a:r>
          </a:p>
        </p:txBody>
      </p:sp>
      <p:sp>
        <p:nvSpPr>
          <p:cNvPr id="3" name="文本占位符 2"/>
          <p:cNvSpPr>
            <a:spLocks noGrp="1"/>
          </p:cNvSpPr>
          <p:nvPr>
            <p:ph type="body" sz="quarter" idx="10"/>
          </p:nvPr>
        </p:nvSpPr>
        <p:spPr/>
        <p:txBody>
          <a:bodyPr>
            <a:normAutofit fontScale="92500"/>
          </a:bodyPr>
          <a:lstStyle/>
          <a:p>
            <a:r>
              <a:rPr lang="en-US" altLang="zh-CN" dirty="0"/>
              <a:t>Exercise 1</a:t>
            </a:r>
          </a:p>
          <a:p>
            <a:pPr>
              <a:buFont typeface="Wingdings" panose="05000000000000000000" pitchFamily="2" charset="2"/>
              <a:buChar char="l"/>
            </a:pPr>
            <a:r>
              <a:rPr lang="en-US" altLang="zh-CN" dirty="0">
                <a:solidFill>
                  <a:schemeClr val="tx1"/>
                </a:solidFill>
              </a:rPr>
              <a:t>Each of the following is an assumption of the basic BSM OPM except:</a:t>
            </a:r>
          </a:p>
          <a:p>
            <a:pPr marL="817200" lvl="1" indent="-457200">
              <a:buSzPct val="100000"/>
              <a:buFont typeface="+mj-lt"/>
              <a:buAutoNum type="alphaUcPeriod"/>
            </a:pPr>
            <a:r>
              <a:rPr lang="en-US" altLang="zh-CN" dirty="0"/>
              <a:t>Asset price follows a geometric Brownian motion (GBM) which is a continuous process without jumps.</a:t>
            </a:r>
          </a:p>
          <a:p>
            <a:pPr marL="817200" lvl="1" indent="-457200">
              <a:buSzPct val="100000"/>
              <a:buFont typeface="+mj-lt"/>
              <a:buAutoNum type="alphaUcPeriod"/>
            </a:pPr>
            <a:r>
              <a:rPr lang="en-US" altLang="zh-CN" dirty="0"/>
              <a:t>The continuously compounded rate of return on the stock is normally distributed, such that the distribution of the future stock prices is lognormal.</a:t>
            </a:r>
          </a:p>
          <a:p>
            <a:pPr marL="817200" lvl="1" indent="-457200">
              <a:buSzPct val="100000"/>
              <a:buFont typeface="+mj-lt"/>
              <a:buAutoNum type="alphaUcPeriod"/>
            </a:pPr>
            <a:r>
              <a:rPr lang="en-US" altLang="zh-CN" dirty="0"/>
              <a:t>The expected rate of return on the stock and volatility are constant.</a:t>
            </a:r>
          </a:p>
          <a:p>
            <a:pPr marL="817200" lvl="1" indent="-457200">
              <a:buSzPct val="100000"/>
              <a:buFont typeface="+mj-lt"/>
              <a:buAutoNum type="alphaUcPeriod"/>
            </a:pPr>
            <a:r>
              <a:rPr lang="en-US" altLang="zh-CN" dirty="0"/>
              <a:t>The expected real-world rate of return on the stock is known and the value of the option is an increasing function of this rate of return.</a:t>
            </a:r>
          </a:p>
          <a:p>
            <a:pPr marL="417150" indent="-457200">
              <a:buSzPct val="100000"/>
              <a:buFont typeface="Wingdings" panose="05000000000000000000" pitchFamily="2" charset="2"/>
              <a:buChar char="l"/>
            </a:pPr>
            <a:r>
              <a:rPr lang="en-US" altLang="zh-CN" dirty="0">
                <a:solidFill>
                  <a:schemeClr val="tx1"/>
                </a:solidFill>
              </a:rPr>
              <a:t>Correct Answer : D	</a:t>
            </a:r>
            <a:endParaRPr lang="zh-CN" altLang="en-US" dirty="0">
              <a:solidFill>
                <a:schemeClr val="tx1"/>
              </a:solidFill>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38156681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Black-Scholes-Merton Model</a:t>
            </a:r>
          </a:p>
        </p:txBody>
      </p:sp>
      <p:sp>
        <p:nvSpPr>
          <p:cNvPr id="3" name="文本占位符 2"/>
          <p:cNvSpPr>
            <a:spLocks noGrp="1"/>
          </p:cNvSpPr>
          <p:nvPr>
            <p:ph type="body" sz="quarter" idx="10"/>
          </p:nvPr>
        </p:nvSpPr>
        <p:spPr/>
        <p:txBody>
          <a:bodyPr>
            <a:normAutofit/>
          </a:bodyPr>
          <a:lstStyle/>
          <a:p>
            <a:r>
              <a:rPr lang="en-US" altLang="zh-CN" dirty="0"/>
              <a:t>Exercise 2</a:t>
            </a:r>
          </a:p>
          <a:p>
            <a:pPr>
              <a:buFont typeface="Wingdings" panose="05000000000000000000" pitchFamily="2" charset="2"/>
              <a:buChar char="l"/>
            </a:pPr>
            <a:r>
              <a:rPr lang="en-US" altLang="zh-CN" dirty="0">
                <a:solidFill>
                  <a:schemeClr val="tx1"/>
                </a:solidFill>
              </a:rPr>
              <a:t>In the Black-Scholes expression for a European call option the term used to compute option probability of exercise is:</a:t>
            </a:r>
          </a:p>
          <a:p>
            <a:pPr marL="817200" lvl="1" indent="-457200">
              <a:buSzPct val="100000"/>
              <a:buFont typeface="+mj-lt"/>
              <a:buAutoNum type="alphaUcPeriod"/>
            </a:pPr>
            <a:r>
              <a:rPr lang="en-US" altLang="zh-CN" dirty="0"/>
              <a:t>d</a:t>
            </a:r>
            <a:r>
              <a:rPr lang="en-US" altLang="zh-CN" baseline="-25000" dirty="0"/>
              <a:t>1</a:t>
            </a:r>
          </a:p>
          <a:p>
            <a:pPr marL="817200" lvl="1" indent="-457200">
              <a:buSzPct val="100000"/>
              <a:buFont typeface="+mj-lt"/>
              <a:buAutoNum type="alphaUcPeriod"/>
            </a:pPr>
            <a:r>
              <a:rPr lang="en-US" altLang="zh-CN" dirty="0"/>
              <a:t>d</a:t>
            </a:r>
            <a:r>
              <a:rPr lang="en-US" altLang="zh-CN" baseline="-25000" dirty="0"/>
              <a:t>2</a:t>
            </a:r>
          </a:p>
          <a:p>
            <a:pPr marL="817200" lvl="1" indent="-457200">
              <a:buSzPct val="100000"/>
              <a:buFont typeface="+mj-lt"/>
              <a:buAutoNum type="alphaUcPeriod"/>
            </a:pPr>
            <a:r>
              <a:rPr lang="en-US" altLang="zh-CN" dirty="0"/>
              <a:t>N(d</a:t>
            </a:r>
            <a:r>
              <a:rPr lang="en-US" altLang="zh-CN" baseline="-25000" dirty="0"/>
              <a:t>1</a:t>
            </a:r>
            <a:r>
              <a:rPr lang="en-US" altLang="zh-CN" dirty="0"/>
              <a:t>)</a:t>
            </a:r>
          </a:p>
          <a:p>
            <a:pPr marL="817200" lvl="1" indent="-457200">
              <a:buSzPct val="100000"/>
              <a:buFont typeface="+mj-lt"/>
              <a:buAutoNum type="alphaUcPeriod"/>
            </a:pPr>
            <a:r>
              <a:rPr lang="en-US" altLang="zh-CN" dirty="0"/>
              <a:t>N(d</a:t>
            </a:r>
            <a:r>
              <a:rPr lang="en-US" altLang="zh-CN" baseline="-25000" dirty="0"/>
              <a:t>2</a:t>
            </a:r>
            <a:r>
              <a:rPr lang="en-US" altLang="zh-CN" dirty="0"/>
              <a:t>)</a:t>
            </a:r>
          </a:p>
          <a:p>
            <a:pPr marL="817200" lvl="1" indent="-457200">
              <a:buSzPct val="100000"/>
              <a:buFont typeface="+mj-lt"/>
              <a:buAutoNum type="alphaUcPeriod"/>
            </a:pPr>
            <a:endParaRPr lang="en-US" altLang="zh-CN" u="sng" dirty="0"/>
          </a:p>
          <a:p>
            <a:pPr marL="417150" indent="-457200">
              <a:buSzPct val="100000"/>
              <a:buFont typeface="Wingdings" panose="05000000000000000000" pitchFamily="2" charset="2"/>
              <a:buChar char="l"/>
            </a:pPr>
            <a:r>
              <a:rPr lang="en-US" altLang="zh-CN" dirty="0">
                <a:solidFill>
                  <a:schemeClr val="tx1"/>
                </a:solidFill>
              </a:rPr>
              <a:t>Correct Answer : D</a:t>
            </a:r>
            <a:endParaRPr lang="en-US" altLang="zh-CN" u="sng" dirty="0">
              <a:solidFill>
                <a:schemeClr val="tx1"/>
              </a:solidFill>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4997004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Black-Scholes-Merton Model</a:t>
            </a:r>
          </a:p>
        </p:txBody>
      </p:sp>
      <p:sp>
        <p:nvSpPr>
          <p:cNvPr id="3" name="文本占位符 2"/>
          <p:cNvSpPr>
            <a:spLocks noGrp="1"/>
          </p:cNvSpPr>
          <p:nvPr>
            <p:ph type="body" sz="quarter" idx="10"/>
          </p:nvPr>
        </p:nvSpPr>
        <p:spPr/>
        <p:txBody>
          <a:bodyPr>
            <a:normAutofit fontScale="92500" lnSpcReduction="20000"/>
          </a:bodyPr>
          <a:lstStyle/>
          <a:p>
            <a:r>
              <a:rPr lang="en-US" altLang="zh-CN" dirty="0"/>
              <a:t>Exercise 3</a:t>
            </a:r>
          </a:p>
          <a:p>
            <a:pPr>
              <a:buFont typeface="Wingdings" panose="05000000000000000000" pitchFamily="2" charset="2"/>
              <a:buChar char="l"/>
            </a:pPr>
            <a:r>
              <a:rPr lang="en-US" altLang="zh-CN" dirty="0">
                <a:solidFill>
                  <a:schemeClr val="tx1"/>
                </a:solidFill>
              </a:rPr>
              <a:t>The current price of a stock is $25. A put option with a $20 strike price that expires in six months is available. N(d1) = 0.9737 and N(d2) = 0.9651. If the underlying stock exhibits an annual standard deviation of 25%, and the current continuously compounded risk-free rate is 4.25%, the Black-Scholes-Merton value of the put is closest to:</a:t>
            </a:r>
          </a:p>
          <a:p>
            <a:pPr marL="914400" lvl="1" indent="-457200">
              <a:buFont typeface="+mj-lt"/>
              <a:buAutoNum type="alphaUcPeriod"/>
            </a:pPr>
            <a:r>
              <a:rPr lang="en-US" altLang="zh-CN" dirty="0"/>
              <a:t>$0.01</a:t>
            </a:r>
          </a:p>
          <a:p>
            <a:pPr marL="914400" lvl="1" indent="-457200">
              <a:buFont typeface="+mj-lt"/>
              <a:buAutoNum type="alphaUcPeriod"/>
            </a:pPr>
            <a:r>
              <a:rPr lang="en-US" altLang="zh-CN" dirty="0"/>
              <a:t>$0.03</a:t>
            </a:r>
          </a:p>
          <a:p>
            <a:pPr marL="914400" lvl="1" indent="-457200">
              <a:buFont typeface="+mj-lt"/>
              <a:buAutoNum type="alphaUcPeriod"/>
            </a:pPr>
            <a:r>
              <a:rPr lang="en-US" altLang="zh-CN" dirty="0"/>
              <a:t>$0.33</a:t>
            </a:r>
          </a:p>
          <a:p>
            <a:pPr marL="914400" lvl="1" indent="-457200">
              <a:buFont typeface="+mj-lt"/>
              <a:buAutoNum type="alphaUcPeriod"/>
            </a:pPr>
            <a:r>
              <a:rPr lang="en-US" altLang="zh-CN" dirty="0"/>
              <a:t>$0.36</a:t>
            </a:r>
          </a:p>
          <a:p>
            <a:pPr marL="914400" lvl="1" indent="-457200">
              <a:buFont typeface="+mj-lt"/>
              <a:buAutoNum type="alphaUcPeriod"/>
            </a:pPr>
            <a:endParaRPr lang="en-US" altLang="zh-CN" dirty="0"/>
          </a:p>
          <a:p>
            <a:pPr>
              <a:buFont typeface="Wingdings" panose="05000000000000000000" pitchFamily="2" charset="2"/>
              <a:buChar char="l"/>
            </a:pPr>
            <a:r>
              <a:rPr lang="en-US" altLang="zh-CN" dirty="0">
                <a:solidFill>
                  <a:schemeClr val="tx1"/>
                </a:solidFill>
              </a:rPr>
              <a:t>Correct Answer : B</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5272984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Black-Scholes-Merton Model</a:t>
            </a:r>
          </a:p>
        </p:txBody>
      </p:sp>
      <p:sp>
        <p:nvSpPr>
          <p:cNvPr id="3" name="文本占位符 2"/>
          <p:cNvSpPr>
            <a:spLocks noGrp="1"/>
          </p:cNvSpPr>
          <p:nvPr>
            <p:ph type="body" sz="quarter" idx="10"/>
          </p:nvPr>
        </p:nvSpPr>
        <p:spPr/>
        <p:txBody>
          <a:bodyPr>
            <a:normAutofit fontScale="92500" lnSpcReduction="20000"/>
          </a:bodyPr>
          <a:lstStyle/>
          <a:p>
            <a:r>
              <a:rPr lang="en-US" altLang="zh-CN" dirty="0">
                <a:latin typeface="+mn-lt"/>
                <a:ea typeface="+mn-ea"/>
                <a:cs typeface="+mn-ea"/>
                <a:sym typeface="+mn-lt"/>
              </a:rPr>
              <a:t>Warrants</a:t>
            </a:r>
          </a:p>
          <a:p>
            <a:pPr lvl="1"/>
            <a:r>
              <a:rPr lang="en-US" altLang="zh-CN" dirty="0">
                <a:latin typeface="+mn-lt"/>
                <a:ea typeface="+mn-ea"/>
                <a:cs typeface="+mn-ea"/>
                <a:sym typeface="+mn-lt"/>
              </a:rPr>
              <a:t>Warrants are attachments to a bond issue that give the holder the right to purchase shares of a security at a stated price. </a:t>
            </a:r>
          </a:p>
          <a:p>
            <a:pPr lvl="1"/>
            <a:r>
              <a:rPr lang="en-US" altLang="zh-CN" dirty="0">
                <a:latin typeface="+mn-lt"/>
                <a:ea typeface="+mn-ea"/>
                <a:cs typeface="+mn-ea"/>
                <a:sym typeface="+mn-lt"/>
              </a:rPr>
              <a:t>Warrants can be valued as a separate call option on the firm’s shares.</a:t>
            </a:r>
          </a:p>
          <a:p>
            <a:pPr lvl="1"/>
            <a:r>
              <a:rPr lang="en-US" altLang="zh-CN" dirty="0">
                <a:latin typeface="+mn-lt"/>
                <a:ea typeface="+mn-ea"/>
                <a:cs typeface="+mn-ea"/>
                <a:sym typeface="+mn-lt"/>
              </a:rPr>
              <a:t>One distinction is necessary though. With call options, the shares are already outstanding, and the exercise of a call option triggers the trading of shares among investors at the strike price of the call options. But, when investor exercises warrants, the investor purchases shares directly from the firm. The distinction is that the value of all outstanding shares can be affected by the exercise of warrants.</a:t>
            </a:r>
          </a:p>
          <a:p>
            <a:pPr lvl="1"/>
            <a:r>
              <a:rPr lang="en-US" altLang="zh-CN" dirty="0">
                <a:latin typeface="+mn-lt"/>
                <a:ea typeface="+mn-ea"/>
                <a:cs typeface="+mn-ea"/>
                <a:sym typeface="+mn-lt"/>
              </a:rPr>
              <a:t>The primary complication is circularity: the warrant depends on the stock price, but the stock price is a function of (diluted by) the issuance of warrants. This is also called an iterative.</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101198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Black-Scholes-Merton Model</a:t>
            </a:r>
          </a:p>
        </p:txBody>
      </p:sp>
      <p:sp>
        <p:nvSpPr>
          <p:cNvPr id="3" name="文本占位符 2"/>
          <p:cNvSpPr>
            <a:spLocks noGrp="1"/>
          </p:cNvSpPr>
          <p:nvPr>
            <p:ph type="body" sz="quarter" idx="10"/>
          </p:nvPr>
        </p:nvSpPr>
        <p:spPr/>
        <p:txBody>
          <a:bodyPr>
            <a:normAutofit fontScale="77500" lnSpcReduction="20000"/>
          </a:bodyPr>
          <a:lstStyle/>
          <a:p>
            <a:r>
              <a:rPr lang="en-US" altLang="zh-CN" dirty="0">
                <a:latin typeface="+mn-lt"/>
                <a:ea typeface="+mn-ea"/>
                <a:cs typeface="+mn-ea"/>
                <a:sym typeface="+mn-lt"/>
              </a:rPr>
              <a:t>Example</a:t>
            </a:r>
          </a:p>
          <a:p>
            <a:pPr lvl="1"/>
            <a:r>
              <a:rPr lang="en-US" altLang="zh-CN" dirty="0">
                <a:latin typeface="+mn-lt"/>
                <a:ea typeface="+mn-ea"/>
                <a:cs typeface="+mn-ea"/>
                <a:sym typeface="+mn-lt"/>
              </a:rPr>
              <a:t>A company with 1 million shares worth $40 each is considering issuing 200,000 warrants each giving the holder the right to buy one share with a strike price of $60 in 5 years. The interest rate is 3% per annum, and the volatility is 30% per annum. The company pays no dividends.</a:t>
            </a:r>
          </a:p>
          <a:p>
            <a:endParaRPr lang="en-US" altLang="zh-CN" dirty="0">
              <a:latin typeface="+mn-lt"/>
              <a:ea typeface="+mn-ea"/>
              <a:cs typeface="+mn-ea"/>
              <a:sym typeface="+mn-lt"/>
            </a:endParaRPr>
          </a:p>
          <a:p>
            <a:pPr lvl="1"/>
            <a:r>
              <a:rPr lang="en-US" altLang="zh-CN" dirty="0">
                <a:latin typeface="+mn-lt"/>
                <a:ea typeface="+mn-ea"/>
                <a:cs typeface="+mn-ea"/>
                <a:sym typeface="+mn-lt"/>
              </a:rPr>
              <a:t>Since it is a call option, we first find the value of a 5-year European call option on the stock to be $7.04. Then we find the value of each warrant as: </a:t>
            </a:r>
          </a:p>
          <a:p>
            <a:endParaRPr lang="en-US" altLang="zh-CN" dirty="0">
              <a:latin typeface="+mn-lt"/>
              <a:ea typeface="+mn-ea"/>
              <a:cs typeface="+mn-ea"/>
              <a:sym typeface="+mn-lt"/>
            </a:endParaRPr>
          </a:p>
          <a:p>
            <a:endParaRPr lang="en-US" altLang="zh-CN" dirty="0">
              <a:latin typeface="+mn-lt"/>
              <a:ea typeface="+mn-ea"/>
              <a:cs typeface="+mn-ea"/>
              <a:sym typeface="+mn-lt"/>
            </a:endParaRPr>
          </a:p>
          <a:p>
            <a:endParaRPr lang="en-US" altLang="zh-CN" dirty="0">
              <a:latin typeface="+mn-lt"/>
              <a:ea typeface="+mn-ea"/>
              <a:cs typeface="+mn-ea"/>
              <a:sym typeface="+mn-lt"/>
            </a:endParaRPr>
          </a:p>
          <a:p>
            <a:pPr lvl="1"/>
            <a:r>
              <a:rPr lang="en-US" altLang="zh-CN" dirty="0">
                <a:latin typeface="+mn-lt"/>
                <a:ea typeface="+mn-ea"/>
                <a:cs typeface="+mn-ea"/>
                <a:sym typeface="+mn-lt"/>
              </a:rPr>
              <a:t>So, the total cost of the warrant issued is 5.87 * 200,000 = 1.17 million .</a:t>
            </a:r>
          </a:p>
          <a:p>
            <a:pPr lvl="1"/>
            <a:r>
              <a:rPr lang="en-US" altLang="zh-CN" dirty="0">
                <a:latin typeface="+mn-lt"/>
                <a:ea typeface="+mn-ea"/>
                <a:cs typeface="+mn-ea"/>
                <a:sym typeface="+mn-lt"/>
              </a:rPr>
              <a:t>Since the company’s equity adjusts the total cost of the options as soon as the decision to issue the warrants becomes generally known, the stock price is expected to decline by $1.17 to $38.83.</a:t>
            </a:r>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D9F81E3-754F-44CF-A0E0-7A9D80007AAC}"/>
                  </a:ext>
                </a:extLst>
              </p:cNvPr>
              <p:cNvSpPr txBox="1"/>
              <p:nvPr/>
            </p:nvSpPr>
            <p:spPr>
              <a:xfrm>
                <a:off x="3251683" y="3643550"/>
                <a:ext cx="5688632" cy="8998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𝑤𝑎𝑟𝑟𝑎𝑛𝑡</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r>
                            <a:rPr lang="en-US" altLang="zh-CN" b="0" i="1" smtClean="0">
                              <a:latin typeface="Cambria Math" panose="02040503050406030204" pitchFamily="18" charset="0"/>
                            </a:rPr>
                            <m:t>𝑚𝑖𝑙𝑙𝑖𝑜𝑛</m:t>
                          </m:r>
                        </m:num>
                        <m:den>
                          <m:r>
                            <a:rPr lang="en-US" altLang="zh-CN" b="0" i="1" smtClean="0">
                              <a:latin typeface="Cambria Math" panose="02040503050406030204" pitchFamily="18" charset="0"/>
                            </a:rPr>
                            <m:t>1</m:t>
                          </m:r>
                          <m:r>
                            <a:rPr lang="en-US" altLang="zh-CN" b="0" i="1" smtClean="0">
                              <a:latin typeface="Cambria Math" panose="02040503050406030204" pitchFamily="18" charset="0"/>
                            </a:rPr>
                            <m:t>𝑚𝑖𝑙𝑙𝑖𝑜𝑛</m:t>
                          </m:r>
                          <m:r>
                            <a:rPr lang="en-US" altLang="zh-CN" b="0" i="1" smtClean="0">
                              <a:latin typeface="Cambria Math" panose="02040503050406030204" pitchFamily="18" charset="0"/>
                            </a:rPr>
                            <m:t>+0.2</m:t>
                          </m:r>
                          <m:r>
                            <a:rPr lang="en-US" altLang="zh-CN" b="0" i="1" smtClean="0">
                              <a:latin typeface="Cambria Math" panose="02040503050406030204" pitchFamily="18" charset="0"/>
                            </a:rPr>
                            <m:t>𝑚𝑖𝑙𝑙𝑖𝑜𝑛</m:t>
                          </m:r>
                        </m:den>
                      </m:f>
                      <m:r>
                        <a:rPr lang="en-US" altLang="zh-CN" b="0" i="1" smtClean="0">
                          <a:latin typeface="Cambria Math" panose="02040503050406030204" pitchFamily="18" charset="0"/>
                          <a:ea typeface="Cambria Math" panose="02040503050406030204" pitchFamily="18" charset="0"/>
                        </a:rPr>
                        <m:t>×7.04=5.87</m:t>
                      </m:r>
                    </m:oMath>
                  </m:oMathPara>
                </a14:m>
                <a:endParaRPr lang="en-US" altLang="zh-CN" b="0" dirty="0">
                  <a:ea typeface="Cambria Math" panose="02040503050406030204" pitchFamily="18" charset="0"/>
                </a:endParaRPr>
              </a:p>
              <a:p>
                <a:endParaRPr lang="zh-CN" altLang="en-US" dirty="0"/>
              </a:p>
            </p:txBody>
          </p:sp>
        </mc:Choice>
        <mc:Fallback xmlns="">
          <p:sp>
            <p:nvSpPr>
              <p:cNvPr id="4" name="文本框 3">
                <a:extLst>
                  <a:ext uri="{FF2B5EF4-FFF2-40B4-BE49-F238E27FC236}">
                    <a16:creationId xmlns:a16="http://schemas.microsoft.com/office/drawing/2014/main" id="{BD9F81E3-754F-44CF-A0E0-7A9D80007AAC}"/>
                  </a:ext>
                </a:extLst>
              </p:cNvPr>
              <p:cNvSpPr txBox="1">
                <a:spLocks noRot="1" noChangeAspect="1" noMove="1" noResize="1" noEditPoints="1" noAdjustHandles="1" noChangeArrowheads="1" noChangeShapeType="1" noTextEdit="1"/>
              </p:cNvSpPr>
              <p:nvPr/>
            </p:nvSpPr>
            <p:spPr>
              <a:xfrm>
                <a:off x="3251683" y="3643550"/>
                <a:ext cx="5688632" cy="899862"/>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65952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Factors that Affect Option Prices</a:t>
            </a:r>
          </a:p>
          <a:p>
            <a:endParaRPr lang="en-US" altLang="zh-CN" dirty="0">
              <a:latin typeface="+mn-lt"/>
              <a:ea typeface="+mn-ea"/>
              <a:cs typeface="+mn-ea"/>
              <a:sym typeface="+mn-lt"/>
            </a:endParaRPr>
          </a:p>
          <a:p>
            <a:pPr lvl="1"/>
            <a:r>
              <a:rPr lang="en-US" altLang="zh-CN" dirty="0">
                <a:latin typeface="+mn-lt"/>
                <a:ea typeface="+mn-ea"/>
                <a:cs typeface="+mn-ea"/>
                <a:sym typeface="+mn-lt"/>
              </a:rPr>
              <a:t>S0 = current stock price</a:t>
            </a:r>
          </a:p>
          <a:p>
            <a:pPr lvl="1"/>
            <a:r>
              <a:rPr lang="en-US" altLang="zh-CN" dirty="0">
                <a:latin typeface="+mn-lt"/>
                <a:ea typeface="+mn-ea"/>
                <a:cs typeface="+mn-ea"/>
                <a:sym typeface="+mn-lt"/>
              </a:rPr>
              <a:t>X = strike price of the option</a:t>
            </a:r>
          </a:p>
          <a:p>
            <a:pPr lvl="1"/>
            <a:r>
              <a:rPr lang="en-US" altLang="zh-CN" dirty="0">
                <a:latin typeface="+mn-lt"/>
                <a:ea typeface="+mn-ea"/>
                <a:cs typeface="+mn-ea"/>
                <a:sym typeface="+mn-lt"/>
              </a:rPr>
              <a:t>T = time to expiration of the option</a:t>
            </a:r>
          </a:p>
          <a:p>
            <a:pPr lvl="1"/>
            <a:r>
              <a:rPr lang="en-US" altLang="zh-CN" dirty="0">
                <a:latin typeface="+mn-lt"/>
                <a:ea typeface="+mn-ea"/>
                <a:cs typeface="+mn-ea"/>
                <a:sym typeface="+mn-lt"/>
              </a:rPr>
              <a:t>r = short-term risk-free interest rate over T</a:t>
            </a:r>
          </a:p>
          <a:p>
            <a:pPr lvl="1"/>
            <a:r>
              <a:rPr lang="en-US" altLang="zh-CN" dirty="0">
                <a:latin typeface="+mn-lt"/>
                <a:ea typeface="+mn-ea"/>
                <a:cs typeface="+mn-ea"/>
                <a:sym typeface="+mn-lt"/>
              </a:rPr>
              <a:t>D = present value of the dividend of the underlying stock</a:t>
            </a:r>
          </a:p>
          <a:p>
            <a:pPr lvl="1"/>
            <a:r>
              <a:rPr lang="en-US" altLang="zh-CN" dirty="0">
                <a:latin typeface="+mn-lt"/>
                <a:ea typeface="+mn-ea"/>
                <a:cs typeface="+mn-ea"/>
                <a:sym typeface="+mn-lt"/>
              </a:rPr>
              <a:t>σ = expected volatility of stock prices over 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1381043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Naked and Covered Option Positions</a:t>
            </a:r>
          </a:p>
          <a:p>
            <a:pPr lvl="1"/>
            <a:r>
              <a:rPr lang="en-US" altLang="zh-CN" dirty="0">
                <a:latin typeface="+mn-lt"/>
                <a:ea typeface="+mn-ea"/>
                <a:cs typeface="+mn-ea"/>
                <a:sym typeface="+mn-lt"/>
              </a:rPr>
              <a:t>If you sell a call option without owning the underlying asset, you hold a naked position (i.e. , you have no hedge whatsoever). </a:t>
            </a:r>
          </a:p>
          <a:p>
            <a:pPr lvl="1"/>
            <a:r>
              <a:rPr lang="en-US" altLang="zh-CN" dirty="0">
                <a:latin typeface="+mn-lt"/>
                <a:ea typeface="+mn-ea"/>
                <a:cs typeface="+mn-ea"/>
                <a:sym typeface="+mn-lt"/>
              </a:rPr>
              <a:t>If you sell a call option while owning shares, you have a covered position.</a:t>
            </a:r>
          </a:p>
          <a:p>
            <a:r>
              <a:rPr lang="en-US" altLang="zh-CN" dirty="0">
                <a:latin typeface="+mn-lt"/>
                <a:ea typeface="+mn-ea"/>
                <a:cs typeface="+mn-ea"/>
                <a:sym typeface="+mn-lt"/>
              </a:rPr>
              <a:t>Stop-Loss Trading Strategy</a:t>
            </a:r>
          </a:p>
          <a:p>
            <a:pPr lvl="1"/>
            <a:r>
              <a:rPr lang="en-US" altLang="zh-CN" dirty="0">
                <a:latin typeface="+mn-lt"/>
                <a:ea typeface="+mn-ea"/>
                <a:cs typeface="+mn-ea"/>
                <a:sym typeface="+mn-lt"/>
              </a:rPr>
              <a:t>The strategy is to hold a naked position when the option is out-of-the-money and a covered position when the option is in-the-money. Although “superficially attractive”, the strategy becomes too expensive if the stock price crosses the strike price level many times.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9728932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fontScale="92500" lnSpcReduction="20000"/>
          </a:bodyPr>
          <a:lstStyle/>
          <a:p>
            <a:r>
              <a:rPr lang="en-US" altLang="zh-CN" dirty="0">
                <a:latin typeface="+mn-lt"/>
                <a:ea typeface="+mn-ea"/>
                <a:cs typeface="+mn-ea"/>
                <a:sym typeface="+mn-lt"/>
              </a:rPr>
              <a:t>Example</a:t>
            </a:r>
          </a:p>
          <a:p>
            <a:pPr lvl="1"/>
            <a:r>
              <a:rPr lang="en-US" altLang="zh-CN" dirty="0">
                <a:latin typeface="+mn-lt"/>
                <a:ea typeface="+mn-ea"/>
                <a:cs typeface="+mn-ea"/>
                <a:sym typeface="+mn-lt"/>
              </a:rPr>
              <a:t>Consider a financial institution that has sold for $300,000 a European call option on 100,000 shares of a non-dividend-paying stock. Assumptions are:</a:t>
            </a:r>
          </a:p>
          <a:p>
            <a:pPr marL="609585" lvl="1" indent="0">
              <a:buNone/>
            </a:pPr>
            <a:r>
              <a:rPr lang="en-US" altLang="zh-CN" dirty="0">
                <a:latin typeface="+mn-lt"/>
                <a:ea typeface="+mn-ea"/>
                <a:cs typeface="+mn-ea"/>
                <a:sym typeface="+mn-lt"/>
              </a:rPr>
              <a:t> Stock price (</a:t>
            </a:r>
            <a:r>
              <a:rPr lang="zh-CN" altLang="en-US" dirty="0">
                <a:latin typeface="+mn-lt"/>
                <a:ea typeface="+mn-ea"/>
                <a:cs typeface="+mn-ea"/>
                <a:sym typeface="+mn-lt"/>
              </a:rPr>
              <a:t>𝑆</a:t>
            </a:r>
            <a:r>
              <a:rPr lang="en-US" altLang="zh-CN" dirty="0">
                <a:latin typeface="+mn-lt"/>
                <a:ea typeface="+mn-ea"/>
                <a:cs typeface="+mn-ea"/>
                <a:sym typeface="+mn-lt"/>
              </a:rPr>
              <a:t>_0) is $49</a:t>
            </a:r>
          </a:p>
          <a:p>
            <a:pPr marL="609585" lvl="1" indent="0">
              <a:buNone/>
            </a:pPr>
            <a:r>
              <a:rPr lang="en-US" altLang="zh-CN" dirty="0">
                <a:latin typeface="+mn-lt"/>
                <a:ea typeface="+mn-ea"/>
                <a:cs typeface="+mn-ea"/>
                <a:sym typeface="+mn-lt"/>
              </a:rPr>
              <a:t> Strike (K) is $50</a:t>
            </a:r>
          </a:p>
          <a:p>
            <a:pPr marL="609585" lvl="1" indent="0">
              <a:buNone/>
            </a:pPr>
            <a:r>
              <a:rPr lang="en-US" altLang="zh-CN" dirty="0">
                <a:latin typeface="+mn-lt"/>
                <a:ea typeface="+mn-ea"/>
                <a:cs typeface="+mn-ea"/>
                <a:sym typeface="+mn-lt"/>
              </a:rPr>
              <a:t> Volatility (σ) is 20%</a:t>
            </a:r>
          </a:p>
          <a:p>
            <a:pPr marL="609585" lvl="1" indent="0">
              <a:buNone/>
            </a:pPr>
            <a:r>
              <a:rPr lang="en-US" altLang="zh-CN" dirty="0">
                <a:latin typeface="+mn-lt"/>
                <a:ea typeface="+mn-ea"/>
                <a:cs typeface="+mn-ea"/>
                <a:sym typeface="+mn-lt"/>
              </a:rPr>
              <a:t> Term (t) is 0.3846 (20 weeks)</a:t>
            </a:r>
          </a:p>
          <a:p>
            <a:pPr marL="609585" lvl="1" indent="0">
              <a:buNone/>
            </a:pPr>
            <a:r>
              <a:rPr lang="en-US" altLang="zh-CN" dirty="0">
                <a:latin typeface="+mn-lt"/>
                <a:ea typeface="+mn-ea"/>
                <a:cs typeface="+mn-ea"/>
                <a:sym typeface="+mn-lt"/>
              </a:rPr>
              <a:t> Riskless rate is 5%</a:t>
            </a:r>
          </a:p>
          <a:p>
            <a:pPr lvl="1"/>
            <a:r>
              <a:rPr lang="en-US" altLang="zh-CN" dirty="0">
                <a:latin typeface="+mn-lt"/>
                <a:ea typeface="+mn-ea"/>
                <a:cs typeface="+mn-ea"/>
                <a:sym typeface="+mn-lt"/>
              </a:rPr>
              <a:t>The Black–Scholes–Merton value of an option to buy one share is $2.40. Therefore, the price of the option is about $240,000. The financial institution has therefore sold a product for $60,000 more than its theoretical value. But it is faced with the problem of hedging the risks. </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26926319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fontScale="70000" lnSpcReduction="20000"/>
          </a:bodyPr>
          <a:lstStyle/>
          <a:p>
            <a:r>
              <a:rPr lang="en-US" altLang="zh-CN" dirty="0">
                <a:latin typeface="+mn-lt"/>
                <a:ea typeface="+mn-ea"/>
                <a:cs typeface="+mn-ea"/>
                <a:sym typeface="+mn-lt"/>
              </a:rPr>
              <a:t>Example</a:t>
            </a:r>
          </a:p>
          <a:p>
            <a:pPr lvl="1"/>
            <a:r>
              <a:rPr lang="en-US" altLang="zh-CN" dirty="0">
                <a:latin typeface="+mn-lt"/>
                <a:ea typeface="+mn-ea"/>
                <a:cs typeface="+mn-ea"/>
                <a:sym typeface="+mn-lt"/>
              </a:rPr>
              <a:t>Naked position: </a:t>
            </a:r>
          </a:p>
          <a:p>
            <a:pPr lvl="2"/>
            <a:r>
              <a:rPr lang="en-US" altLang="zh-CN" dirty="0">
                <a:latin typeface="+mn-lt"/>
                <a:ea typeface="+mn-ea"/>
                <a:cs typeface="+mn-ea"/>
                <a:sym typeface="+mn-lt"/>
              </a:rPr>
              <a:t>The institution does nothing other than selling its stock option. This strategy works well if the stock price is below $50 at the end of the 20 weeks. The option then costs the financial institution nothing and it makes a profit of $300,000. </a:t>
            </a:r>
          </a:p>
          <a:p>
            <a:pPr lvl="2"/>
            <a:r>
              <a:rPr lang="en-US" altLang="zh-CN" dirty="0">
                <a:latin typeface="+mn-lt"/>
                <a:ea typeface="+mn-ea"/>
                <a:cs typeface="+mn-ea"/>
                <a:sym typeface="+mn-lt"/>
              </a:rPr>
              <a:t>However, if the call is exercised then the institution has to buy 100,000 shares at the market price prevailing in 20 weeks to cover the call. For example, if after 20 weeks the stock price is $60, the option costs the financial institution $1,000,000 (stock price minus strike price times the no. of shares). This is considerably greater than the $300,000 charged for the option.</a:t>
            </a:r>
          </a:p>
          <a:p>
            <a:pPr lvl="1"/>
            <a:r>
              <a:rPr lang="en-US" altLang="zh-CN" dirty="0">
                <a:latin typeface="+mn-lt"/>
                <a:ea typeface="+mn-ea"/>
                <a:cs typeface="+mn-ea"/>
                <a:sym typeface="+mn-lt"/>
              </a:rPr>
              <a:t>Covered position: </a:t>
            </a:r>
          </a:p>
          <a:p>
            <a:pPr lvl="2"/>
            <a:r>
              <a:rPr lang="en-US" altLang="zh-CN" dirty="0">
                <a:latin typeface="+mn-lt"/>
                <a:ea typeface="+mn-ea"/>
                <a:cs typeface="+mn-ea"/>
                <a:sym typeface="+mn-lt"/>
              </a:rPr>
              <a:t>This involves buying 100,000 shares as soon as the option has been sold. If the option is exercised, this strategy works well. However, if the stock price drops it could lead to a significant loss. For example, if the stock price drops to $40, the financial institution loses $900,000 (fall in the price of stock times the no. of shares) on its stock position. This is considerably greater than the $300,000 charged for the option.</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2324789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Delta</a:t>
            </a:r>
          </a:p>
          <a:p>
            <a:pPr lvl="1"/>
            <a:r>
              <a:rPr lang="en-US" altLang="zh-CN" dirty="0">
                <a:latin typeface="+mn-lt"/>
                <a:ea typeface="+mn-ea"/>
                <a:cs typeface="+mn-ea"/>
                <a:sym typeface="+mn-lt"/>
              </a:rPr>
              <a:t>The delta of an option, Δ, is </a:t>
            </a:r>
            <a:r>
              <a:rPr lang="en-US" altLang="zh-CN" u="sng" dirty="0">
                <a:latin typeface="+mn-lt"/>
                <a:ea typeface="+mn-ea"/>
                <a:cs typeface="+mn-ea"/>
                <a:sym typeface="+mn-lt"/>
              </a:rPr>
              <a:t>the ratio of the change in price of the call/put option to the change in the price of the underlying assets.</a:t>
            </a:r>
          </a:p>
          <a:p>
            <a:pPr lvl="1"/>
            <a:r>
              <a:rPr lang="en-US" altLang="zh-CN" dirty="0">
                <a:latin typeface="+mn-lt"/>
                <a:ea typeface="+mn-ea"/>
                <a:cs typeface="+mn-ea"/>
                <a:sym typeface="+mn-lt"/>
              </a:rPr>
              <a:t>Delta </a:t>
            </a:r>
            <a:r>
              <a:rPr lang="en-US" altLang="zh-CN" u="sng" dirty="0">
                <a:latin typeface="+mn-lt"/>
                <a:ea typeface="+mn-ea"/>
                <a:cs typeface="+mn-ea"/>
                <a:sym typeface="+mn-lt"/>
              </a:rPr>
              <a:t>is the slope of the option pricing function at the current stock price. </a:t>
            </a:r>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B7CDD075-4323-4E6B-A43B-FB27A83C9C6E}"/>
              </a:ext>
            </a:extLst>
          </p:cNvPr>
          <p:cNvGrpSpPr/>
          <p:nvPr/>
        </p:nvGrpSpPr>
        <p:grpSpPr>
          <a:xfrm>
            <a:off x="2855639" y="3643550"/>
            <a:ext cx="6480720" cy="2016224"/>
            <a:chOff x="1259632" y="3429000"/>
            <a:chExt cx="6480720" cy="2016224"/>
          </a:xfrm>
        </p:grpSpPr>
        <p:grpSp>
          <p:nvGrpSpPr>
            <p:cNvPr id="5" name="组合 1">
              <a:extLst>
                <a:ext uri="{FF2B5EF4-FFF2-40B4-BE49-F238E27FC236}">
                  <a16:creationId xmlns:a16="http://schemas.microsoft.com/office/drawing/2014/main" id="{1F23E3D5-D9B3-4F07-A24A-EADE266DEE41}"/>
                </a:ext>
              </a:extLst>
            </p:cNvPr>
            <p:cNvGrpSpPr>
              <a:grpSpLocks/>
            </p:cNvGrpSpPr>
            <p:nvPr/>
          </p:nvGrpSpPr>
          <p:grpSpPr bwMode="auto">
            <a:xfrm>
              <a:off x="1403648" y="3573463"/>
              <a:ext cx="2519362" cy="1727200"/>
              <a:chOff x="1547813" y="3573463"/>
              <a:chExt cx="2519362" cy="1727200"/>
            </a:xfrm>
          </p:grpSpPr>
          <p:grpSp>
            <p:nvGrpSpPr>
              <p:cNvPr id="12" name="组合 34">
                <a:extLst>
                  <a:ext uri="{FF2B5EF4-FFF2-40B4-BE49-F238E27FC236}">
                    <a16:creationId xmlns:a16="http://schemas.microsoft.com/office/drawing/2014/main" id="{053B5FF3-6EC9-43DF-B84A-5D5DAEE84A1C}"/>
                  </a:ext>
                </a:extLst>
              </p:cNvPr>
              <p:cNvGrpSpPr>
                <a:grpSpLocks/>
              </p:cNvGrpSpPr>
              <p:nvPr/>
            </p:nvGrpSpPr>
            <p:grpSpPr bwMode="auto">
              <a:xfrm>
                <a:off x="1547813" y="3573463"/>
                <a:ext cx="2519362" cy="1727200"/>
                <a:chOff x="0" y="0"/>
                <a:chExt cx="2520280" cy="1728192"/>
              </a:xfrm>
            </p:grpSpPr>
            <p:cxnSp>
              <p:nvCxnSpPr>
                <p:cNvPr id="14" name="直接箭头连接符 35">
                  <a:extLst>
                    <a:ext uri="{FF2B5EF4-FFF2-40B4-BE49-F238E27FC236}">
                      <a16:creationId xmlns:a16="http://schemas.microsoft.com/office/drawing/2014/main" id="{A1883D6F-983F-4065-8E57-820BBB350826}"/>
                    </a:ext>
                  </a:extLst>
                </p:cNvPr>
                <p:cNvCxnSpPr>
                  <a:cxnSpLocks noChangeShapeType="1"/>
                </p:cNvCxnSpPr>
                <p:nvPr/>
              </p:nvCxnSpPr>
              <p:spPr bwMode="auto">
                <a:xfrm>
                  <a:off x="0" y="1080120"/>
                  <a:ext cx="2520280" cy="0"/>
                </a:xfrm>
                <a:prstGeom prst="straightConnector1">
                  <a:avLst/>
                </a:prstGeom>
                <a:ln>
                  <a:solidFill>
                    <a:srgbClr val="2C3E50"/>
                  </a:solidFill>
                  <a:headEnd/>
                  <a:tailEnd type="triangle" w="med" len="med"/>
                </a:ln>
              </p:spPr>
              <p:style>
                <a:lnRef idx="3">
                  <a:schemeClr val="dk1"/>
                </a:lnRef>
                <a:fillRef idx="0">
                  <a:schemeClr val="dk1"/>
                </a:fillRef>
                <a:effectRef idx="2">
                  <a:schemeClr val="dk1"/>
                </a:effectRef>
                <a:fontRef idx="minor">
                  <a:schemeClr val="tx1"/>
                </a:fontRef>
              </p:style>
            </p:cxnSp>
            <p:cxnSp>
              <p:nvCxnSpPr>
                <p:cNvPr id="15" name="直接箭头连接符 36">
                  <a:extLst>
                    <a:ext uri="{FF2B5EF4-FFF2-40B4-BE49-F238E27FC236}">
                      <a16:creationId xmlns:a16="http://schemas.microsoft.com/office/drawing/2014/main" id="{115C85F0-5848-4435-A47B-42C27A5EE904}"/>
                    </a:ext>
                  </a:extLst>
                </p:cNvPr>
                <p:cNvCxnSpPr>
                  <a:cxnSpLocks noChangeShapeType="1"/>
                </p:cNvCxnSpPr>
                <p:nvPr/>
              </p:nvCxnSpPr>
              <p:spPr bwMode="auto">
                <a:xfrm flipV="1">
                  <a:off x="287442" y="0"/>
                  <a:ext cx="0" cy="1728192"/>
                </a:xfrm>
                <a:prstGeom prst="straightConnector1">
                  <a:avLst/>
                </a:prstGeom>
                <a:ln>
                  <a:solidFill>
                    <a:srgbClr val="2C3E50"/>
                  </a:solidFill>
                  <a:headEnd/>
                  <a:tailEnd type="triangle" w="med" len="med"/>
                </a:ln>
              </p:spPr>
              <p:style>
                <a:lnRef idx="3">
                  <a:schemeClr val="dk1"/>
                </a:lnRef>
                <a:fillRef idx="0">
                  <a:schemeClr val="dk1"/>
                </a:fillRef>
                <a:effectRef idx="2">
                  <a:schemeClr val="dk1"/>
                </a:effectRef>
                <a:fontRef idx="minor">
                  <a:schemeClr val="tx1"/>
                </a:fontRef>
              </p:style>
            </p:cxnSp>
          </p:grpSp>
          <p:sp>
            <p:nvSpPr>
              <p:cNvPr id="13" name="任意多边形 45">
                <a:extLst>
                  <a:ext uri="{FF2B5EF4-FFF2-40B4-BE49-F238E27FC236}">
                    <a16:creationId xmlns:a16="http://schemas.microsoft.com/office/drawing/2014/main" id="{F60DF313-F0E1-4069-92D4-CFAEC6DFD49B}"/>
                  </a:ext>
                </a:extLst>
              </p:cNvPr>
              <p:cNvSpPr>
                <a:spLocks/>
              </p:cNvSpPr>
              <p:nvPr/>
            </p:nvSpPr>
            <p:spPr bwMode="auto">
              <a:xfrm>
                <a:off x="1828800" y="3941763"/>
                <a:ext cx="1930400" cy="1128712"/>
              </a:xfrm>
              <a:custGeom>
                <a:avLst/>
                <a:gdLst>
                  <a:gd name="T0" fmla="*/ 0 w 1930400"/>
                  <a:gd name="T1" fmla="*/ 1128888 h 1128888"/>
                  <a:gd name="T2" fmla="*/ 1027289 w 1930400"/>
                  <a:gd name="T3" fmla="*/ 891822 h 1128888"/>
                  <a:gd name="T4" fmla="*/ 1930400 w 1930400"/>
                  <a:gd name="T5" fmla="*/ 0 h 1128888"/>
                </a:gdLst>
                <a:ahLst/>
                <a:cxnLst>
                  <a:cxn ang="0">
                    <a:pos x="T0" y="T1"/>
                  </a:cxn>
                  <a:cxn ang="0">
                    <a:pos x="T2" y="T3"/>
                  </a:cxn>
                  <a:cxn ang="0">
                    <a:pos x="T4" y="T5"/>
                  </a:cxn>
                </a:cxnLst>
                <a:rect l="0" t="0" r="r" b="b"/>
                <a:pathLst>
                  <a:path w="1930400" h="1128888">
                    <a:moveTo>
                      <a:pt x="0" y="1128888"/>
                    </a:moveTo>
                    <a:cubicBezTo>
                      <a:pt x="352778" y="1104429"/>
                      <a:pt x="705556" y="1079970"/>
                      <a:pt x="1027289" y="891822"/>
                    </a:cubicBezTo>
                    <a:cubicBezTo>
                      <a:pt x="1349022" y="703674"/>
                      <a:pt x="1639711" y="351837"/>
                      <a:pt x="1930400" y="0"/>
                    </a:cubicBezTo>
                  </a:path>
                </a:pathLst>
              </a:custGeom>
              <a:ln>
                <a:solidFill>
                  <a:srgbClr val="2C3E50"/>
                </a:solidFill>
                <a:headEnd/>
                <a:tailEnd/>
              </a:ln>
            </p:spPr>
            <p:style>
              <a:lnRef idx="3">
                <a:schemeClr val="dk1"/>
              </a:lnRef>
              <a:fillRef idx="0">
                <a:schemeClr val="dk1"/>
              </a:fillRef>
              <a:effectRef idx="2">
                <a:schemeClr val="dk1"/>
              </a:effectRef>
              <a:fontRef idx="minor">
                <a:schemeClr val="tx1"/>
              </a:fontRef>
            </p:style>
            <p:txBody>
              <a:bodyPr anchor="ctr"/>
              <a:lstStyle/>
              <a:p>
                <a:pPr>
                  <a:defRPr/>
                </a:pPr>
                <a:endParaRPr lang="zh-CN" altLang="en-US"/>
              </a:p>
            </p:txBody>
          </p:sp>
        </p:grpSp>
        <p:grpSp>
          <p:nvGrpSpPr>
            <p:cNvPr id="6" name="组合 2">
              <a:extLst>
                <a:ext uri="{FF2B5EF4-FFF2-40B4-BE49-F238E27FC236}">
                  <a16:creationId xmlns:a16="http://schemas.microsoft.com/office/drawing/2014/main" id="{749B0E49-1B69-4C0A-A356-0AC58734FDA9}"/>
                </a:ext>
              </a:extLst>
            </p:cNvPr>
            <p:cNvGrpSpPr>
              <a:grpSpLocks/>
            </p:cNvGrpSpPr>
            <p:nvPr/>
          </p:nvGrpSpPr>
          <p:grpSpPr bwMode="auto">
            <a:xfrm>
              <a:off x="5148064" y="3573463"/>
              <a:ext cx="2519363" cy="1727200"/>
              <a:chOff x="5508625" y="3573463"/>
              <a:chExt cx="2519363" cy="1727200"/>
            </a:xfrm>
          </p:grpSpPr>
          <p:grpSp>
            <p:nvGrpSpPr>
              <p:cNvPr id="8" name="组合 33">
                <a:extLst>
                  <a:ext uri="{FF2B5EF4-FFF2-40B4-BE49-F238E27FC236}">
                    <a16:creationId xmlns:a16="http://schemas.microsoft.com/office/drawing/2014/main" id="{D42FD2C7-645A-4802-8276-C04A7EE0B630}"/>
                  </a:ext>
                </a:extLst>
              </p:cNvPr>
              <p:cNvGrpSpPr>
                <a:grpSpLocks/>
              </p:cNvGrpSpPr>
              <p:nvPr/>
            </p:nvGrpSpPr>
            <p:grpSpPr bwMode="auto">
              <a:xfrm>
                <a:off x="5508625" y="3573463"/>
                <a:ext cx="2519363" cy="1727200"/>
                <a:chOff x="0" y="0"/>
                <a:chExt cx="2520280" cy="1728192"/>
              </a:xfrm>
            </p:grpSpPr>
            <p:cxnSp>
              <p:nvCxnSpPr>
                <p:cNvPr id="10" name="直接箭头连接符 25">
                  <a:extLst>
                    <a:ext uri="{FF2B5EF4-FFF2-40B4-BE49-F238E27FC236}">
                      <a16:creationId xmlns:a16="http://schemas.microsoft.com/office/drawing/2014/main" id="{E3F722E0-6177-4E44-A7BE-996507B71539}"/>
                    </a:ext>
                  </a:extLst>
                </p:cNvPr>
                <p:cNvCxnSpPr>
                  <a:cxnSpLocks noChangeShapeType="1"/>
                </p:cNvCxnSpPr>
                <p:nvPr/>
              </p:nvCxnSpPr>
              <p:spPr bwMode="auto">
                <a:xfrm>
                  <a:off x="0" y="1080120"/>
                  <a:ext cx="2520280" cy="0"/>
                </a:xfrm>
                <a:prstGeom prst="straightConnector1">
                  <a:avLst/>
                </a:prstGeom>
                <a:ln>
                  <a:solidFill>
                    <a:srgbClr val="2C3E50"/>
                  </a:solidFill>
                  <a:headEnd/>
                  <a:tailEnd type="triangle" w="med" len="med"/>
                </a:ln>
              </p:spPr>
              <p:style>
                <a:lnRef idx="3">
                  <a:schemeClr val="dk1"/>
                </a:lnRef>
                <a:fillRef idx="0">
                  <a:schemeClr val="dk1"/>
                </a:fillRef>
                <a:effectRef idx="2">
                  <a:schemeClr val="dk1"/>
                </a:effectRef>
                <a:fontRef idx="minor">
                  <a:schemeClr val="tx1"/>
                </a:fontRef>
              </p:style>
            </p:cxnSp>
            <p:cxnSp>
              <p:nvCxnSpPr>
                <p:cNvPr id="11" name="直接箭头连接符 27">
                  <a:extLst>
                    <a:ext uri="{FF2B5EF4-FFF2-40B4-BE49-F238E27FC236}">
                      <a16:creationId xmlns:a16="http://schemas.microsoft.com/office/drawing/2014/main" id="{14D481EC-88B6-4D7B-AA6F-3AAFD2958E09}"/>
                    </a:ext>
                  </a:extLst>
                </p:cNvPr>
                <p:cNvCxnSpPr>
                  <a:cxnSpLocks noChangeShapeType="1"/>
                </p:cNvCxnSpPr>
                <p:nvPr/>
              </p:nvCxnSpPr>
              <p:spPr bwMode="auto">
                <a:xfrm flipV="1">
                  <a:off x="287443" y="0"/>
                  <a:ext cx="0" cy="1728192"/>
                </a:xfrm>
                <a:prstGeom prst="straightConnector1">
                  <a:avLst/>
                </a:prstGeom>
                <a:ln>
                  <a:solidFill>
                    <a:srgbClr val="2C3E50"/>
                  </a:solidFill>
                  <a:headEnd/>
                  <a:tailEnd type="triangle" w="med" len="med"/>
                </a:ln>
              </p:spPr>
              <p:style>
                <a:lnRef idx="3">
                  <a:schemeClr val="dk1"/>
                </a:lnRef>
                <a:fillRef idx="0">
                  <a:schemeClr val="dk1"/>
                </a:fillRef>
                <a:effectRef idx="2">
                  <a:schemeClr val="dk1"/>
                </a:effectRef>
                <a:fontRef idx="minor">
                  <a:schemeClr val="tx1"/>
                </a:fontRef>
              </p:style>
            </p:cxnSp>
          </p:grpSp>
          <p:sp>
            <p:nvSpPr>
              <p:cNvPr id="9" name="任意多边形 46">
                <a:extLst>
                  <a:ext uri="{FF2B5EF4-FFF2-40B4-BE49-F238E27FC236}">
                    <a16:creationId xmlns:a16="http://schemas.microsoft.com/office/drawing/2014/main" id="{45FFE474-83CA-4D4A-BEED-13CDE8F0351F}"/>
                  </a:ext>
                </a:extLst>
              </p:cNvPr>
              <p:cNvSpPr>
                <a:spLocks/>
              </p:cNvSpPr>
              <p:nvPr/>
            </p:nvSpPr>
            <p:spPr bwMode="auto">
              <a:xfrm>
                <a:off x="6084888" y="3941763"/>
                <a:ext cx="1806575" cy="1128712"/>
              </a:xfrm>
              <a:custGeom>
                <a:avLst/>
                <a:gdLst>
                  <a:gd name="T0" fmla="*/ 0 w 1806222"/>
                  <a:gd name="T1" fmla="*/ 0 h 1174044"/>
                  <a:gd name="T2" fmla="*/ 508000 w 1806222"/>
                  <a:gd name="T3" fmla="*/ 903111 h 1174044"/>
                  <a:gd name="T4" fmla="*/ 1806222 w 1806222"/>
                  <a:gd name="T5" fmla="*/ 1174044 h 1174044"/>
                </a:gdLst>
                <a:ahLst/>
                <a:cxnLst>
                  <a:cxn ang="0">
                    <a:pos x="T0" y="T1"/>
                  </a:cxn>
                  <a:cxn ang="0">
                    <a:pos x="T2" y="T3"/>
                  </a:cxn>
                  <a:cxn ang="0">
                    <a:pos x="T4" y="T5"/>
                  </a:cxn>
                </a:cxnLst>
                <a:rect l="0" t="0" r="r" b="b"/>
                <a:pathLst>
                  <a:path w="1806222" h="1174044">
                    <a:moveTo>
                      <a:pt x="0" y="0"/>
                    </a:moveTo>
                    <a:cubicBezTo>
                      <a:pt x="103481" y="353718"/>
                      <a:pt x="206963" y="707437"/>
                      <a:pt x="508000" y="903111"/>
                    </a:cubicBezTo>
                    <a:cubicBezTo>
                      <a:pt x="809037" y="1098785"/>
                      <a:pt x="1307629" y="1136414"/>
                      <a:pt x="1806222" y="1174044"/>
                    </a:cubicBezTo>
                  </a:path>
                </a:pathLst>
              </a:custGeom>
              <a:ln>
                <a:solidFill>
                  <a:srgbClr val="2C3E50"/>
                </a:solidFill>
                <a:headEnd/>
                <a:tailEnd/>
              </a:ln>
            </p:spPr>
            <p:style>
              <a:lnRef idx="3">
                <a:schemeClr val="dk1"/>
              </a:lnRef>
              <a:fillRef idx="0">
                <a:schemeClr val="dk1"/>
              </a:fillRef>
              <a:effectRef idx="2">
                <a:schemeClr val="dk1"/>
              </a:effectRef>
              <a:fontRef idx="minor">
                <a:schemeClr val="tx1"/>
              </a:fontRef>
            </p:style>
            <p:txBody>
              <a:bodyPr anchor="ctr"/>
              <a:lstStyle/>
              <a:p>
                <a:pPr>
                  <a:defRPr/>
                </a:pPr>
                <a:endParaRPr lang="zh-CN" altLang="en-US"/>
              </a:p>
            </p:txBody>
          </p:sp>
        </p:grpSp>
        <p:sp>
          <p:nvSpPr>
            <p:cNvPr id="7" name="圆角矩形 13">
              <a:extLst>
                <a:ext uri="{FF2B5EF4-FFF2-40B4-BE49-F238E27FC236}">
                  <a16:creationId xmlns:a16="http://schemas.microsoft.com/office/drawing/2014/main" id="{F04AE49B-88FA-4A64-87DA-CFB0C3AEE218}"/>
                </a:ext>
              </a:extLst>
            </p:cNvPr>
            <p:cNvSpPr/>
            <p:nvPr/>
          </p:nvSpPr>
          <p:spPr>
            <a:xfrm>
              <a:off x="1259632" y="3429000"/>
              <a:ext cx="6480720" cy="2016224"/>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8753545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Delta</a:t>
            </a:r>
          </a:p>
          <a:p>
            <a:endParaRPr lang="zh-CN" altLang="en-US" dirty="0">
              <a:latin typeface="+mn-lt"/>
              <a:ea typeface="+mn-ea"/>
              <a:cs typeface="+mn-ea"/>
              <a:sym typeface="+mn-lt"/>
            </a:endParaRPr>
          </a:p>
        </p:txBody>
      </p:sp>
      <p:graphicFrame>
        <p:nvGraphicFramePr>
          <p:cNvPr id="5" name="Group 25">
            <a:extLst>
              <a:ext uri="{FF2B5EF4-FFF2-40B4-BE49-F238E27FC236}">
                <a16:creationId xmlns:a16="http://schemas.microsoft.com/office/drawing/2014/main" id="{E43AD50D-4832-4134-9ECA-2B1D6425A941}"/>
              </a:ext>
            </a:extLst>
          </p:cNvPr>
          <p:cNvGraphicFramePr>
            <a:graphicFrameLocks noGrp="1"/>
          </p:cNvGraphicFramePr>
          <p:nvPr>
            <p:extLst>
              <p:ext uri="{D42A27DB-BD31-4B8C-83A1-F6EECF244321}">
                <p14:modId xmlns:p14="http://schemas.microsoft.com/office/powerpoint/2010/main" val="218768871"/>
              </p:ext>
            </p:extLst>
          </p:nvPr>
        </p:nvGraphicFramePr>
        <p:xfrm>
          <a:off x="8497190" y="4153521"/>
          <a:ext cx="2125662" cy="2153394"/>
        </p:xfrm>
        <a:graphic>
          <a:graphicData uri="http://schemas.openxmlformats.org/drawingml/2006/table">
            <a:tbl>
              <a:tblPr/>
              <a:tblGrid>
                <a:gridCol w="1327150">
                  <a:extLst>
                    <a:ext uri="{9D8B030D-6E8A-4147-A177-3AD203B41FA5}">
                      <a16:colId xmlns:a16="http://schemas.microsoft.com/office/drawing/2014/main" val="20000"/>
                    </a:ext>
                  </a:extLst>
                </a:gridCol>
                <a:gridCol w="798512">
                  <a:extLst>
                    <a:ext uri="{9D8B030D-6E8A-4147-A177-3AD203B41FA5}">
                      <a16:colId xmlns:a16="http://schemas.microsoft.com/office/drawing/2014/main" val="20001"/>
                    </a:ext>
                  </a:extLst>
                </a:gridCol>
              </a:tblGrid>
              <a:tr h="533394">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Long Call</a:t>
                      </a:r>
                      <a:endParaRPr kumimoji="0" lang="zh-CN" altLang="en-US" sz="1800" b="0" i="0" u="none" strike="noStrike" cap="none" normalizeH="0" baseline="0" dirty="0">
                        <a:ln>
                          <a:noFill/>
                        </a:ln>
                        <a:solidFill>
                          <a:srgbClr val="2C3E50"/>
                        </a:solidFill>
                        <a:effectLst/>
                        <a:latin typeface="Arial" panose="020B0604020202020204" pitchFamily="34" charset="0"/>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Δ &gt; 0</a:t>
                      </a:r>
                      <a:endParaRPr kumimoji="0" lang="zh-CN" altLang="en-US" sz="1800" b="0" i="0" u="none" strike="noStrike" cap="none" normalizeH="0" baseline="0">
                        <a:ln>
                          <a:noFill/>
                        </a:ln>
                        <a:solidFill>
                          <a:srgbClr val="2C3E50"/>
                        </a:solidFill>
                        <a:effectLst/>
                        <a:latin typeface="Arial" panose="020B0604020202020204" pitchFamily="34" charset="0"/>
                        <a:ea typeface="微软雅黑" panose="020B0503020204020204" pitchFamily="34" charset="-122"/>
                      </a:endParaRP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0000">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Short Call</a:t>
                      </a:r>
                      <a:endParaRPr kumimoji="0" lang="zh-CN" altLang="en-US" sz="1800" b="0" i="0" u="none" strike="noStrike" cap="none" normalizeH="0" baseline="0">
                        <a:ln>
                          <a:noFill/>
                        </a:ln>
                        <a:solidFill>
                          <a:srgbClr val="2C3E50"/>
                        </a:solidFill>
                        <a:effectLst/>
                        <a:latin typeface="Arial" panose="020B0604020202020204" pitchFamily="34" charset="0"/>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2C3E50"/>
                          </a:solidFill>
                          <a:effectLst/>
                          <a:latin typeface="Arial" panose="020B0604020202020204" pitchFamily="34" charset="0"/>
                          <a:ea typeface="微软雅黑" panose="020B0503020204020204" pitchFamily="34" charset="-122"/>
                        </a:rPr>
                        <a:t>Δ</a:t>
                      </a:r>
                      <a:r>
                        <a:rPr kumimoji="0" lang="en-US" altLang="zh-CN" sz="1800" b="0" i="0" u="none" strike="noStrike" cap="none" normalizeH="0" baseline="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 &lt; 0</a:t>
                      </a:r>
                      <a:endParaRPr kumimoji="0" lang="en-US" altLang="zh-CN" sz="1800" b="0" i="0" u="none" strike="noStrike" cap="none" normalizeH="0" baseline="0">
                        <a:ln>
                          <a:noFill/>
                        </a:ln>
                        <a:solidFill>
                          <a:srgbClr val="2C3E50"/>
                        </a:solidFill>
                        <a:effectLst/>
                        <a:latin typeface="Arial" panose="020B0604020202020204" pitchFamily="34" charset="0"/>
                        <a:ea typeface="微软雅黑" panose="020B0503020204020204" pitchFamily="34" charset="-122"/>
                      </a:endParaRP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0000">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Long Put</a:t>
                      </a:r>
                      <a:endParaRPr kumimoji="0" lang="zh-CN" altLang="en-US" sz="1800" b="0" i="0" u="none" strike="noStrike" cap="none" normalizeH="0" baseline="0">
                        <a:ln>
                          <a:noFill/>
                        </a:ln>
                        <a:solidFill>
                          <a:srgbClr val="2C3E50"/>
                        </a:solidFill>
                        <a:effectLst/>
                        <a:latin typeface="Arial" panose="020B0604020202020204" pitchFamily="34" charset="0"/>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2C3E50"/>
                          </a:solidFill>
                          <a:effectLst/>
                          <a:latin typeface="Arial" panose="020B0604020202020204" pitchFamily="34" charset="0"/>
                          <a:ea typeface="微软雅黑" panose="020B0503020204020204" pitchFamily="34" charset="-122"/>
                        </a:rPr>
                        <a:t>Δ &lt; 0</a:t>
                      </a:r>
                      <a:endParaRPr kumimoji="0" lang="zh-CN" altLang="en-US" sz="1800" b="0" i="0" u="none" strike="noStrike" cap="none" normalizeH="0" baseline="0">
                        <a:ln>
                          <a:noFill/>
                        </a:ln>
                        <a:solidFill>
                          <a:srgbClr val="2C3E50"/>
                        </a:solidFill>
                        <a:effectLst/>
                        <a:latin typeface="Arial" panose="020B0604020202020204" pitchFamily="34" charset="0"/>
                        <a:ea typeface="微软雅黑" panose="020B0503020204020204" pitchFamily="34" charset="-122"/>
                      </a:endParaRP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0000">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Short Put</a:t>
                      </a:r>
                      <a:endParaRPr kumimoji="0" lang="zh-CN" altLang="en-US" sz="1800" b="0" i="0" u="none" strike="noStrike" cap="none" normalizeH="0" baseline="0" dirty="0">
                        <a:ln>
                          <a:noFill/>
                        </a:ln>
                        <a:solidFill>
                          <a:srgbClr val="2C3E50"/>
                        </a:solidFill>
                        <a:effectLst/>
                        <a:latin typeface="Arial" panose="020B0604020202020204" pitchFamily="34" charset="0"/>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Arial" panose="020B0604020202020204" pitchFamily="34" charset="0"/>
                          <a:ea typeface="微软雅黑" panose="020B0503020204020204" pitchFamily="34" charset="-122"/>
                        </a:rPr>
                        <a:t>Δ &gt; 0</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 name="TextBox 4">
            <a:extLst>
              <a:ext uri="{FF2B5EF4-FFF2-40B4-BE49-F238E27FC236}">
                <a16:creationId xmlns:a16="http://schemas.microsoft.com/office/drawing/2014/main" id="{3C5C16F0-2799-4EB8-8D64-C1CE48B6C285}"/>
              </a:ext>
            </a:extLst>
          </p:cNvPr>
          <p:cNvSpPr txBox="1"/>
          <p:nvPr/>
        </p:nvSpPr>
        <p:spPr>
          <a:xfrm>
            <a:off x="7580021" y="2317738"/>
            <a:ext cx="3960000" cy="936000"/>
          </a:xfrm>
          <a:prstGeom prst="rect">
            <a:avLst/>
          </a:prstGeom>
          <a:noFill/>
          <a:ln w="19050">
            <a:solidFill>
              <a:schemeClr val="tx2">
                <a:lumMod val="60000"/>
                <a:lumOff val="40000"/>
              </a:schemeClr>
            </a:solidFill>
          </a:ln>
        </p:spPr>
        <p:txBody>
          <a:bodyPr wrap="square" lIns="36000" tIns="36000" rIns="36000" bIns="36000" rtlCol="0" anchor="ctr" anchorCtr="0">
            <a:noAutofit/>
          </a:bodyPr>
          <a:lstStyle/>
          <a:p>
            <a:pPr marL="0" lvl="1" indent="0" algn="ctr" eaLnBrk="1" hangingPunct="1">
              <a:lnSpc>
                <a:spcPct val="150000"/>
              </a:lnSpc>
              <a:buFont typeface="Wingdings" panose="05000000000000000000" pitchFamily="2" charset="2"/>
              <a:buNone/>
            </a:pPr>
            <a:r>
              <a:rPr lang="en-US" altLang="zh-CN" sz="2000" u="sng" dirty="0">
                <a:solidFill>
                  <a:srgbClr val="2C3E50"/>
                </a:solidFill>
                <a:latin typeface="Segoe UI" panose="020B0502040204020203" pitchFamily="34" charset="0"/>
                <a:ea typeface="Segoe UI" panose="020B0502040204020203" pitchFamily="34" charset="0"/>
                <a:cs typeface="Segoe UI" panose="020B0502040204020203" pitchFamily="34" charset="0"/>
              </a:rPr>
              <a:t>Call option Δ range from 0 to 1.</a:t>
            </a:r>
          </a:p>
          <a:p>
            <a:pPr marL="0" lvl="1" indent="0" algn="ctr" eaLnBrk="1" hangingPunct="1">
              <a:lnSpc>
                <a:spcPct val="150000"/>
              </a:lnSpc>
              <a:buFont typeface="Wingdings" panose="05000000000000000000" pitchFamily="2" charset="2"/>
              <a:buNone/>
            </a:pPr>
            <a:r>
              <a:rPr lang="en-US" altLang="zh-CN" sz="2000" u="sng" dirty="0">
                <a:solidFill>
                  <a:srgbClr val="2C3E50"/>
                </a:solidFill>
                <a:latin typeface="Segoe UI" panose="020B0502040204020203" pitchFamily="34" charset="0"/>
                <a:ea typeface="Segoe UI" panose="020B0502040204020203" pitchFamily="34" charset="0"/>
                <a:cs typeface="Segoe UI" panose="020B0502040204020203" pitchFamily="34" charset="0"/>
              </a:rPr>
              <a:t>Put option Δ range from -1 to 0.</a:t>
            </a:r>
            <a:endParaRPr lang="zh-CN" altLang="en-US" sz="2000" dirty="0">
              <a:solidFill>
                <a:srgbClr val="2C3E50"/>
              </a:solidFill>
              <a:latin typeface="Segoe UI" panose="020B0502040204020203" pitchFamily="34" charset="0"/>
              <a:cs typeface="Segoe UI" panose="020B0502040204020203" pitchFamily="34" charset="0"/>
            </a:endParaRPr>
          </a:p>
        </p:txBody>
      </p:sp>
      <p:grpSp>
        <p:nvGrpSpPr>
          <p:cNvPr id="7" name="组合 6">
            <a:extLst>
              <a:ext uri="{FF2B5EF4-FFF2-40B4-BE49-F238E27FC236}">
                <a16:creationId xmlns:a16="http://schemas.microsoft.com/office/drawing/2014/main" id="{D027CB42-D0B5-4A87-B70C-671EFC220CB5}"/>
              </a:ext>
            </a:extLst>
          </p:cNvPr>
          <p:cNvGrpSpPr/>
          <p:nvPr/>
        </p:nvGrpSpPr>
        <p:grpSpPr>
          <a:xfrm>
            <a:off x="1073125" y="1758462"/>
            <a:ext cx="4888060" cy="4715170"/>
            <a:chOff x="467544" y="1628800"/>
            <a:chExt cx="5040560" cy="4315396"/>
          </a:xfrm>
        </p:grpSpPr>
        <p:grpSp>
          <p:nvGrpSpPr>
            <p:cNvPr id="8" name="组合 7">
              <a:extLst>
                <a:ext uri="{FF2B5EF4-FFF2-40B4-BE49-F238E27FC236}">
                  <a16:creationId xmlns:a16="http://schemas.microsoft.com/office/drawing/2014/main" id="{11A74CE9-6729-449B-96D6-9A7CB93CD5F2}"/>
                </a:ext>
              </a:extLst>
            </p:cNvPr>
            <p:cNvGrpSpPr/>
            <p:nvPr/>
          </p:nvGrpSpPr>
          <p:grpSpPr>
            <a:xfrm>
              <a:off x="545579" y="1700808"/>
              <a:ext cx="4899728" cy="4061460"/>
              <a:chOff x="184150" y="1412875"/>
              <a:chExt cx="4899728" cy="4061460"/>
            </a:xfrm>
          </p:grpSpPr>
          <p:sp>
            <p:nvSpPr>
              <p:cNvPr id="10" name="文本框 25">
                <a:extLst>
                  <a:ext uri="{FF2B5EF4-FFF2-40B4-BE49-F238E27FC236}">
                    <a16:creationId xmlns:a16="http://schemas.microsoft.com/office/drawing/2014/main" id="{1ACB00EB-AAF0-4E6C-8840-8C1452BF8954}"/>
                  </a:ext>
                </a:extLst>
              </p:cNvPr>
              <p:cNvSpPr txBox="1">
                <a:spLocks noChangeArrowheads="1"/>
              </p:cNvSpPr>
              <p:nvPr/>
            </p:nvSpPr>
            <p:spPr bwMode="auto">
              <a:xfrm>
                <a:off x="1080106" y="5083661"/>
                <a:ext cx="3750341" cy="390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400" dirty="0">
                    <a:solidFill>
                      <a:srgbClr val="2C3E50"/>
                    </a:solidFill>
                    <a:latin typeface="Segoe UI" panose="020B0502040204020203" pitchFamily="34" charset="0"/>
                    <a:ea typeface="Segoe UI" panose="020B0502040204020203" pitchFamily="34" charset="0"/>
                    <a:cs typeface="Segoe UI" panose="020B0502040204020203" pitchFamily="34" charset="0"/>
                  </a:rPr>
                  <a:t>Delta of Call and Put Option</a:t>
                </a:r>
                <a:endParaRPr lang="zh-CN" altLang="en-US" sz="1400" dirty="0">
                  <a:solidFill>
                    <a:srgbClr val="2C3E50"/>
                  </a:solidFill>
                  <a:latin typeface="Segoe UI" panose="020B0502040204020203" pitchFamily="34" charset="0"/>
                  <a:cs typeface="Segoe UI" panose="020B0502040204020203" pitchFamily="34" charset="0"/>
                </a:endParaRPr>
              </a:p>
            </p:txBody>
          </p:sp>
          <p:cxnSp>
            <p:nvCxnSpPr>
              <p:cNvPr id="11" name="直接连接符 4">
                <a:extLst>
                  <a:ext uri="{FF2B5EF4-FFF2-40B4-BE49-F238E27FC236}">
                    <a16:creationId xmlns:a16="http://schemas.microsoft.com/office/drawing/2014/main" id="{55FFEB57-5F32-4EF5-A3D6-B94FD7E353F9}"/>
                  </a:ext>
                </a:extLst>
              </p:cNvPr>
              <p:cNvCxnSpPr>
                <a:cxnSpLocks noChangeShapeType="1"/>
              </p:cNvCxnSpPr>
              <p:nvPr/>
            </p:nvCxnSpPr>
            <p:spPr bwMode="auto">
              <a:xfrm>
                <a:off x="763878" y="1765300"/>
                <a:ext cx="0" cy="360000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12" name="直接连接符 6">
                <a:extLst>
                  <a:ext uri="{FF2B5EF4-FFF2-40B4-BE49-F238E27FC236}">
                    <a16:creationId xmlns:a16="http://schemas.microsoft.com/office/drawing/2014/main" id="{09AFD65D-8979-43D6-A89F-ABBD5265AF80}"/>
                  </a:ext>
                </a:extLst>
              </p:cNvPr>
              <p:cNvCxnSpPr>
                <a:cxnSpLocks noChangeShapeType="1"/>
              </p:cNvCxnSpPr>
              <p:nvPr/>
            </p:nvCxnSpPr>
            <p:spPr bwMode="auto">
              <a:xfrm>
                <a:off x="763878" y="3444875"/>
                <a:ext cx="4320000" cy="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sp>
            <p:nvSpPr>
              <p:cNvPr id="13" name="文本框 7">
                <a:extLst>
                  <a:ext uri="{FF2B5EF4-FFF2-40B4-BE49-F238E27FC236}">
                    <a16:creationId xmlns:a16="http://schemas.microsoft.com/office/drawing/2014/main" id="{AE30650A-BB5F-4A0A-9CBC-D4D94A3F1640}"/>
                  </a:ext>
                </a:extLst>
              </p:cNvPr>
              <p:cNvSpPr txBox="1">
                <a:spLocks noChangeArrowheads="1"/>
              </p:cNvSpPr>
              <p:nvPr/>
            </p:nvSpPr>
            <p:spPr bwMode="auto">
              <a:xfrm>
                <a:off x="2698403" y="3444875"/>
                <a:ext cx="244225" cy="38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K</a:t>
                </a:r>
                <a:endParaRPr lang="zh-CN" altLang="en-US" sz="2000" b="0" dirty="0">
                  <a:solidFill>
                    <a:srgbClr val="2C3E50"/>
                  </a:solidFill>
                  <a:latin typeface="Segoe UI" panose="020B0502040204020203" pitchFamily="34" charset="0"/>
                  <a:cs typeface="Segoe UI" panose="020B0502040204020203" pitchFamily="34" charset="0"/>
                </a:endParaRPr>
              </a:p>
            </p:txBody>
          </p:sp>
          <p:cxnSp>
            <p:nvCxnSpPr>
              <p:cNvPr id="14" name="直接连接符 9">
                <a:extLst>
                  <a:ext uri="{FF2B5EF4-FFF2-40B4-BE49-F238E27FC236}">
                    <a16:creationId xmlns:a16="http://schemas.microsoft.com/office/drawing/2014/main" id="{F73EC918-E315-4F24-AA30-9B513172AD79}"/>
                  </a:ext>
                </a:extLst>
              </p:cNvPr>
              <p:cNvCxnSpPr>
                <a:cxnSpLocks noChangeShapeType="1"/>
              </p:cNvCxnSpPr>
              <p:nvPr/>
            </p:nvCxnSpPr>
            <p:spPr bwMode="auto">
              <a:xfrm>
                <a:off x="2948148" y="2184400"/>
                <a:ext cx="0" cy="2520950"/>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cxnSp>
            <p:nvCxnSpPr>
              <p:cNvPr id="15" name="直接连接符 11">
                <a:extLst>
                  <a:ext uri="{FF2B5EF4-FFF2-40B4-BE49-F238E27FC236}">
                    <a16:creationId xmlns:a16="http://schemas.microsoft.com/office/drawing/2014/main" id="{3E2DD838-0E76-42A4-AEA2-962502FA228B}"/>
                  </a:ext>
                </a:extLst>
              </p:cNvPr>
              <p:cNvCxnSpPr>
                <a:cxnSpLocks noChangeShapeType="1"/>
              </p:cNvCxnSpPr>
              <p:nvPr/>
            </p:nvCxnSpPr>
            <p:spPr bwMode="auto">
              <a:xfrm>
                <a:off x="763878" y="1931987"/>
                <a:ext cx="4320000" cy="0"/>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cxnSp>
            <p:nvCxnSpPr>
              <p:cNvPr id="16" name="直接连接符 12">
                <a:extLst>
                  <a:ext uri="{FF2B5EF4-FFF2-40B4-BE49-F238E27FC236}">
                    <a16:creationId xmlns:a16="http://schemas.microsoft.com/office/drawing/2014/main" id="{60A7E886-1AE3-439F-994A-6789A1755A45}"/>
                  </a:ext>
                </a:extLst>
              </p:cNvPr>
              <p:cNvCxnSpPr>
                <a:cxnSpLocks noChangeShapeType="1"/>
              </p:cNvCxnSpPr>
              <p:nvPr/>
            </p:nvCxnSpPr>
            <p:spPr bwMode="auto">
              <a:xfrm>
                <a:off x="763878" y="2687637"/>
                <a:ext cx="4320000" cy="0"/>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cxnSp>
            <p:nvCxnSpPr>
              <p:cNvPr id="17" name="直接连接符 13">
                <a:extLst>
                  <a:ext uri="{FF2B5EF4-FFF2-40B4-BE49-F238E27FC236}">
                    <a16:creationId xmlns:a16="http://schemas.microsoft.com/office/drawing/2014/main" id="{09300750-0BF9-472D-B270-3272D470CF07}"/>
                  </a:ext>
                </a:extLst>
              </p:cNvPr>
              <p:cNvCxnSpPr>
                <a:cxnSpLocks noChangeShapeType="1"/>
              </p:cNvCxnSpPr>
              <p:nvPr/>
            </p:nvCxnSpPr>
            <p:spPr bwMode="auto">
              <a:xfrm>
                <a:off x="763878" y="4200525"/>
                <a:ext cx="4320000" cy="0"/>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cxnSp>
            <p:nvCxnSpPr>
              <p:cNvPr id="18" name="直接连接符 14">
                <a:extLst>
                  <a:ext uri="{FF2B5EF4-FFF2-40B4-BE49-F238E27FC236}">
                    <a16:creationId xmlns:a16="http://schemas.microsoft.com/office/drawing/2014/main" id="{18CA5E6B-E78E-4EB4-82A6-D975B2879C63}"/>
                  </a:ext>
                </a:extLst>
              </p:cNvPr>
              <p:cNvCxnSpPr>
                <a:cxnSpLocks noChangeShapeType="1"/>
              </p:cNvCxnSpPr>
              <p:nvPr/>
            </p:nvCxnSpPr>
            <p:spPr bwMode="auto">
              <a:xfrm>
                <a:off x="763878" y="4957762"/>
                <a:ext cx="4320000" cy="0"/>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sp>
            <p:nvSpPr>
              <p:cNvPr id="19" name="任意多边形 17">
                <a:extLst>
                  <a:ext uri="{FF2B5EF4-FFF2-40B4-BE49-F238E27FC236}">
                    <a16:creationId xmlns:a16="http://schemas.microsoft.com/office/drawing/2014/main" id="{2E0F161B-83C2-4EB6-804D-476E1D44CAA5}"/>
                  </a:ext>
                </a:extLst>
              </p:cNvPr>
              <p:cNvSpPr>
                <a:spLocks/>
              </p:cNvSpPr>
              <p:nvPr/>
            </p:nvSpPr>
            <p:spPr bwMode="auto">
              <a:xfrm>
                <a:off x="862013" y="2003425"/>
                <a:ext cx="4140000" cy="1368425"/>
              </a:xfrm>
              <a:custGeom>
                <a:avLst/>
                <a:gdLst>
                  <a:gd name="T0" fmla="*/ 0 w 4180114"/>
                  <a:gd name="T1" fmla="*/ 1362269 h 1367444"/>
                  <a:gd name="T2" fmla="*/ 1138335 w 4180114"/>
                  <a:gd name="T3" fmla="*/ 1268963 h 1367444"/>
                  <a:gd name="T4" fmla="*/ 2071396 w 4180114"/>
                  <a:gd name="T5" fmla="*/ 690465 h 1367444"/>
                  <a:gd name="T6" fmla="*/ 2911151 w 4180114"/>
                  <a:gd name="T7" fmla="*/ 130628 h 1367444"/>
                  <a:gd name="T8" fmla="*/ 4180114 w 4180114"/>
                  <a:gd name="T9" fmla="*/ 0 h 1367444"/>
                </a:gdLst>
                <a:ahLst/>
                <a:cxnLst>
                  <a:cxn ang="0">
                    <a:pos x="T0" y="T1"/>
                  </a:cxn>
                  <a:cxn ang="0">
                    <a:pos x="T2" y="T3"/>
                  </a:cxn>
                  <a:cxn ang="0">
                    <a:pos x="T4" y="T5"/>
                  </a:cxn>
                  <a:cxn ang="0">
                    <a:pos x="T6" y="T7"/>
                  </a:cxn>
                  <a:cxn ang="0">
                    <a:pos x="T8" y="T9"/>
                  </a:cxn>
                </a:cxnLst>
                <a:rect l="0" t="0" r="r" b="b"/>
                <a:pathLst>
                  <a:path w="4180114" h="1367444">
                    <a:moveTo>
                      <a:pt x="0" y="1362269"/>
                    </a:moveTo>
                    <a:cubicBezTo>
                      <a:pt x="396551" y="1371599"/>
                      <a:pt x="793102" y="1380930"/>
                      <a:pt x="1138335" y="1268963"/>
                    </a:cubicBezTo>
                    <a:cubicBezTo>
                      <a:pt x="1483568" y="1156996"/>
                      <a:pt x="1775927" y="880187"/>
                      <a:pt x="2071396" y="690465"/>
                    </a:cubicBezTo>
                    <a:cubicBezTo>
                      <a:pt x="2366865" y="500742"/>
                      <a:pt x="2559698" y="245705"/>
                      <a:pt x="2911151" y="130628"/>
                    </a:cubicBezTo>
                    <a:cubicBezTo>
                      <a:pt x="3262604" y="15551"/>
                      <a:pt x="3721359" y="7775"/>
                      <a:pt x="4180114" y="0"/>
                    </a:cubicBezTo>
                  </a:path>
                </a:pathLst>
              </a:custGeom>
              <a:noFill/>
              <a:ln w="9525" cap="flat" cmpd="sng">
                <a:solidFill>
                  <a:srgbClr val="2C3E50"/>
                </a:solidFill>
                <a:round/>
                <a:headEnd/>
                <a:tailEnd/>
              </a:ln>
              <a:extLst/>
            </p:spPr>
            <p:txBody>
              <a:bodyPr anchor="ctr"/>
              <a:lstStyle/>
              <a:p>
                <a:pPr>
                  <a:defRPr/>
                </a:pPr>
                <a:endParaRPr lang="zh-CN" altLang="en-US">
                  <a:solidFill>
                    <a:srgbClr val="2C3E50"/>
                  </a:solidFill>
                  <a:latin typeface="Segoe UI" panose="020B0502040204020203" pitchFamily="34" charset="0"/>
                  <a:cs typeface="Segoe UI" panose="020B0502040204020203" pitchFamily="34" charset="0"/>
                </a:endParaRPr>
              </a:p>
            </p:txBody>
          </p:sp>
          <p:sp>
            <p:nvSpPr>
              <p:cNvPr id="20" name="任意多边形 18">
                <a:extLst>
                  <a:ext uri="{FF2B5EF4-FFF2-40B4-BE49-F238E27FC236}">
                    <a16:creationId xmlns:a16="http://schemas.microsoft.com/office/drawing/2014/main" id="{FEC44959-A3C0-49F1-891C-927E9F52471C}"/>
                  </a:ext>
                </a:extLst>
              </p:cNvPr>
              <p:cNvSpPr>
                <a:spLocks/>
              </p:cNvSpPr>
              <p:nvPr/>
            </p:nvSpPr>
            <p:spPr bwMode="auto">
              <a:xfrm>
                <a:off x="862013" y="3514725"/>
                <a:ext cx="4140000" cy="1368425"/>
              </a:xfrm>
              <a:custGeom>
                <a:avLst/>
                <a:gdLst>
                  <a:gd name="T0" fmla="*/ 0 w 4180114"/>
                  <a:gd name="T1" fmla="*/ 1362269 h 1367444"/>
                  <a:gd name="T2" fmla="*/ 1138335 w 4180114"/>
                  <a:gd name="T3" fmla="*/ 1268963 h 1367444"/>
                  <a:gd name="T4" fmla="*/ 2071396 w 4180114"/>
                  <a:gd name="T5" fmla="*/ 690465 h 1367444"/>
                  <a:gd name="T6" fmla="*/ 2911151 w 4180114"/>
                  <a:gd name="T7" fmla="*/ 130628 h 1367444"/>
                  <a:gd name="T8" fmla="*/ 4180114 w 4180114"/>
                  <a:gd name="T9" fmla="*/ 0 h 1367444"/>
                </a:gdLst>
                <a:ahLst/>
                <a:cxnLst>
                  <a:cxn ang="0">
                    <a:pos x="T0" y="T1"/>
                  </a:cxn>
                  <a:cxn ang="0">
                    <a:pos x="T2" y="T3"/>
                  </a:cxn>
                  <a:cxn ang="0">
                    <a:pos x="T4" y="T5"/>
                  </a:cxn>
                  <a:cxn ang="0">
                    <a:pos x="T6" y="T7"/>
                  </a:cxn>
                  <a:cxn ang="0">
                    <a:pos x="T8" y="T9"/>
                  </a:cxn>
                </a:cxnLst>
                <a:rect l="0" t="0" r="r" b="b"/>
                <a:pathLst>
                  <a:path w="4180114" h="1367444">
                    <a:moveTo>
                      <a:pt x="0" y="1362269"/>
                    </a:moveTo>
                    <a:cubicBezTo>
                      <a:pt x="396551" y="1371599"/>
                      <a:pt x="793102" y="1380930"/>
                      <a:pt x="1138335" y="1268963"/>
                    </a:cubicBezTo>
                    <a:cubicBezTo>
                      <a:pt x="1483568" y="1156996"/>
                      <a:pt x="1775927" y="880187"/>
                      <a:pt x="2071396" y="690465"/>
                    </a:cubicBezTo>
                    <a:cubicBezTo>
                      <a:pt x="2366865" y="500742"/>
                      <a:pt x="2559698" y="245705"/>
                      <a:pt x="2911151" y="130628"/>
                    </a:cubicBezTo>
                    <a:cubicBezTo>
                      <a:pt x="3262604" y="15551"/>
                      <a:pt x="3721359" y="7775"/>
                      <a:pt x="4180114" y="0"/>
                    </a:cubicBezTo>
                  </a:path>
                </a:pathLst>
              </a:custGeom>
              <a:noFill/>
              <a:ln w="9525" cap="flat" cmpd="sng">
                <a:solidFill>
                  <a:srgbClr val="2C3E50"/>
                </a:solidFill>
                <a:round/>
                <a:headEnd/>
                <a:tailEnd/>
              </a:ln>
              <a:extLst/>
            </p:spPr>
            <p:txBody>
              <a:bodyPr anchor="ctr"/>
              <a:lstStyle/>
              <a:p>
                <a:pPr>
                  <a:defRPr/>
                </a:pPr>
                <a:endParaRPr lang="zh-CN" altLang="en-US">
                  <a:solidFill>
                    <a:srgbClr val="2C3E50"/>
                  </a:solidFill>
                  <a:latin typeface="Segoe UI" panose="020B0502040204020203" pitchFamily="34" charset="0"/>
                  <a:cs typeface="Segoe UI" panose="020B0502040204020203" pitchFamily="34" charset="0"/>
                </a:endParaRPr>
              </a:p>
            </p:txBody>
          </p:sp>
          <p:sp>
            <p:nvSpPr>
              <p:cNvPr id="21" name="文本框 19">
                <a:extLst>
                  <a:ext uri="{FF2B5EF4-FFF2-40B4-BE49-F238E27FC236}">
                    <a16:creationId xmlns:a16="http://schemas.microsoft.com/office/drawing/2014/main" id="{C88300CB-4037-4E33-BD60-D453F61C572D}"/>
                  </a:ext>
                </a:extLst>
              </p:cNvPr>
              <p:cNvSpPr txBox="1">
                <a:spLocks noChangeArrowheads="1"/>
              </p:cNvSpPr>
              <p:nvPr/>
            </p:nvSpPr>
            <p:spPr bwMode="auto">
              <a:xfrm>
                <a:off x="357188" y="1412875"/>
                <a:ext cx="1410320" cy="38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Delta</a:t>
                </a:r>
                <a:endParaRPr lang="zh-CN" altLang="en-US" sz="1400" b="0" dirty="0">
                  <a:solidFill>
                    <a:srgbClr val="2C3E50"/>
                  </a:solidFill>
                  <a:latin typeface="Segoe UI" panose="020B0502040204020203" pitchFamily="34" charset="0"/>
                  <a:cs typeface="Segoe UI" panose="020B0502040204020203" pitchFamily="34" charset="0"/>
                </a:endParaRPr>
              </a:p>
            </p:txBody>
          </p:sp>
          <p:sp>
            <p:nvSpPr>
              <p:cNvPr id="22" name="文本框 20">
                <a:extLst>
                  <a:ext uri="{FF2B5EF4-FFF2-40B4-BE49-F238E27FC236}">
                    <a16:creationId xmlns:a16="http://schemas.microsoft.com/office/drawing/2014/main" id="{D1D8E865-4C1E-4D7A-AD8B-E3EAAF24A679}"/>
                  </a:ext>
                </a:extLst>
              </p:cNvPr>
              <p:cNvSpPr txBox="1">
                <a:spLocks noChangeArrowheads="1"/>
              </p:cNvSpPr>
              <p:nvPr/>
            </p:nvSpPr>
            <p:spPr bwMode="auto">
              <a:xfrm>
                <a:off x="428625" y="1727200"/>
                <a:ext cx="215371" cy="38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1</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23" name="文本框 21">
                <a:extLst>
                  <a:ext uri="{FF2B5EF4-FFF2-40B4-BE49-F238E27FC236}">
                    <a16:creationId xmlns:a16="http://schemas.microsoft.com/office/drawing/2014/main" id="{4A11E0CA-9391-46B8-B109-8C53B2C3053C}"/>
                  </a:ext>
                </a:extLst>
              </p:cNvPr>
              <p:cNvSpPr txBox="1">
                <a:spLocks noChangeArrowheads="1"/>
              </p:cNvSpPr>
              <p:nvPr/>
            </p:nvSpPr>
            <p:spPr bwMode="auto">
              <a:xfrm>
                <a:off x="209550" y="2465388"/>
                <a:ext cx="428570" cy="38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0.5</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24" name="文本框 22">
                <a:extLst>
                  <a:ext uri="{FF2B5EF4-FFF2-40B4-BE49-F238E27FC236}">
                    <a16:creationId xmlns:a16="http://schemas.microsoft.com/office/drawing/2014/main" id="{13E61013-1A1D-48CB-9238-5E2841F4425C}"/>
                  </a:ext>
                </a:extLst>
              </p:cNvPr>
              <p:cNvSpPr txBox="1">
                <a:spLocks noChangeArrowheads="1"/>
              </p:cNvSpPr>
              <p:nvPr/>
            </p:nvSpPr>
            <p:spPr bwMode="auto">
              <a:xfrm>
                <a:off x="428625" y="3279775"/>
                <a:ext cx="215371" cy="38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0</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25" name="文本框 23">
                <a:extLst>
                  <a:ext uri="{FF2B5EF4-FFF2-40B4-BE49-F238E27FC236}">
                    <a16:creationId xmlns:a16="http://schemas.microsoft.com/office/drawing/2014/main" id="{F14A86A7-65C9-4939-9BA9-3EA6C925104E}"/>
                  </a:ext>
                </a:extLst>
              </p:cNvPr>
              <p:cNvSpPr txBox="1">
                <a:spLocks noChangeArrowheads="1"/>
              </p:cNvSpPr>
              <p:nvPr/>
            </p:nvSpPr>
            <p:spPr bwMode="auto">
              <a:xfrm>
                <a:off x="184150" y="4019550"/>
                <a:ext cx="513529" cy="38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-0.5</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26" name="文本框 24">
                <a:extLst>
                  <a:ext uri="{FF2B5EF4-FFF2-40B4-BE49-F238E27FC236}">
                    <a16:creationId xmlns:a16="http://schemas.microsoft.com/office/drawing/2014/main" id="{3A361DC0-D6D7-4545-8690-DD928C00EF67}"/>
                  </a:ext>
                </a:extLst>
              </p:cNvPr>
              <p:cNvSpPr txBox="1">
                <a:spLocks noChangeArrowheads="1"/>
              </p:cNvSpPr>
              <p:nvPr/>
            </p:nvSpPr>
            <p:spPr bwMode="auto">
              <a:xfrm>
                <a:off x="366713" y="4757738"/>
                <a:ext cx="300330" cy="38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-1</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27" name="文本框 26">
                <a:extLst>
                  <a:ext uri="{FF2B5EF4-FFF2-40B4-BE49-F238E27FC236}">
                    <a16:creationId xmlns:a16="http://schemas.microsoft.com/office/drawing/2014/main" id="{1183EF52-3054-4323-A89F-7E9CB279FA46}"/>
                  </a:ext>
                </a:extLst>
              </p:cNvPr>
              <p:cNvSpPr txBox="1">
                <a:spLocks noChangeArrowheads="1"/>
              </p:cNvSpPr>
              <p:nvPr/>
            </p:nvSpPr>
            <p:spPr bwMode="auto">
              <a:xfrm>
                <a:off x="3125788" y="2806700"/>
                <a:ext cx="1470522" cy="38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Call Options</a:t>
                </a:r>
                <a:endParaRPr lang="zh-CN" altLang="en-US" sz="1400" b="0" dirty="0">
                  <a:solidFill>
                    <a:srgbClr val="2C3E50"/>
                  </a:solidFill>
                  <a:latin typeface="Segoe UI" panose="020B0502040204020203" pitchFamily="34" charset="0"/>
                  <a:cs typeface="Segoe UI" panose="020B0502040204020203" pitchFamily="34" charset="0"/>
                </a:endParaRPr>
              </a:p>
            </p:txBody>
          </p:sp>
          <p:sp>
            <p:nvSpPr>
              <p:cNvPr id="28" name="文本框 27">
                <a:extLst>
                  <a:ext uri="{FF2B5EF4-FFF2-40B4-BE49-F238E27FC236}">
                    <a16:creationId xmlns:a16="http://schemas.microsoft.com/office/drawing/2014/main" id="{44D42BF8-4C75-4CC8-B020-F42703513483}"/>
                  </a:ext>
                </a:extLst>
              </p:cNvPr>
              <p:cNvSpPr txBox="1">
                <a:spLocks noChangeArrowheads="1"/>
              </p:cNvSpPr>
              <p:nvPr/>
            </p:nvSpPr>
            <p:spPr bwMode="auto">
              <a:xfrm>
                <a:off x="3125788" y="4318000"/>
                <a:ext cx="1411211" cy="38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Put Options</a:t>
                </a:r>
                <a:endParaRPr lang="zh-CN" altLang="en-US" sz="1400" b="0" dirty="0">
                  <a:solidFill>
                    <a:srgbClr val="2C3E50"/>
                  </a:solidFill>
                  <a:latin typeface="Segoe UI" panose="020B0502040204020203" pitchFamily="34" charset="0"/>
                  <a:cs typeface="Segoe UI" panose="020B0502040204020203" pitchFamily="34" charset="0"/>
                </a:endParaRPr>
              </a:p>
            </p:txBody>
          </p:sp>
        </p:grpSp>
        <p:sp>
          <p:nvSpPr>
            <p:cNvPr id="9" name="圆角矩形 24">
              <a:extLst>
                <a:ext uri="{FF2B5EF4-FFF2-40B4-BE49-F238E27FC236}">
                  <a16:creationId xmlns:a16="http://schemas.microsoft.com/office/drawing/2014/main" id="{6C5B554E-B4D5-4EEE-96F2-F8C4D1ADA010}"/>
                </a:ext>
              </a:extLst>
            </p:cNvPr>
            <p:cNvSpPr/>
            <p:nvPr/>
          </p:nvSpPr>
          <p:spPr>
            <a:xfrm>
              <a:off x="467544" y="1628800"/>
              <a:ext cx="5040560" cy="4315396"/>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3838177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Delta</a:t>
            </a:r>
          </a:p>
          <a:p>
            <a:endParaRPr lang="zh-CN" altLang="en-US" dirty="0">
              <a:latin typeface="+mn-lt"/>
              <a:ea typeface="+mn-ea"/>
              <a:cs typeface="+mn-ea"/>
              <a:sym typeface="+mn-lt"/>
            </a:endParaRPr>
          </a:p>
        </p:txBody>
      </p:sp>
      <p:sp>
        <p:nvSpPr>
          <p:cNvPr id="65" name="内容占位符 2">
            <a:extLst>
              <a:ext uri="{FF2B5EF4-FFF2-40B4-BE49-F238E27FC236}">
                <a16:creationId xmlns:a16="http://schemas.microsoft.com/office/drawing/2014/main" id="{8022507E-DA8C-4500-8B83-CF643565FFE4}"/>
              </a:ext>
            </a:extLst>
          </p:cNvPr>
          <p:cNvSpPr txBox="1">
            <a:spLocks/>
          </p:cNvSpPr>
          <p:nvPr/>
        </p:nvSpPr>
        <p:spPr>
          <a:xfrm>
            <a:off x="3085853" y="5468705"/>
            <a:ext cx="7108299" cy="1506881"/>
          </a:xfrm>
          <a:prstGeom prst="rect">
            <a:avLst/>
          </a:prstGeom>
          <a:ln>
            <a:noFill/>
          </a:ln>
        </p:spPr>
        <p:txBody>
          <a:bodyPr/>
          <a:lstStyle>
            <a:lvl1pPr marL="342900" indent="-342900" algn="l" defTabSz="914400" rtl="0" eaLnBrk="1" latinLnBrk="0" hangingPunct="1">
              <a:lnSpc>
                <a:spcPct val="120000"/>
              </a:lnSpc>
              <a:spcBef>
                <a:spcPts val="0"/>
              </a:spcBef>
              <a:buFont typeface="Wingdings" panose="05000000000000000000" pitchFamily="2" charset="2"/>
              <a:buChar char="Ø"/>
              <a:defRPr sz="1800" kern="1200" baseline="0">
                <a:solidFill>
                  <a:srgbClr val="263238"/>
                </a:solidFill>
                <a:latin typeface="Roboto" panose="02000000000000000000" pitchFamily="2" charset="0"/>
                <a:ea typeface="微软雅黑" panose="020B0503020204020204" pitchFamily="34" charset="-122"/>
                <a:cs typeface="+mn-cs"/>
              </a:defRPr>
            </a:lvl1pPr>
            <a:lvl2pPr marL="742950" indent="-285750" algn="l" defTabSz="914400" rtl="0" eaLnBrk="1" latinLnBrk="0" hangingPunct="1">
              <a:lnSpc>
                <a:spcPct val="120000"/>
              </a:lnSpc>
              <a:spcBef>
                <a:spcPts val="0"/>
              </a:spcBef>
              <a:buFont typeface="Arial" panose="020B0604020202020204" pitchFamily="34" charset="0"/>
              <a:buChar char="•"/>
              <a:defRPr sz="1800" kern="1200" baseline="0">
                <a:solidFill>
                  <a:srgbClr val="7030A0"/>
                </a:solidFill>
                <a:latin typeface="Roboto" panose="02000000000000000000" pitchFamily="2" charset="0"/>
                <a:ea typeface="微软雅黑" panose="020B0503020204020204" pitchFamily="34" charset="-122"/>
                <a:cs typeface="+mn-cs"/>
              </a:defRPr>
            </a:lvl2pPr>
            <a:lvl3pPr marL="1143000" indent="-228600" algn="l" defTabSz="914400" rtl="0" eaLnBrk="1" latinLnBrk="0" hangingPunct="1">
              <a:lnSpc>
                <a:spcPct val="120000"/>
              </a:lnSpc>
              <a:spcBef>
                <a:spcPts val="0"/>
              </a:spcBef>
              <a:buFont typeface="Wingdings" panose="05000000000000000000" pitchFamily="2" charset="2"/>
              <a:buChar char="ü"/>
              <a:defRPr sz="1800" kern="1200" baseline="0">
                <a:solidFill>
                  <a:srgbClr val="7030A0"/>
                </a:solidFill>
                <a:latin typeface="Roboto" panose="02000000000000000000" pitchFamily="2" charset="0"/>
                <a:ea typeface="微软雅黑" panose="020B0503020204020204" pitchFamily="34" charset="-122"/>
                <a:cs typeface="+mn-cs"/>
              </a:defRPr>
            </a:lvl3pPr>
            <a:lvl4pPr marL="1600200" indent="-228600" algn="l" defTabSz="914400" rtl="0" eaLnBrk="1" latinLnBrk="0" hangingPunct="1">
              <a:lnSpc>
                <a:spcPct val="120000"/>
              </a:lnSpc>
              <a:spcBef>
                <a:spcPts val="0"/>
              </a:spcBef>
              <a:buFont typeface="Wingdings" panose="05000000000000000000" pitchFamily="2" charset="2"/>
              <a:buChar char="n"/>
              <a:defRPr sz="1800" kern="1200" baseline="0">
                <a:solidFill>
                  <a:srgbClr val="7030A0"/>
                </a:solidFill>
                <a:latin typeface="Roboto" panose="02000000000000000000" pitchFamily="2" charset="0"/>
                <a:ea typeface="微软雅黑" panose="020B0503020204020204" pitchFamily="34" charset="-122"/>
                <a:cs typeface="+mn-cs"/>
              </a:defRPr>
            </a:lvl4pPr>
            <a:lvl5pPr marL="2057400" indent="-228600" algn="l" defTabSz="914400" rtl="0" eaLnBrk="1" latinLnBrk="0" hangingPunct="1">
              <a:lnSpc>
                <a:spcPct val="120000"/>
              </a:lnSpc>
              <a:spcBef>
                <a:spcPts val="0"/>
              </a:spcBef>
              <a:buFont typeface="Wingdings" panose="05000000000000000000" pitchFamily="2" charset="2"/>
              <a:buChar char="p"/>
              <a:defRPr sz="1800" kern="1200" baseline="0">
                <a:solidFill>
                  <a:srgbClr val="7030A0"/>
                </a:solidFill>
                <a:latin typeface="Roboto" panose="02000000000000000000" pitchFamily="2" charset="0"/>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altLang="zh-CN" dirty="0"/>
          </a:p>
          <a:p>
            <a:pPr lvl="1"/>
            <a:r>
              <a:rPr lang="en-US" altLang="zh-CN" dirty="0"/>
              <a:t>When t</a:t>
            </a:r>
            <a:r>
              <a:rPr lang="zh-CN" altLang="en-US" dirty="0"/>
              <a:t>→</a:t>
            </a:r>
            <a:r>
              <a:rPr lang="en-US" altLang="zh-CN" dirty="0"/>
              <a:t>T, delta is unstable.</a:t>
            </a:r>
          </a:p>
          <a:p>
            <a:pPr lvl="1"/>
            <a:r>
              <a:rPr lang="en-US" altLang="zh-CN" dirty="0"/>
              <a:t>For a call option at the money, Δ </a:t>
            </a:r>
            <a:r>
              <a:rPr lang="zh-CN" altLang="en-US" dirty="0"/>
              <a:t>≈</a:t>
            </a:r>
            <a:r>
              <a:rPr lang="en-US" altLang="zh-CN" dirty="0"/>
              <a:t> 0.5.</a:t>
            </a:r>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p:txBody>
      </p:sp>
      <p:sp>
        <p:nvSpPr>
          <p:cNvPr id="66" name="圆角矩形 62">
            <a:extLst>
              <a:ext uri="{FF2B5EF4-FFF2-40B4-BE49-F238E27FC236}">
                <a16:creationId xmlns:a16="http://schemas.microsoft.com/office/drawing/2014/main" id="{89123836-4DE3-4943-B151-86F53ABB9C5E}"/>
              </a:ext>
            </a:extLst>
          </p:cNvPr>
          <p:cNvSpPr/>
          <p:nvPr/>
        </p:nvSpPr>
        <p:spPr>
          <a:xfrm>
            <a:off x="2200273" y="1441938"/>
            <a:ext cx="7948246" cy="5206699"/>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7" name="组合 66">
            <a:extLst>
              <a:ext uri="{FF2B5EF4-FFF2-40B4-BE49-F238E27FC236}">
                <a16:creationId xmlns:a16="http://schemas.microsoft.com/office/drawing/2014/main" id="{391D24E7-BAE1-42E2-A105-241C7AD5F557}"/>
              </a:ext>
            </a:extLst>
          </p:cNvPr>
          <p:cNvGrpSpPr/>
          <p:nvPr/>
        </p:nvGrpSpPr>
        <p:grpSpPr>
          <a:xfrm>
            <a:off x="3082246" y="1559705"/>
            <a:ext cx="6027507" cy="4286738"/>
            <a:chOff x="1335118" y="724634"/>
            <a:chExt cx="6483968" cy="4767327"/>
          </a:xfrm>
        </p:grpSpPr>
        <p:sp>
          <p:nvSpPr>
            <p:cNvPr id="68" name="任意多边形 68">
              <a:extLst>
                <a:ext uri="{FF2B5EF4-FFF2-40B4-BE49-F238E27FC236}">
                  <a16:creationId xmlns:a16="http://schemas.microsoft.com/office/drawing/2014/main" id="{55D97EFB-4BBE-44DE-88D2-5EA22C29C7CD}"/>
                </a:ext>
              </a:extLst>
            </p:cNvPr>
            <p:cNvSpPr>
              <a:spLocks/>
            </p:cNvSpPr>
            <p:nvPr/>
          </p:nvSpPr>
          <p:spPr bwMode="auto">
            <a:xfrm>
              <a:off x="2033588" y="1091730"/>
              <a:ext cx="5618162" cy="3382962"/>
            </a:xfrm>
            <a:custGeom>
              <a:avLst/>
              <a:gdLst>
                <a:gd name="T0" fmla="*/ 0 w 5617029"/>
                <a:gd name="T1" fmla="*/ 3747045 h 3750906"/>
                <a:gd name="T2" fmla="*/ 1549948 w 5617029"/>
                <a:gd name="T3" fmla="*/ 3131862 h 3750906"/>
                <a:gd name="T4" fmla="*/ 2819782 w 5617029"/>
                <a:gd name="T5" fmla="*/ 1994697 h 3750906"/>
                <a:gd name="T6" fmla="*/ 4463101 w 5617029"/>
                <a:gd name="T7" fmla="*/ 466050 h 3750906"/>
                <a:gd name="T8" fmla="*/ 5620890 w 5617029"/>
                <a:gd name="T9" fmla="*/ 0 h 37509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17029" h="3750906">
                  <a:moveTo>
                    <a:pt x="0" y="3750906"/>
                  </a:moveTo>
                  <a:cubicBezTo>
                    <a:pt x="539620" y="3589175"/>
                    <a:pt x="1079241" y="3427445"/>
                    <a:pt x="1548882" y="3135086"/>
                  </a:cubicBezTo>
                  <a:cubicBezTo>
                    <a:pt x="2018523" y="2842727"/>
                    <a:pt x="2332653" y="2441510"/>
                    <a:pt x="2817845" y="1996751"/>
                  </a:cubicBezTo>
                  <a:cubicBezTo>
                    <a:pt x="3303037" y="1551992"/>
                    <a:pt x="3993502" y="799323"/>
                    <a:pt x="4460033" y="466531"/>
                  </a:cubicBezTo>
                  <a:cubicBezTo>
                    <a:pt x="4926564" y="133739"/>
                    <a:pt x="5617029" y="0"/>
                    <a:pt x="5617029" y="0"/>
                  </a:cubicBezTo>
                </a:path>
              </a:pathLst>
            </a:custGeom>
            <a:noFill/>
            <a:ln w="9525" cap="flat" cmpd="sng">
              <a:solidFill>
                <a:srgbClr val="2C3E5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2000">
                <a:solidFill>
                  <a:srgbClr val="2C3E50"/>
                </a:solidFill>
                <a:latin typeface="Segoe UI" panose="020B0502040204020203" pitchFamily="34" charset="0"/>
                <a:cs typeface="Segoe UI" panose="020B0502040204020203" pitchFamily="34" charset="0"/>
              </a:endParaRPr>
            </a:p>
          </p:txBody>
        </p:sp>
        <p:sp>
          <p:nvSpPr>
            <p:cNvPr id="69" name="矩形 3">
              <a:extLst>
                <a:ext uri="{FF2B5EF4-FFF2-40B4-BE49-F238E27FC236}">
                  <a16:creationId xmlns:a16="http://schemas.microsoft.com/office/drawing/2014/main" id="{34F3BDBB-6126-4354-A1E2-0930F448BC40}"/>
                </a:ext>
              </a:extLst>
            </p:cNvPr>
            <p:cNvSpPr>
              <a:spLocks noChangeArrowheads="1"/>
            </p:cNvSpPr>
            <p:nvPr/>
          </p:nvSpPr>
          <p:spPr bwMode="auto">
            <a:xfrm>
              <a:off x="2025650" y="1085379"/>
              <a:ext cx="5618163" cy="3409949"/>
            </a:xfrm>
            <a:prstGeom prst="rect">
              <a:avLst/>
            </a:prstGeom>
            <a:noFill/>
            <a:ln w="25400">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2000">
                <a:solidFill>
                  <a:srgbClr val="2C3E50"/>
                </a:solidFill>
                <a:latin typeface="Segoe UI" panose="020B0502040204020203" pitchFamily="34" charset="0"/>
                <a:cs typeface="Segoe UI" panose="020B0502040204020203" pitchFamily="34" charset="0"/>
              </a:endParaRPr>
            </a:p>
          </p:txBody>
        </p:sp>
        <p:sp>
          <p:nvSpPr>
            <p:cNvPr id="70" name="文本框 4">
              <a:extLst>
                <a:ext uri="{FF2B5EF4-FFF2-40B4-BE49-F238E27FC236}">
                  <a16:creationId xmlns:a16="http://schemas.microsoft.com/office/drawing/2014/main" id="{34EA14F0-AB60-4C4A-A892-FA359AF7F271}"/>
                </a:ext>
              </a:extLst>
            </p:cNvPr>
            <p:cNvSpPr txBox="1">
              <a:spLocks noChangeArrowheads="1"/>
            </p:cNvSpPr>
            <p:nvPr/>
          </p:nvSpPr>
          <p:spPr bwMode="auto">
            <a:xfrm>
              <a:off x="1907704" y="724634"/>
              <a:ext cx="711060" cy="4571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Delta</a:t>
              </a:r>
              <a:endParaRPr lang="zh-CN" altLang="en-US" sz="1400" b="0" dirty="0">
                <a:solidFill>
                  <a:srgbClr val="2C3E50"/>
                </a:solidFill>
                <a:latin typeface="Segoe UI" panose="020B0502040204020203" pitchFamily="34" charset="0"/>
                <a:cs typeface="Segoe UI" panose="020B0502040204020203" pitchFamily="34" charset="0"/>
              </a:endParaRPr>
            </a:p>
          </p:txBody>
        </p:sp>
        <p:cxnSp>
          <p:nvCxnSpPr>
            <p:cNvPr id="71" name="直接连接符 6">
              <a:extLst>
                <a:ext uri="{FF2B5EF4-FFF2-40B4-BE49-F238E27FC236}">
                  <a16:creationId xmlns:a16="http://schemas.microsoft.com/office/drawing/2014/main" id="{7AFFD6BA-5E1F-42A5-8C04-2840FFE9F32F}"/>
                </a:ext>
              </a:extLst>
            </p:cNvPr>
            <p:cNvCxnSpPr>
              <a:cxnSpLocks noChangeShapeType="1"/>
            </p:cNvCxnSpPr>
            <p:nvPr/>
          </p:nvCxnSpPr>
          <p:spPr bwMode="auto">
            <a:xfrm>
              <a:off x="1882775" y="1085379"/>
              <a:ext cx="142875"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72" name="直接连接符 7">
              <a:extLst>
                <a:ext uri="{FF2B5EF4-FFF2-40B4-BE49-F238E27FC236}">
                  <a16:creationId xmlns:a16="http://schemas.microsoft.com/office/drawing/2014/main" id="{C38435D3-38D3-4C94-AE72-9B75E35DCE75}"/>
                </a:ext>
              </a:extLst>
            </p:cNvPr>
            <p:cNvCxnSpPr>
              <a:cxnSpLocks noChangeShapeType="1"/>
            </p:cNvCxnSpPr>
            <p:nvPr/>
          </p:nvCxnSpPr>
          <p:spPr bwMode="auto">
            <a:xfrm>
              <a:off x="1882775" y="1426692"/>
              <a:ext cx="142875"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73" name="直接连接符 8">
              <a:extLst>
                <a:ext uri="{FF2B5EF4-FFF2-40B4-BE49-F238E27FC236}">
                  <a16:creationId xmlns:a16="http://schemas.microsoft.com/office/drawing/2014/main" id="{61AFD7D1-432F-4D77-B134-C97B16EDB91F}"/>
                </a:ext>
              </a:extLst>
            </p:cNvPr>
            <p:cNvCxnSpPr>
              <a:cxnSpLocks noChangeShapeType="1"/>
            </p:cNvCxnSpPr>
            <p:nvPr/>
          </p:nvCxnSpPr>
          <p:spPr bwMode="auto">
            <a:xfrm>
              <a:off x="1882775" y="1768004"/>
              <a:ext cx="142875"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74" name="直接连接符 9">
              <a:extLst>
                <a:ext uri="{FF2B5EF4-FFF2-40B4-BE49-F238E27FC236}">
                  <a16:creationId xmlns:a16="http://schemas.microsoft.com/office/drawing/2014/main" id="{9E91E9E8-E26E-410A-8CAE-4F483151EA09}"/>
                </a:ext>
              </a:extLst>
            </p:cNvPr>
            <p:cNvCxnSpPr>
              <a:cxnSpLocks noChangeShapeType="1"/>
            </p:cNvCxnSpPr>
            <p:nvPr/>
          </p:nvCxnSpPr>
          <p:spPr bwMode="auto">
            <a:xfrm>
              <a:off x="1882775" y="2109317"/>
              <a:ext cx="142875"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75" name="直接连接符 10">
              <a:extLst>
                <a:ext uri="{FF2B5EF4-FFF2-40B4-BE49-F238E27FC236}">
                  <a16:creationId xmlns:a16="http://schemas.microsoft.com/office/drawing/2014/main" id="{A5C61FBA-3EBE-4158-AF6F-4D05B55C3BE2}"/>
                </a:ext>
              </a:extLst>
            </p:cNvPr>
            <p:cNvCxnSpPr>
              <a:cxnSpLocks noChangeShapeType="1"/>
            </p:cNvCxnSpPr>
            <p:nvPr/>
          </p:nvCxnSpPr>
          <p:spPr bwMode="auto">
            <a:xfrm>
              <a:off x="1882775" y="2449042"/>
              <a:ext cx="142875"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76" name="直接连接符 11">
              <a:extLst>
                <a:ext uri="{FF2B5EF4-FFF2-40B4-BE49-F238E27FC236}">
                  <a16:creationId xmlns:a16="http://schemas.microsoft.com/office/drawing/2014/main" id="{EA54898E-46D5-46CF-A4A1-01AA3596CF92}"/>
                </a:ext>
              </a:extLst>
            </p:cNvPr>
            <p:cNvCxnSpPr>
              <a:cxnSpLocks noChangeShapeType="1"/>
            </p:cNvCxnSpPr>
            <p:nvPr/>
          </p:nvCxnSpPr>
          <p:spPr bwMode="auto">
            <a:xfrm>
              <a:off x="1882775" y="2790354"/>
              <a:ext cx="142875"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77" name="直接连接符 13">
              <a:extLst>
                <a:ext uri="{FF2B5EF4-FFF2-40B4-BE49-F238E27FC236}">
                  <a16:creationId xmlns:a16="http://schemas.microsoft.com/office/drawing/2014/main" id="{3096D834-322B-4CBD-B543-151D6783E72E}"/>
                </a:ext>
              </a:extLst>
            </p:cNvPr>
            <p:cNvCxnSpPr>
              <a:cxnSpLocks noChangeShapeType="1"/>
            </p:cNvCxnSpPr>
            <p:nvPr/>
          </p:nvCxnSpPr>
          <p:spPr bwMode="auto">
            <a:xfrm>
              <a:off x="1882775" y="3131666"/>
              <a:ext cx="142875"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78" name="直接连接符 14">
              <a:extLst>
                <a:ext uri="{FF2B5EF4-FFF2-40B4-BE49-F238E27FC236}">
                  <a16:creationId xmlns:a16="http://schemas.microsoft.com/office/drawing/2014/main" id="{89FFEAF5-9A49-4706-A51A-F6F645F8D5D4}"/>
                </a:ext>
              </a:extLst>
            </p:cNvPr>
            <p:cNvCxnSpPr>
              <a:cxnSpLocks noChangeShapeType="1"/>
            </p:cNvCxnSpPr>
            <p:nvPr/>
          </p:nvCxnSpPr>
          <p:spPr bwMode="auto">
            <a:xfrm>
              <a:off x="1882775" y="3472978"/>
              <a:ext cx="142875"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79" name="直接连接符 15">
              <a:extLst>
                <a:ext uri="{FF2B5EF4-FFF2-40B4-BE49-F238E27FC236}">
                  <a16:creationId xmlns:a16="http://schemas.microsoft.com/office/drawing/2014/main" id="{53905F57-6A8A-4B15-A186-C9A88DC79539}"/>
                </a:ext>
              </a:extLst>
            </p:cNvPr>
            <p:cNvCxnSpPr>
              <a:cxnSpLocks noChangeShapeType="1"/>
            </p:cNvCxnSpPr>
            <p:nvPr/>
          </p:nvCxnSpPr>
          <p:spPr bwMode="auto">
            <a:xfrm>
              <a:off x="1882775" y="3812704"/>
              <a:ext cx="142875"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80" name="直接连接符 16">
              <a:extLst>
                <a:ext uri="{FF2B5EF4-FFF2-40B4-BE49-F238E27FC236}">
                  <a16:creationId xmlns:a16="http://schemas.microsoft.com/office/drawing/2014/main" id="{03915605-8AC8-4F6C-8702-9841811A47BB}"/>
                </a:ext>
              </a:extLst>
            </p:cNvPr>
            <p:cNvCxnSpPr>
              <a:cxnSpLocks noChangeShapeType="1"/>
            </p:cNvCxnSpPr>
            <p:nvPr/>
          </p:nvCxnSpPr>
          <p:spPr bwMode="auto">
            <a:xfrm>
              <a:off x="1882775" y="4154017"/>
              <a:ext cx="142875"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81" name="直接连接符 20">
              <a:extLst>
                <a:ext uri="{FF2B5EF4-FFF2-40B4-BE49-F238E27FC236}">
                  <a16:creationId xmlns:a16="http://schemas.microsoft.com/office/drawing/2014/main" id="{6589D1F9-8382-44F7-BDDE-9E23336EB48D}"/>
                </a:ext>
              </a:extLst>
            </p:cNvPr>
            <p:cNvCxnSpPr>
              <a:cxnSpLocks noChangeShapeType="1"/>
            </p:cNvCxnSpPr>
            <p:nvPr/>
          </p:nvCxnSpPr>
          <p:spPr bwMode="auto">
            <a:xfrm>
              <a:off x="1882775" y="4495328"/>
              <a:ext cx="142875"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sp>
          <p:nvSpPr>
            <p:cNvPr id="82" name="文本框 21">
              <a:extLst>
                <a:ext uri="{FF2B5EF4-FFF2-40B4-BE49-F238E27FC236}">
                  <a16:creationId xmlns:a16="http://schemas.microsoft.com/office/drawing/2014/main" id="{BB94908C-424A-4567-9314-FD57228A82BE}"/>
                </a:ext>
              </a:extLst>
            </p:cNvPr>
            <p:cNvSpPr txBox="1">
              <a:spLocks noChangeArrowheads="1"/>
            </p:cNvSpPr>
            <p:nvPr/>
          </p:nvSpPr>
          <p:spPr bwMode="auto">
            <a:xfrm>
              <a:off x="1335118" y="925043"/>
              <a:ext cx="404525"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1.0</a:t>
              </a:r>
              <a:endParaRPr lang="zh-CN" altLang="en-US" sz="2000" b="0" dirty="0">
                <a:solidFill>
                  <a:srgbClr val="2C3E50"/>
                </a:solidFill>
                <a:latin typeface="Segoe UI" panose="020B0502040204020203" pitchFamily="34" charset="0"/>
                <a:cs typeface="Segoe UI" panose="020B0502040204020203" pitchFamily="34" charset="0"/>
              </a:endParaRPr>
            </a:p>
          </p:txBody>
        </p:sp>
        <p:sp>
          <p:nvSpPr>
            <p:cNvPr id="83" name="文本框 22">
              <a:extLst>
                <a:ext uri="{FF2B5EF4-FFF2-40B4-BE49-F238E27FC236}">
                  <a16:creationId xmlns:a16="http://schemas.microsoft.com/office/drawing/2014/main" id="{37FE7E5F-8657-4395-BC31-EE6183B5CFE6}"/>
                </a:ext>
              </a:extLst>
            </p:cNvPr>
            <p:cNvSpPr txBox="1">
              <a:spLocks noChangeArrowheads="1"/>
            </p:cNvSpPr>
            <p:nvPr/>
          </p:nvSpPr>
          <p:spPr bwMode="auto">
            <a:xfrm>
              <a:off x="1335118" y="1266354"/>
              <a:ext cx="404525"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0.9</a:t>
              </a:r>
              <a:endParaRPr lang="zh-CN" altLang="en-US" sz="2000" b="0" dirty="0">
                <a:solidFill>
                  <a:srgbClr val="2C3E50"/>
                </a:solidFill>
                <a:latin typeface="Segoe UI" panose="020B0502040204020203" pitchFamily="34" charset="0"/>
                <a:cs typeface="Segoe UI" panose="020B0502040204020203" pitchFamily="34" charset="0"/>
              </a:endParaRPr>
            </a:p>
          </p:txBody>
        </p:sp>
        <p:sp>
          <p:nvSpPr>
            <p:cNvPr id="84" name="文本框 23">
              <a:extLst>
                <a:ext uri="{FF2B5EF4-FFF2-40B4-BE49-F238E27FC236}">
                  <a16:creationId xmlns:a16="http://schemas.microsoft.com/office/drawing/2014/main" id="{7CF9FD28-A289-42AE-84FC-CA23990E10C6}"/>
                </a:ext>
              </a:extLst>
            </p:cNvPr>
            <p:cNvSpPr txBox="1">
              <a:spLocks noChangeArrowheads="1"/>
            </p:cNvSpPr>
            <p:nvPr/>
          </p:nvSpPr>
          <p:spPr bwMode="auto">
            <a:xfrm>
              <a:off x="1335118" y="1607668"/>
              <a:ext cx="404525"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0.8</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85" name="文本框 24">
              <a:extLst>
                <a:ext uri="{FF2B5EF4-FFF2-40B4-BE49-F238E27FC236}">
                  <a16:creationId xmlns:a16="http://schemas.microsoft.com/office/drawing/2014/main" id="{F09CD596-C417-4DEE-8567-115B789559EF}"/>
                </a:ext>
              </a:extLst>
            </p:cNvPr>
            <p:cNvSpPr txBox="1">
              <a:spLocks noChangeArrowheads="1"/>
            </p:cNvSpPr>
            <p:nvPr/>
          </p:nvSpPr>
          <p:spPr bwMode="auto">
            <a:xfrm>
              <a:off x="1335118" y="1947392"/>
              <a:ext cx="404525"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0.7</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86" name="文本框 25">
              <a:extLst>
                <a:ext uri="{FF2B5EF4-FFF2-40B4-BE49-F238E27FC236}">
                  <a16:creationId xmlns:a16="http://schemas.microsoft.com/office/drawing/2014/main" id="{49042979-730E-4501-810C-A11048F35C80}"/>
                </a:ext>
              </a:extLst>
            </p:cNvPr>
            <p:cNvSpPr txBox="1">
              <a:spLocks noChangeArrowheads="1"/>
            </p:cNvSpPr>
            <p:nvPr/>
          </p:nvSpPr>
          <p:spPr bwMode="auto">
            <a:xfrm>
              <a:off x="1335118" y="2288704"/>
              <a:ext cx="404525"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0.6</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87" name="文本框 26">
              <a:extLst>
                <a:ext uri="{FF2B5EF4-FFF2-40B4-BE49-F238E27FC236}">
                  <a16:creationId xmlns:a16="http://schemas.microsoft.com/office/drawing/2014/main" id="{1F068CAB-FDC3-4141-AE42-EC642D77FFEB}"/>
                </a:ext>
              </a:extLst>
            </p:cNvPr>
            <p:cNvSpPr txBox="1">
              <a:spLocks noChangeArrowheads="1"/>
            </p:cNvSpPr>
            <p:nvPr/>
          </p:nvSpPr>
          <p:spPr bwMode="auto">
            <a:xfrm>
              <a:off x="1335118" y="2630017"/>
              <a:ext cx="404525"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0.5</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88" name="文本框 27">
              <a:extLst>
                <a:ext uri="{FF2B5EF4-FFF2-40B4-BE49-F238E27FC236}">
                  <a16:creationId xmlns:a16="http://schemas.microsoft.com/office/drawing/2014/main" id="{E1D1275C-22CF-469C-81D6-97A738627759}"/>
                </a:ext>
              </a:extLst>
            </p:cNvPr>
            <p:cNvSpPr txBox="1">
              <a:spLocks noChangeArrowheads="1"/>
            </p:cNvSpPr>
            <p:nvPr/>
          </p:nvSpPr>
          <p:spPr bwMode="auto">
            <a:xfrm>
              <a:off x="1335118" y="2974504"/>
              <a:ext cx="404525"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0.4</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89" name="文本框 28">
              <a:extLst>
                <a:ext uri="{FF2B5EF4-FFF2-40B4-BE49-F238E27FC236}">
                  <a16:creationId xmlns:a16="http://schemas.microsoft.com/office/drawing/2014/main" id="{61B89E10-7CCD-4472-8758-54CB7F01D7DC}"/>
                </a:ext>
              </a:extLst>
            </p:cNvPr>
            <p:cNvSpPr txBox="1">
              <a:spLocks noChangeArrowheads="1"/>
            </p:cNvSpPr>
            <p:nvPr/>
          </p:nvSpPr>
          <p:spPr bwMode="auto">
            <a:xfrm>
              <a:off x="1335118" y="3320579"/>
              <a:ext cx="404525"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0.3</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90" name="文本框 29">
              <a:extLst>
                <a:ext uri="{FF2B5EF4-FFF2-40B4-BE49-F238E27FC236}">
                  <a16:creationId xmlns:a16="http://schemas.microsoft.com/office/drawing/2014/main" id="{3ACDB1AF-2866-436D-8496-26BED1243432}"/>
                </a:ext>
              </a:extLst>
            </p:cNvPr>
            <p:cNvSpPr txBox="1">
              <a:spLocks noChangeArrowheads="1"/>
            </p:cNvSpPr>
            <p:nvPr/>
          </p:nvSpPr>
          <p:spPr bwMode="auto">
            <a:xfrm>
              <a:off x="1335118" y="3665067"/>
              <a:ext cx="404525"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0.2</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91" name="文本框 30">
              <a:extLst>
                <a:ext uri="{FF2B5EF4-FFF2-40B4-BE49-F238E27FC236}">
                  <a16:creationId xmlns:a16="http://schemas.microsoft.com/office/drawing/2014/main" id="{707C0C1D-E9C6-46E7-807A-540076BD4F1D}"/>
                </a:ext>
              </a:extLst>
            </p:cNvPr>
            <p:cNvSpPr txBox="1">
              <a:spLocks noChangeArrowheads="1"/>
            </p:cNvSpPr>
            <p:nvPr/>
          </p:nvSpPr>
          <p:spPr bwMode="auto">
            <a:xfrm>
              <a:off x="1335118" y="4011141"/>
              <a:ext cx="404525"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0.1</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92" name="文本框 31">
              <a:extLst>
                <a:ext uri="{FF2B5EF4-FFF2-40B4-BE49-F238E27FC236}">
                  <a16:creationId xmlns:a16="http://schemas.microsoft.com/office/drawing/2014/main" id="{1079D498-A239-4DB4-A907-534415107515}"/>
                </a:ext>
              </a:extLst>
            </p:cNvPr>
            <p:cNvSpPr txBox="1">
              <a:spLocks noChangeArrowheads="1"/>
            </p:cNvSpPr>
            <p:nvPr/>
          </p:nvSpPr>
          <p:spPr bwMode="auto">
            <a:xfrm>
              <a:off x="1335118" y="4371503"/>
              <a:ext cx="404525"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0.0</a:t>
              </a:r>
              <a:endParaRPr lang="zh-CN" altLang="en-US" sz="2000" b="0" dirty="0">
                <a:solidFill>
                  <a:srgbClr val="2C3E50"/>
                </a:solidFill>
                <a:latin typeface="Segoe UI" panose="020B0502040204020203" pitchFamily="34" charset="0"/>
                <a:cs typeface="Segoe UI" panose="020B0502040204020203" pitchFamily="34" charset="0"/>
              </a:endParaRPr>
            </a:p>
          </p:txBody>
        </p:sp>
        <p:cxnSp>
          <p:nvCxnSpPr>
            <p:cNvPr id="93" name="直接连接符 33">
              <a:extLst>
                <a:ext uri="{FF2B5EF4-FFF2-40B4-BE49-F238E27FC236}">
                  <a16:creationId xmlns:a16="http://schemas.microsoft.com/office/drawing/2014/main" id="{33BA0A11-A5E1-4DA8-8764-DBD5BF143907}"/>
                </a:ext>
              </a:extLst>
            </p:cNvPr>
            <p:cNvCxnSpPr>
              <a:cxnSpLocks noChangeShapeType="1"/>
            </p:cNvCxnSpPr>
            <p:nvPr/>
          </p:nvCxnSpPr>
          <p:spPr bwMode="auto">
            <a:xfrm>
              <a:off x="2025650"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94" name="直接连接符 36">
              <a:extLst>
                <a:ext uri="{FF2B5EF4-FFF2-40B4-BE49-F238E27FC236}">
                  <a16:creationId xmlns:a16="http://schemas.microsoft.com/office/drawing/2014/main" id="{56CE8EFB-38E7-4B63-8FC4-5C5D3A5C7B72}"/>
                </a:ext>
              </a:extLst>
            </p:cNvPr>
            <p:cNvCxnSpPr>
              <a:cxnSpLocks noChangeShapeType="1"/>
            </p:cNvCxnSpPr>
            <p:nvPr/>
          </p:nvCxnSpPr>
          <p:spPr bwMode="auto">
            <a:xfrm>
              <a:off x="2306638"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95" name="直接连接符 37">
              <a:extLst>
                <a:ext uri="{FF2B5EF4-FFF2-40B4-BE49-F238E27FC236}">
                  <a16:creationId xmlns:a16="http://schemas.microsoft.com/office/drawing/2014/main" id="{081EB05B-B255-453B-A772-EBD203B627A1}"/>
                </a:ext>
              </a:extLst>
            </p:cNvPr>
            <p:cNvCxnSpPr>
              <a:cxnSpLocks noChangeShapeType="1"/>
            </p:cNvCxnSpPr>
            <p:nvPr/>
          </p:nvCxnSpPr>
          <p:spPr bwMode="auto">
            <a:xfrm>
              <a:off x="2587625"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96" name="直接连接符 38">
              <a:extLst>
                <a:ext uri="{FF2B5EF4-FFF2-40B4-BE49-F238E27FC236}">
                  <a16:creationId xmlns:a16="http://schemas.microsoft.com/office/drawing/2014/main" id="{D5E18832-40D8-4FF2-9EAD-2E0E159D2C7F}"/>
                </a:ext>
              </a:extLst>
            </p:cNvPr>
            <p:cNvCxnSpPr>
              <a:cxnSpLocks noChangeShapeType="1"/>
            </p:cNvCxnSpPr>
            <p:nvPr/>
          </p:nvCxnSpPr>
          <p:spPr bwMode="auto">
            <a:xfrm>
              <a:off x="2868613"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97" name="直接连接符 39">
              <a:extLst>
                <a:ext uri="{FF2B5EF4-FFF2-40B4-BE49-F238E27FC236}">
                  <a16:creationId xmlns:a16="http://schemas.microsoft.com/office/drawing/2014/main" id="{42ED1D15-79FB-4D43-9304-B5221F3EFEAC}"/>
                </a:ext>
              </a:extLst>
            </p:cNvPr>
            <p:cNvCxnSpPr>
              <a:cxnSpLocks noChangeShapeType="1"/>
            </p:cNvCxnSpPr>
            <p:nvPr/>
          </p:nvCxnSpPr>
          <p:spPr bwMode="auto">
            <a:xfrm>
              <a:off x="3149600"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98" name="直接连接符 40">
              <a:extLst>
                <a:ext uri="{FF2B5EF4-FFF2-40B4-BE49-F238E27FC236}">
                  <a16:creationId xmlns:a16="http://schemas.microsoft.com/office/drawing/2014/main" id="{AD2F90BC-CCCA-40A6-849F-67C073EACEDE}"/>
                </a:ext>
              </a:extLst>
            </p:cNvPr>
            <p:cNvCxnSpPr>
              <a:cxnSpLocks noChangeShapeType="1"/>
            </p:cNvCxnSpPr>
            <p:nvPr/>
          </p:nvCxnSpPr>
          <p:spPr bwMode="auto">
            <a:xfrm>
              <a:off x="3430588"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99" name="直接连接符 41">
              <a:extLst>
                <a:ext uri="{FF2B5EF4-FFF2-40B4-BE49-F238E27FC236}">
                  <a16:creationId xmlns:a16="http://schemas.microsoft.com/office/drawing/2014/main" id="{1C7423B2-DE6A-48A7-AF46-2AAC6FDD6D45}"/>
                </a:ext>
              </a:extLst>
            </p:cNvPr>
            <p:cNvCxnSpPr>
              <a:cxnSpLocks noChangeShapeType="1"/>
            </p:cNvCxnSpPr>
            <p:nvPr/>
          </p:nvCxnSpPr>
          <p:spPr bwMode="auto">
            <a:xfrm>
              <a:off x="3711575"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00" name="直接连接符 42">
              <a:extLst>
                <a:ext uri="{FF2B5EF4-FFF2-40B4-BE49-F238E27FC236}">
                  <a16:creationId xmlns:a16="http://schemas.microsoft.com/office/drawing/2014/main" id="{51F988E4-02AB-4FA2-83FC-E7C938C81FED}"/>
                </a:ext>
              </a:extLst>
            </p:cNvPr>
            <p:cNvCxnSpPr>
              <a:cxnSpLocks noChangeShapeType="1"/>
            </p:cNvCxnSpPr>
            <p:nvPr/>
          </p:nvCxnSpPr>
          <p:spPr bwMode="auto">
            <a:xfrm>
              <a:off x="3992563"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01" name="直接连接符 43">
              <a:extLst>
                <a:ext uri="{FF2B5EF4-FFF2-40B4-BE49-F238E27FC236}">
                  <a16:creationId xmlns:a16="http://schemas.microsoft.com/office/drawing/2014/main" id="{F1D1CB10-7789-4852-8AAD-1389B64B8C97}"/>
                </a:ext>
              </a:extLst>
            </p:cNvPr>
            <p:cNvCxnSpPr>
              <a:cxnSpLocks noChangeShapeType="1"/>
            </p:cNvCxnSpPr>
            <p:nvPr/>
          </p:nvCxnSpPr>
          <p:spPr bwMode="auto">
            <a:xfrm>
              <a:off x="4273550"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02" name="直接连接符 44">
              <a:extLst>
                <a:ext uri="{FF2B5EF4-FFF2-40B4-BE49-F238E27FC236}">
                  <a16:creationId xmlns:a16="http://schemas.microsoft.com/office/drawing/2014/main" id="{DF752F1E-9614-48E8-96EC-4F17D8D4FC3F}"/>
                </a:ext>
              </a:extLst>
            </p:cNvPr>
            <p:cNvCxnSpPr>
              <a:cxnSpLocks noChangeShapeType="1"/>
            </p:cNvCxnSpPr>
            <p:nvPr/>
          </p:nvCxnSpPr>
          <p:spPr bwMode="auto">
            <a:xfrm>
              <a:off x="4554538"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03" name="直接连接符 45">
              <a:extLst>
                <a:ext uri="{FF2B5EF4-FFF2-40B4-BE49-F238E27FC236}">
                  <a16:creationId xmlns:a16="http://schemas.microsoft.com/office/drawing/2014/main" id="{C08827D6-B0DB-4A10-B0D8-5FB52EF4BCC6}"/>
                </a:ext>
              </a:extLst>
            </p:cNvPr>
            <p:cNvCxnSpPr>
              <a:cxnSpLocks noChangeShapeType="1"/>
            </p:cNvCxnSpPr>
            <p:nvPr/>
          </p:nvCxnSpPr>
          <p:spPr bwMode="auto">
            <a:xfrm>
              <a:off x="4835525"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04" name="直接连接符 46">
              <a:extLst>
                <a:ext uri="{FF2B5EF4-FFF2-40B4-BE49-F238E27FC236}">
                  <a16:creationId xmlns:a16="http://schemas.microsoft.com/office/drawing/2014/main" id="{A708DBE7-EF12-4BA0-A76C-E1D8CE9FF412}"/>
                </a:ext>
              </a:extLst>
            </p:cNvPr>
            <p:cNvCxnSpPr>
              <a:cxnSpLocks noChangeShapeType="1"/>
              <a:stCxn id="69" idx="0"/>
              <a:endCxn id="69" idx="2"/>
            </p:cNvCxnSpPr>
            <p:nvPr/>
          </p:nvCxnSpPr>
          <p:spPr bwMode="auto">
            <a:xfrm>
              <a:off x="4835525" y="1085379"/>
              <a:ext cx="0" cy="3409949"/>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05" name="直接连接符 50">
              <a:extLst>
                <a:ext uri="{FF2B5EF4-FFF2-40B4-BE49-F238E27FC236}">
                  <a16:creationId xmlns:a16="http://schemas.microsoft.com/office/drawing/2014/main" id="{3971FB35-7E57-4FB2-B160-2508A0B2868B}"/>
                </a:ext>
              </a:extLst>
            </p:cNvPr>
            <p:cNvCxnSpPr>
              <a:cxnSpLocks noChangeShapeType="1"/>
            </p:cNvCxnSpPr>
            <p:nvPr/>
          </p:nvCxnSpPr>
          <p:spPr bwMode="auto">
            <a:xfrm>
              <a:off x="5102225"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06" name="直接连接符 51">
              <a:extLst>
                <a:ext uri="{FF2B5EF4-FFF2-40B4-BE49-F238E27FC236}">
                  <a16:creationId xmlns:a16="http://schemas.microsoft.com/office/drawing/2014/main" id="{8B813AFF-B252-4901-B2C7-804501E1D35B}"/>
                </a:ext>
              </a:extLst>
            </p:cNvPr>
            <p:cNvCxnSpPr>
              <a:cxnSpLocks noChangeShapeType="1"/>
            </p:cNvCxnSpPr>
            <p:nvPr/>
          </p:nvCxnSpPr>
          <p:spPr bwMode="auto">
            <a:xfrm>
              <a:off x="5383213"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07" name="直接连接符 52">
              <a:extLst>
                <a:ext uri="{FF2B5EF4-FFF2-40B4-BE49-F238E27FC236}">
                  <a16:creationId xmlns:a16="http://schemas.microsoft.com/office/drawing/2014/main" id="{839B60B0-9560-4175-AF45-FDF3070F560A}"/>
                </a:ext>
              </a:extLst>
            </p:cNvPr>
            <p:cNvCxnSpPr>
              <a:cxnSpLocks noChangeShapeType="1"/>
            </p:cNvCxnSpPr>
            <p:nvPr/>
          </p:nvCxnSpPr>
          <p:spPr bwMode="auto">
            <a:xfrm>
              <a:off x="5662613"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08" name="直接连接符 53">
              <a:extLst>
                <a:ext uri="{FF2B5EF4-FFF2-40B4-BE49-F238E27FC236}">
                  <a16:creationId xmlns:a16="http://schemas.microsoft.com/office/drawing/2014/main" id="{4ACD5D8D-2773-4A08-9AA5-E79A93381CC9}"/>
                </a:ext>
              </a:extLst>
            </p:cNvPr>
            <p:cNvCxnSpPr>
              <a:cxnSpLocks noChangeShapeType="1"/>
            </p:cNvCxnSpPr>
            <p:nvPr/>
          </p:nvCxnSpPr>
          <p:spPr bwMode="auto">
            <a:xfrm>
              <a:off x="5943600"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09" name="直接连接符 54">
              <a:extLst>
                <a:ext uri="{FF2B5EF4-FFF2-40B4-BE49-F238E27FC236}">
                  <a16:creationId xmlns:a16="http://schemas.microsoft.com/office/drawing/2014/main" id="{BA0052A4-3A6E-494C-AFDA-C5C43EE9E69C}"/>
                </a:ext>
              </a:extLst>
            </p:cNvPr>
            <p:cNvCxnSpPr>
              <a:cxnSpLocks noChangeShapeType="1"/>
            </p:cNvCxnSpPr>
            <p:nvPr/>
          </p:nvCxnSpPr>
          <p:spPr bwMode="auto">
            <a:xfrm>
              <a:off x="6224588"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10" name="直接连接符 55">
              <a:extLst>
                <a:ext uri="{FF2B5EF4-FFF2-40B4-BE49-F238E27FC236}">
                  <a16:creationId xmlns:a16="http://schemas.microsoft.com/office/drawing/2014/main" id="{B4F4DB3D-A252-41A0-8145-EFEA22805275}"/>
                </a:ext>
              </a:extLst>
            </p:cNvPr>
            <p:cNvCxnSpPr>
              <a:cxnSpLocks noChangeShapeType="1"/>
            </p:cNvCxnSpPr>
            <p:nvPr/>
          </p:nvCxnSpPr>
          <p:spPr bwMode="auto">
            <a:xfrm>
              <a:off x="6505575"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11" name="直接连接符 56">
              <a:extLst>
                <a:ext uri="{FF2B5EF4-FFF2-40B4-BE49-F238E27FC236}">
                  <a16:creationId xmlns:a16="http://schemas.microsoft.com/office/drawing/2014/main" id="{5A40D568-C36B-4A08-8B22-991F95057BE9}"/>
                </a:ext>
              </a:extLst>
            </p:cNvPr>
            <p:cNvCxnSpPr>
              <a:cxnSpLocks noChangeShapeType="1"/>
            </p:cNvCxnSpPr>
            <p:nvPr/>
          </p:nvCxnSpPr>
          <p:spPr bwMode="auto">
            <a:xfrm>
              <a:off x="6786563"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12" name="直接连接符 57">
              <a:extLst>
                <a:ext uri="{FF2B5EF4-FFF2-40B4-BE49-F238E27FC236}">
                  <a16:creationId xmlns:a16="http://schemas.microsoft.com/office/drawing/2014/main" id="{0C4B97D6-15A7-4BAF-897D-7157BD56C99D}"/>
                </a:ext>
              </a:extLst>
            </p:cNvPr>
            <p:cNvCxnSpPr>
              <a:cxnSpLocks noChangeShapeType="1"/>
            </p:cNvCxnSpPr>
            <p:nvPr/>
          </p:nvCxnSpPr>
          <p:spPr bwMode="auto">
            <a:xfrm>
              <a:off x="7067550"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13" name="直接连接符 58">
              <a:extLst>
                <a:ext uri="{FF2B5EF4-FFF2-40B4-BE49-F238E27FC236}">
                  <a16:creationId xmlns:a16="http://schemas.microsoft.com/office/drawing/2014/main" id="{2348D00C-6DDE-422A-96DB-4917C1050B49}"/>
                </a:ext>
              </a:extLst>
            </p:cNvPr>
            <p:cNvCxnSpPr>
              <a:cxnSpLocks noChangeShapeType="1"/>
            </p:cNvCxnSpPr>
            <p:nvPr/>
          </p:nvCxnSpPr>
          <p:spPr bwMode="auto">
            <a:xfrm>
              <a:off x="7348538"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114" name="直接连接符 59">
              <a:extLst>
                <a:ext uri="{FF2B5EF4-FFF2-40B4-BE49-F238E27FC236}">
                  <a16:creationId xmlns:a16="http://schemas.microsoft.com/office/drawing/2014/main" id="{9D8C1150-30C0-4B2C-9AAF-0BFE10F6338E}"/>
                </a:ext>
              </a:extLst>
            </p:cNvPr>
            <p:cNvCxnSpPr>
              <a:cxnSpLocks noChangeShapeType="1"/>
            </p:cNvCxnSpPr>
            <p:nvPr/>
          </p:nvCxnSpPr>
          <p:spPr bwMode="auto">
            <a:xfrm>
              <a:off x="7643813" y="4495328"/>
              <a:ext cx="0" cy="87313"/>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sp>
          <p:nvSpPr>
            <p:cNvPr id="115" name="文本框 60">
              <a:extLst>
                <a:ext uri="{FF2B5EF4-FFF2-40B4-BE49-F238E27FC236}">
                  <a16:creationId xmlns:a16="http://schemas.microsoft.com/office/drawing/2014/main" id="{D713CAC1-4059-43BE-8F2D-8E011B3B123D}"/>
                </a:ext>
              </a:extLst>
            </p:cNvPr>
            <p:cNvSpPr txBox="1">
              <a:spLocks noChangeArrowheads="1"/>
            </p:cNvSpPr>
            <p:nvPr/>
          </p:nvSpPr>
          <p:spPr bwMode="auto">
            <a:xfrm>
              <a:off x="1795463" y="4636616"/>
              <a:ext cx="358038"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90</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116" name="文本框 61">
              <a:extLst>
                <a:ext uri="{FF2B5EF4-FFF2-40B4-BE49-F238E27FC236}">
                  <a16:creationId xmlns:a16="http://schemas.microsoft.com/office/drawing/2014/main" id="{5298137B-7854-4C0C-BA50-E53D465A9AA1}"/>
                </a:ext>
              </a:extLst>
            </p:cNvPr>
            <p:cNvSpPr txBox="1">
              <a:spLocks noChangeArrowheads="1"/>
            </p:cNvSpPr>
            <p:nvPr/>
          </p:nvSpPr>
          <p:spPr bwMode="auto">
            <a:xfrm>
              <a:off x="4529138" y="4636616"/>
              <a:ext cx="500705"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100</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117" name="文本框 62">
              <a:extLst>
                <a:ext uri="{FF2B5EF4-FFF2-40B4-BE49-F238E27FC236}">
                  <a16:creationId xmlns:a16="http://schemas.microsoft.com/office/drawing/2014/main" id="{21DEA27C-C6C6-4F61-B20E-1A0DF20D2629}"/>
                </a:ext>
              </a:extLst>
            </p:cNvPr>
            <p:cNvSpPr txBox="1">
              <a:spLocks noChangeArrowheads="1"/>
            </p:cNvSpPr>
            <p:nvPr/>
          </p:nvSpPr>
          <p:spPr bwMode="auto">
            <a:xfrm>
              <a:off x="7337425" y="4636616"/>
              <a:ext cx="481661" cy="38048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2000" b="0">
                  <a:solidFill>
                    <a:srgbClr val="2C3E50"/>
                  </a:solidFill>
                  <a:latin typeface="Segoe UI" panose="020B0502040204020203" pitchFamily="34" charset="0"/>
                  <a:ea typeface="Segoe UI" panose="020B0502040204020203" pitchFamily="34" charset="0"/>
                  <a:cs typeface="Segoe UI" panose="020B0502040204020203" pitchFamily="34" charset="0"/>
                </a:rPr>
                <a:t>110</a:t>
              </a:r>
              <a:endParaRPr lang="zh-CN" altLang="en-US" sz="2000" b="0">
                <a:solidFill>
                  <a:srgbClr val="2C3E50"/>
                </a:solidFill>
                <a:latin typeface="Segoe UI" panose="020B0502040204020203" pitchFamily="34" charset="0"/>
                <a:cs typeface="Segoe UI" panose="020B0502040204020203" pitchFamily="34" charset="0"/>
              </a:endParaRPr>
            </a:p>
          </p:txBody>
        </p:sp>
        <p:sp>
          <p:nvSpPr>
            <p:cNvPr id="118" name="文本框 72">
              <a:extLst>
                <a:ext uri="{FF2B5EF4-FFF2-40B4-BE49-F238E27FC236}">
                  <a16:creationId xmlns:a16="http://schemas.microsoft.com/office/drawing/2014/main" id="{28A2F5A9-3DD9-40FF-814E-53F77A5B4F44}"/>
                </a:ext>
              </a:extLst>
            </p:cNvPr>
            <p:cNvSpPr txBox="1">
              <a:spLocks noChangeArrowheads="1"/>
            </p:cNvSpPr>
            <p:nvPr/>
          </p:nvSpPr>
          <p:spPr bwMode="auto">
            <a:xfrm>
              <a:off x="2212976" y="3717032"/>
              <a:ext cx="790234" cy="40831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200" b="0" dirty="0">
                  <a:solidFill>
                    <a:srgbClr val="2C3E50"/>
                  </a:solidFill>
                  <a:latin typeface="Segoe UI" panose="020B0502040204020203" pitchFamily="34" charset="0"/>
                  <a:ea typeface="Segoe UI" panose="020B0502040204020203" pitchFamily="34" charset="0"/>
                  <a:cs typeface="Segoe UI" panose="020B0502040204020203" pitchFamily="34" charset="0"/>
                </a:rPr>
                <a:t>90-day</a:t>
              </a:r>
              <a:endParaRPr lang="zh-CN" altLang="en-US" sz="1200" b="0" dirty="0">
                <a:solidFill>
                  <a:srgbClr val="2C3E50"/>
                </a:solidFill>
                <a:latin typeface="Segoe UI" panose="020B0502040204020203" pitchFamily="34" charset="0"/>
                <a:cs typeface="Segoe UI" panose="020B0502040204020203" pitchFamily="34" charset="0"/>
              </a:endParaRPr>
            </a:p>
          </p:txBody>
        </p:sp>
        <p:sp>
          <p:nvSpPr>
            <p:cNvPr id="119" name="文本框 73">
              <a:extLst>
                <a:ext uri="{FF2B5EF4-FFF2-40B4-BE49-F238E27FC236}">
                  <a16:creationId xmlns:a16="http://schemas.microsoft.com/office/drawing/2014/main" id="{8F1EF511-5516-4C49-B05E-0691785DC09D}"/>
                </a:ext>
              </a:extLst>
            </p:cNvPr>
            <p:cNvSpPr txBox="1">
              <a:spLocks noChangeArrowheads="1"/>
            </p:cNvSpPr>
            <p:nvPr/>
          </p:nvSpPr>
          <p:spPr bwMode="auto">
            <a:xfrm>
              <a:off x="2838067" y="3930178"/>
              <a:ext cx="436281" cy="40831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200" b="0" dirty="0">
                  <a:solidFill>
                    <a:srgbClr val="2C3E50"/>
                  </a:solidFill>
                  <a:latin typeface="Segoe UI" panose="020B0502040204020203" pitchFamily="34" charset="0"/>
                  <a:ea typeface="Segoe UI" panose="020B0502040204020203" pitchFamily="34" charset="0"/>
                  <a:cs typeface="Segoe UI" panose="020B0502040204020203" pitchFamily="34" charset="0"/>
                </a:rPr>
                <a:t>60-</a:t>
              </a:r>
              <a:endParaRPr lang="zh-CN" altLang="en-US" sz="1200" b="0" dirty="0">
                <a:solidFill>
                  <a:srgbClr val="2C3E50"/>
                </a:solidFill>
                <a:latin typeface="Segoe UI" panose="020B0502040204020203" pitchFamily="34" charset="0"/>
                <a:cs typeface="Segoe UI" panose="020B0502040204020203" pitchFamily="34" charset="0"/>
              </a:endParaRPr>
            </a:p>
          </p:txBody>
        </p:sp>
        <p:sp>
          <p:nvSpPr>
            <p:cNvPr id="120" name="文本框 74">
              <a:extLst>
                <a:ext uri="{FF2B5EF4-FFF2-40B4-BE49-F238E27FC236}">
                  <a16:creationId xmlns:a16="http://schemas.microsoft.com/office/drawing/2014/main" id="{B8F0E638-E09F-42F8-A022-196550B79603}"/>
                </a:ext>
              </a:extLst>
            </p:cNvPr>
            <p:cNvSpPr txBox="1">
              <a:spLocks noChangeArrowheads="1"/>
            </p:cNvSpPr>
            <p:nvPr/>
          </p:nvSpPr>
          <p:spPr bwMode="auto">
            <a:xfrm>
              <a:off x="3126100" y="4025427"/>
              <a:ext cx="436281" cy="40831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200" b="0" dirty="0">
                  <a:solidFill>
                    <a:srgbClr val="2C3E50"/>
                  </a:solidFill>
                  <a:latin typeface="Segoe UI" panose="020B0502040204020203" pitchFamily="34" charset="0"/>
                  <a:ea typeface="Segoe UI" panose="020B0502040204020203" pitchFamily="34" charset="0"/>
                  <a:cs typeface="Segoe UI" panose="020B0502040204020203" pitchFamily="34" charset="0"/>
                </a:rPr>
                <a:t>30-</a:t>
              </a:r>
              <a:endParaRPr lang="zh-CN" altLang="en-US" sz="1200" b="0" dirty="0">
                <a:solidFill>
                  <a:srgbClr val="2C3E50"/>
                </a:solidFill>
                <a:latin typeface="Segoe UI" panose="020B0502040204020203" pitchFamily="34" charset="0"/>
                <a:cs typeface="Segoe UI" panose="020B0502040204020203" pitchFamily="34" charset="0"/>
              </a:endParaRPr>
            </a:p>
          </p:txBody>
        </p:sp>
        <p:sp>
          <p:nvSpPr>
            <p:cNvPr id="121" name="文本框 75">
              <a:extLst>
                <a:ext uri="{FF2B5EF4-FFF2-40B4-BE49-F238E27FC236}">
                  <a16:creationId xmlns:a16="http://schemas.microsoft.com/office/drawing/2014/main" id="{A4F3FFE8-ED12-4398-AF92-676DC3534466}"/>
                </a:ext>
              </a:extLst>
            </p:cNvPr>
            <p:cNvSpPr txBox="1">
              <a:spLocks noChangeArrowheads="1"/>
            </p:cNvSpPr>
            <p:nvPr/>
          </p:nvSpPr>
          <p:spPr bwMode="auto">
            <a:xfrm>
              <a:off x="3673475" y="4163541"/>
              <a:ext cx="790234" cy="40831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200" b="0" dirty="0">
                  <a:solidFill>
                    <a:srgbClr val="2C3E50"/>
                  </a:solidFill>
                  <a:latin typeface="Segoe UI" panose="020B0502040204020203" pitchFamily="34" charset="0"/>
                  <a:ea typeface="Segoe UI" panose="020B0502040204020203" pitchFamily="34" charset="0"/>
                  <a:cs typeface="Segoe UI" panose="020B0502040204020203" pitchFamily="34" charset="0"/>
                </a:rPr>
                <a:t>10-day</a:t>
              </a:r>
              <a:endParaRPr lang="zh-CN" altLang="en-US" sz="1200" b="0" dirty="0">
                <a:solidFill>
                  <a:srgbClr val="2C3E50"/>
                </a:solidFill>
                <a:latin typeface="Segoe UI" panose="020B0502040204020203" pitchFamily="34" charset="0"/>
                <a:cs typeface="Segoe UI" panose="020B0502040204020203" pitchFamily="34" charset="0"/>
              </a:endParaRPr>
            </a:p>
          </p:txBody>
        </p:sp>
        <p:sp>
          <p:nvSpPr>
            <p:cNvPr id="122" name="文本框 63">
              <a:extLst>
                <a:ext uri="{FF2B5EF4-FFF2-40B4-BE49-F238E27FC236}">
                  <a16:creationId xmlns:a16="http://schemas.microsoft.com/office/drawing/2014/main" id="{6403C3EB-DF23-4A4A-AE27-473240901CA8}"/>
                </a:ext>
              </a:extLst>
            </p:cNvPr>
            <p:cNvSpPr txBox="1">
              <a:spLocks noChangeArrowheads="1"/>
            </p:cNvSpPr>
            <p:nvPr/>
          </p:nvSpPr>
          <p:spPr bwMode="auto">
            <a:xfrm>
              <a:off x="4143359" y="5034818"/>
              <a:ext cx="1272263" cy="4571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400" b="0" dirty="0">
                  <a:solidFill>
                    <a:srgbClr val="2C3E50"/>
                  </a:solidFill>
                  <a:latin typeface="Segoe UI" panose="020B0502040204020203" pitchFamily="34" charset="0"/>
                  <a:ea typeface="Segoe UI" panose="020B0502040204020203" pitchFamily="34" charset="0"/>
                  <a:cs typeface="Segoe UI" panose="020B0502040204020203" pitchFamily="34" charset="0"/>
                </a:rPr>
                <a:t>Spot Price</a:t>
              </a:r>
              <a:endParaRPr lang="zh-CN" altLang="en-US" sz="1400" b="0" dirty="0">
                <a:solidFill>
                  <a:srgbClr val="2C3E50"/>
                </a:solidFill>
                <a:latin typeface="Segoe UI" panose="020B0502040204020203" pitchFamily="34" charset="0"/>
                <a:cs typeface="Segoe UI" panose="020B0502040204020203" pitchFamily="34" charset="0"/>
              </a:endParaRPr>
            </a:p>
          </p:txBody>
        </p:sp>
        <p:sp>
          <p:nvSpPr>
            <p:cNvPr id="123" name="任意多边形 67">
              <a:extLst>
                <a:ext uri="{FF2B5EF4-FFF2-40B4-BE49-F238E27FC236}">
                  <a16:creationId xmlns:a16="http://schemas.microsoft.com/office/drawing/2014/main" id="{5A7BDA10-2FAD-4F9E-9E5B-C63DD82C1447}"/>
                </a:ext>
              </a:extLst>
            </p:cNvPr>
            <p:cNvSpPr>
              <a:spLocks/>
            </p:cNvSpPr>
            <p:nvPr/>
          </p:nvSpPr>
          <p:spPr bwMode="auto">
            <a:xfrm>
              <a:off x="2033588" y="1090142"/>
              <a:ext cx="5654675" cy="3405186"/>
            </a:xfrm>
            <a:custGeom>
              <a:avLst/>
              <a:gdLst>
                <a:gd name="T0" fmla="*/ 0 w 5654351"/>
                <a:gd name="T1" fmla="*/ 3765264 h 3775580"/>
                <a:gd name="T2" fmla="*/ 1677509 w 5654351"/>
                <a:gd name="T3" fmla="*/ 3504306 h 3775580"/>
                <a:gd name="T4" fmla="*/ 2795856 w 5654351"/>
                <a:gd name="T5" fmla="*/ 2031746 h 3775580"/>
                <a:gd name="T6" fmla="*/ 3914191 w 5654351"/>
                <a:gd name="T7" fmla="*/ 354160 h 3775580"/>
                <a:gd name="T8" fmla="*/ 5647619 w 5654351"/>
                <a:gd name="T9" fmla="*/ 0 h 37755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54351" h="3775580">
                  <a:moveTo>
                    <a:pt x="0" y="3769567"/>
                  </a:moveTo>
                  <a:cubicBezTo>
                    <a:pt x="606490" y="3783563"/>
                    <a:pt x="1212980" y="3797559"/>
                    <a:pt x="1679511" y="3508310"/>
                  </a:cubicBezTo>
                  <a:cubicBezTo>
                    <a:pt x="2146042" y="3219061"/>
                    <a:pt x="2425960" y="2559697"/>
                    <a:pt x="2799184" y="2034073"/>
                  </a:cubicBezTo>
                  <a:cubicBezTo>
                    <a:pt x="3172409" y="1508448"/>
                    <a:pt x="3442997" y="693575"/>
                    <a:pt x="3918858" y="354563"/>
                  </a:cubicBezTo>
                  <a:cubicBezTo>
                    <a:pt x="4394719" y="15551"/>
                    <a:pt x="5024535" y="7775"/>
                    <a:pt x="5654351" y="0"/>
                  </a:cubicBezTo>
                </a:path>
              </a:pathLst>
            </a:custGeom>
            <a:noFill/>
            <a:ln w="38100" cap="flat" cmpd="sng">
              <a:solidFill>
                <a:srgbClr val="2C3E5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2000">
                <a:solidFill>
                  <a:srgbClr val="2C3E50"/>
                </a:solidFill>
                <a:latin typeface="Segoe UI" panose="020B0502040204020203" pitchFamily="34" charset="0"/>
                <a:cs typeface="Segoe UI" panose="020B0502040204020203" pitchFamily="34" charset="0"/>
              </a:endParaRPr>
            </a:p>
          </p:txBody>
        </p:sp>
        <p:sp>
          <p:nvSpPr>
            <p:cNvPr id="124" name="任意多边形 69">
              <a:extLst>
                <a:ext uri="{FF2B5EF4-FFF2-40B4-BE49-F238E27FC236}">
                  <a16:creationId xmlns:a16="http://schemas.microsoft.com/office/drawing/2014/main" id="{AB8B4F4F-8BCD-4601-AA20-2AE7B8AD8F35}"/>
                </a:ext>
              </a:extLst>
            </p:cNvPr>
            <p:cNvSpPr>
              <a:spLocks/>
            </p:cNvSpPr>
            <p:nvPr/>
          </p:nvSpPr>
          <p:spPr bwMode="auto">
            <a:xfrm>
              <a:off x="2033588" y="1142529"/>
              <a:ext cx="5637212" cy="3163888"/>
            </a:xfrm>
            <a:custGeom>
              <a:avLst/>
              <a:gdLst>
                <a:gd name="T0" fmla="*/ 0 w 5635690"/>
                <a:gd name="T1" fmla="*/ 3500725 h 3508310"/>
                <a:gd name="T2" fmla="*/ 1270966 w 5635690"/>
                <a:gd name="T3" fmla="*/ 2979341 h 3508310"/>
                <a:gd name="T4" fmla="*/ 2784904 w 5635690"/>
                <a:gd name="T5" fmla="*/ 1936570 h 3508310"/>
                <a:gd name="T6" fmla="*/ 4392303 w 5635690"/>
                <a:gd name="T7" fmla="*/ 726215 h 3508310"/>
                <a:gd name="T8" fmla="*/ 5644575 w 5635690"/>
                <a:gd name="T9" fmla="*/ 0 h 35083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35690" h="3508310">
                  <a:moveTo>
                    <a:pt x="0" y="3508310"/>
                  </a:moveTo>
                  <a:cubicBezTo>
                    <a:pt x="402772" y="3377681"/>
                    <a:pt x="805544" y="3247053"/>
                    <a:pt x="1268964" y="2985796"/>
                  </a:cubicBezTo>
                  <a:cubicBezTo>
                    <a:pt x="1732384" y="2724539"/>
                    <a:pt x="2261119" y="2317102"/>
                    <a:pt x="2780523" y="1940767"/>
                  </a:cubicBezTo>
                  <a:cubicBezTo>
                    <a:pt x="3299927" y="1564432"/>
                    <a:pt x="3909527" y="1051249"/>
                    <a:pt x="4385388" y="727788"/>
                  </a:cubicBezTo>
                  <a:cubicBezTo>
                    <a:pt x="4861249" y="404327"/>
                    <a:pt x="5248469" y="202163"/>
                    <a:pt x="5635690" y="0"/>
                  </a:cubicBezTo>
                </a:path>
              </a:pathLst>
            </a:custGeom>
            <a:noFill/>
            <a:ln w="25400" cap="flat" cmpd="sng">
              <a:solidFill>
                <a:srgbClr val="2C3E50"/>
              </a:solidFill>
              <a:prstDash val="lgDash"/>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2000">
                <a:solidFill>
                  <a:srgbClr val="2C3E50"/>
                </a:solidFill>
                <a:latin typeface="Segoe UI" panose="020B0502040204020203" pitchFamily="34" charset="0"/>
                <a:cs typeface="Segoe UI" panose="020B0502040204020203" pitchFamily="34" charset="0"/>
              </a:endParaRPr>
            </a:p>
          </p:txBody>
        </p:sp>
        <p:sp>
          <p:nvSpPr>
            <p:cNvPr id="125" name="任意多边形 71">
              <a:extLst>
                <a:ext uri="{FF2B5EF4-FFF2-40B4-BE49-F238E27FC236}">
                  <a16:creationId xmlns:a16="http://schemas.microsoft.com/office/drawing/2014/main" id="{AE648C0D-4EF7-47FB-8F5A-4F3232AD6A95}"/>
                </a:ext>
              </a:extLst>
            </p:cNvPr>
            <p:cNvSpPr>
              <a:spLocks/>
            </p:cNvSpPr>
            <p:nvPr/>
          </p:nvSpPr>
          <p:spPr bwMode="auto">
            <a:xfrm>
              <a:off x="2071688" y="1091730"/>
              <a:ext cx="5486400" cy="3400425"/>
            </a:xfrm>
            <a:custGeom>
              <a:avLst/>
              <a:gdLst>
                <a:gd name="T0" fmla="*/ 0 w 5486400"/>
                <a:gd name="T1" fmla="*/ 3774782 h 3769568"/>
                <a:gd name="T2" fmla="*/ 55880 w 5486400"/>
                <a:gd name="T3" fmla="*/ 3774782 h 3769568"/>
                <a:gd name="T4" fmla="*/ 1527258 w 5486400"/>
                <a:gd name="T5" fmla="*/ 3419730 h 3769568"/>
                <a:gd name="T6" fmla="*/ 2775143 w 5486400"/>
                <a:gd name="T7" fmla="*/ 1980829 h 3769568"/>
                <a:gd name="T8" fmla="*/ 3818151 w 5486400"/>
                <a:gd name="T9" fmla="*/ 616679 h 3769568"/>
                <a:gd name="T10" fmla="*/ 5475787 w 5486400"/>
                <a:gd name="T11" fmla="*/ 0 h 37695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486400" h="3769568">
                  <a:moveTo>
                    <a:pt x="0" y="3769568"/>
                  </a:moveTo>
                  <a:lnTo>
                    <a:pt x="55984" y="3769568"/>
                  </a:lnTo>
                  <a:cubicBezTo>
                    <a:pt x="311021" y="3710474"/>
                    <a:pt x="1076130" y="3713584"/>
                    <a:pt x="1530220" y="3415004"/>
                  </a:cubicBezTo>
                  <a:cubicBezTo>
                    <a:pt x="1984310" y="3116424"/>
                    <a:pt x="2397967" y="2444620"/>
                    <a:pt x="2780522" y="1978090"/>
                  </a:cubicBezTo>
                  <a:cubicBezTo>
                    <a:pt x="3163077" y="1511560"/>
                    <a:pt x="3374571" y="945503"/>
                    <a:pt x="3825551" y="615821"/>
                  </a:cubicBezTo>
                  <a:cubicBezTo>
                    <a:pt x="4276531" y="286139"/>
                    <a:pt x="4881465" y="143069"/>
                    <a:pt x="5486400" y="0"/>
                  </a:cubicBezTo>
                </a:path>
              </a:pathLst>
            </a:custGeom>
            <a:noFill/>
            <a:ln w="19050" cap="flat" cmpd="sng">
              <a:solidFill>
                <a:srgbClr val="2C3E5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2000">
                <a:solidFill>
                  <a:srgbClr val="2C3E50"/>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35141305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fontScale="92500"/>
          </a:bodyPr>
          <a:lstStyle/>
          <a:p>
            <a:r>
              <a:rPr lang="en-US" altLang="zh-CN" dirty="0">
                <a:latin typeface="+mn-lt"/>
                <a:ea typeface="+mn-ea"/>
                <a:cs typeface="+mn-ea"/>
                <a:sym typeface="+mn-lt"/>
              </a:rPr>
              <a:t>Delta</a:t>
            </a:r>
          </a:p>
          <a:p>
            <a:pPr lvl="1"/>
            <a:r>
              <a:rPr lang="en-US" altLang="zh-CN" dirty="0">
                <a:latin typeface="+mn-lt"/>
                <a:ea typeface="+mn-ea"/>
                <a:cs typeface="+mn-ea"/>
                <a:sym typeface="+mn-lt"/>
              </a:rPr>
              <a:t>According to the BSM Model</a:t>
            </a:r>
          </a:p>
          <a:p>
            <a:endParaRPr lang="en-US" altLang="zh-CN" dirty="0">
              <a:latin typeface="+mn-lt"/>
              <a:ea typeface="+mn-ea"/>
              <a:cs typeface="+mn-ea"/>
              <a:sym typeface="+mn-lt"/>
            </a:endParaRPr>
          </a:p>
          <a:p>
            <a:pPr marL="0" indent="0">
              <a:buNone/>
            </a:pPr>
            <a:endParaRPr lang="en-US" altLang="zh-CN" dirty="0">
              <a:latin typeface="+mn-lt"/>
              <a:ea typeface="+mn-ea"/>
              <a:cs typeface="+mn-ea"/>
              <a:sym typeface="+mn-lt"/>
            </a:endParaRPr>
          </a:p>
          <a:p>
            <a:pPr marL="0" indent="0">
              <a:buNone/>
            </a:pPr>
            <a:r>
              <a:rPr lang="en-US" altLang="zh-CN" dirty="0">
                <a:latin typeface="+mn-lt"/>
                <a:ea typeface="+mn-ea"/>
                <a:cs typeface="+mn-ea"/>
                <a:sym typeface="+mn-lt"/>
              </a:rPr>
              <a:t>                                                                          </a:t>
            </a:r>
            <a:r>
              <a:rPr lang="en-US" altLang="zh-CN" dirty="0">
                <a:solidFill>
                  <a:schemeClr val="tx1"/>
                </a:solidFill>
                <a:latin typeface="+mn-lt"/>
                <a:ea typeface="+mn-ea"/>
                <a:cs typeface="+mn-ea"/>
                <a:sym typeface="+mn-lt"/>
              </a:rPr>
              <a:t>or</a:t>
            </a:r>
          </a:p>
          <a:p>
            <a:endParaRPr lang="en-US" altLang="zh-CN" dirty="0">
              <a:latin typeface="+mn-lt"/>
              <a:ea typeface="+mn-ea"/>
              <a:cs typeface="+mn-ea"/>
              <a:sym typeface="+mn-lt"/>
            </a:endParaRPr>
          </a:p>
          <a:p>
            <a:endParaRPr lang="en-US" altLang="zh-CN" dirty="0">
              <a:latin typeface="+mn-lt"/>
              <a:ea typeface="+mn-ea"/>
              <a:cs typeface="+mn-ea"/>
              <a:sym typeface="+mn-lt"/>
            </a:endParaRPr>
          </a:p>
          <a:p>
            <a:pPr lvl="1"/>
            <a:r>
              <a:rPr lang="en-US" altLang="zh-CN" dirty="0">
                <a:latin typeface="+mn-lt"/>
                <a:ea typeface="+mn-ea"/>
                <a:cs typeface="+mn-ea"/>
                <a:sym typeface="+mn-lt"/>
              </a:rPr>
              <a:t>Where: </a:t>
            </a:r>
          </a:p>
          <a:p>
            <a:pPr lvl="2"/>
            <a:r>
              <a:rPr lang="en-US" altLang="zh-CN" dirty="0">
                <a:latin typeface="+mn-lt"/>
                <a:ea typeface="+mn-ea"/>
                <a:cs typeface="+mn-ea"/>
                <a:sym typeface="+mn-lt"/>
              </a:rPr>
              <a:t>∂c = change in the call option price; </a:t>
            </a:r>
          </a:p>
          <a:p>
            <a:pPr lvl="2"/>
            <a:r>
              <a:rPr lang="en-US" altLang="zh-CN" dirty="0">
                <a:latin typeface="+mn-lt"/>
                <a:ea typeface="+mn-ea"/>
                <a:cs typeface="+mn-ea"/>
                <a:sym typeface="+mn-lt"/>
              </a:rPr>
              <a:t>∂p = change in the put option price;</a:t>
            </a:r>
          </a:p>
          <a:p>
            <a:pPr lvl="2"/>
            <a:r>
              <a:rPr lang="en-US" altLang="zh-CN" dirty="0">
                <a:latin typeface="+mn-lt"/>
                <a:ea typeface="+mn-ea"/>
                <a:cs typeface="+mn-ea"/>
                <a:sym typeface="+mn-lt"/>
              </a:rPr>
              <a:t>∂S = change in the stock price.</a:t>
            </a:r>
            <a:endParaRPr lang="zh-CN" altLang="en-US" dirty="0">
              <a:latin typeface="+mn-lt"/>
              <a:ea typeface="+mn-ea"/>
              <a:cs typeface="+mn-ea"/>
              <a:sym typeface="+mn-lt"/>
            </a:endParaRPr>
          </a:p>
        </p:txBody>
      </p:sp>
      <p:graphicFrame>
        <p:nvGraphicFramePr>
          <p:cNvPr id="4" name="Object 40">
            <a:extLst>
              <a:ext uri="{FF2B5EF4-FFF2-40B4-BE49-F238E27FC236}">
                <a16:creationId xmlns:a16="http://schemas.microsoft.com/office/drawing/2014/main" id="{923D46F5-D92C-4D3E-805B-1AF4599068DD}"/>
              </a:ext>
            </a:extLst>
          </p:cNvPr>
          <p:cNvGraphicFramePr>
            <a:graphicFrameLocks noChangeAspect="1"/>
          </p:cNvGraphicFramePr>
          <p:nvPr>
            <p:extLst>
              <p:ext uri="{D42A27DB-BD31-4B8C-83A1-F6EECF244321}">
                <p14:modId xmlns:p14="http://schemas.microsoft.com/office/powerpoint/2010/main" val="1613313000"/>
              </p:ext>
            </p:extLst>
          </p:nvPr>
        </p:nvGraphicFramePr>
        <p:xfrm>
          <a:off x="2009873" y="2351438"/>
          <a:ext cx="3544780" cy="1306161"/>
        </p:xfrm>
        <a:graphic>
          <a:graphicData uri="http://schemas.openxmlformats.org/presentationml/2006/ole">
            <mc:AlternateContent xmlns:mc="http://schemas.openxmlformats.org/markup-compatibility/2006">
              <mc:Choice xmlns:v="urn:schemas-microsoft-com:vml" Requires="v">
                <p:oleObj spid="_x0000_s6156" name="Equation" r:id="rId3" imgW="1028520" imgH="672840" progId="Equation.DSMT4">
                  <p:embed/>
                </p:oleObj>
              </mc:Choice>
              <mc:Fallback>
                <p:oleObj name="Equation" r:id="rId3" imgW="1028520" imgH="672840" progId="Equation.DSMT4">
                  <p:embed/>
                  <p:pic>
                    <p:nvPicPr>
                      <p:cNvPr id="29" name="Object 40">
                        <a:extLst>
                          <a:ext uri="{FF2B5EF4-FFF2-40B4-BE49-F238E27FC236}">
                            <a16:creationId xmlns:a16="http://schemas.microsoft.com/office/drawing/2014/main" id="{0B6101F2-45D5-4180-A680-0FB00BAD126F}"/>
                          </a:ext>
                        </a:extLst>
                      </p:cNvPr>
                      <p:cNvPicPr>
                        <a:picLocks noChangeAspect="1" noChangeArrowheads="1"/>
                      </p:cNvPicPr>
                      <p:nvPr/>
                    </p:nvPicPr>
                    <p:blipFill>
                      <a:blip r:embed="rId4"/>
                      <a:srcRect/>
                      <a:stretch>
                        <a:fillRect/>
                      </a:stretch>
                    </p:blipFill>
                    <p:spPr bwMode="auto">
                      <a:xfrm>
                        <a:off x="2009873" y="2351438"/>
                        <a:ext cx="3544780" cy="1306161"/>
                      </a:xfrm>
                      <a:prstGeom prst="rect">
                        <a:avLst/>
                      </a:prstGeom>
                      <a:noFill/>
                      <a:ln w="19050">
                        <a:solidFill>
                          <a:schemeClr val="tx2">
                            <a:lumMod val="60000"/>
                            <a:lumOff val="40000"/>
                          </a:schemeClr>
                        </a:solidFill>
                        <a:miter lim="800000"/>
                        <a:headEnd/>
                        <a:tailEnd/>
                      </a:ln>
                      <a:extLst/>
                    </p:spPr>
                  </p:pic>
                </p:oleObj>
              </mc:Fallback>
            </mc:AlternateContent>
          </a:graphicData>
        </a:graphic>
      </p:graphicFrame>
      <p:graphicFrame>
        <p:nvGraphicFramePr>
          <p:cNvPr id="5" name="Object 40">
            <a:extLst>
              <a:ext uri="{FF2B5EF4-FFF2-40B4-BE49-F238E27FC236}">
                <a16:creationId xmlns:a16="http://schemas.microsoft.com/office/drawing/2014/main" id="{E6C53CAA-CDDA-472B-858B-B537C3D3402F}"/>
              </a:ext>
            </a:extLst>
          </p:cNvPr>
          <p:cNvGraphicFramePr>
            <a:graphicFrameLocks noChangeAspect="1"/>
          </p:cNvGraphicFramePr>
          <p:nvPr>
            <p:extLst>
              <p:ext uri="{D42A27DB-BD31-4B8C-83A1-F6EECF244321}">
                <p14:modId xmlns:p14="http://schemas.microsoft.com/office/powerpoint/2010/main" val="1877860131"/>
              </p:ext>
            </p:extLst>
          </p:nvPr>
        </p:nvGraphicFramePr>
        <p:xfrm>
          <a:off x="7170927" y="2337389"/>
          <a:ext cx="4285923" cy="1306161"/>
        </p:xfrm>
        <a:graphic>
          <a:graphicData uri="http://schemas.openxmlformats.org/presentationml/2006/ole">
            <mc:AlternateContent xmlns:mc="http://schemas.openxmlformats.org/markup-compatibility/2006">
              <mc:Choice xmlns:v="urn:schemas-microsoft-com:vml" Requires="v">
                <p:oleObj spid="_x0000_s6157" name="Equation" r:id="rId5" imgW="1333440" imgH="672840" progId="Equation.DSMT4">
                  <p:embed/>
                </p:oleObj>
              </mc:Choice>
              <mc:Fallback>
                <p:oleObj name="Equation" r:id="rId5" imgW="1333440" imgH="672840" progId="Equation.DSMT4">
                  <p:embed/>
                  <p:pic>
                    <p:nvPicPr>
                      <p:cNvPr id="30" name="Object 40">
                        <a:extLst>
                          <a:ext uri="{FF2B5EF4-FFF2-40B4-BE49-F238E27FC236}">
                            <a16:creationId xmlns:a16="http://schemas.microsoft.com/office/drawing/2014/main" id="{E62AF79F-7EB7-4686-9C9B-F2F9004DBD9F}"/>
                          </a:ext>
                        </a:extLst>
                      </p:cNvPr>
                      <p:cNvPicPr>
                        <a:picLocks noChangeAspect="1" noChangeArrowheads="1"/>
                      </p:cNvPicPr>
                      <p:nvPr/>
                    </p:nvPicPr>
                    <p:blipFill>
                      <a:blip r:embed="rId6"/>
                      <a:srcRect/>
                      <a:stretch>
                        <a:fillRect/>
                      </a:stretch>
                    </p:blipFill>
                    <p:spPr bwMode="auto">
                      <a:xfrm>
                        <a:off x="7170927" y="2337389"/>
                        <a:ext cx="4285923" cy="1306161"/>
                      </a:xfrm>
                      <a:prstGeom prst="rect">
                        <a:avLst/>
                      </a:prstGeom>
                      <a:noFill/>
                      <a:ln w="19050">
                        <a:solidFill>
                          <a:schemeClr val="tx2">
                            <a:lumMod val="60000"/>
                            <a:lumOff val="40000"/>
                          </a:schemeClr>
                        </a:solidFill>
                        <a:miter lim="800000"/>
                        <a:headEnd/>
                        <a:tailEnd/>
                      </a:ln>
                      <a:extLst/>
                    </p:spPr>
                  </p:pic>
                </p:oleObj>
              </mc:Fallback>
            </mc:AlternateContent>
          </a:graphicData>
        </a:graphic>
      </p:graphicFrame>
    </p:spTree>
    <p:extLst>
      <p:ext uri="{BB962C8B-B14F-4D97-AF65-F5344CB8AC3E}">
        <p14:creationId xmlns:p14="http://schemas.microsoft.com/office/powerpoint/2010/main" val="16878353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fontScale="92500"/>
          </a:bodyPr>
          <a:lstStyle/>
          <a:p>
            <a:r>
              <a:rPr lang="en-US" altLang="zh-CN" dirty="0">
                <a:latin typeface="+mn-lt"/>
                <a:ea typeface="+mn-ea"/>
                <a:cs typeface="+mn-ea"/>
                <a:sym typeface="+mn-lt"/>
              </a:rPr>
              <a:t>Delta</a:t>
            </a:r>
          </a:p>
          <a:p>
            <a:pPr lvl="1"/>
            <a:r>
              <a:rPr lang="en-US" altLang="zh-CN" dirty="0">
                <a:latin typeface="+mn-lt"/>
                <a:ea typeface="+mn-ea"/>
                <a:cs typeface="+mn-ea"/>
                <a:sym typeface="+mn-lt"/>
              </a:rPr>
              <a:t>Forward Delta                     </a:t>
            </a:r>
            <a:r>
              <a:rPr lang="en-US" altLang="zh-CN" dirty="0">
                <a:solidFill>
                  <a:schemeClr val="tx1"/>
                </a:solidFill>
              </a:rPr>
              <a:t>1 or e</a:t>
            </a:r>
            <a:r>
              <a:rPr lang="en-US" altLang="zh-CN" baseline="30000" dirty="0">
                <a:solidFill>
                  <a:schemeClr val="tx1"/>
                </a:solidFill>
              </a:rPr>
              <a:t>-</a:t>
            </a:r>
            <a:r>
              <a:rPr lang="en-US" altLang="zh-CN" baseline="30000" dirty="0" err="1">
                <a:solidFill>
                  <a:schemeClr val="tx1"/>
                </a:solidFill>
              </a:rPr>
              <a:t>qT</a:t>
            </a:r>
            <a:endParaRPr lang="en-US" altLang="zh-CN" baseline="30000" dirty="0">
              <a:solidFill>
                <a:schemeClr val="tx1"/>
              </a:solidFill>
            </a:endParaRPr>
          </a:p>
          <a:p>
            <a:pPr lvl="1"/>
            <a:r>
              <a:rPr lang="en-US" altLang="zh-CN" dirty="0">
                <a:latin typeface="+mn-lt"/>
                <a:ea typeface="+mn-ea"/>
                <a:cs typeface="+mn-ea"/>
                <a:sym typeface="+mn-lt"/>
              </a:rPr>
              <a:t>Futures Delta	          </a:t>
            </a:r>
            <a:r>
              <a:rPr lang="en-US" altLang="zh-CN" dirty="0" err="1">
                <a:solidFill>
                  <a:schemeClr val="tx1"/>
                </a:solidFill>
              </a:rPr>
              <a:t>e</a:t>
            </a:r>
            <a:r>
              <a:rPr lang="en-US" altLang="zh-CN" baseline="30000" dirty="0" err="1">
                <a:solidFill>
                  <a:schemeClr val="tx1"/>
                </a:solidFill>
              </a:rPr>
              <a:t>rT</a:t>
            </a:r>
            <a:r>
              <a:rPr lang="en-US" altLang="zh-CN" dirty="0">
                <a:solidFill>
                  <a:schemeClr val="tx1"/>
                </a:solidFill>
              </a:rPr>
              <a:t> or e</a:t>
            </a:r>
            <a:r>
              <a:rPr lang="en-US" altLang="zh-CN" baseline="30000" dirty="0">
                <a:solidFill>
                  <a:schemeClr val="tx1"/>
                </a:solidFill>
              </a:rPr>
              <a:t>(r – q)T</a:t>
            </a:r>
          </a:p>
          <a:p>
            <a:pPr lvl="2"/>
            <a:r>
              <a:rPr lang="en-US" altLang="zh-CN" dirty="0">
                <a:latin typeface="+mn-lt"/>
                <a:ea typeface="+mn-ea"/>
                <a:cs typeface="+mn-ea"/>
                <a:sym typeface="+mn-lt"/>
              </a:rPr>
              <a:t>T=0</a:t>
            </a:r>
          </a:p>
          <a:p>
            <a:endParaRPr lang="en-US" altLang="zh-CN" dirty="0">
              <a:latin typeface="+mn-lt"/>
              <a:ea typeface="+mn-ea"/>
              <a:cs typeface="+mn-ea"/>
              <a:sym typeface="+mn-lt"/>
            </a:endParaRPr>
          </a:p>
          <a:p>
            <a:pPr lvl="2"/>
            <a:r>
              <a:rPr lang="en-US" altLang="zh-CN" dirty="0">
                <a:latin typeface="+mn-lt"/>
                <a:ea typeface="+mn-ea"/>
                <a:cs typeface="+mn-ea"/>
                <a:sym typeface="+mn-lt"/>
              </a:rPr>
              <a:t>T=1</a:t>
            </a:r>
          </a:p>
          <a:p>
            <a:endParaRPr lang="en-US" altLang="zh-CN" dirty="0">
              <a:latin typeface="+mn-lt"/>
              <a:ea typeface="+mn-ea"/>
              <a:cs typeface="+mn-ea"/>
              <a:sym typeface="+mn-lt"/>
            </a:endParaRPr>
          </a:p>
          <a:p>
            <a:endParaRPr lang="en-US" altLang="zh-CN" dirty="0">
              <a:latin typeface="+mn-lt"/>
              <a:ea typeface="+mn-ea"/>
              <a:cs typeface="+mn-ea"/>
              <a:sym typeface="+mn-lt"/>
            </a:endParaRPr>
          </a:p>
          <a:p>
            <a:endParaRPr lang="en-US" altLang="zh-CN" dirty="0">
              <a:latin typeface="+mn-lt"/>
              <a:ea typeface="+mn-ea"/>
              <a:cs typeface="+mn-ea"/>
              <a:sym typeface="+mn-lt"/>
            </a:endParaRPr>
          </a:p>
          <a:p>
            <a:endParaRPr lang="en-US" altLang="zh-CN" dirty="0">
              <a:latin typeface="+mn-lt"/>
              <a:ea typeface="+mn-ea"/>
              <a:cs typeface="+mn-ea"/>
              <a:sym typeface="+mn-lt"/>
            </a:endParaRPr>
          </a:p>
          <a:p>
            <a:pPr lvl="1"/>
            <a:r>
              <a:rPr lang="en-US" altLang="zh-CN" dirty="0">
                <a:latin typeface="+mn-lt"/>
                <a:ea typeface="+mn-ea"/>
                <a:cs typeface="+mn-ea"/>
                <a:sym typeface="+mn-lt"/>
              </a:rPr>
              <a:t>Portfolio Delta: summation of the product of each option position and its delta.</a:t>
            </a:r>
          </a:p>
          <a:p>
            <a:endParaRPr lang="zh-CN" altLang="en-US" dirty="0">
              <a:latin typeface="+mn-lt"/>
              <a:ea typeface="+mn-ea"/>
              <a:cs typeface="+mn-ea"/>
              <a:sym typeface="+mn-lt"/>
            </a:endParaRPr>
          </a:p>
        </p:txBody>
      </p:sp>
      <p:graphicFrame>
        <p:nvGraphicFramePr>
          <p:cNvPr id="4" name="Object 3">
            <a:extLst>
              <a:ext uri="{FF2B5EF4-FFF2-40B4-BE49-F238E27FC236}">
                <a16:creationId xmlns:a16="http://schemas.microsoft.com/office/drawing/2014/main" id="{BA3FE0F9-FE0D-4674-9355-630BAF1B5777}"/>
              </a:ext>
            </a:extLst>
          </p:cNvPr>
          <p:cNvGraphicFramePr>
            <a:graphicFrameLocks/>
          </p:cNvGraphicFramePr>
          <p:nvPr>
            <p:extLst>
              <p:ext uri="{D42A27DB-BD31-4B8C-83A1-F6EECF244321}">
                <p14:modId xmlns:p14="http://schemas.microsoft.com/office/powerpoint/2010/main" val="3690692177"/>
              </p:ext>
            </p:extLst>
          </p:nvPr>
        </p:nvGraphicFramePr>
        <p:xfrm>
          <a:off x="4889521" y="2954215"/>
          <a:ext cx="1206479" cy="474785"/>
        </p:xfrm>
        <a:graphic>
          <a:graphicData uri="http://schemas.openxmlformats.org/presentationml/2006/ole">
            <mc:AlternateContent xmlns:mc="http://schemas.openxmlformats.org/markup-compatibility/2006">
              <mc:Choice xmlns:v="urn:schemas-microsoft-com:vml" Requires="v">
                <p:oleObj spid="_x0000_s7180" name="Equation" r:id="rId3" imgW="583920" imgH="241200" progId="Equation.DSMT4">
                  <p:embed/>
                </p:oleObj>
              </mc:Choice>
              <mc:Fallback>
                <p:oleObj name="Equation" r:id="rId3" imgW="583920" imgH="241200" progId="Equation.DSMT4">
                  <p:embed/>
                  <p:pic>
                    <p:nvPicPr>
                      <p:cNvPr id="9" name="Object 3">
                        <a:extLst>
                          <a:ext uri="{FF2B5EF4-FFF2-40B4-BE49-F238E27FC236}">
                            <a16:creationId xmlns:a16="http://schemas.microsoft.com/office/drawing/2014/main" id="{6430031B-DEE3-4EA5-84A9-04ECBEF202AC}"/>
                          </a:ext>
                        </a:extLst>
                      </p:cNvPr>
                      <p:cNvPicPr>
                        <a:picLocks noChangeAspect="1" noChangeArrowheads="1"/>
                      </p:cNvPicPr>
                      <p:nvPr/>
                    </p:nvPicPr>
                    <p:blipFill>
                      <a:blip r:embed="rId4"/>
                      <a:srcRect/>
                      <a:stretch>
                        <a:fillRect/>
                      </a:stretch>
                    </p:blipFill>
                    <p:spPr bwMode="auto">
                      <a:xfrm>
                        <a:off x="4889521" y="2954215"/>
                        <a:ext cx="1206479" cy="474785"/>
                      </a:xfrm>
                      <a:prstGeom prst="rect">
                        <a:avLst/>
                      </a:prstGeom>
                      <a:noFill/>
                      <a:extLst/>
                    </p:spPr>
                  </p:pic>
                </p:oleObj>
              </mc:Fallback>
            </mc:AlternateContent>
          </a:graphicData>
        </a:graphic>
      </p:graphicFrame>
      <p:graphicFrame>
        <p:nvGraphicFramePr>
          <p:cNvPr id="5" name="Object 3">
            <a:extLst>
              <a:ext uri="{FF2B5EF4-FFF2-40B4-BE49-F238E27FC236}">
                <a16:creationId xmlns:a16="http://schemas.microsoft.com/office/drawing/2014/main" id="{E8263F58-E98F-4F5C-9265-B33A539FE7CC}"/>
              </a:ext>
            </a:extLst>
          </p:cNvPr>
          <p:cNvGraphicFramePr>
            <a:graphicFrameLocks/>
          </p:cNvGraphicFramePr>
          <p:nvPr>
            <p:extLst>
              <p:ext uri="{D42A27DB-BD31-4B8C-83A1-F6EECF244321}">
                <p14:modId xmlns:p14="http://schemas.microsoft.com/office/powerpoint/2010/main" val="3829878321"/>
              </p:ext>
            </p:extLst>
          </p:nvPr>
        </p:nvGraphicFramePr>
        <p:xfrm>
          <a:off x="3088839" y="3991708"/>
          <a:ext cx="4806653" cy="1578038"/>
        </p:xfrm>
        <a:graphic>
          <a:graphicData uri="http://schemas.openxmlformats.org/presentationml/2006/ole">
            <mc:AlternateContent xmlns:mc="http://schemas.openxmlformats.org/markup-compatibility/2006">
              <mc:Choice xmlns:v="urn:schemas-microsoft-com:vml" Requires="v">
                <p:oleObj spid="_x0000_s7181" name="Equation" r:id="rId5" imgW="2565360" imgH="965160" progId="Equation.DSMT4">
                  <p:embed/>
                </p:oleObj>
              </mc:Choice>
              <mc:Fallback>
                <p:oleObj name="Equation" r:id="rId5" imgW="2565360" imgH="965160" progId="Equation.DSMT4">
                  <p:embed/>
                  <p:pic>
                    <p:nvPicPr>
                      <p:cNvPr id="10" name="Object 3">
                        <a:extLst>
                          <a:ext uri="{FF2B5EF4-FFF2-40B4-BE49-F238E27FC236}">
                            <a16:creationId xmlns:a16="http://schemas.microsoft.com/office/drawing/2014/main" id="{8C72BF66-D919-4AB7-B5B0-3E1952A92ED0}"/>
                          </a:ext>
                        </a:extLst>
                      </p:cNvPr>
                      <p:cNvPicPr>
                        <a:picLocks noChangeAspect="1" noChangeArrowheads="1"/>
                      </p:cNvPicPr>
                      <p:nvPr/>
                    </p:nvPicPr>
                    <p:blipFill>
                      <a:blip r:embed="rId6"/>
                      <a:srcRect/>
                      <a:stretch>
                        <a:fillRect/>
                      </a:stretch>
                    </p:blipFill>
                    <p:spPr bwMode="auto">
                      <a:xfrm>
                        <a:off x="3088839" y="3991708"/>
                        <a:ext cx="4806653" cy="1578038"/>
                      </a:xfrm>
                      <a:prstGeom prst="rect">
                        <a:avLst/>
                      </a:prstGeom>
                      <a:noFill/>
                      <a:extLst/>
                    </p:spPr>
                  </p:pic>
                </p:oleObj>
              </mc:Fallback>
            </mc:AlternateContent>
          </a:graphicData>
        </a:graphic>
      </p:graphicFrame>
    </p:spTree>
    <p:extLst>
      <p:ext uri="{BB962C8B-B14F-4D97-AF65-F5344CB8AC3E}">
        <p14:creationId xmlns:p14="http://schemas.microsoft.com/office/powerpoint/2010/main" val="20919595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fontScale="92500"/>
          </a:bodyPr>
          <a:lstStyle/>
          <a:p>
            <a:r>
              <a:rPr lang="en-US" altLang="zh-CN" dirty="0">
                <a:latin typeface="+mn-lt"/>
                <a:ea typeface="+mn-ea"/>
                <a:cs typeface="+mn-ea"/>
                <a:sym typeface="+mn-lt"/>
              </a:rPr>
              <a:t>Delta Hedge</a:t>
            </a:r>
          </a:p>
          <a:p>
            <a:pPr lvl="1"/>
            <a:r>
              <a:rPr lang="en-US" altLang="zh-CN" dirty="0">
                <a:latin typeface="+mn-lt"/>
                <a:ea typeface="+mn-ea"/>
                <a:cs typeface="+mn-ea"/>
                <a:sym typeface="+mn-lt"/>
              </a:rPr>
              <a:t>A position with a delta of zero is called a delta neutral position.</a:t>
            </a:r>
          </a:p>
          <a:p>
            <a:r>
              <a:rPr lang="en-US" altLang="zh-CN" dirty="0">
                <a:latin typeface="+mn-lt"/>
                <a:ea typeface="+mn-ea"/>
                <a:cs typeface="+mn-ea"/>
                <a:sym typeface="+mn-lt"/>
              </a:rPr>
              <a:t>Example</a:t>
            </a:r>
          </a:p>
          <a:p>
            <a:pPr lvl="1"/>
            <a:r>
              <a:rPr lang="en-US" altLang="zh-CN" dirty="0">
                <a:latin typeface="+mn-lt"/>
                <a:ea typeface="+mn-ea"/>
                <a:cs typeface="+mn-ea"/>
                <a:sym typeface="+mn-lt"/>
              </a:rPr>
              <a:t>A call delta equals to 0.6 means that the price of a call option on a stock will change by approximately $0.60 for a $1.00 change in the value of the stock. </a:t>
            </a:r>
          </a:p>
          <a:p>
            <a:pPr lvl="1"/>
            <a:r>
              <a:rPr lang="en-US" altLang="zh-CN" dirty="0">
                <a:latin typeface="+mn-lt"/>
                <a:ea typeface="+mn-ea"/>
                <a:cs typeface="+mn-ea"/>
                <a:sym typeface="+mn-lt"/>
              </a:rPr>
              <a:t>If an investor is short 1,000 call options, he will need to be long 600(0.6×1,000) shares of the underlying. When the value of the underlying asset increases by $1.00, the underlying position increases by $600, while the value of his option position decreases by $600. When the value of the underlying asset decreases by $1.00, there is an offsetting increase in value in the option position.</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1144271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Dynamic Aspects of Delta Hedge</a:t>
            </a:r>
          </a:p>
          <a:p>
            <a:pPr lvl="1"/>
            <a:r>
              <a:rPr lang="en-US" altLang="zh-CN" dirty="0">
                <a:latin typeface="+mn-lt"/>
                <a:ea typeface="+mn-ea"/>
                <a:cs typeface="+mn-ea"/>
                <a:sym typeface="+mn-lt"/>
              </a:rPr>
              <a:t>Because delta changes, </a:t>
            </a:r>
            <a:r>
              <a:rPr lang="en-US" altLang="zh-CN" u="sng" dirty="0">
                <a:latin typeface="+mn-lt"/>
                <a:ea typeface="+mn-ea"/>
                <a:cs typeface="+mn-ea"/>
                <a:sym typeface="+mn-lt"/>
              </a:rPr>
              <a:t>a position is delta neutral only instantaneously (for a very short period of time). To maintain a delta neutral position, the trader must re-balance the portfolio.</a:t>
            </a:r>
          </a:p>
          <a:p>
            <a:pPr lvl="1"/>
            <a:r>
              <a:rPr lang="en-US" altLang="zh-CN" dirty="0">
                <a:latin typeface="+mn-lt"/>
                <a:ea typeface="+mn-ea"/>
                <a:cs typeface="+mn-ea"/>
                <a:sym typeface="+mn-lt"/>
              </a:rPr>
              <a:t>Continuously maintaining a delta-neutral position can be very costly in terms of transaction costs.</a:t>
            </a:r>
          </a:p>
          <a:p>
            <a:pPr lvl="1"/>
            <a:r>
              <a:rPr lang="en-US" altLang="zh-CN" u="sng" dirty="0">
                <a:latin typeface="+mn-lt"/>
                <a:ea typeface="+mn-ea"/>
                <a:cs typeface="+mn-ea"/>
                <a:sym typeface="+mn-lt"/>
              </a:rPr>
              <a:t>If gamma is higher (such as the case when the options are at-the-money), rebalancing more frequently is required. On the other hand, when gamma is lower (such is the case when options are deeply in the money or deeply out of the money), rebalancing is required less frequently.</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4733308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a:xfrm>
            <a:off x="393599" y="813469"/>
            <a:ext cx="11404800" cy="5660163"/>
          </a:xfrm>
        </p:spPr>
        <p:txBody>
          <a:bodyPr>
            <a:normAutofit/>
          </a:bodyPr>
          <a:lstStyle/>
          <a:p>
            <a:r>
              <a:rPr lang="en-US" altLang="zh-CN" dirty="0">
                <a:latin typeface="+mn-lt"/>
                <a:ea typeface="+mn-ea"/>
                <a:cs typeface="+mn-ea"/>
                <a:sym typeface="+mn-lt"/>
              </a:rPr>
              <a:t>Summary</a:t>
            </a:r>
          </a:p>
          <a:p>
            <a:pPr lvl="1"/>
            <a:r>
              <a:rPr lang="en-US" altLang="zh-CN" dirty="0">
                <a:latin typeface="+mn-lt"/>
                <a:ea typeface="+mn-ea"/>
                <a:cs typeface="+mn-ea"/>
                <a:sym typeface="+mn-lt"/>
              </a:rPr>
              <a:t>Delta is:</a:t>
            </a:r>
          </a:p>
          <a:p>
            <a:pPr lvl="2"/>
            <a:r>
              <a:rPr lang="en-US" altLang="zh-CN" dirty="0">
                <a:latin typeface="+mn-lt"/>
                <a:ea typeface="+mn-ea"/>
                <a:cs typeface="+mn-ea"/>
                <a:sym typeface="+mn-lt"/>
              </a:rPr>
              <a:t>Slope of a call option</a:t>
            </a:r>
          </a:p>
          <a:p>
            <a:pPr lvl="2"/>
            <a:r>
              <a:rPr lang="en-US" altLang="zh-CN" dirty="0">
                <a:latin typeface="+mn-lt"/>
                <a:ea typeface="+mn-ea"/>
                <a:cs typeface="+mn-ea"/>
                <a:sym typeface="+mn-lt"/>
              </a:rPr>
              <a:t>N(d1)</a:t>
            </a:r>
          </a:p>
          <a:p>
            <a:pPr lvl="2"/>
            <a:r>
              <a:rPr lang="en-US" altLang="zh-CN" dirty="0">
                <a:latin typeface="+mn-lt"/>
                <a:ea typeface="+mn-ea"/>
                <a:cs typeface="+mn-ea"/>
                <a:sym typeface="+mn-lt"/>
              </a:rPr>
              <a:t>CDF of a normal distribution</a:t>
            </a:r>
          </a:p>
          <a:p>
            <a:pPr lvl="2"/>
            <a:r>
              <a:rPr lang="en-US" altLang="zh-CN" dirty="0">
                <a:latin typeface="+mn-lt"/>
                <a:ea typeface="+mn-ea"/>
                <a:cs typeface="+mn-ea"/>
                <a:sym typeface="+mn-lt"/>
              </a:rPr>
              <a:t>dc/ds</a:t>
            </a:r>
          </a:p>
          <a:p>
            <a:pPr lvl="2"/>
            <a:r>
              <a:rPr lang="en-US" altLang="zh-CN" dirty="0">
                <a:latin typeface="+mn-lt"/>
                <a:ea typeface="+mn-ea"/>
                <a:cs typeface="+mn-ea"/>
                <a:sym typeface="+mn-lt"/>
              </a:rPr>
              <a:t>Hedge ratio</a:t>
            </a:r>
            <a:endParaRPr lang="zh-CN" altLang="en-US" dirty="0">
              <a:latin typeface="+mn-lt"/>
              <a:ea typeface="+mn-ea"/>
              <a:cs typeface="+mn-ea"/>
              <a:sym typeface="+mn-lt"/>
            </a:endParaRPr>
          </a:p>
        </p:txBody>
      </p:sp>
    </p:spTree>
    <p:extLst>
      <p:ext uri="{BB962C8B-B14F-4D97-AF65-F5344CB8AC3E}">
        <p14:creationId xmlns:p14="http://schemas.microsoft.com/office/powerpoint/2010/main" val="4956262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a:xfrm>
            <a:off x="393599" y="813469"/>
            <a:ext cx="11404800" cy="3230859"/>
          </a:xfrm>
        </p:spPr>
        <p:txBody>
          <a:bodyPr>
            <a:normAutofit fontScale="92500" lnSpcReduction="20000"/>
          </a:bodyPr>
          <a:lstStyle/>
          <a:p>
            <a:r>
              <a:rPr lang="en-US" altLang="zh-CN" dirty="0">
                <a:latin typeface="+mn-lt"/>
                <a:ea typeface="+mn-ea"/>
                <a:cs typeface="+mn-ea"/>
                <a:sym typeface="+mn-lt"/>
              </a:rPr>
              <a:t>Gamma</a:t>
            </a:r>
          </a:p>
          <a:p>
            <a:pPr lvl="1"/>
            <a:r>
              <a:rPr lang="en-US" altLang="zh-CN" dirty="0">
                <a:latin typeface="+mn-lt"/>
                <a:ea typeface="+mn-ea"/>
                <a:cs typeface="+mn-ea"/>
                <a:sym typeface="+mn-lt"/>
              </a:rPr>
              <a:t>The Gamma of options on an underlying asset is the rate of change of the option’s delta with respect to the price of the underlying asset. That is to measure the stability of delta.</a:t>
            </a:r>
          </a:p>
          <a:p>
            <a:pPr lvl="1"/>
            <a:r>
              <a:rPr lang="en-US" altLang="zh-CN" dirty="0">
                <a:latin typeface="+mn-lt"/>
                <a:ea typeface="+mn-ea"/>
                <a:cs typeface="+mn-ea"/>
                <a:sym typeface="+mn-lt"/>
              </a:rPr>
              <a:t>Gamma is used to correct the hedging error associated with delta-neutral positions by providing added protection against large movements in the underlying asset's price.</a:t>
            </a:r>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1BE8EC4E-7F28-4B7E-989A-1D556F8F5A1C}"/>
              </a:ext>
            </a:extLst>
          </p:cNvPr>
          <p:cNvGrpSpPr/>
          <p:nvPr/>
        </p:nvGrpSpPr>
        <p:grpSpPr>
          <a:xfrm>
            <a:off x="3146474" y="4044328"/>
            <a:ext cx="5899050" cy="2604309"/>
            <a:chOff x="1259632" y="3645024"/>
            <a:chExt cx="6408712" cy="2709002"/>
          </a:xfrm>
        </p:grpSpPr>
        <p:grpSp>
          <p:nvGrpSpPr>
            <p:cNvPr id="5" name="组合 4">
              <a:extLst>
                <a:ext uri="{FF2B5EF4-FFF2-40B4-BE49-F238E27FC236}">
                  <a16:creationId xmlns:a16="http://schemas.microsoft.com/office/drawing/2014/main" id="{A797F62E-31D5-4384-9AE6-75EA874F8E96}"/>
                </a:ext>
              </a:extLst>
            </p:cNvPr>
            <p:cNvGrpSpPr/>
            <p:nvPr/>
          </p:nvGrpSpPr>
          <p:grpSpPr>
            <a:xfrm>
              <a:off x="1283180" y="3645024"/>
              <a:ext cx="6228228" cy="2709002"/>
              <a:chOff x="1283180" y="3636218"/>
              <a:chExt cx="6228228" cy="2709002"/>
            </a:xfrm>
          </p:grpSpPr>
          <p:sp>
            <p:nvSpPr>
              <p:cNvPr id="7" name="矩形 11">
                <a:extLst>
                  <a:ext uri="{FF2B5EF4-FFF2-40B4-BE49-F238E27FC236}">
                    <a16:creationId xmlns:a16="http://schemas.microsoft.com/office/drawing/2014/main" id="{20137C86-195C-434A-B599-15A0B82AD983}"/>
                  </a:ext>
                </a:extLst>
              </p:cNvPr>
              <p:cNvSpPr>
                <a:spLocks noChangeArrowheads="1"/>
              </p:cNvSpPr>
              <p:nvPr/>
            </p:nvSpPr>
            <p:spPr bwMode="auto">
              <a:xfrm>
                <a:off x="1831132" y="3975849"/>
                <a:ext cx="5580000" cy="1771329"/>
              </a:xfrm>
              <a:prstGeom prst="rect">
                <a:avLst/>
              </a:prstGeom>
              <a:noFill/>
              <a:ln w="25400">
                <a:solidFill>
                  <a:schemeClr val="tx2">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Arial" panose="020B0604020202020204" pitchFamily="34" charset="0"/>
                  <a:cs typeface="Arial" panose="020B0604020202020204" pitchFamily="34" charset="0"/>
                </a:endParaRPr>
              </a:p>
            </p:txBody>
          </p:sp>
          <p:sp>
            <p:nvSpPr>
              <p:cNvPr id="8" name="文本框 12">
                <a:extLst>
                  <a:ext uri="{FF2B5EF4-FFF2-40B4-BE49-F238E27FC236}">
                    <a16:creationId xmlns:a16="http://schemas.microsoft.com/office/drawing/2014/main" id="{FDF82F87-BCEA-4522-B713-F7B40F6F43A6}"/>
                  </a:ext>
                </a:extLst>
              </p:cNvPr>
              <p:cNvSpPr txBox="1">
                <a:spLocks noChangeArrowheads="1"/>
              </p:cNvSpPr>
              <p:nvPr/>
            </p:nvSpPr>
            <p:spPr bwMode="auto">
              <a:xfrm>
                <a:off x="1831132" y="3636218"/>
                <a:ext cx="2257244" cy="35517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200" b="0" dirty="0">
                    <a:solidFill>
                      <a:srgbClr val="2C3E50"/>
                    </a:solidFill>
                    <a:latin typeface="Arial" panose="020B0604020202020204" pitchFamily="34" charset="0"/>
                    <a:cs typeface="Arial" panose="020B0604020202020204" pitchFamily="34" charset="0"/>
                  </a:rPr>
                  <a:t>Current Value of Option</a:t>
                </a:r>
                <a:endParaRPr lang="zh-CN" altLang="en-US" sz="1200" b="0" dirty="0">
                  <a:solidFill>
                    <a:srgbClr val="2C3E50"/>
                  </a:solidFill>
                  <a:latin typeface="Arial" panose="020B0604020202020204" pitchFamily="34" charset="0"/>
                  <a:cs typeface="Arial" panose="020B0604020202020204" pitchFamily="34" charset="0"/>
                </a:endParaRPr>
              </a:p>
            </p:txBody>
          </p:sp>
          <p:cxnSp>
            <p:nvCxnSpPr>
              <p:cNvPr id="9" name="直接连接符 13">
                <a:extLst>
                  <a:ext uri="{FF2B5EF4-FFF2-40B4-BE49-F238E27FC236}">
                    <a16:creationId xmlns:a16="http://schemas.microsoft.com/office/drawing/2014/main" id="{4248EDF3-A313-4355-B631-623FA852383F}"/>
                  </a:ext>
                </a:extLst>
              </p:cNvPr>
              <p:cNvCxnSpPr>
                <a:cxnSpLocks noChangeShapeType="1"/>
              </p:cNvCxnSpPr>
              <p:nvPr/>
            </p:nvCxnSpPr>
            <p:spPr bwMode="auto">
              <a:xfrm>
                <a:off x="1686669" y="3975849"/>
                <a:ext cx="144463" cy="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10" name="直接连接符 17">
                <a:extLst>
                  <a:ext uri="{FF2B5EF4-FFF2-40B4-BE49-F238E27FC236}">
                    <a16:creationId xmlns:a16="http://schemas.microsoft.com/office/drawing/2014/main" id="{811A6EB2-18AE-474A-9352-FF24C35C334A}"/>
                  </a:ext>
                </a:extLst>
              </p:cNvPr>
              <p:cNvCxnSpPr>
                <a:cxnSpLocks noChangeShapeType="1"/>
              </p:cNvCxnSpPr>
              <p:nvPr/>
            </p:nvCxnSpPr>
            <p:spPr bwMode="auto">
              <a:xfrm>
                <a:off x="1686669" y="4860823"/>
                <a:ext cx="144463" cy="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11" name="直接连接符 23">
                <a:extLst>
                  <a:ext uri="{FF2B5EF4-FFF2-40B4-BE49-F238E27FC236}">
                    <a16:creationId xmlns:a16="http://schemas.microsoft.com/office/drawing/2014/main" id="{AF7BD628-9CF1-485D-BE16-D99082A2A3E5}"/>
                  </a:ext>
                </a:extLst>
              </p:cNvPr>
              <p:cNvCxnSpPr>
                <a:cxnSpLocks noChangeShapeType="1"/>
              </p:cNvCxnSpPr>
              <p:nvPr/>
            </p:nvCxnSpPr>
            <p:spPr bwMode="auto">
              <a:xfrm>
                <a:off x="1686669" y="5747179"/>
                <a:ext cx="144463" cy="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sp>
            <p:nvSpPr>
              <p:cNvPr id="12" name="文本框 24">
                <a:extLst>
                  <a:ext uri="{FF2B5EF4-FFF2-40B4-BE49-F238E27FC236}">
                    <a16:creationId xmlns:a16="http://schemas.microsoft.com/office/drawing/2014/main" id="{F2D1FFA5-1293-4D9C-96DB-A5801DF82EE7}"/>
                  </a:ext>
                </a:extLst>
              </p:cNvPr>
              <p:cNvSpPr txBox="1">
                <a:spLocks noChangeArrowheads="1"/>
              </p:cNvSpPr>
              <p:nvPr/>
            </p:nvSpPr>
            <p:spPr bwMode="auto">
              <a:xfrm>
                <a:off x="1283180" y="3731610"/>
                <a:ext cx="329184"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Arial" panose="020B0604020202020204" pitchFamily="34" charset="0"/>
                    <a:cs typeface="Arial" panose="020B0604020202020204" pitchFamily="34" charset="0"/>
                  </a:rPr>
                  <a:t>10</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13" name="文本框 30">
                <a:extLst>
                  <a:ext uri="{FF2B5EF4-FFF2-40B4-BE49-F238E27FC236}">
                    <a16:creationId xmlns:a16="http://schemas.microsoft.com/office/drawing/2014/main" id="{03CB4568-D4FF-4397-B0D6-9201EEC21644}"/>
                  </a:ext>
                </a:extLst>
              </p:cNvPr>
              <p:cNvSpPr txBox="1">
                <a:spLocks noChangeArrowheads="1"/>
              </p:cNvSpPr>
              <p:nvPr/>
            </p:nvSpPr>
            <p:spPr bwMode="auto">
              <a:xfrm>
                <a:off x="1387873" y="4716338"/>
                <a:ext cx="200943"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Arial" panose="020B0604020202020204" pitchFamily="34" charset="0"/>
                    <a:cs typeface="Arial" panose="020B0604020202020204" pitchFamily="34" charset="0"/>
                  </a:rPr>
                  <a:t>5</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14" name="文本框 34">
                <a:extLst>
                  <a:ext uri="{FF2B5EF4-FFF2-40B4-BE49-F238E27FC236}">
                    <a16:creationId xmlns:a16="http://schemas.microsoft.com/office/drawing/2014/main" id="{4198F6B1-90F2-47BA-96B4-2C045263FA16}"/>
                  </a:ext>
                </a:extLst>
              </p:cNvPr>
              <p:cNvSpPr txBox="1">
                <a:spLocks noChangeArrowheads="1"/>
              </p:cNvSpPr>
              <p:nvPr/>
            </p:nvSpPr>
            <p:spPr bwMode="auto">
              <a:xfrm>
                <a:off x="1387873" y="5580434"/>
                <a:ext cx="200943"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Arial" panose="020B0604020202020204" pitchFamily="34" charset="0"/>
                    <a:cs typeface="Arial" panose="020B0604020202020204" pitchFamily="34" charset="0"/>
                  </a:rPr>
                  <a:t>0</a:t>
                </a:r>
                <a:endParaRPr lang="zh-CN" altLang="en-US" sz="1800" b="0" dirty="0">
                  <a:solidFill>
                    <a:srgbClr val="2C3E50"/>
                  </a:solidFill>
                  <a:latin typeface="Arial" panose="020B0604020202020204" pitchFamily="34" charset="0"/>
                  <a:cs typeface="Arial" panose="020B0604020202020204" pitchFamily="34" charset="0"/>
                </a:endParaRPr>
              </a:p>
            </p:txBody>
          </p:sp>
          <p:cxnSp>
            <p:nvCxnSpPr>
              <p:cNvPr id="15" name="直接连接符 35">
                <a:extLst>
                  <a:ext uri="{FF2B5EF4-FFF2-40B4-BE49-F238E27FC236}">
                    <a16:creationId xmlns:a16="http://schemas.microsoft.com/office/drawing/2014/main" id="{CDCAFC2D-AEDC-4A10-A47C-1A9A2421C760}"/>
                  </a:ext>
                </a:extLst>
              </p:cNvPr>
              <p:cNvCxnSpPr>
                <a:cxnSpLocks noChangeShapeType="1"/>
              </p:cNvCxnSpPr>
              <p:nvPr/>
            </p:nvCxnSpPr>
            <p:spPr bwMode="auto">
              <a:xfrm>
                <a:off x="1831132" y="5747179"/>
                <a:ext cx="0" cy="45561"/>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16" name="直接连接符 46">
                <a:extLst>
                  <a:ext uri="{FF2B5EF4-FFF2-40B4-BE49-F238E27FC236}">
                    <a16:creationId xmlns:a16="http://schemas.microsoft.com/office/drawing/2014/main" id="{04DC48A2-AE2E-4852-97BD-576DB5500031}"/>
                  </a:ext>
                </a:extLst>
              </p:cNvPr>
              <p:cNvCxnSpPr>
                <a:cxnSpLocks noChangeShapeType="1"/>
                <a:stCxn id="7" idx="0"/>
                <a:endCxn id="7" idx="2"/>
              </p:cNvCxnSpPr>
              <p:nvPr/>
            </p:nvCxnSpPr>
            <p:spPr bwMode="auto">
              <a:xfrm>
                <a:off x="4621132" y="3975849"/>
                <a:ext cx="0" cy="1771329"/>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grpSp>
            <p:nvGrpSpPr>
              <p:cNvPr id="17" name="组合 16">
                <a:extLst>
                  <a:ext uri="{FF2B5EF4-FFF2-40B4-BE49-F238E27FC236}">
                    <a16:creationId xmlns:a16="http://schemas.microsoft.com/office/drawing/2014/main" id="{58F958BC-7CFF-474C-9334-7A50D0D896B1}"/>
                  </a:ext>
                </a:extLst>
              </p:cNvPr>
              <p:cNvGrpSpPr/>
              <p:nvPr/>
            </p:nvGrpSpPr>
            <p:grpSpPr>
              <a:xfrm>
                <a:off x="2088000" y="5747178"/>
                <a:ext cx="5335588" cy="54000"/>
                <a:chOff x="2116732" y="5747178"/>
                <a:chExt cx="5335588" cy="54000"/>
              </a:xfrm>
            </p:grpSpPr>
            <p:cxnSp>
              <p:nvCxnSpPr>
                <p:cNvPr id="32" name="直接连接符 31">
                  <a:extLst>
                    <a:ext uri="{FF2B5EF4-FFF2-40B4-BE49-F238E27FC236}">
                      <a16:creationId xmlns:a16="http://schemas.microsoft.com/office/drawing/2014/main" id="{AA9FD415-4C99-49B5-B099-24068D56F31C}"/>
                    </a:ext>
                  </a:extLst>
                </p:cNvPr>
                <p:cNvCxnSpPr>
                  <a:cxnSpLocks noChangeShapeType="1"/>
                </p:cNvCxnSpPr>
                <p:nvPr/>
              </p:nvCxnSpPr>
              <p:spPr bwMode="auto">
                <a:xfrm>
                  <a:off x="2116732"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33" name="直接连接符 32">
                  <a:extLst>
                    <a:ext uri="{FF2B5EF4-FFF2-40B4-BE49-F238E27FC236}">
                      <a16:creationId xmlns:a16="http://schemas.microsoft.com/office/drawing/2014/main" id="{EFA40239-D0D3-4793-BF99-80704B4881A2}"/>
                    </a:ext>
                  </a:extLst>
                </p:cNvPr>
                <p:cNvCxnSpPr>
                  <a:cxnSpLocks noChangeShapeType="1"/>
                </p:cNvCxnSpPr>
                <p:nvPr/>
              </p:nvCxnSpPr>
              <p:spPr bwMode="auto">
                <a:xfrm>
                  <a:off x="2397720"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34" name="直接连接符 33">
                  <a:extLst>
                    <a:ext uri="{FF2B5EF4-FFF2-40B4-BE49-F238E27FC236}">
                      <a16:creationId xmlns:a16="http://schemas.microsoft.com/office/drawing/2014/main" id="{EDFD7AF0-183D-4CDD-A006-65C622226B0E}"/>
                    </a:ext>
                  </a:extLst>
                </p:cNvPr>
                <p:cNvCxnSpPr>
                  <a:cxnSpLocks noChangeShapeType="1"/>
                </p:cNvCxnSpPr>
                <p:nvPr/>
              </p:nvCxnSpPr>
              <p:spPr bwMode="auto">
                <a:xfrm>
                  <a:off x="2678707"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35" name="直接连接符 34">
                  <a:extLst>
                    <a:ext uri="{FF2B5EF4-FFF2-40B4-BE49-F238E27FC236}">
                      <a16:creationId xmlns:a16="http://schemas.microsoft.com/office/drawing/2014/main" id="{0A76757C-9635-46AE-BBCA-FE85B8787C7D}"/>
                    </a:ext>
                  </a:extLst>
                </p:cNvPr>
                <p:cNvCxnSpPr>
                  <a:cxnSpLocks noChangeShapeType="1"/>
                </p:cNvCxnSpPr>
                <p:nvPr/>
              </p:nvCxnSpPr>
              <p:spPr bwMode="auto">
                <a:xfrm>
                  <a:off x="2959695"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36" name="直接连接符 35">
                  <a:extLst>
                    <a:ext uri="{FF2B5EF4-FFF2-40B4-BE49-F238E27FC236}">
                      <a16:creationId xmlns:a16="http://schemas.microsoft.com/office/drawing/2014/main" id="{6EC8910F-C8C0-4A13-97E9-8E23A817E24D}"/>
                    </a:ext>
                  </a:extLst>
                </p:cNvPr>
                <p:cNvCxnSpPr>
                  <a:cxnSpLocks noChangeShapeType="1"/>
                </p:cNvCxnSpPr>
                <p:nvPr/>
              </p:nvCxnSpPr>
              <p:spPr bwMode="auto">
                <a:xfrm>
                  <a:off x="3240682"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37" name="直接连接符 36">
                  <a:extLst>
                    <a:ext uri="{FF2B5EF4-FFF2-40B4-BE49-F238E27FC236}">
                      <a16:creationId xmlns:a16="http://schemas.microsoft.com/office/drawing/2014/main" id="{91C6F3CE-FDDB-4A1D-ADDB-02514D41C4B2}"/>
                    </a:ext>
                  </a:extLst>
                </p:cNvPr>
                <p:cNvCxnSpPr>
                  <a:cxnSpLocks noChangeShapeType="1"/>
                </p:cNvCxnSpPr>
                <p:nvPr/>
              </p:nvCxnSpPr>
              <p:spPr bwMode="auto">
                <a:xfrm>
                  <a:off x="3521670"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38" name="直接连接符 37">
                  <a:extLst>
                    <a:ext uri="{FF2B5EF4-FFF2-40B4-BE49-F238E27FC236}">
                      <a16:creationId xmlns:a16="http://schemas.microsoft.com/office/drawing/2014/main" id="{E6AF321D-8C32-4A46-A047-CA5A27760DA8}"/>
                    </a:ext>
                  </a:extLst>
                </p:cNvPr>
                <p:cNvCxnSpPr>
                  <a:cxnSpLocks noChangeShapeType="1"/>
                </p:cNvCxnSpPr>
                <p:nvPr/>
              </p:nvCxnSpPr>
              <p:spPr bwMode="auto">
                <a:xfrm>
                  <a:off x="3801070"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39" name="直接连接符 38">
                  <a:extLst>
                    <a:ext uri="{FF2B5EF4-FFF2-40B4-BE49-F238E27FC236}">
                      <a16:creationId xmlns:a16="http://schemas.microsoft.com/office/drawing/2014/main" id="{0A833DAB-92C5-4AFB-8708-42292419813A}"/>
                    </a:ext>
                  </a:extLst>
                </p:cNvPr>
                <p:cNvCxnSpPr>
                  <a:cxnSpLocks noChangeShapeType="1"/>
                </p:cNvCxnSpPr>
                <p:nvPr/>
              </p:nvCxnSpPr>
              <p:spPr bwMode="auto">
                <a:xfrm>
                  <a:off x="4082057"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40" name="直接连接符 39">
                  <a:extLst>
                    <a:ext uri="{FF2B5EF4-FFF2-40B4-BE49-F238E27FC236}">
                      <a16:creationId xmlns:a16="http://schemas.microsoft.com/office/drawing/2014/main" id="{A54BB260-B7CA-441E-A416-FFE826BBF45E}"/>
                    </a:ext>
                  </a:extLst>
                </p:cNvPr>
                <p:cNvCxnSpPr>
                  <a:cxnSpLocks noChangeShapeType="1"/>
                </p:cNvCxnSpPr>
                <p:nvPr/>
              </p:nvCxnSpPr>
              <p:spPr bwMode="auto">
                <a:xfrm>
                  <a:off x="4363045"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41" name="直接连接符 40">
                  <a:extLst>
                    <a:ext uri="{FF2B5EF4-FFF2-40B4-BE49-F238E27FC236}">
                      <a16:creationId xmlns:a16="http://schemas.microsoft.com/office/drawing/2014/main" id="{ACF87B12-850F-4D21-B6B2-66310C960EA2}"/>
                    </a:ext>
                  </a:extLst>
                </p:cNvPr>
                <p:cNvCxnSpPr>
                  <a:cxnSpLocks noChangeShapeType="1"/>
                </p:cNvCxnSpPr>
                <p:nvPr/>
              </p:nvCxnSpPr>
              <p:spPr bwMode="auto">
                <a:xfrm>
                  <a:off x="4644032"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42" name="直接连接符 47">
                  <a:extLst>
                    <a:ext uri="{FF2B5EF4-FFF2-40B4-BE49-F238E27FC236}">
                      <a16:creationId xmlns:a16="http://schemas.microsoft.com/office/drawing/2014/main" id="{46DDFE0C-8830-47FF-957A-52BCBCD83C19}"/>
                    </a:ext>
                  </a:extLst>
                </p:cNvPr>
                <p:cNvCxnSpPr>
                  <a:cxnSpLocks noChangeShapeType="1"/>
                </p:cNvCxnSpPr>
                <p:nvPr/>
              </p:nvCxnSpPr>
              <p:spPr bwMode="auto">
                <a:xfrm>
                  <a:off x="4910732"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43" name="直接连接符 48">
                  <a:extLst>
                    <a:ext uri="{FF2B5EF4-FFF2-40B4-BE49-F238E27FC236}">
                      <a16:creationId xmlns:a16="http://schemas.microsoft.com/office/drawing/2014/main" id="{CEB27CD7-4B70-4E49-A839-3FDFE09AC0B8}"/>
                    </a:ext>
                  </a:extLst>
                </p:cNvPr>
                <p:cNvCxnSpPr>
                  <a:cxnSpLocks noChangeShapeType="1"/>
                </p:cNvCxnSpPr>
                <p:nvPr/>
              </p:nvCxnSpPr>
              <p:spPr bwMode="auto">
                <a:xfrm>
                  <a:off x="5191720"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44" name="直接连接符 49">
                  <a:extLst>
                    <a:ext uri="{FF2B5EF4-FFF2-40B4-BE49-F238E27FC236}">
                      <a16:creationId xmlns:a16="http://schemas.microsoft.com/office/drawing/2014/main" id="{4C71CAAB-CA8D-4D32-AB0A-EC6890BC80F3}"/>
                    </a:ext>
                  </a:extLst>
                </p:cNvPr>
                <p:cNvCxnSpPr>
                  <a:cxnSpLocks noChangeShapeType="1"/>
                </p:cNvCxnSpPr>
                <p:nvPr/>
              </p:nvCxnSpPr>
              <p:spPr bwMode="auto">
                <a:xfrm>
                  <a:off x="5472707"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45" name="直接连接符 50">
                  <a:extLst>
                    <a:ext uri="{FF2B5EF4-FFF2-40B4-BE49-F238E27FC236}">
                      <a16:creationId xmlns:a16="http://schemas.microsoft.com/office/drawing/2014/main" id="{DB485EB9-BC02-40C4-94AA-A47D7F9B0512}"/>
                    </a:ext>
                  </a:extLst>
                </p:cNvPr>
                <p:cNvCxnSpPr>
                  <a:cxnSpLocks noChangeShapeType="1"/>
                </p:cNvCxnSpPr>
                <p:nvPr/>
              </p:nvCxnSpPr>
              <p:spPr bwMode="auto">
                <a:xfrm>
                  <a:off x="5753695"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46" name="直接连接符 51">
                  <a:extLst>
                    <a:ext uri="{FF2B5EF4-FFF2-40B4-BE49-F238E27FC236}">
                      <a16:creationId xmlns:a16="http://schemas.microsoft.com/office/drawing/2014/main" id="{4052BC05-1D09-49A1-A70D-3504A89376E8}"/>
                    </a:ext>
                  </a:extLst>
                </p:cNvPr>
                <p:cNvCxnSpPr>
                  <a:cxnSpLocks noChangeShapeType="1"/>
                </p:cNvCxnSpPr>
                <p:nvPr/>
              </p:nvCxnSpPr>
              <p:spPr bwMode="auto">
                <a:xfrm>
                  <a:off x="6034682"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47" name="直接连接符 52">
                  <a:extLst>
                    <a:ext uri="{FF2B5EF4-FFF2-40B4-BE49-F238E27FC236}">
                      <a16:creationId xmlns:a16="http://schemas.microsoft.com/office/drawing/2014/main" id="{65C422E2-0A65-4D7F-9A79-4EB30B538D97}"/>
                    </a:ext>
                  </a:extLst>
                </p:cNvPr>
                <p:cNvCxnSpPr>
                  <a:cxnSpLocks noChangeShapeType="1"/>
                </p:cNvCxnSpPr>
                <p:nvPr/>
              </p:nvCxnSpPr>
              <p:spPr bwMode="auto">
                <a:xfrm>
                  <a:off x="6314082"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48" name="直接连接符 53">
                  <a:extLst>
                    <a:ext uri="{FF2B5EF4-FFF2-40B4-BE49-F238E27FC236}">
                      <a16:creationId xmlns:a16="http://schemas.microsoft.com/office/drawing/2014/main" id="{68E01318-35E2-44E8-85AA-BCED16CB1FB6}"/>
                    </a:ext>
                  </a:extLst>
                </p:cNvPr>
                <p:cNvCxnSpPr>
                  <a:cxnSpLocks noChangeShapeType="1"/>
                </p:cNvCxnSpPr>
                <p:nvPr/>
              </p:nvCxnSpPr>
              <p:spPr bwMode="auto">
                <a:xfrm>
                  <a:off x="6595070"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49" name="直接连接符 54">
                  <a:extLst>
                    <a:ext uri="{FF2B5EF4-FFF2-40B4-BE49-F238E27FC236}">
                      <a16:creationId xmlns:a16="http://schemas.microsoft.com/office/drawing/2014/main" id="{E8D6FD8A-C857-4AB2-934D-18748E0AF104}"/>
                    </a:ext>
                  </a:extLst>
                </p:cNvPr>
                <p:cNvCxnSpPr>
                  <a:cxnSpLocks noChangeShapeType="1"/>
                </p:cNvCxnSpPr>
                <p:nvPr/>
              </p:nvCxnSpPr>
              <p:spPr bwMode="auto">
                <a:xfrm>
                  <a:off x="6876057"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50" name="直接连接符 55">
                  <a:extLst>
                    <a:ext uri="{FF2B5EF4-FFF2-40B4-BE49-F238E27FC236}">
                      <a16:creationId xmlns:a16="http://schemas.microsoft.com/office/drawing/2014/main" id="{1328B2B9-ED17-4ED8-8980-F5DDFD6E3D3D}"/>
                    </a:ext>
                  </a:extLst>
                </p:cNvPr>
                <p:cNvCxnSpPr>
                  <a:cxnSpLocks noChangeShapeType="1"/>
                </p:cNvCxnSpPr>
                <p:nvPr/>
              </p:nvCxnSpPr>
              <p:spPr bwMode="auto">
                <a:xfrm>
                  <a:off x="7157045"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cxnSp>
              <p:nvCxnSpPr>
                <p:cNvPr id="51" name="直接连接符 56">
                  <a:extLst>
                    <a:ext uri="{FF2B5EF4-FFF2-40B4-BE49-F238E27FC236}">
                      <a16:creationId xmlns:a16="http://schemas.microsoft.com/office/drawing/2014/main" id="{B1870484-1C27-4FFA-9F9A-D5C48237A26C}"/>
                    </a:ext>
                  </a:extLst>
                </p:cNvPr>
                <p:cNvCxnSpPr>
                  <a:cxnSpLocks noChangeShapeType="1"/>
                </p:cNvCxnSpPr>
                <p:nvPr/>
              </p:nvCxnSpPr>
              <p:spPr bwMode="auto">
                <a:xfrm>
                  <a:off x="7452320" y="5747178"/>
                  <a:ext cx="0" cy="5400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cxnSp>
          </p:grpSp>
          <p:sp>
            <p:nvSpPr>
              <p:cNvPr id="18" name="文本框 57">
                <a:extLst>
                  <a:ext uri="{FF2B5EF4-FFF2-40B4-BE49-F238E27FC236}">
                    <a16:creationId xmlns:a16="http://schemas.microsoft.com/office/drawing/2014/main" id="{0E28DCA0-BB0F-4C8A-8238-3F00F36D4EEE}"/>
                  </a:ext>
                </a:extLst>
              </p:cNvPr>
              <p:cNvSpPr txBox="1">
                <a:spLocks noChangeArrowheads="1"/>
              </p:cNvSpPr>
              <p:nvPr/>
            </p:nvSpPr>
            <p:spPr bwMode="auto">
              <a:xfrm>
                <a:off x="1650528" y="5733256"/>
                <a:ext cx="329184"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Arial" panose="020B0604020202020204" pitchFamily="34" charset="0"/>
                    <a:cs typeface="Arial" panose="020B0604020202020204" pitchFamily="34" charset="0"/>
                  </a:rPr>
                  <a:t>90</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19" name="文本框 58">
                <a:extLst>
                  <a:ext uri="{FF2B5EF4-FFF2-40B4-BE49-F238E27FC236}">
                    <a16:creationId xmlns:a16="http://schemas.microsoft.com/office/drawing/2014/main" id="{BB0AF938-C2D3-4CC8-82EF-9C1545A35E82}"/>
                  </a:ext>
                </a:extLst>
              </p:cNvPr>
              <p:cNvSpPr txBox="1">
                <a:spLocks noChangeArrowheads="1"/>
              </p:cNvSpPr>
              <p:nvPr/>
            </p:nvSpPr>
            <p:spPr bwMode="auto">
              <a:xfrm>
                <a:off x="4402608" y="5733257"/>
                <a:ext cx="457424"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Arial" panose="020B0604020202020204" pitchFamily="34" charset="0"/>
                    <a:cs typeface="Arial" panose="020B0604020202020204" pitchFamily="34" charset="0"/>
                  </a:rPr>
                  <a:t>100</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20" name="文本框 59">
                <a:extLst>
                  <a:ext uri="{FF2B5EF4-FFF2-40B4-BE49-F238E27FC236}">
                    <a16:creationId xmlns:a16="http://schemas.microsoft.com/office/drawing/2014/main" id="{D16F0490-7E7F-4C21-9650-A62E7620BDD7}"/>
                  </a:ext>
                </a:extLst>
              </p:cNvPr>
              <p:cNvSpPr txBox="1">
                <a:spLocks noChangeArrowheads="1"/>
              </p:cNvSpPr>
              <p:nvPr/>
            </p:nvSpPr>
            <p:spPr bwMode="auto">
              <a:xfrm>
                <a:off x="7071103" y="5722600"/>
                <a:ext cx="440305"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Arial" panose="020B0604020202020204" pitchFamily="34" charset="0"/>
                    <a:cs typeface="Arial" panose="020B0604020202020204" pitchFamily="34" charset="0"/>
                  </a:rPr>
                  <a:t>110</a:t>
                </a:r>
                <a:endParaRPr lang="zh-CN" altLang="en-US" sz="1800" b="0" dirty="0">
                  <a:solidFill>
                    <a:srgbClr val="2C3E50"/>
                  </a:solidFill>
                  <a:latin typeface="Arial" panose="020B0604020202020204" pitchFamily="34" charset="0"/>
                  <a:cs typeface="Arial" panose="020B0604020202020204" pitchFamily="34" charset="0"/>
                </a:endParaRPr>
              </a:p>
            </p:txBody>
          </p:sp>
          <p:sp>
            <p:nvSpPr>
              <p:cNvPr id="21" name="文本框 71">
                <a:extLst>
                  <a:ext uri="{FF2B5EF4-FFF2-40B4-BE49-F238E27FC236}">
                    <a16:creationId xmlns:a16="http://schemas.microsoft.com/office/drawing/2014/main" id="{B1A4F5CA-C935-4D44-9D76-0382667E5A13}"/>
                  </a:ext>
                </a:extLst>
              </p:cNvPr>
              <p:cNvSpPr txBox="1">
                <a:spLocks noChangeArrowheads="1"/>
              </p:cNvSpPr>
              <p:nvPr/>
            </p:nvSpPr>
            <p:spPr bwMode="auto">
              <a:xfrm>
                <a:off x="1923207" y="5000266"/>
                <a:ext cx="2307020" cy="35517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200" b="0" dirty="0">
                    <a:solidFill>
                      <a:srgbClr val="2C3E50"/>
                    </a:solidFill>
                    <a:latin typeface="Arial" panose="020B0604020202020204" pitchFamily="34" charset="0"/>
                    <a:cs typeface="Arial" panose="020B0604020202020204" pitchFamily="34" charset="0"/>
                  </a:rPr>
                  <a:t>Delta + Gamma</a:t>
                </a:r>
                <a:endParaRPr lang="zh-CN" altLang="en-US" sz="1200" b="0" dirty="0">
                  <a:solidFill>
                    <a:srgbClr val="2C3E50"/>
                  </a:solidFill>
                  <a:latin typeface="Arial" panose="020B0604020202020204" pitchFamily="34" charset="0"/>
                  <a:cs typeface="Arial" panose="020B0604020202020204" pitchFamily="34" charset="0"/>
                </a:endParaRPr>
              </a:p>
            </p:txBody>
          </p:sp>
          <p:sp>
            <p:nvSpPr>
              <p:cNvPr id="22" name="文本框 79">
                <a:extLst>
                  <a:ext uri="{FF2B5EF4-FFF2-40B4-BE49-F238E27FC236}">
                    <a16:creationId xmlns:a16="http://schemas.microsoft.com/office/drawing/2014/main" id="{943E00BC-8AD3-48FF-938E-FA520BE40A86}"/>
                  </a:ext>
                </a:extLst>
              </p:cNvPr>
              <p:cNvSpPr txBox="1">
                <a:spLocks noChangeArrowheads="1"/>
              </p:cNvSpPr>
              <p:nvPr/>
            </p:nvSpPr>
            <p:spPr bwMode="auto">
              <a:xfrm>
                <a:off x="5353794" y="5381316"/>
                <a:ext cx="580082" cy="35517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200" b="0" dirty="0">
                    <a:solidFill>
                      <a:srgbClr val="2C3E50"/>
                    </a:solidFill>
                    <a:latin typeface="Arial" panose="020B0604020202020204" pitchFamily="34" charset="0"/>
                    <a:cs typeface="Arial" panose="020B0604020202020204" pitchFamily="34" charset="0"/>
                  </a:rPr>
                  <a:t>Delta</a:t>
                </a:r>
                <a:endParaRPr lang="zh-CN" altLang="en-US" sz="1200" b="0" dirty="0">
                  <a:solidFill>
                    <a:srgbClr val="2C3E50"/>
                  </a:solidFill>
                  <a:latin typeface="Arial" panose="020B0604020202020204" pitchFamily="34" charset="0"/>
                  <a:cs typeface="Arial" panose="020B0604020202020204" pitchFamily="34" charset="0"/>
                </a:endParaRPr>
              </a:p>
            </p:txBody>
          </p:sp>
          <p:sp>
            <p:nvSpPr>
              <p:cNvPr id="23" name="文本框 84">
                <a:extLst>
                  <a:ext uri="{FF2B5EF4-FFF2-40B4-BE49-F238E27FC236}">
                    <a16:creationId xmlns:a16="http://schemas.microsoft.com/office/drawing/2014/main" id="{7F820F3D-7054-47EA-8247-4F71532AC116}"/>
                  </a:ext>
                </a:extLst>
              </p:cNvPr>
              <p:cNvSpPr txBox="1">
                <a:spLocks noChangeArrowheads="1"/>
              </p:cNvSpPr>
              <p:nvPr/>
            </p:nvSpPr>
            <p:spPr bwMode="auto">
              <a:xfrm>
                <a:off x="6444407" y="5013176"/>
                <a:ext cx="673031" cy="35517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200" b="0" dirty="0">
                    <a:solidFill>
                      <a:srgbClr val="2C3E50"/>
                    </a:solidFill>
                    <a:latin typeface="Arial" panose="020B0604020202020204" pitchFamily="34" charset="0"/>
                    <a:cs typeface="Arial" panose="020B0604020202020204" pitchFamily="34" charset="0"/>
                  </a:rPr>
                  <a:t>Actual</a:t>
                </a:r>
                <a:endParaRPr lang="zh-CN" altLang="en-US" sz="1200" b="0" dirty="0">
                  <a:solidFill>
                    <a:srgbClr val="2C3E50"/>
                  </a:solidFill>
                  <a:latin typeface="Arial" panose="020B0604020202020204" pitchFamily="34" charset="0"/>
                  <a:cs typeface="Arial" panose="020B0604020202020204" pitchFamily="34" charset="0"/>
                </a:endParaRPr>
              </a:p>
            </p:txBody>
          </p:sp>
          <p:sp>
            <p:nvSpPr>
              <p:cNvPr id="24" name="文本框 10">
                <a:extLst>
                  <a:ext uri="{FF2B5EF4-FFF2-40B4-BE49-F238E27FC236}">
                    <a16:creationId xmlns:a16="http://schemas.microsoft.com/office/drawing/2014/main" id="{1797AAE7-9924-4996-9758-91F30F858DCE}"/>
                  </a:ext>
                </a:extLst>
              </p:cNvPr>
              <p:cNvSpPr txBox="1">
                <a:spLocks noChangeArrowheads="1"/>
              </p:cNvSpPr>
              <p:nvPr/>
            </p:nvSpPr>
            <p:spPr bwMode="auto">
              <a:xfrm>
                <a:off x="2823459" y="5990048"/>
                <a:ext cx="3158296" cy="35517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200" b="0" dirty="0">
                    <a:solidFill>
                      <a:srgbClr val="2C3E50"/>
                    </a:solidFill>
                    <a:latin typeface="Arial" panose="020B0604020202020204" pitchFamily="34" charset="0"/>
                    <a:cs typeface="Arial" panose="020B0604020202020204" pitchFamily="34" charset="0"/>
                  </a:rPr>
                  <a:t>Current Price of Underlying Asset</a:t>
                </a:r>
                <a:endParaRPr lang="zh-CN" altLang="en-US" sz="1200" b="0" dirty="0">
                  <a:solidFill>
                    <a:srgbClr val="2C3E50"/>
                  </a:solidFill>
                  <a:latin typeface="Arial" panose="020B0604020202020204" pitchFamily="34" charset="0"/>
                  <a:cs typeface="Arial" panose="020B0604020202020204" pitchFamily="34" charset="0"/>
                </a:endParaRPr>
              </a:p>
            </p:txBody>
          </p:sp>
          <p:sp>
            <p:nvSpPr>
              <p:cNvPr id="25" name="任意多边形 64">
                <a:extLst>
                  <a:ext uri="{FF2B5EF4-FFF2-40B4-BE49-F238E27FC236}">
                    <a16:creationId xmlns:a16="http://schemas.microsoft.com/office/drawing/2014/main" id="{FA1ACF07-7FA5-4692-9118-3D07EA6682A6}"/>
                  </a:ext>
                </a:extLst>
              </p:cNvPr>
              <p:cNvSpPr>
                <a:spLocks/>
              </p:cNvSpPr>
              <p:nvPr/>
            </p:nvSpPr>
            <p:spPr bwMode="auto">
              <a:xfrm>
                <a:off x="1831132" y="4068350"/>
                <a:ext cx="5580000" cy="1656000"/>
              </a:xfrm>
              <a:custGeom>
                <a:avLst/>
                <a:gdLst>
                  <a:gd name="T0" fmla="*/ 0 w 5598368"/>
                  <a:gd name="T1" fmla="*/ 3612396 h 1814201"/>
                  <a:gd name="T2" fmla="*/ 2832220 w 5598368"/>
                  <a:gd name="T3" fmla="*/ 3053781 h 1814201"/>
                  <a:gd name="T4" fmla="*/ 5589911 w 5598368"/>
                  <a:gd name="T5" fmla="*/ 0 h 1814201"/>
                  <a:gd name="T6" fmla="*/ 0 60000 65536"/>
                  <a:gd name="T7" fmla="*/ 0 60000 65536"/>
                  <a:gd name="T8" fmla="*/ 0 60000 65536"/>
                </a:gdLst>
                <a:ahLst/>
                <a:cxnLst>
                  <a:cxn ang="T6">
                    <a:pos x="T0" y="T1"/>
                  </a:cxn>
                  <a:cxn ang="T7">
                    <a:pos x="T2" y="T3"/>
                  </a:cxn>
                  <a:cxn ang="T8">
                    <a:pos x="T4" y="T5"/>
                  </a:cxn>
                </a:cxnLst>
                <a:rect l="0" t="0" r="r" b="b"/>
                <a:pathLst>
                  <a:path w="5598368" h="1814201">
                    <a:moveTo>
                      <a:pt x="0" y="1810138"/>
                    </a:moveTo>
                    <a:cubicBezTo>
                      <a:pt x="951722" y="1821024"/>
                      <a:pt x="1903445" y="1831910"/>
                      <a:pt x="2836506" y="1530220"/>
                    </a:cubicBezTo>
                    <a:cubicBezTo>
                      <a:pt x="3769567" y="1228530"/>
                      <a:pt x="5029201" y="401216"/>
                      <a:pt x="5598368" y="0"/>
                    </a:cubicBezTo>
                  </a:path>
                </a:pathLst>
              </a:custGeom>
              <a:noFill/>
              <a:ln w="28575" cap="flat" cmpd="sng">
                <a:solidFill>
                  <a:schemeClr val="tx2">
                    <a:lumMod val="75000"/>
                  </a:schemeClr>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1800">
                  <a:solidFill>
                    <a:srgbClr val="2C3E50"/>
                  </a:solidFill>
                  <a:latin typeface="Arial" panose="020B0604020202020204" pitchFamily="34" charset="0"/>
                  <a:cs typeface="Arial" panose="020B0604020202020204" pitchFamily="34" charset="0"/>
                </a:endParaRPr>
              </a:p>
            </p:txBody>
          </p:sp>
          <p:cxnSp>
            <p:nvCxnSpPr>
              <p:cNvPr id="26" name="直接连接符 66">
                <a:extLst>
                  <a:ext uri="{FF2B5EF4-FFF2-40B4-BE49-F238E27FC236}">
                    <a16:creationId xmlns:a16="http://schemas.microsoft.com/office/drawing/2014/main" id="{9D356C9A-4C88-4C63-BF9C-13EF4B3732D1}"/>
                  </a:ext>
                </a:extLst>
              </p:cNvPr>
              <p:cNvCxnSpPr>
                <a:cxnSpLocks noChangeShapeType="1"/>
              </p:cNvCxnSpPr>
              <p:nvPr/>
            </p:nvCxnSpPr>
            <p:spPr bwMode="auto">
              <a:xfrm flipV="1">
                <a:off x="3796457" y="4575036"/>
                <a:ext cx="3600000" cy="1152000"/>
              </a:xfrm>
              <a:prstGeom prst="line">
                <a:avLst/>
              </a:prstGeom>
              <a:noFill/>
              <a:ln w="9525">
                <a:solidFill>
                  <a:schemeClr val="tx2">
                    <a:lumMod val="75000"/>
                  </a:schemeClr>
                </a:solidFill>
                <a:round/>
                <a:headEnd/>
                <a:tailEnd/>
              </a:ln>
              <a:extLst>
                <a:ext uri="{909E8E84-426E-40DD-AFC4-6F175D3DCCD1}">
                  <a14:hiddenFill xmlns:a14="http://schemas.microsoft.com/office/drawing/2010/main">
                    <a:noFill/>
                  </a14:hiddenFill>
                </a:ext>
              </a:extLst>
            </p:spPr>
          </p:cxnSp>
          <p:sp>
            <p:nvSpPr>
              <p:cNvPr id="27" name="任意多边形 68">
                <a:extLst>
                  <a:ext uri="{FF2B5EF4-FFF2-40B4-BE49-F238E27FC236}">
                    <a16:creationId xmlns:a16="http://schemas.microsoft.com/office/drawing/2014/main" id="{ED1A1B58-5B82-4469-A3AF-B2E3A1FE232C}"/>
                  </a:ext>
                </a:extLst>
              </p:cNvPr>
              <p:cNvSpPr>
                <a:spLocks/>
              </p:cNvSpPr>
              <p:nvPr/>
            </p:nvSpPr>
            <p:spPr bwMode="auto">
              <a:xfrm>
                <a:off x="1831132" y="3976896"/>
                <a:ext cx="5580000" cy="1692000"/>
              </a:xfrm>
              <a:custGeom>
                <a:avLst/>
                <a:gdLst>
                  <a:gd name="T0" fmla="*/ 0 w 5523722"/>
                  <a:gd name="T1" fmla="*/ 1906006 h 1936853"/>
                  <a:gd name="T2" fmla="*/ 2880384 w 5523722"/>
                  <a:gd name="T3" fmla="*/ 1681767 h 1936853"/>
                  <a:gd name="T4" fmla="*/ 5536320 w 5523722"/>
                  <a:gd name="T5" fmla="*/ 0 h 1936853"/>
                  <a:gd name="T6" fmla="*/ 0 60000 65536"/>
                  <a:gd name="T7" fmla="*/ 0 60000 65536"/>
                  <a:gd name="T8" fmla="*/ 0 60000 65536"/>
                </a:gdLst>
                <a:ahLst/>
                <a:cxnLst>
                  <a:cxn ang="T6">
                    <a:pos x="T0" y="T1"/>
                  </a:cxn>
                  <a:cxn ang="T7">
                    <a:pos x="T2" y="T3"/>
                  </a:cxn>
                  <a:cxn ang="T8">
                    <a:pos x="T4" y="T5"/>
                  </a:cxn>
                </a:cxnLst>
                <a:rect l="0" t="0" r="r" b="b"/>
                <a:pathLst>
                  <a:path w="5523722" h="1936853">
                    <a:moveTo>
                      <a:pt x="0" y="1903445"/>
                    </a:moveTo>
                    <a:cubicBezTo>
                      <a:pt x="976604" y="1950098"/>
                      <a:pt x="1953209" y="1996751"/>
                      <a:pt x="2873829" y="1679510"/>
                    </a:cubicBezTo>
                    <a:cubicBezTo>
                      <a:pt x="3794449" y="1362269"/>
                      <a:pt x="4659085" y="681134"/>
                      <a:pt x="5523722" y="0"/>
                    </a:cubicBezTo>
                  </a:path>
                </a:pathLst>
              </a:custGeom>
              <a:noFill/>
              <a:ln w="9525" cap="flat" cmpd="sng">
                <a:solidFill>
                  <a:schemeClr val="tx2">
                    <a:lumMod val="75000"/>
                  </a:schemeClr>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1800">
                  <a:solidFill>
                    <a:srgbClr val="2C3E50"/>
                  </a:solidFill>
                  <a:latin typeface="Arial" panose="020B0604020202020204" pitchFamily="34" charset="0"/>
                  <a:cs typeface="Arial" panose="020B0604020202020204" pitchFamily="34" charset="0"/>
                </a:endParaRPr>
              </a:p>
            </p:txBody>
          </p:sp>
          <p:sp>
            <p:nvSpPr>
              <p:cNvPr id="28" name="椭圆 69">
                <a:extLst>
                  <a:ext uri="{FF2B5EF4-FFF2-40B4-BE49-F238E27FC236}">
                    <a16:creationId xmlns:a16="http://schemas.microsoft.com/office/drawing/2014/main" id="{8D39F259-235B-4CE7-A59D-78647454860F}"/>
                  </a:ext>
                </a:extLst>
              </p:cNvPr>
              <p:cNvSpPr>
                <a:spLocks noChangeArrowheads="1"/>
              </p:cNvSpPr>
              <p:nvPr/>
            </p:nvSpPr>
            <p:spPr bwMode="auto">
              <a:xfrm>
                <a:off x="4571157" y="5389600"/>
                <a:ext cx="144462" cy="125636"/>
              </a:xfrm>
              <a:prstGeom prst="ellipse">
                <a:avLst/>
              </a:prstGeom>
              <a:solidFill>
                <a:srgbClr val="2C3E50"/>
              </a:solidFill>
              <a:ln w="25400">
                <a:solidFill>
                  <a:schemeClr val="tx2">
                    <a:lumMod val="75000"/>
                  </a:schemeClr>
                </a:solidFill>
                <a:round/>
                <a:headEnd/>
                <a:tailEnd/>
              </a:ln>
            </p:spPr>
            <p:txBody>
              <a:bodyPr lIns="36000" tIns="36000" rIns="36000" bIns="36000"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Arial" panose="020B0604020202020204" pitchFamily="34" charset="0"/>
                  <a:cs typeface="Arial" panose="020B0604020202020204" pitchFamily="34" charset="0"/>
                </a:endParaRPr>
              </a:p>
            </p:txBody>
          </p:sp>
          <p:cxnSp>
            <p:nvCxnSpPr>
              <p:cNvPr id="29" name="直接箭头连接符 73">
                <a:extLst>
                  <a:ext uri="{FF2B5EF4-FFF2-40B4-BE49-F238E27FC236}">
                    <a16:creationId xmlns:a16="http://schemas.microsoft.com/office/drawing/2014/main" id="{03B4C540-ECDE-4D07-916D-AE60AD331234}"/>
                  </a:ext>
                </a:extLst>
              </p:cNvPr>
              <p:cNvCxnSpPr>
                <a:cxnSpLocks noChangeShapeType="1"/>
              </p:cNvCxnSpPr>
              <p:nvPr/>
            </p:nvCxnSpPr>
            <p:spPr bwMode="auto">
              <a:xfrm flipH="1">
                <a:off x="2483770" y="5301208"/>
                <a:ext cx="286908" cy="343367"/>
              </a:xfrm>
              <a:prstGeom prst="straightConnector1">
                <a:avLst/>
              </a:prstGeom>
              <a:noFill/>
              <a:ln w="9525">
                <a:solidFill>
                  <a:schemeClr val="tx2">
                    <a:lumMod val="75000"/>
                  </a:schemeClr>
                </a:solidFill>
                <a:round/>
                <a:headEnd/>
                <a:tailEnd type="triangle" w="med" len="med"/>
              </a:ln>
              <a:extLst>
                <a:ext uri="{909E8E84-426E-40DD-AFC4-6F175D3DCCD1}">
                  <a14:hiddenFill xmlns:a14="http://schemas.microsoft.com/office/drawing/2010/main">
                    <a:noFill/>
                  </a14:hiddenFill>
                </a:ext>
              </a:extLst>
            </p:spPr>
          </p:cxnSp>
          <p:cxnSp>
            <p:nvCxnSpPr>
              <p:cNvPr id="30" name="直接箭头连接符 81">
                <a:extLst>
                  <a:ext uri="{FF2B5EF4-FFF2-40B4-BE49-F238E27FC236}">
                    <a16:creationId xmlns:a16="http://schemas.microsoft.com/office/drawing/2014/main" id="{98CA5715-0B47-42CA-A83C-C1F0073ACF32}"/>
                  </a:ext>
                </a:extLst>
              </p:cNvPr>
              <p:cNvCxnSpPr>
                <a:cxnSpLocks noChangeShapeType="1"/>
              </p:cNvCxnSpPr>
              <p:nvPr/>
            </p:nvCxnSpPr>
            <p:spPr bwMode="auto">
              <a:xfrm flipV="1">
                <a:off x="5715432" y="5146424"/>
                <a:ext cx="0" cy="298800"/>
              </a:xfrm>
              <a:prstGeom prst="straightConnector1">
                <a:avLst/>
              </a:prstGeom>
              <a:noFill/>
              <a:ln w="9525">
                <a:solidFill>
                  <a:schemeClr val="tx2">
                    <a:lumMod val="75000"/>
                  </a:schemeClr>
                </a:solidFill>
                <a:round/>
                <a:headEnd/>
                <a:tailEnd type="triangle" w="med" len="med"/>
              </a:ln>
              <a:extLst>
                <a:ext uri="{909E8E84-426E-40DD-AFC4-6F175D3DCCD1}">
                  <a14:hiddenFill xmlns:a14="http://schemas.microsoft.com/office/drawing/2010/main">
                    <a:noFill/>
                  </a14:hiddenFill>
                </a:ext>
              </a:extLst>
            </p:spPr>
          </p:cxnSp>
          <p:cxnSp>
            <p:nvCxnSpPr>
              <p:cNvPr id="31" name="直接箭头连接符 86">
                <a:extLst>
                  <a:ext uri="{FF2B5EF4-FFF2-40B4-BE49-F238E27FC236}">
                    <a16:creationId xmlns:a16="http://schemas.microsoft.com/office/drawing/2014/main" id="{9E7020A6-CDAA-4EBE-A9A2-43971D6440B5}"/>
                  </a:ext>
                </a:extLst>
              </p:cNvPr>
              <p:cNvCxnSpPr>
                <a:cxnSpLocks noChangeShapeType="1"/>
              </p:cNvCxnSpPr>
              <p:nvPr/>
            </p:nvCxnSpPr>
            <p:spPr bwMode="auto">
              <a:xfrm flipH="1" flipV="1">
                <a:off x="6804256" y="4509120"/>
                <a:ext cx="72000" cy="540000"/>
              </a:xfrm>
              <a:prstGeom prst="straightConnector1">
                <a:avLst/>
              </a:prstGeom>
              <a:noFill/>
              <a:ln w="9525">
                <a:solidFill>
                  <a:schemeClr val="tx2">
                    <a:lumMod val="75000"/>
                  </a:schemeClr>
                </a:solidFill>
                <a:round/>
                <a:headEnd/>
                <a:tailEnd type="triangle" w="med" len="med"/>
              </a:ln>
              <a:extLst>
                <a:ext uri="{909E8E84-426E-40DD-AFC4-6F175D3DCCD1}">
                  <a14:hiddenFill xmlns:a14="http://schemas.microsoft.com/office/drawing/2010/main">
                    <a:noFill/>
                  </a14:hiddenFill>
                </a:ext>
              </a:extLst>
            </p:spPr>
          </p:cxnSp>
        </p:grpSp>
        <p:sp>
          <p:nvSpPr>
            <p:cNvPr id="6" name="圆角矩形 51">
              <a:extLst>
                <a:ext uri="{FF2B5EF4-FFF2-40B4-BE49-F238E27FC236}">
                  <a16:creationId xmlns:a16="http://schemas.microsoft.com/office/drawing/2014/main" id="{6121BBC6-ACD7-4B6E-9A66-249B525BFBD1}"/>
                </a:ext>
              </a:extLst>
            </p:cNvPr>
            <p:cNvSpPr/>
            <p:nvPr/>
          </p:nvSpPr>
          <p:spPr>
            <a:xfrm>
              <a:off x="1259632" y="3645024"/>
              <a:ext cx="6408712" cy="2689484"/>
            </a:xfrm>
            <a:prstGeom prst="roundRect">
              <a:avLst/>
            </a:prstGeom>
            <a:noFill/>
            <a:ln w="38100">
              <a:solidFill>
                <a:schemeClr val="tx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9687758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a:xfrm>
            <a:off x="393598" y="813469"/>
            <a:ext cx="6042371" cy="4215731"/>
          </a:xfrm>
        </p:spPr>
        <p:txBody>
          <a:bodyPr>
            <a:normAutofit fontScale="70000" lnSpcReduction="20000"/>
          </a:bodyPr>
          <a:lstStyle/>
          <a:p>
            <a:r>
              <a:rPr lang="en-US" altLang="zh-CN" dirty="0">
                <a:latin typeface="+mn-lt"/>
                <a:ea typeface="+mn-ea"/>
                <a:cs typeface="+mn-ea"/>
                <a:sym typeface="+mn-lt"/>
              </a:rPr>
              <a:t>Gamma</a:t>
            </a:r>
          </a:p>
          <a:p>
            <a:pPr lvl="1"/>
            <a:r>
              <a:rPr lang="en-US" altLang="zh-CN" dirty="0">
                <a:latin typeface="+mn-lt"/>
                <a:ea typeface="+mn-ea"/>
                <a:cs typeface="+mn-ea"/>
                <a:sym typeface="+mn-lt"/>
              </a:rPr>
              <a:t>When gamma is large, delta will be changing rapidly.</a:t>
            </a:r>
          </a:p>
          <a:p>
            <a:pPr lvl="1"/>
            <a:r>
              <a:rPr lang="en-US" altLang="zh-CN" dirty="0">
                <a:latin typeface="+mn-lt"/>
                <a:ea typeface="+mn-ea"/>
                <a:cs typeface="+mn-ea"/>
                <a:sym typeface="+mn-lt"/>
              </a:rPr>
              <a:t>Gamma is largest when an option is at-the-money.</a:t>
            </a:r>
          </a:p>
          <a:p>
            <a:pPr lvl="1"/>
            <a:r>
              <a:rPr lang="en-US" altLang="zh-CN" dirty="0">
                <a:latin typeface="+mn-lt"/>
                <a:ea typeface="+mn-ea"/>
                <a:cs typeface="+mn-ea"/>
                <a:sym typeface="+mn-lt"/>
              </a:rPr>
              <a:t>Gamma is the same for call and put options.</a:t>
            </a:r>
          </a:p>
          <a:p>
            <a:pPr lvl="1"/>
            <a:r>
              <a:rPr lang="en-US" altLang="zh-CN" dirty="0">
                <a:latin typeface="+mn-lt"/>
                <a:ea typeface="+mn-ea"/>
                <a:cs typeface="+mn-ea"/>
                <a:sym typeface="+mn-lt"/>
              </a:rPr>
              <a:t>Delta Neutral Positions</a:t>
            </a:r>
          </a:p>
          <a:p>
            <a:pPr lvl="2"/>
            <a:r>
              <a:rPr lang="en-US" altLang="zh-CN" dirty="0">
                <a:latin typeface="+mn-lt"/>
                <a:ea typeface="+mn-ea"/>
                <a:cs typeface="+mn-ea"/>
                <a:sym typeface="+mn-lt"/>
              </a:rPr>
              <a:t>Hedge against small changes in stock price.</a:t>
            </a:r>
          </a:p>
          <a:p>
            <a:pPr lvl="1"/>
            <a:r>
              <a:rPr lang="en-US" altLang="zh-CN" dirty="0">
                <a:latin typeface="+mn-lt"/>
                <a:ea typeface="+mn-ea"/>
                <a:cs typeface="+mn-ea"/>
                <a:sym typeface="+mn-lt"/>
              </a:rPr>
              <a:t>Gamma Neutral Positions</a:t>
            </a:r>
          </a:p>
          <a:p>
            <a:pPr lvl="2"/>
            <a:r>
              <a:rPr lang="en-US" altLang="zh-CN" dirty="0">
                <a:latin typeface="+mn-lt"/>
                <a:ea typeface="+mn-ea"/>
                <a:cs typeface="+mn-ea"/>
                <a:sym typeface="+mn-lt"/>
              </a:rPr>
              <a:t>Hedge against larger changes in stock price.</a:t>
            </a:r>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9B902AC0-4BF0-4F1B-A1C2-0942F7758C0A}"/>
              </a:ext>
            </a:extLst>
          </p:cNvPr>
          <p:cNvGrpSpPr/>
          <p:nvPr/>
        </p:nvGrpSpPr>
        <p:grpSpPr>
          <a:xfrm>
            <a:off x="7344139" y="1160585"/>
            <a:ext cx="4630984" cy="2817805"/>
            <a:chOff x="4572000" y="1137516"/>
            <a:chExt cx="4176464" cy="3312369"/>
          </a:xfrm>
        </p:grpSpPr>
        <p:pic>
          <p:nvPicPr>
            <p:cNvPr id="5" name="Picture 2">
              <a:extLst>
                <a:ext uri="{FF2B5EF4-FFF2-40B4-BE49-F238E27FC236}">
                  <a16:creationId xmlns:a16="http://schemas.microsoft.com/office/drawing/2014/main" id="{5E82B85B-21B0-4D94-A014-6766D31A8E9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7705" y="1137517"/>
              <a:ext cx="3960440" cy="331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圆角矩形 5">
              <a:extLst>
                <a:ext uri="{FF2B5EF4-FFF2-40B4-BE49-F238E27FC236}">
                  <a16:creationId xmlns:a16="http://schemas.microsoft.com/office/drawing/2014/main" id="{E74A6FD3-5228-48C2-943D-67BE9C94796C}"/>
                </a:ext>
              </a:extLst>
            </p:cNvPr>
            <p:cNvSpPr/>
            <p:nvPr/>
          </p:nvSpPr>
          <p:spPr>
            <a:xfrm>
              <a:off x="4572000" y="1137516"/>
              <a:ext cx="4176464" cy="3312369"/>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7" name="Group 5">
            <a:extLst>
              <a:ext uri="{FF2B5EF4-FFF2-40B4-BE49-F238E27FC236}">
                <a16:creationId xmlns:a16="http://schemas.microsoft.com/office/drawing/2014/main" id="{9A0F549D-1757-4AAC-A42E-8681C5B55CFD}"/>
              </a:ext>
            </a:extLst>
          </p:cNvPr>
          <p:cNvGraphicFramePr>
            <a:graphicFrameLocks noGrp="1"/>
          </p:cNvGraphicFramePr>
          <p:nvPr>
            <p:extLst>
              <p:ext uri="{D42A27DB-BD31-4B8C-83A1-F6EECF244321}">
                <p14:modId xmlns:p14="http://schemas.microsoft.com/office/powerpoint/2010/main" val="14294352"/>
              </p:ext>
            </p:extLst>
          </p:nvPr>
        </p:nvGraphicFramePr>
        <p:xfrm>
          <a:off x="4151904" y="5204205"/>
          <a:ext cx="3888192" cy="847048"/>
        </p:xfrm>
        <a:graphic>
          <a:graphicData uri="http://schemas.openxmlformats.org/drawingml/2006/table">
            <a:tbl>
              <a:tblPr/>
              <a:tblGrid>
                <a:gridCol w="972048">
                  <a:extLst>
                    <a:ext uri="{9D8B030D-6E8A-4147-A177-3AD203B41FA5}">
                      <a16:colId xmlns:a16="http://schemas.microsoft.com/office/drawing/2014/main" val="20000"/>
                    </a:ext>
                  </a:extLst>
                </a:gridCol>
                <a:gridCol w="972048">
                  <a:extLst>
                    <a:ext uri="{9D8B030D-6E8A-4147-A177-3AD203B41FA5}">
                      <a16:colId xmlns:a16="http://schemas.microsoft.com/office/drawing/2014/main" val="20001"/>
                    </a:ext>
                  </a:extLst>
                </a:gridCol>
                <a:gridCol w="972048">
                  <a:extLst>
                    <a:ext uri="{9D8B030D-6E8A-4147-A177-3AD203B41FA5}">
                      <a16:colId xmlns:a16="http://schemas.microsoft.com/office/drawing/2014/main" val="20002"/>
                    </a:ext>
                  </a:extLst>
                </a:gridCol>
                <a:gridCol w="972048">
                  <a:extLst>
                    <a:ext uri="{9D8B030D-6E8A-4147-A177-3AD203B41FA5}">
                      <a16:colId xmlns:a16="http://schemas.microsoft.com/office/drawing/2014/main" val="20003"/>
                    </a:ext>
                  </a:extLst>
                </a:gridCol>
              </a:tblGrid>
              <a:tr h="423524">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400" b="0" i="0" u="none" strike="noStrike" cap="none" normalizeH="0" baseline="0" dirty="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Long Call</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400" b="0" i="0" u="none" strike="noStrike" cap="none" normalizeH="0" baseline="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Short Call</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400" b="0" i="0" u="none" strike="noStrike" cap="none" normalizeH="0" baseline="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Long Put</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400" b="0" i="0" u="none" strike="noStrike" cap="none" normalizeH="0" baseline="0" dirty="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Short Put</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3524">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400" b="0" i="0" u="none" strike="noStrike" cap="none" normalizeH="0" baseline="0" dirty="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γ &gt; 0</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400" b="0" i="0" u="none" strike="noStrike" cap="none" normalizeH="0" baseline="0" dirty="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γ &lt; 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400" b="0" i="0" u="none" strike="noStrike" cap="none" normalizeH="0" baseline="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γ &gt; 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400" b="0" i="0" u="none" strike="noStrike" cap="none" normalizeH="0" baseline="0" dirty="0" err="1">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γ</a:t>
                      </a:r>
                      <a:r>
                        <a:rPr kumimoji="0" lang="en-US" altLang="zh-CN" sz="1400" b="0" i="0" u="none" strike="noStrike" cap="none" normalizeH="0" baseline="0" dirty="0">
                          <a:ln>
                            <a:noFill/>
                          </a:ln>
                          <a:solidFill>
                            <a:srgbClr val="2C3E50"/>
                          </a:solidFill>
                          <a:effectLst/>
                          <a:latin typeface="Arial" panose="020B0604020202020204" pitchFamily="34" charset="0"/>
                          <a:ea typeface="微软雅黑" panose="020B0503020204020204" pitchFamily="34" charset="-122"/>
                          <a:cs typeface="Arial" panose="020B0604020202020204" pitchFamily="34" charset="0"/>
                        </a:rPr>
                        <a:t> &lt; 0</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188865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fontScale="92500" lnSpcReduction="20000"/>
          </a:bodyPr>
          <a:lstStyle/>
          <a:p>
            <a:r>
              <a:rPr lang="en-US" altLang="zh-CN" dirty="0">
                <a:latin typeface="+mn-lt"/>
                <a:ea typeface="+mn-ea"/>
                <a:cs typeface="+mn-ea"/>
                <a:sym typeface="+mn-lt"/>
              </a:rPr>
              <a:t>Example: Creating a Gamma Neutral Position</a:t>
            </a:r>
          </a:p>
          <a:p>
            <a:pPr lvl="1"/>
            <a:r>
              <a:rPr lang="en-US" altLang="zh-CN" dirty="0">
                <a:latin typeface="+mn-lt"/>
                <a:ea typeface="+mn-ea"/>
                <a:cs typeface="+mn-ea"/>
                <a:sym typeface="+mn-lt"/>
              </a:rPr>
              <a:t>Suppose an existing short option position is delta-neutral but has a gamma of -6,000. Here, gamma is negative because we are short the options. Also, assume that there exists a traded option with a delta of 0.6 and a gamma of 1.25. Create a gamma-neutral position.</a:t>
            </a:r>
          </a:p>
          <a:p>
            <a:pPr lvl="2"/>
            <a:r>
              <a:rPr lang="en-US" altLang="zh-CN" dirty="0">
                <a:latin typeface="+mn-lt"/>
                <a:ea typeface="+mn-ea"/>
                <a:cs typeface="+mn-ea"/>
                <a:sym typeface="+mn-lt"/>
              </a:rPr>
              <a:t>Buy 6,000/1.25 = 4,800 options</a:t>
            </a:r>
          </a:p>
          <a:p>
            <a:pPr lvl="2"/>
            <a:r>
              <a:rPr lang="en-US" altLang="zh-CN" dirty="0">
                <a:latin typeface="+mn-lt"/>
                <a:ea typeface="+mn-ea"/>
                <a:cs typeface="+mn-ea"/>
                <a:sym typeface="+mn-lt"/>
              </a:rPr>
              <a:t>Sold 4,800×0.6 = 2,880 shares of the underlying position</a:t>
            </a:r>
          </a:p>
          <a:p>
            <a:endParaRPr lang="en-US" altLang="zh-CN" dirty="0">
              <a:latin typeface="+mn-lt"/>
              <a:ea typeface="+mn-ea"/>
              <a:cs typeface="+mn-ea"/>
              <a:sym typeface="+mn-lt"/>
            </a:endParaRPr>
          </a:p>
          <a:p>
            <a:endParaRPr lang="en-US" altLang="zh-CN" dirty="0">
              <a:latin typeface="+mn-lt"/>
              <a:ea typeface="+mn-ea"/>
              <a:cs typeface="+mn-ea"/>
              <a:sym typeface="+mn-lt"/>
            </a:endParaRPr>
          </a:p>
          <a:p>
            <a:endParaRPr lang="en-US" altLang="zh-CN" dirty="0">
              <a:latin typeface="+mn-lt"/>
              <a:ea typeface="+mn-ea"/>
              <a:cs typeface="+mn-ea"/>
              <a:sym typeface="+mn-lt"/>
            </a:endParaRPr>
          </a:p>
          <a:p>
            <a:endParaRPr lang="en-US" altLang="zh-CN" dirty="0">
              <a:latin typeface="+mn-lt"/>
              <a:ea typeface="+mn-ea"/>
              <a:cs typeface="+mn-ea"/>
              <a:sym typeface="+mn-lt"/>
            </a:endParaRPr>
          </a:p>
          <a:p>
            <a:pPr lvl="1"/>
            <a:r>
              <a:rPr lang="en-US" altLang="zh-CN" dirty="0">
                <a:latin typeface="+mn-lt"/>
                <a:ea typeface="+mn-ea"/>
                <a:cs typeface="+mn-ea"/>
                <a:sym typeface="+mn-lt"/>
              </a:rPr>
              <a:t>You can also create a gamma needed position, e.g., gamma of -1,000.</a:t>
            </a:r>
          </a:p>
          <a:p>
            <a:endParaRPr lang="zh-CN" altLang="en-US" dirty="0">
              <a:latin typeface="+mn-lt"/>
              <a:ea typeface="+mn-ea"/>
              <a:cs typeface="+mn-ea"/>
              <a:sym typeface="+mn-lt"/>
            </a:endParaRPr>
          </a:p>
        </p:txBody>
      </p:sp>
      <p:graphicFrame>
        <p:nvGraphicFramePr>
          <p:cNvPr id="4" name="Table 3">
            <a:extLst>
              <a:ext uri="{FF2B5EF4-FFF2-40B4-BE49-F238E27FC236}">
                <a16:creationId xmlns:a16="http://schemas.microsoft.com/office/drawing/2014/main" id="{95E2AE6A-9736-4F4F-AC01-ECCED47D3FB1}"/>
              </a:ext>
            </a:extLst>
          </p:cNvPr>
          <p:cNvGraphicFramePr>
            <a:graphicFrameLocks noGrp="1"/>
          </p:cNvGraphicFramePr>
          <p:nvPr>
            <p:extLst>
              <p:ext uri="{D42A27DB-BD31-4B8C-83A1-F6EECF244321}">
                <p14:modId xmlns:p14="http://schemas.microsoft.com/office/powerpoint/2010/main" val="3443271148"/>
              </p:ext>
            </p:extLst>
          </p:nvPr>
        </p:nvGraphicFramePr>
        <p:xfrm>
          <a:off x="2264349" y="3991708"/>
          <a:ext cx="7663301" cy="1410888"/>
        </p:xfrm>
        <a:graphic>
          <a:graphicData uri="http://schemas.openxmlformats.org/drawingml/2006/table">
            <a:tbl>
              <a:tblPr firstRow="1" bandRow="1">
                <a:tableStyleId>{5940675A-B579-460E-94D1-54222C63F5DA}</a:tableStyleId>
              </a:tblPr>
              <a:tblGrid>
                <a:gridCol w="2823321">
                  <a:extLst>
                    <a:ext uri="{9D8B030D-6E8A-4147-A177-3AD203B41FA5}">
                      <a16:colId xmlns:a16="http://schemas.microsoft.com/office/drawing/2014/main" val="20000"/>
                    </a:ext>
                  </a:extLst>
                </a:gridCol>
                <a:gridCol w="2419990">
                  <a:extLst>
                    <a:ext uri="{9D8B030D-6E8A-4147-A177-3AD203B41FA5}">
                      <a16:colId xmlns:a16="http://schemas.microsoft.com/office/drawing/2014/main" val="20001"/>
                    </a:ext>
                  </a:extLst>
                </a:gridCol>
                <a:gridCol w="2419990">
                  <a:extLst>
                    <a:ext uri="{9D8B030D-6E8A-4147-A177-3AD203B41FA5}">
                      <a16:colId xmlns:a16="http://schemas.microsoft.com/office/drawing/2014/main" val="20002"/>
                    </a:ext>
                  </a:extLst>
                </a:gridCol>
              </a:tblGrid>
              <a:tr h="355967">
                <a:tc>
                  <a:txBody>
                    <a:bodyPr/>
                    <a:lstStyle/>
                    <a:p>
                      <a:pPr algn="ctr">
                        <a:lnSpc>
                          <a:spcPct val="100000"/>
                        </a:lnSpc>
                        <a:spcBef>
                          <a:spcPts val="0"/>
                        </a:spcBef>
                        <a:spcAft>
                          <a:spcPts val="0"/>
                        </a:spcAft>
                      </a:pPr>
                      <a:endParaRPr lang="zh-CN" altLang="en-US" sz="1400" dirty="0">
                        <a:solidFill>
                          <a:srgbClr val="2C3E50"/>
                        </a:solidFill>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400" dirty="0">
                          <a:solidFill>
                            <a:srgbClr val="2C3E50"/>
                          </a:solidFill>
                        </a:rPr>
                        <a:t>Delta 0</a:t>
                      </a:r>
                      <a:endParaRPr lang="zh-CN" altLang="en-US" sz="14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400" dirty="0">
                          <a:solidFill>
                            <a:srgbClr val="2C3E50"/>
                          </a:solidFill>
                        </a:rPr>
                        <a:t>Gamma -6000</a:t>
                      </a:r>
                      <a:endParaRPr lang="zh-CN" altLang="en-US" sz="14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98954">
                <a:tc>
                  <a:txBody>
                    <a:bodyPr/>
                    <a:lstStyle/>
                    <a:p>
                      <a:pPr algn="ctr">
                        <a:lnSpc>
                          <a:spcPct val="120000"/>
                        </a:lnSpc>
                        <a:spcBef>
                          <a:spcPts val="0"/>
                        </a:spcBef>
                        <a:spcAft>
                          <a:spcPts val="0"/>
                        </a:spcAft>
                      </a:pPr>
                      <a:r>
                        <a:rPr lang="en-US" altLang="zh-CN" sz="1400" dirty="0">
                          <a:solidFill>
                            <a:srgbClr val="2C3E50"/>
                          </a:solidFill>
                        </a:rPr>
                        <a:t>Buy 4800 options</a:t>
                      </a:r>
                    </a:p>
                    <a:p>
                      <a:pPr marL="0" marR="0" indent="0" algn="ctr" defTabSz="914400" rtl="0" eaLnBrk="1" fontAlgn="auto" latinLnBrk="0" hangingPunct="1">
                        <a:lnSpc>
                          <a:spcPct val="120000"/>
                        </a:lnSpc>
                        <a:spcBef>
                          <a:spcPts val="0"/>
                        </a:spcBef>
                        <a:spcAft>
                          <a:spcPts val="0"/>
                        </a:spcAft>
                        <a:buClrTx/>
                        <a:buSzTx/>
                        <a:buFontTx/>
                        <a:buNone/>
                        <a:tabLst/>
                        <a:defRPr/>
                      </a:pPr>
                      <a:r>
                        <a:rPr lang="en-US" altLang="zh-CN" sz="1400" dirty="0">
                          <a:solidFill>
                            <a:srgbClr val="2C3E50"/>
                          </a:solidFill>
                        </a:rPr>
                        <a:t>(6000/1.25 = 4800)</a:t>
                      </a:r>
                      <a:endParaRPr lang="zh-CN" altLang="en-US" sz="1400" dirty="0">
                        <a:solidFill>
                          <a:srgbClr val="2C3E50"/>
                        </a:solidFill>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400" dirty="0">
                          <a:solidFill>
                            <a:srgbClr val="2C3E50"/>
                          </a:solidFill>
                        </a:rPr>
                        <a:t>4800 × 0.6 = 2880 </a:t>
                      </a:r>
                      <a:endParaRPr lang="zh-CN" altLang="en-US" sz="14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400" dirty="0">
                          <a:solidFill>
                            <a:srgbClr val="2C3E50"/>
                          </a:solidFill>
                        </a:rPr>
                        <a:t>0</a:t>
                      </a:r>
                      <a:endParaRPr lang="zh-CN" altLang="en-US" sz="14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5967">
                <a:tc>
                  <a:txBody>
                    <a:bodyPr/>
                    <a:lstStyle/>
                    <a:p>
                      <a:pPr algn="ctr">
                        <a:lnSpc>
                          <a:spcPct val="100000"/>
                        </a:lnSpc>
                        <a:spcBef>
                          <a:spcPts val="0"/>
                        </a:spcBef>
                        <a:spcAft>
                          <a:spcPts val="0"/>
                        </a:spcAft>
                      </a:pPr>
                      <a:r>
                        <a:rPr lang="en-US" altLang="zh-CN" sz="1400" dirty="0">
                          <a:solidFill>
                            <a:srgbClr val="2C3E50"/>
                          </a:solidFill>
                        </a:rPr>
                        <a:t>Sell 2880 stocks</a:t>
                      </a:r>
                      <a:endParaRPr lang="zh-CN" altLang="en-US" sz="1400" dirty="0">
                        <a:solidFill>
                          <a:srgbClr val="2C3E50"/>
                        </a:solidFill>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400" dirty="0">
                          <a:solidFill>
                            <a:srgbClr val="2C3E50"/>
                          </a:solidFill>
                        </a:rPr>
                        <a:t>0</a:t>
                      </a:r>
                      <a:endParaRPr lang="zh-CN" altLang="en-US" sz="14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en-US" altLang="zh-CN" sz="1400" dirty="0">
                          <a:solidFill>
                            <a:srgbClr val="2C3E50"/>
                          </a:solidFill>
                        </a:rPr>
                        <a:t>0</a:t>
                      </a:r>
                      <a:endParaRPr lang="zh-CN" altLang="en-US" sz="1400" dirty="0">
                        <a:solidFill>
                          <a:srgbClr val="2C3E50"/>
                        </a:solidFill>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74437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a:xfrm>
            <a:off x="393599" y="813469"/>
            <a:ext cx="11404800" cy="2281423"/>
          </a:xfrm>
        </p:spPr>
        <p:txBody>
          <a:bodyPr>
            <a:normAutofit fontScale="92500" lnSpcReduction="20000"/>
          </a:bodyPr>
          <a:lstStyle/>
          <a:p>
            <a:r>
              <a:rPr lang="en-US" altLang="zh-CN" dirty="0">
                <a:latin typeface="+mn-lt"/>
                <a:ea typeface="+mn-ea"/>
                <a:cs typeface="+mn-ea"/>
                <a:sym typeface="+mn-lt"/>
              </a:rPr>
              <a:t>Implication of Vega</a:t>
            </a:r>
          </a:p>
          <a:p>
            <a:pPr lvl="1"/>
            <a:r>
              <a:rPr lang="en-US" altLang="zh-CN" dirty="0">
                <a:latin typeface="+mn-lt"/>
                <a:ea typeface="+mn-ea"/>
                <a:cs typeface="+mn-ea"/>
                <a:sym typeface="+mn-lt"/>
              </a:rPr>
              <a:t>Vega is the rate of change of the value of the option with respect to the volatility of the underlying asset.</a:t>
            </a:r>
          </a:p>
          <a:p>
            <a:pPr lvl="1"/>
            <a:r>
              <a:rPr lang="en-US" altLang="zh-CN" dirty="0">
                <a:latin typeface="+mn-lt"/>
                <a:ea typeface="+mn-ea"/>
                <a:cs typeface="+mn-ea"/>
                <a:sym typeface="+mn-lt"/>
              </a:rPr>
              <a:t>Most sensitive to changes in volatility when they are at the money.</a:t>
            </a:r>
          </a:p>
          <a:p>
            <a:pPr lvl="1"/>
            <a:r>
              <a:rPr lang="en-US" altLang="zh-CN" dirty="0">
                <a:latin typeface="+mn-lt"/>
                <a:ea typeface="+mn-ea"/>
                <a:cs typeface="+mn-ea"/>
                <a:sym typeface="+mn-lt"/>
              </a:rPr>
              <a:t>Vega of a call is equal to the Vega of a put.</a:t>
            </a:r>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BBFF7281-F74A-40B3-A834-EFBDECEBCD37}"/>
              </a:ext>
            </a:extLst>
          </p:cNvPr>
          <p:cNvGrpSpPr/>
          <p:nvPr/>
        </p:nvGrpSpPr>
        <p:grpSpPr>
          <a:xfrm>
            <a:off x="3414001" y="3269897"/>
            <a:ext cx="5363998" cy="3265063"/>
            <a:chOff x="2628264" y="2852936"/>
            <a:chExt cx="4320000" cy="3470138"/>
          </a:xfrm>
        </p:grpSpPr>
        <p:pic>
          <p:nvPicPr>
            <p:cNvPr id="5" name="Picture 17">
              <a:extLst>
                <a:ext uri="{FF2B5EF4-FFF2-40B4-BE49-F238E27FC236}">
                  <a16:creationId xmlns:a16="http://schemas.microsoft.com/office/drawing/2014/main" id="{E332D3D1-C3D2-43CD-BC02-CA6FDE045F6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8264" y="3083074"/>
              <a:ext cx="4320000" cy="32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圆角矩形 4">
              <a:extLst>
                <a:ext uri="{FF2B5EF4-FFF2-40B4-BE49-F238E27FC236}">
                  <a16:creationId xmlns:a16="http://schemas.microsoft.com/office/drawing/2014/main" id="{DD5922C3-67E7-4446-993B-8AA342790E84}"/>
                </a:ext>
              </a:extLst>
            </p:cNvPr>
            <p:cNvSpPr/>
            <p:nvPr/>
          </p:nvSpPr>
          <p:spPr>
            <a:xfrm>
              <a:off x="2628264" y="2852936"/>
              <a:ext cx="4320000" cy="3470138"/>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1449845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a:xfrm>
            <a:off x="393599" y="813469"/>
            <a:ext cx="11404800" cy="2457269"/>
          </a:xfrm>
        </p:spPr>
        <p:txBody>
          <a:bodyPr>
            <a:normAutofit fontScale="77500" lnSpcReduction="20000"/>
          </a:bodyPr>
          <a:lstStyle/>
          <a:p>
            <a:r>
              <a:rPr lang="en-US" altLang="zh-CN" dirty="0">
                <a:latin typeface="+mn-lt"/>
                <a:ea typeface="+mn-ea"/>
                <a:cs typeface="+mn-ea"/>
                <a:sym typeface="+mn-lt"/>
              </a:rPr>
              <a:t>Theta</a:t>
            </a:r>
          </a:p>
          <a:p>
            <a:pPr lvl="1"/>
            <a:r>
              <a:rPr lang="en-US" altLang="zh-CN" dirty="0">
                <a:latin typeface="+mn-lt"/>
                <a:ea typeface="+mn-ea"/>
                <a:cs typeface="+mn-ea"/>
                <a:sym typeface="+mn-lt"/>
              </a:rPr>
              <a:t>Theta is the rate of change of the value of the option with respect to the passage of time with all else remaining the same.</a:t>
            </a:r>
          </a:p>
          <a:p>
            <a:pPr lvl="1"/>
            <a:r>
              <a:rPr lang="en-US" altLang="zh-CN" dirty="0">
                <a:latin typeface="+mn-lt"/>
                <a:ea typeface="+mn-ea"/>
                <a:cs typeface="+mn-ea"/>
                <a:sym typeface="+mn-lt"/>
              </a:rPr>
              <a:t>Theta is sometimes referred to as the time decay. As time to maturity decreases with all else remaining the same, the option tends to become less valuable, so theta is usually negative for an option.</a:t>
            </a:r>
          </a:p>
          <a:p>
            <a:endParaRPr lang="zh-CN" altLang="en-US" dirty="0">
              <a:latin typeface="+mn-lt"/>
              <a:ea typeface="+mn-ea"/>
              <a:cs typeface="+mn-ea"/>
              <a:sym typeface="+mn-lt"/>
            </a:endParaRPr>
          </a:p>
        </p:txBody>
      </p:sp>
      <p:sp>
        <p:nvSpPr>
          <p:cNvPr id="4" name="内容占位符 2">
            <a:extLst>
              <a:ext uri="{FF2B5EF4-FFF2-40B4-BE49-F238E27FC236}">
                <a16:creationId xmlns:a16="http://schemas.microsoft.com/office/drawing/2014/main" id="{71F2DC04-FAAC-436D-8A15-21F9211B2CE6}"/>
              </a:ext>
            </a:extLst>
          </p:cNvPr>
          <p:cNvSpPr txBox="1">
            <a:spLocks noChangeArrowheads="1"/>
          </p:cNvSpPr>
          <p:nvPr/>
        </p:nvSpPr>
        <p:spPr bwMode="auto">
          <a:xfrm>
            <a:off x="962850" y="3959481"/>
            <a:ext cx="4992473" cy="1683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36000" rIns="36000" bIns="36000" anchor="ctr" anchorCtr="0">
            <a:spAutoFit/>
          </a:bodyPr>
          <a:lstStyle>
            <a:lvl1pPr marL="342900" indent="-342900">
              <a:defRPr sz="2200" b="1">
                <a:solidFill>
                  <a:schemeClr val="tx1"/>
                </a:solidFill>
                <a:latin typeface="Times New Roman" panose="02020603050405020304" pitchFamily="18" charset="0"/>
                <a:ea typeface="宋体" panose="02010600030101010101" pitchFamily="2" charset="-122"/>
              </a:defRPr>
            </a:lvl1pPr>
            <a:lvl2pPr marL="631825"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marL="360000" lvl="1" indent="-360000" algn="just" eaLnBrk="1" hangingPunct="1">
              <a:lnSpc>
                <a:spcPct val="150000"/>
              </a:lnSpc>
              <a:buClr>
                <a:srgbClr val="2C3E50"/>
              </a:buClr>
              <a:buSzPct val="80000"/>
              <a:buFont typeface="Wingdings" panose="05000000000000000000" pitchFamily="2" charset="2"/>
              <a:buChar char="l"/>
            </a:pPr>
            <a:r>
              <a:rPr lang="en-US" altLang="zh-CN" sz="1800" b="0" u="sng" dirty="0">
                <a:latin typeface="Segoe UI" panose="020B0502040204020203" pitchFamily="34" charset="0"/>
                <a:ea typeface="Segoe UI" panose="020B0502040204020203" pitchFamily="34" charset="0"/>
                <a:cs typeface="Segoe UI" panose="020B0502040204020203" pitchFamily="34" charset="0"/>
              </a:rPr>
              <a:t>For long position, theta&lt;0, means option lose value as time goes by.</a:t>
            </a:r>
          </a:p>
          <a:p>
            <a:pPr marL="360000" lvl="1" indent="-360000" algn="just" eaLnBrk="1" hangingPunct="1">
              <a:lnSpc>
                <a:spcPct val="150000"/>
              </a:lnSpc>
              <a:buClr>
                <a:srgbClr val="2C3E50"/>
              </a:buClr>
              <a:buSzPct val="80000"/>
              <a:buFont typeface="Wingdings" panose="05000000000000000000" pitchFamily="2" charset="2"/>
              <a:buChar char="l"/>
            </a:pPr>
            <a:r>
              <a:rPr lang="en-US" altLang="zh-CN" sz="1800" b="0" u="sng" dirty="0">
                <a:latin typeface="Segoe UI" panose="020B0502040204020203" pitchFamily="34" charset="0"/>
                <a:ea typeface="Segoe UI" panose="020B0502040204020203" pitchFamily="34" charset="0"/>
                <a:cs typeface="Segoe UI" panose="020B0502040204020203" pitchFamily="34" charset="0"/>
              </a:rPr>
              <a:t>Short-term at the money option has a greatest negative theta.</a:t>
            </a:r>
            <a:endParaRPr lang="zh-CN" altLang="en-US" sz="1800" b="0" u="sng" dirty="0">
              <a:latin typeface="Segoe UI" panose="020B0502040204020203" pitchFamily="34" charset="0"/>
              <a:cs typeface="Segoe UI" panose="020B0502040204020203" pitchFamily="34" charset="0"/>
            </a:endParaRPr>
          </a:p>
        </p:txBody>
      </p:sp>
      <p:grpSp>
        <p:nvGrpSpPr>
          <p:cNvPr id="5" name="组合 4">
            <a:extLst>
              <a:ext uri="{FF2B5EF4-FFF2-40B4-BE49-F238E27FC236}">
                <a16:creationId xmlns:a16="http://schemas.microsoft.com/office/drawing/2014/main" id="{50D4A9D9-D873-4425-A570-C3AF3E667FEF}"/>
              </a:ext>
            </a:extLst>
          </p:cNvPr>
          <p:cNvGrpSpPr/>
          <p:nvPr/>
        </p:nvGrpSpPr>
        <p:grpSpPr>
          <a:xfrm>
            <a:off x="7203874" y="3429000"/>
            <a:ext cx="4242833" cy="2744042"/>
            <a:chOff x="4716496" y="3501008"/>
            <a:chExt cx="4320000" cy="2772008"/>
          </a:xfrm>
        </p:grpSpPr>
        <p:pic>
          <p:nvPicPr>
            <p:cNvPr id="6" name="Picture 2">
              <a:extLst>
                <a:ext uri="{FF2B5EF4-FFF2-40B4-BE49-F238E27FC236}">
                  <a16:creationId xmlns:a16="http://schemas.microsoft.com/office/drawing/2014/main" id="{16D15488-0ABB-4624-9EE9-202F02E019E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496" y="3573016"/>
              <a:ext cx="4320000" cy="27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圆角矩形 5">
              <a:extLst>
                <a:ext uri="{FF2B5EF4-FFF2-40B4-BE49-F238E27FC236}">
                  <a16:creationId xmlns:a16="http://schemas.microsoft.com/office/drawing/2014/main" id="{80F9DBF5-B009-49BF-BC0D-752FF62B5E22}"/>
                </a:ext>
              </a:extLst>
            </p:cNvPr>
            <p:cNvSpPr/>
            <p:nvPr/>
          </p:nvSpPr>
          <p:spPr>
            <a:xfrm>
              <a:off x="4716496" y="3501008"/>
              <a:ext cx="4320000" cy="2772008"/>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4365080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Rho</a:t>
            </a:r>
          </a:p>
          <a:p>
            <a:pPr lvl="1"/>
            <a:r>
              <a:rPr lang="en-US" altLang="zh-CN" dirty="0">
                <a:latin typeface="+mn-lt"/>
                <a:ea typeface="+mn-ea"/>
                <a:cs typeface="+mn-ea"/>
                <a:sym typeface="+mn-lt"/>
              </a:rPr>
              <a:t>Rho is the </a:t>
            </a:r>
            <a:r>
              <a:rPr lang="en-US" altLang="zh-CN" u="sng" dirty="0">
                <a:latin typeface="+mn-lt"/>
                <a:ea typeface="+mn-ea"/>
                <a:cs typeface="+mn-ea"/>
                <a:sym typeface="+mn-lt"/>
              </a:rPr>
              <a:t>sensitivity to the interest rates.</a:t>
            </a:r>
          </a:p>
          <a:p>
            <a:pPr lvl="1"/>
            <a:r>
              <a:rPr lang="en-US" altLang="zh-CN" dirty="0">
                <a:latin typeface="+mn-lt"/>
                <a:ea typeface="+mn-ea"/>
                <a:cs typeface="+mn-ea"/>
                <a:sym typeface="+mn-lt"/>
              </a:rPr>
              <a:t>The equity options are </a:t>
            </a:r>
            <a:r>
              <a:rPr lang="en-US" altLang="zh-CN" u="sng" dirty="0">
                <a:latin typeface="+mn-lt"/>
                <a:ea typeface="+mn-ea"/>
                <a:cs typeface="+mn-ea"/>
                <a:sym typeface="+mn-lt"/>
              </a:rPr>
              <a:t>not as sensitive</a:t>
            </a:r>
            <a:r>
              <a:rPr lang="en-US" altLang="zh-CN" dirty="0">
                <a:latin typeface="+mn-lt"/>
                <a:ea typeface="+mn-ea"/>
                <a:cs typeface="+mn-ea"/>
                <a:sym typeface="+mn-lt"/>
              </a:rPr>
              <a:t> to changes in the risk-free rate as they are to changes in the other variables.</a:t>
            </a:r>
          </a:p>
          <a:p>
            <a:pPr lvl="1"/>
            <a:r>
              <a:rPr lang="en-US" altLang="zh-CN" u="sng" dirty="0">
                <a:latin typeface="+mn-lt"/>
                <a:ea typeface="+mn-ea"/>
                <a:cs typeface="+mn-ea"/>
                <a:sym typeface="+mn-lt"/>
              </a:rPr>
              <a:t>In the money calls and puts are more sensitive to changes in rates than out-of-the-money options.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5586428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fontScale="85000" lnSpcReduction="10000"/>
          </a:bodyPr>
          <a:lstStyle/>
          <a:p>
            <a:r>
              <a:rPr lang="en-US" altLang="zh-CN" dirty="0">
                <a:latin typeface="+mn-lt"/>
                <a:ea typeface="+mn-ea"/>
                <a:cs typeface="+mn-ea"/>
                <a:sym typeface="+mn-lt"/>
              </a:rPr>
              <a:t>Relationship between Delta, Theta, and Gamma</a:t>
            </a:r>
          </a:p>
          <a:p>
            <a:pPr lvl="1"/>
            <a:r>
              <a:rPr lang="en-US" altLang="zh-CN" dirty="0">
                <a:latin typeface="+mn-lt"/>
                <a:ea typeface="+mn-ea"/>
                <a:cs typeface="+mn-ea"/>
                <a:sym typeface="+mn-lt"/>
              </a:rPr>
              <a:t>Stock option prices are affected by delta, theta, and gamma as indicated in the following relationship:</a:t>
            </a:r>
          </a:p>
          <a:p>
            <a:endParaRPr lang="en-US" altLang="zh-CN" dirty="0">
              <a:latin typeface="+mn-lt"/>
              <a:ea typeface="+mn-ea"/>
              <a:cs typeface="+mn-ea"/>
              <a:sym typeface="+mn-lt"/>
            </a:endParaRPr>
          </a:p>
          <a:p>
            <a:endParaRPr lang="en-US" altLang="zh-CN" dirty="0">
              <a:latin typeface="+mn-lt"/>
              <a:ea typeface="+mn-ea"/>
              <a:cs typeface="+mn-ea"/>
              <a:sym typeface="+mn-lt"/>
            </a:endParaRPr>
          </a:p>
          <a:p>
            <a:pPr lvl="1"/>
            <a:r>
              <a:rPr lang="en-US" altLang="zh-CN" dirty="0">
                <a:latin typeface="+mn-lt"/>
                <a:ea typeface="+mn-ea"/>
                <a:cs typeface="+mn-ea"/>
                <a:sym typeface="+mn-lt"/>
              </a:rPr>
              <a:t>where:</a:t>
            </a:r>
          </a:p>
          <a:p>
            <a:pPr lvl="2"/>
            <a:r>
              <a:rPr lang="en-US" altLang="zh-CN" dirty="0">
                <a:latin typeface="+mn-lt"/>
                <a:ea typeface="+mn-ea"/>
                <a:cs typeface="+mn-ea"/>
                <a:sym typeface="+mn-lt"/>
              </a:rPr>
              <a:t>r = the risk-neutral risk-free rate of interest</a:t>
            </a:r>
          </a:p>
          <a:p>
            <a:pPr lvl="2"/>
            <a:r>
              <a:rPr lang="en-US" altLang="zh-CN" dirty="0">
                <a:latin typeface="+mn-lt"/>
                <a:ea typeface="+mn-ea"/>
                <a:cs typeface="+mn-ea"/>
                <a:sym typeface="+mn-lt"/>
              </a:rPr>
              <a:t>π = the price of the option </a:t>
            </a:r>
          </a:p>
          <a:p>
            <a:pPr lvl="2"/>
            <a:r>
              <a:rPr lang="en-US" altLang="zh-CN" dirty="0">
                <a:latin typeface="+mn-lt"/>
                <a:ea typeface="+mn-ea"/>
                <a:cs typeface="+mn-ea"/>
                <a:sym typeface="+mn-lt"/>
              </a:rPr>
              <a:t>θ = the option theta</a:t>
            </a:r>
          </a:p>
          <a:p>
            <a:pPr lvl="2"/>
            <a:r>
              <a:rPr lang="en-US" altLang="zh-CN" dirty="0">
                <a:latin typeface="+mn-lt"/>
                <a:ea typeface="+mn-ea"/>
                <a:cs typeface="+mn-ea"/>
                <a:sym typeface="+mn-lt"/>
              </a:rPr>
              <a:t>S = the price of the underlying stock</a:t>
            </a:r>
          </a:p>
          <a:p>
            <a:pPr lvl="2"/>
            <a:r>
              <a:rPr lang="en-US" altLang="zh-CN" dirty="0">
                <a:latin typeface="+mn-lt"/>
                <a:ea typeface="+mn-ea"/>
                <a:cs typeface="+mn-ea"/>
                <a:sym typeface="+mn-lt"/>
              </a:rPr>
              <a:t>Δ = the option delta</a:t>
            </a:r>
          </a:p>
          <a:p>
            <a:pPr lvl="2"/>
            <a:r>
              <a:rPr lang="en-US" altLang="zh-CN" dirty="0">
                <a:latin typeface="+mn-lt"/>
                <a:ea typeface="+mn-ea"/>
                <a:cs typeface="+mn-ea"/>
                <a:sym typeface="+mn-lt"/>
              </a:rPr>
              <a:t>σ2 = the variance of the underlying stock</a:t>
            </a:r>
          </a:p>
          <a:p>
            <a:pPr lvl="2"/>
            <a:r>
              <a:rPr lang="en-US" altLang="zh-CN" dirty="0">
                <a:latin typeface="+mn-lt"/>
                <a:ea typeface="+mn-ea"/>
                <a:cs typeface="+mn-ea"/>
                <a:sym typeface="+mn-lt"/>
              </a:rPr>
              <a:t>Г = the option gamma</a:t>
            </a:r>
            <a:endParaRPr lang="zh-CN" altLang="en-US" dirty="0">
              <a:latin typeface="+mn-lt"/>
              <a:ea typeface="+mn-ea"/>
              <a:cs typeface="+mn-ea"/>
              <a:sym typeface="+mn-lt"/>
            </a:endParaRPr>
          </a:p>
        </p:txBody>
      </p:sp>
      <p:graphicFrame>
        <p:nvGraphicFramePr>
          <p:cNvPr id="4" name="Object 111">
            <a:extLst>
              <a:ext uri="{FF2B5EF4-FFF2-40B4-BE49-F238E27FC236}">
                <a16:creationId xmlns:a16="http://schemas.microsoft.com/office/drawing/2014/main" id="{6934FAF9-20C3-46A9-BCC8-0BA43D6DED2F}"/>
              </a:ext>
            </a:extLst>
          </p:cNvPr>
          <p:cNvGraphicFramePr>
            <a:graphicFrameLocks/>
          </p:cNvGraphicFramePr>
          <p:nvPr>
            <p:extLst>
              <p:ext uri="{D42A27DB-BD31-4B8C-83A1-F6EECF244321}">
                <p14:modId xmlns:p14="http://schemas.microsoft.com/office/powerpoint/2010/main" val="487924973"/>
              </p:ext>
            </p:extLst>
          </p:nvPr>
        </p:nvGraphicFramePr>
        <p:xfrm>
          <a:off x="4708524" y="2282937"/>
          <a:ext cx="2774950" cy="395288"/>
        </p:xfrm>
        <a:graphic>
          <a:graphicData uri="http://schemas.openxmlformats.org/presentationml/2006/ole">
            <mc:AlternateContent xmlns:mc="http://schemas.openxmlformats.org/markup-compatibility/2006">
              <mc:Choice xmlns:v="urn:schemas-microsoft-com:vml" Requires="v">
                <p:oleObj spid="_x0000_s8198" name="Equation" r:id="rId3" imgW="1333440" imgH="177480" progId="Equation.DSMT4">
                  <p:embed/>
                </p:oleObj>
              </mc:Choice>
              <mc:Fallback>
                <p:oleObj name="Equation" r:id="rId3" imgW="1333440" imgH="177480" progId="Equation.DSMT4">
                  <p:embed/>
                  <p:pic>
                    <p:nvPicPr>
                      <p:cNvPr id="7" name="Object 111">
                        <a:extLst>
                          <a:ext uri="{FF2B5EF4-FFF2-40B4-BE49-F238E27FC236}">
                            <a16:creationId xmlns:a16="http://schemas.microsoft.com/office/drawing/2014/main" id="{59F30947-8E54-4381-BC7C-C06FA31C36EF}"/>
                          </a:ext>
                        </a:extLst>
                      </p:cNvPr>
                      <p:cNvPicPr>
                        <a:picLocks noChangeAspect="1" noChangeArrowheads="1"/>
                      </p:cNvPicPr>
                      <p:nvPr/>
                    </p:nvPicPr>
                    <p:blipFill>
                      <a:blip r:embed="rId4"/>
                      <a:srcRect/>
                      <a:stretch>
                        <a:fillRect/>
                      </a:stretch>
                    </p:blipFill>
                    <p:spPr bwMode="auto">
                      <a:xfrm>
                        <a:off x="4708524" y="2282937"/>
                        <a:ext cx="2774950"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391742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fontScale="85000" lnSpcReduction="10000"/>
          </a:bodyPr>
          <a:lstStyle/>
          <a:p>
            <a:r>
              <a:rPr lang="en-US" altLang="zh-CN" dirty="0">
                <a:latin typeface="+mn-lt"/>
                <a:ea typeface="+mn-ea"/>
                <a:cs typeface="+mn-ea"/>
                <a:sym typeface="+mn-lt"/>
              </a:rPr>
              <a:t>Portfolio insurance </a:t>
            </a:r>
          </a:p>
          <a:p>
            <a:pPr lvl="1"/>
            <a:r>
              <a:rPr lang="en-US" altLang="zh-CN" dirty="0">
                <a:latin typeface="+mn-lt"/>
                <a:ea typeface="+mn-ea"/>
                <a:cs typeface="+mn-ea"/>
                <a:sym typeface="+mn-lt"/>
              </a:rPr>
              <a:t>The combination of </a:t>
            </a:r>
            <a:r>
              <a:rPr lang="en-US" altLang="zh-CN" u="sng" dirty="0">
                <a:latin typeface="+mn-lt"/>
                <a:ea typeface="+mn-ea"/>
                <a:cs typeface="+mn-ea"/>
                <a:sym typeface="+mn-lt"/>
              </a:rPr>
              <a:t>(1) an underlying instrument and (2) either cash or a derivative that generates floor value for the portfolio in the event that market values decline</a:t>
            </a:r>
            <a:r>
              <a:rPr lang="en-US" altLang="zh-CN" dirty="0">
                <a:latin typeface="+mn-lt"/>
                <a:ea typeface="+mn-ea"/>
                <a:cs typeface="+mn-ea"/>
                <a:sym typeface="+mn-lt"/>
              </a:rPr>
              <a:t>, while still allowing for upside potential in the event that market values rise.</a:t>
            </a:r>
          </a:p>
          <a:p>
            <a:pPr lvl="1"/>
            <a:r>
              <a:rPr lang="en-US" altLang="zh-CN" dirty="0">
                <a:latin typeface="+mn-lt"/>
                <a:ea typeface="+mn-ea"/>
                <a:cs typeface="+mn-ea"/>
                <a:sym typeface="+mn-lt"/>
              </a:rPr>
              <a:t>The </a:t>
            </a:r>
            <a:r>
              <a:rPr lang="en-US" altLang="zh-CN" u="sng" dirty="0">
                <a:latin typeface="+mn-lt"/>
                <a:ea typeface="+mn-ea"/>
                <a:cs typeface="+mn-ea"/>
                <a:sym typeface="+mn-lt"/>
              </a:rPr>
              <a:t>simplest way to create portfolio insurance is buy put options on an underlying portfolio.</a:t>
            </a:r>
            <a:r>
              <a:rPr lang="en-US" altLang="zh-CN" dirty="0">
                <a:latin typeface="+mn-lt"/>
                <a:ea typeface="+mn-ea"/>
                <a:cs typeface="+mn-ea"/>
                <a:sym typeface="+mn-lt"/>
              </a:rPr>
              <a:t> In this case, any loss on the portfolio may be offset with gains on the long put options.</a:t>
            </a:r>
          </a:p>
          <a:p>
            <a:pPr lvl="1"/>
            <a:r>
              <a:rPr lang="en-US" altLang="zh-CN" dirty="0">
                <a:latin typeface="+mn-lt"/>
                <a:ea typeface="+mn-ea"/>
                <a:cs typeface="+mn-ea"/>
                <a:sym typeface="+mn-lt"/>
              </a:rPr>
              <a:t>An alternative to buying the puts, </a:t>
            </a:r>
            <a:r>
              <a:rPr lang="en-US" altLang="zh-CN" u="sng" dirty="0">
                <a:latin typeface="+mn-lt"/>
                <a:ea typeface="+mn-ea"/>
                <a:cs typeface="+mn-ea"/>
                <a:sym typeface="+mn-lt"/>
              </a:rPr>
              <a:t>a synthetic put position can be created with index futures contracts. </a:t>
            </a:r>
            <a:r>
              <a:rPr lang="en-US" altLang="zh-CN" dirty="0">
                <a:latin typeface="+mn-lt"/>
                <a:ea typeface="+mn-ea"/>
                <a:cs typeface="+mn-ea"/>
                <a:sym typeface="+mn-lt"/>
              </a:rPr>
              <a:t>This is accomplished by </a:t>
            </a:r>
            <a:r>
              <a:rPr lang="en-US" altLang="zh-CN" u="sng" dirty="0">
                <a:latin typeface="+mn-lt"/>
                <a:ea typeface="+mn-ea"/>
                <a:cs typeface="+mn-ea"/>
                <a:sym typeface="+mn-lt"/>
              </a:rPr>
              <a:t>selling index futures contracts in an amount equivalent to the proportion of the portfolio dictated by the delta of the required put option.</a:t>
            </a:r>
          </a:p>
          <a:p>
            <a:pPr lvl="1"/>
            <a:r>
              <a:rPr lang="en-US" altLang="zh-CN" dirty="0">
                <a:latin typeface="+mn-lt"/>
                <a:ea typeface="+mn-ea"/>
                <a:cs typeface="+mn-ea"/>
                <a:sym typeface="+mn-lt"/>
              </a:rPr>
              <a:t>The main reasons traders may prefer synthetically creating the portfolio insurance position with index futures include substantially lower trading costs and relatively higher levels of liquidity.</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2092170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a:bodyPr>
          <a:lstStyle/>
          <a:p>
            <a:r>
              <a:rPr lang="en-US" altLang="zh-CN" dirty="0"/>
              <a:t>Exercise 1</a:t>
            </a:r>
          </a:p>
          <a:p>
            <a:pPr>
              <a:buFont typeface="Wingdings" panose="05000000000000000000" pitchFamily="2" charset="2"/>
              <a:buChar char="l"/>
            </a:pPr>
            <a:r>
              <a:rPr lang="en-US" altLang="zh-CN" dirty="0">
                <a:solidFill>
                  <a:schemeClr val="tx1"/>
                </a:solidFill>
              </a:rPr>
              <a:t>The dividend yield of an asset is 10% per annum, what is the delta of a long forward contract on the asset with 6 months to maturity?</a:t>
            </a:r>
          </a:p>
          <a:p>
            <a:pPr marL="817200" lvl="1" indent="-457200">
              <a:buSzPct val="100000"/>
              <a:buFont typeface="+mj-lt"/>
              <a:buAutoNum type="alphaUcPeriod"/>
            </a:pPr>
            <a:r>
              <a:rPr lang="en-US" altLang="zh-CN" dirty="0"/>
              <a:t>0.95</a:t>
            </a:r>
          </a:p>
          <a:p>
            <a:pPr marL="817200" lvl="1" indent="-457200">
              <a:buSzPct val="100000"/>
              <a:buFont typeface="+mj-lt"/>
              <a:buAutoNum type="alphaUcPeriod"/>
            </a:pPr>
            <a:r>
              <a:rPr lang="en-US" altLang="zh-CN" dirty="0"/>
              <a:t>1.00</a:t>
            </a:r>
          </a:p>
          <a:p>
            <a:pPr marL="817200" lvl="1" indent="-457200">
              <a:buSzPct val="100000"/>
              <a:buFont typeface="+mj-lt"/>
              <a:buAutoNum type="alphaUcPeriod"/>
            </a:pPr>
            <a:r>
              <a:rPr lang="en-US" altLang="zh-CN" dirty="0"/>
              <a:t>1.05</a:t>
            </a:r>
          </a:p>
          <a:p>
            <a:pPr marL="817200" lvl="1" indent="-457200">
              <a:buSzPct val="100000"/>
              <a:buFont typeface="+mj-lt"/>
              <a:buAutoNum type="alphaUcPeriod"/>
            </a:pPr>
            <a:r>
              <a:rPr lang="en-US" altLang="zh-CN" dirty="0"/>
              <a:t>Cannot determine without additional information</a:t>
            </a:r>
          </a:p>
          <a:p>
            <a:pPr marL="817200" lvl="1" indent="-457200">
              <a:buSzPct val="100000"/>
              <a:buFont typeface="+mj-lt"/>
              <a:buAutoNum type="alphaUcPeriod"/>
            </a:pPr>
            <a:endParaRPr lang="en-US" altLang="zh-CN" dirty="0"/>
          </a:p>
          <a:p>
            <a:pPr marL="417150" indent="-457200">
              <a:buSzPct val="100000"/>
              <a:buFont typeface="Wingdings" panose="05000000000000000000" pitchFamily="2" charset="2"/>
              <a:buChar char="l"/>
            </a:pPr>
            <a:r>
              <a:rPr lang="en-US" altLang="zh-CN" dirty="0">
                <a:solidFill>
                  <a:schemeClr val="tx1"/>
                </a:solidFill>
              </a:rPr>
              <a:t>Correct Answer : A</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7052789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a:bodyPr>
          <a:lstStyle/>
          <a:p>
            <a:r>
              <a:rPr lang="en-US" altLang="zh-CN" dirty="0"/>
              <a:t>Exercise 2</a:t>
            </a:r>
          </a:p>
          <a:p>
            <a:pPr>
              <a:buFont typeface="Wingdings" panose="05000000000000000000" pitchFamily="2" charset="2"/>
              <a:buChar char="l"/>
            </a:pPr>
            <a:r>
              <a:rPr lang="en-US" altLang="zh-CN" dirty="0">
                <a:solidFill>
                  <a:schemeClr val="tx1"/>
                </a:solidFill>
              </a:rPr>
              <a:t>A portfolio of stock A and options on stock A is currently delta neutral, but has a positive gamma, which of the following actions will make the portfolio both delta and gamma neutral?</a:t>
            </a:r>
          </a:p>
          <a:p>
            <a:pPr marL="817200" lvl="1" indent="-457200">
              <a:buSzPct val="100000"/>
              <a:buFont typeface="+mj-lt"/>
              <a:buAutoNum type="alphaUcPeriod"/>
            </a:pPr>
            <a:r>
              <a:rPr lang="en-US" altLang="zh-CN" dirty="0"/>
              <a:t>Buy call options on stock A and sell stock A</a:t>
            </a:r>
          </a:p>
          <a:p>
            <a:pPr marL="817200" lvl="1" indent="-457200">
              <a:buSzPct val="100000"/>
              <a:buFont typeface="+mj-lt"/>
              <a:buAutoNum type="alphaUcPeriod"/>
            </a:pPr>
            <a:r>
              <a:rPr lang="en-US" altLang="zh-CN" dirty="0"/>
              <a:t>Sell call options on stock A and sell stock A</a:t>
            </a:r>
          </a:p>
          <a:p>
            <a:pPr marL="817200" lvl="1" indent="-457200">
              <a:buSzPct val="100000"/>
              <a:buFont typeface="+mj-lt"/>
              <a:buAutoNum type="alphaUcPeriod"/>
            </a:pPr>
            <a:r>
              <a:rPr lang="en-US" altLang="zh-CN" dirty="0"/>
              <a:t>Buy put options on stock A and buy stock A</a:t>
            </a:r>
          </a:p>
          <a:p>
            <a:pPr marL="817200" lvl="1" indent="-457200">
              <a:buSzPct val="100000"/>
              <a:buFont typeface="+mj-lt"/>
              <a:buAutoNum type="alphaUcPeriod"/>
            </a:pPr>
            <a:r>
              <a:rPr lang="en-US" altLang="zh-CN" dirty="0"/>
              <a:t>Sell put options on stock A and sell stock A</a:t>
            </a:r>
          </a:p>
          <a:p>
            <a:pPr marL="417150" indent="-457200">
              <a:buSzPct val="100000"/>
              <a:buFont typeface="Wingdings" panose="05000000000000000000" pitchFamily="2" charset="2"/>
              <a:buChar char="l"/>
            </a:pPr>
            <a:r>
              <a:rPr lang="en-US" altLang="zh-CN" dirty="0">
                <a:solidFill>
                  <a:schemeClr val="tx1"/>
                </a:solidFill>
              </a:rPr>
              <a:t>Correct Answer : D	</a:t>
            </a:r>
            <a:endParaRPr lang="zh-CN" altLang="en-US" dirty="0">
              <a:solidFill>
                <a:schemeClr val="tx1"/>
              </a:solidFill>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26304781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a:bodyPr>
          <a:lstStyle/>
          <a:p>
            <a:r>
              <a:rPr lang="en-US" altLang="zh-CN" dirty="0"/>
              <a:t>Exercise 3</a:t>
            </a:r>
          </a:p>
          <a:p>
            <a:pPr>
              <a:buFont typeface="Wingdings" panose="05000000000000000000" pitchFamily="2" charset="2"/>
              <a:buChar char="l"/>
            </a:pPr>
            <a:r>
              <a:rPr lang="en-US" altLang="zh-CN" dirty="0">
                <a:solidFill>
                  <a:schemeClr val="tx1"/>
                </a:solidFill>
              </a:rPr>
              <a:t>Which of the following IBM options has the highest gamma with the current market price of IBM common stock at USD 68?</a:t>
            </a:r>
          </a:p>
          <a:p>
            <a:pPr marL="817200" lvl="1" indent="-457200">
              <a:buSzPct val="100000"/>
              <a:buFont typeface="+mj-lt"/>
              <a:buAutoNum type="alphaUcPeriod"/>
            </a:pPr>
            <a:r>
              <a:rPr lang="en-US" altLang="zh-CN" dirty="0"/>
              <a:t>Call option expiring in 10 days with strike USD 70</a:t>
            </a:r>
          </a:p>
          <a:p>
            <a:pPr marL="817200" lvl="1" indent="-457200">
              <a:buSzPct val="100000"/>
              <a:buFont typeface="+mj-lt"/>
              <a:buAutoNum type="alphaUcPeriod"/>
            </a:pPr>
            <a:r>
              <a:rPr lang="en-US" altLang="zh-CN" dirty="0"/>
              <a:t>Call option expiring in 10 days with strike USD 50</a:t>
            </a:r>
          </a:p>
          <a:p>
            <a:pPr marL="817200" lvl="1" indent="-457200">
              <a:buSzPct val="100000"/>
              <a:buFont typeface="+mj-lt"/>
              <a:buAutoNum type="alphaUcPeriod"/>
            </a:pPr>
            <a:r>
              <a:rPr lang="en-US" altLang="zh-CN" dirty="0"/>
              <a:t>Put option expiring in 10 days with strike USD 50</a:t>
            </a:r>
          </a:p>
          <a:p>
            <a:pPr marL="817200" lvl="1" indent="-457200">
              <a:buSzPct val="100000"/>
              <a:buFont typeface="+mj-lt"/>
              <a:buAutoNum type="alphaUcPeriod"/>
            </a:pPr>
            <a:r>
              <a:rPr lang="en-US" altLang="zh-CN" dirty="0"/>
              <a:t>Put option expiring in two months with strike USD 70</a:t>
            </a:r>
          </a:p>
          <a:p>
            <a:pPr marL="817200" lvl="1" indent="-457200">
              <a:buSzPct val="100000"/>
              <a:buFont typeface="+mj-lt"/>
              <a:buAutoNum type="alphaUcPeriod"/>
            </a:pPr>
            <a:endParaRPr lang="en-US" altLang="zh-CN" dirty="0"/>
          </a:p>
          <a:p>
            <a:pPr marL="417150" indent="-457200">
              <a:buSzPct val="100000"/>
              <a:buFont typeface="Wingdings" panose="05000000000000000000" pitchFamily="2" charset="2"/>
              <a:buChar char="l"/>
            </a:pPr>
            <a:r>
              <a:rPr lang="en-US" altLang="zh-CN" dirty="0">
                <a:solidFill>
                  <a:schemeClr val="tx1"/>
                </a:solidFill>
              </a:rPr>
              <a:t>Correct Answer :  A</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8134377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a:xfrm>
            <a:off x="393599" y="813470"/>
            <a:ext cx="11404800" cy="4567422"/>
          </a:xfrm>
        </p:spPr>
        <p:txBody>
          <a:bodyPr>
            <a:normAutofit fontScale="85000" lnSpcReduction="20000"/>
          </a:bodyPr>
          <a:lstStyle/>
          <a:p>
            <a:r>
              <a:rPr lang="en-US" altLang="zh-CN" dirty="0"/>
              <a:t>Exercise 4</a:t>
            </a:r>
          </a:p>
          <a:p>
            <a:pPr>
              <a:buFont typeface="Wingdings" panose="05000000000000000000" pitchFamily="2" charset="2"/>
              <a:buChar char="l"/>
            </a:pPr>
            <a:r>
              <a:rPr lang="en-US" altLang="zh-CN" dirty="0">
                <a:solidFill>
                  <a:schemeClr val="tx1"/>
                </a:solidFill>
              </a:rPr>
              <a:t>Suppose an existing short option position is delta-neutral, but has a gamma of -600. Also assume that there exists a traded option with a delta of 0.75 and a gamma of 1.50. In order to maintain the position gamma-neutral and delta-neutral, which of the following is the appropriate strategy to implement?</a:t>
            </a:r>
          </a:p>
          <a:p>
            <a:pPr marL="817200" lvl="1" indent="-457200">
              <a:buSzPct val="100000"/>
              <a:buFont typeface="+mj-lt"/>
              <a:buAutoNum type="alphaUcPeriod"/>
            </a:pPr>
            <a:r>
              <a:rPr lang="en-US" altLang="zh-CN" dirty="0"/>
              <a:t>Buy 400 options and sell 300 shares of the underlying asset</a:t>
            </a:r>
          </a:p>
          <a:p>
            <a:pPr marL="817200" lvl="1" indent="-457200">
              <a:buSzPct val="100000"/>
              <a:buFont typeface="+mj-lt"/>
              <a:buAutoNum type="alphaUcPeriod"/>
            </a:pPr>
            <a:r>
              <a:rPr lang="en-US" altLang="zh-CN" dirty="0"/>
              <a:t>Buy 300 options and sell 400 shares of the underlying asset</a:t>
            </a:r>
          </a:p>
          <a:p>
            <a:pPr marL="817200" lvl="1" indent="-457200">
              <a:buSzPct val="100000"/>
              <a:buFont typeface="+mj-lt"/>
              <a:buAutoNum type="alphaUcPeriod"/>
            </a:pPr>
            <a:r>
              <a:rPr lang="en-US" altLang="zh-CN" dirty="0"/>
              <a:t>Sell 400 options and buy 300 shares of the underlying asset</a:t>
            </a:r>
          </a:p>
          <a:p>
            <a:pPr marL="817200" lvl="1" indent="-457200">
              <a:buSzPct val="100000"/>
              <a:buFont typeface="+mj-lt"/>
              <a:buAutoNum type="alphaUcPeriod"/>
            </a:pPr>
            <a:r>
              <a:rPr lang="en-US" altLang="zh-CN" dirty="0"/>
              <a:t>Sell 300 options and buy 400 shares of the underlying asset</a:t>
            </a:r>
          </a:p>
          <a:p>
            <a:pPr marL="817200" lvl="1" indent="-457200">
              <a:buSzPct val="100000"/>
              <a:buFont typeface="+mj-lt"/>
              <a:buAutoNum type="alphaUcPeriod"/>
            </a:pPr>
            <a:endParaRPr lang="en-US" altLang="zh-CN" dirty="0"/>
          </a:p>
          <a:p>
            <a:pPr marL="417150" indent="-457200">
              <a:buSzPct val="100000"/>
              <a:buFont typeface="Wingdings" panose="05000000000000000000" pitchFamily="2" charset="2"/>
              <a:buChar char="l"/>
            </a:pPr>
            <a:r>
              <a:rPr lang="en-US" altLang="zh-CN" dirty="0">
                <a:solidFill>
                  <a:schemeClr val="tx1"/>
                </a:solidFill>
              </a:rPr>
              <a:t>Correct Answer : A</a:t>
            </a:r>
          </a:p>
          <a:p>
            <a:endParaRPr lang="zh-CN" altLang="en-US" dirty="0">
              <a:latin typeface="+mn-lt"/>
              <a:ea typeface="+mn-ea"/>
              <a:cs typeface="+mn-ea"/>
              <a:sym typeface="+mn-lt"/>
            </a:endParaRPr>
          </a:p>
        </p:txBody>
      </p:sp>
      <p:graphicFrame>
        <p:nvGraphicFramePr>
          <p:cNvPr id="4" name="Table 3">
            <a:extLst>
              <a:ext uri="{FF2B5EF4-FFF2-40B4-BE49-F238E27FC236}">
                <a16:creationId xmlns:a16="http://schemas.microsoft.com/office/drawing/2014/main" id="{1A054204-C736-4E47-8D3C-8B23A047F99B}"/>
              </a:ext>
            </a:extLst>
          </p:cNvPr>
          <p:cNvGraphicFramePr>
            <a:graphicFrameLocks noGrp="1"/>
          </p:cNvGraphicFramePr>
          <p:nvPr>
            <p:extLst>
              <p:ext uri="{D42A27DB-BD31-4B8C-83A1-F6EECF244321}">
                <p14:modId xmlns:p14="http://schemas.microsoft.com/office/powerpoint/2010/main" val="435622016"/>
              </p:ext>
            </p:extLst>
          </p:nvPr>
        </p:nvGraphicFramePr>
        <p:xfrm>
          <a:off x="2879239" y="5424679"/>
          <a:ext cx="6433521" cy="1239702"/>
        </p:xfrm>
        <a:graphic>
          <a:graphicData uri="http://schemas.openxmlformats.org/drawingml/2006/table">
            <a:tbl>
              <a:tblPr firstRow="1" bandRow="1">
                <a:tableStyleId>{5940675A-B579-460E-94D1-54222C63F5DA}</a:tableStyleId>
              </a:tblPr>
              <a:tblGrid>
                <a:gridCol w="2144507">
                  <a:extLst>
                    <a:ext uri="{9D8B030D-6E8A-4147-A177-3AD203B41FA5}">
                      <a16:colId xmlns:a16="http://schemas.microsoft.com/office/drawing/2014/main" val="20000"/>
                    </a:ext>
                  </a:extLst>
                </a:gridCol>
                <a:gridCol w="2144507">
                  <a:extLst>
                    <a:ext uri="{9D8B030D-6E8A-4147-A177-3AD203B41FA5}">
                      <a16:colId xmlns:a16="http://schemas.microsoft.com/office/drawing/2014/main" val="20001"/>
                    </a:ext>
                  </a:extLst>
                </a:gridCol>
                <a:gridCol w="2144507">
                  <a:extLst>
                    <a:ext uri="{9D8B030D-6E8A-4147-A177-3AD203B41FA5}">
                      <a16:colId xmlns:a16="http://schemas.microsoft.com/office/drawing/2014/main" val="20002"/>
                    </a:ext>
                  </a:extLst>
                </a:gridCol>
              </a:tblGrid>
              <a:tr h="413234">
                <a:tc>
                  <a:txBody>
                    <a:bodyPr/>
                    <a:lstStyle/>
                    <a:p>
                      <a:pPr algn="ctr"/>
                      <a:endParaRPr lang="zh-CN" altLang="en-US" sz="1400" dirty="0">
                        <a:solidFill>
                          <a:srgbClr val="2C3E50"/>
                        </a:solidFill>
                        <a:latin typeface="Segoe UI" panose="020B0502040204020203" pitchFamily="34" charset="0"/>
                        <a:cs typeface="Segoe UI" panose="020B0502040204020203" pitchFamily="34" charset="0"/>
                      </a:endParaRPr>
                    </a:p>
                  </a:txBody>
                  <a:tcPr marL="36000" marR="36000" marT="36000" marB="36000" anchor="ctr"/>
                </a:tc>
                <a:tc>
                  <a:txBody>
                    <a:bodyPr/>
                    <a:lstStyle/>
                    <a:p>
                      <a:pPr algn="ctr"/>
                      <a:r>
                        <a:rPr lang="en-US" altLang="zh-CN" sz="1400" dirty="0">
                          <a:solidFill>
                            <a:srgbClr val="2C3E50"/>
                          </a:solidFill>
                          <a:latin typeface="Segoe UI" panose="020B0502040204020203" pitchFamily="34" charset="0"/>
                          <a:ea typeface="Segoe UI" panose="020B0502040204020203" pitchFamily="34" charset="0"/>
                          <a:cs typeface="Segoe UI" panose="020B0502040204020203" pitchFamily="34" charset="0"/>
                        </a:rPr>
                        <a:t>Delta 0</a:t>
                      </a:r>
                      <a:endParaRPr lang="zh-CN" altLang="en-US" sz="1400" dirty="0">
                        <a:solidFill>
                          <a:srgbClr val="2C3E50"/>
                        </a:solidFill>
                        <a:latin typeface="Segoe UI" panose="020B0502040204020203" pitchFamily="34" charset="0"/>
                        <a:cs typeface="Segoe UI" panose="020B0502040204020203" pitchFamily="34" charset="0"/>
                      </a:endParaRPr>
                    </a:p>
                  </a:txBody>
                  <a:tcPr marL="36000" marR="36000" marT="36000" marB="36000" anchor="ctr"/>
                </a:tc>
                <a:tc>
                  <a:txBody>
                    <a:bodyPr/>
                    <a:lstStyle/>
                    <a:p>
                      <a:pPr algn="ctr"/>
                      <a:r>
                        <a:rPr lang="en-US" altLang="zh-CN" sz="1400" dirty="0">
                          <a:solidFill>
                            <a:srgbClr val="2C3E50"/>
                          </a:solidFill>
                          <a:latin typeface="Segoe UI" panose="020B0502040204020203" pitchFamily="34" charset="0"/>
                          <a:ea typeface="Segoe UI" panose="020B0502040204020203" pitchFamily="34" charset="0"/>
                          <a:cs typeface="Segoe UI" panose="020B0502040204020203" pitchFamily="34" charset="0"/>
                        </a:rPr>
                        <a:t>Gamma -600</a:t>
                      </a:r>
                      <a:endParaRPr lang="zh-CN" altLang="en-US" sz="1400" dirty="0">
                        <a:solidFill>
                          <a:srgbClr val="2C3E50"/>
                        </a:solidFill>
                        <a:latin typeface="Segoe UI" panose="020B0502040204020203" pitchFamily="34" charset="0"/>
                        <a:cs typeface="Segoe UI" panose="020B0502040204020203" pitchFamily="34" charset="0"/>
                      </a:endParaRPr>
                    </a:p>
                  </a:txBody>
                  <a:tcPr marL="36000" marR="36000" marT="36000" marB="36000" anchor="ctr"/>
                </a:tc>
                <a:extLst>
                  <a:ext uri="{0D108BD9-81ED-4DB2-BD59-A6C34878D82A}">
                    <a16:rowId xmlns:a16="http://schemas.microsoft.com/office/drawing/2014/main" val="10000"/>
                  </a:ext>
                </a:extLst>
              </a:tr>
              <a:tr h="413234">
                <a:tc>
                  <a:txBody>
                    <a:bodyPr/>
                    <a:lstStyle/>
                    <a:p>
                      <a:pPr algn="ctr"/>
                      <a:r>
                        <a:rPr lang="en-US" altLang="zh-CN" sz="1400" dirty="0">
                          <a:solidFill>
                            <a:srgbClr val="2C3E50"/>
                          </a:solidFill>
                          <a:latin typeface="Segoe UI" panose="020B0502040204020203" pitchFamily="34" charset="0"/>
                          <a:ea typeface="Segoe UI" panose="020B0502040204020203" pitchFamily="34" charset="0"/>
                          <a:cs typeface="Segoe UI" panose="020B0502040204020203" pitchFamily="34" charset="0"/>
                        </a:rPr>
                        <a:t>Buy 400 options</a:t>
                      </a:r>
                    </a:p>
                  </a:txBody>
                  <a:tcPr marL="36000" marR="36000" marT="36000" marB="36000" anchor="ctr"/>
                </a:tc>
                <a:tc>
                  <a:txBody>
                    <a:bodyPr/>
                    <a:lstStyle/>
                    <a:p>
                      <a:pPr algn="ctr"/>
                      <a:r>
                        <a:rPr lang="en-US" altLang="zh-CN" sz="1400" dirty="0">
                          <a:solidFill>
                            <a:srgbClr val="2C3E50"/>
                          </a:solidFill>
                          <a:latin typeface="Segoe UI" panose="020B0502040204020203" pitchFamily="34" charset="0"/>
                          <a:ea typeface="Segoe UI" panose="020B0502040204020203" pitchFamily="34" charset="0"/>
                          <a:cs typeface="Segoe UI" panose="020B0502040204020203" pitchFamily="34" charset="0"/>
                        </a:rPr>
                        <a:t>400×0.75 = 300 </a:t>
                      </a:r>
                      <a:endParaRPr lang="zh-CN" altLang="en-US" sz="1400" dirty="0">
                        <a:solidFill>
                          <a:srgbClr val="2C3E50"/>
                        </a:solidFill>
                        <a:latin typeface="Segoe UI" panose="020B0502040204020203" pitchFamily="34" charset="0"/>
                        <a:cs typeface="Segoe UI" panose="020B0502040204020203" pitchFamily="34" charset="0"/>
                      </a:endParaRPr>
                    </a:p>
                  </a:txBody>
                  <a:tcPr marL="36000" marR="36000" marT="36000" marB="36000" anchor="ctr"/>
                </a:tc>
                <a:tc>
                  <a:txBody>
                    <a:bodyPr/>
                    <a:lstStyle/>
                    <a:p>
                      <a:pPr algn="ctr"/>
                      <a:r>
                        <a:rPr lang="en-US" altLang="zh-CN" sz="14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endParaRPr lang="zh-CN" altLang="en-US" sz="1400" dirty="0">
                        <a:solidFill>
                          <a:srgbClr val="2C3E50"/>
                        </a:solidFill>
                        <a:latin typeface="Segoe UI" panose="020B0502040204020203" pitchFamily="34" charset="0"/>
                        <a:cs typeface="Segoe UI" panose="020B0502040204020203" pitchFamily="34" charset="0"/>
                      </a:endParaRPr>
                    </a:p>
                  </a:txBody>
                  <a:tcPr marL="36000" marR="36000" marT="36000" marB="36000" anchor="ctr"/>
                </a:tc>
                <a:extLst>
                  <a:ext uri="{0D108BD9-81ED-4DB2-BD59-A6C34878D82A}">
                    <a16:rowId xmlns:a16="http://schemas.microsoft.com/office/drawing/2014/main" val="10001"/>
                  </a:ext>
                </a:extLst>
              </a:tr>
              <a:tr h="413234">
                <a:tc>
                  <a:txBody>
                    <a:bodyPr/>
                    <a:lstStyle/>
                    <a:p>
                      <a:pPr algn="ctr"/>
                      <a:r>
                        <a:rPr lang="en-US" altLang="zh-CN" sz="1400" dirty="0">
                          <a:solidFill>
                            <a:srgbClr val="2C3E50"/>
                          </a:solidFill>
                          <a:latin typeface="Segoe UI" panose="020B0502040204020203" pitchFamily="34" charset="0"/>
                          <a:ea typeface="Segoe UI" panose="020B0502040204020203" pitchFamily="34" charset="0"/>
                          <a:cs typeface="Segoe UI" panose="020B0502040204020203" pitchFamily="34" charset="0"/>
                        </a:rPr>
                        <a:t>Sell 300 stocks</a:t>
                      </a:r>
                      <a:endParaRPr lang="zh-CN" altLang="en-US" sz="1400" dirty="0">
                        <a:solidFill>
                          <a:srgbClr val="2C3E50"/>
                        </a:solidFill>
                        <a:latin typeface="Segoe UI" panose="020B0502040204020203" pitchFamily="34" charset="0"/>
                        <a:cs typeface="Segoe UI" panose="020B0502040204020203" pitchFamily="34" charset="0"/>
                      </a:endParaRPr>
                    </a:p>
                  </a:txBody>
                  <a:tcPr marL="36000" marR="36000" marT="36000" marB="36000" anchor="ctr"/>
                </a:tc>
                <a:tc>
                  <a:txBody>
                    <a:bodyPr/>
                    <a:lstStyle/>
                    <a:p>
                      <a:pPr algn="ctr"/>
                      <a:r>
                        <a:rPr lang="en-US" altLang="zh-CN" sz="14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endParaRPr lang="zh-CN" altLang="en-US" sz="1400" dirty="0">
                        <a:solidFill>
                          <a:srgbClr val="2C3E50"/>
                        </a:solidFill>
                        <a:latin typeface="Segoe UI" panose="020B0502040204020203" pitchFamily="34" charset="0"/>
                        <a:cs typeface="Segoe UI" panose="020B0502040204020203" pitchFamily="34" charset="0"/>
                      </a:endParaRPr>
                    </a:p>
                  </a:txBody>
                  <a:tcPr marL="36000" marR="36000" marT="36000" marB="36000" anchor="ctr"/>
                </a:tc>
                <a:tc>
                  <a:txBody>
                    <a:bodyPr/>
                    <a:lstStyle/>
                    <a:p>
                      <a:pPr algn="ctr"/>
                      <a:r>
                        <a:rPr lang="en-US" altLang="zh-CN" sz="14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endParaRPr lang="zh-CN" altLang="en-US" sz="1400" dirty="0">
                        <a:solidFill>
                          <a:srgbClr val="2C3E50"/>
                        </a:solidFill>
                        <a:latin typeface="Segoe UI" panose="020B0502040204020203" pitchFamily="34" charset="0"/>
                        <a:cs typeface="Segoe UI" panose="020B0502040204020203" pitchFamily="34" charset="0"/>
                      </a:endParaRPr>
                    </a:p>
                  </a:txBody>
                  <a:tcPr marL="36000" marR="36000" marT="36000" marB="3600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784895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Greek Letters</a:t>
            </a:r>
          </a:p>
        </p:txBody>
      </p:sp>
      <p:sp>
        <p:nvSpPr>
          <p:cNvPr id="3" name="文本占位符 2"/>
          <p:cNvSpPr>
            <a:spLocks noGrp="1"/>
          </p:cNvSpPr>
          <p:nvPr>
            <p:ph type="body" sz="quarter" idx="10"/>
          </p:nvPr>
        </p:nvSpPr>
        <p:spPr/>
        <p:txBody>
          <a:bodyPr>
            <a:normAutofit fontScale="70000" lnSpcReduction="20000"/>
          </a:bodyPr>
          <a:lstStyle/>
          <a:p>
            <a:r>
              <a:rPr lang="en-US" altLang="zh-CN" dirty="0"/>
              <a:t>Exercise 5</a:t>
            </a:r>
          </a:p>
          <a:p>
            <a:pPr>
              <a:buFont typeface="Wingdings" panose="05000000000000000000" pitchFamily="2" charset="2"/>
              <a:buChar char="l"/>
            </a:pPr>
            <a:r>
              <a:rPr lang="en-US" altLang="zh-CN" dirty="0">
                <a:solidFill>
                  <a:schemeClr val="tx1"/>
                </a:solidFill>
              </a:rPr>
              <a:t>Steve, a market risk manager at </a:t>
            </a:r>
            <a:r>
              <a:rPr lang="en-US" altLang="zh-CN" dirty="0" err="1">
                <a:solidFill>
                  <a:schemeClr val="tx1"/>
                </a:solidFill>
              </a:rPr>
              <a:t>Marcat</a:t>
            </a:r>
            <a:r>
              <a:rPr lang="en-US" altLang="zh-CN" dirty="0">
                <a:solidFill>
                  <a:schemeClr val="tx1"/>
                </a:solidFill>
              </a:rPr>
              <a:t> Securities, is analyzing the risk of its S&amp;P 500 index options trading desk. His risk report shows the desk is net long gamma and short </a:t>
            </a:r>
            <a:r>
              <a:rPr lang="en-US" altLang="zh-CN" dirty="0" err="1">
                <a:solidFill>
                  <a:schemeClr val="tx1"/>
                </a:solidFill>
              </a:rPr>
              <a:t>vega</a:t>
            </a:r>
            <a:r>
              <a:rPr lang="en-US" altLang="zh-CN" dirty="0">
                <a:solidFill>
                  <a:schemeClr val="tx1"/>
                </a:solidFill>
              </a:rPr>
              <a:t>. Which of the following portfolios of options shows exposures consistent with this report?</a:t>
            </a:r>
          </a:p>
          <a:p>
            <a:pPr marL="817200" lvl="1" indent="-457200">
              <a:buSzPct val="100000"/>
              <a:buFont typeface="+mj-lt"/>
              <a:buAutoNum type="alphaUcPeriod"/>
            </a:pPr>
            <a:r>
              <a:rPr lang="en-US" altLang="zh-CN" dirty="0"/>
              <a:t>The desk has substantial long-expiry long call positions and substantial short-expiry short put positions.</a:t>
            </a:r>
          </a:p>
          <a:p>
            <a:pPr marL="817200" lvl="1" indent="-457200">
              <a:buSzPct val="100000"/>
              <a:buFont typeface="+mj-lt"/>
              <a:buAutoNum type="alphaUcPeriod"/>
            </a:pPr>
            <a:r>
              <a:rPr lang="en-US" altLang="zh-CN" dirty="0"/>
              <a:t>The desk has substantial long-expiry long put positions and substantial long-expiry short call positions.</a:t>
            </a:r>
          </a:p>
          <a:p>
            <a:pPr marL="817200" lvl="1" indent="-457200">
              <a:buSzPct val="100000"/>
              <a:buFont typeface="+mj-lt"/>
              <a:buAutoNum type="alphaUcPeriod"/>
            </a:pPr>
            <a:r>
              <a:rPr lang="en-US" altLang="zh-CN" dirty="0"/>
              <a:t>The desk has substantial long-expiry long call positions and substantial short-expiry short call positions.</a:t>
            </a:r>
          </a:p>
          <a:p>
            <a:pPr marL="817200" lvl="1" indent="-457200">
              <a:buSzPct val="100000"/>
              <a:buFont typeface="+mj-lt"/>
              <a:buAutoNum type="alphaUcPeriod"/>
            </a:pPr>
            <a:r>
              <a:rPr lang="en-US" altLang="zh-CN" dirty="0"/>
              <a:t>The desk has substantial short-expiry long call positions and substantial long-expiry short call positions.</a:t>
            </a:r>
          </a:p>
          <a:p>
            <a:pPr marL="817200" lvl="1" indent="-457200">
              <a:buSzPct val="100000"/>
              <a:buFont typeface="+mj-lt"/>
              <a:buAutoNum type="alphaUcPeriod"/>
            </a:pPr>
            <a:endParaRPr lang="en-US" altLang="zh-CN" u="sng" dirty="0"/>
          </a:p>
          <a:p>
            <a:pPr marL="417150" indent="-457200">
              <a:buSzPct val="100000"/>
              <a:buFont typeface="Wingdings" panose="05000000000000000000" pitchFamily="2" charset="2"/>
              <a:buChar char="l"/>
            </a:pPr>
            <a:r>
              <a:rPr lang="en-US" altLang="zh-CN" dirty="0">
                <a:solidFill>
                  <a:schemeClr val="tx1"/>
                </a:solidFill>
              </a:rPr>
              <a:t>Correct Answer : D</a:t>
            </a:r>
            <a:endParaRPr lang="en-US" altLang="zh-CN" u="sng" dirty="0">
              <a:solidFill>
                <a:schemeClr val="tx1"/>
              </a:solidFill>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12189797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0dcd307-9ca5-411e-aa47-63bb535c667f" descr="BA8AAB+LCAAAAAAABADdVU2P2jAQ/S9ue6Mo8Ra1yo10lRb1Cy2o3VXFwU0G4jZxkGNW7CL++9oQBzsJEPayBXEh4zf2mzdjvxV6LR7mgDw0SgkX15TMOEkHAlLUQYMIeWyRJB3kUxZRNvvEs8U8R97vVZlmrvyiIv5JkgWoXEYFJcn206vhNewbZTRdpAXM6ToyRJZGyHW2QRpFCZiwARPA78sTXBXb/B8JLg8IMp4SIQ9cOes3qFhCXu+q66xVcgRLmdRB4y0tzaegpwRorFMtqDKHWS5oxnYZQyJ1A0mpodhK0g4qaQEXNCRJP6EzlgJTjGUBIMJYrn7OOH3MmLDXb+gsFnL1C8C80G9EH+V5U5LkoFWIyRy+y3N0cZuAK9NuICGC3lsIK+aidVlWCVJqVGEda+dJKeZOHFmq5GxpvO7s1WcMS3GaoirDlLOp9/uK2dBRG5jUCwqn8dayPGsoKslmNT+m0xzE7RB4KNn4D5b8xTWoYnYdQd5bt4s14m7/Lr06xtrFQNxap94VX80Dt5W2ed7MuTnYH3vSqt2qC9/UuElD68r36mOWZPz4e6VhtXWpBA1hHEMKGjOmTPRZJKlHuks+V3eWQZ5rAf/8hVAYaV5PoRZ5LPd8FQRXwQccvEO6Umfd9GjpA9s+WhV8m+ncpNRnsh+qOSmYGxNRq1PTb99jn4T/zB5r0lZnt8EDV/LFSsUnPTeHijs4tv+7zfZMm8VnabNfYfpMl8VtXBa3c1lsuSw+X5fFZ+qy7jGXdV7aZPeNmzk2xx9gbJosvlCTfW+ZbOD7147baLL4Ik0WmyaLL9lk2xY3kb8nrhbizAQPAAA=">
            <a:extLst>
              <a:ext uri="{FF2B5EF4-FFF2-40B4-BE49-F238E27FC236}">
                <a16:creationId xmlns:a16="http://schemas.microsoft.com/office/drawing/2014/main" id="{1493A4F0-9A06-4464-AD29-020579B7968E}"/>
              </a:ext>
            </a:extLst>
          </p:cNvPr>
          <p:cNvGrpSpPr>
            <a:grpSpLocks noChangeAspect="1"/>
          </p:cNvGrpSpPr>
          <p:nvPr/>
        </p:nvGrpSpPr>
        <p:grpSpPr>
          <a:xfrm>
            <a:off x="1099614" y="1788195"/>
            <a:ext cx="9992772" cy="3281611"/>
            <a:chOff x="1262052" y="1623553"/>
            <a:chExt cx="9992772" cy="3281611"/>
          </a:xfrm>
        </p:grpSpPr>
        <p:sp>
          <p:nvSpPr>
            <p:cNvPr id="3" name="AreaShape">
              <a:extLst>
                <a:ext uri="{FF2B5EF4-FFF2-40B4-BE49-F238E27FC236}">
                  <a16:creationId xmlns:a16="http://schemas.microsoft.com/office/drawing/2014/main" id="{0801B548-BC6D-4D7A-82C0-DE4BE113F0FD}"/>
                </a:ext>
              </a:extLst>
            </p:cNvPr>
            <p:cNvSpPr/>
            <p:nvPr/>
          </p:nvSpPr>
          <p:spPr bwMode="auto">
            <a:xfrm>
              <a:off x="1262052" y="1623553"/>
              <a:ext cx="9992772" cy="3281611"/>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4" name="ValueBack1">
              <a:extLst>
                <a:ext uri="{FF2B5EF4-FFF2-40B4-BE49-F238E27FC236}">
                  <a16:creationId xmlns:a16="http://schemas.microsoft.com/office/drawing/2014/main" id="{0A0BE5B9-BB5E-4CC4-8E7A-0375A904DFDC}"/>
                </a:ext>
              </a:extLst>
            </p:cNvPr>
            <p:cNvSpPr/>
            <p:nvPr/>
          </p:nvSpPr>
          <p:spPr>
            <a:xfrm>
              <a:off x="5255344" y="2583639"/>
              <a:ext cx="933168" cy="1436347"/>
            </a:xfrm>
            <a:custGeom>
              <a:avLst/>
              <a:gdLst>
                <a:gd name="connsiteX0" fmla="*/ 0 w 783762"/>
                <a:gd name="connsiteY0" fmla="*/ 97330 h 1206379"/>
                <a:gd name="connsiteX1" fmla="*/ 783761 w 783762"/>
                <a:gd name="connsiteY1" fmla="*/ 563490 h 1206379"/>
                <a:gd name="connsiteX2" fmla="*/ 783761 w 783762"/>
                <a:gd name="connsiteY2" fmla="*/ 1206379 h 1206379"/>
                <a:gd name="connsiteX3" fmla="*/ 0 w 783762"/>
                <a:gd name="connsiteY3" fmla="*/ 742781 h 1206379"/>
                <a:gd name="connsiteX4" fmla="*/ 71718 w 783762"/>
                <a:gd name="connsiteY4" fmla="*/ 35858 h 1206379"/>
                <a:gd name="connsiteX5" fmla="*/ 345779 w 783762"/>
                <a:gd name="connsiteY5" fmla="*/ 215150 h 1206379"/>
                <a:gd name="connsiteX6" fmla="*/ 770957 w 783762"/>
                <a:gd name="connsiteY6" fmla="*/ 514824 h 1206379"/>
                <a:gd name="connsiteX7" fmla="*/ 527632 w 783762"/>
                <a:gd name="connsiteY7" fmla="*/ 366268 h 1206379"/>
                <a:gd name="connsiteX8" fmla="*/ 71718 w 783762"/>
                <a:gd name="connsiteY8" fmla="*/ 97330 h 1206379"/>
                <a:gd name="connsiteX9" fmla="*/ 163925 w 783762"/>
                <a:gd name="connsiteY9" fmla="*/ 0 h 1206379"/>
                <a:gd name="connsiteX10" fmla="*/ 420055 w 783762"/>
                <a:gd name="connsiteY10" fmla="*/ 179292 h 1206379"/>
                <a:gd name="connsiteX11" fmla="*/ 783762 w 783762"/>
                <a:gd name="connsiteY11" fmla="*/ 499456 h 1206379"/>
                <a:gd name="connsiteX12" fmla="*/ 494334 w 783762"/>
                <a:gd name="connsiteY12" fmla="*/ 253571 h 1206379"/>
                <a:gd name="connsiteX13" fmla="*/ 163925 w 783762"/>
                <a:gd name="connsiteY13" fmla="*/ 87085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3762" h="1206379">
                  <a:moveTo>
                    <a:pt x="0" y="97330"/>
                  </a:moveTo>
                  <a:lnTo>
                    <a:pt x="783761" y="563490"/>
                  </a:lnTo>
                  <a:lnTo>
                    <a:pt x="783761" y="1206379"/>
                  </a:lnTo>
                  <a:lnTo>
                    <a:pt x="0" y="742781"/>
                  </a:lnTo>
                  <a:close/>
                  <a:moveTo>
                    <a:pt x="71718" y="35858"/>
                  </a:moveTo>
                  <a:cubicBezTo>
                    <a:pt x="89648" y="92207"/>
                    <a:pt x="345779" y="217712"/>
                    <a:pt x="345779" y="215150"/>
                  </a:cubicBezTo>
                  <a:cubicBezTo>
                    <a:pt x="673626" y="353462"/>
                    <a:pt x="770957" y="514824"/>
                    <a:pt x="770957" y="514824"/>
                  </a:cubicBezTo>
                  <a:cubicBezTo>
                    <a:pt x="719731" y="471282"/>
                    <a:pt x="527632" y="366268"/>
                    <a:pt x="527632" y="366268"/>
                  </a:cubicBezTo>
                  <a:cubicBezTo>
                    <a:pt x="437986" y="320164"/>
                    <a:pt x="71718" y="97330"/>
                    <a:pt x="71718" y="97330"/>
                  </a:cubicBezTo>
                  <a:close/>
                  <a:moveTo>
                    <a:pt x="163925" y="0"/>
                  </a:moveTo>
                  <a:cubicBezTo>
                    <a:pt x="189538" y="79402"/>
                    <a:pt x="420055" y="179292"/>
                    <a:pt x="420055" y="179292"/>
                  </a:cubicBezTo>
                  <a:cubicBezTo>
                    <a:pt x="776078" y="368830"/>
                    <a:pt x="783762" y="499456"/>
                    <a:pt x="783762" y="499456"/>
                  </a:cubicBezTo>
                  <a:cubicBezTo>
                    <a:pt x="714606" y="371391"/>
                    <a:pt x="494334" y="253571"/>
                    <a:pt x="494334" y="253571"/>
                  </a:cubicBezTo>
                  <a:cubicBezTo>
                    <a:pt x="356023" y="207467"/>
                    <a:pt x="163925" y="87085"/>
                    <a:pt x="163925" y="87085"/>
                  </a:cubicBezTo>
                  <a:close/>
                </a:path>
              </a:pathLst>
            </a:custGeom>
            <a:solidFill>
              <a:schemeClr val="accent1">
                <a:lumMod val="100000"/>
              </a:schemeClr>
            </a:solidFill>
            <a:ln w="20534" cap="flat">
              <a:noFill/>
              <a:prstDash val="solid"/>
              <a:miter/>
            </a:ln>
          </p:spPr>
          <p:txBody>
            <a:bodyPr rtlCol="0" anchor="ctr"/>
            <a:lstStyle/>
            <a:p>
              <a:endParaRPr lang="zh-CN" altLang="en-US"/>
            </a:p>
          </p:txBody>
        </p:sp>
        <p:sp>
          <p:nvSpPr>
            <p:cNvPr id="5" name="ValueBack2">
              <a:extLst>
                <a:ext uri="{FF2B5EF4-FFF2-40B4-BE49-F238E27FC236}">
                  <a16:creationId xmlns:a16="http://schemas.microsoft.com/office/drawing/2014/main" id="{3EF3DEE4-FD95-4FF7-8A3C-0CA049379F52}"/>
                </a:ext>
              </a:extLst>
            </p:cNvPr>
            <p:cNvSpPr/>
            <p:nvPr/>
          </p:nvSpPr>
          <p:spPr>
            <a:xfrm>
              <a:off x="6374534" y="2583639"/>
              <a:ext cx="933165" cy="1436347"/>
            </a:xfrm>
            <a:custGeom>
              <a:avLst/>
              <a:gdLst>
                <a:gd name="connsiteX0" fmla="*/ 783760 w 783760"/>
                <a:gd name="connsiteY0" fmla="*/ 97330 h 1206379"/>
                <a:gd name="connsiteX1" fmla="*/ 783760 w 783760"/>
                <a:gd name="connsiteY1" fmla="*/ 742781 h 1206379"/>
                <a:gd name="connsiteX2" fmla="*/ 0 w 783760"/>
                <a:gd name="connsiteY2" fmla="*/ 1206379 h 1206379"/>
                <a:gd name="connsiteX3" fmla="*/ 0 w 783760"/>
                <a:gd name="connsiteY3" fmla="*/ 563490 h 1206379"/>
                <a:gd name="connsiteX4" fmla="*/ 712044 w 783760"/>
                <a:gd name="connsiteY4" fmla="*/ 35858 h 1206379"/>
                <a:gd name="connsiteX5" fmla="*/ 712044 w 783760"/>
                <a:gd name="connsiteY5" fmla="*/ 97330 h 1206379"/>
                <a:gd name="connsiteX6" fmla="*/ 256131 w 783760"/>
                <a:gd name="connsiteY6" fmla="*/ 366268 h 1206379"/>
                <a:gd name="connsiteX7" fmla="*/ 12807 w 783760"/>
                <a:gd name="connsiteY7" fmla="*/ 514824 h 1206379"/>
                <a:gd name="connsiteX8" fmla="*/ 437985 w 783760"/>
                <a:gd name="connsiteY8" fmla="*/ 215150 h 1206379"/>
                <a:gd name="connsiteX9" fmla="*/ 712044 w 783760"/>
                <a:gd name="connsiteY9" fmla="*/ 35858 h 1206379"/>
                <a:gd name="connsiteX10" fmla="*/ 619837 w 783760"/>
                <a:gd name="connsiteY10" fmla="*/ 0 h 1206379"/>
                <a:gd name="connsiteX11" fmla="*/ 619837 w 783760"/>
                <a:gd name="connsiteY11" fmla="*/ 87085 h 1206379"/>
                <a:gd name="connsiteX12" fmla="*/ 289428 w 783760"/>
                <a:gd name="connsiteY12" fmla="*/ 253571 h 1206379"/>
                <a:gd name="connsiteX13" fmla="*/ 0 w 783760"/>
                <a:gd name="connsiteY13" fmla="*/ 499456 h 1206379"/>
                <a:gd name="connsiteX14" fmla="*/ 363706 w 783760"/>
                <a:gd name="connsiteY14" fmla="*/ 179292 h 1206379"/>
                <a:gd name="connsiteX15" fmla="*/ 619837 w 783760"/>
                <a:gd name="connsiteY15" fmla="*/ 0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83760" h="1206379">
                  <a:moveTo>
                    <a:pt x="783760" y="97330"/>
                  </a:moveTo>
                  <a:lnTo>
                    <a:pt x="783760" y="742781"/>
                  </a:lnTo>
                  <a:lnTo>
                    <a:pt x="0" y="1206379"/>
                  </a:lnTo>
                  <a:lnTo>
                    <a:pt x="0" y="563490"/>
                  </a:lnTo>
                  <a:close/>
                  <a:moveTo>
                    <a:pt x="712044" y="35858"/>
                  </a:moveTo>
                  <a:lnTo>
                    <a:pt x="712044" y="97330"/>
                  </a:lnTo>
                  <a:cubicBezTo>
                    <a:pt x="712044" y="97330"/>
                    <a:pt x="345776" y="320164"/>
                    <a:pt x="256131" y="366268"/>
                  </a:cubicBezTo>
                  <a:cubicBezTo>
                    <a:pt x="256131" y="366268"/>
                    <a:pt x="64033" y="471282"/>
                    <a:pt x="12807" y="514824"/>
                  </a:cubicBezTo>
                  <a:cubicBezTo>
                    <a:pt x="12807" y="514824"/>
                    <a:pt x="110136" y="353462"/>
                    <a:pt x="437985" y="215150"/>
                  </a:cubicBezTo>
                  <a:cubicBezTo>
                    <a:pt x="437985" y="217712"/>
                    <a:pt x="691553" y="92207"/>
                    <a:pt x="712044" y="35858"/>
                  </a:cubicBezTo>
                  <a:close/>
                  <a:moveTo>
                    <a:pt x="619837" y="0"/>
                  </a:moveTo>
                  <a:lnTo>
                    <a:pt x="619837" y="87085"/>
                  </a:lnTo>
                  <a:cubicBezTo>
                    <a:pt x="619837" y="87085"/>
                    <a:pt x="427739" y="207467"/>
                    <a:pt x="289428" y="253571"/>
                  </a:cubicBezTo>
                  <a:cubicBezTo>
                    <a:pt x="289428" y="253571"/>
                    <a:pt x="69155" y="371391"/>
                    <a:pt x="0" y="499456"/>
                  </a:cubicBezTo>
                  <a:cubicBezTo>
                    <a:pt x="0" y="499456"/>
                    <a:pt x="7684" y="368830"/>
                    <a:pt x="363706" y="179292"/>
                  </a:cubicBezTo>
                  <a:cubicBezTo>
                    <a:pt x="363706" y="179292"/>
                    <a:pt x="594224" y="79402"/>
                    <a:pt x="619837" y="0"/>
                  </a:cubicBezTo>
                  <a:close/>
                </a:path>
              </a:pathLst>
            </a:custGeom>
            <a:solidFill>
              <a:schemeClr val="accent3">
                <a:lumMod val="100000"/>
              </a:schemeClr>
            </a:solidFill>
            <a:ln w="20534" cap="flat">
              <a:noFill/>
              <a:prstDash val="solid"/>
              <a:miter/>
            </a:ln>
          </p:spPr>
          <p:txBody>
            <a:bodyPr rtlCol="0" anchor="ctr"/>
            <a:lstStyle/>
            <a:p>
              <a:endParaRPr lang="zh-CN" altLang="en-US"/>
            </a:p>
          </p:txBody>
        </p:sp>
        <p:sp>
          <p:nvSpPr>
            <p:cNvPr id="6" name="RelativeShape1">
              <a:extLst>
                <a:ext uri="{FF2B5EF4-FFF2-40B4-BE49-F238E27FC236}">
                  <a16:creationId xmlns:a16="http://schemas.microsoft.com/office/drawing/2014/main" id="{93746CF1-0B19-410A-A38E-CE512D993243}"/>
                </a:ext>
              </a:extLst>
            </p:cNvPr>
            <p:cNvSpPr/>
            <p:nvPr/>
          </p:nvSpPr>
          <p:spPr bwMode="auto">
            <a:xfrm>
              <a:off x="2135559"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7" name="RelativeShape2">
              <a:extLst>
                <a:ext uri="{FF2B5EF4-FFF2-40B4-BE49-F238E27FC236}">
                  <a16:creationId xmlns:a16="http://schemas.microsoft.com/office/drawing/2014/main" id="{D66CF947-5A01-4839-B102-747EFDD7281A}"/>
                </a:ext>
              </a:extLst>
            </p:cNvPr>
            <p:cNvSpPr/>
            <p:nvPr/>
          </p:nvSpPr>
          <p:spPr bwMode="auto">
            <a:xfrm>
              <a:off x="7364516"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8" name="ValueShape1">
              <a:extLst>
                <a:ext uri="{FF2B5EF4-FFF2-40B4-BE49-F238E27FC236}">
                  <a16:creationId xmlns:a16="http://schemas.microsoft.com/office/drawing/2014/main" id="{FB26877B-79B9-4CD8-8BC2-839063D1BB76}"/>
                </a:ext>
              </a:extLst>
            </p:cNvPr>
            <p:cNvSpPr/>
            <p:nvPr/>
          </p:nvSpPr>
          <p:spPr bwMode="auto">
            <a:xfrm>
              <a:off x="3578684" y="2723405"/>
              <a:ext cx="1627354" cy="754798"/>
            </a:xfrm>
            <a:prstGeom prst="rect">
              <a:avLst/>
            </a:prstGeom>
            <a:solidFill>
              <a:schemeClr val="accent1">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9" name="ValueShape2">
              <a:extLst>
                <a:ext uri="{FF2B5EF4-FFF2-40B4-BE49-F238E27FC236}">
                  <a16:creationId xmlns:a16="http://schemas.microsoft.com/office/drawing/2014/main" id="{8BE80031-FBBD-47D1-B814-D039F3BF91FC}"/>
                </a:ext>
              </a:extLst>
            </p:cNvPr>
            <p:cNvSpPr/>
            <p:nvPr/>
          </p:nvSpPr>
          <p:spPr bwMode="auto">
            <a:xfrm>
              <a:off x="7364516" y="2723405"/>
              <a:ext cx="1688763" cy="754798"/>
            </a:xfrm>
            <a:prstGeom prst="rect">
              <a:avLst/>
            </a:prstGeom>
            <a:solidFill>
              <a:schemeClr val="accent3">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10" name="ExtraShape">
              <a:extLst>
                <a:ext uri="{FF2B5EF4-FFF2-40B4-BE49-F238E27FC236}">
                  <a16:creationId xmlns:a16="http://schemas.microsoft.com/office/drawing/2014/main" id="{4DE28724-19BC-419C-BCCD-CC6E2D97C58F}"/>
                </a:ext>
              </a:extLst>
            </p:cNvPr>
            <p:cNvSpPr/>
            <p:nvPr/>
          </p:nvSpPr>
          <p:spPr bwMode="auto">
            <a:xfrm rot="7966385">
              <a:off x="5372123" y="1998499"/>
              <a:ext cx="1772631" cy="1717988"/>
            </a:xfrm>
            <a:custGeom>
              <a:avLst/>
              <a:gdLst>
                <a:gd name="connsiteX0" fmla="*/ 1009389 w 1488822"/>
                <a:gd name="connsiteY0" fmla="*/ 531908 h 1442928"/>
                <a:gd name="connsiteX1" fmla="*/ 927638 w 1488822"/>
                <a:gd name="connsiteY1" fmla="*/ 443542 h 1442928"/>
                <a:gd name="connsiteX2" fmla="*/ 1407071 w 1488822"/>
                <a:gd name="connsiteY2" fmla="*/ 0 h 1442928"/>
                <a:gd name="connsiteX3" fmla="*/ 1488822 w 1488822"/>
                <a:gd name="connsiteY3" fmla="*/ 88366 h 1442928"/>
                <a:gd name="connsiteX4" fmla="*/ 175265 w 1488822"/>
                <a:gd name="connsiteY4" fmla="*/ 1240780 h 1442928"/>
                <a:gd name="connsiteX5" fmla="*/ 0 w 1488822"/>
                <a:gd name="connsiteY5" fmla="*/ 900466 h 1442928"/>
                <a:gd name="connsiteX6" fmla="*/ 1 w 1488822"/>
                <a:gd name="connsiteY6" fmla="*/ 900467 h 1442928"/>
                <a:gd name="connsiteX7" fmla="*/ 1 w 1488822"/>
                <a:gd name="connsiteY7" fmla="*/ 900466 h 1442928"/>
                <a:gd name="connsiteX8" fmla="*/ 109696 w 1488822"/>
                <a:gd name="connsiteY8" fmla="*/ 798983 h 1442928"/>
                <a:gd name="connsiteX9" fmla="*/ 103102 w 1488822"/>
                <a:gd name="connsiteY9" fmla="*/ 783064 h 1442928"/>
                <a:gd name="connsiteX10" fmla="*/ 130693 w 1488822"/>
                <a:gd name="connsiteY10" fmla="*/ 755473 h 1442928"/>
                <a:gd name="connsiteX11" fmla="*/ 158284 w 1488822"/>
                <a:gd name="connsiteY11" fmla="*/ 755473 h 1442928"/>
                <a:gd name="connsiteX12" fmla="*/ 158284 w 1488822"/>
                <a:gd name="connsiteY12" fmla="*/ 783064 h 1442928"/>
                <a:gd name="connsiteX13" fmla="*/ 130693 w 1488822"/>
                <a:gd name="connsiteY13" fmla="*/ 810655 h 1442928"/>
                <a:gd name="connsiteX14" fmla="*/ 117896 w 1488822"/>
                <a:gd name="connsiteY14" fmla="*/ 805354 h 1442928"/>
                <a:gd name="connsiteX15" fmla="*/ 9205 w 1488822"/>
                <a:gd name="connsiteY15" fmla="*/ 905909 h 1442928"/>
                <a:gd name="connsiteX16" fmla="*/ 195140 w 1488822"/>
                <a:gd name="connsiteY16" fmla="*/ 1015874 h 1442928"/>
                <a:gd name="connsiteX17" fmla="*/ 194925 w 1488822"/>
                <a:gd name="connsiteY17" fmla="*/ 1014140 h 1442928"/>
                <a:gd name="connsiteX18" fmla="*/ 263892 w 1488822"/>
                <a:gd name="connsiteY18" fmla="*/ 872665 h 1442928"/>
                <a:gd name="connsiteX19" fmla="*/ 410296 w 1488822"/>
                <a:gd name="connsiteY19" fmla="*/ 814892 h 1442928"/>
                <a:gd name="connsiteX20" fmla="*/ 457989 w 1488822"/>
                <a:gd name="connsiteY20" fmla="*/ 824618 h 1442928"/>
                <a:gd name="connsiteX21" fmla="*/ 418631 w 1488822"/>
                <a:gd name="connsiteY21" fmla="*/ 775714 h 1442928"/>
                <a:gd name="connsiteX22" fmla="*/ 288313 w 1488822"/>
                <a:gd name="connsiteY22" fmla="*/ 570929 h 1442928"/>
                <a:gd name="connsiteX23" fmla="*/ 297512 w 1488822"/>
                <a:gd name="connsiteY23" fmla="*/ 380976 h 1442928"/>
                <a:gd name="connsiteX24" fmla="*/ 639727 w 1488822"/>
                <a:gd name="connsiteY24" fmla="*/ 483096 h 1442928"/>
                <a:gd name="connsiteX25" fmla="*/ 715184 w 1488822"/>
                <a:gd name="connsiteY25" fmla="*/ 640092 h 1442928"/>
                <a:gd name="connsiteX26" fmla="*/ 703903 w 1488822"/>
                <a:gd name="connsiteY26" fmla="*/ 650528 h 1442928"/>
                <a:gd name="connsiteX27" fmla="*/ 628648 w 1488822"/>
                <a:gd name="connsiteY27" fmla="*/ 674788 h 1442928"/>
                <a:gd name="connsiteX28" fmla="*/ 625067 w 1488822"/>
                <a:gd name="connsiteY28" fmla="*/ 786543 h 1442928"/>
                <a:gd name="connsiteX29" fmla="*/ 632189 w 1488822"/>
                <a:gd name="connsiteY29" fmla="*/ 795409 h 1442928"/>
                <a:gd name="connsiteX30" fmla="*/ 640720 w 1488822"/>
                <a:gd name="connsiteY30" fmla="*/ 803463 h 1442928"/>
                <a:gd name="connsiteX31" fmla="*/ 753882 w 1488822"/>
                <a:gd name="connsiteY31" fmla="*/ 810157 h 1442928"/>
                <a:gd name="connsiteX32" fmla="*/ 783914 w 1488822"/>
                <a:gd name="connsiteY32" fmla="*/ 737014 h 1442928"/>
                <a:gd name="connsiteX33" fmla="*/ 795195 w 1488822"/>
                <a:gd name="connsiteY33" fmla="*/ 726577 h 1442928"/>
                <a:gd name="connsiteX34" fmla="*/ 945856 w 1488822"/>
                <a:gd name="connsiteY34" fmla="*/ 813997 h 1442928"/>
                <a:gd name="connsiteX35" fmla="*/ 1021093 w 1488822"/>
                <a:gd name="connsiteY35" fmla="*/ 1163109 h 1442928"/>
                <a:gd name="connsiteX36" fmla="*/ 830999 w 1488822"/>
                <a:gd name="connsiteY36" fmla="*/ 1157529 h 1442928"/>
                <a:gd name="connsiteX37" fmla="*/ 635921 w 1488822"/>
                <a:gd name="connsiteY37" fmla="*/ 1010587 h 1442928"/>
                <a:gd name="connsiteX38" fmla="*/ 591226 w 1488822"/>
                <a:gd name="connsiteY38" fmla="*/ 968448 h 1442928"/>
                <a:gd name="connsiteX39" fmla="*/ 597245 w 1488822"/>
                <a:gd name="connsiteY39" fmla="*/ 1016969 h 1442928"/>
                <a:gd name="connsiteX40" fmla="*/ 528278 w 1488822"/>
                <a:gd name="connsiteY40" fmla="*/ 1158444 h 1442928"/>
                <a:gd name="connsiteX41" fmla="*/ 458611 w 1488822"/>
                <a:gd name="connsiteY41" fmla="*/ 1202056 h 1442928"/>
                <a:gd name="connsiteX42" fmla="*/ 397138 w 1488822"/>
                <a:gd name="connsiteY42" fmla="*/ 1213400 h 1442928"/>
                <a:gd name="connsiteX43" fmla="*/ 526279 w 1488822"/>
                <a:gd name="connsiteY43" fmla="*/ 1442928 h 144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8822" h="1442928">
                  <a:moveTo>
                    <a:pt x="1009389" y="531908"/>
                  </a:moveTo>
                  <a:lnTo>
                    <a:pt x="927638" y="443542"/>
                  </a:lnTo>
                  <a:lnTo>
                    <a:pt x="1407071" y="0"/>
                  </a:lnTo>
                  <a:lnTo>
                    <a:pt x="1488822" y="88366"/>
                  </a:lnTo>
                  <a:close/>
                  <a:moveTo>
                    <a:pt x="175265" y="1240780"/>
                  </a:moveTo>
                  <a:lnTo>
                    <a:pt x="0" y="900466"/>
                  </a:lnTo>
                  <a:lnTo>
                    <a:pt x="1" y="900467"/>
                  </a:lnTo>
                  <a:lnTo>
                    <a:pt x="1" y="900466"/>
                  </a:lnTo>
                  <a:lnTo>
                    <a:pt x="109696" y="798983"/>
                  </a:lnTo>
                  <a:lnTo>
                    <a:pt x="103102" y="783064"/>
                  </a:lnTo>
                  <a:cubicBezTo>
                    <a:pt x="103102" y="767826"/>
                    <a:pt x="115455" y="755473"/>
                    <a:pt x="130693" y="755473"/>
                  </a:cubicBezTo>
                  <a:lnTo>
                    <a:pt x="158284" y="755473"/>
                  </a:lnTo>
                  <a:lnTo>
                    <a:pt x="158284" y="783064"/>
                  </a:lnTo>
                  <a:cubicBezTo>
                    <a:pt x="158284" y="798302"/>
                    <a:pt x="145931" y="810655"/>
                    <a:pt x="130693" y="810655"/>
                  </a:cubicBezTo>
                  <a:lnTo>
                    <a:pt x="117896" y="805354"/>
                  </a:lnTo>
                  <a:lnTo>
                    <a:pt x="9205" y="905909"/>
                  </a:lnTo>
                  <a:lnTo>
                    <a:pt x="195140" y="1015874"/>
                  </a:lnTo>
                  <a:lnTo>
                    <a:pt x="194925" y="1014140"/>
                  </a:lnTo>
                  <a:cubicBezTo>
                    <a:pt x="198561" y="962786"/>
                    <a:pt x="221838" y="911570"/>
                    <a:pt x="263892" y="872665"/>
                  </a:cubicBezTo>
                  <a:cubicBezTo>
                    <a:pt x="305945" y="833759"/>
                    <a:pt x="358815" y="814530"/>
                    <a:pt x="410296" y="814892"/>
                  </a:cubicBezTo>
                  <a:lnTo>
                    <a:pt x="457989" y="824618"/>
                  </a:lnTo>
                  <a:lnTo>
                    <a:pt x="418631" y="775714"/>
                  </a:lnTo>
                  <a:cubicBezTo>
                    <a:pt x="370542" y="712719"/>
                    <a:pt x="322348" y="639541"/>
                    <a:pt x="288313" y="570929"/>
                  </a:cubicBezTo>
                  <a:cubicBezTo>
                    <a:pt x="227807" y="448953"/>
                    <a:pt x="297512" y="380976"/>
                    <a:pt x="297512" y="380976"/>
                  </a:cubicBezTo>
                  <a:lnTo>
                    <a:pt x="639727" y="483096"/>
                  </a:lnTo>
                  <a:cubicBezTo>
                    <a:pt x="617778" y="534804"/>
                    <a:pt x="715184" y="640092"/>
                    <a:pt x="715184" y="640092"/>
                  </a:cubicBezTo>
                  <a:lnTo>
                    <a:pt x="703903" y="650528"/>
                  </a:lnTo>
                  <a:cubicBezTo>
                    <a:pt x="667708" y="649120"/>
                    <a:pt x="628648" y="674788"/>
                    <a:pt x="628648" y="674788"/>
                  </a:cubicBezTo>
                  <a:cubicBezTo>
                    <a:pt x="590047" y="723584"/>
                    <a:pt x="611785" y="767589"/>
                    <a:pt x="625067" y="786543"/>
                  </a:cubicBezTo>
                  <a:lnTo>
                    <a:pt x="632189" y="795409"/>
                  </a:lnTo>
                  <a:lnTo>
                    <a:pt x="640720" y="803463"/>
                  </a:lnTo>
                  <a:cubicBezTo>
                    <a:pt x="659074" y="818705"/>
                    <a:pt x="702237" y="844852"/>
                    <a:pt x="753882" y="810157"/>
                  </a:cubicBezTo>
                  <a:cubicBezTo>
                    <a:pt x="753882" y="810157"/>
                    <a:pt x="782507" y="773209"/>
                    <a:pt x="783914" y="737014"/>
                  </a:cubicBezTo>
                  <a:lnTo>
                    <a:pt x="795195" y="726577"/>
                  </a:lnTo>
                  <a:cubicBezTo>
                    <a:pt x="795195" y="726577"/>
                    <a:pt x="892600" y="831864"/>
                    <a:pt x="945856" y="813997"/>
                  </a:cubicBezTo>
                  <a:lnTo>
                    <a:pt x="1021093" y="1163109"/>
                  </a:lnTo>
                  <a:cubicBezTo>
                    <a:pt x="1021093" y="1163109"/>
                    <a:pt x="947908" y="1227325"/>
                    <a:pt x="830999" y="1157529"/>
                  </a:cubicBezTo>
                  <a:cubicBezTo>
                    <a:pt x="765237" y="1118269"/>
                    <a:pt x="695473" y="1063943"/>
                    <a:pt x="635921" y="1010587"/>
                  </a:cubicBezTo>
                  <a:lnTo>
                    <a:pt x="591226" y="968448"/>
                  </a:lnTo>
                  <a:lnTo>
                    <a:pt x="597245" y="1016969"/>
                  </a:lnTo>
                  <a:cubicBezTo>
                    <a:pt x="593608" y="1068323"/>
                    <a:pt x="570331" y="1119539"/>
                    <a:pt x="528278" y="1158444"/>
                  </a:cubicBezTo>
                  <a:cubicBezTo>
                    <a:pt x="507251" y="1177897"/>
                    <a:pt x="483520" y="1192431"/>
                    <a:pt x="458611" y="1202056"/>
                  </a:cubicBezTo>
                  <a:lnTo>
                    <a:pt x="397138" y="1213400"/>
                  </a:lnTo>
                  <a:lnTo>
                    <a:pt x="526279" y="1442928"/>
                  </a:lnTo>
                  <a:close/>
                </a:path>
              </a:pathLst>
            </a:custGeom>
            <a:solidFill>
              <a:schemeClr val="accent1"/>
            </a:solidFill>
            <a:ln w="19050">
              <a:noFill/>
              <a:round/>
              <a:headEnd/>
              <a:tailEnd/>
            </a:ln>
          </p:spPr>
          <p:txBody>
            <a:bodyPr rot="0" spcFirstLastPara="0" vert="horz" wrap="square" lIns="91440" tIns="45720" rIns="91440" bIns="45720" numCol="1" spcCol="0" rtlCol="0" fromWordArt="0" anchor="ctr" anchorCtr="1" forceAA="0" compatLnSpc="1">
              <a:prstTxWarp prst="textNoShape">
                <a:avLst/>
              </a:prstTxWarp>
              <a:noAutofit/>
            </a:bodyPr>
            <a:lstStyle/>
            <a:p>
              <a:pPr algn="ctr"/>
              <a:endParaRPr lang="zh-CN" altLang="en-US" sz="1200" b="1" dirty="0">
                <a:solidFill>
                  <a:schemeClr val="tx1">
                    <a:lumMod val="75000"/>
                    <a:lumOff val="25000"/>
                  </a:schemeClr>
                </a:solidFill>
              </a:endParaRPr>
            </a:p>
          </p:txBody>
        </p:sp>
        <p:sp>
          <p:nvSpPr>
            <p:cNvPr id="11" name="ValueText1">
              <a:extLst>
                <a:ext uri="{FF2B5EF4-FFF2-40B4-BE49-F238E27FC236}">
                  <a16:creationId xmlns:a16="http://schemas.microsoft.com/office/drawing/2014/main" id="{EDBDD775-3579-4CA8-974B-1036888707D0}"/>
                </a:ext>
              </a:extLst>
            </p:cNvPr>
            <p:cNvSpPr txBox="1"/>
            <p:nvPr/>
          </p:nvSpPr>
          <p:spPr>
            <a:xfrm>
              <a:off x="2910028"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a:solidFill>
                    <a:schemeClr val="accent1">
                      <a:lumMod val="100000"/>
                    </a:schemeClr>
                  </a:solidFill>
                  <a:latin typeface="Impact" panose="020B0806030902050204" pitchFamily="34" charset="0"/>
                </a:rPr>
                <a:t>53%</a:t>
              </a:r>
              <a:endParaRPr lang="en-US" altLang="zh-CN" sz="3600" b="1" dirty="0">
                <a:solidFill>
                  <a:schemeClr val="accent1">
                    <a:lumMod val="100000"/>
                  </a:schemeClr>
                </a:solidFill>
                <a:latin typeface="Impact" panose="020B0806030902050204" pitchFamily="34" charset="0"/>
              </a:endParaRPr>
            </a:p>
          </p:txBody>
        </p:sp>
        <p:sp>
          <p:nvSpPr>
            <p:cNvPr id="12" name="ValueText2">
              <a:extLst>
                <a:ext uri="{FF2B5EF4-FFF2-40B4-BE49-F238E27FC236}">
                  <a16:creationId xmlns:a16="http://schemas.microsoft.com/office/drawing/2014/main" id="{3A46D92B-9B9E-4C45-9D21-0E83583F0B0C}"/>
                </a:ext>
              </a:extLst>
            </p:cNvPr>
            <p:cNvSpPr txBox="1"/>
            <p:nvPr/>
          </p:nvSpPr>
          <p:spPr>
            <a:xfrm>
              <a:off x="9164722"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dirty="0">
                  <a:solidFill>
                    <a:schemeClr val="accent3">
                      <a:lumMod val="100000"/>
                    </a:schemeClr>
                  </a:solidFill>
                  <a:latin typeface="Impact" panose="020B0806030902050204" pitchFamily="34" charset="0"/>
                </a:rPr>
                <a:t>55%</a:t>
              </a:r>
            </a:p>
          </p:txBody>
        </p:sp>
        <p:sp>
          <p:nvSpPr>
            <p:cNvPr id="15" name="CustomText">
              <a:extLst>
                <a:ext uri="{FF2B5EF4-FFF2-40B4-BE49-F238E27FC236}">
                  <a16:creationId xmlns:a16="http://schemas.microsoft.com/office/drawing/2014/main" id="{D579BF51-77EB-4085-9DCF-88AD3E5322E0}"/>
                </a:ext>
              </a:extLst>
            </p:cNvPr>
            <p:cNvSpPr/>
            <p:nvPr/>
          </p:nvSpPr>
          <p:spPr>
            <a:xfrm>
              <a:off x="4636728" y="4100308"/>
              <a:ext cx="3438697" cy="382921"/>
            </a:xfrm>
            <a:prstGeom prst="rect">
              <a:avLst/>
            </a:prstGeom>
            <a:noFill/>
          </p:spPr>
          <p:txBody>
            <a:bodyPr wrap="square" lIns="90000" tIns="46800" rIns="90000" bIns="46800" anchor="ctr">
              <a:noAutofit/>
            </a:bodyPr>
            <a:lstStyle/>
            <a:p>
              <a:pPr lvl="0" algn="ctr">
                <a:defRPr/>
              </a:pPr>
              <a:r>
                <a:rPr lang="en-US" altLang="zh-CN" sz="2400" b="1" dirty="0"/>
                <a:t>Fixed Income</a:t>
              </a:r>
              <a:r>
                <a:rPr lang="en-US" altLang="zh-CN" sz="2400" b="1" dirty="0">
                  <a:solidFill>
                    <a:schemeClr val="tx1">
                      <a:lumMod val="75000"/>
                      <a:lumOff val="25000"/>
                    </a:schemeClr>
                  </a:solidFill>
                </a:rPr>
                <a:t> Valuation</a:t>
              </a:r>
            </a:p>
          </p:txBody>
        </p:sp>
      </p:grpSp>
    </p:spTree>
    <p:extLst>
      <p:ext uri="{BB962C8B-B14F-4D97-AF65-F5344CB8AC3E}">
        <p14:creationId xmlns:p14="http://schemas.microsoft.com/office/powerpoint/2010/main" val="36696479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rmAutofit lnSpcReduction="10000"/>
          </a:bodyPr>
          <a:lstStyle/>
          <a:p>
            <a:r>
              <a:rPr lang="en-US" altLang="zh-CN" b="0" dirty="0">
                <a:solidFill>
                  <a:srgbClr val="002060"/>
                </a:solidFill>
                <a:latin typeface="+mn-lt"/>
                <a:ea typeface="+mn-ea"/>
                <a:cs typeface="+mn-ea"/>
                <a:sym typeface="+mn-lt"/>
              </a:rPr>
              <a:t>Reviews </a:t>
            </a:r>
            <a:r>
              <a:rPr lang="zh-CN" altLang="en-US" b="0" dirty="0">
                <a:solidFill>
                  <a:srgbClr val="002060"/>
                </a:solidFill>
                <a:latin typeface="+mn-lt"/>
                <a:ea typeface="+mn-ea"/>
                <a:cs typeface="+mn-ea"/>
                <a:sym typeface="+mn-lt"/>
              </a:rPr>
              <a:t>回顾</a:t>
            </a:r>
          </a:p>
          <a:p>
            <a:r>
              <a:rPr lang="en-US" altLang="zh-CN" b="0" dirty="0">
                <a:solidFill>
                  <a:srgbClr val="002060"/>
                </a:solidFill>
                <a:latin typeface="+mn-lt"/>
                <a:ea typeface="+mn-ea"/>
                <a:cs typeface="+mn-ea"/>
                <a:sym typeface="+mn-lt"/>
              </a:rPr>
              <a:t>Spot, Forward and Par Rates </a:t>
            </a:r>
            <a:r>
              <a:rPr lang="zh-CN" altLang="en-US" b="0" dirty="0">
                <a:solidFill>
                  <a:srgbClr val="002060"/>
                </a:solidFill>
                <a:latin typeface="+mn-lt"/>
                <a:ea typeface="+mn-ea"/>
                <a:cs typeface="+mn-ea"/>
                <a:sym typeface="+mn-lt"/>
              </a:rPr>
              <a:t>即期，远期和平价利率</a:t>
            </a:r>
          </a:p>
          <a:p>
            <a:r>
              <a:rPr lang="en-US" altLang="zh-CN" b="0" dirty="0">
                <a:solidFill>
                  <a:srgbClr val="002060"/>
                </a:solidFill>
                <a:latin typeface="+mn-lt"/>
                <a:ea typeface="+mn-ea"/>
                <a:cs typeface="+mn-ea"/>
                <a:sym typeface="+mn-lt"/>
              </a:rPr>
              <a:t>Valuation </a:t>
            </a:r>
            <a:r>
              <a:rPr lang="zh-CN" altLang="en-US" b="0" dirty="0">
                <a:solidFill>
                  <a:srgbClr val="002060"/>
                </a:solidFill>
                <a:latin typeface="+mn-lt"/>
                <a:ea typeface="+mn-ea"/>
                <a:cs typeface="+mn-ea"/>
                <a:sym typeface="+mn-lt"/>
              </a:rPr>
              <a:t>估值</a:t>
            </a:r>
          </a:p>
          <a:p>
            <a:r>
              <a:rPr lang="en-US" altLang="zh-CN" b="0" dirty="0">
                <a:solidFill>
                  <a:srgbClr val="002060"/>
                </a:solidFill>
                <a:latin typeface="+mn-lt"/>
                <a:ea typeface="+mn-ea"/>
                <a:cs typeface="+mn-ea"/>
                <a:sym typeface="+mn-lt"/>
              </a:rPr>
              <a:t>Returns, Spreads and Yields </a:t>
            </a:r>
            <a:r>
              <a:rPr lang="zh-CN" altLang="en-US" b="0" dirty="0">
                <a:solidFill>
                  <a:srgbClr val="002060"/>
                </a:solidFill>
                <a:latin typeface="+mn-lt"/>
                <a:ea typeface="+mn-ea"/>
                <a:cs typeface="+mn-ea"/>
                <a:sym typeface="+mn-lt"/>
              </a:rPr>
              <a:t>收益，利差和收益率</a:t>
            </a:r>
          </a:p>
          <a:p>
            <a:r>
              <a:rPr lang="en-US" altLang="zh-CN" b="0" dirty="0">
                <a:solidFill>
                  <a:srgbClr val="002060"/>
                </a:solidFill>
                <a:latin typeface="+mn-lt"/>
                <a:ea typeface="+mn-ea"/>
                <a:cs typeface="+mn-ea"/>
                <a:sym typeface="+mn-lt"/>
              </a:rPr>
              <a:t>Bond Replication </a:t>
            </a:r>
            <a:r>
              <a:rPr lang="zh-CN" altLang="en-US" b="0" dirty="0">
                <a:solidFill>
                  <a:srgbClr val="002060"/>
                </a:solidFill>
                <a:latin typeface="+mn-lt"/>
                <a:ea typeface="+mn-ea"/>
                <a:cs typeface="+mn-ea"/>
                <a:sym typeface="+mn-lt"/>
              </a:rPr>
              <a:t>债券复制</a:t>
            </a:r>
          </a:p>
          <a:p>
            <a:r>
              <a:rPr lang="en-US" altLang="zh-CN" b="0" dirty="0">
                <a:solidFill>
                  <a:srgbClr val="002060"/>
                </a:solidFill>
                <a:latin typeface="+mn-lt"/>
                <a:ea typeface="+mn-ea"/>
                <a:cs typeface="+mn-ea"/>
                <a:sym typeface="+mn-lt"/>
              </a:rPr>
              <a:t>One-Factor Risk Metrics and Hedges </a:t>
            </a:r>
            <a:r>
              <a:rPr lang="zh-CN" altLang="en-US" b="0" dirty="0">
                <a:solidFill>
                  <a:srgbClr val="002060"/>
                </a:solidFill>
                <a:latin typeface="+mn-lt"/>
                <a:ea typeface="+mn-ea"/>
                <a:cs typeface="+mn-ea"/>
                <a:sym typeface="+mn-lt"/>
              </a:rPr>
              <a:t>单因素风险度量和对冲</a:t>
            </a:r>
          </a:p>
          <a:p>
            <a:r>
              <a:rPr lang="en-US" altLang="zh-CN" b="0" dirty="0">
                <a:solidFill>
                  <a:srgbClr val="002060"/>
                </a:solidFill>
                <a:latin typeface="+mn-lt"/>
                <a:ea typeface="+mn-ea"/>
                <a:cs typeface="+mn-ea"/>
                <a:sym typeface="+mn-lt"/>
              </a:rPr>
              <a:t>Multi-Factor Risk Metrics and Hedges </a:t>
            </a:r>
            <a:r>
              <a:rPr lang="zh-CN" altLang="en-US" b="0" dirty="0">
                <a:solidFill>
                  <a:srgbClr val="002060"/>
                </a:solidFill>
                <a:latin typeface="+mn-lt"/>
                <a:ea typeface="+mn-ea"/>
                <a:cs typeface="+mn-ea"/>
                <a:sym typeface="+mn-lt"/>
              </a:rPr>
              <a:t>多因素风险度量和对冲</a:t>
            </a:r>
          </a:p>
          <a:p>
            <a:endParaRPr lang="zh-CN" altLang="en-US" b="0" dirty="0">
              <a:solidFill>
                <a:srgbClr val="002060"/>
              </a:solidFill>
              <a:latin typeface="+mn-lt"/>
              <a:ea typeface="+mn-ea"/>
              <a:cs typeface="+mn-ea"/>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8049883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Reviews</a:t>
            </a:r>
          </a:p>
        </p:txBody>
      </p:sp>
      <p:sp>
        <p:nvSpPr>
          <p:cNvPr id="3" name="文本占位符 2"/>
          <p:cNvSpPr>
            <a:spLocks noGrp="1"/>
          </p:cNvSpPr>
          <p:nvPr>
            <p:ph type="body" sz="quarter" idx="10"/>
          </p:nvPr>
        </p:nvSpPr>
        <p:spPr/>
        <p:txBody>
          <a:bodyPr>
            <a:normAutofit fontScale="92500"/>
          </a:bodyPr>
          <a:lstStyle/>
          <a:p>
            <a:r>
              <a:rPr lang="en-US" altLang="zh-CN" dirty="0">
                <a:latin typeface="+mn-lt"/>
                <a:ea typeface="+mn-ea"/>
                <a:cs typeface="+mn-ea"/>
                <a:sym typeface="+mn-lt"/>
              </a:rPr>
              <a:t>Bonds Basics</a:t>
            </a:r>
          </a:p>
          <a:p>
            <a:pPr lvl="1"/>
            <a:r>
              <a:rPr lang="en-US" altLang="zh-CN" dirty="0">
                <a:latin typeface="+mn-lt"/>
                <a:ea typeface="+mn-ea"/>
                <a:cs typeface="+mn-ea"/>
                <a:sym typeface="+mn-lt"/>
              </a:rPr>
              <a:t>A bond is an instrument of indebtedness of the bond issuer to the holders. It is a debt security, under which the issuer owes the holders a debt and, depending on the terms of the bond, is obliged to pay them interest (the coupon) and/or to repay the principal at a later date, termed the maturity date.</a:t>
            </a:r>
          </a:p>
          <a:p>
            <a:pPr lvl="1"/>
            <a:r>
              <a:rPr lang="en-US" altLang="zh-CN" dirty="0">
                <a:latin typeface="+mn-lt"/>
                <a:ea typeface="+mn-ea"/>
                <a:cs typeface="+mn-ea"/>
                <a:sym typeface="+mn-lt"/>
              </a:rPr>
              <a:t>Characteristics of bonds</a:t>
            </a:r>
          </a:p>
          <a:p>
            <a:pPr lvl="2"/>
            <a:r>
              <a:rPr lang="en-US" altLang="zh-CN" dirty="0">
                <a:latin typeface="+mn-lt"/>
                <a:ea typeface="+mn-ea"/>
                <a:cs typeface="+mn-ea"/>
                <a:sym typeface="+mn-lt"/>
              </a:rPr>
              <a:t>Coupon rate</a:t>
            </a:r>
          </a:p>
          <a:p>
            <a:pPr lvl="2"/>
            <a:r>
              <a:rPr lang="en-US" altLang="zh-CN" dirty="0">
                <a:latin typeface="+mn-lt"/>
                <a:ea typeface="+mn-ea"/>
                <a:cs typeface="+mn-ea"/>
                <a:sym typeface="+mn-lt"/>
              </a:rPr>
              <a:t>Face value</a:t>
            </a:r>
          </a:p>
          <a:p>
            <a:pPr lvl="2"/>
            <a:r>
              <a:rPr lang="en-US" altLang="zh-CN" dirty="0">
                <a:latin typeface="+mn-lt"/>
                <a:ea typeface="+mn-ea"/>
                <a:cs typeface="+mn-ea"/>
                <a:sym typeface="+mn-lt"/>
              </a:rPr>
              <a:t>Maturity</a:t>
            </a:r>
          </a:p>
          <a:p>
            <a:pPr lvl="2"/>
            <a:r>
              <a:rPr lang="en-US" altLang="zh-CN" dirty="0">
                <a:latin typeface="+mn-lt"/>
                <a:ea typeface="+mn-ea"/>
                <a:cs typeface="+mn-ea"/>
                <a:sym typeface="+mn-lt"/>
              </a:rPr>
              <a:t>Yield to maturity (YTM)</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42308862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Reviews</a:t>
            </a:r>
          </a:p>
        </p:txBody>
      </p:sp>
      <p:sp>
        <p:nvSpPr>
          <p:cNvPr id="3" name="文本占位符 2"/>
          <p:cNvSpPr>
            <a:spLocks noGrp="1"/>
          </p:cNvSpPr>
          <p:nvPr>
            <p:ph type="body" sz="quarter" idx="10"/>
          </p:nvPr>
        </p:nvSpPr>
        <p:spPr/>
        <p:txBody>
          <a:bodyPr>
            <a:normAutofit/>
          </a:bodyPr>
          <a:lstStyle/>
          <a:p>
            <a:r>
              <a:rPr lang="en-US" altLang="zh-CN" dirty="0"/>
              <a:t>Treasury Bills, Treasury Notes and Treasury Bonds</a:t>
            </a:r>
          </a:p>
          <a:p>
            <a:pPr lvl="1"/>
            <a:r>
              <a:rPr lang="en-US" altLang="zh-CN" dirty="0"/>
              <a:t>A short-term debt obligation backed by the U.S. government with a </a:t>
            </a:r>
            <a:r>
              <a:rPr lang="en-US" altLang="zh-CN" u="sng" dirty="0"/>
              <a:t>maturity of less than one year</a:t>
            </a:r>
            <a:r>
              <a:rPr lang="en-US" altLang="zh-CN" dirty="0"/>
              <a:t>.</a:t>
            </a:r>
          </a:p>
          <a:p>
            <a:pPr lvl="1"/>
            <a:r>
              <a:rPr lang="en-US" altLang="zh-CN" dirty="0"/>
              <a:t>A US Treasury bill is a discount instrument: the discount rate is expressed as a percentage of the face value. Consequently, </a:t>
            </a:r>
            <a:r>
              <a:rPr lang="en-US" altLang="zh-CN" u="sng" dirty="0"/>
              <a:t>the discount rate is not a true yield</a:t>
            </a:r>
            <a:r>
              <a:rPr lang="en-US" altLang="zh-CN" dirty="0"/>
              <a:t>.</a:t>
            </a:r>
          </a:p>
          <a:p>
            <a:pPr lvl="1"/>
            <a:r>
              <a:rPr lang="en-US" altLang="zh-CN" dirty="0"/>
              <a:t>A marketable, fixed-interest U.S. government debt security with a </a:t>
            </a:r>
            <a:r>
              <a:rPr lang="en-US" altLang="zh-CN" u="sng" dirty="0"/>
              <a:t>maturity of more than 10 years</a:t>
            </a:r>
            <a:r>
              <a:rPr lang="en-US" altLang="zh-CN" dirty="0"/>
              <a:t>. Treasury bonds </a:t>
            </a:r>
            <a:r>
              <a:rPr lang="en-US" altLang="zh-CN" u="sng" dirty="0"/>
              <a:t>make interest payments semi-annually</a:t>
            </a:r>
            <a:r>
              <a:rPr lang="en-US" altLang="zh-CN" dirty="0"/>
              <a: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079593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Reviews</a:t>
            </a:r>
          </a:p>
        </p:txBody>
      </p:sp>
      <p:sp>
        <p:nvSpPr>
          <p:cNvPr id="3" name="文本占位符 2"/>
          <p:cNvSpPr>
            <a:spLocks noGrp="1"/>
          </p:cNvSpPr>
          <p:nvPr>
            <p:ph type="body" sz="quarter" idx="10"/>
          </p:nvPr>
        </p:nvSpPr>
        <p:spPr/>
        <p:txBody>
          <a:bodyPr>
            <a:normAutofit/>
          </a:bodyPr>
          <a:lstStyle/>
          <a:p>
            <a:r>
              <a:rPr lang="en-US" altLang="zh-CN" dirty="0"/>
              <a:t>Treasury STRIPS</a:t>
            </a:r>
          </a:p>
          <a:p>
            <a:pPr lvl="1"/>
            <a:r>
              <a:rPr lang="en-US" altLang="zh-CN" dirty="0"/>
              <a:t>Separate Trading Registered Interest and Principal Securities</a:t>
            </a:r>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1885B474-3BC9-45B5-B8D6-A55967166DF2}"/>
              </a:ext>
            </a:extLst>
          </p:cNvPr>
          <p:cNvGrpSpPr/>
          <p:nvPr/>
        </p:nvGrpSpPr>
        <p:grpSpPr>
          <a:xfrm>
            <a:off x="2054832" y="2409093"/>
            <a:ext cx="8082335" cy="3285184"/>
            <a:chOff x="611584" y="2276872"/>
            <a:chExt cx="7774506" cy="3286784"/>
          </a:xfrm>
        </p:grpSpPr>
        <p:cxnSp>
          <p:nvCxnSpPr>
            <p:cNvPr id="5" name="直接连接符 4">
              <a:extLst>
                <a:ext uri="{FF2B5EF4-FFF2-40B4-BE49-F238E27FC236}">
                  <a16:creationId xmlns:a16="http://schemas.microsoft.com/office/drawing/2014/main" id="{9A960187-CDF3-41C5-87B1-FD1762F86E82}"/>
                </a:ext>
              </a:extLst>
            </p:cNvPr>
            <p:cNvCxnSpPr>
              <a:cxnSpLocks noChangeShapeType="1"/>
            </p:cNvCxnSpPr>
            <p:nvPr/>
          </p:nvCxnSpPr>
          <p:spPr bwMode="auto">
            <a:xfrm>
              <a:off x="2484438" y="2726755"/>
              <a:ext cx="5400000"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cxnSp>
          <p:nvCxnSpPr>
            <p:cNvPr id="6" name="直接连接符 6">
              <a:extLst>
                <a:ext uri="{FF2B5EF4-FFF2-40B4-BE49-F238E27FC236}">
                  <a16:creationId xmlns:a16="http://schemas.microsoft.com/office/drawing/2014/main" id="{951869FD-665C-4865-8905-9EF86629C428}"/>
                </a:ext>
              </a:extLst>
            </p:cNvPr>
            <p:cNvCxnSpPr>
              <a:cxnSpLocks noChangeShapeType="1"/>
            </p:cNvCxnSpPr>
            <p:nvPr/>
          </p:nvCxnSpPr>
          <p:spPr bwMode="auto">
            <a:xfrm flipV="1">
              <a:off x="2484438" y="2636266"/>
              <a:ext cx="0" cy="18000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7" name="直接连接符 7">
              <a:extLst>
                <a:ext uri="{FF2B5EF4-FFF2-40B4-BE49-F238E27FC236}">
                  <a16:creationId xmlns:a16="http://schemas.microsoft.com/office/drawing/2014/main" id="{971B8851-FBB4-423B-ABF9-609D24277774}"/>
                </a:ext>
              </a:extLst>
            </p:cNvPr>
            <p:cNvCxnSpPr>
              <a:cxnSpLocks noChangeShapeType="1"/>
            </p:cNvCxnSpPr>
            <p:nvPr/>
          </p:nvCxnSpPr>
          <p:spPr bwMode="auto">
            <a:xfrm flipV="1">
              <a:off x="4284437" y="2636267"/>
              <a:ext cx="0" cy="18000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8" name="直接连接符 8">
              <a:extLst>
                <a:ext uri="{FF2B5EF4-FFF2-40B4-BE49-F238E27FC236}">
                  <a16:creationId xmlns:a16="http://schemas.microsoft.com/office/drawing/2014/main" id="{BB309A75-CDBB-4A0D-A031-6F48F156F1C6}"/>
                </a:ext>
              </a:extLst>
            </p:cNvPr>
            <p:cNvCxnSpPr>
              <a:cxnSpLocks noChangeShapeType="1"/>
            </p:cNvCxnSpPr>
            <p:nvPr/>
          </p:nvCxnSpPr>
          <p:spPr bwMode="auto">
            <a:xfrm flipV="1">
              <a:off x="6098726" y="2636267"/>
              <a:ext cx="0" cy="18000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9" name="直接连接符 9">
              <a:extLst>
                <a:ext uri="{FF2B5EF4-FFF2-40B4-BE49-F238E27FC236}">
                  <a16:creationId xmlns:a16="http://schemas.microsoft.com/office/drawing/2014/main" id="{C8216201-8A4C-4F44-8CC8-EDA138026FAE}"/>
                </a:ext>
              </a:extLst>
            </p:cNvPr>
            <p:cNvCxnSpPr>
              <a:cxnSpLocks noChangeShapeType="1"/>
            </p:cNvCxnSpPr>
            <p:nvPr/>
          </p:nvCxnSpPr>
          <p:spPr bwMode="auto">
            <a:xfrm flipV="1">
              <a:off x="7884438" y="2636267"/>
              <a:ext cx="0" cy="180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0" name="文本框 11">
              <a:extLst>
                <a:ext uri="{FF2B5EF4-FFF2-40B4-BE49-F238E27FC236}">
                  <a16:creationId xmlns:a16="http://schemas.microsoft.com/office/drawing/2014/main" id="{FB43D710-E62E-4479-9EC4-E0A101CE2453}"/>
                </a:ext>
              </a:extLst>
            </p:cNvPr>
            <p:cNvSpPr txBox="1">
              <a:spLocks noChangeArrowheads="1"/>
            </p:cNvSpPr>
            <p:nvPr/>
          </p:nvSpPr>
          <p:spPr bwMode="auto">
            <a:xfrm>
              <a:off x="827584" y="2501330"/>
              <a:ext cx="1620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3-year bond</a:t>
              </a:r>
              <a:endParaRPr lang="zh-CN" altLang="en-US" sz="1600" b="0" dirty="0">
                <a:solidFill>
                  <a:srgbClr val="2C3E50"/>
                </a:solidFill>
                <a:latin typeface="Segoe UI" panose="020B0502040204020203" pitchFamily="34" charset="0"/>
                <a:cs typeface="Segoe UI" panose="020B0502040204020203" pitchFamily="34" charset="0"/>
              </a:endParaRPr>
            </a:p>
          </p:txBody>
        </p:sp>
        <p:sp>
          <p:nvSpPr>
            <p:cNvPr id="11" name="文本框 12">
              <a:extLst>
                <a:ext uri="{FF2B5EF4-FFF2-40B4-BE49-F238E27FC236}">
                  <a16:creationId xmlns:a16="http://schemas.microsoft.com/office/drawing/2014/main" id="{3625CC7E-30DD-4494-B9FD-F601DA1BF165}"/>
                </a:ext>
              </a:extLst>
            </p:cNvPr>
            <p:cNvSpPr txBox="1">
              <a:spLocks noChangeArrowheads="1"/>
            </p:cNvSpPr>
            <p:nvPr/>
          </p:nvSpPr>
          <p:spPr bwMode="auto">
            <a:xfrm>
              <a:off x="4122000" y="2276872"/>
              <a:ext cx="358038"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600" b="0" dirty="0">
                <a:solidFill>
                  <a:srgbClr val="2C3E50"/>
                </a:solidFill>
                <a:latin typeface="Segoe UI" panose="020B0502040204020203" pitchFamily="34" charset="0"/>
                <a:cs typeface="Segoe UI" panose="020B0502040204020203" pitchFamily="34" charset="0"/>
              </a:endParaRPr>
            </a:p>
          </p:txBody>
        </p:sp>
        <p:sp>
          <p:nvSpPr>
            <p:cNvPr id="12" name="文本框 13">
              <a:extLst>
                <a:ext uri="{FF2B5EF4-FFF2-40B4-BE49-F238E27FC236}">
                  <a16:creationId xmlns:a16="http://schemas.microsoft.com/office/drawing/2014/main" id="{E2256900-856D-4DB2-A921-D7FDF7FAD86E}"/>
                </a:ext>
              </a:extLst>
            </p:cNvPr>
            <p:cNvSpPr txBox="1">
              <a:spLocks noChangeArrowheads="1"/>
            </p:cNvSpPr>
            <p:nvPr/>
          </p:nvSpPr>
          <p:spPr bwMode="auto">
            <a:xfrm>
              <a:off x="5886000" y="2276872"/>
              <a:ext cx="358038"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600" b="0" dirty="0">
                <a:solidFill>
                  <a:srgbClr val="2C3E50"/>
                </a:solidFill>
                <a:latin typeface="Segoe UI" panose="020B0502040204020203" pitchFamily="34" charset="0"/>
                <a:cs typeface="Segoe UI" panose="020B0502040204020203" pitchFamily="34" charset="0"/>
              </a:endParaRPr>
            </a:p>
          </p:txBody>
        </p:sp>
        <p:sp>
          <p:nvSpPr>
            <p:cNvPr id="13" name="文本框 14">
              <a:extLst>
                <a:ext uri="{FF2B5EF4-FFF2-40B4-BE49-F238E27FC236}">
                  <a16:creationId xmlns:a16="http://schemas.microsoft.com/office/drawing/2014/main" id="{C043A9F9-6664-4A2A-97A3-11B0C80C69A2}"/>
                </a:ext>
              </a:extLst>
            </p:cNvPr>
            <p:cNvSpPr txBox="1">
              <a:spLocks noChangeArrowheads="1"/>
            </p:cNvSpPr>
            <p:nvPr/>
          </p:nvSpPr>
          <p:spPr bwMode="auto">
            <a:xfrm>
              <a:off x="7308304" y="2276872"/>
              <a:ext cx="1077786"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$5+$100</a:t>
              </a:r>
              <a:endParaRPr lang="zh-CN" altLang="en-US" sz="1600" b="0" dirty="0">
                <a:solidFill>
                  <a:srgbClr val="2C3E50"/>
                </a:solidFill>
                <a:latin typeface="Segoe UI" panose="020B0502040204020203" pitchFamily="34" charset="0"/>
                <a:cs typeface="Segoe UI" panose="020B0502040204020203" pitchFamily="34" charset="0"/>
              </a:endParaRPr>
            </a:p>
          </p:txBody>
        </p:sp>
        <p:cxnSp>
          <p:nvCxnSpPr>
            <p:cNvPr id="14" name="直接连接符 15">
              <a:extLst>
                <a:ext uri="{FF2B5EF4-FFF2-40B4-BE49-F238E27FC236}">
                  <a16:creationId xmlns:a16="http://schemas.microsoft.com/office/drawing/2014/main" id="{43C615B8-149E-4BAF-89E0-C796DBDA4E3F}"/>
                </a:ext>
              </a:extLst>
            </p:cNvPr>
            <p:cNvCxnSpPr>
              <a:cxnSpLocks noChangeShapeType="1"/>
            </p:cNvCxnSpPr>
            <p:nvPr/>
          </p:nvCxnSpPr>
          <p:spPr bwMode="auto">
            <a:xfrm flipV="1">
              <a:off x="2484438" y="3446462"/>
              <a:ext cx="0" cy="18000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15" name="直接连接符 16">
              <a:extLst>
                <a:ext uri="{FF2B5EF4-FFF2-40B4-BE49-F238E27FC236}">
                  <a16:creationId xmlns:a16="http://schemas.microsoft.com/office/drawing/2014/main" id="{A003E358-5C8F-4DC0-9F2D-FD4E9E6A732A}"/>
                </a:ext>
              </a:extLst>
            </p:cNvPr>
            <p:cNvCxnSpPr>
              <a:cxnSpLocks noChangeShapeType="1"/>
            </p:cNvCxnSpPr>
            <p:nvPr/>
          </p:nvCxnSpPr>
          <p:spPr bwMode="auto">
            <a:xfrm flipV="1">
              <a:off x="4284437" y="3446463"/>
              <a:ext cx="0" cy="18000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16" name="直接连接符 18">
              <a:extLst>
                <a:ext uri="{FF2B5EF4-FFF2-40B4-BE49-F238E27FC236}">
                  <a16:creationId xmlns:a16="http://schemas.microsoft.com/office/drawing/2014/main" id="{1DCF27AC-EDEB-4ED7-941F-FFE2874A49C3}"/>
                </a:ext>
              </a:extLst>
            </p:cNvPr>
            <p:cNvCxnSpPr>
              <a:cxnSpLocks noChangeShapeType="1"/>
            </p:cNvCxnSpPr>
            <p:nvPr/>
          </p:nvCxnSpPr>
          <p:spPr bwMode="auto">
            <a:xfrm>
              <a:off x="2484437" y="3536951"/>
              <a:ext cx="1800000"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sp>
          <p:nvSpPr>
            <p:cNvPr id="17" name="文本框 19">
              <a:extLst>
                <a:ext uri="{FF2B5EF4-FFF2-40B4-BE49-F238E27FC236}">
                  <a16:creationId xmlns:a16="http://schemas.microsoft.com/office/drawing/2014/main" id="{8C3B8E6E-C2FE-4208-AF70-A64737347181}"/>
                </a:ext>
              </a:extLst>
            </p:cNvPr>
            <p:cNvSpPr txBox="1">
              <a:spLocks noChangeArrowheads="1"/>
            </p:cNvSpPr>
            <p:nvPr/>
          </p:nvSpPr>
          <p:spPr bwMode="auto">
            <a:xfrm>
              <a:off x="4122000" y="3105008"/>
              <a:ext cx="358038"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600" b="0" dirty="0">
                <a:solidFill>
                  <a:srgbClr val="2C3E50"/>
                </a:solidFill>
                <a:latin typeface="Segoe UI" panose="020B0502040204020203" pitchFamily="34" charset="0"/>
                <a:cs typeface="Segoe UI" panose="020B0502040204020203" pitchFamily="34" charset="0"/>
              </a:endParaRPr>
            </a:p>
          </p:txBody>
        </p:sp>
        <p:sp>
          <p:nvSpPr>
            <p:cNvPr id="18" name="文本框 20">
              <a:extLst>
                <a:ext uri="{FF2B5EF4-FFF2-40B4-BE49-F238E27FC236}">
                  <a16:creationId xmlns:a16="http://schemas.microsoft.com/office/drawing/2014/main" id="{B5210ECB-7BD8-4485-A081-5EA84BD67438}"/>
                </a:ext>
              </a:extLst>
            </p:cNvPr>
            <p:cNvSpPr txBox="1">
              <a:spLocks noChangeArrowheads="1"/>
            </p:cNvSpPr>
            <p:nvPr/>
          </p:nvSpPr>
          <p:spPr bwMode="auto">
            <a:xfrm>
              <a:off x="863768" y="3321050"/>
              <a:ext cx="1620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a:solidFill>
                    <a:srgbClr val="2C3E50"/>
                  </a:solidFill>
                  <a:latin typeface="Segoe UI" panose="020B0502040204020203" pitchFamily="34" charset="0"/>
                  <a:ea typeface="Segoe UI" panose="020B0502040204020203" pitchFamily="34" charset="0"/>
                  <a:cs typeface="Segoe UI" panose="020B0502040204020203" pitchFamily="34" charset="0"/>
                </a:rPr>
                <a:t>C-STRIPS 1</a:t>
              </a:r>
              <a:endParaRPr lang="zh-CN" altLang="en-US" sz="1600" b="0">
                <a:solidFill>
                  <a:srgbClr val="2C3E50"/>
                </a:solidFill>
                <a:latin typeface="Segoe UI" panose="020B0502040204020203" pitchFamily="34" charset="0"/>
                <a:cs typeface="Segoe UI" panose="020B0502040204020203" pitchFamily="34" charset="0"/>
              </a:endParaRPr>
            </a:p>
          </p:txBody>
        </p:sp>
        <p:cxnSp>
          <p:nvCxnSpPr>
            <p:cNvPr id="19" name="直接连接符 21">
              <a:extLst>
                <a:ext uri="{FF2B5EF4-FFF2-40B4-BE49-F238E27FC236}">
                  <a16:creationId xmlns:a16="http://schemas.microsoft.com/office/drawing/2014/main" id="{183697AB-4808-4847-BE9B-26BB70393299}"/>
                </a:ext>
              </a:extLst>
            </p:cNvPr>
            <p:cNvCxnSpPr>
              <a:cxnSpLocks noChangeShapeType="1"/>
            </p:cNvCxnSpPr>
            <p:nvPr/>
          </p:nvCxnSpPr>
          <p:spPr bwMode="auto">
            <a:xfrm flipV="1">
              <a:off x="2498726" y="4005260"/>
              <a:ext cx="0" cy="180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0" name="直接连接符 22">
              <a:extLst>
                <a:ext uri="{FF2B5EF4-FFF2-40B4-BE49-F238E27FC236}">
                  <a16:creationId xmlns:a16="http://schemas.microsoft.com/office/drawing/2014/main" id="{9ABCCEAC-2C0B-474A-84E7-FA6A38A48E64}"/>
                </a:ext>
              </a:extLst>
            </p:cNvPr>
            <p:cNvCxnSpPr>
              <a:cxnSpLocks noChangeShapeType="1"/>
            </p:cNvCxnSpPr>
            <p:nvPr/>
          </p:nvCxnSpPr>
          <p:spPr bwMode="auto">
            <a:xfrm flipV="1">
              <a:off x="6098726" y="4005260"/>
              <a:ext cx="0" cy="180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1" name="文本框 23">
              <a:extLst>
                <a:ext uri="{FF2B5EF4-FFF2-40B4-BE49-F238E27FC236}">
                  <a16:creationId xmlns:a16="http://schemas.microsoft.com/office/drawing/2014/main" id="{220E4AB7-52DB-4BE0-BB8D-C07DB2046ECA}"/>
                </a:ext>
              </a:extLst>
            </p:cNvPr>
            <p:cNvSpPr txBox="1">
              <a:spLocks noChangeArrowheads="1"/>
            </p:cNvSpPr>
            <p:nvPr/>
          </p:nvSpPr>
          <p:spPr bwMode="auto">
            <a:xfrm>
              <a:off x="5886000" y="3645024"/>
              <a:ext cx="358038"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600" b="0" dirty="0">
                <a:solidFill>
                  <a:srgbClr val="2C3E50"/>
                </a:solidFill>
                <a:latin typeface="Segoe UI" panose="020B0502040204020203" pitchFamily="34" charset="0"/>
                <a:cs typeface="Segoe UI" panose="020B0502040204020203" pitchFamily="34" charset="0"/>
              </a:endParaRPr>
            </a:p>
          </p:txBody>
        </p:sp>
        <p:cxnSp>
          <p:nvCxnSpPr>
            <p:cNvPr id="22" name="直接连接符 27">
              <a:extLst>
                <a:ext uri="{FF2B5EF4-FFF2-40B4-BE49-F238E27FC236}">
                  <a16:creationId xmlns:a16="http://schemas.microsoft.com/office/drawing/2014/main" id="{CA48E9CB-97A9-4C97-8FFB-0C73724ED32C}"/>
                </a:ext>
              </a:extLst>
            </p:cNvPr>
            <p:cNvCxnSpPr>
              <a:cxnSpLocks noChangeShapeType="1"/>
            </p:cNvCxnSpPr>
            <p:nvPr/>
          </p:nvCxnSpPr>
          <p:spPr bwMode="auto">
            <a:xfrm>
              <a:off x="2498726" y="4095748"/>
              <a:ext cx="3600000"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sp>
          <p:nvSpPr>
            <p:cNvPr id="23" name="文本框 29">
              <a:extLst>
                <a:ext uri="{FF2B5EF4-FFF2-40B4-BE49-F238E27FC236}">
                  <a16:creationId xmlns:a16="http://schemas.microsoft.com/office/drawing/2014/main" id="{80122654-F147-4FF9-A069-B5F2D2D0EB81}"/>
                </a:ext>
              </a:extLst>
            </p:cNvPr>
            <p:cNvSpPr txBox="1">
              <a:spLocks noChangeArrowheads="1"/>
            </p:cNvSpPr>
            <p:nvPr/>
          </p:nvSpPr>
          <p:spPr bwMode="auto">
            <a:xfrm>
              <a:off x="863768" y="3879848"/>
              <a:ext cx="1620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C-STRIPS 2</a:t>
              </a:r>
              <a:endParaRPr lang="zh-CN" altLang="en-US" sz="1600" b="0" dirty="0">
                <a:solidFill>
                  <a:srgbClr val="2C3E50"/>
                </a:solidFill>
                <a:latin typeface="Segoe UI" panose="020B0502040204020203" pitchFamily="34" charset="0"/>
                <a:cs typeface="Segoe UI" panose="020B0502040204020203" pitchFamily="34" charset="0"/>
              </a:endParaRPr>
            </a:p>
          </p:txBody>
        </p:sp>
        <p:cxnSp>
          <p:nvCxnSpPr>
            <p:cNvPr id="24" name="直接连接符 30">
              <a:extLst>
                <a:ext uri="{FF2B5EF4-FFF2-40B4-BE49-F238E27FC236}">
                  <a16:creationId xmlns:a16="http://schemas.microsoft.com/office/drawing/2014/main" id="{E0AB0640-CDAB-4FD2-A0D9-88F3ACFB4AD6}"/>
                </a:ext>
              </a:extLst>
            </p:cNvPr>
            <p:cNvCxnSpPr>
              <a:cxnSpLocks noChangeShapeType="1"/>
            </p:cNvCxnSpPr>
            <p:nvPr/>
          </p:nvCxnSpPr>
          <p:spPr bwMode="auto">
            <a:xfrm flipV="1">
              <a:off x="2478088" y="4581522"/>
              <a:ext cx="0" cy="180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5" name="直接连接符 31">
              <a:extLst>
                <a:ext uri="{FF2B5EF4-FFF2-40B4-BE49-F238E27FC236}">
                  <a16:creationId xmlns:a16="http://schemas.microsoft.com/office/drawing/2014/main" id="{7AE2B146-5089-4051-9587-1AD7A8464F8B}"/>
                </a:ext>
              </a:extLst>
            </p:cNvPr>
            <p:cNvCxnSpPr>
              <a:cxnSpLocks noChangeShapeType="1"/>
            </p:cNvCxnSpPr>
            <p:nvPr/>
          </p:nvCxnSpPr>
          <p:spPr bwMode="auto">
            <a:xfrm flipV="1">
              <a:off x="7884438" y="4581522"/>
              <a:ext cx="0" cy="180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6" name="直接连接符 33">
              <a:extLst>
                <a:ext uri="{FF2B5EF4-FFF2-40B4-BE49-F238E27FC236}">
                  <a16:creationId xmlns:a16="http://schemas.microsoft.com/office/drawing/2014/main" id="{C8D83565-8B2C-4E13-A91A-36B4225F06AA}"/>
                </a:ext>
              </a:extLst>
            </p:cNvPr>
            <p:cNvCxnSpPr>
              <a:cxnSpLocks noChangeShapeType="1"/>
            </p:cNvCxnSpPr>
            <p:nvPr/>
          </p:nvCxnSpPr>
          <p:spPr bwMode="auto">
            <a:xfrm>
              <a:off x="2484438" y="4672010"/>
              <a:ext cx="5400000"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sp>
          <p:nvSpPr>
            <p:cNvPr id="27" name="文本框 35">
              <a:extLst>
                <a:ext uri="{FF2B5EF4-FFF2-40B4-BE49-F238E27FC236}">
                  <a16:creationId xmlns:a16="http://schemas.microsoft.com/office/drawing/2014/main" id="{0D180D2E-43B3-4CA8-B69F-CF99D1ECA0DC}"/>
                </a:ext>
              </a:extLst>
            </p:cNvPr>
            <p:cNvSpPr txBox="1">
              <a:spLocks noChangeArrowheads="1"/>
            </p:cNvSpPr>
            <p:nvPr/>
          </p:nvSpPr>
          <p:spPr bwMode="auto">
            <a:xfrm>
              <a:off x="7668344" y="4221088"/>
              <a:ext cx="358038"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600" b="0" dirty="0">
                <a:solidFill>
                  <a:srgbClr val="2C3E50"/>
                </a:solidFill>
                <a:latin typeface="Segoe UI" panose="020B0502040204020203" pitchFamily="34" charset="0"/>
                <a:cs typeface="Segoe UI" panose="020B0502040204020203" pitchFamily="34" charset="0"/>
              </a:endParaRPr>
            </a:p>
          </p:txBody>
        </p:sp>
        <p:sp>
          <p:nvSpPr>
            <p:cNvPr id="28" name="文本框 36">
              <a:extLst>
                <a:ext uri="{FF2B5EF4-FFF2-40B4-BE49-F238E27FC236}">
                  <a16:creationId xmlns:a16="http://schemas.microsoft.com/office/drawing/2014/main" id="{96EA19FC-C6D3-4903-9710-330BDADA9849}"/>
                </a:ext>
              </a:extLst>
            </p:cNvPr>
            <p:cNvSpPr txBox="1">
              <a:spLocks noChangeArrowheads="1"/>
            </p:cNvSpPr>
            <p:nvPr/>
          </p:nvSpPr>
          <p:spPr bwMode="auto">
            <a:xfrm>
              <a:off x="863768" y="4456110"/>
              <a:ext cx="1620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C-STRIPS 3</a:t>
              </a:r>
              <a:endParaRPr lang="zh-CN" altLang="en-US" sz="1600" b="0" dirty="0">
                <a:solidFill>
                  <a:srgbClr val="2C3E50"/>
                </a:solidFill>
                <a:latin typeface="Segoe UI" panose="020B0502040204020203" pitchFamily="34" charset="0"/>
                <a:cs typeface="Segoe UI" panose="020B0502040204020203" pitchFamily="34" charset="0"/>
              </a:endParaRPr>
            </a:p>
          </p:txBody>
        </p:sp>
        <p:cxnSp>
          <p:nvCxnSpPr>
            <p:cNvPr id="29" name="直接连接符 47">
              <a:extLst>
                <a:ext uri="{FF2B5EF4-FFF2-40B4-BE49-F238E27FC236}">
                  <a16:creationId xmlns:a16="http://schemas.microsoft.com/office/drawing/2014/main" id="{5FD5D40A-6307-4B4E-B27D-99631FE70547}"/>
                </a:ext>
              </a:extLst>
            </p:cNvPr>
            <p:cNvCxnSpPr>
              <a:cxnSpLocks noChangeShapeType="1"/>
            </p:cNvCxnSpPr>
            <p:nvPr/>
          </p:nvCxnSpPr>
          <p:spPr bwMode="auto">
            <a:xfrm flipV="1">
              <a:off x="2478088" y="5283543"/>
              <a:ext cx="0" cy="180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 name="直接连接符 48">
              <a:extLst>
                <a:ext uri="{FF2B5EF4-FFF2-40B4-BE49-F238E27FC236}">
                  <a16:creationId xmlns:a16="http://schemas.microsoft.com/office/drawing/2014/main" id="{2D605D12-4AB6-4900-8FC6-7C7852CD3FB1}"/>
                </a:ext>
              </a:extLst>
            </p:cNvPr>
            <p:cNvCxnSpPr>
              <a:cxnSpLocks noChangeShapeType="1"/>
            </p:cNvCxnSpPr>
            <p:nvPr/>
          </p:nvCxnSpPr>
          <p:spPr bwMode="auto">
            <a:xfrm flipV="1">
              <a:off x="7884438" y="5283544"/>
              <a:ext cx="0" cy="180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1" name="直接连接符 49">
              <a:extLst>
                <a:ext uri="{FF2B5EF4-FFF2-40B4-BE49-F238E27FC236}">
                  <a16:creationId xmlns:a16="http://schemas.microsoft.com/office/drawing/2014/main" id="{261BECFF-8C4C-425B-8F83-B61624B780AE}"/>
                </a:ext>
              </a:extLst>
            </p:cNvPr>
            <p:cNvCxnSpPr>
              <a:cxnSpLocks noChangeShapeType="1"/>
            </p:cNvCxnSpPr>
            <p:nvPr/>
          </p:nvCxnSpPr>
          <p:spPr bwMode="auto">
            <a:xfrm>
              <a:off x="2484438" y="5374031"/>
              <a:ext cx="5400000" cy="0"/>
            </a:xfrm>
            <a:prstGeom prst="line">
              <a:avLst/>
            </a:prstGeom>
            <a:noFill/>
            <a:ln w="19050">
              <a:solidFill>
                <a:srgbClr val="2C3E50"/>
              </a:solidFill>
              <a:round/>
              <a:headEnd/>
              <a:tailEnd/>
            </a:ln>
            <a:extLst>
              <a:ext uri="{909E8E84-426E-40DD-AFC4-6F175D3DCCD1}">
                <a14:hiddenFill xmlns:a14="http://schemas.microsoft.com/office/drawing/2010/main">
                  <a:noFill/>
                </a14:hiddenFill>
              </a:ext>
            </a:extLst>
          </p:spPr>
        </p:cxnSp>
        <p:sp>
          <p:nvSpPr>
            <p:cNvPr id="32" name="文本框 45">
              <a:extLst>
                <a:ext uri="{FF2B5EF4-FFF2-40B4-BE49-F238E27FC236}">
                  <a16:creationId xmlns:a16="http://schemas.microsoft.com/office/drawing/2014/main" id="{F29D21C2-361C-49D3-9DF7-509E4CA67DF8}"/>
                </a:ext>
              </a:extLst>
            </p:cNvPr>
            <p:cNvSpPr txBox="1">
              <a:spLocks noChangeArrowheads="1"/>
            </p:cNvSpPr>
            <p:nvPr/>
          </p:nvSpPr>
          <p:spPr bwMode="auto">
            <a:xfrm>
              <a:off x="7529028" y="4941168"/>
              <a:ext cx="643372"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$100</a:t>
              </a:r>
              <a:endParaRPr lang="zh-CN" altLang="en-US" sz="1600" b="0" dirty="0">
                <a:solidFill>
                  <a:srgbClr val="2C3E50"/>
                </a:solidFill>
                <a:latin typeface="Segoe UI" panose="020B0502040204020203" pitchFamily="34" charset="0"/>
                <a:cs typeface="Segoe UI" panose="020B0502040204020203" pitchFamily="34" charset="0"/>
              </a:endParaRPr>
            </a:p>
          </p:txBody>
        </p:sp>
        <p:sp>
          <p:nvSpPr>
            <p:cNvPr id="33" name="文本框 46">
              <a:extLst>
                <a:ext uri="{FF2B5EF4-FFF2-40B4-BE49-F238E27FC236}">
                  <a16:creationId xmlns:a16="http://schemas.microsoft.com/office/drawing/2014/main" id="{4DD72C3B-144C-49C2-9E86-3587B9518109}"/>
                </a:ext>
              </a:extLst>
            </p:cNvPr>
            <p:cNvSpPr txBox="1">
              <a:spLocks noChangeArrowheads="1"/>
            </p:cNvSpPr>
            <p:nvPr/>
          </p:nvSpPr>
          <p:spPr bwMode="auto">
            <a:xfrm>
              <a:off x="863768" y="5167656"/>
              <a:ext cx="1620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P-STRIPS</a:t>
              </a:r>
              <a:endParaRPr lang="zh-CN" altLang="en-US" sz="1600" b="0" dirty="0">
                <a:solidFill>
                  <a:srgbClr val="2C3E50"/>
                </a:solidFill>
                <a:latin typeface="Segoe UI" panose="020B0502040204020203" pitchFamily="34" charset="0"/>
                <a:cs typeface="Segoe UI" panose="020B0502040204020203" pitchFamily="34" charset="0"/>
              </a:endParaRPr>
            </a:p>
          </p:txBody>
        </p:sp>
        <p:sp>
          <p:nvSpPr>
            <p:cNvPr id="34" name="左大括号 33">
              <a:extLst>
                <a:ext uri="{FF2B5EF4-FFF2-40B4-BE49-F238E27FC236}">
                  <a16:creationId xmlns:a16="http://schemas.microsoft.com/office/drawing/2014/main" id="{9D59D83A-C04C-48A0-9507-20C6AA6F1145}"/>
                </a:ext>
              </a:extLst>
            </p:cNvPr>
            <p:cNvSpPr/>
            <p:nvPr/>
          </p:nvSpPr>
          <p:spPr bwMode="auto">
            <a:xfrm>
              <a:off x="611584" y="3546000"/>
              <a:ext cx="216000" cy="1800000"/>
            </a:xfrm>
            <a:prstGeom prst="leftBrace">
              <a:avLst>
                <a:gd name="adj1" fmla="val 36650"/>
                <a:gd name="adj2" fmla="val 50000"/>
              </a:avLst>
            </a:prstGeom>
            <a:ln>
              <a:solidFill>
                <a:srgbClr val="2C3E50"/>
              </a:solidFill>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a:defRPr/>
              </a:pPr>
              <a:endParaRPr lang="zh-CN" altLang="en-US" sz="1600">
                <a:solidFill>
                  <a:srgbClr val="2C3E50"/>
                </a:solidFill>
                <a:latin typeface="Segoe UI" panose="020B0502040204020203" pitchFamily="34" charset="0"/>
                <a:ea typeface="宋体" panose="02010600030101010101" pitchFamily="2" charset="-122"/>
                <a:cs typeface="Segoe UI" panose="020B0502040204020203" pitchFamily="34" charset="0"/>
              </a:endParaRPr>
            </a:p>
          </p:txBody>
        </p:sp>
      </p:grpSp>
    </p:spTree>
    <p:extLst>
      <p:ext uri="{BB962C8B-B14F-4D97-AF65-F5344CB8AC3E}">
        <p14:creationId xmlns:p14="http://schemas.microsoft.com/office/powerpoint/2010/main" val="41833236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Reviews</a:t>
            </a:r>
          </a:p>
        </p:txBody>
      </p:sp>
      <p:graphicFrame>
        <p:nvGraphicFramePr>
          <p:cNvPr id="4" name="表格 3">
            <a:extLst>
              <a:ext uri="{FF2B5EF4-FFF2-40B4-BE49-F238E27FC236}">
                <a16:creationId xmlns:a16="http://schemas.microsoft.com/office/drawing/2014/main" id="{53E2A937-EA8C-4A80-BF8D-C1B36F801BA0}"/>
              </a:ext>
            </a:extLst>
          </p:cNvPr>
          <p:cNvGraphicFramePr>
            <a:graphicFrameLocks noGrp="1"/>
          </p:cNvGraphicFramePr>
          <p:nvPr>
            <p:extLst>
              <p:ext uri="{D42A27DB-BD31-4B8C-83A1-F6EECF244321}">
                <p14:modId xmlns:p14="http://schemas.microsoft.com/office/powerpoint/2010/main" val="3181942210"/>
              </p:ext>
            </p:extLst>
          </p:nvPr>
        </p:nvGraphicFramePr>
        <p:xfrm>
          <a:off x="1712727" y="1319753"/>
          <a:ext cx="8766545" cy="4430179"/>
        </p:xfrm>
        <a:graphic>
          <a:graphicData uri="http://schemas.openxmlformats.org/drawingml/2006/table">
            <a:tbl>
              <a:tblPr firstRow="1" bandRow="1">
                <a:tableStyleId>{5C22544A-7EE6-4342-B048-85BDC9FD1C3A}</a:tableStyleId>
              </a:tblPr>
              <a:tblGrid>
                <a:gridCol w="4870303">
                  <a:extLst>
                    <a:ext uri="{9D8B030D-6E8A-4147-A177-3AD203B41FA5}">
                      <a16:colId xmlns:a16="http://schemas.microsoft.com/office/drawing/2014/main" val="20000"/>
                    </a:ext>
                  </a:extLst>
                </a:gridCol>
                <a:gridCol w="3896242">
                  <a:extLst>
                    <a:ext uri="{9D8B030D-6E8A-4147-A177-3AD203B41FA5}">
                      <a16:colId xmlns:a16="http://schemas.microsoft.com/office/drawing/2014/main" val="20001"/>
                    </a:ext>
                  </a:extLst>
                </a:gridCol>
              </a:tblGrid>
              <a:tr h="1470527">
                <a:tc>
                  <a:txBody>
                    <a:bodyPr/>
                    <a:lstStyle/>
                    <a:p>
                      <a:pPr algn="ctr">
                        <a:lnSpc>
                          <a:spcPct val="150000"/>
                        </a:lnSpc>
                      </a:pPr>
                      <a:r>
                        <a:rPr lang="en-US" altLang="zh-CN" sz="2000" dirty="0">
                          <a:solidFill>
                            <a:schemeClr val="bg1"/>
                          </a:solidFill>
                          <a:latin typeface="Segoe UI" panose="020B0502040204020203" pitchFamily="34" charset="0"/>
                          <a:ea typeface="Segoe UI" panose="020B0502040204020203" pitchFamily="34" charset="0"/>
                          <a:cs typeface="Segoe UI" panose="020B0502040204020203" pitchFamily="34" charset="0"/>
                        </a:rPr>
                        <a:t>Advantage</a:t>
                      </a:r>
                      <a:r>
                        <a:rPr lang="en-US" altLang="zh-CN" sz="2000" baseline="0" dirty="0">
                          <a:solidFill>
                            <a:schemeClr val="bg1"/>
                          </a:solidFill>
                          <a:latin typeface="Segoe UI" panose="020B0502040204020203" pitchFamily="34" charset="0"/>
                          <a:ea typeface="Segoe UI" panose="020B0502040204020203" pitchFamily="34" charset="0"/>
                          <a:cs typeface="Segoe UI" panose="020B0502040204020203" pitchFamily="34" charset="0"/>
                        </a:rPr>
                        <a:t> of STRIPS </a:t>
                      </a:r>
                    </a:p>
                    <a:p>
                      <a:pPr algn="ctr">
                        <a:lnSpc>
                          <a:spcPct val="150000"/>
                        </a:lnSpc>
                      </a:pPr>
                      <a:r>
                        <a:rPr lang="en-US" altLang="zh-CN" sz="2000" baseline="0" dirty="0">
                          <a:solidFill>
                            <a:schemeClr val="bg1"/>
                          </a:solidFill>
                          <a:latin typeface="Segoe UI" panose="020B0502040204020203" pitchFamily="34" charset="0"/>
                          <a:ea typeface="Segoe UI" panose="020B0502040204020203" pitchFamily="34" charset="0"/>
                          <a:cs typeface="Segoe UI" panose="020B0502040204020203" pitchFamily="34" charset="0"/>
                        </a:rPr>
                        <a:t>(Why investors like them)</a:t>
                      </a:r>
                      <a:endParaRPr lang="zh-CN" altLang="en-US" sz="2000" dirty="0">
                        <a:solidFill>
                          <a:schemeClr val="bg1"/>
                        </a:solidFill>
                        <a:latin typeface="Segoe UI" panose="020B0502040204020203" pitchFamily="34" charset="0"/>
                        <a:cs typeface="Segoe UI" panose="020B0502040204020203" pitchFamily="34" charset="0"/>
                      </a:endParaRPr>
                    </a:p>
                  </a:txBody>
                  <a:tcPr marL="72000" marR="72000" marT="72000" marB="72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a:lnSpc>
                          <a:spcPct val="150000"/>
                        </a:lnSpc>
                      </a:pPr>
                      <a:r>
                        <a:rPr lang="en-US" altLang="zh-CN" sz="2000" dirty="0">
                          <a:solidFill>
                            <a:schemeClr val="bg1"/>
                          </a:solidFill>
                          <a:latin typeface="Segoe UI" panose="020B0502040204020203" pitchFamily="34" charset="0"/>
                          <a:ea typeface="Segoe UI" panose="020B0502040204020203" pitchFamily="34" charset="0"/>
                          <a:cs typeface="Segoe UI" panose="020B0502040204020203" pitchFamily="34" charset="0"/>
                        </a:rPr>
                        <a:t>Disadvantages of STRIPS</a:t>
                      </a:r>
                      <a:endParaRPr lang="zh-CN" altLang="en-US" sz="2000" dirty="0">
                        <a:solidFill>
                          <a:schemeClr val="bg1"/>
                        </a:solidFill>
                        <a:latin typeface="Segoe UI" panose="020B0502040204020203" pitchFamily="34" charset="0"/>
                        <a:cs typeface="Segoe UI" panose="020B0502040204020203" pitchFamily="34" charset="0"/>
                      </a:endParaRPr>
                    </a:p>
                  </a:txBody>
                  <a:tcPr marL="72000" marR="72000" marT="72000" marB="72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10000"/>
                  </a:ext>
                </a:extLst>
              </a:tr>
              <a:tr h="1470527">
                <a:tc>
                  <a:txBody>
                    <a:bodyPr/>
                    <a:lstStyle/>
                    <a:p>
                      <a:pPr algn="just">
                        <a:lnSpc>
                          <a:spcPct val="150000"/>
                        </a:lnSpc>
                      </a:pP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They can be combined or re-constructed into any required sequence of cash flows.</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Can be illiquid.</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489125">
                <a:tc>
                  <a:txBody>
                    <a:bodyPr/>
                    <a:lstStyle/>
                    <a:p>
                      <a:pPr algn="just">
                        <a:lnSpc>
                          <a:spcPct val="150000"/>
                        </a:lnSpc>
                      </a:pP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More interest-rate</a:t>
                      </a:r>
                      <a:r>
                        <a:rPr lang="en-US" altLang="zh-CN" sz="1800"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sensitive than coupon bearing bonds (all other things being equal).</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lnSpc>
                          <a:spcPct val="150000"/>
                        </a:lnSpc>
                      </a:pP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Short term</a:t>
                      </a:r>
                      <a:r>
                        <a:rPr lang="en-US" altLang="zh-CN" sz="1800"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(long-term) C-STRIPS often trade rich (cheap).</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091152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Spot, Forward and Par Rates</a:t>
            </a:r>
          </a:p>
        </p:txBody>
      </p:sp>
      <p:sp>
        <p:nvSpPr>
          <p:cNvPr id="3" name="文本占位符 2"/>
          <p:cNvSpPr>
            <a:spLocks noGrp="1"/>
          </p:cNvSpPr>
          <p:nvPr>
            <p:ph type="body" sz="quarter" idx="10"/>
          </p:nvPr>
        </p:nvSpPr>
        <p:spPr/>
        <p:txBody>
          <a:bodyPr>
            <a:normAutofit/>
          </a:bodyPr>
          <a:lstStyle/>
          <a:p>
            <a:r>
              <a:rPr lang="en-US" altLang="zh-CN" dirty="0"/>
              <a:t>Discount Factor</a:t>
            </a:r>
          </a:p>
          <a:p>
            <a:pPr lvl="1"/>
            <a:r>
              <a:rPr lang="en-US" altLang="zh-CN" u="sng" dirty="0"/>
              <a:t>The </a:t>
            </a:r>
            <a:r>
              <a:rPr lang="en-US" altLang="zh-CN" b="1" u="sng" dirty="0"/>
              <a:t>discount factor</a:t>
            </a:r>
            <a:r>
              <a:rPr lang="en-US" altLang="zh-CN" u="sng" dirty="0"/>
              <a:t>, d(t), for a term of (t) years, gives the present value of one unit of currency ($1) to be received at the end of that term.</a:t>
            </a:r>
          </a:p>
          <a:p>
            <a:pPr lvl="1"/>
            <a:r>
              <a:rPr lang="en-US" altLang="zh-CN" b="1" dirty="0"/>
              <a:t>Example: </a:t>
            </a:r>
            <a:r>
              <a:rPr lang="en-US" altLang="zh-CN" dirty="0"/>
              <a:t>If d(0.5) = 0.97557, the present value of $1 to be received in six months is 97.557 cents. Assume A pays $105 in six months. Given the same discount factor, $105 to be received in six months is worth 0.97557×$105 = $102.43.</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25914639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Spot, Forward and Par Rates</a:t>
            </a:r>
          </a:p>
        </p:txBody>
      </p:sp>
      <p:sp>
        <p:nvSpPr>
          <p:cNvPr id="3" name="文本占位符 2"/>
          <p:cNvSpPr>
            <a:spLocks noGrp="1"/>
          </p:cNvSpPr>
          <p:nvPr>
            <p:ph type="body" sz="quarter" idx="10"/>
          </p:nvPr>
        </p:nvSpPr>
        <p:spPr/>
        <p:txBody>
          <a:bodyPr>
            <a:normAutofit/>
          </a:bodyPr>
          <a:lstStyle/>
          <a:p>
            <a:r>
              <a:rPr lang="en-US" altLang="zh-CN" dirty="0"/>
              <a:t>Spot Rate</a:t>
            </a:r>
          </a:p>
          <a:p>
            <a:pPr marL="742950" lvl="1"/>
            <a:r>
              <a:rPr lang="en-US" altLang="zh-CN" dirty="0"/>
              <a:t>A t-period </a:t>
            </a:r>
            <a:r>
              <a:rPr lang="en-US" altLang="zh-CN" b="1" dirty="0"/>
              <a:t>spot rate</a:t>
            </a:r>
            <a:r>
              <a:rPr lang="en-US" altLang="zh-CN" dirty="0"/>
              <a:t>, or </a:t>
            </a:r>
            <a:r>
              <a:rPr lang="en-US" altLang="zh-CN" b="1" dirty="0"/>
              <a:t>zero rate</a:t>
            </a:r>
            <a:r>
              <a:rPr lang="en-US" altLang="zh-CN" dirty="0"/>
              <a:t>, denoted as z(t), is the </a:t>
            </a:r>
            <a:r>
              <a:rPr lang="en-US" altLang="zh-CN" u="sng" dirty="0"/>
              <a:t>yield to maturity on a zero-coupon bond that matures in t-years</a:t>
            </a:r>
            <a:r>
              <a:rPr lang="en-US" altLang="zh-CN" dirty="0"/>
              <a:t>.</a:t>
            </a:r>
          </a:p>
          <a:p>
            <a:pPr marL="742950" lvl="1"/>
            <a:r>
              <a:rPr lang="en-US" altLang="zh-CN" dirty="0"/>
              <a:t>The </a:t>
            </a:r>
            <a:r>
              <a:rPr lang="en-US" altLang="zh-CN" b="1" dirty="0"/>
              <a:t>spot rate curve</a:t>
            </a:r>
            <a:r>
              <a:rPr lang="en-US" altLang="zh-CN" dirty="0"/>
              <a:t> is the </a:t>
            </a:r>
            <a:r>
              <a:rPr lang="en-US" altLang="zh-CN" u="sng" dirty="0"/>
              <a:t>graph of the relationship between spot rates and maturity</a:t>
            </a:r>
            <a:r>
              <a:rPr lang="en-US" altLang="zh-CN" dirty="0"/>
              <a:t>.</a:t>
            </a:r>
          </a:p>
          <a:p>
            <a:pPr marL="742950" lvl="1"/>
            <a:r>
              <a:rPr lang="en-US" altLang="zh-CN" dirty="0"/>
              <a:t>The spot rate curve can be derived from either a series of </a:t>
            </a:r>
            <a:r>
              <a:rPr lang="en-US" altLang="zh-CN" u="sng" dirty="0"/>
              <a:t>S</a:t>
            </a:r>
            <a:r>
              <a:rPr lang="zh-CN" altLang="en-US" u="sng" dirty="0"/>
              <a:t>TRIPS</a:t>
            </a:r>
            <a:r>
              <a:rPr lang="en-US" altLang="zh-CN" dirty="0"/>
              <a:t> prices, or the comparable </a:t>
            </a:r>
            <a:r>
              <a:rPr lang="en-US" altLang="zh-CN" u="sng" dirty="0"/>
              <a:t>discount factor</a:t>
            </a:r>
            <a:r>
              <a:rPr lang="en-US" altLang="zh-CN" dirty="0"/>
              <a:t>. </a:t>
            </a:r>
            <a:endParaRPr lang="en-US" altLang="zh-CN" u="sng" dirty="0"/>
          </a:p>
          <a:p>
            <a:endParaRPr lang="zh-CN" altLang="en-US" dirty="0">
              <a:latin typeface="+mn-lt"/>
              <a:ea typeface="+mn-ea"/>
              <a:cs typeface="+mn-ea"/>
              <a:sym typeface="+mn-lt"/>
            </a:endParaRPr>
          </a:p>
        </p:txBody>
      </p:sp>
      <p:graphicFrame>
        <p:nvGraphicFramePr>
          <p:cNvPr id="4" name="Object 75">
            <a:extLst>
              <a:ext uri="{FF2B5EF4-FFF2-40B4-BE49-F238E27FC236}">
                <a16:creationId xmlns:a16="http://schemas.microsoft.com/office/drawing/2014/main" id="{DDF0EF2B-8259-4406-9927-53E68B954C79}"/>
              </a:ext>
            </a:extLst>
          </p:cNvPr>
          <p:cNvGraphicFramePr>
            <a:graphicFrameLocks/>
          </p:cNvGraphicFramePr>
          <p:nvPr>
            <p:extLst>
              <p:ext uri="{D42A27DB-BD31-4B8C-83A1-F6EECF244321}">
                <p14:modId xmlns:p14="http://schemas.microsoft.com/office/powerpoint/2010/main" val="2715433967"/>
              </p:ext>
            </p:extLst>
          </p:nvPr>
        </p:nvGraphicFramePr>
        <p:xfrm>
          <a:off x="7330279" y="4591690"/>
          <a:ext cx="3244827" cy="1660265"/>
        </p:xfrm>
        <a:graphic>
          <a:graphicData uri="http://schemas.openxmlformats.org/presentationml/2006/ole">
            <mc:AlternateContent xmlns:mc="http://schemas.openxmlformats.org/markup-compatibility/2006">
              <mc:Choice xmlns:v="urn:schemas-microsoft-com:vml" Requires="v">
                <p:oleObj spid="_x0000_s9230" name="Equation" r:id="rId4" imgW="1244520" imgH="571320" progId="Equation.DSMT4">
                  <p:embed/>
                </p:oleObj>
              </mc:Choice>
              <mc:Fallback>
                <p:oleObj name="Equation" r:id="rId4" imgW="1244520" imgH="571320" progId="Equation.DSMT4">
                  <p:embed/>
                  <p:pic>
                    <p:nvPicPr>
                      <p:cNvPr id="15364" name="Object 75"/>
                      <p:cNvPicPr>
                        <a:picLocks noChangeAspect="1" noChangeArrowheads="1"/>
                      </p:cNvPicPr>
                      <p:nvPr/>
                    </p:nvPicPr>
                    <p:blipFill>
                      <a:blip r:embed="rId5"/>
                      <a:srcRect/>
                      <a:stretch>
                        <a:fillRect/>
                      </a:stretch>
                    </p:blipFill>
                    <p:spPr bwMode="auto">
                      <a:xfrm>
                        <a:off x="7330279" y="4591690"/>
                        <a:ext cx="3244827" cy="1660265"/>
                      </a:xfrm>
                      <a:prstGeom prst="rect">
                        <a:avLst/>
                      </a:prstGeom>
                      <a:noFill/>
                      <a:ln w="19050">
                        <a:solidFill>
                          <a:schemeClr val="accent1">
                            <a:lumMod val="75000"/>
                          </a:schemeClr>
                        </a:solidFill>
                      </a:ln>
                      <a:effectLst/>
                      <a:extLst/>
                    </p:spPr>
                  </p:pic>
                </p:oleObj>
              </mc:Fallback>
            </mc:AlternateContent>
          </a:graphicData>
        </a:graphic>
      </p:graphicFrame>
      <p:graphicFrame>
        <p:nvGraphicFramePr>
          <p:cNvPr id="5" name="Object 76">
            <a:extLst>
              <a:ext uri="{FF2B5EF4-FFF2-40B4-BE49-F238E27FC236}">
                <a16:creationId xmlns:a16="http://schemas.microsoft.com/office/drawing/2014/main" id="{055D85E9-D947-43AB-B374-D001AD89D164}"/>
              </a:ext>
            </a:extLst>
          </p:cNvPr>
          <p:cNvGraphicFramePr>
            <a:graphicFrameLocks/>
          </p:cNvGraphicFramePr>
          <p:nvPr>
            <p:extLst>
              <p:ext uri="{D42A27DB-BD31-4B8C-83A1-F6EECF244321}">
                <p14:modId xmlns:p14="http://schemas.microsoft.com/office/powerpoint/2010/main" val="1434316456"/>
              </p:ext>
            </p:extLst>
          </p:nvPr>
        </p:nvGraphicFramePr>
        <p:xfrm>
          <a:off x="2802531" y="4816700"/>
          <a:ext cx="2789377" cy="1210246"/>
        </p:xfrm>
        <a:graphic>
          <a:graphicData uri="http://schemas.openxmlformats.org/presentationml/2006/ole">
            <mc:AlternateContent xmlns:mc="http://schemas.openxmlformats.org/markup-compatibility/2006">
              <mc:Choice xmlns:v="urn:schemas-microsoft-com:vml" Requires="v">
                <p:oleObj spid="_x0000_s9231" name="Equation" r:id="rId6" imgW="1028520" imgH="406080" progId="Equation.DSMT4">
                  <p:embed/>
                </p:oleObj>
              </mc:Choice>
              <mc:Fallback>
                <p:oleObj name="Equation" r:id="rId6" imgW="1028520" imgH="406080" progId="Equation.DSMT4">
                  <p:embed/>
                  <p:pic>
                    <p:nvPicPr>
                      <p:cNvPr id="15365" name="Object 76"/>
                      <p:cNvPicPr>
                        <a:picLocks noChangeAspect="1" noChangeArrowheads="1"/>
                      </p:cNvPicPr>
                      <p:nvPr/>
                    </p:nvPicPr>
                    <p:blipFill>
                      <a:blip r:embed="rId7"/>
                      <a:srcRect/>
                      <a:stretch>
                        <a:fillRect/>
                      </a:stretch>
                    </p:blipFill>
                    <p:spPr bwMode="auto">
                      <a:xfrm>
                        <a:off x="2802531" y="4816700"/>
                        <a:ext cx="2789377" cy="1210246"/>
                      </a:xfrm>
                      <a:prstGeom prst="rect">
                        <a:avLst/>
                      </a:prstGeom>
                      <a:noFill/>
                      <a:ln w="19050">
                        <a:solidFill>
                          <a:schemeClr val="accent1">
                            <a:lumMod val="75000"/>
                          </a:schemeClr>
                        </a:solidFill>
                        <a:miter lim="800000"/>
                        <a:headEnd/>
                        <a:tailEnd/>
                      </a:ln>
                      <a:extLst/>
                    </p:spPr>
                  </p:pic>
                </p:oleObj>
              </mc:Fallback>
            </mc:AlternateContent>
          </a:graphicData>
        </a:graphic>
      </p:graphicFrame>
    </p:spTree>
    <p:extLst>
      <p:ext uri="{BB962C8B-B14F-4D97-AF65-F5344CB8AC3E}">
        <p14:creationId xmlns:p14="http://schemas.microsoft.com/office/powerpoint/2010/main" val="5337933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Spot, Forward and Par Rates</a:t>
            </a:r>
            <a:endParaRPr lang="zh-CN" altLang="en-US" sz="2800" dirty="0"/>
          </a:p>
        </p:txBody>
      </p:sp>
      <p:graphicFrame>
        <p:nvGraphicFramePr>
          <p:cNvPr id="4" name="图表 3">
            <a:extLst>
              <a:ext uri="{FF2B5EF4-FFF2-40B4-BE49-F238E27FC236}">
                <a16:creationId xmlns:a16="http://schemas.microsoft.com/office/drawing/2014/main" id="{2ACA850A-D21F-44D6-8950-DE7414F0DED8}"/>
              </a:ext>
            </a:extLst>
          </p:cNvPr>
          <p:cNvGraphicFramePr>
            <a:graphicFrameLocks/>
          </p:cNvGraphicFramePr>
          <p:nvPr>
            <p:extLst>
              <p:ext uri="{D42A27DB-BD31-4B8C-83A1-F6EECF244321}">
                <p14:modId xmlns:p14="http://schemas.microsoft.com/office/powerpoint/2010/main" val="3471570764"/>
              </p:ext>
            </p:extLst>
          </p:nvPr>
        </p:nvGraphicFramePr>
        <p:xfrm>
          <a:off x="7344139" y="1442776"/>
          <a:ext cx="4078610" cy="315163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表格 4">
            <a:extLst>
              <a:ext uri="{FF2B5EF4-FFF2-40B4-BE49-F238E27FC236}">
                <a16:creationId xmlns:a16="http://schemas.microsoft.com/office/drawing/2014/main" id="{33AF532E-A89F-48B8-83F0-9E386E0A54F5}"/>
              </a:ext>
            </a:extLst>
          </p:cNvPr>
          <p:cNvGraphicFramePr>
            <a:graphicFrameLocks noGrp="1"/>
          </p:cNvGraphicFramePr>
          <p:nvPr>
            <p:extLst>
              <p:ext uri="{D42A27DB-BD31-4B8C-83A1-F6EECF244321}">
                <p14:modId xmlns:p14="http://schemas.microsoft.com/office/powerpoint/2010/main" val="1705559409"/>
              </p:ext>
            </p:extLst>
          </p:nvPr>
        </p:nvGraphicFramePr>
        <p:xfrm>
          <a:off x="954131" y="1161682"/>
          <a:ext cx="4212000" cy="3564000"/>
        </p:xfrm>
        <a:graphic>
          <a:graphicData uri="http://schemas.openxmlformats.org/drawingml/2006/table">
            <a:tbl>
              <a:tblPr/>
              <a:tblGrid>
                <a:gridCol w="1080000">
                  <a:extLst>
                    <a:ext uri="{9D8B030D-6E8A-4147-A177-3AD203B41FA5}">
                      <a16:colId xmlns:a16="http://schemas.microsoft.com/office/drawing/2014/main" val="20000"/>
                    </a:ext>
                  </a:extLst>
                </a:gridCol>
                <a:gridCol w="1152000">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792000">
                  <a:extLst>
                    <a:ext uri="{9D8B030D-6E8A-4147-A177-3AD203B41FA5}">
                      <a16:colId xmlns:a16="http://schemas.microsoft.com/office/drawing/2014/main" val="20003"/>
                    </a:ext>
                  </a:extLst>
                </a:gridCol>
              </a:tblGrid>
              <a:tr h="540000">
                <a:tc gridSpan="4">
                  <a:txBody>
                    <a:bodyPr/>
                    <a:lstStyle/>
                    <a:p>
                      <a:pPr algn="ctr" fontAlgn="ct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STRIPS Prices and Discount Factors</a:t>
                      </a: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648000">
                <a:tc>
                  <a:txBody>
                    <a:bodyPr/>
                    <a:lstStyle/>
                    <a:p>
                      <a:pPr algn="ctr" fontAlgn="ct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Maturity</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STRIPS Price</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Discount Factor</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Spot Rate</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000">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0.5</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99.2556</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0.992556</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1.50%</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6000">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1.0</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97.8842</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0.978842</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2.15%</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6000">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1.5</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96.2990</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0.962990</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2.53%</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6000">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2.0</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94.3299</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0.943299</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2.94%</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96000">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2.5</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92.1205</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0.921205</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3.31%</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96000">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3.0</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89.7961</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0.897961</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3.62%</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6" name="对象 5">
            <a:extLst>
              <a:ext uri="{FF2B5EF4-FFF2-40B4-BE49-F238E27FC236}">
                <a16:creationId xmlns:a16="http://schemas.microsoft.com/office/drawing/2014/main" id="{92A77EC1-F5E3-4788-AB25-4E00C3613483}"/>
              </a:ext>
            </a:extLst>
          </p:cNvPr>
          <p:cNvGraphicFramePr>
            <a:graphicFrameLocks/>
          </p:cNvGraphicFramePr>
          <p:nvPr>
            <p:extLst>
              <p:ext uri="{D42A27DB-BD31-4B8C-83A1-F6EECF244321}">
                <p14:modId xmlns:p14="http://schemas.microsoft.com/office/powerpoint/2010/main" val="3854098987"/>
              </p:ext>
            </p:extLst>
          </p:nvPr>
        </p:nvGraphicFramePr>
        <p:xfrm>
          <a:off x="4140159" y="5355032"/>
          <a:ext cx="2339975" cy="1076325"/>
        </p:xfrm>
        <a:graphic>
          <a:graphicData uri="http://schemas.openxmlformats.org/presentationml/2006/ole">
            <mc:AlternateContent xmlns:mc="http://schemas.openxmlformats.org/markup-compatibility/2006">
              <mc:Choice xmlns:v="urn:schemas-microsoft-com:vml" Requires="v">
                <p:oleObj spid="_x0000_s10252" name="Equation" r:id="rId5" imgW="1218960" imgH="545760" progId="Equation.DSMT4">
                  <p:embed/>
                </p:oleObj>
              </mc:Choice>
              <mc:Fallback>
                <p:oleObj name="Equation" r:id="rId5" imgW="1218960" imgH="545760" progId="Equation.DSMT4">
                  <p:embed/>
                  <p:pic>
                    <p:nvPicPr>
                      <p:cNvPr id="7" name="对象 6"/>
                      <p:cNvPicPr>
                        <a:picLocks noChangeArrowheads="1"/>
                      </p:cNvPicPr>
                      <p:nvPr/>
                    </p:nvPicPr>
                    <p:blipFill>
                      <a:blip r:embed="rId6"/>
                      <a:srcRect/>
                      <a:stretch>
                        <a:fillRect/>
                      </a:stretch>
                    </p:blipFill>
                    <p:spPr bwMode="auto">
                      <a:xfrm>
                        <a:off x="4140159" y="5355032"/>
                        <a:ext cx="233997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a:extLst>
              <a:ext uri="{FF2B5EF4-FFF2-40B4-BE49-F238E27FC236}">
                <a16:creationId xmlns:a16="http://schemas.microsoft.com/office/drawing/2014/main" id="{D1EA60E7-FCFC-4EDF-B6EA-8BF1BF61F309}"/>
              </a:ext>
            </a:extLst>
          </p:cNvPr>
          <p:cNvGraphicFramePr>
            <a:graphicFrameLocks/>
          </p:cNvGraphicFramePr>
          <p:nvPr>
            <p:extLst>
              <p:ext uri="{D42A27DB-BD31-4B8C-83A1-F6EECF244321}">
                <p14:modId xmlns:p14="http://schemas.microsoft.com/office/powerpoint/2010/main" val="3000204313"/>
              </p:ext>
            </p:extLst>
          </p:nvPr>
        </p:nvGraphicFramePr>
        <p:xfrm>
          <a:off x="954131" y="5345508"/>
          <a:ext cx="2287587" cy="1095375"/>
        </p:xfrm>
        <a:graphic>
          <a:graphicData uri="http://schemas.openxmlformats.org/presentationml/2006/ole">
            <mc:AlternateContent xmlns:mc="http://schemas.openxmlformats.org/markup-compatibility/2006">
              <mc:Choice xmlns:v="urn:schemas-microsoft-com:vml" Requires="v">
                <p:oleObj spid="_x0000_s10253" name="Equation" r:id="rId7" imgW="1091880" imgH="495000" progId="Equation.DSMT4">
                  <p:embed/>
                </p:oleObj>
              </mc:Choice>
              <mc:Fallback>
                <p:oleObj name="Equation" r:id="rId7" imgW="1091880" imgH="495000" progId="Equation.DSMT4">
                  <p:embed/>
                  <p:pic>
                    <p:nvPicPr>
                      <p:cNvPr id="9" name="对象 8"/>
                      <p:cNvPicPr>
                        <a:picLocks noChangeArrowheads="1"/>
                      </p:cNvPicPr>
                      <p:nvPr/>
                    </p:nvPicPr>
                    <p:blipFill>
                      <a:blip r:embed="rId8"/>
                      <a:srcRect/>
                      <a:stretch>
                        <a:fillRect/>
                      </a:stretch>
                    </p:blipFill>
                    <p:spPr bwMode="auto">
                      <a:xfrm>
                        <a:off x="954131" y="5345508"/>
                        <a:ext cx="2287587"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圆角矩形 7">
            <a:extLst>
              <a:ext uri="{FF2B5EF4-FFF2-40B4-BE49-F238E27FC236}">
                <a16:creationId xmlns:a16="http://schemas.microsoft.com/office/drawing/2014/main" id="{948F1121-2BA5-4CC1-B221-2C3BBE561543}"/>
              </a:ext>
            </a:extLst>
          </p:cNvPr>
          <p:cNvSpPr/>
          <p:nvPr/>
        </p:nvSpPr>
        <p:spPr>
          <a:xfrm>
            <a:off x="7488155" y="1282042"/>
            <a:ext cx="3960440" cy="3456384"/>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050696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Spot, Forward and Par Rates</a:t>
            </a:r>
            <a:endParaRPr lang="zh-CN" altLang="en-US" sz="2800" dirty="0"/>
          </a:p>
        </p:txBody>
      </p:sp>
      <p:sp>
        <p:nvSpPr>
          <p:cNvPr id="3" name="文本占位符 2"/>
          <p:cNvSpPr>
            <a:spLocks noGrp="1"/>
          </p:cNvSpPr>
          <p:nvPr>
            <p:ph type="body" sz="quarter" idx="10"/>
          </p:nvPr>
        </p:nvSpPr>
        <p:spPr>
          <a:xfrm>
            <a:off x="393599" y="813469"/>
            <a:ext cx="11404800" cy="3283745"/>
          </a:xfrm>
        </p:spPr>
        <p:txBody>
          <a:bodyPr>
            <a:normAutofit fontScale="92500" lnSpcReduction="10000"/>
          </a:bodyPr>
          <a:lstStyle/>
          <a:p>
            <a:pPr>
              <a:lnSpc>
                <a:spcPct val="200000"/>
              </a:lnSpc>
            </a:pPr>
            <a:r>
              <a:rPr lang="en-US" altLang="zh-CN" dirty="0"/>
              <a:t>Forward Rate</a:t>
            </a:r>
          </a:p>
          <a:p>
            <a:pPr marL="742950" lvl="1">
              <a:lnSpc>
                <a:spcPct val="200000"/>
              </a:lnSpc>
            </a:pPr>
            <a:r>
              <a:rPr lang="en-US" altLang="zh-CN" dirty="0"/>
              <a:t>Forward rates are </a:t>
            </a:r>
            <a:r>
              <a:rPr lang="en-US" altLang="zh-CN" u="sng" dirty="0"/>
              <a:t>interest rates corresponding to a future period implied by the spot curve</a:t>
            </a:r>
            <a:r>
              <a:rPr lang="en-US" altLang="zh-CN" dirty="0"/>
              <a:t>.</a:t>
            </a:r>
          </a:p>
          <a:p>
            <a:pPr marL="742950" lvl="1">
              <a:lnSpc>
                <a:spcPct val="200000"/>
              </a:lnSpc>
            </a:pPr>
            <a:r>
              <a:rPr lang="en-US" altLang="zh-CN" dirty="0"/>
              <a:t>All forward rates are computed using spot rates, and all spot rates can be computed using the appropriate forward rates.</a:t>
            </a:r>
          </a:p>
          <a:p>
            <a:endParaRPr lang="zh-CN" altLang="en-US" dirty="0">
              <a:latin typeface="+mn-lt"/>
              <a:ea typeface="+mn-ea"/>
              <a:cs typeface="+mn-ea"/>
              <a:sym typeface="+mn-lt"/>
            </a:endParaRPr>
          </a:p>
        </p:txBody>
      </p:sp>
      <p:graphicFrame>
        <p:nvGraphicFramePr>
          <p:cNvPr id="4" name="对象 1">
            <a:extLst>
              <a:ext uri="{FF2B5EF4-FFF2-40B4-BE49-F238E27FC236}">
                <a16:creationId xmlns:a16="http://schemas.microsoft.com/office/drawing/2014/main" id="{229994EE-A402-4D1E-8A33-366D9E01F9E0}"/>
              </a:ext>
            </a:extLst>
          </p:cNvPr>
          <p:cNvGraphicFramePr>
            <a:graphicFrameLocks/>
          </p:cNvGraphicFramePr>
          <p:nvPr>
            <p:extLst>
              <p:ext uri="{D42A27DB-BD31-4B8C-83A1-F6EECF244321}">
                <p14:modId xmlns:p14="http://schemas.microsoft.com/office/powerpoint/2010/main" val="3270949001"/>
              </p:ext>
            </p:extLst>
          </p:nvPr>
        </p:nvGraphicFramePr>
        <p:xfrm>
          <a:off x="2406576" y="4097214"/>
          <a:ext cx="7378845" cy="2198651"/>
        </p:xfrm>
        <a:graphic>
          <a:graphicData uri="http://schemas.openxmlformats.org/presentationml/2006/ole">
            <mc:AlternateContent xmlns:mc="http://schemas.openxmlformats.org/markup-compatibility/2006">
              <mc:Choice xmlns:v="urn:schemas-microsoft-com:vml" Requires="v">
                <p:oleObj spid="_x0000_s11271" name="Equation" r:id="rId4" imgW="2260440" imgH="622080" progId="Equation.DSMT4">
                  <p:embed/>
                </p:oleObj>
              </mc:Choice>
              <mc:Fallback>
                <p:oleObj name="Equation" r:id="rId4" imgW="2260440" imgH="622080" progId="Equation.DSMT4">
                  <p:embed/>
                  <p:pic>
                    <p:nvPicPr>
                      <p:cNvPr id="17412" name="对象 1"/>
                      <p:cNvPicPr preferRelativeResize="0">
                        <a:picLocks noChangeAspect="1" noChangeArrowheads="1"/>
                      </p:cNvPicPr>
                      <p:nvPr/>
                    </p:nvPicPr>
                    <p:blipFill>
                      <a:blip r:embed="rId5"/>
                      <a:srcRect/>
                      <a:stretch>
                        <a:fillRect/>
                      </a:stretch>
                    </p:blipFill>
                    <p:spPr bwMode="auto">
                      <a:xfrm>
                        <a:off x="2406576" y="4097214"/>
                        <a:ext cx="7378845" cy="2198651"/>
                      </a:xfrm>
                      <a:prstGeom prst="rect">
                        <a:avLst/>
                      </a:prstGeom>
                      <a:noFill/>
                      <a:ln w="19050">
                        <a:solidFill>
                          <a:schemeClr val="accent1">
                            <a:lumMod val="75000"/>
                          </a:schemeClr>
                        </a:solidFill>
                        <a:miter lim="800000"/>
                        <a:headEnd/>
                        <a:tailEnd/>
                      </a:ln>
                      <a:extLst/>
                    </p:spPr>
                  </p:pic>
                </p:oleObj>
              </mc:Fallback>
            </mc:AlternateContent>
          </a:graphicData>
        </a:graphic>
      </p:graphicFrame>
    </p:spTree>
    <p:extLst>
      <p:ext uri="{BB962C8B-B14F-4D97-AF65-F5344CB8AC3E}">
        <p14:creationId xmlns:p14="http://schemas.microsoft.com/office/powerpoint/2010/main" val="37600282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Spot, Forward and Par Rates</a:t>
            </a:r>
            <a:endParaRPr lang="zh-CN" altLang="en-US" sz="2800" dirty="0"/>
          </a:p>
        </p:txBody>
      </p:sp>
      <p:graphicFrame>
        <p:nvGraphicFramePr>
          <p:cNvPr id="4" name="表格 3">
            <a:extLst>
              <a:ext uri="{FF2B5EF4-FFF2-40B4-BE49-F238E27FC236}">
                <a16:creationId xmlns:a16="http://schemas.microsoft.com/office/drawing/2014/main" id="{66C184E2-AE73-4FDE-A5A6-70B570668E67}"/>
              </a:ext>
            </a:extLst>
          </p:cNvPr>
          <p:cNvGraphicFramePr>
            <a:graphicFrameLocks noGrp="1"/>
          </p:cNvGraphicFramePr>
          <p:nvPr>
            <p:extLst>
              <p:ext uri="{D42A27DB-BD31-4B8C-83A1-F6EECF244321}">
                <p14:modId xmlns:p14="http://schemas.microsoft.com/office/powerpoint/2010/main" val="2538518300"/>
              </p:ext>
            </p:extLst>
          </p:nvPr>
        </p:nvGraphicFramePr>
        <p:xfrm>
          <a:off x="1218673" y="1268760"/>
          <a:ext cx="3600000" cy="3564000"/>
        </p:xfrm>
        <a:graphic>
          <a:graphicData uri="http://schemas.openxmlformats.org/drawingml/2006/table">
            <a:tbl>
              <a:tblPr/>
              <a:tblGrid>
                <a:gridCol w="108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1620000">
                  <a:extLst>
                    <a:ext uri="{9D8B030D-6E8A-4147-A177-3AD203B41FA5}">
                      <a16:colId xmlns:a16="http://schemas.microsoft.com/office/drawing/2014/main" val="20002"/>
                    </a:ext>
                  </a:extLst>
                </a:gridCol>
              </a:tblGrid>
              <a:tr h="540000">
                <a:tc gridSpan="3">
                  <a:txBody>
                    <a:bodyPr/>
                    <a:lstStyle/>
                    <a:p>
                      <a:pPr algn="ctr" fontAlgn="ct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Spot Rates and Forward Rates</a:t>
                      </a: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648000">
                <a:tc>
                  <a:txBody>
                    <a:bodyPr/>
                    <a:lstStyle/>
                    <a:p>
                      <a:pPr algn="ctr" fontAlgn="ct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Maturity</a:t>
                      </a:r>
                      <a:b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b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(Years)</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Spot Rate</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6-Month</a:t>
                      </a:r>
                      <a:b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b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Forward Rate</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000">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0.5</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1.50%</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1.50%</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6000">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1.0</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2.15%</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2.80%</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6000">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1.5</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2.53%</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3.29%</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6000">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2.0</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2.94%</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4.17%</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96000">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2.5</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3.31%</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4.80%</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96000">
                <a:tc>
                  <a:txBody>
                    <a:bodyPr/>
                    <a:lstStyle/>
                    <a:p>
                      <a:pPr algn="ctr" fontAlgn="ct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3.0</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3.62%</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fontAlgn="ct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5.18%</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5" name="图表 4">
            <a:extLst>
              <a:ext uri="{FF2B5EF4-FFF2-40B4-BE49-F238E27FC236}">
                <a16:creationId xmlns:a16="http://schemas.microsoft.com/office/drawing/2014/main" id="{D8CD116A-39BF-4E45-806E-703B2EA5B1ED}"/>
              </a:ext>
            </a:extLst>
          </p:cNvPr>
          <p:cNvGraphicFramePr>
            <a:graphicFrameLocks/>
          </p:cNvGraphicFramePr>
          <p:nvPr>
            <p:extLst>
              <p:ext uri="{D42A27DB-BD31-4B8C-83A1-F6EECF244321}">
                <p14:modId xmlns:p14="http://schemas.microsoft.com/office/powerpoint/2010/main" val="1681735908"/>
              </p:ext>
            </p:extLst>
          </p:nvPr>
        </p:nvGraphicFramePr>
        <p:xfrm>
          <a:off x="6025044" y="1268760"/>
          <a:ext cx="5351770" cy="320382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对象 5">
            <a:extLst>
              <a:ext uri="{FF2B5EF4-FFF2-40B4-BE49-F238E27FC236}">
                <a16:creationId xmlns:a16="http://schemas.microsoft.com/office/drawing/2014/main" id="{2E221444-6F3B-43A7-A693-346F2CFAC742}"/>
              </a:ext>
            </a:extLst>
          </p:cNvPr>
          <p:cNvGraphicFramePr>
            <a:graphicFrameLocks/>
          </p:cNvGraphicFramePr>
          <p:nvPr>
            <p:extLst>
              <p:ext uri="{D42A27DB-BD31-4B8C-83A1-F6EECF244321}">
                <p14:modId xmlns:p14="http://schemas.microsoft.com/office/powerpoint/2010/main" val="2507958782"/>
              </p:ext>
            </p:extLst>
          </p:nvPr>
        </p:nvGraphicFramePr>
        <p:xfrm>
          <a:off x="1218673" y="5241992"/>
          <a:ext cx="3986213" cy="1209675"/>
        </p:xfrm>
        <a:graphic>
          <a:graphicData uri="http://schemas.openxmlformats.org/presentationml/2006/ole">
            <mc:AlternateContent xmlns:mc="http://schemas.openxmlformats.org/markup-compatibility/2006">
              <mc:Choice xmlns:v="urn:schemas-microsoft-com:vml" Requires="v">
                <p:oleObj spid="_x0000_s12294" name="Equation" r:id="rId5" imgW="2031840" imgH="596880" progId="Equation.DSMT4">
                  <p:embed/>
                </p:oleObj>
              </mc:Choice>
              <mc:Fallback>
                <p:oleObj name="Equation" r:id="rId5" imgW="2031840" imgH="596880" progId="Equation.DSMT4">
                  <p:embed/>
                  <p:pic>
                    <p:nvPicPr>
                      <p:cNvPr id="10" name="对象 9"/>
                      <p:cNvPicPr>
                        <a:picLocks noChangeAspect="1" noChangeArrowheads="1"/>
                      </p:cNvPicPr>
                      <p:nvPr/>
                    </p:nvPicPr>
                    <p:blipFill>
                      <a:blip r:embed="rId6"/>
                      <a:srcRect/>
                      <a:stretch>
                        <a:fillRect/>
                      </a:stretch>
                    </p:blipFill>
                    <p:spPr bwMode="auto">
                      <a:xfrm>
                        <a:off x="1218673" y="5241992"/>
                        <a:ext cx="3986213" cy="1209675"/>
                      </a:xfrm>
                      <a:prstGeom prst="rect">
                        <a:avLst/>
                      </a:prstGeom>
                      <a:noFill/>
                      <a:ln w="19050">
                        <a:solidFill>
                          <a:schemeClr val="accent1">
                            <a:lumMod val="75000"/>
                          </a:schemeClr>
                        </a:solidFill>
                        <a:miter lim="800000"/>
                        <a:headEnd/>
                        <a:tailEnd/>
                      </a:ln>
                      <a:extLst/>
                    </p:spPr>
                  </p:pic>
                </p:oleObj>
              </mc:Fallback>
            </mc:AlternateContent>
          </a:graphicData>
        </a:graphic>
      </p:graphicFrame>
      <p:sp>
        <p:nvSpPr>
          <p:cNvPr id="7" name="圆角矩形 5">
            <a:extLst>
              <a:ext uri="{FF2B5EF4-FFF2-40B4-BE49-F238E27FC236}">
                <a16:creationId xmlns:a16="http://schemas.microsoft.com/office/drawing/2014/main" id="{FE723D7F-6307-42D8-A8C0-E36DE574F443}"/>
              </a:ext>
            </a:extLst>
          </p:cNvPr>
          <p:cNvSpPr/>
          <p:nvPr/>
        </p:nvSpPr>
        <p:spPr>
          <a:xfrm>
            <a:off x="6096000" y="1268760"/>
            <a:ext cx="5363834" cy="3373578"/>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010585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Spot, Forward and Par Rates</a:t>
            </a:r>
            <a:endParaRPr lang="zh-CN" altLang="en-US" sz="2800" dirty="0"/>
          </a:p>
        </p:txBody>
      </p:sp>
      <p:sp>
        <p:nvSpPr>
          <p:cNvPr id="3" name="文本占位符 2"/>
          <p:cNvSpPr>
            <a:spLocks noGrp="1"/>
          </p:cNvSpPr>
          <p:nvPr>
            <p:ph type="body" sz="quarter" idx="10"/>
          </p:nvPr>
        </p:nvSpPr>
        <p:spPr>
          <a:xfrm>
            <a:off x="393599" y="813469"/>
            <a:ext cx="11404800" cy="2457269"/>
          </a:xfrm>
        </p:spPr>
        <p:txBody>
          <a:bodyPr>
            <a:normAutofit fontScale="92500"/>
          </a:bodyPr>
          <a:lstStyle/>
          <a:p>
            <a:r>
              <a:rPr lang="en-US" altLang="zh-CN" dirty="0"/>
              <a:t>Par Rate</a:t>
            </a:r>
          </a:p>
          <a:p>
            <a:pPr lvl="1"/>
            <a:r>
              <a:rPr lang="en-US" altLang="zh-CN" dirty="0"/>
              <a:t>The T-year, semiannual par rate is the rate, C(T), such that a fixed-rate asset with par value of $100 that makes regular semi-annual coupon payments of C(T)/2×$100 discounts to a present value equal to the par value of $100.</a:t>
            </a:r>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5A19B300-E110-4C3B-BFB3-3F2A9BD0BA14}"/>
              </a:ext>
            </a:extLst>
          </p:cNvPr>
          <p:cNvGrpSpPr/>
          <p:nvPr/>
        </p:nvGrpSpPr>
        <p:grpSpPr>
          <a:xfrm>
            <a:off x="609600" y="3270738"/>
            <a:ext cx="5210908" cy="2861066"/>
            <a:chOff x="467544" y="3645024"/>
            <a:chExt cx="4680520" cy="2376264"/>
          </a:xfrm>
        </p:grpSpPr>
        <p:grpSp>
          <p:nvGrpSpPr>
            <p:cNvPr id="5" name="组合 4">
              <a:extLst>
                <a:ext uri="{FF2B5EF4-FFF2-40B4-BE49-F238E27FC236}">
                  <a16:creationId xmlns:a16="http://schemas.microsoft.com/office/drawing/2014/main" id="{B14F6E82-7601-4712-8704-9B8E785123F0}"/>
                </a:ext>
              </a:extLst>
            </p:cNvPr>
            <p:cNvGrpSpPr/>
            <p:nvPr/>
          </p:nvGrpSpPr>
          <p:grpSpPr>
            <a:xfrm>
              <a:off x="611560" y="3725098"/>
              <a:ext cx="4536504" cy="2296190"/>
              <a:chOff x="1043608" y="3426728"/>
              <a:chExt cx="4536504" cy="2296190"/>
            </a:xfrm>
          </p:grpSpPr>
          <p:cxnSp>
            <p:nvCxnSpPr>
              <p:cNvPr id="7" name="Straight Connector 4">
                <a:extLst>
                  <a:ext uri="{FF2B5EF4-FFF2-40B4-BE49-F238E27FC236}">
                    <a16:creationId xmlns:a16="http://schemas.microsoft.com/office/drawing/2014/main" id="{F927FCC3-0A3B-4347-9224-503989D753C0}"/>
                  </a:ext>
                </a:extLst>
              </p:cNvPr>
              <p:cNvCxnSpPr/>
              <p:nvPr/>
            </p:nvCxnSpPr>
            <p:spPr bwMode="auto">
              <a:xfrm>
                <a:off x="1260112" y="4560666"/>
                <a:ext cx="43200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Arrow Connector 6">
                <a:extLst>
                  <a:ext uri="{FF2B5EF4-FFF2-40B4-BE49-F238E27FC236}">
                    <a16:creationId xmlns:a16="http://schemas.microsoft.com/office/drawing/2014/main" id="{F8183679-FDE9-4CC5-84C1-AC5C5B32A8C7}"/>
                  </a:ext>
                </a:extLst>
              </p:cNvPr>
              <p:cNvCxnSpPr/>
              <p:nvPr/>
            </p:nvCxnSpPr>
            <p:spPr bwMode="auto">
              <a:xfrm flipV="1">
                <a:off x="1979712" y="4020666"/>
                <a:ext cx="0" cy="5400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Straight Arrow Connector 7">
                <a:extLst>
                  <a:ext uri="{FF2B5EF4-FFF2-40B4-BE49-F238E27FC236}">
                    <a16:creationId xmlns:a16="http://schemas.microsoft.com/office/drawing/2014/main" id="{6D78FACC-4EB5-4356-A44E-2D6FB5C65346}"/>
                  </a:ext>
                </a:extLst>
              </p:cNvPr>
              <p:cNvCxnSpPr/>
              <p:nvPr/>
            </p:nvCxnSpPr>
            <p:spPr bwMode="auto">
              <a:xfrm flipV="1">
                <a:off x="3455876" y="4020666"/>
                <a:ext cx="0" cy="5400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Straight Arrow Connector 8">
                <a:extLst>
                  <a:ext uri="{FF2B5EF4-FFF2-40B4-BE49-F238E27FC236}">
                    <a16:creationId xmlns:a16="http://schemas.microsoft.com/office/drawing/2014/main" id="{380B15E7-839D-4AAC-90B2-7C5331EE1B4F}"/>
                  </a:ext>
                </a:extLst>
              </p:cNvPr>
              <p:cNvCxnSpPr/>
              <p:nvPr/>
            </p:nvCxnSpPr>
            <p:spPr bwMode="auto">
              <a:xfrm flipV="1">
                <a:off x="4932040" y="4020666"/>
                <a:ext cx="0" cy="5400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Arrow Connector 9">
                <a:extLst>
                  <a:ext uri="{FF2B5EF4-FFF2-40B4-BE49-F238E27FC236}">
                    <a16:creationId xmlns:a16="http://schemas.microsoft.com/office/drawing/2014/main" id="{4FB57482-A034-4F09-B7B1-301F868A2D43}"/>
                  </a:ext>
                </a:extLst>
              </p:cNvPr>
              <p:cNvCxnSpPr/>
              <p:nvPr/>
            </p:nvCxnSpPr>
            <p:spPr bwMode="auto">
              <a:xfrm flipV="1">
                <a:off x="1979712" y="4560666"/>
                <a:ext cx="0" cy="5400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Arrow Connector 10">
                <a:extLst>
                  <a:ext uri="{FF2B5EF4-FFF2-40B4-BE49-F238E27FC236}">
                    <a16:creationId xmlns:a16="http://schemas.microsoft.com/office/drawing/2014/main" id="{FCB76ABC-EA89-4E40-9A1C-70391B41D04D}"/>
                  </a:ext>
                </a:extLst>
              </p:cNvPr>
              <p:cNvCxnSpPr/>
              <p:nvPr/>
            </p:nvCxnSpPr>
            <p:spPr bwMode="auto">
              <a:xfrm flipV="1">
                <a:off x="3455876" y="4560666"/>
                <a:ext cx="0" cy="5400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Arrow Connector 11">
                <a:extLst>
                  <a:ext uri="{FF2B5EF4-FFF2-40B4-BE49-F238E27FC236}">
                    <a16:creationId xmlns:a16="http://schemas.microsoft.com/office/drawing/2014/main" id="{F6CAD513-6A00-4EA8-BCFD-0E228BF22BC8}"/>
                  </a:ext>
                </a:extLst>
              </p:cNvPr>
              <p:cNvCxnSpPr/>
              <p:nvPr/>
            </p:nvCxnSpPr>
            <p:spPr bwMode="auto">
              <a:xfrm flipV="1">
                <a:off x="4932040" y="4560666"/>
                <a:ext cx="0" cy="5400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4">
                <a:extLst>
                  <a:ext uri="{FF2B5EF4-FFF2-40B4-BE49-F238E27FC236}">
                    <a16:creationId xmlns:a16="http://schemas.microsoft.com/office/drawing/2014/main" id="{BD24954B-5197-40D7-AD95-D4169922B298}"/>
                  </a:ext>
                </a:extLst>
              </p:cNvPr>
              <p:cNvSpPr txBox="1"/>
              <p:nvPr/>
            </p:nvSpPr>
            <p:spPr>
              <a:xfrm>
                <a:off x="1043608" y="3426728"/>
                <a:ext cx="2157505" cy="349702"/>
              </a:xfrm>
              <a:prstGeom prst="rect">
                <a:avLst/>
              </a:prstGeom>
              <a:noFill/>
            </p:spPr>
            <p:txBody>
              <a:bodyPr wrap="none" lIns="36000" tIns="36000" rIns="36000" bIns="36000" rtlCol="0">
                <a:spAutoFit/>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Fixed rate (pay) = ?</a:t>
                </a:r>
                <a:endParaRPr lang="zh-CN" altLang="en-US" sz="1800" dirty="0">
                  <a:solidFill>
                    <a:srgbClr val="2C3E50"/>
                  </a:solidFill>
                  <a:latin typeface="Segoe UI" panose="020B0502040204020203" pitchFamily="34" charset="0"/>
                  <a:cs typeface="Segoe UI" panose="020B0502040204020203" pitchFamily="34" charset="0"/>
                </a:endParaRPr>
              </a:p>
            </p:txBody>
          </p:sp>
          <p:sp>
            <p:nvSpPr>
              <p:cNvPr id="15" name="TextBox 15">
                <a:extLst>
                  <a:ext uri="{FF2B5EF4-FFF2-40B4-BE49-F238E27FC236}">
                    <a16:creationId xmlns:a16="http://schemas.microsoft.com/office/drawing/2014/main" id="{BB07D1D5-D160-4B18-BF50-360011C70FD8}"/>
                  </a:ext>
                </a:extLst>
              </p:cNvPr>
              <p:cNvSpPr txBox="1"/>
              <p:nvPr/>
            </p:nvSpPr>
            <p:spPr>
              <a:xfrm>
                <a:off x="1043608" y="5373216"/>
                <a:ext cx="2953428" cy="349702"/>
              </a:xfrm>
              <a:prstGeom prst="rect">
                <a:avLst/>
              </a:prstGeom>
              <a:noFill/>
            </p:spPr>
            <p:txBody>
              <a:bodyPr wrap="none" lIns="36000" tIns="36000" rIns="36000" bIns="36000" rtlCol="0">
                <a:spAutoFit/>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Float rate (receive) = Libor</a:t>
                </a:r>
                <a:endParaRPr lang="zh-CN" altLang="en-US" sz="1800" dirty="0">
                  <a:solidFill>
                    <a:srgbClr val="2C3E50"/>
                  </a:solidFill>
                  <a:latin typeface="Segoe UI" panose="020B0502040204020203" pitchFamily="34" charset="0"/>
                  <a:cs typeface="Segoe UI" panose="020B0502040204020203" pitchFamily="34" charset="0"/>
                </a:endParaRPr>
              </a:p>
            </p:txBody>
          </p:sp>
        </p:grpSp>
        <p:sp>
          <p:nvSpPr>
            <p:cNvPr id="6" name="圆角矩形 16">
              <a:extLst>
                <a:ext uri="{FF2B5EF4-FFF2-40B4-BE49-F238E27FC236}">
                  <a16:creationId xmlns:a16="http://schemas.microsoft.com/office/drawing/2014/main" id="{1E803E9E-177C-47F4-8AB9-9E60ED0F8502}"/>
                </a:ext>
              </a:extLst>
            </p:cNvPr>
            <p:cNvSpPr/>
            <p:nvPr/>
          </p:nvSpPr>
          <p:spPr>
            <a:xfrm>
              <a:off x="467544" y="3645024"/>
              <a:ext cx="4680520" cy="2376264"/>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16" name="对象 15">
            <a:extLst>
              <a:ext uri="{FF2B5EF4-FFF2-40B4-BE49-F238E27FC236}">
                <a16:creationId xmlns:a16="http://schemas.microsoft.com/office/drawing/2014/main" id="{B7209506-3E17-41E5-A5DB-5F870FB9CD7D}"/>
              </a:ext>
            </a:extLst>
          </p:cNvPr>
          <p:cNvGraphicFramePr>
            <a:graphicFrameLocks/>
          </p:cNvGraphicFramePr>
          <p:nvPr>
            <p:extLst>
              <p:ext uri="{D42A27DB-BD31-4B8C-83A1-F6EECF244321}">
                <p14:modId xmlns:p14="http://schemas.microsoft.com/office/powerpoint/2010/main" val="1921376446"/>
              </p:ext>
            </p:extLst>
          </p:nvPr>
        </p:nvGraphicFramePr>
        <p:xfrm>
          <a:off x="6742438" y="3429000"/>
          <a:ext cx="5210909" cy="2678235"/>
        </p:xfrm>
        <a:graphic>
          <a:graphicData uri="http://schemas.openxmlformats.org/presentationml/2006/ole">
            <mc:AlternateContent xmlns:mc="http://schemas.openxmlformats.org/markup-compatibility/2006">
              <mc:Choice xmlns:v="urn:schemas-microsoft-com:vml" Requires="v">
                <p:oleObj spid="_x0000_s13318" name="Equation" r:id="rId4" imgW="1536480" imgH="749160" progId="Equation.DSMT4">
                  <p:embed/>
                </p:oleObj>
              </mc:Choice>
              <mc:Fallback>
                <p:oleObj name="Equation" r:id="rId4" imgW="1536480" imgH="749160" progId="Equation.DSMT4">
                  <p:embed/>
                  <p:pic>
                    <p:nvPicPr>
                      <p:cNvPr id="6" name="对象 5"/>
                      <p:cNvPicPr>
                        <a:picLocks noChangeArrowheads="1"/>
                      </p:cNvPicPr>
                      <p:nvPr/>
                    </p:nvPicPr>
                    <p:blipFill>
                      <a:blip r:embed="rId5"/>
                      <a:srcRect/>
                      <a:stretch>
                        <a:fillRect/>
                      </a:stretch>
                    </p:blipFill>
                    <p:spPr bwMode="auto">
                      <a:xfrm>
                        <a:off x="6742438" y="3429000"/>
                        <a:ext cx="5210909" cy="2678235"/>
                      </a:xfrm>
                      <a:prstGeom prst="rect">
                        <a:avLst/>
                      </a:prstGeom>
                      <a:noFill/>
                      <a:ln w="19050">
                        <a:noFill/>
                        <a:miter lim="800000"/>
                        <a:headEnd/>
                        <a:tailEnd/>
                      </a:ln>
                    </p:spPr>
                  </p:pic>
                </p:oleObj>
              </mc:Fallback>
            </mc:AlternateContent>
          </a:graphicData>
        </a:graphic>
      </p:graphicFrame>
    </p:spTree>
    <p:extLst>
      <p:ext uri="{BB962C8B-B14F-4D97-AF65-F5344CB8AC3E}">
        <p14:creationId xmlns:p14="http://schemas.microsoft.com/office/powerpoint/2010/main" val="6877351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Spot, Forward and Par Rates</a:t>
            </a:r>
            <a:endParaRPr lang="zh-CN" altLang="en-US" sz="2800" dirty="0"/>
          </a:p>
        </p:txBody>
      </p:sp>
      <p:sp>
        <p:nvSpPr>
          <p:cNvPr id="3" name="文本占位符 2"/>
          <p:cNvSpPr>
            <a:spLocks noGrp="1"/>
          </p:cNvSpPr>
          <p:nvPr>
            <p:ph type="body" sz="quarter" idx="10"/>
          </p:nvPr>
        </p:nvSpPr>
        <p:spPr/>
        <p:txBody>
          <a:bodyPr>
            <a:normAutofit/>
          </a:bodyPr>
          <a:lstStyle/>
          <a:p>
            <a:pPr>
              <a:lnSpc>
                <a:spcPct val="200000"/>
              </a:lnSpc>
            </a:pPr>
            <a:r>
              <a:rPr lang="zh-CN" altLang="en-US" dirty="0"/>
              <a:t>Term</a:t>
            </a:r>
            <a:r>
              <a:rPr lang="en-US" altLang="zh-CN" dirty="0"/>
              <a:t> Structure</a:t>
            </a:r>
          </a:p>
          <a:p>
            <a:pPr marL="742950" lvl="1">
              <a:lnSpc>
                <a:spcPct val="200000"/>
              </a:lnSpc>
            </a:pPr>
            <a:r>
              <a:rPr lang="en-US" altLang="zh-CN" u="sng" dirty="0"/>
              <a:t>The relationship between spot rates and maturity/term is called the term structure of spot rate.</a:t>
            </a:r>
          </a:p>
          <a:p>
            <a:pPr marL="742950" lvl="1">
              <a:lnSpc>
                <a:spcPct val="200000"/>
              </a:lnSpc>
            </a:pPr>
            <a:r>
              <a:rPr lang="en-US" altLang="zh-CN" dirty="0"/>
              <a:t>Flattening: longer-term rates fall by more than shorter-term rates, or shorter-term rates rise by more than longer-term rates.</a:t>
            </a:r>
          </a:p>
          <a:p>
            <a:pPr marL="742950" lvl="1">
              <a:lnSpc>
                <a:spcPct val="200000"/>
              </a:lnSpc>
            </a:pPr>
            <a:r>
              <a:rPr lang="en-US" altLang="zh-CN" dirty="0"/>
              <a:t>Steepening: longer-term rates increase by more than shorter-term rates, or shorter-term rates fall by more than longer-term rates.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59468613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Spot, Forward and Par Rates</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latin typeface="+mn-lt"/>
                <a:ea typeface="+mn-ea"/>
                <a:cs typeface="+mn-ea"/>
                <a:sym typeface="+mn-lt"/>
              </a:rPr>
              <a:t>Exercise 1</a:t>
            </a:r>
          </a:p>
          <a:p>
            <a:pPr>
              <a:buFont typeface="Wingdings" panose="05000000000000000000" pitchFamily="2" charset="2"/>
              <a:buChar char="l"/>
            </a:pPr>
            <a:r>
              <a:rPr lang="en-US" altLang="zh-CN" dirty="0">
                <a:solidFill>
                  <a:schemeClr val="tx1"/>
                </a:solidFill>
              </a:rPr>
              <a:t>The following discount function contains semi-annual discount factors out to two years: d(0.5) = 0.9970, d(1.0) = 0.9911, d(1.5) = 0.9809, d(2.0) = 0.9706. What is the implied eighteen-month (1.5 year) spot rate (aka, 1.5 year zero rate)?</a:t>
            </a:r>
          </a:p>
          <a:p>
            <a:pPr marL="817200" lvl="1" indent="-457200">
              <a:buSzPct val="100000"/>
              <a:buFont typeface="+mj-lt"/>
              <a:buAutoNum type="alphaUcPeriod"/>
            </a:pPr>
            <a:r>
              <a:rPr lang="en-US" altLang="zh-CN" dirty="0"/>
              <a:t>0.600%</a:t>
            </a:r>
          </a:p>
          <a:p>
            <a:pPr marL="817200" lvl="1" indent="-457200">
              <a:buSzPct val="100000"/>
              <a:buFont typeface="+mj-lt"/>
              <a:buAutoNum type="alphaUcPeriod"/>
            </a:pPr>
            <a:r>
              <a:rPr lang="en-US" altLang="zh-CN" dirty="0"/>
              <a:t>1.176%</a:t>
            </a:r>
          </a:p>
          <a:p>
            <a:pPr marL="817200" lvl="1" indent="-457200">
              <a:buSzPct val="100000"/>
              <a:buFont typeface="+mj-lt"/>
              <a:buAutoNum type="alphaUcPeriod"/>
            </a:pPr>
            <a:r>
              <a:rPr lang="en-US" altLang="zh-CN" dirty="0"/>
              <a:t>1.290%</a:t>
            </a:r>
          </a:p>
          <a:p>
            <a:pPr marL="817200" lvl="1" indent="-457200">
              <a:buSzPct val="100000"/>
              <a:buFont typeface="+mj-lt"/>
              <a:buAutoNum type="alphaUcPeriod"/>
            </a:pPr>
            <a:r>
              <a:rPr lang="en-US" altLang="zh-CN" dirty="0"/>
              <a:t>1.505%</a:t>
            </a:r>
          </a:p>
          <a:p>
            <a:pPr marL="817200" lvl="1" indent="-457200">
              <a:buSzPct val="100000"/>
              <a:buFont typeface="+mj-lt"/>
              <a:buAutoNum type="alphaUcPeriod"/>
            </a:pPr>
            <a:endParaRPr lang="en-US" altLang="zh-CN" dirty="0"/>
          </a:p>
          <a:p>
            <a:pPr marL="417150" indent="-457200">
              <a:buSzPct val="100000"/>
              <a:buFont typeface="Wingdings" panose="05000000000000000000" pitchFamily="2" charset="2"/>
              <a:buChar char="l"/>
            </a:pPr>
            <a:r>
              <a:rPr lang="en-US" altLang="zh-CN" dirty="0">
                <a:solidFill>
                  <a:schemeClr val="tx1"/>
                </a:solidFill>
              </a:rPr>
              <a:t>Correct Answer : C</a:t>
            </a:r>
            <a:endParaRPr lang="zh-CN" altLang="en-US" dirty="0">
              <a:solidFill>
                <a:schemeClr val="tx1"/>
              </a:solidFill>
              <a:latin typeface="+mn-lt"/>
              <a:ea typeface="+mn-ea"/>
              <a:cs typeface="+mn-ea"/>
              <a:sym typeface="+mn-lt"/>
            </a:endParaRPr>
          </a:p>
        </p:txBody>
      </p:sp>
    </p:spTree>
    <p:extLst>
      <p:ext uri="{BB962C8B-B14F-4D97-AF65-F5344CB8AC3E}">
        <p14:creationId xmlns:p14="http://schemas.microsoft.com/office/powerpoint/2010/main" val="19640044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Spot, Forward and Par Rates</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Exercise 2</a:t>
            </a:r>
          </a:p>
          <a:p>
            <a:pPr algn="just">
              <a:buFont typeface="Wingdings" panose="05000000000000000000" pitchFamily="2" charset="2"/>
              <a:buChar char="l"/>
            </a:pPr>
            <a:r>
              <a:rPr lang="en-US" altLang="zh-CN" dirty="0">
                <a:solidFill>
                  <a:schemeClr val="tx1"/>
                </a:solidFill>
              </a:rPr>
              <a:t>The price of a six-month zero-coupon bond is $99.90 and the price of a one-year zero-coupon bond is $98.56. What is the implied six-month forward rate, under semi-annual compounding?</a:t>
            </a:r>
          </a:p>
          <a:p>
            <a:pPr marL="817200" lvl="1" indent="-457200" algn="just">
              <a:buSzPct val="100000"/>
              <a:buFont typeface="+mj-lt"/>
              <a:buAutoNum type="alphaUcPeriod"/>
            </a:pPr>
            <a:r>
              <a:rPr lang="en-US" altLang="zh-CN" dirty="0"/>
              <a:t>1.30%</a:t>
            </a:r>
          </a:p>
          <a:p>
            <a:pPr marL="817200" lvl="1" indent="-457200" algn="just">
              <a:buSzPct val="100000"/>
              <a:buFont typeface="+mj-lt"/>
              <a:buAutoNum type="alphaUcPeriod"/>
            </a:pPr>
            <a:r>
              <a:rPr lang="en-US" altLang="zh-CN" dirty="0"/>
              <a:t>2.95%</a:t>
            </a:r>
          </a:p>
          <a:p>
            <a:pPr marL="817200" lvl="1" indent="-457200" algn="just">
              <a:buSzPct val="100000"/>
              <a:buFont typeface="+mj-lt"/>
              <a:buAutoNum type="alphaUcPeriod"/>
            </a:pPr>
            <a:r>
              <a:rPr lang="en-US" altLang="zh-CN" dirty="0"/>
              <a:t>2.73%</a:t>
            </a:r>
          </a:p>
          <a:p>
            <a:pPr marL="817200" lvl="1" indent="-457200" algn="just">
              <a:buSzPct val="100000"/>
              <a:buFont typeface="+mj-lt"/>
              <a:buAutoNum type="alphaUcPeriod"/>
            </a:pPr>
            <a:r>
              <a:rPr lang="en-US" altLang="zh-CN" dirty="0"/>
              <a:t>3.08%</a:t>
            </a:r>
          </a:p>
          <a:p>
            <a:pPr marL="817200" lvl="1" indent="-457200" algn="just">
              <a:buSzPct val="100000"/>
              <a:buFont typeface="+mj-lt"/>
              <a:buAutoNum type="alphaUcPeriod"/>
            </a:pPr>
            <a:endParaRPr lang="en-US" altLang="zh-CN" dirty="0"/>
          </a:p>
          <a:p>
            <a:pPr marL="417150" indent="-457200" algn="just">
              <a:buSzPct val="100000"/>
              <a:buFont typeface="Wingdings" panose="05000000000000000000" pitchFamily="2" charset="2"/>
              <a:buChar char="l"/>
            </a:pPr>
            <a:r>
              <a:rPr lang="en-US" altLang="zh-CN" dirty="0">
                <a:solidFill>
                  <a:schemeClr val="tx1"/>
                </a:solidFill>
              </a:rPr>
              <a:t>Correct Answer : C</a:t>
            </a:r>
          </a:p>
        </p:txBody>
      </p:sp>
    </p:spTree>
    <p:extLst>
      <p:ext uri="{BB962C8B-B14F-4D97-AF65-F5344CB8AC3E}">
        <p14:creationId xmlns:p14="http://schemas.microsoft.com/office/powerpoint/2010/main" val="35328460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Valuation</a:t>
            </a:r>
            <a:endParaRPr lang="zh-CN" altLang="en-US" sz="2800" dirty="0"/>
          </a:p>
        </p:txBody>
      </p:sp>
      <p:sp>
        <p:nvSpPr>
          <p:cNvPr id="3" name="文本占位符 2"/>
          <p:cNvSpPr>
            <a:spLocks noGrp="1"/>
          </p:cNvSpPr>
          <p:nvPr>
            <p:ph type="body" sz="quarter" idx="10"/>
          </p:nvPr>
        </p:nvSpPr>
        <p:spPr/>
        <p:txBody>
          <a:bodyPr>
            <a:normAutofit lnSpcReduction="10000"/>
          </a:bodyPr>
          <a:lstStyle/>
          <a:p>
            <a:pPr>
              <a:lnSpc>
                <a:spcPct val="180000"/>
              </a:lnSpc>
            </a:pPr>
            <a:r>
              <a:rPr lang="en-US" altLang="zh-CN" dirty="0"/>
              <a:t>Pricing Bond using Discount Factors, Spot Rates, or Forward Rates</a:t>
            </a:r>
          </a:p>
          <a:p>
            <a:pPr lvl="1">
              <a:lnSpc>
                <a:spcPct val="180000"/>
              </a:lnSpc>
            </a:pPr>
            <a:r>
              <a:rPr lang="en-US" altLang="zh-CN" dirty="0"/>
              <a:t>Assume a 1-year treasury bond that pays a 6% semi-annual coupon.</a:t>
            </a:r>
          </a:p>
          <a:p>
            <a:pPr lvl="1">
              <a:lnSpc>
                <a:spcPct val="180000"/>
              </a:lnSpc>
            </a:pPr>
            <a:endParaRPr lang="en-US" altLang="zh-CN" dirty="0"/>
          </a:p>
          <a:p>
            <a:pPr lvl="1">
              <a:lnSpc>
                <a:spcPct val="180000"/>
              </a:lnSpc>
            </a:pPr>
            <a:endParaRPr lang="en-US" altLang="zh-CN" dirty="0"/>
          </a:p>
          <a:p>
            <a:pPr lvl="1">
              <a:lnSpc>
                <a:spcPct val="180000"/>
              </a:lnSpc>
            </a:pPr>
            <a:endParaRPr lang="en-US" altLang="zh-CN" dirty="0"/>
          </a:p>
          <a:p>
            <a:pPr lvl="1">
              <a:lnSpc>
                <a:spcPct val="180000"/>
              </a:lnSpc>
            </a:pPr>
            <a:endParaRPr lang="en-US" altLang="zh-CN" dirty="0"/>
          </a:p>
          <a:p>
            <a:pPr lvl="1">
              <a:lnSpc>
                <a:spcPct val="180000"/>
              </a:lnSpc>
            </a:pPr>
            <a:endParaRPr lang="en-US" altLang="zh-CN" dirty="0"/>
          </a:p>
          <a:p>
            <a:pPr lvl="1">
              <a:lnSpc>
                <a:spcPct val="180000"/>
              </a:lnSpc>
            </a:pPr>
            <a:r>
              <a:rPr lang="en-US" altLang="zh-CN" dirty="0"/>
              <a:t>Calculate the Bond Price using Discount Factors.</a:t>
            </a:r>
          </a:p>
          <a:p>
            <a:pPr marL="633413" lvl="2" indent="0">
              <a:lnSpc>
                <a:spcPct val="180000"/>
              </a:lnSpc>
              <a:buNone/>
            </a:pPr>
            <a:r>
              <a:rPr lang="en-US" altLang="zh-CN" dirty="0"/>
              <a:t> Price = ($3×0.992556) + ($103×0.980296) = $103.95</a:t>
            </a:r>
            <a:endParaRPr lang="en-US" altLang="zh-CN" dirty="0">
              <a:solidFill>
                <a:schemeClr val="tx1"/>
              </a:solidFill>
            </a:endParaRPr>
          </a:p>
        </p:txBody>
      </p:sp>
      <p:graphicFrame>
        <p:nvGraphicFramePr>
          <p:cNvPr id="4" name="表格 3">
            <a:extLst>
              <a:ext uri="{FF2B5EF4-FFF2-40B4-BE49-F238E27FC236}">
                <a16:creationId xmlns:a16="http://schemas.microsoft.com/office/drawing/2014/main" id="{791A2348-4C79-4273-82EF-698FCDDA2161}"/>
              </a:ext>
            </a:extLst>
          </p:cNvPr>
          <p:cNvGraphicFramePr>
            <a:graphicFrameLocks noGrp="1"/>
          </p:cNvGraphicFramePr>
          <p:nvPr>
            <p:extLst>
              <p:ext uri="{D42A27DB-BD31-4B8C-83A1-F6EECF244321}">
                <p14:modId xmlns:p14="http://schemas.microsoft.com/office/powerpoint/2010/main" val="697429266"/>
              </p:ext>
            </p:extLst>
          </p:nvPr>
        </p:nvGraphicFramePr>
        <p:xfrm>
          <a:off x="1315224" y="2243372"/>
          <a:ext cx="9561551" cy="3014430"/>
        </p:xfrm>
        <a:graphic>
          <a:graphicData uri="http://schemas.openxmlformats.org/drawingml/2006/table">
            <a:tbl>
              <a:tblPr firstRow="1" bandRow="1">
                <a:tableStyleId>{5C22544A-7EE6-4342-B048-85BDC9FD1C3A}</a:tableStyleId>
              </a:tblPr>
              <a:tblGrid>
                <a:gridCol w="1321873">
                  <a:extLst>
                    <a:ext uri="{9D8B030D-6E8A-4147-A177-3AD203B41FA5}">
                      <a16:colId xmlns:a16="http://schemas.microsoft.com/office/drawing/2014/main" val="20000"/>
                    </a:ext>
                  </a:extLst>
                </a:gridCol>
                <a:gridCol w="2070935">
                  <a:extLst>
                    <a:ext uri="{9D8B030D-6E8A-4147-A177-3AD203B41FA5}">
                      <a16:colId xmlns:a16="http://schemas.microsoft.com/office/drawing/2014/main" val="20001"/>
                    </a:ext>
                  </a:extLst>
                </a:gridCol>
                <a:gridCol w="2423435">
                  <a:extLst>
                    <a:ext uri="{9D8B030D-6E8A-4147-A177-3AD203B41FA5}">
                      <a16:colId xmlns:a16="http://schemas.microsoft.com/office/drawing/2014/main" val="20002"/>
                    </a:ext>
                  </a:extLst>
                </a:gridCol>
                <a:gridCol w="3745308">
                  <a:extLst>
                    <a:ext uri="{9D8B030D-6E8A-4147-A177-3AD203B41FA5}">
                      <a16:colId xmlns:a16="http://schemas.microsoft.com/office/drawing/2014/main" val="20003"/>
                    </a:ext>
                  </a:extLst>
                </a:gridCol>
              </a:tblGrid>
              <a:tr h="502405">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Maturity</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Spot Rate (%)</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Discount Factor</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6</a:t>
                      </a:r>
                      <a:r>
                        <a:rPr lang="en-US" altLang="zh-CN" sz="1800"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Month Forward Rate (%)</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2405">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0.50</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1.50</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0.992556</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1.50</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02405">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1.00</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2.00</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0.980296</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2.50</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02405">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1.50</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2.25</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0.966995</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2.75</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02405">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2.00</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2.50</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0.951524</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3.25</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02405">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2.50</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2.75</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0.933997</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3.75</a:t>
                      </a:r>
                      <a:endParaRPr lang="zh-CN" altLang="en-US" sz="18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786657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Valuation</a:t>
            </a:r>
          </a:p>
        </p:txBody>
      </p:sp>
      <p:sp>
        <p:nvSpPr>
          <p:cNvPr id="3" name="文本占位符 2"/>
          <p:cNvSpPr>
            <a:spLocks noGrp="1"/>
          </p:cNvSpPr>
          <p:nvPr>
            <p:ph type="body" sz="quarter" idx="10"/>
          </p:nvPr>
        </p:nvSpPr>
        <p:spPr/>
        <p:txBody>
          <a:bodyPr>
            <a:normAutofit/>
          </a:bodyPr>
          <a:lstStyle/>
          <a:p>
            <a:pPr lvl="1"/>
            <a:r>
              <a:rPr lang="en-US" altLang="zh-CN" dirty="0"/>
              <a:t>Calculate the Bond Price using Spot Rates.</a:t>
            </a:r>
          </a:p>
          <a:p>
            <a:pPr lvl="1"/>
            <a:endParaRPr lang="en-US" altLang="zh-CN" dirty="0"/>
          </a:p>
          <a:p>
            <a:pPr lvl="1"/>
            <a:endParaRPr lang="en-US" altLang="zh-CN" dirty="0"/>
          </a:p>
          <a:p>
            <a:pPr lvl="1"/>
            <a:endParaRPr lang="en-US" altLang="zh-CN" dirty="0"/>
          </a:p>
          <a:p>
            <a:pPr lvl="1"/>
            <a:endParaRPr lang="en-US" altLang="zh-CN" dirty="0"/>
          </a:p>
          <a:p>
            <a:pPr lvl="1"/>
            <a:r>
              <a:rPr lang="en-US" altLang="zh-CN" dirty="0"/>
              <a:t>Calculate the Bond Price using Forward Rates.</a:t>
            </a:r>
            <a:endParaRPr lang="zh-CN" altLang="en-US" dirty="0"/>
          </a:p>
          <a:p>
            <a:endParaRPr lang="zh-CN" altLang="en-US" dirty="0">
              <a:latin typeface="+mn-lt"/>
              <a:ea typeface="+mn-ea"/>
              <a:cs typeface="+mn-ea"/>
              <a:sym typeface="+mn-lt"/>
            </a:endParaRPr>
          </a:p>
        </p:txBody>
      </p:sp>
      <p:graphicFrame>
        <p:nvGraphicFramePr>
          <p:cNvPr id="4" name="对象 3">
            <a:extLst>
              <a:ext uri="{FF2B5EF4-FFF2-40B4-BE49-F238E27FC236}">
                <a16:creationId xmlns:a16="http://schemas.microsoft.com/office/drawing/2014/main" id="{7D9F5AD2-3F19-456E-AF40-4C1E860E870D}"/>
              </a:ext>
            </a:extLst>
          </p:cNvPr>
          <p:cNvGraphicFramePr>
            <a:graphicFrameLocks/>
          </p:cNvGraphicFramePr>
          <p:nvPr>
            <p:extLst>
              <p:ext uri="{D42A27DB-BD31-4B8C-83A1-F6EECF244321}">
                <p14:modId xmlns:p14="http://schemas.microsoft.com/office/powerpoint/2010/main" val="2374316936"/>
              </p:ext>
            </p:extLst>
          </p:nvPr>
        </p:nvGraphicFramePr>
        <p:xfrm>
          <a:off x="3627436" y="1940413"/>
          <a:ext cx="4937125" cy="1127125"/>
        </p:xfrm>
        <a:graphic>
          <a:graphicData uri="http://schemas.openxmlformats.org/presentationml/2006/ole">
            <mc:AlternateContent xmlns:mc="http://schemas.openxmlformats.org/markup-compatibility/2006">
              <mc:Choice xmlns:v="urn:schemas-microsoft-com:vml" Requires="v">
                <p:oleObj spid="_x0000_s14347" name="Equation" r:id="rId4" imgW="2450880" imgH="558720" progId="Equation.DSMT4">
                  <p:embed/>
                </p:oleObj>
              </mc:Choice>
              <mc:Fallback>
                <p:oleObj name="Equation" r:id="rId4" imgW="2450880" imgH="558720" progId="Equation.DSMT4">
                  <p:embed/>
                  <p:pic>
                    <p:nvPicPr>
                      <p:cNvPr id="23556" name="对象 3"/>
                      <p:cNvPicPr>
                        <a:picLocks noChangeAspect="1" noChangeArrowheads="1"/>
                      </p:cNvPicPr>
                      <p:nvPr/>
                    </p:nvPicPr>
                    <p:blipFill>
                      <a:blip r:embed="rId5"/>
                      <a:srcRect/>
                      <a:stretch>
                        <a:fillRect/>
                      </a:stretch>
                    </p:blipFill>
                    <p:spPr bwMode="auto">
                      <a:xfrm>
                        <a:off x="3627436" y="1940413"/>
                        <a:ext cx="4937125" cy="1127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8D21C5B2-39F9-437D-94C2-6A258E6ABB8E}"/>
              </a:ext>
            </a:extLst>
          </p:cNvPr>
          <p:cNvGraphicFramePr>
            <a:graphicFrameLocks/>
          </p:cNvGraphicFramePr>
          <p:nvPr>
            <p:extLst>
              <p:ext uri="{D42A27DB-BD31-4B8C-83A1-F6EECF244321}">
                <p14:modId xmlns:p14="http://schemas.microsoft.com/office/powerpoint/2010/main" val="3053355088"/>
              </p:ext>
            </p:extLst>
          </p:nvPr>
        </p:nvGraphicFramePr>
        <p:xfrm>
          <a:off x="2906710" y="4614741"/>
          <a:ext cx="6378575" cy="1125538"/>
        </p:xfrm>
        <a:graphic>
          <a:graphicData uri="http://schemas.openxmlformats.org/presentationml/2006/ole">
            <mc:AlternateContent xmlns:mc="http://schemas.openxmlformats.org/markup-compatibility/2006">
              <mc:Choice xmlns:v="urn:schemas-microsoft-com:vml" Requires="v">
                <p:oleObj spid="_x0000_s14348" name="Equation" r:id="rId6" imgW="3200400" imgH="533160" progId="Equation.DSMT4">
                  <p:embed/>
                </p:oleObj>
              </mc:Choice>
              <mc:Fallback>
                <p:oleObj name="Equation" r:id="rId6" imgW="3200400" imgH="533160" progId="Equation.DSMT4">
                  <p:embed/>
                  <p:pic>
                    <p:nvPicPr>
                      <p:cNvPr id="23557" name="对象 4"/>
                      <p:cNvPicPr>
                        <a:picLocks noChangeAspect="1" noChangeArrowheads="1"/>
                      </p:cNvPicPr>
                      <p:nvPr/>
                    </p:nvPicPr>
                    <p:blipFill>
                      <a:blip r:embed="rId7"/>
                      <a:srcRect/>
                      <a:stretch>
                        <a:fillRect/>
                      </a:stretch>
                    </p:blipFill>
                    <p:spPr bwMode="auto">
                      <a:xfrm>
                        <a:off x="2906710" y="4614741"/>
                        <a:ext cx="6378575" cy="1125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61017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Valuation</a:t>
            </a:r>
          </a:p>
        </p:txBody>
      </p:sp>
      <p:sp>
        <p:nvSpPr>
          <p:cNvPr id="3" name="文本占位符 2"/>
          <p:cNvSpPr>
            <a:spLocks noGrp="1"/>
          </p:cNvSpPr>
          <p:nvPr>
            <p:ph type="body" sz="quarter" idx="10"/>
          </p:nvPr>
        </p:nvSpPr>
        <p:spPr>
          <a:xfrm>
            <a:off x="393599" y="813470"/>
            <a:ext cx="11404800" cy="3670608"/>
          </a:xfrm>
        </p:spPr>
        <p:txBody>
          <a:bodyPr>
            <a:normAutofit fontScale="92500" lnSpcReduction="20000"/>
          </a:bodyPr>
          <a:lstStyle/>
          <a:p>
            <a:r>
              <a:rPr lang="zh-CN" altLang="en-US" dirty="0"/>
              <a:t>E</a:t>
            </a:r>
            <a:r>
              <a:rPr lang="en-US" altLang="zh-CN" dirty="0" err="1"/>
              <a:t>xample</a:t>
            </a:r>
            <a:endParaRPr lang="en-US" altLang="zh-CN" dirty="0"/>
          </a:p>
          <a:p>
            <a:pPr lvl="1"/>
            <a:r>
              <a:rPr lang="en-US" altLang="zh-CN" dirty="0"/>
              <a:t>Given the interest rates as below, which of the following is closest to the price of a 4-year bond that has a par value of $1,000 and makes 10% coupon payments annually?</a:t>
            </a:r>
          </a:p>
          <a:p>
            <a:pPr lvl="2"/>
            <a:r>
              <a:rPr lang="en-US" altLang="zh-CN" dirty="0"/>
              <a:t>Current 1-year spot rate = 5.5%</a:t>
            </a:r>
          </a:p>
          <a:p>
            <a:pPr lvl="2"/>
            <a:r>
              <a:rPr lang="en-US" altLang="zh-CN" dirty="0"/>
              <a:t>1-year forward rate one year from today = 7.63%</a:t>
            </a:r>
          </a:p>
          <a:p>
            <a:pPr lvl="2"/>
            <a:r>
              <a:rPr lang="en-US" altLang="zh-CN" dirty="0"/>
              <a:t>1-year forward rate two years from today = 12.18%</a:t>
            </a:r>
          </a:p>
          <a:p>
            <a:pPr lvl="2"/>
            <a:r>
              <a:rPr lang="en-US" altLang="zh-CN" dirty="0"/>
              <a:t>1-year forward rate three years from today = 15.50%</a:t>
            </a:r>
            <a:endParaRPr lang="zh-CN" altLang="en-US" dirty="0"/>
          </a:p>
          <a:p>
            <a:endParaRPr lang="zh-CN" altLang="en-US" dirty="0">
              <a:latin typeface="+mn-lt"/>
              <a:ea typeface="+mn-ea"/>
              <a:cs typeface="+mn-ea"/>
              <a:sym typeface="+mn-lt"/>
            </a:endParaRPr>
          </a:p>
        </p:txBody>
      </p:sp>
      <p:graphicFrame>
        <p:nvGraphicFramePr>
          <p:cNvPr id="4" name="对象 3">
            <a:extLst>
              <a:ext uri="{FF2B5EF4-FFF2-40B4-BE49-F238E27FC236}">
                <a16:creationId xmlns:a16="http://schemas.microsoft.com/office/drawing/2014/main" id="{C2A966DF-525F-4D57-8ADD-E4E5E910EE1C}"/>
              </a:ext>
            </a:extLst>
          </p:cNvPr>
          <p:cNvGraphicFramePr>
            <a:graphicFrameLocks/>
          </p:cNvGraphicFramePr>
          <p:nvPr>
            <p:extLst>
              <p:ext uri="{D42A27DB-BD31-4B8C-83A1-F6EECF244321}">
                <p14:modId xmlns:p14="http://schemas.microsoft.com/office/powerpoint/2010/main" val="2291298224"/>
              </p:ext>
            </p:extLst>
          </p:nvPr>
        </p:nvGraphicFramePr>
        <p:xfrm>
          <a:off x="1835671" y="4673600"/>
          <a:ext cx="8345821" cy="1903046"/>
        </p:xfrm>
        <a:graphic>
          <a:graphicData uri="http://schemas.openxmlformats.org/presentationml/2006/ole">
            <mc:AlternateContent xmlns:mc="http://schemas.openxmlformats.org/markup-compatibility/2006">
              <mc:Choice xmlns:v="urn:schemas-microsoft-com:vml" Requires="v">
                <p:oleObj spid="_x0000_s15366" name="Equation" r:id="rId4" imgW="4559040" imgH="888840" progId="Equation.DSMT4">
                  <p:embed/>
                </p:oleObj>
              </mc:Choice>
              <mc:Fallback>
                <p:oleObj name="Equation" r:id="rId4" imgW="4559040" imgH="888840" progId="Equation.DSMT4">
                  <p:embed/>
                  <p:pic>
                    <p:nvPicPr>
                      <p:cNvPr id="2" name="对象 1"/>
                      <p:cNvPicPr>
                        <a:picLocks noChangeArrowheads="1"/>
                      </p:cNvPicPr>
                      <p:nvPr/>
                    </p:nvPicPr>
                    <p:blipFill>
                      <a:blip r:embed="rId5"/>
                      <a:srcRect/>
                      <a:stretch>
                        <a:fillRect/>
                      </a:stretch>
                    </p:blipFill>
                    <p:spPr bwMode="auto">
                      <a:xfrm>
                        <a:off x="1835671" y="4673600"/>
                        <a:ext cx="8345821" cy="1903046"/>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3619930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Valuation</a:t>
            </a:r>
          </a:p>
        </p:txBody>
      </p:sp>
      <p:sp>
        <p:nvSpPr>
          <p:cNvPr id="3" name="文本占位符 2"/>
          <p:cNvSpPr>
            <a:spLocks noGrp="1"/>
          </p:cNvSpPr>
          <p:nvPr>
            <p:ph type="body" sz="quarter" idx="10"/>
          </p:nvPr>
        </p:nvSpPr>
        <p:spPr>
          <a:xfrm>
            <a:off x="393599" y="813470"/>
            <a:ext cx="11404800" cy="1789054"/>
          </a:xfrm>
        </p:spPr>
        <p:txBody>
          <a:bodyPr>
            <a:normAutofit fontScale="92500"/>
          </a:bodyPr>
          <a:lstStyle/>
          <a:p>
            <a:r>
              <a:rPr lang="en-US" altLang="zh-CN" dirty="0"/>
              <a:t>Example</a:t>
            </a:r>
          </a:p>
          <a:p>
            <a:pPr lvl="1"/>
            <a:r>
              <a:rPr lang="en-US" altLang="zh-CN" dirty="0"/>
              <a:t>The table below shows selected T-bond prices for semiannual coupon, $100 face value bonds. Calculate discount factors for these given bond prices.</a:t>
            </a:r>
          </a:p>
          <a:p>
            <a:endParaRPr lang="zh-CN" altLang="en-US" dirty="0">
              <a:latin typeface="+mn-lt"/>
              <a:ea typeface="+mn-ea"/>
              <a:cs typeface="+mn-ea"/>
              <a:sym typeface="+mn-lt"/>
            </a:endParaRPr>
          </a:p>
        </p:txBody>
      </p:sp>
      <p:graphicFrame>
        <p:nvGraphicFramePr>
          <p:cNvPr id="4" name="表格 3">
            <a:extLst>
              <a:ext uri="{FF2B5EF4-FFF2-40B4-BE49-F238E27FC236}">
                <a16:creationId xmlns:a16="http://schemas.microsoft.com/office/drawing/2014/main" id="{CA7983D3-ED24-4905-A0CA-A21A2004C9F7}"/>
              </a:ext>
            </a:extLst>
          </p:cNvPr>
          <p:cNvGraphicFramePr>
            <a:graphicFrameLocks noGrp="1"/>
          </p:cNvGraphicFramePr>
          <p:nvPr>
            <p:extLst>
              <p:ext uri="{D42A27DB-BD31-4B8C-83A1-F6EECF244321}">
                <p14:modId xmlns:p14="http://schemas.microsoft.com/office/powerpoint/2010/main" val="648628034"/>
              </p:ext>
            </p:extLst>
          </p:nvPr>
        </p:nvGraphicFramePr>
        <p:xfrm>
          <a:off x="1440392" y="2996951"/>
          <a:ext cx="9127963" cy="3263172"/>
        </p:xfrm>
        <a:graphic>
          <a:graphicData uri="http://schemas.openxmlformats.org/drawingml/2006/table">
            <a:tbl>
              <a:tblPr/>
              <a:tblGrid>
                <a:gridCol w="1726912">
                  <a:extLst>
                    <a:ext uri="{9D8B030D-6E8A-4147-A177-3AD203B41FA5}">
                      <a16:colId xmlns:a16="http://schemas.microsoft.com/office/drawing/2014/main" val="20000"/>
                    </a:ext>
                  </a:extLst>
                </a:gridCol>
                <a:gridCol w="2467017">
                  <a:extLst>
                    <a:ext uri="{9D8B030D-6E8A-4147-A177-3AD203B41FA5}">
                      <a16:colId xmlns:a16="http://schemas.microsoft.com/office/drawing/2014/main" val="20001"/>
                    </a:ext>
                  </a:extLst>
                </a:gridCol>
                <a:gridCol w="2467017">
                  <a:extLst>
                    <a:ext uri="{9D8B030D-6E8A-4147-A177-3AD203B41FA5}">
                      <a16:colId xmlns:a16="http://schemas.microsoft.com/office/drawing/2014/main" val="20002"/>
                    </a:ext>
                  </a:extLst>
                </a:gridCol>
                <a:gridCol w="2467017">
                  <a:extLst>
                    <a:ext uri="{9D8B030D-6E8A-4147-A177-3AD203B41FA5}">
                      <a16:colId xmlns:a16="http://schemas.microsoft.com/office/drawing/2014/main" val="20003"/>
                    </a:ext>
                  </a:extLst>
                </a:gridCol>
              </a:tblGrid>
              <a:tr h="543862">
                <a:tc>
                  <a:txBody>
                    <a:bodyPr/>
                    <a:lstStyle/>
                    <a:p>
                      <a:pPr algn="ctr" rtl="0" fontAlgn="ctr">
                        <a:lnSpc>
                          <a:spcPct val="100000"/>
                        </a:lnSpc>
                      </a:pP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Bond</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Coupon </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Maturity</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sz="18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Price</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43862">
                <a:tc>
                  <a:txBody>
                    <a:bodyPr/>
                    <a:lstStyle/>
                    <a:p>
                      <a:pPr algn="ctr" rtl="0" fontAlgn="ctr">
                        <a:lnSpc>
                          <a:spcPct val="100000"/>
                        </a:lnSpc>
                      </a:pP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1</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4.25%</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11/15/06</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101-16</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43862">
                <a:tc>
                  <a:txBody>
                    <a:bodyPr/>
                    <a:lstStyle/>
                    <a:p>
                      <a:pPr algn="ctr" rtl="0" fontAlgn="ctr">
                        <a:lnSpc>
                          <a:spcPct val="100000"/>
                        </a:lnSpc>
                      </a:pP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2</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7.25%</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5/15/07</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105-31+</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43862">
                <a:tc>
                  <a:txBody>
                    <a:bodyPr/>
                    <a:lstStyle/>
                    <a:p>
                      <a:pPr algn="ctr" rtl="0" fontAlgn="ctr">
                        <a:lnSpc>
                          <a:spcPct val="100000"/>
                        </a:lnSpc>
                      </a:pP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3</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2.00%</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11/15/07</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101-07</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43862">
                <a:tc>
                  <a:txBody>
                    <a:bodyPr/>
                    <a:lstStyle/>
                    <a:p>
                      <a:pPr algn="ctr" rtl="0" fontAlgn="ctr">
                        <a:lnSpc>
                          <a:spcPct val="100000"/>
                        </a:lnSpc>
                      </a:pP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4</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12.00%</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5/15/08</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120-30</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43862">
                <a:tc>
                  <a:txBody>
                    <a:bodyPr/>
                    <a:lstStyle/>
                    <a:p>
                      <a:pPr algn="ctr" rtl="0" fontAlgn="ctr">
                        <a:lnSpc>
                          <a:spcPct val="100000"/>
                        </a:lnSpc>
                      </a:pP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5</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5.75%</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11/15/08</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8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110-13+</a:t>
                      </a: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979637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Valuation</a:t>
            </a:r>
          </a:p>
        </p:txBody>
      </p:sp>
      <p:graphicFrame>
        <p:nvGraphicFramePr>
          <p:cNvPr id="5" name="Object 5">
            <a:extLst>
              <a:ext uri="{FF2B5EF4-FFF2-40B4-BE49-F238E27FC236}">
                <a16:creationId xmlns:a16="http://schemas.microsoft.com/office/drawing/2014/main" id="{E22A964A-3690-4CC0-A64C-8EA763D502BB}"/>
              </a:ext>
            </a:extLst>
          </p:cNvPr>
          <p:cNvGraphicFramePr>
            <a:graphicFrameLocks/>
          </p:cNvGraphicFramePr>
          <p:nvPr>
            <p:extLst>
              <p:ext uri="{D42A27DB-BD31-4B8C-83A1-F6EECF244321}">
                <p14:modId xmlns:p14="http://schemas.microsoft.com/office/powerpoint/2010/main" val="1393217554"/>
              </p:ext>
            </p:extLst>
          </p:nvPr>
        </p:nvGraphicFramePr>
        <p:xfrm>
          <a:off x="1444624" y="2420715"/>
          <a:ext cx="7128000" cy="720725"/>
        </p:xfrm>
        <a:graphic>
          <a:graphicData uri="http://schemas.openxmlformats.org/presentationml/2006/ole">
            <mc:AlternateContent xmlns:mc="http://schemas.openxmlformats.org/markup-compatibility/2006">
              <mc:Choice xmlns:v="urn:schemas-microsoft-com:vml" Requires="v">
                <p:oleObj spid="_x0000_s16394" name="Equation" r:id="rId4" imgW="4813200" imgH="431640" progId="Equation.DSMT4">
                  <p:embed/>
                </p:oleObj>
              </mc:Choice>
              <mc:Fallback>
                <p:oleObj name="Equation" r:id="rId4" imgW="4813200" imgH="431640" progId="Equation.DSMT4">
                  <p:embed/>
                  <p:pic>
                    <p:nvPicPr>
                      <p:cNvPr id="6" name="Object 5"/>
                      <p:cNvPicPr>
                        <a:picLocks noChangeAspect="1" noChangeArrowheads="1"/>
                      </p:cNvPicPr>
                      <p:nvPr/>
                    </p:nvPicPr>
                    <p:blipFill>
                      <a:blip r:embed="rId5"/>
                      <a:srcRect/>
                      <a:stretch>
                        <a:fillRect/>
                      </a:stretch>
                    </p:blipFill>
                    <p:spPr bwMode="auto">
                      <a:xfrm>
                        <a:off x="1444624" y="2420715"/>
                        <a:ext cx="7128000"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a:extLst>
              <a:ext uri="{FF2B5EF4-FFF2-40B4-BE49-F238E27FC236}">
                <a16:creationId xmlns:a16="http://schemas.microsoft.com/office/drawing/2014/main" id="{5A049423-8E7F-430A-AD99-C575D107CF2F}"/>
              </a:ext>
            </a:extLst>
          </p:cNvPr>
          <p:cNvGraphicFramePr>
            <a:graphicFrameLocks/>
          </p:cNvGraphicFramePr>
          <p:nvPr>
            <p:extLst>
              <p:ext uri="{D42A27DB-BD31-4B8C-83A1-F6EECF244321}">
                <p14:modId xmlns:p14="http://schemas.microsoft.com/office/powerpoint/2010/main" val="3723408502"/>
              </p:ext>
            </p:extLst>
          </p:nvPr>
        </p:nvGraphicFramePr>
        <p:xfrm>
          <a:off x="1444624" y="1254506"/>
          <a:ext cx="5160962" cy="719138"/>
        </p:xfrm>
        <a:graphic>
          <a:graphicData uri="http://schemas.openxmlformats.org/presentationml/2006/ole">
            <mc:AlternateContent xmlns:mc="http://schemas.openxmlformats.org/markup-compatibility/2006">
              <mc:Choice xmlns:v="urn:schemas-microsoft-com:vml" Requires="v">
                <p:oleObj spid="_x0000_s16395" name="Equation" r:id="rId6" imgW="3238200" imgH="431640" progId="Equation.DSMT4">
                  <p:embed/>
                </p:oleObj>
              </mc:Choice>
              <mc:Fallback>
                <p:oleObj name="Equation" r:id="rId6" imgW="3238200" imgH="431640" progId="Equation.DSMT4">
                  <p:embed/>
                  <p:pic>
                    <p:nvPicPr>
                      <p:cNvPr id="8" name="Object 5"/>
                      <p:cNvPicPr>
                        <a:picLocks noChangeAspect="1" noChangeArrowheads="1"/>
                      </p:cNvPicPr>
                      <p:nvPr/>
                    </p:nvPicPr>
                    <p:blipFill>
                      <a:blip r:embed="rId7"/>
                      <a:srcRect/>
                      <a:stretch>
                        <a:fillRect/>
                      </a:stretch>
                    </p:blipFill>
                    <p:spPr bwMode="auto">
                      <a:xfrm>
                        <a:off x="1444624" y="1254506"/>
                        <a:ext cx="5160962" cy="719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0102872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Valuation</a:t>
            </a:r>
          </a:p>
        </p:txBody>
      </p:sp>
      <p:sp>
        <p:nvSpPr>
          <p:cNvPr id="3" name="文本占位符 2"/>
          <p:cNvSpPr>
            <a:spLocks noGrp="1"/>
          </p:cNvSpPr>
          <p:nvPr>
            <p:ph type="body" sz="quarter" idx="10"/>
          </p:nvPr>
        </p:nvSpPr>
        <p:spPr/>
        <p:txBody>
          <a:bodyPr>
            <a:normAutofit fontScale="92500" lnSpcReduction="20000"/>
          </a:bodyPr>
          <a:lstStyle/>
          <a:p>
            <a:r>
              <a:rPr lang="en-US" altLang="zh-CN" dirty="0"/>
              <a:t>Price of an Annuity and a Perpetuity</a:t>
            </a:r>
          </a:p>
          <a:p>
            <a:pPr lvl="1"/>
            <a:r>
              <a:rPr lang="en-US" altLang="zh-CN" b="1" dirty="0"/>
              <a:t>Annuity</a:t>
            </a:r>
            <a:endParaRPr lang="en-US" altLang="zh-CN" dirty="0"/>
          </a:p>
          <a:p>
            <a:pPr lvl="2"/>
            <a:r>
              <a:rPr lang="en-US" altLang="zh-CN" dirty="0"/>
              <a:t>An annuity with semiannual payments is a security that makes a payment c/2 every six months for T years but never makes a final “principal” payment (i.e., FV=0). The price of an annuity, A(T), is given by:</a:t>
            </a:r>
          </a:p>
          <a:p>
            <a:pPr lvl="1"/>
            <a:endParaRPr lang="en-US" altLang="zh-CN" dirty="0"/>
          </a:p>
          <a:p>
            <a:pPr lvl="1"/>
            <a:endParaRPr lang="en-US" altLang="zh-CN" dirty="0"/>
          </a:p>
          <a:p>
            <a:pPr lvl="1"/>
            <a:r>
              <a:rPr lang="en-US" altLang="zh-CN" b="1" dirty="0"/>
              <a:t>Example</a:t>
            </a:r>
            <a:endParaRPr lang="en-US" altLang="zh-CN" dirty="0"/>
          </a:p>
          <a:p>
            <a:pPr lvl="2"/>
            <a:r>
              <a:rPr lang="en-US" altLang="zh-CN" dirty="0"/>
              <a:t>Suppose a fixed-income instrument offers annual payments in the amount of $100 for 10 years. The YTM of the security is 10%. Compute the price of this security.</a:t>
            </a:r>
          </a:p>
          <a:p>
            <a:endParaRPr lang="zh-CN" altLang="en-US" dirty="0">
              <a:latin typeface="+mn-lt"/>
              <a:ea typeface="+mn-ea"/>
              <a:cs typeface="+mn-ea"/>
              <a:sym typeface="+mn-lt"/>
            </a:endParaRPr>
          </a:p>
        </p:txBody>
      </p:sp>
      <p:graphicFrame>
        <p:nvGraphicFramePr>
          <p:cNvPr id="4" name="对象 2">
            <a:extLst>
              <a:ext uri="{FF2B5EF4-FFF2-40B4-BE49-F238E27FC236}">
                <a16:creationId xmlns:a16="http://schemas.microsoft.com/office/drawing/2014/main" id="{B4EF0C22-DFAB-4AA7-8FD3-C13B1176868A}"/>
              </a:ext>
            </a:extLst>
          </p:cNvPr>
          <p:cNvGraphicFramePr>
            <a:graphicFrameLocks/>
          </p:cNvGraphicFramePr>
          <p:nvPr>
            <p:extLst>
              <p:ext uri="{D42A27DB-BD31-4B8C-83A1-F6EECF244321}">
                <p14:modId xmlns:p14="http://schemas.microsoft.com/office/powerpoint/2010/main" val="186013084"/>
              </p:ext>
            </p:extLst>
          </p:nvPr>
        </p:nvGraphicFramePr>
        <p:xfrm>
          <a:off x="4510881" y="3130062"/>
          <a:ext cx="3314273" cy="1667090"/>
        </p:xfrm>
        <a:graphic>
          <a:graphicData uri="http://schemas.openxmlformats.org/presentationml/2006/ole">
            <mc:AlternateContent xmlns:mc="http://schemas.openxmlformats.org/markup-compatibility/2006">
              <mc:Choice xmlns:v="urn:schemas-microsoft-com:vml" Requires="v">
                <p:oleObj spid="_x0000_s17415" name="Equation" r:id="rId4" imgW="1193760" imgH="723600" progId="Equation.DSMT4">
                  <p:embed/>
                </p:oleObj>
              </mc:Choice>
              <mc:Fallback>
                <p:oleObj name="Equation" r:id="rId4" imgW="1193760" imgH="723600" progId="Equation.DSMT4">
                  <p:embed/>
                  <p:pic>
                    <p:nvPicPr>
                      <p:cNvPr id="26628" name="对象 2"/>
                      <p:cNvPicPr>
                        <a:picLocks noChangeAspect="1" noChangeArrowheads="1"/>
                      </p:cNvPicPr>
                      <p:nvPr/>
                    </p:nvPicPr>
                    <p:blipFill>
                      <a:blip r:embed="rId5"/>
                      <a:srcRect/>
                      <a:stretch>
                        <a:fillRect/>
                      </a:stretch>
                    </p:blipFill>
                    <p:spPr bwMode="auto">
                      <a:xfrm>
                        <a:off x="4510881" y="3130062"/>
                        <a:ext cx="3314273" cy="1667090"/>
                      </a:xfrm>
                      <a:prstGeom prst="rect">
                        <a:avLst/>
                      </a:prstGeom>
                      <a:noFill/>
                      <a:ln w="19050">
                        <a:solidFill>
                          <a:schemeClr val="accent1">
                            <a:lumMod val="75000"/>
                          </a:schemeClr>
                        </a:solidFill>
                        <a:miter lim="800000"/>
                        <a:headEnd/>
                        <a:tailEnd/>
                      </a:ln>
                      <a:extLst/>
                    </p:spPr>
                  </p:pic>
                </p:oleObj>
              </mc:Fallback>
            </mc:AlternateContent>
          </a:graphicData>
        </a:graphic>
      </p:graphicFrame>
    </p:spTree>
    <p:extLst>
      <p:ext uri="{BB962C8B-B14F-4D97-AF65-F5344CB8AC3E}">
        <p14:creationId xmlns:p14="http://schemas.microsoft.com/office/powerpoint/2010/main" val="6403248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Valuation</a:t>
            </a:r>
          </a:p>
        </p:txBody>
      </p:sp>
      <p:sp>
        <p:nvSpPr>
          <p:cNvPr id="3" name="文本占位符 2"/>
          <p:cNvSpPr>
            <a:spLocks noGrp="1"/>
          </p:cNvSpPr>
          <p:nvPr>
            <p:ph type="body" sz="quarter" idx="10"/>
          </p:nvPr>
        </p:nvSpPr>
        <p:spPr/>
        <p:txBody>
          <a:bodyPr>
            <a:normAutofit/>
          </a:bodyPr>
          <a:lstStyle/>
          <a:p>
            <a:pPr lvl="1"/>
            <a:r>
              <a:rPr lang="en-US" altLang="zh-CN" b="1" dirty="0"/>
              <a:t>Perpetuity</a:t>
            </a:r>
          </a:p>
          <a:p>
            <a:pPr lvl="2"/>
            <a:r>
              <a:rPr lang="en-US" altLang="zh-CN" dirty="0"/>
              <a:t>A perpetuity bond is a bond that pays coupons forever. The price of a perpetuity is simply the coupon divided by the yield.</a:t>
            </a:r>
          </a:p>
          <a:p>
            <a:pPr lvl="2"/>
            <a:r>
              <a:rPr lang="en-US" altLang="zh-CN" dirty="0"/>
              <a:t>Price of a perpetuity = c/y</a:t>
            </a:r>
          </a:p>
          <a:p>
            <a:pPr lvl="1"/>
            <a:r>
              <a:rPr lang="en-US" altLang="zh-CN" b="1" dirty="0"/>
              <a:t>Example</a:t>
            </a:r>
          </a:p>
          <a:p>
            <a:pPr lvl="2"/>
            <a:r>
              <a:rPr lang="en-US" altLang="zh-CN" dirty="0"/>
              <a:t>Suppose a fixed-income instrument offers annual payments in the amount of $100 into perpetuity. The YTM of the security is 10%. Compute the price of this security.</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43619379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Valuation</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Exercise 1</a:t>
            </a:r>
          </a:p>
          <a:p>
            <a:pPr algn="just">
              <a:buFont typeface="Wingdings" panose="05000000000000000000" pitchFamily="2" charset="2"/>
              <a:buChar char="l"/>
            </a:pPr>
            <a:r>
              <a:rPr lang="en-US" altLang="zh-CN" dirty="0">
                <a:solidFill>
                  <a:schemeClr val="tx1"/>
                </a:solidFill>
              </a:rPr>
              <a:t>The price of a three-year zero-coupon government bond is 85.16. The price of a similar four-year bond is 79.81. What is the one-year implied forward rate from year 3 to year 4?</a:t>
            </a:r>
          </a:p>
          <a:p>
            <a:pPr marL="817200" lvl="1" indent="-457200" algn="just">
              <a:buSzPct val="100000"/>
              <a:buFont typeface="+mj-lt"/>
              <a:buAutoNum type="alphaUcPeriod"/>
            </a:pPr>
            <a:r>
              <a:rPr lang="en-US" altLang="zh-CN" dirty="0"/>
              <a:t>5.4%</a:t>
            </a:r>
          </a:p>
          <a:p>
            <a:pPr marL="817200" lvl="1" indent="-457200" algn="just">
              <a:buSzPct val="100000"/>
              <a:buFont typeface="+mj-lt"/>
              <a:buAutoNum type="alphaUcPeriod"/>
            </a:pPr>
            <a:r>
              <a:rPr lang="en-US" altLang="zh-CN" dirty="0"/>
              <a:t>5.5%</a:t>
            </a:r>
          </a:p>
          <a:p>
            <a:pPr marL="817200" lvl="1" indent="-457200" algn="just">
              <a:buSzPct val="100000"/>
              <a:buFont typeface="+mj-lt"/>
              <a:buAutoNum type="alphaUcPeriod"/>
            </a:pPr>
            <a:r>
              <a:rPr lang="en-US" altLang="zh-CN" dirty="0"/>
              <a:t>5.8%</a:t>
            </a:r>
          </a:p>
          <a:p>
            <a:pPr marL="817200" lvl="1" indent="-457200" algn="just">
              <a:buSzPct val="100000"/>
              <a:buFont typeface="+mj-lt"/>
              <a:buAutoNum type="alphaUcPeriod"/>
            </a:pPr>
            <a:r>
              <a:rPr lang="en-US" altLang="zh-CN" dirty="0"/>
              <a:t>6.7%</a:t>
            </a:r>
          </a:p>
          <a:p>
            <a:pPr marL="817200" lvl="1" indent="-457200" algn="just">
              <a:buSzPct val="100000"/>
              <a:buFont typeface="+mj-lt"/>
              <a:buAutoNum type="alphaUcPeriod"/>
            </a:pPr>
            <a:endParaRPr lang="en-US" altLang="zh-CN" dirty="0"/>
          </a:p>
          <a:p>
            <a:pPr marL="417150" indent="-457200" algn="just">
              <a:buSzPct val="100000"/>
              <a:buFont typeface="Wingdings" panose="05000000000000000000" pitchFamily="2" charset="2"/>
              <a:buChar char="l"/>
            </a:pPr>
            <a:r>
              <a:rPr lang="en-US" altLang="zh-CN" dirty="0">
                <a:solidFill>
                  <a:schemeClr val="tx1"/>
                </a:solidFill>
              </a:rPr>
              <a:t>Correct Answer : D</a:t>
            </a:r>
            <a:endParaRPr lang="zh-CN" altLang="en-US" dirty="0">
              <a:solidFill>
                <a:schemeClr val="tx1"/>
              </a:solidFill>
              <a:latin typeface="+mn-lt"/>
              <a:ea typeface="+mn-ea"/>
              <a:cs typeface="+mn-ea"/>
              <a:sym typeface="+mn-lt"/>
            </a:endParaRPr>
          </a:p>
        </p:txBody>
      </p:sp>
    </p:spTree>
    <p:extLst>
      <p:ext uri="{BB962C8B-B14F-4D97-AF65-F5344CB8AC3E}">
        <p14:creationId xmlns:p14="http://schemas.microsoft.com/office/powerpoint/2010/main" val="28246211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Valuation</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Exercise 2</a:t>
            </a:r>
          </a:p>
          <a:p>
            <a:pPr algn="just">
              <a:buFont typeface="Wingdings" panose="05000000000000000000" pitchFamily="2" charset="2"/>
              <a:buChar char="l"/>
            </a:pPr>
            <a:r>
              <a:rPr lang="en-US" altLang="zh-CN" dirty="0">
                <a:solidFill>
                  <a:schemeClr val="tx1"/>
                </a:solidFill>
              </a:rPr>
              <a:t>A $1,000 par bond carries a coupon rate of 10%, pays coupons semiannually, and has 13 years remaining to maturity. Market rates are currently 9.25%. The price of the bond is closest to:</a:t>
            </a:r>
          </a:p>
          <a:p>
            <a:pPr marL="817200" lvl="1" indent="-457200" algn="just">
              <a:buSzPct val="100000"/>
              <a:buFont typeface="+mj-lt"/>
              <a:buAutoNum type="alphaUcPeriod"/>
            </a:pPr>
            <a:r>
              <a:rPr lang="en-US" altLang="zh-CN" dirty="0"/>
              <a:t>$586.60</a:t>
            </a:r>
          </a:p>
          <a:p>
            <a:pPr marL="817200" lvl="1" indent="-457200" algn="just">
              <a:buSzPct val="100000"/>
              <a:buFont typeface="+mj-lt"/>
              <a:buAutoNum type="alphaUcPeriod"/>
            </a:pPr>
            <a:r>
              <a:rPr lang="en-US" altLang="zh-CN" dirty="0"/>
              <a:t>$1,036.03</a:t>
            </a:r>
          </a:p>
          <a:p>
            <a:pPr marL="817200" lvl="1" indent="-457200" algn="just">
              <a:buSzPct val="100000"/>
              <a:buFont typeface="+mj-lt"/>
              <a:buAutoNum type="alphaUcPeriod"/>
            </a:pPr>
            <a:r>
              <a:rPr lang="en-US" altLang="zh-CN" dirty="0"/>
              <a:t>$1,055.41</a:t>
            </a:r>
          </a:p>
          <a:p>
            <a:pPr marL="817200" lvl="1" indent="-457200" algn="just">
              <a:buSzPct val="100000"/>
              <a:buFont typeface="+mj-lt"/>
              <a:buAutoNum type="alphaUcPeriod"/>
            </a:pPr>
            <a:r>
              <a:rPr lang="en-US" altLang="zh-CN" dirty="0"/>
              <a:t>$1,056.05</a:t>
            </a:r>
          </a:p>
          <a:p>
            <a:pPr marL="817200" lvl="1" indent="-457200" algn="just">
              <a:buSzPct val="100000"/>
              <a:buFont typeface="+mj-lt"/>
              <a:buAutoNum type="alphaUcPeriod"/>
            </a:pPr>
            <a:endParaRPr lang="en-US" altLang="zh-CN" dirty="0"/>
          </a:p>
          <a:p>
            <a:pPr marL="417150" indent="-457200" algn="just">
              <a:buSzPct val="100000"/>
              <a:buFont typeface="Wingdings" panose="05000000000000000000" pitchFamily="2" charset="2"/>
              <a:buChar char="l"/>
            </a:pPr>
            <a:r>
              <a:rPr lang="en-US" altLang="zh-CN" dirty="0">
                <a:solidFill>
                  <a:schemeClr val="tx1"/>
                </a:solidFill>
              </a:rPr>
              <a:t>Correct Answer : D</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1746627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Returns, Spreads and Yields</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Gross and Net Realized Returns</a:t>
            </a:r>
          </a:p>
          <a:p>
            <a:pPr lvl="1"/>
            <a:r>
              <a:rPr lang="en-US" altLang="zh-CN" b="1" dirty="0"/>
              <a:t>Gross Realized Returns</a:t>
            </a:r>
          </a:p>
          <a:p>
            <a:pPr lvl="1"/>
            <a:endParaRPr lang="en-US" altLang="zh-CN" dirty="0"/>
          </a:p>
          <a:p>
            <a:pPr lvl="1"/>
            <a:endParaRPr lang="en-US" altLang="zh-CN" dirty="0"/>
          </a:p>
          <a:p>
            <a:pPr lvl="1"/>
            <a:r>
              <a:rPr lang="en-US" altLang="zh-CN" dirty="0"/>
              <a:t>For example, a bond is purchased for $105.856 and settled (sold) for $105.</a:t>
            </a:r>
          </a:p>
          <a:p>
            <a:endParaRPr lang="zh-CN" altLang="en-US" dirty="0">
              <a:latin typeface="+mn-lt"/>
              <a:ea typeface="+mn-ea"/>
              <a:cs typeface="+mn-ea"/>
              <a:sym typeface="+mn-lt"/>
            </a:endParaRPr>
          </a:p>
        </p:txBody>
      </p:sp>
      <p:graphicFrame>
        <p:nvGraphicFramePr>
          <p:cNvPr id="4" name="对象 3">
            <a:extLst>
              <a:ext uri="{FF2B5EF4-FFF2-40B4-BE49-F238E27FC236}">
                <a16:creationId xmlns:a16="http://schemas.microsoft.com/office/drawing/2014/main" id="{6A018AEF-C1E5-4F85-998F-F9C1C959962F}"/>
              </a:ext>
            </a:extLst>
          </p:cNvPr>
          <p:cNvGraphicFramePr>
            <a:graphicFrameLocks/>
          </p:cNvGraphicFramePr>
          <p:nvPr>
            <p:extLst>
              <p:ext uri="{D42A27DB-BD31-4B8C-83A1-F6EECF244321}">
                <p14:modId xmlns:p14="http://schemas.microsoft.com/office/powerpoint/2010/main" val="4102677459"/>
              </p:ext>
            </p:extLst>
          </p:nvPr>
        </p:nvGraphicFramePr>
        <p:xfrm>
          <a:off x="4498425" y="1947572"/>
          <a:ext cx="3195149" cy="1059397"/>
        </p:xfrm>
        <a:graphic>
          <a:graphicData uri="http://schemas.openxmlformats.org/presentationml/2006/ole">
            <mc:AlternateContent xmlns:mc="http://schemas.openxmlformats.org/markup-compatibility/2006">
              <mc:Choice xmlns:v="urn:schemas-microsoft-com:vml" Requires="v">
                <p:oleObj spid="_x0000_s18439" name="Equation" r:id="rId4" imgW="1041120" imgH="368280" progId="Equation.DSMT4">
                  <p:embed/>
                </p:oleObj>
              </mc:Choice>
              <mc:Fallback>
                <p:oleObj name="Equation" r:id="rId4" imgW="1041120" imgH="368280" progId="Equation.DSMT4">
                  <p:embed/>
                  <p:pic>
                    <p:nvPicPr>
                      <p:cNvPr id="30724" name="对象 3"/>
                      <p:cNvPicPr>
                        <a:picLocks noChangeAspect="1" noChangeArrowheads="1"/>
                      </p:cNvPicPr>
                      <p:nvPr/>
                    </p:nvPicPr>
                    <p:blipFill>
                      <a:blip r:embed="rId5"/>
                      <a:srcRect/>
                      <a:stretch>
                        <a:fillRect/>
                      </a:stretch>
                    </p:blipFill>
                    <p:spPr bwMode="auto">
                      <a:xfrm>
                        <a:off x="4498425" y="1947572"/>
                        <a:ext cx="3195149" cy="1059397"/>
                      </a:xfrm>
                      <a:prstGeom prst="rect">
                        <a:avLst/>
                      </a:prstGeom>
                      <a:noFill/>
                      <a:extLst/>
                    </p:spPr>
                  </p:pic>
                </p:oleObj>
              </mc:Fallback>
            </mc:AlternateContent>
          </a:graphicData>
        </a:graphic>
      </p:graphicFrame>
      <p:graphicFrame>
        <p:nvGraphicFramePr>
          <p:cNvPr id="5" name="表格 4">
            <a:extLst>
              <a:ext uri="{FF2B5EF4-FFF2-40B4-BE49-F238E27FC236}">
                <a16:creationId xmlns:a16="http://schemas.microsoft.com/office/drawing/2014/main" id="{0DAD0070-C13D-4D71-9E0F-A3635E19958F}"/>
              </a:ext>
            </a:extLst>
          </p:cNvPr>
          <p:cNvGraphicFramePr>
            <a:graphicFrameLocks noGrp="1"/>
          </p:cNvGraphicFramePr>
          <p:nvPr>
            <p:extLst>
              <p:ext uri="{D42A27DB-BD31-4B8C-83A1-F6EECF244321}">
                <p14:modId xmlns:p14="http://schemas.microsoft.com/office/powerpoint/2010/main" val="574326668"/>
              </p:ext>
            </p:extLst>
          </p:nvPr>
        </p:nvGraphicFramePr>
        <p:xfrm>
          <a:off x="3953999" y="4049392"/>
          <a:ext cx="4284000" cy="2424240"/>
        </p:xfrm>
        <a:graphic>
          <a:graphicData uri="http://schemas.openxmlformats.org/drawingml/2006/table">
            <a:tbl>
              <a:tblPr firstRow="1" bandRow="1">
                <a:tableStyleId>{5C22544A-7EE6-4342-B048-85BDC9FD1C3A}</a:tableStyleId>
              </a:tblPr>
              <a:tblGrid>
                <a:gridCol w="2856000">
                  <a:extLst>
                    <a:ext uri="{9D8B030D-6E8A-4147-A177-3AD203B41FA5}">
                      <a16:colId xmlns:a16="http://schemas.microsoft.com/office/drawing/2014/main" val="20000"/>
                    </a:ext>
                  </a:extLst>
                </a:gridCol>
                <a:gridCol w="1428000">
                  <a:extLst>
                    <a:ext uri="{9D8B030D-6E8A-4147-A177-3AD203B41FA5}">
                      <a16:colId xmlns:a16="http://schemas.microsoft.com/office/drawing/2014/main" val="20001"/>
                    </a:ext>
                  </a:extLst>
                </a:gridCol>
              </a:tblGrid>
              <a:tr h="344571">
                <a:tc gridSpan="2">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Gross Realized Return</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44571">
                <a:tc>
                  <a:txBody>
                    <a:bodyPr/>
                    <a:lstStyle/>
                    <a:p>
                      <a:pPr algn="l"/>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Par</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$100</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44571">
                <a:tc>
                  <a:txBody>
                    <a:bodyPr/>
                    <a:lstStyle/>
                    <a:p>
                      <a:pPr algn="l"/>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Coupon</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4.50%</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44571">
                <a:tc>
                  <a:txBody>
                    <a:bodyPr/>
                    <a:lstStyle/>
                    <a:p>
                      <a:pPr algn="l"/>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6/1/2010 Price</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$105.856</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44571">
                <a:tc>
                  <a:txBody>
                    <a:bodyPr/>
                    <a:lstStyle/>
                    <a:p>
                      <a:pPr algn="l"/>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11/30/2010 Coupon</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$2.250</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44571">
                <a:tc>
                  <a:txBody>
                    <a:bodyPr/>
                    <a:lstStyle/>
                    <a:p>
                      <a:pPr algn="l"/>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Price</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$105.000</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44571">
                <a:tc>
                  <a:txBody>
                    <a:bodyPr/>
                    <a:lstStyle/>
                    <a:p>
                      <a:pPr algn="l"/>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Gross Realized Return</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1.317%</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9362687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sp>
        <p:nvSpPr>
          <p:cNvPr id="3" name="文本占位符 2"/>
          <p:cNvSpPr>
            <a:spLocks noGrp="1"/>
          </p:cNvSpPr>
          <p:nvPr>
            <p:ph type="body" sz="quarter" idx="10"/>
          </p:nvPr>
        </p:nvSpPr>
        <p:spPr/>
        <p:txBody>
          <a:bodyPr>
            <a:normAutofit/>
          </a:bodyPr>
          <a:lstStyle/>
          <a:p>
            <a:pPr lvl="1"/>
            <a:r>
              <a:rPr lang="en-US" altLang="zh-CN" b="1" dirty="0"/>
              <a:t>Net Realized Return</a:t>
            </a:r>
            <a:r>
              <a:rPr lang="en-US" altLang="zh-CN" dirty="0"/>
              <a:t>: net realized return incorporates funding cost</a:t>
            </a:r>
          </a:p>
          <a:p>
            <a:pPr lvl="1"/>
            <a:endParaRPr lang="en-US" altLang="zh-CN" dirty="0"/>
          </a:p>
          <a:p>
            <a:pPr lvl="1"/>
            <a:endParaRPr lang="en-US" altLang="zh-CN" dirty="0"/>
          </a:p>
          <a:p>
            <a:pPr lvl="1"/>
            <a:endParaRPr lang="en-US" altLang="zh-CN" dirty="0"/>
          </a:p>
          <a:p>
            <a:pPr lvl="1"/>
            <a:r>
              <a:rPr lang="en-US" altLang="zh-CN" dirty="0"/>
              <a:t>We continue the example, but this time we finance the purchase (we borrow the initial price). The borrowing rate happens to be 0.20% per annum, such that the loan payoff equals $105.856×(1 + 0.20%/2) = $105.962.</a:t>
            </a:r>
            <a:endParaRPr lang="zh-CN" altLang="en-US" dirty="0"/>
          </a:p>
          <a:p>
            <a:endParaRPr lang="zh-CN" altLang="en-US" dirty="0">
              <a:latin typeface="+mn-lt"/>
              <a:ea typeface="+mn-ea"/>
              <a:cs typeface="+mn-ea"/>
              <a:sym typeface="+mn-lt"/>
            </a:endParaRPr>
          </a:p>
        </p:txBody>
      </p:sp>
      <p:graphicFrame>
        <p:nvGraphicFramePr>
          <p:cNvPr id="4" name="对象 2">
            <a:extLst>
              <a:ext uri="{FF2B5EF4-FFF2-40B4-BE49-F238E27FC236}">
                <a16:creationId xmlns:a16="http://schemas.microsoft.com/office/drawing/2014/main" id="{7001D692-0A06-4184-B94E-ADB074EBBD52}"/>
              </a:ext>
            </a:extLst>
          </p:cNvPr>
          <p:cNvGraphicFramePr>
            <a:graphicFrameLocks/>
          </p:cNvGraphicFramePr>
          <p:nvPr>
            <p:extLst>
              <p:ext uri="{D42A27DB-BD31-4B8C-83A1-F6EECF244321}">
                <p14:modId xmlns:p14="http://schemas.microsoft.com/office/powerpoint/2010/main" val="1402855351"/>
              </p:ext>
            </p:extLst>
          </p:nvPr>
        </p:nvGraphicFramePr>
        <p:xfrm>
          <a:off x="3730443" y="1607111"/>
          <a:ext cx="4731114" cy="1399857"/>
        </p:xfrm>
        <a:graphic>
          <a:graphicData uri="http://schemas.openxmlformats.org/presentationml/2006/ole">
            <mc:AlternateContent xmlns:mc="http://schemas.openxmlformats.org/markup-compatibility/2006">
              <mc:Choice xmlns:v="urn:schemas-microsoft-com:vml" Requires="v">
                <p:oleObj spid="_x0000_s19462" name="Equation" r:id="rId4" imgW="1460160" imgH="380880" progId="Equation.DSMT4">
                  <p:embed/>
                </p:oleObj>
              </mc:Choice>
              <mc:Fallback>
                <p:oleObj name="Equation" r:id="rId4" imgW="1460160" imgH="380880" progId="Equation.DSMT4">
                  <p:embed/>
                  <p:pic>
                    <p:nvPicPr>
                      <p:cNvPr id="31748" name="对象 2"/>
                      <p:cNvPicPr>
                        <a:picLocks noChangeAspect="1" noChangeArrowheads="1"/>
                      </p:cNvPicPr>
                      <p:nvPr/>
                    </p:nvPicPr>
                    <p:blipFill>
                      <a:blip r:embed="rId5"/>
                      <a:srcRect/>
                      <a:stretch>
                        <a:fillRect/>
                      </a:stretch>
                    </p:blipFill>
                    <p:spPr bwMode="auto">
                      <a:xfrm>
                        <a:off x="3730443" y="1607111"/>
                        <a:ext cx="4731114" cy="1399857"/>
                      </a:xfrm>
                      <a:prstGeom prst="rect">
                        <a:avLst/>
                      </a:prstGeom>
                      <a:noFill/>
                      <a:extLst/>
                    </p:spPr>
                  </p:pic>
                </p:oleObj>
              </mc:Fallback>
            </mc:AlternateContent>
          </a:graphicData>
        </a:graphic>
      </p:graphicFrame>
    </p:spTree>
    <p:extLst>
      <p:ext uri="{BB962C8B-B14F-4D97-AF65-F5344CB8AC3E}">
        <p14:creationId xmlns:p14="http://schemas.microsoft.com/office/powerpoint/2010/main" val="17888254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graphicFrame>
        <p:nvGraphicFramePr>
          <p:cNvPr id="4" name="表格 3">
            <a:extLst>
              <a:ext uri="{FF2B5EF4-FFF2-40B4-BE49-F238E27FC236}">
                <a16:creationId xmlns:a16="http://schemas.microsoft.com/office/drawing/2014/main" id="{AC2F91E9-89CE-41EA-980A-C0674D221C9F}"/>
              </a:ext>
            </a:extLst>
          </p:cNvPr>
          <p:cNvGraphicFramePr>
            <a:graphicFrameLocks noGrp="1"/>
          </p:cNvGraphicFramePr>
          <p:nvPr>
            <p:extLst>
              <p:ext uri="{D42A27DB-BD31-4B8C-83A1-F6EECF244321}">
                <p14:modId xmlns:p14="http://schemas.microsoft.com/office/powerpoint/2010/main" val="1199569574"/>
              </p:ext>
            </p:extLst>
          </p:nvPr>
        </p:nvGraphicFramePr>
        <p:xfrm>
          <a:off x="3576000" y="1342095"/>
          <a:ext cx="5040000" cy="5020560"/>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tblGrid>
              <a:tr h="540000">
                <a:tc gridSpan="2">
                  <a:txBody>
                    <a:bodyPr/>
                    <a:lstStyle/>
                    <a:p>
                      <a:pPr algn="ctr"/>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Net Realized Return</a:t>
                      </a:r>
                      <a:endParaRPr lang="zh-CN" altLang="en-US" dirty="0">
                        <a:solidFill>
                          <a:srgbClr val="2C3E50"/>
                        </a:solidFill>
                        <a:latin typeface="Segoe UI" panose="020B0502040204020203" pitchFamily="34" charset="0"/>
                        <a:cs typeface="Segoe UI" panose="020B0502040204020203"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32000">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Par</a:t>
                      </a:r>
                      <a:endParaRPr lang="zh-CN" altLang="en-US" dirty="0">
                        <a:solidFill>
                          <a:srgbClr val="2C3E50"/>
                        </a:solidFill>
                        <a:latin typeface="Segoe UI" panose="020B0502040204020203" pitchFamily="34" charset="0"/>
                        <a:cs typeface="Segoe UI" panose="020B0502040204020203" pitchFamily="34" charset="0"/>
                      </a:endParaRP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$100</a:t>
                      </a:r>
                      <a:endParaRPr lang="zh-CN" altLang="en-US" dirty="0">
                        <a:solidFill>
                          <a:srgbClr val="2C3E50"/>
                        </a:solidFill>
                        <a:latin typeface="Segoe UI" panose="020B0502040204020203" pitchFamily="34" charset="0"/>
                        <a:cs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32000">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Coupon</a:t>
                      </a:r>
                      <a:endParaRPr lang="zh-CN" altLang="en-US" dirty="0">
                        <a:solidFill>
                          <a:srgbClr val="2C3E50"/>
                        </a:solidFill>
                        <a:latin typeface="Segoe UI" panose="020B0502040204020203" pitchFamily="34" charset="0"/>
                        <a:cs typeface="Segoe UI" panose="020B0502040204020203" pitchFamily="34" charset="0"/>
                      </a:endParaRP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4.5%</a:t>
                      </a:r>
                      <a:endParaRPr lang="zh-CN" altLang="en-US" dirty="0">
                        <a:solidFill>
                          <a:srgbClr val="2C3E50"/>
                        </a:solidFill>
                        <a:latin typeface="Segoe UI" panose="020B0502040204020203" pitchFamily="34" charset="0"/>
                        <a:cs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32000">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6/1/2010 Price</a:t>
                      </a:r>
                      <a:endParaRPr lang="zh-CN" altLang="en-US" dirty="0">
                        <a:solidFill>
                          <a:srgbClr val="2C3E50"/>
                        </a:solidFill>
                        <a:latin typeface="Segoe UI" panose="020B0502040204020203" pitchFamily="34" charset="0"/>
                        <a:cs typeface="Segoe UI" panose="020B0502040204020203" pitchFamily="34" charset="0"/>
                      </a:endParaRP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-$105.856</a:t>
                      </a:r>
                      <a:endParaRPr lang="zh-CN" altLang="en-US" dirty="0">
                        <a:solidFill>
                          <a:srgbClr val="2C3E50"/>
                        </a:solidFill>
                        <a:latin typeface="Segoe UI" panose="020B0502040204020203" pitchFamily="34" charset="0"/>
                        <a:cs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32000">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Borrow</a:t>
                      </a:r>
                      <a:endParaRPr lang="zh-CN" altLang="en-US" dirty="0">
                        <a:solidFill>
                          <a:srgbClr val="2C3E50"/>
                        </a:solidFill>
                        <a:latin typeface="Segoe UI" panose="020B0502040204020203" pitchFamily="34" charset="0"/>
                        <a:cs typeface="Segoe UI" panose="020B0502040204020203" pitchFamily="34" charset="0"/>
                      </a:endParaRP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$105.856</a:t>
                      </a:r>
                      <a:endParaRPr lang="zh-CN" altLang="en-US" dirty="0">
                        <a:solidFill>
                          <a:srgbClr val="2C3E50"/>
                        </a:solidFill>
                        <a:latin typeface="Segoe UI" panose="020B0502040204020203" pitchFamily="34" charset="0"/>
                        <a:cs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32000">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Borrow rate</a:t>
                      </a:r>
                      <a:endParaRPr lang="zh-CN" altLang="en-US" dirty="0">
                        <a:solidFill>
                          <a:srgbClr val="2C3E50"/>
                        </a:solidFill>
                        <a:latin typeface="Segoe UI" panose="020B0502040204020203" pitchFamily="34" charset="0"/>
                        <a:cs typeface="Segoe UI" panose="020B0502040204020203" pitchFamily="34" charset="0"/>
                      </a:endParaRP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0.20%</a:t>
                      </a:r>
                      <a:endParaRPr lang="zh-CN" altLang="en-US" dirty="0">
                        <a:solidFill>
                          <a:srgbClr val="2C3E50"/>
                        </a:solidFill>
                        <a:latin typeface="Segoe UI" panose="020B0502040204020203" pitchFamily="34" charset="0"/>
                        <a:cs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32000">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11/30/2010</a:t>
                      </a:r>
                      <a:r>
                        <a:rPr lang="en-US" altLang="zh-CN"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Coupon</a:t>
                      </a:r>
                      <a:endParaRPr lang="zh-CN" altLang="en-US" dirty="0">
                        <a:solidFill>
                          <a:srgbClr val="2C3E50"/>
                        </a:solidFill>
                        <a:latin typeface="Segoe UI" panose="020B0502040204020203" pitchFamily="34" charset="0"/>
                        <a:cs typeface="Segoe UI" panose="020B0502040204020203" pitchFamily="34" charset="0"/>
                      </a:endParaRP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$2.250</a:t>
                      </a:r>
                      <a:endParaRPr lang="zh-CN" altLang="en-US" dirty="0">
                        <a:solidFill>
                          <a:srgbClr val="2C3E50"/>
                        </a:solidFill>
                        <a:latin typeface="Segoe UI" panose="020B0502040204020203" pitchFamily="34" charset="0"/>
                        <a:cs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32000">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Price</a:t>
                      </a:r>
                      <a:endParaRPr lang="zh-CN" altLang="en-US" dirty="0">
                        <a:solidFill>
                          <a:srgbClr val="2C3E50"/>
                        </a:solidFill>
                        <a:latin typeface="Segoe UI" panose="020B0502040204020203" pitchFamily="34" charset="0"/>
                        <a:cs typeface="Segoe UI" panose="020B0502040204020203" pitchFamily="34" charset="0"/>
                      </a:endParaRP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$105</a:t>
                      </a:r>
                      <a:endParaRPr lang="zh-CN" altLang="en-US" dirty="0">
                        <a:solidFill>
                          <a:srgbClr val="2C3E50"/>
                        </a:solidFill>
                        <a:latin typeface="Segoe UI" panose="020B0502040204020203" pitchFamily="34" charset="0"/>
                        <a:cs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32000">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Pay Loan</a:t>
                      </a:r>
                      <a:endParaRPr lang="zh-CN" altLang="en-US" dirty="0">
                        <a:solidFill>
                          <a:srgbClr val="2C3E50"/>
                        </a:solidFill>
                        <a:latin typeface="Segoe UI" panose="020B0502040204020203" pitchFamily="34" charset="0"/>
                        <a:cs typeface="Segoe UI" panose="020B0502040204020203" pitchFamily="34" charset="0"/>
                      </a:endParaRP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-$105.962</a:t>
                      </a:r>
                      <a:endParaRPr lang="zh-CN" altLang="en-US" dirty="0">
                        <a:solidFill>
                          <a:srgbClr val="2C3E50"/>
                        </a:solidFill>
                        <a:latin typeface="Segoe UI" panose="020B0502040204020203" pitchFamily="34" charset="0"/>
                        <a:cs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432000">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Net Realized Return</a:t>
                      </a:r>
                      <a:endParaRPr lang="zh-CN" altLang="en-US" dirty="0">
                        <a:solidFill>
                          <a:srgbClr val="2C3E50"/>
                        </a:solidFill>
                        <a:latin typeface="Segoe UI" panose="020B0502040204020203" pitchFamily="34" charset="0"/>
                        <a:cs typeface="Segoe UI" panose="020B0502040204020203" pitchFamily="34" charset="0"/>
                      </a:endParaRP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1.217%</a:t>
                      </a:r>
                      <a:endParaRPr lang="zh-CN" altLang="en-US" dirty="0">
                        <a:solidFill>
                          <a:srgbClr val="2C3E50"/>
                        </a:solidFill>
                        <a:latin typeface="Segoe UI" panose="020B0502040204020203" pitchFamily="34" charset="0"/>
                        <a:cs typeface="Segoe UI" panose="020B0502040204020203" pitchFamily="34" charset="0"/>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9426419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sp>
        <p:nvSpPr>
          <p:cNvPr id="3" name="文本占位符 2"/>
          <p:cNvSpPr>
            <a:spLocks noGrp="1"/>
          </p:cNvSpPr>
          <p:nvPr>
            <p:ph type="body" sz="quarter" idx="10"/>
          </p:nvPr>
        </p:nvSpPr>
        <p:spPr/>
        <p:txBody>
          <a:bodyPr>
            <a:normAutofit/>
          </a:bodyPr>
          <a:lstStyle/>
          <a:p>
            <a:pPr>
              <a:defRPr/>
            </a:pPr>
            <a:r>
              <a:rPr lang="en-US" altLang="zh-CN" dirty="0"/>
              <a:t>Yield to Maturity</a:t>
            </a:r>
          </a:p>
          <a:p>
            <a:pPr marL="742950" lvl="1">
              <a:defRPr/>
            </a:pPr>
            <a:r>
              <a:rPr lang="en-US" altLang="zh-CN" dirty="0"/>
              <a:t>Yield to maturity is an </a:t>
            </a:r>
            <a:r>
              <a:rPr lang="en-US" altLang="zh-CN" u="sng" dirty="0"/>
              <a:t>internal rate of return found by equating the present value of the cash flows to the current price of the security</a:t>
            </a:r>
            <a:r>
              <a:rPr lang="en-US" altLang="zh-CN" dirty="0"/>
              <a:t>.</a:t>
            </a:r>
          </a:p>
          <a:p>
            <a:pPr marL="742950" lvl="1">
              <a:defRPr/>
            </a:pPr>
            <a:r>
              <a:rPr lang="en-US" altLang="zh-CN" b="1" dirty="0"/>
              <a:t>Example: </a:t>
            </a:r>
            <a:r>
              <a:rPr lang="en-US" altLang="zh-CN" dirty="0"/>
              <a:t>Suppose a bond pays $50 every six months for five years and a final payment of $1,000 at maturity in five years. If the price is $900, calculate the realized return on the security. Assume all cash flows are reinvested at the YTM.</a:t>
            </a:r>
          </a:p>
          <a:p>
            <a:pPr marL="742950" lvl="1">
              <a:defRPr/>
            </a:pPr>
            <a:r>
              <a:rPr lang="en-US" altLang="zh-CN" b="1" dirty="0"/>
              <a:t>Answer: </a:t>
            </a:r>
            <a:r>
              <a:rPr lang="en-US" altLang="zh-CN" dirty="0"/>
              <a:t>The semiannual rate is the y that solves the following equation:</a:t>
            </a:r>
          </a:p>
          <a:p>
            <a:endParaRPr lang="zh-CN" altLang="en-US" dirty="0">
              <a:latin typeface="+mn-lt"/>
              <a:ea typeface="+mn-ea"/>
              <a:cs typeface="+mn-ea"/>
              <a:sym typeface="+mn-lt"/>
            </a:endParaRPr>
          </a:p>
        </p:txBody>
      </p:sp>
      <p:graphicFrame>
        <p:nvGraphicFramePr>
          <p:cNvPr id="4" name="Object 40">
            <a:extLst>
              <a:ext uri="{FF2B5EF4-FFF2-40B4-BE49-F238E27FC236}">
                <a16:creationId xmlns:a16="http://schemas.microsoft.com/office/drawing/2014/main" id="{78BAE27D-49D1-42F5-B7D8-3DED7F680E0C}"/>
              </a:ext>
            </a:extLst>
          </p:cNvPr>
          <p:cNvGraphicFramePr>
            <a:graphicFrameLocks/>
          </p:cNvGraphicFramePr>
          <p:nvPr>
            <p:extLst>
              <p:ext uri="{D42A27DB-BD31-4B8C-83A1-F6EECF244321}">
                <p14:modId xmlns:p14="http://schemas.microsoft.com/office/powerpoint/2010/main" val="4226751346"/>
              </p:ext>
            </p:extLst>
          </p:nvPr>
        </p:nvGraphicFramePr>
        <p:xfrm>
          <a:off x="2802602" y="5345724"/>
          <a:ext cx="6586795" cy="981182"/>
        </p:xfrm>
        <a:graphic>
          <a:graphicData uri="http://schemas.openxmlformats.org/presentationml/2006/ole">
            <mc:AlternateContent xmlns:mc="http://schemas.openxmlformats.org/markup-compatibility/2006">
              <mc:Choice xmlns:v="urn:schemas-microsoft-com:vml" Requires="v">
                <p:oleObj spid="_x0000_s20486" name="Equation" r:id="rId4" imgW="2958840" imgH="380880" progId="Equation.DSMT4">
                  <p:embed/>
                </p:oleObj>
              </mc:Choice>
              <mc:Fallback>
                <p:oleObj name="Equation" r:id="rId4" imgW="2958840" imgH="380880" progId="Equation.DSMT4">
                  <p:embed/>
                  <p:pic>
                    <p:nvPicPr>
                      <p:cNvPr id="33796" name="Object 40"/>
                      <p:cNvPicPr>
                        <a:picLocks noChangeAspect="1" noChangeArrowheads="1"/>
                      </p:cNvPicPr>
                      <p:nvPr/>
                    </p:nvPicPr>
                    <p:blipFill>
                      <a:blip r:embed="rId5"/>
                      <a:srcRect/>
                      <a:stretch>
                        <a:fillRect/>
                      </a:stretch>
                    </p:blipFill>
                    <p:spPr bwMode="auto">
                      <a:xfrm>
                        <a:off x="2802602" y="5345724"/>
                        <a:ext cx="6586795" cy="981182"/>
                      </a:xfrm>
                      <a:prstGeom prst="rect">
                        <a:avLst/>
                      </a:prstGeom>
                      <a:noFill/>
                      <a:effectLst/>
                      <a:extLst/>
                    </p:spPr>
                  </p:pic>
                </p:oleObj>
              </mc:Fallback>
            </mc:AlternateContent>
          </a:graphicData>
        </a:graphic>
      </p:graphicFrame>
    </p:spTree>
    <p:extLst>
      <p:ext uri="{BB962C8B-B14F-4D97-AF65-F5344CB8AC3E}">
        <p14:creationId xmlns:p14="http://schemas.microsoft.com/office/powerpoint/2010/main" val="33637267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sp>
        <p:nvSpPr>
          <p:cNvPr id="3" name="文本占位符 2"/>
          <p:cNvSpPr>
            <a:spLocks noGrp="1"/>
          </p:cNvSpPr>
          <p:nvPr>
            <p:ph type="body" sz="quarter" idx="10"/>
          </p:nvPr>
        </p:nvSpPr>
        <p:spPr/>
        <p:txBody>
          <a:bodyPr>
            <a:normAutofit/>
          </a:bodyPr>
          <a:lstStyle/>
          <a:p>
            <a:pPr>
              <a:defRPr/>
            </a:pPr>
            <a:r>
              <a:rPr lang="en-US" altLang="zh-CN" sz="1800" dirty="0"/>
              <a:t>Example: </a:t>
            </a:r>
          </a:p>
          <a:p>
            <a:pPr>
              <a:buFont typeface="Wingdings" panose="05000000000000000000" pitchFamily="2" charset="2"/>
              <a:buChar char="l"/>
              <a:defRPr/>
            </a:pPr>
            <a:r>
              <a:rPr lang="en-US" altLang="zh-CN" sz="1800" dirty="0">
                <a:solidFill>
                  <a:schemeClr val="tx1"/>
                </a:solidFill>
              </a:rPr>
              <a:t>A bond with a $100 par value pays a 5% coupon annually for 4 years. The spot rates corresponding to the payment dates are as follows: year 1: 4.0%; year 2: 4.5%; year 3: 5.0%; year 4: 5.5%; Assume the price of the bond is $98.4633. Calculate the price of the bond using spot rates and determine in the YTM for the bond.</a:t>
            </a:r>
          </a:p>
          <a:p>
            <a:pPr>
              <a:buFont typeface="Wingdings" panose="05000000000000000000" pitchFamily="2" charset="2"/>
              <a:buChar char="l"/>
              <a:defRPr/>
            </a:pPr>
            <a:r>
              <a:rPr lang="en-US" altLang="zh-CN" sz="1800" dirty="0">
                <a:solidFill>
                  <a:schemeClr val="tx1"/>
                </a:solidFill>
              </a:rPr>
              <a:t>Answer: The formula for the price of the bond using the spot rates is as follows.</a:t>
            </a:r>
          </a:p>
          <a:p>
            <a:pPr marL="742950" lvl="1">
              <a:defRPr/>
            </a:pPr>
            <a:endParaRPr lang="en-US" altLang="zh-CN" sz="1800" b="1" dirty="0"/>
          </a:p>
          <a:p>
            <a:pPr marL="742950" lvl="1">
              <a:buFont typeface="Wingdings" panose="05000000000000000000" pitchFamily="2" charset="2"/>
              <a:buChar char="ü"/>
              <a:defRPr/>
            </a:pPr>
            <a:endParaRPr lang="en-US" altLang="zh-CN" sz="1800" b="1" dirty="0"/>
          </a:p>
          <a:p>
            <a:pPr marL="742950" lvl="1">
              <a:buFont typeface="Wingdings" panose="05000000000000000000" pitchFamily="2" charset="2"/>
              <a:buChar char="ü"/>
              <a:defRPr/>
            </a:pPr>
            <a:endParaRPr lang="en-US" altLang="zh-CN" sz="1800" b="1" dirty="0"/>
          </a:p>
          <a:p>
            <a:pPr marL="742950" lvl="1">
              <a:buFont typeface="Wingdings" panose="05000000000000000000" pitchFamily="2" charset="2"/>
              <a:buChar char="ü"/>
              <a:defRPr/>
            </a:pPr>
            <a:r>
              <a:rPr lang="en-US" altLang="zh-CN" sz="1800" b="1" dirty="0"/>
              <a:t>Compute the YTM:</a:t>
            </a:r>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7DE87F2-80AA-43F3-A1C1-F042F87DD1DA}"/>
                  </a:ext>
                </a:extLst>
              </p:cNvPr>
              <p:cNvSpPr/>
              <p:nvPr/>
            </p:nvSpPr>
            <p:spPr>
              <a:xfrm>
                <a:off x="3255798" y="3643550"/>
                <a:ext cx="5680401"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5</m:t>
                          </m:r>
                        </m:num>
                        <m:den>
                          <m:r>
                            <a:rPr lang="zh-CN" altLang="en-US" i="0">
                              <a:latin typeface="Cambria Math" panose="02040503050406030204" pitchFamily="18" charset="0"/>
                            </a:rPr>
                            <m:t>（</m:t>
                          </m:r>
                          <m:r>
                            <a:rPr lang="zh-CN" altLang="en-US" i="0">
                              <a:latin typeface="Cambria Math" panose="02040503050406030204" pitchFamily="18" charset="0"/>
                            </a:rPr>
                            <m:t>1.04</m:t>
                          </m:r>
                          <m:r>
                            <a:rPr lang="zh-CN" altLang="en-US" i="0">
                              <a:latin typeface="Cambria Math" panose="02040503050406030204" pitchFamily="18" charset="0"/>
                            </a:rPr>
                            <m:t>）</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5</m:t>
                          </m:r>
                        </m:num>
                        <m:den>
                          <m:r>
                            <a:rPr lang="zh-CN" altLang="en-US" i="0">
                              <a:latin typeface="Cambria Math" panose="02040503050406030204" pitchFamily="18" charset="0"/>
                            </a:rPr>
                            <m:t>（</m:t>
                          </m:r>
                          <m:r>
                            <a:rPr lang="zh-CN" altLang="en-US" i="0">
                              <a:latin typeface="Cambria Math" panose="02040503050406030204" pitchFamily="18" charset="0"/>
                            </a:rPr>
                            <m:t>1.045</m:t>
                          </m:r>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5</m:t>
                          </m:r>
                        </m:num>
                        <m:den>
                          <m:r>
                            <a:rPr lang="zh-CN" altLang="en-US" i="0">
                              <a:latin typeface="Cambria Math" panose="02040503050406030204" pitchFamily="18" charset="0"/>
                            </a:rPr>
                            <m:t>（</m:t>
                          </m:r>
                          <m:r>
                            <a:rPr lang="zh-CN" altLang="en-US" i="0">
                              <a:latin typeface="Cambria Math" panose="02040503050406030204" pitchFamily="18" charset="0"/>
                            </a:rPr>
                            <m:t>1.05</m:t>
                          </m:r>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3</m:t>
                              </m:r>
                            </m:sup>
                          </m:sSup>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105</m:t>
                          </m:r>
                        </m:num>
                        <m:den>
                          <m:r>
                            <a:rPr lang="zh-CN" altLang="en-US" i="0">
                              <a:latin typeface="Cambria Math" panose="02040503050406030204" pitchFamily="18" charset="0"/>
                            </a:rPr>
                            <m:t>（</m:t>
                          </m:r>
                          <m:r>
                            <a:rPr lang="zh-CN" altLang="en-US" i="0">
                              <a:latin typeface="Cambria Math" panose="02040503050406030204" pitchFamily="18" charset="0"/>
                            </a:rPr>
                            <m:t>1.055</m:t>
                          </m:r>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4</m:t>
                              </m:r>
                            </m:sup>
                          </m:sSup>
                        </m:den>
                      </m:f>
                    </m:oMath>
                  </m:oMathPara>
                </a14:m>
                <a:endParaRPr lang="zh-CN" altLang="en-US" dirty="0"/>
              </a:p>
            </p:txBody>
          </p:sp>
        </mc:Choice>
        <mc:Fallback xmlns="">
          <p:sp>
            <p:nvSpPr>
              <p:cNvPr id="6" name="矩形 5">
                <a:extLst>
                  <a:ext uri="{FF2B5EF4-FFF2-40B4-BE49-F238E27FC236}">
                    <a16:creationId xmlns:a16="http://schemas.microsoft.com/office/drawing/2014/main" id="{A7DE87F2-80AA-43F3-A1C1-F042F87DD1DA}"/>
                  </a:ext>
                </a:extLst>
              </p:cNvPr>
              <p:cNvSpPr>
                <a:spLocks noRot="1" noChangeAspect="1" noMove="1" noResize="1" noEditPoints="1" noAdjustHandles="1" noChangeArrowheads="1" noChangeShapeType="1" noTextEdit="1"/>
              </p:cNvSpPr>
              <p:nvPr/>
            </p:nvSpPr>
            <p:spPr>
              <a:xfrm>
                <a:off x="3255798" y="3643550"/>
                <a:ext cx="5680401" cy="65620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1BAD22D0-B548-45CE-9A52-B5491A7C100A}"/>
                  </a:ext>
                </a:extLst>
              </p:cNvPr>
              <p:cNvSpPr/>
              <p:nvPr/>
            </p:nvSpPr>
            <p:spPr>
              <a:xfrm>
                <a:off x="1982308" y="5103376"/>
                <a:ext cx="8227380" cy="9411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i="1">
                              <a:latin typeface="Cambria Math" panose="02040503050406030204" pitchFamily="18" charset="0"/>
                            </a:rPr>
                          </m:ctrlPr>
                        </m:mPr>
                        <m:mr>
                          <m:e>
                            <m:r>
                              <a:rPr lang="zh-CN" altLang="en-US">
                                <a:latin typeface="Cambria Math" panose="02040503050406030204" pitchFamily="18" charset="0"/>
                              </a:rPr>
                              <m:t>$</m:t>
                            </m:r>
                            <m:r>
                              <a:rPr lang="zh-CN" altLang="en-US" i="0">
                                <a:latin typeface="Cambria Math" panose="02040503050406030204" pitchFamily="18" charset="0"/>
                              </a:rPr>
                              <m:t>98.4633=</m:t>
                            </m:r>
                            <m:f>
                              <m:fPr>
                                <m:ctrlPr>
                                  <a:rPr lang="zh-CN" altLang="en-US" i="1">
                                    <a:latin typeface="Cambria Math" panose="02040503050406030204" pitchFamily="18" charset="0"/>
                                  </a:rPr>
                                </m:ctrlPr>
                              </m:fPr>
                              <m:num>
                                <m:r>
                                  <a:rPr lang="zh-CN" altLang="en-US" i="0">
                                    <a:latin typeface="Cambria Math" panose="02040503050406030204" pitchFamily="18" charset="0"/>
                                  </a:rPr>
                                  <m:t>5</m:t>
                                </m:r>
                              </m:num>
                              <m:den>
                                <m:r>
                                  <a:rPr lang="zh-CN" altLang="en-US" i="0">
                                    <a:latin typeface="Cambria Math" panose="02040503050406030204" pitchFamily="18" charset="0"/>
                                  </a:rPr>
                                  <m:t>（</m:t>
                                </m:r>
                                <m:r>
                                  <a:rPr lang="zh-CN" altLang="en-US" i="0">
                                    <a:latin typeface="Cambria Math" panose="02040503050406030204" pitchFamily="18" charset="0"/>
                                  </a:rPr>
                                  <m:t>1+</m:t>
                                </m:r>
                                <m:r>
                                  <a:rPr lang="zh-CN" altLang="en-US" i="1">
                                    <a:latin typeface="Cambria Math" panose="02040503050406030204" pitchFamily="18" charset="0"/>
                                  </a:rPr>
                                  <m:t>𝑌𝑇𝑀</m:t>
                                </m:r>
                                <m:r>
                                  <a:rPr lang="zh-CN" altLang="en-US" i="0">
                                    <a:latin typeface="Cambria Math" panose="02040503050406030204" pitchFamily="18" charset="0"/>
                                  </a:rPr>
                                  <m:t>）</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5</m:t>
                                </m:r>
                              </m:num>
                              <m:den>
                                <m:r>
                                  <a:rPr lang="zh-CN" altLang="en-US" i="0">
                                    <a:latin typeface="Cambria Math" panose="02040503050406030204" pitchFamily="18" charset="0"/>
                                  </a:rPr>
                                  <m:t>（</m:t>
                                </m:r>
                                <m:r>
                                  <a:rPr lang="zh-CN" altLang="en-US" i="0">
                                    <a:latin typeface="Cambria Math" panose="02040503050406030204" pitchFamily="18" charset="0"/>
                                  </a:rPr>
                                  <m:t>1+</m:t>
                                </m:r>
                                <m:r>
                                  <a:rPr lang="zh-CN" altLang="en-US" i="1">
                                    <a:latin typeface="Cambria Math" panose="02040503050406030204" pitchFamily="18" charset="0"/>
                                  </a:rPr>
                                  <m:t>𝑌𝑇𝑀</m:t>
                                </m:r>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2</m:t>
                                    </m:r>
                                  </m:sup>
                                </m:sSup>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5</m:t>
                                </m:r>
                              </m:num>
                              <m:den>
                                <m:r>
                                  <a:rPr lang="zh-CN" altLang="en-US" i="0">
                                    <a:latin typeface="Cambria Math" panose="02040503050406030204" pitchFamily="18" charset="0"/>
                                  </a:rPr>
                                  <m:t>（</m:t>
                                </m:r>
                                <m:r>
                                  <a:rPr lang="zh-CN" altLang="en-US" i="0">
                                    <a:latin typeface="Cambria Math" panose="02040503050406030204" pitchFamily="18" charset="0"/>
                                  </a:rPr>
                                  <m:t>1+</m:t>
                                </m:r>
                                <m:r>
                                  <a:rPr lang="zh-CN" altLang="en-US" i="1">
                                    <a:latin typeface="Cambria Math" panose="02040503050406030204" pitchFamily="18" charset="0"/>
                                  </a:rPr>
                                  <m:t>𝑌𝑇𝑀</m:t>
                                </m:r>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3</m:t>
                                    </m:r>
                                  </m:sup>
                                </m:sSup>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105</m:t>
                                </m:r>
                              </m:num>
                              <m:den>
                                <m:r>
                                  <a:rPr lang="zh-CN" altLang="en-US" i="0">
                                    <a:latin typeface="Cambria Math" panose="02040503050406030204" pitchFamily="18" charset="0"/>
                                  </a:rPr>
                                  <m:t>（</m:t>
                                </m:r>
                                <m:r>
                                  <a:rPr lang="zh-CN" altLang="en-US" i="0">
                                    <a:latin typeface="Cambria Math" panose="02040503050406030204" pitchFamily="18" charset="0"/>
                                  </a:rPr>
                                  <m:t>1+</m:t>
                                </m:r>
                                <m:r>
                                  <a:rPr lang="zh-CN" altLang="en-US" i="1">
                                    <a:latin typeface="Cambria Math" panose="02040503050406030204" pitchFamily="18" charset="0"/>
                                  </a:rPr>
                                  <m:t>𝑌𝑇𝑀</m:t>
                                </m:r>
                                <m:sSup>
                                  <m:sSupPr>
                                    <m:ctrlPr>
                                      <a:rPr lang="zh-CN" altLang="en-US" i="1">
                                        <a:latin typeface="Cambria Math" panose="02040503050406030204" pitchFamily="18" charset="0"/>
                                      </a:rPr>
                                    </m:ctrlPr>
                                  </m:sSupPr>
                                  <m:e>
                                    <m:r>
                                      <a:rPr lang="zh-CN" altLang="en-US" i="0">
                                        <a:latin typeface="Cambria Math" panose="02040503050406030204" pitchFamily="18" charset="0"/>
                                      </a:rPr>
                                      <m:t>）</m:t>
                                    </m:r>
                                  </m:e>
                                  <m:sup>
                                    <m:r>
                                      <a:rPr lang="zh-CN" altLang="en-US" i="0">
                                        <a:latin typeface="Cambria Math" panose="02040503050406030204" pitchFamily="18" charset="0"/>
                                      </a:rPr>
                                      <m:t>4</m:t>
                                    </m:r>
                                  </m:sup>
                                </m:sSup>
                              </m:den>
                            </m:f>
                          </m:e>
                        </m:mr>
                        <m:mr>
                          <m:e>
                            <m:r>
                              <a:rPr lang="zh-CN" altLang="en-US" i="1">
                                <a:latin typeface="Cambria Math" panose="02040503050406030204" pitchFamily="18" charset="0"/>
                              </a:rPr>
                              <m:t>𝐹𝑉</m:t>
                            </m:r>
                            <m:r>
                              <a:rPr lang="zh-CN" altLang="en-US" i="0">
                                <a:latin typeface="Cambria Math" panose="02040503050406030204" pitchFamily="18" charset="0"/>
                              </a:rPr>
                              <m:t>=$100;</m:t>
                            </m:r>
                            <m:r>
                              <a:rPr lang="zh-CN" altLang="en-US" i="1">
                                <a:latin typeface="Cambria Math" panose="02040503050406030204" pitchFamily="18" charset="0"/>
                              </a:rPr>
                              <m:t>𝑃𝑉</m:t>
                            </m:r>
                            <m:r>
                              <a:rPr lang="zh-CN" altLang="en-US" i="0">
                                <a:latin typeface="Cambria Math" panose="02040503050406030204" pitchFamily="18" charset="0"/>
                              </a:rPr>
                              <m:t>=−$98.47;</m:t>
                            </m:r>
                            <m:r>
                              <a:rPr lang="zh-CN" altLang="en-US" i="1">
                                <a:latin typeface="Cambria Math" panose="02040503050406030204" pitchFamily="18" charset="0"/>
                              </a:rPr>
                              <m:t>𝑃𝑀𝑇</m:t>
                            </m:r>
                            <m:r>
                              <a:rPr lang="zh-CN" altLang="en-US" i="0">
                                <a:latin typeface="Cambria Math" panose="02040503050406030204" pitchFamily="18" charset="0"/>
                              </a:rPr>
                              <m:t>=5;</m:t>
                            </m:r>
                            <m:r>
                              <a:rPr lang="zh-CN" altLang="en-US" i="1">
                                <a:latin typeface="Cambria Math" panose="02040503050406030204" pitchFamily="18" charset="0"/>
                              </a:rPr>
                              <m:t>𝑁</m:t>
                            </m:r>
                            <m:r>
                              <a:rPr lang="zh-CN" altLang="en-US" i="0">
                                <a:latin typeface="Cambria Math" panose="02040503050406030204" pitchFamily="18" charset="0"/>
                              </a:rPr>
                              <m:t>=4;</m:t>
                            </m:r>
                            <m:r>
                              <a:rPr lang="zh-CN" altLang="en-US" i="1">
                                <a:latin typeface="Cambria Math" panose="02040503050406030204" pitchFamily="18" charset="0"/>
                              </a:rPr>
                              <m:t>𝐶𝑃𝑇</m:t>
                            </m:r>
                            <m:r>
                              <a:rPr lang="zh-CN" altLang="en-US" i="0">
                                <a:latin typeface="Cambria Math" panose="02040503050406030204" pitchFamily="18" charset="0"/>
                              </a:rPr>
                              <m:t>→</m:t>
                            </m:r>
                            <m:f>
                              <m:fPr>
                                <m:type m:val="lin"/>
                                <m:ctrlPr>
                                  <a:rPr lang="zh-CN" altLang="en-US" i="1">
                                    <a:latin typeface="Cambria Math" panose="02040503050406030204" pitchFamily="18" charset="0"/>
                                  </a:rPr>
                                </m:ctrlPr>
                              </m:fPr>
                              <m:num>
                                <m:r>
                                  <a:rPr lang="zh-CN" altLang="en-US" i="1">
                                    <a:latin typeface="Cambria Math" panose="02040503050406030204" pitchFamily="18" charset="0"/>
                                  </a:rPr>
                                  <m:t>𝐼</m:t>
                                </m:r>
                              </m:num>
                              <m:den>
                                <m:r>
                                  <a:rPr lang="zh-CN" altLang="en-US" i="1">
                                    <a:latin typeface="Cambria Math" panose="02040503050406030204" pitchFamily="18" charset="0"/>
                                  </a:rPr>
                                  <m:t>𝑌</m:t>
                                </m:r>
                              </m:den>
                            </m:f>
                            <m:r>
                              <a:rPr lang="zh-CN" altLang="en-US" i="0">
                                <a:latin typeface="Cambria Math" panose="02040503050406030204" pitchFamily="18" charset="0"/>
                              </a:rPr>
                              <m:t>=5.44%</m:t>
                            </m:r>
                            <m:r>
                              <m:rPr>
                                <m:nor/>
                              </m:rPr>
                              <a:rPr lang="zh-CN" altLang="en-US" i="1">
                                <a:latin typeface="Cambria Math" panose="02040503050406030204" pitchFamily="18" charset="0"/>
                              </a:rPr>
                              <m:t> </m:t>
                            </m:r>
                            <m:r>
                              <a:rPr lang="zh-CN" altLang="en-US" i="1">
                                <a:latin typeface="Cambria Math" panose="02040503050406030204" pitchFamily="18" charset="0"/>
                              </a:rPr>
                              <m:t>𝑌𝑇𝑀</m:t>
                            </m:r>
                            <m:r>
                              <a:rPr lang="zh-CN" altLang="en-US" i="0">
                                <a:latin typeface="Cambria Math" panose="02040503050406030204" pitchFamily="18" charset="0"/>
                              </a:rPr>
                              <m:t>=5.44%</m:t>
                            </m:r>
                          </m:e>
                        </m:mr>
                      </m:m>
                    </m:oMath>
                  </m:oMathPara>
                </a14:m>
                <a:endParaRPr lang="zh-CN" altLang="en-US" dirty="0"/>
              </a:p>
            </p:txBody>
          </p:sp>
        </mc:Choice>
        <mc:Fallback xmlns="">
          <p:sp>
            <p:nvSpPr>
              <p:cNvPr id="7" name="矩形 6">
                <a:extLst>
                  <a:ext uri="{FF2B5EF4-FFF2-40B4-BE49-F238E27FC236}">
                    <a16:creationId xmlns:a16="http://schemas.microsoft.com/office/drawing/2014/main" id="{1BAD22D0-B548-45CE-9A52-B5491A7C100A}"/>
                  </a:ext>
                </a:extLst>
              </p:cNvPr>
              <p:cNvSpPr>
                <a:spLocks noRot="1" noChangeAspect="1" noMove="1" noResize="1" noEditPoints="1" noAdjustHandles="1" noChangeArrowheads="1" noChangeShapeType="1" noTextEdit="1"/>
              </p:cNvSpPr>
              <p:nvPr/>
            </p:nvSpPr>
            <p:spPr>
              <a:xfrm>
                <a:off x="1982308" y="5103376"/>
                <a:ext cx="8227380" cy="941155"/>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571944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sp>
        <p:nvSpPr>
          <p:cNvPr id="3" name="文本占位符 2"/>
          <p:cNvSpPr>
            <a:spLocks noGrp="1"/>
          </p:cNvSpPr>
          <p:nvPr>
            <p:ph type="body" sz="quarter" idx="10"/>
          </p:nvPr>
        </p:nvSpPr>
        <p:spPr/>
        <p:txBody>
          <a:bodyPr>
            <a:normAutofit fontScale="85000" lnSpcReduction="10000"/>
          </a:bodyPr>
          <a:lstStyle/>
          <a:p>
            <a:r>
              <a:rPr lang="en-US" altLang="zh-CN" dirty="0"/>
              <a:t>Relationship between Spot Rates and YTM</a:t>
            </a:r>
          </a:p>
          <a:p>
            <a:endParaRPr lang="en-US" altLang="zh-CN" dirty="0"/>
          </a:p>
          <a:p>
            <a:endParaRPr lang="en-US" altLang="zh-CN" dirty="0"/>
          </a:p>
          <a:p>
            <a:pPr marL="742950" lvl="1"/>
            <a:endParaRPr lang="en-US" altLang="zh-CN" u="sng" dirty="0"/>
          </a:p>
          <a:p>
            <a:pPr marL="742950" lvl="1"/>
            <a:r>
              <a:rPr lang="en-US" altLang="zh-CN" u="sng" dirty="0"/>
              <a:t>YTM is a kind of average of all the spot rates</a:t>
            </a:r>
            <a:r>
              <a:rPr lang="en-US" altLang="zh-CN" dirty="0"/>
              <a:t> that enter into the bond pricing equation.</a:t>
            </a:r>
          </a:p>
          <a:p>
            <a:pPr marL="742950" lvl="1"/>
            <a:r>
              <a:rPr lang="en-US" altLang="zh-CN" dirty="0"/>
              <a:t>When there is a </a:t>
            </a:r>
            <a:r>
              <a:rPr lang="en-US" altLang="zh-CN" b="1" dirty="0"/>
              <a:t>flat</a:t>
            </a:r>
            <a:r>
              <a:rPr lang="en-US" altLang="zh-CN" dirty="0"/>
              <a:t> </a:t>
            </a:r>
            <a:r>
              <a:rPr lang="en-US" altLang="zh-CN" b="1" dirty="0"/>
              <a:t>term structure </a:t>
            </a:r>
            <a:r>
              <a:rPr lang="en-US" altLang="zh-CN" dirty="0"/>
              <a:t>of spot rates, the </a:t>
            </a:r>
            <a:r>
              <a:rPr lang="en-US" altLang="zh-CN" u="sng" dirty="0"/>
              <a:t>yield must equal those spot rates</a:t>
            </a:r>
            <a:r>
              <a:rPr lang="en-US" altLang="zh-CN" dirty="0"/>
              <a:t>.</a:t>
            </a:r>
          </a:p>
          <a:p>
            <a:pPr marL="742950" lvl="1"/>
            <a:r>
              <a:rPr lang="en-US" altLang="zh-CN" dirty="0"/>
              <a:t>When the term structure of spot rates is </a:t>
            </a:r>
            <a:r>
              <a:rPr lang="en-US" altLang="zh-CN" b="1" dirty="0"/>
              <a:t>upward-sloping</a:t>
            </a:r>
            <a:r>
              <a:rPr lang="en-US" altLang="zh-CN" dirty="0"/>
              <a:t>, </a:t>
            </a:r>
            <a:r>
              <a:rPr lang="en-US" altLang="zh-CN" u="sng" dirty="0"/>
              <a:t>the yield of the two-year bond will be below the two-year spot rate</a:t>
            </a:r>
            <a:r>
              <a:rPr lang="en-US" altLang="zh-CN" dirty="0"/>
              <a:t> (use two-year bond as example).</a:t>
            </a:r>
          </a:p>
          <a:p>
            <a:pPr marL="742950" lvl="1"/>
            <a:r>
              <a:rPr lang="en-US" altLang="zh-CN" dirty="0"/>
              <a:t>When the term structure of spot rates is </a:t>
            </a:r>
            <a:r>
              <a:rPr lang="en-US" altLang="zh-CN" b="1" dirty="0"/>
              <a:t>downward-sloping</a:t>
            </a:r>
            <a:r>
              <a:rPr lang="en-US" altLang="zh-CN" dirty="0"/>
              <a:t>, </a:t>
            </a:r>
            <a:r>
              <a:rPr lang="en-US" altLang="zh-CN" u="sng" dirty="0"/>
              <a:t>the yield of the two-year bond will be above the two-year spot rate</a:t>
            </a:r>
            <a:r>
              <a:rPr lang="en-US" altLang="zh-CN" i="1" dirty="0"/>
              <a:t>.</a:t>
            </a:r>
            <a:endParaRPr lang="zh-CN" altLang="en-US" i="1" dirty="0"/>
          </a:p>
          <a:p>
            <a:endParaRPr lang="en-US" altLang="zh-CN" dirty="0"/>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3D652FBE-1E86-4CEA-B666-BD3F86D7E969}"/>
                  </a:ext>
                </a:extLst>
              </p:cNvPr>
              <p:cNvSpPr/>
              <p:nvPr/>
            </p:nvSpPr>
            <p:spPr>
              <a:xfrm>
                <a:off x="393599" y="1535734"/>
                <a:ext cx="10902461" cy="65954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𝐹</m:t>
                              </m:r>
                            </m:e>
                            <m:sub>
                              <m:r>
                                <a:rPr lang="zh-CN" altLang="en-US" i="0">
                                  <a:latin typeface="Cambria Math" panose="02040503050406030204" pitchFamily="18" charset="0"/>
                                </a:rPr>
                                <m:t>1</m:t>
                              </m:r>
                            </m:sub>
                          </m:sSub>
                        </m:num>
                        <m:den>
                          <m:d>
                            <m:dPr>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𝑌𝑇𝑀</m:t>
                              </m:r>
                            </m:e>
                          </m:d>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𝐹</m:t>
                              </m:r>
                            </m:e>
                            <m:sub>
                              <m:r>
                                <a:rPr lang="zh-CN" altLang="en-US" i="0">
                                  <a:latin typeface="Cambria Math" panose="02040503050406030204" pitchFamily="18" charset="0"/>
                                </a:rPr>
                                <m:t>2</m:t>
                              </m:r>
                            </m:sub>
                          </m:sSub>
                        </m:num>
                        <m:den>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𝑌𝑇𝑀</m:t>
                                  </m:r>
                                </m:e>
                              </m:d>
                            </m:e>
                            <m:sup>
                              <m:r>
                                <a:rPr lang="zh-CN" altLang="en-US" i="0">
                                  <a:latin typeface="Cambria Math" panose="02040503050406030204" pitchFamily="18" charset="0"/>
                                </a:rPr>
                                <m:t>2</m:t>
                              </m:r>
                            </m:sup>
                          </m:sSup>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𝐹</m:t>
                              </m:r>
                            </m:e>
                            <m:sub>
                              <m:r>
                                <a:rPr lang="zh-CN" altLang="en-US" i="1">
                                  <a:latin typeface="Cambria Math" panose="02040503050406030204" pitchFamily="18" charset="0"/>
                                </a:rPr>
                                <m:t>𝑛</m:t>
                              </m:r>
                            </m:sub>
                          </m:sSub>
                        </m:num>
                        <m:den>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𝑌𝑇𝑀</m:t>
                                  </m:r>
                                </m:e>
                              </m:d>
                            </m:e>
                            <m:sup>
                              <m:r>
                                <a:rPr lang="zh-CN" altLang="en-US" i="1">
                                  <a:latin typeface="Cambria Math" panose="02040503050406030204" pitchFamily="18" charset="0"/>
                                </a:rPr>
                                <m:t>𝑛</m:t>
                              </m:r>
                            </m:sup>
                          </m:sSup>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𝐹</m:t>
                              </m:r>
                            </m:e>
                            <m:sub>
                              <m:r>
                                <a:rPr lang="zh-CN" altLang="en-US" i="0">
                                  <a:latin typeface="Cambria Math" panose="02040503050406030204" pitchFamily="18" charset="0"/>
                                </a:rPr>
                                <m:t>1</m:t>
                              </m:r>
                            </m:sub>
                          </m:sSub>
                        </m:num>
                        <m:den>
                          <m:d>
                            <m:dPr>
                              <m:ctrlPr>
                                <a:rPr lang="zh-CN" altLang="en-US" i="1">
                                  <a:latin typeface="Cambria Math" panose="02040503050406030204" pitchFamily="18" charset="0"/>
                                </a:rPr>
                              </m:ctrlPr>
                            </m:dPr>
                            <m:e>
                              <m:r>
                                <a:rPr lang="zh-CN" altLang="en-US" i="0">
                                  <a:latin typeface="Cambria Math" panose="02040503050406030204" pitchFamily="18" charset="0"/>
                                </a:rPr>
                                <m:t>1+</m:t>
                              </m:r>
                              <m:sSub>
                                <m:sSubPr>
                                  <m:ctrlPr>
                                    <a:rPr lang="zh-CN" altLang="en-US" i="1">
                                      <a:latin typeface="Cambria Math" panose="02040503050406030204" pitchFamily="18" charset="0"/>
                                    </a:rPr>
                                  </m:ctrlPr>
                                </m:sSubPr>
                                <m:e>
                                  <m:r>
                                    <a:rPr lang="zh-CN" altLang="en-US" i="1">
                                      <a:latin typeface="Cambria Math" panose="02040503050406030204" pitchFamily="18" charset="0"/>
                                    </a:rPr>
                                    <m:t>𝑧</m:t>
                                  </m:r>
                                </m:e>
                                <m:sub>
                                  <m:r>
                                    <a:rPr lang="zh-CN" altLang="en-US" i="0">
                                      <a:latin typeface="Cambria Math" panose="02040503050406030204" pitchFamily="18" charset="0"/>
                                    </a:rPr>
                                    <m:t>1</m:t>
                                  </m:r>
                                </m:sub>
                              </m:sSub>
                            </m:e>
                          </m:d>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𝐹</m:t>
                              </m:r>
                            </m:e>
                            <m:sub>
                              <m:r>
                                <a:rPr lang="zh-CN" altLang="en-US" i="0">
                                  <a:latin typeface="Cambria Math" panose="02040503050406030204" pitchFamily="18" charset="0"/>
                                </a:rPr>
                                <m:t>2</m:t>
                              </m:r>
                            </m:sub>
                          </m:sSub>
                        </m:num>
                        <m:den>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0">
                                      <a:latin typeface="Cambria Math" panose="02040503050406030204" pitchFamily="18" charset="0"/>
                                    </a:rPr>
                                    <m:t>1+</m:t>
                                  </m:r>
                                  <m:sSub>
                                    <m:sSubPr>
                                      <m:ctrlPr>
                                        <a:rPr lang="zh-CN" altLang="en-US" i="1">
                                          <a:latin typeface="Cambria Math" panose="02040503050406030204" pitchFamily="18" charset="0"/>
                                        </a:rPr>
                                      </m:ctrlPr>
                                    </m:sSubPr>
                                    <m:e>
                                      <m:r>
                                        <a:rPr lang="zh-CN" altLang="en-US" i="1">
                                          <a:latin typeface="Cambria Math" panose="02040503050406030204" pitchFamily="18" charset="0"/>
                                        </a:rPr>
                                        <m:t>𝑧</m:t>
                                      </m:r>
                                    </m:e>
                                    <m:sub>
                                      <m:r>
                                        <a:rPr lang="zh-CN" altLang="en-US" i="0">
                                          <a:latin typeface="Cambria Math" panose="02040503050406030204" pitchFamily="18" charset="0"/>
                                        </a:rPr>
                                        <m:t>2</m:t>
                                      </m:r>
                                    </m:sub>
                                  </m:sSub>
                                </m:e>
                              </m:d>
                            </m:e>
                            <m:sup>
                              <m:r>
                                <a:rPr lang="zh-CN" altLang="en-US" i="0">
                                  <a:latin typeface="Cambria Math" panose="02040503050406030204" pitchFamily="18" charset="0"/>
                                </a:rPr>
                                <m:t>2</m:t>
                              </m:r>
                            </m:sup>
                          </m:sSup>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𝐹</m:t>
                              </m:r>
                            </m:e>
                            <m:sub>
                              <m:r>
                                <a:rPr lang="zh-CN" altLang="en-US" i="1">
                                  <a:latin typeface="Cambria Math" panose="02040503050406030204" pitchFamily="18" charset="0"/>
                                </a:rPr>
                                <m:t>𝑛</m:t>
                              </m:r>
                            </m:sub>
                          </m:sSub>
                        </m:num>
                        <m:den>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0">
                                      <a:latin typeface="Cambria Math" panose="02040503050406030204" pitchFamily="18" charset="0"/>
                                    </a:rPr>
                                    <m:t>1+</m:t>
                                  </m:r>
                                  <m:sSub>
                                    <m:sSubPr>
                                      <m:ctrlPr>
                                        <a:rPr lang="zh-CN" altLang="en-US" i="1">
                                          <a:latin typeface="Cambria Math" panose="02040503050406030204" pitchFamily="18" charset="0"/>
                                        </a:rPr>
                                      </m:ctrlPr>
                                    </m:sSubPr>
                                    <m:e>
                                      <m:r>
                                        <a:rPr lang="zh-CN" altLang="en-US" i="1">
                                          <a:latin typeface="Cambria Math" panose="02040503050406030204" pitchFamily="18" charset="0"/>
                                        </a:rPr>
                                        <m:t>𝑧</m:t>
                                      </m:r>
                                    </m:e>
                                    <m:sub>
                                      <m:r>
                                        <a:rPr lang="zh-CN" altLang="en-US" i="1">
                                          <a:latin typeface="Cambria Math" panose="02040503050406030204" pitchFamily="18" charset="0"/>
                                        </a:rPr>
                                        <m:t>𝑛</m:t>
                                      </m:r>
                                    </m:sub>
                                  </m:sSub>
                                </m:e>
                              </m:d>
                            </m:e>
                            <m:sup>
                              <m:r>
                                <a:rPr lang="zh-CN" altLang="en-US" i="1">
                                  <a:latin typeface="Cambria Math" panose="02040503050406030204" pitchFamily="18" charset="0"/>
                                </a:rPr>
                                <m:t>𝑛</m:t>
                              </m:r>
                            </m:sup>
                          </m:sSup>
                        </m:den>
                      </m:f>
                    </m:oMath>
                  </m:oMathPara>
                </a14:m>
                <a:endParaRPr lang="zh-CN" altLang="en-US" dirty="0"/>
              </a:p>
            </p:txBody>
          </p:sp>
        </mc:Choice>
        <mc:Fallback xmlns="">
          <p:sp>
            <p:nvSpPr>
              <p:cNvPr id="5" name="矩形 4">
                <a:extLst>
                  <a:ext uri="{FF2B5EF4-FFF2-40B4-BE49-F238E27FC236}">
                    <a16:creationId xmlns:a16="http://schemas.microsoft.com/office/drawing/2014/main" id="{3D652FBE-1E86-4CEA-B666-BD3F86D7E969}"/>
                  </a:ext>
                </a:extLst>
              </p:cNvPr>
              <p:cNvSpPr>
                <a:spLocks noRot="1" noChangeAspect="1" noMove="1" noResize="1" noEditPoints="1" noAdjustHandles="1" noChangeArrowheads="1" noChangeShapeType="1" noTextEdit="1"/>
              </p:cNvSpPr>
              <p:nvPr/>
            </p:nvSpPr>
            <p:spPr>
              <a:xfrm>
                <a:off x="393599" y="1535734"/>
                <a:ext cx="10902461" cy="659540"/>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868449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grpSp>
        <p:nvGrpSpPr>
          <p:cNvPr id="4" name="组合 3">
            <a:extLst>
              <a:ext uri="{FF2B5EF4-FFF2-40B4-BE49-F238E27FC236}">
                <a16:creationId xmlns:a16="http://schemas.microsoft.com/office/drawing/2014/main" id="{61FC32F8-7D66-4F4A-B4CD-0783499CAEAB}"/>
              </a:ext>
            </a:extLst>
          </p:cNvPr>
          <p:cNvGrpSpPr/>
          <p:nvPr/>
        </p:nvGrpSpPr>
        <p:grpSpPr>
          <a:xfrm>
            <a:off x="1724113" y="1197025"/>
            <a:ext cx="8743771" cy="4463950"/>
            <a:chOff x="214313" y="1197298"/>
            <a:chExt cx="8743771" cy="4463950"/>
          </a:xfrm>
        </p:grpSpPr>
        <p:grpSp>
          <p:nvGrpSpPr>
            <p:cNvPr id="5" name="组合 120">
              <a:extLst>
                <a:ext uri="{FF2B5EF4-FFF2-40B4-BE49-F238E27FC236}">
                  <a16:creationId xmlns:a16="http://schemas.microsoft.com/office/drawing/2014/main" id="{A524C328-1F03-46A8-8535-85263C29521B}"/>
                </a:ext>
              </a:extLst>
            </p:cNvPr>
            <p:cNvGrpSpPr>
              <a:grpSpLocks/>
            </p:cNvGrpSpPr>
            <p:nvPr/>
          </p:nvGrpSpPr>
          <p:grpSpPr bwMode="auto">
            <a:xfrm>
              <a:off x="214313" y="1340768"/>
              <a:ext cx="8743771" cy="4247926"/>
              <a:chOff x="250074" y="1628800"/>
              <a:chExt cx="8742807" cy="4249230"/>
            </a:xfrm>
          </p:grpSpPr>
          <p:grpSp>
            <p:nvGrpSpPr>
              <p:cNvPr id="7" name="组合 60">
                <a:extLst>
                  <a:ext uri="{FF2B5EF4-FFF2-40B4-BE49-F238E27FC236}">
                    <a16:creationId xmlns:a16="http://schemas.microsoft.com/office/drawing/2014/main" id="{9F0E06E1-331A-484F-BB99-FBE699119D19}"/>
                  </a:ext>
                </a:extLst>
              </p:cNvPr>
              <p:cNvGrpSpPr>
                <a:grpSpLocks/>
              </p:cNvGrpSpPr>
              <p:nvPr/>
            </p:nvGrpSpPr>
            <p:grpSpPr bwMode="auto">
              <a:xfrm>
                <a:off x="250074" y="1628800"/>
                <a:ext cx="4307820" cy="4249230"/>
                <a:chOff x="306969" y="3090437"/>
                <a:chExt cx="4307820" cy="4249230"/>
              </a:xfrm>
            </p:grpSpPr>
            <p:sp>
              <p:nvSpPr>
                <p:cNvPr id="57" name="文本框 56">
                  <a:extLst>
                    <a:ext uri="{FF2B5EF4-FFF2-40B4-BE49-F238E27FC236}">
                      <a16:creationId xmlns:a16="http://schemas.microsoft.com/office/drawing/2014/main" id="{A12799C1-3B6A-43ED-97C0-200565C3337B}"/>
                    </a:ext>
                  </a:extLst>
                </p:cNvPr>
                <p:cNvSpPr txBox="1"/>
                <p:nvPr/>
              </p:nvSpPr>
              <p:spPr>
                <a:xfrm>
                  <a:off x="549829" y="3090437"/>
                  <a:ext cx="1505374"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Interest Rate</a:t>
                  </a:r>
                  <a:endParaRPr lang="zh-CN" altLang="en-US" sz="1800" b="0" dirty="0">
                    <a:solidFill>
                      <a:srgbClr val="2C3E50"/>
                    </a:solidFill>
                    <a:latin typeface="Segoe UI" panose="020B0502040204020203" pitchFamily="34" charset="0"/>
                    <a:cs typeface="Segoe UI" panose="020B0502040204020203" pitchFamily="34" charset="0"/>
                  </a:endParaRPr>
                </a:p>
              </p:txBody>
            </p:sp>
            <p:grpSp>
              <p:nvGrpSpPr>
                <p:cNvPr id="58" name="组合 59">
                  <a:extLst>
                    <a:ext uri="{FF2B5EF4-FFF2-40B4-BE49-F238E27FC236}">
                      <a16:creationId xmlns:a16="http://schemas.microsoft.com/office/drawing/2014/main" id="{23B81F23-38AE-42B9-B616-CA34055345FB}"/>
                    </a:ext>
                  </a:extLst>
                </p:cNvPr>
                <p:cNvGrpSpPr>
                  <a:grpSpLocks/>
                </p:cNvGrpSpPr>
                <p:nvPr/>
              </p:nvGrpSpPr>
              <p:grpSpPr bwMode="auto">
                <a:xfrm>
                  <a:off x="306969" y="3260351"/>
                  <a:ext cx="4307820" cy="4079316"/>
                  <a:chOff x="306969" y="3260351"/>
                  <a:chExt cx="4307820" cy="4079316"/>
                </a:xfrm>
              </p:grpSpPr>
              <p:sp>
                <p:nvSpPr>
                  <p:cNvPr id="59" name="矩形 2">
                    <a:extLst>
                      <a:ext uri="{FF2B5EF4-FFF2-40B4-BE49-F238E27FC236}">
                        <a16:creationId xmlns:a16="http://schemas.microsoft.com/office/drawing/2014/main" id="{ACC623F1-F490-4F6E-BF7B-44860BDA02C9}"/>
                      </a:ext>
                    </a:extLst>
                  </p:cNvPr>
                  <p:cNvSpPr>
                    <a:spLocks noChangeArrowheads="1"/>
                  </p:cNvSpPr>
                  <p:nvPr/>
                </p:nvSpPr>
                <p:spPr bwMode="auto">
                  <a:xfrm>
                    <a:off x="635345" y="3438158"/>
                    <a:ext cx="3744416" cy="259228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endParaRPr lang="zh-CN" altLang="en-US" sz="1800">
                      <a:solidFill>
                        <a:srgbClr val="2C3E50"/>
                      </a:solidFill>
                      <a:latin typeface="Segoe UI" panose="020B0502040204020203" pitchFamily="34" charset="0"/>
                      <a:cs typeface="Segoe UI" panose="020B0502040204020203" pitchFamily="34" charset="0"/>
                    </a:endParaRPr>
                  </a:p>
                </p:txBody>
              </p:sp>
              <p:cxnSp>
                <p:nvCxnSpPr>
                  <p:cNvPr id="60" name="直接连接符 6">
                    <a:extLst>
                      <a:ext uri="{FF2B5EF4-FFF2-40B4-BE49-F238E27FC236}">
                        <a16:creationId xmlns:a16="http://schemas.microsoft.com/office/drawing/2014/main" id="{45887B6C-5A28-4169-AF9F-47029730EC52}"/>
                      </a:ext>
                    </a:extLst>
                  </p:cNvPr>
                  <p:cNvCxnSpPr>
                    <a:cxnSpLocks noChangeShapeType="1"/>
                  </p:cNvCxnSpPr>
                  <p:nvPr/>
                </p:nvCxnSpPr>
                <p:spPr bwMode="auto">
                  <a:xfrm>
                    <a:off x="575552" y="3438158"/>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1" name="直接连接符 10">
                    <a:extLst>
                      <a:ext uri="{FF2B5EF4-FFF2-40B4-BE49-F238E27FC236}">
                        <a16:creationId xmlns:a16="http://schemas.microsoft.com/office/drawing/2014/main" id="{0B123CC3-2210-4B52-A006-CC931EE1567D}"/>
                      </a:ext>
                    </a:extLst>
                  </p:cNvPr>
                  <p:cNvCxnSpPr>
                    <a:cxnSpLocks noChangeShapeType="1"/>
                  </p:cNvCxnSpPr>
                  <p:nvPr/>
                </p:nvCxnSpPr>
                <p:spPr bwMode="auto">
                  <a:xfrm>
                    <a:off x="575552" y="3870206"/>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2" name="直接连接符 11">
                    <a:extLst>
                      <a:ext uri="{FF2B5EF4-FFF2-40B4-BE49-F238E27FC236}">
                        <a16:creationId xmlns:a16="http://schemas.microsoft.com/office/drawing/2014/main" id="{1C79D5D4-6084-40BD-8EDF-330032E48525}"/>
                      </a:ext>
                    </a:extLst>
                  </p:cNvPr>
                  <p:cNvCxnSpPr>
                    <a:cxnSpLocks noChangeShapeType="1"/>
                  </p:cNvCxnSpPr>
                  <p:nvPr/>
                </p:nvCxnSpPr>
                <p:spPr bwMode="auto">
                  <a:xfrm>
                    <a:off x="575552" y="4734302"/>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3" name="直接连接符 12">
                    <a:extLst>
                      <a:ext uri="{FF2B5EF4-FFF2-40B4-BE49-F238E27FC236}">
                        <a16:creationId xmlns:a16="http://schemas.microsoft.com/office/drawing/2014/main" id="{6417D827-B27C-498C-919F-C379BB8C078B}"/>
                      </a:ext>
                    </a:extLst>
                  </p:cNvPr>
                  <p:cNvCxnSpPr>
                    <a:cxnSpLocks noChangeShapeType="1"/>
                  </p:cNvCxnSpPr>
                  <p:nvPr/>
                </p:nvCxnSpPr>
                <p:spPr bwMode="auto">
                  <a:xfrm>
                    <a:off x="575552" y="5166350"/>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4" name="直接连接符 13">
                    <a:extLst>
                      <a:ext uri="{FF2B5EF4-FFF2-40B4-BE49-F238E27FC236}">
                        <a16:creationId xmlns:a16="http://schemas.microsoft.com/office/drawing/2014/main" id="{7A66C1B6-E3BA-4D4E-AAEF-FB8D5581087B}"/>
                      </a:ext>
                    </a:extLst>
                  </p:cNvPr>
                  <p:cNvCxnSpPr>
                    <a:cxnSpLocks noChangeShapeType="1"/>
                  </p:cNvCxnSpPr>
                  <p:nvPr/>
                </p:nvCxnSpPr>
                <p:spPr bwMode="auto">
                  <a:xfrm>
                    <a:off x="575552" y="5598398"/>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5" name="直接连接符 14">
                    <a:extLst>
                      <a:ext uri="{FF2B5EF4-FFF2-40B4-BE49-F238E27FC236}">
                        <a16:creationId xmlns:a16="http://schemas.microsoft.com/office/drawing/2014/main" id="{71D6270E-E1BE-49F2-8039-1A826DA2B3DE}"/>
                      </a:ext>
                    </a:extLst>
                  </p:cNvPr>
                  <p:cNvCxnSpPr>
                    <a:cxnSpLocks noChangeShapeType="1"/>
                  </p:cNvCxnSpPr>
                  <p:nvPr/>
                </p:nvCxnSpPr>
                <p:spPr bwMode="auto">
                  <a:xfrm>
                    <a:off x="575552" y="6030446"/>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6" name="直接连接符 15">
                    <a:extLst>
                      <a:ext uri="{FF2B5EF4-FFF2-40B4-BE49-F238E27FC236}">
                        <a16:creationId xmlns:a16="http://schemas.microsoft.com/office/drawing/2014/main" id="{C1F14906-8857-48F4-AC39-113B0B8CEB4B}"/>
                      </a:ext>
                    </a:extLst>
                  </p:cNvPr>
                  <p:cNvCxnSpPr>
                    <a:cxnSpLocks noChangeShapeType="1"/>
                  </p:cNvCxnSpPr>
                  <p:nvPr/>
                </p:nvCxnSpPr>
                <p:spPr bwMode="auto">
                  <a:xfrm>
                    <a:off x="1009787"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7" name="直接连接符 20">
                    <a:extLst>
                      <a:ext uri="{FF2B5EF4-FFF2-40B4-BE49-F238E27FC236}">
                        <a16:creationId xmlns:a16="http://schemas.microsoft.com/office/drawing/2014/main" id="{C16BFC9E-BB6A-4A0D-ACD2-19CC38FA958A}"/>
                      </a:ext>
                    </a:extLst>
                  </p:cNvPr>
                  <p:cNvCxnSpPr>
                    <a:cxnSpLocks noChangeShapeType="1"/>
                  </p:cNvCxnSpPr>
                  <p:nvPr/>
                </p:nvCxnSpPr>
                <p:spPr bwMode="auto">
                  <a:xfrm>
                    <a:off x="1384229"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8" name="直接连接符 21">
                    <a:extLst>
                      <a:ext uri="{FF2B5EF4-FFF2-40B4-BE49-F238E27FC236}">
                        <a16:creationId xmlns:a16="http://schemas.microsoft.com/office/drawing/2014/main" id="{ED998E13-280D-46C9-9CAA-9604A6C541A2}"/>
                      </a:ext>
                    </a:extLst>
                  </p:cNvPr>
                  <p:cNvCxnSpPr>
                    <a:cxnSpLocks noChangeShapeType="1"/>
                  </p:cNvCxnSpPr>
                  <p:nvPr/>
                </p:nvCxnSpPr>
                <p:spPr bwMode="auto">
                  <a:xfrm>
                    <a:off x="1758671"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9" name="直接连接符 22">
                    <a:extLst>
                      <a:ext uri="{FF2B5EF4-FFF2-40B4-BE49-F238E27FC236}">
                        <a16:creationId xmlns:a16="http://schemas.microsoft.com/office/drawing/2014/main" id="{F307D980-0CCC-414D-9BA9-07EA5B127303}"/>
                      </a:ext>
                    </a:extLst>
                  </p:cNvPr>
                  <p:cNvCxnSpPr>
                    <a:cxnSpLocks noChangeShapeType="1"/>
                  </p:cNvCxnSpPr>
                  <p:nvPr/>
                </p:nvCxnSpPr>
                <p:spPr bwMode="auto">
                  <a:xfrm>
                    <a:off x="2133113"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0" name="直接连接符 23">
                    <a:extLst>
                      <a:ext uri="{FF2B5EF4-FFF2-40B4-BE49-F238E27FC236}">
                        <a16:creationId xmlns:a16="http://schemas.microsoft.com/office/drawing/2014/main" id="{265B2712-31FA-45BE-B6CF-267845B1B1E3}"/>
                      </a:ext>
                    </a:extLst>
                  </p:cNvPr>
                  <p:cNvCxnSpPr>
                    <a:cxnSpLocks noChangeShapeType="1"/>
                  </p:cNvCxnSpPr>
                  <p:nvPr/>
                </p:nvCxnSpPr>
                <p:spPr bwMode="auto">
                  <a:xfrm>
                    <a:off x="2507555"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1" name="直接连接符 24">
                    <a:extLst>
                      <a:ext uri="{FF2B5EF4-FFF2-40B4-BE49-F238E27FC236}">
                        <a16:creationId xmlns:a16="http://schemas.microsoft.com/office/drawing/2014/main" id="{BD240C82-2990-4AF2-AA1A-E3BA68753B2F}"/>
                      </a:ext>
                    </a:extLst>
                  </p:cNvPr>
                  <p:cNvCxnSpPr>
                    <a:cxnSpLocks noChangeShapeType="1"/>
                  </p:cNvCxnSpPr>
                  <p:nvPr/>
                </p:nvCxnSpPr>
                <p:spPr bwMode="auto">
                  <a:xfrm>
                    <a:off x="2881997"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2" name="直接连接符 25">
                    <a:extLst>
                      <a:ext uri="{FF2B5EF4-FFF2-40B4-BE49-F238E27FC236}">
                        <a16:creationId xmlns:a16="http://schemas.microsoft.com/office/drawing/2014/main" id="{C2065E1E-E322-4DED-BD2A-84F888F5A7B7}"/>
                      </a:ext>
                    </a:extLst>
                  </p:cNvPr>
                  <p:cNvCxnSpPr>
                    <a:cxnSpLocks noChangeShapeType="1"/>
                  </p:cNvCxnSpPr>
                  <p:nvPr/>
                </p:nvCxnSpPr>
                <p:spPr bwMode="auto">
                  <a:xfrm>
                    <a:off x="3256439"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3" name="直接连接符 26">
                    <a:extLst>
                      <a:ext uri="{FF2B5EF4-FFF2-40B4-BE49-F238E27FC236}">
                        <a16:creationId xmlns:a16="http://schemas.microsoft.com/office/drawing/2014/main" id="{41AC995D-B374-4DCA-A3EF-17B7112C220A}"/>
                      </a:ext>
                    </a:extLst>
                  </p:cNvPr>
                  <p:cNvCxnSpPr>
                    <a:cxnSpLocks noChangeShapeType="1"/>
                  </p:cNvCxnSpPr>
                  <p:nvPr/>
                </p:nvCxnSpPr>
                <p:spPr bwMode="auto">
                  <a:xfrm>
                    <a:off x="3630881"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4" name="直接连接符 27">
                    <a:extLst>
                      <a:ext uri="{FF2B5EF4-FFF2-40B4-BE49-F238E27FC236}">
                        <a16:creationId xmlns:a16="http://schemas.microsoft.com/office/drawing/2014/main" id="{13846920-C8BF-4142-859E-D50F4F322D4B}"/>
                      </a:ext>
                    </a:extLst>
                  </p:cNvPr>
                  <p:cNvCxnSpPr>
                    <a:cxnSpLocks noChangeShapeType="1"/>
                  </p:cNvCxnSpPr>
                  <p:nvPr/>
                </p:nvCxnSpPr>
                <p:spPr bwMode="auto">
                  <a:xfrm>
                    <a:off x="4005323"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5" name="直接连接符 28">
                    <a:extLst>
                      <a:ext uri="{FF2B5EF4-FFF2-40B4-BE49-F238E27FC236}">
                        <a16:creationId xmlns:a16="http://schemas.microsoft.com/office/drawing/2014/main" id="{AE496B52-BFDC-41E1-96ED-2BE737D546B6}"/>
                      </a:ext>
                    </a:extLst>
                  </p:cNvPr>
                  <p:cNvCxnSpPr>
                    <a:cxnSpLocks noChangeShapeType="1"/>
                  </p:cNvCxnSpPr>
                  <p:nvPr/>
                </p:nvCxnSpPr>
                <p:spPr bwMode="auto">
                  <a:xfrm>
                    <a:off x="4379761"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6" name="文本框 75">
                    <a:extLst>
                      <a:ext uri="{FF2B5EF4-FFF2-40B4-BE49-F238E27FC236}">
                        <a16:creationId xmlns:a16="http://schemas.microsoft.com/office/drawing/2014/main" id="{3EF29D1B-5783-4B86-820D-D891A8CFB0B8}"/>
                      </a:ext>
                    </a:extLst>
                  </p:cNvPr>
                  <p:cNvSpPr txBox="1"/>
                  <p:nvPr/>
                </p:nvSpPr>
                <p:spPr>
                  <a:xfrm>
                    <a:off x="306969" y="3260351"/>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9</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77" name="文本框 76">
                    <a:extLst>
                      <a:ext uri="{FF2B5EF4-FFF2-40B4-BE49-F238E27FC236}">
                        <a16:creationId xmlns:a16="http://schemas.microsoft.com/office/drawing/2014/main" id="{57B164A6-4AFC-471F-9027-7ADF79B8830F}"/>
                      </a:ext>
                    </a:extLst>
                  </p:cNvPr>
                  <p:cNvSpPr txBox="1"/>
                  <p:nvPr/>
                </p:nvSpPr>
                <p:spPr>
                  <a:xfrm>
                    <a:off x="306969" y="3692284"/>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8</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78" name="文本框 77">
                    <a:extLst>
                      <a:ext uri="{FF2B5EF4-FFF2-40B4-BE49-F238E27FC236}">
                        <a16:creationId xmlns:a16="http://schemas.microsoft.com/office/drawing/2014/main" id="{9A896CAE-1EB5-456A-B6B9-183124FD32B4}"/>
                      </a:ext>
                    </a:extLst>
                  </p:cNvPr>
                  <p:cNvSpPr txBox="1"/>
                  <p:nvPr/>
                </p:nvSpPr>
                <p:spPr>
                  <a:xfrm>
                    <a:off x="306969" y="4124216"/>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7</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79" name="文本框 78">
                    <a:extLst>
                      <a:ext uri="{FF2B5EF4-FFF2-40B4-BE49-F238E27FC236}">
                        <a16:creationId xmlns:a16="http://schemas.microsoft.com/office/drawing/2014/main" id="{BC6430D3-989F-4BAF-85C7-8387774D2C09}"/>
                      </a:ext>
                    </a:extLst>
                  </p:cNvPr>
                  <p:cNvSpPr txBox="1"/>
                  <p:nvPr/>
                </p:nvSpPr>
                <p:spPr>
                  <a:xfrm>
                    <a:off x="306969" y="4988081"/>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80" name="文本框 79">
                    <a:extLst>
                      <a:ext uri="{FF2B5EF4-FFF2-40B4-BE49-F238E27FC236}">
                        <a16:creationId xmlns:a16="http://schemas.microsoft.com/office/drawing/2014/main" id="{94F6FC20-1E02-48E4-A3F3-29997BF9882B}"/>
                      </a:ext>
                    </a:extLst>
                  </p:cNvPr>
                  <p:cNvSpPr txBox="1"/>
                  <p:nvPr/>
                </p:nvSpPr>
                <p:spPr>
                  <a:xfrm>
                    <a:off x="306969" y="5420014"/>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4</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81" name="文本框 80">
                    <a:extLst>
                      <a:ext uri="{FF2B5EF4-FFF2-40B4-BE49-F238E27FC236}">
                        <a16:creationId xmlns:a16="http://schemas.microsoft.com/office/drawing/2014/main" id="{B2F99EE3-F0C4-47CD-B6DB-2CC833BCF2BB}"/>
                      </a:ext>
                    </a:extLst>
                  </p:cNvPr>
                  <p:cNvSpPr txBox="1"/>
                  <p:nvPr/>
                </p:nvSpPr>
                <p:spPr>
                  <a:xfrm>
                    <a:off x="306969" y="5851946"/>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3</a:t>
                    </a:r>
                    <a:endParaRPr lang="zh-CN" altLang="en-US" sz="1800" b="0" dirty="0">
                      <a:solidFill>
                        <a:srgbClr val="2C3E50"/>
                      </a:solidFill>
                      <a:latin typeface="Segoe UI" panose="020B0502040204020203" pitchFamily="34" charset="0"/>
                      <a:cs typeface="Segoe UI" panose="020B0502040204020203" pitchFamily="34" charset="0"/>
                    </a:endParaRPr>
                  </a:p>
                </p:txBody>
              </p:sp>
              <p:cxnSp>
                <p:nvCxnSpPr>
                  <p:cNvPr id="82" name="直接连接符 36">
                    <a:extLst>
                      <a:ext uri="{FF2B5EF4-FFF2-40B4-BE49-F238E27FC236}">
                        <a16:creationId xmlns:a16="http://schemas.microsoft.com/office/drawing/2014/main" id="{3B274137-736D-4B07-816B-85123550CD4B}"/>
                      </a:ext>
                    </a:extLst>
                  </p:cNvPr>
                  <p:cNvCxnSpPr>
                    <a:cxnSpLocks noChangeShapeType="1"/>
                  </p:cNvCxnSpPr>
                  <p:nvPr/>
                </p:nvCxnSpPr>
                <p:spPr bwMode="auto">
                  <a:xfrm>
                    <a:off x="575552" y="4302254"/>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83" name="文本框 82">
                    <a:extLst>
                      <a:ext uri="{FF2B5EF4-FFF2-40B4-BE49-F238E27FC236}">
                        <a16:creationId xmlns:a16="http://schemas.microsoft.com/office/drawing/2014/main" id="{343ACC6D-FECF-40FA-9561-CED93CD7A39B}"/>
                      </a:ext>
                    </a:extLst>
                  </p:cNvPr>
                  <p:cNvSpPr txBox="1"/>
                  <p:nvPr/>
                </p:nvSpPr>
                <p:spPr>
                  <a:xfrm>
                    <a:off x="306969" y="4556149"/>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6</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84" name="文本框 83">
                    <a:extLst>
                      <a:ext uri="{FF2B5EF4-FFF2-40B4-BE49-F238E27FC236}">
                        <a16:creationId xmlns:a16="http://schemas.microsoft.com/office/drawing/2014/main" id="{C5F2B7CB-4EF7-47A8-8A86-E6B4F12AFA25}"/>
                      </a:ext>
                    </a:extLst>
                  </p:cNvPr>
                  <p:cNvSpPr txBox="1"/>
                  <p:nvPr/>
                </p:nvSpPr>
                <p:spPr>
                  <a:xfrm>
                    <a:off x="486336"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85" name="文本框 84">
                    <a:extLst>
                      <a:ext uri="{FF2B5EF4-FFF2-40B4-BE49-F238E27FC236}">
                        <a16:creationId xmlns:a16="http://schemas.microsoft.com/office/drawing/2014/main" id="{72F7AA82-6F15-446E-9418-B47A40262EF2}"/>
                      </a:ext>
                    </a:extLst>
                  </p:cNvPr>
                  <p:cNvSpPr txBox="1"/>
                  <p:nvPr/>
                </p:nvSpPr>
                <p:spPr>
                  <a:xfrm>
                    <a:off x="854596"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1</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86" name="文本框 85">
                    <a:extLst>
                      <a:ext uri="{FF2B5EF4-FFF2-40B4-BE49-F238E27FC236}">
                        <a16:creationId xmlns:a16="http://schemas.microsoft.com/office/drawing/2014/main" id="{45442638-2F3C-4DDC-8BC0-D84838B2D47F}"/>
                      </a:ext>
                    </a:extLst>
                  </p:cNvPr>
                  <p:cNvSpPr txBox="1"/>
                  <p:nvPr/>
                </p:nvSpPr>
                <p:spPr>
                  <a:xfrm>
                    <a:off x="1592702"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3</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87" name="文本框 86">
                    <a:extLst>
                      <a:ext uri="{FF2B5EF4-FFF2-40B4-BE49-F238E27FC236}">
                        <a16:creationId xmlns:a16="http://schemas.microsoft.com/office/drawing/2014/main" id="{0D5CA427-9348-4D29-8235-C5065F2F1F02}"/>
                      </a:ext>
                    </a:extLst>
                  </p:cNvPr>
                  <p:cNvSpPr txBox="1"/>
                  <p:nvPr/>
                </p:nvSpPr>
                <p:spPr>
                  <a:xfrm>
                    <a:off x="1224443"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2</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88" name="文本框 87">
                    <a:extLst>
                      <a:ext uri="{FF2B5EF4-FFF2-40B4-BE49-F238E27FC236}">
                        <a16:creationId xmlns:a16="http://schemas.microsoft.com/office/drawing/2014/main" id="{561C779E-8D4E-4D50-9DCC-27630DD0D15F}"/>
                      </a:ext>
                    </a:extLst>
                  </p:cNvPr>
                  <p:cNvSpPr txBox="1"/>
                  <p:nvPr/>
                </p:nvSpPr>
                <p:spPr>
                  <a:xfrm>
                    <a:off x="2330808"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89" name="文本框 88">
                    <a:extLst>
                      <a:ext uri="{FF2B5EF4-FFF2-40B4-BE49-F238E27FC236}">
                        <a16:creationId xmlns:a16="http://schemas.microsoft.com/office/drawing/2014/main" id="{4B6E68E5-CCF7-4DB7-B852-41380141F11E}"/>
                      </a:ext>
                    </a:extLst>
                  </p:cNvPr>
                  <p:cNvSpPr txBox="1"/>
                  <p:nvPr/>
                </p:nvSpPr>
                <p:spPr>
                  <a:xfrm>
                    <a:off x="2699067"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6</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90" name="文本框 89">
                    <a:extLst>
                      <a:ext uri="{FF2B5EF4-FFF2-40B4-BE49-F238E27FC236}">
                        <a16:creationId xmlns:a16="http://schemas.microsoft.com/office/drawing/2014/main" id="{9F90812D-3132-41FB-8A05-9F9C7EE2675C}"/>
                      </a:ext>
                    </a:extLst>
                  </p:cNvPr>
                  <p:cNvSpPr txBox="1"/>
                  <p:nvPr/>
                </p:nvSpPr>
                <p:spPr>
                  <a:xfrm>
                    <a:off x="3067327"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7</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91" name="文本框 90">
                    <a:extLst>
                      <a:ext uri="{FF2B5EF4-FFF2-40B4-BE49-F238E27FC236}">
                        <a16:creationId xmlns:a16="http://schemas.microsoft.com/office/drawing/2014/main" id="{21B17191-27CE-40A8-B1C9-FB266978D6AC}"/>
                      </a:ext>
                    </a:extLst>
                  </p:cNvPr>
                  <p:cNvSpPr txBox="1"/>
                  <p:nvPr/>
                </p:nvSpPr>
                <p:spPr>
                  <a:xfrm>
                    <a:off x="1960962"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4</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92" name="文本框 91">
                    <a:extLst>
                      <a:ext uri="{FF2B5EF4-FFF2-40B4-BE49-F238E27FC236}">
                        <a16:creationId xmlns:a16="http://schemas.microsoft.com/office/drawing/2014/main" id="{98307DA4-4EC5-4177-B0DC-08E86A10BA40}"/>
                      </a:ext>
                    </a:extLst>
                  </p:cNvPr>
                  <p:cNvSpPr txBox="1"/>
                  <p:nvPr/>
                </p:nvSpPr>
                <p:spPr>
                  <a:xfrm>
                    <a:off x="3805433"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9</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93" name="文本框 92">
                    <a:extLst>
                      <a:ext uri="{FF2B5EF4-FFF2-40B4-BE49-F238E27FC236}">
                        <a16:creationId xmlns:a16="http://schemas.microsoft.com/office/drawing/2014/main" id="{EC5D2C93-84E3-4CB3-9762-732B0FE414B3}"/>
                      </a:ext>
                    </a:extLst>
                  </p:cNvPr>
                  <p:cNvSpPr txBox="1"/>
                  <p:nvPr/>
                </p:nvSpPr>
                <p:spPr>
                  <a:xfrm>
                    <a:off x="4173692" y="6093320"/>
                    <a:ext cx="441097"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10</a:t>
                    </a:r>
                    <a:endParaRPr lang="zh-CN" altLang="en-US" sz="1800" b="0" dirty="0">
                      <a:solidFill>
                        <a:srgbClr val="2C3E50"/>
                      </a:solidFill>
                      <a:latin typeface="Segoe UI" panose="020B0502040204020203" pitchFamily="34" charset="0"/>
                      <a:cs typeface="Segoe UI" panose="020B0502040204020203" pitchFamily="34" charset="0"/>
                    </a:endParaRPr>
                  </a:p>
                </p:txBody>
              </p:sp>
              <p:cxnSp>
                <p:nvCxnSpPr>
                  <p:cNvPr id="94" name="直接连接符 52">
                    <a:extLst>
                      <a:ext uri="{FF2B5EF4-FFF2-40B4-BE49-F238E27FC236}">
                        <a16:creationId xmlns:a16="http://schemas.microsoft.com/office/drawing/2014/main" id="{C1B00C57-660F-4916-BD4E-5A77C437F6EC}"/>
                      </a:ext>
                    </a:extLst>
                  </p:cNvPr>
                  <p:cNvCxnSpPr>
                    <a:cxnSpLocks noChangeShapeType="1"/>
                  </p:cNvCxnSpPr>
                  <p:nvPr/>
                </p:nvCxnSpPr>
                <p:spPr bwMode="auto">
                  <a:xfrm>
                    <a:off x="635345"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5" name="文本框 94">
                    <a:extLst>
                      <a:ext uri="{FF2B5EF4-FFF2-40B4-BE49-F238E27FC236}">
                        <a16:creationId xmlns:a16="http://schemas.microsoft.com/office/drawing/2014/main" id="{94FC532E-891D-4ADB-9440-998557B6F357}"/>
                      </a:ext>
                    </a:extLst>
                  </p:cNvPr>
                  <p:cNvSpPr txBox="1"/>
                  <p:nvPr/>
                </p:nvSpPr>
                <p:spPr>
                  <a:xfrm>
                    <a:off x="3437174" y="6093320"/>
                    <a:ext cx="312872"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8</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96" name="任意多边形 54">
                    <a:extLst>
                      <a:ext uri="{FF2B5EF4-FFF2-40B4-BE49-F238E27FC236}">
                        <a16:creationId xmlns:a16="http://schemas.microsoft.com/office/drawing/2014/main" id="{1243AF75-0BF9-43CC-995F-89CA4F2C5023}"/>
                      </a:ext>
                    </a:extLst>
                  </p:cNvPr>
                  <p:cNvSpPr>
                    <a:spLocks/>
                  </p:cNvSpPr>
                  <p:nvPr/>
                </p:nvSpPr>
                <p:spPr bwMode="auto">
                  <a:xfrm>
                    <a:off x="1032130" y="4422580"/>
                    <a:ext cx="3347631" cy="1188365"/>
                  </a:xfrm>
                  <a:custGeom>
                    <a:avLst/>
                    <a:gdLst>
                      <a:gd name="T0" fmla="*/ 0 w 3386295"/>
                      <a:gd name="T1" fmla="*/ 1185706 h 1185706"/>
                      <a:gd name="T2" fmla="*/ 880344 w 3386295"/>
                      <a:gd name="T3" fmla="*/ 723482 h 1185706"/>
                      <a:gd name="T4" fmla="*/ 1966106 w 3386295"/>
                      <a:gd name="T5" fmla="*/ 231113 h 1185706"/>
                      <a:gd name="T6" fmla="*/ 3296405 w 3386295"/>
                      <a:gd name="T7" fmla="*/ 0 h 118570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86295" h="1185706">
                        <a:moveTo>
                          <a:pt x="0" y="1185706"/>
                        </a:moveTo>
                        <a:cubicBezTo>
                          <a:pt x="283866" y="1034143"/>
                          <a:pt x="567732" y="882581"/>
                          <a:pt x="904352" y="723482"/>
                        </a:cubicBezTo>
                        <a:cubicBezTo>
                          <a:pt x="1240972" y="564383"/>
                          <a:pt x="1606062" y="351693"/>
                          <a:pt x="2019719" y="231113"/>
                        </a:cubicBezTo>
                        <a:cubicBezTo>
                          <a:pt x="2433376" y="110533"/>
                          <a:pt x="3109965" y="36844"/>
                          <a:pt x="3386295" y="0"/>
                        </a:cubicBezTo>
                      </a:path>
                    </a:pathLst>
                  </a:cu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800">
                      <a:solidFill>
                        <a:srgbClr val="2C3E50"/>
                      </a:solidFill>
                      <a:latin typeface="Segoe UI" panose="020B0502040204020203" pitchFamily="34" charset="0"/>
                      <a:cs typeface="Segoe UI" panose="020B0502040204020203" pitchFamily="34" charset="0"/>
                    </a:endParaRPr>
                  </a:p>
                </p:txBody>
              </p:sp>
              <p:sp>
                <p:nvSpPr>
                  <p:cNvPr id="97" name="任意多边形 55">
                    <a:extLst>
                      <a:ext uri="{FF2B5EF4-FFF2-40B4-BE49-F238E27FC236}">
                        <a16:creationId xmlns:a16="http://schemas.microsoft.com/office/drawing/2014/main" id="{624BCD3F-7FAB-4586-98AA-081E163E695C}"/>
                      </a:ext>
                    </a:extLst>
                  </p:cNvPr>
                  <p:cNvSpPr>
                    <a:spLocks/>
                  </p:cNvSpPr>
                  <p:nvPr/>
                </p:nvSpPr>
                <p:spPr bwMode="auto">
                  <a:xfrm>
                    <a:off x="1032130" y="4330840"/>
                    <a:ext cx="3347631" cy="1260387"/>
                  </a:xfrm>
                  <a:custGeom>
                    <a:avLst/>
                    <a:gdLst>
                      <a:gd name="T0" fmla="*/ 0 w 3396343"/>
                      <a:gd name="T1" fmla="*/ 1286189 h 1286189"/>
                      <a:gd name="T2" fmla="*/ 1708220 w 3396343"/>
                      <a:gd name="T3" fmla="*/ 361740 h 1286189"/>
                      <a:gd name="T4" fmla="*/ 3396343 w 3396343"/>
                      <a:gd name="T5" fmla="*/ 0 h 1286189"/>
                      <a:gd name="T6" fmla="*/ 0 60000 65536"/>
                      <a:gd name="T7" fmla="*/ 0 60000 65536"/>
                      <a:gd name="T8" fmla="*/ 0 60000 65536"/>
                    </a:gdLst>
                    <a:ahLst/>
                    <a:cxnLst>
                      <a:cxn ang="T6">
                        <a:pos x="T0" y="T1"/>
                      </a:cxn>
                      <a:cxn ang="T7">
                        <a:pos x="T2" y="T3"/>
                      </a:cxn>
                      <a:cxn ang="T8">
                        <a:pos x="T4" y="T5"/>
                      </a:cxn>
                    </a:cxnLst>
                    <a:rect l="0" t="0" r="r" b="b"/>
                    <a:pathLst>
                      <a:path w="3396343" h="1286189">
                        <a:moveTo>
                          <a:pt x="0" y="1286189"/>
                        </a:moveTo>
                        <a:cubicBezTo>
                          <a:pt x="571081" y="931147"/>
                          <a:pt x="1142163" y="576105"/>
                          <a:pt x="1708220" y="361740"/>
                        </a:cubicBezTo>
                        <a:cubicBezTo>
                          <a:pt x="2274277" y="147375"/>
                          <a:pt x="3396343" y="0"/>
                          <a:pt x="3396343" y="0"/>
                        </a:cubicBez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800">
                      <a:solidFill>
                        <a:srgbClr val="2C3E50"/>
                      </a:solidFill>
                      <a:latin typeface="Segoe UI" panose="020B0502040204020203" pitchFamily="34" charset="0"/>
                      <a:cs typeface="Segoe UI" panose="020B0502040204020203" pitchFamily="34" charset="0"/>
                    </a:endParaRPr>
                  </a:p>
                </p:txBody>
              </p:sp>
              <p:sp>
                <p:nvSpPr>
                  <p:cNvPr id="98" name="任意多边形 58">
                    <a:extLst>
                      <a:ext uri="{FF2B5EF4-FFF2-40B4-BE49-F238E27FC236}">
                        <a16:creationId xmlns:a16="http://schemas.microsoft.com/office/drawing/2014/main" id="{ECE8378E-C738-4A1F-AA1A-7A5950045335}"/>
                      </a:ext>
                    </a:extLst>
                  </p:cNvPr>
                  <p:cNvSpPr>
                    <a:spLocks/>
                  </p:cNvSpPr>
                  <p:nvPr/>
                </p:nvSpPr>
                <p:spPr bwMode="auto">
                  <a:xfrm>
                    <a:off x="1032130" y="3788229"/>
                    <a:ext cx="3347631" cy="1800552"/>
                  </a:xfrm>
                  <a:custGeom>
                    <a:avLst/>
                    <a:gdLst>
                      <a:gd name="T0" fmla="*/ 0 w 3366198"/>
                      <a:gd name="T1" fmla="*/ 1818751 h 1818751"/>
                      <a:gd name="T2" fmla="*/ 1115367 w 3366198"/>
                      <a:gd name="T3" fmla="*/ 562707 h 1818751"/>
                      <a:gd name="T4" fmla="*/ 3366198 w 3366198"/>
                      <a:gd name="T5" fmla="*/ 0 h 1818751"/>
                      <a:gd name="T6" fmla="*/ 0 60000 65536"/>
                      <a:gd name="T7" fmla="*/ 0 60000 65536"/>
                      <a:gd name="T8" fmla="*/ 0 60000 65536"/>
                    </a:gdLst>
                    <a:ahLst/>
                    <a:cxnLst>
                      <a:cxn ang="T6">
                        <a:pos x="T0" y="T1"/>
                      </a:cxn>
                      <a:cxn ang="T7">
                        <a:pos x="T2" y="T3"/>
                      </a:cxn>
                      <a:cxn ang="T8">
                        <a:pos x="T4" y="T5"/>
                      </a:cxn>
                    </a:cxnLst>
                    <a:rect l="0" t="0" r="r" b="b"/>
                    <a:pathLst>
                      <a:path w="3366198" h="1818751">
                        <a:moveTo>
                          <a:pt x="0" y="1818751"/>
                        </a:moveTo>
                        <a:cubicBezTo>
                          <a:pt x="277167" y="1342291"/>
                          <a:pt x="554334" y="865832"/>
                          <a:pt x="1115367" y="562707"/>
                        </a:cubicBezTo>
                        <a:cubicBezTo>
                          <a:pt x="1676400" y="259582"/>
                          <a:pt x="2521299" y="129791"/>
                          <a:pt x="3366198" y="0"/>
                        </a:cubicBezTo>
                      </a:path>
                    </a:pathLst>
                  </a:custGeom>
                  <a:noFill/>
                  <a:ln w="9525" cap="flat" cmpd="sng" algn="ctr">
                    <a:solidFill>
                      <a:schemeClr val="tx1"/>
                    </a:solidFill>
                    <a:prstDash val="lgDash"/>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800">
                      <a:solidFill>
                        <a:srgbClr val="2C3E50"/>
                      </a:solidFill>
                      <a:latin typeface="Segoe UI" panose="020B0502040204020203" pitchFamily="34" charset="0"/>
                      <a:cs typeface="Segoe UI" panose="020B0502040204020203" pitchFamily="34" charset="0"/>
                    </a:endParaRPr>
                  </a:p>
                </p:txBody>
              </p:sp>
              <p:sp>
                <p:nvSpPr>
                  <p:cNvPr id="99" name="文本框 98">
                    <a:extLst>
                      <a:ext uri="{FF2B5EF4-FFF2-40B4-BE49-F238E27FC236}">
                        <a16:creationId xmlns:a16="http://schemas.microsoft.com/office/drawing/2014/main" id="{540ABD35-94F8-43FF-A662-68F00ED42836}"/>
                      </a:ext>
                    </a:extLst>
                  </p:cNvPr>
                  <p:cNvSpPr txBox="1"/>
                  <p:nvPr/>
                </p:nvSpPr>
                <p:spPr>
                  <a:xfrm>
                    <a:off x="1654607" y="6466011"/>
                    <a:ext cx="1625266"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Maturity(Year)</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00" name="文本框 99">
                    <a:extLst>
                      <a:ext uri="{FF2B5EF4-FFF2-40B4-BE49-F238E27FC236}">
                        <a16:creationId xmlns:a16="http://schemas.microsoft.com/office/drawing/2014/main" id="{68B94E6D-11DB-4BA4-99F7-B3EEA93A4C57}"/>
                      </a:ext>
                    </a:extLst>
                  </p:cNvPr>
                  <p:cNvSpPr txBox="1"/>
                  <p:nvPr/>
                </p:nvSpPr>
                <p:spPr>
                  <a:xfrm>
                    <a:off x="1496173" y="3728867"/>
                    <a:ext cx="1710536"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Forward Curve</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01" name="文本框 100">
                    <a:extLst>
                      <a:ext uri="{FF2B5EF4-FFF2-40B4-BE49-F238E27FC236}">
                        <a16:creationId xmlns:a16="http://schemas.microsoft.com/office/drawing/2014/main" id="{84C4F12A-B14B-4EC9-A210-39355DFEF180}"/>
                      </a:ext>
                    </a:extLst>
                  </p:cNvPr>
                  <p:cNvSpPr txBox="1"/>
                  <p:nvPr/>
                </p:nvSpPr>
                <p:spPr>
                  <a:xfrm>
                    <a:off x="2167314" y="4233078"/>
                    <a:ext cx="1338680"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Spot Curve</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02" name="文本框 101">
                    <a:extLst>
                      <a:ext uri="{FF2B5EF4-FFF2-40B4-BE49-F238E27FC236}">
                        <a16:creationId xmlns:a16="http://schemas.microsoft.com/office/drawing/2014/main" id="{C90142F6-63AF-469D-A259-916BFE52134D}"/>
                      </a:ext>
                    </a:extLst>
                  </p:cNvPr>
                  <p:cNvSpPr txBox="1"/>
                  <p:nvPr/>
                </p:nvSpPr>
                <p:spPr>
                  <a:xfrm>
                    <a:off x="2724464" y="4707008"/>
                    <a:ext cx="1368557"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Yield Curve</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03" name="文本框 102">
                    <a:extLst>
                      <a:ext uri="{FF2B5EF4-FFF2-40B4-BE49-F238E27FC236}">
                        <a16:creationId xmlns:a16="http://schemas.microsoft.com/office/drawing/2014/main" id="{0712BB56-E997-4F8B-83F4-EFFE252D5B99}"/>
                      </a:ext>
                    </a:extLst>
                  </p:cNvPr>
                  <p:cNvSpPr txBox="1"/>
                  <p:nvPr/>
                </p:nvSpPr>
                <p:spPr>
                  <a:xfrm>
                    <a:off x="984756" y="6970222"/>
                    <a:ext cx="3399017"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Upward-Sloping Term Structure</a:t>
                    </a:r>
                    <a:endParaRPr lang="zh-CN" altLang="en-US" sz="1800" b="0" dirty="0">
                      <a:solidFill>
                        <a:srgbClr val="2C3E50"/>
                      </a:solidFill>
                      <a:latin typeface="Segoe UI" panose="020B0502040204020203" pitchFamily="34" charset="0"/>
                      <a:cs typeface="Segoe UI" panose="020B0502040204020203" pitchFamily="34" charset="0"/>
                    </a:endParaRPr>
                  </a:p>
                </p:txBody>
              </p:sp>
            </p:grpSp>
          </p:grpSp>
          <p:grpSp>
            <p:nvGrpSpPr>
              <p:cNvPr id="8" name="组合 119">
                <a:extLst>
                  <a:ext uri="{FF2B5EF4-FFF2-40B4-BE49-F238E27FC236}">
                    <a16:creationId xmlns:a16="http://schemas.microsoft.com/office/drawing/2014/main" id="{B4179D69-77F9-4AF0-8F90-8D8FEC99AF98}"/>
                  </a:ext>
                </a:extLst>
              </p:cNvPr>
              <p:cNvGrpSpPr>
                <a:grpSpLocks/>
              </p:cNvGrpSpPr>
              <p:nvPr/>
            </p:nvGrpSpPr>
            <p:grpSpPr bwMode="auto">
              <a:xfrm>
                <a:off x="4685060" y="1628800"/>
                <a:ext cx="4307821" cy="4249230"/>
                <a:chOff x="4748684" y="2420888"/>
                <a:chExt cx="4307821" cy="4249230"/>
              </a:xfrm>
            </p:grpSpPr>
            <p:grpSp>
              <p:nvGrpSpPr>
                <p:cNvPr id="9" name="组合 70">
                  <a:extLst>
                    <a:ext uri="{FF2B5EF4-FFF2-40B4-BE49-F238E27FC236}">
                      <a16:creationId xmlns:a16="http://schemas.microsoft.com/office/drawing/2014/main" id="{DAEEB009-4F81-4F82-B2F9-DD72CF082570}"/>
                    </a:ext>
                  </a:extLst>
                </p:cNvPr>
                <p:cNvGrpSpPr>
                  <a:grpSpLocks/>
                </p:cNvGrpSpPr>
                <p:nvPr/>
              </p:nvGrpSpPr>
              <p:grpSpPr bwMode="auto">
                <a:xfrm>
                  <a:off x="4748684" y="2420888"/>
                  <a:ext cx="4307821" cy="4249230"/>
                  <a:chOff x="306479" y="3090437"/>
                  <a:chExt cx="4307821" cy="4249230"/>
                </a:xfrm>
              </p:grpSpPr>
              <p:sp>
                <p:nvSpPr>
                  <p:cNvPr id="13" name="文本框 12">
                    <a:extLst>
                      <a:ext uri="{FF2B5EF4-FFF2-40B4-BE49-F238E27FC236}">
                        <a16:creationId xmlns:a16="http://schemas.microsoft.com/office/drawing/2014/main" id="{487A5021-D8C7-4BB4-9A18-11AB7E081539}"/>
                      </a:ext>
                    </a:extLst>
                  </p:cNvPr>
                  <p:cNvSpPr txBox="1"/>
                  <p:nvPr/>
                </p:nvSpPr>
                <p:spPr>
                  <a:xfrm>
                    <a:off x="549339" y="3090437"/>
                    <a:ext cx="1505374"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Interest Rate</a:t>
                    </a:r>
                    <a:endParaRPr lang="zh-CN" altLang="en-US" sz="1800" b="0" dirty="0">
                      <a:solidFill>
                        <a:srgbClr val="2C3E50"/>
                      </a:solidFill>
                      <a:latin typeface="Segoe UI" panose="020B0502040204020203" pitchFamily="34" charset="0"/>
                      <a:cs typeface="Segoe UI" panose="020B0502040204020203" pitchFamily="34" charset="0"/>
                    </a:endParaRPr>
                  </a:p>
                </p:txBody>
              </p:sp>
              <p:grpSp>
                <p:nvGrpSpPr>
                  <p:cNvPr id="14" name="组合 72">
                    <a:extLst>
                      <a:ext uri="{FF2B5EF4-FFF2-40B4-BE49-F238E27FC236}">
                        <a16:creationId xmlns:a16="http://schemas.microsoft.com/office/drawing/2014/main" id="{513A666D-7E67-4A95-8D1A-7123C6947B7C}"/>
                      </a:ext>
                    </a:extLst>
                  </p:cNvPr>
                  <p:cNvGrpSpPr>
                    <a:grpSpLocks/>
                  </p:cNvGrpSpPr>
                  <p:nvPr/>
                </p:nvGrpSpPr>
                <p:grpSpPr bwMode="auto">
                  <a:xfrm>
                    <a:off x="306479" y="3260351"/>
                    <a:ext cx="4307821" cy="4079316"/>
                    <a:chOff x="306479" y="3260351"/>
                    <a:chExt cx="4307821" cy="4079316"/>
                  </a:xfrm>
                </p:grpSpPr>
                <p:sp>
                  <p:nvSpPr>
                    <p:cNvPr id="15" name="矩形 73">
                      <a:extLst>
                        <a:ext uri="{FF2B5EF4-FFF2-40B4-BE49-F238E27FC236}">
                          <a16:creationId xmlns:a16="http://schemas.microsoft.com/office/drawing/2014/main" id="{D00A4C73-BABE-46E3-86CF-D02BD7F37531}"/>
                        </a:ext>
                      </a:extLst>
                    </p:cNvPr>
                    <p:cNvSpPr>
                      <a:spLocks noChangeArrowheads="1"/>
                    </p:cNvSpPr>
                    <p:nvPr/>
                  </p:nvSpPr>
                  <p:spPr bwMode="auto">
                    <a:xfrm>
                      <a:off x="635345" y="3438158"/>
                      <a:ext cx="3744416" cy="259228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endParaRPr lang="zh-CN" altLang="en-US" sz="1800">
                        <a:solidFill>
                          <a:srgbClr val="2C3E50"/>
                        </a:solidFill>
                        <a:latin typeface="Segoe UI" panose="020B0502040204020203" pitchFamily="34" charset="0"/>
                        <a:cs typeface="Segoe UI" panose="020B0502040204020203" pitchFamily="34" charset="0"/>
                      </a:endParaRPr>
                    </a:p>
                  </p:txBody>
                </p:sp>
                <p:cxnSp>
                  <p:nvCxnSpPr>
                    <p:cNvPr id="16" name="直接连接符 74">
                      <a:extLst>
                        <a:ext uri="{FF2B5EF4-FFF2-40B4-BE49-F238E27FC236}">
                          <a16:creationId xmlns:a16="http://schemas.microsoft.com/office/drawing/2014/main" id="{F3E13BD6-07A8-4157-9672-03449290CD2F}"/>
                        </a:ext>
                      </a:extLst>
                    </p:cNvPr>
                    <p:cNvCxnSpPr>
                      <a:cxnSpLocks noChangeShapeType="1"/>
                    </p:cNvCxnSpPr>
                    <p:nvPr/>
                  </p:nvCxnSpPr>
                  <p:spPr bwMode="auto">
                    <a:xfrm>
                      <a:off x="575552" y="3438158"/>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7" name="直接连接符 75">
                      <a:extLst>
                        <a:ext uri="{FF2B5EF4-FFF2-40B4-BE49-F238E27FC236}">
                          <a16:creationId xmlns:a16="http://schemas.microsoft.com/office/drawing/2014/main" id="{73F98085-C869-45EA-9799-9AC74F444087}"/>
                        </a:ext>
                      </a:extLst>
                    </p:cNvPr>
                    <p:cNvCxnSpPr>
                      <a:cxnSpLocks noChangeShapeType="1"/>
                    </p:cNvCxnSpPr>
                    <p:nvPr/>
                  </p:nvCxnSpPr>
                  <p:spPr bwMode="auto">
                    <a:xfrm>
                      <a:off x="575552" y="3870206"/>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8" name="直接连接符 76">
                      <a:extLst>
                        <a:ext uri="{FF2B5EF4-FFF2-40B4-BE49-F238E27FC236}">
                          <a16:creationId xmlns:a16="http://schemas.microsoft.com/office/drawing/2014/main" id="{5D23EDDB-FC78-4A1A-8DE9-67E6F7D85532}"/>
                        </a:ext>
                      </a:extLst>
                    </p:cNvPr>
                    <p:cNvCxnSpPr>
                      <a:cxnSpLocks noChangeShapeType="1"/>
                    </p:cNvCxnSpPr>
                    <p:nvPr/>
                  </p:nvCxnSpPr>
                  <p:spPr bwMode="auto">
                    <a:xfrm>
                      <a:off x="575552" y="4734302"/>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 name="直接连接符 77">
                      <a:extLst>
                        <a:ext uri="{FF2B5EF4-FFF2-40B4-BE49-F238E27FC236}">
                          <a16:creationId xmlns:a16="http://schemas.microsoft.com/office/drawing/2014/main" id="{EC9FC0CE-9D7B-4BCD-9EF7-8EF18C7A842F}"/>
                        </a:ext>
                      </a:extLst>
                    </p:cNvPr>
                    <p:cNvCxnSpPr>
                      <a:cxnSpLocks noChangeShapeType="1"/>
                    </p:cNvCxnSpPr>
                    <p:nvPr/>
                  </p:nvCxnSpPr>
                  <p:spPr bwMode="auto">
                    <a:xfrm>
                      <a:off x="575552" y="5166350"/>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 name="直接连接符 78">
                      <a:extLst>
                        <a:ext uri="{FF2B5EF4-FFF2-40B4-BE49-F238E27FC236}">
                          <a16:creationId xmlns:a16="http://schemas.microsoft.com/office/drawing/2014/main" id="{D2DCEE7F-26F3-41B2-982B-9603E153DAB8}"/>
                        </a:ext>
                      </a:extLst>
                    </p:cNvPr>
                    <p:cNvCxnSpPr>
                      <a:cxnSpLocks noChangeShapeType="1"/>
                    </p:cNvCxnSpPr>
                    <p:nvPr/>
                  </p:nvCxnSpPr>
                  <p:spPr bwMode="auto">
                    <a:xfrm>
                      <a:off x="575552" y="5598398"/>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 name="直接连接符 79">
                      <a:extLst>
                        <a:ext uri="{FF2B5EF4-FFF2-40B4-BE49-F238E27FC236}">
                          <a16:creationId xmlns:a16="http://schemas.microsoft.com/office/drawing/2014/main" id="{8A5E86EC-1474-41E5-86F1-E089FB0B349C}"/>
                        </a:ext>
                      </a:extLst>
                    </p:cNvPr>
                    <p:cNvCxnSpPr>
                      <a:cxnSpLocks noChangeShapeType="1"/>
                    </p:cNvCxnSpPr>
                    <p:nvPr/>
                  </p:nvCxnSpPr>
                  <p:spPr bwMode="auto">
                    <a:xfrm>
                      <a:off x="575552" y="6030446"/>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2" name="直接连接符 80">
                      <a:extLst>
                        <a:ext uri="{FF2B5EF4-FFF2-40B4-BE49-F238E27FC236}">
                          <a16:creationId xmlns:a16="http://schemas.microsoft.com/office/drawing/2014/main" id="{933D172C-6CA9-4CC9-8583-9F54FB5E07F1}"/>
                        </a:ext>
                      </a:extLst>
                    </p:cNvPr>
                    <p:cNvCxnSpPr>
                      <a:cxnSpLocks noChangeShapeType="1"/>
                    </p:cNvCxnSpPr>
                    <p:nvPr/>
                  </p:nvCxnSpPr>
                  <p:spPr bwMode="auto">
                    <a:xfrm>
                      <a:off x="1009787"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3" name="直接连接符 81">
                      <a:extLst>
                        <a:ext uri="{FF2B5EF4-FFF2-40B4-BE49-F238E27FC236}">
                          <a16:creationId xmlns:a16="http://schemas.microsoft.com/office/drawing/2014/main" id="{91B8CFC0-3557-41BB-B3DE-C39482837D56}"/>
                        </a:ext>
                      </a:extLst>
                    </p:cNvPr>
                    <p:cNvCxnSpPr>
                      <a:cxnSpLocks noChangeShapeType="1"/>
                    </p:cNvCxnSpPr>
                    <p:nvPr/>
                  </p:nvCxnSpPr>
                  <p:spPr bwMode="auto">
                    <a:xfrm>
                      <a:off x="1384229"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4" name="直接连接符 82">
                      <a:extLst>
                        <a:ext uri="{FF2B5EF4-FFF2-40B4-BE49-F238E27FC236}">
                          <a16:creationId xmlns:a16="http://schemas.microsoft.com/office/drawing/2014/main" id="{1FCC5C8B-2D9F-4D0A-A37E-395ABBBE914F}"/>
                        </a:ext>
                      </a:extLst>
                    </p:cNvPr>
                    <p:cNvCxnSpPr>
                      <a:cxnSpLocks noChangeShapeType="1"/>
                    </p:cNvCxnSpPr>
                    <p:nvPr/>
                  </p:nvCxnSpPr>
                  <p:spPr bwMode="auto">
                    <a:xfrm>
                      <a:off x="1758671"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5" name="直接连接符 83">
                      <a:extLst>
                        <a:ext uri="{FF2B5EF4-FFF2-40B4-BE49-F238E27FC236}">
                          <a16:creationId xmlns:a16="http://schemas.microsoft.com/office/drawing/2014/main" id="{8B2747CF-64EA-451F-88F0-7476B69EEF2C}"/>
                        </a:ext>
                      </a:extLst>
                    </p:cNvPr>
                    <p:cNvCxnSpPr>
                      <a:cxnSpLocks noChangeShapeType="1"/>
                    </p:cNvCxnSpPr>
                    <p:nvPr/>
                  </p:nvCxnSpPr>
                  <p:spPr bwMode="auto">
                    <a:xfrm>
                      <a:off x="2133113"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6" name="直接连接符 84">
                      <a:extLst>
                        <a:ext uri="{FF2B5EF4-FFF2-40B4-BE49-F238E27FC236}">
                          <a16:creationId xmlns:a16="http://schemas.microsoft.com/office/drawing/2014/main" id="{3AFF9363-7E52-497C-9163-611F76B7CC4C}"/>
                        </a:ext>
                      </a:extLst>
                    </p:cNvPr>
                    <p:cNvCxnSpPr>
                      <a:cxnSpLocks noChangeShapeType="1"/>
                    </p:cNvCxnSpPr>
                    <p:nvPr/>
                  </p:nvCxnSpPr>
                  <p:spPr bwMode="auto">
                    <a:xfrm>
                      <a:off x="2507555"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7" name="直接连接符 85">
                      <a:extLst>
                        <a:ext uri="{FF2B5EF4-FFF2-40B4-BE49-F238E27FC236}">
                          <a16:creationId xmlns:a16="http://schemas.microsoft.com/office/drawing/2014/main" id="{DCC87F1C-D286-4D20-BCB7-C048CEFD426F}"/>
                        </a:ext>
                      </a:extLst>
                    </p:cNvPr>
                    <p:cNvCxnSpPr>
                      <a:cxnSpLocks noChangeShapeType="1"/>
                    </p:cNvCxnSpPr>
                    <p:nvPr/>
                  </p:nvCxnSpPr>
                  <p:spPr bwMode="auto">
                    <a:xfrm>
                      <a:off x="2881997"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8" name="直接连接符 86">
                      <a:extLst>
                        <a:ext uri="{FF2B5EF4-FFF2-40B4-BE49-F238E27FC236}">
                          <a16:creationId xmlns:a16="http://schemas.microsoft.com/office/drawing/2014/main" id="{69A79432-FDBB-498B-A2A5-1C811F91FDE0}"/>
                        </a:ext>
                      </a:extLst>
                    </p:cNvPr>
                    <p:cNvCxnSpPr>
                      <a:cxnSpLocks noChangeShapeType="1"/>
                    </p:cNvCxnSpPr>
                    <p:nvPr/>
                  </p:nvCxnSpPr>
                  <p:spPr bwMode="auto">
                    <a:xfrm>
                      <a:off x="3256439"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 name="直接连接符 87">
                      <a:extLst>
                        <a:ext uri="{FF2B5EF4-FFF2-40B4-BE49-F238E27FC236}">
                          <a16:creationId xmlns:a16="http://schemas.microsoft.com/office/drawing/2014/main" id="{E81534C1-6754-4867-9A7E-B3DEE715B229}"/>
                        </a:ext>
                      </a:extLst>
                    </p:cNvPr>
                    <p:cNvCxnSpPr>
                      <a:cxnSpLocks noChangeShapeType="1"/>
                    </p:cNvCxnSpPr>
                    <p:nvPr/>
                  </p:nvCxnSpPr>
                  <p:spPr bwMode="auto">
                    <a:xfrm>
                      <a:off x="3630881"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 name="直接连接符 88">
                      <a:extLst>
                        <a:ext uri="{FF2B5EF4-FFF2-40B4-BE49-F238E27FC236}">
                          <a16:creationId xmlns:a16="http://schemas.microsoft.com/office/drawing/2014/main" id="{BF17336D-57C8-48B2-8E9B-BC8CCDBF028E}"/>
                        </a:ext>
                      </a:extLst>
                    </p:cNvPr>
                    <p:cNvCxnSpPr>
                      <a:cxnSpLocks noChangeShapeType="1"/>
                    </p:cNvCxnSpPr>
                    <p:nvPr/>
                  </p:nvCxnSpPr>
                  <p:spPr bwMode="auto">
                    <a:xfrm>
                      <a:off x="4005323"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1" name="直接连接符 89">
                      <a:extLst>
                        <a:ext uri="{FF2B5EF4-FFF2-40B4-BE49-F238E27FC236}">
                          <a16:creationId xmlns:a16="http://schemas.microsoft.com/office/drawing/2014/main" id="{BB8022D1-E6B5-477F-A14E-238AB7521F8F}"/>
                        </a:ext>
                      </a:extLst>
                    </p:cNvPr>
                    <p:cNvCxnSpPr>
                      <a:cxnSpLocks noChangeShapeType="1"/>
                    </p:cNvCxnSpPr>
                    <p:nvPr/>
                  </p:nvCxnSpPr>
                  <p:spPr bwMode="auto">
                    <a:xfrm>
                      <a:off x="4379761"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2" name="文本框 31">
                      <a:extLst>
                        <a:ext uri="{FF2B5EF4-FFF2-40B4-BE49-F238E27FC236}">
                          <a16:creationId xmlns:a16="http://schemas.microsoft.com/office/drawing/2014/main" id="{1CA0705E-06FC-4B2D-8B91-675D35D89A9C}"/>
                        </a:ext>
                      </a:extLst>
                    </p:cNvPr>
                    <p:cNvSpPr txBox="1"/>
                    <p:nvPr/>
                  </p:nvSpPr>
                  <p:spPr>
                    <a:xfrm>
                      <a:off x="306479" y="3260351"/>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9</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3" name="文本框 32">
                      <a:extLst>
                        <a:ext uri="{FF2B5EF4-FFF2-40B4-BE49-F238E27FC236}">
                          <a16:creationId xmlns:a16="http://schemas.microsoft.com/office/drawing/2014/main" id="{67671275-71C1-4A7D-9034-EB87709466B0}"/>
                        </a:ext>
                      </a:extLst>
                    </p:cNvPr>
                    <p:cNvSpPr txBox="1"/>
                    <p:nvPr/>
                  </p:nvSpPr>
                  <p:spPr>
                    <a:xfrm>
                      <a:off x="306479" y="3692284"/>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8</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4" name="文本框 33">
                      <a:extLst>
                        <a:ext uri="{FF2B5EF4-FFF2-40B4-BE49-F238E27FC236}">
                          <a16:creationId xmlns:a16="http://schemas.microsoft.com/office/drawing/2014/main" id="{9ED87006-A4CD-40BF-82CA-2E1D4263D6A5}"/>
                        </a:ext>
                      </a:extLst>
                    </p:cNvPr>
                    <p:cNvSpPr txBox="1"/>
                    <p:nvPr/>
                  </p:nvSpPr>
                  <p:spPr>
                    <a:xfrm>
                      <a:off x="306479" y="4124216"/>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7</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5" name="文本框 34">
                      <a:extLst>
                        <a:ext uri="{FF2B5EF4-FFF2-40B4-BE49-F238E27FC236}">
                          <a16:creationId xmlns:a16="http://schemas.microsoft.com/office/drawing/2014/main" id="{69FF17BB-F293-4B5B-880E-C4CD1A0AAF15}"/>
                        </a:ext>
                      </a:extLst>
                    </p:cNvPr>
                    <p:cNvSpPr txBox="1"/>
                    <p:nvPr/>
                  </p:nvSpPr>
                  <p:spPr>
                    <a:xfrm>
                      <a:off x="306479" y="4988081"/>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6" name="文本框 35">
                      <a:extLst>
                        <a:ext uri="{FF2B5EF4-FFF2-40B4-BE49-F238E27FC236}">
                          <a16:creationId xmlns:a16="http://schemas.microsoft.com/office/drawing/2014/main" id="{4EFBBFBC-DD1E-430B-B684-8DB50F070EF7}"/>
                        </a:ext>
                      </a:extLst>
                    </p:cNvPr>
                    <p:cNvSpPr txBox="1"/>
                    <p:nvPr/>
                  </p:nvSpPr>
                  <p:spPr>
                    <a:xfrm>
                      <a:off x="306479" y="5420014"/>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4</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7" name="文本框 36">
                      <a:extLst>
                        <a:ext uri="{FF2B5EF4-FFF2-40B4-BE49-F238E27FC236}">
                          <a16:creationId xmlns:a16="http://schemas.microsoft.com/office/drawing/2014/main" id="{ECE4E98B-0B7A-4B4B-93A0-DD1BCD0157F2}"/>
                        </a:ext>
                      </a:extLst>
                    </p:cNvPr>
                    <p:cNvSpPr txBox="1"/>
                    <p:nvPr/>
                  </p:nvSpPr>
                  <p:spPr>
                    <a:xfrm>
                      <a:off x="306479" y="5851946"/>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3</a:t>
                      </a:r>
                      <a:endParaRPr lang="zh-CN" altLang="en-US" sz="1800" b="0" dirty="0">
                        <a:solidFill>
                          <a:srgbClr val="2C3E50"/>
                        </a:solidFill>
                        <a:latin typeface="Segoe UI" panose="020B0502040204020203" pitchFamily="34" charset="0"/>
                        <a:cs typeface="Segoe UI" panose="020B0502040204020203" pitchFamily="34" charset="0"/>
                      </a:endParaRPr>
                    </a:p>
                  </p:txBody>
                </p:sp>
                <p:cxnSp>
                  <p:nvCxnSpPr>
                    <p:cNvPr id="38" name="直接连接符 96">
                      <a:extLst>
                        <a:ext uri="{FF2B5EF4-FFF2-40B4-BE49-F238E27FC236}">
                          <a16:creationId xmlns:a16="http://schemas.microsoft.com/office/drawing/2014/main" id="{A45C2606-DD99-4130-A06E-785210234A66}"/>
                        </a:ext>
                      </a:extLst>
                    </p:cNvPr>
                    <p:cNvCxnSpPr>
                      <a:cxnSpLocks noChangeShapeType="1"/>
                    </p:cNvCxnSpPr>
                    <p:nvPr/>
                  </p:nvCxnSpPr>
                  <p:spPr bwMode="auto">
                    <a:xfrm>
                      <a:off x="575552" y="4302254"/>
                      <a:ext cx="7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9" name="文本框 38">
                      <a:extLst>
                        <a:ext uri="{FF2B5EF4-FFF2-40B4-BE49-F238E27FC236}">
                          <a16:creationId xmlns:a16="http://schemas.microsoft.com/office/drawing/2014/main" id="{4C9EFDE2-02C1-4220-B2B1-AA7ACA20EB34}"/>
                        </a:ext>
                      </a:extLst>
                    </p:cNvPr>
                    <p:cNvSpPr txBox="1"/>
                    <p:nvPr/>
                  </p:nvSpPr>
                  <p:spPr>
                    <a:xfrm>
                      <a:off x="306479" y="4556149"/>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6</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0" name="文本框 39">
                      <a:extLst>
                        <a:ext uri="{FF2B5EF4-FFF2-40B4-BE49-F238E27FC236}">
                          <a16:creationId xmlns:a16="http://schemas.microsoft.com/office/drawing/2014/main" id="{303225E6-B1F6-45F4-8806-EC1724BD6D0D}"/>
                        </a:ext>
                      </a:extLst>
                    </p:cNvPr>
                    <p:cNvSpPr txBox="1"/>
                    <p:nvPr/>
                  </p:nvSpPr>
                  <p:spPr>
                    <a:xfrm>
                      <a:off x="485846"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1" name="文本框 40">
                      <a:extLst>
                        <a:ext uri="{FF2B5EF4-FFF2-40B4-BE49-F238E27FC236}">
                          <a16:creationId xmlns:a16="http://schemas.microsoft.com/office/drawing/2014/main" id="{B511B9C9-ED87-457F-B911-3279FB38693A}"/>
                        </a:ext>
                      </a:extLst>
                    </p:cNvPr>
                    <p:cNvSpPr txBox="1"/>
                    <p:nvPr/>
                  </p:nvSpPr>
                  <p:spPr>
                    <a:xfrm>
                      <a:off x="854106"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1</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2" name="文本框 41">
                      <a:extLst>
                        <a:ext uri="{FF2B5EF4-FFF2-40B4-BE49-F238E27FC236}">
                          <a16:creationId xmlns:a16="http://schemas.microsoft.com/office/drawing/2014/main" id="{98FD2765-B8D0-49E4-BE1F-D576D8ED886C}"/>
                        </a:ext>
                      </a:extLst>
                    </p:cNvPr>
                    <p:cNvSpPr txBox="1"/>
                    <p:nvPr/>
                  </p:nvSpPr>
                  <p:spPr>
                    <a:xfrm>
                      <a:off x="1592212"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3</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3" name="文本框 42">
                      <a:extLst>
                        <a:ext uri="{FF2B5EF4-FFF2-40B4-BE49-F238E27FC236}">
                          <a16:creationId xmlns:a16="http://schemas.microsoft.com/office/drawing/2014/main" id="{0810533D-B119-4D3A-ACC7-4A5EBB041AE3}"/>
                        </a:ext>
                      </a:extLst>
                    </p:cNvPr>
                    <p:cNvSpPr txBox="1"/>
                    <p:nvPr/>
                  </p:nvSpPr>
                  <p:spPr>
                    <a:xfrm>
                      <a:off x="1223953"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2</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4" name="文本框 43">
                      <a:extLst>
                        <a:ext uri="{FF2B5EF4-FFF2-40B4-BE49-F238E27FC236}">
                          <a16:creationId xmlns:a16="http://schemas.microsoft.com/office/drawing/2014/main" id="{E14D73B4-2545-4352-9A39-0D090F2F63DE}"/>
                        </a:ext>
                      </a:extLst>
                    </p:cNvPr>
                    <p:cNvSpPr txBox="1"/>
                    <p:nvPr/>
                  </p:nvSpPr>
                  <p:spPr>
                    <a:xfrm>
                      <a:off x="2330318"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5" name="文本框 44">
                      <a:extLst>
                        <a:ext uri="{FF2B5EF4-FFF2-40B4-BE49-F238E27FC236}">
                          <a16:creationId xmlns:a16="http://schemas.microsoft.com/office/drawing/2014/main" id="{3D5AEE2E-82E9-48B0-82F9-CC98DD1959AD}"/>
                        </a:ext>
                      </a:extLst>
                    </p:cNvPr>
                    <p:cNvSpPr txBox="1"/>
                    <p:nvPr/>
                  </p:nvSpPr>
                  <p:spPr>
                    <a:xfrm>
                      <a:off x="2698577"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6</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6" name="文本框 45">
                      <a:extLst>
                        <a:ext uri="{FF2B5EF4-FFF2-40B4-BE49-F238E27FC236}">
                          <a16:creationId xmlns:a16="http://schemas.microsoft.com/office/drawing/2014/main" id="{1B51C973-7633-4A37-B8F2-A7442FC51CA4}"/>
                        </a:ext>
                      </a:extLst>
                    </p:cNvPr>
                    <p:cNvSpPr txBox="1"/>
                    <p:nvPr/>
                  </p:nvSpPr>
                  <p:spPr>
                    <a:xfrm>
                      <a:off x="3066837"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7</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7" name="文本框 46">
                      <a:extLst>
                        <a:ext uri="{FF2B5EF4-FFF2-40B4-BE49-F238E27FC236}">
                          <a16:creationId xmlns:a16="http://schemas.microsoft.com/office/drawing/2014/main" id="{75A8D61B-2F0F-4745-B952-E3AD361BE704}"/>
                        </a:ext>
                      </a:extLst>
                    </p:cNvPr>
                    <p:cNvSpPr txBox="1"/>
                    <p:nvPr/>
                  </p:nvSpPr>
                  <p:spPr>
                    <a:xfrm>
                      <a:off x="1960472"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4</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8" name="文本框 47">
                      <a:extLst>
                        <a:ext uri="{FF2B5EF4-FFF2-40B4-BE49-F238E27FC236}">
                          <a16:creationId xmlns:a16="http://schemas.microsoft.com/office/drawing/2014/main" id="{98E2B1F4-86D8-4CFC-A9E4-0D168E918CA1}"/>
                        </a:ext>
                      </a:extLst>
                    </p:cNvPr>
                    <p:cNvSpPr txBox="1"/>
                    <p:nvPr/>
                  </p:nvSpPr>
                  <p:spPr>
                    <a:xfrm>
                      <a:off x="3804943" y="6093320"/>
                      <a:ext cx="312871"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9</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9" name="文本框 48">
                      <a:extLst>
                        <a:ext uri="{FF2B5EF4-FFF2-40B4-BE49-F238E27FC236}">
                          <a16:creationId xmlns:a16="http://schemas.microsoft.com/office/drawing/2014/main" id="{0663FAFD-1E40-4125-8C64-0DC0407A4C84}"/>
                        </a:ext>
                      </a:extLst>
                    </p:cNvPr>
                    <p:cNvSpPr txBox="1"/>
                    <p:nvPr/>
                  </p:nvSpPr>
                  <p:spPr>
                    <a:xfrm>
                      <a:off x="4173203" y="6093320"/>
                      <a:ext cx="441097"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10</a:t>
                      </a:r>
                      <a:endParaRPr lang="zh-CN" altLang="en-US" sz="1800" b="0" dirty="0">
                        <a:solidFill>
                          <a:srgbClr val="2C3E50"/>
                        </a:solidFill>
                        <a:latin typeface="Segoe UI" panose="020B0502040204020203" pitchFamily="34" charset="0"/>
                        <a:cs typeface="Segoe UI" panose="020B0502040204020203" pitchFamily="34" charset="0"/>
                      </a:endParaRPr>
                    </a:p>
                  </p:txBody>
                </p:sp>
                <p:cxnSp>
                  <p:nvCxnSpPr>
                    <p:cNvPr id="50" name="直接连接符 108">
                      <a:extLst>
                        <a:ext uri="{FF2B5EF4-FFF2-40B4-BE49-F238E27FC236}">
                          <a16:creationId xmlns:a16="http://schemas.microsoft.com/office/drawing/2014/main" id="{EBF266F7-1AF1-47ED-B8CE-A8B61A28D083}"/>
                        </a:ext>
                      </a:extLst>
                    </p:cNvPr>
                    <p:cNvCxnSpPr>
                      <a:cxnSpLocks noChangeShapeType="1"/>
                    </p:cNvCxnSpPr>
                    <p:nvPr/>
                  </p:nvCxnSpPr>
                  <p:spPr bwMode="auto">
                    <a:xfrm>
                      <a:off x="635345" y="6021288"/>
                      <a:ext cx="0" cy="72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1" name="文本框 50">
                      <a:extLst>
                        <a:ext uri="{FF2B5EF4-FFF2-40B4-BE49-F238E27FC236}">
                          <a16:creationId xmlns:a16="http://schemas.microsoft.com/office/drawing/2014/main" id="{7E37DBE8-0B76-45DB-90FB-45B914BBFB14}"/>
                        </a:ext>
                      </a:extLst>
                    </p:cNvPr>
                    <p:cNvSpPr txBox="1"/>
                    <p:nvPr/>
                  </p:nvSpPr>
                  <p:spPr>
                    <a:xfrm>
                      <a:off x="3436684" y="6093320"/>
                      <a:ext cx="312872"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8</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52" name="文本框 51">
                      <a:extLst>
                        <a:ext uri="{FF2B5EF4-FFF2-40B4-BE49-F238E27FC236}">
                          <a16:creationId xmlns:a16="http://schemas.microsoft.com/office/drawing/2014/main" id="{FD3182F6-1B6D-4C37-8B92-860292B8D174}"/>
                        </a:ext>
                      </a:extLst>
                    </p:cNvPr>
                    <p:cNvSpPr txBox="1"/>
                    <p:nvPr/>
                  </p:nvSpPr>
                  <p:spPr>
                    <a:xfrm>
                      <a:off x="1654117" y="6466011"/>
                      <a:ext cx="1625266"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Maturity(Year)</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53" name="文本框 52">
                      <a:extLst>
                        <a:ext uri="{FF2B5EF4-FFF2-40B4-BE49-F238E27FC236}">
                          <a16:creationId xmlns:a16="http://schemas.microsoft.com/office/drawing/2014/main" id="{58117EA4-3F9B-4616-B279-5D393A979B77}"/>
                        </a:ext>
                      </a:extLst>
                    </p:cNvPr>
                    <p:cNvSpPr txBox="1"/>
                    <p:nvPr/>
                  </p:nvSpPr>
                  <p:spPr>
                    <a:xfrm>
                      <a:off x="1470166" y="5227868"/>
                      <a:ext cx="1710536"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Forward Curve</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54" name="文本框 53">
                      <a:extLst>
                        <a:ext uri="{FF2B5EF4-FFF2-40B4-BE49-F238E27FC236}">
                          <a16:creationId xmlns:a16="http://schemas.microsoft.com/office/drawing/2014/main" id="{F0DDFA63-67FC-44C6-AB14-8A45A9482A81}"/>
                        </a:ext>
                      </a:extLst>
                    </p:cNvPr>
                    <p:cNvSpPr txBox="1"/>
                    <p:nvPr/>
                  </p:nvSpPr>
                  <p:spPr>
                    <a:xfrm>
                      <a:off x="3066023" y="4953379"/>
                      <a:ext cx="1338680"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Spot Curve</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55" name="文本框 54">
                      <a:extLst>
                        <a:ext uri="{FF2B5EF4-FFF2-40B4-BE49-F238E27FC236}">
                          <a16:creationId xmlns:a16="http://schemas.microsoft.com/office/drawing/2014/main" id="{F892F108-5C8D-4562-97DD-11C884393727}"/>
                        </a:ext>
                      </a:extLst>
                    </p:cNvPr>
                    <p:cNvSpPr txBox="1"/>
                    <p:nvPr/>
                  </p:nvSpPr>
                  <p:spPr>
                    <a:xfrm>
                      <a:off x="3036702" y="4386433"/>
                      <a:ext cx="1368557"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Yield Curve</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56" name="文本框 55">
                      <a:extLst>
                        <a:ext uri="{FF2B5EF4-FFF2-40B4-BE49-F238E27FC236}">
                          <a16:creationId xmlns:a16="http://schemas.microsoft.com/office/drawing/2014/main" id="{730BAFC5-9194-4BF9-BF58-804E78366C64}"/>
                        </a:ext>
                      </a:extLst>
                    </p:cNvPr>
                    <p:cNvSpPr txBox="1"/>
                    <p:nvPr/>
                  </p:nvSpPr>
                  <p:spPr>
                    <a:xfrm>
                      <a:off x="736644" y="6970222"/>
                      <a:ext cx="3693938" cy="369445"/>
                    </a:xfrm>
                    <a:prstGeom prst="rect">
                      <a:avLst/>
                    </a:prstGeom>
                    <a:noFill/>
                  </p:spPr>
                  <p:txBody>
                    <a:bodyPr wrap="none">
                      <a:sp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Downward-Sloping Term Structure</a:t>
                      </a:r>
                      <a:endParaRPr lang="zh-CN" altLang="en-US" sz="1800" b="0" dirty="0">
                        <a:solidFill>
                          <a:srgbClr val="2C3E50"/>
                        </a:solidFill>
                        <a:latin typeface="Segoe UI" panose="020B0502040204020203" pitchFamily="34" charset="0"/>
                        <a:cs typeface="Segoe UI" panose="020B0502040204020203" pitchFamily="34" charset="0"/>
                      </a:endParaRPr>
                    </a:p>
                  </p:txBody>
                </p:sp>
              </p:grpSp>
            </p:grpSp>
            <p:sp>
              <p:nvSpPr>
                <p:cNvPr id="10" name="任意多边形 61">
                  <a:extLst>
                    <a:ext uri="{FF2B5EF4-FFF2-40B4-BE49-F238E27FC236}">
                      <a16:creationId xmlns:a16="http://schemas.microsoft.com/office/drawing/2014/main" id="{0772A86C-72D3-432C-97BE-8D31E94694CF}"/>
                    </a:ext>
                  </a:extLst>
                </p:cNvPr>
                <p:cNvSpPr>
                  <a:spLocks/>
                </p:cNvSpPr>
                <p:nvPr/>
              </p:nvSpPr>
              <p:spPr bwMode="auto">
                <a:xfrm>
                  <a:off x="5476125" y="3400746"/>
                  <a:ext cx="3347631" cy="863029"/>
                </a:xfrm>
                <a:custGeom>
                  <a:avLst/>
                  <a:gdLst>
                    <a:gd name="T0" fmla="*/ 0 w 3339101"/>
                    <a:gd name="T1" fmla="*/ 0 h 863029"/>
                    <a:gd name="T2" fmla="*/ 1633591 w 3339101"/>
                    <a:gd name="T3" fmla="*/ 626724 h 863029"/>
                    <a:gd name="T4" fmla="*/ 3339101 w 3339101"/>
                    <a:gd name="T5" fmla="*/ 863029 h 863029"/>
                    <a:gd name="T6" fmla="*/ 0 60000 65536"/>
                    <a:gd name="T7" fmla="*/ 0 60000 65536"/>
                    <a:gd name="T8" fmla="*/ 0 60000 65536"/>
                  </a:gdLst>
                  <a:ahLst/>
                  <a:cxnLst>
                    <a:cxn ang="T6">
                      <a:pos x="T0" y="T1"/>
                    </a:cxn>
                    <a:cxn ang="T7">
                      <a:pos x="T2" y="T3"/>
                    </a:cxn>
                    <a:cxn ang="T8">
                      <a:pos x="T4" y="T5"/>
                    </a:cxn>
                  </a:cxnLst>
                  <a:rect l="0" t="0" r="r" b="b"/>
                  <a:pathLst>
                    <a:path w="3339101" h="863029">
                      <a:moveTo>
                        <a:pt x="0" y="0"/>
                      </a:moveTo>
                      <a:cubicBezTo>
                        <a:pt x="538537" y="241443"/>
                        <a:pt x="1077074" y="482886"/>
                        <a:pt x="1633591" y="626724"/>
                      </a:cubicBezTo>
                      <a:cubicBezTo>
                        <a:pt x="2190108" y="770562"/>
                        <a:pt x="3339101" y="863029"/>
                        <a:pt x="3339101" y="863029"/>
                      </a:cubicBezTo>
                    </a:path>
                  </a:pathLst>
                </a:cu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800">
                    <a:solidFill>
                      <a:srgbClr val="2C3E50"/>
                    </a:solidFill>
                    <a:latin typeface="Segoe UI" panose="020B0502040204020203" pitchFamily="34" charset="0"/>
                    <a:cs typeface="Segoe UI" panose="020B0502040204020203" pitchFamily="34" charset="0"/>
                  </a:endParaRPr>
                </a:p>
              </p:txBody>
            </p:sp>
            <p:sp>
              <p:nvSpPr>
                <p:cNvPr id="11" name="任意多边形 68">
                  <a:extLst>
                    <a:ext uri="{FF2B5EF4-FFF2-40B4-BE49-F238E27FC236}">
                      <a16:creationId xmlns:a16="http://schemas.microsoft.com/office/drawing/2014/main" id="{677370C1-E62D-4DD5-9FC4-FE027F7D29C4}"/>
                    </a:ext>
                  </a:extLst>
                </p:cNvPr>
                <p:cNvSpPr>
                  <a:spLocks/>
                </p:cNvSpPr>
                <p:nvPr/>
              </p:nvSpPr>
              <p:spPr bwMode="auto">
                <a:xfrm>
                  <a:off x="5476125" y="3400746"/>
                  <a:ext cx="3347631" cy="1440442"/>
                </a:xfrm>
                <a:custGeom>
                  <a:avLst/>
                  <a:gdLst>
                    <a:gd name="T0" fmla="*/ 0 w 3359649"/>
                    <a:gd name="T1" fmla="*/ 0 h 1469205"/>
                    <a:gd name="T2" fmla="*/ 1941816 w 3359649"/>
                    <a:gd name="T3" fmla="*/ 1150706 h 1469205"/>
                    <a:gd name="T4" fmla="*/ 3359649 w 3359649"/>
                    <a:gd name="T5" fmla="*/ 1469205 h 1469205"/>
                    <a:gd name="T6" fmla="*/ 0 60000 65536"/>
                    <a:gd name="T7" fmla="*/ 0 60000 65536"/>
                    <a:gd name="T8" fmla="*/ 0 60000 65536"/>
                  </a:gdLst>
                  <a:ahLst/>
                  <a:cxnLst>
                    <a:cxn ang="T6">
                      <a:pos x="T0" y="T1"/>
                    </a:cxn>
                    <a:cxn ang="T7">
                      <a:pos x="T2" y="T3"/>
                    </a:cxn>
                    <a:cxn ang="T8">
                      <a:pos x="T4" y="T5"/>
                    </a:cxn>
                  </a:cxnLst>
                  <a:rect l="0" t="0" r="r" b="b"/>
                  <a:pathLst>
                    <a:path w="3359649" h="1469205">
                      <a:moveTo>
                        <a:pt x="0" y="0"/>
                      </a:moveTo>
                      <a:cubicBezTo>
                        <a:pt x="690937" y="452919"/>
                        <a:pt x="1381875" y="905839"/>
                        <a:pt x="1941816" y="1150706"/>
                      </a:cubicBezTo>
                      <a:cubicBezTo>
                        <a:pt x="2501757" y="1395573"/>
                        <a:pt x="2930703" y="1432389"/>
                        <a:pt x="3359649" y="1469205"/>
                      </a:cubicBezTo>
                    </a:path>
                  </a:pathLst>
                </a:custGeom>
                <a:noFill/>
                <a:ln w="9525" cap="flat" cmpd="sng" algn="ctr">
                  <a:solidFill>
                    <a:schemeClr val="tx1"/>
                  </a:solidFill>
                  <a:prstDash val="lgDash"/>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800">
                    <a:solidFill>
                      <a:srgbClr val="2C3E50"/>
                    </a:solidFill>
                    <a:latin typeface="Segoe UI" panose="020B0502040204020203" pitchFamily="34" charset="0"/>
                    <a:cs typeface="Segoe UI" panose="020B0502040204020203" pitchFamily="34" charset="0"/>
                  </a:endParaRPr>
                </a:p>
              </p:txBody>
            </p:sp>
            <p:sp>
              <p:nvSpPr>
                <p:cNvPr id="12" name="任意多边形 118">
                  <a:extLst>
                    <a:ext uri="{FF2B5EF4-FFF2-40B4-BE49-F238E27FC236}">
                      <a16:creationId xmlns:a16="http://schemas.microsoft.com/office/drawing/2014/main" id="{72E165E0-64CC-49CC-9A0D-58526E12E59E}"/>
                    </a:ext>
                  </a:extLst>
                </p:cNvPr>
                <p:cNvSpPr>
                  <a:spLocks/>
                </p:cNvSpPr>
                <p:nvPr/>
              </p:nvSpPr>
              <p:spPr bwMode="auto">
                <a:xfrm>
                  <a:off x="5476125" y="3411020"/>
                  <a:ext cx="3347631" cy="720221"/>
                </a:xfrm>
                <a:custGeom>
                  <a:avLst/>
                  <a:gdLst>
                    <a:gd name="T0" fmla="*/ 0 w 3359649"/>
                    <a:gd name="T1" fmla="*/ 0 h 781089"/>
                    <a:gd name="T2" fmla="*/ 1523872 w 3359649"/>
                    <a:gd name="T3" fmla="*/ 313876 h 781089"/>
                    <a:gd name="T4" fmla="*/ 2616651 w 3359649"/>
                    <a:gd name="T5" fmla="*/ 416599 h 781089"/>
                    <a:gd name="T6" fmla="*/ 3278331 w 3359649"/>
                    <a:gd name="T7" fmla="*/ 433719 h 7810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59649" h="781089">
                      <a:moveTo>
                        <a:pt x="0" y="0"/>
                      </a:moveTo>
                      <a:cubicBezTo>
                        <a:pt x="557373" y="220038"/>
                        <a:pt x="1114746" y="440077"/>
                        <a:pt x="1561672" y="565079"/>
                      </a:cubicBezTo>
                      <a:cubicBezTo>
                        <a:pt x="2008598" y="690081"/>
                        <a:pt x="2381892" y="714054"/>
                        <a:pt x="2681555" y="750014"/>
                      </a:cubicBezTo>
                      <a:cubicBezTo>
                        <a:pt x="2981218" y="785974"/>
                        <a:pt x="3359649" y="780836"/>
                        <a:pt x="3359649" y="780836"/>
                      </a:cubicBez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800">
                    <a:solidFill>
                      <a:srgbClr val="2C3E50"/>
                    </a:solidFill>
                    <a:latin typeface="Segoe UI" panose="020B0502040204020203" pitchFamily="34" charset="0"/>
                    <a:cs typeface="Segoe UI" panose="020B0502040204020203" pitchFamily="34" charset="0"/>
                  </a:endParaRPr>
                </a:p>
              </p:txBody>
            </p:sp>
          </p:grpSp>
        </p:grpSp>
        <p:sp>
          <p:nvSpPr>
            <p:cNvPr id="6" name="圆角矩形 108">
              <a:extLst>
                <a:ext uri="{FF2B5EF4-FFF2-40B4-BE49-F238E27FC236}">
                  <a16:creationId xmlns:a16="http://schemas.microsoft.com/office/drawing/2014/main" id="{7524F919-0DF9-4491-A4F5-8A8C42EB5A6E}"/>
                </a:ext>
              </a:extLst>
            </p:cNvPr>
            <p:cNvSpPr/>
            <p:nvPr/>
          </p:nvSpPr>
          <p:spPr>
            <a:xfrm>
              <a:off x="214313" y="1197298"/>
              <a:ext cx="8743771" cy="4463950"/>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8385563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sp>
        <p:nvSpPr>
          <p:cNvPr id="3" name="文本占位符 2"/>
          <p:cNvSpPr>
            <a:spLocks noGrp="1"/>
          </p:cNvSpPr>
          <p:nvPr>
            <p:ph type="body" sz="quarter" idx="10"/>
          </p:nvPr>
        </p:nvSpPr>
        <p:spPr/>
        <p:txBody>
          <a:bodyPr>
            <a:normAutofit/>
          </a:bodyPr>
          <a:lstStyle/>
          <a:p>
            <a:r>
              <a:rPr lang="en-US" altLang="zh-CN" dirty="0"/>
              <a:t>Reinvestment Risk and Interest Rate Risk</a:t>
            </a:r>
          </a:p>
          <a:p>
            <a:pPr marL="742950" lvl="1"/>
            <a:r>
              <a:rPr lang="en-US" altLang="zh-CN" dirty="0"/>
              <a:t>The yield to maturity can be viewed as the </a:t>
            </a:r>
            <a:r>
              <a:rPr lang="en-US" altLang="zh-CN" b="1" dirty="0"/>
              <a:t>realized return</a:t>
            </a:r>
            <a:r>
              <a:rPr lang="en-US" altLang="zh-CN" dirty="0"/>
              <a:t> on the bond </a:t>
            </a:r>
            <a:r>
              <a:rPr lang="en-US" altLang="zh-CN" u="sng" dirty="0"/>
              <a:t>assuming all cash flows are reinvested at the YTM and the bond is held to maturity</a:t>
            </a:r>
            <a:r>
              <a:rPr lang="en-US" altLang="zh-CN" dirty="0"/>
              <a:t>.</a:t>
            </a:r>
          </a:p>
          <a:p>
            <a:pPr marL="742950" lvl="1"/>
            <a:r>
              <a:rPr lang="en-US" altLang="zh-CN" u="sng" dirty="0"/>
              <a:t>Future interest rates can be less than the yield to maturity</a:t>
            </a:r>
            <a:r>
              <a:rPr lang="en-US" altLang="zh-CN" dirty="0"/>
              <a:t> at the time bond is purchased, known as </a:t>
            </a:r>
            <a:r>
              <a:rPr lang="en-US" altLang="zh-CN" b="1" dirty="0"/>
              <a:t>reinvestment risk</a:t>
            </a:r>
            <a:r>
              <a:rPr lang="en-US" altLang="zh-CN" dirty="0"/>
              <a:t>.</a:t>
            </a:r>
          </a:p>
          <a:p>
            <a:pPr marL="742950" lvl="1"/>
            <a:r>
              <a:rPr lang="en-US" altLang="zh-CN" u="sng" dirty="0"/>
              <a:t>If the bond is not held to maturity, the investor faces the risk that he may have to sell for less than the purchase price, resulting a return that is less than the yield to maturity</a:t>
            </a:r>
            <a:r>
              <a:rPr lang="en-US" altLang="zh-CN" dirty="0"/>
              <a:t>, known as </a:t>
            </a:r>
            <a:r>
              <a:rPr lang="en-US" altLang="zh-CN" b="1" dirty="0"/>
              <a:t>interest rate risk</a:t>
            </a:r>
            <a:r>
              <a:rPr lang="en-US" altLang="zh-CN" dirty="0"/>
              <a: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410706325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sp>
        <p:nvSpPr>
          <p:cNvPr id="3" name="文本占位符 2"/>
          <p:cNvSpPr>
            <a:spLocks noGrp="1"/>
          </p:cNvSpPr>
          <p:nvPr>
            <p:ph type="body" sz="quarter" idx="10"/>
          </p:nvPr>
        </p:nvSpPr>
        <p:spPr/>
        <p:txBody>
          <a:bodyPr>
            <a:normAutofit/>
          </a:bodyPr>
          <a:lstStyle/>
          <a:p>
            <a:r>
              <a:rPr lang="en-US" altLang="zh-CN" dirty="0"/>
              <a:t>The Spread of a Bond</a:t>
            </a:r>
          </a:p>
          <a:p>
            <a:pPr lvl="1"/>
            <a:r>
              <a:rPr lang="en-US" altLang="zh-CN" dirty="0"/>
              <a:t>The market price of any security can be thought of as its value computed </a:t>
            </a:r>
            <a:r>
              <a:rPr lang="en-US" altLang="zh-CN" u="sng" dirty="0"/>
              <a:t>using some term structure of interest rates plus a premium or discount</a:t>
            </a:r>
            <a:r>
              <a:rPr lang="en-US" altLang="zh-CN" dirty="0"/>
              <a:t>.</a:t>
            </a:r>
          </a:p>
          <a:p>
            <a:endParaRPr lang="zh-CN" altLang="en-US" dirty="0">
              <a:latin typeface="+mn-lt"/>
              <a:ea typeface="+mn-ea"/>
              <a:cs typeface="+mn-ea"/>
              <a:sym typeface="+mn-lt"/>
            </a:endParaRPr>
          </a:p>
        </p:txBody>
      </p:sp>
      <p:graphicFrame>
        <p:nvGraphicFramePr>
          <p:cNvPr id="4" name="Object 116">
            <a:extLst>
              <a:ext uri="{FF2B5EF4-FFF2-40B4-BE49-F238E27FC236}">
                <a16:creationId xmlns:a16="http://schemas.microsoft.com/office/drawing/2014/main" id="{8BA75986-1263-4A61-BD02-6F36E73FFDE4}"/>
              </a:ext>
            </a:extLst>
          </p:cNvPr>
          <p:cNvGraphicFramePr>
            <a:graphicFrameLocks/>
          </p:cNvGraphicFramePr>
          <p:nvPr>
            <p:extLst>
              <p:ext uri="{D42A27DB-BD31-4B8C-83A1-F6EECF244321}">
                <p14:modId xmlns:p14="http://schemas.microsoft.com/office/powerpoint/2010/main" val="2017889241"/>
              </p:ext>
            </p:extLst>
          </p:nvPr>
        </p:nvGraphicFramePr>
        <p:xfrm>
          <a:off x="5994400" y="3268663"/>
          <a:ext cx="200025" cy="320675"/>
        </p:xfrm>
        <a:graphic>
          <a:graphicData uri="http://schemas.openxmlformats.org/presentationml/2006/ole">
            <mc:AlternateContent xmlns:mc="http://schemas.openxmlformats.org/markup-compatibility/2006">
              <mc:Choice xmlns:v="urn:schemas-microsoft-com:vml" Requires="v">
                <p:oleObj spid="_x0000_s22535" name="Equation" r:id="rId4" imgW="114120" imgH="164880" progId="Equation.DSMT4">
                  <p:embed/>
                </p:oleObj>
              </mc:Choice>
              <mc:Fallback>
                <p:oleObj name="Equation" r:id="rId4" imgW="114120" imgH="164880" progId="Equation.DSMT4">
                  <p:embed/>
                  <p:pic>
                    <p:nvPicPr>
                      <p:cNvPr id="38916" name="Object 116"/>
                      <p:cNvPicPr>
                        <a:picLocks noChangeAspect="1" noChangeArrowheads="1"/>
                      </p:cNvPicPr>
                      <p:nvPr/>
                    </p:nvPicPr>
                    <p:blipFill>
                      <a:blip r:embed="rId5"/>
                      <a:srcRect/>
                      <a:stretch>
                        <a:fillRect/>
                      </a:stretch>
                    </p:blipFill>
                    <p:spPr bwMode="auto">
                      <a:xfrm>
                        <a:off x="5994400" y="3268663"/>
                        <a:ext cx="200025"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FCC93B5C-FC71-4869-B5CE-A6984CFBBF02}"/>
                  </a:ext>
                </a:extLst>
              </p:cNvPr>
              <p:cNvSpPr/>
              <p:nvPr/>
            </p:nvSpPr>
            <p:spPr>
              <a:xfrm>
                <a:off x="609600" y="3259600"/>
                <a:ext cx="10873154" cy="65947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𝑐</m:t>
                          </m:r>
                        </m:num>
                        <m:den>
                          <m:r>
                            <a:rPr lang="zh-CN" altLang="en-US" i="0">
                              <a:latin typeface="Cambria Math" panose="02040503050406030204" pitchFamily="18" charset="0"/>
                            </a:rPr>
                            <m:t>1+</m:t>
                          </m:r>
                          <m:r>
                            <a:rPr lang="zh-CN" altLang="en-US" i="1">
                              <a:latin typeface="Cambria Math" panose="02040503050406030204" pitchFamily="18" charset="0"/>
                            </a:rPr>
                            <m:t>𝑓</m:t>
                          </m:r>
                          <m:d>
                            <m:dPr>
                              <m:ctrlPr>
                                <a:rPr lang="zh-CN" altLang="en-US" i="1">
                                  <a:latin typeface="Cambria Math" panose="02040503050406030204" pitchFamily="18" charset="0"/>
                                </a:rPr>
                              </m:ctrlPr>
                            </m:dPr>
                            <m:e>
                              <m:r>
                                <a:rPr lang="zh-CN" altLang="en-US" i="0">
                                  <a:latin typeface="Cambria Math" panose="02040503050406030204" pitchFamily="18" charset="0"/>
                                </a:rPr>
                                <m:t>1</m:t>
                              </m:r>
                            </m:e>
                          </m:d>
                          <m:r>
                            <a:rPr lang="zh-CN" altLang="en-US" i="0">
                              <a:latin typeface="Cambria Math" panose="02040503050406030204" pitchFamily="18" charset="0"/>
                            </a:rPr>
                            <m:t>+</m:t>
                          </m:r>
                          <m:r>
                            <a:rPr lang="zh-CN" altLang="en-US" i="1">
                              <a:latin typeface="Cambria Math" panose="02040503050406030204" pitchFamily="18" charset="0"/>
                            </a:rPr>
                            <m:t>𝑠</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𝑐</m:t>
                          </m:r>
                        </m:num>
                        <m:den>
                          <m:d>
                            <m:dPr>
                              <m:begChr m:val="["/>
                              <m:endChr m:val="]"/>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𝑓</m:t>
                              </m:r>
                              <m:d>
                                <m:dPr>
                                  <m:ctrlPr>
                                    <a:rPr lang="zh-CN" altLang="en-US" i="1">
                                      <a:latin typeface="Cambria Math" panose="02040503050406030204" pitchFamily="18" charset="0"/>
                                    </a:rPr>
                                  </m:ctrlPr>
                                </m:dPr>
                                <m:e>
                                  <m:r>
                                    <a:rPr lang="zh-CN" altLang="en-US" i="0">
                                      <a:latin typeface="Cambria Math" panose="02040503050406030204" pitchFamily="18" charset="0"/>
                                    </a:rPr>
                                    <m:t>1</m:t>
                                  </m:r>
                                </m:e>
                              </m:d>
                              <m:r>
                                <a:rPr lang="zh-CN" altLang="en-US" i="0">
                                  <a:latin typeface="Cambria Math" panose="02040503050406030204" pitchFamily="18" charset="0"/>
                                </a:rPr>
                                <m:t>+</m:t>
                              </m:r>
                              <m:r>
                                <a:rPr lang="zh-CN" altLang="en-US" i="1">
                                  <a:latin typeface="Cambria Math" panose="02040503050406030204" pitchFamily="18" charset="0"/>
                                </a:rPr>
                                <m:t>𝑠</m:t>
                              </m:r>
                            </m:e>
                          </m:d>
                          <m:d>
                            <m:dPr>
                              <m:begChr m:val="["/>
                              <m:endChr m:val="]"/>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𝑓</m:t>
                              </m:r>
                              <m:d>
                                <m:dPr>
                                  <m:ctrlPr>
                                    <a:rPr lang="zh-CN" altLang="en-US" i="1">
                                      <a:latin typeface="Cambria Math" panose="02040503050406030204" pitchFamily="18" charset="0"/>
                                    </a:rPr>
                                  </m:ctrlPr>
                                </m:dPr>
                                <m:e>
                                  <m:r>
                                    <a:rPr lang="zh-CN" altLang="en-US" i="0">
                                      <a:latin typeface="Cambria Math" panose="02040503050406030204" pitchFamily="18" charset="0"/>
                                    </a:rPr>
                                    <m:t>2</m:t>
                                  </m:r>
                                </m:e>
                              </m:d>
                              <m:r>
                                <a:rPr lang="zh-CN" altLang="en-US" i="0">
                                  <a:latin typeface="Cambria Math" panose="02040503050406030204" pitchFamily="18" charset="0"/>
                                </a:rPr>
                                <m:t>+</m:t>
                              </m:r>
                              <m:r>
                                <a:rPr lang="zh-CN" altLang="en-US" i="1">
                                  <a:latin typeface="Cambria Math" panose="02040503050406030204" pitchFamily="18" charset="0"/>
                                </a:rPr>
                                <m:t>𝑠</m:t>
                              </m:r>
                            </m:e>
                          </m:d>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𝑐</m:t>
                          </m:r>
                          <m:r>
                            <a:rPr lang="zh-CN" altLang="en-US" i="0">
                              <a:latin typeface="Cambria Math" panose="02040503050406030204" pitchFamily="18" charset="0"/>
                            </a:rPr>
                            <m:t>+</m:t>
                          </m:r>
                          <m:r>
                            <a:rPr lang="zh-CN" altLang="en-US" i="1">
                              <a:latin typeface="Cambria Math" panose="02040503050406030204" pitchFamily="18" charset="0"/>
                            </a:rPr>
                            <m:t>𝐹</m:t>
                          </m:r>
                        </m:num>
                        <m:den>
                          <m:d>
                            <m:dPr>
                              <m:begChr m:val="["/>
                              <m:endChr m:val="]"/>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𝑓</m:t>
                              </m:r>
                              <m:d>
                                <m:dPr>
                                  <m:ctrlPr>
                                    <a:rPr lang="zh-CN" altLang="en-US" i="1">
                                      <a:latin typeface="Cambria Math" panose="02040503050406030204" pitchFamily="18" charset="0"/>
                                    </a:rPr>
                                  </m:ctrlPr>
                                </m:dPr>
                                <m:e>
                                  <m:r>
                                    <a:rPr lang="zh-CN" altLang="en-US" i="0">
                                      <a:latin typeface="Cambria Math" panose="02040503050406030204" pitchFamily="18" charset="0"/>
                                    </a:rPr>
                                    <m:t>1</m:t>
                                  </m:r>
                                </m:e>
                              </m:d>
                              <m:r>
                                <a:rPr lang="zh-CN" altLang="en-US" i="0">
                                  <a:latin typeface="Cambria Math" panose="02040503050406030204" pitchFamily="18" charset="0"/>
                                </a:rPr>
                                <m:t>+</m:t>
                              </m:r>
                              <m:r>
                                <a:rPr lang="zh-CN" altLang="en-US" i="1">
                                  <a:latin typeface="Cambria Math" panose="02040503050406030204" pitchFamily="18" charset="0"/>
                                </a:rPr>
                                <m:t>𝑠</m:t>
                              </m:r>
                            </m:e>
                          </m:d>
                          <m:d>
                            <m:dPr>
                              <m:begChr m:val="["/>
                              <m:endChr m:val="]"/>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𝑓</m:t>
                              </m:r>
                              <m:d>
                                <m:dPr>
                                  <m:ctrlPr>
                                    <a:rPr lang="zh-CN" altLang="en-US" i="1">
                                      <a:latin typeface="Cambria Math" panose="02040503050406030204" pitchFamily="18" charset="0"/>
                                    </a:rPr>
                                  </m:ctrlPr>
                                </m:dPr>
                                <m:e>
                                  <m:r>
                                    <a:rPr lang="zh-CN" altLang="en-US" i="0">
                                      <a:latin typeface="Cambria Math" panose="02040503050406030204" pitchFamily="18" charset="0"/>
                                    </a:rPr>
                                    <m:t>2</m:t>
                                  </m:r>
                                </m:e>
                              </m:d>
                              <m:r>
                                <a:rPr lang="zh-CN" altLang="en-US" i="0">
                                  <a:latin typeface="Cambria Math" panose="02040503050406030204" pitchFamily="18" charset="0"/>
                                </a:rPr>
                                <m:t>+</m:t>
                              </m:r>
                              <m:r>
                                <a:rPr lang="zh-CN" altLang="en-US" i="1">
                                  <a:latin typeface="Cambria Math" panose="02040503050406030204" pitchFamily="18" charset="0"/>
                                </a:rPr>
                                <m:t>𝑠</m:t>
                              </m:r>
                            </m:e>
                          </m:d>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𝑓</m:t>
                              </m:r>
                              <m:d>
                                <m:dPr>
                                  <m:ctrlPr>
                                    <a:rPr lang="zh-CN" altLang="en-US" i="1">
                                      <a:latin typeface="Cambria Math" panose="02040503050406030204" pitchFamily="18" charset="0"/>
                                    </a:rPr>
                                  </m:ctrlPr>
                                </m:dPr>
                                <m:e>
                                  <m:r>
                                    <a:rPr lang="zh-CN" altLang="en-US" i="1">
                                      <a:latin typeface="Cambria Math" panose="02040503050406030204" pitchFamily="18" charset="0"/>
                                    </a:rPr>
                                    <m:t>𝑇</m:t>
                                  </m:r>
                                </m:e>
                              </m:d>
                              <m:r>
                                <a:rPr lang="zh-CN" altLang="en-US" i="0">
                                  <a:latin typeface="Cambria Math" panose="02040503050406030204" pitchFamily="18" charset="0"/>
                                </a:rPr>
                                <m:t>+</m:t>
                              </m:r>
                              <m:r>
                                <a:rPr lang="zh-CN" altLang="en-US" i="1">
                                  <a:latin typeface="Cambria Math" panose="02040503050406030204" pitchFamily="18" charset="0"/>
                                </a:rPr>
                                <m:t>𝑠</m:t>
                              </m:r>
                            </m:e>
                          </m:d>
                        </m:den>
                      </m:f>
                    </m:oMath>
                  </m:oMathPara>
                </a14:m>
                <a:endParaRPr lang="zh-CN" altLang="en-US" dirty="0"/>
              </a:p>
            </p:txBody>
          </p:sp>
        </mc:Choice>
        <mc:Fallback xmlns="">
          <p:sp>
            <p:nvSpPr>
              <p:cNvPr id="5" name="矩形 4">
                <a:extLst>
                  <a:ext uri="{FF2B5EF4-FFF2-40B4-BE49-F238E27FC236}">
                    <a16:creationId xmlns:a16="http://schemas.microsoft.com/office/drawing/2014/main" id="{FCC93B5C-FC71-4869-B5CE-A6984CFBBF02}"/>
                  </a:ext>
                </a:extLst>
              </p:cNvPr>
              <p:cNvSpPr>
                <a:spLocks noRot="1" noChangeAspect="1" noMove="1" noResize="1" noEditPoints="1" noAdjustHandles="1" noChangeArrowheads="1" noChangeShapeType="1" noTextEdit="1"/>
              </p:cNvSpPr>
              <p:nvPr/>
            </p:nvSpPr>
            <p:spPr>
              <a:xfrm>
                <a:off x="609600" y="3259600"/>
                <a:ext cx="10873154" cy="659476"/>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5C3A7272-6F58-47FA-AFB8-62B9D3506ACA}"/>
                  </a:ext>
                </a:extLst>
              </p:cNvPr>
              <p:cNvSpPr/>
              <p:nvPr/>
            </p:nvSpPr>
            <p:spPr>
              <a:xfrm>
                <a:off x="925246" y="4599844"/>
                <a:ext cx="10873153" cy="5965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𝑃</m:t>
                      </m:r>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𝑐</m:t>
                          </m:r>
                        </m:num>
                        <m:den>
                          <m:r>
                            <a:rPr lang="zh-CN" altLang="en-US" sz="1600" i="0">
                              <a:latin typeface="Cambria Math" panose="02040503050406030204" pitchFamily="18" charset="0"/>
                            </a:rPr>
                            <m:t>1+</m:t>
                          </m:r>
                          <m:r>
                            <a:rPr lang="zh-CN" altLang="en-US" sz="1600" i="1">
                              <a:latin typeface="Cambria Math" panose="02040503050406030204" pitchFamily="18" charset="0"/>
                            </a:rPr>
                            <m:t>𝑓</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1</m:t>
                              </m:r>
                            </m:e>
                          </m:d>
                          <m:r>
                            <a:rPr lang="zh-CN" altLang="en-US" sz="1600" i="0">
                              <a:latin typeface="Cambria Math" panose="02040503050406030204" pitchFamily="18" charset="0"/>
                            </a:rPr>
                            <m:t>+</m:t>
                          </m:r>
                          <m:r>
                            <a:rPr lang="zh-CN" altLang="en-US" sz="1600" i="1">
                              <a:latin typeface="Cambria Math" panose="02040503050406030204" pitchFamily="18" charset="0"/>
                            </a:rPr>
                            <m:t>𝑠</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1</m:t>
                              </m:r>
                            </m:e>
                          </m:d>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𝑐</m:t>
                          </m:r>
                        </m:num>
                        <m:den>
                          <m:d>
                            <m:dPr>
                              <m:begChr m:val="["/>
                              <m:endChr m:val="]"/>
                              <m:ctrlPr>
                                <a:rPr lang="zh-CN" altLang="en-US" sz="1600" i="1">
                                  <a:latin typeface="Cambria Math" panose="02040503050406030204" pitchFamily="18" charset="0"/>
                                </a:rPr>
                              </m:ctrlPr>
                            </m:dPr>
                            <m:e>
                              <m:r>
                                <a:rPr lang="zh-CN" altLang="en-US" sz="1600" i="0">
                                  <a:latin typeface="Cambria Math" panose="02040503050406030204" pitchFamily="18" charset="0"/>
                                </a:rPr>
                                <m:t>1+</m:t>
                              </m:r>
                              <m:r>
                                <a:rPr lang="zh-CN" altLang="en-US" sz="1600" i="1">
                                  <a:latin typeface="Cambria Math" panose="02040503050406030204" pitchFamily="18" charset="0"/>
                                </a:rPr>
                                <m:t>𝑓</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1</m:t>
                                  </m:r>
                                </m:e>
                              </m:d>
                              <m:r>
                                <a:rPr lang="zh-CN" altLang="en-US" sz="1600" i="0">
                                  <a:latin typeface="Cambria Math" panose="02040503050406030204" pitchFamily="18" charset="0"/>
                                </a:rPr>
                                <m:t>+</m:t>
                              </m:r>
                              <m:r>
                                <a:rPr lang="zh-CN" altLang="en-US" sz="1600" i="1">
                                  <a:latin typeface="Cambria Math" panose="02040503050406030204" pitchFamily="18" charset="0"/>
                                </a:rPr>
                                <m:t>𝑠</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1</m:t>
                                  </m:r>
                                </m:e>
                              </m:d>
                            </m:e>
                          </m:d>
                          <m:d>
                            <m:dPr>
                              <m:begChr m:val="["/>
                              <m:endChr m:val="]"/>
                              <m:ctrlPr>
                                <a:rPr lang="zh-CN" altLang="en-US" sz="1600" i="1">
                                  <a:latin typeface="Cambria Math" panose="02040503050406030204" pitchFamily="18" charset="0"/>
                                </a:rPr>
                              </m:ctrlPr>
                            </m:dPr>
                            <m:e>
                              <m:r>
                                <a:rPr lang="zh-CN" altLang="en-US" sz="1600" i="0">
                                  <a:latin typeface="Cambria Math" panose="02040503050406030204" pitchFamily="18" charset="0"/>
                                </a:rPr>
                                <m:t>1+</m:t>
                              </m:r>
                              <m:r>
                                <a:rPr lang="zh-CN" altLang="en-US" sz="1600" i="1">
                                  <a:latin typeface="Cambria Math" panose="02040503050406030204" pitchFamily="18" charset="0"/>
                                </a:rPr>
                                <m:t>𝑓</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2</m:t>
                                  </m:r>
                                </m:e>
                              </m:d>
                              <m:r>
                                <a:rPr lang="zh-CN" altLang="en-US" sz="1600" i="0">
                                  <a:latin typeface="Cambria Math" panose="02040503050406030204" pitchFamily="18" charset="0"/>
                                </a:rPr>
                                <m:t>+</m:t>
                              </m:r>
                              <m:r>
                                <a:rPr lang="zh-CN" altLang="en-US" sz="1600" i="1">
                                  <a:latin typeface="Cambria Math" panose="02040503050406030204" pitchFamily="18" charset="0"/>
                                </a:rPr>
                                <m:t>𝑠</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2</m:t>
                                  </m:r>
                                </m:e>
                              </m:d>
                            </m:e>
                          </m:d>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𝑐</m:t>
                          </m:r>
                          <m:r>
                            <a:rPr lang="zh-CN" altLang="en-US" sz="1600" i="0">
                              <a:latin typeface="Cambria Math" panose="02040503050406030204" pitchFamily="18" charset="0"/>
                            </a:rPr>
                            <m:t>+</m:t>
                          </m:r>
                          <m:r>
                            <a:rPr lang="zh-CN" altLang="en-US" sz="1600" i="1">
                              <a:latin typeface="Cambria Math" panose="02040503050406030204" pitchFamily="18" charset="0"/>
                            </a:rPr>
                            <m:t>𝐹</m:t>
                          </m:r>
                        </m:num>
                        <m:den>
                          <m:d>
                            <m:dPr>
                              <m:begChr m:val="["/>
                              <m:endChr m:val="]"/>
                              <m:ctrlPr>
                                <a:rPr lang="zh-CN" altLang="en-US" sz="1600" i="1">
                                  <a:latin typeface="Cambria Math" panose="02040503050406030204" pitchFamily="18" charset="0"/>
                                </a:rPr>
                              </m:ctrlPr>
                            </m:dPr>
                            <m:e>
                              <m:r>
                                <a:rPr lang="zh-CN" altLang="en-US" sz="1600" i="0">
                                  <a:latin typeface="Cambria Math" panose="02040503050406030204" pitchFamily="18" charset="0"/>
                                </a:rPr>
                                <m:t>1+</m:t>
                              </m:r>
                              <m:r>
                                <a:rPr lang="zh-CN" altLang="en-US" sz="1600" i="1">
                                  <a:latin typeface="Cambria Math" panose="02040503050406030204" pitchFamily="18" charset="0"/>
                                </a:rPr>
                                <m:t>𝑓</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1</m:t>
                                  </m:r>
                                </m:e>
                              </m:d>
                              <m:r>
                                <a:rPr lang="zh-CN" altLang="en-US" sz="1600" i="0">
                                  <a:latin typeface="Cambria Math" panose="02040503050406030204" pitchFamily="18" charset="0"/>
                                </a:rPr>
                                <m:t>+</m:t>
                              </m:r>
                              <m:r>
                                <a:rPr lang="zh-CN" altLang="en-US" sz="1600" i="1">
                                  <a:latin typeface="Cambria Math" panose="02040503050406030204" pitchFamily="18" charset="0"/>
                                </a:rPr>
                                <m:t>𝑠</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1</m:t>
                                  </m:r>
                                </m:e>
                              </m:d>
                            </m:e>
                          </m:d>
                          <m:d>
                            <m:dPr>
                              <m:begChr m:val="["/>
                              <m:endChr m:val="]"/>
                              <m:ctrlPr>
                                <a:rPr lang="zh-CN" altLang="en-US" sz="1600" i="1">
                                  <a:latin typeface="Cambria Math" panose="02040503050406030204" pitchFamily="18" charset="0"/>
                                </a:rPr>
                              </m:ctrlPr>
                            </m:dPr>
                            <m:e>
                              <m:r>
                                <a:rPr lang="zh-CN" altLang="en-US" sz="1600" i="0">
                                  <a:latin typeface="Cambria Math" panose="02040503050406030204" pitchFamily="18" charset="0"/>
                                </a:rPr>
                                <m:t>1+</m:t>
                              </m:r>
                              <m:r>
                                <a:rPr lang="zh-CN" altLang="en-US" sz="1600" i="1">
                                  <a:latin typeface="Cambria Math" panose="02040503050406030204" pitchFamily="18" charset="0"/>
                                </a:rPr>
                                <m:t>𝑓</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2</m:t>
                                  </m:r>
                                </m:e>
                              </m:d>
                              <m:r>
                                <a:rPr lang="zh-CN" altLang="en-US" sz="1600" i="0">
                                  <a:latin typeface="Cambria Math" panose="02040503050406030204" pitchFamily="18" charset="0"/>
                                </a:rPr>
                                <m:t>+</m:t>
                              </m:r>
                              <m:r>
                                <a:rPr lang="zh-CN" altLang="en-US" sz="1600" i="1">
                                  <a:latin typeface="Cambria Math" panose="02040503050406030204" pitchFamily="18" charset="0"/>
                                </a:rPr>
                                <m:t>𝑠</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2</m:t>
                                  </m:r>
                                </m:e>
                              </m:d>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a:rPr lang="zh-CN" altLang="en-US" sz="1600" i="0">
                                  <a:latin typeface="Cambria Math" panose="02040503050406030204" pitchFamily="18" charset="0"/>
                                </a:rPr>
                                <m:t>1+</m:t>
                              </m:r>
                              <m:r>
                                <a:rPr lang="zh-CN" altLang="en-US" sz="1600" i="1">
                                  <a:latin typeface="Cambria Math" panose="02040503050406030204" pitchFamily="18" charset="0"/>
                                </a:rPr>
                                <m:t>𝑓</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𝑇</m:t>
                                  </m:r>
                                </m:e>
                              </m:d>
                              <m:r>
                                <a:rPr lang="zh-CN" altLang="en-US" sz="1600" i="0">
                                  <a:latin typeface="Cambria Math" panose="02040503050406030204" pitchFamily="18" charset="0"/>
                                </a:rPr>
                                <m:t>+</m:t>
                              </m:r>
                              <m:r>
                                <a:rPr lang="zh-CN" altLang="en-US" sz="1600" i="1">
                                  <a:latin typeface="Cambria Math" panose="02040503050406030204" pitchFamily="18" charset="0"/>
                                </a:rPr>
                                <m:t>𝑠</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𝑇</m:t>
                                  </m:r>
                                </m:e>
                              </m:d>
                            </m:e>
                          </m:d>
                        </m:den>
                      </m:f>
                    </m:oMath>
                  </m:oMathPara>
                </a14:m>
                <a:endParaRPr lang="zh-CN" altLang="en-US" sz="1600" dirty="0"/>
              </a:p>
            </p:txBody>
          </p:sp>
        </mc:Choice>
        <mc:Fallback xmlns="">
          <p:sp>
            <p:nvSpPr>
              <p:cNvPr id="6" name="矩形 5">
                <a:extLst>
                  <a:ext uri="{FF2B5EF4-FFF2-40B4-BE49-F238E27FC236}">
                    <a16:creationId xmlns:a16="http://schemas.microsoft.com/office/drawing/2014/main" id="{5C3A7272-6F58-47FA-AFB8-62B9D3506ACA}"/>
                  </a:ext>
                </a:extLst>
              </p:cNvPr>
              <p:cNvSpPr>
                <a:spLocks noRot="1" noChangeAspect="1" noMove="1" noResize="1" noEditPoints="1" noAdjustHandles="1" noChangeArrowheads="1" noChangeShapeType="1" noTextEdit="1"/>
              </p:cNvSpPr>
              <p:nvPr/>
            </p:nvSpPr>
            <p:spPr>
              <a:xfrm>
                <a:off x="925246" y="4599844"/>
                <a:ext cx="10873153" cy="596510"/>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581735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sp>
        <p:nvSpPr>
          <p:cNvPr id="3" name="文本占位符 2"/>
          <p:cNvSpPr>
            <a:spLocks noGrp="1"/>
          </p:cNvSpPr>
          <p:nvPr>
            <p:ph type="body" sz="quarter" idx="10"/>
          </p:nvPr>
        </p:nvSpPr>
        <p:spPr>
          <a:xfrm>
            <a:off x="393599" y="813469"/>
            <a:ext cx="11404800" cy="5660163"/>
          </a:xfrm>
        </p:spPr>
        <p:txBody>
          <a:bodyPr>
            <a:normAutofit/>
          </a:bodyPr>
          <a:lstStyle/>
          <a:p>
            <a:r>
              <a:rPr lang="en-US" altLang="zh-CN" dirty="0"/>
              <a:t>Example</a:t>
            </a:r>
          </a:p>
          <a:p>
            <a:pPr lvl="1"/>
            <a:r>
              <a:rPr lang="en-US" altLang="zh-CN" dirty="0"/>
              <a:t>A Treasury bond has one year to maturity. The forward curve of this bond is as follows: f(0.5) = 2.5%, f(1) = 2.8%, coupon rate is 3%, paid semi-annually. Compute the spread of a similar corporate bond if its current price is 100. </a:t>
            </a:r>
          </a:p>
          <a:p>
            <a:endParaRPr lang="zh-CN" altLang="en-US" dirty="0">
              <a:latin typeface="+mn-lt"/>
              <a:ea typeface="+mn-ea"/>
              <a:cs typeface="+mn-ea"/>
              <a:sym typeface="+mn-lt"/>
            </a:endParaRPr>
          </a:p>
        </p:txBody>
      </p:sp>
      <p:graphicFrame>
        <p:nvGraphicFramePr>
          <p:cNvPr id="4" name="对象 3">
            <a:extLst>
              <a:ext uri="{FF2B5EF4-FFF2-40B4-BE49-F238E27FC236}">
                <a16:creationId xmlns:a16="http://schemas.microsoft.com/office/drawing/2014/main" id="{156EBB7D-0E47-40E9-A682-ED5F9F7CADC3}"/>
              </a:ext>
            </a:extLst>
          </p:cNvPr>
          <p:cNvGraphicFramePr>
            <a:graphicFrameLocks/>
          </p:cNvGraphicFramePr>
          <p:nvPr>
            <p:extLst>
              <p:ext uri="{D42A27DB-BD31-4B8C-83A1-F6EECF244321}">
                <p14:modId xmlns:p14="http://schemas.microsoft.com/office/powerpoint/2010/main" val="2343074193"/>
              </p:ext>
            </p:extLst>
          </p:nvPr>
        </p:nvGraphicFramePr>
        <p:xfrm>
          <a:off x="5986463" y="4776788"/>
          <a:ext cx="215900" cy="349250"/>
        </p:xfrm>
        <a:graphic>
          <a:graphicData uri="http://schemas.openxmlformats.org/presentationml/2006/ole">
            <mc:AlternateContent xmlns:mc="http://schemas.openxmlformats.org/markup-compatibility/2006">
              <mc:Choice xmlns:v="urn:schemas-microsoft-com:vml" Requires="v">
                <p:oleObj spid="_x0000_s23558" name="Equation" r:id="rId4" imgW="114120" imgH="164880" progId="Equation.DSMT4">
                  <p:embed/>
                </p:oleObj>
              </mc:Choice>
              <mc:Fallback>
                <p:oleObj name="Equation" r:id="rId4" imgW="114120" imgH="164880" progId="Equation.DSMT4">
                  <p:embed/>
                  <p:pic>
                    <p:nvPicPr>
                      <p:cNvPr id="5" name="对象 4"/>
                      <p:cNvPicPr>
                        <a:picLocks noChangeArrowheads="1"/>
                      </p:cNvPicPr>
                      <p:nvPr/>
                    </p:nvPicPr>
                    <p:blipFill>
                      <a:blip r:embed="rId5"/>
                      <a:srcRect/>
                      <a:stretch>
                        <a:fillRect/>
                      </a:stretch>
                    </p:blipFill>
                    <p:spPr bwMode="auto">
                      <a:xfrm>
                        <a:off x="5986463" y="4776788"/>
                        <a:ext cx="2159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6EDAB5A-1424-49E7-858D-E9D52DD2A371}"/>
                  </a:ext>
                </a:extLst>
              </p:cNvPr>
              <p:cNvSpPr/>
              <p:nvPr/>
            </p:nvSpPr>
            <p:spPr>
              <a:xfrm>
                <a:off x="3376877" y="4330992"/>
                <a:ext cx="5650971" cy="8915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100</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1.5</m:t>
                          </m:r>
                        </m:num>
                        <m:den>
                          <m:r>
                            <a:rPr lang="zh-CN" altLang="en-US" i="0">
                              <a:latin typeface="Cambria Math" panose="02040503050406030204" pitchFamily="18" charset="0"/>
                            </a:rPr>
                            <m:t>1+</m:t>
                          </m:r>
                          <m:f>
                            <m:fPr>
                              <m:ctrlPr>
                                <a:rPr lang="zh-CN" altLang="en-US" i="1">
                                  <a:latin typeface="Cambria Math" panose="02040503050406030204" pitchFamily="18" charset="0"/>
                                </a:rPr>
                              </m:ctrlPr>
                            </m:fPr>
                            <m:num>
                              <m:r>
                                <a:rPr lang="zh-CN" altLang="en-US" i="0">
                                  <a:latin typeface="Cambria Math" panose="02040503050406030204" pitchFamily="18" charset="0"/>
                                </a:rPr>
                                <m:t>2.5%+</m:t>
                              </m:r>
                              <m:r>
                                <a:rPr lang="zh-CN" altLang="en-US" i="1">
                                  <a:latin typeface="Cambria Math" panose="02040503050406030204" pitchFamily="18" charset="0"/>
                                </a:rPr>
                                <m:t>𝑆</m:t>
                              </m:r>
                            </m:num>
                            <m:den>
                              <m:r>
                                <a:rPr lang="zh-CN" altLang="en-US" i="0">
                                  <a:latin typeface="Cambria Math" panose="02040503050406030204" pitchFamily="18" charset="0"/>
                                </a:rPr>
                                <m:t>2</m:t>
                              </m:r>
                            </m:den>
                          </m:f>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101.5</m:t>
                          </m:r>
                        </m:num>
                        <m:den>
                          <m:d>
                            <m:dPr>
                              <m:ctrlPr>
                                <a:rPr lang="zh-CN" altLang="en-US" i="1">
                                  <a:latin typeface="Cambria Math" panose="02040503050406030204" pitchFamily="18" charset="0"/>
                                </a:rPr>
                              </m:ctrlPr>
                            </m:dPr>
                            <m:e>
                              <m:r>
                                <a:rPr lang="zh-CN" altLang="en-US" i="0">
                                  <a:latin typeface="Cambria Math" panose="02040503050406030204" pitchFamily="18" charset="0"/>
                                </a:rPr>
                                <m:t>1+</m:t>
                              </m:r>
                              <m:f>
                                <m:fPr>
                                  <m:ctrlPr>
                                    <a:rPr lang="zh-CN" altLang="en-US" i="1">
                                      <a:latin typeface="Cambria Math" panose="02040503050406030204" pitchFamily="18" charset="0"/>
                                    </a:rPr>
                                  </m:ctrlPr>
                                </m:fPr>
                                <m:num>
                                  <m:r>
                                    <a:rPr lang="zh-CN" altLang="en-US" i="0">
                                      <a:latin typeface="Cambria Math" panose="02040503050406030204" pitchFamily="18" charset="0"/>
                                    </a:rPr>
                                    <m:t>2.5%+</m:t>
                                  </m:r>
                                  <m:r>
                                    <a:rPr lang="zh-CN" altLang="en-US" i="1">
                                      <a:latin typeface="Cambria Math" panose="02040503050406030204" pitchFamily="18" charset="0"/>
                                    </a:rPr>
                                    <m:t>𝑆</m:t>
                                  </m:r>
                                </m:num>
                                <m:den>
                                  <m:r>
                                    <a:rPr lang="zh-CN" altLang="en-US" i="0">
                                      <a:latin typeface="Cambria Math" panose="02040503050406030204" pitchFamily="18" charset="0"/>
                                    </a:rPr>
                                    <m:t>2</m:t>
                                  </m:r>
                                </m:den>
                              </m:f>
                            </m:e>
                          </m:d>
                          <m:d>
                            <m:dPr>
                              <m:ctrlPr>
                                <a:rPr lang="zh-CN" altLang="en-US" i="1">
                                  <a:latin typeface="Cambria Math" panose="02040503050406030204" pitchFamily="18" charset="0"/>
                                </a:rPr>
                              </m:ctrlPr>
                            </m:dPr>
                            <m:e>
                              <m:r>
                                <a:rPr lang="zh-CN" altLang="en-US" i="0">
                                  <a:latin typeface="Cambria Math" panose="02040503050406030204" pitchFamily="18" charset="0"/>
                                </a:rPr>
                                <m:t>1+</m:t>
                              </m:r>
                              <m:f>
                                <m:fPr>
                                  <m:ctrlPr>
                                    <a:rPr lang="zh-CN" altLang="en-US" i="1">
                                      <a:latin typeface="Cambria Math" panose="02040503050406030204" pitchFamily="18" charset="0"/>
                                    </a:rPr>
                                  </m:ctrlPr>
                                </m:fPr>
                                <m:num>
                                  <m:r>
                                    <a:rPr lang="zh-CN" altLang="en-US" i="0">
                                      <a:latin typeface="Cambria Math" panose="02040503050406030204" pitchFamily="18" charset="0"/>
                                    </a:rPr>
                                    <m:t>2.8%+</m:t>
                                  </m:r>
                                  <m:r>
                                    <a:rPr lang="zh-CN" altLang="en-US" i="1">
                                      <a:latin typeface="Cambria Math" panose="02040503050406030204" pitchFamily="18" charset="0"/>
                                    </a:rPr>
                                    <m:t>𝑆</m:t>
                                  </m:r>
                                </m:num>
                                <m:den>
                                  <m:r>
                                    <a:rPr lang="zh-CN" altLang="en-US" i="0">
                                      <a:latin typeface="Cambria Math" panose="02040503050406030204" pitchFamily="18" charset="0"/>
                                    </a:rPr>
                                    <m:t>2</m:t>
                                  </m:r>
                                </m:den>
                              </m:f>
                            </m:e>
                          </m:d>
                        </m:den>
                      </m:f>
                    </m:oMath>
                  </m:oMathPara>
                </a14:m>
                <a:endParaRPr lang="zh-CN" altLang="en-US" dirty="0"/>
              </a:p>
            </p:txBody>
          </p:sp>
        </mc:Choice>
        <mc:Fallback xmlns="">
          <p:sp>
            <p:nvSpPr>
              <p:cNvPr id="5" name="矩形 4">
                <a:extLst>
                  <a:ext uri="{FF2B5EF4-FFF2-40B4-BE49-F238E27FC236}">
                    <a16:creationId xmlns:a16="http://schemas.microsoft.com/office/drawing/2014/main" id="{E6EDAB5A-1424-49E7-858D-E9D52DD2A371}"/>
                  </a:ext>
                </a:extLst>
              </p:cNvPr>
              <p:cNvSpPr>
                <a:spLocks noRot="1" noChangeAspect="1" noMove="1" noResize="1" noEditPoints="1" noAdjustHandles="1" noChangeArrowheads="1" noChangeShapeType="1" noTextEdit="1"/>
              </p:cNvSpPr>
              <p:nvPr/>
            </p:nvSpPr>
            <p:spPr>
              <a:xfrm>
                <a:off x="3376877" y="4330992"/>
                <a:ext cx="5650971" cy="891591"/>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17583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sp>
        <p:nvSpPr>
          <p:cNvPr id="3" name="文本占位符 2"/>
          <p:cNvSpPr>
            <a:spLocks noGrp="1"/>
          </p:cNvSpPr>
          <p:nvPr>
            <p:ph type="body" sz="quarter" idx="10"/>
          </p:nvPr>
        </p:nvSpPr>
        <p:spPr/>
        <p:txBody>
          <a:bodyPr>
            <a:normAutofit fontScale="92500" lnSpcReduction="10000"/>
          </a:bodyPr>
          <a:lstStyle/>
          <a:p>
            <a:pPr>
              <a:lnSpc>
                <a:spcPct val="140000"/>
              </a:lnSpc>
            </a:pPr>
            <a:r>
              <a:rPr lang="en-US" altLang="zh-CN" dirty="0"/>
              <a:t>Decomposition of P&amp;L</a:t>
            </a:r>
          </a:p>
          <a:p>
            <a:pPr lvl="1">
              <a:lnSpc>
                <a:spcPct val="140000"/>
              </a:lnSpc>
            </a:pPr>
            <a:r>
              <a:rPr lang="en-US" altLang="zh-CN" b="1" dirty="0"/>
              <a:t>The bond’s profit and loss consists of both:</a:t>
            </a:r>
          </a:p>
          <a:p>
            <a:pPr lvl="2">
              <a:lnSpc>
                <a:spcPct val="140000"/>
              </a:lnSpc>
            </a:pPr>
            <a:r>
              <a:rPr lang="en-US" altLang="zh-CN" u="sng" dirty="0"/>
              <a:t>Price appreciation (or depreciation)</a:t>
            </a:r>
            <a:r>
              <a:rPr lang="en-US" altLang="zh-CN" dirty="0"/>
              <a:t>; a.k.a., capital gain or loss.</a:t>
            </a:r>
          </a:p>
          <a:p>
            <a:pPr lvl="2">
              <a:lnSpc>
                <a:spcPct val="140000"/>
              </a:lnSpc>
            </a:pPr>
            <a:r>
              <a:rPr lang="en-US" altLang="zh-CN" u="sng" dirty="0"/>
              <a:t>Cash-carry</a:t>
            </a:r>
            <a:r>
              <a:rPr lang="en-US" altLang="zh-CN" dirty="0"/>
              <a:t>: explicit </a:t>
            </a:r>
            <a:r>
              <a:rPr lang="en-US" altLang="zh-CN" u="sng" dirty="0"/>
              <a:t>cash flows</a:t>
            </a:r>
            <a:r>
              <a:rPr lang="en-US" altLang="zh-CN" dirty="0"/>
              <a:t> such as coupon payments and financing costs.</a:t>
            </a:r>
          </a:p>
          <a:p>
            <a:pPr lvl="1">
              <a:lnSpc>
                <a:spcPct val="140000"/>
              </a:lnSpc>
            </a:pPr>
            <a:r>
              <a:rPr lang="en-US" altLang="zh-CN" dirty="0"/>
              <a:t>The total profit and loss can be decomposed into three components:</a:t>
            </a:r>
          </a:p>
          <a:p>
            <a:pPr lvl="2">
              <a:lnSpc>
                <a:spcPct val="140000"/>
              </a:lnSpc>
            </a:pPr>
            <a:r>
              <a:rPr lang="en-US" altLang="zh-CN" b="1" dirty="0"/>
              <a:t>Carry-roll-down:</a:t>
            </a:r>
            <a:r>
              <a:rPr lang="en-US" altLang="zh-CN" dirty="0"/>
              <a:t> the price change due to the passage of time where </a:t>
            </a:r>
            <a:r>
              <a:rPr lang="en-US" altLang="zh-CN" u="sng" dirty="0"/>
              <a:t>rates move as expected but with no change in the spread</a:t>
            </a:r>
            <a:r>
              <a:rPr lang="en-US" altLang="zh-CN" dirty="0"/>
              <a:t>.</a:t>
            </a:r>
          </a:p>
          <a:p>
            <a:pPr lvl="2">
              <a:lnSpc>
                <a:spcPct val="140000"/>
              </a:lnSpc>
            </a:pPr>
            <a:r>
              <a:rPr lang="en-US" altLang="zh-CN" b="1" dirty="0"/>
              <a:t>Rate change:</a:t>
            </a:r>
            <a:r>
              <a:rPr lang="en-US" altLang="zh-CN" dirty="0"/>
              <a:t> the price effect of </a:t>
            </a:r>
            <a:r>
              <a:rPr lang="en-US" altLang="zh-CN" u="sng" dirty="0"/>
              <a:t>rates changing from the intermediate term structure to the term structure that actually prevails at time t+1</a:t>
            </a:r>
            <a:r>
              <a:rPr lang="en-US" altLang="zh-CN" dirty="0"/>
              <a:t>.</a:t>
            </a:r>
          </a:p>
          <a:p>
            <a:pPr lvl="2">
              <a:lnSpc>
                <a:spcPct val="140000"/>
              </a:lnSpc>
            </a:pPr>
            <a:r>
              <a:rPr lang="en-US" altLang="zh-CN" dirty="0"/>
              <a:t>The price appreciation due to a </a:t>
            </a:r>
            <a:r>
              <a:rPr lang="en-US" altLang="zh-CN" b="1" dirty="0"/>
              <a:t>spread change</a:t>
            </a:r>
            <a:r>
              <a:rPr lang="en-US" altLang="zh-CN" dirty="0"/>
              <a:t> is the price effect due to the bond’s individual </a:t>
            </a:r>
            <a:r>
              <a:rPr lang="en-US" altLang="zh-CN" u="sng" dirty="0"/>
              <a:t>spread changing from s(t) to s(t+1)</a:t>
            </a:r>
            <a:r>
              <a:rPr lang="en-US" altLang="zh-CN" dirty="0"/>
              <a: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57049046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sp>
        <p:nvSpPr>
          <p:cNvPr id="3" name="文本占位符 2"/>
          <p:cNvSpPr>
            <a:spLocks noGrp="1"/>
          </p:cNvSpPr>
          <p:nvPr>
            <p:ph type="body" sz="quarter" idx="10"/>
          </p:nvPr>
        </p:nvSpPr>
        <p:spPr/>
        <p:txBody>
          <a:bodyPr>
            <a:normAutofit/>
          </a:bodyPr>
          <a:lstStyle/>
          <a:p>
            <a:r>
              <a:rPr lang="en-US" altLang="zh-CN" dirty="0">
                <a:latin typeface="+mn-lt"/>
                <a:ea typeface="+mn-ea"/>
                <a:cs typeface="+mn-ea"/>
                <a:sym typeface="+mn-lt"/>
              </a:rPr>
              <a:t>Example</a:t>
            </a:r>
          </a:p>
          <a:p>
            <a:endParaRPr lang="zh-CN" altLang="en-US" dirty="0">
              <a:latin typeface="+mn-lt"/>
              <a:ea typeface="+mn-ea"/>
              <a:cs typeface="+mn-ea"/>
              <a:sym typeface="+mn-lt"/>
            </a:endParaRPr>
          </a:p>
        </p:txBody>
      </p:sp>
      <p:graphicFrame>
        <p:nvGraphicFramePr>
          <p:cNvPr id="6" name="Group 6">
            <a:extLst>
              <a:ext uri="{FF2B5EF4-FFF2-40B4-BE49-F238E27FC236}">
                <a16:creationId xmlns:a16="http://schemas.microsoft.com/office/drawing/2014/main" id="{160101E9-3176-4BF4-B636-EFEA04348479}"/>
              </a:ext>
            </a:extLst>
          </p:cNvPr>
          <p:cNvGraphicFramePr>
            <a:graphicFrameLocks noGrp="1"/>
          </p:cNvGraphicFramePr>
          <p:nvPr>
            <p:extLst>
              <p:ext uri="{D42A27DB-BD31-4B8C-83A1-F6EECF244321}">
                <p14:modId xmlns:p14="http://schemas.microsoft.com/office/powerpoint/2010/main" val="3020939606"/>
              </p:ext>
            </p:extLst>
          </p:nvPr>
        </p:nvGraphicFramePr>
        <p:xfrm>
          <a:off x="2132185" y="1692710"/>
          <a:ext cx="7560000" cy="4544603"/>
        </p:xfrm>
        <a:graphic>
          <a:graphicData uri="http://schemas.openxmlformats.org/drawingml/2006/table">
            <a:tbl>
              <a:tblPr/>
              <a:tblGrid>
                <a:gridCol w="1032787">
                  <a:extLst>
                    <a:ext uri="{9D8B030D-6E8A-4147-A177-3AD203B41FA5}">
                      <a16:colId xmlns:a16="http://schemas.microsoft.com/office/drawing/2014/main" val="20000"/>
                    </a:ext>
                  </a:extLst>
                </a:gridCol>
                <a:gridCol w="1585508">
                  <a:extLst>
                    <a:ext uri="{9D8B030D-6E8A-4147-A177-3AD203B41FA5}">
                      <a16:colId xmlns:a16="http://schemas.microsoft.com/office/drawing/2014/main" val="20001"/>
                    </a:ext>
                  </a:extLst>
                </a:gridCol>
                <a:gridCol w="766081">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792088">
                  <a:extLst>
                    <a:ext uri="{9D8B030D-6E8A-4147-A177-3AD203B41FA5}">
                      <a16:colId xmlns:a16="http://schemas.microsoft.com/office/drawing/2014/main" val="20004"/>
                    </a:ext>
                  </a:extLst>
                </a:gridCol>
                <a:gridCol w="1368152">
                  <a:extLst>
                    <a:ext uri="{9D8B030D-6E8A-4147-A177-3AD203B41FA5}">
                      <a16:colId xmlns:a16="http://schemas.microsoft.com/office/drawing/2014/main" val="20005"/>
                    </a:ext>
                  </a:extLst>
                </a:gridCol>
                <a:gridCol w="1223296">
                  <a:extLst>
                    <a:ext uri="{9D8B030D-6E8A-4147-A177-3AD203B41FA5}">
                      <a16:colId xmlns:a16="http://schemas.microsoft.com/office/drawing/2014/main" val="20006"/>
                    </a:ext>
                  </a:extLst>
                </a:gridCol>
              </a:tblGrid>
              <a:tr h="479672">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Start period</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2010</a:t>
                      </a:r>
                    </a:p>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1-1</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2011</a:t>
                      </a:r>
                    </a:p>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1-1</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2012</a:t>
                      </a:r>
                    </a:p>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1-1</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Price</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P&amp;L</a:t>
                      </a:r>
                    </a:p>
                  </a:txBody>
                  <a:tcPr marL="36000" marR="36000" marT="36000" marB="3600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9283">
                <a:tc gridSpan="7">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Pricing date: 2010-1-1; annual coupon=$1</a:t>
                      </a:r>
                    </a:p>
                  </a:txBody>
                  <a:tcPr marL="36000" marR="36000" marT="36000" marB="360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303557">
                <a:tc rowSpan="2">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Initial </a:t>
                      </a:r>
                    </a:p>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forwards</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Term structure</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2%</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3%</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4%</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93.0229</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endParaRPr lang="zh-CN" altLang="en-US" dirty="0"/>
                    </a:p>
                  </a:txBody>
                  <a:tcPr marL="36000" marR="36000" marT="36000" marB="3600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5269">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spreads</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0.5%</a:t>
                      </a: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0.5%</a:t>
                      </a: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0.5%</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3"/>
                  </a:ext>
                </a:extLst>
              </a:tr>
              <a:tr h="320701">
                <a:tc gridSpan="7">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Pricing date: 2011-1-1; annual coupon=$1</a:t>
                      </a:r>
                    </a:p>
                  </a:txBody>
                  <a:tcPr marL="36000" marR="36000" marT="36000" marB="3600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4"/>
                  </a:ext>
                </a:extLst>
              </a:tr>
              <a:tr h="262413">
                <a:tc rowSpan="2">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Carry-roll-</a:t>
                      </a:r>
                    </a:p>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down</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Term structure</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3%</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4%</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94.3485</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+1.3256</a:t>
                      </a:r>
                    </a:p>
                  </a:txBody>
                  <a:tcPr marL="36000" marR="36000" marT="36000" marB="3600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8141">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Spreads</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0.5%</a:t>
                      </a: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0.5%</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6"/>
                  </a:ext>
                </a:extLst>
              </a:tr>
              <a:tr h="221261">
                <a:tc rowSpan="2">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Rate</a:t>
                      </a:r>
                    </a:p>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change</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Term structure</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2%</a:t>
                      </a: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3%</a:t>
                      </a: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96.1800</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+1.8315</a:t>
                      </a: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62973">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Spreads</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0.5%</a:t>
                      </a: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0.5%</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8"/>
                  </a:ext>
                </a:extLst>
              </a:tr>
              <a:tr h="310413">
                <a:tc rowSpan="2">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Spread</a:t>
                      </a:r>
                    </a:p>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change</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Term structure</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2%</a:t>
                      </a: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3%</a:t>
                      </a: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95.2577</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-0.9223</a:t>
                      </a:r>
                    </a:p>
                  </a:txBody>
                  <a:tcPr marL="36000" marR="36000" marT="36000" marB="3600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52125">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Spreads</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
                          <a:ea typeface=""/>
                          <a:cs typeface=""/>
                        </a:defRPr>
                      </a:lvl1pPr>
                      <a:lvl2pPr marL="457200" algn="l" defTabSz="914400" rtl="0" eaLnBrk="1" latinLnBrk="0" hangingPunct="1">
                        <a:defRPr sz="1800" kern="1200">
                          <a:solidFill>
                            <a:schemeClr val="tx1"/>
                          </a:solidFill>
                          <a:latin typeface=""/>
                          <a:ea typeface=""/>
                          <a:cs typeface=""/>
                        </a:defRPr>
                      </a:lvl2pPr>
                      <a:lvl3pPr marL="914400" algn="l" defTabSz="914400" rtl="0" eaLnBrk="1" latinLnBrk="0" hangingPunct="1">
                        <a:defRPr sz="1800" kern="1200">
                          <a:solidFill>
                            <a:schemeClr val="tx1"/>
                          </a:solidFill>
                          <a:latin typeface=""/>
                          <a:ea typeface=""/>
                          <a:cs typeface=""/>
                        </a:defRPr>
                      </a:lvl3pPr>
                      <a:lvl4pPr marL="1371600" algn="l" defTabSz="914400" rtl="0" eaLnBrk="1" latinLnBrk="0" hangingPunct="1">
                        <a:defRPr sz="1800" kern="1200">
                          <a:solidFill>
                            <a:schemeClr val="tx1"/>
                          </a:solidFill>
                          <a:latin typeface=""/>
                          <a:ea typeface=""/>
                          <a:cs typeface=""/>
                        </a:defRPr>
                      </a:lvl4pPr>
                      <a:lvl5pPr marL="1828800" algn="l" defTabSz="914400" rtl="0" eaLnBrk="1" latinLnBrk="0" hangingPunct="1">
                        <a:defRPr sz="1800" kern="1200">
                          <a:solidFill>
                            <a:schemeClr val="tx1"/>
                          </a:solidFill>
                          <a:latin typeface=""/>
                          <a:ea typeface=""/>
                          <a:cs typeface=""/>
                        </a:defRPr>
                      </a:lvl5pPr>
                      <a:lvl6pPr marL="2286000" algn="l" defTabSz="914400" rtl="0" eaLnBrk="1" latinLnBrk="0" hangingPunct="1">
                        <a:defRPr sz="1800" kern="1200">
                          <a:solidFill>
                            <a:schemeClr val="tx1"/>
                          </a:solidFill>
                          <a:latin typeface=""/>
                          <a:ea typeface=""/>
                          <a:cs typeface=""/>
                        </a:defRPr>
                      </a:lvl6pPr>
                      <a:lvl7pPr marL="2743200" algn="l" defTabSz="914400" rtl="0" eaLnBrk="1" latinLnBrk="0" hangingPunct="1">
                        <a:defRPr sz="1800" kern="1200">
                          <a:solidFill>
                            <a:schemeClr val="tx1"/>
                          </a:solidFill>
                          <a:latin typeface=""/>
                          <a:ea typeface=""/>
                          <a:cs typeface=""/>
                        </a:defRPr>
                      </a:lvl7pPr>
                      <a:lvl8pPr marL="3200400" algn="l" defTabSz="914400" rtl="0" eaLnBrk="1" latinLnBrk="0" hangingPunct="1">
                        <a:defRPr sz="1800" kern="1200">
                          <a:solidFill>
                            <a:schemeClr val="tx1"/>
                          </a:solidFill>
                          <a:latin typeface=""/>
                          <a:ea typeface=""/>
                          <a:cs typeface=""/>
                        </a:defRPr>
                      </a:lvl8pPr>
                      <a:lvl9pPr marL="3657600" algn="l" defTabSz="914400" rtl="0" eaLnBrk="1" latinLnBrk="0" hangingPunct="1">
                        <a:defRPr sz="1800" kern="1200">
                          <a:solidFill>
                            <a:schemeClr val="tx1"/>
                          </a:solidFill>
                          <a:latin typeface=""/>
                          <a:ea typeface=""/>
                          <a:cs typeface=""/>
                        </a:defRPr>
                      </a:lvl9p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84158169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sp>
        <p:nvSpPr>
          <p:cNvPr id="3" name="文本占位符 2"/>
          <p:cNvSpPr>
            <a:spLocks noGrp="1"/>
          </p:cNvSpPr>
          <p:nvPr>
            <p:ph type="body" sz="quarter" idx="10"/>
          </p:nvPr>
        </p:nvSpPr>
        <p:spPr>
          <a:xfrm>
            <a:off x="393599" y="813470"/>
            <a:ext cx="11404800" cy="4509602"/>
          </a:xfrm>
        </p:spPr>
        <p:txBody>
          <a:bodyPr>
            <a:normAutofit fontScale="92500" lnSpcReduction="20000"/>
          </a:bodyPr>
          <a:lstStyle/>
          <a:p>
            <a:r>
              <a:rPr lang="en-US" altLang="zh-CN" dirty="0"/>
              <a:t>Price on 2010-1-1:</a:t>
            </a:r>
          </a:p>
          <a:p>
            <a:endParaRPr lang="en-US" altLang="zh-CN" dirty="0"/>
          </a:p>
          <a:p>
            <a:endParaRPr lang="en-US" altLang="zh-CN" dirty="0"/>
          </a:p>
          <a:p>
            <a:r>
              <a:rPr lang="en-US" altLang="zh-CN" dirty="0"/>
              <a:t>Price after carry-roll-down:</a:t>
            </a:r>
          </a:p>
          <a:p>
            <a:endParaRPr lang="en-US" altLang="zh-CN" dirty="0"/>
          </a:p>
          <a:p>
            <a:endParaRPr lang="en-US" altLang="zh-CN" dirty="0"/>
          </a:p>
          <a:p>
            <a:r>
              <a:rPr lang="en-US" altLang="zh-CN" dirty="0"/>
              <a:t>Price after rate change:</a:t>
            </a:r>
          </a:p>
          <a:p>
            <a:endParaRPr lang="en-US" altLang="zh-CN" dirty="0"/>
          </a:p>
          <a:p>
            <a:endParaRPr lang="en-US" altLang="zh-CN" dirty="0"/>
          </a:p>
          <a:p>
            <a:r>
              <a:rPr lang="en-US" altLang="zh-CN" dirty="0"/>
              <a:t>Price after spread change:</a:t>
            </a:r>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EC79399-BD3A-4CBA-BBE1-019A74301386}"/>
                  </a:ext>
                </a:extLst>
              </p:cNvPr>
              <p:cNvSpPr/>
              <p:nvPr/>
            </p:nvSpPr>
            <p:spPr>
              <a:xfrm>
                <a:off x="970083" y="1302975"/>
                <a:ext cx="10251830" cy="66191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1+2.5%</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d>
                            <m:dPr>
                              <m:ctrlPr>
                                <a:rPr lang="zh-CN" altLang="en-US" i="1">
                                  <a:latin typeface="Cambria Math" panose="02040503050406030204" pitchFamily="18" charset="0"/>
                                </a:rPr>
                              </m:ctrlPr>
                            </m:dPr>
                            <m:e>
                              <m:r>
                                <a:rPr lang="zh-CN" altLang="en-US" i="0">
                                  <a:latin typeface="Cambria Math" panose="02040503050406030204" pitchFamily="18" charset="0"/>
                                </a:rPr>
                                <m:t>1+2.5%)(1+3.5%</m:t>
                              </m:r>
                            </m:e>
                          </m:d>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101</m:t>
                          </m:r>
                        </m:num>
                        <m:den>
                          <m:d>
                            <m:dPr>
                              <m:ctrlPr>
                                <a:rPr lang="zh-CN" altLang="en-US" i="1">
                                  <a:latin typeface="Cambria Math" panose="02040503050406030204" pitchFamily="18" charset="0"/>
                                </a:rPr>
                              </m:ctrlPr>
                            </m:dPr>
                            <m:e>
                              <m:r>
                                <a:rPr lang="zh-CN" altLang="en-US" i="0">
                                  <a:latin typeface="Cambria Math" panose="02040503050406030204" pitchFamily="18" charset="0"/>
                                </a:rPr>
                                <m:t>1+2.5%)(1+3.5%)(1+4.5%</m:t>
                              </m:r>
                            </m:e>
                          </m:d>
                        </m:den>
                      </m:f>
                      <m:r>
                        <a:rPr lang="zh-CN" altLang="en-US" i="0">
                          <a:latin typeface="Cambria Math" panose="02040503050406030204" pitchFamily="18" charset="0"/>
                        </a:rPr>
                        <m:t>=93.0229</m:t>
                      </m:r>
                    </m:oMath>
                  </m:oMathPara>
                </a14:m>
                <a:endParaRPr lang="zh-CN" altLang="en-US" dirty="0"/>
              </a:p>
            </p:txBody>
          </p:sp>
        </mc:Choice>
        <mc:Fallback xmlns="">
          <p:sp>
            <p:nvSpPr>
              <p:cNvPr id="5" name="矩形 4">
                <a:extLst>
                  <a:ext uri="{FF2B5EF4-FFF2-40B4-BE49-F238E27FC236}">
                    <a16:creationId xmlns:a16="http://schemas.microsoft.com/office/drawing/2014/main" id="{AEC79399-BD3A-4CBA-BBE1-019A74301386}"/>
                  </a:ext>
                </a:extLst>
              </p:cNvPr>
              <p:cNvSpPr>
                <a:spLocks noRot="1" noChangeAspect="1" noMove="1" noResize="1" noEditPoints="1" noAdjustHandles="1" noChangeArrowheads="1" noChangeShapeType="1" noTextEdit="1"/>
              </p:cNvSpPr>
              <p:nvPr/>
            </p:nvSpPr>
            <p:spPr>
              <a:xfrm>
                <a:off x="970083" y="1302975"/>
                <a:ext cx="10251830" cy="66191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41196718-4C3D-48B9-B00A-214A8F64B51E}"/>
                  </a:ext>
                </a:extLst>
              </p:cNvPr>
              <p:cNvSpPr/>
              <p:nvPr/>
            </p:nvSpPr>
            <p:spPr>
              <a:xfrm>
                <a:off x="3487720" y="2737315"/>
                <a:ext cx="5216556" cy="6619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1+3.5%</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101</m:t>
                          </m:r>
                        </m:num>
                        <m:den>
                          <m:d>
                            <m:dPr>
                              <m:ctrlPr>
                                <a:rPr lang="zh-CN" altLang="en-US" i="1">
                                  <a:latin typeface="Cambria Math" panose="02040503050406030204" pitchFamily="18" charset="0"/>
                                </a:rPr>
                              </m:ctrlPr>
                            </m:dPr>
                            <m:e>
                              <m:r>
                                <a:rPr lang="zh-CN" altLang="en-US" i="0">
                                  <a:latin typeface="Cambria Math" panose="02040503050406030204" pitchFamily="18" charset="0"/>
                                </a:rPr>
                                <m:t>1+3.5%)(1+4.5%</m:t>
                              </m:r>
                            </m:e>
                          </m:d>
                        </m:den>
                      </m:f>
                      <m:r>
                        <a:rPr lang="zh-CN" altLang="en-US" i="0">
                          <a:latin typeface="Cambria Math" panose="02040503050406030204" pitchFamily="18" charset="0"/>
                        </a:rPr>
                        <m:t>=94.3485</m:t>
                      </m:r>
                    </m:oMath>
                  </m:oMathPara>
                </a14:m>
                <a:endParaRPr lang="zh-CN" altLang="en-US" dirty="0"/>
              </a:p>
            </p:txBody>
          </p:sp>
        </mc:Choice>
        <mc:Fallback xmlns="">
          <p:sp>
            <p:nvSpPr>
              <p:cNvPr id="6" name="矩形 5">
                <a:extLst>
                  <a:ext uri="{FF2B5EF4-FFF2-40B4-BE49-F238E27FC236}">
                    <a16:creationId xmlns:a16="http://schemas.microsoft.com/office/drawing/2014/main" id="{41196718-4C3D-48B9-B00A-214A8F64B51E}"/>
                  </a:ext>
                </a:extLst>
              </p:cNvPr>
              <p:cNvSpPr>
                <a:spLocks noRot="1" noChangeAspect="1" noMove="1" noResize="1" noEditPoints="1" noAdjustHandles="1" noChangeArrowheads="1" noChangeShapeType="1" noTextEdit="1"/>
              </p:cNvSpPr>
              <p:nvPr/>
            </p:nvSpPr>
            <p:spPr>
              <a:xfrm>
                <a:off x="3487720" y="2737315"/>
                <a:ext cx="5216556" cy="66191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CDD2066F-4359-46C8-B703-C35D00C5B42C}"/>
                  </a:ext>
                </a:extLst>
              </p:cNvPr>
              <p:cNvSpPr/>
              <p:nvPr/>
            </p:nvSpPr>
            <p:spPr>
              <a:xfrm>
                <a:off x="3615960" y="4030193"/>
                <a:ext cx="4960076" cy="6619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1+2.5%</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101</m:t>
                          </m:r>
                        </m:num>
                        <m:den>
                          <m:d>
                            <m:dPr>
                              <m:ctrlPr>
                                <a:rPr lang="zh-CN" altLang="en-US" i="1">
                                  <a:latin typeface="Cambria Math" panose="02040503050406030204" pitchFamily="18" charset="0"/>
                                </a:rPr>
                              </m:ctrlPr>
                            </m:dPr>
                            <m:e>
                              <m:r>
                                <a:rPr lang="zh-CN" altLang="en-US" i="0">
                                  <a:latin typeface="Cambria Math" panose="02040503050406030204" pitchFamily="18" charset="0"/>
                                </a:rPr>
                                <m:t>1+2.5%)(1+3.5%</m:t>
                              </m:r>
                            </m:e>
                          </m:d>
                        </m:den>
                      </m:f>
                      <m:r>
                        <a:rPr lang="zh-CN" altLang="en-US" i="0">
                          <a:latin typeface="Cambria Math" panose="02040503050406030204" pitchFamily="18" charset="0"/>
                        </a:rPr>
                        <m:t>=96.18</m:t>
                      </m:r>
                    </m:oMath>
                  </m:oMathPara>
                </a14:m>
                <a:endParaRPr lang="zh-CN" altLang="en-US" dirty="0"/>
              </a:p>
            </p:txBody>
          </p:sp>
        </mc:Choice>
        <mc:Fallback xmlns="">
          <p:sp>
            <p:nvSpPr>
              <p:cNvPr id="7" name="矩形 6">
                <a:extLst>
                  <a:ext uri="{FF2B5EF4-FFF2-40B4-BE49-F238E27FC236}">
                    <a16:creationId xmlns:a16="http://schemas.microsoft.com/office/drawing/2014/main" id="{CDD2066F-4359-46C8-B703-C35D00C5B42C}"/>
                  </a:ext>
                </a:extLst>
              </p:cNvPr>
              <p:cNvSpPr>
                <a:spLocks noRot="1" noChangeAspect="1" noMove="1" noResize="1" noEditPoints="1" noAdjustHandles="1" noChangeArrowheads="1" noChangeShapeType="1" noTextEdit="1"/>
              </p:cNvSpPr>
              <p:nvPr/>
            </p:nvSpPr>
            <p:spPr>
              <a:xfrm>
                <a:off x="3615960" y="4030193"/>
                <a:ext cx="4960076" cy="66191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6D7002FF-3904-4F2A-B660-33D22D0FD0B5}"/>
                  </a:ext>
                </a:extLst>
              </p:cNvPr>
              <p:cNvSpPr/>
              <p:nvPr/>
            </p:nvSpPr>
            <p:spPr>
              <a:xfrm>
                <a:off x="3752215" y="5481621"/>
                <a:ext cx="4687565" cy="6619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1+3%</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101</m:t>
                          </m:r>
                        </m:num>
                        <m:den>
                          <m:d>
                            <m:dPr>
                              <m:ctrlPr>
                                <a:rPr lang="zh-CN" altLang="en-US" i="1">
                                  <a:latin typeface="Cambria Math" panose="02040503050406030204" pitchFamily="18" charset="0"/>
                                </a:rPr>
                              </m:ctrlPr>
                            </m:dPr>
                            <m:e>
                              <m:r>
                                <a:rPr lang="zh-CN" altLang="en-US" i="0">
                                  <a:latin typeface="Cambria Math" panose="02040503050406030204" pitchFamily="18" charset="0"/>
                                </a:rPr>
                                <m:t>1+3%)(1+4%</m:t>
                              </m:r>
                            </m:e>
                          </m:d>
                        </m:den>
                      </m:f>
                      <m:r>
                        <a:rPr lang="zh-CN" altLang="en-US" i="0">
                          <a:latin typeface="Cambria Math" panose="02040503050406030204" pitchFamily="18" charset="0"/>
                        </a:rPr>
                        <m:t>=95.2577</m:t>
                      </m:r>
                    </m:oMath>
                  </m:oMathPara>
                </a14:m>
                <a:endParaRPr lang="zh-CN" altLang="en-US" dirty="0"/>
              </a:p>
            </p:txBody>
          </p:sp>
        </mc:Choice>
        <mc:Fallback xmlns="">
          <p:sp>
            <p:nvSpPr>
              <p:cNvPr id="8" name="矩形 7">
                <a:extLst>
                  <a:ext uri="{FF2B5EF4-FFF2-40B4-BE49-F238E27FC236}">
                    <a16:creationId xmlns:a16="http://schemas.microsoft.com/office/drawing/2014/main" id="{6D7002FF-3904-4F2A-B660-33D22D0FD0B5}"/>
                  </a:ext>
                </a:extLst>
              </p:cNvPr>
              <p:cNvSpPr>
                <a:spLocks noRot="1" noChangeAspect="1" noMove="1" noResize="1" noEditPoints="1" noAdjustHandles="1" noChangeArrowheads="1" noChangeShapeType="1" noTextEdit="1"/>
              </p:cNvSpPr>
              <p:nvPr/>
            </p:nvSpPr>
            <p:spPr>
              <a:xfrm>
                <a:off x="3752215" y="5481621"/>
                <a:ext cx="4687565" cy="661912"/>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8344126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sp>
        <p:nvSpPr>
          <p:cNvPr id="3" name="文本占位符 2"/>
          <p:cNvSpPr>
            <a:spLocks noGrp="1"/>
          </p:cNvSpPr>
          <p:nvPr>
            <p:ph type="body" sz="quarter" idx="10"/>
          </p:nvPr>
        </p:nvSpPr>
        <p:spPr/>
        <p:txBody>
          <a:bodyPr>
            <a:normAutofit/>
          </a:bodyPr>
          <a:lstStyle/>
          <a:p>
            <a:r>
              <a:rPr lang="en-US" altLang="zh-CN" dirty="0"/>
              <a:t>Exercise 1</a:t>
            </a:r>
            <a:endParaRPr lang="zh-CN" altLang="en-US" dirty="0"/>
          </a:p>
          <a:p>
            <a:pPr algn="just">
              <a:buFont typeface="Wingdings" panose="05000000000000000000" pitchFamily="2" charset="2"/>
              <a:buChar char="l"/>
            </a:pPr>
            <a:r>
              <a:rPr lang="en-US" altLang="zh-CN" dirty="0">
                <a:solidFill>
                  <a:schemeClr val="tx1"/>
                </a:solidFill>
              </a:rPr>
              <a:t>According to the pure expectations hypothesis, which of the following statements is correct concerning the expectations of market participants in an upward-sloping yield curve environment?</a:t>
            </a:r>
          </a:p>
          <a:p>
            <a:pPr marL="817200" lvl="1" indent="-457200" algn="just">
              <a:buSzPct val="100000"/>
              <a:buFont typeface="+mj-lt"/>
              <a:buAutoNum type="alphaUcPeriod"/>
            </a:pPr>
            <a:r>
              <a:rPr lang="en-US" altLang="zh-CN" dirty="0"/>
              <a:t>Interest rates will increase and the yield curve will flatten.</a:t>
            </a:r>
          </a:p>
          <a:p>
            <a:pPr marL="817200" lvl="1" indent="-457200" algn="just">
              <a:buSzPct val="100000"/>
              <a:buFont typeface="+mj-lt"/>
              <a:buAutoNum type="alphaUcPeriod"/>
            </a:pPr>
            <a:r>
              <a:rPr lang="en-US" altLang="zh-CN" dirty="0"/>
              <a:t>Interest rates will increase and the yield curve will steepen.</a:t>
            </a:r>
          </a:p>
          <a:p>
            <a:pPr marL="817200" lvl="1" indent="-457200" algn="just">
              <a:buSzPct val="100000"/>
              <a:buFont typeface="+mj-lt"/>
              <a:buAutoNum type="alphaUcPeriod"/>
            </a:pPr>
            <a:r>
              <a:rPr lang="en-US" altLang="zh-CN" dirty="0"/>
              <a:t>Interest rates will decrease and the yield curve will flatten.</a:t>
            </a:r>
          </a:p>
          <a:p>
            <a:pPr marL="817200" lvl="1" indent="-457200" algn="just">
              <a:buSzPct val="100000"/>
              <a:buFont typeface="+mj-lt"/>
              <a:buAutoNum type="alphaUcPeriod"/>
            </a:pPr>
            <a:r>
              <a:rPr lang="en-US" altLang="zh-CN" dirty="0"/>
              <a:t>Interest rates will decrease and the yield curve will steepen.</a:t>
            </a:r>
          </a:p>
          <a:p>
            <a:pPr marL="817200" lvl="1" indent="-457200" algn="just">
              <a:buSzPct val="100000"/>
              <a:buFont typeface="+mj-lt"/>
              <a:buAutoNum type="alphaUcPeriod"/>
            </a:pPr>
            <a:endParaRPr lang="en-US" altLang="zh-CN" dirty="0"/>
          </a:p>
          <a:p>
            <a:pPr marL="417150" indent="-457200" algn="just">
              <a:buSzPct val="100000"/>
              <a:buFont typeface="Wingdings" panose="05000000000000000000" pitchFamily="2" charset="2"/>
              <a:buChar char="l"/>
            </a:pPr>
            <a:r>
              <a:rPr lang="en-US" altLang="zh-CN" dirty="0">
                <a:solidFill>
                  <a:schemeClr val="tx1"/>
                </a:solidFill>
              </a:rPr>
              <a:t>Correct Answer : A</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0819247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sp>
        <p:nvSpPr>
          <p:cNvPr id="3" name="文本占位符 2"/>
          <p:cNvSpPr>
            <a:spLocks noGrp="1"/>
          </p:cNvSpPr>
          <p:nvPr>
            <p:ph type="body" sz="quarter" idx="10"/>
          </p:nvPr>
        </p:nvSpPr>
        <p:spPr/>
        <p:txBody>
          <a:bodyPr>
            <a:normAutofit fontScale="92500" lnSpcReduction="20000"/>
          </a:bodyPr>
          <a:lstStyle/>
          <a:p>
            <a:r>
              <a:rPr lang="en-US" altLang="zh-CN" dirty="0"/>
              <a:t>Exercise 2</a:t>
            </a:r>
            <a:endParaRPr lang="zh-CN" altLang="en-US" dirty="0"/>
          </a:p>
          <a:p>
            <a:pPr algn="just">
              <a:buFont typeface="Wingdings" panose="05000000000000000000" pitchFamily="2" charset="2"/>
              <a:buChar char="l"/>
            </a:pPr>
            <a:r>
              <a:rPr lang="en-US" altLang="zh-CN" dirty="0">
                <a:solidFill>
                  <a:schemeClr val="tx1"/>
                </a:solidFill>
              </a:rPr>
              <a:t>A bond portfolio manager invests $20 million in a bond issued at par that matures in 30 years, and which promises to pay an annual interest rate of 9%. The interest is paid once per year, and the payments are reinvested at an annual interest rate of 8%. The first payment is one year from today. What is the annual yield on this investment? </a:t>
            </a:r>
          </a:p>
          <a:p>
            <a:pPr marL="817200" lvl="1" indent="-457200" algn="just">
              <a:buSzPct val="100000"/>
              <a:buFont typeface="+mj-lt"/>
              <a:buAutoNum type="alphaUcPeriod"/>
            </a:pPr>
            <a:r>
              <a:rPr lang="en-US" altLang="zh-CN" dirty="0"/>
              <a:t>8.185%</a:t>
            </a:r>
          </a:p>
          <a:p>
            <a:pPr marL="817200" lvl="1" indent="-457200" algn="just">
              <a:buSzPct val="100000"/>
              <a:buFont typeface="+mj-lt"/>
              <a:buAutoNum type="alphaUcPeriod"/>
            </a:pPr>
            <a:r>
              <a:rPr lang="en-US" altLang="zh-CN" dirty="0"/>
              <a:t>8.285%</a:t>
            </a:r>
          </a:p>
          <a:p>
            <a:pPr marL="817200" lvl="1" indent="-457200" algn="just">
              <a:buSzPct val="100000"/>
              <a:buFont typeface="+mj-lt"/>
              <a:buAutoNum type="alphaUcPeriod"/>
            </a:pPr>
            <a:r>
              <a:rPr lang="en-US" altLang="zh-CN" dirty="0"/>
              <a:t>8.385%</a:t>
            </a:r>
          </a:p>
          <a:p>
            <a:pPr marL="817200" lvl="1" indent="-457200" algn="just">
              <a:buSzPct val="100000"/>
              <a:buFont typeface="+mj-lt"/>
              <a:buAutoNum type="alphaUcPeriod"/>
            </a:pPr>
            <a:r>
              <a:rPr lang="en-US" altLang="zh-CN" dirty="0"/>
              <a:t>8.415%</a:t>
            </a:r>
          </a:p>
          <a:p>
            <a:pPr marL="817200" lvl="1" indent="-457200" algn="just">
              <a:buSzPct val="100000"/>
              <a:buFont typeface="+mj-lt"/>
              <a:buAutoNum type="alphaUcPeriod"/>
            </a:pPr>
            <a:endParaRPr lang="en-US" altLang="zh-CN" dirty="0"/>
          </a:p>
          <a:p>
            <a:pPr marL="417150" indent="-457200" algn="just">
              <a:buSzPct val="100000"/>
              <a:buFont typeface="Wingdings" panose="05000000000000000000" pitchFamily="2" charset="2"/>
              <a:buChar char="l"/>
            </a:pPr>
            <a:r>
              <a:rPr lang="en-US" altLang="zh-CN" dirty="0">
                <a:solidFill>
                  <a:schemeClr val="tx1"/>
                </a:solidFill>
              </a:rPr>
              <a:t>Correct Answer : C</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42866672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Returns, Spreads and Yields</a:t>
            </a:r>
          </a:p>
        </p:txBody>
      </p:sp>
      <p:sp>
        <p:nvSpPr>
          <p:cNvPr id="3" name="文本占位符 2"/>
          <p:cNvSpPr>
            <a:spLocks noGrp="1"/>
          </p:cNvSpPr>
          <p:nvPr>
            <p:ph type="body" sz="quarter" idx="10"/>
          </p:nvPr>
        </p:nvSpPr>
        <p:spPr/>
        <p:txBody>
          <a:bodyPr>
            <a:normAutofit fontScale="92500" lnSpcReduction="20000"/>
          </a:bodyPr>
          <a:lstStyle/>
          <a:p>
            <a:r>
              <a:rPr lang="en-US" altLang="zh-CN" dirty="0"/>
              <a:t>Exercise 3</a:t>
            </a:r>
            <a:endParaRPr lang="zh-CN" altLang="en-US" dirty="0"/>
          </a:p>
          <a:p>
            <a:pPr algn="just">
              <a:buFont typeface="Wingdings" panose="05000000000000000000" pitchFamily="2" charset="2"/>
              <a:buChar char="l"/>
            </a:pPr>
            <a:r>
              <a:rPr lang="en-US" altLang="zh-CN" dirty="0">
                <a:solidFill>
                  <a:schemeClr val="tx1"/>
                </a:solidFill>
              </a:rPr>
              <a:t>Reinvestment risk would not occur if:</a:t>
            </a:r>
          </a:p>
          <a:p>
            <a:pPr marL="874350" lvl="1" indent="-514350" algn="just">
              <a:buSzPct val="100000"/>
              <a:buFont typeface="+mj-lt"/>
              <a:buAutoNum type="romanUcPeriod"/>
            </a:pPr>
            <a:r>
              <a:rPr lang="en-US" altLang="zh-CN" dirty="0"/>
              <a:t>Interest rates remained constant over the time period the bond is held.</a:t>
            </a:r>
          </a:p>
          <a:p>
            <a:pPr marL="874350" lvl="1" indent="-514350" algn="just">
              <a:buSzPct val="100000"/>
              <a:buFont typeface="+mj-lt"/>
              <a:buAutoNum type="romanUcPeriod"/>
            </a:pPr>
            <a:r>
              <a:rPr lang="en-US" altLang="zh-CN" dirty="0"/>
              <a:t>The bonds were callable.</a:t>
            </a:r>
          </a:p>
          <a:p>
            <a:pPr marL="874350" lvl="1" indent="-514350" algn="just">
              <a:buSzPct val="100000"/>
              <a:buFont typeface="+mj-lt"/>
              <a:buAutoNum type="romanUcPeriod"/>
            </a:pPr>
            <a:r>
              <a:rPr lang="en-US" altLang="zh-CN" dirty="0"/>
              <a:t>Bonds are issued at par.</a:t>
            </a:r>
          </a:p>
          <a:p>
            <a:pPr marL="874350" lvl="1" indent="-514350" algn="just">
              <a:buSzPct val="100000"/>
              <a:buFont typeface="+mj-lt"/>
              <a:buAutoNum type="romanUcPeriod"/>
            </a:pPr>
            <a:r>
              <a:rPr lang="en-US" altLang="zh-CN" dirty="0"/>
              <a:t>Only zero-coupon bonds are purchased.</a:t>
            </a:r>
          </a:p>
          <a:p>
            <a:pPr marL="817200" lvl="1" indent="-457200" algn="just">
              <a:buSzPct val="100000"/>
              <a:buFont typeface="+mj-lt"/>
              <a:buAutoNum type="alphaUcPeriod"/>
            </a:pPr>
            <a:r>
              <a:rPr lang="en-US" altLang="zh-CN" dirty="0"/>
              <a:t>I only</a:t>
            </a:r>
          </a:p>
          <a:p>
            <a:pPr marL="817200" lvl="1" indent="-457200" algn="just">
              <a:buSzPct val="100000"/>
              <a:buFont typeface="+mj-lt"/>
              <a:buAutoNum type="alphaUcPeriod"/>
            </a:pPr>
            <a:r>
              <a:rPr lang="en-US" altLang="zh-CN" dirty="0"/>
              <a:t>I and II</a:t>
            </a:r>
          </a:p>
          <a:p>
            <a:pPr marL="817200" lvl="1" indent="-457200" algn="just">
              <a:buSzPct val="100000"/>
              <a:buFont typeface="+mj-lt"/>
              <a:buAutoNum type="alphaUcPeriod"/>
            </a:pPr>
            <a:r>
              <a:rPr lang="en-US" altLang="zh-CN" dirty="0"/>
              <a:t>III only</a:t>
            </a:r>
          </a:p>
          <a:p>
            <a:pPr marL="817200" lvl="1" indent="-457200" algn="just">
              <a:buSzPct val="100000"/>
              <a:buFont typeface="+mj-lt"/>
              <a:buAutoNum type="alphaUcPeriod"/>
            </a:pPr>
            <a:r>
              <a:rPr lang="en-US" altLang="zh-CN" dirty="0"/>
              <a:t>I and IV</a:t>
            </a:r>
          </a:p>
          <a:p>
            <a:pPr marL="817200" lvl="1" indent="-457200" algn="just">
              <a:buSzPct val="100000"/>
              <a:buFont typeface="+mj-lt"/>
              <a:buAutoNum type="alphaUcPeriod"/>
            </a:pPr>
            <a:endParaRPr lang="en-US" altLang="zh-CN" u="sng" dirty="0"/>
          </a:p>
          <a:p>
            <a:pPr marL="417150" indent="-457200" algn="just">
              <a:buSzPct val="100000"/>
              <a:buFont typeface="Wingdings" panose="05000000000000000000" pitchFamily="2" charset="2"/>
              <a:buChar char="l"/>
            </a:pPr>
            <a:r>
              <a:rPr lang="en-US" altLang="zh-CN" dirty="0">
                <a:solidFill>
                  <a:schemeClr val="tx1"/>
                </a:solidFill>
              </a:rPr>
              <a:t>Correct Answer : D</a:t>
            </a:r>
            <a:endParaRPr lang="zh-CN" altLang="en-US" dirty="0">
              <a:solidFill>
                <a:schemeClr val="tx1"/>
              </a:solidFill>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26771062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Bond Replication</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Replication</a:t>
            </a:r>
          </a:p>
          <a:p>
            <a:pPr lvl="1"/>
            <a:r>
              <a:rPr lang="en-US" altLang="zh-CN" b="1" dirty="0"/>
              <a:t>Law of one price: </a:t>
            </a:r>
            <a:r>
              <a:rPr lang="en-US" altLang="zh-CN" dirty="0"/>
              <a:t>absent confounding factors (e.g., liquidity, financing, taxes, credit risk), </a:t>
            </a:r>
            <a:r>
              <a:rPr lang="en-US" altLang="zh-CN" u="sng" dirty="0"/>
              <a:t>identical sets of cash flows should sell for the same price</a:t>
            </a:r>
            <a:r>
              <a:rPr lang="en-US" altLang="zh-CN" dirty="0"/>
              <a:t>.</a:t>
            </a:r>
          </a:p>
          <a:p>
            <a:pPr lvl="1"/>
            <a:r>
              <a:rPr lang="en-US" altLang="zh-CN" sz="1800" b="1" dirty="0"/>
              <a:t>Example: </a:t>
            </a:r>
            <a:r>
              <a:rPr lang="en-US" altLang="zh-CN" sz="1800" dirty="0"/>
              <a:t>The following table gives the prices of two out of three US Treasury notes for settlement on August 30, 2008. All three notes will mature exactly one year later on August 30, 2009. Assume annual coupon payments and that all three bonds have the same coupon payment date. Assuming the “law of one price”, what should be the price of the 4 1/2 US Treasury Note?</a:t>
            </a:r>
          </a:p>
          <a:p>
            <a:endParaRPr lang="zh-CN" altLang="en-US" dirty="0">
              <a:latin typeface="+mn-lt"/>
              <a:ea typeface="+mn-ea"/>
              <a:cs typeface="+mn-ea"/>
              <a:sym typeface="+mn-lt"/>
            </a:endParaRPr>
          </a:p>
        </p:txBody>
      </p:sp>
      <p:graphicFrame>
        <p:nvGraphicFramePr>
          <p:cNvPr id="4" name="表格 3">
            <a:extLst>
              <a:ext uri="{FF2B5EF4-FFF2-40B4-BE49-F238E27FC236}">
                <a16:creationId xmlns:a16="http://schemas.microsoft.com/office/drawing/2014/main" id="{F4B53E14-98AF-4ABD-BDB5-E3477A762005}"/>
              </a:ext>
            </a:extLst>
          </p:cNvPr>
          <p:cNvGraphicFramePr>
            <a:graphicFrameLocks noGrp="1"/>
          </p:cNvGraphicFramePr>
          <p:nvPr>
            <p:extLst>
              <p:ext uri="{D42A27DB-BD31-4B8C-83A1-F6EECF244321}">
                <p14:modId xmlns:p14="http://schemas.microsoft.com/office/powerpoint/2010/main" val="189042095"/>
              </p:ext>
            </p:extLst>
          </p:nvPr>
        </p:nvGraphicFramePr>
        <p:xfrm>
          <a:off x="5015999" y="5033632"/>
          <a:ext cx="2160000" cy="1440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tblGrid>
              <a:tr h="360000">
                <a:tc>
                  <a:txBody>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Coupon</a:t>
                      </a:r>
                      <a:endParaRPr lang="zh-CN" altLang="en-US" sz="1800" b="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Price</a:t>
                      </a:r>
                      <a:endParaRPr lang="zh-CN" altLang="en-US" sz="1800" b="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60000">
                <a:tc>
                  <a:txBody>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2 7/8</a:t>
                      </a:r>
                      <a:endParaRPr lang="zh-CN" altLang="en-US" sz="1800" b="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$98.40</a:t>
                      </a:r>
                      <a:endParaRPr lang="zh-CN" altLang="en-US" sz="1800" b="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0000">
                <a:tc>
                  <a:txBody>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4 1/2</a:t>
                      </a:r>
                      <a:endParaRPr lang="zh-CN" altLang="en-US" sz="1800" b="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a:t>
                      </a:r>
                      <a:endParaRPr lang="zh-CN" altLang="en-US" sz="1800" b="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60000">
                <a:tc>
                  <a:txBody>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6</a:t>
                      </a:r>
                      <a:r>
                        <a:rPr lang="en-US" altLang="zh-CN" sz="1800" b="0"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1/4</a:t>
                      </a:r>
                      <a:endParaRPr lang="zh-CN" altLang="en-US" sz="1800" b="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$101.30</a:t>
                      </a:r>
                      <a:endParaRPr lang="zh-CN" altLang="en-US" sz="1800" b="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4974203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Bond Replication</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On August 30, 2009, prices of bonds are:</a:t>
            </a:r>
          </a:p>
          <a:p>
            <a:pPr lvl="1"/>
            <a:r>
              <a:rPr lang="en-US" altLang="zh-CN" dirty="0"/>
              <a:t>Bond 1: 100+2.875</a:t>
            </a:r>
          </a:p>
          <a:p>
            <a:pPr lvl="1"/>
            <a:r>
              <a:rPr lang="en-US" altLang="zh-CN" dirty="0"/>
              <a:t>Bond 3: 100+6.25</a:t>
            </a:r>
            <a:endParaRPr lang="zh-CN" altLang="en-US" dirty="0"/>
          </a:p>
          <a:p>
            <a:pPr lvl="1"/>
            <a:r>
              <a:rPr lang="en-US" altLang="zh-CN" dirty="0"/>
              <a:t>Bond 2: 100+4.5</a:t>
            </a:r>
          </a:p>
          <a:p>
            <a:r>
              <a:rPr lang="en-US" altLang="zh-CN" dirty="0"/>
              <a:t>Through replication, we have:</a:t>
            </a:r>
          </a:p>
          <a:p>
            <a:pPr lvl="1"/>
            <a:r>
              <a:rPr lang="en-US" altLang="zh-CN" dirty="0"/>
              <a:t>102.875 w</a:t>
            </a:r>
            <a:r>
              <a:rPr lang="en-US" altLang="zh-CN" baseline="-25000" dirty="0"/>
              <a:t>1</a:t>
            </a:r>
            <a:r>
              <a:rPr lang="en-US" altLang="zh-CN" dirty="0"/>
              <a:t> + 106.25 (1-w</a:t>
            </a:r>
            <a:r>
              <a:rPr lang="en-US" altLang="zh-CN" baseline="-25000" dirty="0"/>
              <a:t>1</a:t>
            </a:r>
            <a:r>
              <a:rPr lang="en-US" altLang="zh-CN" dirty="0"/>
              <a:t>) = 104.5</a:t>
            </a:r>
          </a:p>
          <a:p>
            <a:pPr lvl="1"/>
            <a:r>
              <a:rPr lang="en-US" altLang="zh-CN" dirty="0"/>
              <a:t>w</a:t>
            </a:r>
            <a:r>
              <a:rPr lang="en-US" altLang="zh-CN" baseline="-25000" dirty="0"/>
              <a:t>1</a:t>
            </a:r>
            <a:r>
              <a:rPr lang="en-US" altLang="zh-CN" dirty="0"/>
              <a:t> = 0.5185 (weight of bond 1)</a:t>
            </a:r>
          </a:p>
          <a:p>
            <a:r>
              <a:rPr lang="en-US" altLang="zh-CN" dirty="0"/>
              <a:t>And so:</a:t>
            </a:r>
          </a:p>
          <a:p>
            <a:pPr lvl="1"/>
            <a:r>
              <a:rPr lang="en-US" altLang="zh-CN" dirty="0"/>
              <a:t>0.5185 B</a:t>
            </a:r>
            <a:r>
              <a:rPr lang="en-US" altLang="zh-CN" baseline="-25000" dirty="0"/>
              <a:t>1</a:t>
            </a:r>
            <a:r>
              <a:rPr lang="en-US" altLang="zh-CN" dirty="0"/>
              <a:t> + (1-0.5185) B</a:t>
            </a:r>
            <a:r>
              <a:rPr lang="en-US" altLang="zh-CN" baseline="-25000" dirty="0"/>
              <a:t>3</a:t>
            </a:r>
            <a:r>
              <a:rPr lang="en-US" altLang="zh-CN" dirty="0"/>
              <a:t> = B</a:t>
            </a:r>
            <a:r>
              <a:rPr lang="en-US" altLang="zh-CN" baseline="-25000" dirty="0"/>
              <a:t>2</a:t>
            </a:r>
          </a:p>
          <a:p>
            <a:pPr lvl="1"/>
            <a:r>
              <a:rPr lang="en-US" altLang="zh-CN" dirty="0"/>
              <a:t>0.5185*98.4 + (1-0.5185)*101.3 = 99.80 = B</a:t>
            </a:r>
            <a:r>
              <a:rPr lang="en-US" altLang="zh-CN" baseline="-25000" dirty="0"/>
              <a:t>2</a:t>
            </a:r>
            <a:endParaRPr lang="zh-CN" altLang="en-US" baseline="-25000" dirty="0"/>
          </a:p>
          <a:p>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366000765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Bond Replication</a:t>
            </a:r>
            <a:endParaRPr lang="zh-CN" altLang="en-US" sz="2800" dirty="0"/>
          </a:p>
        </p:txBody>
      </p:sp>
      <p:sp>
        <p:nvSpPr>
          <p:cNvPr id="3" name="文本占位符 2"/>
          <p:cNvSpPr>
            <a:spLocks noGrp="1"/>
          </p:cNvSpPr>
          <p:nvPr>
            <p:ph type="body" sz="quarter" idx="10"/>
          </p:nvPr>
        </p:nvSpPr>
        <p:spPr/>
        <p:txBody>
          <a:bodyPr>
            <a:normAutofit/>
          </a:bodyPr>
          <a:lstStyle/>
          <a:p>
            <a:pPr lvl="1"/>
            <a:r>
              <a:rPr lang="en-US" altLang="zh-CN" dirty="0"/>
              <a:t>If investors are able to </a:t>
            </a:r>
            <a:r>
              <a:rPr lang="en-US" altLang="zh-CN" u="sng" dirty="0"/>
              <a:t>exploit a mispricing due to the law of one price</a:t>
            </a:r>
            <a:r>
              <a:rPr lang="en-US" altLang="zh-CN" dirty="0"/>
              <a:t>, it is an </a:t>
            </a:r>
            <a:r>
              <a:rPr lang="en-US" altLang="zh-CN" b="1" dirty="0"/>
              <a:t>arbitrage opportunity</a:t>
            </a:r>
            <a:r>
              <a:rPr lang="en-US" altLang="zh-CN" dirty="0"/>
              <a:t>.</a:t>
            </a:r>
          </a:p>
          <a:p>
            <a:pPr lvl="1"/>
            <a:r>
              <a:rPr lang="en-US" altLang="zh-CN" dirty="0"/>
              <a:t>When mispricing happens, arbitrage may not occur because of three reasons:</a:t>
            </a:r>
          </a:p>
          <a:p>
            <a:pPr lvl="2"/>
            <a:r>
              <a:rPr lang="en-US" altLang="zh-CN" dirty="0"/>
              <a:t>Transaction Costs</a:t>
            </a:r>
          </a:p>
          <a:p>
            <a:pPr lvl="2"/>
            <a:r>
              <a:rPr lang="en-US" altLang="zh-CN" dirty="0"/>
              <a:t>Bid-Ask Spread</a:t>
            </a:r>
          </a:p>
          <a:p>
            <a:pPr lvl="2"/>
            <a:r>
              <a:rPr lang="en-US" altLang="zh-CN" dirty="0"/>
              <a:t>Bonds have idiosyncratic differences that are recognized by the market and priced accordingly.</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701836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Bond Replication</a:t>
            </a:r>
            <a:endParaRPr lang="zh-CN" altLang="en-US" sz="2800" dirty="0"/>
          </a:p>
        </p:txBody>
      </p:sp>
      <p:sp>
        <p:nvSpPr>
          <p:cNvPr id="3" name="文本占位符 2"/>
          <p:cNvSpPr>
            <a:spLocks noGrp="1"/>
          </p:cNvSpPr>
          <p:nvPr>
            <p:ph type="body" sz="quarter" idx="10"/>
          </p:nvPr>
        </p:nvSpPr>
        <p:spPr/>
        <p:txBody>
          <a:bodyPr>
            <a:normAutofit fontScale="92500" lnSpcReduction="10000"/>
          </a:bodyPr>
          <a:lstStyle/>
          <a:p>
            <a:r>
              <a:rPr lang="en-US" altLang="zh-CN" dirty="0">
                <a:latin typeface="+mn-lt"/>
                <a:ea typeface="+mn-ea"/>
                <a:cs typeface="+mn-ea"/>
                <a:sym typeface="+mn-lt"/>
              </a:rPr>
              <a:t>Example: Three bond yields and prices are shown below.</a:t>
            </a:r>
          </a:p>
          <a:p>
            <a:endParaRPr lang="en-US" altLang="zh-CN" dirty="0">
              <a:latin typeface="+mn-lt"/>
              <a:ea typeface="+mn-ea"/>
              <a:cs typeface="+mn-ea"/>
              <a:sym typeface="+mn-lt"/>
            </a:endParaRPr>
          </a:p>
          <a:p>
            <a:endParaRPr lang="en-US" altLang="zh-CN" dirty="0">
              <a:latin typeface="+mn-lt"/>
              <a:ea typeface="+mn-ea"/>
              <a:cs typeface="+mn-ea"/>
              <a:sym typeface="+mn-lt"/>
            </a:endParaRPr>
          </a:p>
          <a:p>
            <a:endParaRPr lang="en-US" altLang="zh-CN" dirty="0">
              <a:latin typeface="+mn-lt"/>
              <a:ea typeface="+mn-ea"/>
              <a:cs typeface="+mn-ea"/>
              <a:sym typeface="+mn-lt"/>
            </a:endParaRPr>
          </a:p>
          <a:p>
            <a:pPr lvl="1"/>
            <a:r>
              <a:rPr lang="en-US" altLang="zh-CN" sz="1900" dirty="0"/>
              <a:t>The 2-year spot rate is 8.167%. Is there an arbitrage opportunity using these three bonds? If so, describe the trades necessary to exploit the arbitrage opportunity?</a:t>
            </a:r>
          </a:p>
          <a:p>
            <a:pPr lvl="2">
              <a:lnSpc>
                <a:spcPct val="100000"/>
              </a:lnSpc>
            </a:pPr>
            <a:endParaRPr lang="en-US" altLang="zh-CN" sz="1600" dirty="0"/>
          </a:p>
          <a:p>
            <a:pPr>
              <a:lnSpc>
                <a:spcPct val="100000"/>
              </a:lnSpc>
            </a:pPr>
            <a:endParaRPr lang="en-US" altLang="zh-CN" sz="1600" dirty="0"/>
          </a:p>
          <a:p>
            <a:pPr>
              <a:lnSpc>
                <a:spcPct val="100000"/>
              </a:lnSpc>
            </a:pPr>
            <a:endParaRPr lang="en-US" altLang="zh-CN" sz="1600" dirty="0"/>
          </a:p>
          <a:p>
            <a:pPr>
              <a:lnSpc>
                <a:spcPct val="100000"/>
              </a:lnSpc>
            </a:pPr>
            <a:endParaRPr lang="en-US" altLang="zh-CN" sz="1600" dirty="0"/>
          </a:p>
          <a:p>
            <a:pPr>
              <a:lnSpc>
                <a:spcPct val="100000"/>
              </a:lnSpc>
            </a:pPr>
            <a:endParaRPr lang="en-US" altLang="zh-CN" sz="1600" dirty="0"/>
          </a:p>
          <a:p>
            <a:pPr>
              <a:lnSpc>
                <a:spcPct val="100000"/>
              </a:lnSpc>
            </a:pPr>
            <a:endParaRPr lang="en-US" altLang="zh-CN" sz="1600" dirty="0"/>
          </a:p>
          <a:p>
            <a:pPr>
              <a:lnSpc>
                <a:spcPct val="100000"/>
              </a:lnSpc>
            </a:pPr>
            <a:endParaRPr lang="en-US" altLang="zh-CN" sz="1600" dirty="0"/>
          </a:p>
          <a:p>
            <a:pPr>
              <a:lnSpc>
                <a:spcPct val="100000"/>
              </a:lnSpc>
            </a:pPr>
            <a:endParaRPr lang="en-US" altLang="zh-CN" sz="1600" dirty="0"/>
          </a:p>
          <a:p>
            <a:pPr>
              <a:lnSpc>
                <a:spcPct val="100000"/>
              </a:lnSpc>
            </a:pPr>
            <a:endParaRPr lang="en-US" altLang="zh-CN" sz="1600" dirty="0"/>
          </a:p>
          <a:p>
            <a:pPr>
              <a:lnSpc>
                <a:spcPct val="100000"/>
              </a:lnSpc>
              <a:buFont typeface="Wingdings" panose="05000000000000000000" pitchFamily="2" charset="2"/>
              <a:buChar char="l"/>
            </a:pPr>
            <a:r>
              <a:rPr lang="en-US" altLang="zh-CN" sz="1600" dirty="0">
                <a:solidFill>
                  <a:schemeClr val="tx1"/>
                </a:solidFill>
              </a:rPr>
              <a:t>Answer:</a:t>
            </a:r>
          </a:p>
          <a:p>
            <a:pPr lvl="1">
              <a:lnSpc>
                <a:spcPct val="100000"/>
              </a:lnSpc>
            </a:pPr>
            <a:r>
              <a:rPr lang="en-US" altLang="zh-CN" sz="1600" dirty="0"/>
              <a:t>0.08 B</a:t>
            </a:r>
            <a:r>
              <a:rPr lang="en-US" altLang="zh-CN" sz="1600" baseline="-25000" dirty="0"/>
              <a:t>1</a:t>
            </a:r>
            <a:r>
              <a:rPr lang="en-US" altLang="zh-CN" sz="1600" dirty="0"/>
              <a:t> + 1.08 B</a:t>
            </a:r>
            <a:r>
              <a:rPr lang="en-US" altLang="zh-CN" sz="1600" baseline="-25000" dirty="0"/>
              <a:t>2</a:t>
            </a:r>
            <a:r>
              <a:rPr lang="en-US" altLang="zh-CN" sz="1600" dirty="0"/>
              <a:t> = B</a:t>
            </a:r>
            <a:r>
              <a:rPr lang="en-US" altLang="zh-CN" sz="1600" baseline="-25000" dirty="0"/>
              <a:t>3</a:t>
            </a:r>
          </a:p>
          <a:p>
            <a:pPr lvl="1">
              <a:lnSpc>
                <a:spcPct val="100000"/>
              </a:lnSpc>
            </a:pPr>
            <a:r>
              <a:rPr lang="en-US" altLang="zh-CN" sz="1600" dirty="0"/>
              <a:t>0.08*96.154 + 1.08*85.734 = 100.285 (not 100)</a:t>
            </a:r>
          </a:p>
          <a:p>
            <a:pPr lvl="1">
              <a:lnSpc>
                <a:spcPct val="100000"/>
              </a:lnSpc>
            </a:pPr>
            <a:r>
              <a:rPr lang="en-US" altLang="zh-CN" sz="1600" dirty="0"/>
              <a:t>Bond 3 is undervalued, so we buy Bond 3. Bond 1 and Bond 2 are overvalued, and we sell them together.</a:t>
            </a:r>
          </a:p>
          <a:p>
            <a:endParaRPr lang="zh-CN" altLang="en-US" dirty="0">
              <a:latin typeface="+mn-lt"/>
              <a:ea typeface="+mn-ea"/>
              <a:cs typeface="+mn-ea"/>
              <a:sym typeface="+mn-lt"/>
            </a:endParaRPr>
          </a:p>
        </p:txBody>
      </p:sp>
      <p:graphicFrame>
        <p:nvGraphicFramePr>
          <p:cNvPr id="6" name="表格 5">
            <a:extLst>
              <a:ext uri="{FF2B5EF4-FFF2-40B4-BE49-F238E27FC236}">
                <a16:creationId xmlns:a16="http://schemas.microsoft.com/office/drawing/2014/main" id="{7B5C424C-5551-4875-BBEF-CD99AABBA0AC}"/>
              </a:ext>
            </a:extLst>
          </p:cNvPr>
          <p:cNvGraphicFramePr>
            <a:graphicFrameLocks noGrp="1"/>
          </p:cNvGraphicFramePr>
          <p:nvPr>
            <p:extLst>
              <p:ext uri="{D42A27DB-BD31-4B8C-83A1-F6EECF244321}">
                <p14:modId xmlns:p14="http://schemas.microsoft.com/office/powerpoint/2010/main" val="2721721885"/>
              </p:ext>
            </p:extLst>
          </p:nvPr>
        </p:nvGraphicFramePr>
        <p:xfrm>
          <a:off x="3161999" y="1396188"/>
          <a:ext cx="5868000" cy="1296000"/>
        </p:xfrm>
        <a:graphic>
          <a:graphicData uri="http://schemas.openxmlformats.org/drawingml/2006/table">
            <a:tbl>
              <a:tblPr/>
              <a:tblGrid>
                <a:gridCol w="711272">
                  <a:extLst>
                    <a:ext uri="{9D8B030D-6E8A-4147-A177-3AD203B41FA5}">
                      <a16:colId xmlns:a16="http://schemas.microsoft.com/office/drawing/2014/main" val="20000"/>
                    </a:ext>
                  </a:extLst>
                </a:gridCol>
                <a:gridCol w="1066910">
                  <a:extLst>
                    <a:ext uri="{9D8B030D-6E8A-4147-A177-3AD203B41FA5}">
                      <a16:colId xmlns:a16="http://schemas.microsoft.com/office/drawing/2014/main" val="20001"/>
                    </a:ext>
                  </a:extLst>
                </a:gridCol>
                <a:gridCol w="711272">
                  <a:extLst>
                    <a:ext uri="{9D8B030D-6E8A-4147-A177-3AD203B41FA5}">
                      <a16:colId xmlns:a16="http://schemas.microsoft.com/office/drawing/2014/main" val="20002"/>
                    </a:ext>
                  </a:extLst>
                </a:gridCol>
                <a:gridCol w="1244728">
                  <a:extLst>
                    <a:ext uri="{9D8B030D-6E8A-4147-A177-3AD203B41FA5}">
                      <a16:colId xmlns:a16="http://schemas.microsoft.com/office/drawing/2014/main" val="20003"/>
                    </a:ext>
                  </a:extLst>
                </a:gridCol>
                <a:gridCol w="2133818">
                  <a:extLst>
                    <a:ext uri="{9D8B030D-6E8A-4147-A177-3AD203B41FA5}">
                      <a16:colId xmlns:a16="http://schemas.microsoft.com/office/drawing/2014/main" val="20004"/>
                    </a:ext>
                  </a:extLst>
                </a:gridCol>
              </a:tblGrid>
              <a:tr h="324000">
                <a:tc>
                  <a:txBody>
                    <a:bodyPr/>
                    <a:lstStyle/>
                    <a:p>
                      <a:pPr algn="ctr" fontAlgn="t">
                        <a:lnSpc>
                          <a:spcPct val="100000"/>
                        </a:lnSpc>
                      </a:pPr>
                      <a:r>
                        <a:rPr lang="zh-CN" altLang="en-US" sz="1600" b="1" i="0" u="none" strike="noStrike" dirty="0">
                          <a:solidFill>
                            <a:srgbClr val="2C3E50"/>
                          </a:solidFill>
                          <a:effectLst/>
                          <a:latin typeface="Segoe UI" panose="020B0502040204020203" pitchFamily="34" charset="0"/>
                          <a:ea typeface="宋体" panose="02010600030101010101" pitchFamily="2" charset="-122"/>
                          <a:cs typeface="Segoe UI" panose="020B0502040204020203" pitchFamily="34" charset="0"/>
                        </a:rPr>
                        <a:t>　</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lnSpc>
                          <a:spcPct val="100000"/>
                        </a:lnSpc>
                      </a:pPr>
                      <a:r>
                        <a:rPr lang="en-US" sz="16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Maturity</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lnSpc>
                          <a:spcPct val="100000"/>
                        </a:lnSpc>
                      </a:pPr>
                      <a:r>
                        <a:rPr lang="en-US" sz="16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YTM</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lnSpc>
                          <a:spcPct val="100000"/>
                        </a:lnSpc>
                      </a:pPr>
                      <a:r>
                        <a:rPr lang="en-US" sz="16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Coupon </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lnSpc>
                          <a:spcPct val="100000"/>
                        </a:lnSpc>
                      </a:pPr>
                      <a:r>
                        <a:rPr lang="en-US" sz="1600" b="1"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Price (% of par)</a:t>
                      </a:r>
                    </a:p>
                  </a:txBody>
                  <a:tcPr marL="36000" marR="36000" marT="36000" marB="36000" anchor="ctr">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4000">
                <a:tc>
                  <a:txBody>
                    <a:bodyPr/>
                    <a:lstStyle/>
                    <a:p>
                      <a:pPr algn="ctr" rtl="0" fontAlgn="ctr">
                        <a:lnSpc>
                          <a:spcPct val="100000"/>
                        </a:lnSpc>
                      </a:pPr>
                      <a:r>
                        <a:rPr lang="en-US" altLang="zh-CN" sz="16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1</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lnSpc>
                          <a:spcPct val="100000"/>
                        </a:lnSpc>
                      </a:pPr>
                      <a:r>
                        <a:rPr lang="en-US" sz="16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1 year</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lnSpc>
                          <a:spcPct val="100000"/>
                        </a:lnSpc>
                      </a:pPr>
                      <a:r>
                        <a:rPr lang="en-US" altLang="zh-CN" sz="16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4%</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lnSpc>
                          <a:spcPct val="100000"/>
                        </a:lnSpc>
                      </a:pPr>
                      <a:r>
                        <a:rPr lang="en-US" altLang="zh-CN" sz="16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0%</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lnSpc>
                          <a:spcPct val="100000"/>
                        </a:lnSpc>
                      </a:pPr>
                      <a:r>
                        <a:rPr lang="en-US" altLang="zh-CN" sz="16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96.154</a:t>
                      </a:r>
                    </a:p>
                  </a:txBody>
                  <a:tcPr marL="36000" marR="36000" marT="36000" marB="36000" anchor="ctr">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4000">
                <a:tc>
                  <a:txBody>
                    <a:bodyPr/>
                    <a:lstStyle/>
                    <a:p>
                      <a:pPr algn="ctr" rtl="0" fontAlgn="ctr">
                        <a:lnSpc>
                          <a:spcPct val="100000"/>
                        </a:lnSpc>
                      </a:pPr>
                      <a:r>
                        <a:rPr lang="en-US" altLang="zh-CN" sz="16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2</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lnSpc>
                          <a:spcPct val="100000"/>
                        </a:lnSpc>
                      </a:pPr>
                      <a:r>
                        <a:rPr lang="en-US" sz="16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2 years</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lnSpc>
                          <a:spcPct val="100000"/>
                        </a:lnSpc>
                      </a:pPr>
                      <a:r>
                        <a:rPr lang="en-US" altLang="zh-CN" sz="16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8%</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lnSpc>
                          <a:spcPct val="100000"/>
                        </a:lnSpc>
                      </a:pPr>
                      <a:r>
                        <a:rPr lang="en-US" altLang="zh-CN" sz="16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0%</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lnSpc>
                          <a:spcPct val="100000"/>
                        </a:lnSpc>
                      </a:pPr>
                      <a:r>
                        <a:rPr lang="en-US" altLang="zh-CN" sz="16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85.734</a:t>
                      </a:r>
                    </a:p>
                  </a:txBody>
                  <a:tcPr marL="36000" marR="36000" marT="36000" marB="36000" anchor="ctr">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4000">
                <a:tc>
                  <a:txBody>
                    <a:bodyPr/>
                    <a:lstStyle/>
                    <a:p>
                      <a:pPr algn="ctr" rtl="0" fontAlgn="ctr">
                        <a:lnSpc>
                          <a:spcPct val="100000"/>
                        </a:lnSpc>
                      </a:pPr>
                      <a:r>
                        <a:rPr lang="en-US" altLang="zh-CN" sz="1600" b="0" i="0" u="none" strike="noStrike">
                          <a:solidFill>
                            <a:srgbClr val="2C3E50"/>
                          </a:solidFill>
                          <a:effectLst/>
                          <a:latin typeface="Segoe UI" panose="020B0502040204020203" pitchFamily="34" charset="0"/>
                          <a:ea typeface="Segoe UI" panose="020B0502040204020203" pitchFamily="34" charset="0"/>
                          <a:cs typeface="Segoe UI" panose="020B0502040204020203" pitchFamily="34" charset="0"/>
                        </a:rPr>
                        <a:t>3</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sz="16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2 years</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6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8%</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6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8%</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rtl="0" fontAlgn="ctr">
                        <a:lnSpc>
                          <a:spcPct val="100000"/>
                        </a:lnSpc>
                      </a:pPr>
                      <a:r>
                        <a:rPr lang="en-US" altLang="zh-CN" sz="1600" b="0" i="0" u="none" strike="noStrike" dirty="0">
                          <a:solidFill>
                            <a:srgbClr val="2C3E50"/>
                          </a:solidFill>
                          <a:effectLst/>
                          <a:latin typeface="Segoe UI" panose="020B0502040204020203" pitchFamily="34" charset="0"/>
                          <a:ea typeface="Segoe UI" panose="020B0502040204020203" pitchFamily="34" charset="0"/>
                          <a:cs typeface="Segoe UI" panose="020B0502040204020203" pitchFamily="34" charset="0"/>
                        </a:rPr>
                        <a:t>100</a:t>
                      </a:r>
                    </a:p>
                  </a:txBody>
                  <a:tcPr marL="36000" marR="36000" marT="36000" marB="36000" anchor="ctr">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pSp>
        <p:nvGrpSpPr>
          <p:cNvPr id="7" name="组合 6">
            <a:extLst>
              <a:ext uri="{FF2B5EF4-FFF2-40B4-BE49-F238E27FC236}">
                <a16:creationId xmlns:a16="http://schemas.microsoft.com/office/drawing/2014/main" id="{2CCA9566-CA1B-42E0-9B0B-1AA1976E1B8C}"/>
              </a:ext>
            </a:extLst>
          </p:cNvPr>
          <p:cNvGrpSpPr/>
          <p:nvPr/>
        </p:nvGrpSpPr>
        <p:grpSpPr>
          <a:xfrm>
            <a:off x="3075818" y="3860828"/>
            <a:ext cx="6040361" cy="1479333"/>
            <a:chOff x="1382713" y="4419601"/>
            <a:chExt cx="6040361" cy="1673793"/>
          </a:xfrm>
        </p:grpSpPr>
        <p:cxnSp>
          <p:nvCxnSpPr>
            <p:cNvPr id="8" name="直接连接符 8">
              <a:extLst>
                <a:ext uri="{FF2B5EF4-FFF2-40B4-BE49-F238E27FC236}">
                  <a16:creationId xmlns:a16="http://schemas.microsoft.com/office/drawing/2014/main" id="{9A86F212-D28B-46C9-B713-62AC4565AC1A}"/>
                </a:ext>
              </a:extLst>
            </p:cNvPr>
            <p:cNvCxnSpPr>
              <a:cxnSpLocks noChangeShapeType="1"/>
            </p:cNvCxnSpPr>
            <p:nvPr/>
          </p:nvCxnSpPr>
          <p:spPr bwMode="auto">
            <a:xfrm flipV="1">
              <a:off x="3347864" y="5265224"/>
              <a:ext cx="0" cy="18000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9" name="直接连接符 9">
              <a:extLst>
                <a:ext uri="{FF2B5EF4-FFF2-40B4-BE49-F238E27FC236}">
                  <a16:creationId xmlns:a16="http://schemas.microsoft.com/office/drawing/2014/main" id="{AD6DF55B-9999-473F-9BF9-0AE00B5421F7}"/>
                </a:ext>
              </a:extLst>
            </p:cNvPr>
            <p:cNvCxnSpPr>
              <a:cxnSpLocks noChangeShapeType="1"/>
            </p:cNvCxnSpPr>
            <p:nvPr/>
          </p:nvCxnSpPr>
          <p:spPr bwMode="auto">
            <a:xfrm flipV="1">
              <a:off x="6947864" y="5265224"/>
              <a:ext cx="0" cy="18000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10" name="直接连接符 10">
              <a:extLst>
                <a:ext uri="{FF2B5EF4-FFF2-40B4-BE49-F238E27FC236}">
                  <a16:creationId xmlns:a16="http://schemas.microsoft.com/office/drawing/2014/main" id="{3F541A1C-ACE0-4AF1-96AB-F0ACC2F5837A}"/>
                </a:ext>
              </a:extLst>
            </p:cNvPr>
            <p:cNvCxnSpPr>
              <a:cxnSpLocks noChangeShapeType="1"/>
            </p:cNvCxnSpPr>
            <p:nvPr/>
          </p:nvCxnSpPr>
          <p:spPr bwMode="auto">
            <a:xfrm>
              <a:off x="3347864" y="5346188"/>
              <a:ext cx="3600000" cy="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11" name="直接连接符 15">
              <a:extLst>
                <a:ext uri="{FF2B5EF4-FFF2-40B4-BE49-F238E27FC236}">
                  <a16:creationId xmlns:a16="http://schemas.microsoft.com/office/drawing/2014/main" id="{6E134926-881F-4A42-9D76-7D8F95723A90}"/>
                </a:ext>
              </a:extLst>
            </p:cNvPr>
            <p:cNvCxnSpPr>
              <a:cxnSpLocks noChangeShapeType="1"/>
            </p:cNvCxnSpPr>
            <p:nvPr/>
          </p:nvCxnSpPr>
          <p:spPr bwMode="auto">
            <a:xfrm>
              <a:off x="3347864" y="5896074"/>
              <a:ext cx="3600000" cy="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12" name="直接连接符 13">
              <a:extLst>
                <a:ext uri="{FF2B5EF4-FFF2-40B4-BE49-F238E27FC236}">
                  <a16:creationId xmlns:a16="http://schemas.microsoft.com/office/drawing/2014/main" id="{4AF68705-E74D-4A98-B6BE-46D70217764B}"/>
                </a:ext>
              </a:extLst>
            </p:cNvPr>
            <p:cNvCxnSpPr>
              <a:cxnSpLocks noChangeShapeType="1"/>
            </p:cNvCxnSpPr>
            <p:nvPr/>
          </p:nvCxnSpPr>
          <p:spPr bwMode="auto">
            <a:xfrm flipV="1">
              <a:off x="3347864" y="5815112"/>
              <a:ext cx="0" cy="18000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13" name="直接连接符 14">
              <a:extLst>
                <a:ext uri="{FF2B5EF4-FFF2-40B4-BE49-F238E27FC236}">
                  <a16:creationId xmlns:a16="http://schemas.microsoft.com/office/drawing/2014/main" id="{E461FDB2-2A63-4269-9AB5-318EC2992445}"/>
                </a:ext>
              </a:extLst>
            </p:cNvPr>
            <p:cNvCxnSpPr>
              <a:cxnSpLocks noChangeShapeType="1"/>
            </p:cNvCxnSpPr>
            <p:nvPr/>
          </p:nvCxnSpPr>
          <p:spPr bwMode="auto">
            <a:xfrm flipV="1">
              <a:off x="6947864" y="5815112"/>
              <a:ext cx="0" cy="18000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14" name="直接连接符 16">
              <a:extLst>
                <a:ext uri="{FF2B5EF4-FFF2-40B4-BE49-F238E27FC236}">
                  <a16:creationId xmlns:a16="http://schemas.microsoft.com/office/drawing/2014/main" id="{A3F738CD-E4A1-4BFC-A6B6-31542E757CA8}"/>
                </a:ext>
              </a:extLst>
            </p:cNvPr>
            <p:cNvCxnSpPr>
              <a:cxnSpLocks noChangeShapeType="1"/>
            </p:cNvCxnSpPr>
            <p:nvPr/>
          </p:nvCxnSpPr>
          <p:spPr bwMode="auto">
            <a:xfrm flipV="1">
              <a:off x="5147864" y="5815112"/>
              <a:ext cx="0" cy="18000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15" name="直接连接符 5">
              <a:extLst>
                <a:ext uri="{FF2B5EF4-FFF2-40B4-BE49-F238E27FC236}">
                  <a16:creationId xmlns:a16="http://schemas.microsoft.com/office/drawing/2014/main" id="{8E721906-1A29-4548-9793-0097D42E0C11}"/>
                </a:ext>
              </a:extLst>
            </p:cNvPr>
            <p:cNvCxnSpPr>
              <a:cxnSpLocks noChangeShapeType="1"/>
            </p:cNvCxnSpPr>
            <p:nvPr/>
          </p:nvCxnSpPr>
          <p:spPr bwMode="auto">
            <a:xfrm flipV="1">
              <a:off x="3347864" y="4746626"/>
              <a:ext cx="0" cy="180975"/>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16" name="直接连接符 6">
              <a:extLst>
                <a:ext uri="{FF2B5EF4-FFF2-40B4-BE49-F238E27FC236}">
                  <a16:creationId xmlns:a16="http://schemas.microsoft.com/office/drawing/2014/main" id="{1B35A608-1F1B-4261-99D0-3423F72D5CB0}"/>
                </a:ext>
              </a:extLst>
            </p:cNvPr>
            <p:cNvCxnSpPr>
              <a:cxnSpLocks noChangeShapeType="1"/>
            </p:cNvCxnSpPr>
            <p:nvPr/>
          </p:nvCxnSpPr>
          <p:spPr bwMode="auto">
            <a:xfrm flipV="1">
              <a:off x="5147864" y="4746626"/>
              <a:ext cx="0" cy="180975"/>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17" name="直接连接符 7">
              <a:extLst>
                <a:ext uri="{FF2B5EF4-FFF2-40B4-BE49-F238E27FC236}">
                  <a16:creationId xmlns:a16="http://schemas.microsoft.com/office/drawing/2014/main" id="{9F1547ED-23AC-42ED-BF04-9674FB9B9B53}"/>
                </a:ext>
              </a:extLst>
            </p:cNvPr>
            <p:cNvCxnSpPr>
              <a:cxnSpLocks noChangeShapeType="1"/>
            </p:cNvCxnSpPr>
            <p:nvPr/>
          </p:nvCxnSpPr>
          <p:spPr bwMode="auto">
            <a:xfrm>
              <a:off x="3347864" y="4837114"/>
              <a:ext cx="1800000" cy="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sp>
          <p:nvSpPr>
            <p:cNvPr id="18" name="文本框 11">
              <a:extLst>
                <a:ext uri="{FF2B5EF4-FFF2-40B4-BE49-F238E27FC236}">
                  <a16:creationId xmlns:a16="http://schemas.microsoft.com/office/drawing/2014/main" id="{4826B586-543A-48EE-8368-626B2628CAC4}"/>
                </a:ext>
              </a:extLst>
            </p:cNvPr>
            <p:cNvSpPr txBox="1">
              <a:spLocks noChangeArrowheads="1"/>
            </p:cNvSpPr>
            <p:nvPr/>
          </p:nvSpPr>
          <p:spPr bwMode="auto">
            <a:xfrm>
              <a:off x="1827213" y="4652964"/>
              <a:ext cx="1290738" cy="38305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Arial" panose="020B0604020202020204" pitchFamily="34" charset="0"/>
                </a:rPr>
                <a:t>0.08</a:t>
              </a:r>
              <a:r>
                <a:rPr lang="zh-CN" altLang="en-US" sz="1600" b="0" dirty="0">
                  <a:solidFill>
                    <a:srgbClr val="2C3E50"/>
                  </a:solidFill>
                  <a:latin typeface="Arial" panose="020B0604020202020204" pitchFamily="34" charset="0"/>
                </a:rPr>
                <a:t> </a:t>
              </a:r>
              <a:r>
                <a:rPr lang="en-US" altLang="zh-CN" sz="1600" b="0" dirty="0">
                  <a:solidFill>
                    <a:srgbClr val="2C3E50"/>
                  </a:solidFill>
                  <a:latin typeface="Arial" panose="020B0604020202020204" pitchFamily="34" charset="0"/>
                </a:rPr>
                <a:t>Bond 1</a:t>
              </a:r>
              <a:endParaRPr lang="zh-CN" altLang="en-US" sz="1600" b="0" dirty="0">
                <a:solidFill>
                  <a:srgbClr val="2C3E50"/>
                </a:solidFill>
                <a:latin typeface="Arial" panose="020B0604020202020204" pitchFamily="34" charset="0"/>
              </a:endParaRPr>
            </a:p>
          </p:txBody>
        </p:sp>
        <p:sp>
          <p:nvSpPr>
            <p:cNvPr id="19" name="文本框 23">
              <a:extLst>
                <a:ext uri="{FF2B5EF4-FFF2-40B4-BE49-F238E27FC236}">
                  <a16:creationId xmlns:a16="http://schemas.microsoft.com/office/drawing/2014/main" id="{C6020C02-708A-4CCB-A1BB-4AB6DCE52E70}"/>
                </a:ext>
              </a:extLst>
            </p:cNvPr>
            <p:cNvSpPr txBox="1">
              <a:spLocks noChangeArrowheads="1"/>
            </p:cNvSpPr>
            <p:nvPr/>
          </p:nvSpPr>
          <p:spPr bwMode="auto">
            <a:xfrm>
              <a:off x="1827213" y="5157192"/>
              <a:ext cx="1290738" cy="38305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Arial" panose="020B0604020202020204" pitchFamily="34" charset="0"/>
                </a:rPr>
                <a:t>1.08</a:t>
              </a:r>
              <a:r>
                <a:rPr lang="zh-CN" altLang="en-US" sz="1600" b="0" dirty="0">
                  <a:solidFill>
                    <a:srgbClr val="2C3E50"/>
                  </a:solidFill>
                  <a:latin typeface="Arial" panose="020B0604020202020204" pitchFamily="34" charset="0"/>
                </a:rPr>
                <a:t> </a:t>
              </a:r>
              <a:r>
                <a:rPr lang="en-US" altLang="zh-CN" sz="1600" b="0" dirty="0">
                  <a:solidFill>
                    <a:srgbClr val="2C3E50"/>
                  </a:solidFill>
                  <a:latin typeface="Arial" panose="020B0604020202020204" pitchFamily="34" charset="0"/>
                </a:rPr>
                <a:t>Bond 2</a:t>
              </a:r>
              <a:endParaRPr lang="zh-CN" altLang="en-US" sz="1600" b="0" dirty="0">
                <a:solidFill>
                  <a:srgbClr val="2C3E50"/>
                </a:solidFill>
                <a:latin typeface="Arial" panose="020B0604020202020204" pitchFamily="34" charset="0"/>
              </a:endParaRPr>
            </a:p>
          </p:txBody>
        </p:sp>
        <p:sp>
          <p:nvSpPr>
            <p:cNvPr id="20" name="文本框 24">
              <a:extLst>
                <a:ext uri="{FF2B5EF4-FFF2-40B4-BE49-F238E27FC236}">
                  <a16:creationId xmlns:a16="http://schemas.microsoft.com/office/drawing/2014/main" id="{7D449FA2-2230-4810-81E3-BC4132665EB4}"/>
                </a:ext>
              </a:extLst>
            </p:cNvPr>
            <p:cNvSpPr txBox="1">
              <a:spLocks noChangeArrowheads="1"/>
            </p:cNvSpPr>
            <p:nvPr/>
          </p:nvSpPr>
          <p:spPr bwMode="auto">
            <a:xfrm>
              <a:off x="1987550" y="5710337"/>
              <a:ext cx="1005403" cy="38305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Arial" panose="020B0604020202020204" pitchFamily="34" charset="0"/>
                </a:rPr>
                <a:t>1</a:t>
              </a:r>
              <a:r>
                <a:rPr lang="zh-CN" altLang="en-US" sz="1600" b="0" dirty="0">
                  <a:solidFill>
                    <a:srgbClr val="2C3E50"/>
                  </a:solidFill>
                  <a:latin typeface="Arial" panose="020B0604020202020204" pitchFamily="34" charset="0"/>
                </a:rPr>
                <a:t> </a:t>
              </a:r>
              <a:r>
                <a:rPr lang="en-US" altLang="zh-CN" sz="1600" b="0" dirty="0">
                  <a:solidFill>
                    <a:srgbClr val="2C3E50"/>
                  </a:solidFill>
                  <a:latin typeface="Arial" panose="020B0604020202020204" pitchFamily="34" charset="0"/>
                </a:rPr>
                <a:t>Bond 3</a:t>
              </a:r>
              <a:endParaRPr lang="zh-CN" altLang="en-US" sz="1600" b="0" dirty="0">
                <a:solidFill>
                  <a:srgbClr val="2C3E50"/>
                </a:solidFill>
                <a:latin typeface="Arial" panose="020B0604020202020204" pitchFamily="34" charset="0"/>
              </a:endParaRPr>
            </a:p>
          </p:txBody>
        </p:sp>
        <p:sp>
          <p:nvSpPr>
            <p:cNvPr id="21" name="文本框 25">
              <a:extLst>
                <a:ext uri="{FF2B5EF4-FFF2-40B4-BE49-F238E27FC236}">
                  <a16:creationId xmlns:a16="http://schemas.microsoft.com/office/drawing/2014/main" id="{7CD82C6C-F9C5-4CDF-B92D-F78713F73A16}"/>
                </a:ext>
              </a:extLst>
            </p:cNvPr>
            <p:cNvSpPr txBox="1">
              <a:spLocks noChangeArrowheads="1"/>
            </p:cNvSpPr>
            <p:nvPr/>
          </p:nvSpPr>
          <p:spPr bwMode="auto">
            <a:xfrm>
              <a:off x="4788024" y="4419601"/>
              <a:ext cx="639919" cy="38305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Arial" panose="020B0604020202020204" pitchFamily="34" charset="0"/>
                </a:rPr>
                <a:t>$100</a:t>
              </a:r>
              <a:endParaRPr lang="zh-CN" altLang="en-US" sz="1600" b="0" dirty="0">
                <a:solidFill>
                  <a:srgbClr val="2C3E50"/>
                </a:solidFill>
                <a:latin typeface="Arial" panose="020B0604020202020204" pitchFamily="34" charset="0"/>
              </a:endParaRPr>
            </a:p>
          </p:txBody>
        </p:sp>
        <p:sp>
          <p:nvSpPr>
            <p:cNvPr id="22" name="文本框 26">
              <a:extLst>
                <a:ext uri="{FF2B5EF4-FFF2-40B4-BE49-F238E27FC236}">
                  <a16:creationId xmlns:a16="http://schemas.microsoft.com/office/drawing/2014/main" id="{C7FC6207-ECD8-4F3D-B355-F9A36E93F614}"/>
                </a:ext>
              </a:extLst>
            </p:cNvPr>
            <p:cNvSpPr txBox="1">
              <a:spLocks noChangeArrowheads="1"/>
            </p:cNvSpPr>
            <p:nvPr/>
          </p:nvSpPr>
          <p:spPr bwMode="auto">
            <a:xfrm>
              <a:off x="6588224" y="4895337"/>
              <a:ext cx="639919" cy="38305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Arial" panose="020B0604020202020204" pitchFamily="34" charset="0"/>
                </a:rPr>
                <a:t>$100</a:t>
              </a:r>
              <a:endParaRPr lang="zh-CN" altLang="en-US" sz="1600" b="0" dirty="0">
                <a:solidFill>
                  <a:srgbClr val="2C3E50"/>
                </a:solidFill>
                <a:latin typeface="Arial" panose="020B0604020202020204" pitchFamily="34" charset="0"/>
              </a:endParaRPr>
            </a:p>
          </p:txBody>
        </p:sp>
        <p:sp>
          <p:nvSpPr>
            <p:cNvPr id="23" name="文本框 27">
              <a:extLst>
                <a:ext uri="{FF2B5EF4-FFF2-40B4-BE49-F238E27FC236}">
                  <a16:creationId xmlns:a16="http://schemas.microsoft.com/office/drawing/2014/main" id="{6F56B55F-CA3E-4EA6-BE3E-2DB4885B1FCD}"/>
                </a:ext>
              </a:extLst>
            </p:cNvPr>
            <p:cNvSpPr txBox="1">
              <a:spLocks noChangeArrowheads="1"/>
            </p:cNvSpPr>
            <p:nvPr/>
          </p:nvSpPr>
          <p:spPr bwMode="auto">
            <a:xfrm>
              <a:off x="4932040" y="5445224"/>
              <a:ext cx="412292" cy="38305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Arial" panose="020B0604020202020204" pitchFamily="34" charset="0"/>
                </a:rPr>
                <a:t>$8</a:t>
              </a:r>
              <a:endParaRPr lang="zh-CN" altLang="en-US" sz="1600" b="0" dirty="0">
                <a:solidFill>
                  <a:srgbClr val="2C3E50"/>
                </a:solidFill>
                <a:latin typeface="Arial" panose="020B0604020202020204" pitchFamily="34" charset="0"/>
              </a:endParaRPr>
            </a:p>
          </p:txBody>
        </p:sp>
        <p:sp>
          <p:nvSpPr>
            <p:cNvPr id="24" name="文本框 28">
              <a:extLst>
                <a:ext uri="{FF2B5EF4-FFF2-40B4-BE49-F238E27FC236}">
                  <a16:creationId xmlns:a16="http://schemas.microsoft.com/office/drawing/2014/main" id="{AFB3C4C1-ADBF-4B96-B719-559EEBAD09DA}"/>
                </a:ext>
              </a:extLst>
            </p:cNvPr>
            <p:cNvSpPr txBox="1">
              <a:spLocks noChangeArrowheads="1"/>
            </p:cNvSpPr>
            <p:nvPr/>
          </p:nvSpPr>
          <p:spPr bwMode="auto">
            <a:xfrm>
              <a:off x="6435303" y="5467450"/>
              <a:ext cx="987771" cy="38305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b="0" dirty="0">
                  <a:solidFill>
                    <a:srgbClr val="2C3E50"/>
                  </a:solidFill>
                  <a:latin typeface="Arial" panose="020B0604020202020204" pitchFamily="34" charset="0"/>
                </a:rPr>
                <a:t>$8+$100</a:t>
              </a:r>
              <a:endParaRPr lang="zh-CN" altLang="en-US" sz="1600" b="0" dirty="0">
                <a:solidFill>
                  <a:srgbClr val="2C3E50"/>
                </a:solidFill>
                <a:latin typeface="Arial" panose="020B0604020202020204" pitchFamily="34" charset="0"/>
              </a:endParaRPr>
            </a:p>
          </p:txBody>
        </p:sp>
        <p:sp>
          <p:nvSpPr>
            <p:cNvPr id="25" name="左大括号 21">
              <a:extLst>
                <a:ext uri="{FF2B5EF4-FFF2-40B4-BE49-F238E27FC236}">
                  <a16:creationId xmlns:a16="http://schemas.microsoft.com/office/drawing/2014/main" id="{94814B90-C01E-4F69-BDA9-A1767069CB57}"/>
                </a:ext>
              </a:extLst>
            </p:cNvPr>
            <p:cNvSpPr>
              <a:spLocks/>
            </p:cNvSpPr>
            <p:nvPr/>
          </p:nvSpPr>
          <p:spPr bwMode="auto">
            <a:xfrm>
              <a:off x="1710661" y="4797152"/>
              <a:ext cx="180000" cy="612000"/>
            </a:xfrm>
            <a:prstGeom prst="leftBrace">
              <a:avLst>
                <a:gd name="adj1" fmla="val 21375"/>
                <a:gd name="adj2" fmla="val 50000"/>
              </a:avLst>
            </a:prstGeom>
            <a:noFill/>
            <a:ln w="9525">
              <a:solidFill>
                <a:srgbClr val="2C3E50"/>
              </a:solidFill>
              <a:round/>
              <a:headEnd/>
              <a:tailEnd/>
            </a:ln>
            <a:extLst>
              <a:ext uri="{909E8E84-426E-40DD-AFC4-6F175D3DCCD1}">
                <a14:hiddenFill xmlns:a14="http://schemas.microsoft.com/office/drawing/2010/main">
                  <a:solidFill>
                    <a:srgbClr val="FFFFFF"/>
                  </a:solidFill>
                </a14:hiddenFill>
              </a:ext>
            </a:extLst>
          </p:spPr>
          <p:txBody>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endParaRPr lang="zh-CN" altLang="en-US" sz="1600">
                <a:solidFill>
                  <a:srgbClr val="2C3E50"/>
                </a:solidFill>
              </a:endParaRPr>
            </a:p>
          </p:txBody>
        </p:sp>
        <p:sp>
          <p:nvSpPr>
            <p:cNvPr id="26" name="左弧形箭头 22">
              <a:extLst>
                <a:ext uri="{FF2B5EF4-FFF2-40B4-BE49-F238E27FC236}">
                  <a16:creationId xmlns:a16="http://schemas.microsoft.com/office/drawing/2014/main" id="{90372A53-43CA-47AC-9B88-67C2D3B8B9C7}"/>
                </a:ext>
              </a:extLst>
            </p:cNvPr>
            <p:cNvSpPr/>
            <p:nvPr/>
          </p:nvSpPr>
          <p:spPr bwMode="auto">
            <a:xfrm>
              <a:off x="1382713" y="5085184"/>
              <a:ext cx="360000" cy="900000"/>
            </a:xfrm>
            <a:prstGeom prst="curvedRightArrow">
              <a:avLst/>
            </a:prstGeom>
            <a:solidFill>
              <a:srgbClr val="2C3E50"/>
            </a:solidFill>
            <a:ln>
              <a:solidFill>
                <a:srgbClr val="2C3E50"/>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a:lstStyle/>
            <a:p>
              <a:pPr>
                <a:defRPr/>
              </a:pPr>
              <a:endParaRPr lang="zh-CN" altLang="en-US" sz="1600">
                <a:solidFill>
                  <a:srgbClr val="2C3E50"/>
                </a:solidFill>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241222810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Bond Replication</a:t>
            </a:r>
            <a:endParaRPr lang="zh-CN" altLang="en-US" sz="2800" dirty="0"/>
          </a:p>
        </p:txBody>
      </p:sp>
      <p:sp>
        <p:nvSpPr>
          <p:cNvPr id="3" name="文本占位符 2"/>
          <p:cNvSpPr>
            <a:spLocks noGrp="1"/>
          </p:cNvSpPr>
          <p:nvPr>
            <p:ph type="body" sz="quarter" idx="10"/>
          </p:nvPr>
        </p:nvSpPr>
        <p:spPr/>
        <p:txBody>
          <a:bodyPr>
            <a:normAutofit/>
          </a:bodyPr>
          <a:lstStyle/>
          <a:p>
            <a:pPr lvl="1"/>
            <a:r>
              <a:rPr lang="en-US" altLang="zh-CN" dirty="0"/>
              <a:t>Replicating Portfolio</a:t>
            </a:r>
          </a:p>
          <a:p>
            <a:endParaRPr lang="zh-CN" altLang="en-US" dirty="0">
              <a:latin typeface="+mn-lt"/>
              <a:ea typeface="+mn-ea"/>
              <a:cs typeface="+mn-ea"/>
              <a:sym typeface="+mn-lt"/>
            </a:endParaRPr>
          </a:p>
        </p:txBody>
      </p:sp>
      <p:graphicFrame>
        <p:nvGraphicFramePr>
          <p:cNvPr id="4" name="Group 48">
            <a:extLst>
              <a:ext uri="{FF2B5EF4-FFF2-40B4-BE49-F238E27FC236}">
                <a16:creationId xmlns:a16="http://schemas.microsoft.com/office/drawing/2014/main" id="{B03BE459-1F68-4DB6-88EE-CBAA27EF1F59}"/>
              </a:ext>
            </a:extLst>
          </p:cNvPr>
          <p:cNvGraphicFramePr>
            <a:graphicFrameLocks/>
          </p:cNvGraphicFramePr>
          <p:nvPr>
            <p:extLst>
              <p:ext uri="{D42A27DB-BD31-4B8C-83A1-F6EECF244321}">
                <p14:modId xmlns:p14="http://schemas.microsoft.com/office/powerpoint/2010/main" val="236770417"/>
              </p:ext>
            </p:extLst>
          </p:nvPr>
        </p:nvGraphicFramePr>
        <p:xfrm>
          <a:off x="846091" y="1753550"/>
          <a:ext cx="10499815" cy="3780000"/>
        </p:xfrm>
        <a:graphic>
          <a:graphicData uri="http://schemas.openxmlformats.org/drawingml/2006/table">
            <a:tbl>
              <a:tblPr/>
              <a:tblGrid>
                <a:gridCol w="2272687">
                  <a:extLst>
                    <a:ext uri="{9D8B030D-6E8A-4147-A177-3AD203B41FA5}">
                      <a16:colId xmlns:a16="http://schemas.microsoft.com/office/drawing/2014/main" val="20000"/>
                    </a:ext>
                  </a:extLst>
                </a:gridCol>
                <a:gridCol w="2499956">
                  <a:extLst>
                    <a:ext uri="{9D8B030D-6E8A-4147-A177-3AD203B41FA5}">
                      <a16:colId xmlns:a16="http://schemas.microsoft.com/office/drawing/2014/main" val="20001"/>
                    </a:ext>
                  </a:extLst>
                </a:gridCol>
                <a:gridCol w="1272705">
                  <a:extLst>
                    <a:ext uri="{9D8B030D-6E8A-4147-A177-3AD203B41FA5}">
                      <a16:colId xmlns:a16="http://schemas.microsoft.com/office/drawing/2014/main" val="20002"/>
                    </a:ext>
                  </a:extLst>
                </a:gridCol>
                <a:gridCol w="1409066">
                  <a:extLst>
                    <a:ext uri="{9D8B030D-6E8A-4147-A177-3AD203B41FA5}">
                      <a16:colId xmlns:a16="http://schemas.microsoft.com/office/drawing/2014/main" val="20003"/>
                    </a:ext>
                  </a:extLst>
                </a:gridCol>
                <a:gridCol w="1636335">
                  <a:extLst>
                    <a:ext uri="{9D8B030D-6E8A-4147-A177-3AD203B41FA5}">
                      <a16:colId xmlns:a16="http://schemas.microsoft.com/office/drawing/2014/main" val="20004"/>
                    </a:ext>
                  </a:extLst>
                </a:gridCol>
                <a:gridCol w="1409066">
                  <a:extLst>
                    <a:ext uri="{9D8B030D-6E8A-4147-A177-3AD203B41FA5}">
                      <a16:colId xmlns:a16="http://schemas.microsoft.com/office/drawing/2014/main" val="20005"/>
                    </a:ext>
                  </a:extLst>
                </a:gridCol>
              </a:tblGrid>
              <a:tr h="540000">
                <a:tc gridSpan="2">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Time = 0</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 year</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2 years</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900000">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-1,000,000.000</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(cost of 2-year, 8% coupon bonds)</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+80,000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(coupon)</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+1,080,000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(coupon)</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00000">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+76,923.20</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(proceeds 1-year, 0% coupon bonds)</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-80,000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(maturity)</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zh-CN"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zh-CN"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00000">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+925,927.20</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(proceed 2-year, 0% coupon bonds)</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zh-CN"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zh-CN"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-1,080,000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zh-CN"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0000">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+2,850.40</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Net </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zh-CN"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(maturity)</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1230593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a:xfrm>
            <a:off x="393599" y="813469"/>
            <a:ext cx="11404800" cy="2898767"/>
          </a:xfrm>
        </p:spPr>
        <p:txBody>
          <a:bodyPr>
            <a:normAutofit fontScale="92500"/>
          </a:bodyPr>
          <a:lstStyle/>
          <a:p>
            <a:r>
              <a:rPr lang="en-US" altLang="zh-CN" dirty="0"/>
              <a:t>Introduction</a:t>
            </a:r>
          </a:p>
          <a:p>
            <a:pPr lvl="1"/>
            <a:r>
              <a:rPr lang="en-US" altLang="zh-CN" dirty="0"/>
              <a:t>Price changes are based on interest rate factors, which are random variables that impacts interest rates in some ways. </a:t>
            </a:r>
          </a:p>
          <a:p>
            <a:pPr lvl="1"/>
            <a:r>
              <a:rPr lang="en-US" altLang="zh-CN" dirty="0"/>
              <a:t>This is a </a:t>
            </a:r>
            <a:r>
              <a:rPr lang="en-US" altLang="zh-CN" b="1" dirty="0"/>
              <a:t>one-factor approach </a:t>
            </a:r>
            <a:r>
              <a:rPr lang="en-US" altLang="zh-CN" dirty="0"/>
              <a:t>which </a:t>
            </a:r>
            <a:r>
              <a:rPr lang="en-US" altLang="zh-CN" u="sng" dirty="0"/>
              <a:t>assumes that a change in one rate (e.g., 10-year rate) will impact all other rates along the curve in a similar fashion.</a:t>
            </a:r>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AE0716FE-AC07-4311-AC35-60AA3FE24C5D}"/>
              </a:ext>
            </a:extLst>
          </p:cNvPr>
          <p:cNvGrpSpPr/>
          <p:nvPr/>
        </p:nvGrpSpPr>
        <p:grpSpPr>
          <a:xfrm>
            <a:off x="3647727" y="3712236"/>
            <a:ext cx="4896544" cy="2808312"/>
            <a:chOff x="2195736" y="1124744"/>
            <a:chExt cx="4896544" cy="2808312"/>
          </a:xfrm>
        </p:grpSpPr>
        <p:grpSp>
          <p:nvGrpSpPr>
            <p:cNvPr id="5" name="组合 41">
              <a:extLst>
                <a:ext uri="{FF2B5EF4-FFF2-40B4-BE49-F238E27FC236}">
                  <a16:creationId xmlns:a16="http://schemas.microsoft.com/office/drawing/2014/main" id="{E1225688-F915-471F-ADDE-35FA59945C1D}"/>
                </a:ext>
              </a:extLst>
            </p:cNvPr>
            <p:cNvGrpSpPr>
              <a:grpSpLocks/>
            </p:cNvGrpSpPr>
            <p:nvPr/>
          </p:nvGrpSpPr>
          <p:grpSpPr bwMode="auto">
            <a:xfrm>
              <a:off x="2195736" y="1196082"/>
              <a:ext cx="4743227" cy="2736974"/>
              <a:chOff x="-232868" y="1201912"/>
              <a:chExt cx="7470796" cy="4854982"/>
            </a:xfrm>
          </p:grpSpPr>
          <p:sp>
            <p:nvSpPr>
              <p:cNvPr id="7" name="文本框 12">
                <a:extLst>
                  <a:ext uri="{FF2B5EF4-FFF2-40B4-BE49-F238E27FC236}">
                    <a16:creationId xmlns:a16="http://schemas.microsoft.com/office/drawing/2014/main" id="{270C816F-2EDB-4880-B6E1-185BA719B596}"/>
                  </a:ext>
                </a:extLst>
              </p:cNvPr>
              <p:cNvSpPr txBox="1">
                <a:spLocks noChangeArrowheads="1"/>
              </p:cNvSpPr>
              <p:nvPr/>
            </p:nvSpPr>
            <p:spPr bwMode="auto">
              <a:xfrm>
                <a:off x="444250" y="1201912"/>
                <a:ext cx="1995098" cy="6005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Bond Price</a:t>
                </a:r>
                <a:endParaRPr lang="zh-CN" altLang="en-US" sz="160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8" name="文本框 14">
                <a:extLst>
                  <a:ext uri="{FF2B5EF4-FFF2-40B4-BE49-F238E27FC236}">
                    <a16:creationId xmlns:a16="http://schemas.microsoft.com/office/drawing/2014/main" id="{BC6016BE-A0E1-4181-88EA-A86000E94634}"/>
                  </a:ext>
                </a:extLst>
              </p:cNvPr>
              <p:cNvSpPr txBox="1">
                <a:spLocks noChangeArrowheads="1"/>
              </p:cNvSpPr>
              <p:nvPr/>
            </p:nvSpPr>
            <p:spPr bwMode="auto">
              <a:xfrm>
                <a:off x="2836314" y="1201912"/>
                <a:ext cx="4186426" cy="6005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10-year, 6% coupon bond</a:t>
                </a:r>
                <a:endParaRPr lang="zh-CN" altLang="en-US" sz="160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grpSp>
            <p:nvGrpSpPr>
              <p:cNvPr id="9" name="组合 24">
                <a:extLst>
                  <a:ext uri="{FF2B5EF4-FFF2-40B4-BE49-F238E27FC236}">
                    <a16:creationId xmlns:a16="http://schemas.microsoft.com/office/drawing/2014/main" id="{AA72580E-00A0-4208-939C-7693B7D65F93}"/>
                  </a:ext>
                </a:extLst>
              </p:cNvPr>
              <p:cNvGrpSpPr>
                <a:grpSpLocks/>
              </p:cNvGrpSpPr>
              <p:nvPr/>
            </p:nvGrpSpPr>
            <p:grpSpPr bwMode="auto">
              <a:xfrm>
                <a:off x="-232868" y="1790163"/>
                <a:ext cx="7470796" cy="4266731"/>
                <a:chOff x="-232868" y="1790163"/>
                <a:chExt cx="7470796" cy="4266731"/>
              </a:xfrm>
            </p:grpSpPr>
            <p:grpSp>
              <p:nvGrpSpPr>
                <p:cNvPr id="10" name="组合 15">
                  <a:extLst>
                    <a:ext uri="{FF2B5EF4-FFF2-40B4-BE49-F238E27FC236}">
                      <a16:creationId xmlns:a16="http://schemas.microsoft.com/office/drawing/2014/main" id="{F9371550-4109-4051-8482-928964A8325D}"/>
                    </a:ext>
                  </a:extLst>
                </p:cNvPr>
                <p:cNvGrpSpPr>
                  <a:grpSpLocks/>
                </p:cNvGrpSpPr>
                <p:nvPr/>
              </p:nvGrpSpPr>
              <p:grpSpPr bwMode="auto">
                <a:xfrm>
                  <a:off x="579550" y="1790163"/>
                  <a:ext cx="6658378" cy="3103809"/>
                  <a:chOff x="5434885" y="1790163"/>
                  <a:chExt cx="3928057" cy="3103809"/>
                </a:xfrm>
              </p:grpSpPr>
              <p:sp>
                <p:nvSpPr>
                  <p:cNvPr id="20" name="矩形 19">
                    <a:extLst>
                      <a:ext uri="{FF2B5EF4-FFF2-40B4-BE49-F238E27FC236}">
                        <a16:creationId xmlns:a16="http://schemas.microsoft.com/office/drawing/2014/main" id="{6118B4DA-36BC-41F0-A8EB-47B42D512777}"/>
                      </a:ext>
                    </a:extLst>
                  </p:cNvPr>
                  <p:cNvSpPr>
                    <a:spLocks noChangeArrowheads="1"/>
                  </p:cNvSpPr>
                  <p:nvPr/>
                </p:nvSpPr>
                <p:spPr bwMode="auto">
                  <a:xfrm>
                    <a:off x="5434800" y="1790454"/>
                    <a:ext cx="3925192" cy="3103218"/>
                  </a:xfrm>
                  <a:prstGeom prst="rect">
                    <a:avLst/>
                  </a:prstGeom>
                  <a:noFill/>
                  <a:ln w="19050">
                    <a:solidFill>
                      <a:srgbClr val="2C3E50"/>
                    </a:solidFill>
                    <a:round/>
                    <a:headEnd/>
                    <a:tailEnd/>
                  </a:ln>
                  <a:effectLst/>
                  <a:extLst/>
                </p:spPr>
                <p:txBody>
                  <a:bodyPr/>
                  <a:lstStyle/>
                  <a:p>
                    <a:pPr eaLnBrk="1" hangingPunct="1">
                      <a:buFont typeface="Arial" pitchFamily="34" charset="0"/>
                      <a:buNone/>
                      <a:defRPr/>
                    </a:pPr>
                    <a:endParaRPr lang="zh-CN" altLang="en-US" sz="1600">
                      <a:solidFill>
                        <a:srgbClr val="2C3E50"/>
                      </a:solidFill>
                      <a:latin typeface="Segoe UI" panose="020B0502040204020203" pitchFamily="34" charset="0"/>
                      <a:cs typeface="Segoe UI" panose="020B0502040204020203" pitchFamily="34" charset="0"/>
                    </a:endParaRPr>
                  </a:p>
                </p:txBody>
              </p:sp>
              <p:sp>
                <p:nvSpPr>
                  <p:cNvPr id="21" name="任意多边形 36">
                    <a:extLst>
                      <a:ext uri="{FF2B5EF4-FFF2-40B4-BE49-F238E27FC236}">
                        <a16:creationId xmlns:a16="http://schemas.microsoft.com/office/drawing/2014/main" id="{9F8B043E-1E9D-499E-AADB-A280AC4681D1}"/>
                      </a:ext>
                    </a:extLst>
                  </p:cNvPr>
                  <p:cNvSpPr>
                    <a:spLocks/>
                  </p:cNvSpPr>
                  <p:nvPr/>
                </p:nvSpPr>
                <p:spPr bwMode="auto">
                  <a:xfrm>
                    <a:off x="5435303" y="1790544"/>
                    <a:ext cx="3927639" cy="2807210"/>
                  </a:xfrm>
                  <a:custGeom>
                    <a:avLst/>
                    <a:gdLst>
                      <a:gd name="T0" fmla="*/ 0 w 3928057"/>
                      <a:gd name="T1" fmla="*/ 0 h 2807594"/>
                      <a:gd name="T2" fmla="*/ 990411 w 3928057"/>
                      <a:gd name="T3" fmla="*/ 1941518 h 2807594"/>
                      <a:gd name="T4" fmla="*/ 3923041 w 3928057"/>
                      <a:gd name="T5" fmla="*/ 2802988 h 2807594"/>
                      <a:gd name="T6" fmla="*/ 0 60000 65536"/>
                      <a:gd name="T7" fmla="*/ 0 60000 65536"/>
                      <a:gd name="T8" fmla="*/ 0 60000 65536"/>
                    </a:gdLst>
                    <a:ahLst/>
                    <a:cxnLst>
                      <a:cxn ang="T6">
                        <a:pos x="T0" y="T1"/>
                      </a:cxn>
                      <a:cxn ang="T7">
                        <a:pos x="T2" y="T3"/>
                      </a:cxn>
                      <a:cxn ang="T8">
                        <a:pos x="T4" y="T5"/>
                      </a:cxn>
                    </a:cxnLst>
                    <a:rect l="0" t="0" r="r" b="b"/>
                    <a:pathLst>
                      <a:path w="3928057" h="2807594">
                        <a:moveTo>
                          <a:pt x="0" y="0"/>
                        </a:moveTo>
                        <a:cubicBezTo>
                          <a:pt x="168499" y="738389"/>
                          <a:pt x="336998" y="1476778"/>
                          <a:pt x="991674" y="1944710"/>
                        </a:cubicBezTo>
                        <a:cubicBezTo>
                          <a:pt x="1646350" y="2412642"/>
                          <a:pt x="2787203" y="2610118"/>
                          <a:pt x="3928057" y="2807594"/>
                        </a:cubicBezTo>
                      </a:path>
                    </a:pathLst>
                  </a:custGeom>
                  <a:noFill/>
                  <a:ln w="19050" cap="flat" cmpd="sng">
                    <a:solidFill>
                      <a:srgbClr val="2C3E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Lst>
                </p:spPr>
                <p:txBody>
                  <a:bodyPr/>
                  <a:lstStyle/>
                  <a:p>
                    <a:endParaRPr lang="zh-CN" altLang="en-US">
                      <a:solidFill>
                        <a:srgbClr val="2C3E50"/>
                      </a:solidFill>
                      <a:latin typeface="Segoe UI" panose="020B0502040204020203" pitchFamily="34" charset="0"/>
                      <a:cs typeface="Segoe UI" panose="020B0502040204020203" pitchFamily="34" charset="0"/>
                    </a:endParaRPr>
                  </a:p>
                </p:txBody>
              </p:sp>
              <p:cxnSp>
                <p:nvCxnSpPr>
                  <p:cNvPr id="22" name="直接连接符 21">
                    <a:extLst>
                      <a:ext uri="{FF2B5EF4-FFF2-40B4-BE49-F238E27FC236}">
                        <a16:creationId xmlns:a16="http://schemas.microsoft.com/office/drawing/2014/main" id="{E04E25B6-9D7D-42E7-AE79-434C0A0C234F}"/>
                      </a:ext>
                    </a:extLst>
                  </p:cNvPr>
                  <p:cNvCxnSpPr>
                    <a:cxnSpLocks noChangeShapeType="1"/>
                  </p:cNvCxnSpPr>
                  <p:nvPr/>
                </p:nvCxnSpPr>
                <p:spPr bwMode="auto">
                  <a:xfrm>
                    <a:off x="5434800" y="3192816"/>
                    <a:ext cx="489727" cy="0"/>
                  </a:xfrm>
                  <a:prstGeom prst="line">
                    <a:avLst/>
                  </a:prstGeom>
                  <a:noFill/>
                  <a:ln w="19050">
                    <a:solidFill>
                      <a:srgbClr val="2C3E50"/>
                    </a:solidFill>
                    <a:prstDash val="lgDash"/>
                    <a:round/>
                    <a:headEnd/>
                    <a:tailEnd/>
                  </a:ln>
                  <a:effectLst/>
                </p:spPr>
              </p:cxnSp>
              <p:cxnSp>
                <p:nvCxnSpPr>
                  <p:cNvPr id="23" name="直接连接符 22">
                    <a:extLst>
                      <a:ext uri="{FF2B5EF4-FFF2-40B4-BE49-F238E27FC236}">
                        <a16:creationId xmlns:a16="http://schemas.microsoft.com/office/drawing/2014/main" id="{02BF6E83-BA0A-419B-AE8D-1C92513DAC35}"/>
                      </a:ext>
                    </a:extLst>
                  </p:cNvPr>
                  <p:cNvCxnSpPr>
                    <a:cxnSpLocks noChangeShapeType="1"/>
                  </p:cNvCxnSpPr>
                  <p:nvPr/>
                </p:nvCxnSpPr>
                <p:spPr bwMode="auto">
                  <a:xfrm>
                    <a:off x="5924527" y="3192816"/>
                    <a:ext cx="0" cy="1700856"/>
                  </a:xfrm>
                  <a:prstGeom prst="line">
                    <a:avLst/>
                  </a:prstGeom>
                  <a:noFill/>
                  <a:ln w="19050">
                    <a:solidFill>
                      <a:srgbClr val="2C3E50"/>
                    </a:solidFill>
                    <a:prstDash val="lgDash"/>
                    <a:round/>
                    <a:headEnd/>
                    <a:tailEnd/>
                  </a:ln>
                  <a:effectLst/>
                </p:spPr>
              </p:cxnSp>
            </p:grpSp>
            <p:sp>
              <p:nvSpPr>
                <p:cNvPr id="11" name="文本框 13">
                  <a:extLst>
                    <a:ext uri="{FF2B5EF4-FFF2-40B4-BE49-F238E27FC236}">
                      <a16:creationId xmlns:a16="http://schemas.microsoft.com/office/drawing/2014/main" id="{326B0F53-CBFE-4101-BE45-BC1AD7D432DC}"/>
                    </a:ext>
                  </a:extLst>
                </p:cNvPr>
                <p:cNvSpPr txBox="1">
                  <a:spLocks noChangeArrowheads="1"/>
                </p:cNvSpPr>
                <p:nvPr/>
              </p:nvSpPr>
              <p:spPr bwMode="auto">
                <a:xfrm>
                  <a:off x="2942776" y="5456350"/>
                  <a:ext cx="1051429" cy="6005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Yield</a:t>
                  </a:r>
                  <a:endParaRPr lang="zh-CN" altLang="en-US" sz="160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12" name="文本框 16">
                  <a:extLst>
                    <a:ext uri="{FF2B5EF4-FFF2-40B4-BE49-F238E27FC236}">
                      <a16:creationId xmlns:a16="http://schemas.microsoft.com/office/drawing/2014/main" id="{13977561-FFFB-4914-9A08-3192639CE61F}"/>
                    </a:ext>
                  </a:extLst>
                </p:cNvPr>
                <p:cNvSpPr txBox="1">
                  <a:spLocks noChangeArrowheads="1"/>
                </p:cNvSpPr>
                <p:nvPr/>
              </p:nvSpPr>
              <p:spPr bwMode="auto">
                <a:xfrm>
                  <a:off x="-232868" y="2159110"/>
                  <a:ext cx="851364" cy="6005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150</a:t>
                  </a:r>
                  <a:endParaRPr lang="zh-CN" altLang="en-US" sz="160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13" name="文本框 17">
                  <a:extLst>
                    <a:ext uri="{FF2B5EF4-FFF2-40B4-BE49-F238E27FC236}">
                      <a16:creationId xmlns:a16="http://schemas.microsoft.com/office/drawing/2014/main" id="{EC0E8FFE-8D23-4CDE-85BE-CB835022AC01}"/>
                    </a:ext>
                  </a:extLst>
                </p:cNvPr>
                <p:cNvSpPr txBox="1">
                  <a:spLocks noChangeArrowheads="1"/>
                </p:cNvSpPr>
                <p:nvPr/>
              </p:nvSpPr>
              <p:spPr bwMode="auto">
                <a:xfrm>
                  <a:off x="-232868" y="2973759"/>
                  <a:ext cx="851364" cy="6005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a:solidFill>
                        <a:srgbClr val="2C3E50"/>
                      </a:solidFill>
                      <a:latin typeface="Segoe UI" panose="020B0502040204020203" pitchFamily="34" charset="0"/>
                      <a:ea typeface="Segoe UI" panose="020B0502040204020203" pitchFamily="34" charset="0"/>
                      <a:cs typeface="Segoe UI" panose="020B0502040204020203" pitchFamily="34" charset="0"/>
                    </a:rPr>
                    <a:t>100</a:t>
                  </a:r>
                  <a:endParaRPr lang="zh-CN" altLang="en-US" sz="160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14" name="文本框 18">
                  <a:extLst>
                    <a:ext uri="{FF2B5EF4-FFF2-40B4-BE49-F238E27FC236}">
                      <a16:creationId xmlns:a16="http://schemas.microsoft.com/office/drawing/2014/main" id="{98C3BEFC-4684-4709-87CE-33FE70AC9D3B}"/>
                    </a:ext>
                  </a:extLst>
                </p:cNvPr>
                <p:cNvSpPr txBox="1">
                  <a:spLocks noChangeArrowheads="1"/>
                </p:cNvSpPr>
                <p:nvPr/>
              </p:nvSpPr>
              <p:spPr bwMode="auto">
                <a:xfrm>
                  <a:off x="-53606" y="3818447"/>
                  <a:ext cx="664527" cy="6005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a:solidFill>
                        <a:srgbClr val="2C3E50"/>
                      </a:solidFill>
                      <a:latin typeface="Segoe UI" panose="020B0502040204020203" pitchFamily="34" charset="0"/>
                      <a:ea typeface="Segoe UI" panose="020B0502040204020203" pitchFamily="34" charset="0"/>
                      <a:cs typeface="Segoe UI" panose="020B0502040204020203" pitchFamily="34" charset="0"/>
                    </a:rPr>
                    <a:t>50</a:t>
                  </a:r>
                  <a:endParaRPr lang="zh-CN" altLang="en-US" sz="160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15" name="文本框 19">
                  <a:extLst>
                    <a:ext uri="{FF2B5EF4-FFF2-40B4-BE49-F238E27FC236}">
                      <a16:creationId xmlns:a16="http://schemas.microsoft.com/office/drawing/2014/main" id="{329EC55D-82D9-498A-BDC7-867FA2DB0B78}"/>
                    </a:ext>
                  </a:extLst>
                </p:cNvPr>
                <p:cNvSpPr txBox="1">
                  <a:spLocks noChangeArrowheads="1"/>
                </p:cNvSpPr>
                <p:nvPr/>
              </p:nvSpPr>
              <p:spPr bwMode="auto">
                <a:xfrm>
                  <a:off x="88062" y="4663139"/>
                  <a:ext cx="477692" cy="6005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a:solidFill>
                        <a:srgbClr val="2C3E50"/>
                      </a:solidFill>
                      <a:latin typeface="Segoe UI" panose="020B0502040204020203" pitchFamily="34" charset="0"/>
                      <a:ea typeface="Segoe UI" panose="020B0502040204020203" pitchFamily="34" charset="0"/>
                      <a:cs typeface="Segoe UI" panose="020B0502040204020203" pitchFamily="34" charset="0"/>
                    </a:rPr>
                    <a:t>0</a:t>
                  </a:r>
                  <a:endParaRPr lang="zh-CN" altLang="en-US" sz="160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16" name="文本框 20">
                  <a:extLst>
                    <a:ext uri="{FF2B5EF4-FFF2-40B4-BE49-F238E27FC236}">
                      <a16:creationId xmlns:a16="http://schemas.microsoft.com/office/drawing/2014/main" id="{63B5524D-76BB-480C-BA4F-D91D87FB4FA8}"/>
                    </a:ext>
                  </a:extLst>
                </p:cNvPr>
                <p:cNvSpPr txBox="1">
                  <a:spLocks noChangeArrowheads="1"/>
                </p:cNvSpPr>
                <p:nvPr/>
              </p:nvSpPr>
              <p:spPr bwMode="auto">
                <a:xfrm>
                  <a:off x="1204734" y="4916248"/>
                  <a:ext cx="477692" cy="6005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6</a:t>
                  </a:r>
                  <a:endParaRPr lang="zh-CN" altLang="en-US" sz="160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17" name="文本框 21">
                  <a:extLst>
                    <a:ext uri="{FF2B5EF4-FFF2-40B4-BE49-F238E27FC236}">
                      <a16:creationId xmlns:a16="http://schemas.microsoft.com/office/drawing/2014/main" id="{F4C43B52-4839-4582-84EF-BC2BE7136765}"/>
                    </a:ext>
                  </a:extLst>
                </p:cNvPr>
                <p:cNvSpPr txBox="1">
                  <a:spLocks noChangeArrowheads="1"/>
                </p:cNvSpPr>
                <p:nvPr/>
              </p:nvSpPr>
              <p:spPr bwMode="auto">
                <a:xfrm>
                  <a:off x="1833627" y="4916248"/>
                  <a:ext cx="664527" cy="6005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a:solidFill>
                        <a:srgbClr val="2C3E50"/>
                      </a:solidFill>
                      <a:latin typeface="Segoe UI" panose="020B0502040204020203" pitchFamily="34" charset="0"/>
                      <a:ea typeface="Segoe UI" panose="020B0502040204020203" pitchFamily="34" charset="0"/>
                      <a:cs typeface="Segoe UI" panose="020B0502040204020203" pitchFamily="34" charset="0"/>
                    </a:rPr>
                    <a:t>10</a:t>
                  </a:r>
                  <a:endParaRPr lang="zh-CN" altLang="en-US" sz="160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18" name="文本框 22">
                  <a:extLst>
                    <a:ext uri="{FF2B5EF4-FFF2-40B4-BE49-F238E27FC236}">
                      <a16:creationId xmlns:a16="http://schemas.microsoft.com/office/drawing/2014/main" id="{8CAC815B-77FD-4ADF-B9AC-A78329EFD4CA}"/>
                    </a:ext>
                  </a:extLst>
                </p:cNvPr>
                <p:cNvSpPr txBox="1">
                  <a:spLocks noChangeArrowheads="1"/>
                </p:cNvSpPr>
                <p:nvPr/>
              </p:nvSpPr>
              <p:spPr bwMode="auto">
                <a:xfrm>
                  <a:off x="3364440" y="4916248"/>
                  <a:ext cx="664527" cy="6005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a:solidFill>
                        <a:srgbClr val="2C3E50"/>
                      </a:solidFill>
                      <a:latin typeface="Segoe UI" panose="020B0502040204020203" pitchFamily="34" charset="0"/>
                      <a:ea typeface="Segoe UI" panose="020B0502040204020203" pitchFamily="34" charset="0"/>
                      <a:cs typeface="Segoe UI" panose="020B0502040204020203" pitchFamily="34" charset="0"/>
                    </a:rPr>
                    <a:t>20</a:t>
                  </a:r>
                  <a:endParaRPr lang="zh-CN" altLang="en-US" sz="160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19" name="文本框 23">
                  <a:extLst>
                    <a:ext uri="{FF2B5EF4-FFF2-40B4-BE49-F238E27FC236}">
                      <a16:creationId xmlns:a16="http://schemas.microsoft.com/office/drawing/2014/main" id="{6AFBAEEC-66CC-432D-8660-C35F23BD1AA5}"/>
                    </a:ext>
                  </a:extLst>
                </p:cNvPr>
                <p:cNvSpPr txBox="1">
                  <a:spLocks noChangeArrowheads="1"/>
                </p:cNvSpPr>
                <p:nvPr/>
              </p:nvSpPr>
              <p:spPr bwMode="auto">
                <a:xfrm>
                  <a:off x="5139548" y="4916248"/>
                  <a:ext cx="664527" cy="6005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600">
                      <a:solidFill>
                        <a:srgbClr val="2C3E50"/>
                      </a:solidFill>
                      <a:latin typeface="Segoe UI" panose="020B0502040204020203" pitchFamily="34" charset="0"/>
                      <a:ea typeface="Segoe UI" panose="020B0502040204020203" pitchFamily="34" charset="0"/>
                      <a:cs typeface="Segoe UI" panose="020B0502040204020203" pitchFamily="34" charset="0"/>
                    </a:rPr>
                    <a:t>30</a:t>
                  </a:r>
                  <a:endParaRPr lang="zh-CN" altLang="en-US" sz="160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grpSp>
        </p:grpSp>
        <p:sp>
          <p:nvSpPr>
            <p:cNvPr id="6" name="圆角矩形 21">
              <a:extLst>
                <a:ext uri="{FF2B5EF4-FFF2-40B4-BE49-F238E27FC236}">
                  <a16:creationId xmlns:a16="http://schemas.microsoft.com/office/drawing/2014/main" id="{90F2AF2F-D994-4F44-8768-9532087030DD}"/>
                </a:ext>
              </a:extLst>
            </p:cNvPr>
            <p:cNvSpPr/>
            <p:nvPr/>
          </p:nvSpPr>
          <p:spPr>
            <a:xfrm>
              <a:off x="2195736" y="1124744"/>
              <a:ext cx="4896544" cy="2808312"/>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4557498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Macaulay Duration</a:t>
            </a:r>
          </a:p>
          <a:p>
            <a:pPr lvl="1"/>
            <a:r>
              <a:rPr lang="en-US" altLang="zh-CN" b="1" dirty="0"/>
              <a:t>The weighted-average time to receipt of cash flows.</a:t>
            </a:r>
          </a:p>
          <a:p>
            <a:pPr lvl="1"/>
            <a:endParaRPr lang="en-US" altLang="zh-CN" b="1" dirty="0"/>
          </a:p>
          <a:p>
            <a:pPr lvl="1"/>
            <a:endParaRPr lang="en-US" altLang="zh-CN" b="1" dirty="0"/>
          </a:p>
          <a:p>
            <a:pPr lvl="1"/>
            <a:endParaRPr lang="en-US" altLang="zh-CN" b="1" dirty="0"/>
          </a:p>
          <a:p>
            <a:pPr lvl="1"/>
            <a:endParaRPr lang="en-US" altLang="zh-CN" b="1" dirty="0"/>
          </a:p>
          <a:p>
            <a:pPr lvl="1"/>
            <a:endParaRPr lang="en-US" altLang="zh-CN" b="1" dirty="0"/>
          </a:p>
          <a:p>
            <a:pPr lvl="1"/>
            <a:r>
              <a:rPr lang="en-US" altLang="zh-CN" dirty="0"/>
              <a:t>For a </a:t>
            </a:r>
            <a:r>
              <a:rPr lang="en-US" altLang="zh-CN" u="sng" dirty="0"/>
              <a:t>zero coupon bond, the Macaulay duration equals to its maturity</a:t>
            </a:r>
            <a:r>
              <a:rPr lang="en-US" altLang="zh-CN" dirty="0"/>
              <a:t>.</a:t>
            </a:r>
          </a:p>
          <a:p>
            <a:pPr lvl="1"/>
            <a:r>
              <a:rPr lang="en-US" altLang="zh-CN" dirty="0"/>
              <a:t>For a plain bond, the Macaulay duration is less than or equal to its maturity.</a:t>
            </a:r>
          </a:p>
          <a:p>
            <a:pPr lvl="1"/>
            <a:r>
              <a:rPr lang="en-US" altLang="zh-CN" dirty="0"/>
              <a:t>For </a:t>
            </a:r>
            <a:r>
              <a:rPr lang="en-US" altLang="zh-CN" dirty="0" err="1"/>
              <a:t>consol</a:t>
            </a:r>
            <a:r>
              <a:rPr lang="en-US" altLang="zh-CN" dirty="0"/>
              <a:t>, the Macaulay duration is 1+1/y.</a:t>
            </a:r>
          </a:p>
          <a:p>
            <a:endParaRPr lang="zh-CN" altLang="en-US" dirty="0">
              <a:latin typeface="+mn-lt"/>
              <a:ea typeface="+mn-ea"/>
              <a:cs typeface="+mn-ea"/>
              <a:sym typeface="+mn-lt"/>
            </a:endParaRPr>
          </a:p>
        </p:txBody>
      </p:sp>
      <p:graphicFrame>
        <p:nvGraphicFramePr>
          <p:cNvPr id="4" name="对象 3">
            <a:extLst>
              <a:ext uri="{FF2B5EF4-FFF2-40B4-BE49-F238E27FC236}">
                <a16:creationId xmlns:a16="http://schemas.microsoft.com/office/drawing/2014/main" id="{2FFED350-F9ED-48AE-8696-94455A784292}"/>
              </a:ext>
            </a:extLst>
          </p:cNvPr>
          <p:cNvGraphicFramePr>
            <a:graphicFrameLocks/>
          </p:cNvGraphicFramePr>
          <p:nvPr>
            <p:extLst>
              <p:ext uri="{D42A27DB-BD31-4B8C-83A1-F6EECF244321}">
                <p14:modId xmlns:p14="http://schemas.microsoft.com/office/powerpoint/2010/main" val="3536503616"/>
              </p:ext>
            </p:extLst>
          </p:nvPr>
        </p:nvGraphicFramePr>
        <p:xfrm>
          <a:off x="4318793" y="2132629"/>
          <a:ext cx="3554412" cy="1979613"/>
        </p:xfrm>
        <a:graphic>
          <a:graphicData uri="http://schemas.openxmlformats.org/presentationml/2006/ole">
            <mc:AlternateContent xmlns:mc="http://schemas.openxmlformats.org/markup-compatibility/2006">
              <mc:Choice xmlns:v="urn:schemas-microsoft-com:vml" Requires="v">
                <p:oleObj spid="_x0000_s24582" name="Equation" r:id="rId4" imgW="1993680" imgH="1130040" progId="Equation.DSMT4">
                  <p:embed/>
                </p:oleObj>
              </mc:Choice>
              <mc:Fallback>
                <p:oleObj name="Equation" r:id="rId4" imgW="1993680" imgH="1130040" progId="Equation.DSMT4">
                  <p:embed/>
                  <p:pic>
                    <p:nvPicPr>
                      <p:cNvPr id="52228" name="对象 3"/>
                      <p:cNvPicPr>
                        <a:picLocks noChangeAspect="1" noChangeArrowheads="1"/>
                      </p:cNvPicPr>
                      <p:nvPr/>
                    </p:nvPicPr>
                    <p:blipFill>
                      <a:blip r:embed="rId5"/>
                      <a:srcRect/>
                      <a:stretch>
                        <a:fillRect/>
                      </a:stretch>
                    </p:blipFill>
                    <p:spPr bwMode="auto">
                      <a:xfrm>
                        <a:off x="4318793" y="2132629"/>
                        <a:ext cx="3554412" cy="1979613"/>
                      </a:xfrm>
                      <a:prstGeom prst="rect">
                        <a:avLst/>
                      </a:prstGeom>
                      <a:noFill/>
                      <a:ln w="19050">
                        <a:solidFill>
                          <a:schemeClr val="accent1">
                            <a:lumMod val="75000"/>
                          </a:schemeClr>
                        </a:solidFill>
                        <a:miter lim="800000"/>
                        <a:headEnd/>
                        <a:tailEnd/>
                      </a:ln>
                      <a:extLst/>
                    </p:spPr>
                  </p:pic>
                </p:oleObj>
              </mc:Fallback>
            </mc:AlternateContent>
          </a:graphicData>
        </a:graphic>
      </p:graphicFrame>
    </p:spTree>
    <p:extLst>
      <p:ext uri="{BB962C8B-B14F-4D97-AF65-F5344CB8AC3E}">
        <p14:creationId xmlns:p14="http://schemas.microsoft.com/office/powerpoint/2010/main" val="428644062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Example</a:t>
            </a:r>
            <a:endParaRPr lang="zh-CN" altLang="en-US" dirty="0"/>
          </a:p>
          <a:p>
            <a:endParaRPr lang="zh-CN" altLang="en-US" dirty="0">
              <a:latin typeface="+mn-lt"/>
              <a:ea typeface="+mn-ea"/>
              <a:cs typeface="+mn-ea"/>
              <a:sym typeface="+mn-lt"/>
            </a:endParaRPr>
          </a:p>
        </p:txBody>
      </p:sp>
      <p:graphicFrame>
        <p:nvGraphicFramePr>
          <p:cNvPr id="4" name="表格 3">
            <a:extLst>
              <a:ext uri="{FF2B5EF4-FFF2-40B4-BE49-F238E27FC236}">
                <a16:creationId xmlns:a16="http://schemas.microsoft.com/office/drawing/2014/main" id="{7C8EF513-59EA-4B41-978B-01918B1B31A4}"/>
              </a:ext>
            </a:extLst>
          </p:cNvPr>
          <p:cNvGraphicFramePr>
            <a:graphicFrameLocks noGrp="1"/>
          </p:cNvGraphicFramePr>
          <p:nvPr>
            <p:extLst>
              <p:ext uri="{D42A27DB-BD31-4B8C-83A1-F6EECF244321}">
                <p14:modId xmlns:p14="http://schemas.microsoft.com/office/powerpoint/2010/main" val="1869473939"/>
              </p:ext>
            </p:extLst>
          </p:nvPr>
        </p:nvGraphicFramePr>
        <p:xfrm>
          <a:off x="2024061" y="1868045"/>
          <a:ext cx="8143875" cy="4176486"/>
        </p:xfrm>
        <a:graphic>
          <a:graphicData uri="http://schemas.openxmlformats.org/drawingml/2006/table">
            <a:tbl>
              <a:tblPr/>
              <a:tblGrid>
                <a:gridCol w="922337">
                  <a:extLst>
                    <a:ext uri="{9D8B030D-6E8A-4147-A177-3AD203B41FA5}">
                      <a16:colId xmlns:a16="http://schemas.microsoft.com/office/drawing/2014/main" val="20000"/>
                    </a:ext>
                  </a:extLst>
                </a:gridCol>
                <a:gridCol w="1055688">
                  <a:extLst>
                    <a:ext uri="{9D8B030D-6E8A-4147-A177-3AD203B41FA5}">
                      <a16:colId xmlns:a16="http://schemas.microsoft.com/office/drawing/2014/main" val="20001"/>
                    </a:ext>
                  </a:extLst>
                </a:gridCol>
                <a:gridCol w="1108075">
                  <a:extLst>
                    <a:ext uri="{9D8B030D-6E8A-4147-A177-3AD203B41FA5}">
                      <a16:colId xmlns:a16="http://schemas.microsoft.com/office/drawing/2014/main" val="20002"/>
                    </a:ext>
                  </a:extLst>
                </a:gridCol>
                <a:gridCol w="1390650">
                  <a:extLst>
                    <a:ext uri="{9D8B030D-6E8A-4147-A177-3AD203B41FA5}">
                      <a16:colId xmlns:a16="http://schemas.microsoft.com/office/drawing/2014/main" val="20003"/>
                    </a:ext>
                  </a:extLst>
                </a:gridCol>
                <a:gridCol w="900112">
                  <a:extLst>
                    <a:ext uri="{9D8B030D-6E8A-4147-A177-3AD203B41FA5}">
                      <a16:colId xmlns:a16="http://schemas.microsoft.com/office/drawing/2014/main" val="20004"/>
                    </a:ext>
                  </a:extLst>
                </a:gridCol>
                <a:gridCol w="1023938">
                  <a:extLst>
                    <a:ext uri="{9D8B030D-6E8A-4147-A177-3AD203B41FA5}">
                      <a16:colId xmlns:a16="http://schemas.microsoft.com/office/drawing/2014/main" val="20005"/>
                    </a:ext>
                  </a:extLst>
                </a:gridCol>
                <a:gridCol w="1743075">
                  <a:extLst>
                    <a:ext uri="{9D8B030D-6E8A-4147-A177-3AD203B41FA5}">
                      <a16:colId xmlns:a16="http://schemas.microsoft.com/office/drawing/2014/main" val="20006"/>
                    </a:ext>
                  </a:extLst>
                </a:gridCol>
              </a:tblGrid>
              <a:tr h="825142">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Period</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Coupon</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Principal</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Discount</a:t>
                      </a:r>
                      <a:b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b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Factor</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PV </a:t>
                      </a:r>
                    </a:p>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of CF</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Weight</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Time*Weight</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18918">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0.5</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5.00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0.942</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4.71</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0.050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0.025</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18918">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1.0</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5.00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0.887</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4.44</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0.047</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0.047</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18918">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1.5</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5.00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0.835</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4.18</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0.044</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0.066</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18918">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2.0</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5.00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0.787</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3.94</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0.042</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0.084</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18918">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2.5</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5.00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0.741</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3.71</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0.039</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0.098</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18918">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3.0</a:t>
                      </a: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5.00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100.00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0.698</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73.29</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0.778</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2.333</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18918">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94.25</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dirty="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2.653</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418918">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dirty="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dirty="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dirty="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　</a:t>
                      </a:r>
                      <a:endParaRPr kumimoji="0" lang="zh-CN" altLang="en-US" sz="20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Duration</a:t>
                      </a:r>
                    </a:p>
                  </a:txBody>
                  <a:tcPr marL="36000" marR="36000" marT="36000" marB="3600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15516705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a:xfrm>
            <a:off x="393599" y="813469"/>
            <a:ext cx="11404800" cy="5982131"/>
          </a:xfrm>
        </p:spPr>
        <p:txBody>
          <a:bodyPr>
            <a:normAutofit fontScale="92500" lnSpcReduction="20000"/>
          </a:bodyPr>
          <a:lstStyle/>
          <a:p>
            <a:r>
              <a:rPr lang="en-US" altLang="zh-CN" dirty="0"/>
              <a:t>Modified Duration</a:t>
            </a:r>
          </a:p>
          <a:p>
            <a:pPr lvl="1"/>
            <a:r>
              <a:rPr lang="en-US" altLang="zh-CN" dirty="0"/>
              <a:t>Expresses the measurable </a:t>
            </a:r>
            <a:r>
              <a:rPr lang="en-US" altLang="zh-CN" u="sng" dirty="0"/>
              <a:t>change in the value of a security in response to a change in interest rates</a:t>
            </a:r>
            <a:r>
              <a:rPr lang="en-US" altLang="zh-CN" dirty="0"/>
              <a:t>.</a:t>
            </a:r>
          </a:p>
          <a:p>
            <a:pPr lvl="1"/>
            <a:endParaRPr lang="en-US" altLang="zh-CN" u="sng" dirty="0"/>
          </a:p>
          <a:p>
            <a:pPr lvl="1"/>
            <a:endParaRPr lang="en-US" altLang="zh-CN" u="sng" dirty="0"/>
          </a:p>
          <a:p>
            <a:pPr lvl="1"/>
            <a:endParaRPr lang="en-US" altLang="zh-CN" u="sng" dirty="0"/>
          </a:p>
          <a:p>
            <a:pPr lvl="1"/>
            <a:endParaRPr lang="en-US" altLang="zh-CN" u="sng" dirty="0"/>
          </a:p>
          <a:p>
            <a:pPr lvl="1"/>
            <a:endParaRPr lang="en-US" altLang="zh-CN" u="sng" dirty="0"/>
          </a:p>
          <a:p>
            <a:pPr lvl="1"/>
            <a:endParaRPr lang="en-US" altLang="zh-CN" u="sng" dirty="0"/>
          </a:p>
          <a:p>
            <a:pPr lvl="1"/>
            <a:endParaRPr lang="en-US" altLang="zh-CN" u="sng" dirty="0"/>
          </a:p>
          <a:p>
            <a:endParaRPr lang="en-US" altLang="zh-CN" dirty="0"/>
          </a:p>
          <a:p>
            <a:endParaRPr lang="en-US" altLang="zh-CN" dirty="0"/>
          </a:p>
          <a:p>
            <a:r>
              <a:rPr lang="en-US" altLang="zh-CN" dirty="0"/>
              <a:t>Dollar Duration: DD = Modified Duration × Bond Value</a:t>
            </a:r>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EDD3A924-5E8D-4B66-91F1-564E29B495D6}"/>
                  </a:ext>
                </a:extLst>
              </p:cNvPr>
              <p:cNvSpPr/>
              <p:nvPr/>
            </p:nvSpPr>
            <p:spPr>
              <a:xfrm>
                <a:off x="1358034" y="2440460"/>
                <a:ext cx="2793778"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r>
                        <a:rPr lang="zh-CN" altLang="en-US" i="0">
                          <a:latin typeface="Cambria Math" panose="02040503050406030204" pitchFamily="18" charset="0"/>
                        </a:rPr>
                        <m:t>=</m:t>
                      </m:r>
                      <m:r>
                        <a:rPr lang="zh-CN" altLang="en-US" i="1">
                          <a:latin typeface="Cambria Math" panose="02040503050406030204" pitchFamily="18" charset="0"/>
                        </a:rPr>
                        <m:t>𝑓</m:t>
                      </m:r>
                      <m:r>
                        <a:rPr lang="zh-CN" altLang="en-US" i="0">
                          <a:latin typeface="Cambria Math" panose="02040503050406030204" pitchFamily="18" charset="0"/>
                        </a:rPr>
                        <m:t>(</m:t>
                      </m:r>
                      <m:r>
                        <a:rPr lang="zh-CN" altLang="en-US" i="1">
                          <a:latin typeface="Cambria Math" panose="02040503050406030204" pitchFamily="18" charset="0"/>
                        </a:rPr>
                        <m:t>𝑦</m:t>
                      </m:r>
                      <m:r>
                        <a:rPr lang="zh-CN" altLang="en-US" i="0">
                          <a:latin typeface="Cambria Math" panose="02040503050406030204" pitchFamily="18" charset="0"/>
                        </a:rPr>
                        <m:t>)=</m:t>
                      </m:r>
                      <m:nary>
                        <m:naryPr>
                          <m:chr m:val="∑"/>
                          <m:grow m:val="on"/>
                          <m:subHide m:val="on"/>
                          <m:supHide m:val="on"/>
                          <m:ctrlPr>
                            <a:rPr lang="zh-CN" altLang="en-US" i="1">
                              <a:latin typeface="Cambria Math" panose="02040503050406030204" pitchFamily="18" charset="0"/>
                            </a:rPr>
                          </m:ctrlPr>
                        </m:naryPr>
                        <m:sub/>
                        <m:sup/>
                        <m:e>
                          <m:f>
                            <m:fPr>
                              <m:ctrlPr>
                                <a:rPr lang="zh-CN" altLang="en-US" i="1">
                                  <a:latin typeface="Cambria Math" panose="02040503050406030204" pitchFamily="18" charset="0"/>
                                </a:rPr>
                              </m:ctrlPr>
                            </m:fPr>
                            <m:num>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𝐹</m:t>
                                  </m:r>
                                </m:e>
                                <m:sub>
                                  <m:r>
                                    <a:rPr lang="zh-CN" altLang="en-US" i="1">
                                      <a:latin typeface="Cambria Math" panose="02040503050406030204" pitchFamily="18" charset="0"/>
                                    </a:rPr>
                                    <m:t>𝑡</m:t>
                                  </m:r>
                                </m:sub>
                              </m:sSub>
                            </m:num>
                            <m:den>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𝑦</m:t>
                                      </m:r>
                                    </m:e>
                                  </m:d>
                                </m:e>
                                <m:sup>
                                  <m:r>
                                    <a:rPr lang="zh-CN" altLang="en-US" i="1">
                                      <a:latin typeface="Cambria Math" panose="02040503050406030204" pitchFamily="18" charset="0"/>
                                    </a:rPr>
                                    <m:t>𝑡</m:t>
                                  </m:r>
                                </m:sup>
                              </m:sSup>
                            </m:den>
                          </m:f>
                        </m:e>
                      </m:nary>
                    </m:oMath>
                  </m:oMathPara>
                </a14:m>
                <a:endParaRPr lang="zh-CN" altLang="en-US" dirty="0"/>
              </a:p>
            </p:txBody>
          </p:sp>
        </mc:Choice>
        <mc:Fallback xmlns="">
          <p:sp>
            <p:nvSpPr>
              <p:cNvPr id="4" name="矩形 3">
                <a:extLst>
                  <a:ext uri="{FF2B5EF4-FFF2-40B4-BE49-F238E27FC236}">
                    <a16:creationId xmlns:a16="http://schemas.microsoft.com/office/drawing/2014/main" id="{EDD3A924-5E8D-4B66-91F1-564E29B495D6}"/>
                  </a:ext>
                </a:extLst>
              </p:cNvPr>
              <p:cNvSpPr>
                <a:spLocks noRot="1" noChangeAspect="1" noMove="1" noResize="1" noEditPoints="1" noAdjustHandles="1" noChangeArrowheads="1" noChangeShapeType="1" noTextEdit="1"/>
              </p:cNvSpPr>
              <p:nvPr/>
            </p:nvSpPr>
            <p:spPr>
              <a:xfrm>
                <a:off x="1358034" y="2440460"/>
                <a:ext cx="2793778" cy="98854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87F2C9C-E865-44E7-A179-D826462CBAED}"/>
                  </a:ext>
                </a:extLst>
              </p:cNvPr>
              <p:cNvSpPr/>
              <p:nvPr/>
            </p:nvSpPr>
            <p:spPr>
              <a:xfrm>
                <a:off x="951376" y="3279159"/>
                <a:ext cx="2793778" cy="276537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i="1">
                              <a:latin typeface="Cambria Math" panose="02040503050406030204" pitchFamily="18" charset="0"/>
                            </a:rPr>
                          </m:ctrlPr>
                        </m:mPr>
                        <m:mr>
                          <m:e>
                            <m:f>
                              <m:fPr>
                                <m:ctrlPr>
                                  <a:rPr lang="zh-CN" altLang="en-US" i="1">
                                    <a:latin typeface="Cambria Math" panose="02040503050406030204" pitchFamily="18" charset="0"/>
                                  </a:rPr>
                                </m:ctrlPr>
                              </m:fPr>
                              <m:num>
                                <m:r>
                                  <a:rPr lang="zh-CN" altLang="en-US" i="1">
                                    <a:latin typeface="Cambria Math" panose="02040503050406030204" pitchFamily="18" charset="0"/>
                                  </a:rPr>
                                  <m:t>𝛥</m:t>
                                </m:r>
                                <m:r>
                                  <a:rPr lang="zh-CN" altLang="en-US" i="1">
                                    <a:latin typeface="Cambria Math" panose="02040503050406030204" pitchFamily="18" charset="0"/>
                                  </a:rPr>
                                  <m:t>𝑃</m:t>
                                </m:r>
                              </m:num>
                              <m:den>
                                <m:r>
                                  <a:rPr lang="zh-CN" altLang="en-US" i="1">
                                    <a:latin typeface="Cambria Math" panose="02040503050406030204" pitchFamily="18" charset="0"/>
                                  </a:rPr>
                                  <m:t>𝛥</m:t>
                                </m:r>
                                <m:r>
                                  <a:rPr lang="zh-CN" altLang="en-US" i="1">
                                    <a:latin typeface="Cambria Math" panose="02040503050406030204" pitchFamily="18" charset="0"/>
                                  </a:rPr>
                                  <m:t>𝑦</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𝑑𝑃</m:t>
                                </m:r>
                              </m:num>
                              <m:den>
                                <m:r>
                                  <a:rPr lang="zh-CN" altLang="en-US" i="1">
                                    <a:latin typeface="Cambria Math" panose="02040503050406030204" pitchFamily="18" charset="0"/>
                                  </a:rPr>
                                  <m:t>𝑑𝑦</m:t>
                                </m:r>
                              </m:den>
                            </m:f>
                            <m:r>
                              <a:rPr lang="zh-CN" altLang="en-US" i="0">
                                <a:latin typeface="Cambria Math" panose="02040503050406030204" pitchFamily="18" charset="0"/>
                              </a:rPr>
                              <m:t>=−</m:t>
                            </m:r>
                            <m:nary>
                              <m:naryPr>
                                <m:chr m:val="∑"/>
                                <m:grow m:val="on"/>
                                <m:subHide m:val="on"/>
                                <m:supHide m:val="on"/>
                                <m:ctrlPr>
                                  <a:rPr lang="zh-CN" altLang="en-US" i="1">
                                    <a:latin typeface="Cambria Math" panose="02040503050406030204" pitchFamily="18" charset="0"/>
                                  </a:rPr>
                                </m:ctrlPr>
                              </m:naryPr>
                              <m:sub/>
                              <m:sup/>
                              <m:e>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𝑡</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𝐹</m:t>
                                            </m:r>
                                          </m:e>
                                          <m:sub>
                                            <m:r>
                                              <a:rPr lang="zh-CN" altLang="en-US" i="1">
                                                <a:latin typeface="Cambria Math" panose="02040503050406030204" pitchFamily="18" charset="0"/>
                                              </a:rPr>
                                              <m:t>𝑡</m:t>
                                            </m:r>
                                          </m:sub>
                                        </m:sSub>
                                      </m:num>
                                      <m:den>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𝑦</m:t>
                                                </m:r>
                                              </m:e>
                                            </m:d>
                                          </m:e>
                                          <m:sup>
                                            <m:r>
                                              <a:rPr lang="zh-CN" altLang="en-US" i="1">
                                                <a:latin typeface="Cambria Math" panose="02040503050406030204" pitchFamily="18" charset="0"/>
                                              </a:rPr>
                                              <m:t>𝑡</m:t>
                                            </m:r>
                                            <m:r>
                                              <a:rPr lang="zh-CN" altLang="en-US" i="0">
                                                <a:latin typeface="Cambria Math" panose="02040503050406030204" pitchFamily="18" charset="0"/>
                                              </a:rPr>
                                              <m:t>+1</m:t>
                                            </m:r>
                                          </m:sup>
                                        </m:sSup>
                                      </m:den>
                                    </m:f>
                                  </m:e>
                                </m:d>
                              </m:e>
                            </m:nary>
                          </m:e>
                        </m:mr>
                        <m:mr>
                          <m:e>
                            <m:r>
                              <m:rPr>
                                <m:nor/>
                              </m:rPr>
                              <a:rPr lang="zh-CN" altLang="en-US" i="1">
                                <a:latin typeface="Cambria Math" panose="02040503050406030204" pitchFamily="18" charset="0"/>
                              </a:rPr>
                              <m:t>            </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1+</m:t>
                                </m:r>
                                <m:r>
                                  <a:rPr lang="zh-CN" altLang="en-US" i="1">
                                    <a:latin typeface="Cambria Math" panose="02040503050406030204" pitchFamily="18" charset="0"/>
                                  </a:rPr>
                                  <m:t>𝑦</m:t>
                                </m:r>
                              </m:den>
                            </m:f>
                            <m:nary>
                              <m:naryPr>
                                <m:chr m:val="∑"/>
                                <m:grow m:val="on"/>
                                <m:subHide m:val="on"/>
                                <m:supHide m:val="on"/>
                                <m:ctrlPr>
                                  <a:rPr lang="zh-CN" altLang="en-US" i="1">
                                    <a:latin typeface="Cambria Math" panose="02040503050406030204" pitchFamily="18" charset="0"/>
                                  </a:rPr>
                                </m:ctrlPr>
                              </m:naryPr>
                              <m:sub/>
                              <m:sup/>
                              <m:e>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𝑡</m:t>
                                    </m:r>
                                    <m:r>
                                      <a:rPr lang="zh-CN" altLang="en-US" i="0">
                                        <a:latin typeface="Cambria Math" panose="02040503050406030204" pitchFamily="18" charset="0"/>
                                      </a:rPr>
                                      <m:t>×</m:t>
                                    </m:r>
                                    <m:f>
                                      <m:fPr>
                                        <m:type m:val="lin"/>
                                        <m:ctrlPr>
                                          <a:rPr lang="zh-CN" altLang="en-US" i="1">
                                            <a:latin typeface="Cambria Math" panose="02040503050406030204" pitchFamily="18" charset="0"/>
                                          </a:rPr>
                                        </m:ctrlPr>
                                      </m:fPr>
                                      <m:num>
                                        <m:f>
                                          <m:fPr>
                                            <m:ctrlPr>
                                              <a:rPr lang="zh-CN" altLang="en-US" i="1">
                                                <a:latin typeface="Cambria Math" panose="02040503050406030204" pitchFamily="18" charset="0"/>
                                              </a:rPr>
                                            </m:ctrlPr>
                                          </m:fPr>
                                          <m:num>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𝐹</m:t>
                                                </m:r>
                                              </m:e>
                                              <m:sub>
                                                <m:r>
                                                  <a:rPr lang="zh-CN" altLang="en-US" i="1">
                                                    <a:latin typeface="Cambria Math" panose="02040503050406030204" pitchFamily="18" charset="0"/>
                                                  </a:rPr>
                                                  <m:t>𝑡</m:t>
                                                </m:r>
                                              </m:sub>
                                            </m:sSub>
                                          </m:num>
                                          <m:den>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𝑦</m:t>
                                                    </m:r>
                                                  </m:e>
                                                </m:d>
                                              </m:e>
                                              <m:sup>
                                                <m:r>
                                                  <a:rPr lang="zh-CN" altLang="en-US" i="1">
                                                    <a:latin typeface="Cambria Math" panose="02040503050406030204" pitchFamily="18" charset="0"/>
                                                  </a:rPr>
                                                  <m:t>𝑡</m:t>
                                                </m:r>
                                              </m:sup>
                                            </m:sSup>
                                          </m:den>
                                        </m:f>
                                      </m:num>
                                      <m:den>
                                        <m:r>
                                          <a:rPr lang="zh-CN" altLang="en-US" i="1">
                                            <a:latin typeface="Cambria Math" panose="02040503050406030204" pitchFamily="18" charset="0"/>
                                          </a:rPr>
                                          <m:t>𝑃</m:t>
                                        </m:r>
                                      </m:den>
                                    </m:f>
                                  </m:e>
                                </m:d>
                              </m:e>
                            </m:nary>
                            <m:r>
                              <a:rPr lang="zh-CN" altLang="en-US" i="0">
                                <a:latin typeface="Cambria Math" panose="02040503050406030204" pitchFamily="18" charset="0"/>
                              </a:rPr>
                              <m:t>×</m:t>
                            </m:r>
                            <m:r>
                              <a:rPr lang="zh-CN" altLang="en-US" i="1">
                                <a:latin typeface="Cambria Math" panose="02040503050406030204" pitchFamily="18" charset="0"/>
                              </a:rPr>
                              <m:t>𝑃</m:t>
                            </m:r>
                          </m:e>
                        </m:mr>
                        <m:mr>
                          <m:e>
                            <m:r>
                              <m:rPr>
                                <m:nor/>
                              </m:rPr>
                              <a:rPr lang="zh-CN" altLang="en-US" i="1">
                                <a:latin typeface="Cambria Math" panose="02040503050406030204" pitchFamily="18" charset="0"/>
                              </a:rPr>
                              <m:t>            </m:t>
                            </m:r>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𝑀𝑎𝑐𝑎𝑢𝑙𝑎𝑦</m:t>
                                    </m:r>
                                  </m:sub>
                                </m:sSub>
                              </m:num>
                              <m:den>
                                <m:r>
                                  <a:rPr lang="zh-CN" altLang="en-US" i="0">
                                    <a:latin typeface="Cambria Math" panose="02040503050406030204" pitchFamily="18" charset="0"/>
                                  </a:rPr>
                                  <m:t>1+</m:t>
                                </m:r>
                                <m:r>
                                  <a:rPr lang="zh-CN" altLang="en-US" i="1">
                                    <a:latin typeface="Cambria Math" panose="02040503050406030204" pitchFamily="18" charset="0"/>
                                  </a:rPr>
                                  <m:t>𝑦</m:t>
                                </m:r>
                              </m:den>
                            </m:f>
                            <m:r>
                              <a:rPr lang="zh-CN" altLang="en-US" i="0">
                                <a:latin typeface="Cambria Math" panose="02040503050406030204" pitchFamily="18" charset="0"/>
                              </a:rPr>
                              <m:t>×</m:t>
                            </m:r>
                            <m:r>
                              <a:rPr lang="zh-CN" altLang="en-US" i="1">
                                <a:latin typeface="Cambria Math" panose="02040503050406030204" pitchFamily="18" charset="0"/>
                              </a:rPr>
                              <m:t>𝑃</m:t>
                            </m:r>
                          </m:e>
                        </m:mr>
                        <m:mr>
                          <m:e>
                            <m:r>
                              <m:rPr>
                                <m:nor/>
                              </m:rPr>
                              <a:rPr lang="zh-CN" altLang="en-US" i="1">
                                <a:latin typeface="Cambria Math" panose="02040503050406030204" pitchFamily="18" charset="0"/>
                              </a:rPr>
                              <m:t>            </m:t>
                            </m:r>
                            <m:r>
                              <a:rPr lang="zh-CN" altLang="en-US" i="0">
                                <a:latin typeface="Cambria Math" panose="02040503050406030204" pitchFamily="18" charset="0"/>
                              </a:rPr>
                              <m:t>=−</m:t>
                            </m:r>
                            <m:r>
                              <a:rPr lang="zh-CN" altLang="en-US" i="1">
                                <a:latin typeface="Cambria Math" panose="02040503050406030204" pitchFamily="18" charset="0"/>
                              </a:rPr>
                              <m:t>𝑀𝐷</m:t>
                            </m:r>
                            <m:r>
                              <a:rPr lang="zh-CN" altLang="en-US" i="0">
                                <a:latin typeface="Cambria Math" panose="02040503050406030204" pitchFamily="18" charset="0"/>
                              </a:rPr>
                              <m:t>×</m:t>
                            </m:r>
                            <m:r>
                              <a:rPr lang="zh-CN" altLang="en-US" i="1">
                                <a:latin typeface="Cambria Math" panose="02040503050406030204" pitchFamily="18" charset="0"/>
                              </a:rPr>
                              <m:t>𝑃</m:t>
                            </m:r>
                          </m:e>
                        </m:mr>
                      </m:m>
                    </m:oMath>
                  </m:oMathPara>
                </a14:m>
                <a:endParaRPr lang="zh-CN" altLang="en-US" dirty="0"/>
              </a:p>
            </p:txBody>
          </p:sp>
        </mc:Choice>
        <mc:Fallback xmlns="">
          <p:sp>
            <p:nvSpPr>
              <p:cNvPr id="5" name="矩形 4">
                <a:extLst>
                  <a:ext uri="{FF2B5EF4-FFF2-40B4-BE49-F238E27FC236}">
                    <a16:creationId xmlns:a16="http://schemas.microsoft.com/office/drawing/2014/main" id="{B87F2C9C-E865-44E7-A179-D826462CBAED}"/>
                  </a:ext>
                </a:extLst>
              </p:cNvPr>
              <p:cNvSpPr>
                <a:spLocks noRot="1" noChangeAspect="1" noMove="1" noResize="1" noEditPoints="1" noAdjustHandles="1" noChangeArrowheads="1" noChangeShapeType="1" noTextEdit="1"/>
              </p:cNvSpPr>
              <p:nvPr/>
            </p:nvSpPr>
            <p:spPr>
              <a:xfrm>
                <a:off x="951376" y="3279159"/>
                <a:ext cx="2793778" cy="2765372"/>
              </a:xfrm>
              <a:prstGeom prst="rect">
                <a:avLst/>
              </a:prstGeom>
              <a:blipFill>
                <a:blip r:embed="rId4"/>
                <a:stretch>
                  <a:fillRect r="-543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19ECF43D-458A-43C5-B890-3C96C865A2B0}"/>
                  </a:ext>
                </a:extLst>
              </p:cNvPr>
              <p:cNvSpPr/>
              <p:nvPr/>
            </p:nvSpPr>
            <p:spPr>
              <a:xfrm>
                <a:off x="7713319" y="3167885"/>
                <a:ext cx="1829732" cy="1273297"/>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𝑀𝐷</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𝛥</m:t>
                                </m:r>
                                <m:r>
                                  <a:rPr lang="zh-CN" altLang="en-US" i="1">
                                    <a:latin typeface="Cambria Math" panose="02040503050406030204" pitchFamily="18" charset="0"/>
                                  </a:rPr>
                                  <m:t>𝑃</m:t>
                                </m:r>
                              </m:num>
                              <m:den>
                                <m:r>
                                  <a:rPr lang="zh-CN" altLang="en-US" i="1">
                                    <a:latin typeface="Cambria Math" panose="02040503050406030204" pitchFamily="18" charset="0"/>
                                  </a:rPr>
                                  <m:t>𝛥</m:t>
                                </m:r>
                                <m:r>
                                  <a:rPr lang="zh-CN" altLang="en-US" i="1">
                                    <a:latin typeface="Cambria Math" panose="02040503050406030204" pitchFamily="18" charset="0"/>
                                  </a:rPr>
                                  <m:t>𝑦</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1">
                                    <a:latin typeface="Cambria Math" panose="02040503050406030204" pitchFamily="18" charset="0"/>
                                  </a:rPr>
                                  <m:t>𝑃</m:t>
                                </m:r>
                              </m:den>
                            </m:f>
                          </m:e>
                        </m:mr>
                        <m:mr>
                          <m:e>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𝑀𝑎𝑐𝑎𝑢𝑙𝑎𝑦</m:t>
                                    </m:r>
                                  </m:sub>
                                </m:sSub>
                              </m:num>
                              <m:den>
                                <m:r>
                                  <a:rPr lang="zh-CN" altLang="en-US" i="0">
                                    <a:latin typeface="Cambria Math" panose="02040503050406030204" pitchFamily="18" charset="0"/>
                                  </a:rPr>
                                  <m:t>1+</m:t>
                                </m:r>
                                <m:r>
                                  <a:rPr lang="zh-CN" altLang="en-US" i="1">
                                    <a:latin typeface="Cambria Math" panose="02040503050406030204" pitchFamily="18" charset="0"/>
                                  </a:rPr>
                                  <m:t>𝑦</m:t>
                                </m:r>
                              </m:den>
                            </m:f>
                          </m:e>
                        </m:mr>
                      </m:m>
                    </m:oMath>
                  </m:oMathPara>
                </a14:m>
                <a:endParaRPr lang="zh-CN" altLang="en-US" dirty="0"/>
              </a:p>
            </p:txBody>
          </p:sp>
        </mc:Choice>
        <mc:Fallback xmlns="">
          <p:sp>
            <p:nvSpPr>
              <p:cNvPr id="6" name="矩形 5">
                <a:extLst>
                  <a:ext uri="{FF2B5EF4-FFF2-40B4-BE49-F238E27FC236}">
                    <a16:creationId xmlns:a16="http://schemas.microsoft.com/office/drawing/2014/main" id="{19ECF43D-458A-43C5-B890-3C96C865A2B0}"/>
                  </a:ext>
                </a:extLst>
              </p:cNvPr>
              <p:cNvSpPr>
                <a:spLocks noRot="1" noChangeAspect="1" noMove="1" noResize="1" noEditPoints="1" noAdjustHandles="1" noChangeArrowheads="1" noChangeShapeType="1" noTextEdit="1"/>
              </p:cNvSpPr>
              <p:nvPr/>
            </p:nvSpPr>
            <p:spPr>
              <a:xfrm>
                <a:off x="7713319" y="3167885"/>
                <a:ext cx="1829732" cy="1273297"/>
              </a:xfrm>
              <a:prstGeom prst="rect">
                <a:avLst/>
              </a:prstGeom>
              <a:blipFill>
                <a:blip r:embed="rId5"/>
                <a:stretch>
                  <a:fillRect/>
                </a:stretch>
              </a:blipFill>
              <a:ln>
                <a:solidFill>
                  <a:schemeClr val="accent1">
                    <a:lumMod val="75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166146685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a:bodyPr>
          <a:lstStyle/>
          <a:p>
            <a:pPr>
              <a:defRPr/>
            </a:pPr>
            <a:r>
              <a:rPr lang="en-US" altLang="zh-CN" dirty="0"/>
              <a:t>DV01</a:t>
            </a:r>
          </a:p>
          <a:p>
            <a:pPr lvl="1">
              <a:defRPr/>
            </a:pPr>
            <a:r>
              <a:rPr lang="en-US" altLang="zh-CN" dirty="0"/>
              <a:t>The DV01 is the </a:t>
            </a:r>
            <a:r>
              <a:rPr lang="en-US" altLang="zh-CN" u="sng" dirty="0"/>
              <a:t>absolute value of the price change of a bond from one basis point change in yield</a:t>
            </a:r>
            <a:r>
              <a:rPr lang="en-US" altLang="zh-CN" dirty="0"/>
              <a:t>.</a:t>
            </a:r>
            <a:r>
              <a:rPr lang="en-US" altLang="zh-CN" u="sng" dirty="0"/>
              <a:t> </a:t>
            </a:r>
          </a:p>
          <a:p>
            <a:pPr lvl="1">
              <a:defRPr/>
            </a:pPr>
            <a:endParaRPr lang="en-US" altLang="zh-CN" b="1" dirty="0"/>
          </a:p>
          <a:p>
            <a:pPr lvl="1">
              <a:defRPr/>
            </a:pPr>
            <a:endParaRPr lang="en-US" altLang="zh-CN" b="1" dirty="0"/>
          </a:p>
          <a:p>
            <a:pPr lvl="1">
              <a:defRPr/>
            </a:pPr>
            <a:endParaRPr lang="en-US" altLang="zh-CN" b="1" dirty="0"/>
          </a:p>
          <a:p>
            <a:pPr lvl="1">
              <a:defRPr/>
            </a:pPr>
            <a:r>
              <a:rPr lang="en-US" altLang="zh-CN" b="1" dirty="0"/>
              <a:t>DV01 Hedge: </a:t>
            </a:r>
            <a:r>
              <a:rPr lang="en-US" altLang="zh-CN" dirty="0"/>
              <a:t>Sensitivity measures like DV01 are commonly used to compute hedge ratios. </a:t>
            </a:r>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34D65003-509F-4CE5-A0BB-60C49BB2EE4F}"/>
                  </a:ext>
                </a:extLst>
              </p:cNvPr>
              <p:cNvSpPr/>
              <p:nvPr/>
            </p:nvSpPr>
            <p:spPr>
              <a:xfrm>
                <a:off x="3906104" y="2628872"/>
                <a:ext cx="437978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𝐷𝑉</m:t>
                      </m:r>
                      <m:r>
                        <a:rPr lang="zh-CN" altLang="en-US" i="0">
                          <a:latin typeface="Cambria Math" panose="02040503050406030204" pitchFamily="18" charset="0"/>
                        </a:rPr>
                        <m:t>01=|</m:t>
                      </m:r>
                      <m:r>
                        <a:rPr lang="zh-CN" altLang="en-US" i="1">
                          <a:latin typeface="Cambria Math" panose="02040503050406030204" pitchFamily="18" charset="0"/>
                        </a:rPr>
                        <m:t>𝑝𝑟𝑖𝑐𝑒</m:t>
                      </m:r>
                      <m:r>
                        <m:rPr>
                          <m:nor/>
                        </m:rPr>
                        <a:rPr lang="zh-CN" altLang="en-US" i="1">
                          <a:latin typeface="Cambria Math" panose="02040503050406030204" pitchFamily="18" charset="0"/>
                        </a:rPr>
                        <m:t> </m:t>
                      </m:r>
                      <m:r>
                        <a:rPr lang="zh-CN" altLang="en-US" i="1">
                          <a:latin typeface="Cambria Math" panose="02040503050406030204" pitchFamily="18" charset="0"/>
                        </a:rPr>
                        <m:t>𝑎𝑡</m:t>
                      </m:r>
                      <m:r>
                        <m:rPr>
                          <m:nor/>
                        </m:rPr>
                        <a:rPr lang="zh-CN" altLang="en-US" i="1">
                          <a:latin typeface="Cambria Math" panose="02040503050406030204" pitchFamily="18" charset="0"/>
                        </a:rPr>
                        <m:t> </m:t>
                      </m:r>
                      <m:r>
                        <a:rPr lang="zh-CN" altLang="en-US" i="1">
                          <a:latin typeface="Cambria Math" panose="02040503050406030204" pitchFamily="18" charset="0"/>
                        </a:rPr>
                        <m:t>𝑌𝑇</m:t>
                      </m:r>
                      <m:sSub>
                        <m:sSubPr>
                          <m:ctrlPr>
                            <a:rPr lang="zh-CN" altLang="en-US" i="1">
                              <a:latin typeface="Cambria Math" panose="02040503050406030204" pitchFamily="18" charset="0"/>
                            </a:rPr>
                          </m:ctrlPr>
                        </m:sSubPr>
                        <m:e>
                          <m:r>
                            <a:rPr lang="zh-CN" altLang="en-US" i="1">
                              <a:latin typeface="Cambria Math" panose="02040503050406030204" pitchFamily="18" charset="0"/>
                            </a:rPr>
                            <m:t>𝑀</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𝑝𝑟𝑖𝑐𝑒</m:t>
                      </m:r>
                      <m:r>
                        <m:rPr>
                          <m:nor/>
                        </m:rPr>
                        <a:rPr lang="zh-CN" altLang="en-US" i="1">
                          <a:latin typeface="Cambria Math" panose="02040503050406030204" pitchFamily="18" charset="0"/>
                        </a:rPr>
                        <m:t> </m:t>
                      </m:r>
                      <m:r>
                        <a:rPr lang="zh-CN" altLang="en-US" i="1">
                          <a:latin typeface="Cambria Math" panose="02040503050406030204" pitchFamily="18" charset="0"/>
                        </a:rPr>
                        <m:t>𝑎𝑡</m:t>
                      </m:r>
                      <m:r>
                        <m:rPr>
                          <m:nor/>
                        </m:rPr>
                        <a:rPr lang="zh-CN" altLang="en-US" i="1">
                          <a:latin typeface="Cambria Math" panose="02040503050406030204" pitchFamily="18" charset="0"/>
                        </a:rPr>
                        <m:t> </m:t>
                      </m:r>
                      <m:r>
                        <a:rPr lang="zh-CN" altLang="en-US" i="1">
                          <a:latin typeface="Cambria Math" panose="02040503050406030204" pitchFamily="18" charset="0"/>
                        </a:rPr>
                        <m:t>𝑌𝑇</m:t>
                      </m:r>
                      <m:sSub>
                        <m:sSubPr>
                          <m:ctrlPr>
                            <a:rPr lang="zh-CN" altLang="en-US" i="1">
                              <a:latin typeface="Cambria Math" panose="02040503050406030204" pitchFamily="18" charset="0"/>
                            </a:rPr>
                          </m:ctrlPr>
                        </m:sSubPr>
                        <m:e>
                          <m:r>
                            <a:rPr lang="zh-CN" altLang="en-US" i="1">
                              <a:latin typeface="Cambria Math" panose="02040503050406030204" pitchFamily="18" charset="0"/>
                            </a:rPr>
                            <m:t>𝑀</m:t>
                          </m:r>
                        </m:e>
                        <m:sub>
                          <m:r>
                            <a:rPr lang="zh-CN" altLang="en-US" i="0">
                              <a:latin typeface="Cambria Math" panose="02040503050406030204" pitchFamily="18" charset="0"/>
                            </a:rPr>
                            <m:t>1</m:t>
                          </m:r>
                        </m:sub>
                      </m:sSub>
                      <m:r>
                        <a:rPr lang="zh-CN" altLang="en-US" i="0">
                          <a:latin typeface="Cambria Math" panose="02040503050406030204" pitchFamily="18" charset="0"/>
                        </a:rPr>
                        <m:t>|</m:t>
                      </m:r>
                    </m:oMath>
                  </m:oMathPara>
                </a14:m>
                <a:endParaRPr lang="zh-CN" altLang="en-US" dirty="0"/>
              </a:p>
            </p:txBody>
          </p:sp>
        </mc:Choice>
        <mc:Fallback xmlns="">
          <p:sp>
            <p:nvSpPr>
              <p:cNvPr id="5" name="矩形 4">
                <a:extLst>
                  <a:ext uri="{FF2B5EF4-FFF2-40B4-BE49-F238E27FC236}">
                    <a16:creationId xmlns:a16="http://schemas.microsoft.com/office/drawing/2014/main" id="{34D65003-509F-4CE5-A0BB-60C49BB2EE4F}"/>
                  </a:ext>
                </a:extLst>
              </p:cNvPr>
              <p:cNvSpPr>
                <a:spLocks noRot="1" noChangeAspect="1" noMove="1" noResize="1" noEditPoints="1" noAdjustHandles="1" noChangeArrowheads="1" noChangeShapeType="1" noTextEdit="1"/>
              </p:cNvSpPr>
              <p:nvPr/>
            </p:nvSpPr>
            <p:spPr>
              <a:xfrm>
                <a:off x="3906104" y="2628872"/>
                <a:ext cx="4379789" cy="369332"/>
              </a:xfrm>
              <a:prstGeom prst="rect">
                <a:avLst/>
              </a:prstGeom>
              <a:blipFill>
                <a:blip r:embed="rId4"/>
                <a:stretch>
                  <a:fillRect b="-16393"/>
                </a:stretch>
              </a:blipFill>
            </p:spPr>
            <p:txBody>
              <a:bodyPr/>
              <a:lstStyle/>
              <a:p>
                <a:r>
                  <a:rPr lang="zh-CN" altLang="en-US">
                    <a:noFill/>
                  </a:rPr>
                  <a:t> </a:t>
                </a:r>
              </a:p>
            </p:txBody>
          </p:sp>
        </mc:Fallback>
      </mc:AlternateContent>
      <p:sp>
        <p:nvSpPr>
          <p:cNvPr id="7" name="矩形 1">
            <a:extLst>
              <a:ext uri="{FF2B5EF4-FFF2-40B4-BE49-F238E27FC236}">
                <a16:creationId xmlns:a16="http://schemas.microsoft.com/office/drawing/2014/main" id="{1C11DEA0-ABA8-4C1F-97DA-2262932E657B}"/>
              </a:ext>
            </a:extLst>
          </p:cNvPr>
          <p:cNvSpPr>
            <a:spLocks noChangeArrowheads="1"/>
          </p:cNvSpPr>
          <p:nvPr/>
        </p:nvSpPr>
        <p:spPr bwMode="auto">
          <a:xfrm>
            <a:off x="3035998" y="3367481"/>
            <a:ext cx="6120000" cy="468000"/>
          </a:xfrm>
          <a:prstGeom prst="rect">
            <a:avLst/>
          </a:prstGeom>
          <a:noFill/>
          <a:ln w="19050" algn="ctr">
            <a:solidFill>
              <a:schemeClr val="accent1">
                <a:lumMod val="75000"/>
              </a:schemeClr>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nchorCtr="0"/>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marL="0" lvl="1" indent="0" algn="ct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DV01 = Modified </a:t>
            </a:r>
            <a:r>
              <a:rPr lang="en-US" altLang="zh-CN" sz="2000" b="0" dirty="0" err="1">
                <a:solidFill>
                  <a:srgbClr val="2C3E50"/>
                </a:solidFill>
                <a:latin typeface="Segoe UI" panose="020B0502040204020203" pitchFamily="34" charset="0"/>
                <a:ea typeface="Segoe UI" panose="020B0502040204020203" pitchFamily="34" charset="0"/>
                <a:cs typeface="Segoe UI" panose="020B0502040204020203" pitchFamily="34" charset="0"/>
              </a:rPr>
              <a:t>Duration×Bond</a:t>
            </a: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 Value×0.0001</a:t>
            </a:r>
          </a:p>
        </p:txBody>
      </p:sp>
      <p:graphicFrame>
        <p:nvGraphicFramePr>
          <p:cNvPr id="8" name="Object 75">
            <a:extLst>
              <a:ext uri="{FF2B5EF4-FFF2-40B4-BE49-F238E27FC236}">
                <a16:creationId xmlns:a16="http://schemas.microsoft.com/office/drawing/2014/main" id="{F260B8F5-284D-4DCD-A285-B7C8619625F5}"/>
              </a:ext>
            </a:extLst>
          </p:cNvPr>
          <p:cNvGraphicFramePr>
            <a:graphicFrameLocks noChangeAspect="1"/>
          </p:cNvGraphicFramePr>
          <p:nvPr>
            <p:extLst>
              <p:ext uri="{D42A27DB-BD31-4B8C-83A1-F6EECF244321}">
                <p14:modId xmlns:p14="http://schemas.microsoft.com/office/powerpoint/2010/main" val="3035200157"/>
              </p:ext>
            </p:extLst>
          </p:nvPr>
        </p:nvGraphicFramePr>
        <p:xfrm>
          <a:off x="3611560" y="5434308"/>
          <a:ext cx="4968875" cy="815975"/>
        </p:xfrm>
        <a:graphic>
          <a:graphicData uri="http://schemas.openxmlformats.org/presentationml/2006/ole">
            <mc:AlternateContent xmlns:mc="http://schemas.openxmlformats.org/markup-compatibility/2006">
              <mc:Choice xmlns:v="urn:schemas-microsoft-com:vml" Requires="v">
                <p:oleObj spid="_x0000_s25606" name="Equation" r:id="rId5" imgW="2590560" imgH="419040" progId="Equation.DSMT4">
                  <p:embed/>
                </p:oleObj>
              </mc:Choice>
              <mc:Fallback>
                <p:oleObj name="Equation" r:id="rId5" imgW="2590560" imgH="419040" progId="Equation.DSMT4">
                  <p:embed/>
                  <p:pic>
                    <p:nvPicPr>
                      <p:cNvPr id="55301" name="Object 75"/>
                      <p:cNvPicPr>
                        <a:picLocks noChangeAspect="1" noChangeArrowheads="1"/>
                      </p:cNvPicPr>
                      <p:nvPr/>
                    </p:nvPicPr>
                    <p:blipFill>
                      <a:blip r:embed="rId6"/>
                      <a:srcRect/>
                      <a:stretch>
                        <a:fillRect/>
                      </a:stretch>
                    </p:blipFill>
                    <p:spPr bwMode="auto">
                      <a:xfrm>
                        <a:off x="3611560" y="5434308"/>
                        <a:ext cx="4968875" cy="815975"/>
                      </a:xfrm>
                      <a:prstGeom prst="rect">
                        <a:avLst/>
                      </a:prstGeom>
                      <a:noFill/>
                      <a:ln w="19050">
                        <a:solidFill>
                          <a:schemeClr val="accent1">
                            <a:lumMod val="75000"/>
                          </a:schemeClr>
                        </a:solidFill>
                      </a:ln>
                      <a:extLst/>
                    </p:spPr>
                  </p:pic>
                </p:oleObj>
              </mc:Fallback>
            </mc:AlternateContent>
          </a:graphicData>
        </a:graphic>
      </p:graphicFrame>
    </p:spTree>
    <p:extLst>
      <p:ext uri="{BB962C8B-B14F-4D97-AF65-F5344CB8AC3E}">
        <p14:creationId xmlns:p14="http://schemas.microsoft.com/office/powerpoint/2010/main" val="11594236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Example</a:t>
            </a:r>
          </a:p>
          <a:p>
            <a:pPr lvl="1"/>
            <a:r>
              <a:rPr lang="en-US" altLang="zh-CN" dirty="0"/>
              <a:t>Suppose a 30-year semiannual coupon bond has a DV01 of 0.17195624, and a 15-year semiannual coupon bond will be used as the hedging instrument. The 15-year bond has a DV01 of 0.10458173. Compute the hedge ratio.</a:t>
            </a:r>
          </a:p>
          <a:p>
            <a:pPr lvl="1"/>
            <a:endParaRPr lang="en-US" altLang="zh-CN" dirty="0"/>
          </a:p>
          <a:p>
            <a:pPr lvl="1"/>
            <a:endParaRPr lang="en-US" altLang="zh-CN" dirty="0"/>
          </a:p>
          <a:p>
            <a:pPr lvl="1"/>
            <a:endParaRPr lang="en-US" altLang="zh-CN" dirty="0"/>
          </a:p>
          <a:p>
            <a:pPr lvl="1"/>
            <a:r>
              <a:rPr lang="en-US" altLang="zh-CN" dirty="0"/>
              <a:t>For every $1 par value of the 30-year bond, short $1.644 of par of the 15-year bond.</a:t>
            </a:r>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D87A8A5F-FD5D-4CAD-B784-C3C4847AB864}"/>
                  </a:ext>
                </a:extLst>
              </p:cNvPr>
              <p:cNvSpPr/>
              <p:nvPr/>
            </p:nvSpPr>
            <p:spPr>
              <a:xfrm>
                <a:off x="2212729" y="4100750"/>
                <a:ext cx="7766539" cy="67845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𝐻𝑅</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𝐷𝑉</m:t>
                          </m:r>
                          <m:r>
                            <a:rPr lang="zh-CN" altLang="en-US" i="0">
                              <a:latin typeface="Cambria Math" panose="02040503050406030204" pitchFamily="18" charset="0"/>
                            </a:rPr>
                            <m:t>01</m:t>
                          </m:r>
                          <m:d>
                            <m:dPr>
                              <m:ctrlPr>
                                <a:rPr lang="zh-CN" altLang="en-US" i="1">
                                  <a:latin typeface="Cambria Math" panose="02040503050406030204" pitchFamily="18" charset="0"/>
                                </a:rPr>
                              </m:ctrlPr>
                            </m:dPr>
                            <m:e>
                              <m:r>
                                <a:rPr lang="zh-CN" altLang="en-US" i="1">
                                  <a:latin typeface="Cambria Math" panose="02040503050406030204" pitchFamily="18" charset="0"/>
                                </a:rPr>
                                <m:t>𝑝𝑒𝑟</m:t>
                              </m:r>
                              <m:r>
                                <m:rPr>
                                  <m:nor/>
                                </m:rPr>
                                <a:rPr lang="zh-CN" altLang="en-US" i="1">
                                  <a:latin typeface="Cambria Math" panose="02040503050406030204" pitchFamily="18" charset="0"/>
                                </a:rPr>
                                <m:t> </m:t>
                              </m:r>
                              <m:r>
                                <a:rPr lang="zh-CN" altLang="en-US" i="0">
                                  <a:latin typeface="Cambria Math" panose="02040503050406030204" pitchFamily="18" charset="0"/>
                                </a:rPr>
                                <m:t>$100</m:t>
                              </m:r>
                              <m:r>
                                <m:rPr>
                                  <m:nor/>
                                </m:rPr>
                                <a:rPr lang="zh-CN" altLang="en-US" i="1">
                                  <a:latin typeface="Cambria Math" panose="02040503050406030204" pitchFamily="18" charset="0"/>
                                </a:rPr>
                                <m:t> </m:t>
                              </m:r>
                              <m:r>
                                <a:rPr lang="zh-CN" altLang="en-US" i="1">
                                  <a:latin typeface="Cambria Math" panose="02040503050406030204" pitchFamily="18" charset="0"/>
                                </a:rPr>
                                <m:t>𝑜𝑓</m:t>
                              </m:r>
                              <m:r>
                                <m:rPr>
                                  <m:nor/>
                                </m:rPr>
                                <a:rPr lang="zh-CN" altLang="en-US" i="1">
                                  <a:latin typeface="Cambria Math" panose="02040503050406030204" pitchFamily="18" charset="0"/>
                                </a:rPr>
                                <m:t> </m:t>
                              </m:r>
                              <m:r>
                                <a:rPr lang="zh-CN" altLang="en-US" i="1">
                                  <a:latin typeface="Cambria Math" panose="02040503050406030204" pitchFamily="18" charset="0"/>
                                </a:rPr>
                                <m:t>𝑖𝑛𝑖𝑡𝑖𝑎𝑙</m:t>
                              </m:r>
                              <m:r>
                                <m:rPr>
                                  <m:nor/>
                                </m:rPr>
                                <a:rPr lang="zh-CN" altLang="en-US" i="1">
                                  <a:latin typeface="Cambria Math" panose="02040503050406030204" pitchFamily="18" charset="0"/>
                                </a:rPr>
                                <m:t> </m:t>
                              </m:r>
                              <m:r>
                                <a:rPr lang="zh-CN" altLang="en-US" i="1">
                                  <a:latin typeface="Cambria Math" panose="02040503050406030204" pitchFamily="18" charset="0"/>
                                </a:rPr>
                                <m:t>𝑝𝑜𝑠𝑖𝑡𝑖𝑜𝑛</m:t>
                              </m:r>
                            </m:e>
                          </m:d>
                        </m:num>
                        <m:den>
                          <m:r>
                            <a:rPr lang="zh-CN" altLang="en-US" i="1">
                              <a:latin typeface="Cambria Math" panose="02040503050406030204" pitchFamily="18" charset="0"/>
                            </a:rPr>
                            <m:t>𝐷𝑉</m:t>
                          </m:r>
                          <m:r>
                            <a:rPr lang="zh-CN" altLang="en-US" i="0">
                              <a:latin typeface="Cambria Math" panose="02040503050406030204" pitchFamily="18" charset="0"/>
                            </a:rPr>
                            <m:t>01</m:t>
                          </m:r>
                          <m:d>
                            <m:dPr>
                              <m:ctrlPr>
                                <a:rPr lang="zh-CN" altLang="en-US" i="1">
                                  <a:latin typeface="Cambria Math" panose="02040503050406030204" pitchFamily="18" charset="0"/>
                                </a:rPr>
                              </m:ctrlPr>
                            </m:dPr>
                            <m:e>
                              <m:r>
                                <a:rPr lang="zh-CN" altLang="en-US" i="1">
                                  <a:latin typeface="Cambria Math" panose="02040503050406030204" pitchFamily="18" charset="0"/>
                                </a:rPr>
                                <m:t>𝑝𝑒𝑟</m:t>
                              </m:r>
                              <m:r>
                                <m:rPr>
                                  <m:nor/>
                                </m:rPr>
                                <a:rPr lang="zh-CN" altLang="en-US" i="1">
                                  <a:latin typeface="Cambria Math" panose="02040503050406030204" pitchFamily="18" charset="0"/>
                                </a:rPr>
                                <m:t> </m:t>
                              </m:r>
                              <m:r>
                                <a:rPr lang="zh-CN" altLang="en-US" i="0">
                                  <a:latin typeface="Cambria Math" panose="02040503050406030204" pitchFamily="18" charset="0"/>
                                </a:rPr>
                                <m:t>$100</m:t>
                              </m:r>
                              <m:r>
                                <m:rPr>
                                  <m:nor/>
                                </m:rPr>
                                <a:rPr lang="zh-CN" altLang="en-US" i="1">
                                  <a:latin typeface="Cambria Math" panose="02040503050406030204" pitchFamily="18" charset="0"/>
                                </a:rPr>
                                <m:t> </m:t>
                              </m:r>
                              <m:r>
                                <a:rPr lang="zh-CN" altLang="en-US" i="1">
                                  <a:latin typeface="Cambria Math" panose="02040503050406030204" pitchFamily="18" charset="0"/>
                                </a:rPr>
                                <m:t>𝑜𝑓</m:t>
                              </m:r>
                              <m:r>
                                <m:rPr>
                                  <m:nor/>
                                </m:rPr>
                                <a:rPr lang="zh-CN" altLang="en-US" i="1">
                                  <a:latin typeface="Cambria Math" panose="02040503050406030204" pitchFamily="18" charset="0"/>
                                </a:rPr>
                                <m:t> </m:t>
                              </m:r>
                              <m:r>
                                <a:rPr lang="zh-CN" altLang="en-US" i="1">
                                  <a:latin typeface="Cambria Math" panose="02040503050406030204" pitchFamily="18" charset="0"/>
                                </a:rPr>
                                <m:t>h𝑒𝑑𝑔𝑖𝑛𝑔</m:t>
                              </m:r>
                              <m:r>
                                <m:rPr>
                                  <m:nor/>
                                </m:rPr>
                                <a:rPr lang="zh-CN" altLang="en-US" i="1">
                                  <a:latin typeface="Cambria Math" panose="02040503050406030204" pitchFamily="18" charset="0"/>
                                </a:rPr>
                                <m:t> </m:t>
                              </m:r>
                              <m:r>
                                <a:rPr lang="zh-CN" altLang="en-US" i="1">
                                  <a:latin typeface="Cambria Math" panose="02040503050406030204" pitchFamily="18" charset="0"/>
                                </a:rPr>
                                <m:t>𝑖𝑛𝑠𝑡𝑟𝑢𝑚𝑒𝑛𝑡</m:t>
                              </m:r>
                            </m:e>
                          </m:d>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0.17195624</m:t>
                          </m:r>
                        </m:num>
                        <m:den>
                          <m:r>
                            <a:rPr lang="zh-CN" altLang="en-US" i="0">
                              <a:latin typeface="Cambria Math" panose="02040503050406030204" pitchFamily="18" charset="0"/>
                            </a:rPr>
                            <m:t>0.10458173</m:t>
                          </m:r>
                        </m:den>
                      </m:f>
                      <m:r>
                        <a:rPr lang="zh-CN" altLang="en-US" i="0">
                          <a:latin typeface="Cambria Math" panose="02040503050406030204" pitchFamily="18" charset="0"/>
                        </a:rPr>
                        <m:t>=1.644</m:t>
                      </m:r>
                    </m:oMath>
                  </m:oMathPara>
                </a14:m>
                <a:endParaRPr lang="zh-CN" altLang="en-US" dirty="0"/>
              </a:p>
            </p:txBody>
          </p:sp>
        </mc:Choice>
        <mc:Fallback xmlns="">
          <p:sp>
            <p:nvSpPr>
              <p:cNvPr id="5" name="矩形 4">
                <a:extLst>
                  <a:ext uri="{FF2B5EF4-FFF2-40B4-BE49-F238E27FC236}">
                    <a16:creationId xmlns:a16="http://schemas.microsoft.com/office/drawing/2014/main" id="{D87A8A5F-FD5D-4CAD-B784-C3C4847AB864}"/>
                  </a:ext>
                </a:extLst>
              </p:cNvPr>
              <p:cNvSpPr>
                <a:spLocks noRot="1" noChangeAspect="1" noMove="1" noResize="1" noEditPoints="1" noAdjustHandles="1" noChangeArrowheads="1" noChangeShapeType="1" noTextEdit="1"/>
              </p:cNvSpPr>
              <p:nvPr/>
            </p:nvSpPr>
            <p:spPr>
              <a:xfrm>
                <a:off x="2212729" y="4100750"/>
                <a:ext cx="7766539" cy="678455"/>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0590035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a:xfrm>
            <a:off x="393599" y="813469"/>
            <a:ext cx="11404800" cy="2615531"/>
          </a:xfrm>
        </p:spPr>
        <p:txBody>
          <a:bodyPr>
            <a:normAutofit fontScale="92500"/>
          </a:bodyPr>
          <a:lstStyle/>
          <a:p>
            <a:r>
              <a:rPr lang="en-US" altLang="zh-CN" dirty="0"/>
              <a:t>Convexity</a:t>
            </a:r>
          </a:p>
          <a:p>
            <a:pPr lvl="1"/>
            <a:r>
              <a:rPr lang="en-US" altLang="zh-CN" dirty="0"/>
              <a:t>A measure of the </a:t>
            </a:r>
            <a:r>
              <a:rPr lang="en-US" altLang="zh-CN" u="sng" dirty="0"/>
              <a:t>non-linear relationship between price and yield duration of a bond to changes in interest rates</a:t>
            </a:r>
            <a:r>
              <a:rPr lang="en-US" altLang="zh-CN" dirty="0"/>
              <a:t>, the </a:t>
            </a:r>
            <a:r>
              <a:rPr lang="en-US" altLang="zh-CN" u="sng" dirty="0"/>
              <a:t>second derivative</a:t>
            </a:r>
            <a:r>
              <a:rPr lang="en-US" altLang="zh-CN" dirty="0"/>
              <a:t> of the price of the bond with respect to interest rates (duration is the first derivative).</a:t>
            </a:r>
          </a:p>
          <a:p>
            <a:pPr lvl="1"/>
            <a:r>
              <a:rPr lang="en-US" altLang="zh-CN" dirty="0"/>
              <a:t>Convexity is always positive for regular coupon-paying bonds. </a:t>
            </a:r>
          </a:p>
          <a:p>
            <a:endParaRPr lang="zh-CN" altLang="en-US" dirty="0">
              <a:latin typeface="+mn-lt"/>
              <a:ea typeface="+mn-ea"/>
              <a:cs typeface="+mn-ea"/>
              <a:sym typeface="+mn-lt"/>
            </a:endParaRPr>
          </a:p>
        </p:txBody>
      </p:sp>
      <p:grpSp>
        <p:nvGrpSpPr>
          <p:cNvPr id="5" name="组合 4">
            <a:extLst>
              <a:ext uri="{FF2B5EF4-FFF2-40B4-BE49-F238E27FC236}">
                <a16:creationId xmlns:a16="http://schemas.microsoft.com/office/drawing/2014/main" id="{A31104A1-BE4B-4B84-8983-E7C6C27A29CC}"/>
              </a:ext>
            </a:extLst>
          </p:cNvPr>
          <p:cNvGrpSpPr/>
          <p:nvPr/>
        </p:nvGrpSpPr>
        <p:grpSpPr>
          <a:xfrm>
            <a:off x="2567608" y="3604005"/>
            <a:ext cx="7056784" cy="2808312"/>
            <a:chOff x="971600" y="3573016"/>
            <a:chExt cx="7056784" cy="2808312"/>
          </a:xfrm>
        </p:grpSpPr>
        <p:grpSp>
          <p:nvGrpSpPr>
            <p:cNvPr id="6" name="组合 5">
              <a:extLst>
                <a:ext uri="{FF2B5EF4-FFF2-40B4-BE49-F238E27FC236}">
                  <a16:creationId xmlns:a16="http://schemas.microsoft.com/office/drawing/2014/main" id="{F5856FCA-282B-4C41-9459-FB46B36C05FB}"/>
                </a:ext>
              </a:extLst>
            </p:cNvPr>
            <p:cNvGrpSpPr/>
            <p:nvPr/>
          </p:nvGrpSpPr>
          <p:grpSpPr>
            <a:xfrm>
              <a:off x="1044368" y="3645024"/>
              <a:ext cx="6984016" cy="2664296"/>
              <a:chOff x="1044368" y="3573016"/>
              <a:chExt cx="6984016" cy="2664296"/>
            </a:xfrm>
          </p:grpSpPr>
          <p:cxnSp>
            <p:nvCxnSpPr>
              <p:cNvPr id="8" name="直接连接符 7">
                <a:extLst>
                  <a:ext uri="{FF2B5EF4-FFF2-40B4-BE49-F238E27FC236}">
                    <a16:creationId xmlns:a16="http://schemas.microsoft.com/office/drawing/2014/main" id="{1810BA5A-2853-4EAA-8E5C-16A83F8AA933}"/>
                  </a:ext>
                </a:extLst>
              </p:cNvPr>
              <p:cNvCxnSpPr/>
              <p:nvPr/>
            </p:nvCxnSpPr>
            <p:spPr bwMode="auto">
              <a:xfrm>
                <a:off x="2387600" y="5756871"/>
                <a:ext cx="3060000" cy="0"/>
              </a:xfrm>
              <a:prstGeom prst="line">
                <a:avLst/>
              </a:prstGeom>
              <a:ln w="12700">
                <a:solidFill>
                  <a:srgbClr val="2C3E50"/>
                </a:solidFill>
                <a:headEnd type="none" w="med" len="med"/>
                <a:tailEnd type="none" w="med" len="med"/>
              </a:ln>
            </p:spPr>
            <p:style>
              <a:lnRef idx="2">
                <a:schemeClr val="accent3"/>
              </a:lnRef>
              <a:fillRef idx="0">
                <a:schemeClr val="accent3"/>
              </a:fillRef>
              <a:effectRef idx="1">
                <a:schemeClr val="accent3"/>
              </a:effectRef>
              <a:fontRef idx="minor">
                <a:schemeClr val="tx1"/>
              </a:fontRef>
            </p:style>
          </p:cxnSp>
          <p:cxnSp>
            <p:nvCxnSpPr>
              <p:cNvPr id="9" name="直接连接符 8">
                <a:extLst>
                  <a:ext uri="{FF2B5EF4-FFF2-40B4-BE49-F238E27FC236}">
                    <a16:creationId xmlns:a16="http://schemas.microsoft.com/office/drawing/2014/main" id="{3583A3C0-0428-44A8-BC67-DB3A6153227D}"/>
                  </a:ext>
                </a:extLst>
              </p:cNvPr>
              <p:cNvCxnSpPr/>
              <p:nvPr/>
            </p:nvCxnSpPr>
            <p:spPr bwMode="auto">
              <a:xfrm flipV="1">
                <a:off x="2387600" y="3665559"/>
                <a:ext cx="0" cy="2088000"/>
              </a:xfrm>
              <a:prstGeom prst="line">
                <a:avLst/>
              </a:prstGeom>
              <a:ln w="12700">
                <a:solidFill>
                  <a:srgbClr val="2C3E50"/>
                </a:solidFill>
                <a:headEnd type="none" w="med" len="med"/>
                <a:tailEnd type="none" w="med" len="med"/>
              </a:ln>
            </p:spPr>
            <p:style>
              <a:lnRef idx="2">
                <a:schemeClr val="accent3"/>
              </a:lnRef>
              <a:fillRef idx="0">
                <a:schemeClr val="accent3"/>
              </a:fillRef>
              <a:effectRef idx="1">
                <a:schemeClr val="accent3"/>
              </a:effectRef>
              <a:fontRef idx="minor">
                <a:schemeClr val="tx1"/>
              </a:fontRef>
            </p:style>
          </p:cxnSp>
          <p:cxnSp>
            <p:nvCxnSpPr>
              <p:cNvPr id="10" name="直接连接符 9">
                <a:extLst>
                  <a:ext uri="{FF2B5EF4-FFF2-40B4-BE49-F238E27FC236}">
                    <a16:creationId xmlns:a16="http://schemas.microsoft.com/office/drawing/2014/main" id="{9D10E48A-DD94-48CF-8594-3AF0ABC83C06}"/>
                  </a:ext>
                </a:extLst>
              </p:cNvPr>
              <p:cNvCxnSpPr/>
              <p:nvPr/>
            </p:nvCxnSpPr>
            <p:spPr bwMode="auto">
              <a:xfrm>
                <a:off x="2387600" y="4316871"/>
                <a:ext cx="1440000" cy="1440000"/>
              </a:xfrm>
              <a:prstGeom prst="line">
                <a:avLst/>
              </a:prstGeom>
              <a:ln w="19050">
                <a:solidFill>
                  <a:srgbClr val="2C3E50"/>
                </a:solidFill>
                <a:headEnd type="none" w="med" len="med"/>
                <a:tailEnd type="none" w="med" len="med"/>
              </a:ln>
            </p:spPr>
            <p:style>
              <a:lnRef idx="2">
                <a:schemeClr val="accent3"/>
              </a:lnRef>
              <a:fillRef idx="0">
                <a:schemeClr val="accent3"/>
              </a:fillRef>
              <a:effectRef idx="1">
                <a:schemeClr val="accent3"/>
              </a:effectRef>
              <a:fontRef idx="minor">
                <a:schemeClr val="tx1"/>
              </a:fontRef>
            </p:style>
          </p:cxnSp>
          <p:sp>
            <p:nvSpPr>
              <p:cNvPr id="11" name="任意多边形 9">
                <a:extLst>
                  <a:ext uri="{FF2B5EF4-FFF2-40B4-BE49-F238E27FC236}">
                    <a16:creationId xmlns:a16="http://schemas.microsoft.com/office/drawing/2014/main" id="{CA082CFA-4208-4E07-971F-D71AFA5C73E6}"/>
                  </a:ext>
                </a:extLst>
              </p:cNvPr>
              <p:cNvSpPr/>
              <p:nvPr/>
            </p:nvSpPr>
            <p:spPr bwMode="auto">
              <a:xfrm>
                <a:off x="2598737" y="3789040"/>
                <a:ext cx="2340000" cy="1800000"/>
              </a:xfrm>
              <a:custGeom>
                <a:avLst/>
                <a:gdLst>
                  <a:gd name="connsiteX0" fmla="*/ 0 w 1262742"/>
                  <a:gd name="connsiteY0" fmla="*/ 0 h 1596571"/>
                  <a:gd name="connsiteX1" fmla="*/ 348342 w 1262742"/>
                  <a:gd name="connsiteY1" fmla="*/ 1204686 h 1596571"/>
                  <a:gd name="connsiteX2" fmla="*/ 1262742 w 1262742"/>
                  <a:gd name="connsiteY2" fmla="*/ 1596571 h 1596571"/>
                </a:gdLst>
                <a:ahLst/>
                <a:cxnLst>
                  <a:cxn ang="0">
                    <a:pos x="connsiteX0" y="connsiteY0"/>
                  </a:cxn>
                  <a:cxn ang="0">
                    <a:pos x="connsiteX1" y="connsiteY1"/>
                  </a:cxn>
                  <a:cxn ang="0">
                    <a:pos x="connsiteX2" y="connsiteY2"/>
                  </a:cxn>
                </a:cxnLst>
                <a:rect l="l" t="t" r="r" b="b"/>
                <a:pathLst>
                  <a:path w="1262742" h="1596571">
                    <a:moveTo>
                      <a:pt x="0" y="0"/>
                    </a:moveTo>
                    <a:cubicBezTo>
                      <a:pt x="68942" y="469295"/>
                      <a:pt x="137885" y="938591"/>
                      <a:pt x="348342" y="1204686"/>
                    </a:cubicBezTo>
                    <a:cubicBezTo>
                      <a:pt x="558799" y="1470781"/>
                      <a:pt x="910770" y="1533676"/>
                      <a:pt x="1262742" y="1596571"/>
                    </a:cubicBezTo>
                  </a:path>
                </a:pathLst>
              </a:custGeom>
              <a:ln w="19050">
                <a:solidFill>
                  <a:srgbClr val="C00000"/>
                </a:solidFill>
                <a:headEnd type="none" w="med" len="med"/>
                <a:tailEnd type="none" w="med" len="med"/>
              </a:ln>
            </p:spPr>
            <p:style>
              <a:lnRef idx="2">
                <a:schemeClr val="accent3"/>
              </a:lnRef>
              <a:fillRef idx="0">
                <a:schemeClr val="accent3"/>
              </a:fillRef>
              <a:effectRef idx="1">
                <a:schemeClr val="accent3"/>
              </a:effectRef>
              <a:fontRef idx="minor">
                <a:schemeClr val="tx1"/>
              </a:fontRef>
            </p:style>
            <p:txBody>
              <a:bodyPr/>
              <a:lstStyle/>
              <a:p>
                <a:pPr eaLnBrk="1" hangingPunct="1">
                  <a:buFont typeface="Arial" pitchFamily="34" charset="0"/>
                  <a:buNone/>
                  <a:defRPr/>
                </a:pPr>
                <a:endParaRPr lang="zh-CN" altLang="en-US" sz="1800" b="0">
                  <a:solidFill>
                    <a:srgbClr val="2C3E50"/>
                  </a:solidFill>
                  <a:latin typeface="Segoe UI" panose="020B0502040204020203" pitchFamily="34" charset="0"/>
                  <a:ea typeface="宋体" pitchFamily="2" charset="-122"/>
                  <a:cs typeface="Segoe UI" panose="020B0502040204020203" pitchFamily="34" charset="0"/>
                </a:endParaRPr>
              </a:p>
            </p:txBody>
          </p:sp>
          <p:cxnSp>
            <p:nvCxnSpPr>
              <p:cNvPr id="12" name="直接连接符 11">
                <a:extLst>
                  <a:ext uri="{FF2B5EF4-FFF2-40B4-BE49-F238E27FC236}">
                    <a16:creationId xmlns:a16="http://schemas.microsoft.com/office/drawing/2014/main" id="{0DE12B71-4959-46F2-8222-312B78AA74C7}"/>
                  </a:ext>
                </a:extLst>
              </p:cNvPr>
              <p:cNvCxnSpPr/>
              <p:nvPr/>
            </p:nvCxnSpPr>
            <p:spPr bwMode="auto">
              <a:xfrm flipV="1">
                <a:off x="2699792" y="4221176"/>
                <a:ext cx="0" cy="414000"/>
              </a:xfrm>
              <a:prstGeom prst="line">
                <a:avLst/>
              </a:prstGeom>
              <a:ln>
                <a:solidFill>
                  <a:srgbClr val="2C3E50"/>
                </a:solidFill>
                <a:headEnd type="none" w="med" len="med"/>
                <a:tailEnd type="none" w="med" len="med"/>
              </a:ln>
            </p:spPr>
            <p:style>
              <a:lnRef idx="2">
                <a:schemeClr val="accent3"/>
              </a:lnRef>
              <a:fillRef idx="0">
                <a:schemeClr val="accent3"/>
              </a:fillRef>
              <a:effectRef idx="1">
                <a:schemeClr val="accent3"/>
              </a:effectRef>
              <a:fontRef idx="minor">
                <a:schemeClr val="tx1"/>
              </a:fontRef>
            </p:style>
          </p:cxnSp>
          <p:cxnSp>
            <p:nvCxnSpPr>
              <p:cNvPr id="13" name="直接连接符 12">
                <a:extLst>
                  <a:ext uri="{FF2B5EF4-FFF2-40B4-BE49-F238E27FC236}">
                    <a16:creationId xmlns:a16="http://schemas.microsoft.com/office/drawing/2014/main" id="{B15B0741-56CD-447C-8F6B-232F30809D7C}"/>
                  </a:ext>
                </a:extLst>
              </p:cNvPr>
              <p:cNvCxnSpPr/>
              <p:nvPr/>
            </p:nvCxnSpPr>
            <p:spPr bwMode="auto">
              <a:xfrm flipV="1">
                <a:off x="3823200" y="5409256"/>
                <a:ext cx="0" cy="324000"/>
              </a:xfrm>
              <a:prstGeom prst="line">
                <a:avLst/>
              </a:prstGeom>
              <a:ln>
                <a:solidFill>
                  <a:srgbClr val="2C3E50"/>
                </a:solidFill>
                <a:headEnd type="none" w="med" len="med"/>
                <a:tailEnd type="none" w="med" len="med"/>
              </a:ln>
            </p:spPr>
            <p:style>
              <a:lnRef idx="2">
                <a:schemeClr val="accent3"/>
              </a:lnRef>
              <a:fillRef idx="0">
                <a:schemeClr val="accent3"/>
              </a:fillRef>
              <a:effectRef idx="1">
                <a:schemeClr val="accent3"/>
              </a:effectRef>
              <a:fontRef idx="minor">
                <a:schemeClr val="tx1"/>
              </a:fontRef>
            </p:style>
          </p:cxnSp>
          <p:cxnSp>
            <p:nvCxnSpPr>
              <p:cNvPr id="14" name="直接箭头连接符 13">
                <a:extLst>
                  <a:ext uri="{FF2B5EF4-FFF2-40B4-BE49-F238E27FC236}">
                    <a16:creationId xmlns:a16="http://schemas.microsoft.com/office/drawing/2014/main" id="{C86E1CC5-BC42-44F7-8F5C-49327ED8AABC}"/>
                  </a:ext>
                </a:extLst>
              </p:cNvPr>
              <p:cNvCxnSpPr>
                <a:stCxn id="15" idx="1"/>
              </p:cNvCxnSpPr>
              <p:nvPr/>
            </p:nvCxnSpPr>
            <p:spPr bwMode="auto">
              <a:xfrm flipH="1">
                <a:off x="2700339" y="3903514"/>
                <a:ext cx="531428" cy="539999"/>
              </a:xfrm>
              <a:prstGeom prst="straightConnector1">
                <a:avLst/>
              </a:prstGeom>
              <a:ln>
                <a:solidFill>
                  <a:srgbClr val="2C3E50"/>
                </a:solidFill>
                <a:headEnd type="none" w="med" len="med"/>
                <a:tailEnd type="triangle"/>
              </a:ln>
            </p:spPr>
            <p:style>
              <a:lnRef idx="2">
                <a:schemeClr val="accent3"/>
              </a:lnRef>
              <a:fillRef idx="0">
                <a:schemeClr val="accent3"/>
              </a:fillRef>
              <a:effectRef idx="1">
                <a:schemeClr val="accent3"/>
              </a:effectRef>
              <a:fontRef idx="minor">
                <a:schemeClr val="tx1"/>
              </a:fontRef>
            </p:style>
          </p:cxnSp>
          <p:sp>
            <p:nvSpPr>
              <p:cNvPr id="15" name="文本框 21">
                <a:extLst>
                  <a:ext uri="{FF2B5EF4-FFF2-40B4-BE49-F238E27FC236}">
                    <a16:creationId xmlns:a16="http://schemas.microsoft.com/office/drawing/2014/main" id="{C11BC83A-6638-4356-98AE-1C3A39E60EE9}"/>
                  </a:ext>
                </a:extLst>
              </p:cNvPr>
              <p:cNvSpPr txBox="1">
                <a:spLocks noChangeArrowheads="1"/>
              </p:cNvSpPr>
              <p:nvPr/>
            </p:nvSpPr>
            <p:spPr bwMode="auto">
              <a:xfrm>
                <a:off x="3231767" y="3580271"/>
                <a:ext cx="3420000" cy="64648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just"/>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Underestimate of price increases when the yield falls.</a:t>
                </a:r>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cxnSp>
            <p:nvCxnSpPr>
              <p:cNvPr id="16" name="直接箭头连接符 15">
                <a:extLst>
                  <a:ext uri="{FF2B5EF4-FFF2-40B4-BE49-F238E27FC236}">
                    <a16:creationId xmlns:a16="http://schemas.microsoft.com/office/drawing/2014/main" id="{AC6E4EC2-9E6A-42EC-879E-4DAA617684EE}"/>
                  </a:ext>
                </a:extLst>
              </p:cNvPr>
              <p:cNvCxnSpPr/>
              <p:nvPr/>
            </p:nvCxnSpPr>
            <p:spPr bwMode="auto">
              <a:xfrm flipH="1">
                <a:off x="3889375" y="4869280"/>
                <a:ext cx="720000" cy="720000"/>
              </a:xfrm>
              <a:prstGeom prst="straightConnector1">
                <a:avLst/>
              </a:prstGeom>
              <a:ln>
                <a:solidFill>
                  <a:srgbClr val="2C3E50"/>
                </a:solidFill>
                <a:headEnd type="none" w="med" len="med"/>
                <a:tailEnd type="triangle"/>
              </a:ln>
            </p:spPr>
            <p:style>
              <a:lnRef idx="2">
                <a:schemeClr val="accent3"/>
              </a:lnRef>
              <a:fillRef idx="0">
                <a:schemeClr val="accent3"/>
              </a:fillRef>
              <a:effectRef idx="1">
                <a:schemeClr val="accent3"/>
              </a:effectRef>
              <a:fontRef idx="minor">
                <a:schemeClr val="tx1"/>
              </a:fontRef>
            </p:style>
          </p:cxnSp>
          <p:sp>
            <p:nvSpPr>
              <p:cNvPr id="17" name="文本框 24">
                <a:extLst>
                  <a:ext uri="{FF2B5EF4-FFF2-40B4-BE49-F238E27FC236}">
                    <a16:creationId xmlns:a16="http://schemas.microsoft.com/office/drawing/2014/main" id="{057A3AC4-779F-455E-AA1F-E76E57529CA1}"/>
                  </a:ext>
                </a:extLst>
              </p:cNvPr>
              <p:cNvSpPr txBox="1">
                <a:spLocks noChangeArrowheads="1"/>
              </p:cNvSpPr>
              <p:nvPr/>
            </p:nvSpPr>
            <p:spPr bwMode="auto">
              <a:xfrm>
                <a:off x="4608384" y="4437152"/>
                <a:ext cx="3420000" cy="64648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just"/>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Overestimate of price decreases when the yield rises.</a:t>
                </a:r>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18" name="文本框 25">
                <a:extLst>
                  <a:ext uri="{FF2B5EF4-FFF2-40B4-BE49-F238E27FC236}">
                    <a16:creationId xmlns:a16="http://schemas.microsoft.com/office/drawing/2014/main" id="{D12A508E-C389-4D22-9E5C-29EB340FA49F}"/>
                  </a:ext>
                </a:extLst>
              </p:cNvPr>
              <p:cNvSpPr txBox="1">
                <a:spLocks noChangeArrowheads="1"/>
              </p:cNvSpPr>
              <p:nvPr/>
            </p:nvSpPr>
            <p:spPr bwMode="auto">
              <a:xfrm>
                <a:off x="5508104" y="5573559"/>
                <a:ext cx="1260000" cy="360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Bond Yield</a:t>
                </a:r>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19" name="文本框 26">
                <a:extLst>
                  <a:ext uri="{FF2B5EF4-FFF2-40B4-BE49-F238E27FC236}">
                    <a16:creationId xmlns:a16="http://schemas.microsoft.com/office/drawing/2014/main" id="{B3BC34FA-778B-44D8-A822-EDDF08C3169A}"/>
                  </a:ext>
                </a:extLst>
              </p:cNvPr>
              <p:cNvSpPr txBox="1">
                <a:spLocks noChangeArrowheads="1"/>
              </p:cNvSpPr>
              <p:nvPr/>
            </p:nvSpPr>
            <p:spPr bwMode="auto">
              <a:xfrm>
                <a:off x="1079752" y="3573016"/>
                <a:ext cx="1260000" cy="360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Bond Price</a:t>
                </a:r>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sp>
            <p:nvSpPr>
              <p:cNvPr id="20" name="文本框 5">
                <a:extLst>
                  <a:ext uri="{FF2B5EF4-FFF2-40B4-BE49-F238E27FC236}">
                    <a16:creationId xmlns:a16="http://schemas.microsoft.com/office/drawing/2014/main" id="{BA0AE3BA-44F2-4DD4-BA21-47FA39EA66FB}"/>
                  </a:ext>
                </a:extLst>
              </p:cNvPr>
              <p:cNvSpPr txBox="1">
                <a:spLocks noChangeArrowheads="1"/>
              </p:cNvSpPr>
              <p:nvPr/>
            </p:nvSpPr>
            <p:spPr bwMode="auto">
              <a:xfrm>
                <a:off x="1044368" y="5877312"/>
                <a:ext cx="6840000" cy="360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20000"/>
                  </a:lnSpc>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Convex Price-Yield Curve for a given Coupon Rate and Maturity</a:t>
                </a:r>
                <a:endParaRPr lang="zh-CN" altLang="en-US" sz="1800" b="0" dirty="0">
                  <a:solidFill>
                    <a:srgbClr val="2C3E50"/>
                  </a:solidFill>
                  <a:latin typeface="Segoe UI" panose="020B0502040204020203" pitchFamily="34" charset="0"/>
                  <a:cs typeface="Segoe UI" panose="020B0502040204020203" pitchFamily="34" charset="0"/>
                </a:endParaRPr>
              </a:p>
            </p:txBody>
          </p:sp>
        </p:grpSp>
        <p:sp>
          <p:nvSpPr>
            <p:cNvPr id="7" name="圆角矩形 17">
              <a:extLst>
                <a:ext uri="{FF2B5EF4-FFF2-40B4-BE49-F238E27FC236}">
                  <a16:creationId xmlns:a16="http://schemas.microsoft.com/office/drawing/2014/main" id="{2F9841CA-0DE9-4E77-A59C-549A73AFEC4D}"/>
                </a:ext>
              </a:extLst>
            </p:cNvPr>
            <p:cNvSpPr/>
            <p:nvPr/>
          </p:nvSpPr>
          <p:spPr>
            <a:xfrm>
              <a:off x="971600" y="3573016"/>
              <a:ext cx="7056784" cy="2808312"/>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05055461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Price Approximation</a:t>
            </a:r>
          </a:p>
          <a:p>
            <a:endParaRPr lang="en-US" altLang="zh-CN" dirty="0"/>
          </a:p>
          <a:p>
            <a:endParaRPr lang="en-US" altLang="zh-CN" dirty="0"/>
          </a:p>
          <a:p>
            <a:endParaRPr lang="en-US" altLang="zh-CN" dirty="0"/>
          </a:p>
          <a:p>
            <a:endParaRPr lang="en-US" altLang="zh-CN" dirty="0"/>
          </a:p>
          <a:p>
            <a:endParaRPr lang="en-US" altLang="zh-CN" dirty="0"/>
          </a:p>
          <a:p>
            <a:pPr lvl="1"/>
            <a:r>
              <a:rPr lang="en-US" altLang="zh-CN" dirty="0"/>
              <a:t>The actual, exact price</a:t>
            </a:r>
          </a:p>
          <a:p>
            <a:pPr lvl="1"/>
            <a:r>
              <a:rPr lang="en-US" altLang="zh-CN" dirty="0"/>
              <a:t>The duration estimate</a:t>
            </a:r>
          </a:p>
          <a:p>
            <a:pPr lvl="1"/>
            <a:r>
              <a:rPr lang="en-US" altLang="zh-CN" dirty="0"/>
              <a:t>The duration and convexity estimate</a:t>
            </a:r>
            <a:endParaRPr lang="zh-CN" altLang="en-US" dirty="0">
              <a:latin typeface="+mn-lt"/>
              <a:ea typeface="+mn-ea"/>
              <a:cs typeface="+mn-ea"/>
              <a:sym typeface="+mn-lt"/>
            </a:endParaRPr>
          </a:p>
        </p:txBody>
      </p:sp>
      <p:graphicFrame>
        <p:nvGraphicFramePr>
          <p:cNvPr id="4" name="对象 3">
            <a:extLst>
              <a:ext uri="{FF2B5EF4-FFF2-40B4-BE49-F238E27FC236}">
                <a16:creationId xmlns:a16="http://schemas.microsoft.com/office/drawing/2014/main" id="{4BD993B9-655B-49F6-AA93-D1E85315DEE8}"/>
              </a:ext>
            </a:extLst>
          </p:cNvPr>
          <p:cNvGraphicFramePr>
            <a:graphicFrameLocks noChangeAspect="1"/>
          </p:cNvGraphicFramePr>
          <p:nvPr>
            <p:extLst>
              <p:ext uri="{D42A27DB-BD31-4B8C-83A1-F6EECF244321}">
                <p14:modId xmlns:p14="http://schemas.microsoft.com/office/powerpoint/2010/main" val="2192299624"/>
              </p:ext>
            </p:extLst>
          </p:nvPr>
        </p:nvGraphicFramePr>
        <p:xfrm>
          <a:off x="3865563" y="1814513"/>
          <a:ext cx="239712" cy="347662"/>
        </p:xfrm>
        <a:graphic>
          <a:graphicData uri="http://schemas.openxmlformats.org/presentationml/2006/ole">
            <mc:AlternateContent xmlns:mc="http://schemas.openxmlformats.org/markup-compatibility/2006">
              <mc:Choice xmlns:v="urn:schemas-microsoft-com:vml" Requires="v">
                <p:oleObj spid="_x0000_s26632" name="Equation" r:id="rId4" imgW="114120" imgH="164880" progId="Equation.DSMT4">
                  <p:embed/>
                </p:oleObj>
              </mc:Choice>
              <mc:Fallback>
                <p:oleObj name="Equation" r:id="rId4" imgW="114120" imgH="164880" progId="Equation.DSMT4">
                  <p:embed/>
                  <p:pic>
                    <p:nvPicPr>
                      <p:cNvPr id="58372" name="对象 3"/>
                      <p:cNvPicPr>
                        <a:picLocks noChangeAspect="1" noChangeArrowheads="1"/>
                      </p:cNvPicPr>
                      <p:nvPr/>
                    </p:nvPicPr>
                    <p:blipFill>
                      <a:blip r:embed="rId5"/>
                      <a:srcRect/>
                      <a:stretch>
                        <a:fillRect/>
                      </a:stretch>
                    </p:blipFill>
                    <p:spPr bwMode="auto">
                      <a:xfrm>
                        <a:off x="3865563" y="1814513"/>
                        <a:ext cx="239712" cy="347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37D66147-20C0-45C2-8EAB-25B7B8DBF687}"/>
                  </a:ext>
                </a:extLst>
              </p:cNvPr>
              <p:cNvSpPr/>
              <p:nvPr/>
            </p:nvSpPr>
            <p:spPr>
              <a:xfrm>
                <a:off x="3317546" y="1682876"/>
                <a:ext cx="5556906"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𝛥</m:t>
                      </m:r>
                      <m:r>
                        <a:rPr lang="zh-CN" altLang="en-US" i="1">
                          <a:latin typeface="Cambria Math" panose="02040503050406030204" pitchFamily="18" charset="0"/>
                        </a:rPr>
                        <m:t>𝑦</m:t>
                      </m:r>
                      <m:r>
                        <a:rPr lang="zh-CN" altLang="en-US" i="0">
                          <a:latin typeface="Cambria Math" panose="02040503050406030204" pitchFamily="18" charset="0"/>
                        </a:rPr>
                        <m:t>)=</m:t>
                      </m:r>
                      <m:r>
                        <a:rPr lang="zh-CN" altLang="en-US" i="1">
                          <a:latin typeface="Cambria Math" panose="02040503050406030204" pitchFamily="18" charset="0"/>
                        </a:rPr>
                        <m:t>𝑃</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𝑓</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𝛥</m:t>
                      </m:r>
                      <m:r>
                        <a:rPr lang="zh-CN" altLang="en-US" i="1">
                          <a:latin typeface="Cambria Math" panose="02040503050406030204" pitchFamily="18" charset="0"/>
                        </a:rPr>
                        <m:t>𝑦</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den>
                      </m:f>
                      <m:r>
                        <a:rPr lang="zh-CN" altLang="en-US" i="1">
                          <a:latin typeface="Cambria Math" panose="02040503050406030204" pitchFamily="18" charset="0"/>
                        </a:rPr>
                        <m:t>𝑓</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0</m:t>
                          </m:r>
                        </m:sub>
                      </m:sSub>
                      <m:r>
                        <a:rPr lang="zh-CN" altLang="en-US" i="0">
                          <a:latin typeface="Cambria Math" panose="02040503050406030204" pitchFamily="18" charset="0"/>
                        </a:rPr>
                        <m:t>)</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1">
                                  <a:latin typeface="Cambria Math" panose="02040503050406030204" pitchFamily="18" charset="0"/>
                                </a:rPr>
                                <m:t>𝛥</m:t>
                              </m:r>
                              <m:r>
                                <a:rPr lang="zh-CN" altLang="en-US" i="1">
                                  <a:latin typeface="Cambria Math" panose="02040503050406030204" pitchFamily="18" charset="0"/>
                                </a:rPr>
                                <m:t>𝑦</m:t>
                              </m:r>
                            </m:e>
                          </m:d>
                        </m:e>
                        <m:sup>
                          <m:r>
                            <a:rPr lang="zh-CN" altLang="en-US" i="0">
                              <a:latin typeface="Cambria Math" panose="02040503050406030204" pitchFamily="18" charset="0"/>
                            </a:rPr>
                            <m:t>2</m:t>
                          </m:r>
                        </m:sup>
                      </m:sSup>
                      <m:r>
                        <a:rPr lang="zh-CN" altLang="en-US" i="0">
                          <a:latin typeface="Cambria Math" panose="02040503050406030204" pitchFamily="18" charset="0"/>
                        </a:rPr>
                        <m:t>+…</m:t>
                      </m:r>
                    </m:oMath>
                  </m:oMathPara>
                </a14:m>
                <a:endParaRPr lang="zh-CN" altLang="en-US" dirty="0"/>
              </a:p>
            </p:txBody>
          </p:sp>
        </mc:Choice>
        <mc:Fallback xmlns="">
          <p:sp>
            <p:nvSpPr>
              <p:cNvPr id="5" name="矩形 4">
                <a:extLst>
                  <a:ext uri="{FF2B5EF4-FFF2-40B4-BE49-F238E27FC236}">
                    <a16:creationId xmlns:a16="http://schemas.microsoft.com/office/drawing/2014/main" id="{37D66147-20C0-45C2-8EAB-25B7B8DBF687}"/>
                  </a:ext>
                </a:extLst>
              </p:cNvPr>
              <p:cNvSpPr>
                <a:spLocks noRot="1" noChangeAspect="1" noMove="1" noResize="1" noEditPoints="1" noAdjustHandles="1" noChangeArrowheads="1" noChangeShapeType="1" noTextEdit="1"/>
              </p:cNvSpPr>
              <p:nvPr/>
            </p:nvSpPr>
            <p:spPr>
              <a:xfrm>
                <a:off x="3317546" y="1682876"/>
                <a:ext cx="5556906" cy="610936"/>
              </a:xfrm>
              <a:prstGeom prst="rect">
                <a:avLst/>
              </a:prstGeom>
              <a:blipFill>
                <a:blip r:embed="rId6"/>
                <a:stretch>
                  <a:fillRect/>
                </a:stretch>
              </a:blipFill>
            </p:spPr>
            <p:txBody>
              <a:bodyPr/>
              <a:lstStyle/>
              <a:p>
                <a:r>
                  <a:rPr lang="zh-CN" altLang="en-US">
                    <a:noFill/>
                  </a:rPr>
                  <a:t> </a:t>
                </a:r>
              </a:p>
            </p:txBody>
          </p:sp>
        </mc:Fallback>
      </mc:AlternateContent>
      <p:grpSp>
        <p:nvGrpSpPr>
          <p:cNvPr id="8" name="Group 6">
            <a:extLst>
              <a:ext uri="{FF2B5EF4-FFF2-40B4-BE49-F238E27FC236}">
                <a16:creationId xmlns:a16="http://schemas.microsoft.com/office/drawing/2014/main" id="{4BC42268-30F0-43B0-B2A4-ADE38264E234}"/>
              </a:ext>
            </a:extLst>
          </p:cNvPr>
          <p:cNvGrpSpPr>
            <a:grpSpLocks/>
          </p:cNvGrpSpPr>
          <p:nvPr/>
        </p:nvGrpSpPr>
        <p:grpSpPr bwMode="auto">
          <a:xfrm>
            <a:off x="5503133" y="2357312"/>
            <a:ext cx="2744052" cy="1079500"/>
            <a:chOff x="321" y="0"/>
            <a:chExt cx="1965" cy="680"/>
          </a:xfrm>
        </p:grpSpPr>
        <p:sp>
          <p:nvSpPr>
            <p:cNvPr id="9" name="Line 10">
              <a:extLst>
                <a:ext uri="{FF2B5EF4-FFF2-40B4-BE49-F238E27FC236}">
                  <a16:creationId xmlns:a16="http://schemas.microsoft.com/office/drawing/2014/main" id="{A3F126E3-C834-4C8B-9166-6DA7852CCACC}"/>
                </a:ext>
              </a:extLst>
            </p:cNvPr>
            <p:cNvSpPr>
              <a:spLocks noChangeShapeType="1"/>
            </p:cNvSpPr>
            <p:nvPr/>
          </p:nvSpPr>
          <p:spPr bwMode="auto">
            <a:xfrm>
              <a:off x="517" y="0"/>
              <a:ext cx="491" cy="0"/>
            </a:xfrm>
            <a:prstGeom prst="line">
              <a:avLst/>
            </a:prstGeom>
            <a:noFill/>
            <a:ln w="57150">
              <a:solidFill>
                <a:srgbClr val="2C3E50"/>
              </a:solidFill>
              <a:round/>
              <a:headEnd/>
              <a:tailEnd/>
            </a:ln>
            <a:extLst>
              <a:ext uri="{909E8E84-426E-40DD-AFC4-6F175D3DCCD1}">
                <a14:hiddenFill xmlns:a14="http://schemas.microsoft.com/office/drawing/2010/main">
                  <a:noFill/>
                </a14:hiddenFill>
              </a:ext>
            </a:extLst>
          </p:spPr>
          <p:txBody>
            <a:bodyPr lIns="36000" tIns="36000" rIns="36000" bIns="36000" anchor="ctr" anchorCtr="0">
              <a:spAutoFit/>
            </a:bodyPr>
            <a:lstStyle/>
            <a:p>
              <a:endParaRPr lang="zh-CN" altLang="en-US">
                <a:solidFill>
                  <a:srgbClr val="2C3E50"/>
                </a:solidFill>
                <a:latin typeface="Segoe UI" panose="020B0502040204020203" pitchFamily="34" charset="0"/>
                <a:cs typeface="Segoe UI" panose="020B0502040204020203" pitchFamily="34" charset="0"/>
              </a:endParaRPr>
            </a:p>
          </p:txBody>
        </p:sp>
        <p:sp>
          <p:nvSpPr>
            <p:cNvPr id="10" name="Line 11">
              <a:extLst>
                <a:ext uri="{FF2B5EF4-FFF2-40B4-BE49-F238E27FC236}">
                  <a16:creationId xmlns:a16="http://schemas.microsoft.com/office/drawing/2014/main" id="{42915794-C0B0-48C2-BF25-CA3606DD78A0}"/>
                </a:ext>
              </a:extLst>
            </p:cNvPr>
            <p:cNvSpPr>
              <a:spLocks noChangeShapeType="1"/>
            </p:cNvSpPr>
            <p:nvPr/>
          </p:nvSpPr>
          <p:spPr bwMode="auto">
            <a:xfrm>
              <a:off x="1549" y="0"/>
              <a:ext cx="491" cy="0"/>
            </a:xfrm>
            <a:prstGeom prst="line">
              <a:avLst/>
            </a:prstGeom>
            <a:noFill/>
            <a:ln w="57150">
              <a:solidFill>
                <a:srgbClr val="2C3E50"/>
              </a:solidFill>
              <a:round/>
              <a:headEnd/>
              <a:tailEnd/>
            </a:ln>
            <a:extLst>
              <a:ext uri="{909E8E84-426E-40DD-AFC4-6F175D3DCCD1}">
                <a14:hiddenFill xmlns:a14="http://schemas.microsoft.com/office/drawing/2010/main">
                  <a:noFill/>
                </a14:hiddenFill>
              </a:ext>
            </a:extLst>
          </p:spPr>
          <p:txBody>
            <a:bodyPr lIns="36000" tIns="36000" rIns="36000" bIns="36000" anchor="ctr" anchorCtr="0">
              <a:spAutoFit/>
            </a:bodyPr>
            <a:lstStyle/>
            <a:p>
              <a:endParaRPr lang="zh-CN" altLang="en-US">
                <a:solidFill>
                  <a:srgbClr val="2C3E50"/>
                </a:solidFill>
                <a:latin typeface="Segoe UI" panose="020B0502040204020203" pitchFamily="34" charset="0"/>
                <a:cs typeface="Segoe UI" panose="020B0502040204020203" pitchFamily="34" charset="0"/>
              </a:endParaRPr>
            </a:p>
          </p:txBody>
        </p:sp>
        <p:sp>
          <p:nvSpPr>
            <p:cNvPr id="11" name="Line 12">
              <a:extLst>
                <a:ext uri="{FF2B5EF4-FFF2-40B4-BE49-F238E27FC236}">
                  <a16:creationId xmlns:a16="http://schemas.microsoft.com/office/drawing/2014/main" id="{B84D0EC4-F260-45C8-BD47-C893570B7F48}"/>
                </a:ext>
              </a:extLst>
            </p:cNvPr>
            <p:cNvSpPr>
              <a:spLocks noChangeShapeType="1"/>
            </p:cNvSpPr>
            <p:nvPr/>
          </p:nvSpPr>
          <p:spPr bwMode="auto">
            <a:xfrm>
              <a:off x="762" y="0"/>
              <a:ext cx="0" cy="272"/>
            </a:xfrm>
            <a:prstGeom prst="line">
              <a:avLst/>
            </a:prstGeom>
            <a:noFill/>
            <a:ln w="12700">
              <a:solidFill>
                <a:srgbClr val="2C3E50"/>
              </a:solidFill>
              <a:round/>
              <a:headEnd/>
              <a:tailEnd type="triangle" w="med" len="med"/>
            </a:ln>
            <a:extLst>
              <a:ext uri="{909E8E84-426E-40DD-AFC4-6F175D3DCCD1}">
                <a14:hiddenFill xmlns:a14="http://schemas.microsoft.com/office/drawing/2010/main">
                  <a:noFill/>
                </a14:hiddenFill>
              </a:ext>
            </a:extLst>
          </p:spPr>
          <p:txBody>
            <a:bodyPr lIns="36000" tIns="36000" rIns="36000" bIns="36000" anchor="ctr" anchorCtr="0">
              <a:spAutoFit/>
            </a:bodyPr>
            <a:lstStyle/>
            <a:p>
              <a:endParaRPr lang="zh-CN" altLang="en-US">
                <a:solidFill>
                  <a:srgbClr val="2C3E50"/>
                </a:solidFill>
                <a:latin typeface="Segoe UI" panose="020B0502040204020203" pitchFamily="34" charset="0"/>
                <a:cs typeface="Segoe UI" panose="020B0502040204020203" pitchFamily="34" charset="0"/>
              </a:endParaRPr>
            </a:p>
          </p:txBody>
        </p:sp>
        <p:sp>
          <p:nvSpPr>
            <p:cNvPr id="12" name="Line 13">
              <a:extLst>
                <a:ext uri="{FF2B5EF4-FFF2-40B4-BE49-F238E27FC236}">
                  <a16:creationId xmlns:a16="http://schemas.microsoft.com/office/drawing/2014/main" id="{03A4A314-3555-449E-B9F0-4C08983341D7}"/>
                </a:ext>
              </a:extLst>
            </p:cNvPr>
            <p:cNvSpPr>
              <a:spLocks noChangeShapeType="1"/>
            </p:cNvSpPr>
            <p:nvPr/>
          </p:nvSpPr>
          <p:spPr bwMode="auto">
            <a:xfrm>
              <a:off x="1794" y="0"/>
              <a:ext cx="0" cy="272"/>
            </a:xfrm>
            <a:prstGeom prst="line">
              <a:avLst/>
            </a:prstGeom>
            <a:noFill/>
            <a:ln w="12700">
              <a:solidFill>
                <a:srgbClr val="2C3E50"/>
              </a:solidFill>
              <a:round/>
              <a:headEnd/>
              <a:tailEnd type="triangle" w="med" len="med"/>
            </a:ln>
            <a:extLst>
              <a:ext uri="{909E8E84-426E-40DD-AFC4-6F175D3DCCD1}">
                <a14:hiddenFill xmlns:a14="http://schemas.microsoft.com/office/drawing/2010/main">
                  <a:noFill/>
                </a14:hiddenFill>
              </a:ext>
            </a:extLst>
          </p:spPr>
          <p:txBody>
            <a:bodyPr lIns="36000" tIns="36000" rIns="36000" bIns="36000" anchor="ctr" anchorCtr="0">
              <a:spAutoFit/>
            </a:bodyPr>
            <a:lstStyle/>
            <a:p>
              <a:endParaRPr lang="zh-CN" altLang="en-US">
                <a:solidFill>
                  <a:srgbClr val="2C3E50"/>
                </a:solidFill>
                <a:latin typeface="Segoe UI" panose="020B0502040204020203" pitchFamily="34" charset="0"/>
                <a:cs typeface="Segoe UI" panose="020B0502040204020203" pitchFamily="34" charset="0"/>
              </a:endParaRPr>
            </a:p>
          </p:txBody>
        </p:sp>
        <p:sp>
          <p:nvSpPr>
            <p:cNvPr id="13" name="Text Box 14">
              <a:extLst>
                <a:ext uri="{FF2B5EF4-FFF2-40B4-BE49-F238E27FC236}">
                  <a16:creationId xmlns:a16="http://schemas.microsoft.com/office/drawing/2014/main" id="{8FA8F11E-2F1E-4F4D-8FE3-FDDBBC5A535A}"/>
                </a:ext>
              </a:extLst>
            </p:cNvPr>
            <p:cNvSpPr txBox="1">
              <a:spLocks noChangeArrowheads="1"/>
            </p:cNvSpPr>
            <p:nvPr/>
          </p:nvSpPr>
          <p:spPr bwMode="auto">
            <a:xfrm>
              <a:off x="321" y="272"/>
              <a:ext cx="933" cy="408"/>
            </a:xfrm>
            <a:prstGeom prst="rect">
              <a:avLst/>
            </a:prstGeom>
            <a:noFill/>
            <a:ln w="19050">
              <a:solidFill>
                <a:srgbClr val="2C3E50"/>
              </a:solidFill>
              <a:miter lim="800000"/>
              <a:headEnd/>
              <a:tailEnd/>
            </a:ln>
            <a:extLst/>
          </p:spPr>
          <p:txBody>
            <a:bodyPr lIns="36000" tIns="36000" rIns="36000" bIns="36000" anchor="ctr" anchorCtr="0">
              <a:spAutoFit/>
            </a:bodyPr>
            <a:lstStyle>
              <a:lvl1pPr algn="just">
                <a:lnSpc>
                  <a:spcPct val="120000"/>
                </a:lnSpc>
                <a:buClr>
                  <a:srgbClr val="FFFF00"/>
                </a:buClr>
                <a:buFont typeface="Wingdings" panose="05000000000000000000" pitchFamily="2" charset="2"/>
                <a:buChar char="Ø"/>
                <a:defRPr sz="2400">
                  <a:solidFill>
                    <a:schemeClr val="bg1"/>
                  </a:solidFill>
                  <a:latin typeface="Arial" panose="020B0604020202020204" pitchFamily="34" charset="0"/>
                  <a:ea typeface="微软雅黑" panose="020B0503020204020204" pitchFamily="34" charset="-122"/>
                </a:defRPr>
              </a:lvl1pPr>
              <a:lvl2pPr marL="742950" indent="-285750" algn="just">
                <a:lnSpc>
                  <a:spcPct val="120000"/>
                </a:lnSpc>
                <a:buClr>
                  <a:srgbClr val="FFFF00"/>
                </a:buClr>
                <a:buSzPct val="100000"/>
                <a:buFont typeface="Wingdings" panose="05000000000000000000" pitchFamily="2" charset="2"/>
                <a:buChar char="l"/>
                <a:defRPr sz="2400">
                  <a:solidFill>
                    <a:schemeClr val="bg1"/>
                  </a:solidFill>
                  <a:latin typeface="Arial" panose="020B0604020202020204" pitchFamily="34" charset="0"/>
                  <a:ea typeface="微软雅黑" panose="020B0503020204020204" pitchFamily="34" charset="-122"/>
                </a:defRPr>
              </a:lvl2pPr>
              <a:lvl3pPr marL="1143000" indent="-228600" algn="just">
                <a:lnSpc>
                  <a:spcPct val="120000"/>
                </a:lnSpc>
                <a:buClr>
                  <a:srgbClr val="FFFF00"/>
                </a:buClr>
                <a:buFont typeface="Wingdings" panose="05000000000000000000" pitchFamily="2" charset="2"/>
                <a:buChar char="ü"/>
                <a:defRPr sz="2400">
                  <a:solidFill>
                    <a:schemeClr val="bg1"/>
                  </a:solidFill>
                  <a:latin typeface="Arial" panose="020B0604020202020204" pitchFamily="34" charset="0"/>
                  <a:ea typeface="微软雅黑" panose="020B0503020204020204" pitchFamily="34" charset="-122"/>
                </a:defRPr>
              </a:lvl3pPr>
              <a:lvl4pPr marL="1600200" indent="-228600" algn="just">
                <a:lnSpc>
                  <a:spcPct val="120000"/>
                </a:lnSpc>
                <a:buClr>
                  <a:srgbClr val="FFFF00"/>
                </a:buClr>
                <a:buSzPct val="100000"/>
                <a:buFont typeface="Wingdings" panose="05000000000000000000" pitchFamily="2" charset="2"/>
                <a:buChar char="u"/>
                <a:defRPr sz="2400">
                  <a:solidFill>
                    <a:schemeClr val="bg1"/>
                  </a:solidFill>
                  <a:latin typeface="Arial" panose="020B0604020202020204" pitchFamily="34" charset="0"/>
                  <a:ea typeface="微软雅黑" panose="020B0503020204020204" pitchFamily="34" charset="-122"/>
                </a:defRPr>
              </a:lvl4pPr>
              <a:lvl5pPr marL="2057400" indent="-228600" algn="just">
                <a:lnSpc>
                  <a:spcPct val="120000"/>
                </a:lnSpc>
                <a:buClr>
                  <a:srgbClr val="FFFF00"/>
                </a:buClr>
                <a:buSzPct val="100000"/>
                <a:buFont typeface="Wingdings" panose="05000000000000000000" pitchFamily="2" charset="2"/>
                <a:buChar char="p"/>
                <a:defRPr sz="2900">
                  <a:solidFill>
                    <a:schemeClr val="bg1"/>
                  </a:solidFill>
                  <a:latin typeface="Arial" panose="020B0604020202020204" pitchFamily="34" charset="0"/>
                  <a:ea typeface="微软雅黑" panose="020B0503020204020204" pitchFamily="34" charset="-122"/>
                </a:defRPr>
              </a:lvl5pPr>
              <a:lvl6pPr marL="2514600" indent="-228600" algn="just" eaLnBrk="0" fontAlgn="base" hangingPunct="0">
                <a:lnSpc>
                  <a:spcPct val="120000"/>
                </a:lnSpc>
                <a:spcBef>
                  <a:spcPct val="0"/>
                </a:spcBef>
                <a:spcAft>
                  <a:spcPct val="0"/>
                </a:spcAft>
                <a:buClr>
                  <a:srgbClr val="FFFF00"/>
                </a:buClr>
                <a:buSzPct val="100000"/>
                <a:buFont typeface="Wingdings" panose="05000000000000000000" pitchFamily="2" charset="2"/>
                <a:buChar char="p"/>
                <a:defRPr sz="2900">
                  <a:solidFill>
                    <a:schemeClr val="bg1"/>
                  </a:solidFill>
                  <a:latin typeface="Arial" panose="020B0604020202020204" pitchFamily="34" charset="0"/>
                  <a:ea typeface="微软雅黑" panose="020B0503020204020204" pitchFamily="34" charset="-122"/>
                </a:defRPr>
              </a:lvl6pPr>
              <a:lvl7pPr marL="2971800" indent="-228600" algn="just" eaLnBrk="0" fontAlgn="base" hangingPunct="0">
                <a:lnSpc>
                  <a:spcPct val="120000"/>
                </a:lnSpc>
                <a:spcBef>
                  <a:spcPct val="0"/>
                </a:spcBef>
                <a:spcAft>
                  <a:spcPct val="0"/>
                </a:spcAft>
                <a:buClr>
                  <a:srgbClr val="FFFF00"/>
                </a:buClr>
                <a:buSzPct val="100000"/>
                <a:buFont typeface="Wingdings" panose="05000000000000000000" pitchFamily="2" charset="2"/>
                <a:buChar char="p"/>
                <a:defRPr sz="2900">
                  <a:solidFill>
                    <a:schemeClr val="bg1"/>
                  </a:solidFill>
                  <a:latin typeface="Arial" panose="020B0604020202020204" pitchFamily="34" charset="0"/>
                  <a:ea typeface="微软雅黑" panose="020B0503020204020204" pitchFamily="34" charset="-122"/>
                </a:defRPr>
              </a:lvl7pPr>
              <a:lvl8pPr marL="3429000" indent="-228600" algn="just" eaLnBrk="0" fontAlgn="base" hangingPunct="0">
                <a:lnSpc>
                  <a:spcPct val="120000"/>
                </a:lnSpc>
                <a:spcBef>
                  <a:spcPct val="0"/>
                </a:spcBef>
                <a:spcAft>
                  <a:spcPct val="0"/>
                </a:spcAft>
                <a:buClr>
                  <a:srgbClr val="FFFF00"/>
                </a:buClr>
                <a:buSzPct val="100000"/>
                <a:buFont typeface="Wingdings" panose="05000000000000000000" pitchFamily="2" charset="2"/>
                <a:buChar char="p"/>
                <a:defRPr sz="2900">
                  <a:solidFill>
                    <a:schemeClr val="bg1"/>
                  </a:solidFill>
                  <a:latin typeface="Arial" panose="020B0604020202020204" pitchFamily="34" charset="0"/>
                  <a:ea typeface="微软雅黑" panose="020B0503020204020204" pitchFamily="34" charset="-122"/>
                </a:defRPr>
              </a:lvl8pPr>
              <a:lvl9pPr marL="3886200" indent="-228600" algn="just" eaLnBrk="0" fontAlgn="base" hangingPunct="0">
                <a:lnSpc>
                  <a:spcPct val="120000"/>
                </a:lnSpc>
                <a:spcBef>
                  <a:spcPct val="0"/>
                </a:spcBef>
                <a:spcAft>
                  <a:spcPct val="0"/>
                </a:spcAft>
                <a:buClr>
                  <a:srgbClr val="FFFF00"/>
                </a:buClr>
                <a:buSzPct val="100000"/>
                <a:buFont typeface="Wingdings" panose="05000000000000000000" pitchFamily="2" charset="2"/>
                <a:buChar char="p"/>
                <a:defRPr sz="2900">
                  <a:solidFill>
                    <a:schemeClr val="bg1"/>
                  </a:solidFill>
                  <a:latin typeface="Arial" panose="020B0604020202020204" pitchFamily="34" charset="0"/>
                  <a:ea typeface="微软雅黑" panose="020B0503020204020204" pitchFamily="34" charset="-122"/>
                </a:defRPr>
              </a:lvl9pPr>
            </a:lstStyle>
            <a:p>
              <a:pPr algn="ctr" eaLnBrk="1" hangingPunct="1">
                <a:lnSpc>
                  <a:spcPct val="100000"/>
                </a:lnSpc>
                <a:spcBef>
                  <a:spcPct val="30000"/>
                </a:spcBef>
                <a:buClr>
                  <a:srgbClr val="800000"/>
                </a:buClr>
                <a:buSzPct val="80000"/>
                <a:buFont typeface="Wingdings" panose="05000000000000000000" pitchFamily="2" charset="2"/>
                <a:buNone/>
                <a:defRPr/>
              </a:pP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dollar duration</a:t>
              </a:r>
            </a:p>
          </p:txBody>
        </p:sp>
        <p:sp>
          <p:nvSpPr>
            <p:cNvPr id="14" name="Text Box 15">
              <a:extLst>
                <a:ext uri="{FF2B5EF4-FFF2-40B4-BE49-F238E27FC236}">
                  <a16:creationId xmlns:a16="http://schemas.microsoft.com/office/drawing/2014/main" id="{760E271B-B896-40D5-8DBF-33BE2B9A7D06}"/>
                </a:ext>
              </a:extLst>
            </p:cNvPr>
            <p:cNvSpPr txBox="1">
              <a:spLocks noChangeArrowheads="1"/>
            </p:cNvSpPr>
            <p:nvPr/>
          </p:nvSpPr>
          <p:spPr bwMode="auto">
            <a:xfrm>
              <a:off x="1353" y="272"/>
              <a:ext cx="933" cy="408"/>
            </a:xfrm>
            <a:prstGeom prst="rect">
              <a:avLst/>
            </a:prstGeom>
            <a:noFill/>
            <a:ln w="19050">
              <a:solidFill>
                <a:srgbClr val="2C3E50"/>
              </a:solidFill>
              <a:miter lim="800000"/>
              <a:headEnd/>
              <a:tailEnd/>
            </a:ln>
            <a:extLst/>
          </p:spPr>
          <p:txBody>
            <a:bodyPr lIns="36000" tIns="36000" rIns="36000" bIns="36000" anchor="ctr" anchorCtr="0">
              <a:spAutoFit/>
            </a:bodyPr>
            <a:lstStyle>
              <a:lvl1pPr algn="just">
                <a:lnSpc>
                  <a:spcPct val="120000"/>
                </a:lnSpc>
                <a:buClr>
                  <a:srgbClr val="FFFF00"/>
                </a:buClr>
                <a:buFont typeface="Wingdings" panose="05000000000000000000" pitchFamily="2" charset="2"/>
                <a:buChar char="Ø"/>
                <a:defRPr sz="2400">
                  <a:solidFill>
                    <a:schemeClr val="bg1"/>
                  </a:solidFill>
                  <a:latin typeface="Arial" panose="020B0604020202020204" pitchFamily="34" charset="0"/>
                  <a:ea typeface="微软雅黑" panose="020B0503020204020204" pitchFamily="34" charset="-122"/>
                </a:defRPr>
              </a:lvl1pPr>
              <a:lvl2pPr marL="742950" indent="-285750" algn="just">
                <a:lnSpc>
                  <a:spcPct val="120000"/>
                </a:lnSpc>
                <a:buClr>
                  <a:srgbClr val="FFFF00"/>
                </a:buClr>
                <a:buSzPct val="100000"/>
                <a:buFont typeface="Wingdings" panose="05000000000000000000" pitchFamily="2" charset="2"/>
                <a:buChar char="l"/>
                <a:defRPr sz="2400">
                  <a:solidFill>
                    <a:schemeClr val="bg1"/>
                  </a:solidFill>
                  <a:latin typeface="Arial" panose="020B0604020202020204" pitchFamily="34" charset="0"/>
                  <a:ea typeface="微软雅黑" panose="020B0503020204020204" pitchFamily="34" charset="-122"/>
                </a:defRPr>
              </a:lvl2pPr>
              <a:lvl3pPr marL="1143000" indent="-228600" algn="just">
                <a:lnSpc>
                  <a:spcPct val="120000"/>
                </a:lnSpc>
                <a:buClr>
                  <a:srgbClr val="FFFF00"/>
                </a:buClr>
                <a:buFont typeface="Wingdings" panose="05000000000000000000" pitchFamily="2" charset="2"/>
                <a:buChar char="ü"/>
                <a:defRPr sz="2400">
                  <a:solidFill>
                    <a:schemeClr val="bg1"/>
                  </a:solidFill>
                  <a:latin typeface="Arial" panose="020B0604020202020204" pitchFamily="34" charset="0"/>
                  <a:ea typeface="微软雅黑" panose="020B0503020204020204" pitchFamily="34" charset="-122"/>
                </a:defRPr>
              </a:lvl3pPr>
              <a:lvl4pPr marL="1600200" indent="-228600" algn="just">
                <a:lnSpc>
                  <a:spcPct val="120000"/>
                </a:lnSpc>
                <a:buClr>
                  <a:srgbClr val="FFFF00"/>
                </a:buClr>
                <a:buSzPct val="100000"/>
                <a:buFont typeface="Wingdings" panose="05000000000000000000" pitchFamily="2" charset="2"/>
                <a:buChar char="u"/>
                <a:defRPr sz="2400">
                  <a:solidFill>
                    <a:schemeClr val="bg1"/>
                  </a:solidFill>
                  <a:latin typeface="Arial" panose="020B0604020202020204" pitchFamily="34" charset="0"/>
                  <a:ea typeface="微软雅黑" panose="020B0503020204020204" pitchFamily="34" charset="-122"/>
                </a:defRPr>
              </a:lvl4pPr>
              <a:lvl5pPr marL="2057400" indent="-228600" algn="just">
                <a:lnSpc>
                  <a:spcPct val="120000"/>
                </a:lnSpc>
                <a:buClr>
                  <a:srgbClr val="FFFF00"/>
                </a:buClr>
                <a:buSzPct val="100000"/>
                <a:buFont typeface="Wingdings" panose="05000000000000000000" pitchFamily="2" charset="2"/>
                <a:buChar char="p"/>
                <a:defRPr sz="2900">
                  <a:solidFill>
                    <a:schemeClr val="bg1"/>
                  </a:solidFill>
                  <a:latin typeface="Arial" panose="020B0604020202020204" pitchFamily="34" charset="0"/>
                  <a:ea typeface="微软雅黑" panose="020B0503020204020204" pitchFamily="34" charset="-122"/>
                </a:defRPr>
              </a:lvl5pPr>
              <a:lvl6pPr marL="2514600" indent="-228600" algn="just" eaLnBrk="0" fontAlgn="base" hangingPunct="0">
                <a:lnSpc>
                  <a:spcPct val="120000"/>
                </a:lnSpc>
                <a:spcBef>
                  <a:spcPct val="0"/>
                </a:spcBef>
                <a:spcAft>
                  <a:spcPct val="0"/>
                </a:spcAft>
                <a:buClr>
                  <a:srgbClr val="FFFF00"/>
                </a:buClr>
                <a:buSzPct val="100000"/>
                <a:buFont typeface="Wingdings" panose="05000000000000000000" pitchFamily="2" charset="2"/>
                <a:buChar char="p"/>
                <a:defRPr sz="2900">
                  <a:solidFill>
                    <a:schemeClr val="bg1"/>
                  </a:solidFill>
                  <a:latin typeface="Arial" panose="020B0604020202020204" pitchFamily="34" charset="0"/>
                  <a:ea typeface="微软雅黑" panose="020B0503020204020204" pitchFamily="34" charset="-122"/>
                </a:defRPr>
              </a:lvl6pPr>
              <a:lvl7pPr marL="2971800" indent="-228600" algn="just" eaLnBrk="0" fontAlgn="base" hangingPunct="0">
                <a:lnSpc>
                  <a:spcPct val="120000"/>
                </a:lnSpc>
                <a:spcBef>
                  <a:spcPct val="0"/>
                </a:spcBef>
                <a:spcAft>
                  <a:spcPct val="0"/>
                </a:spcAft>
                <a:buClr>
                  <a:srgbClr val="FFFF00"/>
                </a:buClr>
                <a:buSzPct val="100000"/>
                <a:buFont typeface="Wingdings" panose="05000000000000000000" pitchFamily="2" charset="2"/>
                <a:buChar char="p"/>
                <a:defRPr sz="2900">
                  <a:solidFill>
                    <a:schemeClr val="bg1"/>
                  </a:solidFill>
                  <a:latin typeface="Arial" panose="020B0604020202020204" pitchFamily="34" charset="0"/>
                  <a:ea typeface="微软雅黑" panose="020B0503020204020204" pitchFamily="34" charset="-122"/>
                </a:defRPr>
              </a:lvl7pPr>
              <a:lvl8pPr marL="3429000" indent="-228600" algn="just" eaLnBrk="0" fontAlgn="base" hangingPunct="0">
                <a:lnSpc>
                  <a:spcPct val="120000"/>
                </a:lnSpc>
                <a:spcBef>
                  <a:spcPct val="0"/>
                </a:spcBef>
                <a:spcAft>
                  <a:spcPct val="0"/>
                </a:spcAft>
                <a:buClr>
                  <a:srgbClr val="FFFF00"/>
                </a:buClr>
                <a:buSzPct val="100000"/>
                <a:buFont typeface="Wingdings" panose="05000000000000000000" pitchFamily="2" charset="2"/>
                <a:buChar char="p"/>
                <a:defRPr sz="2900">
                  <a:solidFill>
                    <a:schemeClr val="bg1"/>
                  </a:solidFill>
                  <a:latin typeface="Arial" panose="020B0604020202020204" pitchFamily="34" charset="0"/>
                  <a:ea typeface="微软雅黑" panose="020B0503020204020204" pitchFamily="34" charset="-122"/>
                </a:defRPr>
              </a:lvl8pPr>
              <a:lvl9pPr marL="3886200" indent="-228600" algn="just" eaLnBrk="0" fontAlgn="base" hangingPunct="0">
                <a:lnSpc>
                  <a:spcPct val="120000"/>
                </a:lnSpc>
                <a:spcBef>
                  <a:spcPct val="0"/>
                </a:spcBef>
                <a:spcAft>
                  <a:spcPct val="0"/>
                </a:spcAft>
                <a:buClr>
                  <a:srgbClr val="FFFF00"/>
                </a:buClr>
                <a:buSzPct val="100000"/>
                <a:buFont typeface="Wingdings" panose="05000000000000000000" pitchFamily="2" charset="2"/>
                <a:buChar char="p"/>
                <a:defRPr sz="2900">
                  <a:solidFill>
                    <a:schemeClr val="bg1"/>
                  </a:solidFill>
                  <a:latin typeface="Arial" panose="020B0604020202020204" pitchFamily="34" charset="0"/>
                  <a:ea typeface="微软雅黑" panose="020B0503020204020204" pitchFamily="34" charset="-122"/>
                </a:defRPr>
              </a:lvl9pPr>
            </a:lstStyle>
            <a:p>
              <a:pPr algn="ctr" eaLnBrk="1" hangingPunct="1">
                <a:lnSpc>
                  <a:spcPct val="100000"/>
                </a:lnSpc>
                <a:spcBef>
                  <a:spcPct val="30000"/>
                </a:spcBef>
                <a:buClr>
                  <a:srgbClr val="800000"/>
                </a:buClr>
                <a:buSzPct val="80000"/>
                <a:buFont typeface="Wingdings" panose="05000000000000000000" pitchFamily="2" charset="2"/>
                <a:buNone/>
                <a:defRPr/>
              </a:pP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dollar convexity</a:t>
              </a:r>
            </a:p>
          </p:txBody>
        </p:sp>
      </p:gr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3B0EA125-5ECC-4C73-99A0-B9F20C3DD1ED}"/>
                  </a:ext>
                </a:extLst>
              </p:cNvPr>
              <p:cNvSpPr/>
              <p:nvPr/>
            </p:nvSpPr>
            <p:spPr>
              <a:xfrm>
                <a:off x="7595734" y="4215368"/>
                <a:ext cx="180299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𝑃</m:t>
                          </m:r>
                          <m:r>
                            <a:rPr lang="zh-CN" altLang="en-US" i="0">
                              <a:latin typeface="Cambria Math" panose="02040503050406030204" pitchFamily="18" charset="0"/>
                            </a:rPr>
                            <m:t>=</m:t>
                          </m:r>
                          <m:r>
                            <a:rPr lang="zh-CN" altLang="en-US" i="1">
                              <a:latin typeface="Cambria Math" panose="02040503050406030204" pitchFamily="18" charset="0"/>
                            </a:rPr>
                            <m:t>𝑓</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𝛥</m:t>
                          </m:r>
                          <m:r>
                            <a:rPr lang="zh-CN" altLang="en-US" i="1">
                              <a:latin typeface="Cambria Math" panose="02040503050406030204" pitchFamily="18" charset="0"/>
                            </a:rPr>
                            <m:t>𝑦</m:t>
                          </m:r>
                        </m:e>
                      </m:d>
                    </m:oMath>
                  </m:oMathPara>
                </a14:m>
                <a:endParaRPr lang="zh-CN" altLang="en-US" dirty="0"/>
              </a:p>
            </p:txBody>
          </p:sp>
        </mc:Choice>
        <mc:Fallback xmlns="">
          <p:sp>
            <p:nvSpPr>
              <p:cNvPr id="15" name="矩形 14">
                <a:extLst>
                  <a:ext uri="{FF2B5EF4-FFF2-40B4-BE49-F238E27FC236}">
                    <a16:creationId xmlns:a16="http://schemas.microsoft.com/office/drawing/2014/main" id="{3B0EA125-5ECC-4C73-99A0-B9F20C3DD1ED}"/>
                  </a:ext>
                </a:extLst>
              </p:cNvPr>
              <p:cNvSpPr>
                <a:spLocks noRot="1" noChangeAspect="1" noMove="1" noResize="1" noEditPoints="1" noAdjustHandles="1" noChangeArrowheads="1" noChangeShapeType="1" noTextEdit="1"/>
              </p:cNvSpPr>
              <p:nvPr/>
            </p:nvSpPr>
            <p:spPr>
              <a:xfrm>
                <a:off x="7595734" y="4215368"/>
                <a:ext cx="1802994" cy="369332"/>
              </a:xfrm>
              <a:prstGeom prst="rect">
                <a:avLst/>
              </a:prstGeom>
              <a:blipFill>
                <a:blip r:embed="rId7"/>
                <a:stretch>
                  <a:fillRect t="-116393" r="-27703" b="-1868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4F2602B5-7F9E-4804-93EE-814E4E2826E4}"/>
                  </a:ext>
                </a:extLst>
              </p:cNvPr>
              <p:cNvSpPr/>
              <p:nvPr/>
            </p:nvSpPr>
            <p:spPr>
              <a:xfrm>
                <a:off x="7595734" y="4759705"/>
                <a:ext cx="21325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𝐷</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0</m:t>
                          </m:r>
                        </m:sub>
                      </m:sSub>
                      <m:r>
                        <a:rPr lang="zh-CN" altLang="en-US" i="1">
                          <a:latin typeface="Cambria Math" panose="02040503050406030204" pitchFamily="18" charset="0"/>
                        </a:rPr>
                        <m:t>𝛥</m:t>
                      </m:r>
                      <m:r>
                        <a:rPr lang="zh-CN" altLang="en-US" i="1">
                          <a:latin typeface="Cambria Math" panose="02040503050406030204" pitchFamily="18" charset="0"/>
                        </a:rPr>
                        <m:t>𝑦</m:t>
                      </m:r>
                    </m:oMath>
                  </m:oMathPara>
                </a14:m>
                <a:endParaRPr lang="zh-CN" altLang="en-US" dirty="0"/>
              </a:p>
            </p:txBody>
          </p:sp>
        </mc:Choice>
        <mc:Fallback xmlns="">
          <p:sp>
            <p:nvSpPr>
              <p:cNvPr id="16" name="矩形 15">
                <a:extLst>
                  <a:ext uri="{FF2B5EF4-FFF2-40B4-BE49-F238E27FC236}">
                    <a16:creationId xmlns:a16="http://schemas.microsoft.com/office/drawing/2014/main" id="{4F2602B5-7F9E-4804-93EE-814E4E2826E4}"/>
                  </a:ext>
                </a:extLst>
              </p:cNvPr>
              <p:cNvSpPr>
                <a:spLocks noRot="1" noChangeAspect="1" noMove="1" noResize="1" noEditPoints="1" noAdjustHandles="1" noChangeArrowheads="1" noChangeShapeType="1" noTextEdit="1"/>
              </p:cNvSpPr>
              <p:nvPr/>
            </p:nvSpPr>
            <p:spPr>
              <a:xfrm>
                <a:off x="7595734" y="4759705"/>
                <a:ext cx="2132571" cy="369332"/>
              </a:xfrm>
              <a:prstGeom prst="rect">
                <a:avLst/>
              </a:prstGeom>
              <a:blipFill>
                <a:blip r:embed="rId8"/>
                <a:stretch>
                  <a:fillRect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B0460AC9-B11B-4DB1-81EE-3F224AD5CA9E}"/>
                  </a:ext>
                </a:extLst>
              </p:cNvPr>
              <p:cNvSpPr/>
              <p:nvPr/>
            </p:nvSpPr>
            <p:spPr>
              <a:xfrm>
                <a:off x="7595734" y="5304042"/>
                <a:ext cx="3789692"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𝐷</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0</m:t>
                          </m:r>
                        </m:sub>
                      </m:sSub>
                      <m:r>
                        <a:rPr lang="zh-CN" altLang="en-US" i="1">
                          <a:latin typeface="Cambria Math" panose="02040503050406030204" pitchFamily="18" charset="0"/>
                        </a:rPr>
                        <m:t>𝛥</m:t>
                      </m:r>
                      <m:r>
                        <a:rPr lang="zh-CN" altLang="en-US" i="1">
                          <a:latin typeface="Cambria Math" panose="02040503050406030204" pitchFamily="18" charset="0"/>
                        </a:rPr>
                        <m:t>𝑦</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den>
                      </m:f>
                      <m:r>
                        <a:rPr lang="zh-CN" altLang="en-US" i="1">
                          <a:latin typeface="Cambria Math" panose="02040503050406030204" pitchFamily="18" charset="0"/>
                        </a:rPr>
                        <m:t>𝐶</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0</m:t>
                          </m:r>
                        </m:sub>
                      </m:sSub>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1">
                                  <a:latin typeface="Cambria Math" panose="02040503050406030204" pitchFamily="18" charset="0"/>
                                </a:rPr>
                                <m:t>𝛥</m:t>
                              </m:r>
                              <m:r>
                                <a:rPr lang="zh-CN" altLang="en-US" i="1">
                                  <a:latin typeface="Cambria Math" panose="02040503050406030204" pitchFamily="18" charset="0"/>
                                </a:rPr>
                                <m:t>𝑦</m:t>
                              </m:r>
                            </m:e>
                          </m:d>
                        </m:e>
                        <m:sup>
                          <m:r>
                            <a:rPr lang="zh-CN" altLang="en-US" i="0">
                              <a:latin typeface="Cambria Math" panose="02040503050406030204" pitchFamily="18" charset="0"/>
                            </a:rPr>
                            <m:t>2</m:t>
                          </m:r>
                        </m:sup>
                      </m:sSup>
                    </m:oMath>
                  </m:oMathPara>
                </a14:m>
                <a:endParaRPr lang="zh-CN" altLang="en-US" dirty="0"/>
              </a:p>
            </p:txBody>
          </p:sp>
        </mc:Choice>
        <mc:Fallback xmlns="">
          <p:sp>
            <p:nvSpPr>
              <p:cNvPr id="17" name="矩形 16">
                <a:extLst>
                  <a:ext uri="{FF2B5EF4-FFF2-40B4-BE49-F238E27FC236}">
                    <a16:creationId xmlns:a16="http://schemas.microsoft.com/office/drawing/2014/main" id="{B0460AC9-B11B-4DB1-81EE-3F224AD5CA9E}"/>
                  </a:ext>
                </a:extLst>
              </p:cNvPr>
              <p:cNvSpPr>
                <a:spLocks noRot="1" noChangeAspect="1" noMove="1" noResize="1" noEditPoints="1" noAdjustHandles="1" noChangeArrowheads="1" noChangeShapeType="1" noTextEdit="1"/>
              </p:cNvSpPr>
              <p:nvPr/>
            </p:nvSpPr>
            <p:spPr>
              <a:xfrm>
                <a:off x="7595734" y="5304042"/>
                <a:ext cx="3789692" cy="610936"/>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403692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fontScale="92500" lnSpcReduction="10000"/>
          </a:bodyPr>
          <a:lstStyle/>
          <a:p>
            <a:r>
              <a:rPr lang="en-US" altLang="zh-CN" dirty="0"/>
              <a:t>Example</a:t>
            </a:r>
          </a:p>
          <a:p>
            <a:pPr lvl="1">
              <a:lnSpc>
                <a:spcPct val="140000"/>
              </a:lnSpc>
            </a:pPr>
            <a:r>
              <a:rPr lang="en-US" altLang="zh-CN" dirty="0"/>
              <a:t>Consider a 10-year zero-coupon Treasury bond trading at a yield of 6%, semiannually compounding. </a:t>
            </a:r>
          </a:p>
          <a:p>
            <a:pPr lvl="1">
              <a:lnSpc>
                <a:spcPct val="140000"/>
              </a:lnSpc>
            </a:pPr>
            <a:r>
              <a:rPr lang="en-US" altLang="zh-CN" dirty="0"/>
              <a:t>The present value of the bond: </a:t>
            </a:r>
            <a:r>
              <a:rPr lang="en-US" altLang="zh-CN" dirty="0">
                <a:ea typeface="宋体" panose="02010600030101010101" pitchFamily="2" charset="-122"/>
                <a:cs typeface="Arial" panose="020B0604020202020204" pitchFamily="34" charset="0"/>
              </a:rPr>
              <a:t>P = 100/(1+6%/2)</a:t>
            </a:r>
            <a:r>
              <a:rPr lang="en-US" altLang="zh-CN" baseline="30000" dirty="0">
                <a:ea typeface="宋体" panose="02010600030101010101" pitchFamily="2" charset="-122"/>
                <a:cs typeface="Arial" panose="020B0604020202020204" pitchFamily="34" charset="0"/>
              </a:rPr>
              <a:t>20 </a:t>
            </a:r>
            <a:r>
              <a:rPr lang="en-US" altLang="zh-CN" dirty="0">
                <a:ea typeface="宋体" panose="02010600030101010101" pitchFamily="2" charset="-122"/>
                <a:cs typeface="Arial" panose="020B0604020202020204" pitchFamily="34" charset="0"/>
              </a:rPr>
              <a:t>= 55.37</a:t>
            </a:r>
          </a:p>
          <a:p>
            <a:pPr lvl="1">
              <a:lnSpc>
                <a:spcPct val="140000"/>
              </a:lnSpc>
            </a:pPr>
            <a:r>
              <a:rPr lang="en-US" altLang="zh-CN" dirty="0">
                <a:ea typeface="宋体" panose="02010600030101010101" pitchFamily="2" charset="-122"/>
                <a:cs typeface="Arial" panose="020B0604020202020204" pitchFamily="34" charset="0"/>
              </a:rPr>
              <a:t>Calculation of Durations, for a zero-coupon bond:</a:t>
            </a:r>
          </a:p>
          <a:p>
            <a:pPr lvl="2">
              <a:lnSpc>
                <a:spcPct val="140000"/>
              </a:lnSpc>
            </a:pPr>
            <a:r>
              <a:rPr lang="en-US" altLang="zh-CN" dirty="0"/>
              <a:t>Macaulay duration = 10 years</a:t>
            </a:r>
          </a:p>
          <a:p>
            <a:pPr lvl="2">
              <a:lnSpc>
                <a:spcPct val="140000"/>
              </a:lnSpc>
            </a:pPr>
            <a:r>
              <a:rPr lang="en-US" altLang="zh-CN" dirty="0"/>
              <a:t>Modified duration: MD = 10/(1+6%/2) = 9.71</a:t>
            </a:r>
          </a:p>
          <a:p>
            <a:pPr lvl="2">
              <a:lnSpc>
                <a:spcPct val="140000"/>
              </a:lnSpc>
            </a:pPr>
            <a:r>
              <a:rPr lang="en-US" altLang="zh-CN" dirty="0"/>
              <a:t>Dollar duration: DD = D*×P = 9.71×55.37 = $537.55</a:t>
            </a:r>
          </a:p>
          <a:p>
            <a:pPr lvl="2">
              <a:lnSpc>
                <a:spcPct val="140000"/>
              </a:lnSpc>
            </a:pPr>
            <a:r>
              <a:rPr lang="en-US" altLang="zh-CN" dirty="0"/>
              <a:t>DV01 = DD/10,000 = $0.053755</a:t>
            </a:r>
          </a:p>
          <a:p>
            <a:pPr lvl="1">
              <a:lnSpc>
                <a:spcPct val="140000"/>
              </a:lnSpc>
            </a:pPr>
            <a:r>
              <a:rPr lang="en-US" altLang="zh-CN" dirty="0"/>
              <a:t>We can use the duration to calculate the bond price approximately when the yield changes, for example, yield goes to 7% from 6% now.</a:t>
            </a:r>
          </a:p>
          <a:p>
            <a:pPr lvl="1">
              <a:lnSpc>
                <a:spcPct val="140000"/>
              </a:lnSpc>
            </a:pPr>
            <a:r>
              <a:rPr lang="en-US" altLang="zh-CN" dirty="0"/>
              <a:t>The exact price of bond is </a:t>
            </a:r>
            <a:r>
              <a:rPr lang="en-US" altLang="zh-CN" dirty="0">
                <a:cs typeface="Arial" panose="020B0604020202020204" pitchFamily="34" charset="0"/>
              </a:rPr>
              <a:t>P = 100/(1+7%/2)</a:t>
            </a:r>
            <a:r>
              <a:rPr lang="en-US" altLang="zh-CN" baseline="30000" dirty="0">
                <a:cs typeface="Arial" panose="020B0604020202020204" pitchFamily="34" charset="0"/>
              </a:rPr>
              <a:t>20</a:t>
            </a:r>
            <a:r>
              <a:rPr lang="en-US" altLang="zh-CN" dirty="0"/>
              <a:t> </a:t>
            </a:r>
            <a:r>
              <a:rPr lang="en-US" altLang="zh-CN" dirty="0">
                <a:cs typeface="Arial" panose="020B0604020202020204" pitchFamily="34" charset="0"/>
              </a:rPr>
              <a:t>= $50.257.</a:t>
            </a:r>
            <a:endParaRPr lang="zh-CN" altLang="en-US" dirty="0">
              <a:latin typeface="+mn-lt"/>
              <a:ea typeface="+mn-ea"/>
              <a:cs typeface="+mn-ea"/>
              <a:sym typeface="+mn-lt"/>
            </a:endParaRPr>
          </a:p>
        </p:txBody>
      </p:sp>
    </p:spTree>
    <p:extLst>
      <p:ext uri="{BB962C8B-B14F-4D97-AF65-F5344CB8AC3E}">
        <p14:creationId xmlns:p14="http://schemas.microsoft.com/office/powerpoint/2010/main" val="321528375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a:bodyPr>
          <a:lstStyle/>
          <a:p>
            <a:pPr lvl="1"/>
            <a:r>
              <a:rPr lang="en-US" altLang="zh-CN" dirty="0"/>
              <a:t>Using duration to approximate:</a:t>
            </a:r>
          </a:p>
          <a:p>
            <a:pPr lvl="1"/>
            <a:endParaRPr lang="en-US" altLang="zh-CN" dirty="0"/>
          </a:p>
          <a:p>
            <a:pPr lvl="1"/>
            <a:endParaRPr lang="en-US" altLang="zh-CN" dirty="0"/>
          </a:p>
          <a:p>
            <a:pPr lvl="1"/>
            <a:r>
              <a:rPr lang="en-US" altLang="zh-CN" dirty="0"/>
              <a:t>C = (T+1)T/(1+y’)</a:t>
            </a:r>
            <a:r>
              <a:rPr lang="en-US" altLang="zh-CN" baseline="30000" dirty="0"/>
              <a:t>2</a:t>
            </a:r>
            <a:r>
              <a:rPr lang="en-US" altLang="zh-CN" dirty="0"/>
              <a:t> = 21×20/(1+6%/2)</a:t>
            </a:r>
            <a:r>
              <a:rPr lang="en-US" altLang="zh-CN" baseline="30000" dirty="0"/>
              <a:t>2</a:t>
            </a:r>
            <a:r>
              <a:rPr lang="en-US" altLang="zh-CN" dirty="0"/>
              <a:t> = 395.89 semesters</a:t>
            </a:r>
            <a:r>
              <a:rPr lang="en-US" altLang="zh-CN" baseline="30000" dirty="0"/>
              <a:t>2</a:t>
            </a:r>
            <a:r>
              <a:rPr lang="en-US" altLang="zh-CN" dirty="0"/>
              <a:t>, that is 98.97 years</a:t>
            </a:r>
            <a:r>
              <a:rPr lang="en-US" altLang="zh-CN" baseline="30000" dirty="0"/>
              <a:t>2</a:t>
            </a:r>
            <a:r>
              <a:rPr lang="en-US" altLang="zh-CN" dirty="0"/>
              <a:t>. So the more accurate approximation is:</a:t>
            </a:r>
          </a:p>
          <a:p>
            <a:pPr lvl="1"/>
            <a:endParaRPr lang="en-US" altLang="zh-CN" dirty="0"/>
          </a:p>
          <a:p>
            <a:pPr lvl="1"/>
            <a:endParaRPr lang="en-US" altLang="zh-CN" dirty="0"/>
          </a:p>
          <a:p>
            <a:pPr lvl="1"/>
            <a:endParaRPr lang="en-US" altLang="zh-CN" dirty="0"/>
          </a:p>
          <a:p>
            <a:pPr lvl="1"/>
            <a:endParaRPr lang="en-US" altLang="zh-CN" dirty="0"/>
          </a:p>
          <a:p>
            <a:pPr lvl="1"/>
            <a:r>
              <a:rPr lang="en-US" altLang="zh-CN" dirty="0"/>
              <a:t>The difference is 50.266 - 50.257 = 0.009, or the percentage of 0.02%.</a:t>
            </a:r>
          </a:p>
          <a:p>
            <a:endParaRPr lang="zh-CN" altLang="en-US" dirty="0">
              <a:latin typeface="+mn-lt"/>
              <a:ea typeface="+mn-ea"/>
              <a:cs typeface="+mn-ea"/>
              <a:sym typeface="+mn-lt"/>
            </a:endParaRPr>
          </a:p>
        </p:txBody>
      </p:sp>
      <p:graphicFrame>
        <p:nvGraphicFramePr>
          <p:cNvPr id="4" name="Object 41">
            <a:extLst>
              <a:ext uri="{FF2B5EF4-FFF2-40B4-BE49-F238E27FC236}">
                <a16:creationId xmlns:a16="http://schemas.microsoft.com/office/drawing/2014/main" id="{3B6AD8FB-0625-4556-AC23-72971E5D4433}"/>
              </a:ext>
            </a:extLst>
          </p:cNvPr>
          <p:cNvGraphicFramePr>
            <a:graphicFrameLocks/>
          </p:cNvGraphicFramePr>
          <p:nvPr>
            <p:extLst>
              <p:ext uri="{D42A27DB-BD31-4B8C-83A1-F6EECF244321}">
                <p14:modId xmlns:p14="http://schemas.microsoft.com/office/powerpoint/2010/main" val="4186403598"/>
              </p:ext>
            </p:extLst>
          </p:nvPr>
        </p:nvGraphicFramePr>
        <p:xfrm>
          <a:off x="5983288" y="1681163"/>
          <a:ext cx="222250" cy="330200"/>
        </p:xfrm>
        <a:graphic>
          <a:graphicData uri="http://schemas.openxmlformats.org/presentationml/2006/ole">
            <mc:AlternateContent xmlns:mc="http://schemas.openxmlformats.org/markup-compatibility/2006">
              <mc:Choice xmlns:v="urn:schemas-microsoft-com:vml" Requires="v">
                <p:oleObj spid="_x0000_s27655" name="Equation" r:id="rId4" imgW="114120" imgH="164880" progId="Equation.DSMT4">
                  <p:embed/>
                </p:oleObj>
              </mc:Choice>
              <mc:Fallback>
                <p:oleObj name="Equation" r:id="rId4" imgW="114120" imgH="164880" progId="Equation.DSMT4">
                  <p:embed/>
                  <p:pic>
                    <p:nvPicPr>
                      <p:cNvPr id="60421" name="Object 41"/>
                      <p:cNvPicPr>
                        <a:picLocks noChangeAspect="1" noChangeArrowheads="1"/>
                      </p:cNvPicPr>
                      <p:nvPr/>
                    </p:nvPicPr>
                    <p:blipFill>
                      <a:blip r:embed="rId5"/>
                      <a:srcRect/>
                      <a:stretch>
                        <a:fillRect/>
                      </a:stretch>
                    </p:blipFill>
                    <p:spPr bwMode="auto">
                      <a:xfrm>
                        <a:off x="5983288" y="1681163"/>
                        <a:ext cx="22225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97D0D75-4FFE-4146-AD2A-78725A26CBBF}"/>
                  </a:ext>
                </a:extLst>
              </p:cNvPr>
              <p:cNvSpPr/>
              <p:nvPr/>
            </p:nvSpPr>
            <p:spPr>
              <a:xfrm>
                <a:off x="0" y="3996129"/>
                <a:ext cx="10532307" cy="118070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i="1" smtClean="0">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𝑓</m:t>
                            </m:r>
                            <m:r>
                              <a:rPr lang="zh-CN" altLang="en-US" i="0">
                                <a:latin typeface="Cambria Math" panose="02040503050406030204" pitchFamily="18" charset="0"/>
                              </a:rPr>
                              <m:t>′</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0</m:t>
                                    </m:r>
                                  </m:sub>
                                </m:sSub>
                              </m:e>
                            </m:d>
                            <m:r>
                              <a:rPr lang="zh-CN" altLang="en-US" i="1">
                                <a:latin typeface="Cambria Math" panose="02040503050406030204" pitchFamily="18" charset="0"/>
                              </a:rPr>
                              <m:t>𝛥</m:t>
                            </m:r>
                            <m:r>
                              <a:rPr lang="zh-CN" altLang="en-US" i="1">
                                <a:latin typeface="Cambria Math" panose="02040503050406030204" pitchFamily="18" charset="0"/>
                              </a:rPr>
                              <m:t>𝑦</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den>
                            </m:f>
                            <m:r>
                              <a:rPr lang="zh-CN" altLang="en-US" i="1">
                                <a:latin typeface="Cambria Math" panose="02040503050406030204" pitchFamily="18" charset="0"/>
                              </a:rPr>
                              <m:t>𝑓</m:t>
                            </m:r>
                            <m:r>
                              <a:rPr lang="zh-CN" altLang="en-US" i="0">
                                <a:latin typeface="Cambria Math" panose="02040503050406030204" pitchFamily="18" charset="0"/>
                              </a:rPr>
                              <m:t>′′</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0</m:t>
                                    </m:r>
                                  </m:sub>
                                </m:sSub>
                              </m:e>
                            </m:d>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1">
                                        <a:latin typeface="Cambria Math" panose="02040503050406030204" pitchFamily="18" charset="0"/>
                                      </a:rPr>
                                      <m:t>𝛥</m:t>
                                    </m:r>
                                    <m:r>
                                      <a:rPr lang="zh-CN" altLang="en-US" i="1">
                                        <a:latin typeface="Cambria Math" panose="02040503050406030204" pitchFamily="18" charset="0"/>
                                      </a:rPr>
                                      <m:t>𝑦</m:t>
                                    </m:r>
                                  </m:e>
                                </m:d>
                              </m:e>
                              <m:sup>
                                <m:r>
                                  <a:rPr lang="zh-CN" altLang="en-US" i="0">
                                    <a:latin typeface="Cambria Math" panose="02040503050406030204" pitchFamily="18" charset="0"/>
                                  </a:rPr>
                                  <m:t>2</m:t>
                                </m:r>
                              </m:sup>
                            </m:sSup>
                          </m:e>
                        </m:mr>
                        <m:mr>
                          <m:e>
                            <m:r>
                              <m:rPr>
                                <m:nor/>
                              </m:rPr>
                              <a:rPr lang="zh-CN" altLang="en-US" i="1">
                                <a:latin typeface="Cambria Math" panose="02040503050406030204" pitchFamily="18" charset="0"/>
                              </a:rPr>
                              <m:t>  </m:t>
                            </m:r>
                            <m:r>
                              <m:rPr>
                                <m:nor/>
                              </m:rPr>
                              <a:rPr lang="en-US" altLang="zh-CN" b="0" i="1" smtClean="0">
                                <a:latin typeface="Cambria Math" panose="02040503050406030204" pitchFamily="18" charset="0"/>
                              </a:rPr>
                              <m:t>                              </m:t>
                            </m:r>
                            <m:r>
                              <a:rPr lang="en-US" altLang="zh-CN" b="0" i="0" smtClean="0">
                                <a:latin typeface="Cambria Math" panose="02040503050406030204" pitchFamily="18" charset="0"/>
                              </a:rPr>
                              <m:t> </m:t>
                            </m:r>
                            <m:r>
                              <a:rPr lang="zh-CN" altLang="en-US" i="0">
                                <a:latin typeface="Cambria Math" panose="02040503050406030204" pitchFamily="18" charset="0"/>
                              </a:rPr>
                              <m:t>=55.368−5.375+0.5×</m:t>
                            </m:r>
                            <m:d>
                              <m:dPr>
                                <m:begChr m:val="["/>
                                <m:endChr m:val="]"/>
                                <m:ctrlPr>
                                  <a:rPr lang="zh-CN" altLang="en-US" i="1">
                                    <a:latin typeface="Cambria Math" panose="02040503050406030204" pitchFamily="18" charset="0"/>
                                  </a:rPr>
                                </m:ctrlPr>
                              </m:dPr>
                              <m:e>
                                <m:r>
                                  <a:rPr lang="zh-CN" altLang="en-US" i="0">
                                    <a:latin typeface="Cambria Math" panose="02040503050406030204" pitchFamily="18" charset="0"/>
                                  </a:rPr>
                                  <m:t>98.97×55.37</m:t>
                                </m:r>
                              </m:e>
                            </m:d>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0">
                                        <a:latin typeface="Cambria Math" panose="02040503050406030204" pitchFamily="18" charset="0"/>
                                      </a:rPr>
                                      <m:t>1%</m:t>
                                    </m:r>
                                  </m:e>
                                </m:d>
                              </m:e>
                              <m:sup>
                                <m:r>
                                  <a:rPr lang="zh-CN" altLang="en-US" i="0">
                                    <a:latin typeface="Cambria Math" panose="02040503050406030204" pitchFamily="18" charset="0"/>
                                  </a:rPr>
                                  <m:t>2</m:t>
                                </m:r>
                              </m:sup>
                            </m:sSup>
                          </m:e>
                        </m:mr>
                        <m:mr>
                          <m:e>
                            <m:r>
                              <m:rPr>
                                <m:nor/>
                              </m:rPr>
                              <a:rPr lang="zh-CN" altLang="en-US" i="1">
                                <a:latin typeface="Cambria Math" panose="02040503050406030204" pitchFamily="18" charset="0"/>
                              </a:rPr>
                              <m:t>  </m:t>
                            </m:r>
                            <m:r>
                              <m:rPr>
                                <m:nor/>
                              </m:rPr>
                              <a:rPr lang="en-US" altLang="zh-CN" b="0" i="1" smtClean="0">
                                <a:latin typeface="Cambria Math" panose="02040503050406030204" pitchFamily="18" charset="0"/>
                              </a:rPr>
                              <m:t>          </m:t>
                            </m:r>
                            <m:r>
                              <a:rPr lang="zh-CN" altLang="en-US" i="0">
                                <a:latin typeface="Cambria Math" panose="02040503050406030204" pitchFamily="18" charset="0"/>
                              </a:rPr>
                              <m:t>=55.368−5.375+0.274=$50.266</m:t>
                            </m:r>
                          </m:e>
                        </m:mr>
                      </m:m>
                    </m:oMath>
                  </m:oMathPara>
                </a14:m>
                <a:endParaRPr lang="zh-CN" altLang="en-US" dirty="0"/>
              </a:p>
            </p:txBody>
          </p:sp>
        </mc:Choice>
        <mc:Fallback xmlns="">
          <p:sp>
            <p:nvSpPr>
              <p:cNvPr id="5" name="矩形 4">
                <a:extLst>
                  <a:ext uri="{FF2B5EF4-FFF2-40B4-BE49-F238E27FC236}">
                    <a16:creationId xmlns:a16="http://schemas.microsoft.com/office/drawing/2014/main" id="{A97D0D75-4FFE-4146-AD2A-78725A26CBBF}"/>
                  </a:ext>
                </a:extLst>
              </p:cNvPr>
              <p:cNvSpPr>
                <a:spLocks noRot="1" noChangeAspect="1" noMove="1" noResize="1" noEditPoints="1" noAdjustHandles="1" noChangeArrowheads="1" noChangeShapeType="1" noTextEdit="1"/>
              </p:cNvSpPr>
              <p:nvPr/>
            </p:nvSpPr>
            <p:spPr>
              <a:xfrm>
                <a:off x="0" y="3996129"/>
                <a:ext cx="10532307" cy="1180708"/>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2FE6081E-DC81-4BB2-97DA-2FBAAB95948E}"/>
                  </a:ext>
                </a:extLst>
              </p:cNvPr>
              <p:cNvSpPr/>
              <p:nvPr/>
            </p:nvSpPr>
            <p:spPr>
              <a:xfrm>
                <a:off x="3297338" y="1846263"/>
                <a:ext cx="581640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𝑓</m:t>
                      </m:r>
                      <m:r>
                        <a:rPr lang="zh-CN" altLang="en-US" i="0">
                          <a:latin typeface="Cambria Math" panose="02040503050406030204" pitchFamily="18" charset="0"/>
                        </a:rPr>
                        <m:t>′</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0</m:t>
                              </m:r>
                            </m:sub>
                          </m:sSub>
                        </m:e>
                      </m:d>
                      <m:r>
                        <a:rPr lang="zh-CN" altLang="en-US" i="1">
                          <a:latin typeface="Cambria Math" panose="02040503050406030204" pitchFamily="18" charset="0"/>
                        </a:rPr>
                        <m:t>𝛥</m:t>
                      </m:r>
                      <m:r>
                        <a:rPr lang="zh-CN" altLang="en-US" i="1">
                          <a:latin typeface="Cambria Math" panose="02040503050406030204" pitchFamily="18" charset="0"/>
                        </a:rPr>
                        <m:t>𝑦</m:t>
                      </m:r>
                      <m:r>
                        <a:rPr lang="zh-CN" altLang="en-US" i="0">
                          <a:latin typeface="Cambria Math" panose="02040503050406030204" pitchFamily="18" charset="0"/>
                        </a:rPr>
                        <m:t>=55.368−537.55×1%=$49.992</m:t>
                      </m:r>
                    </m:oMath>
                  </m:oMathPara>
                </a14:m>
                <a:endParaRPr lang="zh-CN" altLang="en-US" dirty="0"/>
              </a:p>
            </p:txBody>
          </p:sp>
        </mc:Choice>
        <mc:Fallback xmlns="">
          <p:sp>
            <p:nvSpPr>
              <p:cNvPr id="6" name="矩形 5">
                <a:extLst>
                  <a:ext uri="{FF2B5EF4-FFF2-40B4-BE49-F238E27FC236}">
                    <a16:creationId xmlns:a16="http://schemas.microsoft.com/office/drawing/2014/main" id="{2FE6081E-DC81-4BB2-97DA-2FBAAB95948E}"/>
                  </a:ext>
                </a:extLst>
              </p:cNvPr>
              <p:cNvSpPr>
                <a:spLocks noRot="1" noChangeAspect="1" noMove="1" noResize="1" noEditPoints="1" noAdjustHandles="1" noChangeArrowheads="1" noChangeShapeType="1" noTextEdit="1"/>
              </p:cNvSpPr>
              <p:nvPr/>
            </p:nvSpPr>
            <p:spPr>
              <a:xfrm>
                <a:off x="3297338" y="1846263"/>
                <a:ext cx="5816400" cy="369332"/>
              </a:xfrm>
              <a:prstGeom prst="rect">
                <a:avLst/>
              </a:prstGeom>
              <a:blipFill>
                <a:blip r:embed="rId7"/>
                <a:stretch>
                  <a:fillRect b="-1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9353554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a:xfrm>
            <a:off x="393599" y="813469"/>
            <a:ext cx="11404800" cy="4973562"/>
          </a:xfrm>
        </p:spPr>
        <p:txBody>
          <a:bodyPr>
            <a:normAutofit fontScale="92500" lnSpcReduction="10000"/>
          </a:bodyPr>
          <a:lstStyle/>
          <a:p>
            <a:pPr>
              <a:defRPr/>
            </a:pPr>
            <a:r>
              <a:rPr lang="en-US" altLang="zh-CN" dirty="0"/>
              <a:t>Effective Duration and Effective Convexity</a:t>
            </a:r>
          </a:p>
          <a:p>
            <a:pPr lvl="1">
              <a:defRPr/>
            </a:pPr>
            <a:r>
              <a:rPr lang="en-US" altLang="zh-CN" dirty="0"/>
              <a:t>In a vanilla bond (without embedded options) we can typically use modified and effective interchangeably. When the bond contains embedded options, we prefer effective duration:</a:t>
            </a:r>
          </a:p>
          <a:p>
            <a:pPr lvl="1">
              <a:defRPr/>
            </a:pPr>
            <a:endParaRPr lang="en-US" altLang="zh-CN" dirty="0"/>
          </a:p>
          <a:p>
            <a:pPr lvl="1" indent="1588">
              <a:buNone/>
              <a:defRPr/>
            </a:pPr>
            <a:endParaRPr lang="en-US" altLang="zh-CN" dirty="0"/>
          </a:p>
          <a:p>
            <a:pPr lvl="1" indent="1588">
              <a:buNone/>
              <a:defRPr/>
            </a:pPr>
            <a:r>
              <a:rPr lang="en-US" altLang="zh-CN" dirty="0"/>
              <a:t>Where:</a:t>
            </a:r>
          </a:p>
          <a:p>
            <a:pPr lvl="1" indent="1588">
              <a:buNone/>
              <a:defRPr/>
            </a:pPr>
            <a:r>
              <a:rPr lang="en-US" altLang="zh-CN" dirty="0"/>
              <a:t>P</a:t>
            </a:r>
            <a:r>
              <a:rPr lang="en-US" altLang="zh-CN" baseline="-25000" dirty="0"/>
              <a:t>0 </a:t>
            </a:r>
            <a:r>
              <a:rPr lang="en-US" altLang="zh-CN" dirty="0"/>
              <a:t>= initial observed bond price</a:t>
            </a:r>
          </a:p>
          <a:p>
            <a:pPr lvl="1" indent="1588">
              <a:buNone/>
              <a:defRPr/>
            </a:pPr>
            <a:r>
              <a:rPr lang="en-US" altLang="zh-CN" dirty="0" err="1"/>
              <a:t>Δy</a:t>
            </a:r>
            <a:r>
              <a:rPr lang="en-US" altLang="zh-CN" dirty="0"/>
              <a:t> = change in required yield, in decimal form</a:t>
            </a:r>
          </a:p>
          <a:p>
            <a:pPr lvl="1">
              <a:defRPr/>
            </a:pPr>
            <a:r>
              <a:rPr lang="en-US" altLang="zh-CN" dirty="0"/>
              <a:t>Effective convexity: an approximate measure of convexity</a:t>
            </a:r>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747F0356-CA13-4D4A-A04A-97594B44D521}"/>
                  </a:ext>
                </a:extLst>
              </p:cNvPr>
              <p:cNvSpPr/>
              <p:nvPr/>
            </p:nvSpPr>
            <p:spPr>
              <a:xfrm>
                <a:off x="4166335" y="5787031"/>
                <a:ext cx="3859325" cy="668260"/>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𝐶</m:t>
                          </m:r>
                        </m:e>
                        <m:sup>
                          <m:r>
                            <a:rPr lang="zh-CN" altLang="en-US" i="1">
                              <a:latin typeface="Cambria Math" panose="02040503050406030204" pitchFamily="18" charset="0"/>
                            </a:rPr>
                            <m:t>𝐸</m:t>
                          </m:r>
                        </m:sup>
                      </m:sSup>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0">
                                  <a:latin typeface="Cambria Math" panose="02040503050406030204" pitchFamily="18" charset="0"/>
                                </a:rPr>
                                <m:t>−</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0">
                                  <a:latin typeface="Cambria Math" panose="02040503050406030204" pitchFamily="18" charset="0"/>
                                </a:rPr>
                                <m:t>+</m:t>
                              </m:r>
                            </m:sub>
                          </m:sSub>
                        </m:num>
                        <m:den>
                          <m:r>
                            <a:rPr lang="zh-CN" altLang="en-US" i="1">
                              <a:latin typeface="Cambria Math" panose="02040503050406030204" pitchFamily="18" charset="0"/>
                            </a:rPr>
                            <m:t>𝛥</m:t>
                          </m:r>
                          <m:r>
                            <a:rPr lang="zh-CN" altLang="en-US" i="1">
                              <a:latin typeface="Cambria Math" panose="02040503050406030204" pitchFamily="18" charset="0"/>
                            </a:rPr>
                            <m:t>𝑦</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1">
                                  <a:latin typeface="Cambria Math" panose="02040503050406030204" pitchFamily="18" charset="0"/>
                                </a:rPr>
                                <m:t>𝑏𝑖𝑔</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1">
                                  <a:latin typeface="Cambria Math" panose="02040503050406030204" pitchFamily="18" charset="0"/>
                                </a:rPr>
                                <m:t>𝑠𝑚𝑎𝑙𝑙</m:t>
                              </m:r>
                            </m:sub>
                          </m:sSub>
                          <m:r>
                            <a:rPr lang="zh-CN" altLang="en-US" i="0">
                              <a:latin typeface="Cambria Math" panose="02040503050406030204" pitchFamily="18" charset="0"/>
                            </a:rPr>
                            <m:t>−2</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0</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0</m:t>
                              </m:r>
                            </m:sub>
                          </m:sSub>
                          <m:r>
                            <a:rPr lang="zh-CN" altLang="en-US" i="1">
                              <a:latin typeface="Cambria Math" panose="02040503050406030204" pitchFamily="18" charset="0"/>
                            </a:rPr>
                            <m:t>𝛥</m:t>
                          </m:r>
                          <m:sSup>
                            <m:sSupPr>
                              <m:ctrlPr>
                                <a:rPr lang="zh-CN" altLang="en-US" i="1">
                                  <a:latin typeface="Cambria Math" panose="02040503050406030204" pitchFamily="18" charset="0"/>
                                </a:rPr>
                              </m:ctrlPr>
                            </m:sSupPr>
                            <m:e>
                              <m:r>
                                <a:rPr lang="zh-CN" altLang="en-US" i="1">
                                  <a:latin typeface="Cambria Math" panose="02040503050406030204" pitchFamily="18" charset="0"/>
                                </a:rPr>
                                <m:t>𝑦</m:t>
                              </m:r>
                            </m:e>
                            <m:sup>
                              <m:r>
                                <a:rPr lang="zh-CN" altLang="en-US" i="0">
                                  <a:latin typeface="Cambria Math" panose="02040503050406030204" pitchFamily="18" charset="0"/>
                                </a:rPr>
                                <m:t>2</m:t>
                              </m:r>
                            </m:sup>
                          </m:sSup>
                        </m:den>
                      </m:f>
                    </m:oMath>
                  </m:oMathPara>
                </a14:m>
                <a:endParaRPr lang="zh-CN" altLang="en-US" dirty="0"/>
              </a:p>
            </p:txBody>
          </p:sp>
        </mc:Choice>
        <mc:Fallback xmlns="">
          <p:sp>
            <p:nvSpPr>
              <p:cNvPr id="5" name="矩形 4">
                <a:extLst>
                  <a:ext uri="{FF2B5EF4-FFF2-40B4-BE49-F238E27FC236}">
                    <a16:creationId xmlns:a16="http://schemas.microsoft.com/office/drawing/2014/main" id="{747F0356-CA13-4D4A-A04A-97594B44D521}"/>
                  </a:ext>
                </a:extLst>
              </p:cNvPr>
              <p:cNvSpPr>
                <a:spLocks noRot="1" noChangeAspect="1" noMove="1" noResize="1" noEditPoints="1" noAdjustHandles="1" noChangeArrowheads="1" noChangeShapeType="1" noTextEdit="1"/>
              </p:cNvSpPr>
              <p:nvPr/>
            </p:nvSpPr>
            <p:spPr>
              <a:xfrm>
                <a:off x="4166335" y="5787031"/>
                <a:ext cx="3859325" cy="668260"/>
              </a:xfrm>
              <a:prstGeom prst="rect">
                <a:avLst/>
              </a:prstGeom>
              <a:blipFill>
                <a:blip r:embed="rId3"/>
                <a:stretch>
                  <a:fillRect/>
                </a:stretch>
              </a:blipFill>
              <a:ln>
                <a:solidFill>
                  <a:schemeClr val="accent1">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B5C831A8-3188-44DF-A8E0-BBF884A49146}"/>
                  </a:ext>
                </a:extLst>
              </p:cNvPr>
              <p:cNvSpPr/>
              <p:nvPr/>
            </p:nvSpPr>
            <p:spPr>
              <a:xfrm>
                <a:off x="5039778" y="2967049"/>
                <a:ext cx="2112437" cy="666401"/>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𝐷</m:t>
                          </m:r>
                        </m:e>
                        <m:sup>
                          <m:r>
                            <a:rPr lang="zh-CN" altLang="en-US" i="1">
                              <a:latin typeface="Cambria Math" panose="02040503050406030204" pitchFamily="18" charset="0"/>
                            </a:rPr>
                            <m:t>𝐸</m:t>
                          </m:r>
                        </m:sup>
                      </m:sSup>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1">
                                  <a:latin typeface="Cambria Math" panose="02040503050406030204" pitchFamily="18" charset="0"/>
                                </a:rPr>
                                <m:t>𝑏𝑖𝑔</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1">
                                  <a:latin typeface="Cambria Math" panose="02040503050406030204" pitchFamily="18" charset="0"/>
                                </a:rPr>
                                <m:t>𝑠𝑚𝑎𝑙𝑙</m:t>
                              </m:r>
                            </m:sub>
                          </m:sSub>
                        </m:num>
                        <m:den>
                          <m:r>
                            <a:rPr lang="zh-CN" altLang="en-US" i="0">
                              <a:latin typeface="Cambria Math" panose="02040503050406030204" pitchFamily="18" charset="0"/>
                            </a:rPr>
                            <m:t>2</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0</m:t>
                              </m:r>
                            </m:sub>
                          </m:sSub>
                          <m:r>
                            <a:rPr lang="zh-CN" altLang="en-US" i="1">
                              <a:latin typeface="Cambria Math" panose="02040503050406030204" pitchFamily="18" charset="0"/>
                            </a:rPr>
                            <m:t>𝛥</m:t>
                          </m:r>
                          <m:r>
                            <a:rPr lang="zh-CN" altLang="en-US" i="1">
                              <a:latin typeface="Cambria Math" panose="02040503050406030204" pitchFamily="18" charset="0"/>
                            </a:rPr>
                            <m:t>𝑦</m:t>
                          </m:r>
                        </m:den>
                      </m:f>
                    </m:oMath>
                  </m:oMathPara>
                </a14:m>
                <a:endParaRPr lang="zh-CN" altLang="en-US" dirty="0"/>
              </a:p>
            </p:txBody>
          </p:sp>
        </mc:Choice>
        <mc:Fallback xmlns="">
          <p:sp>
            <p:nvSpPr>
              <p:cNvPr id="6" name="矩形 5">
                <a:extLst>
                  <a:ext uri="{FF2B5EF4-FFF2-40B4-BE49-F238E27FC236}">
                    <a16:creationId xmlns:a16="http://schemas.microsoft.com/office/drawing/2014/main" id="{B5C831A8-3188-44DF-A8E0-BBF884A49146}"/>
                  </a:ext>
                </a:extLst>
              </p:cNvPr>
              <p:cNvSpPr>
                <a:spLocks noRot="1" noChangeAspect="1" noMove="1" noResize="1" noEditPoints="1" noAdjustHandles="1" noChangeArrowheads="1" noChangeShapeType="1" noTextEdit="1"/>
              </p:cNvSpPr>
              <p:nvPr/>
            </p:nvSpPr>
            <p:spPr>
              <a:xfrm>
                <a:off x="5039778" y="2967049"/>
                <a:ext cx="2112437" cy="666401"/>
              </a:xfrm>
              <a:prstGeom prst="rect">
                <a:avLst/>
              </a:prstGeom>
              <a:blipFill>
                <a:blip r:embed="rId4"/>
                <a:stretch>
                  <a:fillRect/>
                </a:stretch>
              </a:blipFill>
              <a:ln>
                <a:solidFill>
                  <a:schemeClr val="accent1">
                    <a:lumMod val="75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231603346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a:xfrm>
            <a:off x="393599" y="813470"/>
            <a:ext cx="11404800" cy="4180562"/>
          </a:xfrm>
        </p:spPr>
        <p:txBody>
          <a:bodyPr>
            <a:normAutofit fontScale="85000" lnSpcReduction="10000"/>
          </a:bodyPr>
          <a:lstStyle/>
          <a:p>
            <a:r>
              <a:rPr lang="en-US" altLang="zh-CN" dirty="0"/>
              <a:t>Example</a:t>
            </a:r>
          </a:p>
          <a:p>
            <a:pPr lvl="1"/>
            <a:r>
              <a:rPr lang="en-US" altLang="zh-CN" dirty="0"/>
              <a:t>Suppose there is a 15-year, option-free non-callable bond with an annual coupon of 7% trading at par. Compute the bond’s duration for a 50 basis point increase and decrease in yield, and compute the convexity of this bond.</a:t>
            </a:r>
          </a:p>
          <a:p>
            <a:pPr lvl="1"/>
            <a:r>
              <a:rPr lang="en-US" altLang="zh-CN" b="1" dirty="0"/>
              <a:t>Answer:</a:t>
            </a:r>
          </a:p>
          <a:p>
            <a:pPr lvl="2"/>
            <a:r>
              <a:rPr lang="en-US" altLang="zh-CN" dirty="0"/>
              <a:t>If interest rates rise by 50 basis points:</a:t>
            </a:r>
          </a:p>
          <a:p>
            <a:pPr lvl="2">
              <a:buNone/>
            </a:pPr>
            <a:r>
              <a:rPr lang="en-US" altLang="zh-CN" dirty="0"/>
              <a:t>N=15; PMT=7.00; FV=100; I/Y=7.5%; CPT→PV=-95.586</a:t>
            </a:r>
          </a:p>
          <a:p>
            <a:pPr lvl="2"/>
            <a:r>
              <a:rPr lang="en-US" altLang="zh-CN" dirty="0"/>
              <a:t>If interest rates fall by 50 basis points:</a:t>
            </a:r>
          </a:p>
          <a:p>
            <a:pPr lvl="2">
              <a:buNone/>
            </a:pPr>
            <a:r>
              <a:rPr lang="en-US" altLang="zh-CN" dirty="0"/>
              <a:t>N=15; PMT=7.00; FV=100; I/Y=6.5%; CPT→PV=-104.701</a:t>
            </a:r>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13A9E9B0-2421-4AA0-B5B0-C4DE5037D4F6}"/>
                  </a:ext>
                </a:extLst>
              </p:cNvPr>
              <p:cNvSpPr/>
              <p:nvPr/>
            </p:nvSpPr>
            <p:spPr>
              <a:xfrm>
                <a:off x="1434333" y="4994032"/>
                <a:ext cx="3484031" cy="6183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𝐷</m:t>
                          </m:r>
                        </m:e>
                        <m:sup>
                          <m:r>
                            <a:rPr lang="zh-CN" altLang="en-US" i="1">
                              <a:latin typeface="Cambria Math" panose="02040503050406030204" pitchFamily="18" charset="0"/>
                            </a:rPr>
                            <m:t>𝐸</m:t>
                          </m:r>
                        </m:sup>
                      </m:sSup>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104.701−95.586</m:t>
                          </m:r>
                        </m:num>
                        <m:den>
                          <m:r>
                            <a:rPr lang="zh-CN" altLang="en-US" i="0">
                              <a:latin typeface="Cambria Math" panose="02040503050406030204" pitchFamily="18" charset="0"/>
                            </a:rPr>
                            <m:t>2×100×0.005</m:t>
                          </m:r>
                        </m:den>
                      </m:f>
                      <m:r>
                        <a:rPr lang="zh-CN" altLang="en-US" i="0">
                          <a:latin typeface="Cambria Math" panose="02040503050406030204" pitchFamily="18" charset="0"/>
                        </a:rPr>
                        <m:t>=9.115</m:t>
                      </m:r>
                    </m:oMath>
                  </m:oMathPara>
                </a14:m>
                <a:endParaRPr lang="zh-CN" altLang="en-US" dirty="0"/>
              </a:p>
            </p:txBody>
          </p:sp>
        </mc:Choice>
        <mc:Fallback xmlns="">
          <p:sp>
            <p:nvSpPr>
              <p:cNvPr id="4" name="矩形 3">
                <a:extLst>
                  <a:ext uri="{FF2B5EF4-FFF2-40B4-BE49-F238E27FC236}">
                    <a16:creationId xmlns:a16="http://schemas.microsoft.com/office/drawing/2014/main" id="{13A9E9B0-2421-4AA0-B5B0-C4DE5037D4F6}"/>
                  </a:ext>
                </a:extLst>
              </p:cNvPr>
              <p:cNvSpPr>
                <a:spLocks noRot="1" noChangeAspect="1" noMove="1" noResize="1" noEditPoints="1" noAdjustHandles="1" noChangeArrowheads="1" noChangeShapeType="1" noTextEdit="1"/>
              </p:cNvSpPr>
              <p:nvPr/>
            </p:nvSpPr>
            <p:spPr>
              <a:xfrm>
                <a:off x="1434333" y="4994032"/>
                <a:ext cx="3484031" cy="61837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9C34DF4-2CA8-4C13-953B-3D1B9793E31A}"/>
                  </a:ext>
                </a:extLst>
              </p:cNvPr>
              <p:cNvSpPr/>
              <p:nvPr/>
            </p:nvSpPr>
            <p:spPr>
              <a:xfrm>
                <a:off x="6095999" y="4994032"/>
                <a:ext cx="4524765" cy="6183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𝐶</m:t>
                          </m:r>
                        </m:e>
                        <m:sup>
                          <m:r>
                            <a:rPr lang="zh-CN" altLang="en-US" i="1">
                              <a:latin typeface="Cambria Math" panose="02040503050406030204" pitchFamily="18" charset="0"/>
                            </a:rPr>
                            <m:t>𝐸</m:t>
                          </m:r>
                        </m:sup>
                      </m:sSup>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104.701+95.586−2×100</m:t>
                          </m:r>
                        </m:num>
                        <m:den>
                          <m:r>
                            <a:rPr lang="zh-CN" altLang="en-US" i="0">
                              <a:latin typeface="Cambria Math" panose="02040503050406030204" pitchFamily="18" charset="0"/>
                            </a:rPr>
                            <m:t>100×</m:t>
                          </m:r>
                          <m:sSup>
                            <m:sSupPr>
                              <m:ctrlPr>
                                <a:rPr lang="zh-CN" altLang="en-US" i="1">
                                  <a:latin typeface="Cambria Math" panose="02040503050406030204" pitchFamily="18" charset="0"/>
                                </a:rPr>
                              </m:ctrlPr>
                            </m:sSupPr>
                            <m:e>
                              <m:r>
                                <a:rPr lang="zh-CN" altLang="en-US" i="0">
                                  <a:latin typeface="Cambria Math" panose="02040503050406030204" pitchFamily="18" charset="0"/>
                                </a:rPr>
                                <m:t>0.005</m:t>
                              </m:r>
                            </m:e>
                            <m:sup>
                              <m:r>
                                <a:rPr lang="zh-CN" altLang="en-US" i="0">
                                  <a:latin typeface="Cambria Math" panose="02040503050406030204" pitchFamily="18" charset="0"/>
                                </a:rPr>
                                <m:t>2</m:t>
                              </m:r>
                            </m:sup>
                          </m:sSup>
                        </m:den>
                      </m:f>
                      <m:r>
                        <a:rPr lang="zh-CN" altLang="en-US" i="0">
                          <a:latin typeface="Cambria Math" panose="02040503050406030204" pitchFamily="18" charset="0"/>
                        </a:rPr>
                        <m:t>=114.8</m:t>
                      </m:r>
                    </m:oMath>
                  </m:oMathPara>
                </a14:m>
                <a:endParaRPr lang="zh-CN" altLang="en-US" dirty="0"/>
              </a:p>
            </p:txBody>
          </p:sp>
        </mc:Choice>
        <mc:Fallback xmlns="">
          <p:sp>
            <p:nvSpPr>
              <p:cNvPr id="5" name="矩形 4">
                <a:extLst>
                  <a:ext uri="{FF2B5EF4-FFF2-40B4-BE49-F238E27FC236}">
                    <a16:creationId xmlns:a16="http://schemas.microsoft.com/office/drawing/2014/main" id="{19C34DF4-2CA8-4C13-953B-3D1B9793E31A}"/>
                  </a:ext>
                </a:extLst>
              </p:cNvPr>
              <p:cNvSpPr>
                <a:spLocks noRot="1" noChangeAspect="1" noMove="1" noResize="1" noEditPoints="1" noAdjustHandles="1" noChangeArrowheads="1" noChangeShapeType="1" noTextEdit="1"/>
              </p:cNvSpPr>
              <p:nvPr/>
            </p:nvSpPr>
            <p:spPr>
              <a:xfrm>
                <a:off x="6095999" y="4994032"/>
                <a:ext cx="4524765" cy="618374"/>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1225784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sz="1800" dirty="0"/>
              <a:t>Negative Convexity</a:t>
            </a:r>
          </a:p>
          <a:p>
            <a:pPr lvl="1"/>
            <a:r>
              <a:rPr lang="en-US" altLang="zh-CN" sz="1800" dirty="0"/>
              <a:t>With </a:t>
            </a:r>
            <a:r>
              <a:rPr lang="en-US" altLang="zh-CN" sz="1800" b="1" dirty="0"/>
              <a:t>callable bond</a:t>
            </a:r>
            <a:r>
              <a:rPr lang="en-US" altLang="zh-CN" sz="1800" dirty="0"/>
              <a:t>, the </a:t>
            </a:r>
            <a:r>
              <a:rPr lang="en-US" altLang="zh-CN" sz="1800" u="sng" dirty="0"/>
              <a:t>upside price appreciation in response to decreasing yield is limited</a:t>
            </a:r>
            <a:r>
              <a:rPr lang="en-US" altLang="zh-CN" sz="1800" dirty="0"/>
              <a:t> (sometimes called price compression). Consider the case of a bond that is currently callable at 102. </a:t>
            </a:r>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B83AC722-74B6-4A4A-87AB-2AEE18EC1409}"/>
              </a:ext>
            </a:extLst>
          </p:cNvPr>
          <p:cNvGrpSpPr/>
          <p:nvPr/>
        </p:nvGrpSpPr>
        <p:grpSpPr>
          <a:xfrm>
            <a:off x="2279575" y="2844312"/>
            <a:ext cx="7632848" cy="3394669"/>
            <a:chOff x="827584" y="2914650"/>
            <a:chExt cx="7632848" cy="3394669"/>
          </a:xfrm>
        </p:grpSpPr>
        <p:grpSp>
          <p:nvGrpSpPr>
            <p:cNvPr id="5" name="组合 4">
              <a:extLst>
                <a:ext uri="{FF2B5EF4-FFF2-40B4-BE49-F238E27FC236}">
                  <a16:creationId xmlns:a16="http://schemas.microsoft.com/office/drawing/2014/main" id="{777F8595-A569-4AA2-8B27-354513511577}"/>
                </a:ext>
              </a:extLst>
            </p:cNvPr>
            <p:cNvGrpSpPr/>
            <p:nvPr/>
          </p:nvGrpSpPr>
          <p:grpSpPr>
            <a:xfrm>
              <a:off x="1053244" y="2914650"/>
              <a:ext cx="7302423" cy="3276826"/>
              <a:chOff x="1053244" y="2914650"/>
              <a:chExt cx="7302423" cy="3276826"/>
            </a:xfrm>
          </p:grpSpPr>
          <p:cxnSp>
            <p:nvCxnSpPr>
              <p:cNvPr id="7" name="直接箭头连接符 4">
                <a:extLst>
                  <a:ext uri="{FF2B5EF4-FFF2-40B4-BE49-F238E27FC236}">
                    <a16:creationId xmlns:a16="http://schemas.microsoft.com/office/drawing/2014/main" id="{76CC3158-32E1-4EF9-BB35-4709227D4950}"/>
                  </a:ext>
                </a:extLst>
              </p:cNvPr>
              <p:cNvCxnSpPr>
                <a:cxnSpLocks noChangeShapeType="1"/>
              </p:cNvCxnSpPr>
              <p:nvPr/>
            </p:nvCxnSpPr>
            <p:spPr bwMode="auto">
              <a:xfrm>
                <a:off x="1633538" y="5792788"/>
                <a:ext cx="6480175" cy="0"/>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8" name="直接箭头连接符 6">
                <a:extLst>
                  <a:ext uri="{FF2B5EF4-FFF2-40B4-BE49-F238E27FC236}">
                    <a16:creationId xmlns:a16="http://schemas.microsoft.com/office/drawing/2014/main" id="{BFBE6550-B41C-4166-8C44-2A4AFE0F0899}"/>
                  </a:ext>
                </a:extLst>
              </p:cNvPr>
              <p:cNvCxnSpPr>
                <a:cxnSpLocks noChangeShapeType="1"/>
              </p:cNvCxnSpPr>
              <p:nvPr/>
            </p:nvCxnSpPr>
            <p:spPr bwMode="auto">
              <a:xfrm flipV="1">
                <a:off x="1633538" y="2914650"/>
                <a:ext cx="0" cy="2878138"/>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sp>
            <p:nvSpPr>
              <p:cNvPr id="9" name="文本框 7">
                <a:extLst>
                  <a:ext uri="{FF2B5EF4-FFF2-40B4-BE49-F238E27FC236}">
                    <a16:creationId xmlns:a16="http://schemas.microsoft.com/office/drawing/2014/main" id="{80904E43-A894-4477-A4F3-3BCD68B6B610}"/>
                  </a:ext>
                </a:extLst>
              </p:cNvPr>
              <p:cNvSpPr txBox="1">
                <a:spLocks noChangeArrowheads="1"/>
              </p:cNvSpPr>
              <p:nvPr/>
            </p:nvSpPr>
            <p:spPr bwMode="auto">
              <a:xfrm>
                <a:off x="1053244" y="3007290"/>
                <a:ext cx="566428"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Price</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0" name="文本框 8">
                <a:extLst>
                  <a:ext uri="{FF2B5EF4-FFF2-40B4-BE49-F238E27FC236}">
                    <a16:creationId xmlns:a16="http://schemas.microsoft.com/office/drawing/2014/main" id="{D2B137A7-A375-4C5E-8B8A-807D4F8EAF2E}"/>
                  </a:ext>
                </a:extLst>
              </p:cNvPr>
              <p:cNvSpPr txBox="1">
                <a:spLocks noChangeArrowheads="1"/>
              </p:cNvSpPr>
              <p:nvPr/>
            </p:nvSpPr>
            <p:spPr bwMode="auto">
              <a:xfrm>
                <a:off x="7786033" y="5841774"/>
                <a:ext cx="569634"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pPr algn="ctr"/>
                <a:r>
                  <a:rPr lang="en-US" altLang="zh-CN" sz="1800" b="0">
                    <a:solidFill>
                      <a:srgbClr val="2C3E50"/>
                    </a:solidFill>
                    <a:latin typeface="Segoe UI" panose="020B0502040204020203" pitchFamily="34" charset="0"/>
                    <a:ea typeface="Segoe UI" panose="020B0502040204020203" pitchFamily="34" charset="0"/>
                    <a:cs typeface="Segoe UI" panose="020B0502040204020203" pitchFamily="34" charset="0"/>
                  </a:rPr>
                  <a:t>Yield</a:t>
                </a:r>
                <a:endParaRPr lang="zh-CN" altLang="en-US" sz="1800" b="0">
                  <a:solidFill>
                    <a:srgbClr val="2C3E50"/>
                  </a:solidFill>
                  <a:latin typeface="Segoe UI" panose="020B0502040204020203" pitchFamily="34" charset="0"/>
                  <a:cs typeface="Segoe UI" panose="020B0502040204020203" pitchFamily="34" charset="0"/>
                </a:endParaRPr>
              </a:p>
            </p:txBody>
          </p:sp>
          <p:cxnSp>
            <p:nvCxnSpPr>
              <p:cNvPr id="11" name="直接连接符 10">
                <a:extLst>
                  <a:ext uri="{FF2B5EF4-FFF2-40B4-BE49-F238E27FC236}">
                    <a16:creationId xmlns:a16="http://schemas.microsoft.com/office/drawing/2014/main" id="{796D5731-6320-4C3D-8C82-739F221FE08D}"/>
                  </a:ext>
                </a:extLst>
              </p:cNvPr>
              <p:cNvCxnSpPr>
                <a:cxnSpLocks noChangeShapeType="1"/>
              </p:cNvCxnSpPr>
              <p:nvPr/>
            </p:nvCxnSpPr>
            <p:spPr bwMode="auto">
              <a:xfrm>
                <a:off x="1633538" y="4210050"/>
                <a:ext cx="4679950" cy="0"/>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cxnSp>
            <p:nvCxnSpPr>
              <p:cNvPr id="12" name="直接连接符 12">
                <a:extLst>
                  <a:ext uri="{FF2B5EF4-FFF2-40B4-BE49-F238E27FC236}">
                    <a16:creationId xmlns:a16="http://schemas.microsoft.com/office/drawing/2014/main" id="{4D00F171-7181-47C1-8F3A-AE672DC4EAE7}"/>
                  </a:ext>
                </a:extLst>
              </p:cNvPr>
              <p:cNvCxnSpPr>
                <a:cxnSpLocks noChangeShapeType="1"/>
              </p:cNvCxnSpPr>
              <p:nvPr/>
            </p:nvCxnSpPr>
            <p:spPr bwMode="auto">
              <a:xfrm>
                <a:off x="4729163" y="3489325"/>
                <a:ext cx="0" cy="2303463"/>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sp>
            <p:nvSpPr>
              <p:cNvPr id="13" name="文本框 14">
                <a:extLst>
                  <a:ext uri="{FF2B5EF4-FFF2-40B4-BE49-F238E27FC236}">
                    <a16:creationId xmlns:a16="http://schemas.microsoft.com/office/drawing/2014/main" id="{07083DD7-0FDC-4931-AE57-D5B8F1032195}"/>
                  </a:ext>
                </a:extLst>
              </p:cNvPr>
              <p:cNvSpPr txBox="1">
                <a:spLocks noChangeArrowheads="1"/>
              </p:cNvSpPr>
              <p:nvPr/>
            </p:nvSpPr>
            <p:spPr bwMode="auto">
              <a:xfrm>
                <a:off x="2997945" y="2920774"/>
                <a:ext cx="1901922"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pPr algn="ctr"/>
                <a:r>
                  <a:rPr lang="en-US" altLang="zh-CN" sz="1800" b="0">
                    <a:solidFill>
                      <a:srgbClr val="2C3E50"/>
                    </a:solidFill>
                    <a:latin typeface="Segoe UI" panose="020B0502040204020203" pitchFamily="34" charset="0"/>
                    <a:ea typeface="Segoe UI" panose="020B0502040204020203" pitchFamily="34" charset="0"/>
                    <a:cs typeface="Segoe UI" panose="020B0502040204020203" pitchFamily="34" charset="0"/>
                  </a:rPr>
                  <a:t>Option-Free Bond</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4" name="文本框 16">
                <a:extLst>
                  <a:ext uri="{FF2B5EF4-FFF2-40B4-BE49-F238E27FC236}">
                    <a16:creationId xmlns:a16="http://schemas.microsoft.com/office/drawing/2014/main" id="{B625955B-DAB6-4379-A506-D8B314A4E211}"/>
                  </a:ext>
                </a:extLst>
              </p:cNvPr>
              <p:cNvSpPr txBox="1">
                <a:spLocks noChangeArrowheads="1"/>
              </p:cNvSpPr>
              <p:nvPr/>
            </p:nvSpPr>
            <p:spPr bwMode="auto">
              <a:xfrm>
                <a:off x="1912797" y="3570855"/>
                <a:ext cx="1829081"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Call Option Value</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5" name="任意多边形 19">
                <a:extLst>
                  <a:ext uri="{FF2B5EF4-FFF2-40B4-BE49-F238E27FC236}">
                    <a16:creationId xmlns:a16="http://schemas.microsoft.com/office/drawing/2014/main" id="{215FA084-EBAE-4CE6-8AE6-20F39AE48709}"/>
                  </a:ext>
                </a:extLst>
              </p:cNvPr>
              <p:cNvSpPr>
                <a:spLocks/>
              </p:cNvSpPr>
              <p:nvPr/>
            </p:nvSpPr>
            <p:spPr bwMode="auto">
              <a:xfrm>
                <a:off x="3935413" y="3287713"/>
                <a:ext cx="3378200" cy="2289175"/>
              </a:xfrm>
              <a:custGeom>
                <a:avLst/>
                <a:gdLst>
                  <a:gd name="T0" fmla="*/ 0 w 2966392"/>
                  <a:gd name="T1" fmla="*/ 0 h 1884262"/>
                  <a:gd name="T2" fmla="*/ 2352462 w 2966392"/>
                  <a:gd name="T3" fmla="*/ 6292096 h 1884262"/>
                  <a:gd name="T4" fmla="*/ 8389956 w 2966392"/>
                  <a:gd name="T5" fmla="*/ 8939712 h 1884262"/>
                  <a:gd name="T6" fmla="*/ 0 60000 65536"/>
                  <a:gd name="T7" fmla="*/ 0 60000 65536"/>
                  <a:gd name="T8" fmla="*/ 0 60000 65536"/>
                </a:gdLst>
                <a:ahLst/>
                <a:cxnLst>
                  <a:cxn ang="T6">
                    <a:pos x="T0" y="T1"/>
                  </a:cxn>
                  <a:cxn ang="T7">
                    <a:pos x="T2" y="T3"/>
                  </a:cxn>
                  <a:cxn ang="T8">
                    <a:pos x="T4" y="T5"/>
                  </a:cxn>
                </a:cxnLst>
                <a:rect l="0" t="0" r="r" b="b"/>
                <a:pathLst>
                  <a:path w="2966392" h="1884262">
                    <a:moveTo>
                      <a:pt x="0" y="0"/>
                    </a:moveTo>
                    <a:cubicBezTo>
                      <a:pt x="178340" y="423153"/>
                      <a:pt x="410216" y="1005199"/>
                      <a:pt x="831748" y="1326212"/>
                    </a:cubicBezTo>
                    <a:cubicBezTo>
                      <a:pt x="1253280" y="1647225"/>
                      <a:pt x="2265978" y="1807557"/>
                      <a:pt x="2966392" y="1884262"/>
                    </a:cubicBezTo>
                  </a:path>
                </a:pathLst>
              </a:custGeom>
              <a:noFill/>
              <a:ln w="19050">
                <a:solidFill>
                  <a:srgbClr val="2C3E5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rgbClr val="2C3E50"/>
                  </a:solidFill>
                  <a:latin typeface="Segoe UI" panose="020B0502040204020203" pitchFamily="34" charset="0"/>
                  <a:cs typeface="Segoe UI" panose="020B0502040204020203" pitchFamily="34" charset="0"/>
                </a:endParaRPr>
              </a:p>
            </p:txBody>
          </p:sp>
          <p:sp>
            <p:nvSpPr>
              <p:cNvPr id="16" name="任意多边形 20">
                <a:extLst>
                  <a:ext uri="{FF2B5EF4-FFF2-40B4-BE49-F238E27FC236}">
                    <a16:creationId xmlns:a16="http://schemas.microsoft.com/office/drawing/2014/main" id="{BF5BC6F8-A530-4B9A-A09A-DB67D6B0770A}"/>
                  </a:ext>
                </a:extLst>
              </p:cNvPr>
              <p:cNvSpPr>
                <a:spLocks/>
              </p:cNvSpPr>
              <p:nvPr/>
            </p:nvSpPr>
            <p:spPr bwMode="auto">
              <a:xfrm>
                <a:off x="1912938" y="4325938"/>
                <a:ext cx="2816225" cy="450850"/>
              </a:xfrm>
              <a:custGeom>
                <a:avLst/>
                <a:gdLst>
                  <a:gd name="T0" fmla="*/ 2634615 w 2821021"/>
                  <a:gd name="T1" fmla="*/ 2147483647 h 291830"/>
                  <a:gd name="T2" fmla="*/ 1798804 w 2821021"/>
                  <a:gd name="T3" fmla="*/ 2147483647 h 291830"/>
                  <a:gd name="T4" fmla="*/ 0 w 2821021"/>
                  <a:gd name="T5" fmla="*/ 0 h 291830"/>
                  <a:gd name="T6" fmla="*/ 0 60000 65536"/>
                  <a:gd name="T7" fmla="*/ 0 60000 65536"/>
                  <a:gd name="T8" fmla="*/ 0 60000 65536"/>
                  <a:gd name="T9" fmla="*/ 0 w 2821021"/>
                  <a:gd name="T10" fmla="*/ 0 h 291830"/>
                  <a:gd name="T11" fmla="*/ 2821021 w 2821021"/>
                  <a:gd name="T12" fmla="*/ 291830 h 291830"/>
                </a:gdLst>
                <a:ahLst/>
                <a:cxnLst>
                  <a:cxn ang="T6">
                    <a:pos x="T0" y="T1"/>
                  </a:cxn>
                  <a:cxn ang="T7">
                    <a:pos x="T2" y="T3"/>
                  </a:cxn>
                  <a:cxn ang="T8">
                    <a:pos x="T4" y="T5"/>
                  </a:cxn>
                </a:cxnLst>
                <a:rect l="T9" t="T10" r="T11" b="T12"/>
                <a:pathLst>
                  <a:path w="2821021" h="291830">
                    <a:moveTo>
                      <a:pt x="2821021" y="291830"/>
                    </a:moveTo>
                    <a:cubicBezTo>
                      <a:pt x="2608633" y="218872"/>
                      <a:pt x="2396246" y="145915"/>
                      <a:pt x="1926076" y="97277"/>
                    </a:cubicBezTo>
                    <a:cubicBezTo>
                      <a:pt x="1455906" y="48639"/>
                      <a:pt x="0" y="0"/>
                      <a:pt x="0" y="0"/>
                    </a:cubicBezTo>
                  </a:path>
                </a:pathLst>
              </a:custGeom>
              <a:noFill/>
              <a:ln w="19050">
                <a:solidFill>
                  <a:srgbClr val="C00000"/>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rgbClr val="2C3E50"/>
                  </a:solidFill>
                  <a:latin typeface="Segoe UI" panose="020B0502040204020203" pitchFamily="34" charset="0"/>
                  <a:cs typeface="Segoe UI" panose="020B0502040204020203" pitchFamily="34" charset="0"/>
                </a:endParaRPr>
              </a:p>
            </p:txBody>
          </p:sp>
          <p:cxnSp>
            <p:nvCxnSpPr>
              <p:cNvPr id="17" name="直接箭头连接符 22">
                <a:extLst>
                  <a:ext uri="{FF2B5EF4-FFF2-40B4-BE49-F238E27FC236}">
                    <a16:creationId xmlns:a16="http://schemas.microsoft.com/office/drawing/2014/main" id="{A14457BF-DEA3-4E4B-AC03-F9ABB5C8A2BC}"/>
                  </a:ext>
                </a:extLst>
              </p:cNvPr>
              <p:cNvCxnSpPr>
                <a:cxnSpLocks noChangeShapeType="1"/>
              </p:cNvCxnSpPr>
              <p:nvPr/>
            </p:nvCxnSpPr>
            <p:spPr bwMode="auto">
              <a:xfrm>
                <a:off x="3995738" y="3481388"/>
                <a:ext cx="0" cy="1008062"/>
              </a:xfrm>
              <a:prstGeom prst="straightConnector1">
                <a:avLst/>
              </a:prstGeom>
              <a:noFill/>
              <a:ln w="9525">
                <a:solidFill>
                  <a:srgbClr val="2C3E5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8" name="直接箭头连接符 24">
                <a:extLst>
                  <a:ext uri="{FF2B5EF4-FFF2-40B4-BE49-F238E27FC236}">
                    <a16:creationId xmlns:a16="http://schemas.microsoft.com/office/drawing/2014/main" id="{D29F446E-8613-4F4B-8212-4511EE5561C5}"/>
                  </a:ext>
                </a:extLst>
              </p:cNvPr>
              <p:cNvCxnSpPr>
                <a:cxnSpLocks noChangeShapeType="1"/>
              </p:cNvCxnSpPr>
              <p:nvPr/>
            </p:nvCxnSpPr>
            <p:spPr bwMode="auto">
              <a:xfrm>
                <a:off x="2928938" y="3946525"/>
                <a:ext cx="877887" cy="263525"/>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sp>
            <p:nvSpPr>
              <p:cNvPr id="19" name="文本框 25">
                <a:extLst>
                  <a:ext uri="{FF2B5EF4-FFF2-40B4-BE49-F238E27FC236}">
                    <a16:creationId xmlns:a16="http://schemas.microsoft.com/office/drawing/2014/main" id="{EBB1CBBE-1AB5-414C-A80C-A26370377B82}"/>
                  </a:ext>
                </a:extLst>
              </p:cNvPr>
              <p:cNvSpPr txBox="1">
                <a:spLocks noChangeArrowheads="1"/>
              </p:cNvSpPr>
              <p:nvPr/>
            </p:nvSpPr>
            <p:spPr bwMode="auto">
              <a:xfrm>
                <a:off x="6494558" y="4034405"/>
                <a:ext cx="1563496"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pPr algn="ctr"/>
                <a:r>
                  <a:rPr lang="en-US" altLang="zh-CN" sz="1800">
                    <a:solidFill>
                      <a:srgbClr val="2C3E50"/>
                    </a:solidFill>
                    <a:latin typeface="Segoe UI" panose="020B0502040204020203" pitchFamily="34" charset="0"/>
                    <a:ea typeface="Segoe UI" panose="020B0502040204020203" pitchFamily="34" charset="0"/>
                    <a:cs typeface="Segoe UI" panose="020B0502040204020203" pitchFamily="34" charset="0"/>
                  </a:rPr>
                  <a:t>Callable Bond</a:t>
                </a:r>
                <a:endParaRPr lang="zh-CN" altLang="en-US" sz="1800">
                  <a:solidFill>
                    <a:srgbClr val="2C3E50"/>
                  </a:solidFill>
                  <a:latin typeface="Segoe UI" panose="020B0502040204020203" pitchFamily="34" charset="0"/>
                  <a:cs typeface="Segoe UI" panose="020B0502040204020203" pitchFamily="34" charset="0"/>
                </a:endParaRPr>
              </a:p>
            </p:txBody>
          </p:sp>
          <p:sp>
            <p:nvSpPr>
              <p:cNvPr id="20" name="文本框 26">
                <a:extLst>
                  <a:ext uri="{FF2B5EF4-FFF2-40B4-BE49-F238E27FC236}">
                    <a16:creationId xmlns:a16="http://schemas.microsoft.com/office/drawing/2014/main" id="{BAC12D72-F5EC-47A9-96E8-324762983B00}"/>
                  </a:ext>
                </a:extLst>
              </p:cNvPr>
              <p:cNvSpPr txBox="1">
                <a:spLocks noChangeArrowheads="1"/>
              </p:cNvSpPr>
              <p:nvPr/>
            </p:nvSpPr>
            <p:spPr bwMode="auto">
              <a:xfrm>
                <a:off x="1987614" y="4588443"/>
                <a:ext cx="2193797"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Negative Convexity</a:t>
                </a:r>
                <a:endParaRPr lang="zh-CN" altLang="en-US" sz="1800" dirty="0">
                  <a:solidFill>
                    <a:srgbClr val="2C3E50"/>
                  </a:solidFill>
                  <a:latin typeface="Segoe UI" panose="020B0502040204020203" pitchFamily="34" charset="0"/>
                  <a:cs typeface="Segoe UI" panose="020B0502040204020203" pitchFamily="34" charset="0"/>
                </a:endParaRPr>
              </a:p>
            </p:txBody>
          </p:sp>
          <p:sp>
            <p:nvSpPr>
              <p:cNvPr id="21" name="文本框 27">
                <a:extLst>
                  <a:ext uri="{FF2B5EF4-FFF2-40B4-BE49-F238E27FC236}">
                    <a16:creationId xmlns:a16="http://schemas.microsoft.com/office/drawing/2014/main" id="{E4044DAB-003D-47FC-858F-C32B1A1FE1FA}"/>
                  </a:ext>
                </a:extLst>
              </p:cNvPr>
              <p:cNvSpPr txBox="1">
                <a:spLocks noChangeArrowheads="1"/>
              </p:cNvSpPr>
              <p:nvPr/>
            </p:nvSpPr>
            <p:spPr bwMode="auto">
              <a:xfrm>
                <a:off x="5129308" y="4588443"/>
                <a:ext cx="1898459"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pPr algn="ctr"/>
                <a:r>
                  <a:rPr lang="en-US" altLang="zh-CN" sz="1800" b="0">
                    <a:solidFill>
                      <a:srgbClr val="2C3E50"/>
                    </a:solidFill>
                    <a:latin typeface="Segoe UI" panose="020B0502040204020203" pitchFamily="34" charset="0"/>
                    <a:ea typeface="Segoe UI" panose="020B0502040204020203" pitchFamily="34" charset="0"/>
                    <a:cs typeface="Segoe UI" panose="020B0502040204020203" pitchFamily="34" charset="0"/>
                  </a:rPr>
                  <a:t>Positive Convexity</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2" name="文本框 29">
                <a:extLst>
                  <a:ext uri="{FF2B5EF4-FFF2-40B4-BE49-F238E27FC236}">
                    <a16:creationId xmlns:a16="http://schemas.microsoft.com/office/drawing/2014/main" id="{1E023386-3E92-48DB-B548-FCC2C5C7C60E}"/>
                  </a:ext>
                </a:extLst>
              </p:cNvPr>
              <p:cNvSpPr txBox="1">
                <a:spLocks noChangeArrowheads="1"/>
              </p:cNvSpPr>
              <p:nvPr/>
            </p:nvSpPr>
            <p:spPr bwMode="auto">
              <a:xfrm>
                <a:off x="1101660" y="4035993"/>
                <a:ext cx="447806"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pPr algn="ctr"/>
                <a:r>
                  <a:rPr lang="en-US" altLang="zh-CN" sz="1800" b="0">
                    <a:solidFill>
                      <a:srgbClr val="2C3E50"/>
                    </a:solidFill>
                    <a:latin typeface="Segoe UI" panose="020B0502040204020203" pitchFamily="34" charset="0"/>
                    <a:ea typeface="Segoe UI" panose="020B0502040204020203" pitchFamily="34" charset="0"/>
                    <a:cs typeface="Segoe UI" panose="020B0502040204020203" pitchFamily="34" charset="0"/>
                  </a:rPr>
                  <a:t>102</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3" name="文本框 31">
                <a:extLst>
                  <a:ext uri="{FF2B5EF4-FFF2-40B4-BE49-F238E27FC236}">
                    <a16:creationId xmlns:a16="http://schemas.microsoft.com/office/drawing/2014/main" id="{53EEDFFD-81C2-415B-9483-B600FBB6CFD2}"/>
                  </a:ext>
                </a:extLst>
              </p:cNvPr>
              <p:cNvSpPr txBox="1">
                <a:spLocks noChangeArrowheads="1"/>
              </p:cNvSpPr>
              <p:nvPr/>
            </p:nvSpPr>
            <p:spPr bwMode="auto">
              <a:xfrm>
                <a:off x="4611744" y="5841774"/>
                <a:ext cx="237812" cy="34970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y’</a:t>
                </a:r>
                <a:endParaRPr lang="zh-CN" altLang="en-US" sz="1800" b="0" dirty="0">
                  <a:solidFill>
                    <a:srgbClr val="2C3E50"/>
                  </a:solidFill>
                  <a:latin typeface="Segoe UI" panose="020B0502040204020203" pitchFamily="34" charset="0"/>
                  <a:cs typeface="Segoe UI" panose="020B0502040204020203" pitchFamily="34" charset="0"/>
                </a:endParaRPr>
              </a:p>
            </p:txBody>
          </p:sp>
        </p:grpSp>
        <p:sp>
          <p:nvSpPr>
            <p:cNvPr id="6" name="圆角矩形 39">
              <a:extLst>
                <a:ext uri="{FF2B5EF4-FFF2-40B4-BE49-F238E27FC236}">
                  <a16:creationId xmlns:a16="http://schemas.microsoft.com/office/drawing/2014/main" id="{CD8EBDD0-6C11-40A2-8E84-7007A156F614}"/>
                </a:ext>
              </a:extLst>
            </p:cNvPr>
            <p:cNvSpPr/>
            <p:nvPr/>
          </p:nvSpPr>
          <p:spPr>
            <a:xfrm>
              <a:off x="827584" y="2914650"/>
              <a:ext cx="7632848" cy="3394669"/>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53829871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a:bodyPr>
          <a:lstStyle/>
          <a:p>
            <a:pPr lvl="1"/>
            <a:r>
              <a:rPr lang="en-US" altLang="zh-CN" dirty="0"/>
              <a:t>With puttable bond, the </a:t>
            </a:r>
            <a:r>
              <a:rPr lang="en-US" altLang="zh-CN" u="sng" dirty="0"/>
              <a:t>downside price appreciation in response to increasing yield is limited</a:t>
            </a:r>
            <a:r>
              <a:rPr lang="en-US" altLang="zh-CN" dirty="0"/>
              <a:t>. It gives the holder the right to sell the bond back to the issuer at a set price.</a:t>
            </a:r>
            <a:endParaRPr lang="zh-CN" altLang="en-US" dirty="0"/>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BB5AE669-AFD5-4792-8A41-FC8DBDA4F76B}"/>
              </a:ext>
            </a:extLst>
          </p:cNvPr>
          <p:cNvGrpSpPr/>
          <p:nvPr/>
        </p:nvGrpSpPr>
        <p:grpSpPr>
          <a:xfrm>
            <a:off x="2315579" y="2884769"/>
            <a:ext cx="7560840" cy="3588863"/>
            <a:chOff x="827584" y="2648449"/>
            <a:chExt cx="7560840" cy="3588863"/>
          </a:xfrm>
        </p:grpSpPr>
        <p:grpSp>
          <p:nvGrpSpPr>
            <p:cNvPr id="5" name="组合 25">
              <a:extLst>
                <a:ext uri="{FF2B5EF4-FFF2-40B4-BE49-F238E27FC236}">
                  <a16:creationId xmlns:a16="http://schemas.microsoft.com/office/drawing/2014/main" id="{11D91367-4252-495E-85EB-044CC4BA0BFB}"/>
                </a:ext>
              </a:extLst>
            </p:cNvPr>
            <p:cNvGrpSpPr>
              <a:grpSpLocks/>
            </p:cNvGrpSpPr>
            <p:nvPr/>
          </p:nvGrpSpPr>
          <p:grpSpPr bwMode="auto">
            <a:xfrm>
              <a:off x="1032396" y="2648449"/>
              <a:ext cx="7146203" cy="3588863"/>
              <a:chOff x="993925" y="2277164"/>
              <a:chExt cx="7147492" cy="3590247"/>
            </a:xfrm>
          </p:grpSpPr>
          <p:grpSp>
            <p:nvGrpSpPr>
              <p:cNvPr id="7" name="组合 3">
                <a:extLst>
                  <a:ext uri="{FF2B5EF4-FFF2-40B4-BE49-F238E27FC236}">
                    <a16:creationId xmlns:a16="http://schemas.microsoft.com/office/drawing/2014/main" id="{0B9F49E1-492A-4F44-B704-9EBAE29A7F7F}"/>
                  </a:ext>
                </a:extLst>
              </p:cNvPr>
              <p:cNvGrpSpPr>
                <a:grpSpLocks/>
              </p:cNvGrpSpPr>
              <p:nvPr/>
            </p:nvGrpSpPr>
            <p:grpSpPr bwMode="auto">
              <a:xfrm>
                <a:off x="993925" y="2277164"/>
                <a:ext cx="7147492" cy="3590247"/>
                <a:chOff x="993925" y="2412453"/>
                <a:chExt cx="7147492" cy="3590247"/>
              </a:xfrm>
            </p:grpSpPr>
            <p:cxnSp>
              <p:nvCxnSpPr>
                <p:cNvPr id="10" name="直接箭头连接符 4">
                  <a:extLst>
                    <a:ext uri="{FF2B5EF4-FFF2-40B4-BE49-F238E27FC236}">
                      <a16:creationId xmlns:a16="http://schemas.microsoft.com/office/drawing/2014/main" id="{161FBEAA-F43D-45C3-A3A3-4FC4E86F28E3}"/>
                    </a:ext>
                  </a:extLst>
                </p:cNvPr>
                <p:cNvCxnSpPr>
                  <a:cxnSpLocks noChangeShapeType="1"/>
                </p:cNvCxnSpPr>
                <p:nvPr/>
              </p:nvCxnSpPr>
              <p:spPr bwMode="auto">
                <a:xfrm>
                  <a:off x="1763949" y="5652864"/>
                  <a:ext cx="6191949" cy="0"/>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1" name="直接箭头连接符 5">
                  <a:extLst>
                    <a:ext uri="{FF2B5EF4-FFF2-40B4-BE49-F238E27FC236}">
                      <a16:creationId xmlns:a16="http://schemas.microsoft.com/office/drawing/2014/main" id="{DAF4813A-BA74-4ABD-9F67-F90367FD6AA0}"/>
                    </a:ext>
                  </a:extLst>
                </p:cNvPr>
                <p:cNvCxnSpPr>
                  <a:cxnSpLocks noChangeShapeType="1"/>
                </p:cNvCxnSpPr>
                <p:nvPr/>
              </p:nvCxnSpPr>
              <p:spPr bwMode="auto">
                <a:xfrm flipV="1">
                  <a:off x="1763949" y="2592816"/>
                  <a:ext cx="0" cy="3060048"/>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sp>
              <p:nvSpPr>
                <p:cNvPr id="12" name="文本框 6">
                  <a:extLst>
                    <a:ext uri="{FF2B5EF4-FFF2-40B4-BE49-F238E27FC236}">
                      <a16:creationId xmlns:a16="http://schemas.microsoft.com/office/drawing/2014/main" id="{BF6AE37A-D1C8-459E-B41E-244D87D93839}"/>
                    </a:ext>
                  </a:extLst>
                </p:cNvPr>
                <p:cNvSpPr txBox="1">
                  <a:spLocks noChangeArrowheads="1"/>
                </p:cNvSpPr>
                <p:nvPr/>
              </p:nvSpPr>
              <p:spPr bwMode="auto">
                <a:xfrm>
                  <a:off x="993925" y="2494037"/>
                  <a:ext cx="566530" cy="3498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r>
                    <a:rPr lang="en-US" altLang="zh-CN" sz="1800" b="0">
                      <a:solidFill>
                        <a:srgbClr val="2C3E50"/>
                      </a:solidFill>
                      <a:latin typeface="Segoe UI" panose="020B0502040204020203" pitchFamily="34" charset="0"/>
                      <a:ea typeface="Segoe UI" panose="020B0502040204020203" pitchFamily="34" charset="0"/>
                      <a:cs typeface="Segoe UI" panose="020B0502040204020203" pitchFamily="34" charset="0"/>
                    </a:rPr>
                    <a:t>Price</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3" name="文本框 7">
                  <a:extLst>
                    <a:ext uri="{FF2B5EF4-FFF2-40B4-BE49-F238E27FC236}">
                      <a16:creationId xmlns:a16="http://schemas.microsoft.com/office/drawing/2014/main" id="{630C8449-2989-4486-8F37-225815D1F11B}"/>
                    </a:ext>
                  </a:extLst>
                </p:cNvPr>
                <p:cNvSpPr txBox="1">
                  <a:spLocks noChangeArrowheads="1"/>
                </p:cNvSpPr>
                <p:nvPr/>
              </p:nvSpPr>
              <p:spPr bwMode="auto">
                <a:xfrm>
                  <a:off x="7571680" y="5652863"/>
                  <a:ext cx="569737" cy="3498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Yield</a:t>
                  </a:r>
                  <a:endParaRPr lang="zh-CN" altLang="en-US" sz="1800" b="0" dirty="0">
                    <a:solidFill>
                      <a:srgbClr val="2C3E50"/>
                    </a:solidFill>
                    <a:latin typeface="Segoe UI" panose="020B0502040204020203" pitchFamily="34" charset="0"/>
                    <a:cs typeface="Segoe UI" panose="020B0502040204020203" pitchFamily="34" charset="0"/>
                  </a:endParaRPr>
                </a:p>
              </p:txBody>
            </p:sp>
            <p:cxnSp>
              <p:nvCxnSpPr>
                <p:cNvPr id="14" name="直接连接符 8">
                  <a:extLst>
                    <a:ext uri="{FF2B5EF4-FFF2-40B4-BE49-F238E27FC236}">
                      <a16:creationId xmlns:a16="http://schemas.microsoft.com/office/drawing/2014/main" id="{BBBEA18E-A76D-4535-A8A8-748D159E61E7}"/>
                    </a:ext>
                  </a:extLst>
                </p:cNvPr>
                <p:cNvCxnSpPr>
                  <a:cxnSpLocks noChangeShapeType="1"/>
                </p:cNvCxnSpPr>
                <p:nvPr/>
              </p:nvCxnSpPr>
              <p:spPr bwMode="auto">
                <a:xfrm>
                  <a:off x="1763949" y="5015026"/>
                  <a:ext cx="4464554" cy="0"/>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cxnSp>
              <p:nvCxnSpPr>
                <p:cNvPr id="15" name="直接连接符 9">
                  <a:extLst>
                    <a:ext uri="{FF2B5EF4-FFF2-40B4-BE49-F238E27FC236}">
                      <a16:creationId xmlns:a16="http://schemas.microsoft.com/office/drawing/2014/main" id="{55F5FDAC-56A3-410E-9392-029647D33C3D}"/>
                    </a:ext>
                  </a:extLst>
                </p:cNvPr>
                <p:cNvCxnSpPr>
                  <a:cxnSpLocks noChangeShapeType="1"/>
                </p:cNvCxnSpPr>
                <p:nvPr/>
              </p:nvCxnSpPr>
              <p:spPr bwMode="auto">
                <a:xfrm>
                  <a:off x="2844613" y="3404928"/>
                  <a:ext cx="0" cy="2247935"/>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sp>
              <p:nvSpPr>
                <p:cNvPr id="16" name="文本框 10">
                  <a:extLst>
                    <a:ext uri="{FF2B5EF4-FFF2-40B4-BE49-F238E27FC236}">
                      <a16:creationId xmlns:a16="http://schemas.microsoft.com/office/drawing/2014/main" id="{41F40E37-3338-402D-9CF3-B48CDA3A8E41}"/>
                    </a:ext>
                  </a:extLst>
                </p:cNvPr>
                <p:cNvSpPr txBox="1">
                  <a:spLocks noChangeArrowheads="1"/>
                </p:cNvSpPr>
                <p:nvPr/>
              </p:nvSpPr>
              <p:spPr bwMode="auto">
                <a:xfrm>
                  <a:off x="2894739" y="5128360"/>
                  <a:ext cx="1902265" cy="3498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r>
                    <a:rPr lang="en-US" altLang="zh-CN" sz="1800" b="0">
                      <a:solidFill>
                        <a:srgbClr val="2C3E50"/>
                      </a:solidFill>
                      <a:latin typeface="Segoe UI" panose="020B0502040204020203" pitchFamily="34" charset="0"/>
                      <a:ea typeface="Segoe UI" panose="020B0502040204020203" pitchFamily="34" charset="0"/>
                      <a:cs typeface="Segoe UI" panose="020B0502040204020203" pitchFamily="34" charset="0"/>
                    </a:rPr>
                    <a:t>Option-Free Bond</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7" name="文本框 11">
                  <a:extLst>
                    <a:ext uri="{FF2B5EF4-FFF2-40B4-BE49-F238E27FC236}">
                      <a16:creationId xmlns:a16="http://schemas.microsoft.com/office/drawing/2014/main" id="{B30B2A14-EA09-4A6A-8A56-8AC156D9C8FC}"/>
                    </a:ext>
                  </a:extLst>
                </p:cNvPr>
                <p:cNvSpPr txBox="1">
                  <a:spLocks noChangeArrowheads="1"/>
                </p:cNvSpPr>
                <p:nvPr/>
              </p:nvSpPr>
              <p:spPr bwMode="auto">
                <a:xfrm>
                  <a:off x="5581226" y="5056350"/>
                  <a:ext cx="1795743" cy="3498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r>
                    <a:rPr lang="en-US" altLang="zh-CN" sz="1800" b="0">
                      <a:solidFill>
                        <a:srgbClr val="2C3E50"/>
                      </a:solidFill>
                      <a:latin typeface="Segoe UI" panose="020B0502040204020203" pitchFamily="34" charset="0"/>
                      <a:ea typeface="Segoe UI" panose="020B0502040204020203" pitchFamily="34" charset="0"/>
                      <a:cs typeface="Segoe UI" panose="020B0502040204020203" pitchFamily="34" charset="0"/>
                    </a:rPr>
                    <a:t>Put Option Value</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8" name="任意多边形 12">
                  <a:extLst>
                    <a:ext uri="{FF2B5EF4-FFF2-40B4-BE49-F238E27FC236}">
                      <a16:creationId xmlns:a16="http://schemas.microsoft.com/office/drawing/2014/main" id="{5A762717-2ED3-433A-A7DE-CA42470EA1E5}"/>
                    </a:ext>
                  </a:extLst>
                </p:cNvPr>
                <p:cNvSpPr>
                  <a:spLocks/>
                </p:cNvSpPr>
                <p:nvPr/>
              </p:nvSpPr>
              <p:spPr bwMode="auto">
                <a:xfrm>
                  <a:off x="2267744" y="3204249"/>
                  <a:ext cx="3384376" cy="2200310"/>
                </a:xfrm>
                <a:custGeom>
                  <a:avLst/>
                  <a:gdLst>
                    <a:gd name="T0" fmla="*/ 0 w 2529192"/>
                    <a:gd name="T1" fmla="*/ 0 h 1926076"/>
                    <a:gd name="T2" fmla="*/ 2147483647 w 2529192"/>
                    <a:gd name="T3" fmla="*/ 907218174 h 1926076"/>
                    <a:gd name="T4" fmla="*/ 2147483647 w 2529192"/>
                    <a:gd name="T5" fmla="*/ 1496910995 h 1926076"/>
                    <a:gd name="T6" fmla="*/ 0 60000 65536"/>
                    <a:gd name="T7" fmla="*/ 0 60000 65536"/>
                    <a:gd name="T8" fmla="*/ 0 60000 65536"/>
                    <a:gd name="T9" fmla="*/ 0 w 2529192"/>
                    <a:gd name="T10" fmla="*/ 0 h 1926076"/>
                    <a:gd name="T11" fmla="*/ 2529192 w 2529192"/>
                    <a:gd name="T12" fmla="*/ 1926076 h 1926076"/>
                  </a:gdLst>
                  <a:ahLst/>
                  <a:cxnLst>
                    <a:cxn ang="T6">
                      <a:pos x="T0" y="T1"/>
                    </a:cxn>
                    <a:cxn ang="T7">
                      <a:pos x="T2" y="T3"/>
                    </a:cxn>
                    <a:cxn ang="T8">
                      <a:pos x="T4" y="T5"/>
                    </a:cxn>
                  </a:cxnLst>
                  <a:rect l="T9" t="T10" r="T11" b="T12"/>
                  <a:pathLst>
                    <a:path w="2529192" h="1926076">
                      <a:moveTo>
                        <a:pt x="0" y="0"/>
                      </a:moveTo>
                      <a:cubicBezTo>
                        <a:pt x="178340" y="423153"/>
                        <a:pt x="356681" y="846306"/>
                        <a:pt x="778213" y="1167319"/>
                      </a:cubicBezTo>
                      <a:cubicBezTo>
                        <a:pt x="1199745" y="1488332"/>
                        <a:pt x="1864468" y="1707204"/>
                        <a:pt x="2529192" y="1926076"/>
                      </a:cubicBezTo>
                    </a:path>
                  </a:pathLst>
                </a:custGeom>
                <a:noFill/>
                <a:ln w="19050">
                  <a:solidFill>
                    <a:srgbClr val="2C3E5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rgbClr val="2C3E50"/>
                    </a:solidFill>
                    <a:latin typeface="Segoe UI" panose="020B0502040204020203" pitchFamily="34" charset="0"/>
                    <a:cs typeface="Segoe UI" panose="020B0502040204020203" pitchFamily="34" charset="0"/>
                  </a:endParaRPr>
                </a:p>
              </p:txBody>
            </p:sp>
            <p:sp>
              <p:nvSpPr>
                <p:cNvPr id="19" name="文本框 16">
                  <a:extLst>
                    <a:ext uri="{FF2B5EF4-FFF2-40B4-BE49-F238E27FC236}">
                      <a16:creationId xmlns:a16="http://schemas.microsoft.com/office/drawing/2014/main" id="{1E9A26D9-1878-40C5-A5D9-5268C180E41D}"/>
                    </a:ext>
                  </a:extLst>
                </p:cNvPr>
                <p:cNvSpPr txBox="1">
                  <a:spLocks noChangeArrowheads="1"/>
                </p:cNvSpPr>
                <p:nvPr/>
              </p:nvSpPr>
              <p:spPr bwMode="auto">
                <a:xfrm>
                  <a:off x="3276710" y="2412453"/>
                  <a:ext cx="1624703" cy="3498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r>
                    <a:rPr lang="en-US" altLang="zh-CN" sz="1800">
                      <a:solidFill>
                        <a:srgbClr val="2C3E50"/>
                      </a:solidFill>
                      <a:latin typeface="Segoe UI" panose="020B0502040204020203" pitchFamily="34" charset="0"/>
                      <a:ea typeface="Segoe UI" panose="020B0502040204020203" pitchFamily="34" charset="0"/>
                      <a:cs typeface="Segoe UI" panose="020B0502040204020203" pitchFamily="34" charset="0"/>
                    </a:rPr>
                    <a:t>Puttable Bond</a:t>
                  </a:r>
                  <a:endParaRPr lang="zh-CN" altLang="en-US" sz="1800">
                    <a:solidFill>
                      <a:srgbClr val="2C3E50"/>
                    </a:solidFill>
                    <a:latin typeface="Segoe UI" panose="020B0502040204020203" pitchFamily="34" charset="0"/>
                    <a:cs typeface="Segoe UI" panose="020B0502040204020203" pitchFamily="34" charset="0"/>
                  </a:endParaRPr>
                </a:p>
              </p:txBody>
            </p:sp>
            <p:sp>
              <p:nvSpPr>
                <p:cNvPr id="20" name="文本框 18">
                  <a:extLst>
                    <a:ext uri="{FF2B5EF4-FFF2-40B4-BE49-F238E27FC236}">
                      <a16:creationId xmlns:a16="http://schemas.microsoft.com/office/drawing/2014/main" id="{EE30920F-8237-4D53-BEBF-90A291EFB8D2}"/>
                    </a:ext>
                  </a:extLst>
                </p:cNvPr>
                <p:cNvSpPr txBox="1">
                  <a:spLocks noChangeArrowheads="1"/>
                </p:cNvSpPr>
                <p:nvPr/>
              </p:nvSpPr>
              <p:spPr bwMode="auto">
                <a:xfrm>
                  <a:off x="3420742" y="4120231"/>
                  <a:ext cx="1794717" cy="3498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r>
                    <a:rPr lang="en-US" altLang="zh-CN" sz="1800">
                      <a:solidFill>
                        <a:srgbClr val="2C3E50"/>
                      </a:solidFill>
                      <a:latin typeface="Segoe UI" panose="020B0502040204020203" pitchFamily="34" charset="0"/>
                      <a:ea typeface="Segoe UI" panose="020B0502040204020203" pitchFamily="34" charset="0"/>
                      <a:cs typeface="Segoe UI" panose="020B0502040204020203" pitchFamily="34" charset="0"/>
                    </a:rPr>
                    <a:t>More Convexity</a:t>
                  </a:r>
                  <a:endParaRPr lang="zh-CN" altLang="en-US" sz="1800">
                    <a:solidFill>
                      <a:srgbClr val="2C3E50"/>
                    </a:solidFill>
                    <a:latin typeface="Segoe UI" panose="020B0502040204020203" pitchFamily="34" charset="0"/>
                    <a:cs typeface="Segoe UI" panose="020B0502040204020203" pitchFamily="34" charset="0"/>
                  </a:endParaRPr>
                </a:p>
              </p:txBody>
            </p:sp>
            <p:sp>
              <p:nvSpPr>
                <p:cNvPr id="21" name="文本框 19">
                  <a:extLst>
                    <a:ext uri="{FF2B5EF4-FFF2-40B4-BE49-F238E27FC236}">
                      <a16:creationId xmlns:a16="http://schemas.microsoft.com/office/drawing/2014/main" id="{B4F9A464-F67B-423E-9FDE-BC7F5EC7C513}"/>
                    </a:ext>
                  </a:extLst>
                </p:cNvPr>
                <p:cNvSpPr txBox="1">
                  <a:spLocks noChangeArrowheads="1"/>
                </p:cNvSpPr>
                <p:nvPr/>
              </p:nvSpPr>
              <p:spPr bwMode="auto">
                <a:xfrm>
                  <a:off x="1300347" y="4814998"/>
                  <a:ext cx="322830" cy="3498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r>
                    <a:rPr lang="en-US" altLang="zh-CN" sz="1800" b="0">
                      <a:solidFill>
                        <a:srgbClr val="2C3E50"/>
                      </a:solidFill>
                      <a:latin typeface="Segoe UI" panose="020B0502040204020203" pitchFamily="34" charset="0"/>
                      <a:ea typeface="Segoe UI" panose="020B0502040204020203" pitchFamily="34" charset="0"/>
                      <a:cs typeface="Segoe UI" panose="020B0502040204020203" pitchFamily="34" charset="0"/>
                    </a:rPr>
                    <a:t>97</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2" name="文本框 20">
                  <a:extLst>
                    <a:ext uri="{FF2B5EF4-FFF2-40B4-BE49-F238E27FC236}">
                      <a16:creationId xmlns:a16="http://schemas.microsoft.com/office/drawing/2014/main" id="{39FC874D-77F4-476B-BFC2-54FEBB902131}"/>
                    </a:ext>
                  </a:extLst>
                </p:cNvPr>
                <p:cNvSpPr txBox="1">
                  <a:spLocks noChangeArrowheads="1"/>
                </p:cNvSpPr>
                <p:nvPr/>
              </p:nvSpPr>
              <p:spPr bwMode="auto">
                <a:xfrm>
                  <a:off x="2730846" y="5652863"/>
                  <a:ext cx="237856" cy="3498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200" b="1">
                      <a:solidFill>
                        <a:schemeClr val="tx1"/>
                      </a:solidFill>
                      <a:latin typeface="Times New Roman" pitchFamily="18" charset="0"/>
                      <a:ea typeface="宋体" charset="-122"/>
                    </a:defRPr>
                  </a:lvl1pPr>
                  <a:lvl2pPr marL="742950" indent="-285750">
                    <a:defRPr sz="2200" b="1">
                      <a:solidFill>
                        <a:schemeClr val="tx1"/>
                      </a:solidFill>
                      <a:latin typeface="Times New Roman" pitchFamily="18" charset="0"/>
                      <a:ea typeface="宋体" charset="-122"/>
                    </a:defRPr>
                  </a:lvl2pPr>
                  <a:lvl3pPr marL="1143000" indent="-228600">
                    <a:defRPr sz="2200" b="1">
                      <a:solidFill>
                        <a:schemeClr val="tx1"/>
                      </a:solidFill>
                      <a:latin typeface="Times New Roman" pitchFamily="18" charset="0"/>
                      <a:ea typeface="宋体" charset="-122"/>
                    </a:defRPr>
                  </a:lvl3pPr>
                  <a:lvl4pPr marL="1600200" indent="-228600">
                    <a:defRPr sz="2200" b="1">
                      <a:solidFill>
                        <a:schemeClr val="tx1"/>
                      </a:solidFill>
                      <a:latin typeface="Times New Roman" pitchFamily="18" charset="0"/>
                      <a:ea typeface="宋体" charset="-122"/>
                    </a:defRPr>
                  </a:lvl4pPr>
                  <a:lvl5pPr marL="2057400" indent="-228600">
                    <a:defRPr sz="2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200" b="1">
                      <a:solidFill>
                        <a:schemeClr val="tx1"/>
                      </a:solidFill>
                      <a:latin typeface="Times New Roman" pitchFamily="18" charset="0"/>
                      <a:ea typeface="宋体" charset="-122"/>
                    </a:defRPr>
                  </a:lvl9pPr>
                </a:lstStyle>
                <a:p>
                  <a:r>
                    <a:rPr lang="en-US" altLang="zh-CN" sz="1800" b="0">
                      <a:solidFill>
                        <a:srgbClr val="2C3E50"/>
                      </a:solidFill>
                      <a:latin typeface="Segoe UI" panose="020B0502040204020203" pitchFamily="34" charset="0"/>
                      <a:ea typeface="Segoe UI" panose="020B0502040204020203" pitchFamily="34" charset="0"/>
                      <a:cs typeface="Segoe UI" panose="020B0502040204020203" pitchFamily="34" charset="0"/>
                    </a:rPr>
                    <a:t>y’</a:t>
                  </a:r>
                  <a:endParaRPr lang="zh-CN" altLang="en-US" sz="1800" b="0">
                    <a:solidFill>
                      <a:srgbClr val="2C3E50"/>
                    </a:solidFill>
                    <a:latin typeface="Segoe UI" panose="020B0502040204020203" pitchFamily="34" charset="0"/>
                    <a:cs typeface="Segoe UI" panose="020B0502040204020203" pitchFamily="34" charset="0"/>
                  </a:endParaRPr>
                </a:p>
              </p:txBody>
            </p:sp>
          </p:grpSp>
          <p:sp>
            <p:nvSpPr>
              <p:cNvPr id="8" name="任意多边形 21">
                <a:extLst>
                  <a:ext uri="{FF2B5EF4-FFF2-40B4-BE49-F238E27FC236}">
                    <a16:creationId xmlns:a16="http://schemas.microsoft.com/office/drawing/2014/main" id="{B6A85F5C-2615-4000-BDA7-44DB07F4F86B}"/>
                  </a:ext>
                </a:extLst>
              </p:cNvPr>
              <p:cNvSpPr>
                <a:spLocks/>
              </p:cNvSpPr>
              <p:nvPr/>
            </p:nvSpPr>
            <p:spPr bwMode="auto">
              <a:xfrm>
                <a:off x="2844613" y="4005383"/>
                <a:ext cx="3027742" cy="751423"/>
              </a:xfrm>
              <a:custGeom>
                <a:avLst/>
                <a:gdLst>
                  <a:gd name="T0" fmla="*/ 0 w 3249038"/>
                  <a:gd name="T1" fmla="*/ 0 h 525293"/>
                  <a:gd name="T2" fmla="*/ 38311 w 3249038"/>
                  <a:gd name="T3" fmla="*/ 2147483647 h 525293"/>
                  <a:gd name="T4" fmla="*/ 95490 w 3249038"/>
                  <a:gd name="T5" fmla="*/ 2147483647 h 525293"/>
                  <a:gd name="T6" fmla="*/ 0 60000 65536"/>
                  <a:gd name="T7" fmla="*/ 0 60000 65536"/>
                  <a:gd name="T8" fmla="*/ 0 60000 65536"/>
                  <a:gd name="T9" fmla="*/ 0 w 3249038"/>
                  <a:gd name="T10" fmla="*/ 0 h 525293"/>
                  <a:gd name="T11" fmla="*/ 3249038 w 3249038"/>
                  <a:gd name="T12" fmla="*/ 525293 h 525293"/>
                </a:gdLst>
                <a:ahLst/>
                <a:cxnLst>
                  <a:cxn ang="T6">
                    <a:pos x="T0" y="T1"/>
                  </a:cxn>
                  <a:cxn ang="T7">
                    <a:pos x="T2" y="T3"/>
                  </a:cxn>
                  <a:cxn ang="T8">
                    <a:pos x="T4" y="T5"/>
                  </a:cxn>
                </a:cxnLst>
                <a:rect l="T9" t="T10" r="T11" b="T12"/>
                <a:pathLst>
                  <a:path w="3249038" h="525293">
                    <a:moveTo>
                      <a:pt x="0" y="0"/>
                    </a:moveTo>
                    <a:cubicBezTo>
                      <a:pt x="381000" y="150778"/>
                      <a:pt x="762000" y="301557"/>
                      <a:pt x="1303506" y="389106"/>
                    </a:cubicBezTo>
                    <a:cubicBezTo>
                      <a:pt x="1845012" y="476655"/>
                      <a:pt x="2547025" y="500974"/>
                      <a:pt x="3249038" y="525293"/>
                    </a:cubicBezTo>
                  </a:path>
                </a:pathLst>
              </a:custGeom>
              <a:noFill/>
              <a:ln w="19050">
                <a:solidFill>
                  <a:srgbClr val="2C3E50"/>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solidFill>
                    <a:srgbClr val="2C3E50"/>
                  </a:solidFill>
                  <a:latin typeface="Segoe UI" panose="020B0502040204020203" pitchFamily="34" charset="0"/>
                  <a:cs typeface="Segoe UI" panose="020B0502040204020203" pitchFamily="34" charset="0"/>
                </a:endParaRPr>
              </a:p>
            </p:txBody>
          </p:sp>
          <p:cxnSp>
            <p:nvCxnSpPr>
              <p:cNvPr id="9" name="直接箭头连接符 23">
                <a:extLst>
                  <a:ext uri="{FF2B5EF4-FFF2-40B4-BE49-F238E27FC236}">
                    <a16:creationId xmlns:a16="http://schemas.microsoft.com/office/drawing/2014/main" id="{10A10D5B-1D23-4A37-B1AB-319A1597B161}"/>
                  </a:ext>
                </a:extLst>
              </p:cNvPr>
              <p:cNvCxnSpPr>
                <a:cxnSpLocks noChangeShapeType="1"/>
              </p:cNvCxnSpPr>
              <p:nvPr/>
            </p:nvCxnSpPr>
            <p:spPr bwMode="auto">
              <a:xfrm flipV="1">
                <a:off x="5291772" y="4725474"/>
                <a:ext cx="0" cy="432007"/>
              </a:xfrm>
              <a:prstGeom prst="straightConnector1">
                <a:avLst/>
              </a:prstGeom>
              <a:noFill/>
              <a:ln w="9525">
                <a:solidFill>
                  <a:srgbClr val="2C3E50"/>
                </a:solidFill>
                <a:round/>
                <a:headEnd type="triangle" w="med" len="med"/>
                <a:tailEnd type="triangle" w="med" len="med"/>
              </a:ln>
              <a:extLst>
                <a:ext uri="{909E8E84-426E-40DD-AFC4-6F175D3DCCD1}">
                  <a14:hiddenFill xmlns:a14="http://schemas.microsoft.com/office/drawing/2010/main">
                    <a:noFill/>
                  </a14:hiddenFill>
                </a:ext>
              </a:extLst>
            </p:spPr>
          </p:cxnSp>
        </p:grpSp>
        <p:sp>
          <p:nvSpPr>
            <p:cNvPr id="6" name="圆角矩形 20">
              <a:extLst>
                <a:ext uri="{FF2B5EF4-FFF2-40B4-BE49-F238E27FC236}">
                  <a16:creationId xmlns:a16="http://schemas.microsoft.com/office/drawing/2014/main" id="{354E9B0D-69E5-4FBA-9C45-2D7D4FD20F3F}"/>
                </a:ext>
              </a:extLst>
            </p:cNvPr>
            <p:cNvSpPr/>
            <p:nvPr/>
          </p:nvSpPr>
          <p:spPr>
            <a:xfrm>
              <a:off x="827584" y="2648449"/>
              <a:ext cx="7560840" cy="3527772"/>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15261435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a:bodyPr>
          <a:lstStyle/>
          <a:p>
            <a:pPr>
              <a:lnSpc>
                <a:spcPct val="200000"/>
              </a:lnSpc>
            </a:pPr>
            <a:r>
              <a:rPr lang="en-US" altLang="zh-CN" dirty="0"/>
              <a:t>Portfolio Duration and Convexity</a:t>
            </a:r>
          </a:p>
          <a:p>
            <a:pPr lvl="1">
              <a:lnSpc>
                <a:spcPct val="200000"/>
              </a:lnSpc>
            </a:pPr>
            <a:r>
              <a:rPr lang="en-US" altLang="zh-CN" dirty="0"/>
              <a:t>In regard to both modified (effective) duration and convexity, portfolio duration and convexity equal the </a:t>
            </a:r>
            <a:r>
              <a:rPr lang="en-US" altLang="zh-CN" u="sng" dirty="0"/>
              <a:t>weighted sum of individual, respectively, durations and convexities where each component’s weight is its value as a percentage of portfolio value</a:t>
            </a:r>
            <a:r>
              <a:rPr lang="en-US" altLang="zh-CN" dirty="0"/>
              <a:t>.</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101935953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fontScale="92500" lnSpcReduction="20000"/>
          </a:bodyPr>
          <a:lstStyle/>
          <a:p>
            <a:r>
              <a:rPr lang="en-US" altLang="zh-CN" dirty="0"/>
              <a:t>Bullet versus Barbell Portfolio</a:t>
            </a:r>
          </a:p>
          <a:p>
            <a:pPr lvl="1"/>
            <a:endParaRPr lang="en-US" altLang="zh-CN" b="1" dirty="0"/>
          </a:p>
          <a:p>
            <a:pPr lvl="1"/>
            <a:endParaRPr lang="en-US" altLang="zh-CN" b="1" dirty="0"/>
          </a:p>
          <a:p>
            <a:pPr lvl="1"/>
            <a:endParaRPr lang="en-US" altLang="zh-CN" b="1" dirty="0"/>
          </a:p>
          <a:p>
            <a:pPr lvl="1"/>
            <a:endParaRPr lang="en-US" altLang="zh-CN" b="1" dirty="0"/>
          </a:p>
          <a:p>
            <a:pPr lvl="1"/>
            <a:r>
              <a:rPr lang="en-US" altLang="zh-CN" dirty="0"/>
              <a:t>A manager purchase $100 million B at a cost of $100,000,000. The payments are semi-annual. Using A and C to construct a portfolio with the same cost and duration.</a:t>
            </a:r>
          </a:p>
          <a:p>
            <a:pPr lvl="1"/>
            <a:endParaRPr lang="en-US" altLang="zh-CN" b="1" dirty="0"/>
          </a:p>
          <a:p>
            <a:pPr lvl="1"/>
            <a:endParaRPr lang="en-US" altLang="zh-CN" b="1" dirty="0"/>
          </a:p>
          <a:p>
            <a:pPr lvl="1"/>
            <a:endParaRPr lang="en-US" altLang="zh-CN" dirty="0"/>
          </a:p>
          <a:p>
            <a:pPr lvl="1"/>
            <a:r>
              <a:rPr lang="en-US" altLang="zh-CN" dirty="0"/>
              <a:t>Barbell benefits more from interest rate volatility.</a:t>
            </a:r>
            <a:endParaRPr lang="zh-CN" altLang="en-US" dirty="0">
              <a:latin typeface="+mn-lt"/>
              <a:ea typeface="+mn-ea"/>
              <a:cs typeface="+mn-ea"/>
              <a:sym typeface="+mn-lt"/>
            </a:endParaRPr>
          </a:p>
        </p:txBody>
      </p:sp>
      <p:pic>
        <p:nvPicPr>
          <p:cNvPr id="4" name="图片 3">
            <a:extLst>
              <a:ext uri="{FF2B5EF4-FFF2-40B4-BE49-F238E27FC236}">
                <a16:creationId xmlns:a16="http://schemas.microsoft.com/office/drawing/2014/main" id="{DC30C07C-ECA3-4AE8-9D9A-327F17D12D67}"/>
              </a:ext>
            </a:extLst>
          </p:cNvPr>
          <p:cNvPicPr>
            <a:picLocks noChangeAspect="1"/>
          </p:cNvPicPr>
          <p:nvPr/>
        </p:nvPicPr>
        <p:blipFill>
          <a:blip r:embed="rId3"/>
          <a:stretch>
            <a:fillRect/>
          </a:stretch>
        </p:blipFill>
        <p:spPr>
          <a:xfrm>
            <a:off x="2285421" y="1447727"/>
            <a:ext cx="7937680" cy="1676545"/>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4445EDC6-F826-43AF-AE4A-563C918DBE63}"/>
                  </a:ext>
                </a:extLst>
              </p:cNvPr>
              <p:cNvSpPr/>
              <p:nvPr/>
            </p:nvSpPr>
            <p:spPr>
              <a:xfrm>
                <a:off x="1287673" y="5090185"/>
                <a:ext cx="6056466" cy="6401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𝑉</m:t>
                              </m:r>
                            </m:e>
                            <m:sub>
                              <m:r>
                                <a:rPr lang="zh-CN" altLang="en-US" i="1">
                                  <a:latin typeface="Cambria Math" panose="02040503050406030204" pitchFamily="18" charset="0"/>
                                </a:rPr>
                                <m:t>𝐴</m:t>
                              </m:r>
                            </m:sub>
                          </m:sSub>
                        </m:num>
                        <m:den>
                          <m:r>
                            <a:rPr lang="zh-CN" altLang="en-US" i="0">
                              <a:latin typeface="Cambria Math" panose="02040503050406030204" pitchFamily="18" charset="0"/>
                            </a:rPr>
                            <m:t>100,000,000</m:t>
                          </m:r>
                        </m:den>
                      </m:f>
                      <m:r>
                        <a:rPr lang="zh-CN" altLang="en-US" i="0">
                          <a:latin typeface="Cambria Math" panose="02040503050406030204" pitchFamily="18" charset="0"/>
                        </a:rPr>
                        <m:t>×4.7060+</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𝑉</m:t>
                              </m:r>
                            </m:e>
                            <m:sub>
                              <m:r>
                                <a:rPr lang="zh-CN" altLang="en-US" i="1">
                                  <a:latin typeface="Cambria Math" panose="02040503050406030204" pitchFamily="18" charset="0"/>
                                </a:rPr>
                                <m:t>𝐶</m:t>
                              </m:r>
                            </m:sub>
                          </m:sSub>
                        </m:num>
                        <m:den>
                          <m:r>
                            <a:rPr lang="zh-CN" altLang="en-US" i="0">
                              <a:latin typeface="Cambria Math" panose="02040503050406030204" pitchFamily="18" charset="0"/>
                            </a:rPr>
                            <m:t>100,000,000</m:t>
                          </m:r>
                        </m:den>
                      </m:f>
                      <m:r>
                        <a:rPr lang="zh-CN" altLang="en-US" i="0">
                          <a:latin typeface="Cambria Math" panose="02040503050406030204" pitchFamily="18" charset="0"/>
                        </a:rPr>
                        <m:t>×14.9120=8.1755</m:t>
                      </m:r>
                    </m:oMath>
                  </m:oMathPara>
                </a14:m>
                <a:endParaRPr lang="zh-CN" altLang="en-US" dirty="0"/>
              </a:p>
            </p:txBody>
          </p:sp>
        </mc:Choice>
        <mc:Fallback xmlns="">
          <p:sp>
            <p:nvSpPr>
              <p:cNvPr id="5" name="矩形 4">
                <a:extLst>
                  <a:ext uri="{FF2B5EF4-FFF2-40B4-BE49-F238E27FC236}">
                    <a16:creationId xmlns:a16="http://schemas.microsoft.com/office/drawing/2014/main" id="{4445EDC6-F826-43AF-AE4A-563C918DBE63}"/>
                  </a:ext>
                </a:extLst>
              </p:cNvPr>
              <p:cNvSpPr>
                <a:spLocks noRot="1" noChangeAspect="1" noMove="1" noResize="1" noEditPoints="1" noAdjustHandles="1" noChangeArrowheads="1" noChangeShapeType="1" noTextEdit="1"/>
              </p:cNvSpPr>
              <p:nvPr/>
            </p:nvSpPr>
            <p:spPr>
              <a:xfrm>
                <a:off x="1287673" y="5090185"/>
                <a:ext cx="6056466" cy="64017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1FBFA565-36CB-48A3-8A75-CAD1A82F9EBF}"/>
                  </a:ext>
                </a:extLst>
              </p:cNvPr>
              <p:cNvSpPr/>
              <p:nvPr/>
            </p:nvSpPr>
            <p:spPr>
              <a:xfrm>
                <a:off x="1287673" y="4555743"/>
                <a:ext cx="253332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𝑉</m:t>
                          </m:r>
                        </m:e>
                        <m:sub>
                          <m:r>
                            <a:rPr lang="zh-CN" altLang="en-US" i="1">
                              <a:latin typeface="Cambria Math" panose="02040503050406030204" pitchFamily="18" charset="0"/>
                            </a:rPr>
                            <m:t>𝐴</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𝑉</m:t>
                          </m:r>
                        </m:e>
                        <m:sub>
                          <m:r>
                            <a:rPr lang="zh-CN" altLang="en-US" i="1">
                              <a:latin typeface="Cambria Math" panose="02040503050406030204" pitchFamily="18" charset="0"/>
                            </a:rPr>
                            <m:t>𝐶</m:t>
                          </m:r>
                        </m:sub>
                      </m:sSub>
                      <m:r>
                        <a:rPr lang="zh-CN" altLang="en-US" i="0">
                          <a:latin typeface="Cambria Math" panose="02040503050406030204" pitchFamily="18" charset="0"/>
                        </a:rPr>
                        <m:t>=100,000,000</m:t>
                      </m:r>
                    </m:oMath>
                  </m:oMathPara>
                </a14:m>
                <a:endParaRPr lang="zh-CN" altLang="en-US" dirty="0"/>
              </a:p>
            </p:txBody>
          </p:sp>
        </mc:Choice>
        <mc:Fallback xmlns="">
          <p:sp>
            <p:nvSpPr>
              <p:cNvPr id="6" name="矩形 5">
                <a:extLst>
                  <a:ext uri="{FF2B5EF4-FFF2-40B4-BE49-F238E27FC236}">
                    <a16:creationId xmlns:a16="http://schemas.microsoft.com/office/drawing/2014/main" id="{1FBFA565-36CB-48A3-8A75-CAD1A82F9EBF}"/>
                  </a:ext>
                </a:extLst>
              </p:cNvPr>
              <p:cNvSpPr>
                <a:spLocks noRot="1" noChangeAspect="1" noMove="1" noResize="1" noEditPoints="1" noAdjustHandles="1" noChangeArrowheads="1" noChangeShapeType="1" noTextEdit="1"/>
              </p:cNvSpPr>
              <p:nvPr/>
            </p:nvSpPr>
            <p:spPr>
              <a:xfrm>
                <a:off x="1287673" y="4555743"/>
                <a:ext cx="2533321" cy="369332"/>
              </a:xfrm>
              <a:prstGeom prst="rect">
                <a:avLst/>
              </a:prstGeom>
              <a:blipFill>
                <a:blip r:embed="rId5"/>
                <a:stretch>
                  <a:fillRect b="-1639"/>
                </a:stretch>
              </a:blipFill>
            </p:spPr>
            <p:txBody>
              <a:bodyPr/>
              <a:lstStyle/>
              <a:p>
                <a:r>
                  <a:rPr lang="zh-CN" altLang="en-US">
                    <a:noFill/>
                  </a:rPr>
                  <a:t> </a:t>
                </a:r>
              </a:p>
            </p:txBody>
          </p:sp>
        </mc:Fallback>
      </mc:AlternateContent>
      <p:sp>
        <p:nvSpPr>
          <p:cNvPr id="7" name="左大括号 6">
            <a:extLst>
              <a:ext uri="{FF2B5EF4-FFF2-40B4-BE49-F238E27FC236}">
                <a16:creationId xmlns:a16="http://schemas.microsoft.com/office/drawing/2014/main" id="{1E93C80A-A389-437A-96AD-E3D4283EB906}"/>
              </a:ext>
            </a:extLst>
          </p:cNvPr>
          <p:cNvSpPr>
            <a:spLocks/>
          </p:cNvSpPr>
          <p:nvPr/>
        </p:nvSpPr>
        <p:spPr bwMode="auto">
          <a:xfrm rot="10800000">
            <a:off x="7719696" y="4385075"/>
            <a:ext cx="180000" cy="1080000"/>
          </a:xfrm>
          <a:prstGeom prst="leftBrace">
            <a:avLst>
              <a:gd name="adj1" fmla="val 31053"/>
              <a:gd name="adj2" fmla="val 50000"/>
            </a:avLst>
          </a:prstGeom>
          <a:noFill/>
          <a:ln w="9525">
            <a:solidFill>
              <a:srgbClr val="2C3E50"/>
            </a:solidFill>
            <a:round/>
            <a:headEnd/>
            <a:tailEnd/>
          </a:ln>
          <a:extLst>
            <a:ext uri="{909E8E84-426E-40DD-AFC4-6F175D3DCCD1}">
              <a14:hiddenFill xmlns:a14="http://schemas.microsoft.com/office/drawing/2010/main">
                <a:solidFill>
                  <a:srgbClr val="FFFFFF"/>
                </a:solidFill>
              </a14:hiddenFill>
            </a:ext>
          </a:extLst>
        </p:spPr>
        <p:txBody>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endParaRPr lang="zh-CN" altLang="en-US"/>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D991AC67-2E50-4F8A-9866-64E96C5E3952}"/>
                  </a:ext>
                </a:extLst>
              </p:cNvPr>
              <p:cNvSpPr/>
              <p:nvPr/>
            </p:nvSpPr>
            <p:spPr>
              <a:xfrm>
                <a:off x="8554131" y="4729284"/>
                <a:ext cx="2034275" cy="3915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𝐶</m:t>
                          </m:r>
                        </m:e>
                        <m:sub>
                          <m:r>
                            <a:rPr lang="zh-CN" altLang="en-US" i="1">
                              <a:latin typeface="Cambria Math" panose="02040503050406030204" pitchFamily="18" charset="0"/>
                            </a:rPr>
                            <m:t>𝑝𝑜𝑟𝑡𝑓𝑜𝑙𝑖𝑜</m:t>
                          </m:r>
                        </m:sub>
                      </m:sSub>
                      <m:r>
                        <a:rPr lang="zh-CN" altLang="en-US" i="0">
                          <a:latin typeface="Cambria Math" panose="02040503050406030204" pitchFamily="18" charset="0"/>
                        </a:rPr>
                        <m:t>=129.4</m:t>
                      </m:r>
                    </m:oMath>
                  </m:oMathPara>
                </a14:m>
                <a:endParaRPr lang="zh-CN" altLang="en-US" dirty="0"/>
              </a:p>
            </p:txBody>
          </p:sp>
        </mc:Choice>
        <mc:Fallback xmlns="">
          <p:sp>
            <p:nvSpPr>
              <p:cNvPr id="8" name="矩形 7">
                <a:extLst>
                  <a:ext uri="{FF2B5EF4-FFF2-40B4-BE49-F238E27FC236}">
                    <a16:creationId xmlns:a16="http://schemas.microsoft.com/office/drawing/2014/main" id="{D991AC67-2E50-4F8A-9866-64E96C5E3952}"/>
                  </a:ext>
                </a:extLst>
              </p:cNvPr>
              <p:cNvSpPr>
                <a:spLocks noRot="1" noChangeAspect="1" noMove="1" noResize="1" noEditPoints="1" noAdjustHandles="1" noChangeArrowheads="1" noChangeShapeType="1" noTextEdit="1"/>
              </p:cNvSpPr>
              <p:nvPr/>
            </p:nvSpPr>
            <p:spPr>
              <a:xfrm>
                <a:off x="8554131" y="4729284"/>
                <a:ext cx="2034275" cy="391582"/>
              </a:xfrm>
              <a:prstGeom prst="rect">
                <a:avLst/>
              </a:prstGeom>
              <a:blipFill>
                <a:blip r:embed="rId6"/>
                <a:stretch>
                  <a:fillRect b="-109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209557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Exercise 1</a:t>
            </a:r>
            <a:endParaRPr lang="zh-CN" altLang="en-US" dirty="0"/>
          </a:p>
          <a:p>
            <a:pPr>
              <a:buFont typeface="Wingdings" panose="05000000000000000000" pitchFamily="2" charset="2"/>
              <a:buChar char="l"/>
              <a:defRPr/>
            </a:pPr>
            <a:r>
              <a:rPr lang="en-US" altLang="zh-CN" dirty="0">
                <a:solidFill>
                  <a:schemeClr val="tx1"/>
                </a:solidFill>
              </a:rPr>
              <a:t>A zero-coupon bond with a maturity of 10 years has an annual effective yield of 10%. What is the closest value for its modified duration?</a:t>
            </a:r>
          </a:p>
          <a:p>
            <a:pPr marL="622300" lvl="1" indent="-276225">
              <a:buSzPct val="100000"/>
              <a:buFont typeface="微软雅黑" panose="020B0503020204020204" pitchFamily="34" charset="-122"/>
              <a:buAutoNum type="alphaUcPeriod"/>
              <a:defRPr/>
            </a:pPr>
            <a:r>
              <a:rPr lang="en-US" altLang="zh-CN" dirty="0"/>
              <a:t>9</a:t>
            </a:r>
          </a:p>
          <a:p>
            <a:pPr marL="622300" lvl="1" indent="-276225">
              <a:buSzPct val="100000"/>
              <a:buFont typeface="微软雅黑" panose="020B0503020204020204" pitchFamily="34" charset="-122"/>
              <a:buAutoNum type="alphaUcPeriod"/>
              <a:defRPr/>
            </a:pPr>
            <a:r>
              <a:rPr lang="en-US" altLang="zh-CN" dirty="0"/>
              <a:t>10</a:t>
            </a:r>
          </a:p>
          <a:p>
            <a:pPr marL="622300" lvl="1" indent="-276225">
              <a:buSzPct val="100000"/>
              <a:buFont typeface="微软雅黑" panose="020B0503020204020204" pitchFamily="34" charset="-122"/>
              <a:buAutoNum type="alphaUcPeriod"/>
              <a:defRPr/>
            </a:pPr>
            <a:r>
              <a:rPr lang="en-US" altLang="zh-CN" dirty="0"/>
              <a:t>99</a:t>
            </a:r>
          </a:p>
          <a:p>
            <a:pPr marL="622300" lvl="1" indent="-276225">
              <a:buSzPct val="100000"/>
              <a:buFont typeface="微软雅黑" panose="020B0503020204020204" pitchFamily="34" charset="-122"/>
              <a:buAutoNum type="alphaUcPeriod"/>
              <a:defRPr/>
            </a:pPr>
            <a:r>
              <a:rPr lang="en-US" altLang="zh-CN" dirty="0"/>
              <a:t>100</a:t>
            </a:r>
          </a:p>
          <a:p>
            <a:pPr marL="622300" lvl="1" indent="-276225">
              <a:buSzPct val="100000"/>
              <a:buFont typeface="微软雅黑" panose="020B0503020204020204" pitchFamily="34" charset="-122"/>
              <a:buAutoNum type="alphaUcPeriod"/>
              <a:defRPr/>
            </a:pPr>
            <a:endParaRPr lang="en-US" altLang="zh-CN" dirty="0"/>
          </a:p>
          <a:p>
            <a:pPr marL="288925">
              <a:buSzPct val="100000"/>
              <a:buFont typeface="Wingdings" panose="05000000000000000000" pitchFamily="2" charset="2"/>
              <a:buChar char="l"/>
              <a:defRPr/>
            </a:pPr>
            <a:r>
              <a:rPr lang="en-US" altLang="zh-CN" dirty="0">
                <a:solidFill>
                  <a:schemeClr val="tx1"/>
                </a:solidFill>
              </a:rPr>
              <a:t>Correct Answer : A</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07038065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Exercise 2</a:t>
            </a:r>
            <a:endParaRPr lang="zh-CN" altLang="en-US" dirty="0"/>
          </a:p>
          <a:p>
            <a:pPr>
              <a:buFont typeface="Wingdings" panose="05000000000000000000" pitchFamily="2" charset="2"/>
              <a:buChar char="l"/>
            </a:pPr>
            <a:r>
              <a:rPr lang="en-US" altLang="zh-CN" dirty="0">
                <a:solidFill>
                  <a:schemeClr val="tx1"/>
                </a:solidFill>
              </a:rPr>
              <a:t>The modified duration is 10.46 of a bond with a current price of $716.38. What is the bond’s DV01?</a:t>
            </a:r>
          </a:p>
          <a:p>
            <a:pPr marL="817200" lvl="1" indent="-457200">
              <a:buSzPct val="100000"/>
              <a:buFont typeface="+mj-lt"/>
              <a:buAutoNum type="alphaUcPeriod"/>
            </a:pPr>
            <a:r>
              <a:rPr lang="en-US" altLang="zh-CN" dirty="0"/>
              <a:t>$0.40</a:t>
            </a:r>
          </a:p>
          <a:p>
            <a:pPr marL="817200" lvl="1" indent="-457200">
              <a:buSzPct val="100000"/>
              <a:buFont typeface="+mj-lt"/>
              <a:buAutoNum type="alphaUcPeriod"/>
            </a:pPr>
            <a:r>
              <a:rPr lang="en-US" altLang="zh-CN" dirty="0"/>
              <a:t>$0.75</a:t>
            </a:r>
          </a:p>
          <a:p>
            <a:pPr marL="817200" lvl="1" indent="-457200">
              <a:buSzPct val="100000"/>
              <a:buFont typeface="+mj-lt"/>
              <a:buAutoNum type="alphaUcPeriod"/>
            </a:pPr>
            <a:r>
              <a:rPr lang="en-US" altLang="zh-CN" dirty="0"/>
              <a:t>$1.25</a:t>
            </a:r>
          </a:p>
          <a:p>
            <a:pPr marL="817200" lvl="1" indent="-457200">
              <a:buSzPct val="100000"/>
              <a:buFont typeface="+mj-lt"/>
              <a:buAutoNum type="alphaUcPeriod"/>
            </a:pPr>
            <a:r>
              <a:rPr lang="en-US" altLang="zh-CN" dirty="0"/>
              <a:t>Need more information (yield, maturity)</a:t>
            </a:r>
          </a:p>
          <a:p>
            <a:pPr marL="817200" lvl="1" indent="-457200">
              <a:buSzPct val="100000"/>
              <a:buFont typeface="+mj-lt"/>
              <a:buAutoNum type="alphaUcPeriod"/>
            </a:pPr>
            <a:endParaRPr lang="en-US" altLang="zh-CN" dirty="0"/>
          </a:p>
          <a:p>
            <a:pPr marL="417150" indent="-457200">
              <a:buSzPct val="100000"/>
              <a:buFont typeface="Wingdings" panose="05000000000000000000" pitchFamily="2" charset="2"/>
              <a:buChar char="l"/>
            </a:pPr>
            <a:r>
              <a:rPr lang="en-US" altLang="zh-CN" dirty="0">
                <a:solidFill>
                  <a:schemeClr val="tx1"/>
                </a:solidFill>
              </a:rPr>
              <a:t>Correct Answer : B</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60142948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One-Factor Risk Metrics and Hedges </a:t>
            </a:r>
            <a:endParaRPr lang="zh-CN" altLang="en-US" sz="2800" dirty="0"/>
          </a:p>
        </p:txBody>
      </p:sp>
      <p:sp>
        <p:nvSpPr>
          <p:cNvPr id="3" name="文本占位符 2"/>
          <p:cNvSpPr>
            <a:spLocks noGrp="1"/>
          </p:cNvSpPr>
          <p:nvPr>
            <p:ph type="body" sz="quarter" idx="10"/>
          </p:nvPr>
        </p:nvSpPr>
        <p:spPr/>
        <p:txBody>
          <a:bodyPr>
            <a:normAutofit fontScale="85000" lnSpcReduction="20000"/>
          </a:bodyPr>
          <a:lstStyle/>
          <a:p>
            <a:r>
              <a:rPr lang="en-US" altLang="zh-CN" dirty="0"/>
              <a:t>Exercise 3</a:t>
            </a:r>
            <a:endParaRPr lang="zh-CN" altLang="en-US" dirty="0"/>
          </a:p>
          <a:p>
            <a:pPr>
              <a:buFont typeface="Wingdings" panose="05000000000000000000" pitchFamily="2" charset="2"/>
              <a:buChar char="l"/>
              <a:defRPr/>
            </a:pPr>
            <a:r>
              <a:rPr lang="en-US" altLang="zh-CN" dirty="0">
                <a:solidFill>
                  <a:schemeClr val="tx1"/>
                </a:solidFill>
              </a:rPr>
              <a:t>A market maker sells $100 million face value of call options on underlying bonds when the interest rate is 4%. The price of the call option is $3 million and their (modified) duration is 80 years. At the same 4% rate, as the underlying bonds pay a 4% coupon, the price of the underlying happens to equal $100 par with a duration of 7 years.</a:t>
            </a:r>
          </a:p>
          <a:p>
            <a:pPr marL="539750" indent="-282575">
              <a:buFont typeface="+mj-lt"/>
              <a:buAutoNum type="alphaUcPeriod"/>
              <a:defRPr/>
            </a:pPr>
            <a:r>
              <a:rPr lang="en-US" altLang="zh-CN" b="0" dirty="0">
                <a:solidFill>
                  <a:schemeClr val="tx1"/>
                </a:solidFill>
              </a:rPr>
              <a:t>Short $12.9 million of underlying bond</a:t>
            </a:r>
          </a:p>
          <a:p>
            <a:pPr marL="539750" indent="-282575">
              <a:buFont typeface="+mj-lt"/>
              <a:buAutoNum type="alphaUcPeriod"/>
              <a:defRPr/>
            </a:pPr>
            <a:r>
              <a:rPr lang="en-US" altLang="zh-CN" b="0" dirty="0">
                <a:solidFill>
                  <a:schemeClr val="tx1"/>
                </a:solidFill>
              </a:rPr>
              <a:t>Short $24 million of underlying bond</a:t>
            </a:r>
          </a:p>
          <a:p>
            <a:pPr marL="539750" indent="-282575">
              <a:buFont typeface="+mj-lt"/>
              <a:buAutoNum type="alphaUcPeriod"/>
              <a:defRPr/>
            </a:pPr>
            <a:r>
              <a:rPr lang="en-US" altLang="zh-CN" b="0" dirty="0">
                <a:solidFill>
                  <a:schemeClr val="tx1"/>
                </a:solidFill>
              </a:rPr>
              <a:t>Long $24 million of underlying bond</a:t>
            </a:r>
          </a:p>
          <a:p>
            <a:pPr marL="539750" indent="-282575">
              <a:buFont typeface="+mj-lt"/>
              <a:buAutoNum type="alphaUcPeriod"/>
              <a:defRPr/>
            </a:pPr>
            <a:r>
              <a:rPr lang="en-US" altLang="zh-CN" b="0" dirty="0">
                <a:solidFill>
                  <a:schemeClr val="tx1"/>
                </a:solidFill>
              </a:rPr>
              <a:t>Long $34.3 million of underlying bond</a:t>
            </a:r>
          </a:p>
          <a:p>
            <a:pPr marL="539750" indent="-282575">
              <a:buFont typeface="+mj-lt"/>
              <a:buAutoNum type="alphaUcPeriod"/>
              <a:defRPr/>
            </a:pPr>
            <a:endParaRPr lang="en-US" altLang="zh-CN" dirty="0">
              <a:solidFill>
                <a:schemeClr val="tx1"/>
              </a:solidFill>
            </a:endParaRPr>
          </a:p>
          <a:p>
            <a:pPr marL="60325">
              <a:buFont typeface="Wingdings" panose="05000000000000000000" pitchFamily="2" charset="2"/>
              <a:buChar char="l"/>
              <a:defRPr/>
            </a:pPr>
            <a:r>
              <a:rPr lang="en-US" altLang="zh-CN" dirty="0">
                <a:solidFill>
                  <a:schemeClr val="tx1"/>
                </a:solidFill>
              </a:rPr>
              <a:t>Correct Answer : D</a:t>
            </a:r>
          </a:p>
          <a:p>
            <a:pPr marL="84137" lvl="1" indent="0">
              <a:buNone/>
              <a:defRPr/>
            </a:pPr>
            <a:r>
              <a:rPr lang="en-US" altLang="zh-CN" dirty="0"/>
              <a:t>DV01</a:t>
            </a:r>
            <a:r>
              <a:rPr lang="en-US" altLang="zh-CN" baseline="-25000" dirty="0"/>
              <a:t>option</a:t>
            </a:r>
            <a:r>
              <a:rPr lang="en-US" altLang="zh-CN" dirty="0"/>
              <a:t> + DV01</a:t>
            </a:r>
            <a:r>
              <a:rPr lang="en-US" altLang="zh-CN" baseline="-25000" dirty="0"/>
              <a:t>bond</a:t>
            </a:r>
            <a:r>
              <a:rPr lang="en-US" altLang="zh-CN" dirty="0"/>
              <a:t> = 0</a:t>
            </a:r>
          </a:p>
          <a:p>
            <a:pPr marL="84137" lvl="1" indent="0">
              <a:buNone/>
              <a:defRPr/>
            </a:pPr>
            <a:r>
              <a:rPr lang="en-US" altLang="zh-CN" dirty="0"/>
              <a:t>-3m*80*0.0001 + n*100*7*0.0001 = 0	n = 342,857</a:t>
            </a:r>
            <a:endParaRPr lang="zh-CN" altLang="en-US" dirty="0">
              <a:latin typeface="+mn-lt"/>
              <a:ea typeface="+mn-ea"/>
              <a:cs typeface="+mn-ea"/>
              <a:sym typeface="+mn-lt"/>
            </a:endParaRPr>
          </a:p>
        </p:txBody>
      </p:sp>
    </p:spTree>
    <p:extLst>
      <p:ext uri="{BB962C8B-B14F-4D97-AF65-F5344CB8AC3E}">
        <p14:creationId xmlns:p14="http://schemas.microsoft.com/office/powerpoint/2010/main" val="245730317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Multi-Factor Risk Metrics and Hedges </a:t>
            </a:r>
            <a:endParaRPr lang="zh-CN" altLang="en-US" sz="2800" dirty="0"/>
          </a:p>
        </p:txBody>
      </p:sp>
      <p:sp>
        <p:nvSpPr>
          <p:cNvPr id="3" name="文本占位符 2"/>
          <p:cNvSpPr>
            <a:spLocks noGrp="1"/>
          </p:cNvSpPr>
          <p:nvPr>
            <p:ph type="body" sz="quarter" idx="10"/>
          </p:nvPr>
        </p:nvSpPr>
        <p:spPr/>
        <p:txBody>
          <a:bodyPr>
            <a:normAutofit/>
          </a:bodyPr>
          <a:lstStyle/>
          <a:p>
            <a:pPr>
              <a:lnSpc>
                <a:spcPct val="140000"/>
              </a:lnSpc>
            </a:pPr>
            <a:r>
              <a:rPr lang="en-US" altLang="zh-CN" sz="1800" dirty="0"/>
              <a:t>Major Weakness of Single-Factor Approaches</a:t>
            </a:r>
          </a:p>
          <a:p>
            <a:pPr lvl="1">
              <a:lnSpc>
                <a:spcPct val="140000"/>
              </a:lnSpc>
            </a:pPr>
            <a:r>
              <a:rPr lang="en-US" altLang="zh-CN" sz="1800" dirty="0"/>
              <a:t>A single-factor approach to measuring and hedging risk in fixed income markets is quite limiting because it </a:t>
            </a:r>
            <a:r>
              <a:rPr lang="en-US" altLang="zh-CN" sz="1800" u="sng" dirty="0"/>
              <a:t>assumes that within the term structure of interest rate, all rate are driven by a single factor</a:t>
            </a:r>
            <a:r>
              <a:rPr lang="en-US" altLang="zh-CN" sz="1800" dirty="0"/>
              <a:t>.</a:t>
            </a:r>
          </a:p>
          <a:p>
            <a:pPr lvl="1">
              <a:lnSpc>
                <a:spcPct val="140000"/>
              </a:lnSpc>
            </a:pPr>
            <a:r>
              <a:rPr lang="en-US" altLang="zh-CN" sz="1800" dirty="0"/>
              <a:t>The problem with this is that </a:t>
            </a:r>
            <a:r>
              <a:rPr lang="en-US" altLang="zh-CN" sz="1800" u="sng" dirty="0"/>
              <a:t>it is observed that for different maturities we observe shifts that do not always move by the same relative or absolute magnitude</a:t>
            </a:r>
            <a:r>
              <a:rPr lang="en-US" altLang="zh-CN" sz="1800" dirty="0"/>
              <a:t>; indeed we can observe that 10-year rates go down at the same time as 3-year rates go down. This is what is known as curve risk.</a:t>
            </a:r>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CAB33105-854C-44A1-A6CA-FD6BD16C9D0E}"/>
              </a:ext>
            </a:extLst>
          </p:cNvPr>
          <p:cNvGrpSpPr/>
          <p:nvPr/>
        </p:nvGrpSpPr>
        <p:grpSpPr>
          <a:xfrm>
            <a:off x="3323991" y="4365104"/>
            <a:ext cx="5544016" cy="1944016"/>
            <a:chOff x="3275856" y="4365104"/>
            <a:chExt cx="5544016" cy="1944016"/>
          </a:xfrm>
        </p:grpSpPr>
        <p:grpSp>
          <p:nvGrpSpPr>
            <p:cNvPr id="5" name="组合 4">
              <a:extLst>
                <a:ext uri="{FF2B5EF4-FFF2-40B4-BE49-F238E27FC236}">
                  <a16:creationId xmlns:a16="http://schemas.microsoft.com/office/drawing/2014/main" id="{6EF48F25-AD2D-4DC2-9924-6B280CAF4EA7}"/>
                </a:ext>
              </a:extLst>
            </p:cNvPr>
            <p:cNvGrpSpPr/>
            <p:nvPr/>
          </p:nvGrpSpPr>
          <p:grpSpPr>
            <a:xfrm>
              <a:off x="3419872" y="4437112"/>
              <a:ext cx="5400000" cy="1872008"/>
              <a:chOff x="2175718" y="4404444"/>
              <a:chExt cx="5597077" cy="2238973"/>
            </a:xfrm>
          </p:grpSpPr>
          <p:cxnSp>
            <p:nvCxnSpPr>
              <p:cNvPr id="7" name="直接箭头连接符 4">
                <a:extLst>
                  <a:ext uri="{FF2B5EF4-FFF2-40B4-BE49-F238E27FC236}">
                    <a16:creationId xmlns:a16="http://schemas.microsoft.com/office/drawing/2014/main" id="{762528CB-2C72-444F-9E0A-BA565E8B952F}"/>
                  </a:ext>
                </a:extLst>
              </p:cNvPr>
              <p:cNvCxnSpPr>
                <a:cxnSpLocks noChangeShapeType="1"/>
              </p:cNvCxnSpPr>
              <p:nvPr/>
            </p:nvCxnSpPr>
            <p:spPr bwMode="auto">
              <a:xfrm>
                <a:off x="2467818" y="6404468"/>
                <a:ext cx="4140000" cy="0"/>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8" name="直接箭头连接符 6">
                <a:extLst>
                  <a:ext uri="{FF2B5EF4-FFF2-40B4-BE49-F238E27FC236}">
                    <a16:creationId xmlns:a16="http://schemas.microsoft.com/office/drawing/2014/main" id="{0E47228B-CBB3-44A3-9178-ABA44B9DDDDC}"/>
                  </a:ext>
                </a:extLst>
              </p:cNvPr>
              <p:cNvCxnSpPr>
                <a:cxnSpLocks noChangeShapeType="1"/>
              </p:cNvCxnSpPr>
              <p:nvPr/>
            </p:nvCxnSpPr>
            <p:spPr bwMode="auto">
              <a:xfrm flipV="1">
                <a:off x="2467818" y="4604468"/>
                <a:ext cx="0" cy="1800000"/>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sp>
            <p:nvSpPr>
              <p:cNvPr id="9" name="任意多边形 10">
                <a:extLst>
                  <a:ext uri="{FF2B5EF4-FFF2-40B4-BE49-F238E27FC236}">
                    <a16:creationId xmlns:a16="http://schemas.microsoft.com/office/drawing/2014/main" id="{7E7F0448-1DAA-4616-8EB9-66D749F2F963}"/>
                  </a:ext>
                </a:extLst>
              </p:cNvPr>
              <p:cNvSpPr>
                <a:spLocks/>
              </p:cNvSpPr>
              <p:nvPr/>
            </p:nvSpPr>
            <p:spPr bwMode="auto">
              <a:xfrm>
                <a:off x="2683043" y="5442741"/>
                <a:ext cx="3600000" cy="792000"/>
              </a:xfrm>
              <a:custGeom>
                <a:avLst/>
                <a:gdLst>
                  <a:gd name="T0" fmla="*/ 0 w 3638144"/>
                  <a:gd name="T1" fmla="*/ 2213133 h 700391"/>
                  <a:gd name="T2" fmla="*/ 1556425 w 3638144"/>
                  <a:gd name="T3" fmla="*/ 553280 h 700391"/>
                  <a:gd name="T4" fmla="*/ 3638144 w 3638144"/>
                  <a:gd name="T5" fmla="*/ 0 h 700391"/>
                  <a:gd name="T6" fmla="*/ 0 60000 65536"/>
                  <a:gd name="T7" fmla="*/ 0 60000 65536"/>
                  <a:gd name="T8" fmla="*/ 0 60000 65536"/>
                </a:gdLst>
                <a:ahLst/>
                <a:cxnLst>
                  <a:cxn ang="T6">
                    <a:pos x="T0" y="T1"/>
                  </a:cxn>
                  <a:cxn ang="T7">
                    <a:pos x="T2" y="T3"/>
                  </a:cxn>
                  <a:cxn ang="T8">
                    <a:pos x="T4" y="T5"/>
                  </a:cxn>
                </a:cxnLst>
                <a:rect l="0" t="0" r="r" b="b"/>
                <a:pathLst>
                  <a:path w="3638144" h="700391">
                    <a:moveTo>
                      <a:pt x="0" y="700391"/>
                    </a:moveTo>
                    <a:cubicBezTo>
                      <a:pt x="475034" y="496110"/>
                      <a:pt x="950068" y="291829"/>
                      <a:pt x="1556425" y="175097"/>
                    </a:cubicBezTo>
                    <a:cubicBezTo>
                      <a:pt x="2162782" y="58365"/>
                      <a:pt x="2900463" y="29182"/>
                      <a:pt x="3638144" y="0"/>
                    </a:cubicBezTo>
                  </a:path>
                </a:pathLst>
              </a:custGeom>
              <a:noFill/>
              <a:ln w="38100" cap="flat" cmpd="sng">
                <a:solidFill>
                  <a:srgbClr val="2C3E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rgbClr val="2C3E50"/>
                  </a:solidFill>
                  <a:latin typeface="Segoe UI" panose="020B0502040204020203" pitchFamily="34" charset="0"/>
                  <a:cs typeface="Segoe UI" panose="020B0502040204020203" pitchFamily="34" charset="0"/>
                </a:endParaRPr>
              </a:p>
            </p:txBody>
          </p:sp>
          <p:sp>
            <p:nvSpPr>
              <p:cNvPr id="10" name="任意多边形 11">
                <a:extLst>
                  <a:ext uri="{FF2B5EF4-FFF2-40B4-BE49-F238E27FC236}">
                    <a16:creationId xmlns:a16="http://schemas.microsoft.com/office/drawing/2014/main" id="{1DFC545E-397C-4646-B604-EDFB59B96FA9}"/>
                  </a:ext>
                </a:extLst>
              </p:cNvPr>
              <p:cNvSpPr>
                <a:spLocks/>
              </p:cNvSpPr>
              <p:nvPr/>
            </p:nvSpPr>
            <p:spPr bwMode="auto">
              <a:xfrm>
                <a:off x="2683043" y="4604476"/>
                <a:ext cx="3600000" cy="1368000"/>
              </a:xfrm>
              <a:custGeom>
                <a:avLst/>
                <a:gdLst>
                  <a:gd name="T0" fmla="*/ 0 w 3501957"/>
                  <a:gd name="T1" fmla="*/ 1342417 h 1342417"/>
                  <a:gd name="T2" fmla="*/ 1128408 w 3501957"/>
                  <a:gd name="T3" fmla="*/ 408562 h 1342417"/>
                  <a:gd name="T4" fmla="*/ 3501957 w 3501957"/>
                  <a:gd name="T5" fmla="*/ 0 h 1342417"/>
                  <a:gd name="T6" fmla="*/ 0 60000 65536"/>
                  <a:gd name="T7" fmla="*/ 0 60000 65536"/>
                  <a:gd name="T8" fmla="*/ 0 60000 65536"/>
                </a:gdLst>
                <a:ahLst/>
                <a:cxnLst>
                  <a:cxn ang="T6">
                    <a:pos x="T0" y="T1"/>
                  </a:cxn>
                  <a:cxn ang="T7">
                    <a:pos x="T2" y="T3"/>
                  </a:cxn>
                  <a:cxn ang="T8">
                    <a:pos x="T4" y="T5"/>
                  </a:cxn>
                </a:cxnLst>
                <a:rect l="0" t="0" r="r" b="b"/>
                <a:pathLst>
                  <a:path w="3501957" h="1342417">
                    <a:moveTo>
                      <a:pt x="0" y="1342417"/>
                    </a:moveTo>
                    <a:cubicBezTo>
                      <a:pt x="272374" y="987357"/>
                      <a:pt x="544749" y="632298"/>
                      <a:pt x="1128408" y="408562"/>
                    </a:cubicBezTo>
                    <a:cubicBezTo>
                      <a:pt x="1712068" y="184826"/>
                      <a:pt x="2607012" y="92413"/>
                      <a:pt x="3501957" y="0"/>
                    </a:cubicBezTo>
                  </a:path>
                </a:pathLst>
              </a:custGeom>
              <a:noFill/>
              <a:ln w="9525" cap="flat" cmpd="sng">
                <a:solidFill>
                  <a:srgbClr val="2C3E50"/>
                </a:solidFill>
                <a:prstDash val="lg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rgbClr val="2C3E50"/>
                  </a:solidFill>
                  <a:latin typeface="Segoe UI" panose="020B0502040204020203" pitchFamily="34" charset="0"/>
                  <a:cs typeface="Segoe UI" panose="020B0502040204020203" pitchFamily="34" charset="0"/>
                </a:endParaRPr>
              </a:p>
            </p:txBody>
          </p:sp>
          <p:sp>
            <p:nvSpPr>
              <p:cNvPr id="11" name="任意多边形 12">
                <a:extLst>
                  <a:ext uri="{FF2B5EF4-FFF2-40B4-BE49-F238E27FC236}">
                    <a16:creationId xmlns:a16="http://schemas.microsoft.com/office/drawing/2014/main" id="{6CFA92BC-CF2A-41BC-AA7E-7CDF5C4E8F7E}"/>
                  </a:ext>
                </a:extLst>
              </p:cNvPr>
              <p:cNvSpPr>
                <a:spLocks/>
              </p:cNvSpPr>
              <p:nvPr/>
            </p:nvSpPr>
            <p:spPr bwMode="auto">
              <a:xfrm>
                <a:off x="2683043" y="5172134"/>
                <a:ext cx="3600000" cy="792000"/>
              </a:xfrm>
              <a:custGeom>
                <a:avLst/>
                <a:gdLst>
                  <a:gd name="T0" fmla="*/ 0 w 3638144"/>
                  <a:gd name="T1" fmla="*/ 2213133 h 700391"/>
                  <a:gd name="T2" fmla="*/ 1556425 w 3638144"/>
                  <a:gd name="T3" fmla="*/ 553280 h 700391"/>
                  <a:gd name="T4" fmla="*/ 3638144 w 3638144"/>
                  <a:gd name="T5" fmla="*/ 0 h 700391"/>
                  <a:gd name="T6" fmla="*/ 0 60000 65536"/>
                  <a:gd name="T7" fmla="*/ 0 60000 65536"/>
                  <a:gd name="T8" fmla="*/ 0 60000 65536"/>
                </a:gdLst>
                <a:ahLst/>
                <a:cxnLst>
                  <a:cxn ang="T6">
                    <a:pos x="T0" y="T1"/>
                  </a:cxn>
                  <a:cxn ang="T7">
                    <a:pos x="T2" y="T3"/>
                  </a:cxn>
                  <a:cxn ang="T8">
                    <a:pos x="T4" y="T5"/>
                  </a:cxn>
                </a:cxnLst>
                <a:rect l="0" t="0" r="r" b="b"/>
                <a:pathLst>
                  <a:path w="3638144" h="700391">
                    <a:moveTo>
                      <a:pt x="0" y="700391"/>
                    </a:moveTo>
                    <a:cubicBezTo>
                      <a:pt x="475034" y="496110"/>
                      <a:pt x="950068" y="291829"/>
                      <a:pt x="1556425" y="175097"/>
                    </a:cubicBezTo>
                    <a:cubicBezTo>
                      <a:pt x="2162782" y="58365"/>
                      <a:pt x="2900463" y="29182"/>
                      <a:pt x="3638144" y="0"/>
                    </a:cubicBezTo>
                  </a:path>
                </a:pathLst>
              </a:custGeom>
              <a:noFill/>
              <a:ln w="9525" cap="flat" cmpd="sng">
                <a:solidFill>
                  <a:srgbClr val="2C3E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rgbClr val="2C3E50"/>
                  </a:solidFill>
                  <a:latin typeface="Segoe UI" panose="020B0502040204020203" pitchFamily="34" charset="0"/>
                  <a:cs typeface="Segoe UI" panose="020B0502040204020203" pitchFamily="34" charset="0"/>
                </a:endParaRPr>
              </a:p>
            </p:txBody>
          </p:sp>
          <p:sp>
            <p:nvSpPr>
              <p:cNvPr id="12" name="文本框 14">
                <a:extLst>
                  <a:ext uri="{FF2B5EF4-FFF2-40B4-BE49-F238E27FC236}">
                    <a16:creationId xmlns:a16="http://schemas.microsoft.com/office/drawing/2014/main" id="{402905F8-0844-4D18-B623-E68422DCCC9C}"/>
                  </a:ext>
                </a:extLst>
              </p:cNvPr>
              <p:cNvSpPr txBox="1">
                <a:spLocks noChangeArrowheads="1"/>
              </p:cNvSpPr>
              <p:nvPr/>
            </p:nvSpPr>
            <p:spPr bwMode="auto">
              <a:xfrm>
                <a:off x="6400056" y="4404444"/>
                <a:ext cx="1372739" cy="432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ea typeface="Segoe UI" panose="020B0502040204020203" pitchFamily="34" charset="0"/>
                    <a:cs typeface="Segoe UI" panose="020B0502040204020203" pitchFamily="34" charset="0"/>
                  </a:rPr>
                  <a:t>Nonparallel</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3" name="文本框 15">
                <a:extLst>
                  <a:ext uri="{FF2B5EF4-FFF2-40B4-BE49-F238E27FC236}">
                    <a16:creationId xmlns:a16="http://schemas.microsoft.com/office/drawing/2014/main" id="{C73AE8BD-F6AD-4C86-957C-F79415940A61}"/>
                  </a:ext>
                </a:extLst>
              </p:cNvPr>
              <p:cNvSpPr txBox="1">
                <a:spLocks noChangeArrowheads="1"/>
              </p:cNvSpPr>
              <p:nvPr/>
            </p:nvSpPr>
            <p:spPr bwMode="auto">
              <a:xfrm>
                <a:off x="6400056" y="4925144"/>
                <a:ext cx="930310" cy="432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ea typeface="Segoe UI" panose="020B0502040204020203" pitchFamily="34" charset="0"/>
                    <a:cs typeface="Segoe UI" panose="020B0502040204020203" pitchFamily="34" charset="0"/>
                  </a:rPr>
                  <a:t>Parallel</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4" name="文本框 16">
                <a:extLst>
                  <a:ext uri="{FF2B5EF4-FFF2-40B4-BE49-F238E27FC236}">
                    <a16:creationId xmlns:a16="http://schemas.microsoft.com/office/drawing/2014/main" id="{C576FF99-3D25-47A4-A5E3-1F2C2D0B8F34}"/>
                  </a:ext>
                </a:extLst>
              </p:cNvPr>
              <p:cNvSpPr txBox="1">
                <a:spLocks noChangeArrowheads="1"/>
              </p:cNvSpPr>
              <p:nvPr/>
            </p:nvSpPr>
            <p:spPr bwMode="auto">
              <a:xfrm>
                <a:off x="2175718" y="4442544"/>
                <a:ext cx="200943" cy="432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ea typeface="Segoe UI" panose="020B0502040204020203" pitchFamily="34" charset="0"/>
                    <a:cs typeface="Segoe UI" panose="020B0502040204020203" pitchFamily="34" charset="0"/>
                  </a:rPr>
                  <a:t>y</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5" name="文本框 17">
                <a:extLst>
                  <a:ext uri="{FF2B5EF4-FFF2-40B4-BE49-F238E27FC236}">
                    <a16:creationId xmlns:a16="http://schemas.microsoft.com/office/drawing/2014/main" id="{5725A5E4-DC3F-4A6C-92EA-DE22405BA164}"/>
                  </a:ext>
                </a:extLst>
              </p:cNvPr>
              <p:cNvSpPr txBox="1">
                <a:spLocks noChangeArrowheads="1"/>
              </p:cNvSpPr>
              <p:nvPr/>
            </p:nvSpPr>
            <p:spPr bwMode="auto">
              <a:xfrm>
                <a:off x="6608018" y="6211417"/>
                <a:ext cx="229797" cy="432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T</a:t>
                </a:r>
                <a:endParaRPr lang="zh-CN" altLang="en-US" sz="1800" b="0" dirty="0">
                  <a:solidFill>
                    <a:srgbClr val="2C3E50"/>
                  </a:solidFill>
                  <a:latin typeface="Segoe UI" panose="020B0502040204020203" pitchFamily="34" charset="0"/>
                  <a:cs typeface="Segoe UI" panose="020B0502040204020203" pitchFamily="34" charset="0"/>
                </a:endParaRPr>
              </a:p>
            </p:txBody>
          </p:sp>
        </p:grpSp>
        <p:sp>
          <p:nvSpPr>
            <p:cNvPr id="6" name="圆角矩形 13">
              <a:extLst>
                <a:ext uri="{FF2B5EF4-FFF2-40B4-BE49-F238E27FC236}">
                  <a16:creationId xmlns:a16="http://schemas.microsoft.com/office/drawing/2014/main" id="{0FF6D0B6-61AF-4780-927E-20D354098B9E}"/>
                </a:ext>
              </a:extLst>
            </p:cNvPr>
            <p:cNvSpPr/>
            <p:nvPr/>
          </p:nvSpPr>
          <p:spPr>
            <a:xfrm>
              <a:off x="3275856" y="4365104"/>
              <a:ext cx="5544016" cy="1872008"/>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74724450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Multi-Factor Risk Metrics and Hedges </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Key Rate Exposures</a:t>
            </a:r>
          </a:p>
          <a:p>
            <a:pPr lvl="1"/>
            <a:r>
              <a:rPr lang="en-US" altLang="zh-CN" dirty="0"/>
              <a:t>Key-Rate Shifts</a:t>
            </a:r>
          </a:p>
          <a:p>
            <a:pPr lvl="1"/>
            <a:r>
              <a:rPr lang="en-US" altLang="zh-CN" dirty="0"/>
              <a:t>Partial ’01</a:t>
            </a:r>
          </a:p>
          <a:p>
            <a:pPr lvl="1"/>
            <a:r>
              <a:rPr lang="en-US" altLang="zh-CN" dirty="0"/>
              <a:t>Forward-Bucket ’01s</a:t>
            </a:r>
          </a:p>
          <a:p>
            <a:r>
              <a:rPr lang="en-US" altLang="zh-CN" dirty="0"/>
              <a:t>Key Rate Shifts</a:t>
            </a:r>
          </a:p>
          <a:p>
            <a:pPr lvl="1"/>
            <a:r>
              <a:rPr lang="en-US" altLang="zh-CN" dirty="0"/>
              <a:t>The key rate shift technique is an approach to </a:t>
            </a:r>
            <a:r>
              <a:rPr lang="en-US" altLang="zh-CN" u="sng" dirty="0"/>
              <a:t>nonparallel shifts </a:t>
            </a:r>
            <a:r>
              <a:rPr lang="en-US" altLang="zh-CN" dirty="0"/>
              <a:t>in the yield curve, which is </a:t>
            </a:r>
            <a:r>
              <a:rPr lang="en-US" altLang="zh-CN" u="sng" dirty="0"/>
              <a:t>allows for changes in all rates to be determined by changes from selected key rates. A few rates along the term-structure are picked which are representative of the curve.</a:t>
            </a:r>
          </a:p>
          <a:p>
            <a:pPr lvl="1"/>
            <a:r>
              <a:rPr lang="en-US" altLang="zh-CN" dirty="0"/>
              <a:t>Shifts in the key-rates are </a:t>
            </a:r>
            <a:r>
              <a:rPr lang="en-US" altLang="zh-CN" u="sng" dirty="0"/>
              <a:t>decline linearly</a:t>
            </a:r>
            <a:r>
              <a:rPr lang="en-US" altLang="zh-CN" dirty="0"/>
              <a:t>.</a:t>
            </a:r>
          </a:p>
          <a:p>
            <a:pPr lvl="1"/>
            <a:r>
              <a:rPr lang="en-US" altLang="zh-CN" u="sng" dirty="0"/>
              <a:t>The rate of a given maturity is affected solely by its closest key-rate.</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287772955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Multi-Factor Risk Metrics and Hedges </a:t>
            </a:r>
            <a:endParaRPr lang="zh-CN" altLang="en-US" sz="2800" dirty="0"/>
          </a:p>
        </p:txBody>
      </p:sp>
      <p:grpSp>
        <p:nvGrpSpPr>
          <p:cNvPr id="4" name="组合 3">
            <a:extLst>
              <a:ext uri="{FF2B5EF4-FFF2-40B4-BE49-F238E27FC236}">
                <a16:creationId xmlns:a16="http://schemas.microsoft.com/office/drawing/2014/main" id="{82841231-EDA7-45EC-AC45-A15C9E7E56A4}"/>
              </a:ext>
            </a:extLst>
          </p:cNvPr>
          <p:cNvGrpSpPr/>
          <p:nvPr/>
        </p:nvGrpSpPr>
        <p:grpSpPr>
          <a:xfrm>
            <a:off x="2027548" y="1304764"/>
            <a:ext cx="8136904" cy="4248472"/>
            <a:chOff x="539552" y="1412776"/>
            <a:chExt cx="8136904" cy="4248472"/>
          </a:xfrm>
        </p:grpSpPr>
        <p:grpSp>
          <p:nvGrpSpPr>
            <p:cNvPr id="5" name="组合 4">
              <a:extLst>
                <a:ext uri="{FF2B5EF4-FFF2-40B4-BE49-F238E27FC236}">
                  <a16:creationId xmlns:a16="http://schemas.microsoft.com/office/drawing/2014/main" id="{1A969D90-E642-4663-9162-82992F29658E}"/>
                </a:ext>
              </a:extLst>
            </p:cNvPr>
            <p:cNvGrpSpPr/>
            <p:nvPr/>
          </p:nvGrpSpPr>
          <p:grpSpPr>
            <a:xfrm>
              <a:off x="611561" y="1556792"/>
              <a:ext cx="7560839" cy="4104456"/>
              <a:chOff x="34067" y="2132856"/>
              <a:chExt cx="7560839" cy="4104456"/>
            </a:xfrm>
          </p:grpSpPr>
          <p:cxnSp>
            <p:nvCxnSpPr>
              <p:cNvPr id="7" name="直接连接符 6">
                <a:extLst>
                  <a:ext uri="{FF2B5EF4-FFF2-40B4-BE49-F238E27FC236}">
                    <a16:creationId xmlns:a16="http://schemas.microsoft.com/office/drawing/2014/main" id="{77B50F58-059A-4B2D-B9FE-A41EA6AAD2E6}"/>
                  </a:ext>
                </a:extLst>
              </p:cNvPr>
              <p:cNvCxnSpPr/>
              <p:nvPr/>
            </p:nvCxnSpPr>
            <p:spPr bwMode="auto">
              <a:xfrm>
                <a:off x="1115616" y="5373256"/>
                <a:ext cx="899914"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
                <a:extLst>
                  <a:ext uri="{FF2B5EF4-FFF2-40B4-BE49-F238E27FC236}">
                    <a16:creationId xmlns:a16="http://schemas.microsoft.com/office/drawing/2014/main" id="{BC0BA5AF-918F-4A5A-823B-4B934AADC645}"/>
                  </a:ext>
                </a:extLst>
              </p:cNvPr>
              <p:cNvCxnSpPr/>
              <p:nvPr/>
            </p:nvCxnSpPr>
            <p:spPr bwMode="auto">
              <a:xfrm flipV="1">
                <a:off x="2015530" y="5265256"/>
                <a:ext cx="0" cy="108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a:extLst>
                  <a:ext uri="{FF2B5EF4-FFF2-40B4-BE49-F238E27FC236}">
                    <a16:creationId xmlns:a16="http://schemas.microsoft.com/office/drawing/2014/main" id="{3DF02944-6448-4F02-B7BE-31FBFA692609}"/>
                  </a:ext>
                </a:extLst>
              </p:cNvPr>
              <p:cNvCxnSpPr/>
              <p:nvPr/>
            </p:nvCxnSpPr>
            <p:spPr bwMode="auto">
              <a:xfrm>
                <a:off x="2015530" y="5373256"/>
                <a:ext cx="899914" cy="0"/>
              </a:xfrm>
              <a:prstGeom prst="line">
                <a:avLst/>
              </a:prstGeom>
              <a:solidFill>
                <a:schemeClr val="accent1"/>
              </a:solidFill>
              <a:ln w="9525" cap="flat" cmpd="sng" algn="ctr">
                <a:solidFill>
                  <a:srgbClr val="2C3E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连接符 9">
                <a:extLst>
                  <a:ext uri="{FF2B5EF4-FFF2-40B4-BE49-F238E27FC236}">
                    <a16:creationId xmlns:a16="http://schemas.microsoft.com/office/drawing/2014/main" id="{13455F8D-2261-45F4-9ADA-AA3146CCBBD0}"/>
                  </a:ext>
                </a:extLst>
              </p:cNvPr>
              <p:cNvCxnSpPr/>
              <p:nvPr/>
            </p:nvCxnSpPr>
            <p:spPr bwMode="auto">
              <a:xfrm flipV="1">
                <a:off x="2915445" y="5265256"/>
                <a:ext cx="0" cy="108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a:extLst>
                  <a:ext uri="{FF2B5EF4-FFF2-40B4-BE49-F238E27FC236}">
                    <a16:creationId xmlns:a16="http://schemas.microsoft.com/office/drawing/2014/main" id="{8102EA0F-63FD-4373-80EF-BA21DD3EE719}"/>
                  </a:ext>
                </a:extLst>
              </p:cNvPr>
              <p:cNvCxnSpPr/>
              <p:nvPr/>
            </p:nvCxnSpPr>
            <p:spPr bwMode="auto">
              <a:xfrm>
                <a:off x="2915445" y="5373256"/>
                <a:ext cx="899914" cy="0"/>
              </a:xfrm>
              <a:prstGeom prst="line">
                <a:avLst/>
              </a:prstGeom>
              <a:solidFill>
                <a:schemeClr val="accent1"/>
              </a:solidFill>
              <a:ln w="9525" cap="flat" cmpd="sng" algn="ctr">
                <a:solidFill>
                  <a:srgbClr val="2C3E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a:extLst>
                  <a:ext uri="{FF2B5EF4-FFF2-40B4-BE49-F238E27FC236}">
                    <a16:creationId xmlns:a16="http://schemas.microsoft.com/office/drawing/2014/main" id="{9B113D13-57EC-4E31-A7D0-49122AAE8058}"/>
                  </a:ext>
                </a:extLst>
              </p:cNvPr>
              <p:cNvCxnSpPr/>
              <p:nvPr/>
            </p:nvCxnSpPr>
            <p:spPr bwMode="auto">
              <a:xfrm flipV="1">
                <a:off x="3815559" y="5265256"/>
                <a:ext cx="0" cy="108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a:extLst>
                  <a:ext uri="{FF2B5EF4-FFF2-40B4-BE49-F238E27FC236}">
                    <a16:creationId xmlns:a16="http://schemas.microsoft.com/office/drawing/2014/main" id="{5A3557E7-60D1-4E4A-9B2C-3B6B5769CE3B}"/>
                  </a:ext>
                </a:extLst>
              </p:cNvPr>
              <p:cNvCxnSpPr/>
              <p:nvPr/>
            </p:nvCxnSpPr>
            <p:spPr bwMode="auto">
              <a:xfrm>
                <a:off x="3815559" y="5373256"/>
                <a:ext cx="899914" cy="0"/>
              </a:xfrm>
              <a:prstGeom prst="line">
                <a:avLst/>
              </a:prstGeom>
              <a:solidFill>
                <a:schemeClr val="accent1"/>
              </a:solidFill>
              <a:ln w="9525" cap="flat" cmpd="sng" algn="ctr">
                <a:solidFill>
                  <a:srgbClr val="2C3E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a:extLst>
                  <a:ext uri="{FF2B5EF4-FFF2-40B4-BE49-F238E27FC236}">
                    <a16:creationId xmlns:a16="http://schemas.microsoft.com/office/drawing/2014/main" id="{FB380259-A508-448E-A8A7-D93185633BDC}"/>
                  </a:ext>
                </a:extLst>
              </p:cNvPr>
              <p:cNvCxnSpPr/>
              <p:nvPr/>
            </p:nvCxnSpPr>
            <p:spPr bwMode="auto">
              <a:xfrm flipV="1">
                <a:off x="4715473" y="5265256"/>
                <a:ext cx="0" cy="108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a:extLst>
                  <a:ext uri="{FF2B5EF4-FFF2-40B4-BE49-F238E27FC236}">
                    <a16:creationId xmlns:a16="http://schemas.microsoft.com/office/drawing/2014/main" id="{241A9FDE-4033-4690-8034-065DD09918D4}"/>
                  </a:ext>
                </a:extLst>
              </p:cNvPr>
              <p:cNvCxnSpPr/>
              <p:nvPr/>
            </p:nvCxnSpPr>
            <p:spPr bwMode="auto">
              <a:xfrm>
                <a:off x="4715673" y="5373256"/>
                <a:ext cx="899914" cy="0"/>
              </a:xfrm>
              <a:prstGeom prst="line">
                <a:avLst/>
              </a:prstGeom>
              <a:solidFill>
                <a:schemeClr val="accent1"/>
              </a:solidFill>
              <a:ln w="9525" cap="flat" cmpd="sng" algn="ctr">
                <a:solidFill>
                  <a:srgbClr val="2C3E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a:extLst>
                  <a:ext uri="{FF2B5EF4-FFF2-40B4-BE49-F238E27FC236}">
                    <a16:creationId xmlns:a16="http://schemas.microsoft.com/office/drawing/2014/main" id="{99E79BB6-9C71-4C1A-963A-35E90AA94023}"/>
                  </a:ext>
                </a:extLst>
              </p:cNvPr>
              <p:cNvCxnSpPr/>
              <p:nvPr/>
            </p:nvCxnSpPr>
            <p:spPr bwMode="auto">
              <a:xfrm flipV="1">
                <a:off x="5615587" y="5265256"/>
                <a:ext cx="0" cy="108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a:extLst>
                  <a:ext uri="{FF2B5EF4-FFF2-40B4-BE49-F238E27FC236}">
                    <a16:creationId xmlns:a16="http://schemas.microsoft.com/office/drawing/2014/main" id="{F36382F4-847E-4168-867E-AE1C63BA73C6}"/>
                  </a:ext>
                </a:extLst>
              </p:cNvPr>
              <p:cNvCxnSpPr/>
              <p:nvPr/>
            </p:nvCxnSpPr>
            <p:spPr bwMode="auto">
              <a:xfrm>
                <a:off x="5615587" y="5373256"/>
                <a:ext cx="899914" cy="0"/>
              </a:xfrm>
              <a:prstGeom prst="line">
                <a:avLst/>
              </a:prstGeom>
              <a:solidFill>
                <a:schemeClr val="accent1"/>
              </a:solidFill>
              <a:ln w="9525" cap="flat" cmpd="sng" algn="ctr">
                <a:solidFill>
                  <a:srgbClr val="2C3E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a:extLst>
                  <a:ext uri="{FF2B5EF4-FFF2-40B4-BE49-F238E27FC236}">
                    <a16:creationId xmlns:a16="http://schemas.microsoft.com/office/drawing/2014/main" id="{260D7669-3E40-40B4-B923-4147A15FAC91}"/>
                  </a:ext>
                </a:extLst>
              </p:cNvPr>
              <p:cNvCxnSpPr/>
              <p:nvPr/>
            </p:nvCxnSpPr>
            <p:spPr bwMode="auto">
              <a:xfrm flipV="1">
                <a:off x="6515502" y="5265256"/>
                <a:ext cx="0" cy="108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a:extLst>
                  <a:ext uri="{FF2B5EF4-FFF2-40B4-BE49-F238E27FC236}">
                    <a16:creationId xmlns:a16="http://schemas.microsoft.com/office/drawing/2014/main" id="{6E119A8E-4582-4E3E-A597-5D36DD678EF0}"/>
                  </a:ext>
                </a:extLst>
              </p:cNvPr>
              <p:cNvCxnSpPr/>
              <p:nvPr/>
            </p:nvCxnSpPr>
            <p:spPr bwMode="auto">
              <a:xfrm>
                <a:off x="6515502" y="5373256"/>
                <a:ext cx="899914" cy="0"/>
              </a:xfrm>
              <a:prstGeom prst="line">
                <a:avLst/>
              </a:prstGeom>
              <a:solidFill>
                <a:schemeClr val="accent1"/>
              </a:solidFill>
              <a:ln w="9525" cap="flat" cmpd="sng" algn="ctr">
                <a:solidFill>
                  <a:srgbClr val="2C3E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4314BA4C-00AD-4328-9204-4F877A509288}"/>
                  </a:ext>
                </a:extLst>
              </p:cNvPr>
              <p:cNvCxnSpPr/>
              <p:nvPr/>
            </p:nvCxnSpPr>
            <p:spPr bwMode="auto">
              <a:xfrm flipV="1">
                <a:off x="7415616" y="5265256"/>
                <a:ext cx="0" cy="108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a:extLst>
                  <a:ext uri="{FF2B5EF4-FFF2-40B4-BE49-F238E27FC236}">
                    <a16:creationId xmlns:a16="http://schemas.microsoft.com/office/drawing/2014/main" id="{EA719C8E-D495-4B38-9841-8EF4882F036D}"/>
                  </a:ext>
                </a:extLst>
              </p:cNvPr>
              <p:cNvCxnSpPr/>
              <p:nvPr/>
            </p:nvCxnSpPr>
            <p:spPr bwMode="auto">
              <a:xfrm flipV="1">
                <a:off x="1115616" y="2313256"/>
                <a:ext cx="0" cy="612000"/>
              </a:xfrm>
              <a:prstGeom prst="line">
                <a:avLst/>
              </a:prstGeom>
              <a:solidFill>
                <a:schemeClr val="accent1"/>
              </a:solidFill>
              <a:ln w="9525" cap="flat" cmpd="sng" algn="ctr">
                <a:solidFill>
                  <a:srgbClr val="2C3E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a:extLst>
                  <a:ext uri="{FF2B5EF4-FFF2-40B4-BE49-F238E27FC236}">
                    <a16:creationId xmlns:a16="http://schemas.microsoft.com/office/drawing/2014/main" id="{D0022931-99D2-4536-B9CF-70BC29AEF7A9}"/>
                  </a:ext>
                </a:extLst>
              </p:cNvPr>
              <p:cNvCxnSpPr/>
              <p:nvPr/>
            </p:nvCxnSpPr>
            <p:spPr bwMode="auto">
              <a:xfrm>
                <a:off x="1115616" y="2313256"/>
                <a:ext cx="450000" cy="0"/>
              </a:xfrm>
              <a:prstGeom prst="line">
                <a:avLst/>
              </a:prstGeom>
              <a:solidFill>
                <a:schemeClr val="accent1"/>
              </a:solidFill>
              <a:ln w="9525" cap="flat" cmpd="sng" algn="ctr">
                <a:solidFill>
                  <a:srgbClr val="2C3E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a:extLst>
                  <a:ext uri="{FF2B5EF4-FFF2-40B4-BE49-F238E27FC236}">
                    <a16:creationId xmlns:a16="http://schemas.microsoft.com/office/drawing/2014/main" id="{AA17003A-6973-4CB4-913D-379F1398525E}"/>
                  </a:ext>
                </a:extLst>
              </p:cNvPr>
              <p:cNvCxnSpPr/>
              <p:nvPr/>
            </p:nvCxnSpPr>
            <p:spPr bwMode="auto">
              <a:xfrm>
                <a:off x="1115616" y="2925256"/>
                <a:ext cx="1080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a:extLst>
                  <a:ext uri="{FF2B5EF4-FFF2-40B4-BE49-F238E27FC236}">
                    <a16:creationId xmlns:a16="http://schemas.microsoft.com/office/drawing/2014/main" id="{5A051F0D-0AC0-4F29-8416-98CFCA4E2F71}"/>
                  </a:ext>
                </a:extLst>
              </p:cNvPr>
              <p:cNvCxnSpPr/>
              <p:nvPr/>
            </p:nvCxnSpPr>
            <p:spPr bwMode="auto">
              <a:xfrm flipV="1">
                <a:off x="1115616" y="2925052"/>
                <a:ext cx="0" cy="612000"/>
              </a:xfrm>
              <a:prstGeom prst="line">
                <a:avLst/>
              </a:prstGeom>
              <a:solidFill>
                <a:schemeClr val="accent1"/>
              </a:solidFill>
              <a:ln w="9525" cap="flat" cmpd="sng" algn="ctr">
                <a:solidFill>
                  <a:srgbClr val="2C3E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a:extLst>
                  <a:ext uri="{FF2B5EF4-FFF2-40B4-BE49-F238E27FC236}">
                    <a16:creationId xmlns:a16="http://schemas.microsoft.com/office/drawing/2014/main" id="{E8ECF9FC-679C-4B8C-9666-F954FAF122C6}"/>
                  </a:ext>
                </a:extLst>
              </p:cNvPr>
              <p:cNvCxnSpPr/>
              <p:nvPr/>
            </p:nvCxnSpPr>
            <p:spPr bwMode="auto">
              <a:xfrm>
                <a:off x="1115616" y="3537052"/>
                <a:ext cx="1080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a:extLst>
                  <a:ext uri="{FF2B5EF4-FFF2-40B4-BE49-F238E27FC236}">
                    <a16:creationId xmlns:a16="http://schemas.microsoft.com/office/drawing/2014/main" id="{8C950800-15C8-4DC0-AA8C-2615A86DBAB1}"/>
                  </a:ext>
                </a:extLst>
              </p:cNvPr>
              <p:cNvCxnSpPr/>
              <p:nvPr/>
            </p:nvCxnSpPr>
            <p:spPr bwMode="auto">
              <a:xfrm flipV="1">
                <a:off x="1115616" y="3537052"/>
                <a:ext cx="0" cy="612000"/>
              </a:xfrm>
              <a:prstGeom prst="line">
                <a:avLst/>
              </a:prstGeom>
              <a:solidFill>
                <a:schemeClr val="accent1"/>
              </a:solidFill>
              <a:ln w="9525" cap="flat" cmpd="sng" algn="ctr">
                <a:solidFill>
                  <a:srgbClr val="2C3E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a:extLst>
                  <a:ext uri="{FF2B5EF4-FFF2-40B4-BE49-F238E27FC236}">
                    <a16:creationId xmlns:a16="http://schemas.microsoft.com/office/drawing/2014/main" id="{9D11D91B-563D-4F75-9B8C-0CD70019F1D9}"/>
                  </a:ext>
                </a:extLst>
              </p:cNvPr>
              <p:cNvCxnSpPr/>
              <p:nvPr/>
            </p:nvCxnSpPr>
            <p:spPr bwMode="auto">
              <a:xfrm>
                <a:off x="1115616" y="4149052"/>
                <a:ext cx="1080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a:extLst>
                  <a:ext uri="{FF2B5EF4-FFF2-40B4-BE49-F238E27FC236}">
                    <a16:creationId xmlns:a16="http://schemas.microsoft.com/office/drawing/2014/main" id="{1E103199-90DD-4402-B4C0-BDC23557A502}"/>
                  </a:ext>
                </a:extLst>
              </p:cNvPr>
              <p:cNvCxnSpPr/>
              <p:nvPr/>
            </p:nvCxnSpPr>
            <p:spPr bwMode="auto">
              <a:xfrm flipV="1">
                <a:off x="1115616" y="4148848"/>
                <a:ext cx="0" cy="612000"/>
              </a:xfrm>
              <a:prstGeom prst="line">
                <a:avLst/>
              </a:prstGeom>
              <a:solidFill>
                <a:schemeClr val="accent1"/>
              </a:solidFill>
              <a:ln w="9525" cap="flat" cmpd="sng" algn="ctr">
                <a:solidFill>
                  <a:srgbClr val="2C3E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a:extLst>
                  <a:ext uri="{FF2B5EF4-FFF2-40B4-BE49-F238E27FC236}">
                    <a16:creationId xmlns:a16="http://schemas.microsoft.com/office/drawing/2014/main" id="{CC31F548-8D99-4BED-B6A7-EA59125B45B1}"/>
                  </a:ext>
                </a:extLst>
              </p:cNvPr>
              <p:cNvCxnSpPr/>
              <p:nvPr/>
            </p:nvCxnSpPr>
            <p:spPr bwMode="auto">
              <a:xfrm>
                <a:off x="1115616" y="4760848"/>
                <a:ext cx="1080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2F6058EF-D195-4424-9365-FDD90F9BFC65}"/>
                  </a:ext>
                </a:extLst>
              </p:cNvPr>
              <p:cNvCxnSpPr/>
              <p:nvPr/>
            </p:nvCxnSpPr>
            <p:spPr bwMode="auto">
              <a:xfrm flipV="1">
                <a:off x="1115616" y="4761256"/>
                <a:ext cx="0" cy="612000"/>
              </a:xfrm>
              <a:prstGeom prst="line">
                <a:avLst/>
              </a:prstGeom>
              <a:solidFill>
                <a:schemeClr val="accent1"/>
              </a:solidFill>
              <a:ln w="9525" cap="flat" cmpd="sng" algn="ctr">
                <a:solidFill>
                  <a:srgbClr val="2C3E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a:extLst>
                  <a:ext uri="{FF2B5EF4-FFF2-40B4-BE49-F238E27FC236}">
                    <a16:creationId xmlns:a16="http://schemas.microsoft.com/office/drawing/2014/main" id="{7B9E70F4-7E64-4FF1-A517-A5B86DA523FF}"/>
                  </a:ext>
                </a:extLst>
              </p:cNvPr>
              <p:cNvCxnSpPr/>
              <p:nvPr/>
            </p:nvCxnSpPr>
            <p:spPr bwMode="auto">
              <a:xfrm>
                <a:off x="1565572" y="2313256"/>
                <a:ext cx="450000" cy="3060000"/>
              </a:xfrm>
              <a:prstGeom prst="line">
                <a:avLst/>
              </a:prstGeom>
              <a:solidFill>
                <a:schemeClr val="accent1"/>
              </a:solidFill>
              <a:ln w="1905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a:extLst>
                  <a:ext uri="{FF2B5EF4-FFF2-40B4-BE49-F238E27FC236}">
                    <a16:creationId xmlns:a16="http://schemas.microsoft.com/office/drawing/2014/main" id="{357461A0-B71D-480E-A892-872FEDE141DE}"/>
                  </a:ext>
                </a:extLst>
              </p:cNvPr>
              <p:cNvCxnSpPr/>
              <p:nvPr/>
            </p:nvCxnSpPr>
            <p:spPr bwMode="auto">
              <a:xfrm flipV="1">
                <a:off x="2015944" y="2313256"/>
                <a:ext cx="899872" cy="3060000"/>
              </a:xfrm>
              <a:prstGeom prst="line">
                <a:avLst/>
              </a:prstGeom>
              <a:solidFill>
                <a:schemeClr val="accent1"/>
              </a:solidFill>
              <a:ln w="1905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TextBox 52">
                <a:extLst>
                  <a:ext uri="{FF2B5EF4-FFF2-40B4-BE49-F238E27FC236}">
                    <a16:creationId xmlns:a16="http://schemas.microsoft.com/office/drawing/2014/main" id="{939E55B1-F76D-4412-A758-BEFFF14D5E08}"/>
                  </a:ext>
                </a:extLst>
              </p:cNvPr>
              <p:cNvSpPr txBox="1"/>
              <p:nvPr/>
            </p:nvSpPr>
            <p:spPr>
              <a:xfrm>
                <a:off x="1835572" y="5373256"/>
                <a:ext cx="36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4" name="TextBox 55">
                <a:extLst>
                  <a:ext uri="{FF2B5EF4-FFF2-40B4-BE49-F238E27FC236}">
                    <a16:creationId xmlns:a16="http://schemas.microsoft.com/office/drawing/2014/main" id="{7B5C046A-CAA6-4F9A-BF62-76AEE24B742F}"/>
                  </a:ext>
                </a:extLst>
              </p:cNvPr>
              <p:cNvSpPr txBox="1"/>
              <p:nvPr/>
            </p:nvSpPr>
            <p:spPr>
              <a:xfrm>
                <a:off x="2735444" y="5373256"/>
                <a:ext cx="36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10</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5" name="TextBox 56">
                <a:extLst>
                  <a:ext uri="{FF2B5EF4-FFF2-40B4-BE49-F238E27FC236}">
                    <a16:creationId xmlns:a16="http://schemas.microsoft.com/office/drawing/2014/main" id="{B2FA6EA8-C7F9-4230-8C12-25978ADD761B}"/>
                  </a:ext>
                </a:extLst>
              </p:cNvPr>
              <p:cNvSpPr txBox="1"/>
              <p:nvPr/>
            </p:nvSpPr>
            <p:spPr>
              <a:xfrm>
                <a:off x="3635316" y="5373256"/>
                <a:ext cx="36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15</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6" name="TextBox 57">
                <a:extLst>
                  <a:ext uri="{FF2B5EF4-FFF2-40B4-BE49-F238E27FC236}">
                    <a16:creationId xmlns:a16="http://schemas.microsoft.com/office/drawing/2014/main" id="{F9CE98A8-7AF6-4B6C-9F96-43936392FB43}"/>
                  </a:ext>
                </a:extLst>
              </p:cNvPr>
              <p:cNvSpPr txBox="1"/>
              <p:nvPr/>
            </p:nvSpPr>
            <p:spPr>
              <a:xfrm>
                <a:off x="4535473" y="5373256"/>
                <a:ext cx="36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20</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7" name="TextBox 58">
                <a:extLst>
                  <a:ext uri="{FF2B5EF4-FFF2-40B4-BE49-F238E27FC236}">
                    <a16:creationId xmlns:a16="http://schemas.microsoft.com/office/drawing/2014/main" id="{FD67D930-C3B0-4252-9DFA-5EC37E895B93}"/>
                  </a:ext>
                </a:extLst>
              </p:cNvPr>
              <p:cNvSpPr txBox="1"/>
              <p:nvPr/>
            </p:nvSpPr>
            <p:spPr>
              <a:xfrm>
                <a:off x="5436096" y="5373256"/>
                <a:ext cx="36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25</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8" name="TextBox 59">
                <a:extLst>
                  <a:ext uri="{FF2B5EF4-FFF2-40B4-BE49-F238E27FC236}">
                    <a16:creationId xmlns:a16="http://schemas.microsoft.com/office/drawing/2014/main" id="{0F9ED31B-6FCB-4158-9794-CD59B023D88F}"/>
                  </a:ext>
                </a:extLst>
              </p:cNvPr>
              <p:cNvSpPr txBox="1"/>
              <p:nvPr/>
            </p:nvSpPr>
            <p:spPr>
              <a:xfrm>
                <a:off x="6335501" y="5373256"/>
                <a:ext cx="36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30</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39" name="TextBox 60">
                <a:extLst>
                  <a:ext uri="{FF2B5EF4-FFF2-40B4-BE49-F238E27FC236}">
                    <a16:creationId xmlns:a16="http://schemas.microsoft.com/office/drawing/2014/main" id="{2E378F75-3A22-4DE5-87AF-3AE500B42C73}"/>
                  </a:ext>
                </a:extLst>
              </p:cNvPr>
              <p:cNvSpPr txBox="1"/>
              <p:nvPr/>
            </p:nvSpPr>
            <p:spPr>
              <a:xfrm>
                <a:off x="7234906" y="5373256"/>
                <a:ext cx="36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35</a:t>
                </a:r>
                <a:endParaRPr lang="zh-CN" altLang="en-US" sz="1800" b="0" dirty="0">
                  <a:solidFill>
                    <a:srgbClr val="2C3E50"/>
                  </a:solidFill>
                  <a:latin typeface="Segoe UI" panose="020B0502040204020203" pitchFamily="34" charset="0"/>
                  <a:cs typeface="Segoe UI" panose="020B0502040204020203" pitchFamily="34" charset="0"/>
                </a:endParaRPr>
              </a:p>
            </p:txBody>
          </p:sp>
          <p:cxnSp>
            <p:nvCxnSpPr>
              <p:cNvPr id="40" name="直接连接符 39">
                <a:extLst>
                  <a:ext uri="{FF2B5EF4-FFF2-40B4-BE49-F238E27FC236}">
                    <a16:creationId xmlns:a16="http://schemas.microsoft.com/office/drawing/2014/main" id="{CEEB1E2F-60B3-43FE-850B-BFC02CA0FF35}"/>
                  </a:ext>
                </a:extLst>
              </p:cNvPr>
              <p:cNvCxnSpPr/>
              <p:nvPr/>
            </p:nvCxnSpPr>
            <p:spPr bwMode="auto">
              <a:xfrm>
                <a:off x="2915444" y="2313256"/>
                <a:ext cx="3600000" cy="3060000"/>
              </a:xfrm>
              <a:prstGeom prst="line">
                <a:avLst/>
              </a:prstGeom>
              <a:solidFill>
                <a:schemeClr val="accent1"/>
              </a:solidFill>
              <a:ln w="1905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TextBox 66">
                <a:extLst>
                  <a:ext uri="{FF2B5EF4-FFF2-40B4-BE49-F238E27FC236}">
                    <a16:creationId xmlns:a16="http://schemas.microsoft.com/office/drawing/2014/main" id="{F6076D12-82B3-4887-A09B-9FC4631D32E3}"/>
                  </a:ext>
                </a:extLst>
              </p:cNvPr>
              <p:cNvSpPr txBox="1"/>
              <p:nvPr/>
            </p:nvSpPr>
            <p:spPr>
              <a:xfrm>
                <a:off x="539552" y="4581128"/>
                <a:ext cx="54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0.2</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2" name="TextBox 67">
                <a:extLst>
                  <a:ext uri="{FF2B5EF4-FFF2-40B4-BE49-F238E27FC236}">
                    <a16:creationId xmlns:a16="http://schemas.microsoft.com/office/drawing/2014/main" id="{CE9B06E6-2E20-460B-88C7-C9BFD85E203E}"/>
                  </a:ext>
                </a:extLst>
              </p:cNvPr>
              <p:cNvSpPr txBox="1"/>
              <p:nvPr/>
            </p:nvSpPr>
            <p:spPr>
              <a:xfrm>
                <a:off x="539552" y="3968848"/>
                <a:ext cx="54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0.4</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3" name="TextBox 68">
                <a:extLst>
                  <a:ext uri="{FF2B5EF4-FFF2-40B4-BE49-F238E27FC236}">
                    <a16:creationId xmlns:a16="http://schemas.microsoft.com/office/drawing/2014/main" id="{F6EF1917-CF97-4AA4-970B-F56D3DFC5E73}"/>
                  </a:ext>
                </a:extLst>
              </p:cNvPr>
              <p:cNvSpPr txBox="1"/>
              <p:nvPr/>
            </p:nvSpPr>
            <p:spPr>
              <a:xfrm>
                <a:off x="539552" y="3357032"/>
                <a:ext cx="54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0.6</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4" name="TextBox 69">
                <a:extLst>
                  <a:ext uri="{FF2B5EF4-FFF2-40B4-BE49-F238E27FC236}">
                    <a16:creationId xmlns:a16="http://schemas.microsoft.com/office/drawing/2014/main" id="{65DD387D-3C9B-4BEC-9CC1-9E8C86B53EF9}"/>
                  </a:ext>
                </a:extLst>
              </p:cNvPr>
              <p:cNvSpPr txBox="1"/>
              <p:nvPr/>
            </p:nvSpPr>
            <p:spPr>
              <a:xfrm>
                <a:off x="539552" y="2744752"/>
                <a:ext cx="54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0.8</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5" name="TextBox 70">
                <a:extLst>
                  <a:ext uri="{FF2B5EF4-FFF2-40B4-BE49-F238E27FC236}">
                    <a16:creationId xmlns:a16="http://schemas.microsoft.com/office/drawing/2014/main" id="{3E2DE619-15B0-49B7-B471-39BAE0CF971E}"/>
                  </a:ext>
                </a:extLst>
              </p:cNvPr>
              <p:cNvSpPr txBox="1"/>
              <p:nvPr/>
            </p:nvSpPr>
            <p:spPr>
              <a:xfrm>
                <a:off x="539552" y="2132856"/>
                <a:ext cx="54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1</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46" name="TextBox 71">
                <a:extLst>
                  <a:ext uri="{FF2B5EF4-FFF2-40B4-BE49-F238E27FC236}">
                    <a16:creationId xmlns:a16="http://schemas.microsoft.com/office/drawing/2014/main" id="{2BC01F0C-6723-4649-B785-D663E7A284D1}"/>
                  </a:ext>
                </a:extLst>
              </p:cNvPr>
              <p:cNvSpPr txBox="1"/>
              <p:nvPr/>
            </p:nvSpPr>
            <p:spPr>
              <a:xfrm>
                <a:off x="539552" y="5229240"/>
                <a:ext cx="54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p>
            </p:txBody>
          </p:sp>
          <p:sp>
            <p:nvSpPr>
              <p:cNvPr id="47" name="TextBox 72">
                <a:extLst>
                  <a:ext uri="{FF2B5EF4-FFF2-40B4-BE49-F238E27FC236}">
                    <a16:creationId xmlns:a16="http://schemas.microsoft.com/office/drawing/2014/main" id="{3EB2DBD6-8C05-4323-90FC-956964B4A564}"/>
                  </a:ext>
                </a:extLst>
              </p:cNvPr>
              <p:cNvSpPr txBox="1"/>
              <p:nvPr/>
            </p:nvSpPr>
            <p:spPr>
              <a:xfrm>
                <a:off x="971640" y="5373256"/>
                <a:ext cx="36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endParaRPr lang="zh-CN" altLang="en-US" sz="1800" b="0" dirty="0">
                  <a:solidFill>
                    <a:srgbClr val="2C3E50"/>
                  </a:solidFill>
                  <a:latin typeface="Segoe UI" panose="020B0502040204020203" pitchFamily="34" charset="0"/>
                  <a:cs typeface="Segoe UI" panose="020B0502040204020203" pitchFamily="34" charset="0"/>
                </a:endParaRPr>
              </a:p>
            </p:txBody>
          </p:sp>
          <p:cxnSp>
            <p:nvCxnSpPr>
              <p:cNvPr id="48" name="直接连接符 47">
                <a:extLst>
                  <a:ext uri="{FF2B5EF4-FFF2-40B4-BE49-F238E27FC236}">
                    <a16:creationId xmlns:a16="http://schemas.microsoft.com/office/drawing/2014/main" id="{A494E733-5192-4C3E-B6BD-F63312292692}"/>
                  </a:ext>
                </a:extLst>
              </p:cNvPr>
              <p:cNvCxnSpPr/>
              <p:nvPr/>
            </p:nvCxnSpPr>
            <p:spPr bwMode="auto">
              <a:xfrm flipV="1">
                <a:off x="1565616" y="2312856"/>
                <a:ext cx="449914" cy="3060400"/>
              </a:xfrm>
              <a:prstGeom prst="line">
                <a:avLst/>
              </a:prstGeom>
              <a:solidFill>
                <a:schemeClr val="accent1"/>
              </a:solidFill>
              <a:ln w="19050"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a:extLst>
                  <a:ext uri="{FF2B5EF4-FFF2-40B4-BE49-F238E27FC236}">
                    <a16:creationId xmlns:a16="http://schemas.microsoft.com/office/drawing/2014/main" id="{5350B1EB-5DE1-4268-8334-14BD4B78D10C}"/>
                  </a:ext>
                </a:extLst>
              </p:cNvPr>
              <p:cNvCxnSpPr>
                <a:endCxn id="34" idx="0"/>
              </p:cNvCxnSpPr>
              <p:nvPr/>
            </p:nvCxnSpPr>
            <p:spPr bwMode="auto">
              <a:xfrm>
                <a:off x="2015944" y="2312856"/>
                <a:ext cx="882000" cy="3060400"/>
              </a:xfrm>
              <a:prstGeom prst="line">
                <a:avLst/>
              </a:prstGeom>
              <a:solidFill>
                <a:schemeClr val="accent1"/>
              </a:solidFill>
              <a:ln w="19050" cap="flat" cmpd="sng" algn="ctr">
                <a:solidFill>
                  <a:srgbClr val="2C3E50"/>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a:extLst>
                  <a:ext uri="{FF2B5EF4-FFF2-40B4-BE49-F238E27FC236}">
                    <a16:creationId xmlns:a16="http://schemas.microsoft.com/office/drawing/2014/main" id="{60F9A11F-B410-4292-88C1-BFC3E91AAD20}"/>
                  </a:ext>
                </a:extLst>
              </p:cNvPr>
              <p:cNvCxnSpPr/>
              <p:nvPr/>
            </p:nvCxnSpPr>
            <p:spPr bwMode="auto">
              <a:xfrm flipV="1">
                <a:off x="2915444" y="2277256"/>
                <a:ext cx="3600000" cy="3096000"/>
              </a:xfrm>
              <a:prstGeom prst="line">
                <a:avLst/>
              </a:prstGeom>
              <a:solidFill>
                <a:schemeClr val="accent1"/>
              </a:solidFill>
              <a:ln w="19050" cap="flat" cmpd="sng" algn="ctr">
                <a:solidFill>
                  <a:srgbClr val="2C3E50"/>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a:extLst>
                  <a:ext uri="{FF2B5EF4-FFF2-40B4-BE49-F238E27FC236}">
                    <a16:creationId xmlns:a16="http://schemas.microsoft.com/office/drawing/2014/main" id="{23FADDBC-5C9D-40C0-ABD2-3B17BCBF321F}"/>
                  </a:ext>
                </a:extLst>
              </p:cNvPr>
              <p:cNvCxnSpPr/>
              <p:nvPr/>
            </p:nvCxnSpPr>
            <p:spPr bwMode="auto">
              <a:xfrm>
                <a:off x="6515444" y="2277256"/>
                <a:ext cx="900114" cy="0"/>
              </a:xfrm>
              <a:prstGeom prst="line">
                <a:avLst/>
              </a:prstGeom>
              <a:solidFill>
                <a:schemeClr val="accent1"/>
              </a:solidFill>
              <a:ln w="19050" cap="flat" cmpd="sng" algn="ctr">
                <a:solidFill>
                  <a:srgbClr val="2C3E50"/>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 name="TextBox 83">
                <a:extLst>
                  <a:ext uri="{FF2B5EF4-FFF2-40B4-BE49-F238E27FC236}">
                    <a16:creationId xmlns:a16="http://schemas.microsoft.com/office/drawing/2014/main" id="{BD8A16DD-7028-4A96-BDAB-D077092C7554}"/>
                  </a:ext>
                </a:extLst>
              </p:cNvPr>
              <p:cNvSpPr txBox="1"/>
              <p:nvPr/>
            </p:nvSpPr>
            <p:spPr>
              <a:xfrm>
                <a:off x="3707904" y="5877312"/>
                <a:ext cx="108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Term</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53" name="TextBox 84">
                <a:extLst>
                  <a:ext uri="{FF2B5EF4-FFF2-40B4-BE49-F238E27FC236}">
                    <a16:creationId xmlns:a16="http://schemas.microsoft.com/office/drawing/2014/main" id="{97932D24-E4F5-405B-8C37-1FF518D657BC}"/>
                  </a:ext>
                </a:extLst>
              </p:cNvPr>
              <p:cNvSpPr txBox="1"/>
              <p:nvPr/>
            </p:nvSpPr>
            <p:spPr>
              <a:xfrm rot="16200000">
                <a:off x="-685933" y="3645144"/>
                <a:ext cx="1800000" cy="360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Basis points</a:t>
                </a:r>
                <a:endParaRPr lang="zh-CN" altLang="en-US" sz="1800" b="0" dirty="0">
                  <a:solidFill>
                    <a:srgbClr val="2C3E50"/>
                  </a:solidFill>
                  <a:latin typeface="Segoe UI" panose="020B0502040204020203" pitchFamily="34" charset="0"/>
                  <a:cs typeface="Segoe UI" panose="020B0502040204020203" pitchFamily="34" charset="0"/>
                </a:endParaRPr>
              </a:p>
            </p:txBody>
          </p:sp>
        </p:grpSp>
        <p:sp>
          <p:nvSpPr>
            <p:cNvPr id="6" name="圆角矩形 50">
              <a:extLst>
                <a:ext uri="{FF2B5EF4-FFF2-40B4-BE49-F238E27FC236}">
                  <a16:creationId xmlns:a16="http://schemas.microsoft.com/office/drawing/2014/main" id="{C15C9573-E5A1-4119-8BD6-5A502AD8D90D}"/>
                </a:ext>
              </a:extLst>
            </p:cNvPr>
            <p:cNvSpPr/>
            <p:nvPr/>
          </p:nvSpPr>
          <p:spPr>
            <a:xfrm>
              <a:off x="539552" y="1412776"/>
              <a:ext cx="8136904" cy="4248472"/>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65525121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Multi-Factor Risk Metrics and Hedges </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Key Rate ‘01s and Key Rate Duration</a:t>
            </a:r>
          </a:p>
          <a:p>
            <a:pPr lvl="1"/>
            <a:r>
              <a:rPr lang="en-US" altLang="zh-CN" b="1" dirty="0"/>
              <a:t>Key Rate 01s:</a:t>
            </a:r>
            <a:r>
              <a:rPr lang="en-US" altLang="zh-CN" dirty="0"/>
              <a:t> which is the key rate equivalent of </a:t>
            </a:r>
            <a:r>
              <a:rPr lang="en-US" altLang="zh-CN" u="sng" dirty="0"/>
              <a:t>DV01</a:t>
            </a:r>
            <a:r>
              <a:rPr lang="en-US" altLang="zh-CN" dirty="0"/>
              <a:t>.</a:t>
            </a:r>
          </a:p>
          <a:p>
            <a:pPr lvl="1"/>
            <a:r>
              <a:rPr lang="en-US" altLang="zh-CN" b="1" dirty="0"/>
              <a:t>Key Rate Duration:</a:t>
            </a:r>
            <a:r>
              <a:rPr lang="en-US" altLang="zh-CN" dirty="0"/>
              <a:t> which is the key rate equivalent of </a:t>
            </a:r>
            <a:r>
              <a:rPr lang="en-US" altLang="zh-CN" u="sng" dirty="0"/>
              <a:t>durations</a:t>
            </a:r>
            <a:r>
              <a:rPr lang="en-US" altLang="zh-CN" dirty="0"/>
              <a:t>.</a:t>
            </a:r>
          </a:p>
          <a:p>
            <a:pPr lvl="1"/>
            <a:r>
              <a:rPr lang="en-US" altLang="zh-CN" dirty="0">
                <a:ea typeface="宋体" panose="02010600030101010101" pitchFamily="2" charset="-122"/>
              </a:rPr>
              <a:t>The ways of calculation for key rate is similar to the DV01 and durations.</a:t>
            </a:r>
          </a:p>
          <a:p>
            <a:pPr lvl="1"/>
            <a:endParaRPr lang="en-US" altLang="zh-CN" dirty="0">
              <a:ea typeface="宋体" panose="02010600030101010101" pitchFamily="2" charset="-122"/>
            </a:endParaRPr>
          </a:p>
          <a:p>
            <a:pPr lvl="1"/>
            <a:endParaRPr lang="en-US" altLang="zh-CN" b="1" dirty="0">
              <a:ea typeface="宋体" panose="02010600030101010101" pitchFamily="2" charset="-122"/>
            </a:endParaRPr>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CFE5203A-4F29-426B-8320-68B249168782}"/>
                  </a:ext>
                </a:extLst>
              </p:cNvPr>
              <p:cNvSpPr/>
              <p:nvPr/>
            </p:nvSpPr>
            <p:spPr>
              <a:xfrm>
                <a:off x="1335253" y="4328841"/>
                <a:ext cx="3155864" cy="4511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m:rPr>
                              <m:nor/>
                            </m:rPr>
                            <a:rPr lang="zh-CN" altLang="en-US"/>
                            <m:t>DV</m:t>
                          </m:r>
                          <m:r>
                            <m:rPr>
                              <m:nor/>
                            </m:rPr>
                            <a:rPr lang="zh-CN" altLang="en-US"/>
                            <m:t>01</m:t>
                          </m:r>
                        </m:e>
                        <m:sub>
                          <m:r>
                            <m:rPr>
                              <m:nor/>
                            </m:rPr>
                            <a:rPr lang="zh-CN" altLang="en-US" i="1"/>
                            <m:t>key</m:t>
                          </m:r>
                        </m:sub>
                      </m:sSub>
                      <m:r>
                        <m:rPr>
                          <m:nor/>
                        </m:rPr>
                        <a:rPr lang="zh-CN" altLang="en-US" i="1">
                          <a:latin typeface="Cambria Math" panose="02040503050406030204" pitchFamily="18" charset="0"/>
                        </a:rPr>
                        <m:t>= −0.0001</m:t>
                      </m:r>
                      <m:r>
                        <a:rPr lang="zh-CN" altLang="en-US" i="0">
                          <a:latin typeface="Cambria Math" panose="02040503050406030204" pitchFamily="18" charset="0"/>
                        </a:rPr>
                        <m:t>×</m:t>
                      </m:r>
                      <m:r>
                        <a:rPr lang="zh-CN" altLang="en-US" i="1">
                          <a:latin typeface="Cambria Math" panose="02040503050406030204" pitchFamily="18" charset="0"/>
                        </a:rPr>
                        <m:t>𝛥</m:t>
                      </m:r>
                      <m:r>
                        <m:rPr>
                          <m:nor/>
                        </m:rPr>
                        <a:rPr lang="zh-CN" altLang="en-US" i="1">
                          <a:latin typeface="Cambria Math" panose="02040503050406030204" pitchFamily="18" charset="0"/>
                        </a:rPr>
                        <m:t>P</m:t>
                      </m:r>
                      <m:r>
                        <m:rPr>
                          <m:nor/>
                        </m:rPr>
                        <a:rPr lang="zh-CN" altLang="en-US" i="1">
                          <a:latin typeface="Cambria Math" panose="02040503050406030204" pitchFamily="18" charset="0"/>
                        </a:rPr>
                        <m:t>/</m:t>
                      </m:r>
                      <m:r>
                        <a:rPr lang="zh-CN" altLang="en-US" i="1">
                          <a:latin typeface="Cambria Math" panose="02040503050406030204" pitchFamily="18" charset="0"/>
                        </a:rPr>
                        <m:t>𝛥</m:t>
                      </m:r>
                      <m:r>
                        <m:rPr>
                          <m:nor/>
                        </m:rPr>
                        <a:rPr lang="zh-CN" altLang="en-US" i="1">
                          <a:latin typeface="Cambria Math" panose="02040503050406030204" pitchFamily="18" charset="0"/>
                        </a:rPr>
                        <m:t>y</m:t>
                      </m:r>
                    </m:oMath>
                  </m:oMathPara>
                </a14:m>
                <a:endParaRPr lang="zh-CN" altLang="en-US" dirty="0"/>
              </a:p>
            </p:txBody>
          </p:sp>
        </mc:Choice>
        <mc:Fallback xmlns="">
          <p:sp>
            <p:nvSpPr>
              <p:cNvPr id="4" name="矩形 3">
                <a:extLst>
                  <a:ext uri="{FF2B5EF4-FFF2-40B4-BE49-F238E27FC236}">
                    <a16:creationId xmlns:a16="http://schemas.microsoft.com/office/drawing/2014/main" id="{CFE5203A-4F29-426B-8320-68B249168782}"/>
                  </a:ext>
                </a:extLst>
              </p:cNvPr>
              <p:cNvSpPr>
                <a:spLocks noRot="1" noChangeAspect="1" noMove="1" noResize="1" noEditPoints="1" noAdjustHandles="1" noChangeArrowheads="1" noChangeShapeType="1" noTextEdit="1"/>
              </p:cNvSpPr>
              <p:nvPr/>
            </p:nvSpPr>
            <p:spPr>
              <a:xfrm>
                <a:off x="1335253" y="4328841"/>
                <a:ext cx="3155864" cy="451149"/>
              </a:xfrm>
              <a:prstGeom prst="rect">
                <a:avLst/>
              </a:prstGeom>
              <a:blipFill>
                <a:blip r:embed="rId3"/>
                <a:stretch>
                  <a:fillRect b="-162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92E80FD5-3B40-4BA1-BE36-5BADC5BB8482}"/>
                  </a:ext>
                </a:extLst>
              </p:cNvPr>
              <p:cNvSpPr/>
              <p:nvPr/>
            </p:nvSpPr>
            <p:spPr>
              <a:xfrm>
                <a:off x="7192991" y="4221247"/>
                <a:ext cx="1903534" cy="6663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𝑘𝑒𝑦</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1">
                              <a:latin typeface="Cambria Math" panose="02040503050406030204" pitchFamily="18" charset="0"/>
                            </a:rPr>
                            <m:t>𝑃</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m:t>
                          </m:r>
                          <m:r>
                            <a:rPr lang="zh-CN" altLang="en-US" i="1">
                              <a:latin typeface="Cambria Math" panose="02040503050406030204" pitchFamily="18" charset="0"/>
                            </a:rPr>
                            <m:t>𝑃</m:t>
                          </m:r>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𝑘</m:t>
                              </m:r>
                            </m:sub>
                          </m:sSub>
                        </m:den>
                      </m:f>
                    </m:oMath>
                  </m:oMathPara>
                </a14:m>
                <a:endParaRPr lang="zh-CN" altLang="en-US" dirty="0"/>
              </a:p>
            </p:txBody>
          </p:sp>
        </mc:Choice>
        <mc:Fallback xmlns="">
          <p:sp>
            <p:nvSpPr>
              <p:cNvPr id="5" name="矩形 4">
                <a:extLst>
                  <a:ext uri="{FF2B5EF4-FFF2-40B4-BE49-F238E27FC236}">
                    <a16:creationId xmlns:a16="http://schemas.microsoft.com/office/drawing/2014/main" id="{92E80FD5-3B40-4BA1-BE36-5BADC5BB8482}"/>
                  </a:ext>
                </a:extLst>
              </p:cNvPr>
              <p:cNvSpPr>
                <a:spLocks noRot="1" noChangeAspect="1" noMove="1" noResize="1" noEditPoints="1" noAdjustHandles="1" noChangeArrowheads="1" noChangeShapeType="1" noTextEdit="1"/>
              </p:cNvSpPr>
              <p:nvPr/>
            </p:nvSpPr>
            <p:spPr>
              <a:xfrm>
                <a:off x="7192991" y="4221247"/>
                <a:ext cx="1903534" cy="666336"/>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6920336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Multi-Factor Risk Metrics and Hedges </a:t>
            </a:r>
            <a:endParaRPr lang="zh-CN" altLang="en-US" sz="2800" dirty="0"/>
          </a:p>
        </p:txBody>
      </p:sp>
      <p:sp>
        <p:nvSpPr>
          <p:cNvPr id="3" name="文本占位符 2"/>
          <p:cNvSpPr>
            <a:spLocks noGrp="1"/>
          </p:cNvSpPr>
          <p:nvPr>
            <p:ph type="body" sz="quarter" idx="10"/>
          </p:nvPr>
        </p:nvSpPr>
        <p:spPr>
          <a:xfrm>
            <a:off x="393599" y="813469"/>
            <a:ext cx="11404800" cy="2018071"/>
          </a:xfrm>
        </p:spPr>
        <p:txBody>
          <a:bodyPr>
            <a:normAutofit fontScale="92500" lnSpcReduction="10000"/>
          </a:bodyPr>
          <a:lstStyle/>
          <a:p>
            <a:r>
              <a:rPr lang="en-US" altLang="zh-CN" dirty="0"/>
              <a:t>Example: </a:t>
            </a:r>
          </a:p>
          <a:p>
            <a:pPr>
              <a:buFont typeface="Wingdings" panose="05000000000000000000" pitchFamily="2" charset="2"/>
              <a:buChar char="l"/>
            </a:pPr>
            <a:r>
              <a:rPr lang="en-US" altLang="zh-CN" dirty="0">
                <a:solidFill>
                  <a:schemeClr val="tx1"/>
                </a:solidFill>
              </a:rPr>
              <a:t>The initial curve is the basis for our calculations, and the 2, 5, 10 and 30-year is the present value after applying a one basis point shift. Calculate 5-year key rate 01 and key rate duration.</a:t>
            </a:r>
          </a:p>
          <a:p>
            <a:endParaRPr lang="zh-CN" altLang="en-US" dirty="0">
              <a:latin typeface="+mn-lt"/>
              <a:ea typeface="+mn-ea"/>
              <a:cs typeface="+mn-ea"/>
              <a:sym typeface="+mn-lt"/>
            </a:endParaRPr>
          </a:p>
        </p:txBody>
      </p:sp>
      <p:pic>
        <p:nvPicPr>
          <p:cNvPr id="4" name="图片 3">
            <a:extLst>
              <a:ext uri="{FF2B5EF4-FFF2-40B4-BE49-F238E27FC236}">
                <a16:creationId xmlns:a16="http://schemas.microsoft.com/office/drawing/2014/main" id="{0BE2F05B-6FFC-4822-B41A-52B8FC22294C}"/>
              </a:ext>
            </a:extLst>
          </p:cNvPr>
          <p:cNvPicPr>
            <a:picLocks noChangeAspect="1"/>
          </p:cNvPicPr>
          <p:nvPr/>
        </p:nvPicPr>
        <p:blipFill>
          <a:blip r:embed="rId3"/>
          <a:stretch>
            <a:fillRect/>
          </a:stretch>
        </p:blipFill>
        <p:spPr>
          <a:xfrm>
            <a:off x="2495999" y="2831540"/>
            <a:ext cx="7200000" cy="1194920"/>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4D770BAC-66AB-4C24-ACB1-F0837A9E28D0}"/>
                  </a:ext>
                </a:extLst>
              </p:cNvPr>
              <p:cNvSpPr/>
              <p:nvPr/>
            </p:nvSpPr>
            <p:spPr>
              <a:xfrm>
                <a:off x="1567452" y="4308344"/>
                <a:ext cx="9057093" cy="62780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𝐾</m:t>
                      </m:r>
                      <m:r>
                        <m:rPr>
                          <m:nor/>
                        </m:rPr>
                        <a:rPr lang="zh-CN" altLang="en-US" i="1">
                          <a:latin typeface="Cambria Math" panose="02040503050406030204" pitchFamily="18" charset="0"/>
                        </a:rPr>
                        <m:t>ey</m:t>
                      </m:r>
                      <m:r>
                        <m:rPr>
                          <m:nor/>
                        </m:rPr>
                        <a:rPr lang="zh-CN" altLang="en-US" i="1">
                          <a:latin typeface="Cambria Math" panose="02040503050406030204" pitchFamily="18" charset="0"/>
                        </a:rPr>
                        <m:t> </m:t>
                      </m:r>
                      <m:r>
                        <a:rPr lang="zh-CN" altLang="en-US" i="1">
                          <a:latin typeface="Cambria Math" panose="02040503050406030204" pitchFamily="18" charset="0"/>
                        </a:rPr>
                        <m:t>𝑅𝑎𝑡𝑒</m:t>
                      </m:r>
                      <m:r>
                        <m:rPr>
                          <m:nor/>
                        </m:rPr>
                        <a:rPr lang="zh-CN" altLang="en-US" i="1">
                          <a:latin typeface="Cambria Math" panose="02040503050406030204" pitchFamily="18" charset="0"/>
                        </a:rPr>
                        <m:t> </m:t>
                      </m:r>
                      <m:sSub>
                        <m:sSubPr>
                          <m:ctrlPr>
                            <a:rPr lang="zh-CN" altLang="en-US" i="1">
                              <a:latin typeface="Cambria Math" panose="02040503050406030204" pitchFamily="18" charset="0"/>
                            </a:rPr>
                          </m:ctrlPr>
                        </m:sSubPr>
                        <m:e>
                          <m:r>
                            <a:rPr lang="zh-CN" altLang="en-US" i="0">
                              <a:latin typeface="Cambria Math" panose="02040503050406030204" pitchFamily="18" charset="0"/>
                            </a:rPr>
                            <m:t>01</m:t>
                          </m:r>
                        </m:e>
                        <m:sub>
                          <m:r>
                            <a:rPr lang="zh-CN" altLang="en-US" i="0">
                              <a:latin typeface="Cambria Math" panose="02040503050406030204" pitchFamily="18" charset="0"/>
                            </a:rPr>
                            <m:t>5</m:t>
                          </m:r>
                        </m:sub>
                      </m:sSub>
                      <m:r>
                        <a:rPr lang="zh-CN" altLang="en-US" i="0">
                          <a:latin typeface="Cambria Math" panose="02040503050406030204" pitchFamily="18" charset="0"/>
                        </a:rPr>
                        <m:t>=26.22664−26.22311=0.003530=</m:t>
                      </m:r>
                      <m:f>
                        <m:fPr>
                          <m:ctrlPr>
                            <a:rPr lang="zh-CN" altLang="en-US" i="1">
                              <a:latin typeface="Cambria Math" panose="02040503050406030204" pitchFamily="18" charset="0"/>
                            </a:rPr>
                          </m:ctrlPr>
                        </m:fPr>
                        <m:num>
                          <m:r>
                            <a:rPr lang="zh-CN" altLang="en-US" i="1">
                              <a:latin typeface="Cambria Math" panose="02040503050406030204" pitchFamily="18" charset="0"/>
                            </a:rPr>
                            <m:t>𝛥</m:t>
                          </m:r>
                          <m:f>
                            <m:fPr>
                              <m:type m:val="lin"/>
                              <m:ctrlPr>
                                <a:rPr lang="zh-CN" altLang="en-US" i="1">
                                  <a:latin typeface="Cambria Math" panose="02040503050406030204" pitchFamily="18" charset="0"/>
                                </a:rPr>
                              </m:ctrlPr>
                            </m:fPr>
                            <m:num>
                              <m:r>
                                <a:rPr lang="zh-CN" altLang="en-US" i="1">
                                  <a:latin typeface="Cambria Math" panose="02040503050406030204" pitchFamily="18" charset="0"/>
                                </a:rPr>
                                <m:t>𝑃</m:t>
                              </m:r>
                            </m:num>
                            <m:den>
                              <m:r>
                                <a:rPr lang="zh-CN" altLang="en-US" i="1">
                                  <a:latin typeface="Cambria Math" panose="02040503050406030204" pitchFamily="18" charset="0"/>
                                </a:rPr>
                                <m:t>𝛥</m:t>
                              </m:r>
                            </m:den>
                          </m:f>
                          <m:r>
                            <a:rPr lang="zh-CN" altLang="en-US" i="1">
                              <a:latin typeface="Cambria Math" panose="02040503050406030204" pitchFamily="18" charset="0"/>
                            </a:rPr>
                            <m:t>𝑦</m:t>
                          </m:r>
                        </m:num>
                        <m:den>
                          <m:r>
                            <a:rPr lang="zh-CN" altLang="en-US" i="0">
                              <a:latin typeface="Cambria Math" panose="02040503050406030204" pitchFamily="18" charset="0"/>
                            </a:rPr>
                            <m:t>10000</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𝐷𝐷</m:t>
                          </m:r>
                        </m:num>
                        <m:den>
                          <m:r>
                            <a:rPr lang="zh-CN" altLang="en-US" i="0">
                              <a:latin typeface="Cambria Math" panose="02040503050406030204" pitchFamily="18" charset="0"/>
                            </a:rPr>
                            <m:t>10000</m:t>
                          </m:r>
                        </m:den>
                      </m:f>
                    </m:oMath>
                  </m:oMathPara>
                </a14:m>
                <a:endParaRPr lang="zh-CN" altLang="en-US" dirty="0"/>
              </a:p>
            </p:txBody>
          </p:sp>
        </mc:Choice>
        <mc:Fallback xmlns="">
          <p:sp>
            <p:nvSpPr>
              <p:cNvPr id="5" name="矩形 4">
                <a:extLst>
                  <a:ext uri="{FF2B5EF4-FFF2-40B4-BE49-F238E27FC236}">
                    <a16:creationId xmlns:a16="http://schemas.microsoft.com/office/drawing/2014/main" id="{4D770BAC-66AB-4C24-ACB1-F0837A9E28D0}"/>
                  </a:ext>
                </a:extLst>
              </p:cNvPr>
              <p:cNvSpPr>
                <a:spLocks noRot="1" noChangeAspect="1" noMove="1" noResize="1" noEditPoints="1" noAdjustHandles="1" noChangeArrowheads="1" noChangeShapeType="1" noTextEdit="1"/>
              </p:cNvSpPr>
              <p:nvPr/>
            </p:nvSpPr>
            <p:spPr>
              <a:xfrm>
                <a:off x="1567452" y="4308344"/>
                <a:ext cx="9057093" cy="62780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2BDE7EFF-EE1D-4F8F-AD8B-059A624A3BD9}"/>
                  </a:ext>
                </a:extLst>
              </p:cNvPr>
              <p:cNvSpPr/>
              <p:nvPr/>
            </p:nvSpPr>
            <p:spPr>
              <a:xfrm>
                <a:off x="2495999" y="5145793"/>
                <a:ext cx="6841432" cy="8411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𝐾𝑒𝑦</m:t>
                      </m:r>
                      <m:r>
                        <m:rPr>
                          <m:nor/>
                        </m:rPr>
                        <a:rPr lang="zh-CN" altLang="en-US" i="1">
                          <a:latin typeface="Cambria Math" panose="02040503050406030204" pitchFamily="18" charset="0"/>
                        </a:rPr>
                        <m:t> </m:t>
                      </m:r>
                      <m:r>
                        <a:rPr lang="zh-CN" altLang="en-US" i="1">
                          <a:latin typeface="Cambria Math" panose="02040503050406030204" pitchFamily="18" charset="0"/>
                        </a:rPr>
                        <m:t>𝑅𝑎𝑡𝑒</m:t>
                      </m:r>
                      <m:r>
                        <m:rPr>
                          <m:nor/>
                        </m:rPr>
                        <a:rPr lang="zh-CN" altLang="en-US" i="1">
                          <a:latin typeface="Cambria Math" panose="02040503050406030204" pitchFamily="18" charset="0"/>
                        </a:rPr>
                        <m:t> </m:t>
                      </m:r>
                      <m:r>
                        <a:rPr lang="zh-CN" altLang="en-US" i="1">
                          <a:latin typeface="Cambria Math" panose="02040503050406030204" pitchFamily="18" charset="0"/>
                        </a:rPr>
                        <m:t>𝐷𝑢𝑟𝑎𝑡𝑖𝑜</m:t>
                      </m:r>
                      <m:sSub>
                        <m:sSubPr>
                          <m:ctrlPr>
                            <a:rPr lang="zh-CN" altLang="en-US" i="1">
                              <a:latin typeface="Cambria Math" panose="02040503050406030204" pitchFamily="18" charset="0"/>
                            </a:rPr>
                          </m:ctrlPr>
                        </m:sSubPr>
                        <m:e>
                          <m:r>
                            <a:rPr lang="zh-CN" altLang="en-US" i="1">
                              <a:latin typeface="Cambria Math" panose="02040503050406030204" pitchFamily="18" charset="0"/>
                            </a:rPr>
                            <m:t>𝑛</m:t>
                          </m:r>
                        </m:e>
                        <m:sub>
                          <m:r>
                            <a:rPr lang="zh-CN" altLang="en-US" i="0">
                              <a:latin typeface="Cambria Math" panose="02040503050406030204" pitchFamily="18" charset="0"/>
                            </a:rPr>
                            <m:t>5</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𝛥</m:t>
                          </m:r>
                          <m:f>
                            <m:fPr>
                              <m:type m:val="lin"/>
                              <m:ctrlPr>
                                <a:rPr lang="zh-CN" altLang="en-US" i="1">
                                  <a:latin typeface="Cambria Math" panose="02040503050406030204" pitchFamily="18" charset="0"/>
                                </a:rPr>
                              </m:ctrlPr>
                            </m:fPr>
                            <m:num>
                              <m:r>
                                <a:rPr lang="zh-CN" altLang="en-US" i="1">
                                  <a:latin typeface="Cambria Math" panose="02040503050406030204" pitchFamily="18" charset="0"/>
                                </a:rPr>
                                <m:t>𝑃</m:t>
                              </m:r>
                            </m:num>
                            <m:den>
                              <m:r>
                                <a:rPr lang="zh-CN" altLang="en-US" i="1">
                                  <a:latin typeface="Cambria Math" panose="02040503050406030204" pitchFamily="18" charset="0"/>
                                </a:rPr>
                                <m:t>𝑃</m:t>
                              </m:r>
                            </m:den>
                          </m:f>
                        </m:num>
                        <m:den>
                          <m:r>
                            <a:rPr lang="zh-CN" altLang="en-US" i="1">
                              <a:latin typeface="Cambria Math" panose="02040503050406030204" pitchFamily="18" charset="0"/>
                            </a:rPr>
                            <m:t>𝛥</m:t>
                          </m:r>
                          <m:r>
                            <a:rPr lang="zh-CN" altLang="en-US" i="1">
                              <a:latin typeface="Cambria Math" panose="02040503050406030204" pitchFamily="18" charset="0"/>
                            </a:rPr>
                            <m:t>𝑦</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f>
                            <m:fPr>
                              <m:ctrlPr>
                                <a:rPr lang="zh-CN" altLang="en-US" i="1">
                                  <a:latin typeface="Cambria Math" panose="02040503050406030204" pitchFamily="18" charset="0"/>
                                </a:rPr>
                              </m:ctrlPr>
                            </m:fPr>
                            <m:num>
                              <m:r>
                                <a:rPr lang="zh-CN" altLang="en-US" i="0">
                                  <a:latin typeface="Cambria Math" panose="02040503050406030204" pitchFamily="18" charset="0"/>
                                </a:rPr>
                                <m:t>26.22664−26.22311</m:t>
                              </m:r>
                            </m:num>
                            <m:den>
                              <m:r>
                                <a:rPr lang="zh-CN" altLang="en-US" i="0">
                                  <a:latin typeface="Cambria Math" panose="02040503050406030204" pitchFamily="18" charset="0"/>
                                </a:rPr>
                                <m:t>26.22311</m:t>
                              </m:r>
                            </m:den>
                          </m:f>
                        </m:num>
                        <m:den>
                          <m:r>
                            <a:rPr lang="zh-CN" altLang="en-US" i="0">
                              <a:latin typeface="Cambria Math" panose="02040503050406030204" pitchFamily="18" charset="0"/>
                            </a:rPr>
                            <m:t>0.0001</m:t>
                          </m:r>
                        </m:den>
                      </m:f>
                      <m:r>
                        <a:rPr lang="zh-CN" altLang="en-US" i="0">
                          <a:latin typeface="Cambria Math" panose="02040503050406030204" pitchFamily="18" charset="0"/>
                        </a:rPr>
                        <m:t>=1.3461</m:t>
                      </m:r>
                    </m:oMath>
                  </m:oMathPara>
                </a14:m>
                <a:endParaRPr lang="zh-CN" altLang="en-US" dirty="0"/>
              </a:p>
            </p:txBody>
          </p:sp>
        </mc:Choice>
        <mc:Fallback xmlns="">
          <p:sp>
            <p:nvSpPr>
              <p:cNvPr id="6" name="矩形 5">
                <a:extLst>
                  <a:ext uri="{FF2B5EF4-FFF2-40B4-BE49-F238E27FC236}">
                    <a16:creationId xmlns:a16="http://schemas.microsoft.com/office/drawing/2014/main" id="{2BDE7EFF-EE1D-4F8F-AD8B-059A624A3BD9}"/>
                  </a:ext>
                </a:extLst>
              </p:cNvPr>
              <p:cNvSpPr>
                <a:spLocks noRot="1" noChangeAspect="1" noMove="1" noResize="1" noEditPoints="1" noAdjustHandles="1" noChangeArrowheads="1" noChangeShapeType="1" noTextEdit="1"/>
              </p:cNvSpPr>
              <p:nvPr/>
            </p:nvSpPr>
            <p:spPr>
              <a:xfrm>
                <a:off x="2495999" y="5145793"/>
                <a:ext cx="6841432" cy="841192"/>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0701670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Multi-Factor Risk Metrics and Hedges </a:t>
            </a:r>
            <a:endParaRPr lang="zh-CN" altLang="en-US" sz="2800" dirty="0"/>
          </a:p>
        </p:txBody>
      </p:sp>
      <p:sp>
        <p:nvSpPr>
          <p:cNvPr id="3" name="文本占位符 2"/>
          <p:cNvSpPr>
            <a:spLocks noGrp="1"/>
          </p:cNvSpPr>
          <p:nvPr>
            <p:ph type="body" sz="quarter" idx="10"/>
          </p:nvPr>
        </p:nvSpPr>
        <p:spPr/>
        <p:txBody>
          <a:bodyPr>
            <a:normAutofit fontScale="92500"/>
          </a:bodyPr>
          <a:lstStyle/>
          <a:p>
            <a:pPr>
              <a:lnSpc>
                <a:spcPct val="140000"/>
              </a:lnSpc>
            </a:pPr>
            <a:r>
              <a:rPr lang="en-US" altLang="zh-CN" dirty="0"/>
              <a:t>Partial ’01s and PV01</a:t>
            </a:r>
          </a:p>
          <a:p>
            <a:pPr lvl="1">
              <a:lnSpc>
                <a:spcPct val="140000"/>
              </a:lnSpc>
            </a:pPr>
            <a:r>
              <a:rPr lang="en-US" altLang="zh-CN" dirty="0"/>
              <a:t>Interest rate risk is measured in terms of swap curves not only by swaps traders, but also by asset managers that run portfolios that combine bonds and swaps. When </a:t>
            </a:r>
            <a:r>
              <a:rPr lang="en-US" altLang="zh-CN" u="sng" dirty="0"/>
              <a:t>swaps are taken as the benchmark for interest rates, risk along the curve is usually measured with Partial ’01s or Partial PV01s</a:t>
            </a:r>
            <a:r>
              <a:rPr lang="en-US" altLang="zh-CN" dirty="0"/>
              <a:t>.</a:t>
            </a:r>
          </a:p>
          <a:p>
            <a:pPr lvl="1">
              <a:lnSpc>
                <a:spcPct val="140000"/>
              </a:lnSpc>
            </a:pPr>
            <a:r>
              <a:rPr lang="en-US" altLang="zh-CN" dirty="0"/>
              <a:t>Swap market participants fit a par swap rate curve every day, if not more frequently, from a set of traded or observable par swap rates and shorter-term money market and futures rates.</a:t>
            </a:r>
          </a:p>
          <a:p>
            <a:pPr lvl="1">
              <a:lnSpc>
                <a:spcPct val="140000"/>
              </a:lnSpc>
            </a:pPr>
            <a:r>
              <a:rPr lang="en-US" altLang="zh-CN" dirty="0"/>
              <a:t>The </a:t>
            </a:r>
            <a:r>
              <a:rPr lang="en-US" altLang="zh-CN" b="1" dirty="0"/>
              <a:t>partial ’01s</a:t>
            </a:r>
            <a:r>
              <a:rPr lang="en-US" altLang="zh-CN" dirty="0"/>
              <a:t> with respect to a particular fitted rate is defined as </a:t>
            </a:r>
            <a:r>
              <a:rPr lang="en-US" altLang="zh-CN" u="sng" dirty="0"/>
              <a:t>the change in the value of the portfolio after a one-basis-point decline in that fitted rate and a refitting of the curve. All other fitted rates are unchanged</a:t>
            </a:r>
            <a:r>
              <a:rPr lang="en-US" altLang="zh-CN" dirty="0"/>
              <a:t>.</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307866038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Multi-Factor Risk Metrics and Hedges </a:t>
            </a:r>
            <a:endParaRPr lang="zh-CN" altLang="en-US" sz="2800" dirty="0"/>
          </a:p>
        </p:txBody>
      </p:sp>
      <p:sp>
        <p:nvSpPr>
          <p:cNvPr id="3" name="文本占位符 2"/>
          <p:cNvSpPr>
            <a:spLocks noGrp="1"/>
          </p:cNvSpPr>
          <p:nvPr>
            <p:ph type="body" sz="quarter" idx="10"/>
          </p:nvPr>
        </p:nvSpPr>
        <p:spPr/>
        <p:txBody>
          <a:bodyPr>
            <a:normAutofit fontScale="92500" lnSpcReduction="10000"/>
          </a:bodyPr>
          <a:lstStyle/>
          <a:p>
            <a:pPr>
              <a:lnSpc>
                <a:spcPct val="140000"/>
              </a:lnSpc>
            </a:pPr>
            <a:r>
              <a:rPr lang="en-US" altLang="zh-CN" dirty="0"/>
              <a:t>PV01</a:t>
            </a:r>
          </a:p>
          <a:p>
            <a:pPr lvl="1">
              <a:lnSpc>
                <a:spcPct val="140000"/>
              </a:lnSpc>
            </a:pPr>
            <a:r>
              <a:rPr lang="en-US" altLang="zh-CN" dirty="0"/>
              <a:t>The PV01 of a security is defined as </a:t>
            </a:r>
            <a:r>
              <a:rPr lang="en-US" altLang="zh-CN" u="sng" dirty="0"/>
              <a:t>the change in the value of the security if the rates of all fitting securities decline by one basis point</a:t>
            </a:r>
            <a:r>
              <a:rPr lang="en-US" altLang="zh-CN" dirty="0"/>
              <a:t>.</a:t>
            </a:r>
          </a:p>
          <a:p>
            <a:pPr lvl="1">
              <a:lnSpc>
                <a:spcPct val="140000"/>
              </a:lnSpc>
            </a:pPr>
            <a:r>
              <a:rPr lang="en-US" altLang="zh-CN" dirty="0"/>
              <a:t>PV01 is </a:t>
            </a:r>
            <a:r>
              <a:rPr lang="en-US" altLang="zh-CN" u="sng" dirty="0"/>
              <a:t>conceptually equivalent to DV01</a:t>
            </a:r>
            <a:r>
              <a:rPr lang="en-US" altLang="zh-CN" dirty="0"/>
              <a:t>, where the underlying curve fitting methodology defines rates at all terms given the changes in the rates of the fitting securities.</a:t>
            </a:r>
          </a:p>
          <a:p>
            <a:pPr>
              <a:lnSpc>
                <a:spcPct val="140000"/>
              </a:lnSpc>
            </a:pPr>
            <a:r>
              <a:rPr lang="en-US" altLang="zh-CN" dirty="0"/>
              <a:t>Forward-Bucket ’01s</a:t>
            </a:r>
          </a:p>
          <a:p>
            <a:pPr lvl="1">
              <a:lnSpc>
                <a:spcPct val="140000"/>
              </a:lnSpc>
            </a:pPr>
            <a:r>
              <a:rPr lang="en-US" altLang="zh-CN" dirty="0"/>
              <a:t>Forward-bucket ’01s are computed by </a:t>
            </a:r>
            <a:r>
              <a:rPr lang="en-US" altLang="zh-CN" u="sng" dirty="0"/>
              <a:t>shifting the forward rate (one basis point) over each of several defined regions of the term structure, one region at a time</a:t>
            </a:r>
            <a:r>
              <a:rPr lang="en-US" altLang="zh-CN" dirty="0"/>
              <a:t>. For the illustration of this section, the term structure is divided into five buckets: 0-2 years, 2-5 years, 5-10 years, 10-15 years, and 20-30 years. The best choice of buckets depends on the application at hand.</a:t>
            </a:r>
            <a:endParaRPr lang="zh-CN" altLang="en-US" u="sng"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207195828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Multi-Factor Risk Metrics and Hedges </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Exercise 1</a:t>
            </a:r>
            <a:endParaRPr lang="zh-CN" altLang="en-US" dirty="0"/>
          </a:p>
          <a:p>
            <a:pPr>
              <a:buFont typeface="Wingdings" panose="05000000000000000000" pitchFamily="2" charset="2"/>
              <a:buChar char="l"/>
            </a:pPr>
            <a:r>
              <a:rPr lang="en-US" altLang="zh-CN" dirty="0">
                <a:solidFill>
                  <a:schemeClr val="tx1"/>
                </a:solidFill>
              </a:rPr>
              <a:t>The main problem associated with using single-factor approaches to hedge interest rate risk is:</a:t>
            </a:r>
          </a:p>
          <a:p>
            <a:pPr marL="817200" lvl="1" indent="-457200">
              <a:buSzPct val="100000"/>
              <a:buFont typeface="+mj-lt"/>
              <a:buAutoNum type="alphaUcPeriod"/>
            </a:pPr>
            <a:r>
              <a:rPr lang="en-US" altLang="zh-CN" dirty="0"/>
              <a:t>No method can hedge interest rate risk.</a:t>
            </a:r>
          </a:p>
          <a:p>
            <a:pPr marL="817200" lvl="1" indent="-457200">
              <a:buSzPct val="100000"/>
              <a:buFont typeface="+mj-lt"/>
              <a:buAutoNum type="alphaUcPeriod"/>
            </a:pPr>
            <a:r>
              <a:rPr lang="en-US" altLang="zh-CN" dirty="0"/>
              <a:t>Single-factor model assume mean-reversion between one short-term and one long-term rate.</a:t>
            </a:r>
          </a:p>
          <a:p>
            <a:pPr marL="817200" lvl="1" indent="-457200">
              <a:buSzPct val="100000"/>
              <a:buFont typeface="+mj-lt"/>
              <a:buAutoNum type="alphaUcPeriod"/>
            </a:pPr>
            <a:r>
              <a:rPr lang="en-US" altLang="zh-CN" dirty="0"/>
              <a:t>Single-factor models assume effects across the entire curve dictated by one rate.</a:t>
            </a:r>
          </a:p>
          <a:p>
            <a:pPr marL="817200" lvl="1" indent="-457200">
              <a:buSzPct val="100000"/>
              <a:buFont typeface="+mj-lt"/>
              <a:buAutoNum type="alphaUcPeriod"/>
            </a:pPr>
            <a:r>
              <a:rPr lang="en-US" altLang="zh-CN" dirty="0"/>
              <a:t>Single-factor models assume risk-free securities have credit exposure.</a:t>
            </a:r>
          </a:p>
          <a:p>
            <a:pPr marL="417150" indent="-457200">
              <a:buSzPct val="100000"/>
              <a:buFont typeface="+mj-lt"/>
              <a:buAutoNum type="alphaUcPeriod"/>
            </a:pPr>
            <a:endParaRPr lang="en-US" altLang="zh-CN" dirty="0">
              <a:solidFill>
                <a:schemeClr val="tx1"/>
              </a:solidFill>
            </a:endParaRPr>
          </a:p>
          <a:p>
            <a:pPr marL="417150" indent="-457200">
              <a:buSzPct val="100000"/>
              <a:buFont typeface="Wingdings" panose="05000000000000000000" pitchFamily="2" charset="2"/>
              <a:buChar char="l"/>
            </a:pPr>
            <a:r>
              <a:rPr lang="en-US" altLang="zh-CN" dirty="0">
                <a:solidFill>
                  <a:schemeClr val="tx1"/>
                </a:solidFill>
              </a:rPr>
              <a:t>Correct Answer : C</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3602421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Multi-Factor Risk Metrics and Hedges </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Exercise 2</a:t>
            </a:r>
            <a:endParaRPr lang="zh-CN" altLang="en-US" dirty="0"/>
          </a:p>
          <a:p>
            <a:pPr>
              <a:buFont typeface="Wingdings" panose="05000000000000000000" pitchFamily="2" charset="2"/>
              <a:buChar char="l"/>
            </a:pPr>
            <a:r>
              <a:rPr lang="en-US" altLang="zh-CN" dirty="0">
                <a:solidFill>
                  <a:schemeClr val="tx1"/>
                </a:solidFill>
              </a:rPr>
              <a:t>Using key rates of 2-year, 5-year, 7-year, and 20-year exposures assumes all of the following except that the:</a:t>
            </a:r>
          </a:p>
          <a:p>
            <a:pPr marL="817200" lvl="1" indent="-457200">
              <a:buSzPct val="100000"/>
              <a:buFont typeface="+mj-lt"/>
              <a:buAutoNum type="alphaUcPeriod"/>
            </a:pPr>
            <a:r>
              <a:rPr lang="en-US" altLang="zh-CN" dirty="0"/>
              <a:t>2-year rate will affect the 5-year rate</a:t>
            </a:r>
          </a:p>
          <a:p>
            <a:pPr marL="817200" lvl="1" indent="-457200">
              <a:buSzPct val="100000"/>
              <a:buFont typeface="+mj-lt"/>
              <a:buAutoNum type="alphaUcPeriod"/>
            </a:pPr>
            <a:r>
              <a:rPr lang="en-US" altLang="zh-CN" dirty="0"/>
              <a:t>7-year rate will affect the 20-year rate</a:t>
            </a:r>
          </a:p>
          <a:p>
            <a:pPr marL="817200" lvl="1" indent="-457200">
              <a:buSzPct val="100000"/>
              <a:buFont typeface="+mj-lt"/>
              <a:buAutoNum type="alphaUcPeriod"/>
            </a:pPr>
            <a:r>
              <a:rPr lang="en-US" altLang="zh-CN" dirty="0"/>
              <a:t>5-year rate will affect the 7-year rate</a:t>
            </a:r>
          </a:p>
          <a:p>
            <a:pPr marL="817200" lvl="1" indent="-457200">
              <a:buSzPct val="100000"/>
              <a:buFont typeface="+mj-lt"/>
              <a:buAutoNum type="alphaUcPeriod"/>
            </a:pPr>
            <a:r>
              <a:rPr lang="en-US" altLang="zh-CN" dirty="0"/>
              <a:t>2-year rate will affect the 20-year rate</a:t>
            </a:r>
          </a:p>
          <a:p>
            <a:pPr marL="817200" lvl="1" indent="-457200">
              <a:buSzPct val="100000"/>
              <a:buFont typeface="+mj-lt"/>
              <a:buAutoNum type="alphaUcPeriod"/>
            </a:pPr>
            <a:endParaRPr lang="en-US" altLang="zh-CN" u="sng" dirty="0"/>
          </a:p>
          <a:p>
            <a:pPr marL="417150" indent="-457200">
              <a:buSzPct val="100000"/>
              <a:buFont typeface="Wingdings" panose="05000000000000000000" pitchFamily="2" charset="2"/>
              <a:buChar char="l"/>
            </a:pPr>
            <a:r>
              <a:rPr lang="en-US" altLang="zh-CN" dirty="0">
                <a:solidFill>
                  <a:schemeClr val="tx1"/>
                </a:solidFill>
              </a:rPr>
              <a:t>Correct Answer : D</a:t>
            </a:r>
            <a:endParaRPr lang="en-US" altLang="zh-CN" u="sng" dirty="0">
              <a:solidFill>
                <a:schemeClr val="tx1"/>
              </a:solidFill>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17799878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Multi-Factor Risk Metrics and Hedges </a:t>
            </a:r>
            <a:endParaRPr lang="zh-CN" altLang="en-US" sz="2800" dirty="0"/>
          </a:p>
        </p:txBody>
      </p:sp>
      <p:sp>
        <p:nvSpPr>
          <p:cNvPr id="3" name="文本占位符 2"/>
          <p:cNvSpPr>
            <a:spLocks noGrp="1"/>
          </p:cNvSpPr>
          <p:nvPr>
            <p:ph type="body" sz="quarter" idx="10"/>
          </p:nvPr>
        </p:nvSpPr>
        <p:spPr/>
        <p:txBody>
          <a:bodyPr>
            <a:normAutofit fontScale="70000" lnSpcReduction="20000"/>
          </a:bodyPr>
          <a:lstStyle/>
          <a:p>
            <a:r>
              <a:rPr lang="en-US" altLang="zh-CN" dirty="0">
                <a:latin typeface="+mn-lt"/>
                <a:ea typeface="+mn-ea"/>
                <a:cs typeface="+mn-ea"/>
                <a:sym typeface="+mn-lt"/>
              </a:rPr>
              <a:t>Exercise 3</a:t>
            </a:r>
          </a:p>
          <a:p>
            <a:pPr>
              <a:buFont typeface="Wingdings" panose="05000000000000000000" pitchFamily="2" charset="2"/>
              <a:buChar char="l"/>
            </a:pPr>
            <a:r>
              <a:rPr lang="en-US" altLang="zh-CN" dirty="0">
                <a:solidFill>
                  <a:schemeClr val="tx1"/>
                </a:solidFill>
              </a:rPr>
              <a:t>The following table provides the initial price of a C-STRIP and its present value after application of a one basis shift in four key rates.</a:t>
            </a:r>
          </a:p>
          <a:p>
            <a:endParaRPr lang="en-US" altLang="zh-CN" dirty="0">
              <a:solidFill>
                <a:schemeClr val="tx1"/>
              </a:solidFill>
            </a:endParaRPr>
          </a:p>
          <a:p>
            <a:endParaRPr lang="en-US" altLang="zh-CN" dirty="0">
              <a:solidFill>
                <a:schemeClr val="tx1"/>
              </a:solidFill>
            </a:endParaRPr>
          </a:p>
          <a:p>
            <a:endParaRPr lang="en-US" altLang="zh-CN" dirty="0">
              <a:solidFill>
                <a:schemeClr val="tx1"/>
              </a:solidFill>
            </a:endParaRPr>
          </a:p>
          <a:p>
            <a:endParaRPr lang="en-US" altLang="zh-CN" dirty="0">
              <a:solidFill>
                <a:schemeClr val="tx1"/>
              </a:solidFill>
            </a:endParaRPr>
          </a:p>
          <a:p>
            <a:endParaRPr lang="en-US" altLang="zh-CN" dirty="0">
              <a:solidFill>
                <a:schemeClr val="tx1"/>
              </a:solidFill>
            </a:endParaRPr>
          </a:p>
          <a:p>
            <a:endParaRPr lang="en-US" altLang="zh-CN" dirty="0">
              <a:solidFill>
                <a:schemeClr val="tx1"/>
              </a:solidFill>
            </a:endParaRPr>
          </a:p>
          <a:p>
            <a:pPr marL="857250" lvl="1" indent="-457200">
              <a:buFont typeface="+mj-ea"/>
              <a:buAutoNum type="circleNumDbPlain"/>
            </a:pPr>
            <a:r>
              <a:rPr lang="en-US" altLang="zh-CN" dirty="0"/>
              <a:t>What is the key rate ’01 for a 30-year shift? </a:t>
            </a:r>
          </a:p>
          <a:p>
            <a:pPr marL="857250" lvl="2" indent="0">
              <a:buNone/>
            </a:pPr>
            <a:r>
              <a:rPr lang="en-US" altLang="zh-CN" dirty="0"/>
              <a:t>A. -0.058	B. 0.024	       C. 0.103	D. 0.158</a:t>
            </a:r>
          </a:p>
          <a:p>
            <a:pPr marL="857250" lvl="1" indent="-457200">
              <a:buFont typeface="+mj-ea"/>
              <a:buAutoNum type="circleNumDbPlain"/>
            </a:pPr>
            <a:r>
              <a:rPr lang="en-US" altLang="zh-CN" dirty="0"/>
              <a:t>What is the key-rate duration for a 30-year shift?</a:t>
            </a:r>
          </a:p>
          <a:p>
            <a:pPr marL="1314450" lvl="2" indent="-457200">
              <a:buAutoNum type="alphaUcPeriod"/>
            </a:pPr>
            <a:r>
              <a:rPr lang="en-US" altLang="zh-CN" dirty="0"/>
              <a:t>-4.57	B. 15.80	        C. 38.60	D. 41.13</a:t>
            </a:r>
          </a:p>
          <a:p>
            <a:pPr marL="400050">
              <a:buFont typeface="Wingdings" panose="05000000000000000000" pitchFamily="2" charset="2"/>
              <a:buChar char="l"/>
            </a:pPr>
            <a:r>
              <a:rPr lang="en-US" altLang="zh-CN" dirty="0">
                <a:solidFill>
                  <a:schemeClr val="tx1"/>
                </a:solidFill>
              </a:rPr>
              <a:t>Correct Answer</a:t>
            </a:r>
          </a:p>
          <a:p>
            <a:pPr marL="457200" indent="-365125">
              <a:buFont typeface="+mj-ea"/>
              <a:buAutoNum type="circleNumDbPlain"/>
            </a:pPr>
            <a:r>
              <a:rPr lang="en-US" altLang="zh-CN" dirty="0">
                <a:solidFill>
                  <a:schemeClr val="tx1"/>
                </a:solidFill>
              </a:rPr>
              <a:t>C</a:t>
            </a:r>
          </a:p>
          <a:p>
            <a:pPr marL="457200" indent="-365125">
              <a:buFont typeface="+mj-ea"/>
              <a:buAutoNum type="circleNumDbPlain"/>
            </a:pPr>
            <a:r>
              <a:rPr lang="en-US" altLang="zh-CN" dirty="0">
                <a:solidFill>
                  <a:schemeClr val="tx1"/>
                </a:solidFill>
              </a:rPr>
              <a:t>D</a:t>
            </a:r>
            <a:endParaRPr lang="zh-CN" altLang="en-US" dirty="0">
              <a:solidFill>
                <a:schemeClr val="tx1"/>
              </a:solidFill>
              <a:cs typeface="+mn-ea"/>
              <a:sym typeface="+mn-lt"/>
            </a:endParaRPr>
          </a:p>
          <a:p>
            <a:endParaRPr lang="zh-CN" altLang="en-US" dirty="0">
              <a:latin typeface="+mn-lt"/>
              <a:ea typeface="+mn-ea"/>
              <a:cs typeface="+mn-ea"/>
              <a:sym typeface="+mn-lt"/>
            </a:endParaRPr>
          </a:p>
        </p:txBody>
      </p:sp>
      <p:pic>
        <p:nvPicPr>
          <p:cNvPr id="4" name="图片 3">
            <a:extLst>
              <a:ext uri="{FF2B5EF4-FFF2-40B4-BE49-F238E27FC236}">
                <a16:creationId xmlns:a16="http://schemas.microsoft.com/office/drawing/2014/main" id="{50E1554A-86C2-47BE-A633-E820F866FA52}"/>
              </a:ext>
            </a:extLst>
          </p:cNvPr>
          <p:cNvPicPr>
            <a:picLocks noChangeAspect="1"/>
          </p:cNvPicPr>
          <p:nvPr/>
        </p:nvPicPr>
        <p:blipFill>
          <a:blip r:embed="rId3"/>
          <a:stretch>
            <a:fillRect/>
          </a:stretch>
        </p:blipFill>
        <p:spPr>
          <a:xfrm>
            <a:off x="3620797" y="1824015"/>
            <a:ext cx="4950405" cy="2187528"/>
          </a:xfrm>
          <a:prstGeom prst="rect">
            <a:avLst/>
          </a:prstGeom>
        </p:spPr>
      </p:pic>
    </p:spTree>
    <p:extLst>
      <p:ext uri="{BB962C8B-B14F-4D97-AF65-F5344CB8AC3E}">
        <p14:creationId xmlns:p14="http://schemas.microsoft.com/office/powerpoint/2010/main" val="396130294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Multi-Factor Risk Metrics and Hedges </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Exercise 4</a:t>
            </a:r>
            <a:endParaRPr lang="zh-CN" altLang="en-US" dirty="0"/>
          </a:p>
          <a:p>
            <a:pPr>
              <a:buFont typeface="Wingdings" panose="05000000000000000000" pitchFamily="2" charset="2"/>
              <a:buChar char="l"/>
            </a:pPr>
            <a:r>
              <a:rPr lang="en-US" altLang="zh-CN" dirty="0">
                <a:solidFill>
                  <a:schemeClr val="tx1"/>
                </a:solidFill>
              </a:rPr>
              <a:t>Assume you own a security with a 2-year key rate exposure of $4.78, and you would like to hedge your position with a security that has a corresponding 2-year key rate exposure of 0.67 per $100 of face value. What amount of face value would be used to hedge the 2-year exposure?</a:t>
            </a:r>
          </a:p>
          <a:p>
            <a:pPr marL="817200" lvl="1" indent="-457200">
              <a:buSzPct val="100000"/>
              <a:buFont typeface="+mj-lt"/>
              <a:buAutoNum type="alphaUcPeriod"/>
            </a:pPr>
            <a:r>
              <a:rPr lang="en-US" altLang="zh-CN" dirty="0"/>
              <a:t>$478</a:t>
            </a:r>
          </a:p>
          <a:p>
            <a:pPr marL="817200" lvl="1" indent="-457200">
              <a:buSzPct val="100000"/>
              <a:buFont typeface="+mj-lt"/>
              <a:buAutoNum type="alphaUcPeriod"/>
            </a:pPr>
            <a:r>
              <a:rPr lang="en-US" altLang="zh-CN" dirty="0"/>
              <a:t>$239</a:t>
            </a:r>
          </a:p>
          <a:p>
            <a:pPr marL="817200" lvl="1" indent="-457200">
              <a:buSzPct val="100000"/>
              <a:buFont typeface="+mj-lt"/>
              <a:buAutoNum type="alphaUcPeriod"/>
            </a:pPr>
            <a:r>
              <a:rPr lang="en-US" altLang="zh-CN" dirty="0"/>
              <a:t>$713</a:t>
            </a:r>
          </a:p>
          <a:p>
            <a:pPr marL="817200" lvl="1" indent="-457200">
              <a:buSzPct val="100000"/>
              <a:buFont typeface="+mj-lt"/>
              <a:buAutoNum type="alphaUcPeriod"/>
            </a:pPr>
            <a:r>
              <a:rPr lang="en-US" altLang="zh-CN" dirty="0"/>
              <a:t>$670</a:t>
            </a:r>
          </a:p>
          <a:p>
            <a:pPr marL="817200" lvl="1" indent="-457200">
              <a:buSzPct val="100000"/>
              <a:buFont typeface="+mj-lt"/>
              <a:buAutoNum type="alphaUcPeriod"/>
            </a:pPr>
            <a:endParaRPr lang="en-US" altLang="zh-CN" dirty="0"/>
          </a:p>
          <a:p>
            <a:pPr marL="417150" indent="-457200">
              <a:buSzPct val="100000"/>
              <a:buFont typeface="Wingdings" panose="05000000000000000000" pitchFamily="2" charset="2"/>
              <a:buChar char="l"/>
            </a:pPr>
            <a:r>
              <a:rPr lang="en-US" altLang="zh-CN" dirty="0">
                <a:solidFill>
                  <a:schemeClr val="tx1"/>
                </a:solidFill>
              </a:rPr>
              <a:t>Correct Answer : C</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426083217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0dcd307-9ca5-411e-aa47-63bb535c667f" descr="BA8AAB+LCAAAAAAABADdVU2P2jAQ/S9ue6Mo8Ra1yo10lRb1Cy2o3VXFwU0G4jZxkGNW7CL++9oQBzsJEPayBXEh4zf2mzdjvxV6LR7mgDw0SgkX15TMOEkHAlLUQYMIeWyRJB3kUxZRNvvEs8U8R97vVZlmrvyiIv5JkgWoXEYFJcn206vhNewbZTRdpAXM6ToyRJZGyHW2QRpFCZiwARPA78sTXBXb/B8JLg8IMp4SIQ9cOes3qFhCXu+q66xVcgRLmdRB4y0tzaegpwRorFMtqDKHWS5oxnYZQyJ1A0mpodhK0g4qaQEXNCRJP6EzlgJTjGUBIMJYrn7OOH3MmLDXb+gsFnL1C8C80G9EH+V5U5LkoFWIyRy+y3N0cZuAK9NuICGC3lsIK+aidVlWCVJqVGEda+dJKeZOHFmq5GxpvO7s1WcMS3GaoirDlLOp9/uK2dBRG5jUCwqn8dayPGsoKslmNT+m0xzE7RB4KNn4D5b8xTWoYnYdQd5bt4s14m7/Lr06xtrFQNxap94VX80Dt5W2ed7MuTnYH3vSqt2qC9/UuElD68r36mOWZPz4e6VhtXWpBA1hHEMKGjOmTPRZJKlHuks+V3eWQZ5rAf/8hVAYaV5PoRZ5LPd8FQRXwQccvEO6Umfd9GjpA9s+WhV8m+ncpNRnsh+qOSmYGxNRq1PTb99jn4T/zB5r0lZnt8EDV/LFSsUnPTeHijs4tv+7zfZMm8VnabNfYfpMl8VtXBa3c1lsuSw+X5fFZ+qy7jGXdV7aZPeNmzk2xx9gbJosvlCTfW+ZbOD7147baLL4Ik0WmyaLL9lk2xY3kb8nrhbizAQPAAA=">
            <a:extLst>
              <a:ext uri="{FF2B5EF4-FFF2-40B4-BE49-F238E27FC236}">
                <a16:creationId xmlns:a16="http://schemas.microsoft.com/office/drawing/2014/main" id="{1493A4F0-9A06-4464-AD29-020579B7968E}"/>
              </a:ext>
            </a:extLst>
          </p:cNvPr>
          <p:cNvGrpSpPr>
            <a:grpSpLocks noChangeAspect="1"/>
          </p:cNvGrpSpPr>
          <p:nvPr/>
        </p:nvGrpSpPr>
        <p:grpSpPr>
          <a:xfrm>
            <a:off x="1099614" y="1788195"/>
            <a:ext cx="9992772" cy="3281611"/>
            <a:chOff x="1262052" y="1623553"/>
            <a:chExt cx="9992772" cy="3281611"/>
          </a:xfrm>
        </p:grpSpPr>
        <p:sp>
          <p:nvSpPr>
            <p:cNvPr id="3" name="AreaShape">
              <a:extLst>
                <a:ext uri="{FF2B5EF4-FFF2-40B4-BE49-F238E27FC236}">
                  <a16:creationId xmlns:a16="http://schemas.microsoft.com/office/drawing/2014/main" id="{0801B548-BC6D-4D7A-82C0-DE4BE113F0FD}"/>
                </a:ext>
              </a:extLst>
            </p:cNvPr>
            <p:cNvSpPr/>
            <p:nvPr/>
          </p:nvSpPr>
          <p:spPr bwMode="auto">
            <a:xfrm>
              <a:off x="1262052" y="1623553"/>
              <a:ext cx="9992772" cy="3281611"/>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4" name="ValueBack1">
              <a:extLst>
                <a:ext uri="{FF2B5EF4-FFF2-40B4-BE49-F238E27FC236}">
                  <a16:creationId xmlns:a16="http://schemas.microsoft.com/office/drawing/2014/main" id="{0A0BE5B9-BB5E-4CC4-8E7A-0375A904DFDC}"/>
                </a:ext>
              </a:extLst>
            </p:cNvPr>
            <p:cNvSpPr/>
            <p:nvPr/>
          </p:nvSpPr>
          <p:spPr>
            <a:xfrm>
              <a:off x="5255344" y="2583639"/>
              <a:ext cx="933168" cy="1436347"/>
            </a:xfrm>
            <a:custGeom>
              <a:avLst/>
              <a:gdLst>
                <a:gd name="connsiteX0" fmla="*/ 0 w 783762"/>
                <a:gd name="connsiteY0" fmla="*/ 97330 h 1206379"/>
                <a:gd name="connsiteX1" fmla="*/ 783761 w 783762"/>
                <a:gd name="connsiteY1" fmla="*/ 563490 h 1206379"/>
                <a:gd name="connsiteX2" fmla="*/ 783761 w 783762"/>
                <a:gd name="connsiteY2" fmla="*/ 1206379 h 1206379"/>
                <a:gd name="connsiteX3" fmla="*/ 0 w 783762"/>
                <a:gd name="connsiteY3" fmla="*/ 742781 h 1206379"/>
                <a:gd name="connsiteX4" fmla="*/ 71718 w 783762"/>
                <a:gd name="connsiteY4" fmla="*/ 35858 h 1206379"/>
                <a:gd name="connsiteX5" fmla="*/ 345779 w 783762"/>
                <a:gd name="connsiteY5" fmla="*/ 215150 h 1206379"/>
                <a:gd name="connsiteX6" fmla="*/ 770957 w 783762"/>
                <a:gd name="connsiteY6" fmla="*/ 514824 h 1206379"/>
                <a:gd name="connsiteX7" fmla="*/ 527632 w 783762"/>
                <a:gd name="connsiteY7" fmla="*/ 366268 h 1206379"/>
                <a:gd name="connsiteX8" fmla="*/ 71718 w 783762"/>
                <a:gd name="connsiteY8" fmla="*/ 97330 h 1206379"/>
                <a:gd name="connsiteX9" fmla="*/ 163925 w 783762"/>
                <a:gd name="connsiteY9" fmla="*/ 0 h 1206379"/>
                <a:gd name="connsiteX10" fmla="*/ 420055 w 783762"/>
                <a:gd name="connsiteY10" fmla="*/ 179292 h 1206379"/>
                <a:gd name="connsiteX11" fmla="*/ 783762 w 783762"/>
                <a:gd name="connsiteY11" fmla="*/ 499456 h 1206379"/>
                <a:gd name="connsiteX12" fmla="*/ 494334 w 783762"/>
                <a:gd name="connsiteY12" fmla="*/ 253571 h 1206379"/>
                <a:gd name="connsiteX13" fmla="*/ 163925 w 783762"/>
                <a:gd name="connsiteY13" fmla="*/ 87085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3762" h="1206379">
                  <a:moveTo>
                    <a:pt x="0" y="97330"/>
                  </a:moveTo>
                  <a:lnTo>
                    <a:pt x="783761" y="563490"/>
                  </a:lnTo>
                  <a:lnTo>
                    <a:pt x="783761" y="1206379"/>
                  </a:lnTo>
                  <a:lnTo>
                    <a:pt x="0" y="742781"/>
                  </a:lnTo>
                  <a:close/>
                  <a:moveTo>
                    <a:pt x="71718" y="35858"/>
                  </a:moveTo>
                  <a:cubicBezTo>
                    <a:pt x="89648" y="92207"/>
                    <a:pt x="345779" y="217712"/>
                    <a:pt x="345779" y="215150"/>
                  </a:cubicBezTo>
                  <a:cubicBezTo>
                    <a:pt x="673626" y="353462"/>
                    <a:pt x="770957" y="514824"/>
                    <a:pt x="770957" y="514824"/>
                  </a:cubicBezTo>
                  <a:cubicBezTo>
                    <a:pt x="719731" y="471282"/>
                    <a:pt x="527632" y="366268"/>
                    <a:pt x="527632" y="366268"/>
                  </a:cubicBezTo>
                  <a:cubicBezTo>
                    <a:pt x="437986" y="320164"/>
                    <a:pt x="71718" y="97330"/>
                    <a:pt x="71718" y="97330"/>
                  </a:cubicBezTo>
                  <a:close/>
                  <a:moveTo>
                    <a:pt x="163925" y="0"/>
                  </a:moveTo>
                  <a:cubicBezTo>
                    <a:pt x="189538" y="79402"/>
                    <a:pt x="420055" y="179292"/>
                    <a:pt x="420055" y="179292"/>
                  </a:cubicBezTo>
                  <a:cubicBezTo>
                    <a:pt x="776078" y="368830"/>
                    <a:pt x="783762" y="499456"/>
                    <a:pt x="783762" y="499456"/>
                  </a:cubicBezTo>
                  <a:cubicBezTo>
                    <a:pt x="714606" y="371391"/>
                    <a:pt x="494334" y="253571"/>
                    <a:pt x="494334" y="253571"/>
                  </a:cubicBezTo>
                  <a:cubicBezTo>
                    <a:pt x="356023" y="207467"/>
                    <a:pt x="163925" y="87085"/>
                    <a:pt x="163925" y="87085"/>
                  </a:cubicBezTo>
                  <a:close/>
                </a:path>
              </a:pathLst>
            </a:custGeom>
            <a:solidFill>
              <a:schemeClr val="accent1">
                <a:lumMod val="100000"/>
              </a:schemeClr>
            </a:solidFill>
            <a:ln w="20534" cap="flat">
              <a:noFill/>
              <a:prstDash val="solid"/>
              <a:miter/>
            </a:ln>
          </p:spPr>
          <p:txBody>
            <a:bodyPr rtlCol="0" anchor="ctr"/>
            <a:lstStyle/>
            <a:p>
              <a:endParaRPr lang="zh-CN" altLang="en-US"/>
            </a:p>
          </p:txBody>
        </p:sp>
        <p:sp>
          <p:nvSpPr>
            <p:cNvPr id="5" name="ValueBack2">
              <a:extLst>
                <a:ext uri="{FF2B5EF4-FFF2-40B4-BE49-F238E27FC236}">
                  <a16:creationId xmlns:a16="http://schemas.microsoft.com/office/drawing/2014/main" id="{3EF3DEE4-FD95-4FF7-8A3C-0CA049379F52}"/>
                </a:ext>
              </a:extLst>
            </p:cNvPr>
            <p:cNvSpPr/>
            <p:nvPr/>
          </p:nvSpPr>
          <p:spPr>
            <a:xfrm>
              <a:off x="6374534" y="2583639"/>
              <a:ext cx="933165" cy="1436347"/>
            </a:xfrm>
            <a:custGeom>
              <a:avLst/>
              <a:gdLst>
                <a:gd name="connsiteX0" fmla="*/ 783760 w 783760"/>
                <a:gd name="connsiteY0" fmla="*/ 97330 h 1206379"/>
                <a:gd name="connsiteX1" fmla="*/ 783760 w 783760"/>
                <a:gd name="connsiteY1" fmla="*/ 742781 h 1206379"/>
                <a:gd name="connsiteX2" fmla="*/ 0 w 783760"/>
                <a:gd name="connsiteY2" fmla="*/ 1206379 h 1206379"/>
                <a:gd name="connsiteX3" fmla="*/ 0 w 783760"/>
                <a:gd name="connsiteY3" fmla="*/ 563490 h 1206379"/>
                <a:gd name="connsiteX4" fmla="*/ 712044 w 783760"/>
                <a:gd name="connsiteY4" fmla="*/ 35858 h 1206379"/>
                <a:gd name="connsiteX5" fmla="*/ 712044 w 783760"/>
                <a:gd name="connsiteY5" fmla="*/ 97330 h 1206379"/>
                <a:gd name="connsiteX6" fmla="*/ 256131 w 783760"/>
                <a:gd name="connsiteY6" fmla="*/ 366268 h 1206379"/>
                <a:gd name="connsiteX7" fmla="*/ 12807 w 783760"/>
                <a:gd name="connsiteY7" fmla="*/ 514824 h 1206379"/>
                <a:gd name="connsiteX8" fmla="*/ 437985 w 783760"/>
                <a:gd name="connsiteY8" fmla="*/ 215150 h 1206379"/>
                <a:gd name="connsiteX9" fmla="*/ 712044 w 783760"/>
                <a:gd name="connsiteY9" fmla="*/ 35858 h 1206379"/>
                <a:gd name="connsiteX10" fmla="*/ 619837 w 783760"/>
                <a:gd name="connsiteY10" fmla="*/ 0 h 1206379"/>
                <a:gd name="connsiteX11" fmla="*/ 619837 w 783760"/>
                <a:gd name="connsiteY11" fmla="*/ 87085 h 1206379"/>
                <a:gd name="connsiteX12" fmla="*/ 289428 w 783760"/>
                <a:gd name="connsiteY12" fmla="*/ 253571 h 1206379"/>
                <a:gd name="connsiteX13" fmla="*/ 0 w 783760"/>
                <a:gd name="connsiteY13" fmla="*/ 499456 h 1206379"/>
                <a:gd name="connsiteX14" fmla="*/ 363706 w 783760"/>
                <a:gd name="connsiteY14" fmla="*/ 179292 h 1206379"/>
                <a:gd name="connsiteX15" fmla="*/ 619837 w 783760"/>
                <a:gd name="connsiteY15" fmla="*/ 0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83760" h="1206379">
                  <a:moveTo>
                    <a:pt x="783760" y="97330"/>
                  </a:moveTo>
                  <a:lnTo>
                    <a:pt x="783760" y="742781"/>
                  </a:lnTo>
                  <a:lnTo>
                    <a:pt x="0" y="1206379"/>
                  </a:lnTo>
                  <a:lnTo>
                    <a:pt x="0" y="563490"/>
                  </a:lnTo>
                  <a:close/>
                  <a:moveTo>
                    <a:pt x="712044" y="35858"/>
                  </a:moveTo>
                  <a:lnTo>
                    <a:pt x="712044" y="97330"/>
                  </a:lnTo>
                  <a:cubicBezTo>
                    <a:pt x="712044" y="97330"/>
                    <a:pt x="345776" y="320164"/>
                    <a:pt x="256131" y="366268"/>
                  </a:cubicBezTo>
                  <a:cubicBezTo>
                    <a:pt x="256131" y="366268"/>
                    <a:pt x="64033" y="471282"/>
                    <a:pt x="12807" y="514824"/>
                  </a:cubicBezTo>
                  <a:cubicBezTo>
                    <a:pt x="12807" y="514824"/>
                    <a:pt x="110136" y="353462"/>
                    <a:pt x="437985" y="215150"/>
                  </a:cubicBezTo>
                  <a:cubicBezTo>
                    <a:pt x="437985" y="217712"/>
                    <a:pt x="691553" y="92207"/>
                    <a:pt x="712044" y="35858"/>
                  </a:cubicBezTo>
                  <a:close/>
                  <a:moveTo>
                    <a:pt x="619837" y="0"/>
                  </a:moveTo>
                  <a:lnTo>
                    <a:pt x="619837" y="87085"/>
                  </a:lnTo>
                  <a:cubicBezTo>
                    <a:pt x="619837" y="87085"/>
                    <a:pt x="427739" y="207467"/>
                    <a:pt x="289428" y="253571"/>
                  </a:cubicBezTo>
                  <a:cubicBezTo>
                    <a:pt x="289428" y="253571"/>
                    <a:pt x="69155" y="371391"/>
                    <a:pt x="0" y="499456"/>
                  </a:cubicBezTo>
                  <a:cubicBezTo>
                    <a:pt x="0" y="499456"/>
                    <a:pt x="7684" y="368830"/>
                    <a:pt x="363706" y="179292"/>
                  </a:cubicBezTo>
                  <a:cubicBezTo>
                    <a:pt x="363706" y="179292"/>
                    <a:pt x="594224" y="79402"/>
                    <a:pt x="619837" y="0"/>
                  </a:cubicBezTo>
                  <a:close/>
                </a:path>
              </a:pathLst>
            </a:custGeom>
            <a:solidFill>
              <a:schemeClr val="accent3">
                <a:lumMod val="100000"/>
              </a:schemeClr>
            </a:solidFill>
            <a:ln w="20534" cap="flat">
              <a:noFill/>
              <a:prstDash val="solid"/>
              <a:miter/>
            </a:ln>
          </p:spPr>
          <p:txBody>
            <a:bodyPr rtlCol="0" anchor="ctr"/>
            <a:lstStyle/>
            <a:p>
              <a:endParaRPr lang="zh-CN" altLang="en-US"/>
            </a:p>
          </p:txBody>
        </p:sp>
        <p:sp>
          <p:nvSpPr>
            <p:cNvPr id="6" name="RelativeShape1">
              <a:extLst>
                <a:ext uri="{FF2B5EF4-FFF2-40B4-BE49-F238E27FC236}">
                  <a16:creationId xmlns:a16="http://schemas.microsoft.com/office/drawing/2014/main" id="{93746CF1-0B19-410A-A38E-CE512D993243}"/>
                </a:ext>
              </a:extLst>
            </p:cNvPr>
            <p:cNvSpPr/>
            <p:nvPr/>
          </p:nvSpPr>
          <p:spPr bwMode="auto">
            <a:xfrm>
              <a:off x="2135559"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7" name="RelativeShape2">
              <a:extLst>
                <a:ext uri="{FF2B5EF4-FFF2-40B4-BE49-F238E27FC236}">
                  <a16:creationId xmlns:a16="http://schemas.microsoft.com/office/drawing/2014/main" id="{D66CF947-5A01-4839-B102-747EFDD7281A}"/>
                </a:ext>
              </a:extLst>
            </p:cNvPr>
            <p:cNvSpPr/>
            <p:nvPr/>
          </p:nvSpPr>
          <p:spPr bwMode="auto">
            <a:xfrm>
              <a:off x="7364516"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8" name="ValueShape1">
              <a:extLst>
                <a:ext uri="{FF2B5EF4-FFF2-40B4-BE49-F238E27FC236}">
                  <a16:creationId xmlns:a16="http://schemas.microsoft.com/office/drawing/2014/main" id="{FB26877B-79B9-4CD8-8BC2-839063D1BB76}"/>
                </a:ext>
              </a:extLst>
            </p:cNvPr>
            <p:cNvSpPr/>
            <p:nvPr/>
          </p:nvSpPr>
          <p:spPr bwMode="auto">
            <a:xfrm>
              <a:off x="3578684" y="2723405"/>
              <a:ext cx="1627354" cy="754798"/>
            </a:xfrm>
            <a:prstGeom prst="rect">
              <a:avLst/>
            </a:prstGeom>
            <a:solidFill>
              <a:schemeClr val="accent1">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9" name="ValueShape2">
              <a:extLst>
                <a:ext uri="{FF2B5EF4-FFF2-40B4-BE49-F238E27FC236}">
                  <a16:creationId xmlns:a16="http://schemas.microsoft.com/office/drawing/2014/main" id="{8BE80031-FBBD-47D1-B814-D039F3BF91FC}"/>
                </a:ext>
              </a:extLst>
            </p:cNvPr>
            <p:cNvSpPr/>
            <p:nvPr/>
          </p:nvSpPr>
          <p:spPr bwMode="auto">
            <a:xfrm>
              <a:off x="7364516" y="2723405"/>
              <a:ext cx="1688763" cy="754798"/>
            </a:xfrm>
            <a:prstGeom prst="rect">
              <a:avLst/>
            </a:prstGeom>
            <a:solidFill>
              <a:schemeClr val="accent3">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10" name="ExtraShape">
              <a:extLst>
                <a:ext uri="{FF2B5EF4-FFF2-40B4-BE49-F238E27FC236}">
                  <a16:creationId xmlns:a16="http://schemas.microsoft.com/office/drawing/2014/main" id="{4DE28724-19BC-419C-BCCD-CC6E2D97C58F}"/>
                </a:ext>
              </a:extLst>
            </p:cNvPr>
            <p:cNvSpPr/>
            <p:nvPr/>
          </p:nvSpPr>
          <p:spPr bwMode="auto">
            <a:xfrm rot="7966385">
              <a:off x="5372123" y="1998499"/>
              <a:ext cx="1772631" cy="1717988"/>
            </a:xfrm>
            <a:custGeom>
              <a:avLst/>
              <a:gdLst>
                <a:gd name="connsiteX0" fmla="*/ 1009389 w 1488822"/>
                <a:gd name="connsiteY0" fmla="*/ 531908 h 1442928"/>
                <a:gd name="connsiteX1" fmla="*/ 927638 w 1488822"/>
                <a:gd name="connsiteY1" fmla="*/ 443542 h 1442928"/>
                <a:gd name="connsiteX2" fmla="*/ 1407071 w 1488822"/>
                <a:gd name="connsiteY2" fmla="*/ 0 h 1442928"/>
                <a:gd name="connsiteX3" fmla="*/ 1488822 w 1488822"/>
                <a:gd name="connsiteY3" fmla="*/ 88366 h 1442928"/>
                <a:gd name="connsiteX4" fmla="*/ 175265 w 1488822"/>
                <a:gd name="connsiteY4" fmla="*/ 1240780 h 1442928"/>
                <a:gd name="connsiteX5" fmla="*/ 0 w 1488822"/>
                <a:gd name="connsiteY5" fmla="*/ 900466 h 1442928"/>
                <a:gd name="connsiteX6" fmla="*/ 1 w 1488822"/>
                <a:gd name="connsiteY6" fmla="*/ 900467 h 1442928"/>
                <a:gd name="connsiteX7" fmla="*/ 1 w 1488822"/>
                <a:gd name="connsiteY7" fmla="*/ 900466 h 1442928"/>
                <a:gd name="connsiteX8" fmla="*/ 109696 w 1488822"/>
                <a:gd name="connsiteY8" fmla="*/ 798983 h 1442928"/>
                <a:gd name="connsiteX9" fmla="*/ 103102 w 1488822"/>
                <a:gd name="connsiteY9" fmla="*/ 783064 h 1442928"/>
                <a:gd name="connsiteX10" fmla="*/ 130693 w 1488822"/>
                <a:gd name="connsiteY10" fmla="*/ 755473 h 1442928"/>
                <a:gd name="connsiteX11" fmla="*/ 158284 w 1488822"/>
                <a:gd name="connsiteY11" fmla="*/ 755473 h 1442928"/>
                <a:gd name="connsiteX12" fmla="*/ 158284 w 1488822"/>
                <a:gd name="connsiteY12" fmla="*/ 783064 h 1442928"/>
                <a:gd name="connsiteX13" fmla="*/ 130693 w 1488822"/>
                <a:gd name="connsiteY13" fmla="*/ 810655 h 1442928"/>
                <a:gd name="connsiteX14" fmla="*/ 117896 w 1488822"/>
                <a:gd name="connsiteY14" fmla="*/ 805354 h 1442928"/>
                <a:gd name="connsiteX15" fmla="*/ 9205 w 1488822"/>
                <a:gd name="connsiteY15" fmla="*/ 905909 h 1442928"/>
                <a:gd name="connsiteX16" fmla="*/ 195140 w 1488822"/>
                <a:gd name="connsiteY16" fmla="*/ 1015874 h 1442928"/>
                <a:gd name="connsiteX17" fmla="*/ 194925 w 1488822"/>
                <a:gd name="connsiteY17" fmla="*/ 1014140 h 1442928"/>
                <a:gd name="connsiteX18" fmla="*/ 263892 w 1488822"/>
                <a:gd name="connsiteY18" fmla="*/ 872665 h 1442928"/>
                <a:gd name="connsiteX19" fmla="*/ 410296 w 1488822"/>
                <a:gd name="connsiteY19" fmla="*/ 814892 h 1442928"/>
                <a:gd name="connsiteX20" fmla="*/ 457989 w 1488822"/>
                <a:gd name="connsiteY20" fmla="*/ 824618 h 1442928"/>
                <a:gd name="connsiteX21" fmla="*/ 418631 w 1488822"/>
                <a:gd name="connsiteY21" fmla="*/ 775714 h 1442928"/>
                <a:gd name="connsiteX22" fmla="*/ 288313 w 1488822"/>
                <a:gd name="connsiteY22" fmla="*/ 570929 h 1442928"/>
                <a:gd name="connsiteX23" fmla="*/ 297512 w 1488822"/>
                <a:gd name="connsiteY23" fmla="*/ 380976 h 1442928"/>
                <a:gd name="connsiteX24" fmla="*/ 639727 w 1488822"/>
                <a:gd name="connsiteY24" fmla="*/ 483096 h 1442928"/>
                <a:gd name="connsiteX25" fmla="*/ 715184 w 1488822"/>
                <a:gd name="connsiteY25" fmla="*/ 640092 h 1442928"/>
                <a:gd name="connsiteX26" fmla="*/ 703903 w 1488822"/>
                <a:gd name="connsiteY26" fmla="*/ 650528 h 1442928"/>
                <a:gd name="connsiteX27" fmla="*/ 628648 w 1488822"/>
                <a:gd name="connsiteY27" fmla="*/ 674788 h 1442928"/>
                <a:gd name="connsiteX28" fmla="*/ 625067 w 1488822"/>
                <a:gd name="connsiteY28" fmla="*/ 786543 h 1442928"/>
                <a:gd name="connsiteX29" fmla="*/ 632189 w 1488822"/>
                <a:gd name="connsiteY29" fmla="*/ 795409 h 1442928"/>
                <a:gd name="connsiteX30" fmla="*/ 640720 w 1488822"/>
                <a:gd name="connsiteY30" fmla="*/ 803463 h 1442928"/>
                <a:gd name="connsiteX31" fmla="*/ 753882 w 1488822"/>
                <a:gd name="connsiteY31" fmla="*/ 810157 h 1442928"/>
                <a:gd name="connsiteX32" fmla="*/ 783914 w 1488822"/>
                <a:gd name="connsiteY32" fmla="*/ 737014 h 1442928"/>
                <a:gd name="connsiteX33" fmla="*/ 795195 w 1488822"/>
                <a:gd name="connsiteY33" fmla="*/ 726577 h 1442928"/>
                <a:gd name="connsiteX34" fmla="*/ 945856 w 1488822"/>
                <a:gd name="connsiteY34" fmla="*/ 813997 h 1442928"/>
                <a:gd name="connsiteX35" fmla="*/ 1021093 w 1488822"/>
                <a:gd name="connsiteY35" fmla="*/ 1163109 h 1442928"/>
                <a:gd name="connsiteX36" fmla="*/ 830999 w 1488822"/>
                <a:gd name="connsiteY36" fmla="*/ 1157529 h 1442928"/>
                <a:gd name="connsiteX37" fmla="*/ 635921 w 1488822"/>
                <a:gd name="connsiteY37" fmla="*/ 1010587 h 1442928"/>
                <a:gd name="connsiteX38" fmla="*/ 591226 w 1488822"/>
                <a:gd name="connsiteY38" fmla="*/ 968448 h 1442928"/>
                <a:gd name="connsiteX39" fmla="*/ 597245 w 1488822"/>
                <a:gd name="connsiteY39" fmla="*/ 1016969 h 1442928"/>
                <a:gd name="connsiteX40" fmla="*/ 528278 w 1488822"/>
                <a:gd name="connsiteY40" fmla="*/ 1158444 h 1442928"/>
                <a:gd name="connsiteX41" fmla="*/ 458611 w 1488822"/>
                <a:gd name="connsiteY41" fmla="*/ 1202056 h 1442928"/>
                <a:gd name="connsiteX42" fmla="*/ 397138 w 1488822"/>
                <a:gd name="connsiteY42" fmla="*/ 1213400 h 1442928"/>
                <a:gd name="connsiteX43" fmla="*/ 526279 w 1488822"/>
                <a:gd name="connsiteY43" fmla="*/ 1442928 h 144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8822" h="1442928">
                  <a:moveTo>
                    <a:pt x="1009389" y="531908"/>
                  </a:moveTo>
                  <a:lnTo>
                    <a:pt x="927638" y="443542"/>
                  </a:lnTo>
                  <a:lnTo>
                    <a:pt x="1407071" y="0"/>
                  </a:lnTo>
                  <a:lnTo>
                    <a:pt x="1488822" y="88366"/>
                  </a:lnTo>
                  <a:close/>
                  <a:moveTo>
                    <a:pt x="175265" y="1240780"/>
                  </a:moveTo>
                  <a:lnTo>
                    <a:pt x="0" y="900466"/>
                  </a:lnTo>
                  <a:lnTo>
                    <a:pt x="1" y="900467"/>
                  </a:lnTo>
                  <a:lnTo>
                    <a:pt x="1" y="900466"/>
                  </a:lnTo>
                  <a:lnTo>
                    <a:pt x="109696" y="798983"/>
                  </a:lnTo>
                  <a:lnTo>
                    <a:pt x="103102" y="783064"/>
                  </a:lnTo>
                  <a:cubicBezTo>
                    <a:pt x="103102" y="767826"/>
                    <a:pt x="115455" y="755473"/>
                    <a:pt x="130693" y="755473"/>
                  </a:cubicBezTo>
                  <a:lnTo>
                    <a:pt x="158284" y="755473"/>
                  </a:lnTo>
                  <a:lnTo>
                    <a:pt x="158284" y="783064"/>
                  </a:lnTo>
                  <a:cubicBezTo>
                    <a:pt x="158284" y="798302"/>
                    <a:pt x="145931" y="810655"/>
                    <a:pt x="130693" y="810655"/>
                  </a:cubicBezTo>
                  <a:lnTo>
                    <a:pt x="117896" y="805354"/>
                  </a:lnTo>
                  <a:lnTo>
                    <a:pt x="9205" y="905909"/>
                  </a:lnTo>
                  <a:lnTo>
                    <a:pt x="195140" y="1015874"/>
                  </a:lnTo>
                  <a:lnTo>
                    <a:pt x="194925" y="1014140"/>
                  </a:lnTo>
                  <a:cubicBezTo>
                    <a:pt x="198561" y="962786"/>
                    <a:pt x="221838" y="911570"/>
                    <a:pt x="263892" y="872665"/>
                  </a:cubicBezTo>
                  <a:cubicBezTo>
                    <a:pt x="305945" y="833759"/>
                    <a:pt x="358815" y="814530"/>
                    <a:pt x="410296" y="814892"/>
                  </a:cubicBezTo>
                  <a:lnTo>
                    <a:pt x="457989" y="824618"/>
                  </a:lnTo>
                  <a:lnTo>
                    <a:pt x="418631" y="775714"/>
                  </a:lnTo>
                  <a:cubicBezTo>
                    <a:pt x="370542" y="712719"/>
                    <a:pt x="322348" y="639541"/>
                    <a:pt x="288313" y="570929"/>
                  </a:cubicBezTo>
                  <a:cubicBezTo>
                    <a:pt x="227807" y="448953"/>
                    <a:pt x="297512" y="380976"/>
                    <a:pt x="297512" y="380976"/>
                  </a:cubicBezTo>
                  <a:lnTo>
                    <a:pt x="639727" y="483096"/>
                  </a:lnTo>
                  <a:cubicBezTo>
                    <a:pt x="617778" y="534804"/>
                    <a:pt x="715184" y="640092"/>
                    <a:pt x="715184" y="640092"/>
                  </a:cubicBezTo>
                  <a:lnTo>
                    <a:pt x="703903" y="650528"/>
                  </a:lnTo>
                  <a:cubicBezTo>
                    <a:pt x="667708" y="649120"/>
                    <a:pt x="628648" y="674788"/>
                    <a:pt x="628648" y="674788"/>
                  </a:cubicBezTo>
                  <a:cubicBezTo>
                    <a:pt x="590047" y="723584"/>
                    <a:pt x="611785" y="767589"/>
                    <a:pt x="625067" y="786543"/>
                  </a:cubicBezTo>
                  <a:lnTo>
                    <a:pt x="632189" y="795409"/>
                  </a:lnTo>
                  <a:lnTo>
                    <a:pt x="640720" y="803463"/>
                  </a:lnTo>
                  <a:cubicBezTo>
                    <a:pt x="659074" y="818705"/>
                    <a:pt x="702237" y="844852"/>
                    <a:pt x="753882" y="810157"/>
                  </a:cubicBezTo>
                  <a:cubicBezTo>
                    <a:pt x="753882" y="810157"/>
                    <a:pt x="782507" y="773209"/>
                    <a:pt x="783914" y="737014"/>
                  </a:cubicBezTo>
                  <a:lnTo>
                    <a:pt x="795195" y="726577"/>
                  </a:lnTo>
                  <a:cubicBezTo>
                    <a:pt x="795195" y="726577"/>
                    <a:pt x="892600" y="831864"/>
                    <a:pt x="945856" y="813997"/>
                  </a:cubicBezTo>
                  <a:lnTo>
                    <a:pt x="1021093" y="1163109"/>
                  </a:lnTo>
                  <a:cubicBezTo>
                    <a:pt x="1021093" y="1163109"/>
                    <a:pt x="947908" y="1227325"/>
                    <a:pt x="830999" y="1157529"/>
                  </a:cubicBezTo>
                  <a:cubicBezTo>
                    <a:pt x="765237" y="1118269"/>
                    <a:pt x="695473" y="1063943"/>
                    <a:pt x="635921" y="1010587"/>
                  </a:cubicBezTo>
                  <a:lnTo>
                    <a:pt x="591226" y="968448"/>
                  </a:lnTo>
                  <a:lnTo>
                    <a:pt x="597245" y="1016969"/>
                  </a:lnTo>
                  <a:cubicBezTo>
                    <a:pt x="593608" y="1068323"/>
                    <a:pt x="570331" y="1119539"/>
                    <a:pt x="528278" y="1158444"/>
                  </a:cubicBezTo>
                  <a:cubicBezTo>
                    <a:pt x="507251" y="1177897"/>
                    <a:pt x="483520" y="1192431"/>
                    <a:pt x="458611" y="1202056"/>
                  </a:cubicBezTo>
                  <a:lnTo>
                    <a:pt x="397138" y="1213400"/>
                  </a:lnTo>
                  <a:lnTo>
                    <a:pt x="526279" y="1442928"/>
                  </a:lnTo>
                  <a:close/>
                </a:path>
              </a:pathLst>
            </a:custGeom>
            <a:solidFill>
              <a:schemeClr val="accent1"/>
            </a:solidFill>
            <a:ln w="19050">
              <a:noFill/>
              <a:round/>
              <a:headEnd/>
              <a:tailEnd/>
            </a:ln>
          </p:spPr>
          <p:txBody>
            <a:bodyPr rot="0" spcFirstLastPara="0" vert="horz" wrap="square" lIns="91440" tIns="45720" rIns="91440" bIns="45720" numCol="1" spcCol="0" rtlCol="0" fromWordArt="0" anchor="ctr" anchorCtr="1" forceAA="0" compatLnSpc="1">
              <a:prstTxWarp prst="textNoShape">
                <a:avLst/>
              </a:prstTxWarp>
              <a:noAutofit/>
            </a:bodyPr>
            <a:lstStyle/>
            <a:p>
              <a:pPr algn="ctr"/>
              <a:endParaRPr lang="zh-CN" altLang="en-US" sz="1200" b="1" dirty="0">
                <a:solidFill>
                  <a:schemeClr val="tx1">
                    <a:lumMod val="75000"/>
                    <a:lumOff val="25000"/>
                  </a:schemeClr>
                </a:solidFill>
              </a:endParaRPr>
            </a:p>
          </p:txBody>
        </p:sp>
        <p:sp>
          <p:nvSpPr>
            <p:cNvPr id="11" name="ValueText1">
              <a:extLst>
                <a:ext uri="{FF2B5EF4-FFF2-40B4-BE49-F238E27FC236}">
                  <a16:creationId xmlns:a16="http://schemas.microsoft.com/office/drawing/2014/main" id="{EDBDD775-3579-4CA8-974B-1036888707D0}"/>
                </a:ext>
              </a:extLst>
            </p:cNvPr>
            <p:cNvSpPr txBox="1"/>
            <p:nvPr/>
          </p:nvSpPr>
          <p:spPr>
            <a:xfrm>
              <a:off x="2910028"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a:solidFill>
                    <a:schemeClr val="accent1">
                      <a:lumMod val="100000"/>
                    </a:schemeClr>
                  </a:solidFill>
                  <a:latin typeface="Impact" panose="020B0806030902050204" pitchFamily="34" charset="0"/>
                </a:rPr>
                <a:t>53%</a:t>
              </a:r>
              <a:endParaRPr lang="en-US" altLang="zh-CN" sz="3600" b="1" dirty="0">
                <a:solidFill>
                  <a:schemeClr val="accent1">
                    <a:lumMod val="100000"/>
                  </a:schemeClr>
                </a:solidFill>
                <a:latin typeface="Impact" panose="020B0806030902050204" pitchFamily="34" charset="0"/>
              </a:endParaRPr>
            </a:p>
          </p:txBody>
        </p:sp>
        <p:sp>
          <p:nvSpPr>
            <p:cNvPr id="12" name="ValueText2">
              <a:extLst>
                <a:ext uri="{FF2B5EF4-FFF2-40B4-BE49-F238E27FC236}">
                  <a16:creationId xmlns:a16="http://schemas.microsoft.com/office/drawing/2014/main" id="{3A46D92B-9B9E-4C45-9D21-0E83583F0B0C}"/>
                </a:ext>
              </a:extLst>
            </p:cNvPr>
            <p:cNvSpPr txBox="1"/>
            <p:nvPr/>
          </p:nvSpPr>
          <p:spPr>
            <a:xfrm>
              <a:off x="9164722"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dirty="0">
                  <a:solidFill>
                    <a:schemeClr val="accent3">
                      <a:lumMod val="100000"/>
                    </a:schemeClr>
                  </a:solidFill>
                  <a:latin typeface="Impact" panose="020B0806030902050204" pitchFamily="34" charset="0"/>
                </a:rPr>
                <a:t>55%</a:t>
              </a:r>
            </a:p>
          </p:txBody>
        </p:sp>
        <p:sp>
          <p:nvSpPr>
            <p:cNvPr id="15" name="CustomText">
              <a:extLst>
                <a:ext uri="{FF2B5EF4-FFF2-40B4-BE49-F238E27FC236}">
                  <a16:creationId xmlns:a16="http://schemas.microsoft.com/office/drawing/2014/main" id="{D579BF51-77EB-4085-9DCF-88AD3E5322E0}"/>
                </a:ext>
              </a:extLst>
            </p:cNvPr>
            <p:cNvSpPr/>
            <p:nvPr/>
          </p:nvSpPr>
          <p:spPr>
            <a:xfrm>
              <a:off x="4655185" y="4330783"/>
              <a:ext cx="3438697" cy="382921"/>
            </a:xfrm>
            <a:prstGeom prst="rect">
              <a:avLst/>
            </a:prstGeom>
            <a:noFill/>
          </p:spPr>
          <p:txBody>
            <a:bodyPr wrap="square" lIns="90000" tIns="46800" rIns="90000" bIns="46800" anchor="ctr">
              <a:noAutofit/>
            </a:bodyPr>
            <a:lstStyle/>
            <a:p>
              <a:pPr lvl="0" algn="ctr">
                <a:defRPr/>
              </a:pPr>
              <a:r>
                <a:rPr lang="en-US" altLang="zh-CN" sz="2400" b="1" dirty="0">
                  <a:solidFill>
                    <a:schemeClr val="tx1">
                      <a:lumMod val="75000"/>
                      <a:lumOff val="25000"/>
                    </a:schemeClr>
                  </a:solidFill>
                </a:rPr>
                <a:t>Market Risk Measurement and Management</a:t>
              </a:r>
            </a:p>
          </p:txBody>
        </p:sp>
      </p:grpSp>
    </p:spTree>
    <p:extLst>
      <p:ext uri="{BB962C8B-B14F-4D97-AF65-F5344CB8AC3E}">
        <p14:creationId xmlns:p14="http://schemas.microsoft.com/office/powerpoint/2010/main" val="326183842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b="0" dirty="0">
                <a:solidFill>
                  <a:srgbClr val="002060"/>
                </a:solidFill>
                <a:latin typeface="+mn-lt"/>
                <a:ea typeface="+mn-ea"/>
                <a:cs typeface="+mn-ea"/>
                <a:sym typeface="+mn-lt"/>
              </a:rPr>
              <a:t>Measures of Financial Risk </a:t>
            </a:r>
            <a:r>
              <a:rPr lang="zh-CN" altLang="en-US" b="0" dirty="0">
                <a:solidFill>
                  <a:srgbClr val="002060"/>
                </a:solidFill>
                <a:latin typeface="+mn-lt"/>
                <a:ea typeface="+mn-ea"/>
                <a:cs typeface="+mn-ea"/>
                <a:sym typeface="+mn-lt"/>
              </a:rPr>
              <a:t>金融风险的度量</a:t>
            </a:r>
            <a:endParaRPr lang="en-US" altLang="zh-CN" b="0" dirty="0">
              <a:solidFill>
                <a:srgbClr val="002060"/>
              </a:solidFill>
              <a:latin typeface="+mn-lt"/>
              <a:ea typeface="+mn-ea"/>
              <a:cs typeface="+mn-ea"/>
              <a:sym typeface="+mn-lt"/>
            </a:endParaRPr>
          </a:p>
          <a:p>
            <a:r>
              <a:rPr lang="en-US" altLang="zh-CN" b="0" dirty="0">
                <a:solidFill>
                  <a:srgbClr val="002060"/>
                </a:solidFill>
                <a:latin typeface="+mn-lt"/>
                <a:ea typeface="+mn-ea"/>
                <a:cs typeface="+mn-ea"/>
                <a:sym typeface="+mn-lt"/>
              </a:rPr>
              <a:t>Putting </a:t>
            </a:r>
            <a:r>
              <a:rPr lang="en-US" altLang="zh-CN" b="0" dirty="0" err="1">
                <a:solidFill>
                  <a:srgbClr val="002060"/>
                </a:solidFill>
                <a:latin typeface="+mn-lt"/>
                <a:ea typeface="+mn-ea"/>
                <a:cs typeface="+mn-ea"/>
                <a:sym typeface="+mn-lt"/>
              </a:rPr>
              <a:t>VaR</a:t>
            </a:r>
            <a:r>
              <a:rPr lang="en-US" altLang="zh-CN" b="0" dirty="0">
                <a:solidFill>
                  <a:srgbClr val="002060"/>
                </a:solidFill>
                <a:latin typeface="+mn-lt"/>
                <a:ea typeface="+mn-ea"/>
                <a:cs typeface="+mn-ea"/>
                <a:sym typeface="+mn-lt"/>
              </a:rPr>
              <a:t> to Work </a:t>
            </a:r>
            <a:r>
              <a:rPr lang="zh-CN" altLang="en-US" b="0" dirty="0">
                <a:solidFill>
                  <a:srgbClr val="002060"/>
                </a:solidFill>
                <a:latin typeface="+mn-lt"/>
                <a:ea typeface="+mn-ea"/>
                <a:cs typeface="+mn-ea"/>
                <a:sym typeface="+mn-lt"/>
              </a:rPr>
              <a:t>让</a:t>
            </a:r>
            <a:r>
              <a:rPr lang="en-US" altLang="zh-CN" b="0" dirty="0" err="1">
                <a:solidFill>
                  <a:srgbClr val="002060"/>
                </a:solidFill>
                <a:latin typeface="+mn-lt"/>
                <a:ea typeface="+mn-ea"/>
                <a:cs typeface="+mn-ea"/>
                <a:sym typeface="+mn-lt"/>
              </a:rPr>
              <a:t>VaR</a:t>
            </a:r>
            <a:r>
              <a:rPr lang="zh-CN" altLang="en-US" b="0" dirty="0">
                <a:solidFill>
                  <a:srgbClr val="002060"/>
                </a:solidFill>
                <a:latin typeface="+mn-lt"/>
                <a:ea typeface="+mn-ea"/>
                <a:cs typeface="+mn-ea"/>
                <a:sym typeface="+mn-lt"/>
              </a:rPr>
              <a:t>生效</a:t>
            </a:r>
            <a:endParaRPr lang="en-US" altLang="zh-CN" b="0" dirty="0">
              <a:solidFill>
                <a:srgbClr val="002060"/>
              </a:solidFill>
              <a:latin typeface="+mn-lt"/>
              <a:ea typeface="+mn-ea"/>
              <a:cs typeface="+mn-ea"/>
              <a:sym typeface="+mn-lt"/>
            </a:endParaRPr>
          </a:p>
          <a:p>
            <a:r>
              <a:rPr lang="en-US" altLang="zh-CN" b="0" dirty="0">
                <a:solidFill>
                  <a:srgbClr val="002060"/>
                </a:solidFill>
                <a:latin typeface="+mn-lt"/>
                <a:ea typeface="+mn-ea"/>
                <a:cs typeface="+mn-ea"/>
                <a:sym typeface="+mn-lt"/>
              </a:rPr>
              <a:t>Quantifying Volatility in </a:t>
            </a:r>
            <a:r>
              <a:rPr lang="en-US" altLang="zh-CN" b="0" dirty="0" err="1">
                <a:solidFill>
                  <a:srgbClr val="002060"/>
                </a:solidFill>
                <a:latin typeface="+mn-lt"/>
                <a:ea typeface="+mn-ea"/>
                <a:cs typeface="+mn-ea"/>
                <a:sym typeface="+mn-lt"/>
              </a:rPr>
              <a:t>VaR</a:t>
            </a:r>
            <a:r>
              <a:rPr lang="en-US" altLang="zh-CN" b="0" dirty="0">
                <a:solidFill>
                  <a:srgbClr val="002060"/>
                </a:solidFill>
                <a:latin typeface="+mn-lt"/>
                <a:ea typeface="+mn-ea"/>
                <a:cs typeface="+mn-ea"/>
                <a:sym typeface="+mn-lt"/>
              </a:rPr>
              <a:t> Models </a:t>
            </a:r>
            <a:r>
              <a:rPr lang="zh-CN" altLang="en-US" b="0" dirty="0">
                <a:solidFill>
                  <a:srgbClr val="002060"/>
                </a:solidFill>
                <a:latin typeface="+mn-lt"/>
                <a:ea typeface="+mn-ea"/>
                <a:cs typeface="+mn-ea"/>
                <a:sym typeface="+mn-lt"/>
              </a:rPr>
              <a:t>量化</a:t>
            </a:r>
            <a:r>
              <a:rPr lang="en-US" altLang="zh-CN" b="0" dirty="0" err="1">
                <a:solidFill>
                  <a:srgbClr val="002060"/>
                </a:solidFill>
                <a:latin typeface="+mn-lt"/>
                <a:ea typeface="+mn-ea"/>
                <a:cs typeface="+mn-ea"/>
                <a:sym typeface="+mn-lt"/>
              </a:rPr>
              <a:t>VaR</a:t>
            </a:r>
            <a:r>
              <a:rPr lang="zh-CN" altLang="en-US" b="0" dirty="0">
                <a:solidFill>
                  <a:srgbClr val="002060"/>
                </a:solidFill>
                <a:latin typeface="+mn-lt"/>
                <a:ea typeface="+mn-ea"/>
                <a:cs typeface="+mn-ea"/>
                <a:sym typeface="+mn-lt"/>
              </a:rPr>
              <a:t>模型中的波动性</a:t>
            </a:r>
            <a:endParaRPr lang="en-US" altLang="zh-CN" b="0" dirty="0">
              <a:solidFill>
                <a:srgbClr val="002060"/>
              </a:solidFill>
              <a:latin typeface="+mn-lt"/>
              <a:ea typeface="+mn-ea"/>
              <a:cs typeface="+mn-ea"/>
              <a:sym typeface="+mn-lt"/>
            </a:endParaRPr>
          </a:p>
          <a:p>
            <a:endParaRPr lang="zh-CN" altLang="en-US" b="0" dirty="0">
              <a:solidFill>
                <a:srgbClr val="002060"/>
              </a:solidFill>
              <a:latin typeface="+mn-lt"/>
              <a:ea typeface="+mn-ea"/>
              <a:cs typeface="+mn-ea"/>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339155849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fontScale="92500" lnSpcReduction="10000"/>
          </a:bodyPr>
          <a:lstStyle/>
          <a:p>
            <a:pPr>
              <a:lnSpc>
                <a:spcPct val="130000"/>
              </a:lnSpc>
            </a:pPr>
            <a:r>
              <a:rPr lang="en-US" altLang="zh-CN" dirty="0"/>
              <a:t>Coherent Risk Measure</a:t>
            </a:r>
          </a:p>
          <a:p>
            <a:pPr lvl="1">
              <a:lnSpc>
                <a:spcPct val="130000"/>
              </a:lnSpc>
            </a:pPr>
            <a:r>
              <a:rPr lang="en-US" altLang="zh-CN" dirty="0"/>
              <a:t>Monotonicity</a:t>
            </a:r>
          </a:p>
          <a:p>
            <a:pPr lvl="2">
              <a:lnSpc>
                <a:spcPct val="130000"/>
              </a:lnSpc>
            </a:pPr>
            <a:r>
              <a:rPr lang="en-US" altLang="zh-CN" dirty="0"/>
              <a:t>A random cash flow or future value R</a:t>
            </a:r>
            <a:r>
              <a:rPr lang="en-US" altLang="zh-CN" baseline="-25000" dirty="0"/>
              <a:t>1</a:t>
            </a:r>
            <a:r>
              <a:rPr lang="en-US" altLang="zh-CN" dirty="0"/>
              <a:t> that is always greater than R</a:t>
            </a:r>
            <a:r>
              <a:rPr lang="en-US" altLang="zh-CN" baseline="-25000" dirty="0"/>
              <a:t>2</a:t>
            </a:r>
            <a:r>
              <a:rPr lang="en-US" altLang="zh-CN" dirty="0"/>
              <a:t> should have a lower risk.</a:t>
            </a:r>
          </a:p>
          <a:p>
            <a:pPr lvl="1">
              <a:lnSpc>
                <a:spcPct val="130000"/>
              </a:lnSpc>
            </a:pPr>
            <a:endParaRPr lang="en-US" altLang="zh-CN" dirty="0"/>
          </a:p>
          <a:p>
            <a:pPr lvl="1">
              <a:lnSpc>
                <a:spcPct val="130000"/>
              </a:lnSpc>
            </a:pPr>
            <a:r>
              <a:rPr lang="en-US" altLang="zh-CN" dirty="0"/>
              <a:t>Subadditivity</a:t>
            </a:r>
          </a:p>
          <a:p>
            <a:pPr lvl="2">
              <a:lnSpc>
                <a:spcPct val="130000"/>
              </a:lnSpc>
            </a:pPr>
            <a:r>
              <a:rPr lang="en-US" altLang="zh-CN" dirty="0"/>
              <a:t>The portfolio’s risk should not be greater than the sum of its parts.</a:t>
            </a:r>
          </a:p>
          <a:p>
            <a:pPr lvl="1">
              <a:lnSpc>
                <a:spcPct val="130000"/>
              </a:lnSpc>
            </a:pPr>
            <a:endParaRPr lang="en-US" altLang="zh-CN" dirty="0"/>
          </a:p>
          <a:p>
            <a:pPr lvl="1">
              <a:lnSpc>
                <a:spcPct val="130000"/>
              </a:lnSpc>
            </a:pPr>
            <a:r>
              <a:rPr lang="en-US" altLang="zh-CN" dirty="0"/>
              <a:t>Positive Homogeneity</a:t>
            </a:r>
          </a:p>
          <a:p>
            <a:pPr lvl="2">
              <a:lnSpc>
                <a:spcPct val="130000"/>
              </a:lnSpc>
            </a:pPr>
            <a:r>
              <a:rPr lang="en-US" altLang="zh-CN" dirty="0"/>
              <a:t>The risk of a position is proportional to its scale or size.</a:t>
            </a:r>
          </a:p>
          <a:p>
            <a:pPr lvl="1">
              <a:lnSpc>
                <a:spcPct val="130000"/>
              </a:lnSpc>
            </a:pPr>
            <a:endParaRPr lang="en-US" altLang="zh-CN" dirty="0"/>
          </a:p>
          <a:p>
            <a:pPr lvl="1">
              <a:lnSpc>
                <a:spcPct val="130000"/>
              </a:lnSpc>
            </a:pPr>
            <a:r>
              <a:rPr lang="en-US" altLang="zh-CN" dirty="0"/>
              <a:t>Translation Invariance</a:t>
            </a:r>
          </a:p>
          <a:p>
            <a:pPr lvl="2">
              <a:lnSpc>
                <a:spcPct val="130000"/>
              </a:lnSpc>
            </a:pPr>
            <a:r>
              <a:rPr lang="en-US" altLang="zh-CN" dirty="0"/>
              <a:t>Like adding cash,</a:t>
            </a:r>
            <a:r>
              <a:rPr lang="zh-CN" altLang="en-US" dirty="0"/>
              <a:t> </a:t>
            </a:r>
            <a:r>
              <a:rPr lang="en-US" altLang="zh-CN" dirty="0"/>
              <a:t>for</a:t>
            </a:r>
            <a:r>
              <a:rPr lang="zh-CN" altLang="en-US" dirty="0"/>
              <a:t> </a:t>
            </a:r>
            <a:r>
              <a:rPr lang="en-US" altLang="zh-CN" dirty="0"/>
              <a:t>constant</a:t>
            </a:r>
            <a:r>
              <a:rPr lang="zh-CN" altLang="en-US" dirty="0"/>
              <a:t> </a:t>
            </a:r>
            <a:r>
              <a:rPr lang="en-US" altLang="zh-CN" dirty="0"/>
              <a:t>c,</a:t>
            </a:r>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D48258F-04A1-44D5-900B-BEB62D3F67E9}"/>
                  </a:ext>
                </a:extLst>
              </p:cNvPr>
              <p:cNvSpPr/>
              <p:nvPr/>
            </p:nvSpPr>
            <p:spPr>
              <a:xfrm>
                <a:off x="4921249" y="2523365"/>
                <a:ext cx="3108159" cy="369332"/>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2</m:t>
                          </m:r>
                        </m:sub>
                      </m:sSub>
                      <m:r>
                        <m:rPr>
                          <m:nor/>
                        </m:rPr>
                        <a:rPr lang="zh-CN" altLang="en-US" i="1">
                          <a:latin typeface="Cambria Math" panose="02040503050406030204" pitchFamily="18" charset="0"/>
                        </a:rPr>
                        <m:t>, </m:t>
                      </m:r>
                      <m:r>
                        <a:rPr lang="zh-CN" altLang="en-US" i="1">
                          <a:latin typeface="Cambria Math" panose="02040503050406030204" pitchFamily="18" charset="0"/>
                        </a:rPr>
                        <m:t>𝑡h𝑒𝑛</m:t>
                      </m:r>
                      <m:r>
                        <a:rPr lang="en-US" altLang="zh-CN" b="0" i="1" smtClean="0">
                          <a:latin typeface="Cambria Math" panose="02040503050406030204" pitchFamily="18" charset="0"/>
                        </a:rPr>
                        <m:t> </m:t>
                      </m:r>
                      <m:r>
                        <a:rPr lang="zh-CN" altLang="en-US" i="1">
                          <a:latin typeface="Cambria Math" panose="02040503050406030204" pitchFamily="18" charset="0"/>
                        </a:rPr>
                        <m:t>𝜌</m:t>
                      </m:r>
                      <m:r>
                        <m:rPr>
                          <m:nor/>
                        </m:rPr>
                        <a:rPr lang="zh-CN" altLang="en-US" i="1">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r>
                        <m:rPr>
                          <m:nor/>
                        </m:rPr>
                        <a:rPr lang="zh-CN" altLang="en-US" i="1">
                          <a:latin typeface="Cambria Math" panose="02040503050406030204" pitchFamily="18" charset="0"/>
                        </a:rPr>
                        <m:t>)</m:t>
                      </m:r>
                      <m:r>
                        <a:rPr lang="zh-CN" altLang="en-US" i="0">
                          <a:latin typeface="Cambria Math" panose="02040503050406030204" pitchFamily="18" charset="0"/>
                        </a:rPr>
                        <m:t>≤</m:t>
                      </m:r>
                      <m:r>
                        <a:rPr lang="zh-CN" altLang="en-US" i="1">
                          <a:latin typeface="Cambria Math" panose="02040503050406030204" pitchFamily="18" charset="0"/>
                        </a:rPr>
                        <m:t>𝜌</m:t>
                      </m:r>
                      <m:r>
                        <m:rPr>
                          <m:nor/>
                        </m:rPr>
                        <a:rPr lang="zh-CN" altLang="en-US" i="1">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2</m:t>
                          </m:r>
                        </m:sub>
                      </m:sSub>
                      <m:r>
                        <m:rPr>
                          <m:nor/>
                        </m:rPr>
                        <a:rPr lang="zh-CN" altLang="en-US" i="1">
                          <a:latin typeface="Cambria Math" panose="02040503050406030204" pitchFamily="18" charset="0"/>
                        </a:rPr>
                        <m:t>)</m:t>
                      </m:r>
                    </m:oMath>
                  </m:oMathPara>
                </a14:m>
                <a:endParaRPr lang="zh-CN" altLang="en-US" dirty="0"/>
              </a:p>
            </p:txBody>
          </p:sp>
        </mc:Choice>
        <mc:Fallback xmlns="">
          <p:sp>
            <p:nvSpPr>
              <p:cNvPr id="4" name="矩形 3">
                <a:extLst>
                  <a:ext uri="{FF2B5EF4-FFF2-40B4-BE49-F238E27FC236}">
                    <a16:creationId xmlns:a16="http://schemas.microsoft.com/office/drawing/2014/main" id="{6D48258F-04A1-44D5-900B-BEB62D3F67E9}"/>
                  </a:ext>
                </a:extLst>
              </p:cNvPr>
              <p:cNvSpPr>
                <a:spLocks noRot="1" noChangeAspect="1" noMove="1" noResize="1" noEditPoints="1" noAdjustHandles="1" noChangeArrowheads="1" noChangeShapeType="1" noTextEdit="1"/>
              </p:cNvSpPr>
              <p:nvPr/>
            </p:nvSpPr>
            <p:spPr>
              <a:xfrm>
                <a:off x="4921249" y="2523365"/>
                <a:ext cx="3108159" cy="369332"/>
              </a:xfrm>
              <a:prstGeom prst="rect">
                <a:avLst/>
              </a:prstGeom>
              <a:blipFill>
                <a:blip r:embed="rId3"/>
                <a:stretch>
                  <a:fillRect b="-12698"/>
                </a:stretch>
              </a:blipFill>
              <a:ln>
                <a:solidFill>
                  <a:schemeClr val="accent1">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95D811F8-FA76-4717-A990-5A0FB38917F5}"/>
                  </a:ext>
                </a:extLst>
              </p:cNvPr>
              <p:cNvSpPr/>
              <p:nvPr/>
            </p:nvSpPr>
            <p:spPr>
              <a:xfrm>
                <a:off x="4921249" y="3780638"/>
                <a:ext cx="3067378" cy="369332"/>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2</m:t>
                              </m:r>
                            </m:sub>
                          </m:sSub>
                        </m:e>
                      </m:d>
                    </m:oMath>
                  </m:oMathPara>
                </a14:m>
                <a:endParaRPr lang="zh-CN" altLang="en-US" dirty="0"/>
              </a:p>
            </p:txBody>
          </p:sp>
        </mc:Choice>
        <mc:Fallback xmlns="">
          <p:sp>
            <p:nvSpPr>
              <p:cNvPr id="5" name="矩形 4">
                <a:extLst>
                  <a:ext uri="{FF2B5EF4-FFF2-40B4-BE49-F238E27FC236}">
                    <a16:creationId xmlns:a16="http://schemas.microsoft.com/office/drawing/2014/main" id="{95D811F8-FA76-4717-A990-5A0FB38917F5}"/>
                  </a:ext>
                </a:extLst>
              </p:cNvPr>
              <p:cNvSpPr>
                <a:spLocks noRot="1" noChangeAspect="1" noMove="1" noResize="1" noEditPoints="1" noAdjustHandles="1" noChangeArrowheads="1" noChangeShapeType="1" noTextEdit="1"/>
              </p:cNvSpPr>
              <p:nvPr/>
            </p:nvSpPr>
            <p:spPr>
              <a:xfrm>
                <a:off x="4921249" y="3780638"/>
                <a:ext cx="3067378" cy="369332"/>
              </a:xfrm>
              <a:prstGeom prst="rect">
                <a:avLst/>
              </a:prstGeom>
              <a:blipFill>
                <a:blip r:embed="rId4"/>
                <a:stretch>
                  <a:fillRect t="-111111" r="-16040" b="-179365"/>
                </a:stretch>
              </a:blipFill>
              <a:ln>
                <a:solidFill>
                  <a:schemeClr val="accent1">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C4E37A8-5294-4368-99A1-2936D40A6FBA}"/>
                  </a:ext>
                </a:extLst>
              </p:cNvPr>
              <p:cNvSpPr/>
              <p:nvPr/>
            </p:nvSpPr>
            <p:spPr>
              <a:xfrm>
                <a:off x="4921249" y="5078736"/>
                <a:ext cx="2499466" cy="369332"/>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𝛽</m:t>
                          </m:r>
                          <m:r>
                            <a:rPr lang="zh-CN" altLang="en-US" i="0">
                              <a:latin typeface="Cambria Math" panose="02040503050406030204" pitchFamily="18" charset="0"/>
                            </a:rPr>
                            <m:t>&gt;0,</m:t>
                          </m:r>
                          <m:r>
                            <m:rPr>
                              <m:nor/>
                            </m:rPr>
                            <a:rPr lang="zh-CN" altLang="en-US" i="1">
                              <a:latin typeface="Cambria Math" panose="02040503050406030204" pitchFamily="18" charset="0"/>
                            </a:rPr>
                            <m:t> </m:t>
                          </m:r>
                          <m:r>
                            <a:rPr lang="zh-CN" altLang="en-US" i="1">
                              <a:latin typeface="Cambria Math" panose="02040503050406030204" pitchFamily="18" charset="0"/>
                            </a:rPr>
                            <m:t>𝜌</m:t>
                          </m:r>
                          <m:r>
                            <a:rPr lang="zh-CN" altLang="en-US" i="0">
                              <a:latin typeface="Cambria Math" panose="02040503050406030204" pitchFamily="18" charset="0"/>
                            </a:rPr>
                            <m:t>(</m:t>
                          </m:r>
                          <m:r>
                            <a:rPr lang="zh-CN" altLang="en-US" i="1">
                              <a:latin typeface="Cambria Math" panose="02040503050406030204" pitchFamily="18" charset="0"/>
                            </a:rPr>
                            <m:t>𝛽</m:t>
                          </m:r>
                          <m:r>
                            <a:rPr lang="zh-CN" altLang="en-US" i="1">
                              <a:latin typeface="Cambria Math" panose="02040503050406030204" pitchFamily="18" charset="0"/>
                            </a:rPr>
                            <m:t>𝑅</m:t>
                          </m:r>
                          <m:r>
                            <a:rPr lang="zh-CN" altLang="en-US" i="0">
                              <a:latin typeface="Cambria Math" panose="02040503050406030204" pitchFamily="18" charset="0"/>
                            </a:rPr>
                            <m:t>)=</m:t>
                          </m:r>
                          <m:r>
                            <a:rPr lang="zh-CN" altLang="en-US" i="1">
                              <a:latin typeface="Cambria Math" panose="02040503050406030204" pitchFamily="18" charset="0"/>
                            </a:rPr>
                            <m:t>𝛽𝜌</m:t>
                          </m:r>
                          <m:r>
                            <a:rPr lang="zh-CN" altLang="en-US" i="0">
                              <a:latin typeface="Cambria Math" panose="02040503050406030204" pitchFamily="18" charset="0"/>
                            </a:rPr>
                            <m:t>(</m:t>
                          </m:r>
                          <m:r>
                            <a:rPr lang="zh-CN" altLang="en-US" i="1">
                              <a:latin typeface="Cambria Math" panose="02040503050406030204" pitchFamily="18" charset="0"/>
                            </a:rPr>
                            <m:t>𝑅</m:t>
                          </m:r>
                        </m:e>
                      </m:d>
                    </m:oMath>
                  </m:oMathPara>
                </a14:m>
                <a:endParaRPr lang="zh-CN" altLang="en-US" dirty="0"/>
              </a:p>
            </p:txBody>
          </p:sp>
        </mc:Choice>
        <mc:Fallback xmlns="">
          <p:sp>
            <p:nvSpPr>
              <p:cNvPr id="6" name="矩形 5">
                <a:extLst>
                  <a:ext uri="{FF2B5EF4-FFF2-40B4-BE49-F238E27FC236}">
                    <a16:creationId xmlns:a16="http://schemas.microsoft.com/office/drawing/2014/main" id="{3C4E37A8-5294-4368-99A1-2936D40A6FBA}"/>
                  </a:ext>
                </a:extLst>
              </p:cNvPr>
              <p:cNvSpPr>
                <a:spLocks noRot="1" noChangeAspect="1" noMove="1" noResize="1" noEditPoints="1" noAdjustHandles="1" noChangeArrowheads="1" noChangeShapeType="1" noTextEdit="1"/>
              </p:cNvSpPr>
              <p:nvPr/>
            </p:nvSpPr>
            <p:spPr>
              <a:xfrm>
                <a:off x="4921249" y="5078736"/>
                <a:ext cx="2499466" cy="369332"/>
              </a:xfrm>
              <a:prstGeom prst="rect">
                <a:avLst/>
              </a:prstGeom>
              <a:blipFill>
                <a:blip r:embed="rId5"/>
                <a:stretch>
                  <a:fillRect t="-111111" r="-19660" b="-179365"/>
                </a:stretch>
              </a:blipFill>
              <a:ln>
                <a:solidFill>
                  <a:schemeClr val="accent1">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C0BD780-CD60-4BA3-A0F0-BEA30E308677}"/>
                  </a:ext>
                </a:extLst>
              </p:cNvPr>
              <p:cNvSpPr/>
              <p:nvPr/>
            </p:nvSpPr>
            <p:spPr>
              <a:xfrm>
                <a:off x="4921249" y="6064944"/>
                <a:ext cx="2284664" cy="369332"/>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𝜌</m:t>
                      </m:r>
                      <m:r>
                        <a:rPr lang="zh-CN" altLang="en-US" i="0">
                          <a:latin typeface="Cambria Math" panose="02040503050406030204" pitchFamily="18" charset="0"/>
                        </a:rPr>
                        <m:t>(</m:t>
                      </m:r>
                      <m:r>
                        <a:rPr lang="zh-CN" altLang="en-US" i="1">
                          <a:latin typeface="Cambria Math" panose="02040503050406030204" pitchFamily="18" charset="0"/>
                        </a:rPr>
                        <m:t>𝑅</m:t>
                      </m:r>
                      <m:r>
                        <a:rPr lang="zh-CN" altLang="en-US" i="0">
                          <a:latin typeface="Cambria Math" panose="02040503050406030204" pitchFamily="18" charset="0"/>
                        </a:rPr>
                        <m:t>+</m:t>
                      </m:r>
                      <m:r>
                        <a:rPr lang="zh-CN" altLang="en-US" i="1">
                          <a:latin typeface="Cambria Math" panose="02040503050406030204" pitchFamily="18" charset="0"/>
                        </a:rPr>
                        <m:t>𝑐</m:t>
                      </m:r>
                      <m:r>
                        <a:rPr lang="zh-CN" altLang="en-US" i="0">
                          <a:latin typeface="Cambria Math" panose="02040503050406030204" pitchFamily="18" charset="0"/>
                        </a:rPr>
                        <m:t>)=</m:t>
                      </m:r>
                      <m:r>
                        <a:rPr lang="zh-CN" altLang="en-US" i="1">
                          <a:latin typeface="Cambria Math" panose="02040503050406030204" pitchFamily="18" charset="0"/>
                        </a:rPr>
                        <m:t>𝜌</m:t>
                      </m:r>
                      <m:r>
                        <a:rPr lang="zh-CN" altLang="en-US" i="0">
                          <a:latin typeface="Cambria Math" panose="02040503050406030204" pitchFamily="18" charset="0"/>
                        </a:rPr>
                        <m:t>(</m:t>
                      </m:r>
                      <m:r>
                        <a:rPr lang="zh-CN" altLang="en-US" i="1">
                          <a:latin typeface="Cambria Math" panose="02040503050406030204" pitchFamily="18" charset="0"/>
                        </a:rPr>
                        <m:t>𝑅</m:t>
                      </m:r>
                      <m:r>
                        <a:rPr lang="zh-CN" altLang="en-US" i="0">
                          <a:latin typeface="Cambria Math" panose="02040503050406030204" pitchFamily="18" charset="0"/>
                        </a:rPr>
                        <m:t>)−</m:t>
                      </m:r>
                      <m:r>
                        <a:rPr lang="zh-CN" altLang="en-US" i="1">
                          <a:latin typeface="Cambria Math" panose="02040503050406030204" pitchFamily="18" charset="0"/>
                        </a:rPr>
                        <m:t>𝑐</m:t>
                      </m:r>
                    </m:oMath>
                  </m:oMathPara>
                </a14:m>
                <a:endParaRPr lang="zh-CN" altLang="en-US" dirty="0"/>
              </a:p>
            </p:txBody>
          </p:sp>
        </mc:Choice>
        <mc:Fallback xmlns="">
          <p:sp>
            <p:nvSpPr>
              <p:cNvPr id="7" name="矩形 6">
                <a:extLst>
                  <a:ext uri="{FF2B5EF4-FFF2-40B4-BE49-F238E27FC236}">
                    <a16:creationId xmlns:a16="http://schemas.microsoft.com/office/drawing/2014/main" id="{9C0BD780-CD60-4BA3-A0F0-BEA30E308677}"/>
                  </a:ext>
                </a:extLst>
              </p:cNvPr>
              <p:cNvSpPr>
                <a:spLocks noRot="1" noChangeAspect="1" noMove="1" noResize="1" noEditPoints="1" noAdjustHandles="1" noChangeArrowheads="1" noChangeShapeType="1" noTextEdit="1"/>
              </p:cNvSpPr>
              <p:nvPr/>
            </p:nvSpPr>
            <p:spPr>
              <a:xfrm>
                <a:off x="4921249" y="6064944"/>
                <a:ext cx="2284664" cy="369332"/>
              </a:xfrm>
              <a:prstGeom prst="rect">
                <a:avLst/>
              </a:prstGeom>
              <a:blipFill>
                <a:blip r:embed="rId6"/>
                <a:stretch>
                  <a:fillRect b="-14516"/>
                </a:stretch>
              </a:blipFill>
              <a:ln>
                <a:solidFill>
                  <a:schemeClr val="accent1">
                    <a:lumMod val="75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289388516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a:bodyPr>
          <a:lstStyle/>
          <a:p>
            <a:r>
              <a:rPr lang="en-US" altLang="zh-CN" dirty="0"/>
              <a:t>Mean-Variance Framework</a:t>
            </a:r>
          </a:p>
          <a:p>
            <a:pPr lvl="1"/>
            <a:r>
              <a:rPr lang="en-US" altLang="zh-CN" dirty="0"/>
              <a:t>In the mean-variance framework, we </a:t>
            </a:r>
            <a:r>
              <a:rPr lang="en-US" altLang="zh-CN" u="sng" dirty="0"/>
              <a:t>model financial risk in terms of the mean and variance (or standard deviation) of P/L (or returns)</a:t>
            </a:r>
            <a:r>
              <a:rPr lang="en-US" altLang="zh-CN" dirty="0"/>
              <a:t>. As a related convenience, we </a:t>
            </a:r>
            <a:r>
              <a:rPr lang="en-US" altLang="zh-CN" u="sng" dirty="0"/>
              <a:t>assume the daily P/L or returns obey a normal distribution</a:t>
            </a:r>
            <a:r>
              <a:rPr lang="en-US" altLang="zh-CN" dirty="0"/>
              <a:t>.</a:t>
            </a:r>
          </a:p>
          <a:p>
            <a:pPr lvl="1"/>
            <a:r>
              <a:rPr lang="en-US" altLang="zh-CN" dirty="0"/>
              <a:t>If our distribution is </a:t>
            </a:r>
            <a:r>
              <a:rPr lang="en-US" altLang="zh-CN" u="sng" dirty="0"/>
              <a:t>skewed or has heavier tails</a:t>
            </a:r>
            <a:r>
              <a:rPr lang="en-US" altLang="zh-CN" dirty="0"/>
              <a:t> – as is </a:t>
            </a:r>
            <a:r>
              <a:rPr lang="en-US" altLang="zh-CN" u="sng" dirty="0"/>
              <a:t>typically the case with financial returns</a:t>
            </a:r>
            <a:r>
              <a:rPr lang="en-US" altLang="zh-CN" dirty="0"/>
              <a:t> – then the normality assumption is inappropriate and the mean-variance framework can produce misleading estimates of risk. The use of the standard deviation as a risk measurement is not appropriate for </a:t>
            </a:r>
            <a:r>
              <a:rPr lang="en-US" altLang="zh-CN" u="sng" dirty="0"/>
              <a:t>non-normal distributions</a:t>
            </a:r>
            <a:r>
              <a:rPr lang="en-US" altLang="zh-CN" dirty="0"/>
              <a:t>. </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70368473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a:bodyPr>
          <a:lstStyle/>
          <a:p>
            <a:r>
              <a:rPr lang="en-US" altLang="zh-CN" dirty="0"/>
              <a:t>Value at Risk</a:t>
            </a:r>
          </a:p>
          <a:p>
            <a:pPr lvl="1"/>
            <a:r>
              <a:rPr lang="en-US" altLang="zh-CN" dirty="0">
                <a:solidFill>
                  <a:srgbClr val="000000"/>
                </a:solidFill>
                <a:ea typeface="宋体" panose="02010600030101010101" pitchFamily="2" charset="-122"/>
              </a:rPr>
              <a:t>V</a:t>
            </a:r>
            <a:r>
              <a:rPr lang="zh-CN" altLang="en-US" dirty="0">
                <a:solidFill>
                  <a:srgbClr val="000000"/>
                </a:solidFill>
                <a:ea typeface="宋体" panose="02010600030101010101" pitchFamily="2" charset="-122"/>
              </a:rPr>
              <a:t>a</a:t>
            </a:r>
            <a:r>
              <a:rPr lang="en-US" altLang="zh-CN" dirty="0">
                <a:solidFill>
                  <a:srgbClr val="000000"/>
                </a:solidFill>
                <a:ea typeface="宋体" panose="02010600030101010101" pitchFamily="2" charset="-122"/>
              </a:rPr>
              <a:t>R is the </a:t>
            </a:r>
            <a:r>
              <a:rPr lang="en-US" altLang="zh-CN" u="sng" dirty="0">
                <a:solidFill>
                  <a:srgbClr val="000000"/>
                </a:solidFill>
                <a:ea typeface="宋体" panose="02010600030101010101" pitchFamily="2" charset="-122"/>
              </a:rPr>
              <a:t>maximum loss over a target horizon</a:t>
            </a:r>
            <a:r>
              <a:rPr lang="en-US" altLang="zh-CN" dirty="0">
                <a:solidFill>
                  <a:srgbClr val="000000"/>
                </a:solidFill>
                <a:ea typeface="宋体" panose="02010600030101010101" pitchFamily="2" charset="-122"/>
              </a:rPr>
              <a:t> and </a:t>
            </a:r>
            <a:r>
              <a:rPr lang="en-US" altLang="zh-CN" u="sng" dirty="0">
                <a:solidFill>
                  <a:srgbClr val="000000"/>
                </a:solidFill>
                <a:ea typeface="宋体" panose="02010600030101010101" pitchFamily="2" charset="-122"/>
              </a:rPr>
              <a:t>for a given confidence level</a:t>
            </a:r>
            <a:r>
              <a:rPr lang="en-US" altLang="zh-CN" dirty="0">
                <a:solidFill>
                  <a:srgbClr val="000000"/>
                </a:solidFill>
                <a:ea typeface="宋体" panose="02010600030101010101" pitchFamily="2" charset="-122"/>
              </a:rPr>
              <a:t>.</a:t>
            </a:r>
            <a:r>
              <a:rPr lang="zh-CN" altLang="en-US" u="sng" dirty="0">
                <a:solidFill>
                  <a:srgbClr val="000000"/>
                </a:solidFill>
                <a:ea typeface="宋体" panose="02010600030101010101" pitchFamily="2" charset="-122"/>
              </a:rPr>
              <a:t> </a:t>
            </a:r>
            <a:endParaRPr lang="en-US" altLang="zh-CN" u="sng" dirty="0">
              <a:solidFill>
                <a:srgbClr val="000000"/>
              </a:solidFill>
            </a:endParaRPr>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A29B7B1A-DA08-41DD-BEE7-E5FFF77D605A}"/>
              </a:ext>
            </a:extLst>
          </p:cNvPr>
          <p:cNvGrpSpPr/>
          <p:nvPr/>
        </p:nvGrpSpPr>
        <p:grpSpPr>
          <a:xfrm>
            <a:off x="1694184" y="2895722"/>
            <a:ext cx="8803630" cy="3312319"/>
            <a:chOff x="160338" y="2420937"/>
            <a:chExt cx="8803630" cy="3312319"/>
          </a:xfrm>
        </p:grpSpPr>
        <p:pic>
          <p:nvPicPr>
            <p:cNvPr id="5" name="Picture 6">
              <a:extLst>
                <a:ext uri="{FF2B5EF4-FFF2-40B4-BE49-F238E27FC236}">
                  <a16:creationId xmlns:a16="http://schemas.microsoft.com/office/drawing/2014/main" id="{6CBF8145-B672-4189-BDD4-CD6489A0848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8" y="2678830"/>
              <a:ext cx="4140000" cy="27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a:extLst>
                <a:ext uri="{FF2B5EF4-FFF2-40B4-BE49-F238E27FC236}">
                  <a16:creationId xmlns:a16="http://schemas.microsoft.com/office/drawing/2014/main" id="{DA1A2720-D621-4870-9DD2-1AE97BD16449}"/>
                </a:ext>
              </a:extLst>
            </p:cNvPr>
            <p:cNvGrpSpPr/>
            <p:nvPr/>
          </p:nvGrpSpPr>
          <p:grpSpPr>
            <a:xfrm>
              <a:off x="4283968" y="2420937"/>
              <a:ext cx="4680000" cy="3240000"/>
              <a:chOff x="4283968" y="2420937"/>
              <a:chExt cx="4680000" cy="3240000"/>
            </a:xfrm>
          </p:grpSpPr>
          <p:pic>
            <p:nvPicPr>
              <p:cNvPr id="8" name="Picture 5">
                <a:extLst>
                  <a:ext uri="{FF2B5EF4-FFF2-40B4-BE49-F238E27FC236}">
                    <a16:creationId xmlns:a16="http://schemas.microsoft.com/office/drawing/2014/main" id="{4564574D-38A4-4AA1-B733-1A5B3BBBAFA0}"/>
                  </a:ext>
                </a:extLst>
              </p:cNvPr>
              <p:cNvPicPr>
                <a:picLocks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2420937"/>
                <a:ext cx="4680000" cy="32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
                <a:extLst>
                  <a:ext uri="{FF2B5EF4-FFF2-40B4-BE49-F238E27FC236}">
                    <a16:creationId xmlns:a16="http://schemas.microsoft.com/office/drawing/2014/main" id="{9D97B648-1B2D-47C9-B167-ABD4C1BB1A1E}"/>
                  </a:ext>
                </a:extLst>
              </p:cNvPr>
              <p:cNvSpPr txBox="1"/>
              <p:nvPr/>
            </p:nvSpPr>
            <p:spPr>
              <a:xfrm>
                <a:off x="6156176" y="3058957"/>
                <a:ext cx="468000" cy="246221"/>
              </a:xfrm>
              <a:prstGeom prst="rect">
                <a:avLst/>
              </a:prstGeom>
              <a:solidFill>
                <a:schemeClr val="bg1"/>
              </a:solidFill>
              <a:ln>
                <a:noFill/>
              </a:ln>
            </p:spPr>
            <p:txBody>
              <a:bodyPr wrap="square" lIns="0" tIns="0" rIns="0" bIns="0" rtlCol="0" anchor="ctr" anchorCtr="0">
                <a:spAutoFit/>
              </a:bodyPr>
              <a:lstStyle/>
              <a:p>
                <a:pPr algn="ctr"/>
                <a:r>
                  <a:rPr lang="en-US" altLang="zh-CN" sz="1600" b="0" dirty="0" err="1">
                    <a:latin typeface="Arial" panose="020B0604020202020204" pitchFamily="34" charset="0"/>
                    <a:cs typeface="Arial" panose="020B0604020202020204" pitchFamily="34" charset="0"/>
                  </a:rPr>
                  <a:t>VaR</a:t>
                </a:r>
                <a:endParaRPr lang="zh-CN" altLang="en-US" sz="1600" b="0" dirty="0">
                  <a:latin typeface="Arial" panose="020B0604020202020204" pitchFamily="34" charset="0"/>
                  <a:cs typeface="Arial" panose="020B0604020202020204" pitchFamily="34" charset="0"/>
                </a:endParaRPr>
              </a:p>
            </p:txBody>
          </p:sp>
        </p:grpSp>
        <p:sp>
          <p:nvSpPr>
            <p:cNvPr id="7" name="圆角矩形 7">
              <a:extLst>
                <a:ext uri="{FF2B5EF4-FFF2-40B4-BE49-F238E27FC236}">
                  <a16:creationId xmlns:a16="http://schemas.microsoft.com/office/drawing/2014/main" id="{B80D3015-E657-4095-9584-7C096E582EDB}"/>
                </a:ext>
              </a:extLst>
            </p:cNvPr>
            <p:cNvSpPr/>
            <p:nvPr/>
          </p:nvSpPr>
          <p:spPr>
            <a:xfrm>
              <a:off x="251520" y="2493255"/>
              <a:ext cx="8640440" cy="3240001"/>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20004144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a:bodyPr>
          <a:lstStyle/>
          <a:p>
            <a:pPr lvl="1">
              <a:lnSpc>
                <a:spcPct val="200000"/>
              </a:lnSpc>
            </a:pPr>
            <a:r>
              <a:rPr lang="en-US" altLang="zh-CN" b="1" dirty="0"/>
              <a:t>Choice of </a:t>
            </a:r>
            <a:r>
              <a:rPr lang="en-US" altLang="zh-CN" b="1" dirty="0" err="1"/>
              <a:t>VaR</a:t>
            </a:r>
            <a:r>
              <a:rPr lang="en-US" altLang="zh-CN" b="1" dirty="0"/>
              <a:t> Parameters</a:t>
            </a:r>
          </a:p>
          <a:p>
            <a:pPr lvl="2">
              <a:lnSpc>
                <a:spcPct val="200000"/>
              </a:lnSpc>
            </a:pPr>
            <a:r>
              <a:rPr lang="en-US" altLang="zh-CN" b="1" dirty="0"/>
              <a:t>Time horizon: </a:t>
            </a:r>
            <a:r>
              <a:rPr lang="en-US" altLang="zh-CN" dirty="0"/>
              <a:t>should depend on how quickly portfolio can be unwound. </a:t>
            </a:r>
            <a:r>
              <a:rPr lang="en-US" altLang="zh-CN" u="sng" dirty="0"/>
              <a:t>Regulators in effect use 1-day for bank market risk and 1-year for credit/operational risk. </a:t>
            </a:r>
          </a:p>
          <a:p>
            <a:pPr lvl="2">
              <a:lnSpc>
                <a:spcPct val="200000"/>
              </a:lnSpc>
            </a:pPr>
            <a:r>
              <a:rPr lang="en-US" altLang="zh-CN" b="1" dirty="0"/>
              <a:t>Confidence level: </a:t>
            </a:r>
            <a:r>
              <a:rPr lang="en-US" altLang="zh-CN" dirty="0"/>
              <a:t>depends on objectives. </a:t>
            </a:r>
            <a:r>
              <a:rPr lang="en-US" altLang="zh-CN" u="sng" dirty="0"/>
              <a:t>Regulators use 99% for market risk and 99.9% for credit/operational risk. </a:t>
            </a:r>
          </a:p>
          <a:p>
            <a:pPr lvl="2">
              <a:lnSpc>
                <a:spcPct val="200000"/>
              </a:lnSpc>
            </a:pPr>
            <a:r>
              <a:rPr lang="en-US" altLang="zh-CN" b="1" dirty="0"/>
              <a:t>Data Window</a:t>
            </a:r>
            <a:endParaRPr lang="zh-CN" altLang="en-US" b="1"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167940036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fontScale="92500"/>
          </a:bodyPr>
          <a:lstStyle/>
          <a:p>
            <a:pPr lvl="1">
              <a:lnSpc>
                <a:spcPct val="180000"/>
              </a:lnSpc>
            </a:pPr>
            <a:r>
              <a:rPr lang="en-US" altLang="zh-CN" b="1" dirty="0"/>
              <a:t>Advantages of </a:t>
            </a:r>
            <a:r>
              <a:rPr lang="en-US" altLang="zh-CN" b="1" dirty="0" err="1"/>
              <a:t>VaR</a:t>
            </a:r>
            <a:endParaRPr lang="en-US" altLang="zh-CN" b="1" dirty="0"/>
          </a:p>
          <a:p>
            <a:pPr lvl="2">
              <a:lnSpc>
                <a:spcPct val="180000"/>
              </a:lnSpc>
            </a:pPr>
            <a:r>
              <a:rPr lang="en-US" altLang="zh-CN" dirty="0"/>
              <a:t>Used for risk control and performance assessment.</a:t>
            </a:r>
          </a:p>
          <a:p>
            <a:pPr lvl="2">
              <a:lnSpc>
                <a:spcPct val="180000"/>
              </a:lnSpc>
            </a:pPr>
            <a:r>
              <a:rPr lang="en-US" altLang="zh-CN" dirty="0"/>
              <a:t>Easy to understand.</a:t>
            </a:r>
          </a:p>
          <a:p>
            <a:pPr lvl="2">
              <a:lnSpc>
                <a:spcPct val="180000"/>
              </a:lnSpc>
            </a:pPr>
            <a:r>
              <a:rPr lang="en-US" altLang="zh-CN" dirty="0"/>
              <a:t>Advanced method.</a:t>
            </a:r>
          </a:p>
          <a:p>
            <a:pPr lvl="2">
              <a:lnSpc>
                <a:spcPct val="180000"/>
              </a:lnSpc>
            </a:pPr>
            <a:r>
              <a:rPr lang="en-US" altLang="zh-CN" dirty="0"/>
              <a:t>Single instrument or portfolio.</a:t>
            </a:r>
          </a:p>
          <a:p>
            <a:pPr lvl="1">
              <a:lnSpc>
                <a:spcPct val="180000"/>
              </a:lnSpc>
            </a:pPr>
            <a:r>
              <a:rPr lang="en-US" altLang="zh-CN" b="1" dirty="0"/>
              <a:t>Disadvantages of </a:t>
            </a:r>
            <a:r>
              <a:rPr lang="en-US" altLang="zh-CN" b="1" dirty="0" err="1"/>
              <a:t>VaR</a:t>
            </a:r>
            <a:endParaRPr lang="en-US" altLang="zh-CN" b="1" dirty="0"/>
          </a:p>
          <a:p>
            <a:pPr lvl="2">
              <a:lnSpc>
                <a:spcPct val="180000"/>
              </a:lnSpc>
            </a:pPr>
            <a:r>
              <a:rPr lang="en-US" altLang="zh-CN" u="sng" dirty="0"/>
              <a:t>Did not contain worst conditions, did not describe tail loss.</a:t>
            </a:r>
          </a:p>
          <a:p>
            <a:pPr lvl="2">
              <a:lnSpc>
                <a:spcPct val="180000"/>
              </a:lnSpc>
            </a:pPr>
            <a:r>
              <a:rPr lang="en-US" altLang="zh-CN" u="sng" dirty="0"/>
              <a:t>Not sub-additive.</a:t>
            </a:r>
          </a:p>
          <a:p>
            <a:pPr lvl="2">
              <a:lnSpc>
                <a:spcPct val="180000"/>
              </a:lnSpc>
            </a:pPr>
            <a:r>
              <a:rPr lang="en-US" altLang="zh-CN" dirty="0"/>
              <a:t>Illiquid Assets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64176307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a:xfrm>
            <a:off x="393599" y="813470"/>
            <a:ext cx="11404800" cy="2808962"/>
          </a:xfrm>
        </p:spPr>
        <p:txBody>
          <a:bodyPr>
            <a:normAutofit fontScale="92500" lnSpcReduction="20000"/>
          </a:bodyPr>
          <a:lstStyle/>
          <a:p>
            <a:r>
              <a:rPr lang="en-US" altLang="zh-CN" dirty="0"/>
              <a:t>Explain Why </a:t>
            </a:r>
            <a:r>
              <a:rPr lang="en-US" altLang="zh-CN" dirty="0" err="1"/>
              <a:t>VaR</a:t>
            </a:r>
            <a:r>
              <a:rPr lang="en-US" altLang="zh-CN" dirty="0"/>
              <a:t> is not a Coherent Risk Measure</a:t>
            </a:r>
          </a:p>
          <a:p>
            <a:pPr lvl="1"/>
            <a:r>
              <a:rPr lang="en-US" altLang="zh-CN" dirty="0"/>
              <a:t>Suppose a trader invests three bonds A,B and C which are with the same characteristics and independent payoffs. Each bond has a face value of $100,000 and a default probability of 0.5%. Then the sum of the </a:t>
            </a:r>
            <a:r>
              <a:rPr lang="en-US" altLang="zh-CN" dirty="0" err="1"/>
              <a:t>VaR</a:t>
            </a:r>
            <a:r>
              <a:rPr lang="en-US" altLang="zh-CN" dirty="0"/>
              <a:t> of the three bonds ($0) is less than the portfolio </a:t>
            </a:r>
            <a:r>
              <a:rPr lang="en-US" altLang="zh-CN" dirty="0" err="1"/>
              <a:t>VaR</a:t>
            </a:r>
            <a:r>
              <a:rPr lang="en-US" altLang="zh-CN" dirty="0"/>
              <a:t> ($100,000). (99% confidence level)</a:t>
            </a:r>
            <a:endParaRPr lang="zh-CN" altLang="en-US" dirty="0"/>
          </a:p>
          <a:p>
            <a:endParaRPr lang="zh-CN" altLang="en-US" dirty="0">
              <a:latin typeface="+mn-lt"/>
              <a:ea typeface="+mn-ea"/>
              <a:cs typeface="+mn-ea"/>
              <a:sym typeface="+mn-lt"/>
            </a:endParaRPr>
          </a:p>
        </p:txBody>
      </p:sp>
      <p:graphicFrame>
        <p:nvGraphicFramePr>
          <p:cNvPr id="4" name="Content Placeholder 3">
            <a:extLst>
              <a:ext uri="{FF2B5EF4-FFF2-40B4-BE49-F238E27FC236}">
                <a16:creationId xmlns:a16="http://schemas.microsoft.com/office/drawing/2014/main" id="{B8D7DC07-E35A-45DA-A491-CD6EABDE2B35}"/>
              </a:ext>
            </a:extLst>
          </p:cNvPr>
          <p:cNvGraphicFramePr>
            <a:graphicFrameLocks/>
          </p:cNvGraphicFramePr>
          <p:nvPr>
            <p:extLst>
              <p:ext uri="{D42A27DB-BD31-4B8C-83A1-F6EECF244321}">
                <p14:modId xmlns:p14="http://schemas.microsoft.com/office/powerpoint/2010/main" val="3967888867"/>
              </p:ext>
            </p:extLst>
          </p:nvPr>
        </p:nvGraphicFramePr>
        <p:xfrm>
          <a:off x="1641758" y="3797438"/>
          <a:ext cx="8908484" cy="2520000"/>
        </p:xfrm>
        <a:graphic>
          <a:graphicData uri="http://schemas.openxmlformats.org/drawingml/2006/table">
            <a:tbl>
              <a:tblPr firstRow="1" bandRow="1">
                <a:tableStyleId>{00A15C55-8517-42AA-B614-E9B94910E393}</a:tableStyleId>
              </a:tblPr>
              <a:tblGrid>
                <a:gridCol w="2672545">
                  <a:extLst>
                    <a:ext uri="{9D8B030D-6E8A-4147-A177-3AD203B41FA5}">
                      <a16:colId xmlns:a16="http://schemas.microsoft.com/office/drawing/2014/main" val="20000"/>
                    </a:ext>
                  </a:extLst>
                </a:gridCol>
                <a:gridCol w="2227121">
                  <a:extLst>
                    <a:ext uri="{9D8B030D-6E8A-4147-A177-3AD203B41FA5}">
                      <a16:colId xmlns:a16="http://schemas.microsoft.com/office/drawing/2014/main" val="20001"/>
                    </a:ext>
                  </a:extLst>
                </a:gridCol>
                <a:gridCol w="4008818">
                  <a:extLst>
                    <a:ext uri="{9D8B030D-6E8A-4147-A177-3AD203B41FA5}">
                      <a16:colId xmlns:a16="http://schemas.microsoft.com/office/drawing/2014/main" val="20002"/>
                    </a:ext>
                  </a:extLst>
                </a:gridCol>
              </a:tblGrid>
              <a:tr h="504000">
                <a:tc>
                  <a:txBody>
                    <a:bodyPr/>
                    <a:lstStyle/>
                    <a:p>
                      <a:pPr algn="ctr"/>
                      <a:r>
                        <a:rPr lang="en-US" altLang="zh-CN" b="1" baseline="0" dirty="0">
                          <a:solidFill>
                            <a:schemeClr val="bg1"/>
                          </a:solidFill>
                          <a:latin typeface="Segoe UI" panose="020B0502040204020203" pitchFamily="34" charset="0"/>
                          <a:ea typeface="Segoe UI" panose="020B0502040204020203" pitchFamily="34" charset="0"/>
                          <a:cs typeface="Segoe UI" panose="020B0502040204020203" pitchFamily="34" charset="0"/>
                        </a:rPr>
                        <a:t>Times of default</a:t>
                      </a:r>
                      <a:endParaRPr lang="zh-CN" altLang="en-US" b="1" baseline="0" dirty="0">
                        <a:solidFill>
                          <a:schemeClr val="bg1"/>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tc>
                  <a:txBody>
                    <a:bodyPr/>
                    <a:lstStyle/>
                    <a:p>
                      <a:pPr algn="ctr"/>
                      <a:r>
                        <a:rPr lang="en-US" altLang="zh-CN" b="1" baseline="0" dirty="0">
                          <a:solidFill>
                            <a:schemeClr val="bg1"/>
                          </a:solidFill>
                          <a:latin typeface="Segoe UI" panose="020B0502040204020203" pitchFamily="34" charset="0"/>
                          <a:ea typeface="Segoe UI" panose="020B0502040204020203" pitchFamily="34" charset="0"/>
                          <a:cs typeface="Segoe UI" panose="020B0502040204020203" pitchFamily="34" charset="0"/>
                        </a:rPr>
                        <a:t>Loss</a:t>
                      </a:r>
                      <a:endParaRPr lang="zh-CN" altLang="en-US" b="1" baseline="0" dirty="0">
                        <a:solidFill>
                          <a:schemeClr val="bg1"/>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tc>
                  <a:txBody>
                    <a:bodyPr/>
                    <a:lstStyle/>
                    <a:p>
                      <a:pPr algn="ctr"/>
                      <a:r>
                        <a:rPr lang="en-US" altLang="zh-CN" b="1" baseline="0" dirty="0">
                          <a:solidFill>
                            <a:schemeClr val="bg1"/>
                          </a:solidFill>
                          <a:latin typeface="Segoe UI" panose="020B0502040204020203" pitchFamily="34" charset="0"/>
                          <a:ea typeface="Segoe UI" panose="020B0502040204020203" pitchFamily="34" charset="0"/>
                          <a:cs typeface="Segoe UI" panose="020B0502040204020203" pitchFamily="34" charset="0"/>
                        </a:rPr>
                        <a:t>Probability</a:t>
                      </a:r>
                      <a:endParaRPr lang="zh-CN" altLang="en-US" b="1" baseline="0" dirty="0">
                        <a:solidFill>
                          <a:schemeClr val="bg1"/>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C3E50"/>
                    </a:solidFill>
                  </a:tcPr>
                </a:tc>
                <a:extLst>
                  <a:ext uri="{0D108BD9-81ED-4DB2-BD59-A6C34878D82A}">
                    <a16:rowId xmlns:a16="http://schemas.microsoft.com/office/drawing/2014/main" val="10000"/>
                  </a:ext>
                </a:extLst>
              </a:tr>
              <a:tr h="504000">
                <a:tc>
                  <a:txBody>
                    <a:bodyPr/>
                    <a:lstStyle/>
                    <a:p>
                      <a:pPr algn="ctr"/>
                      <a:r>
                        <a:rPr lang="en-US" altLang="zh-CN"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endParaRPr lang="zh-CN" altLang="en-US" baseline="0" dirty="0">
                        <a:solidFill>
                          <a:srgbClr val="2C3E50"/>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endParaRPr lang="zh-CN" altLang="en-US" baseline="0" dirty="0">
                        <a:solidFill>
                          <a:srgbClr val="2C3E50"/>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aseline="0" dirty="0">
                        <a:solidFill>
                          <a:srgbClr val="2C3E50"/>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04000">
                <a:tc>
                  <a:txBody>
                    <a:bodyPr/>
                    <a:lstStyle/>
                    <a:p>
                      <a:pPr algn="ctr"/>
                      <a:r>
                        <a:rPr lang="en-US" altLang="zh-CN"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1</a:t>
                      </a:r>
                      <a:endParaRPr lang="zh-CN" altLang="en-US" baseline="0" dirty="0">
                        <a:solidFill>
                          <a:srgbClr val="2C3E50"/>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100,000</a:t>
                      </a:r>
                      <a:endParaRPr lang="zh-CN" altLang="en-US" baseline="0" dirty="0">
                        <a:solidFill>
                          <a:srgbClr val="2C3E50"/>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aseline="0" dirty="0">
                        <a:solidFill>
                          <a:srgbClr val="2C3E50"/>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04000">
                <a:tc>
                  <a:txBody>
                    <a:bodyPr/>
                    <a:lstStyle/>
                    <a:p>
                      <a:pPr algn="ctr"/>
                      <a:r>
                        <a:rPr lang="en-US" altLang="zh-CN"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2</a:t>
                      </a:r>
                      <a:endParaRPr lang="zh-CN" altLang="en-US" baseline="0" dirty="0">
                        <a:solidFill>
                          <a:srgbClr val="2C3E50"/>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200,000</a:t>
                      </a:r>
                      <a:endParaRPr lang="zh-CN" altLang="en-US" baseline="0" dirty="0">
                        <a:solidFill>
                          <a:srgbClr val="2C3E50"/>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aseline="0" dirty="0">
                        <a:solidFill>
                          <a:srgbClr val="2C3E50"/>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04000">
                <a:tc>
                  <a:txBody>
                    <a:bodyPr/>
                    <a:lstStyle/>
                    <a:p>
                      <a:pPr algn="ctr"/>
                      <a:r>
                        <a:rPr lang="en-US" altLang="zh-CN"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3</a:t>
                      </a:r>
                      <a:endParaRPr lang="zh-CN" altLang="en-US" baseline="0" dirty="0">
                        <a:solidFill>
                          <a:srgbClr val="2C3E50"/>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300,000</a:t>
                      </a:r>
                      <a:endParaRPr lang="zh-CN" altLang="en-US" baseline="0" dirty="0">
                        <a:solidFill>
                          <a:srgbClr val="2C3E50"/>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zh-CN" altLang="en-US" baseline="0" dirty="0">
                        <a:solidFill>
                          <a:srgbClr val="2C3E50"/>
                        </a:solidFill>
                        <a:latin typeface="Segoe UI" panose="020B0502040204020203" pitchFamily="34" charset="0"/>
                        <a:ea typeface="宋体" panose="02010600030101010101" pitchFamily="2" charset="-122"/>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250B12C-1204-46E0-9BD0-1014FE8325DF}"/>
                  </a:ext>
                </a:extLst>
              </p:cNvPr>
              <p:cNvSpPr/>
              <p:nvPr/>
            </p:nvSpPr>
            <p:spPr>
              <a:xfrm>
                <a:off x="7344139" y="4387334"/>
                <a:ext cx="21747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a:latin typeface="Cambria Math" panose="02040503050406030204" pitchFamily="18" charset="0"/>
                                </a:rPr>
                                <m:t>99.5</m:t>
                              </m:r>
                              <m:r>
                                <a:rPr lang="zh-CN" altLang="en-US" i="0">
                                  <a:latin typeface="Cambria Math" panose="02040503050406030204" pitchFamily="18" charset="0"/>
                                </a:rPr>
                                <m:t>%</m:t>
                              </m:r>
                            </m:e>
                          </m:d>
                        </m:e>
                        <m:sup>
                          <m:r>
                            <a:rPr lang="zh-CN" altLang="en-US" i="0">
                              <a:latin typeface="Cambria Math" panose="02040503050406030204" pitchFamily="18" charset="0"/>
                            </a:rPr>
                            <m:t>3</m:t>
                          </m:r>
                        </m:sup>
                      </m:sSup>
                      <m:r>
                        <a:rPr lang="zh-CN" altLang="en-US" i="0">
                          <a:latin typeface="Cambria Math" panose="02040503050406030204" pitchFamily="18" charset="0"/>
                        </a:rPr>
                        <m:t>=0.9851</m:t>
                      </m:r>
                    </m:oMath>
                  </m:oMathPara>
                </a14:m>
                <a:endParaRPr lang="zh-CN" altLang="en-US" dirty="0"/>
              </a:p>
            </p:txBody>
          </p:sp>
        </mc:Choice>
        <mc:Fallback xmlns="">
          <p:sp>
            <p:nvSpPr>
              <p:cNvPr id="5" name="矩形 4">
                <a:extLst>
                  <a:ext uri="{FF2B5EF4-FFF2-40B4-BE49-F238E27FC236}">
                    <a16:creationId xmlns:a16="http://schemas.microsoft.com/office/drawing/2014/main" id="{B250B12C-1204-46E0-9BD0-1014FE8325DF}"/>
                  </a:ext>
                </a:extLst>
              </p:cNvPr>
              <p:cNvSpPr>
                <a:spLocks noRot="1" noChangeAspect="1" noMove="1" noResize="1" noEditPoints="1" noAdjustHandles="1" noChangeArrowheads="1" noChangeShapeType="1" noTextEdit="1"/>
              </p:cNvSpPr>
              <p:nvPr/>
            </p:nvSpPr>
            <p:spPr>
              <a:xfrm>
                <a:off x="7344139" y="4387334"/>
                <a:ext cx="2174762" cy="369332"/>
              </a:xfrm>
              <a:prstGeom prst="rect">
                <a:avLst/>
              </a:prstGeom>
              <a:blipFill>
                <a:blip r:embed="rId3"/>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B167C73-D1D6-495E-AAB3-09B1B5AF7003}"/>
                  </a:ext>
                </a:extLst>
              </p:cNvPr>
              <p:cNvSpPr/>
              <p:nvPr/>
            </p:nvSpPr>
            <p:spPr>
              <a:xfrm>
                <a:off x="6866188" y="4862422"/>
                <a:ext cx="3130664" cy="3738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𝐶</m:t>
                          </m:r>
                        </m:e>
                        <m:sub>
                          <m:r>
                            <a:rPr lang="zh-CN" altLang="en-US" i="0">
                              <a:latin typeface="Cambria Math" panose="02040503050406030204" pitchFamily="18" charset="0"/>
                            </a:rPr>
                            <m:t>3</m:t>
                          </m:r>
                        </m:sub>
                        <m:sup>
                          <m:r>
                            <a:rPr lang="zh-CN" altLang="en-US" i="0">
                              <a:latin typeface="Cambria Math" panose="02040503050406030204" pitchFamily="18" charset="0"/>
                            </a:rPr>
                            <m:t>1</m:t>
                          </m:r>
                        </m:sup>
                      </m:sSubSup>
                      <m:r>
                        <a:rPr lang="zh-CN" altLang="en-US" i="0">
                          <a:latin typeface="Cambria Math" panose="02040503050406030204" pitchFamily="18" charset="0"/>
                        </a:rPr>
                        <m:t>(0.5%)</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0">
                                  <a:latin typeface="Cambria Math" panose="02040503050406030204" pitchFamily="18" charset="0"/>
                                </a:rPr>
                                <m:t>99.5%</m:t>
                              </m:r>
                            </m:e>
                          </m:d>
                        </m:e>
                        <m:sup>
                          <m:r>
                            <a:rPr lang="zh-CN" altLang="en-US" i="0">
                              <a:latin typeface="Cambria Math" panose="02040503050406030204" pitchFamily="18" charset="0"/>
                            </a:rPr>
                            <m:t>2</m:t>
                          </m:r>
                        </m:sup>
                      </m:sSup>
                      <m:r>
                        <a:rPr lang="zh-CN" altLang="en-US" i="0">
                          <a:latin typeface="Cambria Math" panose="02040503050406030204" pitchFamily="18" charset="0"/>
                        </a:rPr>
                        <m:t>=0.0149</m:t>
                      </m:r>
                    </m:oMath>
                  </m:oMathPara>
                </a14:m>
                <a:endParaRPr lang="zh-CN" altLang="en-US" dirty="0"/>
              </a:p>
            </p:txBody>
          </p:sp>
        </mc:Choice>
        <mc:Fallback xmlns="">
          <p:sp>
            <p:nvSpPr>
              <p:cNvPr id="6" name="矩形 5">
                <a:extLst>
                  <a:ext uri="{FF2B5EF4-FFF2-40B4-BE49-F238E27FC236}">
                    <a16:creationId xmlns:a16="http://schemas.microsoft.com/office/drawing/2014/main" id="{3B167C73-D1D6-495E-AAB3-09B1B5AF7003}"/>
                  </a:ext>
                </a:extLst>
              </p:cNvPr>
              <p:cNvSpPr>
                <a:spLocks noRot="1" noChangeAspect="1" noMove="1" noResize="1" noEditPoints="1" noAdjustHandles="1" noChangeArrowheads="1" noChangeShapeType="1" noTextEdit="1"/>
              </p:cNvSpPr>
              <p:nvPr/>
            </p:nvSpPr>
            <p:spPr>
              <a:xfrm>
                <a:off x="6866188" y="4862422"/>
                <a:ext cx="3130664" cy="373885"/>
              </a:xfrm>
              <a:prstGeom prst="rect">
                <a:avLst/>
              </a:prstGeom>
              <a:blipFill>
                <a:blip r:embed="rId4"/>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14B2D830-2C94-4423-A3FD-FE61BEB1ADBA}"/>
                  </a:ext>
                </a:extLst>
              </p:cNvPr>
              <p:cNvSpPr/>
              <p:nvPr/>
            </p:nvSpPr>
            <p:spPr>
              <a:xfrm>
                <a:off x="6861250" y="5372740"/>
                <a:ext cx="3135602" cy="3744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𝐶</m:t>
                          </m:r>
                        </m:e>
                        <m:sub>
                          <m:r>
                            <a:rPr lang="zh-CN" altLang="en-US" i="0">
                              <a:latin typeface="Cambria Math" panose="02040503050406030204" pitchFamily="18" charset="0"/>
                            </a:rPr>
                            <m:t>3</m:t>
                          </m:r>
                        </m:sub>
                        <m:sup>
                          <m:r>
                            <a:rPr lang="zh-CN" altLang="en-US" i="0">
                              <a:latin typeface="Cambria Math" panose="02040503050406030204" pitchFamily="18" charset="0"/>
                            </a:rPr>
                            <m:t>2</m:t>
                          </m:r>
                        </m:sup>
                      </m:sSubSup>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0">
                                  <a:latin typeface="Cambria Math" panose="02040503050406030204" pitchFamily="18" charset="0"/>
                                </a:rPr>
                                <m:t>0.5%</m:t>
                              </m:r>
                            </m:e>
                          </m:d>
                        </m:e>
                        <m:sup>
                          <m:r>
                            <a:rPr lang="zh-CN" altLang="en-US" i="0">
                              <a:latin typeface="Cambria Math" panose="02040503050406030204" pitchFamily="18" charset="0"/>
                            </a:rPr>
                            <m:t>2</m:t>
                          </m:r>
                        </m:sup>
                      </m:sSup>
                      <m:r>
                        <a:rPr lang="zh-CN" altLang="en-US" i="0">
                          <a:latin typeface="Cambria Math" panose="02040503050406030204" pitchFamily="18" charset="0"/>
                        </a:rPr>
                        <m:t>(99.5%)=0.0001</m:t>
                      </m:r>
                    </m:oMath>
                  </m:oMathPara>
                </a14:m>
                <a:endParaRPr lang="zh-CN" altLang="en-US" dirty="0"/>
              </a:p>
            </p:txBody>
          </p:sp>
        </mc:Choice>
        <mc:Fallback xmlns="">
          <p:sp>
            <p:nvSpPr>
              <p:cNvPr id="7" name="矩形 6">
                <a:extLst>
                  <a:ext uri="{FF2B5EF4-FFF2-40B4-BE49-F238E27FC236}">
                    <a16:creationId xmlns:a16="http://schemas.microsoft.com/office/drawing/2014/main" id="{14B2D830-2C94-4423-A3FD-FE61BEB1ADBA}"/>
                  </a:ext>
                </a:extLst>
              </p:cNvPr>
              <p:cNvSpPr>
                <a:spLocks noRot="1" noChangeAspect="1" noMove="1" noResize="1" noEditPoints="1" noAdjustHandles="1" noChangeArrowheads="1" noChangeShapeType="1" noTextEdit="1"/>
              </p:cNvSpPr>
              <p:nvPr/>
            </p:nvSpPr>
            <p:spPr>
              <a:xfrm>
                <a:off x="6861250" y="5372740"/>
                <a:ext cx="3135602" cy="374461"/>
              </a:xfrm>
              <a:prstGeom prst="rect">
                <a:avLst/>
              </a:prstGeom>
              <a:blipFill>
                <a:blip r:embed="rId5"/>
                <a:stretch>
                  <a:fillRect b="-145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BA64C353-9C73-4DBF-B3DD-A419F43FC491}"/>
                  </a:ext>
                </a:extLst>
              </p:cNvPr>
              <p:cNvSpPr/>
              <p:nvPr/>
            </p:nvSpPr>
            <p:spPr>
              <a:xfrm>
                <a:off x="7688784" y="5890954"/>
                <a:ext cx="14854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a:latin typeface="Cambria Math" panose="02040503050406030204" pitchFamily="18" charset="0"/>
                                </a:rPr>
                                <m:t>0.5</m:t>
                              </m:r>
                              <m:r>
                                <a:rPr lang="zh-CN" altLang="en-US" i="0">
                                  <a:latin typeface="Cambria Math" panose="02040503050406030204" pitchFamily="18" charset="0"/>
                                </a:rPr>
                                <m:t>%</m:t>
                              </m:r>
                            </m:e>
                          </m:d>
                        </m:e>
                        <m:sup>
                          <m:r>
                            <a:rPr lang="zh-CN" altLang="en-US" i="0">
                              <a:latin typeface="Cambria Math" panose="02040503050406030204" pitchFamily="18" charset="0"/>
                            </a:rPr>
                            <m:t>3</m:t>
                          </m:r>
                        </m:sup>
                      </m:sSup>
                      <m:r>
                        <a:rPr lang="zh-CN" altLang="en-US" i="0">
                          <a:latin typeface="Cambria Math" panose="02040503050406030204" pitchFamily="18" charset="0"/>
                        </a:rPr>
                        <m:t>=0</m:t>
                      </m:r>
                    </m:oMath>
                  </m:oMathPara>
                </a14:m>
                <a:endParaRPr lang="zh-CN" altLang="en-US" dirty="0"/>
              </a:p>
            </p:txBody>
          </p:sp>
        </mc:Choice>
        <mc:Fallback xmlns="">
          <p:sp>
            <p:nvSpPr>
              <p:cNvPr id="8" name="矩形 7">
                <a:extLst>
                  <a:ext uri="{FF2B5EF4-FFF2-40B4-BE49-F238E27FC236}">
                    <a16:creationId xmlns:a16="http://schemas.microsoft.com/office/drawing/2014/main" id="{BA64C353-9C73-4DBF-B3DD-A419F43FC491}"/>
                  </a:ext>
                </a:extLst>
              </p:cNvPr>
              <p:cNvSpPr>
                <a:spLocks noRot="1" noChangeAspect="1" noMove="1" noResize="1" noEditPoints="1" noAdjustHandles="1" noChangeArrowheads="1" noChangeShapeType="1" noTextEdit="1"/>
              </p:cNvSpPr>
              <p:nvPr/>
            </p:nvSpPr>
            <p:spPr>
              <a:xfrm>
                <a:off x="7688784" y="5890954"/>
                <a:ext cx="1485471" cy="369332"/>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5172456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a:bodyPr>
          <a:lstStyle/>
          <a:p>
            <a:pPr lvl="1"/>
            <a:r>
              <a:rPr lang="en-US" altLang="zh-CN" dirty="0"/>
              <a:t>If an expected return is other than zero:</a:t>
            </a:r>
          </a:p>
          <a:p>
            <a:pPr lvl="1"/>
            <a:endParaRPr lang="en-US" altLang="zh-CN" dirty="0"/>
          </a:p>
          <a:p>
            <a:pPr lvl="1"/>
            <a:endParaRPr lang="en-US" altLang="zh-CN" dirty="0"/>
          </a:p>
          <a:p>
            <a:pPr lvl="1"/>
            <a:r>
              <a:rPr lang="en-US" altLang="zh-CN" b="1" dirty="0"/>
              <a:t>Example:</a:t>
            </a:r>
            <a:r>
              <a:rPr lang="en-US" altLang="zh-CN" dirty="0"/>
              <a:t> Calculating </a:t>
            </a:r>
            <a:r>
              <a:rPr lang="en-US" altLang="zh-CN" dirty="0" err="1"/>
              <a:t>VaR</a:t>
            </a:r>
            <a:r>
              <a:rPr lang="en-US" altLang="zh-CN" dirty="0"/>
              <a:t> given an expected return for a $100,000,000 portfolio, the expected 1-week portfolio return and standard deviation are 0.00188 and 0.0125, respectively. Calculate the 1-week </a:t>
            </a:r>
            <a:r>
              <a:rPr lang="en-US" altLang="zh-CN" dirty="0" err="1"/>
              <a:t>VaR</a:t>
            </a:r>
            <a:r>
              <a:rPr lang="en-US" altLang="zh-CN" dirty="0"/>
              <a:t> at 5% significance level.</a:t>
            </a:r>
          </a:p>
          <a:p>
            <a:pPr lvl="1"/>
            <a:endParaRPr lang="zh-CN" altLang="en-US" dirty="0"/>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C0486A7-CA13-4D16-A7E0-B1C6C4A7C091}"/>
                  </a:ext>
                </a:extLst>
              </p:cNvPr>
              <p:cNvSpPr/>
              <p:nvPr/>
            </p:nvSpPr>
            <p:spPr>
              <a:xfrm>
                <a:off x="4481230" y="1802395"/>
                <a:ext cx="3229538" cy="369332"/>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𝑉𝑎𝑅</m:t>
                      </m:r>
                      <m:d>
                        <m:dPr>
                          <m:ctrlPr>
                            <a:rPr lang="zh-CN" altLang="en-US" i="1">
                              <a:latin typeface="Cambria Math" panose="02040503050406030204" pitchFamily="18" charset="0"/>
                            </a:rPr>
                          </m:ctrlPr>
                        </m:dPr>
                        <m:e>
                          <m:r>
                            <a:rPr lang="zh-CN" altLang="en-US" i="1">
                              <a:latin typeface="Cambria Math" panose="02040503050406030204" pitchFamily="18" charset="0"/>
                            </a:rPr>
                            <m:t>𝑋</m:t>
                          </m:r>
                          <m:r>
                            <a:rPr lang="zh-CN" altLang="en-US" i="0">
                              <a:latin typeface="Cambria Math" panose="02040503050406030204" pitchFamily="18" charset="0"/>
                            </a:rPr>
                            <m:t>%</m:t>
                          </m:r>
                        </m:e>
                      </m:d>
                      <m:r>
                        <a:rPr lang="zh-CN" altLang="en-US" i="0">
                          <a:latin typeface="Cambria Math" panose="02040503050406030204" pitchFamily="18" charset="0"/>
                        </a:rPr>
                        <m:t>=|</m:t>
                      </m:r>
                      <m:r>
                        <a:rPr lang="zh-CN" altLang="en-US" i="1">
                          <a:latin typeface="Cambria Math" panose="02040503050406030204" pitchFamily="18" charset="0"/>
                        </a:rPr>
                        <m:t>𝐸</m:t>
                      </m:r>
                      <m:d>
                        <m:dPr>
                          <m:ctrlPr>
                            <a:rPr lang="zh-CN" altLang="en-US" i="1">
                              <a:latin typeface="Cambria Math" panose="02040503050406030204" pitchFamily="18" charset="0"/>
                            </a:rPr>
                          </m:ctrlPr>
                        </m:dPr>
                        <m:e>
                          <m:r>
                            <a:rPr lang="zh-CN" altLang="en-US" i="1">
                              <a:latin typeface="Cambria Math" panose="02040503050406030204" pitchFamily="18" charset="0"/>
                            </a:rPr>
                            <m:t>𝑅</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𝑧</m:t>
                          </m:r>
                        </m:e>
                        <m:sub>
                          <m:r>
                            <a:rPr lang="zh-CN" altLang="en-US" i="1">
                              <a:latin typeface="Cambria Math" panose="02040503050406030204" pitchFamily="18" charset="0"/>
                            </a:rPr>
                            <m:t>𝑋</m:t>
                          </m:r>
                          <m:r>
                            <a:rPr lang="zh-CN" altLang="en-US" i="0">
                              <a:latin typeface="Cambria Math" panose="02040503050406030204" pitchFamily="18" charset="0"/>
                            </a:rPr>
                            <m:t>%</m:t>
                          </m:r>
                        </m:sub>
                      </m:sSub>
                      <m:r>
                        <a:rPr lang="zh-CN" altLang="en-US" i="0">
                          <a:latin typeface="Cambria Math" panose="02040503050406030204" pitchFamily="18" charset="0"/>
                        </a:rPr>
                        <m:t>×</m:t>
                      </m:r>
                      <m:r>
                        <a:rPr lang="zh-CN" altLang="en-US" i="1">
                          <a:latin typeface="Cambria Math" panose="02040503050406030204" pitchFamily="18" charset="0"/>
                        </a:rPr>
                        <m:t>𝜎</m:t>
                      </m:r>
                      <m:r>
                        <a:rPr lang="zh-CN" altLang="en-US" i="0">
                          <a:latin typeface="Cambria Math" panose="02040503050406030204" pitchFamily="18" charset="0"/>
                        </a:rPr>
                        <m:t>|</m:t>
                      </m:r>
                    </m:oMath>
                  </m:oMathPara>
                </a14:m>
                <a:endParaRPr lang="zh-CN" altLang="en-US" dirty="0"/>
              </a:p>
            </p:txBody>
          </p:sp>
        </mc:Choice>
        <mc:Fallback xmlns="">
          <p:sp>
            <p:nvSpPr>
              <p:cNvPr id="4" name="矩形 3">
                <a:extLst>
                  <a:ext uri="{FF2B5EF4-FFF2-40B4-BE49-F238E27FC236}">
                    <a16:creationId xmlns:a16="http://schemas.microsoft.com/office/drawing/2014/main" id="{2C0486A7-CA13-4D16-A7E0-B1C6C4A7C091}"/>
                  </a:ext>
                </a:extLst>
              </p:cNvPr>
              <p:cNvSpPr>
                <a:spLocks noRot="1" noChangeAspect="1" noMove="1" noResize="1" noEditPoints="1" noAdjustHandles="1" noChangeArrowheads="1" noChangeShapeType="1" noTextEdit="1"/>
              </p:cNvSpPr>
              <p:nvPr/>
            </p:nvSpPr>
            <p:spPr>
              <a:xfrm>
                <a:off x="4481230" y="1802395"/>
                <a:ext cx="3229538" cy="369332"/>
              </a:xfrm>
              <a:prstGeom prst="rect">
                <a:avLst/>
              </a:prstGeom>
              <a:blipFill>
                <a:blip r:embed="rId3"/>
                <a:stretch>
                  <a:fillRect b="-12903"/>
                </a:stretch>
              </a:blipFill>
              <a:ln>
                <a:solidFill>
                  <a:schemeClr val="accent1">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DA3CCDA3-AC88-4975-965C-4D481A95A891}"/>
                  </a:ext>
                </a:extLst>
              </p:cNvPr>
              <p:cNvSpPr/>
              <p:nvPr/>
            </p:nvSpPr>
            <p:spPr>
              <a:xfrm>
                <a:off x="3619198" y="5128831"/>
                <a:ext cx="5911663" cy="91570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m>
                        <m:mPr>
                          <m:plcHide m:val="on"/>
                          <m:mcs>
                            <m:mc>
                              <m:mcPr>
                                <m:count m:val="1"/>
                                <m:mcJc m:val="center"/>
                              </m:mcPr>
                            </m:mc>
                          </m:mcs>
                          <m:ctrlPr>
                            <a:rPr lang="zh-CN" altLang="en-US" i="1" smtClean="0">
                              <a:latin typeface="Cambria Math" panose="02040503050406030204" pitchFamily="18" charset="0"/>
                            </a:rPr>
                          </m:ctrlPr>
                        </m:mPr>
                        <m:mr>
                          <m:e>
                            <m:r>
                              <a:rPr lang="zh-CN" altLang="en-US" i="1">
                                <a:latin typeface="Cambria Math" panose="02040503050406030204" pitchFamily="18" charset="0"/>
                              </a:rPr>
                              <m:t>𝑉𝑎𝑅</m:t>
                            </m:r>
                            <m:r>
                              <a:rPr lang="zh-CN" altLang="en-US" i="0">
                                <a:latin typeface="Cambria Math" panose="02040503050406030204" pitchFamily="18" charset="0"/>
                              </a:rPr>
                              <m:t>=|</m:t>
                            </m:r>
                            <m:r>
                              <a:rPr lang="zh-CN" altLang="en-US" i="1">
                                <a:latin typeface="Cambria Math" panose="02040503050406030204" pitchFamily="18" charset="0"/>
                              </a:rPr>
                              <m:t>𝐸</m:t>
                            </m:r>
                            <m:d>
                              <m:dPr>
                                <m:ctrlPr>
                                  <a:rPr lang="zh-CN" altLang="en-US" i="1">
                                    <a:latin typeface="Cambria Math" panose="02040503050406030204" pitchFamily="18" charset="0"/>
                                  </a:rPr>
                                </m:ctrlPr>
                              </m:dPr>
                              <m:e>
                                <m:r>
                                  <a:rPr lang="zh-CN" altLang="en-US" i="1">
                                    <a:latin typeface="Cambria Math" panose="02040503050406030204" pitchFamily="18" charset="0"/>
                                  </a:rPr>
                                  <m:t>𝑅</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𝑧</m:t>
                                </m:r>
                              </m:e>
                              <m:sub>
                                <m:r>
                                  <a:rPr lang="zh-CN" altLang="en-US" i="1">
                                    <a:latin typeface="Cambria Math" panose="02040503050406030204" pitchFamily="18" charset="0"/>
                                  </a:rPr>
                                  <m:t>𝑋</m:t>
                                </m:r>
                                <m:r>
                                  <a:rPr lang="zh-CN" altLang="en-US" i="0">
                                    <a:latin typeface="Cambria Math" panose="02040503050406030204" pitchFamily="18" charset="0"/>
                                  </a:rPr>
                                  <m:t>%</m:t>
                                </m:r>
                              </m:sub>
                            </m:sSub>
                            <m:r>
                              <a:rPr lang="zh-CN" altLang="en-US" i="0">
                                <a:latin typeface="Cambria Math" panose="02040503050406030204" pitchFamily="18" charset="0"/>
                              </a:rPr>
                              <m:t>×</m:t>
                            </m:r>
                            <m:r>
                              <a:rPr lang="zh-CN" altLang="en-US" i="1">
                                <a:latin typeface="Cambria Math" panose="02040503050406030204" pitchFamily="18" charset="0"/>
                              </a:rPr>
                              <m:t>𝜎</m:t>
                            </m:r>
                            <m:r>
                              <a:rPr lang="zh-CN" altLang="en-US" i="0">
                                <a:latin typeface="Cambria Math" panose="02040503050406030204" pitchFamily="18" charset="0"/>
                              </a:rPr>
                              <m:t>|×</m:t>
                            </m:r>
                            <m:r>
                              <a:rPr lang="zh-CN" altLang="en-US" i="1">
                                <a:latin typeface="Cambria Math" panose="02040503050406030204" pitchFamily="18" charset="0"/>
                              </a:rPr>
                              <m:t>𝑝𝑜𝑟𝑡𝑓𝑜𝑙𝑖𝑜</m:t>
                            </m:r>
                            <m:r>
                              <m:rPr>
                                <m:nor/>
                              </m:rPr>
                              <a:rPr lang="zh-CN" altLang="en-US" i="1">
                                <a:latin typeface="Cambria Math" panose="02040503050406030204" pitchFamily="18" charset="0"/>
                              </a:rPr>
                              <m:t> </m:t>
                            </m:r>
                            <m:r>
                              <a:rPr lang="zh-CN" altLang="en-US" i="1">
                                <a:latin typeface="Cambria Math" panose="02040503050406030204" pitchFamily="18" charset="0"/>
                              </a:rPr>
                              <m:t>𝑣𝑎𝑙𝑢𝑒</m:t>
                            </m:r>
                          </m:e>
                        </m:mr>
                        <m:mr>
                          <m:e>
                            <m:r>
                              <m:rPr>
                                <m:nor/>
                              </m:rPr>
                              <a:rPr lang="zh-CN" altLang="en-US" i="1">
                                <a:latin typeface="Cambria Math" panose="02040503050406030204" pitchFamily="18" charset="0"/>
                              </a:rPr>
                              <m:t>     </m:t>
                            </m:r>
                            <m:r>
                              <m:rPr>
                                <m:nor/>
                              </m:rPr>
                              <a:rPr lang="en-US" altLang="zh-CN" b="0" i="1" smtClean="0">
                                <a:latin typeface="Cambria Math" panose="02040503050406030204" pitchFamily="18" charset="0"/>
                              </a:rPr>
                              <m:t>               </m:t>
                            </m:r>
                            <m:r>
                              <a:rPr lang="zh-CN" altLang="en-US" i="0">
                                <a:latin typeface="Cambria Math" panose="02040503050406030204" pitchFamily="18" charset="0"/>
                              </a:rPr>
                              <m:t>=|0.00188−1.65×0.0125|×100,000,000</m:t>
                            </m:r>
                          </m:e>
                        </m:mr>
                        <m:mr>
                          <m:e>
                            <m:r>
                              <a:rPr lang="zh-CN" altLang="en-US" i="0">
                                <a:latin typeface="Cambria Math" panose="02040503050406030204" pitchFamily="18" charset="0"/>
                              </a:rPr>
                              <m:t>=$1,874,500</m:t>
                            </m:r>
                          </m:e>
                        </m:mr>
                      </m:m>
                    </m:oMath>
                  </m:oMathPara>
                </a14:m>
                <a:endParaRPr lang="zh-CN" altLang="en-US" dirty="0"/>
              </a:p>
            </p:txBody>
          </p:sp>
        </mc:Choice>
        <mc:Fallback xmlns="">
          <p:sp>
            <p:nvSpPr>
              <p:cNvPr id="5" name="矩形 4">
                <a:extLst>
                  <a:ext uri="{FF2B5EF4-FFF2-40B4-BE49-F238E27FC236}">
                    <a16:creationId xmlns:a16="http://schemas.microsoft.com/office/drawing/2014/main" id="{DA3CCDA3-AC88-4975-965C-4D481A95A891}"/>
                  </a:ext>
                </a:extLst>
              </p:cNvPr>
              <p:cNvSpPr>
                <a:spLocks noRot="1" noChangeAspect="1" noMove="1" noResize="1" noEditPoints="1" noAdjustHandles="1" noChangeArrowheads="1" noChangeShapeType="1" noTextEdit="1"/>
              </p:cNvSpPr>
              <p:nvPr/>
            </p:nvSpPr>
            <p:spPr>
              <a:xfrm>
                <a:off x="3619198" y="5128831"/>
                <a:ext cx="5911663" cy="915700"/>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7382570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a:bodyPr>
          <a:lstStyle/>
          <a:p>
            <a:r>
              <a:rPr lang="en-US" altLang="zh-CN" dirty="0"/>
              <a:t>Square Root Rule</a:t>
            </a:r>
          </a:p>
          <a:p>
            <a:pPr lvl="1"/>
            <a:r>
              <a:rPr lang="en-US" altLang="zh-CN" dirty="0"/>
              <a:t>If fluctuations in a stochastic process from one period to the next are independent (i.e., there are </a:t>
            </a:r>
            <a:r>
              <a:rPr lang="en-US" altLang="zh-CN" u="sng" dirty="0"/>
              <a:t>no serial correlations or other dependencies</a:t>
            </a:r>
            <a:r>
              <a:rPr lang="en-US" altLang="zh-CN" dirty="0"/>
              <a:t>), </a:t>
            </a:r>
            <a:r>
              <a:rPr lang="en-US" altLang="zh-CN" u="sng" dirty="0"/>
              <a:t>volatility increases with the square root of the unit of time.</a:t>
            </a:r>
          </a:p>
          <a:p>
            <a:pPr lvl="1"/>
            <a:endParaRPr lang="en-US" altLang="zh-CN" u="sng" dirty="0"/>
          </a:p>
          <a:p>
            <a:pPr lvl="1"/>
            <a:endParaRPr lang="en-US" altLang="zh-CN" u="sng" dirty="0"/>
          </a:p>
          <a:p>
            <a:pPr lvl="2"/>
            <a:r>
              <a:rPr lang="en-US" altLang="zh-CN" dirty="0"/>
              <a:t>With </a:t>
            </a:r>
            <a:r>
              <a:rPr lang="en-US" altLang="zh-CN" u="sng" dirty="0"/>
              <a:t>trends</a:t>
            </a:r>
            <a:r>
              <a:rPr lang="en-US" altLang="zh-CN" dirty="0"/>
              <a:t> </a:t>
            </a:r>
            <a:r>
              <a:rPr lang="zh-CN" altLang="en-US" dirty="0"/>
              <a:t>→ </a:t>
            </a:r>
            <a:r>
              <a:rPr lang="en-US" altLang="zh-CN" dirty="0"/>
              <a:t>positive correlation </a:t>
            </a:r>
            <a:r>
              <a:rPr lang="zh-CN" altLang="en-US" dirty="0"/>
              <a:t>→ </a:t>
            </a:r>
            <a:r>
              <a:rPr lang="en-US" altLang="zh-CN" dirty="0" err="1"/>
              <a:t>VaR</a:t>
            </a:r>
            <a:r>
              <a:rPr lang="en-US" altLang="zh-CN" dirty="0"/>
              <a:t> increase</a:t>
            </a:r>
          </a:p>
          <a:p>
            <a:pPr lvl="2"/>
            <a:r>
              <a:rPr lang="en-US" altLang="zh-CN" dirty="0"/>
              <a:t>With </a:t>
            </a:r>
            <a:r>
              <a:rPr lang="en-US" altLang="zh-CN" u="sng" dirty="0"/>
              <a:t>mean reversion</a:t>
            </a:r>
            <a:r>
              <a:rPr lang="en-US" altLang="zh-CN" dirty="0"/>
              <a:t> </a:t>
            </a:r>
            <a:r>
              <a:rPr lang="zh-CN" altLang="en-US" dirty="0"/>
              <a:t>→ </a:t>
            </a:r>
            <a:r>
              <a:rPr lang="en-US" altLang="zh-CN" dirty="0"/>
              <a:t>negative correlation </a:t>
            </a:r>
            <a:r>
              <a:rPr lang="zh-CN" altLang="en-US" dirty="0"/>
              <a:t>→ </a:t>
            </a:r>
            <a:r>
              <a:rPr lang="en-US" altLang="zh-CN" dirty="0" err="1"/>
              <a:t>VaR</a:t>
            </a:r>
            <a:r>
              <a:rPr lang="en-US" altLang="zh-CN" dirty="0"/>
              <a:t> decrease</a:t>
            </a:r>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271550D-3DC5-4601-A16B-2281B5F53029}"/>
                  </a:ext>
                </a:extLst>
              </p:cNvPr>
              <p:cNvSpPr/>
              <p:nvPr/>
            </p:nvSpPr>
            <p:spPr>
              <a:xfrm>
                <a:off x="3976869" y="3838363"/>
                <a:ext cx="5003549" cy="447367"/>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𝑉𝑎𝑅</m:t>
                      </m:r>
                      <m:sSub>
                        <m:sSubPr>
                          <m:ctrlPr>
                            <a:rPr lang="zh-CN" altLang="en-US" i="1">
                              <a:latin typeface="Cambria Math" panose="02040503050406030204" pitchFamily="18" charset="0"/>
                            </a:rPr>
                          </m:ctrlPr>
                        </m:sSubPr>
                        <m:e>
                          <m:d>
                            <m:dPr>
                              <m:ctrlPr>
                                <a:rPr lang="zh-CN" altLang="en-US" i="1">
                                  <a:latin typeface="Cambria Math" panose="02040503050406030204" pitchFamily="18" charset="0"/>
                                </a:rPr>
                              </m:ctrlPr>
                            </m:dPr>
                            <m:e>
                              <m:r>
                                <a:rPr lang="zh-CN" altLang="en-US" i="1">
                                  <a:latin typeface="Cambria Math" panose="02040503050406030204" pitchFamily="18" charset="0"/>
                                </a:rPr>
                                <m:t>𝑋</m:t>
                              </m:r>
                              <m:r>
                                <a:rPr lang="zh-CN" altLang="en-US" i="0">
                                  <a:latin typeface="Cambria Math" panose="02040503050406030204" pitchFamily="18" charset="0"/>
                                </a:rPr>
                                <m:t>%</m:t>
                              </m:r>
                            </m:e>
                          </m:d>
                        </m:e>
                        <m:sub>
                          <m:r>
                            <a:rPr lang="zh-CN" altLang="en-US" i="1">
                              <a:latin typeface="Cambria Math" panose="02040503050406030204" pitchFamily="18" charset="0"/>
                            </a:rPr>
                            <m:t>𝑡</m:t>
                          </m:r>
                          <m:r>
                            <a:rPr lang="zh-CN" altLang="en-US" i="0">
                              <a:latin typeface="Cambria Math" panose="02040503050406030204" pitchFamily="18" charset="0"/>
                            </a:rPr>
                            <m:t>−</m:t>
                          </m:r>
                          <m:r>
                            <a:rPr lang="zh-CN" altLang="en-US" i="1">
                              <a:latin typeface="Cambria Math" panose="02040503050406030204" pitchFamily="18" charset="0"/>
                            </a:rPr>
                            <m:t>𝑑𝑎𝑦𝑠</m:t>
                          </m:r>
                        </m:sub>
                      </m:sSub>
                      <m:r>
                        <a:rPr lang="zh-CN" altLang="en-US" i="0">
                          <a:latin typeface="Cambria Math" panose="02040503050406030204" pitchFamily="18" charset="0"/>
                        </a:rPr>
                        <m:t>=</m:t>
                      </m:r>
                      <m:r>
                        <a:rPr lang="zh-CN" altLang="en-US" i="1">
                          <a:latin typeface="Cambria Math" panose="02040503050406030204" pitchFamily="18" charset="0"/>
                        </a:rPr>
                        <m:t>𝑉𝑎𝑅</m:t>
                      </m:r>
                      <m:sSub>
                        <m:sSubPr>
                          <m:ctrlPr>
                            <a:rPr lang="zh-CN" altLang="en-US" i="1">
                              <a:latin typeface="Cambria Math" panose="02040503050406030204" pitchFamily="18" charset="0"/>
                            </a:rPr>
                          </m:ctrlPr>
                        </m:sSubPr>
                        <m:e>
                          <m:d>
                            <m:dPr>
                              <m:ctrlPr>
                                <a:rPr lang="zh-CN" altLang="en-US" i="1">
                                  <a:latin typeface="Cambria Math" panose="02040503050406030204" pitchFamily="18" charset="0"/>
                                </a:rPr>
                              </m:ctrlPr>
                            </m:dPr>
                            <m:e>
                              <m:r>
                                <a:rPr lang="zh-CN" altLang="en-US" i="1">
                                  <a:latin typeface="Cambria Math" panose="02040503050406030204" pitchFamily="18" charset="0"/>
                                </a:rPr>
                                <m:t>𝑋</m:t>
                              </m:r>
                              <m:r>
                                <a:rPr lang="zh-CN" altLang="en-US" i="0">
                                  <a:latin typeface="Cambria Math" panose="02040503050406030204" pitchFamily="18" charset="0"/>
                                </a:rPr>
                                <m:t>%</m:t>
                              </m:r>
                            </m:e>
                          </m:d>
                        </m:e>
                        <m:sub>
                          <m:r>
                            <a:rPr lang="zh-CN" altLang="en-US" i="0">
                              <a:latin typeface="Cambria Math" panose="02040503050406030204" pitchFamily="18" charset="0"/>
                            </a:rPr>
                            <m:t>1−</m:t>
                          </m:r>
                          <m:r>
                            <a:rPr lang="zh-CN" altLang="en-US" i="1">
                              <a:latin typeface="Cambria Math" panose="02040503050406030204" pitchFamily="18" charset="0"/>
                            </a:rPr>
                            <m:t>𝑑𝑎𝑦𝑠</m:t>
                          </m:r>
                        </m:sub>
                      </m:sSub>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d>
                            <m:dPr>
                              <m:begChr m:val=""/>
                              <m:ctrlPr>
                                <a:rPr lang="zh-CN" altLang="en-US" i="1">
                                  <a:latin typeface="Cambria Math" panose="02040503050406030204" pitchFamily="18" charset="0"/>
                                </a:rPr>
                              </m:ctrlPr>
                            </m:dPr>
                            <m:e>
                              <m:r>
                                <a:rPr lang="zh-CN" altLang="en-US" i="1">
                                  <a:latin typeface="Cambria Math" panose="02040503050406030204" pitchFamily="18" charset="0"/>
                                </a:rPr>
                                <m:t>𝑡</m:t>
                              </m:r>
                              <m:r>
                                <a:rPr lang="zh-CN" altLang="en-US" i="0">
                                  <a:latin typeface="Cambria Math" panose="02040503050406030204" pitchFamily="18" charset="0"/>
                                </a:rPr>
                                <m:t>(1+</m:t>
                              </m:r>
                              <m:r>
                                <a:rPr lang="zh-CN" altLang="en-US" i="1">
                                  <a:latin typeface="Cambria Math" panose="02040503050406030204" pitchFamily="18" charset="0"/>
                                </a:rPr>
                                <m:t>𝜌</m:t>
                              </m:r>
                            </m:e>
                          </m:d>
                        </m:e>
                      </m:rad>
                    </m:oMath>
                  </m:oMathPara>
                </a14:m>
                <a:endParaRPr lang="zh-CN" altLang="en-US" dirty="0"/>
              </a:p>
            </p:txBody>
          </p:sp>
        </mc:Choice>
        <mc:Fallback xmlns="">
          <p:sp>
            <p:nvSpPr>
              <p:cNvPr id="4" name="矩形 3">
                <a:extLst>
                  <a:ext uri="{FF2B5EF4-FFF2-40B4-BE49-F238E27FC236}">
                    <a16:creationId xmlns:a16="http://schemas.microsoft.com/office/drawing/2014/main" id="{2271550D-3DC5-4601-A16B-2281B5F53029}"/>
                  </a:ext>
                </a:extLst>
              </p:cNvPr>
              <p:cNvSpPr>
                <a:spLocks noRot="1" noChangeAspect="1" noMove="1" noResize="1" noEditPoints="1" noAdjustHandles="1" noChangeArrowheads="1" noChangeShapeType="1" noTextEdit="1"/>
              </p:cNvSpPr>
              <p:nvPr/>
            </p:nvSpPr>
            <p:spPr>
              <a:xfrm>
                <a:off x="3976869" y="3838363"/>
                <a:ext cx="5003549" cy="447367"/>
              </a:xfrm>
              <a:prstGeom prst="rect">
                <a:avLst/>
              </a:prstGeom>
              <a:blipFill>
                <a:blip r:embed="rId3"/>
                <a:stretch>
                  <a:fillRect t="-82667" r="-9478" b="-145333"/>
                </a:stretch>
              </a:blipFill>
              <a:ln>
                <a:solidFill>
                  <a:schemeClr val="accent1">
                    <a:lumMod val="75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328666948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fontScale="92500" lnSpcReduction="10000"/>
          </a:bodyPr>
          <a:lstStyle/>
          <a:p>
            <a:pPr>
              <a:lnSpc>
                <a:spcPct val="130000"/>
              </a:lnSpc>
            </a:pPr>
            <a:r>
              <a:rPr lang="en-US" altLang="zh-CN" dirty="0"/>
              <a:t>Conditional </a:t>
            </a:r>
            <a:r>
              <a:rPr lang="en-US" altLang="zh-CN" dirty="0" err="1"/>
              <a:t>VaR</a:t>
            </a:r>
            <a:endParaRPr lang="en-US" altLang="zh-CN" dirty="0"/>
          </a:p>
          <a:p>
            <a:pPr lvl="1">
              <a:lnSpc>
                <a:spcPct val="130000"/>
              </a:lnSpc>
            </a:pPr>
            <a:r>
              <a:rPr lang="en-US" altLang="zh-CN" dirty="0"/>
              <a:t>Also called </a:t>
            </a:r>
            <a:r>
              <a:rPr lang="en-US" altLang="zh-CN" b="1" dirty="0"/>
              <a:t>expected shortfall</a:t>
            </a:r>
            <a:r>
              <a:rPr lang="en-US" altLang="zh-CN" dirty="0"/>
              <a:t>, tail conditional expectation, conditional loss, expected tail loss. It is the </a:t>
            </a:r>
            <a:r>
              <a:rPr lang="en-US" altLang="zh-CN" u="sng" dirty="0"/>
              <a:t>average of the worst 100×(1-</a:t>
            </a:r>
            <a:r>
              <a:rPr lang="el-GR" altLang="zh-CN" u="sng" dirty="0"/>
              <a:t>α</a:t>
            </a:r>
            <a:r>
              <a:rPr lang="en-US" altLang="zh-CN" u="sng" dirty="0"/>
              <a:t>)% of losses</a:t>
            </a:r>
            <a:r>
              <a:rPr lang="en-US" altLang="zh-CN" dirty="0"/>
              <a:t>.</a:t>
            </a:r>
          </a:p>
          <a:p>
            <a:pPr lvl="1">
              <a:lnSpc>
                <a:spcPct val="130000"/>
              </a:lnSpc>
            </a:pPr>
            <a:endParaRPr lang="en-US" altLang="zh-CN" b="1" dirty="0"/>
          </a:p>
          <a:p>
            <a:pPr lvl="1">
              <a:lnSpc>
                <a:spcPct val="130000"/>
              </a:lnSpc>
            </a:pPr>
            <a:endParaRPr lang="en-US" altLang="zh-CN" b="1" dirty="0"/>
          </a:p>
          <a:p>
            <a:pPr lvl="1">
              <a:lnSpc>
                <a:spcPct val="130000"/>
              </a:lnSpc>
            </a:pPr>
            <a:endParaRPr lang="en-US" altLang="zh-CN" b="1" dirty="0"/>
          </a:p>
          <a:p>
            <a:pPr lvl="1">
              <a:lnSpc>
                <a:spcPct val="130000"/>
              </a:lnSpc>
            </a:pPr>
            <a:endParaRPr lang="en-US" altLang="zh-CN" b="1" dirty="0"/>
          </a:p>
          <a:p>
            <a:pPr lvl="1">
              <a:lnSpc>
                <a:spcPct val="130000"/>
              </a:lnSpc>
            </a:pPr>
            <a:endParaRPr lang="en-US" altLang="zh-CN" b="1" dirty="0"/>
          </a:p>
          <a:p>
            <a:pPr lvl="1">
              <a:lnSpc>
                <a:spcPct val="130000"/>
              </a:lnSpc>
            </a:pPr>
            <a:endParaRPr lang="en-US" altLang="zh-CN" b="1" dirty="0"/>
          </a:p>
          <a:p>
            <a:pPr lvl="1">
              <a:lnSpc>
                <a:spcPct val="130000"/>
              </a:lnSpc>
            </a:pPr>
            <a:r>
              <a:rPr lang="en-US" altLang="zh-CN" b="1" dirty="0"/>
              <a:t>Example: </a:t>
            </a:r>
            <a:r>
              <a:rPr lang="en-US" altLang="zh-CN" dirty="0"/>
              <a:t>Given the following 30 ordered percentage returns of an asset, calculate the </a:t>
            </a:r>
            <a:r>
              <a:rPr lang="en-US" altLang="zh-CN" dirty="0" err="1"/>
              <a:t>VaR</a:t>
            </a:r>
            <a:r>
              <a:rPr lang="en-US" altLang="zh-CN" dirty="0"/>
              <a:t> and expected shortfall at a 90% confidence level: -16, -14, -10, -7, -7, -5, -4, -4, -3, -1, -1, 0, 0, 0, 1, 2, 2, 4, 6, 7, 8, 9, 11, 12, 12, 14, 18, 21, 23.</a:t>
            </a:r>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7480E965-6672-4B2A-8D1C-8F8EB888BB1F}"/>
              </a:ext>
            </a:extLst>
          </p:cNvPr>
          <p:cNvGrpSpPr/>
          <p:nvPr/>
        </p:nvGrpSpPr>
        <p:grpSpPr>
          <a:xfrm>
            <a:off x="1882874" y="2334634"/>
            <a:ext cx="8426250" cy="2188732"/>
            <a:chOff x="461963" y="2420888"/>
            <a:chExt cx="8426250" cy="2188732"/>
          </a:xfrm>
        </p:grpSpPr>
        <p:grpSp>
          <p:nvGrpSpPr>
            <p:cNvPr id="5" name="组合 4">
              <a:extLst>
                <a:ext uri="{FF2B5EF4-FFF2-40B4-BE49-F238E27FC236}">
                  <a16:creationId xmlns:a16="http://schemas.microsoft.com/office/drawing/2014/main" id="{52F7F8F8-7D90-411C-978A-408C056BCAB1}"/>
                </a:ext>
              </a:extLst>
            </p:cNvPr>
            <p:cNvGrpSpPr/>
            <p:nvPr/>
          </p:nvGrpSpPr>
          <p:grpSpPr>
            <a:xfrm>
              <a:off x="461963" y="2492896"/>
              <a:ext cx="8426250" cy="2116724"/>
              <a:chOff x="461963" y="2385064"/>
              <a:chExt cx="8426250" cy="2116724"/>
            </a:xfrm>
          </p:grpSpPr>
          <p:sp>
            <p:nvSpPr>
              <p:cNvPr id="7" name="Line 4">
                <a:extLst>
                  <a:ext uri="{FF2B5EF4-FFF2-40B4-BE49-F238E27FC236}">
                    <a16:creationId xmlns:a16="http://schemas.microsoft.com/office/drawing/2014/main" id="{3E35E121-A8F1-4C45-A798-8694E75E2EBB}"/>
                  </a:ext>
                </a:extLst>
              </p:cNvPr>
              <p:cNvSpPr>
                <a:spLocks noChangeShapeType="1"/>
              </p:cNvSpPr>
              <p:nvPr/>
            </p:nvSpPr>
            <p:spPr bwMode="auto">
              <a:xfrm>
                <a:off x="4748213" y="4070350"/>
                <a:ext cx="4140000" cy="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solidFill>
                    <a:srgbClr val="2C3E50"/>
                  </a:solidFill>
                  <a:latin typeface="Segoe UI" panose="020B0502040204020203" pitchFamily="34" charset="0"/>
                  <a:cs typeface="Segoe UI" panose="020B0502040204020203" pitchFamily="34" charset="0"/>
                </a:endParaRPr>
              </a:p>
            </p:txBody>
          </p:sp>
          <p:sp>
            <p:nvSpPr>
              <p:cNvPr id="8" name="Line 5">
                <a:extLst>
                  <a:ext uri="{FF2B5EF4-FFF2-40B4-BE49-F238E27FC236}">
                    <a16:creationId xmlns:a16="http://schemas.microsoft.com/office/drawing/2014/main" id="{91E8CEBD-047A-483B-8857-8306A8FF7134}"/>
                  </a:ext>
                </a:extLst>
              </p:cNvPr>
              <p:cNvSpPr>
                <a:spLocks noChangeShapeType="1"/>
              </p:cNvSpPr>
              <p:nvPr/>
            </p:nvSpPr>
            <p:spPr bwMode="auto">
              <a:xfrm>
                <a:off x="461963" y="4070350"/>
                <a:ext cx="4140000" cy="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solidFill>
                    <a:srgbClr val="2C3E50"/>
                  </a:solidFill>
                  <a:latin typeface="Segoe UI" panose="020B0502040204020203" pitchFamily="34" charset="0"/>
                  <a:cs typeface="Segoe UI" panose="020B0502040204020203" pitchFamily="34" charset="0"/>
                </a:endParaRPr>
              </a:p>
            </p:txBody>
          </p:sp>
          <p:sp>
            <p:nvSpPr>
              <p:cNvPr id="9" name="任意多边形 17">
                <a:extLst>
                  <a:ext uri="{FF2B5EF4-FFF2-40B4-BE49-F238E27FC236}">
                    <a16:creationId xmlns:a16="http://schemas.microsoft.com/office/drawing/2014/main" id="{44610F56-D3DD-446A-B332-9A814FE62006}"/>
                  </a:ext>
                </a:extLst>
              </p:cNvPr>
              <p:cNvSpPr>
                <a:spLocks noChangeArrowheads="1"/>
              </p:cNvSpPr>
              <p:nvPr/>
            </p:nvSpPr>
            <p:spPr bwMode="auto">
              <a:xfrm>
                <a:off x="666749" y="2385064"/>
                <a:ext cx="3600000" cy="1620000"/>
              </a:xfrm>
              <a:custGeom>
                <a:avLst/>
                <a:gdLst>
                  <a:gd name="T0" fmla="*/ 0 w 3510116"/>
                  <a:gd name="T1" fmla="*/ 1661126 h 1661652"/>
                  <a:gd name="T2" fmla="*/ 441862 w 3510116"/>
                  <a:gd name="T3" fmla="*/ 1601625 h 1661652"/>
                  <a:gd name="T4" fmla="*/ 898442 w 3510116"/>
                  <a:gd name="T5" fmla="*/ 1229731 h 1661652"/>
                  <a:gd name="T6" fmla="*/ 1325557 w 3510116"/>
                  <a:gd name="T7" fmla="*/ 471067 h 1661652"/>
                  <a:gd name="T8" fmla="*/ 1590686 w 3510116"/>
                  <a:gd name="T9" fmla="*/ 99161 h 1661652"/>
                  <a:gd name="T10" fmla="*/ 1796885 w 3510116"/>
                  <a:gd name="T11" fmla="*/ 9925 h 1661652"/>
                  <a:gd name="T12" fmla="*/ 2017801 w 3510116"/>
                  <a:gd name="T13" fmla="*/ 69415 h 1661652"/>
                  <a:gd name="T14" fmla="*/ 2253464 w 3510116"/>
                  <a:gd name="T15" fmla="*/ 426438 h 1661652"/>
                  <a:gd name="T16" fmla="*/ 2444918 w 3510116"/>
                  <a:gd name="T17" fmla="*/ 932213 h 1661652"/>
                  <a:gd name="T18" fmla="*/ 2665862 w 3510116"/>
                  <a:gd name="T19" fmla="*/ 1333861 h 1661652"/>
                  <a:gd name="T20" fmla="*/ 2960423 w 3510116"/>
                  <a:gd name="T21" fmla="*/ 1601625 h 1661652"/>
                  <a:gd name="T22" fmla="*/ 3505371 w 3510116"/>
                  <a:gd name="T23" fmla="*/ 1676003 h 16616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10116"/>
                  <a:gd name="T37" fmla="*/ 0 h 1661652"/>
                  <a:gd name="T38" fmla="*/ 3510116 w 3510116"/>
                  <a:gd name="T39" fmla="*/ 1661652 h 166165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10116" h="1661652">
                    <a:moveTo>
                      <a:pt x="0" y="1646903"/>
                    </a:moveTo>
                    <a:cubicBezTo>
                      <a:pt x="146254" y="1653048"/>
                      <a:pt x="292509" y="1659194"/>
                      <a:pt x="442451" y="1587910"/>
                    </a:cubicBezTo>
                    <a:cubicBezTo>
                      <a:pt x="592393" y="1516626"/>
                      <a:pt x="752167" y="1406013"/>
                      <a:pt x="899651" y="1219200"/>
                    </a:cubicBezTo>
                    <a:cubicBezTo>
                      <a:pt x="1047135" y="1032387"/>
                      <a:pt x="1211826" y="653845"/>
                      <a:pt x="1327355" y="467032"/>
                    </a:cubicBezTo>
                    <a:cubicBezTo>
                      <a:pt x="1442884" y="280219"/>
                      <a:pt x="1514167" y="174523"/>
                      <a:pt x="1592825" y="98323"/>
                    </a:cubicBezTo>
                    <a:cubicBezTo>
                      <a:pt x="1671483" y="22123"/>
                      <a:pt x="1728019" y="14748"/>
                      <a:pt x="1799303" y="9832"/>
                    </a:cubicBezTo>
                    <a:cubicBezTo>
                      <a:pt x="1870587" y="4916"/>
                      <a:pt x="1944329" y="0"/>
                      <a:pt x="2020529" y="68826"/>
                    </a:cubicBezTo>
                    <a:cubicBezTo>
                      <a:pt x="2096729" y="137652"/>
                      <a:pt x="2185219" y="280219"/>
                      <a:pt x="2256503" y="422787"/>
                    </a:cubicBezTo>
                    <a:cubicBezTo>
                      <a:pt x="2327787" y="565355"/>
                      <a:pt x="2379406" y="774290"/>
                      <a:pt x="2448232" y="924232"/>
                    </a:cubicBezTo>
                    <a:cubicBezTo>
                      <a:pt x="2517058" y="1074174"/>
                      <a:pt x="2583426" y="1211826"/>
                      <a:pt x="2669458" y="1322439"/>
                    </a:cubicBezTo>
                    <a:cubicBezTo>
                      <a:pt x="2755490" y="1433052"/>
                      <a:pt x="2824315" y="1531375"/>
                      <a:pt x="2964425" y="1587910"/>
                    </a:cubicBezTo>
                    <a:cubicBezTo>
                      <a:pt x="3104535" y="1644445"/>
                      <a:pt x="3307325" y="1653048"/>
                      <a:pt x="3510116" y="1661652"/>
                    </a:cubicBezTo>
                  </a:path>
                </a:pathLst>
              </a:custGeom>
              <a:noFill/>
              <a:ln w="19050">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2C3E50"/>
                  </a:solidFill>
                  <a:latin typeface="Segoe UI" panose="020B0502040204020203" pitchFamily="34" charset="0"/>
                  <a:cs typeface="Segoe UI" panose="020B0502040204020203" pitchFamily="34" charset="0"/>
                </a:endParaRPr>
              </a:p>
            </p:txBody>
          </p:sp>
          <p:sp>
            <p:nvSpPr>
              <p:cNvPr id="10" name="任意多边形 19">
                <a:extLst>
                  <a:ext uri="{FF2B5EF4-FFF2-40B4-BE49-F238E27FC236}">
                    <a16:creationId xmlns:a16="http://schemas.microsoft.com/office/drawing/2014/main" id="{A183E359-2DA3-4654-8398-3440978BA2F2}"/>
                  </a:ext>
                </a:extLst>
              </p:cNvPr>
              <p:cNvSpPr>
                <a:spLocks noChangeArrowheads="1"/>
              </p:cNvSpPr>
              <p:nvPr/>
            </p:nvSpPr>
            <p:spPr bwMode="auto">
              <a:xfrm>
                <a:off x="4788464" y="2385064"/>
                <a:ext cx="3960000" cy="1620000"/>
              </a:xfrm>
              <a:custGeom>
                <a:avLst/>
                <a:gdLst>
                  <a:gd name="T0" fmla="*/ 0 w 3996813"/>
                  <a:gd name="T1" fmla="*/ 1727112 h 1725562"/>
                  <a:gd name="T2" fmla="*/ 160889 w 3996813"/>
                  <a:gd name="T3" fmla="*/ 1697584 h 1725562"/>
                  <a:gd name="T4" fmla="*/ 263270 w 3996813"/>
                  <a:gd name="T5" fmla="*/ 1564724 h 1725562"/>
                  <a:gd name="T6" fmla="*/ 321768 w 3996813"/>
                  <a:gd name="T7" fmla="*/ 1446644 h 1725562"/>
                  <a:gd name="T8" fmla="*/ 394900 w 3996813"/>
                  <a:gd name="T9" fmla="*/ 1372840 h 1725562"/>
                  <a:gd name="T10" fmla="*/ 482656 w 3996813"/>
                  <a:gd name="T11" fmla="*/ 1638528 h 1725562"/>
                  <a:gd name="T12" fmla="*/ 672795 w 3996813"/>
                  <a:gd name="T13" fmla="*/ 1697584 h 1725562"/>
                  <a:gd name="T14" fmla="*/ 950684 w 3996813"/>
                  <a:gd name="T15" fmla="*/ 1623780 h 1725562"/>
                  <a:gd name="T16" fmla="*/ 1287083 w 3996813"/>
                  <a:gd name="T17" fmla="*/ 1077594 h 1725562"/>
                  <a:gd name="T18" fmla="*/ 1491846 w 3996813"/>
                  <a:gd name="T19" fmla="*/ 383799 h 1725562"/>
                  <a:gd name="T20" fmla="*/ 1798990 w 3996813"/>
                  <a:gd name="T21" fmla="*/ 0 h 1725562"/>
                  <a:gd name="T22" fmla="*/ 2267018 w 3996813"/>
                  <a:gd name="T23" fmla="*/ 383799 h 1725562"/>
                  <a:gd name="T24" fmla="*/ 2632667 w 3996813"/>
                  <a:gd name="T25" fmla="*/ 974262 h 1725562"/>
                  <a:gd name="T26" fmla="*/ 3012940 w 3996813"/>
                  <a:gd name="T27" fmla="*/ 1549976 h 1725562"/>
                  <a:gd name="T28" fmla="*/ 3363961 w 3996813"/>
                  <a:gd name="T29" fmla="*/ 1682836 h 1725562"/>
                  <a:gd name="T30" fmla="*/ 3963622 w 3996813"/>
                  <a:gd name="T31" fmla="*/ 1682836 h 172556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96813"/>
                  <a:gd name="T49" fmla="*/ 0 h 1725562"/>
                  <a:gd name="T50" fmla="*/ 3996813 w 3996813"/>
                  <a:gd name="T51" fmla="*/ 1725562 h 172556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96813" h="1725562">
                    <a:moveTo>
                      <a:pt x="0" y="1725562"/>
                    </a:moveTo>
                    <a:cubicBezTo>
                      <a:pt x="58994" y="1724333"/>
                      <a:pt x="117988" y="1723104"/>
                      <a:pt x="162233" y="1696065"/>
                    </a:cubicBezTo>
                    <a:cubicBezTo>
                      <a:pt x="206478" y="1669026"/>
                      <a:pt x="238432" y="1605116"/>
                      <a:pt x="265471" y="1563329"/>
                    </a:cubicBezTo>
                    <a:cubicBezTo>
                      <a:pt x="292510" y="1521542"/>
                      <a:pt x="302342" y="1477297"/>
                      <a:pt x="324465" y="1445342"/>
                    </a:cubicBezTo>
                    <a:cubicBezTo>
                      <a:pt x="346588" y="1413387"/>
                      <a:pt x="371168" y="1339645"/>
                      <a:pt x="398207" y="1371600"/>
                    </a:cubicBezTo>
                    <a:cubicBezTo>
                      <a:pt x="425246" y="1403555"/>
                      <a:pt x="439994" y="1582994"/>
                      <a:pt x="486697" y="1637071"/>
                    </a:cubicBezTo>
                    <a:cubicBezTo>
                      <a:pt x="533400" y="1691148"/>
                      <a:pt x="599768" y="1698523"/>
                      <a:pt x="678426" y="1696065"/>
                    </a:cubicBezTo>
                    <a:cubicBezTo>
                      <a:pt x="757084" y="1693607"/>
                      <a:pt x="855406" y="1725562"/>
                      <a:pt x="958645" y="1622323"/>
                    </a:cubicBezTo>
                    <a:cubicBezTo>
                      <a:pt x="1061884" y="1519084"/>
                      <a:pt x="1206910" y="1283111"/>
                      <a:pt x="1297858" y="1076633"/>
                    </a:cubicBezTo>
                    <a:cubicBezTo>
                      <a:pt x="1388807" y="870156"/>
                      <a:pt x="1418304" y="562897"/>
                      <a:pt x="1504336" y="383458"/>
                    </a:cubicBezTo>
                    <a:cubicBezTo>
                      <a:pt x="1590368" y="204019"/>
                      <a:pt x="1683775" y="0"/>
                      <a:pt x="1814052" y="0"/>
                    </a:cubicBezTo>
                    <a:cubicBezTo>
                      <a:pt x="1944329" y="0"/>
                      <a:pt x="2145890" y="221226"/>
                      <a:pt x="2286000" y="383458"/>
                    </a:cubicBezTo>
                    <a:cubicBezTo>
                      <a:pt x="2426110" y="545690"/>
                      <a:pt x="2529349" y="779207"/>
                      <a:pt x="2654710" y="973394"/>
                    </a:cubicBezTo>
                    <a:cubicBezTo>
                      <a:pt x="2780071" y="1167581"/>
                      <a:pt x="2915265" y="1430594"/>
                      <a:pt x="3038168" y="1548581"/>
                    </a:cubicBezTo>
                    <a:cubicBezTo>
                      <a:pt x="3161071" y="1666568"/>
                      <a:pt x="3232355" y="1659194"/>
                      <a:pt x="3392129" y="1681317"/>
                    </a:cubicBezTo>
                    <a:cubicBezTo>
                      <a:pt x="3551903" y="1703440"/>
                      <a:pt x="3774358" y="1692378"/>
                      <a:pt x="3996813" y="1681317"/>
                    </a:cubicBezTo>
                  </a:path>
                </a:pathLst>
              </a:custGeom>
              <a:noFill/>
              <a:ln w="19050">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2C3E50"/>
                  </a:solidFill>
                  <a:latin typeface="Segoe UI" panose="020B0502040204020203" pitchFamily="34" charset="0"/>
                  <a:cs typeface="Segoe UI" panose="020B0502040204020203" pitchFamily="34" charset="0"/>
                </a:endParaRPr>
              </a:p>
            </p:txBody>
          </p:sp>
          <p:cxnSp>
            <p:nvCxnSpPr>
              <p:cNvPr id="11" name="直接连接符 21">
                <a:extLst>
                  <a:ext uri="{FF2B5EF4-FFF2-40B4-BE49-F238E27FC236}">
                    <a16:creationId xmlns:a16="http://schemas.microsoft.com/office/drawing/2014/main" id="{E380D638-0586-4F6A-BB1B-6BDEE8E8876C}"/>
                  </a:ext>
                </a:extLst>
              </p:cNvPr>
              <p:cNvCxnSpPr>
                <a:cxnSpLocks noChangeShapeType="1"/>
              </p:cNvCxnSpPr>
              <p:nvPr/>
            </p:nvCxnSpPr>
            <p:spPr bwMode="auto">
              <a:xfrm flipH="1">
                <a:off x="1460500" y="3710350"/>
                <a:ext cx="1588" cy="360000"/>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cxnSp>
            <p:nvCxnSpPr>
              <p:cNvPr id="12" name="直接连接符 22">
                <a:extLst>
                  <a:ext uri="{FF2B5EF4-FFF2-40B4-BE49-F238E27FC236}">
                    <a16:creationId xmlns:a16="http://schemas.microsoft.com/office/drawing/2014/main" id="{40635A34-D50F-411F-A034-5619458AAD47}"/>
                  </a:ext>
                </a:extLst>
              </p:cNvPr>
              <p:cNvCxnSpPr>
                <a:cxnSpLocks noChangeShapeType="1"/>
              </p:cNvCxnSpPr>
              <p:nvPr/>
            </p:nvCxnSpPr>
            <p:spPr bwMode="auto">
              <a:xfrm flipH="1">
                <a:off x="5891213" y="3710350"/>
                <a:ext cx="1587" cy="360000"/>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sp>
            <p:nvSpPr>
              <p:cNvPr id="13" name="矩形 23">
                <a:extLst>
                  <a:ext uri="{FF2B5EF4-FFF2-40B4-BE49-F238E27FC236}">
                    <a16:creationId xmlns:a16="http://schemas.microsoft.com/office/drawing/2014/main" id="{876C81D7-E576-40EC-BCE5-21AFCE8D539D}"/>
                  </a:ext>
                </a:extLst>
              </p:cNvPr>
              <p:cNvSpPr>
                <a:spLocks noChangeArrowheads="1"/>
              </p:cNvSpPr>
              <p:nvPr/>
            </p:nvSpPr>
            <p:spPr bwMode="auto">
              <a:xfrm>
                <a:off x="1176338" y="4141788"/>
                <a:ext cx="540000" cy="360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0">
                    <a:solidFill>
                      <a:srgbClr val="2C3E50"/>
                    </a:solidFill>
                    <a:latin typeface="Segoe UI" panose="020B0502040204020203" pitchFamily="34" charset="0"/>
                    <a:ea typeface="Segoe UI" panose="020B0502040204020203" pitchFamily="34" charset="0"/>
                    <a:cs typeface="Segoe UI" panose="020B0502040204020203" pitchFamily="34" charset="0"/>
                  </a:rPr>
                  <a:t>VaR</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4" name="矩形 24">
                <a:extLst>
                  <a:ext uri="{FF2B5EF4-FFF2-40B4-BE49-F238E27FC236}">
                    <a16:creationId xmlns:a16="http://schemas.microsoft.com/office/drawing/2014/main" id="{81B6599C-E03F-41FD-913A-559B79318D92}"/>
                  </a:ext>
                </a:extLst>
              </p:cNvPr>
              <p:cNvSpPr>
                <a:spLocks noChangeArrowheads="1"/>
              </p:cNvSpPr>
              <p:nvPr/>
            </p:nvSpPr>
            <p:spPr bwMode="auto">
              <a:xfrm>
                <a:off x="5605463" y="4141788"/>
                <a:ext cx="540000" cy="360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0" dirty="0" err="1">
                    <a:solidFill>
                      <a:srgbClr val="2C3E50"/>
                    </a:solidFill>
                    <a:latin typeface="Segoe UI" panose="020B0502040204020203" pitchFamily="34" charset="0"/>
                    <a:ea typeface="Segoe UI" panose="020B0502040204020203" pitchFamily="34" charset="0"/>
                    <a:cs typeface="Segoe UI" panose="020B0502040204020203" pitchFamily="34" charset="0"/>
                  </a:rPr>
                  <a:t>VaR</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5" name="矩形 25">
                <a:extLst>
                  <a:ext uri="{FF2B5EF4-FFF2-40B4-BE49-F238E27FC236}">
                    <a16:creationId xmlns:a16="http://schemas.microsoft.com/office/drawing/2014/main" id="{0A0C9EF6-73FA-432A-9C6D-87FB4C4FE022}"/>
                  </a:ext>
                </a:extLst>
              </p:cNvPr>
              <p:cNvSpPr>
                <a:spLocks noChangeArrowheads="1"/>
              </p:cNvSpPr>
              <p:nvPr/>
            </p:nvSpPr>
            <p:spPr bwMode="auto">
              <a:xfrm>
                <a:off x="747713" y="2925763"/>
                <a:ext cx="432000" cy="360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6" name="矩形 26">
                <a:extLst>
                  <a:ext uri="{FF2B5EF4-FFF2-40B4-BE49-F238E27FC236}">
                    <a16:creationId xmlns:a16="http://schemas.microsoft.com/office/drawing/2014/main" id="{1CDC9B51-AC55-4970-8CE3-773C0348C5BE}"/>
                  </a:ext>
                </a:extLst>
              </p:cNvPr>
              <p:cNvSpPr>
                <a:spLocks noChangeArrowheads="1"/>
              </p:cNvSpPr>
              <p:nvPr/>
            </p:nvSpPr>
            <p:spPr bwMode="auto">
              <a:xfrm>
                <a:off x="4533900" y="2925763"/>
                <a:ext cx="432000" cy="360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nchorCtr="0">
                <a:no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800" b="0" dirty="0">
                  <a:solidFill>
                    <a:srgbClr val="2C3E50"/>
                  </a:solidFill>
                  <a:latin typeface="Segoe UI" panose="020B0502040204020203" pitchFamily="34" charset="0"/>
                  <a:cs typeface="Segoe UI" panose="020B0502040204020203" pitchFamily="34" charset="0"/>
                </a:endParaRPr>
              </a:p>
            </p:txBody>
          </p:sp>
          <p:cxnSp>
            <p:nvCxnSpPr>
              <p:cNvPr id="17" name="直接箭头连接符 28">
                <a:extLst>
                  <a:ext uri="{FF2B5EF4-FFF2-40B4-BE49-F238E27FC236}">
                    <a16:creationId xmlns:a16="http://schemas.microsoft.com/office/drawing/2014/main" id="{755E9D4B-E936-4105-A155-5CC75D547759}"/>
                  </a:ext>
                </a:extLst>
              </p:cNvPr>
              <p:cNvCxnSpPr>
                <a:cxnSpLocks noChangeShapeType="1"/>
              </p:cNvCxnSpPr>
              <p:nvPr/>
            </p:nvCxnSpPr>
            <p:spPr bwMode="auto">
              <a:xfrm rot="16200000" flipH="1">
                <a:off x="831238" y="3464536"/>
                <a:ext cx="720000" cy="360000"/>
              </a:xfrm>
              <a:prstGeom prst="straightConnector1">
                <a:avLst/>
              </a:prstGeom>
              <a:noFill/>
              <a:ln w="9525">
                <a:solidFill>
                  <a:srgbClr val="2C3E50"/>
                </a:solidFill>
                <a:round/>
                <a:headEnd/>
                <a:tailEnd type="arrow" w="med" len="med"/>
              </a:ln>
              <a:extLst>
                <a:ext uri="{909E8E84-426E-40DD-AFC4-6F175D3DCCD1}">
                  <a14:hiddenFill xmlns:a14="http://schemas.microsoft.com/office/drawing/2010/main">
                    <a:noFill/>
                  </a14:hiddenFill>
                </a:ext>
              </a:extLst>
            </p:spPr>
          </p:cxnSp>
          <p:cxnSp>
            <p:nvCxnSpPr>
              <p:cNvPr id="18" name="直接箭头连接符 29">
                <a:extLst>
                  <a:ext uri="{FF2B5EF4-FFF2-40B4-BE49-F238E27FC236}">
                    <a16:creationId xmlns:a16="http://schemas.microsoft.com/office/drawing/2014/main" id="{5C2CB82E-E3AB-4A7E-9B81-2BB877940BD0}"/>
                  </a:ext>
                </a:extLst>
              </p:cNvPr>
              <p:cNvCxnSpPr>
                <a:cxnSpLocks noChangeShapeType="1"/>
              </p:cNvCxnSpPr>
              <p:nvPr/>
            </p:nvCxnSpPr>
            <p:spPr bwMode="auto">
              <a:xfrm>
                <a:off x="4819650" y="3284537"/>
                <a:ext cx="360000" cy="720000"/>
              </a:xfrm>
              <a:prstGeom prst="straightConnector1">
                <a:avLst/>
              </a:prstGeom>
              <a:noFill/>
              <a:ln w="9525">
                <a:solidFill>
                  <a:srgbClr val="2C3E50"/>
                </a:solidFill>
                <a:round/>
                <a:headEnd/>
                <a:tailEnd type="arrow" w="med" len="med"/>
              </a:ln>
              <a:extLst>
                <a:ext uri="{909E8E84-426E-40DD-AFC4-6F175D3DCCD1}">
                  <a14:hiddenFill xmlns:a14="http://schemas.microsoft.com/office/drawing/2010/main">
                    <a:noFill/>
                  </a14:hiddenFill>
                </a:ext>
              </a:extLst>
            </p:spPr>
          </p:cxnSp>
        </p:grpSp>
        <p:sp>
          <p:nvSpPr>
            <p:cNvPr id="6" name="圆角矩形 16">
              <a:extLst>
                <a:ext uri="{FF2B5EF4-FFF2-40B4-BE49-F238E27FC236}">
                  <a16:creationId xmlns:a16="http://schemas.microsoft.com/office/drawing/2014/main" id="{8344B8C3-966F-4FCF-A9EE-59B0BC1073D6}"/>
                </a:ext>
              </a:extLst>
            </p:cNvPr>
            <p:cNvSpPr/>
            <p:nvPr/>
          </p:nvSpPr>
          <p:spPr>
            <a:xfrm>
              <a:off x="467543" y="2420888"/>
              <a:ext cx="8420669" cy="2188732"/>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21449858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fontScale="92500"/>
          </a:bodyPr>
          <a:lstStyle/>
          <a:p>
            <a:pPr>
              <a:lnSpc>
                <a:spcPct val="180000"/>
              </a:lnSpc>
            </a:pPr>
            <a:r>
              <a:rPr lang="en-US" altLang="zh-CN" dirty="0"/>
              <a:t>Spectral Risk Measures</a:t>
            </a:r>
          </a:p>
          <a:p>
            <a:pPr lvl="1">
              <a:lnSpc>
                <a:spcPct val="180000"/>
              </a:lnSpc>
            </a:pPr>
            <a:r>
              <a:rPr lang="en-US" altLang="zh-CN" dirty="0"/>
              <a:t>Measures the </a:t>
            </a:r>
            <a:r>
              <a:rPr lang="en-US" altLang="zh-CN" u="sng" dirty="0"/>
              <a:t>weighted averages of the return quantiles from the loss distributions</a:t>
            </a:r>
            <a:r>
              <a:rPr lang="en-US" altLang="zh-CN" dirty="0"/>
              <a:t>.</a:t>
            </a:r>
          </a:p>
          <a:p>
            <a:pPr lvl="1">
              <a:lnSpc>
                <a:spcPct val="180000"/>
              </a:lnSpc>
            </a:pPr>
            <a:r>
              <a:rPr lang="en-US" altLang="zh-CN" u="sng" dirty="0"/>
              <a:t>ES is a special case</a:t>
            </a:r>
            <a:r>
              <a:rPr lang="en-US" altLang="zh-CN" dirty="0"/>
              <a:t> of the risk spectrum measure where the weighting function is set for tail losses that all have an equal weight, and all other quantiles have a weight of zero.</a:t>
            </a:r>
          </a:p>
          <a:p>
            <a:pPr lvl="1">
              <a:lnSpc>
                <a:spcPct val="180000"/>
              </a:lnSpc>
            </a:pPr>
            <a:r>
              <a:rPr lang="en-US" altLang="zh-CN" dirty="0"/>
              <a:t>The </a:t>
            </a:r>
            <a:r>
              <a:rPr lang="en-US" altLang="zh-CN" u="sng" dirty="0" err="1"/>
              <a:t>VaR</a:t>
            </a:r>
            <a:r>
              <a:rPr lang="en-US" altLang="zh-CN" u="sng" dirty="0"/>
              <a:t> is a special case</a:t>
            </a:r>
            <a:r>
              <a:rPr lang="en-US" altLang="zh-CN" dirty="0"/>
              <a:t> where only a single quantile is measured, and the weighting function is set to one, and all other quantiles have a weight of zero.</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415455165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a:bodyPr>
          <a:lstStyle/>
          <a:p>
            <a:r>
              <a:rPr lang="en-US" altLang="zh-CN" dirty="0"/>
              <a:t>Exercise 1</a:t>
            </a:r>
            <a:endParaRPr lang="zh-CN" altLang="en-US" dirty="0"/>
          </a:p>
          <a:p>
            <a:pPr>
              <a:buFont typeface="Wingdings" panose="05000000000000000000" pitchFamily="2" charset="2"/>
              <a:buChar char="l"/>
            </a:pPr>
            <a:r>
              <a:rPr lang="el-GR" altLang="zh-CN" dirty="0">
                <a:solidFill>
                  <a:schemeClr val="tx1"/>
                </a:solidFill>
              </a:rPr>
              <a:t>ρ</a:t>
            </a:r>
            <a:r>
              <a:rPr lang="en-US" altLang="zh-CN" dirty="0">
                <a:solidFill>
                  <a:schemeClr val="tx1"/>
                </a:solidFill>
              </a:rPr>
              <a:t>(X + Y) ≤ ρ(X) + ρ(Y) is the mathematical equation for which property of a coherent risk measure?</a:t>
            </a:r>
          </a:p>
          <a:p>
            <a:pPr marL="817200" lvl="1" indent="-457200">
              <a:buSzPct val="100000"/>
              <a:buFont typeface="+mj-lt"/>
              <a:buAutoNum type="alphaUcPeriod"/>
            </a:pPr>
            <a:r>
              <a:rPr lang="en-US" altLang="zh-CN" dirty="0"/>
              <a:t>Monotonicity</a:t>
            </a:r>
          </a:p>
          <a:p>
            <a:pPr marL="817200" lvl="1" indent="-457200">
              <a:buSzPct val="100000"/>
              <a:buFont typeface="+mj-lt"/>
              <a:buAutoNum type="alphaUcPeriod"/>
            </a:pPr>
            <a:r>
              <a:rPr lang="en-US" altLang="zh-CN" dirty="0"/>
              <a:t>Subadditivity</a:t>
            </a:r>
          </a:p>
          <a:p>
            <a:pPr marL="817200" lvl="1" indent="-457200">
              <a:buSzPct val="100000"/>
              <a:buFont typeface="+mj-lt"/>
              <a:buAutoNum type="alphaUcPeriod"/>
            </a:pPr>
            <a:r>
              <a:rPr lang="en-US" altLang="zh-CN" dirty="0"/>
              <a:t>Positive homogeneity</a:t>
            </a:r>
          </a:p>
          <a:p>
            <a:pPr marL="817200" lvl="1" indent="-457200">
              <a:buSzPct val="100000"/>
              <a:buFont typeface="+mj-lt"/>
              <a:buAutoNum type="alphaUcPeriod"/>
            </a:pPr>
            <a:r>
              <a:rPr lang="en-US" altLang="zh-CN" dirty="0"/>
              <a:t>Translation invariance </a:t>
            </a:r>
          </a:p>
          <a:p>
            <a:pPr marL="817200" lvl="1" indent="-457200">
              <a:buSzPct val="100000"/>
              <a:buFont typeface="+mj-lt"/>
              <a:buAutoNum type="alphaUcPeriod"/>
            </a:pPr>
            <a:endParaRPr lang="en-US" altLang="zh-CN" dirty="0"/>
          </a:p>
          <a:p>
            <a:pPr marL="417150" indent="-457200">
              <a:buSzPct val="100000"/>
              <a:buFont typeface="Wingdings" panose="05000000000000000000" pitchFamily="2" charset="2"/>
              <a:buChar char="l"/>
            </a:pPr>
            <a:r>
              <a:rPr lang="en-US" altLang="zh-CN" dirty="0">
                <a:solidFill>
                  <a:schemeClr val="tx1"/>
                </a:solidFill>
              </a:rPr>
              <a:t>Correct Answer : B</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59526022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a:bodyPr>
          <a:lstStyle/>
          <a:p>
            <a:r>
              <a:rPr lang="en-US" altLang="zh-CN" dirty="0"/>
              <a:t>Exercise 2</a:t>
            </a:r>
            <a:endParaRPr lang="zh-CN" altLang="en-US" dirty="0"/>
          </a:p>
          <a:p>
            <a:pPr>
              <a:buFont typeface="Wingdings" panose="05000000000000000000" pitchFamily="2" charset="2"/>
              <a:buChar char="l"/>
            </a:pPr>
            <a:r>
              <a:rPr lang="en-US" altLang="zh-CN" dirty="0">
                <a:solidFill>
                  <a:schemeClr val="tx1"/>
                </a:solidFill>
              </a:rPr>
              <a:t>Consider a portfolio with a one-day </a:t>
            </a:r>
            <a:r>
              <a:rPr lang="en-US" altLang="zh-CN" dirty="0" err="1">
                <a:solidFill>
                  <a:schemeClr val="tx1"/>
                </a:solidFill>
              </a:rPr>
              <a:t>VaR</a:t>
            </a:r>
            <a:r>
              <a:rPr lang="en-US" altLang="zh-CN" dirty="0">
                <a:solidFill>
                  <a:schemeClr val="tx1"/>
                </a:solidFill>
              </a:rPr>
              <a:t> of $1 million. Assume that the market is trending with an autocorrelation of 0.1. Under this scenario, what would you expect the two-day </a:t>
            </a:r>
            <a:r>
              <a:rPr lang="en-US" altLang="zh-CN" dirty="0" err="1">
                <a:solidFill>
                  <a:schemeClr val="tx1"/>
                </a:solidFill>
              </a:rPr>
              <a:t>VaR</a:t>
            </a:r>
            <a:r>
              <a:rPr lang="en-US" altLang="zh-CN" dirty="0">
                <a:solidFill>
                  <a:schemeClr val="tx1"/>
                </a:solidFill>
              </a:rPr>
              <a:t> to be?</a:t>
            </a:r>
          </a:p>
          <a:p>
            <a:pPr marL="817200" lvl="1" indent="-457200">
              <a:buSzPct val="100000"/>
              <a:buFont typeface="+mj-lt"/>
              <a:buAutoNum type="alphaUcPeriod"/>
            </a:pPr>
            <a:r>
              <a:rPr lang="en-US" altLang="zh-CN" dirty="0"/>
              <a:t>$2 million</a:t>
            </a:r>
          </a:p>
          <a:p>
            <a:pPr marL="817200" lvl="1" indent="-457200">
              <a:buSzPct val="100000"/>
              <a:buFont typeface="+mj-lt"/>
              <a:buAutoNum type="alphaUcPeriod"/>
            </a:pPr>
            <a:r>
              <a:rPr lang="en-US" altLang="zh-CN" dirty="0"/>
              <a:t>$1.414 million</a:t>
            </a:r>
          </a:p>
          <a:p>
            <a:pPr marL="817200" lvl="1" indent="-457200">
              <a:buSzPct val="100000"/>
              <a:buFont typeface="+mj-lt"/>
              <a:buAutoNum type="alphaUcPeriod"/>
            </a:pPr>
            <a:r>
              <a:rPr lang="en-US" altLang="zh-CN" dirty="0"/>
              <a:t>$1.483 million</a:t>
            </a:r>
          </a:p>
          <a:p>
            <a:pPr marL="817200" lvl="1" indent="-457200">
              <a:buSzPct val="100000"/>
              <a:buFont typeface="+mj-lt"/>
              <a:buAutoNum type="alphaUcPeriod"/>
            </a:pPr>
            <a:r>
              <a:rPr lang="en-US" altLang="zh-CN" dirty="0"/>
              <a:t>$1.449 million</a:t>
            </a:r>
          </a:p>
          <a:p>
            <a:pPr marL="817200" lvl="1" indent="-457200">
              <a:buSzPct val="100000"/>
              <a:buFont typeface="+mj-lt"/>
              <a:buAutoNum type="alphaUcPeriod"/>
            </a:pPr>
            <a:endParaRPr lang="en-US" altLang="zh-CN" dirty="0"/>
          </a:p>
          <a:p>
            <a:pPr marL="417150" indent="-457200">
              <a:buSzPct val="100000"/>
              <a:buFont typeface="Wingdings" panose="05000000000000000000" pitchFamily="2" charset="2"/>
              <a:buChar char="l"/>
            </a:pPr>
            <a:r>
              <a:rPr lang="en-US" altLang="zh-CN" dirty="0">
                <a:solidFill>
                  <a:schemeClr val="tx1"/>
                </a:solidFill>
              </a:rPr>
              <a:t>Correct Answer : C</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64172018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Putting </a:t>
            </a:r>
            <a:r>
              <a:rPr lang="en-US" altLang="zh-CN" sz="2800" dirty="0" err="1"/>
              <a:t>VaR</a:t>
            </a:r>
            <a:r>
              <a:rPr lang="en-US" altLang="zh-CN" sz="2800" dirty="0"/>
              <a:t> to Work</a:t>
            </a:r>
            <a:endParaRPr lang="zh-CN" altLang="en-US" sz="2800" dirty="0"/>
          </a:p>
        </p:txBody>
      </p:sp>
      <p:sp>
        <p:nvSpPr>
          <p:cNvPr id="3" name="文本占位符 2"/>
          <p:cNvSpPr>
            <a:spLocks noGrp="1"/>
          </p:cNvSpPr>
          <p:nvPr>
            <p:ph type="body" sz="quarter" idx="10"/>
          </p:nvPr>
        </p:nvSpPr>
        <p:spPr/>
        <p:txBody>
          <a:bodyPr>
            <a:normAutofit fontScale="92500"/>
          </a:bodyPr>
          <a:lstStyle/>
          <a:p>
            <a:pPr>
              <a:lnSpc>
                <a:spcPct val="180000"/>
              </a:lnSpc>
            </a:pPr>
            <a:r>
              <a:rPr lang="en-US" altLang="zh-CN" dirty="0"/>
              <a:t>Linear and Non-Linear Derivatives</a:t>
            </a:r>
          </a:p>
          <a:p>
            <a:pPr lvl="1">
              <a:lnSpc>
                <a:spcPct val="180000"/>
              </a:lnSpc>
            </a:pPr>
            <a:r>
              <a:rPr lang="en-US" altLang="zh-CN" dirty="0"/>
              <a:t>A</a:t>
            </a:r>
            <a:r>
              <a:rPr lang="en-US" altLang="zh-CN" b="1" dirty="0"/>
              <a:t> linear derivative </a:t>
            </a:r>
            <a:r>
              <a:rPr lang="en-US" altLang="zh-CN" dirty="0"/>
              <a:t>is when the </a:t>
            </a:r>
            <a:r>
              <a:rPr lang="en-US" altLang="zh-CN" u="sng" dirty="0"/>
              <a:t>relationship between the derivative and the underlying pricing factor(s) is linear</a:t>
            </a:r>
            <a:r>
              <a:rPr lang="en-US" altLang="zh-CN" dirty="0"/>
              <a:t>. It does not need to be one-for-one but the “transmission parameter” delta needs to be constant for all levels of the underlying factor. A </a:t>
            </a:r>
            <a:r>
              <a:rPr lang="en-US" altLang="zh-CN" b="1" dirty="0"/>
              <a:t>non-linear derivative </a:t>
            </a:r>
            <a:r>
              <a:rPr lang="en-US" altLang="zh-CN" dirty="0"/>
              <a:t>has a </a:t>
            </a:r>
            <a:r>
              <a:rPr lang="en-US" altLang="zh-CN" u="sng" dirty="0"/>
              <a:t>delta that is not constant</a:t>
            </a:r>
            <a:r>
              <a:rPr lang="en-US" altLang="zh-CN" dirty="0"/>
              <a:t>.</a:t>
            </a:r>
          </a:p>
          <a:p>
            <a:pPr lvl="1">
              <a:lnSpc>
                <a:spcPct val="180000"/>
              </a:lnSpc>
            </a:pPr>
            <a:r>
              <a:rPr lang="en-US" altLang="zh-CN" u="sng" dirty="0"/>
              <a:t>All assets are locally linear.</a:t>
            </a:r>
            <a:r>
              <a:rPr lang="en-US" altLang="zh-CN" dirty="0"/>
              <a:t> For tiny (infinitesimal) changes in the underling, the delta is approximately constant. So, we consider delta to be an approximation; i.e., the relationship is “locally linear.”</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428889961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Putting </a:t>
            </a:r>
            <a:r>
              <a:rPr lang="en-US" altLang="zh-CN" sz="2800" dirty="0" err="1"/>
              <a:t>VaR</a:t>
            </a:r>
            <a:r>
              <a:rPr lang="en-US" altLang="zh-CN" sz="2800" dirty="0"/>
              <a:t> to Work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err="1"/>
              <a:t>VaR</a:t>
            </a:r>
            <a:r>
              <a:rPr lang="en-US" altLang="zh-CN" dirty="0"/>
              <a:t> of Linear Derivatives – Delta-Normal Approximation</a:t>
            </a:r>
            <a:endParaRPr lang="zh-CN" altLang="en-US" dirty="0"/>
          </a:p>
          <a:p>
            <a:endParaRPr lang="en-US" altLang="zh-CN" dirty="0"/>
          </a:p>
          <a:p>
            <a:endParaRPr lang="en-US" altLang="zh-CN" dirty="0"/>
          </a:p>
          <a:p>
            <a:pPr lvl="1"/>
            <a:r>
              <a:rPr lang="en-US" altLang="zh-CN" b="1" dirty="0"/>
              <a:t>Delta-Normal Approach:</a:t>
            </a:r>
            <a:r>
              <a:rPr lang="en-US" altLang="zh-CN" dirty="0"/>
              <a:t> the </a:t>
            </a:r>
            <a:r>
              <a:rPr lang="en-US" altLang="zh-CN" u="sng" dirty="0"/>
              <a:t>linear approximation is assumed</a:t>
            </a:r>
            <a:r>
              <a:rPr lang="en-US" altLang="zh-CN" dirty="0"/>
              <a:t> and the </a:t>
            </a:r>
            <a:r>
              <a:rPr lang="en-US" altLang="zh-CN" u="sng" dirty="0"/>
              <a:t>underlying factor is assumed to follow a normal distribution</a:t>
            </a:r>
            <a:r>
              <a:rPr lang="en-US" altLang="zh-CN" dirty="0"/>
              <a:t>.</a:t>
            </a:r>
            <a:r>
              <a:rPr lang="en-US" altLang="zh-CN" u="sng" dirty="0"/>
              <a:t> </a:t>
            </a:r>
            <a:r>
              <a:rPr lang="en-US" altLang="zh-CN" dirty="0"/>
              <a:t>Although the delta-normal method analytically tractable, it is only an approximation. It is </a:t>
            </a:r>
            <a:r>
              <a:rPr lang="en-US" altLang="zh-CN" u="sng" dirty="0"/>
              <a:t>not good for derivatives with extreme nonlinearities (MBS, Fixed-income securities with embedded option)</a:t>
            </a:r>
            <a:r>
              <a:rPr lang="en-US" altLang="zh-CN" dirty="0"/>
              <a:t>.</a:t>
            </a:r>
            <a:endParaRPr lang="zh-CN" altLang="en-US" dirty="0"/>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1B858CD9-CB2F-4919-B51A-FC6529ABFAF9}"/>
                  </a:ext>
                </a:extLst>
              </p:cNvPr>
              <p:cNvSpPr/>
              <p:nvPr/>
            </p:nvSpPr>
            <p:spPr>
              <a:xfrm>
                <a:off x="2600266" y="1650433"/>
                <a:ext cx="6991466" cy="491738"/>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𝑉𝑎</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𝑅</m:t>
                          </m:r>
                        </m:e>
                        <m:sub>
                          <m:r>
                            <a:rPr lang="zh-CN" altLang="en-US" sz="2400" i="1">
                              <a:latin typeface="Cambria Math" panose="02040503050406030204" pitchFamily="18" charset="0"/>
                            </a:rPr>
                            <m:t>𝐿𝑖𝑛𝑒𝑎𝑟</m:t>
                          </m:r>
                          <m:r>
                            <m:rPr>
                              <m:nor/>
                            </m:rPr>
                            <a:rPr lang="zh-CN" altLang="en-US" sz="2400" i="1">
                              <a:latin typeface="Cambria Math" panose="02040503050406030204" pitchFamily="18" charset="0"/>
                            </a:rPr>
                            <m:t> </m:t>
                          </m:r>
                          <m:r>
                            <a:rPr lang="zh-CN" altLang="en-US" sz="2400" i="1">
                              <a:latin typeface="Cambria Math" panose="02040503050406030204" pitchFamily="18" charset="0"/>
                            </a:rPr>
                            <m:t>𝐷𝑒𝑟𝑖𝑣𝑎𝑡𝑖𝑣𝑒</m:t>
                          </m:r>
                        </m:sub>
                      </m:sSub>
                      <m:r>
                        <a:rPr lang="zh-CN" altLang="en-US" sz="2400" i="0">
                          <a:latin typeface="Cambria Math" panose="02040503050406030204" pitchFamily="18" charset="0"/>
                        </a:rPr>
                        <m:t>=</m:t>
                      </m:r>
                      <m:r>
                        <a:rPr lang="zh-CN" altLang="en-US" sz="2400" i="1">
                          <a:latin typeface="Cambria Math" panose="02040503050406030204" pitchFamily="18" charset="0"/>
                        </a:rPr>
                        <m:t>𝛥</m:t>
                      </m:r>
                      <m:r>
                        <a:rPr lang="zh-CN" altLang="en-US" sz="2400" i="0">
                          <a:latin typeface="Cambria Math" panose="02040503050406030204" pitchFamily="18" charset="0"/>
                        </a:rPr>
                        <m:t>×</m:t>
                      </m:r>
                      <m:r>
                        <a:rPr lang="zh-CN" altLang="en-US" sz="2400" i="1">
                          <a:latin typeface="Cambria Math" panose="02040503050406030204" pitchFamily="18" charset="0"/>
                        </a:rPr>
                        <m:t>𝑉𝑎</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𝑅</m:t>
                          </m:r>
                        </m:e>
                        <m:sub>
                          <m:r>
                            <a:rPr lang="zh-CN" altLang="en-US" sz="2400" i="1">
                              <a:latin typeface="Cambria Math" panose="02040503050406030204" pitchFamily="18" charset="0"/>
                            </a:rPr>
                            <m:t>𝑈𝑛𝑑𝑒𝑟𝑙𝑦𝑖𝑛𝑔</m:t>
                          </m:r>
                          <m:r>
                            <m:rPr>
                              <m:nor/>
                            </m:rPr>
                            <a:rPr lang="zh-CN" altLang="en-US" sz="2400" i="1">
                              <a:latin typeface="Cambria Math" panose="02040503050406030204" pitchFamily="18" charset="0"/>
                            </a:rPr>
                            <m:t> </m:t>
                          </m:r>
                          <m:r>
                            <a:rPr lang="zh-CN" altLang="en-US" sz="2400" i="1">
                              <a:latin typeface="Cambria Math" panose="02040503050406030204" pitchFamily="18" charset="0"/>
                            </a:rPr>
                            <m:t>𝑅𝑖𝑠𝑘</m:t>
                          </m:r>
                          <m:r>
                            <m:rPr>
                              <m:nor/>
                            </m:rPr>
                            <a:rPr lang="zh-CN" altLang="en-US" sz="2400" i="1">
                              <a:latin typeface="Cambria Math" panose="02040503050406030204" pitchFamily="18" charset="0"/>
                            </a:rPr>
                            <m:t> </m:t>
                          </m:r>
                          <m:r>
                            <a:rPr lang="zh-CN" altLang="en-US" sz="2400" i="1">
                              <a:latin typeface="Cambria Math" panose="02040503050406030204" pitchFamily="18" charset="0"/>
                            </a:rPr>
                            <m:t>𝐹𝑎𝑐𝑡𝑜𝑟</m:t>
                          </m:r>
                        </m:sub>
                      </m:sSub>
                    </m:oMath>
                  </m:oMathPara>
                </a14:m>
                <a:endParaRPr lang="zh-CN" altLang="en-US" sz="2400" dirty="0"/>
              </a:p>
            </p:txBody>
          </p:sp>
        </mc:Choice>
        <mc:Fallback xmlns="">
          <p:sp>
            <p:nvSpPr>
              <p:cNvPr id="4" name="矩形 3">
                <a:extLst>
                  <a:ext uri="{FF2B5EF4-FFF2-40B4-BE49-F238E27FC236}">
                    <a16:creationId xmlns:a16="http://schemas.microsoft.com/office/drawing/2014/main" id="{1B858CD9-CB2F-4919-B51A-FC6529ABFAF9}"/>
                  </a:ext>
                </a:extLst>
              </p:cNvPr>
              <p:cNvSpPr>
                <a:spLocks noRot="1" noChangeAspect="1" noMove="1" noResize="1" noEditPoints="1" noAdjustHandles="1" noChangeArrowheads="1" noChangeShapeType="1" noTextEdit="1"/>
              </p:cNvSpPr>
              <p:nvPr/>
            </p:nvSpPr>
            <p:spPr>
              <a:xfrm>
                <a:off x="2600266" y="1650433"/>
                <a:ext cx="6991466" cy="491738"/>
              </a:xfrm>
              <a:prstGeom prst="rect">
                <a:avLst/>
              </a:prstGeom>
              <a:blipFill>
                <a:blip r:embed="rId3"/>
                <a:stretch>
                  <a:fillRect b="-10976"/>
                </a:stretch>
              </a:blipFill>
              <a:ln>
                <a:solidFill>
                  <a:schemeClr val="accent1">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1177661-B2F4-4C8A-B569-B432D781DEE7}"/>
                  </a:ext>
                </a:extLst>
              </p:cNvPr>
              <p:cNvSpPr/>
              <p:nvPr/>
            </p:nvSpPr>
            <p:spPr>
              <a:xfrm>
                <a:off x="3807872" y="5352825"/>
                <a:ext cx="4576253" cy="829073"/>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2400" i="1">
                              <a:latin typeface="Cambria Math" panose="02040503050406030204" pitchFamily="18" charset="0"/>
                            </a:rPr>
                          </m:ctrlPr>
                        </m:mPr>
                        <m:mr>
                          <m:e>
                            <m:r>
                              <a:rPr lang="zh-CN" altLang="en-US" sz="2400" i="1">
                                <a:latin typeface="Cambria Math" panose="02040503050406030204" pitchFamily="18" charset="0"/>
                              </a:rPr>
                              <m:t>𝑉𝑎𝑅</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𝑑𝑃</m:t>
                                </m:r>
                              </m:e>
                            </m:d>
                            <m:r>
                              <a:rPr lang="zh-CN" altLang="en-US" sz="2400" i="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𝐷</m:t>
                                </m:r>
                              </m:e>
                              <m:sup>
                                <m:r>
                                  <a:rPr lang="zh-CN" altLang="en-US" sz="2400" i="0">
                                    <a:latin typeface="Cambria Math" panose="02040503050406030204" pitchFamily="18" charset="0"/>
                                  </a:rPr>
                                  <m:t>∗</m:t>
                                </m:r>
                              </m:sup>
                            </m:sSup>
                            <m:r>
                              <a:rPr lang="zh-CN" altLang="en-US" sz="2400" i="1">
                                <a:latin typeface="Cambria Math" panose="02040503050406030204" pitchFamily="18" charset="0"/>
                              </a:rPr>
                              <m:t>𝑃</m:t>
                            </m:r>
                            <m:r>
                              <a:rPr lang="zh-CN" altLang="en-US" sz="2400" i="0">
                                <a:latin typeface="Cambria Math" panose="02040503050406030204" pitchFamily="18" charset="0"/>
                              </a:rPr>
                              <m:t>|×</m:t>
                            </m:r>
                            <m:r>
                              <m:rPr>
                                <m:nor/>
                              </m:rPr>
                              <a:rPr lang="zh-CN" altLang="en-US" sz="2400" i="1">
                                <a:latin typeface="Cambria Math" panose="02040503050406030204" pitchFamily="18" charset="0"/>
                              </a:rPr>
                              <m:t> </m:t>
                            </m:r>
                            <m:r>
                              <a:rPr lang="zh-CN" altLang="en-US" sz="2400" i="1">
                                <a:latin typeface="Cambria Math" panose="02040503050406030204" pitchFamily="18" charset="0"/>
                              </a:rPr>
                              <m:t>𝑉𝑎𝑅</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𝑑𝑦</m:t>
                                </m:r>
                              </m:e>
                            </m:d>
                          </m:e>
                        </m:mr>
                        <m:mr>
                          <m:e>
                            <m:r>
                              <a:rPr lang="zh-CN" altLang="en-US" sz="2400" i="1">
                                <a:latin typeface="Cambria Math" panose="02040503050406030204" pitchFamily="18" charset="0"/>
                              </a:rPr>
                              <m:t>𝑉𝑎𝑅</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𝑑𝑓</m:t>
                                </m:r>
                              </m:e>
                            </m:d>
                            <m:r>
                              <a:rPr lang="zh-CN" altLang="en-US" sz="2400" i="0">
                                <a:latin typeface="Cambria Math" panose="02040503050406030204" pitchFamily="18" charset="0"/>
                              </a:rPr>
                              <m:t>=|</m:t>
                            </m:r>
                            <m:r>
                              <a:rPr lang="zh-CN" altLang="en-US" sz="2400" i="1">
                                <a:latin typeface="Cambria Math" panose="02040503050406030204" pitchFamily="18" charset="0"/>
                              </a:rPr>
                              <m:t>𝛥</m:t>
                            </m:r>
                            <m:r>
                              <a:rPr lang="zh-CN" altLang="en-US" sz="2400" i="0">
                                <a:latin typeface="Cambria Math" panose="02040503050406030204" pitchFamily="18" charset="0"/>
                              </a:rPr>
                              <m:t>|×</m:t>
                            </m:r>
                            <m:r>
                              <m:rPr>
                                <m:nor/>
                              </m:rPr>
                              <a:rPr lang="zh-CN" altLang="en-US" sz="2400" i="1">
                                <a:latin typeface="Cambria Math" panose="02040503050406030204" pitchFamily="18" charset="0"/>
                              </a:rPr>
                              <m:t> </m:t>
                            </m:r>
                            <m:r>
                              <a:rPr lang="zh-CN" altLang="en-US" sz="2400" i="1">
                                <a:latin typeface="Cambria Math" panose="02040503050406030204" pitchFamily="18" charset="0"/>
                              </a:rPr>
                              <m:t>𝑉𝑎𝑅</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𝑑𝑆</m:t>
                                </m:r>
                              </m:e>
                            </m:d>
                          </m:e>
                        </m:mr>
                      </m:m>
                    </m:oMath>
                  </m:oMathPara>
                </a14:m>
                <a:endParaRPr lang="zh-CN" altLang="en-US" sz="2400" dirty="0"/>
              </a:p>
            </p:txBody>
          </p:sp>
        </mc:Choice>
        <mc:Fallback xmlns="">
          <p:sp>
            <p:nvSpPr>
              <p:cNvPr id="5" name="矩形 4">
                <a:extLst>
                  <a:ext uri="{FF2B5EF4-FFF2-40B4-BE49-F238E27FC236}">
                    <a16:creationId xmlns:a16="http://schemas.microsoft.com/office/drawing/2014/main" id="{B1177661-B2F4-4C8A-B569-B432D781DEE7}"/>
                  </a:ext>
                </a:extLst>
              </p:cNvPr>
              <p:cNvSpPr>
                <a:spLocks noRot="1" noChangeAspect="1" noMove="1" noResize="1" noEditPoints="1" noAdjustHandles="1" noChangeArrowheads="1" noChangeShapeType="1" noTextEdit="1"/>
              </p:cNvSpPr>
              <p:nvPr/>
            </p:nvSpPr>
            <p:spPr>
              <a:xfrm>
                <a:off x="3807872" y="5352825"/>
                <a:ext cx="4576253" cy="829073"/>
              </a:xfrm>
              <a:prstGeom prst="rect">
                <a:avLst/>
              </a:prstGeom>
              <a:blipFill>
                <a:blip r:embed="rId4"/>
                <a:stretch>
                  <a:fillRect/>
                </a:stretch>
              </a:blipFill>
              <a:ln>
                <a:solidFill>
                  <a:schemeClr val="accent1">
                    <a:lumMod val="75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101517969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Putting </a:t>
            </a:r>
            <a:r>
              <a:rPr lang="en-US" altLang="zh-CN" sz="2800" dirty="0" err="1"/>
              <a:t>VaR</a:t>
            </a:r>
            <a:r>
              <a:rPr lang="en-US" altLang="zh-CN" sz="2800" dirty="0"/>
              <a:t> to Work</a:t>
            </a:r>
            <a:endParaRPr lang="zh-CN" altLang="en-US" sz="2800" dirty="0"/>
          </a:p>
        </p:txBody>
      </p:sp>
      <p:sp>
        <p:nvSpPr>
          <p:cNvPr id="3" name="文本占位符 2"/>
          <p:cNvSpPr>
            <a:spLocks noGrp="1"/>
          </p:cNvSpPr>
          <p:nvPr>
            <p:ph type="body" sz="quarter" idx="10"/>
          </p:nvPr>
        </p:nvSpPr>
        <p:spPr/>
        <p:txBody>
          <a:bodyPr>
            <a:normAutofit/>
          </a:bodyPr>
          <a:lstStyle/>
          <a:p>
            <a:pPr lvl="1"/>
            <a:r>
              <a:rPr lang="en-US" altLang="zh-CN" b="1" dirty="0"/>
              <a:t>Example: </a:t>
            </a:r>
            <a:r>
              <a:rPr lang="en-US" altLang="zh-CN" dirty="0"/>
              <a:t>The Big Pharma Inc’s stock is trading at USD 23 and the stock has a daily volatility of 1.5%. Using the delta-normal method, what is the </a:t>
            </a:r>
            <a:r>
              <a:rPr lang="en-US" altLang="zh-CN" dirty="0" err="1"/>
              <a:t>VaR</a:t>
            </a:r>
            <a:r>
              <a:rPr lang="en-US" altLang="zh-CN" dirty="0"/>
              <a:t> at the 95% confidence level of a long position in an at-the-money put on this stock with a delta of -0.5 over a 1-day holding period?</a:t>
            </a:r>
          </a:p>
          <a:p>
            <a:pPr lvl="1"/>
            <a:endParaRPr lang="en-US" altLang="zh-CN" dirty="0"/>
          </a:p>
          <a:p>
            <a:endParaRPr lang="en-US" altLang="zh-CN" dirty="0"/>
          </a:p>
          <a:p>
            <a:r>
              <a:rPr lang="en-US" altLang="zh-CN" dirty="0" err="1"/>
              <a:t>VaR</a:t>
            </a:r>
            <a:r>
              <a:rPr lang="en-US" altLang="zh-CN" dirty="0"/>
              <a:t> of Nonlinear Derivatives – Delta-Gamma Approximation</a:t>
            </a:r>
          </a:p>
          <a:p>
            <a:endParaRPr lang="en-US" altLang="zh-CN" dirty="0"/>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0AEFEAEE-2BE9-4CBB-A353-FADC20A72FB3}"/>
                  </a:ext>
                </a:extLst>
              </p:cNvPr>
              <p:cNvSpPr/>
              <p:nvPr/>
            </p:nvSpPr>
            <p:spPr>
              <a:xfrm>
                <a:off x="1040422" y="3900317"/>
                <a:ext cx="10111154"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𝑉𝑎𝑅</m:t>
                      </m:r>
                      <m:r>
                        <a:rPr lang="zh-CN" altLang="en-US" sz="2400" i="0">
                          <a:latin typeface="Cambria Math" panose="02040503050406030204" pitchFamily="18" charset="0"/>
                        </a:rPr>
                        <m:t>=|</m:t>
                      </m:r>
                      <m:r>
                        <a:rPr lang="zh-CN" altLang="en-US" sz="2400" i="1">
                          <a:latin typeface="Cambria Math" panose="02040503050406030204" pitchFamily="18" charset="0"/>
                        </a:rPr>
                        <m:t>𝑑𝑒𝑙𝑡𝑎</m:t>
                      </m:r>
                      <m:r>
                        <a:rPr lang="zh-CN" altLang="en-US" sz="2400" i="0">
                          <a:latin typeface="Cambria Math" panose="02040503050406030204" pitchFamily="18" charset="0"/>
                        </a:rPr>
                        <m:t>|×1.645×</m:t>
                      </m:r>
                      <m:r>
                        <a:rPr lang="zh-CN" altLang="en-US" sz="2400" i="1">
                          <a:latin typeface="Cambria Math" panose="02040503050406030204" pitchFamily="18" charset="0"/>
                        </a:rPr>
                        <m:t>𝜎</m:t>
                      </m:r>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𝑆</m:t>
                          </m:r>
                        </m:e>
                        <m:sub>
                          <m:r>
                            <a:rPr lang="zh-CN" altLang="en-US" sz="2400" i="0">
                              <a:latin typeface="Cambria Math" panose="02040503050406030204" pitchFamily="18" charset="0"/>
                            </a:rPr>
                            <m:t>0</m:t>
                          </m:r>
                        </m:sub>
                      </m:sSub>
                      <m:r>
                        <a:rPr lang="zh-CN" altLang="en-US" sz="2400" i="0">
                          <a:latin typeface="Cambria Math" panose="02040503050406030204" pitchFamily="18" charset="0"/>
                        </a:rPr>
                        <m:t>=0.5×1.645×0.015×23=0.28</m:t>
                      </m:r>
                    </m:oMath>
                  </m:oMathPara>
                </a14:m>
                <a:endParaRPr lang="zh-CN" altLang="en-US" sz="2400" dirty="0"/>
              </a:p>
            </p:txBody>
          </p:sp>
        </mc:Choice>
        <mc:Fallback xmlns="">
          <p:sp>
            <p:nvSpPr>
              <p:cNvPr id="4" name="矩形 3">
                <a:extLst>
                  <a:ext uri="{FF2B5EF4-FFF2-40B4-BE49-F238E27FC236}">
                    <a16:creationId xmlns:a16="http://schemas.microsoft.com/office/drawing/2014/main" id="{0AEFEAEE-2BE9-4CBB-A353-FADC20A72FB3}"/>
                  </a:ext>
                </a:extLst>
              </p:cNvPr>
              <p:cNvSpPr>
                <a:spLocks noRot="1" noChangeAspect="1" noMove="1" noResize="1" noEditPoints="1" noAdjustHandles="1" noChangeArrowheads="1" noChangeShapeType="1" noTextEdit="1"/>
              </p:cNvSpPr>
              <p:nvPr/>
            </p:nvSpPr>
            <p:spPr>
              <a:xfrm>
                <a:off x="1040422" y="3900317"/>
                <a:ext cx="10111154" cy="461665"/>
              </a:xfrm>
              <a:prstGeom prst="rect">
                <a:avLst/>
              </a:prstGeom>
              <a:blipFill>
                <a:blip r:embed="rId3"/>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67EFB09F-AC6B-4F29-A838-216CB1682D60}"/>
                  </a:ext>
                </a:extLst>
              </p:cNvPr>
              <p:cNvSpPr/>
              <p:nvPr/>
            </p:nvSpPr>
            <p:spPr>
              <a:xfrm>
                <a:off x="3063214" y="5304273"/>
                <a:ext cx="6065570" cy="1169359"/>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𝑉𝑎𝑅</m:t>
                            </m:r>
                            <m:d>
                              <m:dPr>
                                <m:ctrlPr>
                                  <a:rPr lang="zh-CN" altLang="en-US" i="1">
                                    <a:latin typeface="Cambria Math" panose="02040503050406030204" pitchFamily="18" charset="0"/>
                                  </a:rPr>
                                </m:ctrlPr>
                              </m:dPr>
                              <m:e>
                                <m:r>
                                  <a:rPr lang="zh-CN" altLang="en-US" i="1">
                                    <a:latin typeface="Cambria Math" panose="02040503050406030204" pitchFamily="18" charset="0"/>
                                  </a:rPr>
                                  <m:t>𝑑𝑃</m:t>
                                </m:r>
                              </m:e>
                            </m:d>
                            <m:r>
                              <a:rPr lang="zh-CN" altLang="en-US" i="0">
                                <a:latin typeface="Cambria Math" panose="02040503050406030204" pitchFamily="18" charset="0"/>
                              </a:rPr>
                              <m:t>=|−</m:t>
                            </m:r>
                            <m:r>
                              <a:rPr lang="zh-CN" altLang="en-US" i="1">
                                <a:latin typeface="Cambria Math" panose="02040503050406030204" pitchFamily="18" charset="0"/>
                              </a:rPr>
                              <m:t>𝐷</m:t>
                            </m:r>
                            <m:r>
                              <a:rPr lang="zh-CN" altLang="en-US" i="0">
                                <a:latin typeface="Cambria Math" panose="02040503050406030204" pitchFamily="18" charset="0"/>
                              </a:rPr>
                              <m:t>×</m:t>
                            </m:r>
                            <m:r>
                              <a:rPr lang="zh-CN" altLang="en-US" i="1">
                                <a:latin typeface="Cambria Math" panose="02040503050406030204" pitchFamily="18" charset="0"/>
                              </a:rPr>
                              <m:t>𝑃</m:t>
                            </m:r>
                            <m:r>
                              <a:rPr lang="zh-CN" altLang="en-US" i="0">
                                <a:latin typeface="Cambria Math" panose="02040503050406030204" pitchFamily="18" charset="0"/>
                              </a:rPr>
                              <m:t>|×</m:t>
                            </m:r>
                            <m:r>
                              <a:rPr lang="zh-CN" altLang="en-US" i="1">
                                <a:latin typeface="Cambria Math" panose="02040503050406030204" pitchFamily="18" charset="0"/>
                              </a:rPr>
                              <m:t>𝑉𝑎𝑅</m:t>
                            </m:r>
                            <m:d>
                              <m:dPr>
                                <m:ctrlPr>
                                  <a:rPr lang="zh-CN" altLang="en-US" i="1">
                                    <a:latin typeface="Cambria Math" panose="02040503050406030204" pitchFamily="18" charset="0"/>
                                  </a:rPr>
                                </m:ctrlPr>
                              </m:dPr>
                              <m:e>
                                <m:r>
                                  <a:rPr lang="zh-CN" altLang="en-US" i="1">
                                    <a:latin typeface="Cambria Math" panose="02040503050406030204" pitchFamily="18" charset="0"/>
                                  </a:rPr>
                                  <m:t>𝑑𝑦</m:t>
                                </m:r>
                              </m:e>
                            </m:d>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den>
                            </m:f>
                            <m:d>
                              <m:dPr>
                                <m:ctrlPr>
                                  <a:rPr lang="zh-CN" altLang="en-US" i="1">
                                    <a:latin typeface="Cambria Math" panose="02040503050406030204" pitchFamily="18" charset="0"/>
                                  </a:rPr>
                                </m:ctrlPr>
                              </m:dPr>
                              <m:e>
                                <m:r>
                                  <a:rPr lang="zh-CN" altLang="en-US" i="1">
                                    <a:latin typeface="Cambria Math" panose="02040503050406030204" pitchFamily="18" charset="0"/>
                                  </a:rPr>
                                  <m:t>𝐶</m:t>
                                </m:r>
                                <m:r>
                                  <a:rPr lang="zh-CN" altLang="en-US" i="0">
                                    <a:latin typeface="Cambria Math" panose="02040503050406030204" pitchFamily="18" charset="0"/>
                                  </a:rPr>
                                  <m:t>×</m:t>
                                </m:r>
                                <m:r>
                                  <a:rPr lang="zh-CN" altLang="en-US" i="1">
                                    <a:latin typeface="Cambria Math" panose="02040503050406030204" pitchFamily="18" charset="0"/>
                                  </a:rPr>
                                  <m:t>𝑃</m:t>
                                </m:r>
                              </m:e>
                            </m:d>
                            <m:r>
                              <a:rPr lang="zh-CN" altLang="en-US" i="0">
                                <a:latin typeface="Cambria Math" panose="02040503050406030204" pitchFamily="18" charset="0"/>
                              </a:rPr>
                              <m:t>×</m:t>
                            </m:r>
                            <m:r>
                              <a:rPr lang="zh-CN" altLang="en-US" i="1">
                                <a:latin typeface="Cambria Math" panose="02040503050406030204" pitchFamily="18" charset="0"/>
                              </a:rPr>
                              <m:t>𝑉𝑎𝑅</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1">
                                        <a:latin typeface="Cambria Math" panose="02040503050406030204" pitchFamily="18" charset="0"/>
                                      </a:rPr>
                                      <m:t>𝑑𝑦</m:t>
                                    </m:r>
                                  </m:e>
                                </m:d>
                              </m:e>
                              <m:sup>
                                <m:r>
                                  <a:rPr lang="zh-CN" altLang="en-US" i="0">
                                    <a:latin typeface="Cambria Math" panose="02040503050406030204" pitchFamily="18" charset="0"/>
                                  </a:rPr>
                                  <m:t>2</m:t>
                                </m:r>
                              </m:sup>
                            </m:sSup>
                          </m:e>
                        </m:mr>
                        <m:mr>
                          <m:e>
                            <m:r>
                              <a:rPr lang="zh-CN" altLang="en-US" i="1">
                                <a:latin typeface="Cambria Math" panose="02040503050406030204" pitchFamily="18" charset="0"/>
                              </a:rPr>
                              <m:t>𝑉𝑎𝑅</m:t>
                            </m:r>
                            <m:d>
                              <m:dPr>
                                <m:ctrlPr>
                                  <a:rPr lang="zh-CN" altLang="en-US" i="1">
                                    <a:latin typeface="Cambria Math" panose="02040503050406030204" pitchFamily="18" charset="0"/>
                                  </a:rPr>
                                </m:ctrlPr>
                              </m:dPr>
                              <m:e>
                                <m:r>
                                  <a:rPr lang="zh-CN" altLang="en-US" i="1">
                                    <a:latin typeface="Cambria Math" panose="02040503050406030204" pitchFamily="18" charset="0"/>
                                  </a:rPr>
                                  <m:t>𝑑𝑓</m:t>
                                </m:r>
                              </m:e>
                            </m:d>
                            <m:r>
                              <a:rPr lang="zh-CN" altLang="en-US" i="0">
                                <a:latin typeface="Cambria Math" panose="02040503050406030204" pitchFamily="18" charset="0"/>
                              </a:rPr>
                              <m:t>=|</m:t>
                            </m:r>
                            <m:r>
                              <a:rPr lang="zh-CN" altLang="en-US" i="1">
                                <a:latin typeface="Cambria Math" panose="02040503050406030204" pitchFamily="18" charset="0"/>
                              </a:rPr>
                              <m:t>𝛥</m:t>
                            </m:r>
                            <m:r>
                              <a:rPr lang="zh-CN" altLang="en-US" i="0">
                                <a:latin typeface="Cambria Math" panose="02040503050406030204" pitchFamily="18" charset="0"/>
                              </a:rPr>
                              <m:t>|×</m:t>
                            </m:r>
                            <m:r>
                              <a:rPr lang="zh-CN" altLang="en-US" i="1">
                                <a:latin typeface="Cambria Math" panose="02040503050406030204" pitchFamily="18" charset="0"/>
                              </a:rPr>
                              <m:t>𝑉𝑎𝑅</m:t>
                            </m:r>
                            <m:d>
                              <m:dPr>
                                <m:ctrlPr>
                                  <a:rPr lang="zh-CN" altLang="en-US" i="1">
                                    <a:latin typeface="Cambria Math" panose="02040503050406030204" pitchFamily="18" charset="0"/>
                                  </a:rPr>
                                </m:ctrlPr>
                              </m:dPr>
                              <m:e>
                                <m:r>
                                  <a:rPr lang="zh-CN" altLang="en-US" i="1">
                                    <a:latin typeface="Cambria Math" panose="02040503050406030204" pitchFamily="18" charset="0"/>
                                  </a:rPr>
                                  <m:t>𝑑𝑆</m:t>
                                </m:r>
                              </m:e>
                            </m:d>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den>
                            </m:f>
                            <m:r>
                              <a:rPr lang="zh-CN" altLang="en-US" i="1">
                                <a:latin typeface="Cambria Math" panose="02040503050406030204" pitchFamily="18" charset="0"/>
                              </a:rPr>
                              <m:t>𝛤</m:t>
                            </m:r>
                            <m:r>
                              <a:rPr lang="zh-CN" altLang="en-US" i="0">
                                <a:latin typeface="Cambria Math" panose="02040503050406030204" pitchFamily="18" charset="0"/>
                              </a:rPr>
                              <m:t>×</m:t>
                            </m:r>
                            <m:r>
                              <a:rPr lang="zh-CN" altLang="en-US" i="1">
                                <a:latin typeface="Cambria Math" panose="02040503050406030204" pitchFamily="18" charset="0"/>
                              </a:rPr>
                              <m:t>𝑉𝑎𝑅</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1">
                                        <a:latin typeface="Cambria Math" panose="02040503050406030204" pitchFamily="18" charset="0"/>
                                      </a:rPr>
                                      <m:t>𝑑𝑆</m:t>
                                    </m:r>
                                  </m:e>
                                </m:d>
                              </m:e>
                              <m:sup>
                                <m:r>
                                  <a:rPr lang="zh-CN" altLang="en-US" i="0">
                                    <a:latin typeface="Cambria Math" panose="02040503050406030204" pitchFamily="18" charset="0"/>
                                  </a:rPr>
                                  <m:t>2</m:t>
                                </m:r>
                              </m:sup>
                            </m:sSup>
                          </m:e>
                        </m:mr>
                      </m:m>
                    </m:oMath>
                  </m:oMathPara>
                </a14:m>
                <a:endParaRPr lang="zh-CN" altLang="en-US" dirty="0"/>
              </a:p>
            </p:txBody>
          </p:sp>
        </mc:Choice>
        <mc:Fallback xmlns="">
          <p:sp>
            <p:nvSpPr>
              <p:cNvPr id="5" name="矩形 4">
                <a:extLst>
                  <a:ext uri="{FF2B5EF4-FFF2-40B4-BE49-F238E27FC236}">
                    <a16:creationId xmlns:a16="http://schemas.microsoft.com/office/drawing/2014/main" id="{67EFB09F-AC6B-4F29-A838-216CB1682D60}"/>
                  </a:ext>
                </a:extLst>
              </p:cNvPr>
              <p:cNvSpPr>
                <a:spLocks noRot="1" noChangeAspect="1" noMove="1" noResize="1" noEditPoints="1" noAdjustHandles="1" noChangeArrowheads="1" noChangeShapeType="1" noTextEdit="1"/>
              </p:cNvSpPr>
              <p:nvPr/>
            </p:nvSpPr>
            <p:spPr>
              <a:xfrm>
                <a:off x="3063214" y="5304273"/>
                <a:ext cx="6065570" cy="1169359"/>
              </a:xfrm>
              <a:prstGeom prst="rect">
                <a:avLst/>
              </a:prstGeom>
              <a:blipFill>
                <a:blip r:embed="rId4"/>
                <a:stretch>
                  <a:fillRect/>
                </a:stretch>
              </a:blipFill>
              <a:ln>
                <a:solidFill>
                  <a:schemeClr val="accent1">
                    <a:lumMod val="75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303523038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Putting </a:t>
            </a:r>
            <a:r>
              <a:rPr lang="en-US" altLang="zh-CN" sz="2800" dirty="0" err="1"/>
              <a:t>VaR</a:t>
            </a:r>
            <a:r>
              <a:rPr lang="en-US" altLang="zh-CN" sz="2800" dirty="0"/>
              <a:t> to Work</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err="1"/>
              <a:t>VaR</a:t>
            </a:r>
            <a:r>
              <a:rPr lang="en-US" altLang="zh-CN" dirty="0"/>
              <a:t> of Nonlinear Derivatives - Full Revaluation Method</a:t>
            </a:r>
          </a:p>
          <a:p>
            <a:pPr lvl="1"/>
            <a:r>
              <a:rPr lang="en-US" altLang="zh-CN" u="sng" dirty="0"/>
              <a:t>Full re-pricing</a:t>
            </a:r>
            <a:r>
              <a:rPr lang="en-US" altLang="zh-CN" dirty="0"/>
              <a:t> of the portfolio under the assumption that the </a:t>
            </a:r>
            <a:r>
              <a:rPr lang="en-US" altLang="zh-CN" u="sng" dirty="0"/>
              <a:t>underlying risk factor(s) are shocked to experience a loss</a:t>
            </a:r>
            <a:r>
              <a:rPr lang="en-US" altLang="zh-CN" dirty="0"/>
              <a:t>. i.e., what is the worst expected change in the risk factor, given some confidence and time horizon. Then, </a:t>
            </a:r>
            <a:r>
              <a:rPr lang="en-US" altLang="zh-CN" u="sng" dirty="0"/>
              <a:t>full revaluation prices the portfolio under changed risk factors</a:t>
            </a:r>
            <a:r>
              <a:rPr lang="en-US" altLang="zh-CN" dirty="0"/>
              <a:t>.</a:t>
            </a:r>
          </a:p>
          <a:p>
            <a:pPr lvl="1"/>
            <a:r>
              <a:rPr lang="en-US" altLang="zh-CN" dirty="0"/>
              <a:t>Full revaluation is </a:t>
            </a:r>
            <a:r>
              <a:rPr lang="en-US" altLang="zh-CN" u="sng" dirty="0"/>
              <a:t>accurate but computationally burdensome</a:t>
            </a:r>
            <a:r>
              <a:rPr lang="en-US" altLang="zh-CN" dirty="0"/>
              <a:t>.</a:t>
            </a:r>
          </a:p>
          <a:p>
            <a:pPr lvl="2"/>
            <a:r>
              <a:rPr lang="en-US" altLang="zh-CN" dirty="0"/>
              <a:t>Historical Simulation</a:t>
            </a:r>
          </a:p>
          <a:p>
            <a:pPr lvl="2"/>
            <a:r>
              <a:rPr lang="en-US" altLang="zh-CN" dirty="0"/>
              <a:t>Bootstrap Simulation</a:t>
            </a:r>
          </a:p>
          <a:p>
            <a:pPr lvl="2"/>
            <a:r>
              <a:rPr lang="en-US" altLang="zh-CN" dirty="0"/>
              <a:t>Monte Carlo Simulation</a:t>
            </a:r>
          </a:p>
          <a:p>
            <a:pPr lvl="2"/>
            <a:r>
              <a:rPr lang="en-US" altLang="zh-CN" dirty="0"/>
              <a:t>Scenario Analysis</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45760117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Putting </a:t>
            </a:r>
            <a:r>
              <a:rPr lang="en-US" altLang="zh-CN" sz="2800" dirty="0" err="1"/>
              <a:t>VaR</a:t>
            </a:r>
            <a:r>
              <a:rPr lang="en-US" altLang="zh-CN" sz="2800" dirty="0"/>
              <a:t> to Work</a:t>
            </a:r>
            <a:endParaRPr lang="zh-CN" altLang="en-US" sz="2800" dirty="0"/>
          </a:p>
        </p:txBody>
      </p:sp>
      <p:sp>
        <p:nvSpPr>
          <p:cNvPr id="3" name="文本占位符 2"/>
          <p:cNvSpPr>
            <a:spLocks noGrp="1"/>
          </p:cNvSpPr>
          <p:nvPr>
            <p:ph type="body" sz="quarter" idx="10"/>
          </p:nvPr>
        </p:nvSpPr>
        <p:spPr/>
        <p:txBody>
          <a:bodyPr>
            <a:normAutofit/>
          </a:bodyPr>
          <a:lstStyle/>
          <a:p>
            <a:pPr lvl="1"/>
            <a:r>
              <a:rPr lang="en-US" altLang="zh-CN" b="1" dirty="0"/>
              <a:t>Structural Monte Carlo</a:t>
            </a:r>
          </a:p>
          <a:p>
            <a:pPr lvl="1"/>
            <a:endParaRPr lang="en-US" altLang="zh-CN" dirty="0"/>
          </a:p>
          <a:p>
            <a:pPr lvl="1"/>
            <a:endParaRPr lang="en-US" altLang="zh-CN" dirty="0"/>
          </a:p>
          <a:p>
            <a:pPr lvl="1"/>
            <a:endParaRPr lang="en-US" altLang="zh-CN" dirty="0"/>
          </a:p>
          <a:p>
            <a:pPr lvl="1"/>
            <a:endParaRPr lang="en-US" altLang="zh-CN" dirty="0"/>
          </a:p>
          <a:p>
            <a:pPr lvl="1">
              <a:spcBef>
                <a:spcPts val="1800"/>
              </a:spcBef>
            </a:pPr>
            <a:r>
              <a:rPr lang="en-US" altLang="zh-CN" b="1" dirty="0"/>
              <a:t>Scenario Analysis (Stress Testing)</a:t>
            </a:r>
            <a:endParaRPr lang="zh-CN" altLang="en-US" b="1" dirty="0"/>
          </a:p>
          <a:p>
            <a:endParaRPr lang="zh-CN" altLang="en-US" dirty="0">
              <a:latin typeface="+mn-lt"/>
              <a:ea typeface="+mn-ea"/>
              <a:cs typeface="+mn-ea"/>
              <a:sym typeface="+mn-lt"/>
            </a:endParaRPr>
          </a:p>
        </p:txBody>
      </p:sp>
      <p:graphicFrame>
        <p:nvGraphicFramePr>
          <p:cNvPr id="4" name="表格 3">
            <a:extLst>
              <a:ext uri="{FF2B5EF4-FFF2-40B4-BE49-F238E27FC236}">
                <a16:creationId xmlns:a16="http://schemas.microsoft.com/office/drawing/2014/main" id="{1C7DFAE5-F0D6-4DC9-8F79-DE8FB0F55BE2}"/>
              </a:ext>
            </a:extLst>
          </p:cNvPr>
          <p:cNvGraphicFramePr>
            <a:graphicFrameLocks noGrp="1"/>
          </p:cNvGraphicFramePr>
          <p:nvPr>
            <p:extLst>
              <p:ext uri="{D42A27DB-BD31-4B8C-83A1-F6EECF244321}">
                <p14:modId xmlns:p14="http://schemas.microsoft.com/office/powerpoint/2010/main" val="3451822052"/>
              </p:ext>
            </p:extLst>
          </p:nvPr>
        </p:nvGraphicFramePr>
        <p:xfrm>
          <a:off x="1055688" y="1557008"/>
          <a:ext cx="7524000" cy="1944000"/>
        </p:xfrm>
        <a:graphic>
          <a:graphicData uri="http://schemas.openxmlformats.org/drawingml/2006/table">
            <a:tbl>
              <a:tblPr firstRow="1" bandRow="1">
                <a:tableStyleId>{5C22544A-7EE6-4342-B048-85BDC9FD1C3A}</a:tableStyleId>
              </a:tblPr>
              <a:tblGrid>
                <a:gridCol w="1504800">
                  <a:extLst>
                    <a:ext uri="{9D8B030D-6E8A-4147-A177-3AD203B41FA5}">
                      <a16:colId xmlns:a16="http://schemas.microsoft.com/office/drawing/2014/main" val="20000"/>
                    </a:ext>
                  </a:extLst>
                </a:gridCol>
                <a:gridCol w="3573900">
                  <a:extLst>
                    <a:ext uri="{9D8B030D-6E8A-4147-A177-3AD203B41FA5}">
                      <a16:colId xmlns:a16="http://schemas.microsoft.com/office/drawing/2014/main" val="20001"/>
                    </a:ext>
                  </a:extLst>
                </a:gridCol>
                <a:gridCol w="2445300">
                  <a:extLst>
                    <a:ext uri="{9D8B030D-6E8A-4147-A177-3AD203B41FA5}">
                      <a16:colId xmlns:a16="http://schemas.microsoft.com/office/drawing/2014/main" val="20002"/>
                    </a:ext>
                  </a:extLst>
                </a:gridCol>
              </a:tblGrid>
              <a:tr h="432000">
                <a:tc>
                  <a:txBody>
                    <a:bodyPr/>
                    <a:lstStyle/>
                    <a:p>
                      <a:pPr algn="ctr">
                        <a:lnSpc>
                          <a:spcPct val="100000"/>
                        </a:lnSpc>
                      </a:pP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Advantage</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Disadvantage</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512000">
                <a:tc>
                  <a:txBody>
                    <a:bodyPr/>
                    <a:lstStyle/>
                    <a:p>
                      <a:pPr algn="ctr">
                        <a:lnSpc>
                          <a:spcPct val="120000"/>
                        </a:lnSpc>
                      </a:pP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Structural Monte Carlo</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lnSpc>
                          <a:spcPct val="120000"/>
                        </a:lnSpc>
                      </a:pP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Able to </a:t>
                      </a:r>
                      <a:r>
                        <a:rPr lang="en-US" altLang="zh-CN" sz="1800" u="sng" dirty="0">
                          <a:solidFill>
                            <a:srgbClr val="2C3E50"/>
                          </a:solidFill>
                          <a:latin typeface="Segoe UI" panose="020B0502040204020203" pitchFamily="34" charset="0"/>
                          <a:ea typeface="Segoe UI" panose="020B0502040204020203" pitchFamily="34" charset="0"/>
                          <a:cs typeface="Segoe UI" panose="020B0502040204020203" pitchFamily="34" charset="0"/>
                        </a:rPr>
                        <a:t>generate correlated scenarios based on a statistical distribution</a:t>
                      </a: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 By design,</a:t>
                      </a:r>
                      <a:r>
                        <a:rPr lang="en-US" altLang="zh-CN" sz="1800"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a:t>
                      </a:r>
                      <a:r>
                        <a:rPr lang="en-US" altLang="zh-CN" sz="1800" u="sng"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models multiple risk factors</a:t>
                      </a:r>
                      <a:r>
                        <a:rPr lang="en-US" altLang="zh-CN" sz="1800" u="none"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a:t>
                      </a:r>
                      <a:endParaRPr lang="zh-CN" altLang="en-US" sz="1800" u="none"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lnSpc>
                          <a:spcPct val="120000"/>
                        </a:lnSpc>
                      </a:pP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Generated </a:t>
                      </a:r>
                      <a:r>
                        <a:rPr lang="en-US" altLang="zh-CN" sz="1800" u="sng" dirty="0">
                          <a:solidFill>
                            <a:srgbClr val="2C3E50"/>
                          </a:solidFill>
                          <a:latin typeface="Segoe UI" panose="020B0502040204020203" pitchFamily="34" charset="0"/>
                          <a:ea typeface="Segoe UI" panose="020B0502040204020203" pitchFamily="34" charset="0"/>
                          <a:cs typeface="Segoe UI" panose="020B0502040204020203" pitchFamily="34" charset="0"/>
                        </a:rPr>
                        <a:t>scenarios may not be relevant</a:t>
                      </a: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 going forward.</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5" name="表格 4">
            <a:extLst>
              <a:ext uri="{FF2B5EF4-FFF2-40B4-BE49-F238E27FC236}">
                <a16:creationId xmlns:a16="http://schemas.microsoft.com/office/drawing/2014/main" id="{A26612FB-BAEC-42C2-9F54-457D3EF97B80}"/>
              </a:ext>
            </a:extLst>
          </p:cNvPr>
          <p:cNvGraphicFramePr>
            <a:graphicFrameLocks noGrp="1"/>
          </p:cNvGraphicFramePr>
          <p:nvPr>
            <p:extLst>
              <p:ext uri="{D42A27DB-BD31-4B8C-83A1-F6EECF244321}">
                <p14:modId xmlns:p14="http://schemas.microsoft.com/office/powerpoint/2010/main" val="2910695820"/>
              </p:ext>
            </p:extLst>
          </p:nvPr>
        </p:nvGraphicFramePr>
        <p:xfrm>
          <a:off x="1055688" y="4440876"/>
          <a:ext cx="7560000" cy="2232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gridCol w="2520000">
                  <a:extLst>
                    <a:ext uri="{9D8B030D-6E8A-4147-A177-3AD203B41FA5}">
                      <a16:colId xmlns:a16="http://schemas.microsoft.com/office/drawing/2014/main" val="20002"/>
                    </a:ext>
                  </a:extLst>
                </a:gridCol>
              </a:tblGrid>
              <a:tr h="432000">
                <a:tc>
                  <a:txBody>
                    <a:bodyPr/>
                    <a:lstStyle/>
                    <a:p>
                      <a:pPr algn="just"/>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Advantage</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Disadvantage</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800000">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Stress Testing</a:t>
                      </a:r>
                      <a:endParaRPr lang="zh-CN" altLang="en-US" sz="1800"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lnSpc>
                          <a:spcPct val="120000"/>
                        </a:lnSpc>
                      </a:pPr>
                      <a:r>
                        <a:rPr lang="en-US" altLang="zh-CN" sz="1800" u="none" dirty="0">
                          <a:solidFill>
                            <a:srgbClr val="2C3E50"/>
                          </a:solidFill>
                          <a:latin typeface="Segoe UI" panose="020B0502040204020203" pitchFamily="34" charset="0"/>
                          <a:ea typeface="Segoe UI" panose="020B0502040204020203" pitchFamily="34" charset="0"/>
                          <a:cs typeface="Segoe UI" panose="020B0502040204020203" pitchFamily="34" charset="0"/>
                        </a:rPr>
                        <a:t>Can</a:t>
                      </a:r>
                      <a:r>
                        <a:rPr lang="en-US" altLang="zh-CN" sz="1800" u="none"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illuminate riskiness of portfolio </a:t>
                      </a:r>
                    </a:p>
                    <a:p>
                      <a:pPr algn="l">
                        <a:lnSpc>
                          <a:spcPct val="120000"/>
                        </a:lnSpc>
                      </a:pPr>
                      <a:r>
                        <a:rPr lang="en-US" altLang="zh-CN" sz="1800" u="none"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to risk factors. By design, </a:t>
                      </a:r>
                      <a:r>
                        <a:rPr lang="en-US" altLang="zh-CN" sz="1800" u="sng"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models multiple risk factors</a:t>
                      </a:r>
                      <a:r>
                        <a:rPr lang="en-US" altLang="zh-CN" sz="1800" u="none"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a:t>
                      </a:r>
                    </a:p>
                    <a:p>
                      <a:pPr algn="l">
                        <a:lnSpc>
                          <a:spcPct val="120000"/>
                        </a:lnSpc>
                      </a:pPr>
                      <a:r>
                        <a:rPr lang="en-US" altLang="zh-CN" sz="1800" u="none"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Can </a:t>
                      </a:r>
                      <a:r>
                        <a:rPr lang="en-US" altLang="zh-CN" sz="1800" u="sng"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specifically focus on the tails (extreme losses); Complements </a:t>
                      </a:r>
                      <a:r>
                        <a:rPr lang="en-US" altLang="zh-CN" sz="1800" u="sng" baseline="0" dirty="0" err="1">
                          <a:solidFill>
                            <a:srgbClr val="2C3E50"/>
                          </a:solidFill>
                          <a:latin typeface="Segoe UI" panose="020B0502040204020203" pitchFamily="34" charset="0"/>
                          <a:ea typeface="Segoe UI" panose="020B0502040204020203" pitchFamily="34" charset="0"/>
                          <a:cs typeface="Segoe UI" panose="020B0502040204020203" pitchFamily="34" charset="0"/>
                        </a:rPr>
                        <a:t>VaR</a:t>
                      </a:r>
                      <a:r>
                        <a:rPr lang="en-US" altLang="zh-CN" sz="1800" u="none" baseline="0" dirty="0" err="1">
                          <a:solidFill>
                            <a:srgbClr val="2C3E50"/>
                          </a:solidFill>
                          <a:latin typeface="Segoe UI" panose="020B0502040204020203" pitchFamily="34" charset="0"/>
                          <a:ea typeface="Segoe UI" panose="020B0502040204020203" pitchFamily="34" charset="0"/>
                          <a:cs typeface="Segoe UI" panose="020B0502040204020203" pitchFamily="34" charset="0"/>
                        </a:rPr>
                        <a:t>.</a:t>
                      </a:r>
                      <a:endParaRPr lang="zh-CN" altLang="en-US" sz="1800" u="none"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lnSpc>
                          <a:spcPct val="120000"/>
                        </a:lnSpc>
                      </a:pP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May generate unwarranted red flags.</a:t>
                      </a:r>
                    </a:p>
                    <a:p>
                      <a:pPr algn="l">
                        <a:lnSpc>
                          <a:spcPct val="120000"/>
                        </a:lnSpc>
                      </a:pPr>
                      <a:r>
                        <a:rPr lang="en-US" altLang="zh-CN" sz="1800" u="sng" dirty="0">
                          <a:solidFill>
                            <a:srgbClr val="2C3E50"/>
                          </a:solidFill>
                          <a:latin typeface="Segoe UI" panose="020B0502040204020203" pitchFamily="34" charset="0"/>
                          <a:ea typeface="Segoe UI" panose="020B0502040204020203" pitchFamily="34" charset="0"/>
                          <a:cs typeface="Segoe UI" panose="020B0502040204020203" pitchFamily="34" charset="0"/>
                        </a:rPr>
                        <a:t>Highly subjective.</a:t>
                      </a:r>
                      <a:endParaRPr lang="zh-CN" altLang="en-US" sz="1800" u="sng" dirty="0">
                        <a:solidFill>
                          <a:srgbClr val="2C3E50"/>
                        </a:solidFill>
                        <a:latin typeface="Segoe UI" panose="020B0502040204020203" pitchFamily="34" charset="0"/>
                        <a:cs typeface="Segoe UI" panose="020B0502040204020203" pitchFamily="34" charset="0"/>
                      </a:endParaRPr>
                    </a:p>
                  </a:txBody>
                  <a:tcPr marL="72000" marR="72000" marT="72000" marB="72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6664936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Putting </a:t>
            </a:r>
            <a:r>
              <a:rPr lang="en-US" altLang="zh-CN" sz="2800" dirty="0" err="1"/>
              <a:t>VaR</a:t>
            </a:r>
            <a:r>
              <a:rPr lang="en-US" altLang="zh-CN" sz="2800" dirty="0"/>
              <a:t> to Work</a:t>
            </a:r>
            <a:endParaRPr lang="zh-CN" altLang="en-US" sz="2800" dirty="0"/>
          </a:p>
        </p:txBody>
      </p:sp>
      <p:sp>
        <p:nvSpPr>
          <p:cNvPr id="3" name="文本占位符 2"/>
          <p:cNvSpPr>
            <a:spLocks noGrp="1"/>
          </p:cNvSpPr>
          <p:nvPr>
            <p:ph type="body" sz="quarter" idx="10"/>
          </p:nvPr>
        </p:nvSpPr>
        <p:spPr/>
        <p:txBody>
          <a:bodyPr>
            <a:normAutofit fontScale="92500"/>
          </a:bodyPr>
          <a:lstStyle/>
          <a:p>
            <a:pPr lvl="1">
              <a:lnSpc>
                <a:spcPct val="180000"/>
              </a:lnSpc>
            </a:pPr>
            <a:r>
              <a:rPr lang="en-US" altLang="zh-CN" b="1" dirty="0"/>
              <a:t>Structural Monte Carlo</a:t>
            </a:r>
            <a:r>
              <a:rPr lang="zh-CN" altLang="en-US" b="1" dirty="0"/>
              <a:t> </a:t>
            </a:r>
            <a:r>
              <a:rPr lang="en-US" altLang="zh-CN" b="1" dirty="0"/>
              <a:t>vs. Scenario Analysis (Stress Testing)</a:t>
            </a:r>
            <a:endParaRPr lang="zh-CN" altLang="en-US" b="1" dirty="0"/>
          </a:p>
          <a:p>
            <a:pPr lvl="2">
              <a:lnSpc>
                <a:spcPct val="180000"/>
              </a:lnSpc>
            </a:pPr>
            <a:r>
              <a:rPr lang="en-US" altLang="zh-CN" dirty="0"/>
              <a:t>The problem with the SMC approach is that the covariance matrix is meant to be “typical”. But severe stress events wreak havoc on the correlation matrix. That’s </a:t>
            </a:r>
            <a:r>
              <a:rPr lang="en-US" altLang="zh-CN" u="sng" dirty="0"/>
              <a:t>correlation breakdown</a:t>
            </a:r>
            <a:r>
              <a:rPr lang="en-US" altLang="zh-CN" dirty="0"/>
              <a:t>.</a:t>
            </a:r>
          </a:p>
          <a:p>
            <a:pPr lvl="2">
              <a:lnSpc>
                <a:spcPct val="180000"/>
              </a:lnSpc>
            </a:pPr>
            <a:r>
              <a:rPr lang="en-US" altLang="zh-CN" u="sng" dirty="0"/>
              <a:t>Diversification benefits diminish under stress events</a:t>
            </a:r>
            <a:r>
              <a:rPr lang="en-US" altLang="zh-CN" dirty="0"/>
              <a:t>, which is the worst time for them - </a:t>
            </a:r>
            <a:r>
              <a:rPr lang="en-US" altLang="zh-CN" u="sng" dirty="0"/>
              <a:t>breakdown in historic correlation matrices occur when the investor needs the diversification benefit the most</a:t>
            </a:r>
            <a:r>
              <a:rPr lang="en-US" altLang="zh-CN" dirty="0"/>
              <a:t>.</a:t>
            </a:r>
            <a:r>
              <a:rPr lang="en-US" altLang="zh-CN" u="sng" dirty="0"/>
              <a:t> </a:t>
            </a:r>
          </a:p>
          <a:p>
            <a:pPr lvl="2">
              <a:lnSpc>
                <a:spcPct val="180000"/>
              </a:lnSpc>
            </a:pPr>
            <a:r>
              <a:rPr lang="en-US" altLang="zh-CN" u="sng" dirty="0"/>
              <a:t>Scenarios can attempt to incorporate correlation breakdowns</a:t>
            </a:r>
            <a:r>
              <a:rPr lang="en-US" altLang="zh-CN" dirty="0"/>
              <a:t>. One approach is to </a:t>
            </a:r>
            <a:r>
              <a:rPr lang="en-US" altLang="zh-CN" u="sng" dirty="0"/>
              <a:t>stress test (simulate) the correlation matrix</a:t>
            </a:r>
            <a:r>
              <a:rPr lang="en-US" altLang="zh-CN" dirty="0"/>
              <a:t>.</a:t>
            </a:r>
            <a:r>
              <a:rPr lang="en-US" altLang="zh-CN" u="sng" dirty="0"/>
              <a:t> </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209958594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Putting </a:t>
            </a:r>
            <a:r>
              <a:rPr lang="en-US" altLang="zh-CN" sz="2800" dirty="0" err="1"/>
              <a:t>VaR</a:t>
            </a:r>
            <a:r>
              <a:rPr lang="en-US" altLang="zh-CN" sz="2800" dirty="0"/>
              <a:t> to Work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Worst Case Scenario Measure</a:t>
            </a:r>
          </a:p>
          <a:p>
            <a:pPr lvl="1"/>
            <a:r>
              <a:rPr lang="en-US" altLang="zh-CN" dirty="0"/>
              <a:t>The worst case scenario (WCS) </a:t>
            </a:r>
            <a:r>
              <a:rPr lang="en-US" altLang="zh-CN" u="sng" dirty="0"/>
              <a:t>assumes that an unfavorable event will occur with certainty. The focus is on the distribution of worst possible outcomes given an unfavorable event. It extends </a:t>
            </a:r>
            <a:r>
              <a:rPr lang="en-US" altLang="zh-CN" u="sng" dirty="0" err="1"/>
              <a:t>VaR</a:t>
            </a:r>
            <a:r>
              <a:rPr lang="en-US" altLang="zh-CN" u="sng" dirty="0"/>
              <a:t> analysis.</a:t>
            </a:r>
          </a:p>
          <a:p>
            <a:pPr lvl="1"/>
            <a:endParaRPr lang="zh-CN" altLang="en-US" b="1" dirty="0"/>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ECAD0093-5E93-4527-B319-F52F8CFA23D3}"/>
              </a:ext>
            </a:extLst>
          </p:cNvPr>
          <p:cNvGrpSpPr/>
          <p:nvPr/>
        </p:nvGrpSpPr>
        <p:grpSpPr>
          <a:xfrm>
            <a:off x="2063551" y="3484731"/>
            <a:ext cx="8064896" cy="2988901"/>
            <a:chOff x="539552" y="3164928"/>
            <a:chExt cx="8064896" cy="2988901"/>
          </a:xfrm>
        </p:grpSpPr>
        <p:grpSp>
          <p:nvGrpSpPr>
            <p:cNvPr id="5" name="组合 4">
              <a:extLst>
                <a:ext uri="{FF2B5EF4-FFF2-40B4-BE49-F238E27FC236}">
                  <a16:creationId xmlns:a16="http://schemas.microsoft.com/office/drawing/2014/main" id="{2D961F67-3273-40AE-A4AC-401D4B94AB1B}"/>
                </a:ext>
              </a:extLst>
            </p:cNvPr>
            <p:cNvGrpSpPr/>
            <p:nvPr/>
          </p:nvGrpSpPr>
          <p:grpSpPr>
            <a:xfrm>
              <a:off x="640432" y="3164929"/>
              <a:ext cx="7787077" cy="2988900"/>
              <a:chOff x="640432" y="3164929"/>
              <a:chExt cx="7787077" cy="2988900"/>
            </a:xfrm>
          </p:grpSpPr>
          <p:cxnSp>
            <p:nvCxnSpPr>
              <p:cNvPr id="7" name="直接箭头连接符 4">
                <a:extLst>
                  <a:ext uri="{FF2B5EF4-FFF2-40B4-BE49-F238E27FC236}">
                    <a16:creationId xmlns:a16="http://schemas.microsoft.com/office/drawing/2014/main" id="{E0895208-9F4E-4122-AC5F-E02497C34C08}"/>
                  </a:ext>
                </a:extLst>
              </p:cNvPr>
              <p:cNvCxnSpPr>
                <a:cxnSpLocks noChangeShapeType="1"/>
              </p:cNvCxnSpPr>
              <p:nvPr/>
            </p:nvCxnSpPr>
            <p:spPr bwMode="auto">
              <a:xfrm>
                <a:off x="940769" y="5841008"/>
                <a:ext cx="3420000" cy="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8" name="直接箭头连接符 7">
                <a:extLst>
                  <a:ext uri="{FF2B5EF4-FFF2-40B4-BE49-F238E27FC236}">
                    <a16:creationId xmlns:a16="http://schemas.microsoft.com/office/drawing/2014/main" id="{8D5F4F1B-A769-42EB-8975-4DEBC866A929}"/>
                  </a:ext>
                </a:extLst>
              </p:cNvPr>
              <p:cNvCxnSpPr>
                <a:cxnSpLocks noChangeShapeType="1"/>
              </p:cNvCxnSpPr>
              <p:nvPr/>
            </p:nvCxnSpPr>
            <p:spPr bwMode="auto">
              <a:xfrm flipV="1">
                <a:off x="940769" y="3501008"/>
                <a:ext cx="0" cy="234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sp>
            <p:nvSpPr>
              <p:cNvPr id="9" name="文本框 8">
                <a:extLst>
                  <a:ext uri="{FF2B5EF4-FFF2-40B4-BE49-F238E27FC236}">
                    <a16:creationId xmlns:a16="http://schemas.microsoft.com/office/drawing/2014/main" id="{F4220D63-3B16-4055-A76A-D313B5BED0DA}"/>
                  </a:ext>
                </a:extLst>
              </p:cNvPr>
              <p:cNvSpPr txBox="1"/>
              <p:nvPr/>
            </p:nvSpPr>
            <p:spPr bwMode="auto">
              <a:xfrm>
                <a:off x="640432" y="3164929"/>
                <a:ext cx="540000" cy="360000"/>
              </a:xfrm>
              <a:prstGeom prst="rect">
                <a:avLst/>
              </a:prstGeom>
              <a:noFill/>
            </p:spPr>
            <p:txBody>
              <a:bodyPr wrap="none" lIns="36000" tIns="36000" rIns="36000" bIns="36000" anchor="ctr" anchorCtr="0">
                <a:no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E(R)</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0" name="文本框 9">
                <a:extLst>
                  <a:ext uri="{FF2B5EF4-FFF2-40B4-BE49-F238E27FC236}">
                    <a16:creationId xmlns:a16="http://schemas.microsoft.com/office/drawing/2014/main" id="{BC6326C8-A8FE-49D4-9DFB-98C223813A69}"/>
                  </a:ext>
                </a:extLst>
              </p:cNvPr>
              <p:cNvSpPr txBox="1"/>
              <p:nvPr/>
            </p:nvSpPr>
            <p:spPr bwMode="auto">
              <a:xfrm>
                <a:off x="4181475" y="5793829"/>
                <a:ext cx="215371" cy="360000"/>
              </a:xfrm>
              <a:prstGeom prst="rect">
                <a:avLst/>
              </a:prstGeom>
              <a:noFill/>
            </p:spPr>
            <p:txBody>
              <a:bodyPr wrap="none" lIns="36000" tIns="36000" rIns="36000" bIns="36000" anchor="ctr" anchorCtr="0">
                <a:no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σ</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1" name="任意多边形 14">
                <a:extLst>
                  <a:ext uri="{FF2B5EF4-FFF2-40B4-BE49-F238E27FC236}">
                    <a16:creationId xmlns:a16="http://schemas.microsoft.com/office/drawing/2014/main" id="{17C1A9C3-0753-4EA2-A455-F99361B51254}"/>
                  </a:ext>
                </a:extLst>
              </p:cNvPr>
              <p:cNvSpPr>
                <a:spLocks/>
              </p:cNvSpPr>
              <p:nvPr/>
            </p:nvSpPr>
            <p:spPr bwMode="auto">
              <a:xfrm>
                <a:off x="1655163" y="3786323"/>
                <a:ext cx="2520000" cy="1800000"/>
              </a:xfrm>
              <a:custGeom>
                <a:avLst/>
                <a:gdLst>
                  <a:gd name="T0" fmla="*/ 0 w 1809344"/>
                  <a:gd name="T1" fmla="*/ 20135653 h 1576218"/>
                  <a:gd name="T2" fmla="*/ 13131797 w 1809344"/>
                  <a:gd name="T3" fmla="*/ 13673737 h 1576218"/>
                  <a:gd name="T4" fmla="*/ 23527830 w 1809344"/>
                  <a:gd name="T5" fmla="*/ 4308 h 1576218"/>
                  <a:gd name="T6" fmla="*/ 34471029 w 1809344"/>
                  <a:gd name="T7" fmla="*/ 15164958 h 1576218"/>
                  <a:gd name="T8" fmla="*/ 50885806 w 1809344"/>
                  <a:gd name="T9" fmla="*/ 19638586 h 15762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9344" h="1576218">
                    <a:moveTo>
                      <a:pt x="0" y="1576218"/>
                    </a:moveTo>
                    <a:cubicBezTo>
                      <a:pt x="163748" y="1454622"/>
                      <a:pt x="327497" y="1333027"/>
                      <a:pt x="466927" y="1070380"/>
                    </a:cubicBezTo>
                    <a:cubicBezTo>
                      <a:pt x="606357" y="807733"/>
                      <a:pt x="710118" y="-19118"/>
                      <a:pt x="836578" y="337"/>
                    </a:cubicBezTo>
                    <a:cubicBezTo>
                      <a:pt x="963038" y="19792"/>
                      <a:pt x="1063557" y="930950"/>
                      <a:pt x="1225685" y="1187112"/>
                    </a:cubicBezTo>
                    <a:cubicBezTo>
                      <a:pt x="1387813" y="1443274"/>
                      <a:pt x="1809344" y="1537308"/>
                      <a:pt x="1809344" y="1537308"/>
                    </a:cubicBezTo>
                  </a:path>
                </a:pathLst>
              </a:custGeom>
              <a:noFill/>
              <a:ln w="19050" cap="flat" cmpd="sng" algn="ctr">
                <a:solidFill>
                  <a:srgbClr val="2C3E5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2C3E50"/>
                  </a:solidFill>
                  <a:latin typeface="Segoe UI" panose="020B0502040204020203" pitchFamily="34" charset="0"/>
                  <a:cs typeface="Segoe UI" panose="020B0502040204020203" pitchFamily="34" charset="0"/>
                </a:endParaRPr>
              </a:p>
            </p:txBody>
          </p:sp>
          <p:sp>
            <p:nvSpPr>
              <p:cNvPr id="12" name="任意多边形 17">
                <a:extLst>
                  <a:ext uri="{FF2B5EF4-FFF2-40B4-BE49-F238E27FC236}">
                    <a16:creationId xmlns:a16="http://schemas.microsoft.com/office/drawing/2014/main" id="{9A4CC1C3-AB5B-4FA4-8190-61D2AC53D96B}"/>
                  </a:ext>
                </a:extLst>
              </p:cNvPr>
              <p:cNvSpPr>
                <a:spLocks/>
              </p:cNvSpPr>
              <p:nvPr/>
            </p:nvSpPr>
            <p:spPr bwMode="auto">
              <a:xfrm>
                <a:off x="965340" y="5334323"/>
                <a:ext cx="720000" cy="252000"/>
              </a:xfrm>
              <a:custGeom>
                <a:avLst/>
                <a:gdLst>
                  <a:gd name="T0" fmla="*/ 4373457 w 583660"/>
                  <a:gd name="T1" fmla="*/ 321 h 506663"/>
                  <a:gd name="T2" fmla="*/ 3352984 w 583660"/>
                  <a:gd name="T3" fmla="*/ 193 h 506663"/>
                  <a:gd name="T4" fmla="*/ 2624076 w 583660"/>
                  <a:gd name="T5" fmla="*/ 0 h 506663"/>
                  <a:gd name="T6" fmla="*/ 1457815 w 583660"/>
                  <a:gd name="T7" fmla="*/ 257 h 506663"/>
                  <a:gd name="T8" fmla="*/ 0 w 583660"/>
                  <a:gd name="T9" fmla="*/ 334 h 5066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3660" h="506663">
                    <a:moveTo>
                      <a:pt x="583660" y="487208"/>
                    </a:moveTo>
                    <a:cubicBezTo>
                      <a:pt x="535021" y="430463"/>
                      <a:pt x="486383" y="373718"/>
                      <a:pt x="447472" y="292654"/>
                    </a:cubicBezTo>
                    <a:cubicBezTo>
                      <a:pt x="408561" y="211590"/>
                      <a:pt x="392349" y="-15388"/>
                      <a:pt x="350196" y="825"/>
                    </a:cubicBezTo>
                    <a:cubicBezTo>
                      <a:pt x="308043" y="17038"/>
                      <a:pt x="252919" y="305625"/>
                      <a:pt x="194553" y="389931"/>
                    </a:cubicBezTo>
                    <a:cubicBezTo>
                      <a:pt x="136187" y="474237"/>
                      <a:pt x="38911" y="490450"/>
                      <a:pt x="0" y="506663"/>
                    </a:cubicBezTo>
                  </a:path>
                </a:pathLst>
              </a:cu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36000" tIns="36000" rIns="36000" bIns="36000" anchor="ctr" anchorCtr="0">
                <a:noAutofit/>
              </a:bodyPr>
              <a:lstStyle/>
              <a:p>
                <a:endParaRPr lang="zh-CN" altLang="en-US">
                  <a:solidFill>
                    <a:srgbClr val="2C3E50"/>
                  </a:solidFill>
                  <a:latin typeface="Segoe UI" panose="020B0502040204020203" pitchFamily="34" charset="0"/>
                  <a:cs typeface="Segoe UI" panose="020B0502040204020203" pitchFamily="34" charset="0"/>
                </a:endParaRPr>
              </a:p>
            </p:txBody>
          </p:sp>
          <p:sp>
            <p:nvSpPr>
              <p:cNvPr id="13" name="文本框 12">
                <a:extLst>
                  <a:ext uri="{FF2B5EF4-FFF2-40B4-BE49-F238E27FC236}">
                    <a16:creationId xmlns:a16="http://schemas.microsoft.com/office/drawing/2014/main" id="{5113F140-EBBB-4024-B32F-B2D5B40953B0}"/>
                  </a:ext>
                </a:extLst>
              </p:cNvPr>
              <p:cNvSpPr txBox="1"/>
              <p:nvPr/>
            </p:nvSpPr>
            <p:spPr bwMode="auto">
              <a:xfrm>
                <a:off x="899592" y="4797152"/>
                <a:ext cx="1440000" cy="540000"/>
              </a:xfrm>
              <a:prstGeom prst="rect">
                <a:avLst/>
              </a:prstGeom>
              <a:noFill/>
            </p:spPr>
            <p:txBody>
              <a:bodyPr wrap="square" lIns="36000" tIns="36000" rIns="36000" bIns="36000" anchor="ctr" anchorCtr="0">
                <a:noAutofit/>
              </a:bodyPr>
              <a:lstStyle/>
              <a:p>
                <a:pPr algn="ct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Unfavorable Event</a:t>
                </a:r>
                <a:endParaRPr lang="zh-CN" altLang="en-US" sz="1800" b="0" dirty="0">
                  <a:solidFill>
                    <a:srgbClr val="2C3E50"/>
                  </a:solidFill>
                  <a:latin typeface="Segoe UI" panose="020B0502040204020203" pitchFamily="34" charset="0"/>
                  <a:cs typeface="Segoe UI" panose="020B0502040204020203" pitchFamily="34" charset="0"/>
                </a:endParaRPr>
              </a:p>
            </p:txBody>
          </p:sp>
          <p:cxnSp>
            <p:nvCxnSpPr>
              <p:cNvPr id="14" name="直接箭头连接符 5">
                <a:extLst>
                  <a:ext uri="{FF2B5EF4-FFF2-40B4-BE49-F238E27FC236}">
                    <a16:creationId xmlns:a16="http://schemas.microsoft.com/office/drawing/2014/main" id="{C04A67DE-42DB-44A4-8892-D7FE2DF38574}"/>
                  </a:ext>
                </a:extLst>
              </p:cNvPr>
              <p:cNvCxnSpPr>
                <a:cxnSpLocks noChangeShapeType="1"/>
              </p:cNvCxnSpPr>
              <p:nvPr/>
            </p:nvCxnSpPr>
            <p:spPr bwMode="auto">
              <a:xfrm>
                <a:off x="4973075" y="5841008"/>
                <a:ext cx="3420000" cy="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5" name="直接箭头连接符 8">
                <a:extLst>
                  <a:ext uri="{FF2B5EF4-FFF2-40B4-BE49-F238E27FC236}">
                    <a16:creationId xmlns:a16="http://schemas.microsoft.com/office/drawing/2014/main" id="{76E82303-75B5-4539-B6E2-62CBB46EFFE9}"/>
                  </a:ext>
                </a:extLst>
              </p:cNvPr>
              <p:cNvCxnSpPr>
                <a:cxnSpLocks noChangeShapeType="1"/>
              </p:cNvCxnSpPr>
              <p:nvPr/>
            </p:nvCxnSpPr>
            <p:spPr bwMode="auto">
              <a:xfrm flipV="1">
                <a:off x="4973075" y="3501008"/>
                <a:ext cx="0" cy="2340000"/>
              </a:xfrm>
              <a:prstGeom prst="straightConnector1">
                <a:avLst/>
              </a:prstGeom>
              <a:noFill/>
              <a:ln w="9525" algn="ctr">
                <a:solidFill>
                  <a:srgbClr val="2C3E50"/>
                </a:solidFill>
                <a:round/>
                <a:headEnd/>
                <a:tailEnd type="triangle" w="med" len="med"/>
              </a:ln>
              <a:extLst>
                <a:ext uri="{909E8E84-426E-40DD-AFC4-6F175D3DCCD1}">
                  <a14:hiddenFill xmlns:a14="http://schemas.microsoft.com/office/drawing/2010/main">
                    <a:noFill/>
                  </a14:hiddenFill>
                </a:ext>
              </a:extLst>
            </p:spPr>
          </p:cxnSp>
          <p:sp>
            <p:nvSpPr>
              <p:cNvPr id="16" name="文本框 15">
                <a:extLst>
                  <a:ext uri="{FF2B5EF4-FFF2-40B4-BE49-F238E27FC236}">
                    <a16:creationId xmlns:a16="http://schemas.microsoft.com/office/drawing/2014/main" id="{91CF00E0-1A61-4BD1-9BD5-07F627B967DE}"/>
                  </a:ext>
                </a:extLst>
              </p:cNvPr>
              <p:cNvSpPr txBox="1"/>
              <p:nvPr/>
            </p:nvSpPr>
            <p:spPr bwMode="auto">
              <a:xfrm>
                <a:off x="4643438" y="3164929"/>
                <a:ext cx="540000" cy="360000"/>
              </a:xfrm>
              <a:prstGeom prst="rect">
                <a:avLst/>
              </a:prstGeom>
              <a:noFill/>
            </p:spPr>
            <p:txBody>
              <a:bodyPr wrap="none" lIns="36000" tIns="36000" rIns="36000" bIns="36000" anchor="ctr" anchorCtr="0">
                <a:no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E(R)</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7" name="文本框 16">
                <a:extLst>
                  <a:ext uri="{FF2B5EF4-FFF2-40B4-BE49-F238E27FC236}">
                    <a16:creationId xmlns:a16="http://schemas.microsoft.com/office/drawing/2014/main" id="{DEB6B068-0DB5-499C-B7DD-01D5E74560F9}"/>
                  </a:ext>
                </a:extLst>
              </p:cNvPr>
              <p:cNvSpPr txBox="1"/>
              <p:nvPr/>
            </p:nvSpPr>
            <p:spPr bwMode="auto">
              <a:xfrm>
                <a:off x="8212138" y="5793829"/>
                <a:ext cx="215371" cy="360000"/>
              </a:xfrm>
              <a:prstGeom prst="rect">
                <a:avLst/>
              </a:prstGeom>
              <a:noFill/>
            </p:spPr>
            <p:txBody>
              <a:bodyPr wrap="none" lIns="36000" tIns="36000" rIns="36000" bIns="36000" anchor="ctr" anchorCtr="0">
                <a:noAutofit/>
              </a:bodyPr>
              <a:lstStyle/>
              <a:p>
                <a:pP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σ</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8" name="任意多边形 15">
                <a:extLst>
                  <a:ext uri="{FF2B5EF4-FFF2-40B4-BE49-F238E27FC236}">
                    <a16:creationId xmlns:a16="http://schemas.microsoft.com/office/drawing/2014/main" id="{A174B0F0-B841-471F-A6C8-F74EE84C59CD}"/>
                  </a:ext>
                </a:extLst>
              </p:cNvPr>
              <p:cNvSpPr>
                <a:spLocks/>
              </p:cNvSpPr>
              <p:nvPr/>
            </p:nvSpPr>
            <p:spPr bwMode="auto">
              <a:xfrm>
                <a:off x="5436096" y="3786323"/>
                <a:ext cx="2520000" cy="1800000"/>
              </a:xfrm>
              <a:custGeom>
                <a:avLst/>
                <a:gdLst>
                  <a:gd name="T0" fmla="*/ 0 w 1809344"/>
                  <a:gd name="T1" fmla="*/ 20135653 h 1576218"/>
                  <a:gd name="T2" fmla="*/ 14339854 w 1809344"/>
                  <a:gd name="T3" fmla="*/ 13673737 h 1576218"/>
                  <a:gd name="T4" fmla="*/ 25692252 w 1809344"/>
                  <a:gd name="T5" fmla="*/ 4308 h 1576218"/>
                  <a:gd name="T6" fmla="*/ 37642172 w 1809344"/>
                  <a:gd name="T7" fmla="*/ 15164958 h 1576218"/>
                  <a:gd name="T8" fmla="*/ 55567001 w 1809344"/>
                  <a:gd name="T9" fmla="*/ 19638586 h 15762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9344" h="1576218">
                    <a:moveTo>
                      <a:pt x="0" y="1576218"/>
                    </a:moveTo>
                    <a:cubicBezTo>
                      <a:pt x="163748" y="1454622"/>
                      <a:pt x="327497" y="1333027"/>
                      <a:pt x="466927" y="1070380"/>
                    </a:cubicBezTo>
                    <a:cubicBezTo>
                      <a:pt x="606357" y="807733"/>
                      <a:pt x="710118" y="-19118"/>
                      <a:pt x="836578" y="337"/>
                    </a:cubicBezTo>
                    <a:cubicBezTo>
                      <a:pt x="963038" y="19792"/>
                      <a:pt x="1063557" y="930950"/>
                      <a:pt x="1225685" y="1187112"/>
                    </a:cubicBezTo>
                    <a:cubicBezTo>
                      <a:pt x="1387813" y="1443274"/>
                      <a:pt x="1809344" y="1537308"/>
                      <a:pt x="1809344" y="1537308"/>
                    </a:cubicBezTo>
                  </a:path>
                </a:pathLst>
              </a:custGeom>
              <a:noFill/>
              <a:ln w="19050" cap="flat" cmpd="sng" algn="ctr">
                <a:solidFill>
                  <a:srgbClr val="2C3E5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2C3E50"/>
                  </a:solidFill>
                  <a:latin typeface="Segoe UI" panose="020B0502040204020203" pitchFamily="34" charset="0"/>
                  <a:cs typeface="Segoe UI" panose="020B0502040204020203" pitchFamily="34" charset="0"/>
                </a:endParaRPr>
              </a:p>
            </p:txBody>
          </p:sp>
          <p:sp>
            <p:nvSpPr>
              <p:cNvPr id="19" name="文本框 18">
                <a:extLst>
                  <a:ext uri="{FF2B5EF4-FFF2-40B4-BE49-F238E27FC236}">
                    <a16:creationId xmlns:a16="http://schemas.microsoft.com/office/drawing/2014/main" id="{CBB981F4-B5F9-4111-8F66-A7A78337F51C}"/>
                  </a:ext>
                </a:extLst>
              </p:cNvPr>
              <p:cNvSpPr txBox="1"/>
              <p:nvPr/>
            </p:nvSpPr>
            <p:spPr bwMode="auto">
              <a:xfrm>
                <a:off x="5880195" y="5403304"/>
                <a:ext cx="1512000" cy="360000"/>
              </a:xfrm>
              <a:prstGeom prst="rect">
                <a:avLst/>
              </a:prstGeom>
              <a:noFill/>
            </p:spPr>
            <p:txBody>
              <a:bodyPr wrap="none" lIns="36000" tIns="36000" rIns="36000" bIns="36000" anchor="ctr" anchorCtr="0">
                <a:noAutofit/>
              </a:bodyPr>
              <a:lstStyle/>
              <a:p>
                <a:pPr algn="ctr">
                  <a:defRPr/>
                </a:pP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Normal Event</a:t>
                </a:r>
                <a:endParaRPr lang="zh-CN" altLang="en-US" sz="1800" b="0" dirty="0">
                  <a:solidFill>
                    <a:srgbClr val="2C3E50"/>
                  </a:solidFill>
                  <a:latin typeface="Segoe UI" panose="020B0502040204020203" pitchFamily="34" charset="0"/>
                  <a:cs typeface="Segoe UI" panose="020B0502040204020203" pitchFamily="34" charset="0"/>
                </a:endParaRPr>
              </a:p>
            </p:txBody>
          </p:sp>
        </p:grpSp>
        <p:sp>
          <p:nvSpPr>
            <p:cNvPr id="6" name="圆角矩形 17">
              <a:extLst>
                <a:ext uri="{FF2B5EF4-FFF2-40B4-BE49-F238E27FC236}">
                  <a16:creationId xmlns:a16="http://schemas.microsoft.com/office/drawing/2014/main" id="{CB62EAA4-C79C-4213-AAE4-253ED79F40DB}"/>
                </a:ext>
              </a:extLst>
            </p:cNvPr>
            <p:cNvSpPr/>
            <p:nvPr/>
          </p:nvSpPr>
          <p:spPr>
            <a:xfrm>
              <a:off x="539552" y="3164928"/>
              <a:ext cx="8064896" cy="2988901"/>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82574966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Putting </a:t>
            </a:r>
            <a:r>
              <a:rPr lang="en-US" altLang="zh-CN" sz="2800" dirty="0" err="1"/>
              <a:t>VaR</a:t>
            </a:r>
            <a:r>
              <a:rPr lang="en-US" altLang="zh-CN" sz="2800" dirty="0"/>
              <a:t> to Work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Exercise 1</a:t>
            </a:r>
            <a:endParaRPr lang="zh-CN" altLang="en-US" dirty="0"/>
          </a:p>
          <a:p>
            <a:pPr>
              <a:buFont typeface="Wingdings" panose="05000000000000000000" pitchFamily="2" charset="2"/>
              <a:buChar char="l"/>
            </a:pPr>
            <a:r>
              <a:rPr lang="en-US" altLang="zh-CN" dirty="0">
                <a:solidFill>
                  <a:schemeClr val="tx1"/>
                </a:solidFill>
              </a:rPr>
              <a:t>If you use delta-normal </a:t>
            </a:r>
            <a:r>
              <a:rPr lang="en-US" altLang="zh-CN" dirty="0" err="1">
                <a:solidFill>
                  <a:schemeClr val="tx1"/>
                </a:solidFill>
              </a:rPr>
              <a:t>VaR</a:t>
            </a:r>
            <a:r>
              <a:rPr lang="en-US" altLang="zh-CN" dirty="0">
                <a:solidFill>
                  <a:schemeClr val="tx1"/>
                </a:solidFill>
              </a:rPr>
              <a:t> for a portfolio of options, which of the following statements is always correct?</a:t>
            </a:r>
          </a:p>
          <a:p>
            <a:pPr marL="817200" lvl="1" indent="-457200">
              <a:buSzPct val="100000"/>
              <a:buFont typeface="+mj-lt"/>
              <a:buAutoNum type="alphaUcPeriod"/>
            </a:pPr>
            <a:r>
              <a:rPr lang="en-US" altLang="zh-CN" dirty="0"/>
              <a:t>It necessarily understates </a:t>
            </a:r>
            <a:r>
              <a:rPr lang="en-US" altLang="zh-CN" dirty="0" err="1"/>
              <a:t>VaR</a:t>
            </a:r>
            <a:r>
              <a:rPr lang="en-US" altLang="zh-CN" dirty="0"/>
              <a:t> because it uses a linear approximation.</a:t>
            </a:r>
          </a:p>
          <a:p>
            <a:pPr marL="817200" lvl="1" indent="-457200">
              <a:buSzPct val="100000"/>
              <a:buFont typeface="+mj-lt"/>
              <a:buAutoNum type="alphaUcPeriod"/>
            </a:pPr>
            <a:r>
              <a:rPr lang="en-US" altLang="zh-CN" dirty="0"/>
              <a:t>It can sometimes overstate </a:t>
            </a:r>
            <a:r>
              <a:rPr lang="en-US" altLang="zh-CN" dirty="0" err="1"/>
              <a:t>VaR.</a:t>
            </a:r>
            <a:endParaRPr lang="en-US" altLang="zh-CN" dirty="0"/>
          </a:p>
          <a:p>
            <a:pPr marL="817200" lvl="1" indent="-457200">
              <a:buSzPct val="100000"/>
              <a:buFont typeface="+mj-lt"/>
              <a:buAutoNum type="alphaUcPeriod"/>
            </a:pPr>
            <a:r>
              <a:rPr lang="en-US" altLang="zh-CN" dirty="0"/>
              <a:t>It performs most poorly for a portfolio of deep in-the-money options.</a:t>
            </a:r>
          </a:p>
          <a:p>
            <a:pPr marL="817200" lvl="1" indent="-457200">
              <a:buSzPct val="100000"/>
              <a:buFont typeface="+mj-lt"/>
              <a:buAutoNum type="alphaUcPeriod"/>
            </a:pPr>
            <a:r>
              <a:rPr lang="en-US" altLang="zh-CN" dirty="0"/>
              <a:t>It performs most poorly for a portfolio of deep out-of-the-money options.</a:t>
            </a:r>
          </a:p>
          <a:p>
            <a:pPr marL="817200" lvl="1" indent="-457200">
              <a:buSzPct val="100000"/>
              <a:buFont typeface="+mj-lt"/>
              <a:buAutoNum type="alphaUcPeriod"/>
            </a:pPr>
            <a:endParaRPr lang="en-US" altLang="zh-CN" dirty="0"/>
          </a:p>
          <a:p>
            <a:pPr marL="417150" indent="-457200">
              <a:buSzPct val="100000"/>
              <a:buFont typeface="Wingdings" panose="05000000000000000000" pitchFamily="2" charset="2"/>
              <a:buChar char="l"/>
            </a:pPr>
            <a:r>
              <a:rPr lang="en-US" altLang="zh-CN" dirty="0">
                <a:solidFill>
                  <a:schemeClr val="tx1"/>
                </a:solidFill>
              </a:rPr>
              <a:t>Correct Answer : B</a:t>
            </a:r>
          </a:p>
          <a:p>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282129690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Putting </a:t>
            </a:r>
            <a:r>
              <a:rPr lang="en-US" altLang="zh-CN" sz="2800" dirty="0" err="1"/>
              <a:t>VaR</a:t>
            </a:r>
            <a:r>
              <a:rPr lang="en-US" altLang="zh-CN" sz="2800" dirty="0"/>
              <a:t> to Work</a:t>
            </a:r>
            <a:endParaRPr lang="zh-CN" altLang="en-US" sz="2800" dirty="0"/>
          </a:p>
        </p:txBody>
      </p:sp>
      <p:sp>
        <p:nvSpPr>
          <p:cNvPr id="3" name="文本占位符 2"/>
          <p:cNvSpPr>
            <a:spLocks noGrp="1"/>
          </p:cNvSpPr>
          <p:nvPr>
            <p:ph type="body" sz="quarter" idx="10"/>
          </p:nvPr>
        </p:nvSpPr>
        <p:spPr/>
        <p:txBody>
          <a:bodyPr>
            <a:normAutofit fontScale="92500" lnSpcReduction="20000"/>
          </a:bodyPr>
          <a:lstStyle/>
          <a:p>
            <a:r>
              <a:rPr lang="en-US" altLang="zh-CN" dirty="0"/>
              <a:t>Exercise 2</a:t>
            </a:r>
            <a:endParaRPr lang="zh-CN" altLang="en-US" dirty="0"/>
          </a:p>
          <a:p>
            <a:pPr algn="just">
              <a:buFont typeface="Wingdings" panose="05000000000000000000" pitchFamily="2" charset="2"/>
              <a:buChar char="l"/>
            </a:pPr>
            <a:r>
              <a:rPr lang="en-US" altLang="zh-CN" dirty="0">
                <a:solidFill>
                  <a:schemeClr val="tx1"/>
                </a:solidFill>
              </a:rPr>
              <a:t>A portfolio manager bought 1,000 call options on a non-dividend-paying stock, with a strike price of USD 100, for USD 6 each. The current stock price is USD 104 with a daily stock return volatility of 1.89%, and the delta of the option is 0.6. Using the delta-normal approach to calculate </a:t>
            </a:r>
            <a:r>
              <a:rPr lang="en-US" altLang="zh-CN" dirty="0" err="1">
                <a:solidFill>
                  <a:schemeClr val="tx1"/>
                </a:solidFill>
              </a:rPr>
              <a:t>VaR</a:t>
            </a:r>
            <a:r>
              <a:rPr lang="en-US" altLang="zh-CN" dirty="0">
                <a:solidFill>
                  <a:schemeClr val="tx1"/>
                </a:solidFill>
              </a:rPr>
              <a:t>, what is an approximation of the 1-day 95% </a:t>
            </a:r>
            <a:r>
              <a:rPr lang="en-US" altLang="zh-CN" dirty="0" err="1">
                <a:solidFill>
                  <a:schemeClr val="tx1"/>
                </a:solidFill>
              </a:rPr>
              <a:t>VaR</a:t>
            </a:r>
            <a:r>
              <a:rPr lang="en-US" altLang="zh-CN" dirty="0">
                <a:solidFill>
                  <a:schemeClr val="tx1"/>
                </a:solidFill>
              </a:rPr>
              <a:t> of this position?</a:t>
            </a:r>
          </a:p>
          <a:p>
            <a:pPr marL="817200" lvl="1" indent="-457200" algn="just">
              <a:buSzPct val="100000"/>
              <a:buFont typeface="+mj-lt"/>
              <a:buAutoNum type="alphaUcPeriod"/>
            </a:pPr>
            <a:r>
              <a:rPr lang="en-US" altLang="zh-CN" dirty="0"/>
              <a:t>USD 112</a:t>
            </a:r>
          </a:p>
          <a:p>
            <a:pPr marL="817200" lvl="1" indent="-457200" algn="just">
              <a:buSzPct val="100000"/>
              <a:buFont typeface="+mj-lt"/>
              <a:buAutoNum type="alphaUcPeriod"/>
            </a:pPr>
            <a:r>
              <a:rPr lang="en-US" altLang="zh-CN" u="sng" dirty="0"/>
              <a:t>USD 1,946</a:t>
            </a:r>
          </a:p>
          <a:p>
            <a:pPr marL="817200" lvl="1" indent="-457200" algn="just">
              <a:buSzPct val="100000"/>
              <a:buFont typeface="+mj-lt"/>
              <a:buAutoNum type="alphaUcPeriod"/>
            </a:pPr>
            <a:r>
              <a:rPr lang="en-US" altLang="zh-CN" dirty="0"/>
              <a:t>USD 3,243</a:t>
            </a:r>
          </a:p>
          <a:p>
            <a:pPr marL="817200" lvl="1" indent="-457200">
              <a:buSzPct val="100000"/>
              <a:buFont typeface="+mj-lt"/>
              <a:buAutoNum type="alphaUcPeriod"/>
            </a:pPr>
            <a:r>
              <a:rPr lang="en-US" altLang="zh-CN" dirty="0"/>
              <a:t>USD 5,406</a:t>
            </a:r>
          </a:p>
          <a:p>
            <a:pPr marL="817200" lvl="1" indent="-457200">
              <a:buSzPct val="100000"/>
              <a:buFont typeface="+mj-lt"/>
              <a:buAutoNum type="alphaUcPeriod"/>
            </a:pPr>
            <a:endParaRPr lang="en-US" altLang="zh-CN" dirty="0"/>
          </a:p>
          <a:p>
            <a:pPr marL="417150" indent="-457200">
              <a:buSzPct val="100000"/>
              <a:buFont typeface="Wingdings" panose="05000000000000000000" pitchFamily="2" charset="2"/>
              <a:buChar char="l"/>
            </a:pPr>
            <a:r>
              <a:rPr lang="en-US" altLang="zh-CN" dirty="0">
                <a:solidFill>
                  <a:schemeClr val="tx1"/>
                </a:solidFill>
              </a:rPr>
              <a:t>Correct Answer : B</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95917174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fontScale="92500"/>
          </a:bodyPr>
          <a:lstStyle/>
          <a:p>
            <a:pPr>
              <a:lnSpc>
                <a:spcPct val="140000"/>
              </a:lnSpc>
            </a:pPr>
            <a:r>
              <a:rPr lang="en-US" altLang="zh-CN" dirty="0"/>
              <a:t>Actual Asset Return Distribution</a:t>
            </a:r>
          </a:p>
          <a:p>
            <a:pPr lvl="1">
              <a:lnSpc>
                <a:spcPct val="140000"/>
              </a:lnSpc>
            </a:pPr>
            <a:r>
              <a:rPr lang="en-US" altLang="zh-CN" dirty="0"/>
              <a:t>The common </a:t>
            </a:r>
            <a:r>
              <a:rPr lang="en-US" altLang="zh-CN" u="sng" dirty="0"/>
              <a:t>deviations from normality</a:t>
            </a:r>
            <a:r>
              <a:rPr lang="en-US" altLang="zh-CN" dirty="0"/>
              <a:t> that are problematic in modeling risk result from asset returns that are </a:t>
            </a:r>
            <a:r>
              <a:rPr lang="en-US" altLang="zh-CN" u="sng" dirty="0"/>
              <a:t>fat-tailed, skewed, or unstable</a:t>
            </a:r>
            <a:r>
              <a:rPr lang="en-US" altLang="zh-CN" dirty="0"/>
              <a:t>.</a:t>
            </a:r>
            <a:r>
              <a:rPr lang="en-US" altLang="zh-CN" u="sng" dirty="0"/>
              <a:t> </a:t>
            </a:r>
          </a:p>
          <a:p>
            <a:pPr lvl="2">
              <a:lnSpc>
                <a:spcPct val="140000"/>
              </a:lnSpc>
            </a:pPr>
            <a:r>
              <a:rPr lang="en-US" altLang="zh-CN" b="1" dirty="0"/>
              <a:t>Fat-tailed</a:t>
            </a:r>
            <a:r>
              <a:rPr lang="en-US" altLang="zh-CN" dirty="0"/>
              <a:t> (a.k.a., heavy tailed): a fat-tailed distribution is characterized by having more probability weight (observations) in its tails relative to the normal distribution.</a:t>
            </a:r>
          </a:p>
          <a:p>
            <a:pPr lvl="2">
              <a:lnSpc>
                <a:spcPct val="140000"/>
              </a:lnSpc>
            </a:pPr>
            <a:r>
              <a:rPr lang="en-US" altLang="zh-CN" b="1" dirty="0"/>
              <a:t>Skew</a:t>
            </a:r>
            <a:r>
              <a:rPr lang="en-US" altLang="zh-CN" dirty="0"/>
              <a:t>: a skewed distribution refers to the observation that </a:t>
            </a:r>
            <a:r>
              <a:rPr lang="en-US" altLang="zh-CN" u="sng" dirty="0"/>
              <a:t>declines in asset prices are more severe than increases</a:t>
            </a:r>
            <a:r>
              <a:rPr lang="en-US" altLang="zh-CN" dirty="0"/>
              <a:t>. This is in contrast to the symmetry that is built into the normal distribution.</a:t>
            </a:r>
          </a:p>
          <a:p>
            <a:pPr lvl="2">
              <a:lnSpc>
                <a:spcPct val="140000"/>
              </a:lnSpc>
            </a:pPr>
            <a:r>
              <a:rPr lang="en-US" altLang="zh-CN" b="1" dirty="0"/>
              <a:t>Time-varying (unstable)</a:t>
            </a:r>
            <a:r>
              <a:rPr lang="en-US" altLang="zh-CN" dirty="0"/>
              <a:t>:</a:t>
            </a:r>
            <a:r>
              <a:rPr lang="en-US" altLang="zh-CN" b="1" dirty="0"/>
              <a:t> </a:t>
            </a:r>
            <a:r>
              <a:rPr lang="en-US" altLang="zh-CN" dirty="0"/>
              <a:t>the parameters (e.g., mean, volatility) </a:t>
            </a:r>
            <a:r>
              <a:rPr lang="en-US" altLang="zh-CN" u="sng" dirty="0"/>
              <a:t>vary over time due to variability in market conditions</a:t>
            </a:r>
            <a:r>
              <a:rPr lang="en-US" altLang="zh-CN" dirty="0"/>
              <a: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35937158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fontScale="92500"/>
          </a:bodyPr>
          <a:lstStyle/>
          <a:p>
            <a:pPr>
              <a:lnSpc>
                <a:spcPct val="140000"/>
              </a:lnSpc>
            </a:pPr>
            <a:r>
              <a:rPr lang="en-US" altLang="zh-CN" dirty="0"/>
              <a:t>Potential Reasons for the Existence of Fat Tails</a:t>
            </a:r>
          </a:p>
          <a:p>
            <a:pPr lvl="1">
              <a:lnSpc>
                <a:spcPct val="140000"/>
              </a:lnSpc>
            </a:pPr>
            <a:r>
              <a:rPr lang="en-US" altLang="zh-CN" dirty="0"/>
              <a:t>The phenomenon of “</a:t>
            </a:r>
            <a:r>
              <a:rPr lang="en-US" altLang="zh-CN" b="1" dirty="0"/>
              <a:t>fat tails</a:t>
            </a:r>
            <a:r>
              <a:rPr lang="en-US" altLang="zh-CN" dirty="0"/>
              <a:t>” is most likely the </a:t>
            </a:r>
            <a:r>
              <a:rPr lang="en-US" altLang="zh-CN" u="sng" dirty="0"/>
              <a:t>result of the volatility and/or the mean of the distribution changing over time</a:t>
            </a:r>
            <a:r>
              <a:rPr lang="en-US" altLang="zh-CN" dirty="0"/>
              <a:t>.</a:t>
            </a:r>
            <a:r>
              <a:rPr lang="en-US" altLang="zh-CN" u="sng" dirty="0"/>
              <a:t> </a:t>
            </a:r>
          </a:p>
          <a:p>
            <a:pPr lvl="2">
              <a:lnSpc>
                <a:spcPct val="140000"/>
              </a:lnSpc>
            </a:pPr>
            <a:r>
              <a:rPr lang="en-US" altLang="zh-CN" dirty="0"/>
              <a:t>If the mean and standard deviation are the </a:t>
            </a:r>
            <a:r>
              <a:rPr lang="en-US" altLang="zh-CN" u="sng" dirty="0"/>
              <a:t>same</a:t>
            </a:r>
            <a:r>
              <a:rPr lang="en-US" altLang="zh-CN" dirty="0"/>
              <a:t> for asset returns for any given day, </a:t>
            </a:r>
            <a:r>
              <a:rPr lang="en-US" altLang="zh-CN" u="sng" dirty="0"/>
              <a:t>the distribution of returns is referred to as an unconditional distribution of asset returns</a:t>
            </a:r>
            <a:r>
              <a:rPr lang="en-US" altLang="zh-CN" dirty="0"/>
              <a:t>.</a:t>
            </a:r>
            <a:r>
              <a:rPr lang="en-US" altLang="zh-CN" u="sng" dirty="0"/>
              <a:t> </a:t>
            </a:r>
          </a:p>
          <a:p>
            <a:pPr lvl="2">
              <a:lnSpc>
                <a:spcPct val="140000"/>
              </a:lnSpc>
            </a:pPr>
            <a:r>
              <a:rPr lang="en-US" altLang="zh-CN" dirty="0"/>
              <a:t>However, </a:t>
            </a:r>
            <a:r>
              <a:rPr lang="en-US" altLang="zh-CN" u="sng" dirty="0"/>
              <a:t>different market or economic conditions may cause the mean and variance of the return distribution to change over time. In such cases, the return distribution is referred to as a conditional distribution</a:t>
            </a:r>
            <a:r>
              <a:rPr lang="en-US" altLang="zh-CN" dirty="0"/>
              <a:t>.</a:t>
            </a:r>
          </a:p>
          <a:p>
            <a:pPr lvl="1">
              <a:lnSpc>
                <a:spcPct val="140000"/>
              </a:lnSpc>
            </a:pPr>
            <a:r>
              <a:rPr lang="en-US" altLang="zh-CN" dirty="0"/>
              <a:t>The second possible explanation for “</a:t>
            </a:r>
            <a:r>
              <a:rPr lang="en-US" altLang="zh-CN" b="1" dirty="0"/>
              <a:t>fat tails</a:t>
            </a:r>
            <a:r>
              <a:rPr lang="en-US" altLang="zh-CN" dirty="0"/>
              <a:t>” is that the volatility is </a:t>
            </a:r>
            <a:r>
              <a:rPr lang="en-US" altLang="zh-CN" u="sng" dirty="0"/>
              <a:t>time-varying</a:t>
            </a:r>
            <a:r>
              <a:rPr lang="en-US" altLang="zh-CN" dirty="0"/>
              <a:t>. </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222195985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a:bodyPr>
          <a:lstStyle/>
          <a:p>
            <a:pPr lvl="1"/>
            <a:r>
              <a:rPr lang="en-US" altLang="zh-CN" dirty="0"/>
              <a:t>A </a:t>
            </a:r>
            <a:r>
              <a:rPr lang="en-US" altLang="zh-CN" b="1" dirty="0"/>
              <a:t>regime-switching volatility model </a:t>
            </a:r>
            <a:r>
              <a:rPr lang="en-US" altLang="zh-CN" u="sng" dirty="0"/>
              <a:t>assumes different market regimes exist with high or low volatility</a:t>
            </a:r>
            <a:r>
              <a:rPr lang="en-US" altLang="zh-CN" dirty="0"/>
              <a:t>. </a:t>
            </a:r>
            <a:r>
              <a:rPr lang="en-US" altLang="zh-CN" u="sng" dirty="0"/>
              <a:t>The conditional distributions of returns are always normal with a constant mean but either have a high or low volatility. </a:t>
            </a:r>
          </a:p>
          <a:p>
            <a:pPr lvl="1"/>
            <a:r>
              <a:rPr lang="en-US" altLang="zh-CN" dirty="0"/>
              <a:t>The </a:t>
            </a:r>
            <a:r>
              <a:rPr lang="en-US" altLang="zh-CN" u="sng" dirty="0"/>
              <a:t>regime-switching model captures conditional normality and may resolve the fat-tail problem and other deviations from normality</a:t>
            </a:r>
            <a:r>
              <a:rPr lang="en-US" altLang="zh-CN" dirty="0"/>
              <a:t>.</a:t>
            </a:r>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9653291A-B9F0-475B-9164-956DDB84C451}"/>
              </a:ext>
            </a:extLst>
          </p:cNvPr>
          <p:cNvGrpSpPr/>
          <p:nvPr/>
        </p:nvGrpSpPr>
        <p:grpSpPr>
          <a:xfrm>
            <a:off x="3323691" y="4349616"/>
            <a:ext cx="5544616" cy="2124016"/>
            <a:chOff x="1475656" y="3753256"/>
            <a:chExt cx="5544616" cy="2124016"/>
          </a:xfrm>
        </p:grpSpPr>
        <p:pic>
          <p:nvPicPr>
            <p:cNvPr id="5" name="图片 3">
              <a:extLst>
                <a:ext uri="{FF2B5EF4-FFF2-40B4-BE49-F238E27FC236}">
                  <a16:creationId xmlns:a16="http://schemas.microsoft.com/office/drawing/2014/main" id="{634C609E-16F5-4F6C-A935-26C572FB4DE8}"/>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1620272" y="3753256"/>
              <a:ext cx="5400000" cy="19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圆角矩形 4">
              <a:extLst>
                <a:ext uri="{FF2B5EF4-FFF2-40B4-BE49-F238E27FC236}">
                  <a16:creationId xmlns:a16="http://schemas.microsoft.com/office/drawing/2014/main" id="{61DA7F61-3D46-4BB8-9CB3-0BAA6ADB07A9}"/>
                </a:ext>
              </a:extLst>
            </p:cNvPr>
            <p:cNvSpPr/>
            <p:nvPr/>
          </p:nvSpPr>
          <p:spPr>
            <a:xfrm>
              <a:off x="1475656" y="3753256"/>
              <a:ext cx="5544616" cy="2124016"/>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85567321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fontScale="92500" lnSpcReduction="20000"/>
          </a:bodyPr>
          <a:lstStyle/>
          <a:p>
            <a:pPr>
              <a:lnSpc>
                <a:spcPct val="140000"/>
              </a:lnSpc>
            </a:pPr>
            <a:r>
              <a:rPr lang="en-US" altLang="zh-CN" dirty="0"/>
              <a:t>Historical-Based Approach and Implied Volatility-Based Approach</a:t>
            </a:r>
          </a:p>
          <a:p>
            <a:pPr lvl="1">
              <a:lnSpc>
                <a:spcPct val="140000"/>
              </a:lnSpc>
            </a:pPr>
            <a:r>
              <a:rPr lang="en-US" altLang="zh-CN" b="1" dirty="0"/>
              <a:t>Historical-based approach</a:t>
            </a:r>
            <a:r>
              <a:rPr lang="en-US" altLang="zh-CN" dirty="0"/>
              <a:t> typically fall into three sub-categories</a:t>
            </a:r>
            <a:r>
              <a:rPr lang="en-US" altLang="zh-CN" b="1" dirty="0"/>
              <a:t> </a:t>
            </a:r>
          </a:p>
          <a:p>
            <a:pPr lvl="2">
              <a:lnSpc>
                <a:spcPct val="140000"/>
              </a:lnSpc>
            </a:pPr>
            <a:r>
              <a:rPr lang="en-US" altLang="zh-CN" b="1" dirty="0"/>
              <a:t>Parametric model </a:t>
            </a:r>
            <a:r>
              <a:rPr lang="en-US" altLang="zh-CN" dirty="0"/>
              <a:t>typically </a:t>
            </a:r>
            <a:r>
              <a:rPr lang="en-US" altLang="zh-CN" u="sng" dirty="0"/>
              <a:t>assumes asset returns are normally or lognormally distributed with time-varying volatility</a:t>
            </a:r>
            <a:r>
              <a:rPr lang="en-US" altLang="zh-CN" dirty="0"/>
              <a:t>. </a:t>
            </a:r>
          </a:p>
          <a:p>
            <a:pPr lvl="2">
              <a:lnSpc>
                <a:spcPct val="140000"/>
              </a:lnSpc>
            </a:pPr>
            <a:r>
              <a:rPr lang="en-US" altLang="zh-CN" b="1" dirty="0"/>
              <a:t>Nonparametric approach</a:t>
            </a:r>
            <a:r>
              <a:rPr lang="en-US" altLang="zh-CN" dirty="0"/>
              <a:t> is less restrictive in that </a:t>
            </a:r>
            <a:r>
              <a:rPr lang="en-US" altLang="zh-CN" u="sng" dirty="0"/>
              <a:t>there are no underlying assumptions of the asset returns distribution</a:t>
            </a:r>
            <a:r>
              <a:rPr lang="en-US" altLang="zh-CN" dirty="0"/>
              <a:t>. The most common nonparametric approach </a:t>
            </a:r>
            <a:r>
              <a:rPr lang="en-US" altLang="zh-CN" u="sng" dirty="0"/>
              <a:t>models volatility using the historical simulation method</a:t>
            </a:r>
            <a:r>
              <a:rPr lang="en-US" altLang="zh-CN" dirty="0"/>
              <a:t>.</a:t>
            </a:r>
          </a:p>
          <a:p>
            <a:pPr lvl="2">
              <a:lnSpc>
                <a:spcPct val="140000"/>
              </a:lnSpc>
            </a:pPr>
            <a:r>
              <a:rPr lang="en-US" altLang="zh-CN" b="1" dirty="0"/>
              <a:t>Hybrid approach</a:t>
            </a:r>
            <a:r>
              <a:rPr lang="en-US" altLang="zh-CN" dirty="0"/>
              <a:t> combines techniques of </a:t>
            </a:r>
            <a:r>
              <a:rPr lang="en-US" altLang="zh-CN" u="sng" dirty="0"/>
              <a:t>both parametric and nonparametric methods</a:t>
            </a:r>
            <a:r>
              <a:rPr lang="en-US" altLang="zh-CN" dirty="0"/>
              <a:t> to estimate volatility using historical data. An example of a popular hybrid approach is </a:t>
            </a:r>
            <a:r>
              <a:rPr lang="en-US" altLang="zh-CN" u="sng" dirty="0"/>
              <a:t>Filtered Historical Simulation (FHS)</a:t>
            </a:r>
            <a:r>
              <a:rPr lang="en-US" altLang="zh-CN" dirty="0"/>
              <a:t>. Filtered historical simulation “updates” the volatility by fitting a model such as </a:t>
            </a:r>
            <a:r>
              <a:rPr lang="en-US" altLang="zh-CN" u="sng" dirty="0"/>
              <a:t>GARCH</a:t>
            </a:r>
            <a:r>
              <a:rPr lang="en-US" altLang="zh-CN" dirty="0"/>
              <a:t> to the time-series.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07523143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fontScale="92500"/>
          </a:bodyPr>
          <a:lstStyle/>
          <a:p>
            <a:pPr lvl="1">
              <a:lnSpc>
                <a:spcPct val="140000"/>
              </a:lnSpc>
            </a:pPr>
            <a:r>
              <a:rPr lang="en-US" altLang="zh-CN" dirty="0"/>
              <a:t>The </a:t>
            </a:r>
            <a:r>
              <a:rPr lang="en-US" altLang="zh-CN" b="1" dirty="0"/>
              <a:t>implied volatility-based approach</a:t>
            </a:r>
            <a:r>
              <a:rPr lang="en-US" altLang="zh-CN" dirty="0"/>
              <a:t> uses </a:t>
            </a:r>
            <a:r>
              <a:rPr lang="en-US" altLang="zh-CN" u="sng" dirty="0"/>
              <a:t>derivative pricing models</a:t>
            </a:r>
            <a:r>
              <a:rPr lang="en-US" altLang="zh-CN" dirty="0"/>
              <a:t> such as the Black-Scholes-Merton option pricing model to estimate an implied volatility based on current market data rather than historical data.</a:t>
            </a:r>
          </a:p>
          <a:p>
            <a:pPr lvl="2">
              <a:lnSpc>
                <a:spcPct val="140000"/>
              </a:lnSpc>
            </a:pPr>
            <a:r>
              <a:rPr lang="en-US" altLang="zh-CN" dirty="0"/>
              <a:t>The advantage of implied volatility is the </a:t>
            </a:r>
            <a:r>
              <a:rPr lang="en-US" altLang="zh-CN" u="sng" dirty="0"/>
              <a:t>forward-looking</a:t>
            </a:r>
            <a:r>
              <a:rPr lang="en-US" altLang="zh-CN" dirty="0"/>
              <a:t> predictive nature of the model. The implied volatility model </a:t>
            </a:r>
            <a:r>
              <a:rPr lang="en-US" altLang="zh-CN" u="sng" dirty="0"/>
              <a:t>reacts immediately to changing market conditions</a:t>
            </a:r>
            <a:r>
              <a:rPr lang="en-US" altLang="zh-CN" dirty="0"/>
              <a:t>.</a:t>
            </a:r>
          </a:p>
          <a:p>
            <a:pPr lvl="2">
              <a:lnSpc>
                <a:spcPct val="140000"/>
              </a:lnSpc>
            </a:pPr>
            <a:r>
              <a:rPr lang="en-US" altLang="zh-CN" dirty="0"/>
              <a:t>The disadvantages of implied volatility is that implied volatility is </a:t>
            </a:r>
            <a:r>
              <a:rPr lang="en-US" altLang="zh-CN" u="sng" dirty="0"/>
              <a:t>model dependent</a:t>
            </a:r>
            <a:r>
              <a:rPr lang="en-US" altLang="zh-CN" dirty="0"/>
              <a:t>. (1) Options on the same underlying asset may trade different implied volatilities. (2) The model assumes constant volatility, but volatility tends to change over time. (3) Limited availability because it requires traded price.</a:t>
            </a:r>
          </a:p>
          <a:p>
            <a:pPr lvl="2">
              <a:lnSpc>
                <a:spcPct val="140000"/>
              </a:lnSpc>
            </a:pPr>
            <a:endParaRPr lang="zh-CN" altLang="en-US" b="1"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257041721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fontScale="92500" lnSpcReduction="20000"/>
          </a:bodyPr>
          <a:lstStyle/>
          <a:p>
            <a:pPr>
              <a:lnSpc>
                <a:spcPct val="140000"/>
              </a:lnSpc>
            </a:pPr>
            <a:r>
              <a:rPr lang="en-US" altLang="zh-CN" dirty="0"/>
              <a:t>Historical Simulation</a:t>
            </a:r>
          </a:p>
          <a:p>
            <a:pPr lvl="1">
              <a:lnSpc>
                <a:spcPct val="140000"/>
              </a:lnSpc>
            </a:pPr>
            <a:r>
              <a:rPr lang="en-US" altLang="zh-CN" u="sng" dirty="0"/>
              <a:t>No parameter estimates are required</a:t>
            </a:r>
            <a:r>
              <a:rPr lang="en-US" altLang="zh-CN" dirty="0"/>
              <a:t>, the only thing we need to determine up front is the lookback window. </a:t>
            </a:r>
            <a:r>
              <a:rPr lang="en-US" altLang="zh-CN" u="sng" dirty="0"/>
              <a:t>Once the window length is determined, we order returns in descending order, and go directly to the tail of this ordered vector.</a:t>
            </a:r>
          </a:p>
          <a:p>
            <a:pPr lvl="1">
              <a:lnSpc>
                <a:spcPct val="140000"/>
              </a:lnSpc>
            </a:pPr>
            <a:r>
              <a:rPr lang="en-US" altLang="zh-CN" u="sng" dirty="0"/>
              <a:t>The model is not subject to estimation error</a:t>
            </a:r>
            <a:r>
              <a:rPr lang="en-US" altLang="zh-CN" dirty="0"/>
              <a:t> related to correlations and the problem of higher correlations in downward markets.</a:t>
            </a:r>
          </a:p>
          <a:p>
            <a:pPr>
              <a:lnSpc>
                <a:spcPct val="140000"/>
              </a:lnSpc>
            </a:pPr>
            <a:r>
              <a:rPr lang="en-US" altLang="zh-CN" dirty="0"/>
              <a:t>Multivariate Density Estimation</a:t>
            </a:r>
          </a:p>
          <a:p>
            <a:pPr lvl="1">
              <a:lnSpc>
                <a:spcPct val="140000"/>
              </a:lnSpc>
            </a:pPr>
            <a:r>
              <a:rPr lang="en-US" altLang="zh-CN" dirty="0"/>
              <a:t>Multivariate density estimation (MDE) </a:t>
            </a:r>
            <a:r>
              <a:rPr lang="en-US" altLang="zh-CN" u="sng" dirty="0"/>
              <a:t>allows for weights to vary based on how relevant the data is to the current market environment, regardless of the timing of the most relevant data</a:t>
            </a:r>
            <a:r>
              <a:rPr lang="en-US" altLang="zh-CN" dirty="0"/>
              <a:t>.</a:t>
            </a:r>
          </a:p>
          <a:p>
            <a:pPr lvl="1">
              <a:lnSpc>
                <a:spcPct val="140000"/>
              </a:lnSpc>
            </a:pPr>
            <a:r>
              <a:rPr lang="en-US" altLang="zh-CN" dirty="0"/>
              <a:t>MDE is very flexible in introducing dependence on economic variables (called state variables or conditioning variables).</a:t>
            </a:r>
            <a:endParaRPr lang="zh-CN" altLang="en-US" b="1"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113971382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fontScale="92500"/>
          </a:bodyPr>
          <a:lstStyle/>
          <a:p>
            <a:pPr>
              <a:lnSpc>
                <a:spcPct val="140000"/>
              </a:lnSpc>
            </a:pPr>
            <a:r>
              <a:rPr lang="en-US" altLang="zh-CN" dirty="0"/>
              <a:t>Hybrid Approach</a:t>
            </a:r>
          </a:p>
          <a:p>
            <a:pPr lvl="1">
              <a:lnSpc>
                <a:spcPct val="140000"/>
              </a:lnSpc>
            </a:pPr>
            <a:r>
              <a:rPr lang="en-US" altLang="zh-CN" dirty="0"/>
              <a:t>The hybrid approach </a:t>
            </a:r>
            <a:r>
              <a:rPr lang="en-US" altLang="zh-CN" u="sng" dirty="0"/>
              <a:t>uses historical simulation to estimate the percentiles of the return and weights that decline exponentially </a:t>
            </a:r>
            <a:r>
              <a:rPr lang="en-US" altLang="zh-CN" dirty="0"/>
              <a:t>(similar to EWMA). The following three steps are required to implement the hybrid approach.</a:t>
            </a:r>
          </a:p>
          <a:p>
            <a:pPr lvl="2">
              <a:lnSpc>
                <a:spcPct val="140000"/>
              </a:lnSpc>
            </a:pPr>
            <a:r>
              <a:rPr lang="en-US" altLang="zh-CN" dirty="0"/>
              <a:t>Step 1: </a:t>
            </a:r>
            <a:r>
              <a:rPr lang="en-US" altLang="zh-CN" u="sng" dirty="0"/>
              <a:t>Assign weights for historical realized returns</a:t>
            </a:r>
            <a:r>
              <a:rPr lang="en-US" altLang="zh-CN" dirty="0"/>
              <a:t> to the most recent K returns using an exponential smoothing process as follows:</a:t>
            </a:r>
          </a:p>
          <a:p>
            <a:pPr lvl="2">
              <a:lnSpc>
                <a:spcPct val="140000"/>
              </a:lnSpc>
            </a:pPr>
            <a:endParaRPr lang="en-US" altLang="zh-CN" dirty="0"/>
          </a:p>
          <a:p>
            <a:pPr lvl="2">
              <a:lnSpc>
                <a:spcPct val="140000"/>
              </a:lnSpc>
            </a:pPr>
            <a:endParaRPr lang="en-US" altLang="zh-CN" dirty="0"/>
          </a:p>
          <a:p>
            <a:pPr lvl="2">
              <a:lnSpc>
                <a:spcPct val="140000"/>
              </a:lnSpc>
            </a:pPr>
            <a:r>
              <a:rPr lang="en-US" altLang="zh-CN" dirty="0"/>
              <a:t>Step 2: </a:t>
            </a:r>
            <a:r>
              <a:rPr lang="en-US" altLang="zh-CN" u="sng" dirty="0"/>
              <a:t>Order the returns.</a:t>
            </a:r>
          </a:p>
          <a:p>
            <a:pPr lvl="2">
              <a:lnSpc>
                <a:spcPct val="140000"/>
              </a:lnSpc>
            </a:pPr>
            <a:r>
              <a:rPr lang="en-US" altLang="zh-CN" dirty="0"/>
              <a:t>Step 3: </a:t>
            </a:r>
            <a:r>
              <a:rPr lang="en-US" altLang="zh-CN" u="sng" dirty="0"/>
              <a:t>Determine the </a:t>
            </a:r>
            <a:r>
              <a:rPr lang="en-US" altLang="zh-CN" u="sng" dirty="0" err="1"/>
              <a:t>VaR</a:t>
            </a:r>
            <a:r>
              <a:rPr lang="en-US" altLang="zh-CN" u="sng" dirty="0"/>
              <a:t> for the portfolio by starting with the lowest return and accumulating the weights until x percentage is reached. </a:t>
            </a:r>
            <a:endParaRPr lang="en-US" altLang="zh-CN" dirty="0"/>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4E6DC56E-BDCC-4AC9-B53C-AAC1CE3330CC}"/>
                  </a:ext>
                </a:extLst>
              </p:cNvPr>
              <p:cNvSpPr/>
              <p:nvPr/>
            </p:nvSpPr>
            <p:spPr>
              <a:xfrm>
                <a:off x="4279379" y="3699838"/>
                <a:ext cx="3633239" cy="6183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i="1">
                              <a:latin typeface="Cambria Math" panose="02040503050406030204" pitchFamily="18" charset="0"/>
                            </a:rPr>
                          </m:ctrlPr>
                        </m:fPr>
                        <m:num>
                          <m:r>
                            <a:rPr lang="zh-CN" altLang="en-US">
                              <a:latin typeface="Cambria Math" panose="02040503050406030204" pitchFamily="18" charset="0"/>
                            </a:rPr>
                            <m:t>1</m:t>
                          </m:r>
                          <m:r>
                            <a:rPr lang="zh-CN" altLang="en-US" i="0">
                              <a:latin typeface="Cambria Math" panose="02040503050406030204" pitchFamily="18" charset="0"/>
                            </a:rPr>
                            <m:t>−</m:t>
                          </m:r>
                          <m:r>
                            <a:rPr lang="zh-CN" altLang="en-US" i="1">
                              <a:latin typeface="Cambria Math" panose="02040503050406030204" pitchFamily="18" charset="0"/>
                            </a:rPr>
                            <m:t>𝜆</m:t>
                          </m:r>
                        </m:num>
                        <m:den>
                          <m:r>
                            <a:rPr lang="zh-CN" altLang="en-US" i="0">
                              <a:latin typeface="Cambria Math" panose="02040503050406030204" pitchFamily="18" charset="0"/>
                            </a:rPr>
                            <m:t>1−</m:t>
                          </m:r>
                          <m:sSup>
                            <m:sSupPr>
                              <m:ctrlPr>
                                <a:rPr lang="zh-CN" altLang="en-US" i="1">
                                  <a:latin typeface="Cambria Math" panose="02040503050406030204" pitchFamily="18" charset="0"/>
                                </a:rPr>
                              </m:ctrlPr>
                            </m:sSupPr>
                            <m:e>
                              <m:r>
                                <a:rPr lang="zh-CN" altLang="en-US" i="1">
                                  <a:latin typeface="Cambria Math" panose="02040503050406030204" pitchFamily="18" charset="0"/>
                                </a:rPr>
                                <m:t>𝜆</m:t>
                              </m:r>
                            </m:e>
                            <m:sup>
                              <m:r>
                                <a:rPr lang="zh-CN" altLang="en-US" i="1">
                                  <a:latin typeface="Cambria Math" panose="02040503050406030204" pitchFamily="18" charset="0"/>
                                </a:rPr>
                                <m:t>𝑘</m:t>
                              </m:r>
                            </m:sup>
                          </m:sSup>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r>
                            <a:rPr lang="zh-CN" altLang="en-US" i="1">
                              <a:latin typeface="Cambria Math" panose="02040503050406030204" pitchFamily="18" charset="0"/>
                            </a:rPr>
                            <m:t>𝜆</m:t>
                          </m:r>
                        </m:num>
                        <m:den>
                          <m:r>
                            <a:rPr lang="zh-CN" altLang="en-US" i="0">
                              <a:latin typeface="Cambria Math" panose="02040503050406030204" pitchFamily="18" charset="0"/>
                            </a:rPr>
                            <m:t>1−</m:t>
                          </m:r>
                          <m:sSup>
                            <m:sSupPr>
                              <m:ctrlPr>
                                <a:rPr lang="zh-CN" altLang="en-US" i="1">
                                  <a:latin typeface="Cambria Math" panose="02040503050406030204" pitchFamily="18" charset="0"/>
                                </a:rPr>
                              </m:ctrlPr>
                            </m:sSupPr>
                            <m:e>
                              <m:r>
                                <a:rPr lang="zh-CN" altLang="en-US" i="1">
                                  <a:latin typeface="Cambria Math" panose="02040503050406030204" pitchFamily="18" charset="0"/>
                                </a:rPr>
                                <m:t>𝜆</m:t>
                              </m:r>
                            </m:e>
                            <m:sup>
                              <m:r>
                                <a:rPr lang="zh-CN" altLang="en-US" i="1">
                                  <a:latin typeface="Cambria Math" panose="02040503050406030204" pitchFamily="18" charset="0"/>
                                </a:rPr>
                                <m:t>𝑘</m:t>
                              </m:r>
                            </m:sup>
                          </m:sSup>
                        </m:den>
                      </m:f>
                      <m:r>
                        <a:rPr lang="zh-CN" altLang="en-US" i="0">
                          <a:latin typeface="Cambria Math" panose="02040503050406030204" pitchFamily="18" charset="0"/>
                        </a:rPr>
                        <m:t>⋅</m:t>
                      </m:r>
                      <m:r>
                        <a:rPr lang="zh-CN" altLang="en-US" i="1">
                          <a:latin typeface="Cambria Math" panose="02040503050406030204" pitchFamily="18" charset="0"/>
                        </a:rPr>
                        <m:t>𝜆</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r>
                            <a:rPr lang="zh-CN" altLang="en-US" i="1">
                              <a:latin typeface="Cambria Math" panose="02040503050406030204" pitchFamily="18" charset="0"/>
                            </a:rPr>
                            <m:t>𝜆</m:t>
                          </m:r>
                        </m:num>
                        <m:den>
                          <m:r>
                            <a:rPr lang="zh-CN" altLang="en-US" i="0">
                              <a:latin typeface="Cambria Math" panose="02040503050406030204" pitchFamily="18" charset="0"/>
                            </a:rPr>
                            <m:t>1−</m:t>
                          </m:r>
                          <m:sSup>
                            <m:sSupPr>
                              <m:ctrlPr>
                                <a:rPr lang="zh-CN" altLang="en-US" i="1">
                                  <a:latin typeface="Cambria Math" panose="02040503050406030204" pitchFamily="18" charset="0"/>
                                </a:rPr>
                              </m:ctrlPr>
                            </m:sSupPr>
                            <m:e>
                              <m:r>
                                <a:rPr lang="zh-CN" altLang="en-US" i="1">
                                  <a:latin typeface="Cambria Math" panose="02040503050406030204" pitchFamily="18" charset="0"/>
                                </a:rPr>
                                <m:t>𝜆</m:t>
                              </m:r>
                            </m:e>
                            <m:sup>
                              <m:r>
                                <a:rPr lang="zh-CN" altLang="en-US" i="1">
                                  <a:latin typeface="Cambria Math" panose="02040503050406030204" pitchFamily="18" charset="0"/>
                                </a:rPr>
                                <m:t>𝑘</m:t>
                              </m:r>
                            </m:sup>
                          </m:sSup>
                        </m:den>
                      </m:f>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𝜆</m:t>
                          </m:r>
                        </m:e>
                        <m:sup>
                          <m:r>
                            <a:rPr lang="zh-CN" altLang="en-US" i="1">
                              <a:latin typeface="Cambria Math" panose="02040503050406030204" pitchFamily="18" charset="0"/>
                            </a:rPr>
                            <m:t>𝑘</m:t>
                          </m:r>
                          <m:r>
                            <a:rPr lang="zh-CN" altLang="en-US" i="0">
                              <a:latin typeface="Cambria Math" panose="02040503050406030204" pitchFamily="18" charset="0"/>
                            </a:rPr>
                            <m:t>−1</m:t>
                          </m:r>
                        </m:sup>
                      </m:sSup>
                    </m:oMath>
                  </m:oMathPara>
                </a14:m>
                <a:endParaRPr lang="zh-CN" altLang="en-US" dirty="0"/>
              </a:p>
            </p:txBody>
          </p:sp>
        </mc:Choice>
        <mc:Fallback xmlns="">
          <p:sp>
            <p:nvSpPr>
              <p:cNvPr id="4" name="矩形 3">
                <a:extLst>
                  <a:ext uri="{FF2B5EF4-FFF2-40B4-BE49-F238E27FC236}">
                    <a16:creationId xmlns:a16="http://schemas.microsoft.com/office/drawing/2014/main" id="{4E6DC56E-BDCC-4AC9-B53C-AAC1CE3330CC}"/>
                  </a:ext>
                </a:extLst>
              </p:cNvPr>
              <p:cNvSpPr>
                <a:spLocks noRot="1" noChangeAspect="1" noMove="1" noResize="1" noEditPoints="1" noAdjustHandles="1" noChangeArrowheads="1" noChangeShapeType="1" noTextEdit="1"/>
              </p:cNvSpPr>
              <p:nvPr/>
            </p:nvSpPr>
            <p:spPr>
              <a:xfrm>
                <a:off x="4279379" y="3699838"/>
                <a:ext cx="3633239" cy="618374"/>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08658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Example: calculating 5% </a:t>
            </a:r>
            <a:r>
              <a:rPr lang="en-US" altLang="zh-CN" dirty="0" err="1"/>
              <a:t>VaR</a:t>
            </a:r>
            <a:r>
              <a:rPr lang="en-US" altLang="zh-CN" dirty="0"/>
              <a:t> using hybrid approach. The most recent observations is K = 100, and λ = 0.96.</a:t>
            </a:r>
          </a:p>
          <a:p>
            <a:endParaRPr lang="zh-CN" altLang="en-US" dirty="0">
              <a:latin typeface="+mn-lt"/>
              <a:ea typeface="+mn-ea"/>
              <a:cs typeface="+mn-ea"/>
              <a:sym typeface="+mn-lt"/>
            </a:endParaRPr>
          </a:p>
        </p:txBody>
      </p:sp>
      <p:pic>
        <p:nvPicPr>
          <p:cNvPr id="4" name="图片 3">
            <a:extLst>
              <a:ext uri="{FF2B5EF4-FFF2-40B4-BE49-F238E27FC236}">
                <a16:creationId xmlns:a16="http://schemas.microsoft.com/office/drawing/2014/main" id="{609075E1-7871-4057-BAAA-926F92F854B5}"/>
              </a:ext>
            </a:extLst>
          </p:cNvPr>
          <p:cNvPicPr>
            <a:picLocks noChangeAspect="1"/>
          </p:cNvPicPr>
          <p:nvPr/>
        </p:nvPicPr>
        <p:blipFill>
          <a:blip r:embed="rId3"/>
          <a:stretch>
            <a:fillRect/>
          </a:stretch>
        </p:blipFill>
        <p:spPr>
          <a:xfrm>
            <a:off x="2535626" y="2136656"/>
            <a:ext cx="7120745" cy="3907875"/>
          </a:xfrm>
          <a:prstGeom prst="rect">
            <a:avLst/>
          </a:prstGeom>
        </p:spPr>
      </p:pic>
    </p:spTree>
    <p:extLst>
      <p:ext uri="{BB962C8B-B14F-4D97-AF65-F5344CB8AC3E}">
        <p14:creationId xmlns:p14="http://schemas.microsoft.com/office/powerpoint/2010/main" val="237748296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Advantages of Nonparametric Methods</a:t>
            </a:r>
          </a:p>
          <a:p>
            <a:pPr lvl="1"/>
            <a:r>
              <a:rPr lang="en-US" altLang="zh-CN" u="sng" dirty="0"/>
              <a:t>Do not require assumptions of the entire returns distribution to estimate </a:t>
            </a:r>
            <a:r>
              <a:rPr lang="en-US" altLang="zh-CN" u="sng" dirty="0" err="1"/>
              <a:t>VaR.</a:t>
            </a:r>
            <a:endParaRPr lang="en-US" altLang="zh-CN" u="sng" dirty="0"/>
          </a:p>
          <a:p>
            <a:pPr lvl="1"/>
            <a:r>
              <a:rPr lang="en-US" altLang="zh-CN" u="sng" dirty="0"/>
              <a:t>Fat tails, skewness, and other deviations from some assumed distribution are no longer a concern in the estimation process.</a:t>
            </a:r>
          </a:p>
          <a:p>
            <a:pPr lvl="1"/>
            <a:r>
              <a:rPr lang="en-US" altLang="zh-CN" dirty="0"/>
              <a:t>Multivariate density estimation (MDE) allows for weights to vary based on how relevant the data is to the current market environment, regardless of the timing of the most relevant data.</a:t>
            </a:r>
          </a:p>
          <a:p>
            <a:pPr lvl="1"/>
            <a:r>
              <a:rPr lang="en-US" altLang="zh-CN" dirty="0"/>
              <a:t>MDE is very </a:t>
            </a:r>
            <a:r>
              <a:rPr lang="en-US" altLang="zh-CN" u="sng" dirty="0"/>
              <a:t>flexible</a:t>
            </a:r>
            <a:r>
              <a:rPr lang="en-US" altLang="zh-CN" dirty="0"/>
              <a:t> in </a:t>
            </a:r>
            <a:r>
              <a:rPr lang="en-US" altLang="zh-CN" u="sng" dirty="0"/>
              <a:t>introducing dependence on economic variables</a:t>
            </a:r>
            <a:r>
              <a:rPr lang="en-US" altLang="zh-CN" dirty="0"/>
              <a:t> (called state variables or conditioning variables).</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290769012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Disadvantages of Nonparametric Methods</a:t>
            </a:r>
          </a:p>
          <a:p>
            <a:pPr lvl="1"/>
            <a:r>
              <a:rPr lang="en-US" altLang="zh-CN" dirty="0"/>
              <a:t>Data is used less efficiently. </a:t>
            </a:r>
            <a:r>
              <a:rPr lang="en-US" altLang="zh-CN" u="sng" dirty="0"/>
              <a:t>Large sample sizes are required.</a:t>
            </a:r>
          </a:p>
          <a:p>
            <a:pPr lvl="1"/>
            <a:r>
              <a:rPr lang="en-US" altLang="zh-CN" u="sng" dirty="0"/>
              <a:t>Separating the full sample of data into different market regimes reduces the amount of usable data for historical simulations.</a:t>
            </a:r>
          </a:p>
          <a:p>
            <a:pPr lvl="1"/>
            <a:r>
              <a:rPr lang="en-US" altLang="zh-CN" dirty="0"/>
              <a:t>MDE may lead to data snooping or over-fitting in identifying required assumptions regarding the weighting scheme identification of relevant conditioning variables and the number of observations used to estimate volatility. </a:t>
            </a:r>
          </a:p>
          <a:p>
            <a:pPr lvl="1"/>
            <a:r>
              <a:rPr lang="en-US" altLang="zh-CN" dirty="0"/>
              <a:t>MDE requires a large amount of data that is directly related to the number of conditioning variables used in the model.</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412428465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Estimating Volatility</a:t>
            </a:r>
          </a:p>
          <a:p>
            <a:pPr lvl="1"/>
            <a:r>
              <a:rPr lang="en-US" altLang="zh-CN" dirty="0"/>
              <a:t>The </a:t>
            </a:r>
            <a:r>
              <a:rPr lang="en-US" altLang="zh-CN" b="1" dirty="0"/>
              <a:t>historical standard deviation approach</a:t>
            </a:r>
            <a:r>
              <a:rPr lang="en-US" altLang="zh-CN" dirty="0"/>
              <a:t> assumes all m returns in the window are equally weighted. </a:t>
            </a:r>
          </a:p>
          <a:p>
            <a:pPr lvl="1"/>
            <a:endParaRPr lang="en-US" altLang="zh-CN" b="1" dirty="0"/>
          </a:p>
          <a:p>
            <a:pPr lvl="1"/>
            <a:endParaRPr lang="en-US" altLang="zh-CN" b="1" dirty="0"/>
          </a:p>
          <a:p>
            <a:pPr lvl="1"/>
            <a:r>
              <a:rPr lang="en-US" altLang="zh-CN" dirty="0"/>
              <a:t>Each day, the forecast is </a:t>
            </a:r>
            <a:r>
              <a:rPr lang="en-US" altLang="zh-CN" u="sng" dirty="0"/>
              <a:t>updated by adding the most recent day and dropping the furthest day</a:t>
            </a:r>
            <a:r>
              <a:rPr lang="en-US" altLang="zh-CN" dirty="0"/>
              <a:t>. In a simple moving average, all weights on past returns are equal and set to (1/M). Note </a:t>
            </a:r>
            <a:r>
              <a:rPr lang="en-US" altLang="zh-CN" u="sng" dirty="0"/>
              <a:t>raw returns are used instead of returns around the mean</a:t>
            </a:r>
            <a:r>
              <a:rPr lang="en-US" altLang="zh-CN" dirty="0"/>
              <a:t> (i.e., </a:t>
            </a:r>
            <a:r>
              <a:rPr lang="en-US" altLang="zh-CN" u="sng" dirty="0"/>
              <a:t>the expected mean is assumed zero</a:t>
            </a:r>
            <a:r>
              <a:rPr lang="en-US" altLang="zh-CN" dirty="0"/>
              <a:t>). This is common in short time intervals, where it makes little difference on the volatility estimate.</a:t>
            </a:r>
          </a:p>
          <a:p>
            <a:pPr lvl="1"/>
            <a:endParaRPr lang="en-US" altLang="zh-CN" dirty="0"/>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A9ACC622-7A9C-46DC-8D3F-3C46B05724E2}"/>
                  </a:ext>
                </a:extLst>
              </p:cNvPr>
              <p:cNvSpPr/>
              <p:nvPr/>
            </p:nvSpPr>
            <p:spPr>
              <a:xfrm>
                <a:off x="1397686" y="2589244"/>
                <a:ext cx="1624227" cy="6596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𝑢</m:t>
                          </m:r>
                        </m:e>
                        <m:sub>
                          <m:r>
                            <a:rPr lang="zh-CN" altLang="en-US" i="1">
                              <a:latin typeface="Cambria Math" panose="02040503050406030204" pitchFamily="18" charset="0"/>
                            </a:rPr>
                            <m:t>𝑖</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𝑖</m:t>
                              </m:r>
                              <m:r>
                                <a:rPr lang="zh-CN" altLang="en-US" i="0">
                                  <a:latin typeface="Cambria Math" panose="02040503050406030204" pitchFamily="18" charset="0"/>
                                </a:rPr>
                                <m:t>−1</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𝑖</m:t>
                              </m:r>
                              <m:r>
                                <a:rPr lang="zh-CN" altLang="en-US" i="0">
                                  <a:latin typeface="Cambria Math" panose="02040503050406030204" pitchFamily="18" charset="0"/>
                                </a:rPr>
                                <m:t>−1</m:t>
                              </m:r>
                            </m:sub>
                          </m:sSub>
                        </m:den>
                      </m:f>
                    </m:oMath>
                  </m:oMathPara>
                </a14:m>
                <a:endParaRPr lang="zh-CN" altLang="en-US" dirty="0"/>
              </a:p>
            </p:txBody>
          </p:sp>
        </mc:Choice>
        <mc:Fallback xmlns="">
          <p:sp>
            <p:nvSpPr>
              <p:cNvPr id="4" name="矩形 3">
                <a:extLst>
                  <a:ext uri="{FF2B5EF4-FFF2-40B4-BE49-F238E27FC236}">
                    <a16:creationId xmlns:a16="http://schemas.microsoft.com/office/drawing/2014/main" id="{A9ACC622-7A9C-46DC-8D3F-3C46B05724E2}"/>
                  </a:ext>
                </a:extLst>
              </p:cNvPr>
              <p:cNvSpPr>
                <a:spLocks noRot="1" noChangeAspect="1" noMove="1" noResize="1" noEditPoints="1" noAdjustHandles="1" noChangeArrowheads="1" noChangeShapeType="1" noTextEdit="1"/>
              </p:cNvSpPr>
              <p:nvPr/>
            </p:nvSpPr>
            <p:spPr>
              <a:xfrm>
                <a:off x="1397686" y="2589244"/>
                <a:ext cx="1624227" cy="65960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683CE9A4-F8EF-46A4-9B29-D15AA42677E7}"/>
                  </a:ext>
                </a:extLst>
              </p:cNvPr>
              <p:cNvSpPr/>
              <p:nvPr/>
            </p:nvSpPr>
            <p:spPr>
              <a:xfrm>
                <a:off x="4026000" y="2494763"/>
                <a:ext cx="1709699" cy="8485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𝑢</m:t>
                          </m:r>
                        </m:e>
                      </m:acc>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1">
                              <a:latin typeface="Cambria Math" panose="02040503050406030204" pitchFamily="18" charset="0"/>
                            </a:rPr>
                            <m:t>𝑚</m:t>
                          </m:r>
                        </m:den>
                      </m:f>
                      <m:nary>
                        <m:naryPr>
                          <m:chr m:val="∑"/>
                          <m:limLoc m:val="undOvr"/>
                          <m:grow m:val="on"/>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=1</m:t>
                          </m:r>
                        </m:sub>
                        <m:sup>
                          <m:r>
                            <a:rPr lang="zh-CN" altLang="en-US" i="1">
                              <a:latin typeface="Cambria Math" panose="02040503050406030204" pitchFamily="18" charset="0"/>
                            </a:rPr>
                            <m:t>𝑚</m:t>
                          </m:r>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𝑢</m:t>
                              </m:r>
                            </m:e>
                            <m:sub>
                              <m:r>
                                <a:rPr lang="zh-CN" altLang="en-US" i="1">
                                  <a:latin typeface="Cambria Math" panose="02040503050406030204" pitchFamily="18" charset="0"/>
                                </a:rPr>
                                <m:t>𝑛</m:t>
                              </m:r>
                              <m:r>
                                <a:rPr lang="zh-CN" altLang="en-US" i="0">
                                  <a:latin typeface="Cambria Math" panose="02040503050406030204" pitchFamily="18" charset="0"/>
                                </a:rPr>
                                <m:t>−</m:t>
                              </m:r>
                              <m:r>
                                <a:rPr lang="zh-CN" altLang="en-US" i="1">
                                  <a:latin typeface="Cambria Math" panose="02040503050406030204" pitchFamily="18" charset="0"/>
                                </a:rPr>
                                <m:t>𝑖</m:t>
                              </m:r>
                            </m:sub>
                          </m:sSub>
                        </m:e>
                      </m:nary>
                    </m:oMath>
                  </m:oMathPara>
                </a14:m>
                <a:endParaRPr lang="zh-CN" altLang="en-US" dirty="0"/>
              </a:p>
            </p:txBody>
          </p:sp>
        </mc:Choice>
        <mc:Fallback xmlns="">
          <p:sp>
            <p:nvSpPr>
              <p:cNvPr id="5" name="矩形 4">
                <a:extLst>
                  <a:ext uri="{FF2B5EF4-FFF2-40B4-BE49-F238E27FC236}">
                    <a16:creationId xmlns:a16="http://schemas.microsoft.com/office/drawing/2014/main" id="{683CE9A4-F8EF-46A4-9B29-D15AA42677E7}"/>
                  </a:ext>
                </a:extLst>
              </p:cNvPr>
              <p:cNvSpPr>
                <a:spLocks noRot="1" noChangeAspect="1" noMove="1" noResize="1" noEditPoints="1" noAdjustHandles="1" noChangeArrowheads="1" noChangeShapeType="1" noTextEdit="1"/>
              </p:cNvSpPr>
              <p:nvPr/>
            </p:nvSpPr>
            <p:spPr>
              <a:xfrm>
                <a:off x="4026000" y="2494763"/>
                <a:ext cx="1709699" cy="848566"/>
              </a:xfrm>
              <a:prstGeom prst="rect">
                <a:avLst/>
              </a:prstGeom>
              <a:blipFill>
                <a:blip r:embed="rId4"/>
                <a:stretch>
                  <a:fillRect/>
                </a:stretch>
              </a:blipFill>
            </p:spPr>
            <p:txBody>
              <a:bodyPr/>
              <a:lstStyle/>
              <a:p>
                <a:r>
                  <a:rPr lang="zh-CN" altLang="en-US">
                    <a:noFill/>
                  </a:rPr>
                  <a:t> </a:t>
                </a:r>
              </a:p>
            </p:txBody>
          </p:sp>
        </mc:Fallback>
      </mc:AlternateContent>
      <p:sp>
        <p:nvSpPr>
          <p:cNvPr id="6" name="右箭头 5">
            <a:extLst>
              <a:ext uri="{FF2B5EF4-FFF2-40B4-BE49-F238E27FC236}">
                <a16:creationId xmlns:a16="http://schemas.microsoft.com/office/drawing/2014/main" id="{0C49D14D-703F-41F6-8B7D-C99167308120}"/>
              </a:ext>
            </a:extLst>
          </p:cNvPr>
          <p:cNvSpPr>
            <a:spLocks noChangeArrowheads="1"/>
          </p:cNvSpPr>
          <p:nvPr/>
        </p:nvSpPr>
        <p:spPr bwMode="auto">
          <a:xfrm>
            <a:off x="6489294" y="2869527"/>
            <a:ext cx="720000" cy="288000"/>
          </a:xfrm>
          <a:prstGeom prst="rightArrow">
            <a:avLst>
              <a:gd name="adj1" fmla="val 50000"/>
              <a:gd name="adj2" fmla="val 499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endParaRPr lang="zh-CN" altLang="en-US" dirty="0"/>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BBCDBFDB-1147-42DB-A4FC-7C0772EF125F}"/>
                  </a:ext>
                </a:extLst>
              </p:cNvPr>
              <p:cNvSpPr/>
              <p:nvPr/>
            </p:nvSpPr>
            <p:spPr>
              <a:xfrm>
                <a:off x="7962889" y="2580434"/>
                <a:ext cx="1943289" cy="8485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r>
                            <a:rPr lang="zh-CN" altLang="en-US" i="1">
                              <a:latin typeface="Cambria Math" panose="02040503050406030204" pitchFamily="18" charset="0"/>
                            </a:rPr>
                            <m:t>𝑛</m:t>
                          </m:r>
                        </m:sub>
                        <m:sup>
                          <m:r>
                            <a:rPr lang="zh-CN" altLang="en-US" i="0">
                              <a:latin typeface="Cambria Math" panose="02040503050406030204" pitchFamily="18" charset="0"/>
                            </a:rPr>
                            <m:t>2</m:t>
                          </m:r>
                        </m:sup>
                      </m:sSubSup>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1">
                              <a:latin typeface="Cambria Math" panose="02040503050406030204" pitchFamily="18" charset="0"/>
                            </a:rPr>
                            <m:t>𝑚</m:t>
                          </m:r>
                        </m:den>
                      </m:f>
                      <m:nary>
                        <m:naryPr>
                          <m:chr m:val="∑"/>
                          <m:limLoc m:val="undOvr"/>
                          <m:grow m:val="on"/>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=1</m:t>
                          </m:r>
                        </m:sub>
                        <m:sup>
                          <m:r>
                            <a:rPr lang="zh-CN" altLang="en-US" i="1">
                              <a:latin typeface="Cambria Math" panose="02040503050406030204" pitchFamily="18" charset="0"/>
                            </a:rPr>
                            <m:t>𝑚</m:t>
                          </m:r>
                        </m:sup>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𝑢</m:t>
                              </m:r>
                            </m:e>
                            <m:sub>
                              <m:sSub>
                                <m:sSubPr>
                                  <m:ctrlPr>
                                    <a:rPr lang="zh-CN" altLang="en-US" i="1">
                                      <a:latin typeface="Cambria Math" panose="02040503050406030204" pitchFamily="18" charset="0"/>
                                    </a:rPr>
                                  </m:ctrlPr>
                                </m:sSubPr>
                                <m:e/>
                                <m:sub>
                                  <m:r>
                                    <a:rPr lang="zh-CN" altLang="en-US" i="1">
                                      <a:latin typeface="Cambria Math" panose="02040503050406030204" pitchFamily="18" charset="0"/>
                                    </a:rPr>
                                    <m:t>𝑛</m:t>
                                  </m:r>
                                  <m:r>
                                    <a:rPr lang="zh-CN" altLang="en-US" i="0">
                                      <a:latin typeface="Cambria Math" panose="02040503050406030204" pitchFamily="18" charset="0"/>
                                    </a:rPr>
                                    <m:t>−</m:t>
                                  </m:r>
                                  <m:r>
                                    <a:rPr lang="zh-CN" altLang="en-US" i="1">
                                      <a:latin typeface="Cambria Math" panose="02040503050406030204" pitchFamily="18" charset="0"/>
                                    </a:rPr>
                                    <m:t>𝑖</m:t>
                                  </m:r>
                                </m:sub>
                              </m:sSub>
                            </m:sub>
                            <m:sup>
                              <m:r>
                                <a:rPr lang="zh-CN" altLang="en-US" i="0">
                                  <a:latin typeface="Cambria Math" panose="02040503050406030204" pitchFamily="18" charset="0"/>
                                </a:rPr>
                                <m:t>2</m:t>
                              </m:r>
                            </m:sup>
                          </m:sSubSup>
                        </m:e>
                      </m:nary>
                    </m:oMath>
                  </m:oMathPara>
                </a14:m>
                <a:endParaRPr lang="zh-CN" altLang="en-US" dirty="0"/>
              </a:p>
            </p:txBody>
          </p:sp>
        </mc:Choice>
        <mc:Fallback xmlns="">
          <p:sp>
            <p:nvSpPr>
              <p:cNvPr id="7" name="矩形 6">
                <a:extLst>
                  <a:ext uri="{FF2B5EF4-FFF2-40B4-BE49-F238E27FC236}">
                    <a16:creationId xmlns:a16="http://schemas.microsoft.com/office/drawing/2014/main" id="{BBCDBFDB-1147-42DB-A4FC-7C0772EF125F}"/>
                  </a:ext>
                </a:extLst>
              </p:cNvPr>
              <p:cNvSpPr>
                <a:spLocks noRot="1" noChangeAspect="1" noMove="1" noResize="1" noEditPoints="1" noAdjustHandles="1" noChangeArrowheads="1" noChangeShapeType="1" noTextEdit="1"/>
              </p:cNvSpPr>
              <p:nvPr/>
            </p:nvSpPr>
            <p:spPr>
              <a:xfrm>
                <a:off x="7962889" y="2580434"/>
                <a:ext cx="1943289" cy="848566"/>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5466291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fontScale="92500"/>
          </a:bodyPr>
          <a:lstStyle/>
          <a:p>
            <a:pPr lvl="1"/>
            <a:r>
              <a:rPr lang="en-US" altLang="zh-CN" b="1" dirty="0"/>
              <a:t>Example: </a:t>
            </a:r>
            <a:r>
              <a:rPr lang="en-US" altLang="zh-CN" dirty="0"/>
              <a:t>assume the previous four daily returns for a stock are 6%, 5%, 4%, and 3%. What is a current volatility estimate, applying the moving average, given that our short trailing window is only four days?</a:t>
            </a:r>
            <a:r>
              <a:rPr lang="en-US" altLang="zh-CN" b="1" dirty="0"/>
              <a:t> </a:t>
            </a:r>
            <a:r>
              <a:rPr lang="en-US" altLang="zh-CN" dirty="0"/>
              <a:t>(4.64%)</a:t>
            </a:r>
          </a:p>
          <a:p>
            <a:pPr lvl="1"/>
            <a:r>
              <a:rPr lang="en-US" altLang="zh-CN" dirty="0"/>
              <a:t>In the example above, notice that volatility is trending down, but </a:t>
            </a:r>
            <a:r>
              <a:rPr lang="en-US" altLang="zh-CN" u="sng" dirty="0"/>
              <a:t>MA does not reflect in any way this trend</a:t>
            </a:r>
            <a:r>
              <a:rPr lang="en-US" altLang="zh-CN" dirty="0"/>
              <a:t>. The moving average (MA) series is simple but has two drawbacks:</a:t>
            </a:r>
          </a:p>
          <a:p>
            <a:pPr lvl="2"/>
            <a:r>
              <a:rPr lang="en-US" altLang="zh-CN" dirty="0"/>
              <a:t>Ignores the order of the observations. </a:t>
            </a:r>
            <a:r>
              <a:rPr lang="en-US" altLang="zh-CN" u="sng" dirty="0"/>
              <a:t>Older observations may no longer be relevant, but they receive the same weight.</a:t>
            </a:r>
          </a:p>
          <a:p>
            <a:pPr lvl="2"/>
            <a:r>
              <a:rPr lang="en-US" altLang="zh-CN" dirty="0"/>
              <a:t>Has a so-called ghosting feature: data points are dropped arbitrarily due to length of the window.</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72833655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fontScale="92500" lnSpcReduction="10000"/>
          </a:bodyPr>
          <a:lstStyle/>
          <a:p>
            <a:pPr lvl="1">
              <a:lnSpc>
                <a:spcPct val="140000"/>
              </a:lnSpc>
            </a:pPr>
            <a:r>
              <a:rPr lang="en-US" altLang="zh-CN" dirty="0"/>
              <a:t>The </a:t>
            </a:r>
            <a:r>
              <a:rPr lang="en-US" altLang="zh-CN" b="1" dirty="0"/>
              <a:t>exponential smoothing methods</a:t>
            </a:r>
            <a:r>
              <a:rPr lang="en-US" altLang="zh-CN" dirty="0"/>
              <a:t> place a higher weight on more recent data, and the weights decline exponentially to zero as returns become older. </a:t>
            </a:r>
          </a:p>
          <a:p>
            <a:pPr lvl="1">
              <a:lnSpc>
                <a:spcPct val="140000"/>
              </a:lnSpc>
            </a:pPr>
            <a:endParaRPr lang="en-US" altLang="zh-CN" dirty="0"/>
          </a:p>
          <a:p>
            <a:pPr lvl="1">
              <a:lnSpc>
                <a:spcPct val="140000"/>
              </a:lnSpc>
            </a:pPr>
            <a:endParaRPr lang="en-US" altLang="zh-CN" dirty="0"/>
          </a:p>
          <a:p>
            <a:pPr lvl="1">
              <a:lnSpc>
                <a:spcPct val="140000"/>
              </a:lnSpc>
            </a:pPr>
            <a:r>
              <a:rPr lang="en-US" altLang="zh-CN" b="1" dirty="0"/>
              <a:t>Persistence: </a:t>
            </a:r>
            <a:r>
              <a:rPr lang="en-US" altLang="zh-CN" dirty="0"/>
              <a:t>In GARCH (1,1), the </a:t>
            </a:r>
            <a:r>
              <a:rPr lang="en-US" altLang="zh-CN" u="sng" dirty="0"/>
              <a:t>sum of the alpha (α) and beta (</a:t>
            </a:r>
            <a:r>
              <a:rPr lang="el-GR" altLang="zh-CN" u="sng" dirty="0"/>
              <a:t>β</a:t>
            </a:r>
            <a:r>
              <a:rPr lang="en-US" altLang="zh-CN" u="sng" dirty="0"/>
              <a:t>)</a:t>
            </a:r>
            <a:r>
              <a:rPr lang="en-US" altLang="zh-CN" dirty="0"/>
              <a:t> parameters. </a:t>
            </a:r>
            <a:r>
              <a:rPr lang="en-US" altLang="zh-CN" u="sng" dirty="0"/>
              <a:t>High persistence implies slow decay toward to the long-run average variance.</a:t>
            </a:r>
          </a:p>
          <a:p>
            <a:pPr lvl="1">
              <a:lnSpc>
                <a:spcPct val="140000"/>
              </a:lnSpc>
            </a:pPr>
            <a:r>
              <a:rPr lang="en-US" altLang="zh-CN" dirty="0"/>
              <a:t>GARCH (1, 1) is unstable if the persistence &gt; 1. </a:t>
            </a:r>
            <a:r>
              <a:rPr lang="en-US" altLang="zh-CN" u="sng" dirty="0"/>
              <a:t>A persistence of 1.0 implies no mean reversion. A persistence of less than 1.0 implies “reversion to the mean”, where a lower persistence implies greater reversion to the mean.</a:t>
            </a:r>
          </a:p>
          <a:p>
            <a:pPr lvl="1">
              <a:lnSpc>
                <a:spcPct val="140000"/>
              </a:lnSpc>
            </a:pPr>
            <a:r>
              <a:rPr lang="en-US" altLang="zh-CN" u="sng" dirty="0"/>
              <a:t>EWMA is a special case of GARCH.</a:t>
            </a:r>
            <a:endParaRPr lang="zh-CN" altLang="en-US" u="sng" dirty="0"/>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B6F9BA6B-E6DE-4E0C-8C1D-915981B593B5}"/>
                  </a:ext>
                </a:extLst>
              </p:cNvPr>
              <p:cNvSpPr/>
              <p:nvPr/>
            </p:nvSpPr>
            <p:spPr>
              <a:xfrm>
                <a:off x="1990093" y="2176848"/>
                <a:ext cx="2857769" cy="605166"/>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𝐸𝑊𝑀𝐴</m:t>
                            </m:r>
                          </m:e>
                        </m:mr>
                        <m:mr>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r>
                                  <a:rPr lang="zh-CN" altLang="en-US" i="1">
                                    <a:latin typeface="Cambria Math" panose="02040503050406030204" pitchFamily="18" charset="0"/>
                                  </a:rPr>
                                  <m:t>𝑛</m:t>
                                </m:r>
                              </m:sub>
                              <m:sup>
                                <m:r>
                                  <a:rPr lang="zh-CN" altLang="en-US" i="0">
                                    <a:latin typeface="Cambria Math" panose="02040503050406030204" pitchFamily="18" charset="0"/>
                                  </a:rPr>
                                  <m:t>2</m:t>
                                </m:r>
                              </m:sup>
                            </m:sSubSup>
                            <m:r>
                              <a:rPr lang="zh-CN" altLang="en-US" i="0">
                                <a:latin typeface="Cambria Math" panose="02040503050406030204" pitchFamily="18" charset="0"/>
                              </a:rPr>
                              <m:t>=</m:t>
                            </m:r>
                            <m:r>
                              <a:rPr lang="zh-CN" altLang="en-US" i="1">
                                <a:latin typeface="Cambria Math" panose="02040503050406030204" pitchFamily="18" charset="0"/>
                              </a:rPr>
                              <m:t>𝜆</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r>
                                  <a:rPr lang="zh-CN" altLang="en-US" i="1">
                                    <a:latin typeface="Cambria Math" panose="02040503050406030204" pitchFamily="18" charset="0"/>
                                  </a:rPr>
                                  <m:t>𝑛</m:t>
                                </m:r>
                                <m:r>
                                  <a:rPr lang="zh-CN" altLang="en-US" i="0">
                                    <a:latin typeface="Cambria Math" panose="02040503050406030204" pitchFamily="18" charset="0"/>
                                  </a:rPr>
                                  <m:t>−1</m:t>
                                </m:r>
                              </m:sub>
                              <m:sup>
                                <m:r>
                                  <a:rPr lang="zh-CN" altLang="en-US" i="0">
                                    <a:latin typeface="Cambria Math" panose="02040503050406030204" pitchFamily="18" charset="0"/>
                                  </a:rPr>
                                  <m:t>2</m:t>
                                </m:r>
                              </m:sup>
                            </m:sSubSup>
                            <m:r>
                              <a:rPr lang="zh-CN" altLang="en-US" i="0">
                                <a:latin typeface="Cambria Math" panose="02040503050406030204" pitchFamily="18" charset="0"/>
                              </a:rPr>
                              <m:t>+</m:t>
                            </m:r>
                            <m:d>
                              <m:dPr>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𝜆</m:t>
                                </m:r>
                              </m:e>
                            </m:d>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𝑢</m:t>
                                </m:r>
                              </m:e>
                              <m:sub>
                                <m:r>
                                  <a:rPr lang="zh-CN" altLang="en-US" i="1">
                                    <a:latin typeface="Cambria Math" panose="02040503050406030204" pitchFamily="18" charset="0"/>
                                  </a:rPr>
                                  <m:t>𝑛</m:t>
                                </m:r>
                                <m:r>
                                  <a:rPr lang="zh-CN" altLang="en-US" i="0">
                                    <a:latin typeface="Cambria Math" panose="02040503050406030204" pitchFamily="18" charset="0"/>
                                  </a:rPr>
                                  <m:t>−1</m:t>
                                </m:r>
                              </m:sub>
                              <m:sup>
                                <m:r>
                                  <a:rPr lang="zh-CN" altLang="en-US" i="0">
                                    <a:latin typeface="Cambria Math" panose="02040503050406030204" pitchFamily="18" charset="0"/>
                                  </a:rPr>
                                  <m:t>2</m:t>
                                </m:r>
                              </m:sup>
                            </m:sSubSup>
                          </m:e>
                        </m:mr>
                      </m:m>
                    </m:oMath>
                  </m:oMathPara>
                </a14:m>
                <a:endParaRPr lang="zh-CN" altLang="en-US" dirty="0"/>
              </a:p>
            </p:txBody>
          </p:sp>
        </mc:Choice>
        <mc:Fallback xmlns="">
          <p:sp>
            <p:nvSpPr>
              <p:cNvPr id="4" name="矩形 3">
                <a:extLst>
                  <a:ext uri="{FF2B5EF4-FFF2-40B4-BE49-F238E27FC236}">
                    <a16:creationId xmlns:a16="http://schemas.microsoft.com/office/drawing/2014/main" id="{B6F9BA6B-E6DE-4E0C-8C1D-915981B593B5}"/>
                  </a:ext>
                </a:extLst>
              </p:cNvPr>
              <p:cNvSpPr>
                <a:spLocks noRot="1" noChangeAspect="1" noMove="1" noResize="1" noEditPoints="1" noAdjustHandles="1" noChangeArrowheads="1" noChangeShapeType="1" noTextEdit="1"/>
              </p:cNvSpPr>
              <p:nvPr/>
            </p:nvSpPr>
            <p:spPr>
              <a:xfrm>
                <a:off x="1990093" y="2176848"/>
                <a:ext cx="2857769" cy="605166"/>
              </a:xfrm>
              <a:prstGeom prst="rect">
                <a:avLst/>
              </a:prstGeom>
              <a:blipFill>
                <a:blip r:embed="rId3"/>
                <a:stretch>
                  <a:fillRect/>
                </a:stretch>
              </a:blipFill>
              <a:ln>
                <a:solidFill>
                  <a:schemeClr val="accent1">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19A678C-E38D-4A21-AEB1-CAD16763F08A}"/>
                  </a:ext>
                </a:extLst>
              </p:cNvPr>
              <p:cNvSpPr/>
              <p:nvPr/>
            </p:nvSpPr>
            <p:spPr>
              <a:xfrm>
                <a:off x="7344139" y="2176848"/>
                <a:ext cx="2927917" cy="605166"/>
              </a:xfrm>
              <a:prstGeom prst="rect">
                <a:avLst/>
              </a:prstGeom>
              <a:ln>
                <a:solidFill>
                  <a:schemeClr val="accent1">
                    <a:lumMod val="7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𝐺𝐴𝑅𝐶𝐻</m:t>
                            </m:r>
                          </m:e>
                        </m:mr>
                        <m:mr>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r>
                                  <a:rPr lang="zh-CN" altLang="en-US" i="1">
                                    <a:latin typeface="Cambria Math" panose="02040503050406030204" pitchFamily="18" charset="0"/>
                                  </a:rPr>
                                  <m:t>𝑛</m:t>
                                </m:r>
                              </m:sub>
                              <m:sup>
                                <m:r>
                                  <a:rPr lang="zh-CN" altLang="en-US" i="0">
                                    <a:latin typeface="Cambria Math" panose="02040503050406030204" pitchFamily="18" charset="0"/>
                                  </a:rPr>
                                  <m:t>2</m:t>
                                </m:r>
                              </m:sup>
                            </m:sSubSup>
                            <m:r>
                              <a:rPr lang="zh-CN" altLang="en-US" i="0">
                                <a:latin typeface="Cambria Math" panose="02040503050406030204" pitchFamily="18" charset="0"/>
                              </a:rPr>
                              <m:t>=</m:t>
                            </m:r>
                            <m:r>
                              <a:rPr lang="zh-CN" altLang="en-US" i="1">
                                <a:latin typeface="Cambria Math" panose="02040503050406030204" pitchFamily="18" charset="0"/>
                              </a:rPr>
                              <m:t>𝛾</m:t>
                            </m:r>
                            <m:sSub>
                              <m:sSubPr>
                                <m:ctrlPr>
                                  <a:rPr lang="zh-CN" altLang="en-US" i="1">
                                    <a:latin typeface="Cambria Math" panose="02040503050406030204" pitchFamily="18" charset="0"/>
                                  </a:rPr>
                                </m:ctrlPr>
                              </m:sSubPr>
                              <m:e>
                                <m:r>
                                  <a:rPr lang="zh-CN" altLang="en-US" i="1">
                                    <a:latin typeface="Cambria Math" panose="02040503050406030204" pitchFamily="18" charset="0"/>
                                  </a:rPr>
                                  <m:t>𝑉</m:t>
                                </m:r>
                              </m:e>
                              <m:sub>
                                <m:r>
                                  <a:rPr lang="zh-CN" altLang="en-US" i="1">
                                    <a:latin typeface="Cambria Math" panose="02040503050406030204" pitchFamily="18" charset="0"/>
                                  </a:rPr>
                                  <m:t>𝐿</m:t>
                                </m:r>
                              </m:sub>
                            </m:sSub>
                            <m:r>
                              <a:rPr lang="zh-CN" altLang="en-US" i="0">
                                <a:latin typeface="Cambria Math" panose="02040503050406030204" pitchFamily="18" charset="0"/>
                              </a:rPr>
                              <m:t>+</m:t>
                            </m:r>
                            <m:r>
                              <a:rPr lang="zh-CN" altLang="en-US" i="1">
                                <a:latin typeface="Cambria Math" panose="02040503050406030204" pitchFamily="18" charset="0"/>
                              </a:rPr>
                              <m:t>𝛼</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𝑢</m:t>
                                </m:r>
                              </m:e>
                              <m:sub>
                                <m:r>
                                  <a:rPr lang="zh-CN" altLang="en-US" i="1">
                                    <a:latin typeface="Cambria Math" panose="02040503050406030204" pitchFamily="18" charset="0"/>
                                  </a:rPr>
                                  <m:t>𝑛</m:t>
                                </m:r>
                                <m:r>
                                  <a:rPr lang="zh-CN" altLang="en-US" i="0">
                                    <a:latin typeface="Cambria Math" panose="02040503050406030204" pitchFamily="18" charset="0"/>
                                  </a:rPr>
                                  <m:t>−1</m:t>
                                </m:r>
                              </m:sub>
                              <m:sup>
                                <m:r>
                                  <a:rPr lang="zh-CN" altLang="en-US" i="0">
                                    <a:latin typeface="Cambria Math" panose="02040503050406030204" pitchFamily="18" charset="0"/>
                                  </a:rPr>
                                  <m:t>2</m:t>
                                </m:r>
                              </m:sup>
                            </m:sSubSup>
                            <m:r>
                              <a:rPr lang="zh-CN" altLang="en-US" i="0">
                                <a:latin typeface="Cambria Math" panose="02040503050406030204" pitchFamily="18" charset="0"/>
                              </a:rPr>
                              <m:t>+</m:t>
                            </m:r>
                            <m:r>
                              <a:rPr lang="zh-CN" altLang="en-US" i="1">
                                <a:latin typeface="Cambria Math" panose="02040503050406030204" pitchFamily="18" charset="0"/>
                              </a:rPr>
                              <m:t>𝛽</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r>
                                  <a:rPr lang="zh-CN" altLang="en-US" i="1">
                                    <a:latin typeface="Cambria Math" panose="02040503050406030204" pitchFamily="18" charset="0"/>
                                  </a:rPr>
                                  <m:t>𝑛</m:t>
                                </m:r>
                                <m:r>
                                  <a:rPr lang="zh-CN" altLang="en-US" i="0">
                                    <a:latin typeface="Cambria Math" panose="02040503050406030204" pitchFamily="18" charset="0"/>
                                  </a:rPr>
                                  <m:t>−1</m:t>
                                </m:r>
                              </m:sub>
                              <m:sup>
                                <m:r>
                                  <a:rPr lang="zh-CN" altLang="en-US" i="0">
                                    <a:latin typeface="Cambria Math" panose="02040503050406030204" pitchFamily="18" charset="0"/>
                                  </a:rPr>
                                  <m:t>2</m:t>
                                </m:r>
                              </m:sup>
                            </m:sSubSup>
                          </m:e>
                        </m:mr>
                      </m:m>
                    </m:oMath>
                  </m:oMathPara>
                </a14:m>
                <a:endParaRPr lang="zh-CN" altLang="en-US" dirty="0"/>
              </a:p>
            </p:txBody>
          </p:sp>
        </mc:Choice>
        <mc:Fallback xmlns="">
          <p:sp>
            <p:nvSpPr>
              <p:cNvPr id="5" name="矩形 4">
                <a:extLst>
                  <a:ext uri="{FF2B5EF4-FFF2-40B4-BE49-F238E27FC236}">
                    <a16:creationId xmlns:a16="http://schemas.microsoft.com/office/drawing/2014/main" id="{119A678C-E38D-4A21-AEB1-CAD16763F08A}"/>
                  </a:ext>
                </a:extLst>
              </p:cNvPr>
              <p:cNvSpPr>
                <a:spLocks noRot="1" noChangeAspect="1" noMove="1" noResize="1" noEditPoints="1" noAdjustHandles="1" noChangeArrowheads="1" noChangeShapeType="1" noTextEdit="1"/>
              </p:cNvSpPr>
              <p:nvPr/>
            </p:nvSpPr>
            <p:spPr>
              <a:xfrm>
                <a:off x="7344139" y="2176848"/>
                <a:ext cx="2927917" cy="605166"/>
              </a:xfrm>
              <a:prstGeom prst="rect">
                <a:avLst/>
              </a:prstGeom>
              <a:blipFill>
                <a:blip r:embed="rId4"/>
                <a:stretch>
                  <a:fillRect/>
                </a:stretch>
              </a:blipFill>
              <a:ln>
                <a:solidFill>
                  <a:schemeClr val="accent1">
                    <a:lumMod val="75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314448647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Example</a:t>
            </a:r>
          </a:p>
          <a:p>
            <a:pPr lvl="1"/>
            <a:r>
              <a:rPr lang="en-US" altLang="zh-CN" dirty="0"/>
              <a:t>Consider the GARCH(1,1) equation below:</a:t>
            </a:r>
          </a:p>
          <a:p>
            <a:pPr lvl="1"/>
            <a:endParaRPr lang="en-US" altLang="zh-CN" dirty="0"/>
          </a:p>
          <a:p>
            <a:pPr lvl="1"/>
            <a:r>
              <a:rPr lang="en-US" altLang="zh-CN" dirty="0"/>
              <a:t>The omega is 0.2 but </a:t>
            </a:r>
            <a:r>
              <a:rPr lang="en-US" altLang="zh-CN" u="sng" dirty="0"/>
              <a:t>don’t mistake omega for the long-run variance</a:t>
            </a:r>
            <a:r>
              <a:rPr lang="en-US" altLang="zh-CN" dirty="0"/>
              <a:t>. Omega is the product of gamma and the long-run variance. So, if alpha + beta = 0.9, then gamma must be 0.1. Given that omega is 0.2, we know that the long-run variance must be 2.</a:t>
            </a:r>
          </a:p>
          <a:p>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F54DE19-11B1-4227-9515-207D48BAD3D9}"/>
                  </a:ext>
                </a:extLst>
              </p:cNvPr>
              <p:cNvSpPr/>
              <p:nvPr/>
            </p:nvSpPr>
            <p:spPr>
              <a:xfrm>
                <a:off x="4497581" y="2028688"/>
                <a:ext cx="3196836" cy="3739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r>
                            <a:rPr lang="zh-CN" altLang="en-US" i="1">
                              <a:latin typeface="Cambria Math" panose="02040503050406030204" pitchFamily="18" charset="0"/>
                            </a:rPr>
                            <m:t>𝑛</m:t>
                          </m:r>
                        </m:sub>
                        <m:sup>
                          <m:r>
                            <a:rPr lang="zh-CN" altLang="en-US" i="0">
                              <a:latin typeface="Cambria Math" panose="02040503050406030204" pitchFamily="18" charset="0"/>
                            </a:rPr>
                            <m:t>2</m:t>
                          </m:r>
                        </m:sup>
                      </m:sSubSup>
                      <m:r>
                        <a:rPr lang="zh-CN" altLang="en-US" i="0">
                          <a:latin typeface="Cambria Math" panose="02040503050406030204" pitchFamily="18" charset="0"/>
                        </a:rPr>
                        <m:t>=0.2+0.2</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𝜇</m:t>
                          </m:r>
                        </m:e>
                        <m:sub>
                          <m:r>
                            <a:rPr lang="zh-CN" altLang="en-US" i="1">
                              <a:latin typeface="Cambria Math" panose="02040503050406030204" pitchFamily="18" charset="0"/>
                            </a:rPr>
                            <m:t>𝑛</m:t>
                          </m:r>
                          <m:r>
                            <a:rPr lang="zh-CN" altLang="en-US" i="0">
                              <a:latin typeface="Cambria Math" panose="02040503050406030204" pitchFamily="18" charset="0"/>
                            </a:rPr>
                            <m:t>−1</m:t>
                          </m:r>
                        </m:sub>
                        <m:sup>
                          <m:r>
                            <a:rPr lang="zh-CN" altLang="en-US" i="0">
                              <a:latin typeface="Cambria Math" panose="02040503050406030204" pitchFamily="18" charset="0"/>
                            </a:rPr>
                            <m:t>2</m:t>
                          </m:r>
                        </m:sup>
                      </m:sSubSup>
                      <m:r>
                        <a:rPr lang="zh-CN" altLang="en-US" i="0">
                          <a:latin typeface="Cambria Math" panose="02040503050406030204" pitchFamily="18" charset="0"/>
                        </a:rPr>
                        <m:t>+0.7</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r>
                            <a:rPr lang="zh-CN" altLang="en-US" i="1">
                              <a:latin typeface="Cambria Math" panose="02040503050406030204" pitchFamily="18" charset="0"/>
                            </a:rPr>
                            <m:t>𝑛</m:t>
                          </m:r>
                          <m:r>
                            <a:rPr lang="zh-CN" altLang="en-US" i="0">
                              <a:latin typeface="Cambria Math" panose="02040503050406030204" pitchFamily="18" charset="0"/>
                            </a:rPr>
                            <m:t>−1</m:t>
                          </m:r>
                        </m:sub>
                        <m:sup>
                          <m:r>
                            <a:rPr lang="zh-CN" altLang="en-US" i="0">
                              <a:latin typeface="Cambria Math" panose="02040503050406030204" pitchFamily="18" charset="0"/>
                            </a:rPr>
                            <m:t>2</m:t>
                          </m:r>
                        </m:sup>
                      </m:sSubSup>
                    </m:oMath>
                  </m:oMathPara>
                </a14:m>
                <a:endParaRPr lang="zh-CN" altLang="en-US" dirty="0"/>
              </a:p>
            </p:txBody>
          </p:sp>
        </mc:Choice>
        <mc:Fallback xmlns="">
          <p:sp>
            <p:nvSpPr>
              <p:cNvPr id="4" name="矩形 3">
                <a:extLst>
                  <a:ext uri="{FF2B5EF4-FFF2-40B4-BE49-F238E27FC236}">
                    <a16:creationId xmlns:a16="http://schemas.microsoft.com/office/drawing/2014/main" id="{6F54DE19-11B1-4227-9515-207D48BAD3D9}"/>
                  </a:ext>
                </a:extLst>
              </p:cNvPr>
              <p:cNvSpPr>
                <a:spLocks noRot="1" noChangeAspect="1" noMove="1" noResize="1" noEditPoints="1" noAdjustHandles="1" noChangeArrowheads="1" noChangeShapeType="1" noTextEdit="1"/>
              </p:cNvSpPr>
              <p:nvPr/>
            </p:nvSpPr>
            <p:spPr>
              <a:xfrm>
                <a:off x="4497581" y="2028688"/>
                <a:ext cx="3196836" cy="373949"/>
              </a:xfrm>
              <a:prstGeom prst="rect">
                <a:avLst/>
              </a:prstGeom>
              <a:blipFill>
                <a:blip r:embed="rId3"/>
                <a:stretch>
                  <a:fillRect b="-65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3327481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Quantifying Volatility in </a:t>
            </a:r>
            <a:r>
              <a:rPr lang="en-US" altLang="zh-CN" sz="2800" dirty="0" err="1"/>
              <a:t>VaR</a:t>
            </a:r>
            <a:r>
              <a:rPr lang="en-US" altLang="zh-CN" sz="2800" dirty="0"/>
              <a:t> Models</a:t>
            </a:r>
            <a:endParaRPr lang="zh-CN" altLang="en-US" sz="2800" dirty="0"/>
          </a:p>
        </p:txBody>
      </p:sp>
      <p:sp>
        <p:nvSpPr>
          <p:cNvPr id="3" name="文本占位符 2"/>
          <p:cNvSpPr>
            <a:spLocks noGrp="1"/>
          </p:cNvSpPr>
          <p:nvPr>
            <p:ph type="body" sz="quarter" idx="10"/>
          </p:nvPr>
        </p:nvSpPr>
        <p:spPr>
          <a:xfrm>
            <a:off x="393599" y="813469"/>
            <a:ext cx="11458432" cy="1193217"/>
          </a:xfrm>
        </p:spPr>
        <p:txBody>
          <a:bodyPr>
            <a:normAutofit/>
          </a:bodyPr>
          <a:lstStyle/>
          <a:p>
            <a:r>
              <a:rPr lang="en-US" altLang="zh-CN" dirty="0"/>
              <a:t>Exercise</a:t>
            </a:r>
          </a:p>
          <a:p>
            <a:pPr>
              <a:buFont typeface="Wingdings" panose="05000000000000000000" pitchFamily="2" charset="2"/>
              <a:buChar char="l"/>
            </a:pPr>
            <a:r>
              <a:rPr lang="en-US" altLang="zh-CN" dirty="0">
                <a:solidFill>
                  <a:schemeClr val="tx1"/>
                </a:solidFill>
              </a:rPr>
              <a:t>The lowest six returns for a portfolio are shown in the following table.</a:t>
            </a:r>
          </a:p>
          <a:p>
            <a:endParaRPr lang="en-US" altLang="zh-CN" dirty="0"/>
          </a:p>
        </p:txBody>
      </p:sp>
      <p:graphicFrame>
        <p:nvGraphicFramePr>
          <p:cNvPr id="4" name="表格 3">
            <a:extLst>
              <a:ext uri="{FF2B5EF4-FFF2-40B4-BE49-F238E27FC236}">
                <a16:creationId xmlns:a16="http://schemas.microsoft.com/office/drawing/2014/main" id="{EA3E485C-089B-4F8E-ABE5-1052A0A05F71}"/>
              </a:ext>
            </a:extLst>
          </p:cNvPr>
          <p:cNvGraphicFramePr>
            <a:graphicFrameLocks noGrp="1"/>
          </p:cNvGraphicFramePr>
          <p:nvPr>
            <p:extLst>
              <p:ext uri="{D42A27DB-BD31-4B8C-83A1-F6EECF244321}">
                <p14:modId xmlns:p14="http://schemas.microsoft.com/office/powerpoint/2010/main" val="3447406351"/>
              </p:ext>
            </p:extLst>
          </p:nvPr>
        </p:nvGraphicFramePr>
        <p:xfrm>
          <a:off x="1008039" y="2145323"/>
          <a:ext cx="5638945" cy="4057064"/>
        </p:xfrm>
        <a:graphic>
          <a:graphicData uri="http://schemas.openxmlformats.org/drawingml/2006/table">
            <a:tbl>
              <a:tblPr firstRow="1" bandRow="1">
                <a:tableStyleId>{5C22544A-7EE6-4342-B048-85BDC9FD1C3A}</a:tableStyleId>
              </a:tblPr>
              <a:tblGrid>
                <a:gridCol w="466463">
                  <a:extLst>
                    <a:ext uri="{9D8B030D-6E8A-4147-A177-3AD203B41FA5}">
                      <a16:colId xmlns:a16="http://schemas.microsoft.com/office/drawing/2014/main" val="20000"/>
                    </a:ext>
                  </a:extLst>
                </a:gridCol>
                <a:gridCol w="1574238">
                  <a:extLst>
                    <a:ext uri="{9D8B030D-6E8A-4147-A177-3AD203B41FA5}">
                      <a16:colId xmlns:a16="http://schemas.microsoft.com/office/drawing/2014/main" val="20001"/>
                    </a:ext>
                  </a:extLst>
                </a:gridCol>
                <a:gridCol w="1124446">
                  <a:extLst>
                    <a:ext uri="{9D8B030D-6E8A-4147-A177-3AD203B41FA5}">
                      <a16:colId xmlns:a16="http://schemas.microsoft.com/office/drawing/2014/main" val="20002"/>
                    </a:ext>
                  </a:extLst>
                </a:gridCol>
                <a:gridCol w="2473798">
                  <a:extLst>
                    <a:ext uri="{9D8B030D-6E8A-4147-A177-3AD203B41FA5}">
                      <a16:colId xmlns:a16="http://schemas.microsoft.com/office/drawing/2014/main" val="20003"/>
                    </a:ext>
                  </a:extLst>
                </a:gridCol>
              </a:tblGrid>
              <a:tr h="469055">
                <a:tc gridSpan="4">
                  <a:txBody>
                    <a:bodyPr/>
                    <a:lstStyle/>
                    <a:p>
                      <a:pPr algn="ctr">
                        <a:lnSpc>
                          <a:spcPct val="100000"/>
                        </a:lnSpc>
                      </a:pPr>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Six Lowest Returns</a:t>
                      </a:r>
                      <a:r>
                        <a:rPr lang="en-US" altLang="zh-CN" sz="1600" b="0"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with Hybrid Weightings</a:t>
                      </a:r>
                      <a:endParaRPr lang="zh-CN" altLang="en-US" sz="1600" b="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773679">
                <a:tc>
                  <a:txBody>
                    <a:bodyPr/>
                    <a:lstStyle/>
                    <a:p>
                      <a:pPr algn="ctr">
                        <a:lnSpc>
                          <a:spcPct val="100000"/>
                        </a:lnSpc>
                      </a:pP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Six Lowest Returns</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Hybrid Weight</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Hybrid</a:t>
                      </a:r>
                      <a:r>
                        <a:rPr lang="en-US" altLang="zh-CN" sz="1600"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Cumulative Weight</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69055">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1</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-4.10%</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0.0125</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0.0125</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69055">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2</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-3.80%</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0.0118</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0.0243</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69055">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3</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-3.50%</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0.0077</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0.0320</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69055">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4</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-3.20%</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0.0098</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0.0418</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69055">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-3.10%</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0.0062</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0.0481</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69055">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6</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-2.90%</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0.0027</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0.0508</a:t>
                      </a:r>
                      <a:endParaRPr lang="zh-CN" altLang="en-US" sz="1600" dirty="0">
                        <a:solidFill>
                          <a:srgbClr val="2C3E50"/>
                        </a:solidFill>
                        <a:latin typeface="Segoe UI" panose="020B0502040204020203" pitchFamily="34" charset="0"/>
                        <a:cs typeface="Segoe UI" panose="020B0502040204020203"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6" name="矩形 5">
            <a:extLst>
              <a:ext uri="{FF2B5EF4-FFF2-40B4-BE49-F238E27FC236}">
                <a16:creationId xmlns:a16="http://schemas.microsoft.com/office/drawing/2014/main" id="{99DD0CBC-22B7-4A52-B998-DDE8A36AF05D}"/>
              </a:ext>
            </a:extLst>
          </p:cNvPr>
          <p:cNvSpPr/>
          <p:nvPr/>
        </p:nvSpPr>
        <p:spPr>
          <a:xfrm>
            <a:off x="7344139" y="2006687"/>
            <a:ext cx="4144108" cy="4195700"/>
          </a:xfrm>
          <a:prstGeom prst="rect">
            <a:avLst/>
          </a:prstGeom>
        </p:spPr>
        <p:txBody>
          <a:bodyPr wrap="square">
            <a:spAutoFit/>
          </a:bodyPr>
          <a:lstStyle/>
          <a:p>
            <a:pPr algn="just">
              <a:lnSpc>
                <a:spcPct val="150000"/>
              </a:lnSpc>
              <a:defRPr/>
            </a:pPr>
            <a:r>
              <a:rPr kumimoji="1" lang="en-US" altLang="zh-CN" b="1" dirty="0">
                <a:solidFill>
                  <a:srgbClr val="2C3E50"/>
                </a:solidFill>
                <a:latin typeface="Segoe UI" panose="020B0502040204020203" pitchFamily="34" charset="0"/>
                <a:ea typeface="Segoe UI" panose="020B0502040204020203" pitchFamily="34" charset="0"/>
                <a:cs typeface="Segoe UI" panose="020B0502040204020203" pitchFamily="34" charset="0"/>
              </a:rPr>
              <a:t>What will the 5% </a:t>
            </a:r>
            <a:r>
              <a:rPr kumimoji="1" lang="en-US" altLang="zh-CN" b="1" dirty="0" err="1">
                <a:solidFill>
                  <a:srgbClr val="2C3E50"/>
                </a:solidFill>
                <a:latin typeface="Segoe UI" panose="020B0502040204020203" pitchFamily="34" charset="0"/>
                <a:ea typeface="Segoe UI" panose="020B0502040204020203" pitchFamily="34" charset="0"/>
                <a:cs typeface="Segoe UI" panose="020B0502040204020203" pitchFamily="34" charset="0"/>
              </a:rPr>
              <a:t>VaR</a:t>
            </a:r>
            <a:r>
              <a:rPr kumimoji="1" lang="en-US" altLang="zh-CN" b="1" dirty="0">
                <a:solidFill>
                  <a:srgbClr val="2C3E50"/>
                </a:solidFill>
                <a:latin typeface="Segoe UI" panose="020B0502040204020203" pitchFamily="34" charset="0"/>
                <a:ea typeface="Segoe UI" panose="020B0502040204020203" pitchFamily="34" charset="0"/>
                <a:cs typeface="Segoe UI" panose="020B0502040204020203" pitchFamily="34" charset="0"/>
              </a:rPr>
              <a:t> be under the hybrid approach? Assume each observation is a random event with 50% to the left and 50% to the right of each observation.</a:t>
            </a:r>
          </a:p>
          <a:p>
            <a:pPr marL="269875" indent="-269875" algn="just">
              <a:lnSpc>
                <a:spcPct val="150000"/>
              </a:lnSpc>
              <a:buClr>
                <a:srgbClr val="2C3E50"/>
              </a:buClr>
              <a:buFont typeface="+mj-lt"/>
              <a:buAutoNum type="alphaUcPeriod"/>
              <a:defRPr/>
            </a:pPr>
            <a:r>
              <a:rPr kumimoji="1"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 -3.10%</a:t>
            </a:r>
          </a:p>
          <a:p>
            <a:pPr marL="269875" indent="-269875" algn="just">
              <a:lnSpc>
                <a:spcPct val="150000"/>
              </a:lnSpc>
              <a:buClr>
                <a:srgbClr val="2C3E50"/>
              </a:buClr>
              <a:buFont typeface="+mj-lt"/>
              <a:buAutoNum type="alphaUcPeriod"/>
              <a:defRPr/>
            </a:pPr>
            <a:r>
              <a:rPr kumimoji="1"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 -3.04%</a:t>
            </a:r>
          </a:p>
          <a:p>
            <a:pPr marL="269875" indent="-269875" algn="just">
              <a:lnSpc>
                <a:spcPct val="150000"/>
              </a:lnSpc>
              <a:buClr>
                <a:srgbClr val="2C3E50"/>
              </a:buClr>
              <a:buFont typeface="+mj-lt"/>
              <a:buAutoNum type="alphaUcPeriod"/>
              <a:defRPr/>
            </a:pPr>
            <a:r>
              <a:rPr kumimoji="1"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 -2.96%</a:t>
            </a:r>
          </a:p>
          <a:p>
            <a:pPr marL="269875" indent="-269875" algn="just">
              <a:lnSpc>
                <a:spcPct val="150000"/>
              </a:lnSpc>
              <a:buClr>
                <a:srgbClr val="2C3E50"/>
              </a:buClr>
              <a:buFont typeface="+mj-lt"/>
              <a:buAutoNum type="alphaUcPeriod"/>
              <a:defRPr/>
            </a:pPr>
            <a:r>
              <a:rPr kumimoji="1"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 -2.90%</a:t>
            </a:r>
          </a:p>
          <a:p>
            <a:pPr marL="285750" indent="-285750" algn="just">
              <a:lnSpc>
                <a:spcPct val="150000"/>
              </a:lnSpc>
              <a:buClr>
                <a:srgbClr val="2C3E50"/>
              </a:buClr>
              <a:buFont typeface="Wingdings" panose="05000000000000000000" pitchFamily="2" charset="2"/>
              <a:buChar char="l"/>
              <a:defRPr/>
            </a:pPr>
            <a:r>
              <a:rPr lang="en-US" altLang="zh-CN" b="1" dirty="0">
                <a:solidFill>
                  <a:srgbClr val="2C3E50"/>
                </a:solidFill>
                <a:latin typeface="Segoe UI" panose="020B0502040204020203" pitchFamily="34" charset="0"/>
                <a:ea typeface="Segoe UI" panose="020B0502040204020203" pitchFamily="34" charset="0"/>
                <a:cs typeface="Segoe UI" panose="020B0502040204020203" pitchFamily="34" charset="0"/>
              </a:rPr>
              <a:t>Correct Answer : C</a:t>
            </a:r>
            <a:endParaRPr kumimoji="1" lang="en-US" altLang="zh-CN" b="1" dirty="0">
              <a:solidFill>
                <a:srgbClr val="2C3E50"/>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3107383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0dcd307-9ca5-411e-aa47-63bb535c667f" descr="BA8AAB+LCAAAAAAABADdVU2P2jAQ/S9ue6Mo8Ra1yo10lRb1Cy2o3VXFwU0G4jZxkGNW7CL++9oQBzsJEPayBXEh4zf2mzdjvxV6LR7mgDw0SgkX15TMOEkHAlLUQYMIeWyRJB3kUxZRNvvEs8U8R97vVZlmrvyiIv5JkgWoXEYFJcn206vhNewbZTRdpAXM6ToyRJZGyHW2QRpFCZiwARPA78sTXBXb/B8JLg8IMp4SIQ9cOes3qFhCXu+q66xVcgRLmdRB4y0tzaegpwRorFMtqDKHWS5oxnYZQyJ1A0mpodhK0g4qaQEXNCRJP6EzlgJTjGUBIMJYrn7OOH3MmLDXb+gsFnL1C8C80G9EH+V5U5LkoFWIyRy+y3N0cZuAK9NuICGC3lsIK+aidVlWCVJqVGEda+dJKeZOHFmq5GxpvO7s1WcMS3GaoirDlLOp9/uK2dBRG5jUCwqn8dayPGsoKslmNT+m0xzE7RB4KNn4D5b8xTWoYnYdQd5bt4s14m7/Lr06xtrFQNxap94VX80Dt5W2ed7MuTnYH3vSqt2qC9/UuElD68r36mOWZPz4e6VhtXWpBA1hHEMKGjOmTPRZJKlHuks+V3eWQZ5rAf/8hVAYaV5PoRZ5LPd8FQRXwQccvEO6Umfd9GjpA9s+WhV8m+ncpNRnsh+qOSmYGxNRq1PTb99jn4T/zB5r0lZnt8EDV/LFSsUnPTeHijs4tv+7zfZMm8VnabNfYfpMl8VtXBa3c1lsuSw+X5fFZ+qy7jGXdV7aZPeNmzk2xx9gbJosvlCTfW+ZbOD7147baLL4Ik0WmyaLL9lk2xY3kb8nrhbizAQPAAA=">
            <a:extLst>
              <a:ext uri="{FF2B5EF4-FFF2-40B4-BE49-F238E27FC236}">
                <a16:creationId xmlns:a16="http://schemas.microsoft.com/office/drawing/2014/main" id="{1493A4F0-9A06-4464-AD29-020579B7968E}"/>
              </a:ext>
            </a:extLst>
          </p:cNvPr>
          <p:cNvGrpSpPr>
            <a:grpSpLocks noChangeAspect="1"/>
          </p:cNvGrpSpPr>
          <p:nvPr/>
        </p:nvGrpSpPr>
        <p:grpSpPr>
          <a:xfrm>
            <a:off x="1099614" y="1788195"/>
            <a:ext cx="9992772" cy="3281611"/>
            <a:chOff x="1262052" y="1623553"/>
            <a:chExt cx="9992772" cy="3281611"/>
          </a:xfrm>
        </p:grpSpPr>
        <p:sp>
          <p:nvSpPr>
            <p:cNvPr id="3" name="AreaShape">
              <a:extLst>
                <a:ext uri="{FF2B5EF4-FFF2-40B4-BE49-F238E27FC236}">
                  <a16:creationId xmlns:a16="http://schemas.microsoft.com/office/drawing/2014/main" id="{0801B548-BC6D-4D7A-82C0-DE4BE113F0FD}"/>
                </a:ext>
              </a:extLst>
            </p:cNvPr>
            <p:cNvSpPr/>
            <p:nvPr/>
          </p:nvSpPr>
          <p:spPr bwMode="auto">
            <a:xfrm>
              <a:off x="1262052" y="1623553"/>
              <a:ext cx="9992772" cy="3281611"/>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4" name="ValueBack1">
              <a:extLst>
                <a:ext uri="{FF2B5EF4-FFF2-40B4-BE49-F238E27FC236}">
                  <a16:creationId xmlns:a16="http://schemas.microsoft.com/office/drawing/2014/main" id="{0A0BE5B9-BB5E-4CC4-8E7A-0375A904DFDC}"/>
                </a:ext>
              </a:extLst>
            </p:cNvPr>
            <p:cNvSpPr/>
            <p:nvPr/>
          </p:nvSpPr>
          <p:spPr>
            <a:xfrm>
              <a:off x="5255344" y="2583639"/>
              <a:ext cx="933168" cy="1436347"/>
            </a:xfrm>
            <a:custGeom>
              <a:avLst/>
              <a:gdLst>
                <a:gd name="connsiteX0" fmla="*/ 0 w 783762"/>
                <a:gd name="connsiteY0" fmla="*/ 97330 h 1206379"/>
                <a:gd name="connsiteX1" fmla="*/ 783761 w 783762"/>
                <a:gd name="connsiteY1" fmla="*/ 563490 h 1206379"/>
                <a:gd name="connsiteX2" fmla="*/ 783761 w 783762"/>
                <a:gd name="connsiteY2" fmla="*/ 1206379 h 1206379"/>
                <a:gd name="connsiteX3" fmla="*/ 0 w 783762"/>
                <a:gd name="connsiteY3" fmla="*/ 742781 h 1206379"/>
                <a:gd name="connsiteX4" fmla="*/ 71718 w 783762"/>
                <a:gd name="connsiteY4" fmla="*/ 35858 h 1206379"/>
                <a:gd name="connsiteX5" fmla="*/ 345779 w 783762"/>
                <a:gd name="connsiteY5" fmla="*/ 215150 h 1206379"/>
                <a:gd name="connsiteX6" fmla="*/ 770957 w 783762"/>
                <a:gd name="connsiteY6" fmla="*/ 514824 h 1206379"/>
                <a:gd name="connsiteX7" fmla="*/ 527632 w 783762"/>
                <a:gd name="connsiteY7" fmla="*/ 366268 h 1206379"/>
                <a:gd name="connsiteX8" fmla="*/ 71718 w 783762"/>
                <a:gd name="connsiteY8" fmla="*/ 97330 h 1206379"/>
                <a:gd name="connsiteX9" fmla="*/ 163925 w 783762"/>
                <a:gd name="connsiteY9" fmla="*/ 0 h 1206379"/>
                <a:gd name="connsiteX10" fmla="*/ 420055 w 783762"/>
                <a:gd name="connsiteY10" fmla="*/ 179292 h 1206379"/>
                <a:gd name="connsiteX11" fmla="*/ 783762 w 783762"/>
                <a:gd name="connsiteY11" fmla="*/ 499456 h 1206379"/>
                <a:gd name="connsiteX12" fmla="*/ 494334 w 783762"/>
                <a:gd name="connsiteY12" fmla="*/ 253571 h 1206379"/>
                <a:gd name="connsiteX13" fmla="*/ 163925 w 783762"/>
                <a:gd name="connsiteY13" fmla="*/ 87085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3762" h="1206379">
                  <a:moveTo>
                    <a:pt x="0" y="97330"/>
                  </a:moveTo>
                  <a:lnTo>
                    <a:pt x="783761" y="563490"/>
                  </a:lnTo>
                  <a:lnTo>
                    <a:pt x="783761" y="1206379"/>
                  </a:lnTo>
                  <a:lnTo>
                    <a:pt x="0" y="742781"/>
                  </a:lnTo>
                  <a:close/>
                  <a:moveTo>
                    <a:pt x="71718" y="35858"/>
                  </a:moveTo>
                  <a:cubicBezTo>
                    <a:pt x="89648" y="92207"/>
                    <a:pt x="345779" y="217712"/>
                    <a:pt x="345779" y="215150"/>
                  </a:cubicBezTo>
                  <a:cubicBezTo>
                    <a:pt x="673626" y="353462"/>
                    <a:pt x="770957" y="514824"/>
                    <a:pt x="770957" y="514824"/>
                  </a:cubicBezTo>
                  <a:cubicBezTo>
                    <a:pt x="719731" y="471282"/>
                    <a:pt x="527632" y="366268"/>
                    <a:pt x="527632" y="366268"/>
                  </a:cubicBezTo>
                  <a:cubicBezTo>
                    <a:pt x="437986" y="320164"/>
                    <a:pt x="71718" y="97330"/>
                    <a:pt x="71718" y="97330"/>
                  </a:cubicBezTo>
                  <a:close/>
                  <a:moveTo>
                    <a:pt x="163925" y="0"/>
                  </a:moveTo>
                  <a:cubicBezTo>
                    <a:pt x="189538" y="79402"/>
                    <a:pt x="420055" y="179292"/>
                    <a:pt x="420055" y="179292"/>
                  </a:cubicBezTo>
                  <a:cubicBezTo>
                    <a:pt x="776078" y="368830"/>
                    <a:pt x="783762" y="499456"/>
                    <a:pt x="783762" y="499456"/>
                  </a:cubicBezTo>
                  <a:cubicBezTo>
                    <a:pt x="714606" y="371391"/>
                    <a:pt x="494334" y="253571"/>
                    <a:pt x="494334" y="253571"/>
                  </a:cubicBezTo>
                  <a:cubicBezTo>
                    <a:pt x="356023" y="207467"/>
                    <a:pt x="163925" y="87085"/>
                    <a:pt x="163925" y="87085"/>
                  </a:cubicBezTo>
                  <a:close/>
                </a:path>
              </a:pathLst>
            </a:custGeom>
            <a:solidFill>
              <a:schemeClr val="accent1">
                <a:lumMod val="100000"/>
              </a:schemeClr>
            </a:solidFill>
            <a:ln w="20534" cap="flat">
              <a:noFill/>
              <a:prstDash val="solid"/>
              <a:miter/>
            </a:ln>
          </p:spPr>
          <p:txBody>
            <a:bodyPr rtlCol="0" anchor="ctr"/>
            <a:lstStyle/>
            <a:p>
              <a:endParaRPr lang="zh-CN" altLang="en-US"/>
            </a:p>
          </p:txBody>
        </p:sp>
        <p:sp>
          <p:nvSpPr>
            <p:cNvPr id="5" name="ValueBack2">
              <a:extLst>
                <a:ext uri="{FF2B5EF4-FFF2-40B4-BE49-F238E27FC236}">
                  <a16:creationId xmlns:a16="http://schemas.microsoft.com/office/drawing/2014/main" id="{3EF3DEE4-FD95-4FF7-8A3C-0CA049379F52}"/>
                </a:ext>
              </a:extLst>
            </p:cNvPr>
            <p:cNvSpPr/>
            <p:nvPr/>
          </p:nvSpPr>
          <p:spPr>
            <a:xfrm>
              <a:off x="6374534" y="2583639"/>
              <a:ext cx="933165" cy="1436347"/>
            </a:xfrm>
            <a:custGeom>
              <a:avLst/>
              <a:gdLst>
                <a:gd name="connsiteX0" fmla="*/ 783760 w 783760"/>
                <a:gd name="connsiteY0" fmla="*/ 97330 h 1206379"/>
                <a:gd name="connsiteX1" fmla="*/ 783760 w 783760"/>
                <a:gd name="connsiteY1" fmla="*/ 742781 h 1206379"/>
                <a:gd name="connsiteX2" fmla="*/ 0 w 783760"/>
                <a:gd name="connsiteY2" fmla="*/ 1206379 h 1206379"/>
                <a:gd name="connsiteX3" fmla="*/ 0 w 783760"/>
                <a:gd name="connsiteY3" fmla="*/ 563490 h 1206379"/>
                <a:gd name="connsiteX4" fmla="*/ 712044 w 783760"/>
                <a:gd name="connsiteY4" fmla="*/ 35858 h 1206379"/>
                <a:gd name="connsiteX5" fmla="*/ 712044 w 783760"/>
                <a:gd name="connsiteY5" fmla="*/ 97330 h 1206379"/>
                <a:gd name="connsiteX6" fmla="*/ 256131 w 783760"/>
                <a:gd name="connsiteY6" fmla="*/ 366268 h 1206379"/>
                <a:gd name="connsiteX7" fmla="*/ 12807 w 783760"/>
                <a:gd name="connsiteY7" fmla="*/ 514824 h 1206379"/>
                <a:gd name="connsiteX8" fmla="*/ 437985 w 783760"/>
                <a:gd name="connsiteY8" fmla="*/ 215150 h 1206379"/>
                <a:gd name="connsiteX9" fmla="*/ 712044 w 783760"/>
                <a:gd name="connsiteY9" fmla="*/ 35858 h 1206379"/>
                <a:gd name="connsiteX10" fmla="*/ 619837 w 783760"/>
                <a:gd name="connsiteY10" fmla="*/ 0 h 1206379"/>
                <a:gd name="connsiteX11" fmla="*/ 619837 w 783760"/>
                <a:gd name="connsiteY11" fmla="*/ 87085 h 1206379"/>
                <a:gd name="connsiteX12" fmla="*/ 289428 w 783760"/>
                <a:gd name="connsiteY12" fmla="*/ 253571 h 1206379"/>
                <a:gd name="connsiteX13" fmla="*/ 0 w 783760"/>
                <a:gd name="connsiteY13" fmla="*/ 499456 h 1206379"/>
                <a:gd name="connsiteX14" fmla="*/ 363706 w 783760"/>
                <a:gd name="connsiteY14" fmla="*/ 179292 h 1206379"/>
                <a:gd name="connsiteX15" fmla="*/ 619837 w 783760"/>
                <a:gd name="connsiteY15" fmla="*/ 0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83760" h="1206379">
                  <a:moveTo>
                    <a:pt x="783760" y="97330"/>
                  </a:moveTo>
                  <a:lnTo>
                    <a:pt x="783760" y="742781"/>
                  </a:lnTo>
                  <a:lnTo>
                    <a:pt x="0" y="1206379"/>
                  </a:lnTo>
                  <a:lnTo>
                    <a:pt x="0" y="563490"/>
                  </a:lnTo>
                  <a:close/>
                  <a:moveTo>
                    <a:pt x="712044" y="35858"/>
                  </a:moveTo>
                  <a:lnTo>
                    <a:pt x="712044" y="97330"/>
                  </a:lnTo>
                  <a:cubicBezTo>
                    <a:pt x="712044" y="97330"/>
                    <a:pt x="345776" y="320164"/>
                    <a:pt x="256131" y="366268"/>
                  </a:cubicBezTo>
                  <a:cubicBezTo>
                    <a:pt x="256131" y="366268"/>
                    <a:pt x="64033" y="471282"/>
                    <a:pt x="12807" y="514824"/>
                  </a:cubicBezTo>
                  <a:cubicBezTo>
                    <a:pt x="12807" y="514824"/>
                    <a:pt x="110136" y="353462"/>
                    <a:pt x="437985" y="215150"/>
                  </a:cubicBezTo>
                  <a:cubicBezTo>
                    <a:pt x="437985" y="217712"/>
                    <a:pt x="691553" y="92207"/>
                    <a:pt x="712044" y="35858"/>
                  </a:cubicBezTo>
                  <a:close/>
                  <a:moveTo>
                    <a:pt x="619837" y="0"/>
                  </a:moveTo>
                  <a:lnTo>
                    <a:pt x="619837" y="87085"/>
                  </a:lnTo>
                  <a:cubicBezTo>
                    <a:pt x="619837" y="87085"/>
                    <a:pt x="427739" y="207467"/>
                    <a:pt x="289428" y="253571"/>
                  </a:cubicBezTo>
                  <a:cubicBezTo>
                    <a:pt x="289428" y="253571"/>
                    <a:pt x="69155" y="371391"/>
                    <a:pt x="0" y="499456"/>
                  </a:cubicBezTo>
                  <a:cubicBezTo>
                    <a:pt x="0" y="499456"/>
                    <a:pt x="7684" y="368830"/>
                    <a:pt x="363706" y="179292"/>
                  </a:cubicBezTo>
                  <a:cubicBezTo>
                    <a:pt x="363706" y="179292"/>
                    <a:pt x="594224" y="79402"/>
                    <a:pt x="619837" y="0"/>
                  </a:cubicBezTo>
                  <a:close/>
                </a:path>
              </a:pathLst>
            </a:custGeom>
            <a:solidFill>
              <a:schemeClr val="accent3">
                <a:lumMod val="100000"/>
              </a:schemeClr>
            </a:solidFill>
            <a:ln w="20534" cap="flat">
              <a:noFill/>
              <a:prstDash val="solid"/>
              <a:miter/>
            </a:ln>
          </p:spPr>
          <p:txBody>
            <a:bodyPr rtlCol="0" anchor="ctr"/>
            <a:lstStyle/>
            <a:p>
              <a:endParaRPr lang="zh-CN" altLang="en-US"/>
            </a:p>
          </p:txBody>
        </p:sp>
        <p:sp>
          <p:nvSpPr>
            <p:cNvPr id="6" name="RelativeShape1">
              <a:extLst>
                <a:ext uri="{FF2B5EF4-FFF2-40B4-BE49-F238E27FC236}">
                  <a16:creationId xmlns:a16="http://schemas.microsoft.com/office/drawing/2014/main" id="{93746CF1-0B19-410A-A38E-CE512D993243}"/>
                </a:ext>
              </a:extLst>
            </p:cNvPr>
            <p:cNvSpPr/>
            <p:nvPr/>
          </p:nvSpPr>
          <p:spPr bwMode="auto">
            <a:xfrm>
              <a:off x="2135559"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7" name="RelativeShape2">
              <a:extLst>
                <a:ext uri="{FF2B5EF4-FFF2-40B4-BE49-F238E27FC236}">
                  <a16:creationId xmlns:a16="http://schemas.microsoft.com/office/drawing/2014/main" id="{D66CF947-5A01-4839-B102-747EFDD7281A}"/>
                </a:ext>
              </a:extLst>
            </p:cNvPr>
            <p:cNvSpPr/>
            <p:nvPr/>
          </p:nvSpPr>
          <p:spPr bwMode="auto">
            <a:xfrm>
              <a:off x="7364516"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8" name="ValueShape1">
              <a:extLst>
                <a:ext uri="{FF2B5EF4-FFF2-40B4-BE49-F238E27FC236}">
                  <a16:creationId xmlns:a16="http://schemas.microsoft.com/office/drawing/2014/main" id="{FB26877B-79B9-4CD8-8BC2-839063D1BB76}"/>
                </a:ext>
              </a:extLst>
            </p:cNvPr>
            <p:cNvSpPr/>
            <p:nvPr/>
          </p:nvSpPr>
          <p:spPr bwMode="auto">
            <a:xfrm>
              <a:off x="3578684" y="2723405"/>
              <a:ext cx="1627354" cy="754798"/>
            </a:xfrm>
            <a:prstGeom prst="rect">
              <a:avLst/>
            </a:prstGeom>
            <a:solidFill>
              <a:schemeClr val="accent1">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9" name="ValueShape2">
              <a:extLst>
                <a:ext uri="{FF2B5EF4-FFF2-40B4-BE49-F238E27FC236}">
                  <a16:creationId xmlns:a16="http://schemas.microsoft.com/office/drawing/2014/main" id="{8BE80031-FBBD-47D1-B814-D039F3BF91FC}"/>
                </a:ext>
              </a:extLst>
            </p:cNvPr>
            <p:cNvSpPr/>
            <p:nvPr/>
          </p:nvSpPr>
          <p:spPr bwMode="auto">
            <a:xfrm>
              <a:off x="7364516" y="2723405"/>
              <a:ext cx="1688763" cy="754798"/>
            </a:xfrm>
            <a:prstGeom prst="rect">
              <a:avLst/>
            </a:prstGeom>
            <a:solidFill>
              <a:schemeClr val="accent3">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10" name="ExtraShape">
              <a:extLst>
                <a:ext uri="{FF2B5EF4-FFF2-40B4-BE49-F238E27FC236}">
                  <a16:creationId xmlns:a16="http://schemas.microsoft.com/office/drawing/2014/main" id="{4DE28724-19BC-419C-BCCD-CC6E2D97C58F}"/>
                </a:ext>
              </a:extLst>
            </p:cNvPr>
            <p:cNvSpPr/>
            <p:nvPr/>
          </p:nvSpPr>
          <p:spPr bwMode="auto">
            <a:xfrm rot="7966385">
              <a:off x="5372123" y="1998499"/>
              <a:ext cx="1772631" cy="1717988"/>
            </a:xfrm>
            <a:custGeom>
              <a:avLst/>
              <a:gdLst>
                <a:gd name="connsiteX0" fmla="*/ 1009389 w 1488822"/>
                <a:gd name="connsiteY0" fmla="*/ 531908 h 1442928"/>
                <a:gd name="connsiteX1" fmla="*/ 927638 w 1488822"/>
                <a:gd name="connsiteY1" fmla="*/ 443542 h 1442928"/>
                <a:gd name="connsiteX2" fmla="*/ 1407071 w 1488822"/>
                <a:gd name="connsiteY2" fmla="*/ 0 h 1442928"/>
                <a:gd name="connsiteX3" fmla="*/ 1488822 w 1488822"/>
                <a:gd name="connsiteY3" fmla="*/ 88366 h 1442928"/>
                <a:gd name="connsiteX4" fmla="*/ 175265 w 1488822"/>
                <a:gd name="connsiteY4" fmla="*/ 1240780 h 1442928"/>
                <a:gd name="connsiteX5" fmla="*/ 0 w 1488822"/>
                <a:gd name="connsiteY5" fmla="*/ 900466 h 1442928"/>
                <a:gd name="connsiteX6" fmla="*/ 1 w 1488822"/>
                <a:gd name="connsiteY6" fmla="*/ 900467 h 1442928"/>
                <a:gd name="connsiteX7" fmla="*/ 1 w 1488822"/>
                <a:gd name="connsiteY7" fmla="*/ 900466 h 1442928"/>
                <a:gd name="connsiteX8" fmla="*/ 109696 w 1488822"/>
                <a:gd name="connsiteY8" fmla="*/ 798983 h 1442928"/>
                <a:gd name="connsiteX9" fmla="*/ 103102 w 1488822"/>
                <a:gd name="connsiteY9" fmla="*/ 783064 h 1442928"/>
                <a:gd name="connsiteX10" fmla="*/ 130693 w 1488822"/>
                <a:gd name="connsiteY10" fmla="*/ 755473 h 1442928"/>
                <a:gd name="connsiteX11" fmla="*/ 158284 w 1488822"/>
                <a:gd name="connsiteY11" fmla="*/ 755473 h 1442928"/>
                <a:gd name="connsiteX12" fmla="*/ 158284 w 1488822"/>
                <a:gd name="connsiteY12" fmla="*/ 783064 h 1442928"/>
                <a:gd name="connsiteX13" fmla="*/ 130693 w 1488822"/>
                <a:gd name="connsiteY13" fmla="*/ 810655 h 1442928"/>
                <a:gd name="connsiteX14" fmla="*/ 117896 w 1488822"/>
                <a:gd name="connsiteY14" fmla="*/ 805354 h 1442928"/>
                <a:gd name="connsiteX15" fmla="*/ 9205 w 1488822"/>
                <a:gd name="connsiteY15" fmla="*/ 905909 h 1442928"/>
                <a:gd name="connsiteX16" fmla="*/ 195140 w 1488822"/>
                <a:gd name="connsiteY16" fmla="*/ 1015874 h 1442928"/>
                <a:gd name="connsiteX17" fmla="*/ 194925 w 1488822"/>
                <a:gd name="connsiteY17" fmla="*/ 1014140 h 1442928"/>
                <a:gd name="connsiteX18" fmla="*/ 263892 w 1488822"/>
                <a:gd name="connsiteY18" fmla="*/ 872665 h 1442928"/>
                <a:gd name="connsiteX19" fmla="*/ 410296 w 1488822"/>
                <a:gd name="connsiteY19" fmla="*/ 814892 h 1442928"/>
                <a:gd name="connsiteX20" fmla="*/ 457989 w 1488822"/>
                <a:gd name="connsiteY20" fmla="*/ 824618 h 1442928"/>
                <a:gd name="connsiteX21" fmla="*/ 418631 w 1488822"/>
                <a:gd name="connsiteY21" fmla="*/ 775714 h 1442928"/>
                <a:gd name="connsiteX22" fmla="*/ 288313 w 1488822"/>
                <a:gd name="connsiteY22" fmla="*/ 570929 h 1442928"/>
                <a:gd name="connsiteX23" fmla="*/ 297512 w 1488822"/>
                <a:gd name="connsiteY23" fmla="*/ 380976 h 1442928"/>
                <a:gd name="connsiteX24" fmla="*/ 639727 w 1488822"/>
                <a:gd name="connsiteY24" fmla="*/ 483096 h 1442928"/>
                <a:gd name="connsiteX25" fmla="*/ 715184 w 1488822"/>
                <a:gd name="connsiteY25" fmla="*/ 640092 h 1442928"/>
                <a:gd name="connsiteX26" fmla="*/ 703903 w 1488822"/>
                <a:gd name="connsiteY26" fmla="*/ 650528 h 1442928"/>
                <a:gd name="connsiteX27" fmla="*/ 628648 w 1488822"/>
                <a:gd name="connsiteY27" fmla="*/ 674788 h 1442928"/>
                <a:gd name="connsiteX28" fmla="*/ 625067 w 1488822"/>
                <a:gd name="connsiteY28" fmla="*/ 786543 h 1442928"/>
                <a:gd name="connsiteX29" fmla="*/ 632189 w 1488822"/>
                <a:gd name="connsiteY29" fmla="*/ 795409 h 1442928"/>
                <a:gd name="connsiteX30" fmla="*/ 640720 w 1488822"/>
                <a:gd name="connsiteY30" fmla="*/ 803463 h 1442928"/>
                <a:gd name="connsiteX31" fmla="*/ 753882 w 1488822"/>
                <a:gd name="connsiteY31" fmla="*/ 810157 h 1442928"/>
                <a:gd name="connsiteX32" fmla="*/ 783914 w 1488822"/>
                <a:gd name="connsiteY32" fmla="*/ 737014 h 1442928"/>
                <a:gd name="connsiteX33" fmla="*/ 795195 w 1488822"/>
                <a:gd name="connsiteY33" fmla="*/ 726577 h 1442928"/>
                <a:gd name="connsiteX34" fmla="*/ 945856 w 1488822"/>
                <a:gd name="connsiteY34" fmla="*/ 813997 h 1442928"/>
                <a:gd name="connsiteX35" fmla="*/ 1021093 w 1488822"/>
                <a:gd name="connsiteY35" fmla="*/ 1163109 h 1442928"/>
                <a:gd name="connsiteX36" fmla="*/ 830999 w 1488822"/>
                <a:gd name="connsiteY36" fmla="*/ 1157529 h 1442928"/>
                <a:gd name="connsiteX37" fmla="*/ 635921 w 1488822"/>
                <a:gd name="connsiteY37" fmla="*/ 1010587 h 1442928"/>
                <a:gd name="connsiteX38" fmla="*/ 591226 w 1488822"/>
                <a:gd name="connsiteY38" fmla="*/ 968448 h 1442928"/>
                <a:gd name="connsiteX39" fmla="*/ 597245 w 1488822"/>
                <a:gd name="connsiteY39" fmla="*/ 1016969 h 1442928"/>
                <a:gd name="connsiteX40" fmla="*/ 528278 w 1488822"/>
                <a:gd name="connsiteY40" fmla="*/ 1158444 h 1442928"/>
                <a:gd name="connsiteX41" fmla="*/ 458611 w 1488822"/>
                <a:gd name="connsiteY41" fmla="*/ 1202056 h 1442928"/>
                <a:gd name="connsiteX42" fmla="*/ 397138 w 1488822"/>
                <a:gd name="connsiteY42" fmla="*/ 1213400 h 1442928"/>
                <a:gd name="connsiteX43" fmla="*/ 526279 w 1488822"/>
                <a:gd name="connsiteY43" fmla="*/ 1442928 h 144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8822" h="1442928">
                  <a:moveTo>
                    <a:pt x="1009389" y="531908"/>
                  </a:moveTo>
                  <a:lnTo>
                    <a:pt x="927638" y="443542"/>
                  </a:lnTo>
                  <a:lnTo>
                    <a:pt x="1407071" y="0"/>
                  </a:lnTo>
                  <a:lnTo>
                    <a:pt x="1488822" y="88366"/>
                  </a:lnTo>
                  <a:close/>
                  <a:moveTo>
                    <a:pt x="175265" y="1240780"/>
                  </a:moveTo>
                  <a:lnTo>
                    <a:pt x="0" y="900466"/>
                  </a:lnTo>
                  <a:lnTo>
                    <a:pt x="1" y="900467"/>
                  </a:lnTo>
                  <a:lnTo>
                    <a:pt x="1" y="900466"/>
                  </a:lnTo>
                  <a:lnTo>
                    <a:pt x="109696" y="798983"/>
                  </a:lnTo>
                  <a:lnTo>
                    <a:pt x="103102" y="783064"/>
                  </a:lnTo>
                  <a:cubicBezTo>
                    <a:pt x="103102" y="767826"/>
                    <a:pt x="115455" y="755473"/>
                    <a:pt x="130693" y="755473"/>
                  </a:cubicBezTo>
                  <a:lnTo>
                    <a:pt x="158284" y="755473"/>
                  </a:lnTo>
                  <a:lnTo>
                    <a:pt x="158284" y="783064"/>
                  </a:lnTo>
                  <a:cubicBezTo>
                    <a:pt x="158284" y="798302"/>
                    <a:pt x="145931" y="810655"/>
                    <a:pt x="130693" y="810655"/>
                  </a:cubicBezTo>
                  <a:lnTo>
                    <a:pt x="117896" y="805354"/>
                  </a:lnTo>
                  <a:lnTo>
                    <a:pt x="9205" y="905909"/>
                  </a:lnTo>
                  <a:lnTo>
                    <a:pt x="195140" y="1015874"/>
                  </a:lnTo>
                  <a:lnTo>
                    <a:pt x="194925" y="1014140"/>
                  </a:lnTo>
                  <a:cubicBezTo>
                    <a:pt x="198561" y="962786"/>
                    <a:pt x="221838" y="911570"/>
                    <a:pt x="263892" y="872665"/>
                  </a:cubicBezTo>
                  <a:cubicBezTo>
                    <a:pt x="305945" y="833759"/>
                    <a:pt x="358815" y="814530"/>
                    <a:pt x="410296" y="814892"/>
                  </a:cubicBezTo>
                  <a:lnTo>
                    <a:pt x="457989" y="824618"/>
                  </a:lnTo>
                  <a:lnTo>
                    <a:pt x="418631" y="775714"/>
                  </a:lnTo>
                  <a:cubicBezTo>
                    <a:pt x="370542" y="712719"/>
                    <a:pt x="322348" y="639541"/>
                    <a:pt x="288313" y="570929"/>
                  </a:cubicBezTo>
                  <a:cubicBezTo>
                    <a:pt x="227807" y="448953"/>
                    <a:pt x="297512" y="380976"/>
                    <a:pt x="297512" y="380976"/>
                  </a:cubicBezTo>
                  <a:lnTo>
                    <a:pt x="639727" y="483096"/>
                  </a:lnTo>
                  <a:cubicBezTo>
                    <a:pt x="617778" y="534804"/>
                    <a:pt x="715184" y="640092"/>
                    <a:pt x="715184" y="640092"/>
                  </a:cubicBezTo>
                  <a:lnTo>
                    <a:pt x="703903" y="650528"/>
                  </a:lnTo>
                  <a:cubicBezTo>
                    <a:pt x="667708" y="649120"/>
                    <a:pt x="628648" y="674788"/>
                    <a:pt x="628648" y="674788"/>
                  </a:cubicBezTo>
                  <a:cubicBezTo>
                    <a:pt x="590047" y="723584"/>
                    <a:pt x="611785" y="767589"/>
                    <a:pt x="625067" y="786543"/>
                  </a:cubicBezTo>
                  <a:lnTo>
                    <a:pt x="632189" y="795409"/>
                  </a:lnTo>
                  <a:lnTo>
                    <a:pt x="640720" y="803463"/>
                  </a:lnTo>
                  <a:cubicBezTo>
                    <a:pt x="659074" y="818705"/>
                    <a:pt x="702237" y="844852"/>
                    <a:pt x="753882" y="810157"/>
                  </a:cubicBezTo>
                  <a:cubicBezTo>
                    <a:pt x="753882" y="810157"/>
                    <a:pt x="782507" y="773209"/>
                    <a:pt x="783914" y="737014"/>
                  </a:cubicBezTo>
                  <a:lnTo>
                    <a:pt x="795195" y="726577"/>
                  </a:lnTo>
                  <a:cubicBezTo>
                    <a:pt x="795195" y="726577"/>
                    <a:pt x="892600" y="831864"/>
                    <a:pt x="945856" y="813997"/>
                  </a:cubicBezTo>
                  <a:lnTo>
                    <a:pt x="1021093" y="1163109"/>
                  </a:lnTo>
                  <a:cubicBezTo>
                    <a:pt x="1021093" y="1163109"/>
                    <a:pt x="947908" y="1227325"/>
                    <a:pt x="830999" y="1157529"/>
                  </a:cubicBezTo>
                  <a:cubicBezTo>
                    <a:pt x="765237" y="1118269"/>
                    <a:pt x="695473" y="1063943"/>
                    <a:pt x="635921" y="1010587"/>
                  </a:cubicBezTo>
                  <a:lnTo>
                    <a:pt x="591226" y="968448"/>
                  </a:lnTo>
                  <a:lnTo>
                    <a:pt x="597245" y="1016969"/>
                  </a:lnTo>
                  <a:cubicBezTo>
                    <a:pt x="593608" y="1068323"/>
                    <a:pt x="570331" y="1119539"/>
                    <a:pt x="528278" y="1158444"/>
                  </a:cubicBezTo>
                  <a:cubicBezTo>
                    <a:pt x="507251" y="1177897"/>
                    <a:pt x="483520" y="1192431"/>
                    <a:pt x="458611" y="1202056"/>
                  </a:cubicBezTo>
                  <a:lnTo>
                    <a:pt x="397138" y="1213400"/>
                  </a:lnTo>
                  <a:lnTo>
                    <a:pt x="526279" y="1442928"/>
                  </a:lnTo>
                  <a:close/>
                </a:path>
              </a:pathLst>
            </a:custGeom>
            <a:solidFill>
              <a:schemeClr val="accent1"/>
            </a:solidFill>
            <a:ln w="19050">
              <a:noFill/>
              <a:round/>
              <a:headEnd/>
              <a:tailEnd/>
            </a:ln>
          </p:spPr>
          <p:txBody>
            <a:bodyPr rot="0" spcFirstLastPara="0" vert="horz" wrap="square" lIns="91440" tIns="45720" rIns="91440" bIns="45720" numCol="1" spcCol="0" rtlCol="0" fromWordArt="0" anchor="ctr" anchorCtr="1" forceAA="0" compatLnSpc="1">
              <a:prstTxWarp prst="textNoShape">
                <a:avLst/>
              </a:prstTxWarp>
              <a:noAutofit/>
            </a:bodyPr>
            <a:lstStyle/>
            <a:p>
              <a:pPr algn="ctr"/>
              <a:endParaRPr lang="zh-CN" altLang="en-US" sz="1200" b="1" dirty="0">
                <a:solidFill>
                  <a:schemeClr val="tx1">
                    <a:lumMod val="75000"/>
                    <a:lumOff val="25000"/>
                  </a:schemeClr>
                </a:solidFill>
              </a:endParaRPr>
            </a:p>
          </p:txBody>
        </p:sp>
        <p:sp>
          <p:nvSpPr>
            <p:cNvPr id="11" name="ValueText1">
              <a:extLst>
                <a:ext uri="{FF2B5EF4-FFF2-40B4-BE49-F238E27FC236}">
                  <a16:creationId xmlns:a16="http://schemas.microsoft.com/office/drawing/2014/main" id="{EDBDD775-3579-4CA8-974B-1036888707D0}"/>
                </a:ext>
              </a:extLst>
            </p:cNvPr>
            <p:cNvSpPr txBox="1"/>
            <p:nvPr/>
          </p:nvSpPr>
          <p:spPr>
            <a:xfrm>
              <a:off x="2910028"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a:solidFill>
                    <a:schemeClr val="accent1">
                      <a:lumMod val="100000"/>
                    </a:schemeClr>
                  </a:solidFill>
                  <a:latin typeface="Impact" panose="020B0806030902050204" pitchFamily="34" charset="0"/>
                </a:rPr>
                <a:t>53%</a:t>
              </a:r>
              <a:endParaRPr lang="en-US" altLang="zh-CN" sz="3600" b="1" dirty="0">
                <a:solidFill>
                  <a:schemeClr val="accent1">
                    <a:lumMod val="100000"/>
                  </a:schemeClr>
                </a:solidFill>
                <a:latin typeface="Impact" panose="020B0806030902050204" pitchFamily="34" charset="0"/>
              </a:endParaRPr>
            </a:p>
          </p:txBody>
        </p:sp>
        <p:sp>
          <p:nvSpPr>
            <p:cNvPr id="12" name="ValueText2">
              <a:extLst>
                <a:ext uri="{FF2B5EF4-FFF2-40B4-BE49-F238E27FC236}">
                  <a16:creationId xmlns:a16="http://schemas.microsoft.com/office/drawing/2014/main" id="{3A46D92B-9B9E-4C45-9D21-0E83583F0B0C}"/>
                </a:ext>
              </a:extLst>
            </p:cNvPr>
            <p:cNvSpPr txBox="1"/>
            <p:nvPr/>
          </p:nvSpPr>
          <p:spPr>
            <a:xfrm>
              <a:off x="9164722"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dirty="0">
                  <a:solidFill>
                    <a:schemeClr val="accent3">
                      <a:lumMod val="100000"/>
                    </a:schemeClr>
                  </a:solidFill>
                  <a:latin typeface="Impact" panose="020B0806030902050204" pitchFamily="34" charset="0"/>
                </a:rPr>
                <a:t>55%</a:t>
              </a:r>
            </a:p>
          </p:txBody>
        </p:sp>
        <p:sp>
          <p:nvSpPr>
            <p:cNvPr id="15" name="CustomText">
              <a:extLst>
                <a:ext uri="{FF2B5EF4-FFF2-40B4-BE49-F238E27FC236}">
                  <a16:creationId xmlns:a16="http://schemas.microsoft.com/office/drawing/2014/main" id="{D579BF51-77EB-4085-9DCF-88AD3E5322E0}"/>
                </a:ext>
              </a:extLst>
            </p:cNvPr>
            <p:cNvSpPr/>
            <p:nvPr/>
          </p:nvSpPr>
          <p:spPr>
            <a:xfrm>
              <a:off x="4655185" y="4330783"/>
              <a:ext cx="3438697" cy="382921"/>
            </a:xfrm>
            <a:prstGeom prst="rect">
              <a:avLst/>
            </a:prstGeom>
            <a:noFill/>
          </p:spPr>
          <p:txBody>
            <a:bodyPr wrap="square" lIns="90000" tIns="46800" rIns="90000" bIns="46800" anchor="ctr">
              <a:noAutofit/>
            </a:bodyPr>
            <a:lstStyle/>
            <a:p>
              <a:pPr lvl="0" algn="ctr">
                <a:defRPr/>
              </a:pPr>
              <a:r>
                <a:rPr lang="en-US" altLang="zh-CN" sz="2400" b="1" dirty="0">
                  <a:solidFill>
                    <a:schemeClr val="tx1">
                      <a:lumMod val="75000"/>
                      <a:lumOff val="25000"/>
                    </a:schemeClr>
                  </a:solidFill>
                </a:rPr>
                <a:t>Credit Risk Measurement and Management</a:t>
              </a:r>
            </a:p>
          </p:txBody>
        </p:sp>
      </p:grpSp>
    </p:spTree>
    <p:extLst>
      <p:ext uri="{BB962C8B-B14F-4D97-AF65-F5344CB8AC3E}">
        <p14:creationId xmlns:p14="http://schemas.microsoft.com/office/powerpoint/2010/main" val="27558856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b="0" dirty="0">
                <a:solidFill>
                  <a:srgbClr val="002060"/>
                </a:solidFill>
                <a:latin typeface="+mn-lt"/>
                <a:ea typeface="+mn-ea"/>
                <a:cs typeface="+mn-ea"/>
                <a:sym typeface="+mn-lt"/>
              </a:rPr>
              <a:t>External and Internal Ratings </a:t>
            </a:r>
            <a:r>
              <a:rPr lang="zh-CN" altLang="en-US" b="0" dirty="0">
                <a:solidFill>
                  <a:srgbClr val="002060"/>
                </a:solidFill>
                <a:latin typeface="+mn-lt"/>
                <a:ea typeface="+mn-ea"/>
                <a:cs typeface="+mn-ea"/>
                <a:sym typeface="+mn-lt"/>
              </a:rPr>
              <a:t>外部评级与内部评级</a:t>
            </a:r>
            <a:endParaRPr lang="en-US" altLang="zh-CN" b="0" dirty="0">
              <a:solidFill>
                <a:srgbClr val="002060"/>
              </a:solidFill>
              <a:latin typeface="+mn-lt"/>
              <a:ea typeface="+mn-ea"/>
              <a:cs typeface="+mn-ea"/>
              <a:sym typeface="+mn-lt"/>
            </a:endParaRPr>
          </a:p>
          <a:p>
            <a:r>
              <a:rPr lang="en-US" altLang="zh-CN" b="0" dirty="0">
                <a:solidFill>
                  <a:srgbClr val="002060"/>
                </a:solidFill>
                <a:latin typeface="+mn-lt"/>
                <a:ea typeface="+mn-ea"/>
                <a:cs typeface="+mn-ea"/>
                <a:sym typeface="+mn-lt"/>
              </a:rPr>
              <a:t>Capital Structure in Banks </a:t>
            </a:r>
            <a:r>
              <a:rPr lang="zh-CN" altLang="en-US" b="0" dirty="0">
                <a:solidFill>
                  <a:srgbClr val="002060"/>
                </a:solidFill>
                <a:latin typeface="+mn-lt"/>
                <a:ea typeface="+mn-ea"/>
                <a:cs typeface="+mn-ea"/>
                <a:sym typeface="+mn-lt"/>
              </a:rPr>
              <a:t>银行的资本结构</a:t>
            </a:r>
            <a:endParaRPr lang="en-US" altLang="zh-CN" b="0" dirty="0">
              <a:solidFill>
                <a:srgbClr val="002060"/>
              </a:solidFill>
              <a:latin typeface="+mn-lt"/>
              <a:ea typeface="+mn-ea"/>
              <a:cs typeface="+mn-ea"/>
              <a:sym typeface="+mn-lt"/>
            </a:endParaRPr>
          </a:p>
          <a:p>
            <a:r>
              <a:rPr lang="en-US" altLang="zh-CN" b="0" dirty="0">
                <a:solidFill>
                  <a:srgbClr val="002060"/>
                </a:solidFill>
                <a:latin typeface="+mn-lt"/>
                <a:ea typeface="+mn-ea"/>
                <a:cs typeface="+mn-ea"/>
                <a:sym typeface="+mn-lt"/>
              </a:rPr>
              <a:t>Country Risk </a:t>
            </a:r>
            <a:r>
              <a:rPr lang="zh-CN" altLang="en-US" b="0" dirty="0">
                <a:solidFill>
                  <a:srgbClr val="002060"/>
                </a:solidFill>
                <a:latin typeface="+mn-lt"/>
                <a:ea typeface="+mn-ea"/>
                <a:cs typeface="+mn-ea"/>
                <a:sym typeface="+mn-lt"/>
              </a:rPr>
              <a:t>国家风险</a:t>
            </a:r>
            <a:endParaRPr lang="en-US" altLang="zh-CN" b="0" dirty="0">
              <a:solidFill>
                <a:srgbClr val="002060"/>
              </a:solidFill>
              <a:latin typeface="+mn-lt"/>
              <a:ea typeface="+mn-ea"/>
              <a:cs typeface="+mn-ea"/>
              <a:sym typeface="+mn-lt"/>
            </a:endParaRPr>
          </a:p>
          <a:p>
            <a:endParaRPr lang="zh-CN" altLang="en-US" b="0" dirty="0">
              <a:solidFill>
                <a:srgbClr val="002060"/>
              </a:solidFill>
              <a:latin typeface="+mn-lt"/>
              <a:ea typeface="+mn-ea"/>
              <a:cs typeface="+mn-ea"/>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443935044"/>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External and Internal Ratings</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Rating Scales</a:t>
            </a:r>
          </a:p>
          <a:p>
            <a:pPr lvl="1"/>
            <a:r>
              <a:rPr lang="en-US" altLang="zh-CN" dirty="0"/>
              <a:t>Rating scales can be </a:t>
            </a:r>
            <a:r>
              <a:rPr lang="en-US" altLang="zh-CN" u="sng" dirty="0"/>
              <a:t>short-term</a:t>
            </a:r>
            <a:r>
              <a:rPr lang="en-US" altLang="zh-CN" dirty="0"/>
              <a:t> or </a:t>
            </a:r>
            <a:r>
              <a:rPr lang="en-US" altLang="zh-CN" u="sng" dirty="0"/>
              <a:t>long-term</a:t>
            </a:r>
            <a:r>
              <a:rPr lang="en-US" altLang="zh-CN" dirty="0"/>
              <a:t> and they can apply to </a:t>
            </a:r>
            <a:r>
              <a:rPr lang="en-US" altLang="zh-CN" u="sng" dirty="0"/>
              <a:t>specific obligations or instruments</a:t>
            </a:r>
            <a:r>
              <a:rPr lang="en-US" altLang="zh-CN" dirty="0"/>
              <a:t> (i.e., issue-specific credit ratings) or to an </a:t>
            </a:r>
            <a:r>
              <a:rPr lang="en-US" altLang="zh-CN" u="sng" dirty="0"/>
              <a:t>issuer</a:t>
            </a:r>
            <a:r>
              <a:rPr lang="en-US" altLang="zh-CN" dirty="0"/>
              <a:t>’s general creditworthiness (i.e., issuer credit ratings).</a:t>
            </a:r>
          </a:p>
          <a:p>
            <a:pPr lvl="1"/>
            <a:r>
              <a:rPr lang="en-US" altLang="zh-CN" dirty="0"/>
              <a:t>The bond universe is broadly divided into </a:t>
            </a:r>
            <a:r>
              <a:rPr lang="en-US" altLang="zh-CN" b="1" dirty="0"/>
              <a:t>investment grade and non-investment grade bonds</a:t>
            </a:r>
            <a:r>
              <a:rPr lang="en-US" altLang="zh-CN" dirty="0"/>
              <a:t>. In rating long-term debt, each agency uses a system of letter grades that locate an issuer or issue on a spectrum of credit quality from the very highest (triple-A) to the very lowest (D).</a:t>
            </a:r>
          </a:p>
          <a:p>
            <a:pPr lvl="2"/>
            <a:r>
              <a:rPr lang="en-US" altLang="zh-CN" dirty="0"/>
              <a:t>Investment grade = rated Baa3 or BBB- and above</a:t>
            </a:r>
          </a:p>
          <a:p>
            <a:pPr lvl="2"/>
            <a:r>
              <a:rPr lang="en-US" altLang="zh-CN" dirty="0"/>
              <a:t>Speculative or non-investment grade = issues rated Ba1 or BB+ and below</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181613177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External and Internal Ratings</a:t>
            </a:r>
            <a:endParaRPr lang="zh-CN" altLang="en-US" sz="2800" dirty="0"/>
          </a:p>
        </p:txBody>
      </p:sp>
      <p:graphicFrame>
        <p:nvGraphicFramePr>
          <p:cNvPr id="5" name="表格 4">
            <a:extLst>
              <a:ext uri="{FF2B5EF4-FFF2-40B4-BE49-F238E27FC236}">
                <a16:creationId xmlns:a16="http://schemas.microsoft.com/office/drawing/2014/main" id="{A0B4D49C-12F4-4A22-A680-CDA3BF70415D}"/>
              </a:ext>
            </a:extLst>
          </p:cNvPr>
          <p:cNvGraphicFramePr>
            <a:graphicFrameLocks noGrp="1"/>
          </p:cNvGraphicFramePr>
          <p:nvPr>
            <p:extLst>
              <p:ext uri="{D42A27DB-BD31-4B8C-83A1-F6EECF244321}">
                <p14:modId xmlns:p14="http://schemas.microsoft.com/office/powerpoint/2010/main" val="1552518171"/>
              </p:ext>
            </p:extLst>
          </p:nvPr>
        </p:nvGraphicFramePr>
        <p:xfrm>
          <a:off x="987670" y="1186688"/>
          <a:ext cx="10216660" cy="5212983"/>
        </p:xfrm>
        <a:graphic>
          <a:graphicData uri="http://schemas.openxmlformats.org/drawingml/2006/table">
            <a:tbl>
              <a:tblPr firstRow="1" bandRow="1">
                <a:tableStyleId>{5C22544A-7EE6-4342-B048-85BDC9FD1C3A}</a:tableStyleId>
              </a:tblPr>
              <a:tblGrid>
                <a:gridCol w="3799584">
                  <a:extLst>
                    <a:ext uri="{9D8B030D-6E8A-4147-A177-3AD203B41FA5}">
                      <a16:colId xmlns:a16="http://schemas.microsoft.com/office/drawing/2014/main" val="20000"/>
                    </a:ext>
                  </a:extLst>
                </a:gridCol>
                <a:gridCol w="928787">
                  <a:extLst>
                    <a:ext uri="{9D8B030D-6E8A-4147-A177-3AD203B41FA5}">
                      <a16:colId xmlns:a16="http://schemas.microsoft.com/office/drawing/2014/main" val="20001"/>
                    </a:ext>
                  </a:extLst>
                </a:gridCol>
                <a:gridCol w="1055440">
                  <a:extLst>
                    <a:ext uri="{9D8B030D-6E8A-4147-A177-3AD203B41FA5}">
                      <a16:colId xmlns:a16="http://schemas.microsoft.com/office/drawing/2014/main" val="20002"/>
                    </a:ext>
                  </a:extLst>
                </a:gridCol>
                <a:gridCol w="4432849">
                  <a:extLst>
                    <a:ext uri="{9D8B030D-6E8A-4147-A177-3AD203B41FA5}">
                      <a16:colId xmlns:a16="http://schemas.microsoft.com/office/drawing/2014/main" val="20003"/>
                    </a:ext>
                  </a:extLst>
                </a:gridCol>
              </a:tblGrid>
              <a:tr h="449082">
                <a:tc gridSpan="4">
                  <a:txBody>
                    <a:bodyPr/>
                    <a:lstStyle/>
                    <a:p>
                      <a:pPr algn="ctr"/>
                      <a:r>
                        <a:rPr lang="en-US" altLang="zh-CN" sz="1600" b="1" dirty="0">
                          <a:solidFill>
                            <a:schemeClr val="bg1"/>
                          </a:solidFill>
                          <a:latin typeface="Segoe UI" panose="020B0502040204020203" pitchFamily="34" charset="0"/>
                          <a:ea typeface="Segoe UI" panose="020B0502040204020203" pitchFamily="34" charset="0"/>
                          <a:cs typeface="Segoe UI" panose="020B0502040204020203" pitchFamily="34" charset="0"/>
                        </a:rPr>
                        <a:t>Investment Grade</a:t>
                      </a:r>
                      <a:r>
                        <a:rPr lang="en-US" altLang="zh-CN" sz="1600" b="1" baseline="0" dirty="0">
                          <a:solidFill>
                            <a:schemeClr val="bg1"/>
                          </a:solidFill>
                          <a:latin typeface="Segoe UI" panose="020B0502040204020203" pitchFamily="34" charset="0"/>
                          <a:ea typeface="Segoe UI" panose="020B0502040204020203" pitchFamily="34" charset="0"/>
                          <a:cs typeface="Segoe UI" panose="020B0502040204020203" pitchFamily="34" charset="0"/>
                        </a:rPr>
                        <a:t> Ratings</a:t>
                      </a:r>
                      <a:endParaRPr lang="zh-CN" altLang="en-US" sz="1600" b="1" dirty="0">
                        <a:solidFill>
                          <a:schemeClr val="bg1"/>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tc hMerge="1">
                  <a:txBody>
                    <a:bodyPr/>
                    <a:lstStyle/>
                    <a:p>
                      <a:endParaRPr lang="zh-CN" altLang="en-US" dirty="0">
                        <a:latin typeface="Arial" pitchFamily="34" charset="0"/>
                        <a:cs typeface="Arial" pitchFamily="34" charset="0"/>
                      </a:endParaRPr>
                    </a:p>
                  </a:txBody>
                  <a:tcPr/>
                </a:tc>
                <a:tc hMerge="1">
                  <a:txBody>
                    <a:bodyPr/>
                    <a:lstStyle/>
                    <a:p>
                      <a:endParaRPr lang="zh-CN" altLang="en-US" dirty="0">
                        <a:latin typeface="Arial" pitchFamily="34" charset="0"/>
                        <a:cs typeface="Arial" pitchFamily="34" charset="0"/>
                      </a:endParaRPr>
                    </a:p>
                  </a:txBody>
                  <a:tcPr/>
                </a:tc>
                <a:tc hMerge="1">
                  <a:txBody>
                    <a:bodyPr/>
                    <a:lstStyle/>
                    <a:p>
                      <a:endParaRPr lang="zh-CN" altLang="en-US"/>
                    </a:p>
                  </a:txBody>
                  <a:tcPr/>
                </a:tc>
                <a:extLst>
                  <a:ext uri="{0D108BD9-81ED-4DB2-BD59-A6C34878D82A}">
                    <a16:rowId xmlns:a16="http://schemas.microsoft.com/office/drawing/2014/main" val="10000"/>
                  </a:ext>
                </a:extLst>
              </a:tr>
              <a:tr h="385503">
                <a:tc>
                  <a:txBody>
                    <a:bodyPr/>
                    <a:lstStyle/>
                    <a:p>
                      <a:pPr algn="ctr"/>
                      <a:r>
                        <a:rPr lang="en-US" altLang="zh-CN" sz="1600" b="1" dirty="0">
                          <a:solidFill>
                            <a:srgbClr val="2C3E50"/>
                          </a:solidFill>
                          <a:latin typeface="Segoe UI" panose="020B0502040204020203" pitchFamily="34" charset="0"/>
                          <a:ea typeface="Segoe UI" panose="020B0502040204020203" pitchFamily="34" charset="0"/>
                          <a:cs typeface="Segoe UI" panose="020B0502040204020203" pitchFamily="34" charset="0"/>
                        </a:rPr>
                        <a:t>Interpretation</a:t>
                      </a:r>
                      <a:endParaRPr lang="zh-CN" altLang="en-US" sz="1600" b="1"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b="1" dirty="0">
                          <a:solidFill>
                            <a:srgbClr val="2C3E50"/>
                          </a:solidFill>
                          <a:latin typeface="Segoe UI" panose="020B0502040204020203" pitchFamily="34" charset="0"/>
                          <a:ea typeface="Segoe UI" panose="020B0502040204020203" pitchFamily="34" charset="0"/>
                          <a:cs typeface="Segoe UI" panose="020B0502040204020203" pitchFamily="34" charset="0"/>
                        </a:rPr>
                        <a:t>S&amp;P</a:t>
                      </a:r>
                      <a:endParaRPr lang="zh-CN" altLang="en-US" sz="1600" b="1"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b="1" dirty="0">
                          <a:solidFill>
                            <a:srgbClr val="2C3E50"/>
                          </a:solidFill>
                          <a:latin typeface="Segoe UI" panose="020B0502040204020203" pitchFamily="34" charset="0"/>
                          <a:ea typeface="Segoe UI" panose="020B0502040204020203" pitchFamily="34" charset="0"/>
                          <a:cs typeface="Segoe UI" panose="020B0502040204020203" pitchFamily="34" charset="0"/>
                        </a:rPr>
                        <a:t>Moody</a:t>
                      </a:r>
                      <a:endParaRPr lang="zh-CN" altLang="en-US" sz="1600" b="1"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b="1" dirty="0">
                          <a:solidFill>
                            <a:srgbClr val="2C3E50"/>
                          </a:solidFill>
                          <a:latin typeface="Segoe UI" panose="020B0502040204020203" pitchFamily="34" charset="0"/>
                          <a:ea typeface="Segoe UI" panose="020B0502040204020203" pitchFamily="34" charset="0"/>
                          <a:cs typeface="Segoe UI" panose="020B0502040204020203" pitchFamily="34" charset="0"/>
                        </a:rPr>
                        <a:t>Interpretation</a:t>
                      </a:r>
                      <a:endParaRPr lang="zh-CN" altLang="en-US" sz="1600" b="1"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73476">
                <a:tc>
                  <a:txBody>
                    <a:bodyPr/>
                    <a:lstStyle/>
                    <a:p>
                      <a:pPr algn="l"/>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Highest rating. Extremely strong capacity to meet obligations.</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AAA</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err="1">
                          <a:solidFill>
                            <a:srgbClr val="2C3E50"/>
                          </a:solidFill>
                          <a:latin typeface="Segoe UI" panose="020B0502040204020203" pitchFamily="34" charset="0"/>
                          <a:ea typeface="Segoe UI" panose="020B0502040204020203" pitchFamily="34" charset="0"/>
                          <a:cs typeface="Segoe UI" panose="020B0502040204020203" pitchFamily="34" charset="0"/>
                        </a:rPr>
                        <a:t>Aaa</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Highest quality, with minimal credit risk.</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11658">
                <a:tc rowSpan="3">
                  <a:txBody>
                    <a:bodyPr/>
                    <a:lstStyle/>
                    <a:p>
                      <a:pPr algn="l"/>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Capacity to meet its financial obligation is very strong.</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AA+</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Aa1</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High quality and subject to very low credit risk.</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11658">
                <a:tc vMerge="1">
                  <a:txBody>
                    <a:bodyPr/>
                    <a:lstStyle/>
                    <a:p>
                      <a:pPr algn="just"/>
                      <a:endParaRPr lang="zh-CN" altLang="en-US" dirty="0">
                        <a:latin typeface="Arial" pitchFamily="34" charset="0"/>
                        <a:cs typeface="Arial" pitchFamily="34" charset="0"/>
                      </a:endParaRPr>
                    </a:p>
                  </a:txBody>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AA</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Aa2</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just"/>
                      <a:endParaRPr lang="zh-CN" altLang="en-US" dirty="0">
                        <a:latin typeface="Arial" pitchFamily="34" charset="0"/>
                        <a:cs typeface="Arial" pitchFamily="34" charset="0"/>
                      </a:endParaRPr>
                    </a:p>
                  </a:txBody>
                  <a:tcPr/>
                </a:tc>
                <a:extLst>
                  <a:ext uri="{0D108BD9-81ED-4DB2-BD59-A6C34878D82A}">
                    <a16:rowId xmlns:a16="http://schemas.microsoft.com/office/drawing/2014/main" val="10004"/>
                  </a:ext>
                </a:extLst>
              </a:tr>
              <a:tr h="411658">
                <a:tc vMerge="1">
                  <a:txBody>
                    <a:bodyPr/>
                    <a:lstStyle/>
                    <a:p>
                      <a:pPr algn="just"/>
                      <a:endParaRPr lang="zh-CN" altLang="en-US" dirty="0">
                        <a:latin typeface="Arial" pitchFamily="34" charset="0"/>
                        <a:cs typeface="Arial" pitchFamily="34" charset="0"/>
                      </a:endParaRPr>
                    </a:p>
                  </a:txBody>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AA-</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Aa3</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just"/>
                      <a:endParaRPr lang="zh-CN" altLang="en-US" dirty="0">
                        <a:latin typeface="Arial" pitchFamily="34" charset="0"/>
                        <a:cs typeface="Arial" pitchFamily="34" charset="0"/>
                      </a:endParaRPr>
                    </a:p>
                  </a:txBody>
                  <a:tcPr/>
                </a:tc>
                <a:extLst>
                  <a:ext uri="{0D108BD9-81ED-4DB2-BD59-A6C34878D82A}">
                    <a16:rowId xmlns:a16="http://schemas.microsoft.com/office/drawing/2014/main" val="10005"/>
                  </a:ext>
                </a:extLst>
              </a:tr>
              <a:tr h="411658">
                <a:tc rowSpan="3">
                  <a:txBody>
                    <a:bodyPr/>
                    <a:lstStyle/>
                    <a:p>
                      <a:pPr algn="l"/>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Capacity to meet obligation still strong but susceptible to adverse changes in economic conditions.</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A+</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A1</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Considered upper-medium grade and subject to low credit risk.</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11658">
                <a:tc vMerge="1">
                  <a:txBody>
                    <a:bodyPr/>
                    <a:lstStyle/>
                    <a:p>
                      <a:pPr algn="just"/>
                      <a:endParaRPr lang="zh-CN" altLang="en-US" dirty="0">
                        <a:latin typeface="Arial" pitchFamily="34" charset="0"/>
                        <a:cs typeface="Arial" pitchFamily="34" charset="0"/>
                      </a:endParaRPr>
                    </a:p>
                  </a:txBody>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A</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A2</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just"/>
                      <a:endParaRPr lang="zh-CN" altLang="en-US" dirty="0">
                        <a:latin typeface="Arial" pitchFamily="34" charset="0"/>
                        <a:cs typeface="Arial" pitchFamily="34" charset="0"/>
                      </a:endParaRPr>
                    </a:p>
                  </a:txBody>
                  <a:tcPr/>
                </a:tc>
                <a:extLst>
                  <a:ext uri="{0D108BD9-81ED-4DB2-BD59-A6C34878D82A}">
                    <a16:rowId xmlns:a16="http://schemas.microsoft.com/office/drawing/2014/main" val="10007"/>
                  </a:ext>
                </a:extLst>
              </a:tr>
              <a:tr h="411658">
                <a:tc vMerge="1">
                  <a:txBody>
                    <a:bodyPr/>
                    <a:lstStyle/>
                    <a:p>
                      <a:pPr algn="just"/>
                      <a:endParaRPr lang="zh-CN" altLang="en-US" dirty="0">
                        <a:latin typeface="Arial" pitchFamily="34" charset="0"/>
                        <a:cs typeface="Arial" pitchFamily="34" charset="0"/>
                      </a:endParaRPr>
                    </a:p>
                  </a:txBody>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A-</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A3</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just"/>
                      <a:endParaRPr lang="zh-CN" altLang="en-US" dirty="0">
                        <a:latin typeface="Arial" pitchFamily="34" charset="0"/>
                        <a:cs typeface="Arial" pitchFamily="34" charset="0"/>
                      </a:endParaRPr>
                    </a:p>
                  </a:txBody>
                  <a:tcPr/>
                </a:tc>
                <a:extLst>
                  <a:ext uri="{0D108BD9-81ED-4DB2-BD59-A6C34878D82A}">
                    <a16:rowId xmlns:a16="http://schemas.microsoft.com/office/drawing/2014/main" val="10008"/>
                  </a:ext>
                </a:extLst>
              </a:tr>
              <a:tr h="411658">
                <a:tc rowSpan="3">
                  <a:txBody>
                    <a:bodyPr/>
                    <a:lstStyle/>
                    <a:p>
                      <a:pPr algn="l"/>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Exhibits adequate protection</a:t>
                      </a:r>
                      <a:r>
                        <a:rPr lang="en-US" altLang="zh-CN" sz="1600"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parameters</a:t>
                      </a: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 </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BBB+</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Baa1</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Subject to moderate credit risk.</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411658">
                <a:tc vMerge="1">
                  <a:txBody>
                    <a:bodyPr/>
                    <a:lstStyle/>
                    <a:p>
                      <a:pPr algn="just"/>
                      <a:endParaRPr lang="zh-CN" altLang="en-US" dirty="0">
                        <a:latin typeface="Arial" pitchFamily="34" charset="0"/>
                        <a:cs typeface="Arial" pitchFamily="34" charset="0"/>
                      </a:endParaRPr>
                    </a:p>
                  </a:txBody>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BBB</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Baa2</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just"/>
                      <a:endParaRPr lang="zh-CN" altLang="en-US" dirty="0">
                        <a:latin typeface="Arial" pitchFamily="34" charset="0"/>
                        <a:cs typeface="Arial" pitchFamily="34" charset="0"/>
                      </a:endParaRPr>
                    </a:p>
                  </a:txBody>
                  <a:tcPr/>
                </a:tc>
                <a:extLst>
                  <a:ext uri="{0D108BD9-81ED-4DB2-BD59-A6C34878D82A}">
                    <a16:rowId xmlns:a16="http://schemas.microsoft.com/office/drawing/2014/main" val="10010"/>
                  </a:ext>
                </a:extLst>
              </a:tr>
              <a:tr h="411658">
                <a:tc vMerge="1">
                  <a:txBody>
                    <a:bodyPr/>
                    <a:lstStyle/>
                    <a:p>
                      <a:pPr algn="just"/>
                      <a:endParaRPr lang="zh-CN" altLang="en-US" dirty="0">
                        <a:latin typeface="Arial" pitchFamily="34" charset="0"/>
                        <a:cs typeface="Arial" pitchFamily="34" charset="0"/>
                      </a:endParaRPr>
                    </a:p>
                  </a:txBody>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BBB-</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Baa3</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2" marR="72002" marT="36013" marB="360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vMerge="1">
                  <a:txBody>
                    <a:bodyPr/>
                    <a:lstStyle/>
                    <a:p>
                      <a:pPr algn="just"/>
                      <a:endParaRPr lang="zh-CN" altLang="en-US" dirty="0">
                        <a:latin typeface="Arial" pitchFamily="34" charset="0"/>
                        <a:cs typeface="Arial" pitchFamily="34" charset="0"/>
                      </a:endParaRP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20906914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External and Internal Ratings</a:t>
            </a:r>
            <a:endParaRPr lang="zh-CN" altLang="en-US" sz="2800" dirty="0"/>
          </a:p>
        </p:txBody>
      </p:sp>
      <p:graphicFrame>
        <p:nvGraphicFramePr>
          <p:cNvPr id="4" name="表格 3">
            <a:extLst>
              <a:ext uri="{FF2B5EF4-FFF2-40B4-BE49-F238E27FC236}">
                <a16:creationId xmlns:a16="http://schemas.microsoft.com/office/drawing/2014/main" id="{90D592D6-E3F1-4C0A-BFC2-27F311811508}"/>
              </a:ext>
            </a:extLst>
          </p:cNvPr>
          <p:cNvGraphicFramePr>
            <a:graphicFrameLocks noGrp="1"/>
          </p:cNvGraphicFramePr>
          <p:nvPr>
            <p:extLst>
              <p:ext uri="{D42A27DB-BD31-4B8C-83A1-F6EECF244321}">
                <p14:modId xmlns:p14="http://schemas.microsoft.com/office/powerpoint/2010/main" val="3473656573"/>
              </p:ext>
            </p:extLst>
          </p:nvPr>
        </p:nvGraphicFramePr>
        <p:xfrm>
          <a:off x="1058532" y="1158098"/>
          <a:ext cx="10074936" cy="4541803"/>
        </p:xfrm>
        <a:graphic>
          <a:graphicData uri="http://schemas.openxmlformats.org/drawingml/2006/table">
            <a:tbl>
              <a:tblPr firstRow="1" bandRow="1">
                <a:tableStyleId>{5C22544A-7EE6-4342-B048-85BDC9FD1C3A}</a:tableStyleId>
              </a:tblPr>
              <a:tblGrid>
                <a:gridCol w="3825925">
                  <a:extLst>
                    <a:ext uri="{9D8B030D-6E8A-4147-A177-3AD203B41FA5}">
                      <a16:colId xmlns:a16="http://schemas.microsoft.com/office/drawing/2014/main" val="20000"/>
                    </a:ext>
                  </a:extLst>
                </a:gridCol>
                <a:gridCol w="935227">
                  <a:extLst>
                    <a:ext uri="{9D8B030D-6E8A-4147-A177-3AD203B41FA5}">
                      <a16:colId xmlns:a16="http://schemas.microsoft.com/office/drawing/2014/main" val="20001"/>
                    </a:ext>
                  </a:extLst>
                </a:gridCol>
                <a:gridCol w="1062756">
                  <a:extLst>
                    <a:ext uri="{9D8B030D-6E8A-4147-A177-3AD203B41FA5}">
                      <a16:colId xmlns:a16="http://schemas.microsoft.com/office/drawing/2014/main" val="20002"/>
                    </a:ext>
                  </a:extLst>
                </a:gridCol>
                <a:gridCol w="4251028">
                  <a:extLst>
                    <a:ext uri="{9D8B030D-6E8A-4147-A177-3AD203B41FA5}">
                      <a16:colId xmlns:a16="http://schemas.microsoft.com/office/drawing/2014/main" val="20003"/>
                    </a:ext>
                  </a:extLst>
                </a:gridCol>
              </a:tblGrid>
              <a:tr h="295471">
                <a:tc gridSpan="4">
                  <a:txBody>
                    <a:bodyPr/>
                    <a:lstStyle/>
                    <a:p>
                      <a:pPr algn="ctr">
                        <a:lnSpc>
                          <a:spcPct val="100000"/>
                        </a:lnSpc>
                      </a:pPr>
                      <a:r>
                        <a:rPr lang="en-US" altLang="zh-CN" sz="1600" b="1" dirty="0">
                          <a:solidFill>
                            <a:schemeClr val="bg1"/>
                          </a:solidFill>
                          <a:latin typeface="Segoe UI" panose="020B0502040204020203" pitchFamily="34" charset="0"/>
                          <a:ea typeface="Segoe UI" panose="020B0502040204020203" pitchFamily="34" charset="0"/>
                          <a:cs typeface="Segoe UI" panose="020B0502040204020203" pitchFamily="34" charset="0"/>
                        </a:rPr>
                        <a:t>Speculative Grade Ratings</a:t>
                      </a: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tc hMerge="1">
                  <a:txBody>
                    <a:bodyPr/>
                    <a:lstStyle/>
                    <a:p>
                      <a:pPr algn="ctr">
                        <a:lnSpc>
                          <a:spcPct val="100000"/>
                        </a:lnSpc>
                      </a:pPr>
                      <a:endParaRPr lang="zh-CN" altLang="en-US" sz="1600" b="1" dirty="0">
                        <a:latin typeface="Arial" panose="020B0604020202020204" pitchFamily="34" charset="0"/>
                        <a:ea typeface="微软雅黑" pitchFamily="34" charset="-122"/>
                        <a:cs typeface="Arial" panose="020B0604020202020204" pitchFamily="34" charset="0"/>
                      </a:endParaRPr>
                    </a:p>
                  </a:txBody>
                  <a:tcPr marL="36000" marR="36000" marT="36000" marB="36000" anchor="ctr">
                    <a:solidFill>
                      <a:srgbClr val="F7EAE9"/>
                    </a:solidFill>
                  </a:tcPr>
                </a:tc>
                <a:tc hMerge="1">
                  <a:txBody>
                    <a:bodyPr/>
                    <a:lstStyle/>
                    <a:p>
                      <a:pPr algn="ctr">
                        <a:lnSpc>
                          <a:spcPct val="100000"/>
                        </a:lnSpc>
                      </a:pPr>
                      <a:endParaRPr lang="zh-CN" altLang="en-US" sz="1600" b="1" dirty="0">
                        <a:latin typeface="Arial" panose="020B0604020202020204" pitchFamily="34" charset="0"/>
                        <a:ea typeface="微软雅黑" pitchFamily="34" charset="-122"/>
                        <a:cs typeface="Arial" panose="020B0604020202020204" pitchFamily="34" charset="0"/>
                      </a:endParaRPr>
                    </a:p>
                  </a:txBody>
                  <a:tcPr marL="36000" marR="36000" marT="36000" marB="36000" anchor="ctr">
                    <a:solidFill>
                      <a:srgbClr val="F7EAE9"/>
                    </a:solidFill>
                  </a:tcPr>
                </a:tc>
                <a:tc hMerge="1">
                  <a:txBody>
                    <a:bodyPr/>
                    <a:lstStyle/>
                    <a:p>
                      <a:pPr algn="l">
                        <a:lnSpc>
                          <a:spcPct val="100000"/>
                        </a:lnSpc>
                      </a:pPr>
                      <a:endParaRPr lang="zh-CN" altLang="en-US" sz="1600" b="1" dirty="0">
                        <a:latin typeface="Arial" panose="020B0604020202020204" pitchFamily="34" charset="0"/>
                        <a:ea typeface="微软雅黑" pitchFamily="34" charset="-122"/>
                        <a:cs typeface="Arial" panose="020B0604020202020204" pitchFamily="34" charset="0"/>
                      </a:endParaRPr>
                    </a:p>
                  </a:txBody>
                  <a:tcPr marL="36000" marR="36000" marT="36000" marB="36000" anchor="ctr">
                    <a:solidFill>
                      <a:srgbClr val="F7EAE9"/>
                    </a:solidFill>
                  </a:tcPr>
                </a:tc>
                <a:extLst>
                  <a:ext uri="{0D108BD9-81ED-4DB2-BD59-A6C34878D82A}">
                    <a16:rowId xmlns:a16="http://schemas.microsoft.com/office/drawing/2014/main" val="10000"/>
                  </a:ext>
                </a:extLst>
              </a:tr>
              <a:tr h="295471">
                <a:tc>
                  <a:txBody>
                    <a:bodyPr/>
                    <a:lstStyle/>
                    <a:p>
                      <a:pPr algn="ctr">
                        <a:lnSpc>
                          <a:spcPct val="100000"/>
                        </a:lnSpc>
                      </a:pPr>
                      <a:r>
                        <a:rPr lang="en-US" altLang="zh-CN" sz="1600" b="1" dirty="0">
                          <a:solidFill>
                            <a:srgbClr val="2C3E50"/>
                          </a:solidFill>
                          <a:latin typeface="Segoe UI" panose="020B0502040204020203" pitchFamily="34" charset="0"/>
                          <a:ea typeface="Segoe UI" panose="020B0502040204020203" pitchFamily="34" charset="0"/>
                          <a:cs typeface="Segoe UI" panose="020B0502040204020203" pitchFamily="34" charset="0"/>
                        </a:rPr>
                        <a:t>Interpretation</a:t>
                      </a:r>
                      <a:endParaRPr lang="zh-CN" altLang="en-US" sz="1600" b="1"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b="1" dirty="0">
                          <a:solidFill>
                            <a:srgbClr val="2C3E50"/>
                          </a:solidFill>
                          <a:latin typeface="Segoe UI" panose="020B0502040204020203" pitchFamily="34" charset="0"/>
                          <a:ea typeface="Segoe UI" panose="020B0502040204020203" pitchFamily="34" charset="0"/>
                          <a:cs typeface="Segoe UI" panose="020B0502040204020203" pitchFamily="34" charset="0"/>
                        </a:rPr>
                        <a:t>S&amp;P</a:t>
                      </a:r>
                      <a:endParaRPr lang="zh-CN" altLang="en-US" sz="1600" b="1"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b="1" dirty="0">
                          <a:solidFill>
                            <a:srgbClr val="2C3E50"/>
                          </a:solidFill>
                          <a:latin typeface="Segoe UI" panose="020B0502040204020203" pitchFamily="34" charset="0"/>
                          <a:ea typeface="Segoe UI" panose="020B0502040204020203" pitchFamily="34" charset="0"/>
                          <a:cs typeface="Segoe UI" panose="020B0502040204020203" pitchFamily="34" charset="0"/>
                        </a:rPr>
                        <a:t>Moody</a:t>
                      </a:r>
                      <a:endParaRPr lang="zh-CN" altLang="en-US" sz="1600" b="1"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b="1" dirty="0">
                          <a:solidFill>
                            <a:srgbClr val="2C3E50"/>
                          </a:solidFill>
                          <a:latin typeface="Segoe UI" panose="020B0502040204020203" pitchFamily="34" charset="0"/>
                          <a:ea typeface="Segoe UI" panose="020B0502040204020203" pitchFamily="34" charset="0"/>
                          <a:cs typeface="Segoe UI" panose="020B0502040204020203" pitchFamily="34" charset="0"/>
                        </a:rPr>
                        <a:t>Interpretation</a:t>
                      </a:r>
                      <a:endParaRPr lang="zh-CN" altLang="en-US" sz="1600" b="1"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95471">
                <a:tc rowSpan="3">
                  <a:txBody>
                    <a:bodyPr/>
                    <a:lstStyle/>
                    <a:p>
                      <a:pPr algn="l">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Less vulnerable</a:t>
                      </a:r>
                      <a:r>
                        <a:rPr lang="en-US" altLang="zh-CN" sz="1600"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to non-payment than other speculative issues but faces major ongoing uncertainties.</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BB+</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Ba1</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Judged to have speculative</a:t>
                      </a:r>
                      <a:r>
                        <a:rPr lang="en-US" altLang="zh-CN" sz="1600"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elements and are subject to substantial credit risk.</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95471">
                <a:tc vMerge="1">
                  <a:txBody>
                    <a:bodyPr/>
                    <a:lstStyle/>
                    <a:p>
                      <a:pPr algn="just"/>
                      <a:endParaRPr lang="zh-CN" altLang="en-US" dirty="0">
                        <a:latin typeface="Arial" pitchFamily="34" charset="0"/>
                        <a:cs typeface="Arial" pitchFamily="34" charset="0"/>
                      </a:endParaRPr>
                    </a:p>
                  </a:txBody>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BB</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Ba2</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extLst>
                  <a:ext uri="{0D108BD9-81ED-4DB2-BD59-A6C34878D82A}">
                    <a16:rowId xmlns:a16="http://schemas.microsoft.com/office/drawing/2014/main" val="10003"/>
                  </a:ext>
                </a:extLst>
              </a:tr>
              <a:tr h="295471">
                <a:tc vMerge="1">
                  <a:txBody>
                    <a:bodyPr/>
                    <a:lstStyle/>
                    <a:p>
                      <a:pPr algn="just"/>
                      <a:endParaRPr lang="zh-CN" altLang="en-US" dirty="0">
                        <a:latin typeface="Arial" pitchFamily="34" charset="0"/>
                        <a:cs typeface="Arial" pitchFamily="34" charset="0"/>
                      </a:endParaRPr>
                    </a:p>
                  </a:txBody>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BB-</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Ba3</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extLst>
                  <a:ext uri="{0D108BD9-81ED-4DB2-BD59-A6C34878D82A}">
                    <a16:rowId xmlns:a16="http://schemas.microsoft.com/office/drawing/2014/main" val="10004"/>
                  </a:ext>
                </a:extLst>
              </a:tr>
              <a:tr h="295471">
                <a:tc rowSpan="3">
                  <a:txBody>
                    <a:bodyPr/>
                    <a:lstStyle/>
                    <a:p>
                      <a:pPr algn="l">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More vulnerable</a:t>
                      </a:r>
                      <a:r>
                        <a:rPr lang="en-US" altLang="zh-CN" sz="1600"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to non-payment than “BB” but has current capacity to meet financial obligation.</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B1</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Considered speculative and are subject to high credit risk.</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95471">
                <a:tc vMerge="1">
                  <a:txBody>
                    <a:bodyPr/>
                    <a:lstStyle/>
                    <a:p>
                      <a:pPr algn="just"/>
                      <a:endParaRPr lang="zh-CN" altLang="en-US" dirty="0">
                        <a:latin typeface="Arial" pitchFamily="34" charset="0"/>
                        <a:cs typeface="Arial" pitchFamily="34" charset="0"/>
                      </a:endParaRPr>
                    </a:p>
                  </a:txBody>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B2</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extLst>
                  <a:ext uri="{0D108BD9-81ED-4DB2-BD59-A6C34878D82A}">
                    <a16:rowId xmlns:a16="http://schemas.microsoft.com/office/drawing/2014/main" val="10006"/>
                  </a:ext>
                </a:extLst>
              </a:tr>
              <a:tr h="295471">
                <a:tc vMerge="1">
                  <a:txBody>
                    <a:bodyPr/>
                    <a:lstStyle/>
                    <a:p>
                      <a:pPr algn="just"/>
                      <a:endParaRPr lang="zh-CN" altLang="en-US" dirty="0">
                        <a:latin typeface="Arial" pitchFamily="34" charset="0"/>
                        <a:cs typeface="Arial" pitchFamily="34" charset="0"/>
                      </a:endParaRPr>
                    </a:p>
                  </a:txBody>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B3</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extLst>
                  <a:ext uri="{0D108BD9-81ED-4DB2-BD59-A6C34878D82A}">
                    <a16:rowId xmlns:a16="http://schemas.microsoft.com/office/drawing/2014/main" val="10007"/>
                  </a:ext>
                </a:extLst>
              </a:tr>
              <a:tr h="295471">
                <a:tc rowSpan="3">
                  <a:txBody>
                    <a:bodyPr/>
                    <a:lstStyle/>
                    <a:p>
                      <a:pPr algn="l">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Vulnerable to non-payment.</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CCC+</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Caa1</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In poor standing.</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95471">
                <a:tc vMerge="1">
                  <a:txBody>
                    <a:bodyPr/>
                    <a:lstStyle/>
                    <a:p>
                      <a:pPr algn="just"/>
                      <a:endParaRPr lang="zh-CN" altLang="en-US" dirty="0">
                        <a:latin typeface="Arial" pitchFamily="34" charset="0"/>
                        <a:cs typeface="Arial" pitchFamily="34" charset="0"/>
                      </a:endParaRPr>
                    </a:p>
                  </a:txBody>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CCC</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Caa2</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extLst>
                  <a:ext uri="{0D108BD9-81ED-4DB2-BD59-A6C34878D82A}">
                    <a16:rowId xmlns:a16="http://schemas.microsoft.com/office/drawing/2014/main" val="10009"/>
                  </a:ext>
                </a:extLst>
              </a:tr>
              <a:tr h="295471">
                <a:tc vMerge="1">
                  <a:txBody>
                    <a:bodyPr/>
                    <a:lstStyle/>
                    <a:p>
                      <a:pPr algn="just"/>
                      <a:endParaRPr lang="zh-CN" altLang="en-US" dirty="0">
                        <a:latin typeface="Arial" pitchFamily="34" charset="0"/>
                        <a:cs typeface="Arial" pitchFamily="34" charset="0"/>
                      </a:endParaRPr>
                    </a:p>
                  </a:txBody>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CCC-</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Caa3</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extLst>
                  <a:ext uri="{0D108BD9-81ED-4DB2-BD59-A6C34878D82A}">
                    <a16:rowId xmlns:a16="http://schemas.microsoft.com/office/drawing/2014/main" val="10010"/>
                  </a:ext>
                </a:extLst>
              </a:tr>
              <a:tr h="295471">
                <a:tc>
                  <a:txBody>
                    <a:bodyPr/>
                    <a:lstStyle/>
                    <a:p>
                      <a:pPr algn="l">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Highly vulnerable to non-payment.</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CC/C</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Ca</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Highly speculative, likely to default.</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751699">
                <a:tc>
                  <a:txBody>
                    <a:bodyPr/>
                    <a:lstStyle/>
                    <a:p>
                      <a:pPr algn="l">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In payment default.</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D</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C</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pPr>
                      <a:r>
                        <a:rPr lang="en-US" altLang="zh-CN" sz="1600" dirty="0">
                          <a:solidFill>
                            <a:srgbClr val="2C3E50"/>
                          </a:solidFill>
                          <a:latin typeface="Segoe UI" panose="020B0502040204020203" pitchFamily="34" charset="0"/>
                          <a:ea typeface="Segoe UI" panose="020B0502040204020203" pitchFamily="34" charset="0"/>
                          <a:cs typeface="Segoe UI" panose="020B0502040204020203" pitchFamily="34" charset="0"/>
                        </a:rPr>
                        <a:t>Lowest rated bonds</a:t>
                      </a:r>
                      <a:r>
                        <a:rPr lang="en-US" altLang="zh-CN" sz="1600" baseline="0" dirty="0">
                          <a:solidFill>
                            <a:srgbClr val="2C3E50"/>
                          </a:solidFill>
                          <a:latin typeface="Segoe UI" panose="020B0502040204020203" pitchFamily="34" charset="0"/>
                          <a:ea typeface="Segoe UI" panose="020B0502040204020203" pitchFamily="34" charset="0"/>
                          <a:cs typeface="Segoe UI" panose="020B0502040204020203" pitchFamily="34" charset="0"/>
                        </a:rPr>
                        <a:t> – typically in default, with little prospect for recovery.</a:t>
                      </a:r>
                      <a:endParaRPr lang="zh-CN" altLang="en-US" sz="1600" dirty="0">
                        <a:solidFill>
                          <a:srgbClr val="2C3E50"/>
                        </a:solidFill>
                        <a:latin typeface="Segoe UI" panose="020B0502040204020203" pitchFamily="34" charset="0"/>
                        <a:ea typeface="微软雅黑" pitchFamily="34" charset="-122"/>
                        <a:cs typeface="Segoe UI" panose="020B0502040204020203" pitchFamily="34" charset="0"/>
                      </a:endParaRPr>
                    </a:p>
                  </a:txBody>
                  <a:tcPr marL="72007" marR="72007"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bl>
          </a:graphicData>
        </a:graphic>
      </p:graphicFrame>
      <p:sp>
        <p:nvSpPr>
          <p:cNvPr id="5" name="矩形 4">
            <a:extLst>
              <a:ext uri="{FF2B5EF4-FFF2-40B4-BE49-F238E27FC236}">
                <a16:creationId xmlns:a16="http://schemas.microsoft.com/office/drawing/2014/main" id="{67382A60-23F5-40D5-A455-4448C0721911}"/>
              </a:ext>
            </a:extLst>
          </p:cNvPr>
          <p:cNvSpPr/>
          <p:nvPr/>
        </p:nvSpPr>
        <p:spPr>
          <a:xfrm>
            <a:off x="1058532" y="5699901"/>
            <a:ext cx="10074936" cy="923330"/>
          </a:xfrm>
          <a:prstGeom prst="rect">
            <a:avLst/>
          </a:prstGeom>
        </p:spPr>
        <p:txBody>
          <a:bodyPr wrap="square">
            <a:spAutoFit/>
          </a:bodyPr>
          <a:lstStyle/>
          <a:p>
            <a:pPr algn="just">
              <a:defRPr/>
            </a:pPr>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Note: </a:t>
            </a:r>
            <a:r>
              <a:rPr lang="en-US" altLang="zh-CN" u="sng" dirty="0">
                <a:solidFill>
                  <a:srgbClr val="2C3E50"/>
                </a:solidFill>
                <a:latin typeface="Segoe UI" panose="020B0502040204020203" pitchFamily="34" charset="0"/>
                <a:ea typeface="Segoe UI" panose="020B0502040204020203" pitchFamily="34" charset="0"/>
                <a:cs typeface="Segoe UI" panose="020B0502040204020203" pitchFamily="34" charset="0"/>
              </a:rPr>
              <a:t>Moody’s adds numerical modifiers (1, 2, and 3) to each generic rating classification from Aa through </a:t>
            </a:r>
            <a:r>
              <a:rPr lang="en-US" altLang="zh-CN" u="sng" dirty="0" err="1">
                <a:solidFill>
                  <a:srgbClr val="2C3E50"/>
                </a:solidFill>
                <a:latin typeface="Segoe UI" panose="020B0502040204020203" pitchFamily="34" charset="0"/>
                <a:ea typeface="Segoe UI" panose="020B0502040204020203" pitchFamily="34" charset="0"/>
                <a:cs typeface="Segoe UI" panose="020B0502040204020203" pitchFamily="34" charset="0"/>
              </a:rPr>
              <a:t>Caa</a:t>
            </a:r>
            <a:r>
              <a:rPr lang="en-US" altLang="zh-CN" u="sng" dirty="0">
                <a:solidFill>
                  <a:srgbClr val="2C3E50"/>
                </a:solidFill>
                <a:latin typeface="Segoe UI" panose="020B0502040204020203" pitchFamily="34" charset="0"/>
                <a:ea typeface="Segoe UI" panose="020B0502040204020203" pitchFamily="34" charset="0"/>
                <a:cs typeface="Segoe UI" panose="020B0502040204020203" pitchFamily="34" charset="0"/>
              </a:rPr>
              <a:t>, where ‘1’ indicates an obligation that ranks at the higher end of category and ‘3’ indicates the lower end of the category.</a:t>
            </a:r>
            <a:endParaRPr lang="zh-CN" altLang="en-US" u="sng" dirty="0">
              <a:solidFill>
                <a:srgbClr val="2C3E5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2786878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External and Internal Ratings</a:t>
            </a:r>
            <a:endParaRPr lang="zh-CN" altLang="en-US" sz="2800" dirty="0"/>
          </a:p>
        </p:txBody>
      </p:sp>
      <p:sp>
        <p:nvSpPr>
          <p:cNvPr id="3" name="文本占位符 2"/>
          <p:cNvSpPr>
            <a:spLocks noGrp="1"/>
          </p:cNvSpPr>
          <p:nvPr>
            <p:ph type="body" sz="quarter" idx="10"/>
          </p:nvPr>
        </p:nvSpPr>
        <p:spPr/>
        <p:txBody>
          <a:bodyPr>
            <a:normAutofit fontScale="92500"/>
          </a:bodyPr>
          <a:lstStyle/>
          <a:p>
            <a:pPr>
              <a:lnSpc>
                <a:spcPct val="180000"/>
              </a:lnSpc>
            </a:pPr>
            <a:r>
              <a:rPr lang="en-US" altLang="zh-CN" dirty="0"/>
              <a:t>Rating Process</a:t>
            </a:r>
          </a:p>
          <a:p>
            <a:pPr lvl="1">
              <a:lnSpc>
                <a:spcPct val="180000"/>
              </a:lnSpc>
            </a:pPr>
            <a:r>
              <a:rPr lang="en-US" altLang="zh-CN" u="sng" dirty="0"/>
              <a:t>Analyze from bondholders’ perspectives.</a:t>
            </a:r>
            <a:r>
              <a:rPr lang="en-US" altLang="zh-CN" dirty="0"/>
              <a:t> Rating agencies have a </a:t>
            </a:r>
            <a:r>
              <a:rPr lang="en-US" altLang="zh-CN" u="sng" dirty="0"/>
              <a:t>longer time</a:t>
            </a:r>
            <a:r>
              <a:rPr lang="en-US" altLang="zh-CN" dirty="0"/>
              <a:t> horizon.</a:t>
            </a:r>
          </a:p>
          <a:p>
            <a:pPr lvl="1">
              <a:lnSpc>
                <a:spcPct val="180000"/>
              </a:lnSpc>
            </a:pPr>
            <a:r>
              <a:rPr lang="en-US" altLang="zh-CN" dirty="0"/>
              <a:t>The rating process is divided into a </a:t>
            </a:r>
            <a:r>
              <a:rPr lang="en-US" altLang="zh-CN" u="sng" dirty="0"/>
              <a:t>business review (i.e., qualitative component) and a quantitative analysis</a:t>
            </a:r>
            <a:r>
              <a:rPr lang="en-US" altLang="zh-CN" dirty="0"/>
              <a:t>. Recently, the “outlook concept” has emerged. The outlook concept refers to a positive or negative trend.</a:t>
            </a:r>
          </a:p>
          <a:p>
            <a:pPr lvl="1">
              <a:lnSpc>
                <a:spcPct val="180000"/>
              </a:lnSpc>
            </a:pPr>
            <a:r>
              <a:rPr lang="en-US" altLang="zh-CN" u="sng" dirty="0"/>
              <a:t>Corporate issuers typically pay rating agencies.</a:t>
            </a:r>
            <a:r>
              <a:rPr lang="en-US" altLang="zh-CN" dirty="0"/>
              <a:t> Many believe this is a conflict.</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210749353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External and Internal Ratings</a:t>
            </a:r>
            <a:endParaRPr lang="zh-CN" altLang="en-US" sz="2800" dirty="0"/>
          </a:p>
        </p:txBody>
      </p:sp>
      <p:sp>
        <p:nvSpPr>
          <p:cNvPr id="3" name="文本占位符 2"/>
          <p:cNvSpPr>
            <a:spLocks noGrp="1"/>
          </p:cNvSpPr>
          <p:nvPr>
            <p:ph type="body" sz="quarter" idx="10"/>
          </p:nvPr>
        </p:nvSpPr>
        <p:spPr/>
        <p:txBody>
          <a:bodyPr>
            <a:normAutofit fontScale="92500" lnSpcReduction="20000"/>
          </a:bodyPr>
          <a:lstStyle/>
          <a:p>
            <a:r>
              <a:rPr lang="en-US" altLang="zh-CN" dirty="0"/>
              <a:t>Link between Ratings and Default</a:t>
            </a:r>
          </a:p>
          <a:p>
            <a:pPr lvl="1"/>
            <a:r>
              <a:rPr lang="en-US" altLang="zh-CN" dirty="0"/>
              <a:t>Agencies publish </a:t>
            </a:r>
            <a:r>
              <a:rPr lang="en-US" altLang="zh-CN" u="sng" dirty="0"/>
              <a:t>cumulative default rates</a:t>
            </a:r>
            <a:r>
              <a:rPr lang="en-US" altLang="zh-CN" dirty="0"/>
              <a:t> categorized by rating (i.e., the cumulative default rate per rating category) and </a:t>
            </a:r>
            <a:r>
              <a:rPr lang="en-US" altLang="zh-CN" u="sng" dirty="0"/>
              <a:t>transition matrices</a:t>
            </a:r>
            <a:r>
              <a:rPr lang="en-US" altLang="zh-CN" dirty="0"/>
              <a:t>. </a:t>
            </a:r>
            <a:r>
              <a:rPr lang="en-US" altLang="zh-CN" u="sng" dirty="0"/>
              <a:t>Transition matrices plot the frequency of rating migrations over time</a:t>
            </a:r>
            <a:r>
              <a:rPr lang="en-US" altLang="zh-CN" dirty="0"/>
              <a:t>; e.g., how many time did obligors rate “AA” migrate to “A”?</a:t>
            </a:r>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2"/>
            <a:r>
              <a:rPr lang="en-US" altLang="zh-CN" dirty="0"/>
              <a:t>Lower rated obligors tend to default more frequently.</a:t>
            </a:r>
          </a:p>
          <a:p>
            <a:pPr lvl="2"/>
            <a:r>
              <a:rPr lang="en-US" altLang="zh-CN" dirty="0"/>
              <a:t>Better (worse) ratings are associated with lower (higher) default rates.</a:t>
            </a:r>
            <a:endParaRPr lang="zh-CN" altLang="en-US" dirty="0"/>
          </a:p>
          <a:p>
            <a:endParaRPr lang="zh-CN" altLang="en-US" dirty="0">
              <a:latin typeface="+mn-lt"/>
              <a:ea typeface="+mn-ea"/>
              <a:cs typeface="+mn-ea"/>
              <a:sym typeface="+mn-lt"/>
            </a:endParaRPr>
          </a:p>
        </p:txBody>
      </p:sp>
      <p:pic>
        <p:nvPicPr>
          <p:cNvPr id="4" name="图片 3">
            <a:extLst>
              <a:ext uri="{FF2B5EF4-FFF2-40B4-BE49-F238E27FC236}">
                <a16:creationId xmlns:a16="http://schemas.microsoft.com/office/drawing/2014/main" id="{ABDCFAB3-65E0-44D4-8ED7-53C1CDD73FB4}"/>
              </a:ext>
            </a:extLst>
          </p:cNvPr>
          <p:cNvPicPr>
            <a:picLocks noChangeAspect="1"/>
          </p:cNvPicPr>
          <p:nvPr/>
        </p:nvPicPr>
        <p:blipFill>
          <a:blip r:embed="rId3"/>
          <a:stretch>
            <a:fillRect/>
          </a:stretch>
        </p:blipFill>
        <p:spPr>
          <a:xfrm>
            <a:off x="2328849" y="3119737"/>
            <a:ext cx="7534301" cy="2155647"/>
          </a:xfrm>
          <a:prstGeom prst="rect">
            <a:avLst/>
          </a:prstGeom>
        </p:spPr>
      </p:pic>
    </p:spTree>
    <p:extLst>
      <p:ext uri="{BB962C8B-B14F-4D97-AF65-F5344CB8AC3E}">
        <p14:creationId xmlns:p14="http://schemas.microsoft.com/office/powerpoint/2010/main" val="56768776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External and Internal Ratings</a:t>
            </a:r>
            <a:endParaRPr lang="zh-CN" altLang="en-US" sz="2800" dirty="0"/>
          </a:p>
        </p:txBody>
      </p:sp>
      <p:sp>
        <p:nvSpPr>
          <p:cNvPr id="3" name="文本占位符 2"/>
          <p:cNvSpPr>
            <a:spLocks noGrp="1"/>
          </p:cNvSpPr>
          <p:nvPr>
            <p:ph type="body" sz="quarter" idx="10"/>
          </p:nvPr>
        </p:nvSpPr>
        <p:spPr/>
        <p:txBody>
          <a:bodyPr>
            <a:normAutofit fontScale="92500" lnSpcReduction="20000"/>
          </a:bodyPr>
          <a:lstStyle/>
          <a:p>
            <a:r>
              <a:rPr lang="en-US" altLang="zh-CN" dirty="0"/>
              <a:t>Example</a:t>
            </a:r>
          </a:p>
          <a:p>
            <a:pPr lvl="1"/>
            <a:r>
              <a:rPr lang="en-US" altLang="zh-CN" dirty="0"/>
              <a:t>Given the following one-year transition matrix, what is the probability that a B rated firm will default over a two-year period?</a:t>
            </a:r>
          </a:p>
          <a:p>
            <a:endParaRPr lang="en-US" altLang="zh-CN" dirty="0"/>
          </a:p>
          <a:p>
            <a:endParaRPr lang="en-US" altLang="zh-CN" dirty="0"/>
          </a:p>
          <a:p>
            <a:endParaRPr lang="en-US" altLang="zh-CN" dirty="0"/>
          </a:p>
          <a:p>
            <a:endParaRPr lang="en-US" altLang="zh-CN" dirty="0"/>
          </a:p>
          <a:p>
            <a:endParaRPr lang="en-US" altLang="zh-CN" dirty="0"/>
          </a:p>
          <a:p>
            <a:pPr lvl="1"/>
            <a:r>
              <a:rPr lang="en-US" altLang="zh-CN" dirty="0"/>
              <a:t>B-D: 3%</a:t>
            </a:r>
          </a:p>
          <a:p>
            <a:pPr lvl="1"/>
            <a:r>
              <a:rPr lang="en-US" altLang="zh-CN" dirty="0"/>
              <a:t>B-A-D: 2%*0</a:t>
            </a:r>
          </a:p>
          <a:p>
            <a:pPr lvl="1"/>
            <a:r>
              <a:rPr lang="en-US" altLang="zh-CN" dirty="0"/>
              <a:t>B-B-D: 93%*3%</a:t>
            </a:r>
          </a:p>
          <a:p>
            <a:pPr lvl="1"/>
            <a:r>
              <a:rPr lang="en-US" altLang="zh-CN" dirty="0"/>
              <a:t>B-C-D: 2%*23%</a:t>
            </a:r>
          </a:p>
          <a:p>
            <a:endParaRPr lang="zh-CN" altLang="en-US" dirty="0">
              <a:latin typeface="+mn-lt"/>
              <a:ea typeface="+mn-ea"/>
              <a:cs typeface="+mn-ea"/>
              <a:sym typeface="+mn-lt"/>
            </a:endParaRPr>
          </a:p>
        </p:txBody>
      </p:sp>
      <p:pic>
        <p:nvPicPr>
          <p:cNvPr id="4" name="图片 3">
            <a:extLst>
              <a:ext uri="{FF2B5EF4-FFF2-40B4-BE49-F238E27FC236}">
                <a16:creationId xmlns:a16="http://schemas.microsoft.com/office/drawing/2014/main" id="{71384E5F-882F-4305-8245-FCB39C5CD1C2}"/>
              </a:ext>
            </a:extLst>
          </p:cNvPr>
          <p:cNvPicPr>
            <a:picLocks noChangeAspect="1"/>
          </p:cNvPicPr>
          <p:nvPr/>
        </p:nvPicPr>
        <p:blipFill>
          <a:blip r:embed="rId3"/>
          <a:stretch>
            <a:fillRect/>
          </a:stretch>
        </p:blipFill>
        <p:spPr>
          <a:xfrm>
            <a:off x="2462468" y="2155073"/>
            <a:ext cx="7267062" cy="2231329"/>
          </a:xfrm>
          <a:prstGeom prst="rect">
            <a:avLst/>
          </a:prstGeom>
        </p:spPr>
      </p:pic>
    </p:spTree>
    <p:extLst>
      <p:ext uri="{BB962C8B-B14F-4D97-AF65-F5344CB8AC3E}">
        <p14:creationId xmlns:p14="http://schemas.microsoft.com/office/powerpoint/2010/main" val="269401279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External and Internal Ratings</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Impact of Time Horizon, Economic Cycle, Industry, and Geography on External Ratings</a:t>
            </a:r>
          </a:p>
          <a:p>
            <a:pPr lvl="1"/>
            <a:r>
              <a:rPr lang="en-US" altLang="zh-CN" u="sng" dirty="0"/>
              <a:t>Use of through-the-cycle approach implies more stability but less (temporal) accuracy.</a:t>
            </a:r>
          </a:p>
          <a:p>
            <a:pPr lvl="1"/>
            <a:r>
              <a:rPr lang="en-US" altLang="zh-CN" u="sng" dirty="0"/>
              <a:t>Longer time horizons imply higher cumulative default probability, but even more so for speculative ratings.</a:t>
            </a:r>
          </a:p>
          <a:p>
            <a:pPr lvl="1"/>
            <a:r>
              <a:rPr lang="en-US" altLang="zh-CN" dirty="0"/>
              <a:t>During a </a:t>
            </a:r>
            <a:r>
              <a:rPr lang="en-US" altLang="zh-CN" u="sng" dirty="0"/>
              <a:t>recession</a:t>
            </a:r>
            <a:r>
              <a:rPr lang="en-US" altLang="zh-CN" dirty="0"/>
              <a:t>, probability of default increases and so does rating migration volatility.</a:t>
            </a:r>
          </a:p>
          <a:p>
            <a:pPr lvl="1"/>
            <a:r>
              <a:rPr lang="en-US" altLang="zh-CN" u="sng" dirty="0"/>
              <a:t>Financial firms</a:t>
            </a:r>
            <a:r>
              <a:rPr lang="en-US" altLang="zh-CN" dirty="0"/>
              <a:t> tend to exhibit less rating consensus (i.e., variability among agencies).</a:t>
            </a:r>
          </a:p>
          <a:p>
            <a:pPr lvl="1"/>
            <a:r>
              <a:rPr lang="en-US" altLang="zh-CN" u="sng" dirty="0"/>
              <a:t>Non-U.S. methods</a:t>
            </a:r>
            <a:r>
              <a:rPr lang="en-US" altLang="zh-CN" dirty="0"/>
              <a:t> may be biased due to lack of methodological seasoning.</a:t>
            </a:r>
            <a:endParaRPr lang="zh-CN" altLang="en-US" dirty="0"/>
          </a:p>
        </p:txBody>
      </p:sp>
    </p:spTree>
    <p:extLst>
      <p:ext uri="{BB962C8B-B14F-4D97-AF65-F5344CB8AC3E}">
        <p14:creationId xmlns:p14="http://schemas.microsoft.com/office/powerpoint/2010/main" val="3527121949"/>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External and Internal Ratings</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Ratings Change Impact Bond Prices</a:t>
            </a:r>
          </a:p>
          <a:p>
            <a:pPr lvl="1"/>
            <a:r>
              <a:rPr lang="en-US" altLang="zh-CN" u="sng" dirty="0"/>
              <a:t>Downgrades have a negative impact on bond prices; upgrades have a positive impact.</a:t>
            </a:r>
          </a:p>
          <a:p>
            <a:pPr lvl="1"/>
            <a:r>
              <a:rPr lang="en-US" altLang="zh-CN" dirty="0"/>
              <a:t>But the relationship is statistically </a:t>
            </a:r>
            <a:r>
              <a:rPr lang="en-US" altLang="zh-CN" u="sng" dirty="0"/>
              <a:t>stronger for upgrades</a:t>
            </a:r>
            <a:r>
              <a:rPr lang="en-US" altLang="zh-CN" dirty="0"/>
              <a:t> than downgrades.</a:t>
            </a:r>
          </a:p>
          <a:p>
            <a:r>
              <a:rPr lang="en-US" altLang="zh-CN" dirty="0"/>
              <a:t>External and Internal Ratings Approaches</a:t>
            </a:r>
          </a:p>
          <a:p>
            <a:pPr lvl="1"/>
            <a:r>
              <a:rPr lang="en-US" altLang="zh-CN" dirty="0"/>
              <a:t>External rating agency scales have become commonplace.</a:t>
            </a:r>
          </a:p>
          <a:p>
            <a:pPr lvl="1"/>
            <a:r>
              <a:rPr lang="en-US" altLang="zh-CN" dirty="0"/>
              <a:t>Internal Rating System: A bank can try to mimic the external agencies. Typically, a template assigns weights to credit risk factors (a scorecard) in order to produce a weighted score.</a:t>
            </a:r>
          </a:p>
          <a:p>
            <a:pPr lvl="1"/>
            <a:r>
              <a:rPr lang="en-US" altLang="zh-CN" b="1" dirty="0"/>
              <a:t>Pro-cyclicality</a:t>
            </a:r>
            <a:r>
              <a:rPr lang="en-US" altLang="zh-CN" dirty="0"/>
              <a:t>: tendency of internal ratings models to reinforce credit and business cycles.</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105806860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External and Internal Ratings</a:t>
            </a:r>
            <a:endParaRPr lang="zh-CN" altLang="en-US" sz="2800" dirty="0"/>
          </a:p>
        </p:txBody>
      </p:sp>
      <p:sp>
        <p:nvSpPr>
          <p:cNvPr id="3" name="文本占位符 2"/>
          <p:cNvSpPr>
            <a:spLocks noGrp="1"/>
          </p:cNvSpPr>
          <p:nvPr>
            <p:ph type="body" sz="quarter" idx="10"/>
          </p:nvPr>
        </p:nvSpPr>
        <p:spPr/>
        <p:txBody>
          <a:bodyPr>
            <a:normAutofit fontScale="92500" lnSpcReduction="20000"/>
          </a:bodyPr>
          <a:lstStyle/>
          <a:p>
            <a:r>
              <a:rPr lang="en-US" altLang="zh-CN" dirty="0"/>
              <a:t>Through-the-Cycle and At-the-Point Approach</a:t>
            </a:r>
          </a:p>
          <a:p>
            <a:pPr lvl="1"/>
            <a:r>
              <a:rPr lang="en-US" altLang="zh-CN" b="1" dirty="0"/>
              <a:t>At-the-Point-in-Time: </a:t>
            </a:r>
            <a:r>
              <a:rPr lang="en-US" altLang="zh-CN" u="sng" dirty="0"/>
              <a:t>assesses credit quality over the near term</a:t>
            </a:r>
            <a:r>
              <a:rPr lang="en-US" altLang="zh-CN" dirty="0"/>
              <a:t>; i.e., a few months or one year.</a:t>
            </a:r>
          </a:p>
          <a:p>
            <a:pPr lvl="1"/>
            <a:endParaRPr lang="en-US" altLang="zh-CN" dirty="0"/>
          </a:p>
          <a:p>
            <a:pPr lvl="1"/>
            <a:endParaRPr lang="en-US" altLang="zh-CN" dirty="0"/>
          </a:p>
          <a:p>
            <a:pPr lvl="1"/>
            <a:endParaRPr lang="en-US" altLang="zh-CN" dirty="0"/>
          </a:p>
          <a:p>
            <a:pPr lvl="1"/>
            <a:endParaRPr lang="en-US" altLang="zh-CN" dirty="0"/>
          </a:p>
          <a:p>
            <a:pPr lvl="1"/>
            <a:r>
              <a:rPr lang="en-US" altLang="zh-CN" b="1" dirty="0"/>
              <a:t>Through-the-Cycle:</a:t>
            </a:r>
            <a:r>
              <a:rPr lang="en-US" altLang="zh-CN" dirty="0"/>
              <a:t> rating agencies try to incorporate business cycles. Ratings are therefore typically considered “through-the-cycle”. Through-the-cycle ratings try to </a:t>
            </a:r>
            <a:r>
              <a:rPr lang="en-US" altLang="zh-CN" u="sng" dirty="0"/>
              <a:t>“filter out” cycle fluctuations</a:t>
            </a:r>
            <a:r>
              <a:rPr lang="en-US" altLang="zh-CN" dirty="0"/>
              <a:t>. </a:t>
            </a:r>
            <a:r>
              <a:rPr lang="en-US" altLang="zh-CN" u="sng" dirty="0"/>
              <a:t>Because they incorporate an average, when economic conditions vary from the average, through-the-cycle may over- and under-estimate credit quality.</a:t>
            </a:r>
          </a:p>
          <a:p>
            <a:endParaRPr lang="zh-CN" altLang="en-US" dirty="0">
              <a:latin typeface="+mn-lt"/>
              <a:ea typeface="+mn-ea"/>
              <a:cs typeface="+mn-ea"/>
              <a:sym typeface="+mn-lt"/>
            </a:endParaRPr>
          </a:p>
        </p:txBody>
      </p:sp>
      <p:grpSp>
        <p:nvGrpSpPr>
          <p:cNvPr id="4" name="组合 3">
            <a:extLst>
              <a:ext uri="{FF2B5EF4-FFF2-40B4-BE49-F238E27FC236}">
                <a16:creationId xmlns:a16="http://schemas.microsoft.com/office/drawing/2014/main" id="{545E37A7-57D0-4555-9129-56754BDC7D5D}"/>
              </a:ext>
            </a:extLst>
          </p:cNvPr>
          <p:cNvGrpSpPr/>
          <p:nvPr/>
        </p:nvGrpSpPr>
        <p:grpSpPr>
          <a:xfrm>
            <a:off x="2495959" y="2344227"/>
            <a:ext cx="7200080" cy="1440000"/>
            <a:chOff x="1187984" y="2191891"/>
            <a:chExt cx="7200080" cy="1440000"/>
          </a:xfrm>
        </p:grpSpPr>
        <p:pic>
          <p:nvPicPr>
            <p:cNvPr id="5" name="图片 1">
              <a:extLst>
                <a:ext uri="{FF2B5EF4-FFF2-40B4-BE49-F238E27FC236}">
                  <a16:creationId xmlns:a16="http://schemas.microsoft.com/office/drawing/2014/main" id="{C69B6DC9-E4A9-4860-AD96-AC213E20C5F2}"/>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1187984" y="2191891"/>
              <a:ext cx="324000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2">
              <a:extLst>
                <a:ext uri="{FF2B5EF4-FFF2-40B4-BE49-F238E27FC236}">
                  <a16:creationId xmlns:a16="http://schemas.microsoft.com/office/drawing/2014/main" id="{5AD6A7BA-F53D-4654-9ADB-3B0344CE16F6}"/>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5148064" y="2191891"/>
              <a:ext cx="324000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圆角矩形 5">
              <a:extLst>
                <a:ext uri="{FF2B5EF4-FFF2-40B4-BE49-F238E27FC236}">
                  <a16:creationId xmlns:a16="http://schemas.microsoft.com/office/drawing/2014/main" id="{764887E5-1590-42BB-BB89-4A0BBC1C8D01}"/>
                </a:ext>
              </a:extLst>
            </p:cNvPr>
            <p:cNvSpPr/>
            <p:nvPr/>
          </p:nvSpPr>
          <p:spPr>
            <a:xfrm>
              <a:off x="1187984" y="2191891"/>
              <a:ext cx="7200080" cy="1440000"/>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05516419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External and Internal Ratings</a:t>
            </a:r>
            <a:endParaRPr lang="zh-CN" altLang="en-US" sz="2800" dirty="0"/>
          </a:p>
        </p:txBody>
      </p:sp>
      <p:sp>
        <p:nvSpPr>
          <p:cNvPr id="3" name="文本占位符 2"/>
          <p:cNvSpPr>
            <a:spLocks noGrp="1"/>
          </p:cNvSpPr>
          <p:nvPr>
            <p:ph type="body" sz="quarter" idx="10"/>
          </p:nvPr>
        </p:nvSpPr>
        <p:spPr/>
        <p:txBody>
          <a:bodyPr>
            <a:normAutofit fontScale="92500" lnSpcReduction="20000"/>
          </a:bodyPr>
          <a:lstStyle/>
          <a:p>
            <a:r>
              <a:rPr lang="en-US" altLang="zh-CN" dirty="0"/>
              <a:t>Exercise 1</a:t>
            </a:r>
          </a:p>
          <a:p>
            <a:pPr>
              <a:buFont typeface="Wingdings" panose="05000000000000000000" pitchFamily="2" charset="2"/>
              <a:buChar char="l"/>
            </a:pPr>
            <a:r>
              <a:rPr lang="en-US" altLang="zh-CN" dirty="0">
                <a:solidFill>
                  <a:schemeClr val="tx1"/>
                </a:solidFill>
              </a:rPr>
              <a:t>Which of the following is not a true statement about internal credit ratings?</a:t>
            </a:r>
          </a:p>
          <a:p>
            <a:pPr marL="817200" lvl="1" indent="-457200">
              <a:buSzPct val="100000"/>
              <a:buFont typeface="+mj-lt"/>
              <a:buAutoNum type="alphaUcPeriod"/>
            </a:pPr>
            <a:r>
              <a:rPr lang="en-US" altLang="zh-CN" dirty="0"/>
              <a:t>The “at-the-point-in-time” approach makes heavy use of econometric modeling that relates current financial variables to estimated default risk.</a:t>
            </a:r>
          </a:p>
          <a:p>
            <a:pPr marL="817200" lvl="1" indent="-457200">
              <a:buSzPct val="100000"/>
              <a:buFont typeface="+mj-lt"/>
              <a:buAutoNum type="alphaUcPeriod"/>
            </a:pPr>
            <a:r>
              <a:rPr lang="en-US" altLang="zh-CN" dirty="0"/>
              <a:t>The “through-the-cycle” approach is forward-looking and attempts to incorporate future economic scenarios into current default risk estimates.</a:t>
            </a:r>
          </a:p>
          <a:p>
            <a:pPr marL="817200" lvl="1" indent="-457200">
              <a:buSzPct val="100000"/>
              <a:buFont typeface="+mj-lt"/>
              <a:buAutoNum type="alphaUcPeriod"/>
            </a:pPr>
            <a:r>
              <a:rPr lang="en-US" altLang="zh-CN" dirty="0"/>
              <a:t>“At-the-point-in-time” credit scores volatility is much higher than “through-the-cycle” score volatility.</a:t>
            </a:r>
          </a:p>
          <a:p>
            <a:pPr marL="817200" lvl="1" indent="-457200">
              <a:buSzPct val="100000"/>
              <a:buFont typeface="+mj-lt"/>
              <a:buAutoNum type="alphaUcPeriod"/>
            </a:pPr>
            <a:r>
              <a:rPr lang="en-US" altLang="zh-CN" dirty="0"/>
              <a:t>A sound internal system uses at-the-point-in-time scoring for small-to-medium-sized companies and private firms and through-the-cycle scoring for large firms.</a:t>
            </a:r>
          </a:p>
          <a:p>
            <a:pPr marL="417150" indent="-457200">
              <a:buSzPct val="100000"/>
              <a:buFont typeface="Wingdings" panose="05000000000000000000" pitchFamily="2" charset="2"/>
              <a:buChar char="l"/>
            </a:pPr>
            <a:r>
              <a:rPr lang="en-US" altLang="zh-CN" dirty="0">
                <a:solidFill>
                  <a:schemeClr val="tx1"/>
                </a:solidFill>
              </a:rPr>
              <a:t>Correct Answer : D</a:t>
            </a:r>
            <a:endParaRPr lang="en-US" altLang="zh-CN" u="sng" dirty="0">
              <a:solidFill>
                <a:schemeClr val="tx1"/>
              </a:solidFill>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378092385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External and Internal Ratings</a:t>
            </a:r>
            <a:endParaRPr lang="zh-CN" altLang="en-US" sz="2800" dirty="0"/>
          </a:p>
        </p:txBody>
      </p:sp>
      <p:sp>
        <p:nvSpPr>
          <p:cNvPr id="3" name="文本占位符 2"/>
          <p:cNvSpPr>
            <a:spLocks noGrp="1"/>
          </p:cNvSpPr>
          <p:nvPr>
            <p:ph type="body" sz="quarter" idx="10"/>
          </p:nvPr>
        </p:nvSpPr>
        <p:spPr/>
        <p:txBody>
          <a:bodyPr>
            <a:normAutofit fontScale="85000" lnSpcReduction="10000"/>
          </a:bodyPr>
          <a:lstStyle/>
          <a:p>
            <a:r>
              <a:rPr lang="en-US" altLang="zh-CN" dirty="0"/>
              <a:t>Exercise 2</a:t>
            </a:r>
            <a:endParaRPr lang="zh-CN" altLang="en-US" dirty="0"/>
          </a:p>
          <a:p>
            <a:pPr>
              <a:buFont typeface="Wingdings" panose="05000000000000000000" pitchFamily="2" charset="2"/>
              <a:buChar char="l"/>
            </a:pPr>
            <a:r>
              <a:rPr lang="en-US" altLang="zh-CN" dirty="0">
                <a:solidFill>
                  <a:schemeClr val="tx1"/>
                </a:solidFill>
              </a:rPr>
              <a:t>The following table from Fitch Ratings shows the number of rated issuers migrating between two ratings categories during one year.</a:t>
            </a:r>
          </a:p>
          <a:p>
            <a:endParaRPr lang="en-US" altLang="zh-CN" dirty="0">
              <a:solidFill>
                <a:schemeClr val="tx1"/>
              </a:solidFill>
            </a:endParaRPr>
          </a:p>
          <a:p>
            <a:endParaRPr lang="en-US" altLang="zh-CN" dirty="0">
              <a:solidFill>
                <a:schemeClr val="tx1"/>
              </a:solidFill>
            </a:endParaRPr>
          </a:p>
          <a:p>
            <a:endParaRPr lang="en-US" altLang="zh-CN" dirty="0">
              <a:solidFill>
                <a:schemeClr val="tx1"/>
              </a:solidFill>
            </a:endParaRPr>
          </a:p>
          <a:p>
            <a:endParaRPr lang="en-US" altLang="zh-CN" dirty="0">
              <a:solidFill>
                <a:schemeClr val="tx1"/>
              </a:solidFill>
            </a:endParaRPr>
          </a:p>
          <a:p>
            <a:endParaRPr lang="en-US" altLang="zh-CN" dirty="0">
              <a:solidFill>
                <a:schemeClr val="tx1"/>
              </a:solidFill>
            </a:endParaRPr>
          </a:p>
          <a:p>
            <a:endParaRPr lang="en-US" altLang="zh-CN" dirty="0">
              <a:solidFill>
                <a:schemeClr val="tx1"/>
              </a:solidFill>
            </a:endParaRPr>
          </a:p>
          <a:p>
            <a:pPr marL="400050" lvl="1" indent="0">
              <a:buNone/>
            </a:pPr>
            <a:r>
              <a:rPr lang="en-US" altLang="zh-CN" dirty="0"/>
              <a:t>Based on this information, what is the probability that an issue with a rating of A at the beginning will be downgraded by the end of the year? </a:t>
            </a:r>
          </a:p>
          <a:p>
            <a:pPr marL="874350" lvl="1" indent="-514350">
              <a:buSzPct val="100000"/>
              <a:buAutoNum type="alphaUcPeriod"/>
            </a:pPr>
            <a:r>
              <a:rPr lang="en-US" altLang="zh-CN" dirty="0"/>
              <a:t>13.46%       B.  13.44%      C.  9.62%      D.  3.85%</a:t>
            </a:r>
          </a:p>
          <a:p>
            <a:pPr marL="474300" indent="-514350">
              <a:buSzPct val="100000"/>
              <a:buFont typeface="Wingdings" panose="05000000000000000000" pitchFamily="2" charset="2"/>
              <a:buChar char="l"/>
            </a:pPr>
            <a:r>
              <a:rPr lang="en-US" altLang="zh-CN" dirty="0">
                <a:solidFill>
                  <a:schemeClr val="tx1"/>
                </a:solidFill>
              </a:rPr>
              <a:t>Correct Answer : C</a:t>
            </a:r>
            <a:endParaRPr lang="zh-CN" altLang="en-US" dirty="0">
              <a:solidFill>
                <a:schemeClr val="tx1"/>
              </a:solidFill>
              <a:latin typeface="+mn-lt"/>
              <a:ea typeface="+mn-ea"/>
              <a:cs typeface="+mn-ea"/>
              <a:sym typeface="+mn-lt"/>
            </a:endParaRPr>
          </a:p>
        </p:txBody>
      </p:sp>
      <p:pic>
        <p:nvPicPr>
          <p:cNvPr id="4" name="图片 3">
            <a:extLst>
              <a:ext uri="{FF2B5EF4-FFF2-40B4-BE49-F238E27FC236}">
                <a16:creationId xmlns:a16="http://schemas.microsoft.com/office/drawing/2014/main" id="{A4D12051-5D9F-4877-8622-7960DFEAC700}"/>
              </a:ext>
            </a:extLst>
          </p:cNvPr>
          <p:cNvPicPr>
            <a:picLocks noChangeAspect="1"/>
          </p:cNvPicPr>
          <p:nvPr/>
        </p:nvPicPr>
        <p:blipFill>
          <a:blip r:embed="rId3"/>
          <a:stretch>
            <a:fillRect/>
          </a:stretch>
        </p:blipFill>
        <p:spPr>
          <a:xfrm>
            <a:off x="3270259" y="2142632"/>
            <a:ext cx="5651482" cy="2572735"/>
          </a:xfrm>
          <a:prstGeom prst="rect">
            <a:avLst/>
          </a:prstGeom>
        </p:spPr>
      </p:pic>
    </p:spTree>
    <p:extLst>
      <p:ext uri="{BB962C8B-B14F-4D97-AF65-F5344CB8AC3E}">
        <p14:creationId xmlns:p14="http://schemas.microsoft.com/office/powerpoint/2010/main" val="2888544802"/>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Capital Structure in Banks</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Credit Risk</a:t>
            </a:r>
          </a:p>
          <a:p>
            <a:pPr lvl="1"/>
            <a:r>
              <a:rPr lang="en-US" altLang="zh-CN" dirty="0"/>
              <a:t>Credit risk is the risk that arises from any </a:t>
            </a:r>
            <a:r>
              <a:rPr lang="en-US" altLang="zh-CN" u="sng" dirty="0"/>
              <a:t>nonpayment or rescheduling of any promised payments</a:t>
            </a:r>
            <a:r>
              <a:rPr lang="en-US" altLang="zh-CN" dirty="0"/>
              <a:t> (i.e., default-related events) or from (unexpected) </a:t>
            </a:r>
            <a:r>
              <a:rPr lang="en-US" altLang="zh-CN" u="sng" dirty="0"/>
              <a:t>credit migrations</a:t>
            </a:r>
            <a:r>
              <a:rPr lang="en-US" altLang="zh-CN" dirty="0"/>
              <a:t> (i.e., events that are related to changes in the credit quality of a borrower) of a loan and that gives rise to an economic loss to the bank.</a:t>
            </a:r>
            <a:endParaRPr lang="en-US" altLang="zh-CN" b="1" dirty="0"/>
          </a:p>
          <a:p>
            <a:r>
              <a:rPr lang="en-US" altLang="zh-CN" dirty="0"/>
              <a:t>Steps to Derive Economic Capital for Credit Risk</a:t>
            </a:r>
          </a:p>
          <a:p>
            <a:pPr lvl="1"/>
            <a:r>
              <a:rPr lang="en-US" altLang="zh-CN" dirty="0"/>
              <a:t>Expected Losses (EL)</a:t>
            </a:r>
          </a:p>
          <a:p>
            <a:pPr lvl="1"/>
            <a:r>
              <a:rPr lang="en-US" altLang="zh-CN" dirty="0"/>
              <a:t>Unexpected Losses (UL-Standalone)</a:t>
            </a:r>
          </a:p>
          <a:p>
            <a:pPr lvl="1"/>
            <a:r>
              <a:rPr lang="en-US" altLang="zh-CN" dirty="0"/>
              <a:t>Unexpected Loss Contribution (ULC)</a:t>
            </a:r>
          </a:p>
          <a:p>
            <a:pPr lvl="1"/>
            <a:r>
              <a:rPr lang="en-US" altLang="zh-CN" dirty="0"/>
              <a:t>Economic Capital</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57107853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Capital Structure in Banks</a:t>
            </a:r>
            <a:endParaRPr lang="zh-CN" altLang="en-US" sz="2800" dirty="0"/>
          </a:p>
        </p:txBody>
      </p:sp>
      <p:sp>
        <p:nvSpPr>
          <p:cNvPr id="3" name="文本占位符 2"/>
          <p:cNvSpPr>
            <a:spLocks noGrp="1"/>
          </p:cNvSpPr>
          <p:nvPr>
            <p:ph type="body" sz="quarter" idx="10"/>
          </p:nvPr>
        </p:nvSpPr>
        <p:spPr/>
        <p:txBody>
          <a:bodyPr>
            <a:normAutofit fontScale="92500" lnSpcReduction="10000"/>
          </a:bodyPr>
          <a:lstStyle/>
          <a:p>
            <a:pPr>
              <a:lnSpc>
                <a:spcPct val="140000"/>
              </a:lnSpc>
            </a:pPr>
            <a:r>
              <a:rPr lang="en-US" altLang="zh-CN" dirty="0"/>
              <a:t>Expected Losses</a:t>
            </a:r>
          </a:p>
          <a:p>
            <a:pPr lvl="1">
              <a:lnSpc>
                <a:spcPct val="140000"/>
              </a:lnSpc>
            </a:pPr>
            <a:r>
              <a:rPr lang="en-US" altLang="zh-CN" dirty="0"/>
              <a:t>A bank can </a:t>
            </a:r>
            <a:r>
              <a:rPr lang="en-US" altLang="zh-CN" u="sng" dirty="0"/>
              <a:t>expect to lose, on average, a certain amount of money over a predetermined period of time</a:t>
            </a:r>
            <a:r>
              <a:rPr lang="en-US" altLang="zh-CN" dirty="0"/>
              <a:t> when extending credits to its customers.</a:t>
            </a:r>
          </a:p>
          <a:p>
            <a:pPr lvl="1">
              <a:lnSpc>
                <a:spcPct val="140000"/>
              </a:lnSpc>
            </a:pPr>
            <a:r>
              <a:rPr lang="en-US" altLang="zh-CN" dirty="0"/>
              <a:t>A prudent bank should </a:t>
            </a:r>
            <a:r>
              <a:rPr lang="en-US" altLang="zh-CN" u="sng" dirty="0"/>
              <a:t>set aside a certain amount of money (often called loan loss reserves) to cover these losses</a:t>
            </a:r>
            <a:r>
              <a:rPr lang="en-US" altLang="zh-CN" dirty="0"/>
              <a:t> that occur during the normal course of their credit business.</a:t>
            </a:r>
          </a:p>
          <a:p>
            <a:pPr>
              <a:lnSpc>
                <a:spcPct val="140000"/>
              </a:lnSpc>
            </a:pPr>
            <a:r>
              <a:rPr lang="en-US" altLang="zh-CN" dirty="0"/>
              <a:t>Three Components</a:t>
            </a:r>
          </a:p>
          <a:p>
            <a:pPr lvl="1">
              <a:lnSpc>
                <a:spcPct val="140000"/>
              </a:lnSpc>
            </a:pPr>
            <a:r>
              <a:rPr lang="en-US" altLang="zh-CN" b="1" dirty="0"/>
              <a:t>PD</a:t>
            </a:r>
            <a:r>
              <a:rPr lang="en-US" altLang="zh-CN" dirty="0"/>
              <a:t> - Probability of Default</a:t>
            </a:r>
          </a:p>
          <a:p>
            <a:pPr lvl="1">
              <a:lnSpc>
                <a:spcPct val="140000"/>
              </a:lnSpc>
            </a:pPr>
            <a:r>
              <a:rPr lang="en-US" altLang="zh-CN" b="1" dirty="0"/>
              <a:t>EA</a:t>
            </a:r>
            <a:r>
              <a:rPr lang="en-US" altLang="zh-CN" dirty="0"/>
              <a:t> - Exposure Amount</a:t>
            </a:r>
          </a:p>
          <a:p>
            <a:pPr lvl="1">
              <a:lnSpc>
                <a:spcPct val="140000"/>
              </a:lnSpc>
            </a:pPr>
            <a:r>
              <a:rPr lang="en-US" altLang="zh-CN" b="1" dirty="0"/>
              <a:t>LR</a:t>
            </a:r>
            <a:r>
              <a:rPr lang="en-US" altLang="zh-CN" dirty="0"/>
              <a:t> - Loss Rate, </a:t>
            </a:r>
            <a:r>
              <a:rPr lang="en-US" altLang="zh-CN" u="sng" dirty="0"/>
              <a:t>the fraction of the exposure amount that is lost in the event of default</a:t>
            </a:r>
            <a:r>
              <a:rPr lang="en-US" altLang="zh-CN" dirty="0"/>
              <a:t>, meaning the amount that is not recovered after the sale of the collateral.</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61706348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Capital Structure in Banks</a:t>
            </a:r>
            <a:endParaRPr lang="zh-CN" altLang="en-US" sz="2800" dirty="0"/>
          </a:p>
        </p:txBody>
      </p:sp>
      <p:grpSp>
        <p:nvGrpSpPr>
          <p:cNvPr id="4" name="组合 3">
            <a:extLst>
              <a:ext uri="{FF2B5EF4-FFF2-40B4-BE49-F238E27FC236}">
                <a16:creationId xmlns:a16="http://schemas.microsoft.com/office/drawing/2014/main" id="{A6DD1BB6-1A8B-4EB9-BFE9-1F6A7EDFBF09}"/>
              </a:ext>
            </a:extLst>
          </p:cNvPr>
          <p:cNvGrpSpPr/>
          <p:nvPr/>
        </p:nvGrpSpPr>
        <p:grpSpPr>
          <a:xfrm>
            <a:off x="4115880" y="930269"/>
            <a:ext cx="3960240" cy="1656064"/>
            <a:chOff x="1043608" y="1448840"/>
            <a:chExt cx="3960240" cy="1656064"/>
          </a:xfrm>
        </p:grpSpPr>
        <p:sp>
          <p:nvSpPr>
            <p:cNvPr id="5" name="TextBox 9">
              <a:extLst>
                <a:ext uri="{FF2B5EF4-FFF2-40B4-BE49-F238E27FC236}">
                  <a16:creationId xmlns:a16="http://schemas.microsoft.com/office/drawing/2014/main" id="{D6D5023E-CCF2-440A-86AE-556D023EB6D2}"/>
                </a:ext>
              </a:extLst>
            </p:cNvPr>
            <p:cNvSpPr txBox="1"/>
            <p:nvPr/>
          </p:nvSpPr>
          <p:spPr>
            <a:xfrm>
              <a:off x="1043608" y="1992112"/>
              <a:ext cx="540000" cy="540000"/>
            </a:xfrm>
            <a:prstGeom prst="rect">
              <a:avLst/>
            </a:prstGeom>
            <a:noFill/>
            <a:ln>
              <a:noFill/>
            </a:ln>
          </p:spPr>
          <p:txBody>
            <a:bodyPr wrap="square" lIns="36000" tIns="36000" rIns="36000" bIns="36000" rtlCol="0" anchor="ctr" anchorCtr="0">
              <a:noAutofit/>
            </a:bodyPr>
            <a:lstStyle/>
            <a:p>
              <a:pPr algn="ct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EA</a:t>
              </a:r>
              <a:r>
                <a:rPr lang="en-US" altLang="zh-CN" sz="20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endParaRPr lang="zh-CN" altLang="en-US" sz="2000" b="0" baseline="-25000" dirty="0">
                <a:solidFill>
                  <a:srgbClr val="2C3E50"/>
                </a:solidFill>
                <a:latin typeface="Segoe UI" panose="020B0502040204020203" pitchFamily="34" charset="0"/>
                <a:cs typeface="Segoe UI" panose="020B0502040204020203" pitchFamily="34" charset="0"/>
              </a:endParaRPr>
            </a:p>
          </p:txBody>
        </p:sp>
        <p:sp>
          <p:nvSpPr>
            <p:cNvPr id="6" name="TextBox 10">
              <a:extLst>
                <a:ext uri="{FF2B5EF4-FFF2-40B4-BE49-F238E27FC236}">
                  <a16:creationId xmlns:a16="http://schemas.microsoft.com/office/drawing/2014/main" id="{C9B672D7-0574-4A1E-9DE4-BE4F1190BB74}"/>
                </a:ext>
              </a:extLst>
            </p:cNvPr>
            <p:cNvSpPr txBox="1"/>
            <p:nvPr/>
          </p:nvSpPr>
          <p:spPr>
            <a:xfrm>
              <a:off x="2087624" y="2492896"/>
              <a:ext cx="720000" cy="432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PD</a:t>
              </a:r>
              <a:r>
                <a:rPr lang="en-US" altLang="zh-CN" sz="18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H</a:t>
              </a:r>
              <a:endParaRPr lang="zh-CN" altLang="en-US" sz="1800" b="0" baseline="-25000" dirty="0">
                <a:solidFill>
                  <a:srgbClr val="2C3E50"/>
                </a:solidFill>
                <a:latin typeface="Segoe UI" panose="020B0502040204020203" pitchFamily="34" charset="0"/>
                <a:cs typeface="Segoe UI" panose="020B0502040204020203" pitchFamily="34" charset="0"/>
              </a:endParaRPr>
            </a:p>
          </p:txBody>
        </p:sp>
        <p:sp>
          <p:nvSpPr>
            <p:cNvPr id="7" name="TextBox 11">
              <a:extLst>
                <a:ext uri="{FF2B5EF4-FFF2-40B4-BE49-F238E27FC236}">
                  <a16:creationId xmlns:a16="http://schemas.microsoft.com/office/drawing/2014/main" id="{6F30D12B-A0E2-4264-BF10-027E0DCB7CB8}"/>
                </a:ext>
              </a:extLst>
            </p:cNvPr>
            <p:cNvSpPr txBox="1"/>
            <p:nvPr/>
          </p:nvSpPr>
          <p:spPr>
            <a:xfrm>
              <a:off x="1727624" y="1556840"/>
              <a:ext cx="1080000" cy="432000"/>
            </a:xfrm>
            <a:prstGeom prst="rect">
              <a:avLst/>
            </a:prstGeom>
            <a:noFill/>
            <a:ln>
              <a:noFill/>
            </a:ln>
          </p:spPr>
          <p:txBody>
            <a:bodyPr wrap="square" lIns="36000" tIns="36000" rIns="36000" bIns="36000" rtlCol="0" anchor="ctr" anchorCtr="0">
              <a:noAutofit/>
            </a:bodyPr>
            <a:lstStyle/>
            <a:p>
              <a:pPr algn="ctr"/>
              <a:r>
                <a:rPr lang="en-US" altLang="zh-CN" sz="1800" b="0" dirty="0">
                  <a:solidFill>
                    <a:srgbClr val="2C3E50"/>
                  </a:solidFill>
                  <a:latin typeface="Segoe UI" panose="020B0502040204020203" pitchFamily="34" charset="0"/>
                  <a:ea typeface="Segoe UI" panose="020B0502040204020203" pitchFamily="34" charset="0"/>
                  <a:cs typeface="Segoe UI" panose="020B0502040204020203" pitchFamily="34" charset="0"/>
                </a:rPr>
                <a:t>1 - PD</a:t>
              </a:r>
              <a:r>
                <a:rPr lang="en-US" altLang="zh-CN" sz="18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H</a:t>
              </a:r>
              <a:endParaRPr lang="zh-CN" altLang="en-US" sz="1800" b="0" baseline="-25000" dirty="0">
                <a:solidFill>
                  <a:srgbClr val="2C3E50"/>
                </a:solidFill>
                <a:latin typeface="Segoe UI" panose="020B0502040204020203" pitchFamily="34" charset="0"/>
                <a:cs typeface="Segoe UI" panose="020B0502040204020203" pitchFamily="34" charset="0"/>
              </a:endParaRPr>
            </a:p>
          </p:txBody>
        </p:sp>
        <p:sp>
          <p:nvSpPr>
            <p:cNvPr id="8" name="TextBox 12">
              <a:extLst>
                <a:ext uri="{FF2B5EF4-FFF2-40B4-BE49-F238E27FC236}">
                  <a16:creationId xmlns:a16="http://schemas.microsoft.com/office/drawing/2014/main" id="{BE79ACD4-1EA3-4410-BEA7-613335D8FF66}"/>
                </a:ext>
              </a:extLst>
            </p:cNvPr>
            <p:cNvSpPr txBox="1"/>
            <p:nvPr/>
          </p:nvSpPr>
          <p:spPr>
            <a:xfrm>
              <a:off x="3203848" y="2564904"/>
              <a:ext cx="1800000" cy="540000"/>
            </a:xfrm>
            <a:prstGeom prst="rect">
              <a:avLst/>
            </a:prstGeom>
            <a:noFill/>
            <a:ln>
              <a:noFill/>
            </a:ln>
          </p:spPr>
          <p:txBody>
            <a:bodyPr wrap="square" lIns="36000" tIns="36000" rIns="36000" bIns="36000" rtlCol="0" anchor="ctr" anchorCtr="0">
              <a:noAutofit/>
            </a:bodyPr>
            <a:lstStyle/>
            <a:p>
              <a:pPr algn="ct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EA</a:t>
              </a:r>
              <a:r>
                <a:rPr lang="en-US" altLang="zh-CN" sz="20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H </a:t>
              </a: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(1 - LR</a:t>
              </a:r>
              <a:r>
                <a:rPr lang="en-US" altLang="zh-CN" sz="20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H</a:t>
              </a: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a:t>
              </a:r>
            </a:p>
          </p:txBody>
        </p:sp>
        <p:sp>
          <p:nvSpPr>
            <p:cNvPr id="9" name="TextBox 13">
              <a:extLst>
                <a:ext uri="{FF2B5EF4-FFF2-40B4-BE49-F238E27FC236}">
                  <a16:creationId xmlns:a16="http://schemas.microsoft.com/office/drawing/2014/main" id="{293FBAAC-8A2E-4C45-A175-2906F51EDB81}"/>
                </a:ext>
              </a:extLst>
            </p:cNvPr>
            <p:cNvSpPr txBox="1"/>
            <p:nvPr/>
          </p:nvSpPr>
          <p:spPr>
            <a:xfrm>
              <a:off x="3203848" y="1448840"/>
              <a:ext cx="720000" cy="540000"/>
            </a:xfrm>
            <a:prstGeom prst="rect">
              <a:avLst/>
            </a:prstGeom>
            <a:noFill/>
            <a:ln>
              <a:noFill/>
            </a:ln>
          </p:spPr>
          <p:txBody>
            <a:bodyPr wrap="square" lIns="36000" tIns="36000" rIns="36000" bIns="36000" rtlCol="0" anchor="ctr" anchorCtr="0">
              <a:noAutofit/>
            </a:bodyPr>
            <a:lstStyle/>
            <a:p>
              <a:pPr algn="ctr"/>
              <a:r>
                <a:rPr lang="en-US" altLang="zh-CN" sz="2000" b="0" dirty="0">
                  <a:solidFill>
                    <a:srgbClr val="2C3E50"/>
                  </a:solidFill>
                  <a:latin typeface="Segoe UI" panose="020B0502040204020203" pitchFamily="34" charset="0"/>
                  <a:ea typeface="Segoe UI" panose="020B0502040204020203" pitchFamily="34" charset="0"/>
                  <a:cs typeface="Segoe UI" panose="020B0502040204020203" pitchFamily="34" charset="0"/>
                </a:rPr>
                <a:t>EA</a:t>
              </a:r>
              <a:r>
                <a:rPr lang="en-US" altLang="zh-CN" sz="2000" b="0"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H</a:t>
              </a:r>
              <a:endParaRPr lang="zh-CN" altLang="en-US" sz="2000" b="0" baseline="-25000" dirty="0">
                <a:solidFill>
                  <a:srgbClr val="2C3E50"/>
                </a:solidFill>
                <a:latin typeface="Segoe UI" panose="020B0502040204020203" pitchFamily="34" charset="0"/>
                <a:cs typeface="Segoe UI" panose="020B0502040204020203" pitchFamily="34" charset="0"/>
              </a:endParaRPr>
            </a:p>
          </p:txBody>
        </p:sp>
        <p:cxnSp>
          <p:nvCxnSpPr>
            <p:cNvPr id="10" name="直接箭头连接符 9">
              <a:extLst>
                <a:ext uri="{FF2B5EF4-FFF2-40B4-BE49-F238E27FC236}">
                  <a16:creationId xmlns:a16="http://schemas.microsoft.com/office/drawing/2014/main" id="{11037948-541C-48F6-8DC8-19F8C14DBF83}"/>
                </a:ext>
              </a:extLst>
            </p:cNvPr>
            <p:cNvCxnSpPr/>
            <p:nvPr/>
          </p:nvCxnSpPr>
          <p:spPr bwMode="auto">
            <a:xfrm flipV="1">
              <a:off x="1583608" y="1736872"/>
              <a:ext cx="1620240" cy="540000"/>
            </a:xfrm>
            <a:prstGeom prst="straightConnector1">
              <a:avLst/>
            </a:prstGeom>
            <a:solidFill>
              <a:schemeClr val="accent1"/>
            </a:solidFill>
            <a:ln w="9525" cap="flat" cmpd="sng" algn="ctr">
              <a:solidFill>
                <a:srgbClr val="2C3E5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箭头连接符 10">
              <a:extLst>
                <a:ext uri="{FF2B5EF4-FFF2-40B4-BE49-F238E27FC236}">
                  <a16:creationId xmlns:a16="http://schemas.microsoft.com/office/drawing/2014/main" id="{0869627F-2EF2-438F-A0F9-F1AC118D52C1}"/>
                </a:ext>
              </a:extLst>
            </p:cNvPr>
            <p:cNvCxnSpPr/>
            <p:nvPr/>
          </p:nvCxnSpPr>
          <p:spPr bwMode="auto">
            <a:xfrm>
              <a:off x="1583608" y="2276952"/>
              <a:ext cx="1620000" cy="540000"/>
            </a:xfrm>
            <a:prstGeom prst="straightConnector1">
              <a:avLst/>
            </a:prstGeom>
            <a:solidFill>
              <a:schemeClr val="accent1"/>
            </a:solidFill>
            <a:ln w="9525" cap="flat" cmpd="sng" algn="ctr">
              <a:solidFill>
                <a:srgbClr val="2C3E5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aphicFrame>
        <p:nvGraphicFramePr>
          <p:cNvPr id="12" name="对象 11">
            <a:extLst>
              <a:ext uri="{FF2B5EF4-FFF2-40B4-BE49-F238E27FC236}">
                <a16:creationId xmlns:a16="http://schemas.microsoft.com/office/drawing/2014/main" id="{39495AEE-2FD7-4E48-BC4E-33AE0B460F9B}"/>
              </a:ext>
            </a:extLst>
          </p:cNvPr>
          <p:cNvGraphicFramePr>
            <a:graphicFrameLocks/>
          </p:cNvGraphicFramePr>
          <p:nvPr>
            <p:extLst>
              <p:ext uri="{D42A27DB-BD31-4B8C-83A1-F6EECF244321}">
                <p14:modId xmlns:p14="http://schemas.microsoft.com/office/powerpoint/2010/main" val="938309182"/>
              </p:ext>
            </p:extLst>
          </p:nvPr>
        </p:nvGraphicFramePr>
        <p:xfrm>
          <a:off x="2962071" y="2916123"/>
          <a:ext cx="5835650" cy="1317625"/>
        </p:xfrm>
        <a:graphic>
          <a:graphicData uri="http://schemas.openxmlformats.org/presentationml/2006/ole">
            <mc:AlternateContent xmlns:mc="http://schemas.openxmlformats.org/markup-compatibility/2006">
              <mc:Choice xmlns:v="urn:schemas-microsoft-com:vml" Requires="v">
                <p:oleObj spid="_x0000_s28676" name="Equation" r:id="rId4" imgW="2882880" imgH="647640" progId="Equation.DSMT4">
                  <p:embed/>
                </p:oleObj>
              </mc:Choice>
              <mc:Fallback>
                <p:oleObj name="Equation" r:id="rId4" imgW="2882880" imgH="647640" progId="Equation.DSMT4">
                  <p:embed/>
                  <p:pic>
                    <p:nvPicPr>
                      <p:cNvPr id="4" name="对象 3"/>
                      <p:cNvPicPr/>
                      <p:nvPr/>
                    </p:nvPicPr>
                    <p:blipFill>
                      <a:blip r:embed="rId5"/>
                      <a:stretch>
                        <a:fillRect/>
                      </a:stretch>
                    </p:blipFill>
                    <p:spPr>
                      <a:xfrm>
                        <a:off x="2962071" y="2916123"/>
                        <a:ext cx="5835650" cy="1317625"/>
                      </a:xfrm>
                      <a:prstGeom prst="rect">
                        <a:avLst/>
                      </a:prstGeom>
                      <a:ln w="19050">
                        <a:solidFill>
                          <a:schemeClr val="accent1">
                            <a:lumMod val="75000"/>
                          </a:schemeClr>
                        </a:solidFill>
                      </a:ln>
                    </p:spPr>
                  </p:pic>
                </p:oleObj>
              </mc:Fallback>
            </mc:AlternateContent>
          </a:graphicData>
        </a:graphic>
      </p:graphicFrame>
      <p:sp>
        <p:nvSpPr>
          <p:cNvPr id="13" name="矩形 12">
            <a:extLst>
              <a:ext uri="{FF2B5EF4-FFF2-40B4-BE49-F238E27FC236}">
                <a16:creationId xmlns:a16="http://schemas.microsoft.com/office/drawing/2014/main" id="{E2798924-415F-4CF9-ADE7-3FDE00A707D2}"/>
              </a:ext>
            </a:extLst>
          </p:cNvPr>
          <p:cNvSpPr/>
          <p:nvPr/>
        </p:nvSpPr>
        <p:spPr>
          <a:xfrm>
            <a:off x="2831896" y="4640519"/>
            <a:ext cx="6096000" cy="1287212"/>
          </a:xfrm>
          <a:prstGeom prst="rect">
            <a:avLst/>
          </a:prstGeom>
        </p:spPr>
        <p:txBody>
          <a:bodyPr>
            <a:spAutoFit/>
          </a:bodyPr>
          <a:lstStyle/>
          <a:p>
            <a:pPr>
              <a:lnSpc>
                <a:spcPct val="150000"/>
              </a:lnSpc>
            </a:pPr>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Where PD</a:t>
            </a:r>
            <a:r>
              <a:rPr lang="en-US" altLang="zh-CN"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H</a:t>
            </a:r>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 = Probability of default up to time H (horizon)</a:t>
            </a:r>
          </a:p>
          <a:p>
            <a:pPr>
              <a:lnSpc>
                <a:spcPct val="150000"/>
              </a:lnSpc>
            </a:pPr>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            EA</a:t>
            </a:r>
            <a:r>
              <a:rPr lang="en-US" altLang="zh-CN"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H</a:t>
            </a:r>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 = Exposure amount at time H</a:t>
            </a:r>
          </a:p>
          <a:p>
            <a:pPr>
              <a:lnSpc>
                <a:spcPct val="150000"/>
              </a:lnSpc>
            </a:pPr>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            LR</a:t>
            </a:r>
            <a:r>
              <a:rPr lang="en-US" altLang="zh-CN" baseline="-25000" dirty="0">
                <a:solidFill>
                  <a:srgbClr val="2C3E50"/>
                </a:solidFill>
                <a:latin typeface="Segoe UI" panose="020B0502040204020203" pitchFamily="34" charset="0"/>
                <a:ea typeface="Segoe UI" panose="020B0502040204020203" pitchFamily="34" charset="0"/>
                <a:cs typeface="Segoe UI" panose="020B0502040204020203" pitchFamily="34" charset="0"/>
              </a:rPr>
              <a:t>H</a:t>
            </a:r>
            <a:r>
              <a:rPr lang="en-US" altLang="zh-CN" dirty="0">
                <a:solidFill>
                  <a:srgbClr val="2C3E50"/>
                </a:solidFill>
                <a:latin typeface="Segoe UI" panose="020B0502040204020203" pitchFamily="34" charset="0"/>
                <a:ea typeface="Segoe UI" panose="020B0502040204020203" pitchFamily="34" charset="0"/>
                <a:cs typeface="Segoe UI" panose="020B0502040204020203" pitchFamily="34" charset="0"/>
              </a:rPr>
              <a:t> = Loss rate experienced at time H      </a:t>
            </a:r>
            <a:endParaRPr lang="zh-CN" altLang="en-US" dirty="0">
              <a:solidFill>
                <a:srgbClr val="2C3E5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5991683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Capital Structure in Banks</a:t>
            </a:r>
            <a:endParaRPr lang="zh-CN" altLang="en-US" sz="2800" dirty="0"/>
          </a:p>
        </p:txBody>
      </p:sp>
      <p:sp>
        <p:nvSpPr>
          <p:cNvPr id="3" name="文本占位符 2"/>
          <p:cNvSpPr>
            <a:spLocks noGrp="1"/>
          </p:cNvSpPr>
          <p:nvPr>
            <p:ph type="body" sz="quarter" idx="10"/>
          </p:nvPr>
        </p:nvSpPr>
        <p:spPr>
          <a:xfrm>
            <a:off x="393599" y="813468"/>
            <a:ext cx="11404800" cy="5200470"/>
          </a:xfrm>
        </p:spPr>
        <p:txBody>
          <a:bodyPr>
            <a:normAutofit lnSpcReduction="10000"/>
          </a:bodyPr>
          <a:lstStyle/>
          <a:p>
            <a:pPr>
              <a:lnSpc>
                <a:spcPct val="100000"/>
              </a:lnSpc>
            </a:pPr>
            <a:r>
              <a:rPr lang="en-US" altLang="zh-CN" dirty="0"/>
              <a:t>Unexpected Loss</a:t>
            </a:r>
          </a:p>
          <a:p>
            <a:pPr lvl="1">
              <a:lnSpc>
                <a:spcPct val="100000"/>
              </a:lnSpc>
            </a:pPr>
            <a:r>
              <a:rPr lang="en-US" altLang="zh-CN" dirty="0"/>
              <a:t>By definition, EL does not itself constitute risk. If losses always equaled their expected levels, there would be no uncertainty, and there would be no economic rationale to hold capital against credit risk. </a:t>
            </a:r>
            <a:r>
              <a:rPr lang="en-US" altLang="zh-CN" u="sng" dirty="0"/>
              <a:t>Risk arises from the variation in loss levels—which for credit risk is due to </a:t>
            </a:r>
            <a:r>
              <a:rPr lang="en-US" altLang="zh-CN" b="1" u="sng" dirty="0"/>
              <a:t>unexpected losses (UL).</a:t>
            </a:r>
          </a:p>
          <a:p>
            <a:pPr lvl="1">
              <a:lnSpc>
                <a:spcPct val="100000"/>
              </a:lnSpc>
            </a:pPr>
            <a:r>
              <a:rPr lang="en-US" altLang="zh-CN" dirty="0"/>
              <a:t>Unexpected loss is the </a:t>
            </a:r>
            <a:r>
              <a:rPr lang="en-US" altLang="zh-CN" u="sng" dirty="0"/>
              <a:t>standard deviation of credit losses</a:t>
            </a:r>
            <a:r>
              <a:rPr lang="en-US" altLang="zh-CN" dirty="0"/>
              <a:t>.</a:t>
            </a:r>
          </a:p>
          <a:p>
            <a:pPr lvl="1">
              <a:lnSpc>
                <a:spcPct val="100000"/>
              </a:lnSpc>
            </a:pPr>
            <a:r>
              <a:rPr lang="en-US" altLang="zh-CN" dirty="0"/>
              <a:t>ULs cannot be anticipated and hence cannot be adequately priced for in a loan’s interest rate. They </a:t>
            </a:r>
            <a:r>
              <a:rPr lang="en-US" altLang="zh-CN" u="sng" dirty="0"/>
              <a:t>require a cushion of economic capital</a:t>
            </a:r>
            <a:r>
              <a:rPr lang="en-US" altLang="zh-CN" dirty="0"/>
              <a:t>.</a:t>
            </a:r>
          </a:p>
          <a:p>
            <a:pPr lvl="1">
              <a:lnSpc>
                <a:spcPct val="100000"/>
              </a:lnSpc>
            </a:pPr>
            <a:endParaRPr lang="en-US" altLang="zh-CN" dirty="0"/>
          </a:p>
          <a:p>
            <a:pPr lvl="1">
              <a:lnSpc>
                <a:spcPct val="100000"/>
              </a:lnSpc>
            </a:pPr>
            <a:endParaRPr lang="en-US" altLang="zh-CN" dirty="0"/>
          </a:p>
          <a:p>
            <a:pPr lvl="1">
              <a:lnSpc>
                <a:spcPct val="100000"/>
              </a:lnSpc>
            </a:pPr>
            <a:endParaRPr lang="en-US" altLang="zh-CN" dirty="0"/>
          </a:p>
          <a:p>
            <a:pPr lvl="1">
              <a:lnSpc>
                <a:spcPct val="100000"/>
              </a:lnSpc>
            </a:pPr>
            <a:endParaRPr lang="en-US" altLang="zh-CN" dirty="0"/>
          </a:p>
          <a:p>
            <a:pPr marL="609585" lvl="1" indent="0">
              <a:lnSpc>
                <a:spcPct val="100000"/>
              </a:lnSpc>
              <a:buNone/>
            </a:pPr>
            <a:endParaRPr lang="en-US" altLang="zh-CN" dirty="0"/>
          </a:p>
          <a:p>
            <a:pPr marL="609585" lvl="1" indent="0">
              <a:lnSpc>
                <a:spcPct val="100000"/>
              </a:lnSpc>
              <a:buNone/>
            </a:pPr>
            <a:r>
              <a:rPr lang="en-US" altLang="zh-CN" dirty="0"/>
              <a:t>                 where</a:t>
            </a:r>
          </a:p>
          <a:p>
            <a:endParaRPr lang="zh-CN" altLang="en-US"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A21EE355-94C0-44AD-A9B6-2F16C8901E7C}"/>
                  </a:ext>
                </a:extLst>
              </p:cNvPr>
              <p:cNvSpPr/>
              <p:nvPr/>
            </p:nvSpPr>
            <p:spPr>
              <a:xfrm>
                <a:off x="4207725" y="3974123"/>
                <a:ext cx="3776547" cy="65601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𝑈𝐿</m:t>
                      </m:r>
                      <m:r>
                        <a:rPr lang="zh-CN" altLang="en-US" i="0">
                          <a:latin typeface="Cambria Math" panose="02040503050406030204" pitchFamily="18" charset="0"/>
                        </a:rPr>
                        <m:t>=</m:t>
                      </m:r>
                      <m:r>
                        <a:rPr lang="zh-CN" altLang="en-US" i="1">
                          <a:latin typeface="Cambria Math" panose="02040503050406030204" pitchFamily="18" charset="0"/>
                        </a:rPr>
                        <m:t>𝐸𝐴</m:t>
                      </m:r>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r>
                            <a:rPr lang="zh-CN" altLang="en-US" i="1">
                              <a:latin typeface="Cambria Math" panose="02040503050406030204" pitchFamily="18" charset="0"/>
                            </a:rPr>
                            <m:t>𝑃𝐷</m:t>
                          </m:r>
                          <m:r>
                            <a:rPr lang="zh-CN" altLang="en-US" i="0">
                              <a:latin typeface="Cambria Math" panose="02040503050406030204" pitchFamily="18" charset="0"/>
                            </a:rPr>
                            <m:t>×</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r>
                                <a:rPr lang="zh-CN" altLang="en-US" i="1">
                                  <a:latin typeface="Cambria Math" panose="02040503050406030204" pitchFamily="18" charset="0"/>
                                </a:rPr>
                                <m:t>𝐿𝑅</m:t>
                              </m:r>
                            </m:sub>
                            <m:sup>
                              <m:r>
                                <a:rPr lang="zh-CN" altLang="en-US" i="0">
                                  <a:latin typeface="Cambria Math" panose="02040503050406030204" pitchFamily="18" charset="0"/>
                                </a:rPr>
                                <m:t>2</m:t>
                              </m:r>
                            </m:sup>
                          </m:sSubSup>
                          <m:r>
                            <a:rPr lang="zh-CN" altLang="en-US" i="0">
                              <a:latin typeface="Cambria Math" panose="02040503050406030204" pitchFamily="18" charset="0"/>
                            </a:rPr>
                            <m:t>+</m:t>
                          </m:r>
                          <m:r>
                            <a:rPr lang="zh-CN" altLang="en-US" i="1">
                              <a:latin typeface="Cambria Math" panose="02040503050406030204" pitchFamily="18" charset="0"/>
                            </a:rPr>
                            <m:t>𝐿</m:t>
                          </m:r>
                          <m:sSup>
                            <m:sSupPr>
                              <m:ctrlPr>
                                <a:rPr lang="zh-CN" altLang="en-US" i="1">
                                  <a:latin typeface="Cambria Math" panose="02040503050406030204" pitchFamily="18" charset="0"/>
                                </a:rPr>
                              </m:ctrlPr>
                            </m:sSupPr>
                            <m:e>
                              <m:r>
                                <a:rPr lang="zh-CN" altLang="en-US" i="1">
                                  <a:latin typeface="Cambria Math" panose="02040503050406030204" pitchFamily="18" charset="0"/>
                                </a:rPr>
                                <m:t>𝑅</m:t>
                              </m:r>
                            </m:e>
                            <m:sup>
                              <m:r>
                                <a:rPr lang="zh-CN" altLang="en-US" i="0">
                                  <a:latin typeface="Cambria Math" panose="02040503050406030204" pitchFamily="18" charset="0"/>
                                </a:rPr>
                                <m:t>2</m:t>
                              </m:r>
                            </m:sup>
                          </m:sSup>
                          <m:r>
                            <a:rPr lang="zh-CN" altLang="en-US" i="0">
                              <a:latin typeface="Cambria Math" panose="02040503050406030204" pitchFamily="18" charset="0"/>
                            </a:rPr>
                            <m:t>×</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r>
                                <a:rPr lang="zh-CN" altLang="en-US" i="1">
                                  <a:latin typeface="Cambria Math" panose="02040503050406030204" pitchFamily="18" charset="0"/>
                                </a:rPr>
                                <m:t>𝑃𝐷</m:t>
                              </m:r>
                            </m:sub>
                            <m:sup>
                              <m:r>
                                <a:rPr lang="zh-CN" altLang="en-US" i="0">
                                  <a:latin typeface="Cambria Math" panose="02040503050406030204" pitchFamily="18" charset="0"/>
                                </a:rPr>
                                <m:t>2</m:t>
                              </m:r>
                            </m:sup>
                          </m:sSubSup>
                        </m:e>
                      </m:rad>
                    </m:oMath>
                  </m:oMathPara>
                </a14:m>
                <a:endParaRPr lang="zh-CN" altLang="en-US" dirty="0"/>
              </a:p>
            </p:txBody>
          </p:sp>
        </mc:Choice>
        <mc:Fallback>
          <p:sp>
            <p:nvSpPr>
              <p:cNvPr id="4" name="矩形 3">
                <a:extLst>
                  <a:ext uri="{FF2B5EF4-FFF2-40B4-BE49-F238E27FC236}">
                    <a16:creationId xmlns:a16="http://schemas.microsoft.com/office/drawing/2014/main" id="{A21EE355-94C0-44AD-A9B6-2F16C8901E7C}"/>
                  </a:ext>
                </a:extLst>
              </p:cNvPr>
              <p:cNvSpPr>
                <a:spLocks noRot="1" noChangeAspect="1" noMove="1" noResize="1" noEditPoints="1" noAdjustHandles="1" noChangeArrowheads="1" noChangeShapeType="1" noTextEdit="1"/>
              </p:cNvSpPr>
              <p:nvPr/>
            </p:nvSpPr>
            <p:spPr>
              <a:xfrm>
                <a:off x="4207725" y="3974123"/>
                <a:ext cx="3776547" cy="656013"/>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D5D0002E-A30C-4758-8560-81924C0A13AC}"/>
                  </a:ext>
                </a:extLst>
              </p:cNvPr>
              <p:cNvSpPr/>
              <p:nvPr/>
            </p:nvSpPr>
            <p:spPr>
              <a:xfrm>
                <a:off x="2982261" y="5416036"/>
                <a:ext cx="6227474" cy="949619"/>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a:latin typeface="Cambria Math" panose="02040503050406030204" pitchFamily="18" charset="0"/>
                            </a:rPr>
                          </m:ctrlPr>
                        </m:mPr>
                        <m:mr>
                          <m:e>
                            <m:r>
                              <m:rPr>
                                <m:nor/>
                              </m:rPr>
                              <a:rPr lang="zh-CN" altLang="en-US"/>
                              <m:t> </m:t>
                            </m:r>
                            <m:sSub>
                              <m:sSubPr>
                                <m:ctrlPr>
                                  <a:rPr lang="zh-CN" altLang="en-US" i="1">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𝐿𝑅</m:t>
                                </m:r>
                              </m:sub>
                            </m:sSub>
                            <m:r>
                              <a:rPr lang="zh-CN" altLang="en-US" i="0">
                                <a:latin typeface="Cambria Math" panose="02040503050406030204" pitchFamily="18" charset="0"/>
                              </a:rPr>
                              <m:t>=</m:t>
                            </m:r>
                            <m:r>
                              <a:rPr lang="zh-CN" altLang="en-US" i="1">
                                <a:latin typeface="Cambria Math" panose="02040503050406030204" pitchFamily="18" charset="0"/>
                              </a:rPr>
                              <m:t>𝑆</m:t>
                            </m:r>
                            <m:r>
                              <m:rPr>
                                <m:sty m:val="p"/>
                              </m:rPr>
                              <a:rPr lang="zh-CN" altLang="en-US" i="0">
                                <a:latin typeface="Cambria Math" panose="02040503050406030204" pitchFamily="18" charset="0"/>
                              </a:rPr>
                              <m:t>tan</m:t>
                            </m:r>
                            <m:r>
                              <a:rPr lang="zh-CN" altLang="en-US" i="1">
                                <a:latin typeface="Cambria Math" panose="02040503050406030204" pitchFamily="18" charset="0"/>
                              </a:rPr>
                              <m:t>𝑑𝑎𝑟𝑑</m:t>
                            </m:r>
                            <m:r>
                              <m:rPr>
                                <m:nor/>
                              </m:rPr>
                              <a:rPr lang="zh-CN" altLang="en-US" i="1">
                                <a:latin typeface="Cambria Math" panose="02040503050406030204" pitchFamily="18" charset="0"/>
                              </a:rPr>
                              <m:t> </m:t>
                            </m:r>
                            <m:r>
                              <m:rPr>
                                <m:nor/>
                              </m:rPr>
                              <a:rPr lang="zh-CN" altLang="en-US" i="1">
                                <a:latin typeface="Cambria Math" panose="02040503050406030204" pitchFamily="18" charset="0"/>
                              </a:rPr>
                              <m:t>deviation</m:t>
                            </m:r>
                            <m:r>
                              <m:rPr>
                                <m:nor/>
                              </m:rPr>
                              <a:rPr lang="zh-CN" altLang="en-US" i="1">
                                <a:latin typeface="Cambria Math" panose="02040503050406030204" pitchFamily="18" charset="0"/>
                              </a:rPr>
                              <m:t> </m:t>
                            </m:r>
                            <m:r>
                              <m:rPr>
                                <m:nor/>
                              </m:rPr>
                              <a:rPr lang="zh-CN" altLang="en-US" i="1">
                                <a:latin typeface="Cambria Math" panose="02040503050406030204" pitchFamily="18" charset="0"/>
                              </a:rPr>
                              <m:t>of</m:t>
                            </m:r>
                            <m:r>
                              <m:rPr>
                                <m:nor/>
                              </m:rPr>
                              <a:rPr lang="zh-CN" altLang="en-US" i="1">
                                <a:latin typeface="Cambria Math" panose="02040503050406030204" pitchFamily="18" charset="0"/>
                              </a:rPr>
                              <m:t> </m:t>
                            </m:r>
                            <m:r>
                              <m:rPr>
                                <m:nor/>
                              </m:rPr>
                              <a:rPr lang="zh-CN" altLang="en-US" i="1">
                                <a:latin typeface="Cambria Math" panose="02040503050406030204" pitchFamily="18" charset="0"/>
                              </a:rPr>
                              <m:t>the</m:t>
                            </m:r>
                            <m:r>
                              <m:rPr>
                                <m:nor/>
                              </m:rPr>
                              <a:rPr lang="zh-CN" altLang="en-US" i="1">
                                <a:latin typeface="Cambria Math" panose="02040503050406030204" pitchFamily="18" charset="0"/>
                              </a:rPr>
                              <m:t> </m:t>
                            </m:r>
                            <m:r>
                              <m:rPr>
                                <m:nor/>
                              </m:rPr>
                              <a:rPr lang="zh-CN" altLang="en-US" i="1">
                                <a:latin typeface="Cambria Math" panose="02040503050406030204" pitchFamily="18" charset="0"/>
                              </a:rPr>
                              <m:t>loss</m:t>
                            </m:r>
                            <m:r>
                              <m:rPr>
                                <m:nor/>
                              </m:rPr>
                              <a:rPr lang="zh-CN" altLang="en-US" i="1">
                                <a:latin typeface="Cambria Math" panose="02040503050406030204" pitchFamily="18" charset="0"/>
                              </a:rPr>
                              <m:t> </m:t>
                            </m:r>
                            <m:r>
                              <m:rPr>
                                <m:nor/>
                              </m:rPr>
                              <a:rPr lang="zh-CN" altLang="en-US" i="1">
                                <a:latin typeface="Cambria Math" panose="02040503050406030204" pitchFamily="18" charset="0"/>
                              </a:rPr>
                              <m:t>rate</m:t>
                            </m:r>
                            <m:r>
                              <m:rPr>
                                <m:nor/>
                              </m:rPr>
                              <a:rPr lang="zh-CN" altLang="en-US" i="1">
                                <a:latin typeface="Cambria Math" panose="02040503050406030204" pitchFamily="18" charset="0"/>
                              </a:rPr>
                              <m:t> </m:t>
                            </m:r>
                            <m:r>
                              <m:rPr>
                                <m:nor/>
                              </m:rPr>
                              <a:rPr lang="zh-CN" altLang="en-US" i="1">
                                <a:latin typeface="Cambria Math" panose="02040503050406030204" pitchFamily="18" charset="0"/>
                              </a:rPr>
                              <m:t>LR</m:t>
                            </m:r>
                          </m:e>
                        </m:mr>
                        <m:mr>
                          <m:e>
                            <m:r>
                              <m:rPr>
                                <m:nor/>
                              </m:rPr>
                              <a:rPr lang="zh-CN" altLang="en-US" i="1">
                                <a:latin typeface="Cambria Math" panose="02040503050406030204" pitchFamily="18" charset="0"/>
                              </a:rPr>
                              <m:t>           </m:t>
                            </m:r>
                            <m:sSub>
                              <m:sSubPr>
                                <m:ctrlPr>
                                  <a:rPr lang="zh-CN" altLang="en-US" i="1">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𝑃𝐷</m:t>
                                </m:r>
                              </m:sub>
                            </m:sSub>
                            <m:r>
                              <a:rPr lang="zh-CN" altLang="en-US" i="0">
                                <a:latin typeface="Cambria Math" panose="02040503050406030204" pitchFamily="18" charset="0"/>
                              </a:rPr>
                              <m:t>=</m:t>
                            </m:r>
                            <m:r>
                              <a:rPr lang="zh-CN" altLang="en-US" i="1">
                                <a:latin typeface="Cambria Math" panose="02040503050406030204" pitchFamily="18" charset="0"/>
                              </a:rPr>
                              <m:t>𝑆</m:t>
                            </m:r>
                            <m:r>
                              <m:rPr>
                                <m:sty m:val="p"/>
                              </m:rPr>
                              <a:rPr lang="zh-CN" altLang="en-US" i="0">
                                <a:latin typeface="Cambria Math" panose="02040503050406030204" pitchFamily="18" charset="0"/>
                              </a:rPr>
                              <m:t>tan</m:t>
                            </m:r>
                            <m:r>
                              <a:rPr lang="zh-CN" altLang="en-US" i="1">
                                <a:latin typeface="Cambria Math" panose="02040503050406030204" pitchFamily="18" charset="0"/>
                              </a:rPr>
                              <m:t>𝑑𝑎𝑟𝑑</m:t>
                            </m:r>
                            <m:r>
                              <m:rPr>
                                <m:nor/>
                              </m:rPr>
                              <a:rPr lang="zh-CN" altLang="en-US" i="1">
                                <a:latin typeface="Cambria Math" panose="02040503050406030204" pitchFamily="18" charset="0"/>
                              </a:rPr>
                              <m:t> </m:t>
                            </m:r>
                            <m:r>
                              <m:rPr>
                                <m:nor/>
                              </m:rPr>
                              <a:rPr lang="zh-CN" altLang="en-US" i="1">
                                <a:latin typeface="Cambria Math" panose="02040503050406030204" pitchFamily="18" charset="0"/>
                              </a:rPr>
                              <m:t>deviation</m:t>
                            </m:r>
                            <m:r>
                              <m:rPr>
                                <m:nor/>
                              </m:rPr>
                              <a:rPr lang="zh-CN" altLang="en-US" i="1">
                                <a:latin typeface="Cambria Math" panose="02040503050406030204" pitchFamily="18" charset="0"/>
                              </a:rPr>
                              <m:t> </m:t>
                            </m:r>
                            <m:r>
                              <m:rPr>
                                <m:nor/>
                              </m:rPr>
                              <a:rPr lang="zh-CN" altLang="en-US" i="1">
                                <a:latin typeface="Cambria Math" panose="02040503050406030204" pitchFamily="18" charset="0"/>
                              </a:rPr>
                              <m:t>of</m:t>
                            </m:r>
                            <m:r>
                              <m:rPr>
                                <m:nor/>
                              </m:rPr>
                              <a:rPr lang="zh-CN" altLang="en-US" i="1">
                                <a:latin typeface="Cambria Math" panose="02040503050406030204" pitchFamily="18" charset="0"/>
                              </a:rPr>
                              <m:t> </m:t>
                            </m:r>
                            <m:r>
                              <m:rPr>
                                <m:nor/>
                              </m:rPr>
                              <a:rPr lang="zh-CN" altLang="en-US" i="1">
                                <a:latin typeface="Cambria Math" panose="02040503050406030204" pitchFamily="18" charset="0"/>
                              </a:rPr>
                              <m:t>the</m:t>
                            </m:r>
                            <m:r>
                              <m:rPr>
                                <m:nor/>
                              </m:rPr>
                              <a:rPr lang="zh-CN" altLang="en-US" i="1">
                                <a:latin typeface="Cambria Math" panose="02040503050406030204" pitchFamily="18" charset="0"/>
                              </a:rPr>
                              <m:t> </m:t>
                            </m:r>
                            <m:r>
                              <m:rPr>
                                <m:nor/>
                              </m:rPr>
                              <a:rPr lang="zh-CN" altLang="en-US" i="1">
                                <a:latin typeface="Cambria Math" panose="02040503050406030204" pitchFamily="18" charset="0"/>
                              </a:rPr>
                              <m:t>default</m:t>
                            </m:r>
                            <m:r>
                              <m:rPr>
                                <m:nor/>
                              </m:rPr>
                              <a:rPr lang="zh-CN" altLang="en-US" i="1">
                                <a:latin typeface="Cambria Math" panose="02040503050406030204" pitchFamily="18" charset="0"/>
                              </a:rPr>
                              <m:t> </m:t>
                            </m:r>
                            <m:r>
                              <m:rPr>
                                <m:nor/>
                              </m:rPr>
                              <a:rPr lang="zh-CN" altLang="en-US" i="1">
                                <a:latin typeface="Cambria Math" panose="02040503050406030204" pitchFamily="18" charset="0"/>
                              </a:rPr>
                              <m:t>probability</m:t>
                            </m:r>
                            <m:r>
                              <m:rPr>
                                <m:nor/>
                              </m:rPr>
                              <a:rPr lang="zh-CN" altLang="en-US" i="1">
                                <a:latin typeface="Cambria Math" panose="02040503050406030204" pitchFamily="18" charset="0"/>
                              </a:rPr>
                              <m:t> </m:t>
                            </m:r>
                            <m:r>
                              <m:rPr>
                                <m:nor/>
                              </m:rPr>
                              <a:rPr lang="zh-CN" altLang="en-US" i="1">
                                <a:latin typeface="Cambria Math" panose="02040503050406030204" pitchFamily="18" charset="0"/>
                              </a:rPr>
                              <m:t>PD</m:t>
                            </m:r>
                          </m:e>
                        </m:mr>
                        <m:mr>
                          <m:e>
                            <m:r>
                              <m:rPr>
                                <m:nor/>
                              </m:rPr>
                              <a:rPr lang="zh-CN" altLang="en-US" i="1">
                                <a:latin typeface="Cambria Math" panose="02040503050406030204" pitchFamily="18" charset="0"/>
                              </a:rPr>
                              <m:t>           </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r>
                                  <a:rPr lang="zh-CN" altLang="en-US" i="1">
                                    <a:latin typeface="Cambria Math" panose="02040503050406030204" pitchFamily="18" charset="0"/>
                                  </a:rPr>
                                  <m:t>𝑃𝐷</m:t>
                                </m:r>
                              </m:sub>
                              <m:sup>
                                <m:r>
                                  <a:rPr lang="zh-CN" altLang="en-US" i="0">
                                    <a:latin typeface="Cambria Math" panose="02040503050406030204" pitchFamily="18" charset="0"/>
                                  </a:rPr>
                                  <m:t>2</m:t>
                                </m:r>
                              </m:sup>
                            </m:sSubSup>
                            <m:r>
                              <a:rPr lang="zh-CN" altLang="en-US" i="0">
                                <a:latin typeface="Cambria Math" panose="02040503050406030204" pitchFamily="18" charset="0"/>
                              </a:rPr>
                              <m:t>=</m:t>
                            </m:r>
                            <m:r>
                              <a:rPr lang="zh-CN" altLang="en-US" i="1">
                                <a:latin typeface="Cambria Math" panose="02040503050406030204" pitchFamily="18" charset="0"/>
                              </a:rPr>
                              <m:t>𝑃𝐷</m:t>
                            </m:r>
                            <m:r>
                              <a:rPr lang="zh-CN" altLang="en-US" i="0">
                                <a:latin typeface="Cambria Math" panose="02040503050406030204" pitchFamily="18" charset="0"/>
                              </a:rPr>
                              <m:t>×</m:t>
                            </m:r>
                            <m:d>
                              <m:dPr>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𝑃𝐷</m:t>
                                </m:r>
                              </m:e>
                            </m:d>
                          </m:e>
                        </m:mr>
                      </m:m>
                    </m:oMath>
                  </m:oMathPara>
                </a14:m>
                <a:endParaRPr lang="zh-CN" altLang="en-US" dirty="0"/>
              </a:p>
            </p:txBody>
          </p:sp>
        </mc:Choice>
        <mc:Fallback>
          <p:sp>
            <p:nvSpPr>
              <p:cNvPr id="5" name="矩形 4">
                <a:extLst>
                  <a:ext uri="{FF2B5EF4-FFF2-40B4-BE49-F238E27FC236}">
                    <a16:creationId xmlns:a16="http://schemas.microsoft.com/office/drawing/2014/main" id="{D5D0002E-A30C-4758-8560-81924C0A13AC}"/>
                  </a:ext>
                </a:extLst>
              </p:cNvPr>
              <p:cNvSpPr>
                <a:spLocks noRot="1" noChangeAspect="1" noMove="1" noResize="1" noEditPoints="1" noAdjustHandles="1" noChangeArrowheads="1" noChangeShapeType="1" noTextEdit="1"/>
              </p:cNvSpPr>
              <p:nvPr/>
            </p:nvSpPr>
            <p:spPr>
              <a:xfrm>
                <a:off x="2982261" y="5416036"/>
                <a:ext cx="6227474" cy="949619"/>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1891011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Capital Structure in Banks</a:t>
            </a:r>
            <a:endParaRPr lang="zh-CN" altLang="en-US" sz="2800" dirty="0"/>
          </a:p>
        </p:txBody>
      </p:sp>
      <p:sp>
        <p:nvSpPr>
          <p:cNvPr id="3" name="文本占位符 2"/>
          <p:cNvSpPr>
            <a:spLocks noGrp="1"/>
          </p:cNvSpPr>
          <p:nvPr>
            <p:ph type="body" sz="quarter" idx="10"/>
          </p:nvPr>
        </p:nvSpPr>
        <p:spPr>
          <a:xfrm>
            <a:off x="393599" y="813470"/>
            <a:ext cx="11404800" cy="4303654"/>
          </a:xfrm>
        </p:spPr>
        <p:txBody>
          <a:bodyPr>
            <a:normAutofit fontScale="92500"/>
          </a:bodyPr>
          <a:lstStyle/>
          <a:p>
            <a:r>
              <a:rPr lang="en-US" altLang="zh-CN" dirty="0"/>
              <a:t>Example</a:t>
            </a:r>
          </a:p>
          <a:p>
            <a:pPr lvl="1"/>
            <a:r>
              <a:rPr lang="en-US" altLang="zh-CN" dirty="0"/>
              <a:t>Suppose XYZ bank has booked a loan with the following characteristics: total commitment of $2,000,000, of which $1,200,000 is currently outstanding. The bank has assessed an internal credit rating equivalent to a 1% default probability over the next year. Draw down upon default is assumed to be 75%. The bank has additionally estimated a 40% loss given default. The standard deviation of EDF and LGD is 5% and 30%, respectively. Calculate the unexpected loss for XYZ bank.</a:t>
            </a:r>
          </a:p>
        </p:txBody>
      </p:sp>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97F9C0DF-7CAB-495D-9D81-E84436E3A327}"/>
                  </a:ext>
                </a:extLst>
              </p:cNvPr>
              <p:cNvSpPr/>
              <p:nvPr/>
            </p:nvSpPr>
            <p:spPr>
              <a:xfrm>
                <a:off x="1339176" y="5314130"/>
                <a:ext cx="3783343" cy="82490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a:latin typeface="Cambria Math" panose="02040503050406030204" pitchFamily="18" charset="0"/>
                            </a:rPr>
                          </m:ctrlPr>
                        </m:mPr>
                        <m:mr>
                          <m:e/>
                        </m:mr>
                        <m:mr>
                          <m:e>
                            <m:r>
                              <a:rPr lang="zh-CN" altLang="en-US" i="1">
                                <a:latin typeface="Cambria Math" panose="02040503050406030204" pitchFamily="18" charset="0"/>
                              </a:rPr>
                              <m:t>𝑈𝐿</m:t>
                            </m:r>
                            <m:r>
                              <a:rPr lang="zh-CN" altLang="en-US" i="0">
                                <a:latin typeface="Cambria Math" panose="02040503050406030204" pitchFamily="18" charset="0"/>
                              </a:rPr>
                              <m:t>=</m:t>
                            </m:r>
                            <m:r>
                              <a:rPr lang="zh-CN" altLang="en-US" i="1">
                                <a:latin typeface="Cambria Math" panose="02040503050406030204" pitchFamily="18" charset="0"/>
                              </a:rPr>
                              <m:t>𝐴𝐸</m:t>
                            </m:r>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r>
                                  <a:rPr lang="zh-CN" altLang="en-US" i="1">
                                    <a:latin typeface="Cambria Math" panose="02040503050406030204" pitchFamily="18" charset="0"/>
                                  </a:rPr>
                                  <m:t>𝑃𝐷</m:t>
                                </m:r>
                                <m:r>
                                  <a:rPr lang="zh-CN" altLang="en-US" i="0">
                                    <a:latin typeface="Cambria Math" panose="02040503050406030204" pitchFamily="18" charset="0"/>
                                  </a:rPr>
                                  <m:t>×</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r>
                                      <a:rPr lang="zh-CN" altLang="en-US" i="1">
                                        <a:latin typeface="Cambria Math" panose="02040503050406030204" pitchFamily="18" charset="0"/>
                                      </a:rPr>
                                      <m:t>𝐿𝑅</m:t>
                                    </m:r>
                                  </m:sub>
                                  <m:sup>
                                    <m:r>
                                      <a:rPr lang="zh-CN" altLang="en-US" i="0">
                                        <a:latin typeface="Cambria Math" panose="02040503050406030204" pitchFamily="18" charset="0"/>
                                      </a:rPr>
                                      <m:t>2</m:t>
                                    </m:r>
                                  </m:sup>
                                </m:sSubSup>
                                <m:r>
                                  <a:rPr lang="zh-CN" altLang="en-US" i="0">
                                    <a:latin typeface="Cambria Math" panose="02040503050406030204" pitchFamily="18" charset="0"/>
                                  </a:rPr>
                                  <m:t>+</m:t>
                                </m:r>
                                <m:r>
                                  <a:rPr lang="zh-CN" altLang="en-US" i="1">
                                    <a:latin typeface="Cambria Math" panose="02040503050406030204" pitchFamily="18" charset="0"/>
                                  </a:rPr>
                                  <m:t>𝐿</m:t>
                                </m:r>
                                <m:sSup>
                                  <m:sSupPr>
                                    <m:ctrlPr>
                                      <a:rPr lang="zh-CN" altLang="en-US" i="1">
                                        <a:latin typeface="Cambria Math" panose="02040503050406030204" pitchFamily="18" charset="0"/>
                                      </a:rPr>
                                    </m:ctrlPr>
                                  </m:sSupPr>
                                  <m:e>
                                    <m:r>
                                      <a:rPr lang="zh-CN" altLang="en-US" i="1">
                                        <a:latin typeface="Cambria Math" panose="02040503050406030204" pitchFamily="18" charset="0"/>
                                      </a:rPr>
                                      <m:t>𝑅</m:t>
                                    </m:r>
                                  </m:e>
                                  <m:sup>
                                    <m:r>
                                      <a:rPr lang="zh-CN" altLang="en-US" i="0">
                                        <a:latin typeface="Cambria Math" panose="02040503050406030204" pitchFamily="18" charset="0"/>
                                      </a:rPr>
                                      <m:t>2</m:t>
                                    </m:r>
                                  </m:sup>
                                </m:sSup>
                                <m:r>
                                  <a:rPr lang="zh-CN" altLang="en-US" i="0">
                                    <a:latin typeface="Cambria Math" panose="02040503050406030204" pitchFamily="18" charset="0"/>
                                  </a:rPr>
                                  <m:t>×</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r>
                                      <a:rPr lang="zh-CN" altLang="en-US" i="1">
                                        <a:latin typeface="Cambria Math" panose="02040503050406030204" pitchFamily="18" charset="0"/>
                                      </a:rPr>
                                      <m:t>𝑃𝐷</m:t>
                                    </m:r>
                                  </m:sub>
                                  <m:sup>
                                    <m:r>
                                      <a:rPr lang="zh-CN" altLang="en-US" i="0">
                                        <a:latin typeface="Cambria Math" panose="02040503050406030204" pitchFamily="18" charset="0"/>
                                      </a:rPr>
                                      <m:t>2</m:t>
                                    </m:r>
                                  </m:sup>
                                </m:sSubSup>
                              </m:e>
                            </m:rad>
                          </m:e>
                        </m:mr>
                        <m:mr>
                          <m:e>
                            <m:r>
                              <m:rPr>
                                <m:nor/>
                              </m:rPr>
                              <a:rPr lang="zh-CN" altLang="en-US" i="1">
                                <a:latin typeface="Cambria Math" panose="02040503050406030204" pitchFamily="18" charset="0"/>
                              </a:rPr>
                              <m:t>    </m:t>
                            </m:r>
                          </m:e>
                        </m:mr>
                      </m:m>
                    </m:oMath>
                  </m:oMathPara>
                </a14:m>
                <a:endParaRPr lang="zh-CN" altLang="en-US" dirty="0"/>
              </a:p>
            </p:txBody>
          </p:sp>
        </mc:Choice>
        <mc:Fallback>
          <p:sp>
            <p:nvSpPr>
              <p:cNvPr id="5" name="矩形 4">
                <a:extLst>
                  <a:ext uri="{FF2B5EF4-FFF2-40B4-BE49-F238E27FC236}">
                    <a16:creationId xmlns:a16="http://schemas.microsoft.com/office/drawing/2014/main" id="{97F9C0DF-7CAB-495D-9D81-E84436E3A327}"/>
                  </a:ext>
                </a:extLst>
              </p:cNvPr>
              <p:cNvSpPr>
                <a:spLocks noRot="1" noChangeAspect="1" noMove="1" noResize="1" noEditPoints="1" noAdjustHandles="1" noChangeArrowheads="1" noChangeShapeType="1" noTextEdit="1"/>
              </p:cNvSpPr>
              <p:nvPr/>
            </p:nvSpPr>
            <p:spPr>
              <a:xfrm>
                <a:off x="1339176" y="5314130"/>
                <a:ext cx="3783343" cy="82490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EB335F56-B604-4015-8185-FEB5B838282A}"/>
                  </a:ext>
                </a:extLst>
              </p:cNvPr>
              <p:cNvSpPr/>
              <p:nvPr/>
            </p:nvSpPr>
            <p:spPr>
              <a:xfrm>
                <a:off x="1339176" y="4932458"/>
                <a:ext cx="5258170"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𝐴𝐸</m:t>
                      </m:r>
                      <m:r>
                        <m:rPr>
                          <m:nor/>
                        </m:rPr>
                        <a:rPr lang="zh-CN" altLang="en-US" i="1">
                          <a:latin typeface="Cambria Math" panose="02040503050406030204" pitchFamily="18" charset="0"/>
                        </a:rPr>
                        <m:t> </m:t>
                      </m:r>
                      <m:r>
                        <a:rPr lang="zh-CN" altLang="en-US">
                          <a:latin typeface="Cambria Math" panose="02040503050406030204" pitchFamily="18" charset="0"/>
                        </a:rPr>
                        <m:t>=</m:t>
                      </m:r>
                      <m:r>
                        <m:rPr>
                          <m:nor/>
                        </m:rPr>
                        <a:rPr lang="zh-CN" altLang="en-US" i="1">
                          <a:latin typeface="Cambria Math" panose="02040503050406030204" pitchFamily="18" charset="0"/>
                        </a:rPr>
                        <m:t> </m:t>
                      </m:r>
                      <m:r>
                        <a:rPr lang="zh-CN" altLang="en-US">
                          <a:latin typeface="Cambria Math" panose="02040503050406030204" pitchFamily="18" charset="0"/>
                        </a:rPr>
                        <m:t>1,200,000</m:t>
                      </m:r>
                      <m:r>
                        <m:rPr>
                          <m:nor/>
                        </m:rPr>
                        <a:rPr lang="zh-CN" altLang="en-US" i="1">
                          <a:latin typeface="Cambria Math" panose="02040503050406030204" pitchFamily="18" charset="0"/>
                        </a:rPr>
                        <m:t> </m:t>
                      </m:r>
                      <m:r>
                        <a:rPr lang="zh-CN" altLang="en-US">
                          <a:latin typeface="Cambria Math" panose="02040503050406030204" pitchFamily="18" charset="0"/>
                        </a:rPr>
                        <m:t>+</m:t>
                      </m:r>
                      <m:r>
                        <m:rPr>
                          <m:nor/>
                        </m:rPr>
                        <a:rPr lang="zh-CN" altLang="en-US" i="1">
                          <a:latin typeface="Cambria Math" panose="02040503050406030204" pitchFamily="18" charset="0"/>
                        </a:rPr>
                        <m:t> </m:t>
                      </m:r>
                      <m:r>
                        <a:rPr lang="zh-CN" altLang="en-US">
                          <a:latin typeface="Cambria Math" panose="02040503050406030204" pitchFamily="18" charset="0"/>
                        </a:rPr>
                        <m:t>800,000×75%</m:t>
                      </m:r>
                      <m:r>
                        <m:rPr>
                          <m:nor/>
                        </m:rPr>
                        <a:rPr lang="zh-CN" altLang="en-US" i="1">
                          <a:latin typeface="Cambria Math" panose="02040503050406030204" pitchFamily="18" charset="0"/>
                        </a:rPr>
                        <m:t> </m:t>
                      </m:r>
                      <m:r>
                        <a:rPr lang="zh-CN" altLang="en-US">
                          <a:latin typeface="Cambria Math" panose="02040503050406030204" pitchFamily="18" charset="0"/>
                        </a:rPr>
                        <m:t>=</m:t>
                      </m:r>
                      <m:r>
                        <m:rPr>
                          <m:nor/>
                        </m:rPr>
                        <a:rPr lang="zh-CN" altLang="en-US" i="1">
                          <a:latin typeface="Cambria Math" panose="02040503050406030204" pitchFamily="18" charset="0"/>
                        </a:rPr>
                        <m:t> </m:t>
                      </m:r>
                      <m:r>
                        <a:rPr lang="zh-CN" altLang="en-US">
                          <a:latin typeface="Cambria Math" panose="02040503050406030204" pitchFamily="18" charset="0"/>
                        </a:rPr>
                        <m:t>1,800,000</m:t>
                      </m:r>
                    </m:oMath>
                  </m:oMathPara>
                </a14:m>
                <a:endParaRPr lang="zh-CN" altLang="en-US" dirty="0"/>
              </a:p>
            </p:txBody>
          </p:sp>
        </mc:Choice>
        <mc:Fallback>
          <p:sp>
            <p:nvSpPr>
              <p:cNvPr id="6" name="矩形 5">
                <a:extLst>
                  <a:ext uri="{FF2B5EF4-FFF2-40B4-BE49-F238E27FC236}">
                    <a16:creationId xmlns:a16="http://schemas.microsoft.com/office/drawing/2014/main" id="{EB335F56-B604-4015-8185-FEB5B838282A}"/>
                  </a:ext>
                </a:extLst>
              </p:cNvPr>
              <p:cNvSpPr>
                <a:spLocks noRot="1" noChangeAspect="1" noMove="1" noResize="1" noEditPoints="1" noAdjustHandles="1" noChangeArrowheads="1" noChangeShapeType="1" noTextEdit="1"/>
              </p:cNvSpPr>
              <p:nvPr/>
            </p:nvSpPr>
            <p:spPr>
              <a:xfrm>
                <a:off x="1339176" y="4932458"/>
                <a:ext cx="5258170" cy="369332"/>
              </a:xfrm>
              <a:prstGeom prst="rect">
                <a:avLst/>
              </a:prstGeom>
              <a:blipFill>
                <a:blip r:embed="rId4"/>
                <a:stretch>
                  <a:fillRect b="-16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2DDE264B-5CB9-4E13-8E94-F8AE3162571D}"/>
                  </a:ext>
                </a:extLst>
              </p:cNvPr>
              <p:cNvSpPr/>
              <p:nvPr/>
            </p:nvSpPr>
            <p:spPr>
              <a:xfrm>
                <a:off x="1660610" y="6045291"/>
                <a:ext cx="4936736" cy="43236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r>
                        <a:rPr lang="zh-CN" altLang="en-US" i="1">
                          <a:latin typeface="Cambria Math" panose="02040503050406030204" pitchFamily="18" charset="0"/>
                        </a:rPr>
                        <m:t>𝐴𝐸</m:t>
                      </m:r>
                      <m:r>
                        <a:rPr lang="zh-CN" altLang="en-US">
                          <a:latin typeface="Cambria Math" panose="02040503050406030204" pitchFamily="18" charset="0"/>
                        </a:rPr>
                        <m:t>×</m:t>
                      </m:r>
                      <m:rad>
                        <m:radPr>
                          <m:degHide m:val="on"/>
                          <m:ctrlPr>
                            <a:rPr lang="zh-CN" altLang="en-US" i="1">
                              <a:latin typeface="Cambria Math" panose="02040503050406030204" pitchFamily="18" charset="0"/>
                            </a:rPr>
                          </m:ctrlPr>
                        </m:radPr>
                        <m:deg/>
                        <m:e>
                          <m:r>
                            <a:rPr lang="zh-CN" altLang="en-US">
                              <a:latin typeface="Cambria Math" panose="02040503050406030204" pitchFamily="18" charset="0"/>
                            </a:rPr>
                            <m:t>1%×30</m:t>
                          </m:r>
                          <m:sSup>
                            <m:sSupPr>
                              <m:ctrlPr>
                                <a:rPr lang="zh-CN" altLang="en-US" i="1">
                                  <a:latin typeface="Cambria Math" panose="02040503050406030204" pitchFamily="18" charset="0"/>
                                </a:rPr>
                              </m:ctrlPr>
                            </m:sSupPr>
                            <m:e>
                              <m:r>
                                <a:rPr lang="zh-CN" altLang="en-US">
                                  <a:latin typeface="Cambria Math" panose="02040503050406030204" pitchFamily="18" charset="0"/>
                                </a:rPr>
                                <m:t>%</m:t>
                              </m:r>
                            </m:e>
                            <m:sup>
                              <m:r>
                                <a:rPr lang="zh-CN" altLang="en-US">
                                  <a:latin typeface="Cambria Math" panose="02040503050406030204" pitchFamily="18" charset="0"/>
                                </a:rPr>
                                <m:t>2</m:t>
                              </m:r>
                            </m:sup>
                          </m:sSup>
                          <m:r>
                            <a:rPr lang="zh-CN" altLang="en-US">
                              <a:latin typeface="Cambria Math" panose="02040503050406030204" pitchFamily="18" charset="0"/>
                            </a:rPr>
                            <m:t>+40</m:t>
                          </m:r>
                          <m:sSup>
                            <m:sSupPr>
                              <m:ctrlPr>
                                <a:rPr lang="zh-CN" altLang="en-US" i="1">
                                  <a:latin typeface="Cambria Math" panose="02040503050406030204" pitchFamily="18" charset="0"/>
                                </a:rPr>
                              </m:ctrlPr>
                            </m:sSupPr>
                            <m:e>
                              <m:r>
                                <a:rPr lang="zh-CN" altLang="en-US">
                                  <a:latin typeface="Cambria Math" panose="02040503050406030204" pitchFamily="18" charset="0"/>
                                </a:rPr>
                                <m:t>%</m:t>
                              </m:r>
                            </m:e>
                            <m:sup>
                              <m:r>
                                <a:rPr lang="zh-CN" altLang="en-US">
                                  <a:latin typeface="Cambria Math" panose="02040503050406030204" pitchFamily="18" charset="0"/>
                                </a:rPr>
                                <m:t>2</m:t>
                              </m:r>
                            </m:sup>
                          </m:sSup>
                          <m:r>
                            <a:rPr lang="zh-CN" altLang="en-US">
                              <a:latin typeface="Cambria Math" panose="02040503050406030204" pitchFamily="18" charset="0"/>
                            </a:rPr>
                            <m:t>×5</m:t>
                          </m:r>
                          <m:sSup>
                            <m:sSupPr>
                              <m:ctrlPr>
                                <a:rPr lang="zh-CN" altLang="en-US" i="1">
                                  <a:latin typeface="Cambria Math" panose="02040503050406030204" pitchFamily="18" charset="0"/>
                                </a:rPr>
                              </m:ctrlPr>
                            </m:sSupPr>
                            <m:e>
                              <m:r>
                                <a:rPr lang="zh-CN" altLang="en-US">
                                  <a:latin typeface="Cambria Math" panose="02040503050406030204" pitchFamily="18" charset="0"/>
                                </a:rPr>
                                <m:t>%</m:t>
                              </m:r>
                            </m:e>
                            <m:sup>
                              <m:r>
                                <a:rPr lang="zh-CN" altLang="en-US">
                                  <a:latin typeface="Cambria Math" panose="02040503050406030204" pitchFamily="18" charset="0"/>
                                </a:rPr>
                                <m:t>2</m:t>
                              </m:r>
                            </m:sup>
                          </m:sSup>
                        </m:e>
                      </m:rad>
                      <m:r>
                        <a:rPr lang="zh-CN" altLang="en-US">
                          <a:latin typeface="Cambria Math" panose="02040503050406030204" pitchFamily="18" charset="0"/>
                        </a:rPr>
                        <m:t>=64,900</m:t>
                      </m:r>
                    </m:oMath>
                  </m:oMathPara>
                </a14:m>
                <a:endParaRPr lang="zh-CN" altLang="en-US" dirty="0"/>
              </a:p>
            </p:txBody>
          </p:sp>
        </mc:Choice>
        <mc:Fallback>
          <p:sp>
            <p:nvSpPr>
              <p:cNvPr id="7" name="矩形 6">
                <a:extLst>
                  <a:ext uri="{FF2B5EF4-FFF2-40B4-BE49-F238E27FC236}">
                    <a16:creationId xmlns:a16="http://schemas.microsoft.com/office/drawing/2014/main" id="{2DDE264B-5CB9-4E13-8E94-F8AE3162571D}"/>
                  </a:ext>
                </a:extLst>
              </p:cNvPr>
              <p:cNvSpPr>
                <a:spLocks noRot="1" noChangeAspect="1" noMove="1" noResize="1" noEditPoints="1" noAdjustHandles="1" noChangeArrowheads="1" noChangeShapeType="1" noTextEdit="1"/>
              </p:cNvSpPr>
              <p:nvPr/>
            </p:nvSpPr>
            <p:spPr>
              <a:xfrm>
                <a:off x="1660610" y="6045291"/>
                <a:ext cx="4936736" cy="432362"/>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2291632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Capital Structure in Banks</a:t>
            </a:r>
            <a:endParaRPr lang="zh-CN" altLang="en-US" sz="2800" dirty="0"/>
          </a:p>
        </p:txBody>
      </p:sp>
      <p:sp>
        <p:nvSpPr>
          <p:cNvPr id="3" name="文本占位符 2"/>
          <p:cNvSpPr>
            <a:spLocks noGrp="1"/>
          </p:cNvSpPr>
          <p:nvPr>
            <p:ph type="body" sz="quarter" idx="10"/>
          </p:nvPr>
        </p:nvSpPr>
        <p:spPr>
          <a:xfrm>
            <a:off x="393599" y="813469"/>
            <a:ext cx="11404800" cy="4655345"/>
          </a:xfrm>
        </p:spPr>
        <p:txBody>
          <a:bodyPr>
            <a:normAutofit fontScale="92500" lnSpcReduction="20000"/>
          </a:bodyPr>
          <a:lstStyle/>
          <a:p>
            <a:r>
              <a:rPr lang="en-US" altLang="zh-CN" dirty="0"/>
              <a:t>Portfolio Credit Risk</a:t>
            </a:r>
          </a:p>
          <a:p>
            <a:pPr lvl="1"/>
            <a:r>
              <a:rPr lang="en-US" altLang="zh-CN" dirty="0"/>
              <a:t>The </a:t>
            </a:r>
            <a:r>
              <a:rPr lang="en-US" altLang="zh-CN" b="1" dirty="0"/>
              <a:t>expected loss</a:t>
            </a:r>
            <a:r>
              <a:rPr lang="en-US" altLang="zh-CN" dirty="0"/>
              <a:t> of a portfolio of credits is straightforward to calculate because EL is </a:t>
            </a:r>
            <a:r>
              <a:rPr lang="en-US" altLang="zh-CN" u="sng" dirty="0"/>
              <a:t>linear and additive</a:t>
            </a:r>
            <a:r>
              <a:rPr lang="en-US" altLang="zh-CN" dirty="0"/>
              <a:t>.</a:t>
            </a:r>
          </a:p>
          <a:p>
            <a:pPr lvl="1"/>
            <a:endParaRPr lang="en-US" altLang="zh-CN" dirty="0"/>
          </a:p>
          <a:p>
            <a:pPr lvl="1"/>
            <a:endParaRPr lang="en-US" altLang="zh-CN" dirty="0"/>
          </a:p>
          <a:p>
            <a:pPr lvl="1"/>
            <a:endParaRPr lang="en-US" altLang="zh-CN" dirty="0"/>
          </a:p>
          <a:p>
            <a:pPr lvl="1"/>
            <a:r>
              <a:rPr lang="en-US" altLang="zh-CN" dirty="0"/>
              <a:t>When measuring </a:t>
            </a:r>
            <a:r>
              <a:rPr lang="en-US" altLang="zh-CN" b="1" dirty="0"/>
              <a:t>unexpected loss </a:t>
            </a:r>
            <a:r>
              <a:rPr lang="en-US" altLang="zh-CN" dirty="0"/>
              <a:t>at the portfolio level, we need to consider the effects of </a:t>
            </a:r>
            <a:r>
              <a:rPr lang="en-US" altLang="zh-CN" u="sng" dirty="0"/>
              <a:t>diversification</a:t>
            </a:r>
            <a:r>
              <a:rPr lang="en-US" altLang="zh-CN" dirty="0"/>
              <a:t> because – as always in portfolio theory – only the contribution of an asset to the overall portfolio risk matters in a portfolio context.</a:t>
            </a:r>
            <a:endParaRPr lang="zh-CN" altLang="en-US" dirty="0"/>
          </a:p>
          <a:p>
            <a:endParaRPr lang="zh-CN" altLang="en-US" dirty="0">
              <a:latin typeface="+mn-lt"/>
              <a:ea typeface="+mn-ea"/>
              <a:cs typeface="+mn-ea"/>
              <a:sym typeface="+mn-lt"/>
            </a:endParaRPr>
          </a:p>
        </p:txBody>
      </p:sp>
      <p:graphicFrame>
        <p:nvGraphicFramePr>
          <p:cNvPr id="4" name="对象 3">
            <a:extLst>
              <a:ext uri="{FF2B5EF4-FFF2-40B4-BE49-F238E27FC236}">
                <a16:creationId xmlns:a16="http://schemas.microsoft.com/office/drawing/2014/main" id="{42D36404-0746-4D2D-9B31-9BF19A001C48}"/>
              </a:ext>
            </a:extLst>
          </p:cNvPr>
          <p:cNvGraphicFramePr>
            <a:graphicFrameLocks/>
          </p:cNvGraphicFramePr>
          <p:nvPr>
            <p:extLst>
              <p:ext uri="{D42A27DB-BD31-4B8C-83A1-F6EECF244321}">
                <p14:modId xmlns:p14="http://schemas.microsoft.com/office/powerpoint/2010/main" val="4248139392"/>
              </p:ext>
            </p:extLst>
          </p:nvPr>
        </p:nvGraphicFramePr>
        <p:xfrm>
          <a:off x="4499767" y="2431528"/>
          <a:ext cx="3192463" cy="709613"/>
        </p:xfrm>
        <a:graphic>
          <a:graphicData uri="http://schemas.openxmlformats.org/presentationml/2006/ole">
            <mc:AlternateContent xmlns:mc="http://schemas.openxmlformats.org/markup-compatibility/2006">
              <mc:Choice xmlns:v="urn:schemas-microsoft-com:vml" Requires="v">
                <p:oleObj spid="_x0000_s29700" name="Equation" r:id="rId4" imgW="1688760" imgH="368280" progId="Equation.DSMT4">
                  <p:embed/>
                </p:oleObj>
              </mc:Choice>
              <mc:Fallback>
                <p:oleObj name="Equation" r:id="rId4" imgW="1688760" imgH="368280" progId="Equation.DSMT4">
                  <p:embed/>
                  <p:pic>
                    <p:nvPicPr>
                      <p:cNvPr id="2" name="对象 1"/>
                      <p:cNvPicPr>
                        <a:picLocks noChangeArrowheads="1"/>
                      </p:cNvPicPr>
                      <p:nvPr/>
                    </p:nvPicPr>
                    <p:blipFill>
                      <a:blip r:embed="rId5"/>
                      <a:srcRect/>
                      <a:stretch>
                        <a:fillRect/>
                      </a:stretch>
                    </p:blipFill>
                    <p:spPr bwMode="auto">
                      <a:xfrm>
                        <a:off x="4499767" y="2431528"/>
                        <a:ext cx="3192463" cy="709613"/>
                      </a:xfrm>
                      <a:prstGeom prst="rect">
                        <a:avLst/>
                      </a:prstGeom>
                      <a:noFill/>
                      <a:ln w="19050">
                        <a:solidFill>
                          <a:schemeClr val="accent1">
                            <a:lumMod val="75000"/>
                          </a:schemeClr>
                        </a:solidFill>
                      </a:ln>
                    </p:spPr>
                  </p:pic>
                </p:oleObj>
              </mc:Fallback>
            </mc:AlternateContent>
          </a:graphicData>
        </a:graphic>
      </p:graphicFrame>
      <p:graphicFrame>
        <p:nvGraphicFramePr>
          <p:cNvPr id="5" name="对象 4">
            <a:extLst>
              <a:ext uri="{FF2B5EF4-FFF2-40B4-BE49-F238E27FC236}">
                <a16:creationId xmlns:a16="http://schemas.microsoft.com/office/drawing/2014/main" id="{1982F3DD-5DE4-40B2-94EA-3D8AC6293706}"/>
              </a:ext>
            </a:extLst>
          </p:cNvPr>
          <p:cNvGraphicFramePr>
            <a:graphicFrameLocks/>
          </p:cNvGraphicFramePr>
          <p:nvPr>
            <p:extLst>
              <p:ext uri="{D42A27DB-BD31-4B8C-83A1-F6EECF244321}">
                <p14:modId xmlns:p14="http://schemas.microsoft.com/office/powerpoint/2010/main" val="1070346257"/>
              </p:ext>
            </p:extLst>
          </p:nvPr>
        </p:nvGraphicFramePr>
        <p:xfrm>
          <a:off x="4702966" y="5236493"/>
          <a:ext cx="2786063" cy="808038"/>
        </p:xfrm>
        <a:graphic>
          <a:graphicData uri="http://schemas.openxmlformats.org/presentationml/2006/ole">
            <mc:AlternateContent xmlns:mc="http://schemas.openxmlformats.org/markup-compatibility/2006">
              <mc:Choice xmlns:v="urn:schemas-microsoft-com:vml" Requires="v">
                <p:oleObj spid="_x0000_s29701" name="Equation" r:id="rId6" imgW="1473120" imgH="419040" progId="Equation.DSMT4">
                  <p:embed/>
                </p:oleObj>
              </mc:Choice>
              <mc:Fallback>
                <p:oleObj name="Equation" r:id="rId6" imgW="1473120" imgH="419040" progId="Equation.DSMT4">
                  <p:embed/>
                  <p:pic>
                    <p:nvPicPr>
                      <p:cNvPr id="10" name="对象 9"/>
                      <p:cNvPicPr>
                        <a:picLocks noChangeArrowheads="1"/>
                      </p:cNvPicPr>
                      <p:nvPr/>
                    </p:nvPicPr>
                    <p:blipFill>
                      <a:blip r:embed="rId7"/>
                      <a:srcRect/>
                      <a:stretch>
                        <a:fillRect/>
                      </a:stretch>
                    </p:blipFill>
                    <p:spPr bwMode="auto">
                      <a:xfrm>
                        <a:off x="4702966" y="5236493"/>
                        <a:ext cx="2786063" cy="808038"/>
                      </a:xfrm>
                      <a:prstGeom prst="rect">
                        <a:avLst/>
                      </a:prstGeom>
                      <a:noFill/>
                      <a:ln w="19050">
                        <a:solidFill>
                          <a:schemeClr val="accent1">
                            <a:lumMod val="75000"/>
                          </a:schemeClr>
                        </a:solidFill>
                      </a:ln>
                    </p:spPr>
                  </p:pic>
                </p:oleObj>
              </mc:Fallback>
            </mc:AlternateContent>
          </a:graphicData>
        </a:graphic>
      </p:graphicFrame>
    </p:spTree>
    <p:extLst>
      <p:ext uri="{BB962C8B-B14F-4D97-AF65-F5344CB8AC3E}">
        <p14:creationId xmlns:p14="http://schemas.microsoft.com/office/powerpoint/2010/main" val="299680884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Capital Structure in Banks</a:t>
            </a:r>
            <a:endParaRPr lang="zh-CN" altLang="en-US" sz="2800" dirty="0"/>
          </a:p>
        </p:txBody>
      </p:sp>
      <p:sp>
        <p:nvSpPr>
          <p:cNvPr id="3" name="文本占位符 2"/>
          <p:cNvSpPr>
            <a:spLocks noGrp="1"/>
          </p:cNvSpPr>
          <p:nvPr>
            <p:ph type="body" sz="quarter" idx="10"/>
          </p:nvPr>
        </p:nvSpPr>
        <p:spPr>
          <a:xfrm>
            <a:off x="393599" y="813470"/>
            <a:ext cx="11404800" cy="3705776"/>
          </a:xfrm>
        </p:spPr>
        <p:txBody>
          <a:bodyPr>
            <a:normAutofit fontScale="92500" lnSpcReduction="20000"/>
          </a:bodyPr>
          <a:lstStyle/>
          <a:p>
            <a:r>
              <a:rPr lang="en-US" altLang="zh-CN" dirty="0"/>
              <a:t>Unexpected Loss Contribution</a:t>
            </a:r>
          </a:p>
          <a:p>
            <a:pPr lvl="1"/>
            <a:endParaRPr lang="en-US" altLang="zh-CN" b="1" dirty="0"/>
          </a:p>
          <a:p>
            <a:pPr lvl="1"/>
            <a:endParaRPr lang="en-US" altLang="zh-CN" b="1" dirty="0"/>
          </a:p>
          <a:p>
            <a:pPr lvl="1"/>
            <a:endParaRPr lang="en-US" altLang="zh-CN" b="1" dirty="0"/>
          </a:p>
          <a:p>
            <a:pPr lvl="1"/>
            <a:endParaRPr lang="en-US" altLang="zh-CN" b="1" dirty="0"/>
          </a:p>
          <a:p>
            <a:pPr lvl="1"/>
            <a:endParaRPr lang="en-US" altLang="zh-CN" b="1" dirty="0"/>
          </a:p>
          <a:p>
            <a:pPr lvl="1"/>
            <a:endParaRPr lang="en-US" altLang="zh-CN" b="1" dirty="0"/>
          </a:p>
          <a:p>
            <a:r>
              <a:rPr lang="en-US" altLang="zh-CN" dirty="0"/>
              <a:t>Total contribution to the portfolio’s UL</a:t>
            </a:r>
            <a:endParaRPr lang="zh-CN" altLang="en-US" dirty="0"/>
          </a:p>
          <a:p>
            <a:endParaRPr lang="zh-CN" altLang="en-US" dirty="0">
              <a:latin typeface="+mn-lt"/>
              <a:ea typeface="+mn-ea"/>
              <a:cs typeface="+mn-ea"/>
              <a:sym typeface="+mn-lt"/>
            </a:endParaRPr>
          </a:p>
        </p:txBody>
      </p:sp>
      <p:graphicFrame>
        <p:nvGraphicFramePr>
          <p:cNvPr id="4" name="对象 3">
            <a:extLst>
              <a:ext uri="{FF2B5EF4-FFF2-40B4-BE49-F238E27FC236}">
                <a16:creationId xmlns:a16="http://schemas.microsoft.com/office/drawing/2014/main" id="{F63AA477-FC10-4089-B429-93E034D979BA}"/>
              </a:ext>
            </a:extLst>
          </p:cNvPr>
          <p:cNvGraphicFramePr>
            <a:graphicFrameLocks/>
          </p:cNvGraphicFramePr>
          <p:nvPr>
            <p:extLst>
              <p:ext uri="{D42A27DB-BD31-4B8C-83A1-F6EECF244321}">
                <p14:modId xmlns:p14="http://schemas.microsoft.com/office/powerpoint/2010/main" val="1002167080"/>
              </p:ext>
            </p:extLst>
          </p:nvPr>
        </p:nvGraphicFramePr>
        <p:xfrm>
          <a:off x="3302000" y="1508125"/>
          <a:ext cx="5584825" cy="2160588"/>
        </p:xfrm>
        <a:graphic>
          <a:graphicData uri="http://schemas.openxmlformats.org/presentationml/2006/ole">
            <mc:AlternateContent xmlns:mc="http://schemas.openxmlformats.org/markup-compatibility/2006">
              <mc:Choice xmlns:v="urn:schemas-microsoft-com:vml" Requires="v">
                <p:oleObj spid="_x0000_s30727" name="Equation" r:id="rId4" imgW="2806560" imgH="1079280" progId="Equation.DSMT4">
                  <p:embed/>
                </p:oleObj>
              </mc:Choice>
              <mc:Fallback>
                <p:oleObj name="Equation" r:id="rId4" imgW="2806560" imgH="1079280" progId="Equation.DSMT4">
                  <p:embed/>
                  <p:pic>
                    <p:nvPicPr>
                      <p:cNvPr id="2" name="对象 1"/>
                      <p:cNvPicPr>
                        <a:picLocks noChangeArrowheads="1"/>
                      </p:cNvPicPr>
                      <p:nvPr/>
                    </p:nvPicPr>
                    <p:blipFill>
                      <a:blip r:embed="rId5"/>
                      <a:srcRect/>
                      <a:stretch>
                        <a:fillRect/>
                      </a:stretch>
                    </p:blipFill>
                    <p:spPr bwMode="auto">
                      <a:xfrm>
                        <a:off x="3302000" y="1508125"/>
                        <a:ext cx="5584825" cy="2160588"/>
                      </a:xfrm>
                      <a:prstGeom prst="rect">
                        <a:avLst/>
                      </a:prstGeom>
                      <a:noFill/>
                      <a:ln w="19050">
                        <a:solidFill>
                          <a:schemeClr val="accent1">
                            <a:lumMod val="75000"/>
                          </a:schemeClr>
                        </a:solidFill>
                        <a:miter lim="800000"/>
                        <a:headEnd/>
                        <a:tailEnd/>
                      </a:ln>
                      <a:extLst/>
                    </p:spPr>
                  </p:pic>
                </p:oleObj>
              </mc:Fallback>
            </mc:AlternateContent>
          </a:graphicData>
        </a:graphic>
      </p:graphicFrame>
      <p:graphicFrame>
        <p:nvGraphicFramePr>
          <p:cNvPr id="5" name="对象 4">
            <a:extLst>
              <a:ext uri="{FF2B5EF4-FFF2-40B4-BE49-F238E27FC236}">
                <a16:creationId xmlns:a16="http://schemas.microsoft.com/office/drawing/2014/main" id="{60BF97EB-2454-41F8-A01C-8CF2E9081FF0}"/>
              </a:ext>
            </a:extLst>
          </p:cNvPr>
          <p:cNvGraphicFramePr>
            <a:graphicFrameLocks/>
          </p:cNvGraphicFramePr>
          <p:nvPr>
            <p:extLst>
              <p:ext uri="{D42A27DB-BD31-4B8C-83A1-F6EECF244321}">
                <p14:modId xmlns:p14="http://schemas.microsoft.com/office/powerpoint/2010/main" val="2225329119"/>
              </p:ext>
            </p:extLst>
          </p:nvPr>
        </p:nvGraphicFramePr>
        <p:xfrm>
          <a:off x="2089944" y="4853538"/>
          <a:ext cx="2424112" cy="720725"/>
        </p:xfrm>
        <a:graphic>
          <a:graphicData uri="http://schemas.openxmlformats.org/presentationml/2006/ole">
            <mc:AlternateContent xmlns:mc="http://schemas.openxmlformats.org/markup-compatibility/2006">
              <mc:Choice xmlns:v="urn:schemas-microsoft-com:vml" Requires="v">
                <p:oleObj spid="_x0000_s30728" name="Equation" r:id="rId6" imgW="1269720" imgH="368280" progId="Equation.DSMT4">
                  <p:embed/>
                </p:oleObj>
              </mc:Choice>
              <mc:Fallback>
                <p:oleObj name="Equation" r:id="rId6" imgW="1269720" imgH="368280" progId="Equation.DSMT4">
                  <p:embed/>
                  <p:pic>
                    <p:nvPicPr>
                      <p:cNvPr id="11" name="对象 10"/>
                      <p:cNvPicPr>
                        <a:picLocks noChangeArrowheads="1"/>
                      </p:cNvPicPr>
                      <p:nvPr/>
                    </p:nvPicPr>
                    <p:blipFill>
                      <a:blip r:embed="rId7"/>
                      <a:srcRect/>
                      <a:stretch>
                        <a:fillRect/>
                      </a:stretch>
                    </p:blipFill>
                    <p:spPr bwMode="auto">
                      <a:xfrm>
                        <a:off x="2089944" y="4853538"/>
                        <a:ext cx="2424112" cy="720725"/>
                      </a:xfrm>
                      <a:prstGeom prst="rect">
                        <a:avLst/>
                      </a:prstGeom>
                      <a:noFill/>
                      <a:ln w="19050">
                        <a:solidFill>
                          <a:schemeClr val="accent1">
                            <a:lumMod val="75000"/>
                          </a:schemeClr>
                        </a:solidFill>
                        <a:miter lim="800000"/>
                        <a:headEnd/>
                        <a:tailEnd/>
                      </a:ln>
                      <a:extLst/>
                    </p:spPr>
                  </p:pic>
                </p:oleObj>
              </mc:Fallback>
            </mc:AlternateContent>
          </a:graphicData>
        </a:graphic>
      </p:graphicFrame>
      <p:graphicFrame>
        <p:nvGraphicFramePr>
          <p:cNvPr id="7" name="对象 6">
            <a:extLst>
              <a:ext uri="{FF2B5EF4-FFF2-40B4-BE49-F238E27FC236}">
                <a16:creationId xmlns:a16="http://schemas.microsoft.com/office/drawing/2014/main" id="{9668D3CE-375B-49CD-8521-815AFD02DF96}"/>
              </a:ext>
            </a:extLst>
          </p:cNvPr>
          <p:cNvGraphicFramePr>
            <a:graphicFrameLocks/>
          </p:cNvGraphicFramePr>
          <p:nvPr>
            <p:extLst>
              <p:ext uri="{D42A27DB-BD31-4B8C-83A1-F6EECF244321}">
                <p14:modId xmlns:p14="http://schemas.microsoft.com/office/powerpoint/2010/main" val="3484262923"/>
              </p:ext>
            </p:extLst>
          </p:nvPr>
        </p:nvGraphicFramePr>
        <p:xfrm>
          <a:off x="6803231" y="4686057"/>
          <a:ext cx="4167187" cy="1055688"/>
        </p:xfrm>
        <a:graphic>
          <a:graphicData uri="http://schemas.openxmlformats.org/presentationml/2006/ole">
            <mc:AlternateContent xmlns:mc="http://schemas.openxmlformats.org/markup-compatibility/2006">
              <mc:Choice xmlns:v="urn:schemas-microsoft-com:vml" Requires="v">
                <p:oleObj spid="_x0000_s30729" name="Equation" r:id="rId8" imgW="2082600" imgH="545760" progId="Equation.DSMT4">
                  <p:embed/>
                </p:oleObj>
              </mc:Choice>
              <mc:Fallback>
                <p:oleObj name="Equation" r:id="rId8" imgW="2082600" imgH="545760" progId="Equation.DSMT4">
                  <p:embed/>
                  <p:pic>
                    <p:nvPicPr>
                      <p:cNvPr id="10" name="对象 9"/>
                      <p:cNvPicPr>
                        <a:picLocks noChangeArrowheads="1"/>
                      </p:cNvPicPr>
                      <p:nvPr/>
                    </p:nvPicPr>
                    <p:blipFill>
                      <a:blip r:embed="rId9"/>
                      <a:srcRect/>
                      <a:stretch>
                        <a:fillRect/>
                      </a:stretch>
                    </p:blipFill>
                    <p:spPr bwMode="auto">
                      <a:xfrm>
                        <a:off x="6803231" y="4686057"/>
                        <a:ext cx="4167187" cy="1055688"/>
                      </a:xfrm>
                      <a:prstGeom prst="rect">
                        <a:avLst/>
                      </a:prstGeom>
                      <a:noFill/>
                      <a:ln w="19050">
                        <a:solidFill>
                          <a:schemeClr val="accent1">
                            <a:lumMod val="75000"/>
                          </a:schemeClr>
                        </a:solidFill>
                        <a:miter lim="800000"/>
                        <a:headEnd/>
                        <a:tailEnd/>
                      </a:ln>
                      <a:extLst/>
                    </p:spPr>
                  </p:pic>
                </p:oleObj>
              </mc:Fallback>
            </mc:AlternateContent>
          </a:graphicData>
        </a:graphic>
      </p:graphicFrame>
    </p:spTree>
    <p:extLst>
      <p:ext uri="{BB962C8B-B14F-4D97-AF65-F5344CB8AC3E}">
        <p14:creationId xmlns:p14="http://schemas.microsoft.com/office/powerpoint/2010/main" val="372092087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Capital Structure in Banks</a:t>
            </a:r>
            <a:endParaRPr lang="zh-CN" altLang="en-US" sz="2800" dirty="0"/>
          </a:p>
        </p:txBody>
      </p:sp>
      <p:sp>
        <p:nvSpPr>
          <p:cNvPr id="3" name="文本占位符 2"/>
          <p:cNvSpPr>
            <a:spLocks noGrp="1"/>
          </p:cNvSpPr>
          <p:nvPr>
            <p:ph type="body" sz="quarter" idx="10"/>
          </p:nvPr>
        </p:nvSpPr>
        <p:spPr/>
        <p:txBody>
          <a:bodyPr>
            <a:normAutofit fontScale="92500" lnSpcReduction="20000"/>
          </a:bodyPr>
          <a:lstStyle/>
          <a:p>
            <a:pPr>
              <a:lnSpc>
                <a:spcPct val="140000"/>
              </a:lnSpc>
            </a:pPr>
            <a:r>
              <a:rPr lang="en-US" altLang="zh-CN" dirty="0"/>
              <a:t>Economic Capital</a:t>
            </a:r>
          </a:p>
          <a:p>
            <a:pPr lvl="1">
              <a:lnSpc>
                <a:spcPct val="140000"/>
              </a:lnSpc>
            </a:pPr>
            <a:r>
              <a:rPr lang="en-US" altLang="zh-CN" dirty="0"/>
              <a:t>As defined previously, the amount of economic capital needed is </a:t>
            </a:r>
            <a:r>
              <a:rPr lang="en-US" altLang="zh-CN" u="sng" dirty="0"/>
              <a:t>the distance between the expected outcome and the unexpected (negative) outcome at a certain confidence level</a:t>
            </a:r>
            <a:r>
              <a:rPr lang="en-US" altLang="zh-CN" dirty="0"/>
              <a:t>.</a:t>
            </a:r>
          </a:p>
          <a:p>
            <a:pPr lvl="1">
              <a:lnSpc>
                <a:spcPct val="140000"/>
              </a:lnSpc>
            </a:pPr>
            <a:r>
              <a:rPr lang="en-US" altLang="zh-CN" dirty="0"/>
              <a:t>Unexpected loss is translated into economic capital for credit risk in three steps: </a:t>
            </a:r>
          </a:p>
          <a:p>
            <a:pPr lvl="2">
              <a:lnSpc>
                <a:spcPct val="140000"/>
              </a:lnSpc>
            </a:pPr>
            <a:r>
              <a:rPr lang="en-US" altLang="zh-CN" dirty="0"/>
              <a:t>First, the </a:t>
            </a:r>
            <a:r>
              <a:rPr lang="en-US" altLang="zh-CN" u="sng" dirty="0"/>
              <a:t>standalone unexpected loss is calculated</a:t>
            </a:r>
            <a:r>
              <a:rPr lang="en-US" altLang="zh-CN" dirty="0"/>
              <a:t>.</a:t>
            </a:r>
          </a:p>
          <a:p>
            <a:pPr lvl="2">
              <a:lnSpc>
                <a:spcPct val="140000"/>
              </a:lnSpc>
            </a:pPr>
            <a:r>
              <a:rPr lang="en-US" altLang="zh-CN" dirty="0"/>
              <a:t>Then, the </a:t>
            </a:r>
            <a:r>
              <a:rPr lang="en-US" altLang="zh-CN" u="sng" dirty="0"/>
              <a:t>contribution of the standalone UL to the UL of the bank portfolio is determined</a:t>
            </a:r>
            <a:r>
              <a:rPr lang="en-US" altLang="zh-CN" dirty="0"/>
              <a:t>.</a:t>
            </a:r>
          </a:p>
          <a:p>
            <a:pPr lvl="2">
              <a:lnSpc>
                <a:spcPct val="140000"/>
              </a:lnSpc>
            </a:pPr>
            <a:r>
              <a:rPr lang="en-US" altLang="zh-CN" dirty="0"/>
              <a:t>Finally, this </a:t>
            </a:r>
            <a:r>
              <a:rPr lang="en-US" altLang="zh-CN" u="sng" dirty="0"/>
              <a:t>unexpected loss contribution (ULC) is translated into economic capital</a:t>
            </a:r>
            <a:r>
              <a:rPr lang="en-US" altLang="zh-CN" dirty="0"/>
              <a:t> by determining the distance between EL and the confidence level to which the portfolio is intended to be backed by economic capital.</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48512784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Capital Structure in Banks</a:t>
            </a:r>
            <a:endParaRPr lang="zh-CN" altLang="en-US" sz="2800" dirty="0"/>
          </a:p>
        </p:txBody>
      </p:sp>
      <p:pic>
        <p:nvPicPr>
          <p:cNvPr id="5" name="图片 3">
            <a:extLst>
              <a:ext uri="{FF2B5EF4-FFF2-40B4-BE49-F238E27FC236}">
                <a16:creationId xmlns:a16="http://schemas.microsoft.com/office/drawing/2014/main" id="{B074F9BD-9314-4B70-A48F-0859D8294E16}"/>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2820036" y="1196975"/>
            <a:ext cx="6551928" cy="3455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对象 5">
            <a:extLst>
              <a:ext uri="{FF2B5EF4-FFF2-40B4-BE49-F238E27FC236}">
                <a16:creationId xmlns:a16="http://schemas.microsoft.com/office/drawing/2014/main" id="{EF66F6D1-A15A-4EA7-99D1-803776E34325}"/>
              </a:ext>
            </a:extLst>
          </p:cNvPr>
          <p:cNvGraphicFramePr>
            <a:graphicFrameLocks/>
          </p:cNvGraphicFramePr>
          <p:nvPr>
            <p:extLst>
              <p:ext uri="{D42A27DB-BD31-4B8C-83A1-F6EECF244321}">
                <p14:modId xmlns:p14="http://schemas.microsoft.com/office/powerpoint/2010/main" val="4120323726"/>
              </p:ext>
            </p:extLst>
          </p:nvPr>
        </p:nvGraphicFramePr>
        <p:xfrm>
          <a:off x="2298439" y="5462901"/>
          <a:ext cx="3471862" cy="395287"/>
        </p:xfrm>
        <a:graphic>
          <a:graphicData uri="http://schemas.openxmlformats.org/presentationml/2006/ole">
            <mc:AlternateContent xmlns:mc="http://schemas.openxmlformats.org/markup-compatibility/2006">
              <mc:Choice xmlns:v="urn:schemas-microsoft-com:vml" Requires="v">
                <p:oleObj spid="_x0000_s31749" name="Equation" r:id="rId5" imgW="1701720" imgH="190440" progId="Equation.DSMT4">
                  <p:embed/>
                </p:oleObj>
              </mc:Choice>
              <mc:Fallback>
                <p:oleObj name="Equation" r:id="rId5" imgW="1701720" imgH="190440" progId="Equation.DSMT4">
                  <p:embed/>
                  <p:pic>
                    <p:nvPicPr>
                      <p:cNvPr id="3" name="对象 2"/>
                      <p:cNvPicPr>
                        <a:picLocks noChangeArrowheads="1"/>
                      </p:cNvPicPr>
                      <p:nvPr/>
                    </p:nvPicPr>
                    <p:blipFill>
                      <a:blip r:embed="rId6"/>
                      <a:srcRect/>
                      <a:stretch>
                        <a:fillRect/>
                      </a:stretch>
                    </p:blipFill>
                    <p:spPr bwMode="auto">
                      <a:xfrm>
                        <a:off x="2298439" y="5462901"/>
                        <a:ext cx="3471862" cy="395287"/>
                      </a:xfrm>
                      <a:prstGeom prst="rect">
                        <a:avLst/>
                      </a:prstGeom>
                      <a:noFill/>
                      <a:ln w="19050">
                        <a:solidFill>
                          <a:schemeClr val="accent1">
                            <a:lumMod val="75000"/>
                          </a:schemeClr>
                        </a:solidFill>
                        <a:miter lim="800000"/>
                        <a:headEnd/>
                        <a:tailEnd/>
                      </a:ln>
                      <a:extLst/>
                    </p:spPr>
                  </p:pic>
                </p:oleObj>
              </mc:Fallback>
            </mc:AlternateContent>
          </a:graphicData>
        </a:graphic>
      </p:graphicFrame>
      <p:graphicFrame>
        <p:nvGraphicFramePr>
          <p:cNvPr id="7" name="对象 6">
            <a:extLst>
              <a:ext uri="{FF2B5EF4-FFF2-40B4-BE49-F238E27FC236}">
                <a16:creationId xmlns:a16="http://schemas.microsoft.com/office/drawing/2014/main" id="{CF14AA93-2BD7-4E2E-9ED7-C0B6F6817322}"/>
              </a:ext>
            </a:extLst>
          </p:cNvPr>
          <p:cNvGraphicFramePr>
            <a:graphicFrameLocks/>
          </p:cNvGraphicFramePr>
          <p:nvPr>
            <p:extLst>
              <p:ext uri="{D42A27DB-BD31-4B8C-83A1-F6EECF244321}">
                <p14:modId xmlns:p14="http://schemas.microsoft.com/office/powerpoint/2010/main" val="3088328286"/>
              </p:ext>
            </p:extLst>
          </p:nvPr>
        </p:nvGraphicFramePr>
        <p:xfrm>
          <a:off x="6376726" y="5462901"/>
          <a:ext cx="3471863" cy="395287"/>
        </p:xfrm>
        <a:graphic>
          <a:graphicData uri="http://schemas.openxmlformats.org/presentationml/2006/ole">
            <mc:AlternateContent xmlns:mc="http://schemas.openxmlformats.org/markup-compatibility/2006">
              <mc:Choice xmlns:v="urn:schemas-microsoft-com:vml" Requires="v">
                <p:oleObj spid="_x0000_s31750" name="Equation" r:id="rId7" imgW="1726920" imgH="190440" progId="Equation.DSMT4">
                  <p:embed/>
                </p:oleObj>
              </mc:Choice>
              <mc:Fallback>
                <p:oleObj name="Equation" r:id="rId7" imgW="1726920" imgH="190440" progId="Equation.DSMT4">
                  <p:embed/>
                  <p:pic>
                    <p:nvPicPr>
                      <p:cNvPr id="9" name="对象 8"/>
                      <p:cNvPicPr>
                        <a:picLocks noChangeArrowheads="1"/>
                      </p:cNvPicPr>
                      <p:nvPr/>
                    </p:nvPicPr>
                    <p:blipFill>
                      <a:blip r:embed="rId8"/>
                      <a:srcRect/>
                      <a:stretch>
                        <a:fillRect/>
                      </a:stretch>
                    </p:blipFill>
                    <p:spPr bwMode="auto">
                      <a:xfrm>
                        <a:off x="6376726" y="5462901"/>
                        <a:ext cx="3471863" cy="395287"/>
                      </a:xfrm>
                      <a:prstGeom prst="rect">
                        <a:avLst/>
                      </a:prstGeom>
                      <a:noFill/>
                      <a:ln w="19050">
                        <a:solidFill>
                          <a:schemeClr val="accent1">
                            <a:lumMod val="75000"/>
                          </a:schemeClr>
                        </a:solidFill>
                        <a:miter lim="800000"/>
                        <a:headEnd/>
                        <a:tailEnd/>
                      </a:ln>
                      <a:extLst/>
                    </p:spPr>
                  </p:pic>
                </p:oleObj>
              </mc:Fallback>
            </mc:AlternateContent>
          </a:graphicData>
        </a:graphic>
      </p:graphicFrame>
      <p:graphicFrame>
        <p:nvGraphicFramePr>
          <p:cNvPr id="8" name="对象 7">
            <a:extLst>
              <a:ext uri="{FF2B5EF4-FFF2-40B4-BE49-F238E27FC236}">
                <a16:creationId xmlns:a16="http://schemas.microsoft.com/office/drawing/2014/main" id="{A30974CB-4977-4DC7-AC6A-A96B68EA6EB0}"/>
              </a:ext>
            </a:extLst>
          </p:cNvPr>
          <p:cNvGraphicFramePr>
            <a:graphicFrameLocks/>
          </p:cNvGraphicFramePr>
          <p:nvPr>
            <p:extLst>
              <p:ext uri="{D42A27DB-BD31-4B8C-83A1-F6EECF244321}">
                <p14:modId xmlns:p14="http://schemas.microsoft.com/office/powerpoint/2010/main" val="660670883"/>
              </p:ext>
            </p:extLst>
          </p:nvPr>
        </p:nvGraphicFramePr>
        <p:xfrm>
          <a:off x="2253989" y="6074088"/>
          <a:ext cx="2693987" cy="396875"/>
        </p:xfrm>
        <a:graphic>
          <a:graphicData uri="http://schemas.openxmlformats.org/presentationml/2006/ole">
            <mc:AlternateContent xmlns:mc="http://schemas.openxmlformats.org/markup-compatibility/2006">
              <mc:Choice xmlns:v="urn:schemas-microsoft-com:vml" Requires="v">
                <p:oleObj spid="_x0000_s31751" name="Equation" r:id="rId9" imgW="1320480" imgH="190440" progId="Equation.DSMT4">
                  <p:embed/>
                </p:oleObj>
              </mc:Choice>
              <mc:Fallback>
                <p:oleObj name="Equation" r:id="rId9" imgW="1320480" imgH="190440" progId="Equation.DSMT4">
                  <p:embed/>
                  <p:pic>
                    <p:nvPicPr>
                      <p:cNvPr id="6" name="对象 5"/>
                      <p:cNvPicPr>
                        <a:picLocks noChangeArrowheads="1"/>
                      </p:cNvPicPr>
                      <p:nvPr/>
                    </p:nvPicPr>
                    <p:blipFill>
                      <a:blip r:embed="rId10"/>
                      <a:srcRect/>
                      <a:stretch>
                        <a:fillRect/>
                      </a:stretch>
                    </p:blipFill>
                    <p:spPr bwMode="auto">
                      <a:xfrm>
                        <a:off x="2253989" y="6074088"/>
                        <a:ext cx="2693987" cy="396875"/>
                      </a:xfrm>
                      <a:prstGeom prst="rect">
                        <a:avLst/>
                      </a:prstGeom>
                      <a:noFill/>
                      <a:ln w="19050">
                        <a:noFill/>
                        <a:miter lim="800000"/>
                        <a:headEnd/>
                        <a:tailEnd/>
                      </a:ln>
                      <a:extLst/>
                    </p:spPr>
                  </p:pic>
                </p:oleObj>
              </mc:Fallback>
            </mc:AlternateContent>
          </a:graphicData>
        </a:graphic>
      </p:graphicFrame>
      <p:sp>
        <p:nvSpPr>
          <p:cNvPr id="9" name="圆角矩形 6">
            <a:extLst>
              <a:ext uri="{FF2B5EF4-FFF2-40B4-BE49-F238E27FC236}">
                <a16:creationId xmlns:a16="http://schemas.microsoft.com/office/drawing/2014/main" id="{18AD999B-4254-41D4-88AF-1F0EB379B368}"/>
              </a:ext>
            </a:extLst>
          </p:cNvPr>
          <p:cNvSpPr/>
          <p:nvPr/>
        </p:nvSpPr>
        <p:spPr>
          <a:xfrm>
            <a:off x="2676020" y="1197455"/>
            <a:ext cx="6839960" cy="3599920"/>
          </a:xfrm>
          <a:prstGeom prst="round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7970367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Capital Structure in Banks</a:t>
            </a:r>
            <a:endParaRPr lang="zh-CN" altLang="en-US" sz="2800" dirty="0"/>
          </a:p>
        </p:txBody>
      </p:sp>
      <p:sp>
        <p:nvSpPr>
          <p:cNvPr id="3" name="文本占位符 2"/>
          <p:cNvSpPr>
            <a:spLocks noGrp="1"/>
          </p:cNvSpPr>
          <p:nvPr>
            <p:ph type="body" sz="quarter" idx="10"/>
          </p:nvPr>
        </p:nvSpPr>
        <p:spPr/>
        <p:txBody>
          <a:bodyPr>
            <a:normAutofit fontScale="92500"/>
          </a:bodyPr>
          <a:lstStyle/>
          <a:p>
            <a:pPr>
              <a:lnSpc>
                <a:spcPct val="130000"/>
              </a:lnSpc>
            </a:pPr>
            <a:r>
              <a:rPr lang="en-US" altLang="zh-CN" dirty="0"/>
              <a:t>Challenges to Quantifying Credit Risk</a:t>
            </a:r>
          </a:p>
          <a:p>
            <a:pPr lvl="1">
              <a:lnSpc>
                <a:spcPct val="130000"/>
              </a:lnSpc>
            </a:pPr>
            <a:r>
              <a:rPr lang="en-US" altLang="zh-CN" dirty="0"/>
              <a:t>This approach </a:t>
            </a:r>
            <a:r>
              <a:rPr lang="en-US" altLang="zh-CN" u="sng" dirty="0"/>
              <a:t>assumes that credits are illiquid assets</a:t>
            </a:r>
            <a:r>
              <a:rPr lang="en-US" altLang="zh-CN" dirty="0"/>
              <a:t>. Since the credit risk of bank loans becomes more and more liquid and is traded in the capital markets, a value approach would be more suitable.</a:t>
            </a:r>
          </a:p>
          <a:p>
            <a:pPr lvl="1">
              <a:lnSpc>
                <a:spcPct val="130000"/>
              </a:lnSpc>
            </a:pPr>
            <a:r>
              <a:rPr lang="en-US" altLang="zh-CN" dirty="0"/>
              <a:t>This would </a:t>
            </a:r>
            <a:r>
              <a:rPr lang="en-US" altLang="zh-CN" u="sng" dirty="0"/>
              <a:t>require modeling the multi-period nature of credits</a:t>
            </a:r>
            <a:r>
              <a:rPr lang="en-US" altLang="zh-CN" dirty="0"/>
              <a:t> and, hence, the expected and unexpected changes in the credit quality of the borrowers (and their correlations). Therefore, </a:t>
            </a:r>
            <a:r>
              <a:rPr lang="en-US" altLang="zh-CN" u="sng" dirty="0"/>
              <a:t>almost all of the internal credit risk models used in practice use only a one-year estimation horizon</a:t>
            </a:r>
            <a:r>
              <a:rPr lang="en-US" altLang="zh-CN" dirty="0"/>
              <a:t>.</a:t>
            </a:r>
          </a:p>
          <a:p>
            <a:pPr lvl="1">
              <a:lnSpc>
                <a:spcPct val="130000"/>
              </a:lnSpc>
            </a:pPr>
            <a:r>
              <a:rPr lang="en-US" altLang="zh-CN" dirty="0"/>
              <a:t>Although this approach </a:t>
            </a:r>
            <a:r>
              <a:rPr lang="en-US" altLang="zh-CN" u="sng" dirty="0"/>
              <a:t>considers correlations at a practicable level within the same risk type</a:t>
            </a:r>
            <a:r>
              <a:rPr lang="en-US" altLang="zh-CN" dirty="0"/>
              <a:t>, it assumes, when measuring, that </a:t>
            </a:r>
            <a:r>
              <a:rPr lang="en-US" altLang="zh-CN" u="sng" dirty="0"/>
              <a:t>all other risk components (such as market and operational risk) are separated and are measured and managed in different departments within the bank</a:t>
            </a:r>
            <a:r>
              <a:rPr lang="en-US" altLang="zh-CN" dirty="0"/>
              <a: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222881212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lnSpcReduction="10000"/>
          </a:bodyPr>
          <a:lstStyle/>
          <a:p>
            <a:pPr>
              <a:lnSpc>
                <a:spcPct val="200000"/>
              </a:lnSpc>
            </a:pPr>
            <a:r>
              <a:rPr lang="en-US" altLang="zh-CN" sz="2300" dirty="0">
                <a:solidFill>
                  <a:schemeClr val="tx1"/>
                </a:solidFill>
              </a:rPr>
              <a:t>As companies and investors globalize,</a:t>
            </a:r>
            <a:r>
              <a:rPr lang="zh-CN" altLang="en-US" sz="2300" dirty="0">
                <a:solidFill>
                  <a:schemeClr val="tx1"/>
                </a:solidFill>
              </a:rPr>
              <a:t> </a:t>
            </a:r>
            <a:r>
              <a:rPr lang="en-US" altLang="zh-CN" sz="2300" dirty="0">
                <a:solidFill>
                  <a:schemeClr val="tx1"/>
                </a:solidFill>
              </a:rPr>
              <a:t>they are exposed to the </a:t>
            </a:r>
            <a:r>
              <a:rPr lang="en-US" altLang="zh-CN" sz="2300" u="sng" dirty="0">
                <a:solidFill>
                  <a:schemeClr val="tx1"/>
                </a:solidFill>
              </a:rPr>
              <a:t>political and economic turmoil</a:t>
            </a:r>
            <a:r>
              <a:rPr lang="en-US" altLang="zh-CN" sz="2300" dirty="0">
                <a:solidFill>
                  <a:schemeClr val="tx1"/>
                </a:solidFill>
              </a:rPr>
              <a:t> that often</a:t>
            </a:r>
            <a:r>
              <a:rPr lang="zh-CN" altLang="en-US" sz="2300" dirty="0">
                <a:solidFill>
                  <a:schemeClr val="tx1"/>
                </a:solidFill>
              </a:rPr>
              <a:t> </a:t>
            </a:r>
            <a:r>
              <a:rPr lang="en-US" altLang="zh-CN" sz="2300" dirty="0">
                <a:solidFill>
                  <a:schemeClr val="tx1"/>
                </a:solidFill>
              </a:rPr>
              <a:t>characterize these markets.</a:t>
            </a:r>
          </a:p>
          <a:p>
            <a:pPr>
              <a:lnSpc>
                <a:spcPct val="200000"/>
              </a:lnSpc>
            </a:pPr>
            <a:r>
              <a:rPr lang="en-US" altLang="zh-CN" sz="2300" dirty="0">
                <a:solidFill>
                  <a:schemeClr val="tx1"/>
                </a:solidFill>
              </a:rPr>
              <a:t>As firms</a:t>
            </a:r>
            <a:r>
              <a:rPr lang="zh-CN" altLang="en-US" sz="2300" dirty="0">
                <a:solidFill>
                  <a:schemeClr val="tx1"/>
                </a:solidFill>
              </a:rPr>
              <a:t> </a:t>
            </a:r>
            <a:r>
              <a:rPr lang="en-US" altLang="zh-CN" sz="2300" dirty="0">
                <a:solidFill>
                  <a:schemeClr val="tx1"/>
                </a:solidFill>
              </a:rPr>
              <a:t>shift from local markets to foreign ones, we face</a:t>
            </a:r>
            <a:r>
              <a:rPr lang="zh-CN" altLang="en-US" sz="2300" dirty="0">
                <a:solidFill>
                  <a:schemeClr val="tx1"/>
                </a:solidFill>
              </a:rPr>
              <a:t> </a:t>
            </a:r>
            <a:r>
              <a:rPr lang="en-US" altLang="zh-CN" sz="2300" dirty="0">
                <a:solidFill>
                  <a:schemeClr val="tx1"/>
                </a:solidFill>
              </a:rPr>
              <a:t>three</a:t>
            </a:r>
            <a:r>
              <a:rPr lang="zh-CN" altLang="en-US" sz="2300" dirty="0">
                <a:solidFill>
                  <a:schemeClr val="tx1"/>
                </a:solidFill>
              </a:rPr>
              <a:t> </a:t>
            </a:r>
            <a:r>
              <a:rPr lang="en-US" altLang="zh-CN" sz="2300" dirty="0">
                <a:solidFill>
                  <a:schemeClr val="tx1"/>
                </a:solidFill>
              </a:rPr>
              <a:t>questions:</a:t>
            </a:r>
          </a:p>
          <a:p>
            <a:pPr lvl="1">
              <a:lnSpc>
                <a:spcPct val="200000"/>
              </a:lnSpc>
            </a:pPr>
            <a:r>
              <a:rPr lang="en-US" altLang="zh-CN" sz="2300" dirty="0"/>
              <a:t>Whether investments in different countries are exposed to different</a:t>
            </a:r>
            <a:r>
              <a:rPr lang="zh-CN" altLang="en-US" sz="2300" dirty="0"/>
              <a:t> </a:t>
            </a:r>
            <a:r>
              <a:rPr lang="en-US" altLang="zh-CN" sz="2300" dirty="0"/>
              <a:t>amounts of risk?</a:t>
            </a:r>
          </a:p>
          <a:p>
            <a:pPr lvl="1">
              <a:lnSpc>
                <a:spcPct val="200000"/>
              </a:lnSpc>
            </a:pPr>
            <a:r>
              <a:rPr lang="en-US" altLang="zh-CN" sz="2300" dirty="0"/>
              <a:t>Whether this risk is diversifiable in global portfolios?</a:t>
            </a:r>
          </a:p>
          <a:p>
            <a:pPr lvl="1">
              <a:lnSpc>
                <a:spcPct val="200000"/>
              </a:lnSpc>
            </a:pPr>
            <a:r>
              <a:rPr lang="en-US" altLang="zh-CN" sz="2300" dirty="0"/>
              <a:t>Whether we</a:t>
            </a:r>
            <a:r>
              <a:rPr lang="zh-CN" altLang="en-US" sz="2300" dirty="0"/>
              <a:t> </a:t>
            </a:r>
            <a:r>
              <a:rPr lang="en-US" altLang="zh-CN" sz="2300" dirty="0"/>
              <a:t>should be demanding higher returns in some countries?</a:t>
            </a:r>
          </a:p>
          <a:p>
            <a:pPr>
              <a:lnSpc>
                <a:spcPct val="200000"/>
              </a:lnSpc>
            </a:pPr>
            <a:endParaRPr lang="en-US" altLang="zh-CN"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335130976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Sources of country risk</a:t>
            </a:r>
          </a:p>
          <a:p>
            <a:pPr lvl="1"/>
            <a:r>
              <a:rPr lang="en-US" altLang="zh-CN" dirty="0"/>
              <a:t>Life Cycle</a:t>
            </a:r>
          </a:p>
          <a:p>
            <a:pPr lvl="1"/>
            <a:r>
              <a:rPr lang="en-US" altLang="zh-CN" dirty="0"/>
              <a:t>Political Risk</a:t>
            </a:r>
          </a:p>
          <a:p>
            <a:pPr lvl="1"/>
            <a:r>
              <a:rPr lang="en-US" altLang="zh-CN" dirty="0"/>
              <a:t>Legal Risk</a:t>
            </a:r>
          </a:p>
          <a:p>
            <a:pPr lvl="1"/>
            <a:r>
              <a:rPr lang="en-US" altLang="zh-CN" dirty="0"/>
              <a:t>Economic Structure</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421521536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Life cycle</a:t>
            </a:r>
          </a:p>
          <a:p>
            <a:pPr lvl="1"/>
            <a:r>
              <a:rPr lang="en-US" altLang="zh-CN" dirty="0"/>
              <a:t>A</a:t>
            </a:r>
            <a:r>
              <a:rPr lang="zh-CN" altLang="en-US" dirty="0"/>
              <a:t> </a:t>
            </a:r>
            <a:r>
              <a:rPr lang="en-US" altLang="zh-CN" dirty="0"/>
              <a:t>country that is still in the early stages of economic growth will generally have more risk</a:t>
            </a:r>
            <a:r>
              <a:rPr lang="zh-CN" altLang="en-US" dirty="0"/>
              <a:t> </a:t>
            </a:r>
            <a:r>
              <a:rPr lang="en-US" altLang="zh-CN" dirty="0"/>
              <a:t>exposure than a mature country.</a:t>
            </a:r>
          </a:p>
          <a:p>
            <a:pPr lvl="1"/>
            <a:r>
              <a:rPr lang="en-US" altLang="zh-CN" dirty="0"/>
              <a:t>A</a:t>
            </a:r>
            <a:r>
              <a:rPr lang="zh-CN" altLang="en-US" dirty="0"/>
              <a:t> </a:t>
            </a:r>
            <a:r>
              <a:rPr lang="en-US" altLang="zh-CN" dirty="0"/>
              <a:t>global recession generally takes a far greater toll of small, emerging markets than it does</a:t>
            </a:r>
            <a:r>
              <a:rPr lang="zh-CN" altLang="en-US" dirty="0"/>
              <a:t> </a:t>
            </a:r>
            <a:r>
              <a:rPr lang="en-US" altLang="zh-CN" dirty="0"/>
              <a:t>in mature markets.</a:t>
            </a:r>
          </a:p>
          <a:p>
            <a:pPr lvl="1"/>
            <a:r>
              <a:rPr lang="en-US" altLang="zh-CN" dirty="0"/>
              <a:t>In an emerging market, a</a:t>
            </a:r>
            <a:r>
              <a:rPr lang="zh-CN" altLang="en-US" dirty="0"/>
              <a:t> </a:t>
            </a:r>
            <a:r>
              <a:rPr lang="en-US" altLang="zh-CN" dirty="0"/>
              <a:t>recession or recovery can easily translate into double-digit growth, in positive or negative</a:t>
            </a:r>
            <a:r>
              <a:rPr lang="zh-CN" altLang="en-US" dirty="0"/>
              <a:t> </a:t>
            </a:r>
            <a:r>
              <a:rPr lang="en-US" altLang="zh-CN" dirty="0"/>
              <a:t>terms.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902873946"/>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Political Risk</a:t>
            </a:r>
          </a:p>
          <a:p>
            <a:pPr lvl="1"/>
            <a:r>
              <a:rPr lang="en-US" altLang="zh-CN" dirty="0"/>
              <a:t>Investors and companies that value government</a:t>
            </a:r>
            <a:r>
              <a:rPr lang="zh-CN" altLang="en-US" dirty="0"/>
              <a:t> </a:t>
            </a:r>
            <a:r>
              <a:rPr lang="en-US" altLang="zh-CN" dirty="0"/>
              <a:t>stability (and fixed policies) sometimes </a:t>
            </a:r>
            <a:r>
              <a:rPr lang="en-US" altLang="zh-CN" u="sng" dirty="0"/>
              <a:t>choose authoritarian</a:t>
            </a:r>
            <a:r>
              <a:rPr lang="zh-CN" altLang="en-US" u="sng" dirty="0"/>
              <a:t> </a:t>
            </a:r>
            <a:r>
              <a:rPr lang="en-US" altLang="zh-CN" u="sng" dirty="0"/>
              <a:t>countries</a:t>
            </a:r>
            <a:r>
              <a:rPr lang="en-US" altLang="zh-CN" dirty="0"/>
              <a:t>, because a strong</a:t>
            </a:r>
            <a:r>
              <a:rPr lang="zh-CN" altLang="en-US" dirty="0"/>
              <a:t> </a:t>
            </a:r>
            <a:r>
              <a:rPr lang="en-US" altLang="zh-CN" dirty="0"/>
              <a:t>government can essentially lock in policies for the long term and push through</a:t>
            </a:r>
            <a:r>
              <a:rPr lang="zh-CN" altLang="en-US" dirty="0"/>
              <a:t> </a:t>
            </a:r>
            <a:r>
              <a:rPr lang="en-US" altLang="zh-CN" dirty="0"/>
              <a:t>changes that a democracy may never be able to do.</a:t>
            </a:r>
          </a:p>
          <a:p>
            <a:pPr lvl="1"/>
            <a:r>
              <a:rPr lang="en-US" altLang="zh-CN" u="sng" dirty="0"/>
              <a:t>The chaos of democracy does</a:t>
            </a:r>
            <a:r>
              <a:rPr lang="zh-CN" altLang="en-US" u="sng" dirty="0"/>
              <a:t> </a:t>
            </a:r>
            <a:r>
              <a:rPr lang="en-US" altLang="zh-CN" u="sng" dirty="0"/>
              <a:t>create more continuous risk</a:t>
            </a:r>
            <a:r>
              <a:rPr lang="en-US" altLang="zh-CN" dirty="0"/>
              <a:t> (policies that change as governments shift),</a:t>
            </a:r>
            <a:r>
              <a:rPr lang="zh-CN" altLang="en-US" dirty="0"/>
              <a:t> </a:t>
            </a:r>
            <a:r>
              <a:rPr lang="en-US" altLang="zh-CN" u="sng" dirty="0"/>
              <a:t>dictatorships create more discontinuous risk</a:t>
            </a:r>
            <a:r>
              <a:rPr lang="en-US" altLang="zh-CN" dirty="0"/>
              <a:t>.</a:t>
            </a:r>
          </a:p>
          <a:p>
            <a:pPr lvl="1"/>
            <a:r>
              <a:rPr lang="en-US" altLang="zh-CN" dirty="0"/>
              <a:t>The more stable policies an</a:t>
            </a:r>
            <a:r>
              <a:rPr lang="zh-CN" altLang="en-US" dirty="0"/>
              <a:t> </a:t>
            </a:r>
            <a:r>
              <a:rPr lang="en-US" altLang="zh-CN" dirty="0"/>
              <a:t>authoritarian</a:t>
            </a:r>
            <a:r>
              <a:rPr lang="zh-CN" altLang="en-US" dirty="0"/>
              <a:t> </a:t>
            </a:r>
            <a:r>
              <a:rPr lang="en-US" altLang="zh-CN" dirty="0"/>
              <a:t>system offers can be accompanied</a:t>
            </a:r>
            <a:r>
              <a:rPr lang="zh-CN" altLang="en-US" dirty="0"/>
              <a:t> </a:t>
            </a:r>
            <a:r>
              <a:rPr lang="en-US" altLang="zh-CN" dirty="0"/>
              <a:t>by other costs (political corruption and ineffective legal systems)</a:t>
            </a:r>
            <a:r>
              <a:rPr lang="zh-CN" altLang="en-US" dirty="0"/>
              <a:t> </a:t>
            </a:r>
            <a:r>
              <a:rPr lang="en-US" altLang="zh-CN" dirty="0"/>
              <a:t>that overwhelm</a:t>
            </a:r>
            <a:r>
              <a:rPr lang="zh-CN" altLang="en-US" dirty="0"/>
              <a:t> </a:t>
            </a:r>
            <a:r>
              <a:rPr lang="en-US" altLang="zh-CN" dirty="0"/>
              <a:t>the benefits of policy stability.</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5970246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fontScale="92500"/>
          </a:bodyPr>
          <a:lstStyle/>
          <a:p>
            <a:pPr lvl="1"/>
            <a:r>
              <a:rPr lang="en-US" altLang="zh-CN" dirty="0"/>
              <a:t>It is</a:t>
            </a:r>
            <a:r>
              <a:rPr lang="zh-CN" altLang="en-US" dirty="0"/>
              <a:t> </a:t>
            </a:r>
            <a:r>
              <a:rPr lang="en-US" altLang="zh-CN" u="sng" dirty="0"/>
              <a:t>difficult to draw a strong</a:t>
            </a:r>
            <a:r>
              <a:rPr lang="zh-CN" altLang="en-US" u="sng" dirty="0"/>
              <a:t> </a:t>
            </a:r>
            <a:r>
              <a:rPr lang="en-US" altLang="zh-CN" u="sng" dirty="0"/>
              <a:t>conclusion</a:t>
            </a:r>
            <a:r>
              <a:rPr lang="en-US" altLang="zh-CN" dirty="0"/>
              <a:t> about which system is more conducive to higher economic growth.</a:t>
            </a:r>
          </a:p>
          <a:p>
            <a:pPr lvl="1"/>
            <a:r>
              <a:rPr lang="en-US" altLang="zh-CN" dirty="0"/>
              <a:t>If those who</a:t>
            </a:r>
            <a:r>
              <a:rPr lang="zh-CN" altLang="en-US" dirty="0"/>
              <a:t> </a:t>
            </a:r>
            <a:r>
              <a:rPr lang="en-US" altLang="zh-CN" dirty="0"/>
              <a:t>enforce the rules are capricious, </a:t>
            </a:r>
            <a:r>
              <a:rPr lang="en-US" altLang="zh-CN" u="sng" dirty="0"/>
              <a:t>inefficient or corrupt in their judgments, there is a</a:t>
            </a:r>
            <a:r>
              <a:rPr lang="zh-CN" altLang="en-US" u="sng" dirty="0"/>
              <a:t> </a:t>
            </a:r>
            <a:r>
              <a:rPr lang="en-US" altLang="zh-CN" u="sng" dirty="0"/>
              <a:t>cost</a:t>
            </a:r>
            <a:r>
              <a:rPr lang="en-US" altLang="zh-CN" dirty="0"/>
              <a:t> imposed on all who operate under the system.</a:t>
            </a:r>
          </a:p>
          <a:p>
            <a:pPr lvl="1"/>
            <a:r>
              <a:rPr lang="en-US" altLang="zh-CN" dirty="0"/>
              <a:t>Countries that are in the midst of </a:t>
            </a:r>
            <a:r>
              <a:rPr lang="en-US" altLang="zh-CN" u="sng" dirty="0"/>
              <a:t>physical conflicts</a:t>
            </a:r>
            <a:r>
              <a:rPr lang="en-US" altLang="zh-CN" dirty="0"/>
              <a:t> will expose investors/businesses to the risks of these</a:t>
            </a:r>
            <a:r>
              <a:rPr lang="zh-CN" altLang="en-US" dirty="0"/>
              <a:t> </a:t>
            </a:r>
            <a:r>
              <a:rPr lang="en-US" altLang="zh-CN" dirty="0"/>
              <a:t>conflicts.</a:t>
            </a:r>
          </a:p>
          <a:p>
            <a:pPr lvl="1"/>
            <a:r>
              <a:rPr lang="en-US" altLang="zh-CN" dirty="0"/>
              <a:t>If your profits can </a:t>
            </a:r>
            <a:r>
              <a:rPr lang="en-US" altLang="zh-CN" u="sng" dirty="0"/>
              <a:t>be expropriated by the business</a:t>
            </a:r>
            <a:r>
              <a:rPr lang="en-US" altLang="zh-CN" dirty="0"/>
              <a:t> (with</a:t>
            </a:r>
            <a:r>
              <a:rPr lang="zh-CN" altLang="en-US" dirty="0"/>
              <a:t> </a:t>
            </a:r>
            <a:r>
              <a:rPr lang="en-US" altLang="zh-CN" dirty="0"/>
              <a:t>arbitrary and specific taxes imposed just upon you) or your business can be</a:t>
            </a:r>
            <a:r>
              <a:rPr lang="zh-CN" altLang="en-US" dirty="0"/>
              <a:t> </a:t>
            </a:r>
            <a:r>
              <a:rPr lang="en-US" altLang="zh-CN" u="sng" dirty="0"/>
              <a:t>nationalized</a:t>
            </a:r>
            <a:r>
              <a:rPr lang="en-US" altLang="zh-CN" dirty="0"/>
              <a:t> (with you receiving well below the fair value as compensation), you</a:t>
            </a:r>
            <a:r>
              <a:rPr lang="zh-CN" altLang="en-US" dirty="0"/>
              <a:t> </a:t>
            </a:r>
            <a:r>
              <a:rPr lang="en-US" altLang="zh-CN" dirty="0"/>
              <a:t>will be less likely to invest.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612044404"/>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Legal</a:t>
            </a:r>
            <a:r>
              <a:rPr lang="zh-CN" altLang="en-US" dirty="0"/>
              <a:t> </a:t>
            </a:r>
            <a:r>
              <a:rPr lang="en-US" altLang="zh-CN" dirty="0"/>
              <a:t>Risk</a:t>
            </a:r>
          </a:p>
          <a:p>
            <a:pPr lvl="1"/>
            <a:r>
              <a:rPr lang="en-US" altLang="zh-CN" dirty="0"/>
              <a:t>Investors and businesses are dependent upon legal systems that respect their</a:t>
            </a:r>
            <a:r>
              <a:rPr lang="zh-CN" altLang="en-US" dirty="0"/>
              <a:t> </a:t>
            </a:r>
            <a:r>
              <a:rPr lang="en-US" altLang="zh-CN" dirty="0"/>
              <a:t>property rights and enforce those rights in a timely manner.</a:t>
            </a:r>
          </a:p>
          <a:p>
            <a:r>
              <a:rPr lang="en-US" altLang="zh-CN" dirty="0"/>
              <a:t>Economic Structure</a:t>
            </a:r>
          </a:p>
          <a:p>
            <a:pPr lvl="1"/>
            <a:r>
              <a:rPr lang="en-US" altLang="zh-CN" dirty="0"/>
              <a:t>Some countries are dependent upon a specific commodity, product or service for</a:t>
            </a:r>
            <a:r>
              <a:rPr lang="zh-CN" altLang="en-US" dirty="0"/>
              <a:t> </a:t>
            </a:r>
            <a:r>
              <a:rPr lang="en-US" altLang="zh-CN" dirty="0"/>
              <a:t>their economic success.</a:t>
            </a:r>
          </a:p>
          <a:p>
            <a:pPr lvl="1"/>
            <a:r>
              <a:rPr lang="en-US" altLang="zh-CN" dirty="0"/>
              <a:t>That dependence can create additional risk for investors and</a:t>
            </a:r>
            <a:r>
              <a:rPr lang="zh-CN" altLang="en-US" dirty="0"/>
              <a:t> </a:t>
            </a:r>
            <a:r>
              <a:rPr lang="en-US" altLang="zh-CN" dirty="0"/>
              <a:t>businesses, since a drop in the commodity’s price or demand for the product/service can</a:t>
            </a:r>
            <a:r>
              <a:rPr lang="zh-CN" altLang="en-US" dirty="0"/>
              <a:t> </a:t>
            </a:r>
            <a:r>
              <a:rPr lang="en-US" altLang="zh-CN" dirty="0"/>
              <a:t>create severe economic pain.</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77663998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Risk Services</a:t>
            </a:r>
          </a:p>
          <a:p>
            <a:pPr lvl="1"/>
            <a:r>
              <a:rPr lang="en-US" altLang="zh-CN" dirty="0"/>
              <a:t>Political Risk Services</a:t>
            </a:r>
          </a:p>
          <a:p>
            <a:pPr lvl="2"/>
            <a:r>
              <a:rPr lang="en-US" altLang="zh-CN" dirty="0"/>
              <a:t>Political, financial and economic</a:t>
            </a:r>
          </a:p>
          <a:p>
            <a:r>
              <a:rPr lang="en-US" altLang="zh-CN" dirty="0"/>
              <a:t>Risk Services’</a:t>
            </a:r>
            <a:r>
              <a:rPr lang="zh-CN" altLang="en-US" dirty="0"/>
              <a:t> </a:t>
            </a:r>
            <a:r>
              <a:rPr lang="en-US" altLang="zh-CN" dirty="0"/>
              <a:t>limitations</a:t>
            </a:r>
          </a:p>
          <a:p>
            <a:pPr lvl="1"/>
            <a:r>
              <a:rPr lang="en-US" altLang="zh-CN" u="sng" dirty="0"/>
              <a:t>Measurement models/methods</a:t>
            </a:r>
            <a:r>
              <a:rPr lang="en-US" altLang="zh-CN" dirty="0"/>
              <a:t>: Many of the entities that develop the methodology</a:t>
            </a:r>
            <a:r>
              <a:rPr lang="zh-CN" altLang="en-US" dirty="0"/>
              <a:t> </a:t>
            </a:r>
            <a:r>
              <a:rPr lang="en-US" altLang="zh-CN" dirty="0"/>
              <a:t>and convert them into scores are not business entities and consider risks that may</a:t>
            </a:r>
            <a:r>
              <a:rPr lang="zh-CN" altLang="en-US" dirty="0"/>
              <a:t> </a:t>
            </a:r>
            <a:r>
              <a:rPr lang="en-US" altLang="zh-CN" dirty="0"/>
              <a:t>have little relevance for businesses.</a:t>
            </a:r>
          </a:p>
          <a:p>
            <a:pPr lvl="1"/>
            <a:r>
              <a:rPr lang="en-US" altLang="zh-CN" u="sng" dirty="0"/>
              <a:t>No standardization</a:t>
            </a:r>
            <a:r>
              <a:rPr lang="en-US" altLang="zh-CN" dirty="0"/>
              <a:t>: </a:t>
            </a:r>
            <a:r>
              <a:rPr lang="en-US" altLang="zh-CN" u="sng" dirty="0"/>
              <a:t>The scores are not standardized</a:t>
            </a:r>
            <a:r>
              <a:rPr lang="en-US" altLang="zh-CN" dirty="0"/>
              <a:t> and each service uses it own</a:t>
            </a:r>
            <a:r>
              <a:rPr lang="zh-CN" altLang="en-US" dirty="0"/>
              <a:t> </a:t>
            </a:r>
            <a:r>
              <a:rPr lang="en-US" altLang="zh-CN" dirty="0"/>
              <a:t>protocol.</a:t>
            </a:r>
          </a:p>
          <a:p>
            <a:pPr lvl="1"/>
            <a:r>
              <a:rPr lang="en-US" altLang="zh-CN" u="sng" dirty="0"/>
              <a:t>More rankings than scores</a:t>
            </a:r>
            <a:r>
              <a:rPr lang="en-US" altLang="zh-CN" dirty="0"/>
              <a:t>: The country risk scores are more </a:t>
            </a:r>
            <a:r>
              <a:rPr lang="en-US" altLang="zh-CN" u="sng" dirty="0"/>
              <a:t>useful for ranking</a:t>
            </a:r>
            <a:r>
              <a:rPr lang="en-US" altLang="zh-CN" dirty="0"/>
              <a:t> the countries </a:t>
            </a:r>
            <a:r>
              <a:rPr lang="en-US" altLang="zh-CN" u="sng" dirty="0"/>
              <a:t>than for</a:t>
            </a:r>
            <a:r>
              <a:rPr lang="zh-CN" altLang="en-US" u="sng" dirty="0"/>
              <a:t> </a:t>
            </a:r>
            <a:r>
              <a:rPr lang="en-US" altLang="zh-CN" u="sng" dirty="0"/>
              <a:t>measuring relative risk</a:t>
            </a:r>
            <a:r>
              <a:rPr lang="en-US" altLang="zh-CN" dirty="0"/>
              <a: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86529409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fontScale="92500" lnSpcReduction="20000"/>
          </a:bodyPr>
          <a:lstStyle/>
          <a:p>
            <a:pPr>
              <a:lnSpc>
                <a:spcPct val="140000"/>
              </a:lnSpc>
            </a:pPr>
            <a:r>
              <a:rPr lang="en-US" altLang="zh-CN" dirty="0"/>
              <a:t>Foreign Currency Defaults</a:t>
            </a:r>
          </a:p>
          <a:p>
            <a:pPr lvl="1">
              <a:lnSpc>
                <a:spcPct val="140000"/>
              </a:lnSpc>
            </a:pPr>
            <a:r>
              <a:rPr lang="en-US" altLang="zh-CN" dirty="0"/>
              <a:t>A large proportion of sovereign defaults have occurred with foreign currency defaults, as the borrowing country finds its short of the foreign currency to meet its</a:t>
            </a:r>
            <a:r>
              <a:rPr lang="zh-CN" altLang="en-US" dirty="0"/>
              <a:t> </a:t>
            </a:r>
            <a:r>
              <a:rPr lang="en-US" altLang="zh-CN" dirty="0"/>
              <a:t>obligations.</a:t>
            </a:r>
          </a:p>
          <a:p>
            <a:pPr lvl="1">
              <a:lnSpc>
                <a:spcPct val="140000"/>
              </a:lnSpc>
            </a:pPr>
            <a:r>
              <a:rPr lang="en-US" altLang="zh-CN" dirty="0"/>
              <a:t>Facts about sovereign default risk</a:t>
            </a:r>
          </a:p>
          <a:p>
            <a:pPr lvl="2">
              <a:lnSpc>
                <a:spcPct val="140000"/>
              </a:lnSpc>
            </a:pPr>
            <a:r>
              <a:rPr lang="en-US" altLang="zh-CN" dirty="0"/>
              <a:t>Countries have been more likely to default on bank debt owed than on sovereign</a:t>
            </a:r>
            <a:r>
              <a:rPr lang="zh-CN" altLang="en-US" dirty="0"/>
              <a:t> </a:t>
            </a:r>
            <a:r>
              <a:rPr lang="en-US" altLang="zh-CN" dirty="0"/>
              <a:t>bonds issued.</a:t>
            </a:r>
          </a:p>
          <a:p>
            <a:pPr lvl="2">
              <a:lnSpc>
                <a:spcPct val="140000"/>
              </a:lnSpc>
            </a:pPr>
            <a:r>
              <a:rPr lang="en-US" altLang="zh-CN" u="sng" dirty="0"/>
              <a:t>Latin American countries</a:t>
            </a:r>
            <a:r>
              <a:rPr lang="en-US" altLang="zh-CN" dirty="0"/>
              <a:t> have accounted for much of</a:t>
            </a:r>
            <a:r>
              <a:rPr lang="zh-CN" altLang="en-US" dirty="0"/>
              <a:t> </a:t>
            </a:r>
            <a:r>
              <a:rPr lang="en-US" altLang="zh-CN" dirty="0"/>
              <a:t>sovereign defaulted debt in the last 50 years.</a:t>
            </a:r>
          </a:p>
          <a:p>
            <a:pPr marL="1440000" lvl="2" indent="-457200">
              <a:lnSpc>
                <a:spcPct val="140000"/>
              </a:lnSpc>
              <a:buFont typeface="+mj-lt"/>
              <a:buAutoNum type="arabicPeriod"/>
            </a:pPr>
            <a:r>
              <a:rPr lang="en-US" altLang="zh-CN" dirty="0"/>
              <a:t>Lacking significant domestic savings and possessing</a:t>
            </a:r>
            <a:r>
              <a:rPr lang="zh-CN" altLang="en-US" dirty="0"/>
              <a:t> </a:t>
            </a:r>
            <a:r>
              <a:rPr lang="en-US" altLang="zh-CN" dirty="0"/>
              <a:t>the allure of natural resources</a:t>
            </a:r>
          </a:p>
          <a:p>
            <a:pPr marL="1440000" lvl="2" indent="-457200">
              <a:lnSpc>
                <a:spcPct val="140000"/>
              </a:lnSpc>
              <a:buFont typeface="+mj-lt"/>
              <a:buAutoNum type="arabicPeriod"/>
            </a:pPr>
            <a:r>
              <a:rPr lang="en-US" altLang="zh-CN" dirty="0"/>
              <a:t>Borrowed heavily</a:t>
            </a:r>
          </a:p>
          <a:p>
            <a:pPr marL="1440000" lvl="2" indent="-457200">
              <a:lnSpc>
                <a:spcPct val="140000"/>
              </a:lnSpc>
              <a:buFont typeface="+mj-lt"/>
              <a:buAutoNum type="arabicPeriod"/>
            </a:pPr>
            <a:r>
              <a:rPr lang="en-US" altLang="zh-CN" dirty="0"/>
              <a:t>Military conflicts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4017454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Local Currency Defaults</a:t>
            </a:r>
          </a:p>
          <a:p>
            <a:pPr lvl="1"/>
            <a:r>
              <a:rPr lang="en-US" altLang="zh-CN" dirty="0"/>
              <a:t>Reasons for default in the local currency</a:t>
            </a:r>
          </a:p>
          <a:p>
            <a:pPr lvl="2"/>
            <a:r>
              <a:rPr lang="en-US" altLang="zh-CN" u="sng" dirty="0"/>
              <a:t>Gold Standard</a:t>
            </a:r>
            <a:r>
              <a:rPr lang="en-US" altLang="zh-CN" dirty="0"/>
              <a:t>: In the decades prior to 1971, when some countries followed the gold standard, currency had to be backed up with gold reserves. As a consequence, the extent of these reserves put a limit on how much currency could be printed.</a:t>
            </a:r>
          </a:p>
          <a:p>
            <a:pPr lvl="2"/>
            <a:r>
              <a:rPr lang="en-US" altLang="zh-CN" u="sng" dirty="0"/>
              <a:t>Shared Currency</a:t>
            </a:r>
            <a:r>
              <a:rPr lang="en-US" altLang="zh-CN" dirty="0"/>
              <a:t>: The crisis in Greece has brought home one of the costs of a shared currency.</a:t>
            </a:r>
          </a:p>
          <a:p>
            <a:pPr lvl="2"/>
            <a:r>
              <a:rPr lang="en-US" altLang="zh-CN" u="sng" dirty="0"/>
              <a:t>Countries feel reluctant to print more currency</a:t>
            </a:r>
            <a:r>
              <a:rPr lang="en-US" altLang="zh-CN" dirty="0"/>
              <a:t> to pay debt obligations as this will devalue the currency and cause inflation to increase.</a:t>
            </a:r>
          </a:p>
          <a:p>
            <a:endParaRPr lang="en-US" altLang="zh-CN"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977233959"/>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Consequences of Default</a:t>
            </a:r>
          </a:p>
          <a:p>
            <a:pPr lvl="1"/>
            <a:r>
              <a:rPr lang="en-US" altLang="zh-CN" u="sng" dirty="0"/>
              <a:t>Reputation loss</a:t>
            </a:r>
            <a:r>
              <a:rPr lang="en-US" altLang="zh-CN" dirty="0"/>
              <a:t>: A default government will make it more difficult to raise financing in future rounds.</a:t>
            </a:r>
          </a:p>
          <a:p>
            <a:pPr lvl="1"/>
            <a:r>
              <a:rPr lang="en-US" altLang="zh-CN" u="sng" dirty="0"/>
              <a:t>Capital Market turmoil</a:t>
            </a:r>
            <a:r>
              <a:rPr lang="en-US" altLang="zh-CN" dirty="0"/>
              <a:t>: Investors withdraw from equity and bond markets, making it more difficult for private enterprises in the defaulting country to raise funds for projects.</a:t>
            </a:r>
          </a:p>
          <a:p>
            <a:pPr lvl="1"/>
            <a:r>
              <a:rPr lang="en-US" altLang="zh-CN" u="sng" dirty="0"/>
              <a:t>Real Output</a:t>
            </a:r>
            <a:r>
              <a:rPr lang="en-US" altLang="zh-CN" dirty="0"/>
              <a:t>: sovereign defaults are followed by economic recessions, as consumers hold back on spending and firms are reluctant to commit resources to long-term investments.</a:t>
            </a:r>
          </a:p>
          <a:p>
            <a:pPr lvl="1"/>
            <a:r>
              <a:rPr lang="en-US" altLang="zh-CN" u="sng" dirty="0"/>
              <a:t>Political Instability</a:t>
            </a:r>
            <a:r>
              <a:rPr lang="en-US" altLang="zh-CN" dirty="0"/>
              <a:t>: Default can also strike a blow to the national psyche, which in turn can put the leadership class at risk.</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89589464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fontScale="92500" lnSpcReduction="10000"/>
          </a:bodyPr>
          <a:lstStyle/>
          <a:p>
            <a:pPr>
              <a:lnSpc>
                <a:spcPct val="140000"/>
              </a:lnSpc>
            </a:pPr>
            <a:r>
              <a:rPr lang="en-US" altLang="zh-CN" dirty="0"/>
              <a:t>Factors determining sovereign default risk</a:t>
            </a:r>
          </a:p>
          <a:p>
            <a:pPr lvl="1">
              <a:lnSpc>
                <a:spcPct val="140000"/>
              </a:lnSpc>
            </a:pPr>
            <a:r>
              <a:rPr lang="en-US" altLang="zh-CN" u="sng" dirty="0"/>
              <a:t>Degree of indebtedness.</a:t>
            </a:r>
          </a:p>
          <a:p>
            <a:pPr lvl="1">
              <a:lnSpc>
                <a:spcPct val="140000"/>
              </a:lnSpc>
            </a:pPr>
            <a:r>
              <a:rPr lang="en-US" altLang="zh-CN" u="sng" dirty="0"/>
              <a:t>Pensions/Social Service Commitments</a:t>
            </a:r>
            <a:r>
              <a:rPr lang="en-US" altLang="zh-CN" dirty="0"/>
              <a:t>: countries that have larger commitments on these counts should have higher default risk</a:t>
            </a:r>
          </a:p>
          <a:p>
            <a:pPr lvl="1">
              <a:lnSpc>
                <a:spcPct val="140000"/>
              </a:lnSpc>
            </a:pPr>
            <a:r>
              <a:rPr lang="en-US" altLang="zh-CN" u="sng" dirty="0"/>
              <a:t>Revenues/Inflows to government</a:t>
            </a:r>
            <a:r>
              <a:rPr lang="en-US" altLang="zh-CN" dirty="0"/>
              <a:t>: access to a larger tax base should increase potential tax revenues, which, in turn, can be used to meet debt obligations.</a:t>
            </a:r>
          </a:p>
          <a:p>
            <a:pPr lvl="1">
              <a:lnSpc>
                <a:spcPct val="140000"/>
              </a:lnSpc>
            </a:pPr>
            <a:r>
              <a:rPr lang="en-US" altLang="zh-CN" u="sng" dirty="0"/>
              <a:t>Stability of revenues</a:t>
            </a:r>
            <a:r>
              <a:rPr lang="en-US" altLang="zh-CN" dirty="0"/>
              <a:t>: countries with more stable revenue streams / diversified economies should therefore face less default risk. Income tax based systems generate more volatile revenues than sales tax.</a:t>
            </a:r>
          </a:p>
          <a:p>
            <a:pPr lvl="1">
              <a:lnSpc>
                <a:spcPct val="140000"/>
              </a:lnSpc>
            </a:pPr>
            <a:r>
              <a:rPr lang="en-US" altLang="zh-CN" u="sng" dirty="0"/>
              <a:t>Political risk.</a:t>
            </a:r>
          </a:p>
          <a:p>
            <a:pPr lvl="1">
              <a:lnSpc>
                <a:spcPct val="140000"/>
              </a:lnSpc>
            </a:pPr>
            <a:r>
              <a:rPr lang="en-US" altLang="zh-CN" u="sng" dirty="0"/>
              <a:t>Implicit backing from other entities</a:t>
            </a:r>
            <a:r>
              <a:rPr lang="en-US" altLang="zh-CN" dirty="0"/>
              <a:t>: the danger is that the backing is implicit and not explicit.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8449702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Bond Rating Agencies’ Biggest advantages</a:t>
            </a:r>
          </a:p>
          <a:p>
            <a:pPr lvl="1"/>
            <a:r>
              <a:rPr lang="en-US" altLang="zh-CN" dirty="0"/>
              <a:t>They have been assessing default risk in corporations for a hundred years and presumably can transfer some of their skills to assessing sovereign risk.</a:t>
            </a:r>
          </a:p>
          <a:p>
            <a:pPr lvl="1"/>
            <a:r>
              <a:rPr lang="en-US" altLang="zh-CN" dirty="0"/>
              <a:t>Bond investors who are familiar with the ratings measures, from investing in corporate bonds, find it easy to extend their use to assessing sovereign bonds.</a:t>
            </a:r>
          </a:p>
          <a:p>
            <a:r>
              <a:rPr lang="en-US" altLang="zh-CN" dirty="0"/>
              <a:t>Critiques</a:t>
            </a:r>
          </a:p>
          <a:p>
            <a:pPr lvl="1"/>
            <a:r>
              <a:rPr lang="en-US" altLang="zh-CN" dirty="0"/>
              <a:t>They do not change quickly enough to alert investors to imminent danger.</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946128040"/>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lnSpcReduction="10000"/>
          </a:bodyPr>
          <a:lstStyle/>
          <a:p>
            <a:pPr>
              <a:lnSpc>
                <a:spcPct val="200000"/>
              </a:lnSpc>
            </a:pPr>
            <a:r>
              <a:rPr lang="en-US" altLang="zh-CN" dirty="0"/>
              <a:t>Rating Process</a:t>
            </a:r>
          </a:p>
          <a:p>
            <a:pPr lvl="1">
              <a:lnSpc>
                <a:spcPct val="200000"/>
              </a:lnSpc>
            </a:pPr>
            <a:r>
              <a:rPr lang="en-US" altLang="zh-CN" dirty="0"/>
              <a:t>A sovereign rating is focused on the credit worthiness of the sovereign to private creditors and not to official creditors.</a:t>
            </a:r>
          </a:p>
          <a:p>
            <a:pPr lvl="1">
              <a:lnSpc>
                <a:spcPct val="200000"/>
              </a:lnSpc>
            </a:pPr>
            <a:r>
              <a:rPr lang="en-US" altLang="zh-CN" u="sng" dirty="0"/>
              <a:t>Notch-up approach</a:t>
            </a:r>
            <a:r>
              <a:rPr lang="en-US" altLang="zh-CN" dirty="0"/>
              <a:t>: the foreign currency rating is viewed as the primary measure of sovereign credit risk and the local currency rating is notched up, based upon domestic debt market factors.</a:t>
            </a:r>
          </a:p>
          <a:p>
            <a:pPr lvl="1">
              <a:lnSpc>
                <a:spcPct val="200000"/>
              </a:lnSpc>
            </a:pPr>
            <a:r>
              <a:rPr lang="en-US" altLang="zh-CN" u="sng" dirty="0"/>
              <a:t>Notch-down approach</a:t>
            </a:r>
            <a:r>
              <a:rPr lang="en-US" altLang="zh-CN" dirty="0"/>
              <a:t>: it is the local currency rating that is the anchor, with the foreign currency rating notched down.</a:t>
            </a:r>
          </a:p>
          <a:p>
            <a:pPr>
              <a:lnSpc>
                <a:spcPct val="200000"/>
              </a:lnSpc>
            </a:pPr>
            <a:endParaRPr lang="en-US" altLang="zh-CN"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548573207"/>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Sovereign bonds with investment grade ratings have defaulted far less frequently than sovereign bonds with speculative ratings. But ratings agencies have been criticized for:</a:t>
            </a:r>
          </a:p>
          <a:p>
            <a:pPr lvl="1"/>
            <a:r>
              <a:rPr lang="en-US" altLang="zh-CN" dirty="0"/>
              <a:t>Ratings are </a:t>
            </a:r>
            <a:r>
              <a:rPr lang="en-US" altLang="zh-CN" u="sng" dirty="0"/>
              <a:t>upward biased</a:t>
            </a:r>
            <a:r>
              <a:rPr lang="en-US" altLang="zh-CN" dirty="0"/>
              <a:t>.</a:t>
            </a:r>
          </a:p>
          <a:p>
            <a:pPr lvl="1"/>
            <a:r>
              <a:rPr lang="en-US" altLang="zh-CN" u="sng" dirty="0"/>
              <a:t>Herd behavior.</a:t>
            </a:r>
          </a:p>
          <a:p>
            <a:pPr lvl="1"/>
            <a:r>
              <a:rPr lang="en-US" altLang="zh-CN" dirty="0"/>
              <a:t>Rating agencies </a:t>
            </a:r>
            <a:r>
              <a:rPr lang="en-US" altLang="zh-CN" u="sng" dirty="0"/>
              <a:t>take too long to change ratings</a:t>
            </a:r>
            <a:r>
              <a:rPr lang="en-US" altLang="zh-CN" dirty="0"/>
              <a:t>, and that these changes happen too late to protect investors from a crisis.</a:t>
            </a:r>
          </a:p>
          <a:p>
            <a:pPr lvl="1"/>
            <a:r>
              <a:rPr lang="en-US" altLang="zh-CN" u="sng" dirty="0"/>
              <a:t>Vicious Cycle</a:t>
            </a:r>
            <a:r>
              <a:rPr lang="en-US" altLang="zh-CN" dirty="0"/>
              <a:t>: Once a market is in crisis, there is the perception that ratings agencies sometimes over react and lower ratings too much.</a:t>
            </a:r>
          </a:p>
          <a:p>
            <a:pPr lvl="1"/>
            <a:r>
              <a:rPr lang="en-US" altLang="zh-CN" dirty="0"/>
              <a:t>When a ratings agency changes the rating for a sovereign multiple times in a short time period, it is admitting to failure in its initial rating assessment.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70648486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Why do ratings agencies sometimes fail?</a:t>
            </a:r>
          </a:p>
          <a:p>
            <a:pPr lvl="1"/>
            <a:r>
              <a:rPr lang="en-US" altLang="zh-CN" u="sng" dirty="0"/>
              <a:t>Information problems</a:t>
            </a:r>
            <a:r>
              <a:rPr lang="en-US" altLang="zh-CN" dirty="0"/>
              <a:t>: The data that the agencies use to rate sovereigns generally come from the governments.</a:t>
            </a:r>
          </a:p>
          <a:p>
            <a:pPr lvl="1"/>
            <a:r>
              <a:rPr lang="en-US" altLang="zh-CN" u="sng" dirty="0"/>
              <a:t>Limited resources</a:t>
            </a:r>
            <a:r>
              <a:rPr lang="en-US" altLang="zh-CN" dirty="0"/>
              <a:t>: The agencies </a:t>
            </a:r>
            <a:r>
              <a:rPr lang="en-US" altLang="zh-CN" u="sng" dirty="0"/>
              <a:t>cannot afford to hire too many analysts</a:t>
            </a:r>
            <a:r>
              <a:rPr lang="en-US" altLang="zh-CN" dirty="0"/>
              <a:t>.</a:t>
            </a:r>
          </a:p>
          <a:p>
            <a:pPr lvl="1"/>
            <a:r>
              <a:rPr lang="en-US" altLang="zh-CN" u="sng" dirty="0"/>
              <a:t>Revenue Bias.</a:t>
            </a:r>
          </a:p>
          <a:p>
            <a:pPr lvl="1"/>
            <a:r>
              <a:rPr lang="en-US" altLang="zh-CN" u="sng" dirty="0"/>
              <a:t>Other incentive problems</a:t>
            </a:r>
            <a:r>
              <a:rPr lang="en-US" altLang="zh-CN" dirty="0"/>
              <a:t>: Some of the analysts who work for S&amp;P and Moody’s may seek work with the governments that they rate, it is uncommon and thus should not pose a problem with </a:t>
            </a:r>
            <a:r>
              <a:rPr lang="en-US" altLang="zh-CN" u="sng" dirty="0"/>
              <a:t>conflict of interest</a:t>
            </a:r>
            <a:r>
              <a:rPr lang="en-US" altLang="zh-CN" dirty="0"/>
              <a: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82660572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b="0" dirty="0">
                <a:solidFill>
                  <a:schemeClr val="tx1"/>
                </a:solidFill>
              </a:rPr>
              <a:t>The interest rate on the bond can be compared to a rate on a riskless investment in that currency to get a market measure of the default spread for that country.</a:t>
            </a:r>
          </a:p>
          <a:p>
            <a:r>
              <a:rPr lang="en-US" altLang="zh-CN" dirty="0">
                <a:solidFill>
                  <a:schemeClr val="tx1"/>
                </a:solidFill>
              </a:rPr>
              <a:t>Advantages to using the default spreads</a:t>
            </a:r>
          </a:p>
          <a:p>
            <a:pPr lvl="1"/>
            <a:r>
              <a:rPr lang="en-US" altLang="zh-CN" dirty="0"/>
              <a:t>The market differentiation for risk is </a:t>
            </a:r>
            <a:r>
              <a:rPr lang="en-US" altLang="zh-CN" u="sng" dirty="0"/>
              <a:t>more granular</a:t>
            </a:r>
            <a:r>
              <a:rPr lang="en-US" altLang="zh-CN" dirty="0"/>
              <a:t> than the ratings agencies;</a:t>
            </a:r>
          </a:p>
          <a:p>
            <a:pPr lvl="1"/>
            <a:r>
              <a:rPr lang="en-US" altLang="zh-CN" dirty="0"/>
              <a:t>The market-based spreads are </a:t>
            </a:r>
            <a:r>
              <a:rPr lang="en-US" altLang="zh-CN" u="sng" dirty="0"/>
              <a:t>more dynamic</a:t>
            </a:r>
            <a:r>
              <a:rPr lang="en-US" altLang="zh-CN" dirty="0"/>
              <a:t> than ratings, with changes occurring in real time.</a:t>
            </a:r>
          </a:p>
          <a:p>
            <a:r>
              <a:rPr lang="en-US" altLang="zh-CN" dirty="0">
                <a:solidFill>
                  <a:schemeClr val="tx1"/>
                </a:solidFill>
              </a:rPr>
              <a:t>Weaknesses</a:t>
            </a:r>
          </a:p>
          <a:p>
            <a:pPr lvl="1"/>
            <a:r>
              <a:rPr lang="en-US" altLang="zh-CN" u="sng" dirty="0"/>
              <a:t>More volatile</a:t>
            </a:r>
            <a:r>
              <a:rPr lang="en-US" altLang="zh-CN" dirty="0"/>
              <a:t> than ratings.</a:t>
            </a:r>
          </a:p>
          <a:p>
            <a:pPr lvl="1"/>
            <a:r>
              <a:rPr lang="en-US" altLang="zh-CN" dirty="0"/>
              <a:t>Can be </a:t>
            </a:r>
            <a:r>
              <a:rPr lang="en-US" altLang="zh-CN" u="sng" dirty="0"/>
              <a:t>affected by variables that have nothing to do with default</a:t>
            </a:r>
            <a:r>
              <a:rPr lang="en-US" altLang="zh-CN" dirty="0"/>
              <a: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49143987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b="0" u="sng" dirty="0">
                <a:solidFill>
                  <a:schemeClr val="tx1"/>
                </a:solidFill>
              </a:rPr>
              <a:t>Physical settlement:</a:t>
            </a:r>
            <a:r>
              <a:rPr lang="en-US" altLang="zh-CN" b="0" dirty="0">
                <a:solidFill>
                  <a:schemeClr val="tx1"/>
                </a:solidFill>
              </a:rPr>
              <a:t> The buyer of the CDS can deliver the “defaulted” bond to the seller and get par value for the bond.</a:t>
            </a:r>
          </a:p>
          <a:p>
            <a:r>
              <a:rPr lang="en-US" altLang="zh-CN" b="0" u="sng" dirty="0">
                <a:solidFill>
                  <a:schemeClr val="tx1"/>
                </a:solidFill>
              </a:rPr>
              <a:t>Cash settlement</a:t>
            </a:r>
            <a:r>
              <a:rPr lang="en-US" altLang="zh-CN" b="0" dirty="0">
                <a:solidFill>
                  <a:schemeClr val="tx1"/>
                </a:solidFill>
              </a:rPr>
              <a:t>: The seller of the CDS can pay the buyer the difference between par value of the defaulted bond and the market price, which will reflects the expected recovery from the issuer.</a:t>
            </a:r>
          </a:p>
          <a:p>
            <a:r>
              <a:rPr lang="en-US" altLang="zh-CN" b="0" dirty="0">
                <a:solidFill>
                  <a:schemeClr val="tx1"/>
                </a:solidFill>
              </a:rPr>
              <a:t>The first is that the protection against failure is triggered by a credit event</a:t>
            </a:r>
          </a:p>
          <a:p>
            <a:r>
              <a:rPr lang="en-US" altLang="zh-CN" b="0" dirty="0">
                <a:solidFill>
                  <a:schemeClr val="tx1"/>
                </a:solidFill>
              </a:rPr>
              <a:t>If the seller defaults, the insurance guarantee will fail.</a:t>
            </a:r>
          </a:p>
          <a:p>
            <a:r>
              <a:rPr lang="en-US" altLang="zh-CN" b="0" dirty="0">
                <a:solidFill>
                  <a:schemeClr val="tx1"/>
                </a:solidFill>
              </a:rPr>
              <a:t>Corporate CDS represent the bulk of the market, followed by bank CDS and then sovereign CDS.</a:t>
            </a:r>
          </a:p>
          <a:p>
            <a:r>
              <a:rPr lang="en-US" altLang="zh-CN" b="0" u="sng" dirty="0">
                <a:solidFill>
                  <a:schemeClr val="tx1"/>
                </a:solidFill>
              </a:rPr>
              <a:t>The narrowness of the market</a:t>
            </a:r>
            <a:r>
              <a:rPr lang="en-US" altLang="zh-CN" b="0" dirty="0">
                <a:solidFill>
                  <a:schemeClr val="tx1"/>
                </a:solidFill>
              </a:rPr>
              <a:t> does make it vulnerable, since the failure of one or more of the big players can throw the market into tumult.</a:t>
            </a:r>
          </a:p>
          <a:p>
            <a:endParaRPr lang="zh-CN" altLang="en-US" dirty="0">
              <a:solidFill>
                <a:schemeClr val="tx1"/>
              </a:solidFill>
              <a:latin typeface="+mn-lt"/>
              <a:ea typeface="+mn-ea"/>
              <a:cs typeface="+mn-ea"/>
              <a:sym typeface="+mn-lt"/>
            </a:endParaRPr>
          </a:p>
        </p:txBody>
      </p:sp>
    </p:spTree>
    <p:extLst>
      <p:ext uri="{BB962C8B-B14F-4D97-AF65-F5344CB8AC3E}">
        <p14:creationId xmlns:p14="http://schemas.microsoft.com/office/powerpoint/2010/main" val="204839254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Country Risk</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b="0" dirty="0">
                <a:solidFill>
                  <a:schemeClr val="tx1"/>
                </a:solidFill>
              </a:rPr>
              <a:t>The prices that investors set for credit default swaps should provide us with updated measures of default risk in the reference entity.</a:t>
            </a:r>
          </a:p>
          <a:p>
            <a:r>
              <a:rPr lang="en-US" altLang="zh-CN" b="0" dirty="0">
                <a:solidFill>
                  <a:schemeClr val="tx1"/>
                </a:solidFill>
              </a:rPr>
              <a:t>CDS spreads are </a:t>
            </a:r>
            <a:r>
              <a:rPr lang="en-US" altLang="zh-CN" b="0" u="sng" dirty="0">
                <a:solidFill>
                  <a:schemeClr val="tx1"/>
                </a:solidFill>
              </a:rPr>
              <a:t>more timely and dynamic than sovereign ratings</a:t>
            </a:r>
            <a:r>
              <a:rPr lang="en-US" altLang="zh-CN" b="0" dirty="0">
                <a:solidFill>
                  <a:schemeClr val="tx1"/>
                </a:solidFill>
              </a:rPr>
              <a:t> and that they reflect fundamental changes.</a:t>
            </a:r>
          </a:p>
          <a:p>
            <a:r>
              <a:rPr lang="en-US" altLang="zh-CN" b="0" dirty="0">
                <a:solidFill>
                  <a:schemeClr val="tx1"/>
                </a:solidFill>
              </a:rPr>
              <a:t>It is </a:t>
            </a:r>
            <a:r>
              <a:rPr lang="en-US" altLang="zh-CN" b="0" u="sng" dirty="0">
                <a:solidFill>
                  <a:schemeClr val="tx1"/>
                </a:solidFill>
              </a:rPr>
              <a:t>not clear</a:t>
            </a:r>
            <a:r>
              <a:rPr lang="en-US" altLang="zh-CN" b="0" dirty="0">
                <a:solidFill>
                  <a:schemeClr val="tx1"/>
                </a:solidFill>
              </a:rPr>
              <a:t> that the CDS market is </a:t>
            </a:r>
            <a:r>
              <a:rPr lang="en-US" altLang="zh-CN" b="0" u="sng" dirty="0">
                <a:solidFill>
                  <a:schemeClr val="tx1"/>
                </a:solidFill>
              </a:rPr>
              <a:t>quicker or better at assessing default risks than the government bond market</a:t>
            </a:r>
            <a:r>
              <a:rPr lang="en-US" altLang="zh-CN" b="0" dirty="0">
                <a:solidFill>
                  <a:schemeClr val="tx1"/>
                </a:solidFill>
              </a:rPr>
              <a:t>.</a:t>
            </a:r>
          </a:p>
          <a:p>
            <a:r>
              <a:rPr lang="en-US" altLang="zh-CN" b="0" dirty="0">
                <a:solidFill>
                  <a:schemeClr val="tx1"/>
                </a:solidFill>
              </a:rPr>
              <a:t>Limitations with using CDS prices as predictors of country default risk</a:t>
            </a:r>
          </a:p>
          <a:p>
            <a:pPr lvl="1"/>
            <a:r>
              <a:rPr lang="en-US" altLang="zh-CN" dirty="0"/>
              <a:t>The exposure to counterparty and </a:t>
            </a:r>
            <a:r>
              <a:rPr lang="en-US" altLang="zh-CN" u="sng" dirty="0"/>
              <a:t>liquidity risk can cause changes in CDS prices</a:t>
            </a:r>
            <a:r>
              <a:rPr lang="en-US" altLang="zh-CN" dirty="0"/>
              <a:t>.</a:t>
            </a:r>
          </a:p>
          <a:p>
            <a:pPr lvl="1"/>
            <a:r>
              <a:rPr lang="en-US" altLang="zh-CN" dirty="0"/>
              <a:t>The </a:t>
            </a:r>
            <a:r>
              <a:rPr lang="en-US" altLang="zh-CN" u="sng" dirty="0"/>
              <a:t>narrowness of the CDS market</a:t>
            </a:r>
            <a:r>
              <a:rPr lang="en-US" altLang="zh-CN" dirty="0"/>
              <a:t> can make individual CDS susceptible to illiquidity problems.</a:t>
            </a:r>
          </a:p>
          <a:p>
            <a:endParaRPr lang="zh-CN" altLang="en-US" dirty="0">
              <a:solidFill>
                <a:schemeClr val="tx1"/>
              </a:solidFill>
              <a:latin typeface="+mn-lt"/>
              <a:ea typeface="+mn-ea"/>
              <a:cs typeface="+mn-ea"/>
              <a:sym typeface="+mn-lt"/>
            </a:endParaRPr>
          </a:p>
        </p:txBody>
      </p:sp>
    </p:spTree>
    <p:extLst>
      <p:ext uri="{BB962C8B-B14F-4D97-AF65-F5344CB8AC3E}">
        <p14:creationId xmlns:p14="http://schemas.microsoft.com/office/powerpoint/2010/main" val="153584154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0dcd307-9ca5-411e-aa47-63bb535c667f" descr="BA8AAB+LCAAAAAAABADdVU2P2jAQ/S9ue6Mo8Ra1yo10lRb1Cy2o3VXFwU0G4jZxkGNW7CL++9oQBzsJEPayBXEh4zf2mzdjvxV6LR7mgDw0SgkX15TMOEkHAlLUQYMIeWyRJB3kUxZRNvvEs8U8R97vVZlmrvyiIv5JkgWoXEYFJcn206vhNewbZTRdpAXM6ToyRJZGyHW2QRpFCZiwARPA78sTXBXb/B8JLg8IMp4SIQ9cOes3qFhCXu+q66xVcgRLmdRB4y0tzaegpwRorFMtqDKHWS5oxnYZQyJ1A0mpodhK0g4qaQEXNCRJP6EzlgJTjGUBIMJYrn7OOH3MmLDXb+gsFnL1C8C80G9EH+V5U5LkoFWIyRy+y3N0cZuAK9NuICGC3lsIK+aidVlWCVJqVGEda+dJKeZOHFmq5GxpvO7s1WcMS3GaoirDlLOp9/uK2dBRG5jUCwqn8dayPGsoKslmNT+m0xzE7RB4KNn4D5b8xTWoYnYdQd5bt4s14m7/Lr06xtrFQNxap94VX80Dt5W2ed7MuTnYH3vSqt2qC9/UuElD68r36mOWZPz4e6VhtXWpBA1hHEMKGjOmTPRZJKlHuks+V3eWQZ5rAf/8hVAYaV5PoRZ5LPd8FQRXwQccvEO6Umfd9GjpA9s+WhV8m+ncpNRnsh+qOSmYGxNRq1PTb99jn4T/zB5r0lZnt8EDV/LFSsUnPTeHijs4tv+7zfZMm8VnabNfYfpMl8VtXBa3c1lsuSw+X5fFZ+qy7jGXdV7aZPeNmzk2xx9gbJosvlCTfW+ZbOD7147baLL4Ik0WmyaLL9lk2xY3kb8nrhbizAQPAAA=">
            <a:extLst>
              <a:ext uri="{FF2B5EF4-FFF2-40B4-BE49-F238E27FC236}">
                <a16:creationId xmlns:a16="http://schemas.microsoft.com/office/drawing/2014/main" id="{1493A4F0-9A06-4464-AD29-020579B7968E}"/>
              </a:ext>
            </a:extLst>
          </p:cNvPr>
          <p:cNvGrpSpPr>
            <a:grpSpLocks noChangeAspect="1"/>
          </p:cNvGrpSpPr>
          <p:nvPr/>
        </p:nvGrpSpPr>
        <p:grpSpPr>
          <a:xfrm>
            <a:off x="1099614" y="1788195"/>
            <a:ext cx="9992772" cy="3281611"/>
            <a:chOff x="1262052" y="1623553"/>
            <a:chExt cx="9992772" cy="3281611"/>
          </a:xfrm>
        </p:grpSpPr>
        <p:sp>
          <p:nvSpPr>
            <p:cNvPr id="3" name="AreaShape">
              <a:extLst>
                <a:ext uri="{FF2B5EF4-FFF2-40B4-BE49-F238E27FC236}">
                  <a16:creationId xmlns:a16="http://schemas.microsoft.com/office/drawing/2014/main" id="{0801B548-BC6D-4D7A-82C0-DE4BE113F0FD}"/>
                </a:ext>
              </a:extLst>
            </p:cNvPr>
            <p:cNvSpPr/>
            <p:nvPr/>
          </p:nvSpPr>
          <p:spPr bwMode="auto">
            <a:xfrm>
              <a:off x="1262052" y="1623553"/>
              <a:ext cx="9992772" cy="3281611"/>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4" name="ValueBack1">
              <a:extLst>
                <a:ext uri="{FF2B5EF4-FFF2-40B4-BE49-F238E27FC236}">
                  <a16:creationId xmlns:a16="http://schemas.microsoft.com/office/drawing/2014/main" id="{0A0BE5B9-BB5E-4CC4-8E7A-0375A904DFDC}"/>
                </a:ext>
              </a:extLst>
            </p:cNvPr>
            <p:cNvSpPr/>
            <p:nvPr/>
          </p:nvSpPr>
          <p:spPr>
            <a:xfrm>
              <a:off x="5255344" y="2583639"/>
              <a:ext cx="933168" cy="1436347"/>
            </a:xfrm>
            <a:custGeom>
              <a:avLst/>
              <a:gdLst>
                <a:gd name="connsiteX0" fmla="*/ 0 w 783762"/>
                <a:gd name="connsiteY0" fmla="*/ 97330 h 1206379"/>
                <a:gd name="connsiteX1" fmla="*/ 783761 w 783762"/>
                <a:gd name="connsiteY1" fmla="*/ 563490 h 1206379"/>
                <a:gd name="connsiteX2" fmla="*/ 783761 w 783762"/>
                <a:gd name="connsiteY2" fmla="*/ 1206379 h 1206379"/>
                <a:gd name="connsiteX3" fmla="*/ 0 w 783762"/>
                <a:gd name="connsiteY3" fmla="*/ 742781 h 1206379"/>
                <a:gd name="connsiteX4" fmla="*/ 71718 w 783762"/>
                <a:gd name="connsiteY4" fmla="*/ 35858 h 1206379"/>
                <a:gd name="connsiteX5" fmla="*/ 345779 w 783762"/>
                <a:gd name="connsiteY5" fmla="*/ 215150 h 1206379"/>
                <a:gd name="connsiteX6" fmla="*/ 770957 w 783762"/>
                <a:gd name="connsiteY6" fmla="*/ 514824 h 1206379"/>
                <a:gd name="connsiteX7" fmla="*/ 527632 w 783762"/>
                <a:gd name="connsiteY7" fmla="*/ 366268 h 1206379"/>
                <a:gd name="connsiteX8" fmla="*/ 71718 w 783762"/>
                <a:gd name="connsiteY8" fmla="*/ 97330 h 1206379"/>
                <a:gd name="connsiteX9" fmla="*/ 163925 w 783762"/>
                <a:gd name="connsiteY9" fmla="*/ 0 h 1206379"/>
                <a:gd name="connsiteX10" fmla="*/ 420055 w 783762"/>
                <a:gd name="connsiteY10" fmla="*/ 179292 h 1206379"/>
                <a:gd name="connsiteX11" fmla="*/ 783762 w 783762"/>
                <a:gd name="connsiteY11" fmla="*/ 499456 h 1206379"/>
                <a:gd name="connsiteX12" fmla="*/ 494334 w 783762"/>
                <a:gd name="connsiteY12" fmla="*/ 253571 h 1206379"/>
                <a:gd name="connsiteX13" fmla="*/ 163925 w 783762"/>
                <a:gd name="connsiteY13" fmla="*/ 87085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3762" h="1206379">
                  <a:moveTo>
                    <a:pt x="0" y="97330"/>
                  </a:moveTo>
                  <a:lnTo>
                    <a:pt x="783761" y="563490"/>
                  </a:lnTo>
                  <a:lnTo>
                    <a:pt x="783761" y="1206379"/>
                  </a:lnTo>
                  <a:lnTo>
                    <a:pt x="0" y="742781"/>
                  </a:lnTo>
                  <a:close/>
                  <a:moveTo>
                    <a:pt x="71718" y="35858"/>
                  </a:moveTo>
                  <a:cubicBezTo>
                    <a:pt x="89648" y="92207"/>
                    <a:pt x="345779" y="217712"/>
                    <a:pt x="345779" y="215150"/>
                  </a:cubicBezTo>
                  <a:cubicBezTo>
                    <a:pt x="673626" y="353462"/>
                    <a:pt x="770957" y="514824"/>
                    <a:pt x="770957" y="514824"/>
                  </a:cubicBezTo>
                  <a:cubicBezTo>
                    <a:pt x="719731" y="471282"/>
                    <a:pt x="527632" y="366268"/>
                    <a:pt x="527632" y="366268"/>
                  </a:cubicBezTo>
                  <a:cubicBezTo>
                    <a:pt x="437986" y="320164"/>
                    <a:pt x="71718" y="97330"/>
                    <a:pt x="71718" y="97330"/>
                  </a:cubicBezTo>
                  <a:close/>
                  <a:moveTo>
                    <a:pt x="163925" y="0"/>
                  </a:moveTo>
                  <a:cubicBezTo>
                    <a:pt x="189538" y="79402"/>
                    <a:pt x="420055" y="179292"/>
                    <a:pt x="420055" y="179292"/>
                  </a:cubicBezTo>
                  <a:cubicBezTo>
                    <a:pt x="776078" y="368830"/>
                    <a:pt x="783762" y="499456"/>
                    <a:pt x="783762" y="499456"/>
                  </a:cubicBezTo>
                  <a:cubicBezTo>
                    <a:pt x="714606" y="371391"/>
                    <a:pt x="494334" y="253571"/>
                    <a:pt x="494334" y="253571"/>
                  </a:cubicBezTo>
                  <a:cubicBezTo>
                    <a:pt x="356023" y="207467"/>
                    <a:pt x="163925" y="87085"/>
                    <a:pt x="163925" y="87085"/>
                  </a:cubicBezTo>
                  <a:close/>
                </a:path>
              </a:pathLst>
            </a:custGeom>
            <a:solidFill>
              <a:schemeClr val="accent1">
                <a:lumMod val="100000"/>
              </a:schemeClr>
            </a:solidFill>
            <a:ln w="20534" cap="flat">
              <a:noFill/>
              <a:prstDash val="solid"/>
              <a:miter/>
            </a:ln>
          </p:spPr>
          <p:txBody>
            <a:bodyPr rtlCol="0" anchor="ctr"/>
            <a:lstStyle/>
            <a:p>
              <a:endParaRPr lang="zh-CN" altLang="en-US"/>
            </a:p>
          </p:txBody>
        </p:sp>
        <p:sp>
          <p:nvSpPr>
            <p:cNvPr id="5" name="ValueBack2">
              <a:extLst>
                <a:ext uri="{FF2B5EF4-FFF2-40B4-BE49-F238E27FC236}">
                  <a16:creationId xmlns:a16="http://schemas.microsoft.com/office/drawing/2014/main" id="{3EF3DEE4-FD95-4FF7-8A3C-0CA049379F52}"/>
                </a:ext>
              </a:extLst>
            </p:cNvPr>
            <p:cNvSpPr/>
            <p:nvPr/>
          </p:nvSpPr>
          <p:spPr>
            <a:xfrm>
              <a:off x="6374534" y="2583639"/>
              <a:ext cx="933165" cy="1436347"/>
            </a:xfrm>
            <a:custGeom>
              <a:avLst/>
              <a:gdLst>
                <a:gd name="connsiteX0" fmla="*/ 783760 w 783760"/>
                <a:gd name="connsiteY0" fmla="*/ 97330 h 1206379"/>
                <a:gd name="connsiteX1" fmla="*/ 783760 w 783760"/>
                <a:gd name="connsiteY1" fmla="*/ 742781 h 1206379"/>
                <a:gd name="connsiteX2" fmla="*/ 0 w 783760"/>
                <a:gd name="connsiteY2" fmla="*/ 1206379 h 1206379"/>
                <a:gd name="connsiteX3" fmla="*/ 0 w 783760"/>
                <a:gd name="connsiteY3" fmla="*/ 563490 h 1206379"/>
                <a:gd name="connsiteX4" fmla="*/ 712044 w 783760"/>
                <a:gd name="connsiteY4" fmla="*/ 35858 h 1206379"/>
                <a:gd name="connsiteX5" fmla="*/ 712044 w 783760"/>
                <a:gd name="connsiteY5" fmla="*/ 97330 h 1206379"/>
                <a:gd name="connsiteX6" fmla="*/ 256131 w 783760"/>
                <a:gd name="connsiteY6" fmla="*/ 366268 h 1206379"/>
                <a:gd name="connsiteX7" fmla="*/ 12807 w 783760"/>
                <a:gd name="connsiteY7" fmla="*/ 514824 h 1206379"/>
                <a:gd name="connsiteX8" fmla="*/ 437985 w 783760"/>
                <a:gd name="connsiteY8" fmla="*/ 215150 h 1206379"/>
                <a:gd name="connsiteX9" fmla="*/ 712044 w 783760"/>
                <a:gd name="connsiteY9" fmla="*/ 35858 h 1206379"/>
                <a:gd name="connsiteX10" fmla="*/ 619837 w 783760"/>
                <a:gd name="connsiteY10" fmla="*/ 0 h 1206379"/>
                <a:gd name="connsiteX11" fmla="*/ 619837 w 783760"/>
                <a:gd name="connsiteY11" fmla="*/ 87085 h 1206379"/>
                <a:gd name="connsiteX12" fmla="*/ 289428 w 783760"/>
                <a:gd name="connsiteY12" fmla="*/ 253571 h 1206379"/>
                <a:gd name="connsiteX13" fmla="*/ 0 w 783760"/>
                <a:gd name="connsiteY13" fmla="*/ 499456 h 1206379"/>
                <a:gd name="connsiteX14" fmla="*/ 363706 w 783760"/>
                <a:gd name="connsiteY14" fmla="*/ 179292 h 1206379"/>
                <a:gd name="connsiteX15" fmla="*/ 619837 w 783760"/>
                <a:gd name="connsiteY15" fmla="*/ 0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83760" h="1206379">
                  <a:moveTo>
                    <a:pt x="783760" y="97330"/>
                  </a:moveTo>
                  <a:lnTo>
                    <a:pt x="783760" y="742781"/>
                  </a:lnTo>
                  <a:lnTo>
                    <a:pt x="0" y="1206379"/>
                  </a:lnTo>
                  <a:lnTo>
                    <a:pt x="0" y="563490"/>
                  </a:lnTo>
                  <a:close/>
                  <a:moveTo>
                    <a:pt x="712044" y="35858"/>
                  </a:moveTo>
                  <a:lnTo>
                    <a:pt x="712044" y="97330"/>
                  </a:lnTo>
                  <a:cubicBezTo>
                    <a:pt x="712044" y="97330"/>
                    <a:pt x="345776" y="320164"/>
                    <a:pt x="256131" y="366268"/>
                  </a:cubicBezTo>
                  <a:cubicBezTo>
                    <a:pt x="256131" y="366268"/>
                    <a:pt x="64033" y="471282"/>
                    <a:pt x="12807" y="514824"/>
                  </a:cubicBezTo>
                  <a:cubicBezTo>
                    <a:pt x="12807" y="514824"/>
                    <a:pt x="110136" y="353462"/>
                    <a:pt x="437985" y="215150"/>
                  </a:cubicBezTo>
                  <a:cubicBezTo>
                    <a:pt x="437985" y="217712"/>
                    <a:pt x="691553" y="92207"/>
                    <a:pt x="712044" y="35858"/>
                  </a:cubicBezTo>
                  <a:close/>
                  <a:moveTo>
                    <a:pt x="619837" y="0"/>
                  </a:moveTo>
                  <a:lnTo>
                    <a:pt x="619837" y="87085"/>
                  </a:lnTo>
                  <a:cubicBezTo>
                    <a:pt x="619837" y="87085"/>
                    <a:pt x="427739" y="207467"/>
                    <a:pt x="289428" y="253571"/>
                  </a:cubicBezTo>
                  <a:cubicBezTo>
                    <a:pt x="289428" y="253571"/>
                    <a:pt x="69155" y="371391"/>
                    <a:pt x="0" y="499456"/>
                  </a:cubicBezTo>
                  <a:cubicBezTo>
                    <a:pt x="0" y="499456"/>
                    <a:pt x="7684" y="368830"/>
                    <a:pt x="363706" y="179292"/>
                  </a:cubicBezTo>
                  <a:cubicBezTo>
                    <a:pt x="363706" y="179292"/>
                    <a:pt x="594224" y="79402"/>
                    <a:pt x="619837" y="0"/>
                  </a:cubicBezTo>
                  <a:close/>
                </a:path>
              </a:pathLst>
            </a:custGeom>
            <a:solidFill>
              <a:schemeClr val="accent3">
                <a:lumMod val="100000"/>
              </a:schemeClr>
            </a:solidFill>
            <a:ln w="20534" cap="flat">
              <a:noFill/>
              <a:prstDash val="solid"/>
              <a:miter/>
            </a:ln>
          </p:spPr>
          <p:txBody>
            <a:bodyPr rtlCol="0" anchor="ctr"/>
            <a:lstStyle/>
            <a:p>
              <a:endParaRPr lang="zh-CN" altLang="en-US"/>
            </a:p>
          </p:txBody>
        </p:sp>
        <p:sp>
          <p:nvSpPr>
            <p:cNvPr id="6" name="RelativeShape1">
              <a:extLst>
                <a:ext uri="{FF2B5EF4-FFF2-40B4-BE49-F238E27FC236}">
                  <a16:creationId xmlns:a16="http://schemas.microsoft.com/office/drawing/2014/main" id="{93746CF1-0B19-410A-A38E-CE512D993243}"/>
                </a:ext>
              </a:extLst>
            </p:cNvPr>
            <p:cNvSpPr/>
            <p:nvPr/>
          </p:nvSpPr>
          <p:spPr bwMode="auto">
            <a:xfrm>
              <a:off x="2135559"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7" name="RelativeShape2">
              <a:extLst>
                <a:ext uri="{FF2B5EF4-FFF2-40B4-BE49-F238E27FC236}">
                  <a16:creationId xmlns:a16="http://schemas.microsoft.com/office/drawing/2014/main" id="{D66CF947-5A01-4839-B102-747EFDD7281A}"/>
                </a:ext>
              </a:extLst>
            </p:cNvPr>
            <p:cNvSpPr/>
            <p:nvPr/>
          </p:nvSpPr>
          <p:spPr bwMode="auto">
            <a:xfrm>
              <a:off x="7364516"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8" name="ValueShape1">
              <a:extLst>
                <a:ext uri="{FF2B5EF4-FFF2-40B4-BE49-F238E27FC236}">
                  <a16:creationId xmlns:a16="http://schemas.microsoft.com/office/drawing/2014/main" id="{FB26877B-79B9-4CD8-8BC2-839063D1BB76}"/>
                </a:ext>
              </a:extLst>
            </p:cNvPr>
            <p:cNvSpPr/>
            <p:nvPr/>
          </p:nvSpPr>
          <p:spPr bwMode="auto">
            <a:xfrm>
              <a:off x="3578684" y="2723405"/>
              <a:ext cx="1627354" cy="754798"/>
            </a:xfrm>
            <a:prstGeom prst="rect">
              <a:avLst/>
            </a:prstGeom>
            <a:solidFill>
              <a:schemeClr val="accent1">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9" name="ValueShape2">
              <a:extLst>
                <a:ext uri="{FF2B5EF4-FFF2-40B4-BE49-F238E27FC236}">
                  <a16:creationId xmlns:a16="http://schemas.microsoft.com/office/drawing/2014/main" id="{8BE80031-FBBD-47D1-B814-D039F3BF91FC}"/>
                </a:ext>
              </a:extLst>
            </p:cNvPr>
            <p:cNvSpPr/>
            <p:nvPr/>
          </p:nvSpPr>
          <p:spPr bwMode="auto">
            <a:xfrm>
              <a:off x="7364516" y="2723405"/>
              <a:ext cx="1688763" cy="754798"/>
            </a:xfrm>
            <a:prstGeom prst="rect">
              <a:avLst/>
            </a:prstGeom>
            <a:solidFill>
              <a:schemeClr val="accent3">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10" name="ExtraShape">
              <a:extLst>
                <a:ext uri="{FF2B5EF4-FFF2-40B4-BE49-F238E27FC236}">
                  <a16:creationId xmlns:a16="http://schemas.microsoft.com/office/drawing/2014/main" id="{4DE28724-19BC-419C-BCCD-CC6E2D97C58F}"/>
                </a:ext>
              </a:extLst>
            </p:cNvPr>
            <p:cNvSpPr/>
            <p:nvPr/>
          </p:nvSpPr>
          <p:spPr bwMode="auto">
            <a:xfrm rot="7966385">
              <a:off x="5372123" y="1998499"/>
              <a:ext cx="1772631" cy="1717988"/>
            </a:xfrm>
            <a:custGeom>
              <a:avLst/>
              <a:gdLst>
                <a:gd name="connsiteX0" fmla="*/ 1009389 w 1488822"/>
                <a:gd name="connsiteY0" fmla="*/ 531908 h 1442928"/>
                <a:gd name="connsiteX1" fmla="*/ 927638 w 1488822"/>
                <a:gd name="connsiteY1" fmla="*/ 443542 h 1442928"/>
                <a:gd name="connsiteX2" fmla="*/ 1407071 w 1488822"/>
                <a:gd name="connsiteY2" fmla="*/ 0 h 1442928"/>
                <a:gd name="connsiteX3" fmla="*/ 1488822 w 1488822"/>
                <a:gd name="connsiteY3" fmla="*/ 88366 h 1442928"/>
                <a:gd name="connsiteX4" fmla="*/ 175265 w 1488822"/>
                <a:gd name="connsiteY4" fmla="*/ 1240780 h 1442928"/>
                <a:gd name="connsiteX5" fmla="*/ 0 w 1488822"/>
                <a:gd name="connsiteY5" fmla="*/ 900466 h 1442928"/>
                <a:gd name="connsiteX6" fmla="*/ 1 w 1488822"/>
                <a:gd name="connsiteY6" fmla="*/ 900467 h 1442928"/>
                <a:gd name="connsiteX7" fmla="*/ 1 w 1488822"/>
                <a:gd name="connsiteY7" fmla="*/ 900466 h 1442928"/>
                <a:gd name="connsiteX8" fmla="*/ 109696 w 1488822"/>
                <a:gd name="connsiteY8" fmla="*/ 798983 h 1442928"/>
                <a:gd name="connsiteX9" fmla="*/ 103102 w 1488822"/>
                <a:gd name="connsiteY9" fmla="*/ 783064 h 1442928"/>
                <a:gd name="connsiteX10" fmla="*/ 130693 w 1488822"/>
                <a:gd name="connsiteY10" fmla="*/ 755473 h 1442928"/>
                <a:gd name="connsiteX11" fmla="*/ 158284 w 1488822"/>
                <a:gd name="connsiteY11" fmla="*/ 755473 h 1442928"/>
                <a:gd name="connsiteX12" fmla="*/ 158284 w 1488822"/>
                <a:gd name="connsiteY12" fmla="*/ 783064 h 1442928"/>
                <a:gd name="connsiteX13" fmla="*/ 130693 w 1488822"/>
                <a:gd name="connsiteY13" fmla="*/ 810655 h 1442928"/>
                <a:gd name="connsiteX14" fmla="*/ 117896 w 1488822"/>
                <a:gd name="connsiteY14" fmla="*/ 805354 h 1442928"/>
                <a:gd name="connsiteX15" fmla="*/ 9205 w 1488822"/>
                <a:gd name="connsiteY15" fmla="*/ 905909 h 1442928"/>
                <a:gd name="connsiteX16" fmla="*/ 195140 w 1488822"/>
                <a:gd name="connsiteY16" fmla="*/ 1015874 h 1442928"/>
                <a:gd name="connsiteX17" fmla="*/ 194925 w 1488822"/>
                <a:gd name="connsiteY17" fmla="*/ 1014140 h 1442928"/>
                <a:gd name="connsiteX18" fmla="*/ 263892 w 1488822"/>
                <a:gd name="connsiteY18" fmla="*/ 872665 h 1442928"/>
                <a:gd name="connsiteX19" fmla="*/ 410296 w 1488822"/>
                <a:gd name="connsiteY19" fmla="*/ 814892 h 1442928"/>
                <a:gd name="connsiteX20" fmla="*/ 457989 w 1488822"/>
                <a:gd name="connsiteY20" fmla="*/ 824618 h 1442928"/>
                <a:gd name="connsiteX21" fmla="*/ 418631 w 1488822"/>
                <a:gd name="connsiteY21" fmla="*/ 775714 h 1442928"/>
                <a:gd name="connsiteX22" fmla="*/ 288313 w 1488822"/>
                <a:gd name="connsiteY22" fmla="*/ 570929 h 1442928"/>
                <a:gd name="connsiteX23" fmla="*/ 297512 w 1488822"/>
                <a:gd name="connsiteY23" fmla="*/ 380976 h 1442928"/>
                <a:gd name="connsiteX24" fmla="*/ 639727 w 1488822"/>
                <a:gd name="connsiteY24" fmla="*/ 483096 h 1442928"/>
                <a:gd name="connsiteX25" fmla="*/ 715184 w 1488822"/>
                <a:gd name="connsiteY25" fmla="*/ 640092 h 1442928"/>
                <a:gd name="connsiteX26" fmla="*/ 703903 w 1488822"/>
                <a:gd name="connsiteY26" fmla="*/ 650528 h 1442928"/>
                <a:gd name="connsiteX27" fmla="*/ 628648 w 1488822"/>
                <a:gd name="connsiteY27" fmla="*/ 674788 h 1442928"/>
                <a:gd name="connsiteX28" fmla="*/ 625067 w 1488822"/>
                <a:gd name="connsiteY28" fmla="*/ 786543 h 1442928"/>
                <a:gd name="connsiteX29" fmla="*/ 632189 w 1488822"/>
                <a:gd name="connsiteY29" fmla="*/ 795409 h 1442928"/>
                <a:gd name="connsiteX30" fmla="*/ 640720 w 1488822"/>
                <a:gd name="connsiteY30" fmla="*/ 803463 h 1442928"/>
                <a:gd name="connsiteX31" fmla="*/ 753882 w 1488822"/>
                <a:gd name="connsiteY31" fmla="*/ 810157 h 1442928"/>
                <a:gd name="connsiteX32" fmla="*/ 783914 w 1488822"/>
                <a:gd name="connsiteY32" fmla="*/ 737014 h 1442928"/>
                <a:gd name="connsiteX33" fmla="*/ 795195 w 1488822"/>
                <a:gd name="connsiteY33" fmla="*/ 726577 h 1442928"/>
                <a:gd name="connsiteX34" fmla="*/ 945856 w 1488822"/>
                <a:gd name="connsiteY34" fmla="*/ 813997 h 1442928"/>
                <a:gd name="connsiteX35" fmla="*/ 1021093 w 1488822"/>
                <a:gd name="connsiteY35" fmla="*/ 1163109 h 1442928"/>
                <a:gd name="connsiteX36" fmla="*/ 830999 w 1488822"/>
                <a:gd name="connsiteY36" fmla="*/ 1157529 h 1442928"/>
                <a:gd name="connsiteX37" fmla="*/ 635921 w 1488822"/>
                <a:gd name="connsiteY37" fmla="*/ 1010587 h 1442928"/>
                <a:gd name="connsiteX38" fmla="*/ 591226 w 1488822"/>
                <a:gd name="connsiteY38" fmla="*/ 968448 h 1442928"/>
                <a:gd name="connsiteX39" fmla="*/ 597245 w 1488822"/>
                <a:gd name="connsiteY39" fmla="*/ 1016969 h 1442928"/>
                <a:gd name="connsiteX40" fmla="*/ 528278 w 1488822"/>
                <a:gd name="connsiteY40" fmla="*/ 1158444 h 1442928"/>
                <a:gd name="connsiteX41" fmla="*/ 458611 w 1488822"/>
                <a:gd name="connsiteY41" fmla="*/ 1202056 h 1442928"/>
                <a:gd name="connsiteX42" fmla="*/ 397138 w 1488822"/>
                <a:gd name="connsiteY42" fmla="*/ 1213400 h 1442928"/>
                <a:gd name="connsiteX43" fmla="*/ 526279 w 1488822"/>
                <a:gd name="connsiteY43" fmla="*/ 1442928 h 144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8822" h="1442928">
                  <a:moveTo>
                    <a:pt x="1009389" y="531908"/>
                  </a:moveTo>
                  <a:lnTo>
                    <a:pt x="927638" y="443542"/>
                  </a:lnTo>
                  <a:lnTo>
                    <a:pt x="1407071" y="0"/>
                  </a:lnTo>
                  <a:lnTo>
                    <a:pt x="1488822" y="88366"/>
                  </a:lnTo>
                  <a:close/>
                  <a:moveTo>
                    <a:pt x="175265" y="1240780"/>
                  </a:moveTo>
                  <a:lnTo>
                    <a:pt x="0" y="900466"/>
                  </a:lnTo>
                  <a:lnTo>
                    <a:pt x="1" y="900467"/>
                  </a:lnTo>
                  <a:lnTo>
                    <a:pt x="1" y="900466"/>
                  </a:lnTo>
                  <a:lnTo>
                    <a:pt x="109696" y="798983"/>
                  </a:lnTo>
                  <a:lnTo>
                    <a:pt x="103102" y="783064"/>
                  </a:lnTo>
                  <a:cubicBezTo>
                    <a:pt x="103102" y="767826"/>
                    <a:pt x="115455" y="755473"/>
                    <a:pt x="130693" y="755473"/>
                  </a:cubicBezTo>
                  <a:lnTo>
                    <a:pt x="158284" y="755473"/>
                  </a:lnTo>
                  <a:lnTo>
                    <a:pt x="158284" y="783064"/>
                  </a:lnTo>
                  <a:cubicBezTo>
                    <a:pt x="158284" y="798302"/>
                    <a:pt x="145931" y="810655"/>
                    <a:pt x="130693" y="810655"/>
                  </a:cubicBezTo>
                  <a:lnTo>
                    <a:pt x="117896" y="805354"/>
                  </a:lnTo>
                  <a:lnTo>
                    <a:pt x="9205" y="905909"/>
                  </a:lnTo>
                  <a:lnTo>
                    <a:pt x="195140" y="1015874"/>
                  </a:lnTo>
                  <a:lnTo>
                    <a:pt x="194925" y="1014140"/>
                  </a:lnTo>
                  <a:cubicBezTo>
                    <a:pt x="198561" y="962786"/>
                    <a:pt x="221838" y="911570"/>
                    <a:pt x="263892" y="872665"/>
                  </a:cubicBezTo>
                  <a:cubicBezTo>
                    <a:pt x="305945" y="833759"/>
                    <a:pt x="358815" y="814530"/>
                    <a:pt x="410296" y="814892"/>
                  </a:cubicBezTo>
                  <a:lnTo>
                    <a:pt x="457989" y="824618"/>
                  </a:lnTo>
                  <a:lnTo>
                    <a:pt x="418631" y="775714"/>
                  </a:lnTo>
                  <a:cubicBezTo>
                    <a:pt x="370542" y="712719"/>
                    <a:pt x="322348" y="639541"/>
                    <a:pt x="288313" y="570929"/>
                  </a:cubicBezTo>
                  <a:cubicBezTo>
                    <a:pt x="227807" y="448953"/>
                    <a:pt x="297512" y="380976"/>
                    <a:pt x="297512" y="380976"/>
                  </a:cubicBezTo>
                  <a:lnTo>
                    <a:pt x="639727" y="483096"/>
                  </a:lnTo>
                  <a:cubicBezTo>
                    <a:pt x="617778" y="534804"/>
                    <a:pt x="715184" y="640092"/>
                    <a:pt x="715184" y="640092"/>
                  </a:cubicBezTo>
                  <a:lnTo>
                    <a:pt x="703903" y="650528"/>
                  </a:lnTo>
                  <a:cubicBezTo>
                    <a:pt x="667708" y="649120"/>
                    <a:pt x="628648" y="674788"/>
                    <a:pt x="628648" y="674788"/>
                  </a:cubicBezTo>
                  <a:cubicBezTo>
                    <a:pt x="590047" y="723584"/>
                    <a:pt x="611785" y="767589"/>
                    <a:pt x="625067" y="786543"/>
                  </a:cubicBezTo>
                  <a:lnTo>
                    <a:pt x="632189" y="795409"/>
                  </a:lnTo>
                  <a:lnTo>
                    <a:pt x="640720" y="803463"/>
                  </a:lnTo>
                  <a:cubicBezTo>
                    <a:pt x="659074" y="818705"/>
                    <a:pt x="702237" y="844852"/>
                    <a:pt x="753882" y="810157"/>
                  </a:cubicBezTo>
                  <a:cubicBezTo>
                    <a:pt x="753882" y="810157"/>
                    <a:pt x="782507" y="773209"/>
                    <a:pt x="783914" y="737014"/>
                  </a:cubicBezTo>
                  <a:lnTo>
                    <a:pt x="795195" y="726577"/>
                  </a:lnTo>
                  <a:cubicBezTo>
                    <a:pt x="795195" y="726577"/>
                    <a:pt x="892600" y="831864"/>
                    <a:pt x="945856" y="813997"/>
                  </a:cubicBezTo>
                  <a:lnTo>
                    <a:pt x="1021093" y="1163109"/>
                  </a:lnTo>
                  <a:cubicBezTo>
                    <a:pt x="1021093" y="1163109"/>
                    <a:pt x="947908" y="1227325"/>
                    <a:pt x="830999" y="1157529"/>
                  </a:cubicBezTo>
                  <a:cubicBezTo>
                    <a:pt x="765237" y="1118269"/>
                    <a:pt x="695473" y="1063943"/>
                    <a:pt x="635921" y="1010587"/>
                  </a:cubicBezTo>
                  <a:lnTo>
                    <a:pt x="591226" y="968448"/>
                  </a:lnTo>
                  <a:lnTo>
                    <a:pt x="597245" y="1016969"/>
                  </a:lnTo>
                  <a:cubicBezTo>
                    <a:pt x="593608" y="1068323"/>
                    <a:pt x="570331" y="1119539"/>
                    <a:pt x="528278" y="1158444"/>
                  </a:cubicBezTo>
                  <a:cubicBezTo>
                    <a:pt x="507251" y="1177897"/>
                    <a:pt x="483520" y="1192431"/>
                    <a:pt x="458611" y="1202056"/>
                  </a:cubicBezTo>
                  <a:lnTo>
                    <a:pt x="397138" y="1213400"/>
                  </a:lnTo>
                  <a:lnTo>
                    <a:pt x="526279" y="1442928"/>
                  </a:lnTo>
                  <a:close/>
                </a:path>
              </a:pathLst>
            </a:custGeom>
            <a:solidFill>
              <a:schemeClr val="accent1"/>
            </a:solidFill>
            <a:ln w="19050">
              <a:noFill/>
              <a:round/>
              <a:headEnd/>
              <a:tailEnd/>
            </a:ln>
          </p:spPr>
          <p:txBody>
            <a:bodyPr rot="0" spcFirstLastPara="0" vert="horz" wrap="square" lIns="91440" tIns="45720" rIns="91440" bIns="45720" numCol="1" spcCol="0" rtlCol="0" fromWordArt="0" anchor="ctr" anchorCtr="1" forceAA="0" compatLnSpc="1">
              <a:prstTxWarp prst="textNoShape">
                <a:avLst/>
              </a:prstTxWarp>
              <a:noAutofit/>
            </a:bodyPr>
            <a:lstStyle/>
            <a:p>
              <a:pPr algn="ctr"/>
              <a:endParaRPr lang="zh-CN" altLang="en-US" sz="1200" b="1" dirty="0">
                <a:solidFill>
                  <a:schemeClr val="tx1">
                    <a:lumMod val="75000"/>
                    <a:lumOff val="25000"/>
                  </a:schemeClr>
                </a:solidFill>
              </a:endParaRPr>
            </a:p>
          </p:txBody>
        </p:sp>
        <p:sp>
          <p:nvSpPr>
            <p:cNvPr id="11" name="ValueText1">
              <a:extLst>
                <a:ext uri="{FF2B5EF4-FFF2-40B4-BE49-F238E27FC236}">
                  <a16:creationId xmlns:a16="http://schemas.microsoft.com/office/drawing/2014/main" id="{EDBDD775-3579-4CA8-974B-1036888707D0}"/>
                </a:ext>
              </a:extLst>
            </p:cNvPr>
            <p:cNvSpPr txBox="1"/>
            <p:nvPr/>
          </p:nvSpPr>
          <p:spPr>
            <a:xfrm>
              <a:off x="2910028"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a:solidFill>
                    <a:schemeClr val="accent1">
                      <a:lumMod val="100000"/>
                    </a:schemeClr>
                  </a:solidFill>
                  <a:latin typeface="Impact" panose="020B0806030902050204" pitchFamily="34" charset="0"/>
                </a:rPr>
                <a:t>53%</a:t>
              </a:r>
              <a:endParaRPr lang="en-US" altLang="zh-CN" sz="3600" b="1" dirty="0">
                <a:solidFill>
                  <a:schemeClr val="accent1">
                    <a:lumMod val="100000"/>
                  </a:schemeClr>
                </a:solidFill>
                <a:latin typeface="Impact" panose="020B0806030902050204" pitchFamily="34" charset="0"/>
              </a:endParaRPr>
            </a:p>
          </p:txBody>
        </p:sp>
        <p:sp>
          <p:nvSpPr>
            <p:cNvPr id="12" name="ValueText2">
              <a:extLst>
                <a:ext uri="{FF2B5EF4-FFF2-40B4-BE49-F238E27FC236}">
                  <a16:creationId xmlns:a16="http://schemas.microsoft.com/office/drawing/2014/main" id="{3A46D92B-9B9E-4C45-9D21-0E83583F0B0C}"/>
                </a:ext>
              </a:extLst>
            </p:cNvPr>
            <p:cNvSpPr txBox="1"/>
            <p:nvPr/>
          </p:nvSpPr>
          <p:spPr>
            <a:xfrm>
              <a:off x="9164722"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dirty="0">
                  <a:solidFill>
                    <a:schemeClr val="accent3">
                      <a:lumMod val="100000"/>
                    </a:schemeClr>
                  </a:solidFill>
                  <a:latin typeface="Impact" panose="020B0806030902050204" pitchFamily="34" charset="0"/>
                </a:rPr>
                <a:t>55%</a:t>
              </a:r>
            </a:p>
          </p:txBody>
        </p:sp>
        <p:sp>
          <p:nvSpPr>
            <p:cNvPr id="15" name="CustomText">
              <a:extLst>
                <a:ext uri="{FF2B5EF4-FFF2-40B4-BE49-F238E27FC236}">
                  <a16:creationId xmlns:a16="http://schemas.microsoft.com/office/drawing/2014/main" id="{D579BF51-77EB-4085-9DCF-88AD3E5322E0}"/>
                </a:ext>
              </a:extLst>
            </p:cNvPr>
            <p:cNvSpPr/>
            <p:nvPr/>
          </p:nvSpPr>
          <p:spPr>
            <a:xfrm>
              <a:off x="4655185" y="4330783"/>
              <a:ext cx="3438697" cy="382921"/>
            </a:xfrm>
            <a:prstGeom prst="rect">
              <a:avLst/>
            </a:prstGeom>
            <a:noFill/>
          </p:spPr>
          <p:txBody>
            <a:bodyPr wrap="square" lIns="90000" tIns="46800" rIns="90000" bIns="46800" anchor="ctr">
              <a:noAutofit/>
            </a:bodyPr>
            <a:lstStyle/>
            <a:p>
              <a:pPr lvl="0" algn="ctr">
                <a:defRPr/>
              </a:pPr>
              <a:r>
                <a:rPr lang="en-US" altLang="zh-CN" sz="2400" b="1" dirty="0">
                  <a:solidFill>
                    <a:schemeClr val="tx1">
                      <a:lumMod val="75000"/>
                      <a:lumOff val="25000"/>
                    </a:schemeClr>
                  </a:solidFill>
                </a:rPr>
                <a:t>Operational Risk Measurement and Management</a:t>
              </a:r>
            </a:p>
          </p:txBody>
        </p:sp>
      </p:grpSp>
    </p:spTree>
    <p:extLst>
      <p:ext uri="{BB962C8B-B14F-4D97-AF65-F5344CB8AC3E}">
        <p14:creationId xmlns:p14="http://schemas.microsoft.com/office/powerpoint/2010/main" val="361549365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Operational Risk</a:t>
            </a:r>
          </a:p>
          <a:p>
            <a:pPr lvl="1"/>
            <a:r>
              <a:rPr lang="en-US" altLang="zh-CN" dirty="0"/>
              <a:t>The risk of direct and indirect loss resulting from </a:t>
            </a:r>
            <a:r>
              <a:rPr lang="en-US" altLang="zh-CN" u="sng" dirty="0"/>
              <a:t>inadequate or failed internal processes, people, and systems or from external events</a:t>
            </a:r>
            <a:r>
              <a:rPr lang="en-US" altLang="zh-CN" dirty="0"/>
              <a:t>.</a:t>
            </a:r>
          </a:p>
          <a:p>
            <a:r>
              <a:rPr lang="en-US" altLang="zh-CN" dirty="0"/>
              <a:t>Seven Categories of Operational Risk</a:t>
            </a:r>
          </a:p>
          <a:p>
            <a:pPr lvl="1"/>
            <a:r>
              <a:rPr lang="en-US" altLang="zh-CN" dirty="0"/>
              <a:t>Internal Fraud</a:t>
            </a:r>
          </a:p>
          <a:p>
            <a:pPr lvl="1"/>
            <a:r>
              <a:rPr lang="en-US" altLang="zh-CN" dirty="0"/>
              <a:t>External Fraud</a:t>
            </a:r>
          </a:p>
          <a:p>
            <a:pPr lvl="1"/>
            <a:r>
              <a:rPr lang="en-US" altLang="zh-CN" dirty="0"/>
              <a:t>Employment Practices and Workplace Safety</a:t>
            </a:r>
          </a:p>
          <a:p>
            <a:pPr lvl="1"/>
            <a:r>
              <a:rPr lang="en-US" altLang="zh-CN" dirty="0"/>
              <a:t>Clients, Products, and Business Practices</a:t>
            </a:r>
          </a:p>
          <a:p>
            <a:pPr lvl="1"/>
            <a:r>
              <a:rPr lang="en-US" altLang="zh-CN" dirty="0"/>
              <a:t>Damage to Physical Assets</a:t>
            </a:r>
          </a:p>
          <a:p>
            <a:pPr lvl="1"/>
            <a:r>
              <a:rPr lang="en-US" altLang="zh-CN" dirty="0"/>
              <a:t>Business Disruption and System Failures</a:t>
            </a:r>
          </a:p>
          <a:p>
            <a:pPr lvl="1"/>
            <a:r>
              <a:rPr lang="en-US" altLang="zh-CN" dirty="0"/>
              <a:t>Execution, Delivery, and Process Management</a:t>
            </a:r>
            <a:endParaRPr lang="zh-CN" altLang="en-US" dirty="0">
              <a:latin typeface="+mn-lt"/>
              <a:ea typeface="+mn-ea"/>
              <a:cs typeface="+mn-ea"/>
              <a:sym typeface="+mn-lt"/>
            </a:endParaRPr>
          </a:p>
        </p:txBody>
      </p:sp>
    </p:spTree>
    <p:extLst>
      <p:ext uri="{BB962C8B-B14F-4D97-AF65-F5344CB8AC3E}">
        <p14:creationId xmlns:p14="http://schemas.microsoft.com/office/powerpoint/2010/main" val="4136106865"/>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Determination of Regulatory Capital</a:t>
            </a:r>
          </a:p>
          <a:p>
            <a:pPr lvl="1"/>
            <a:r>
              <a:rPr lang="en-US" altLang="zh-CN" dirty="0"/>
              <a:t>Basic Indicator Approach</a:t>
            </a:r>
          </a:p>
          <a:p>
            <a:pPr lvl="1"/>
            <a:r>
              <a:rPr lang="en-US" altLang="zh-CN" dirty="0"/>
              <a:t>Standardized Approach</a:t>
            </a:r>
          </a:p>
          <a:p>
            <a:pPr lvl="1"/>
            <a:r>
              <a:rPr lang="en-US" altLang="zh-CN" dirty="0"/>
              <a:t>Advanced Measurement Approach - AMA</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888691806"/>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Basic Indicator Approach</a:t>
            </a:r>
          </a:p>
          <a:p>
            <a:pPr lvl="1"/>
            <a:r>
              <a:rPr lang="en-US" altLang="zh-CN" dirty="0"/>
              <a:t>In the Basic Indicator Approach (BIA), operational risk capital is set equal to 15% of annual gross income over the previous three years. Gross income is defined as net interest income plus noninterest income.</a:t>
            </a:r>
          </a:p>
          <a:p>
            <a:endParaRPr lang="zh-CN" altLang="en-US" dirty="0">
              <a:latin typeface="+mn-lt"/>
              <a:ea typeface="+mn-ea"/>
              <a:cs typeface="+mn-ea"/>
              <a:sym typeface="+mn-lt"/>
            </a:endParaRPr>
          </a:p>
        </p:txBody>
      </p:sp>
      <p:graphicFrame>
        <p:nvGraphicFramePr>
          <p:cNvPr id="4" name="对象 3">
            <a:extLst>
              <a:ext uri="{FF2B5EF4-FFF2-40B4-BE49-F238E27FC236}">
                <a16:creationId xmlns:a16="http://schemas.microsoft.com/office/drawing/2014/main" id="{D9C9948D-052E-4A4E-915C-8F466FB92DD3}"/>
              </a:ext>
            </a:extLst>
          </p:cNvPr>
          <p:cNvGraphicFramePr>
            <a:graphicFrameLocks/>
          </p:cNvGraphicFramePr>
          <p:nvPr>
            <p:extLst>
              <p:ext uri="{D42A27DB-BD31-4B8C-83A1-F6EECF244321}">
                <p14:modId xmlns:p14="http://schemas.microsoft.com/office/powerpoint/2010/main" val="1697248971"/>
              </p:ext>
            </p:extLst>
          </p:nvPr>
        </p:nvGraphicFramePr>
        <p:xfrm>
          <a:off x="3820317" y="3889539"/>
          <a:ext cx="4551363" cy="1187450"/>
        </p:xfrm>
        <a:graphic>
          <a:graphicData uri="http://schemas.openxmlformats.org/presentationml/2006/ole">
            <mc:AlternateContent xmlns:mc="http://schemas.openxmlformats.org/markup-compatibility/2006">
              <mc:Choice xmlns:v="urn:schemas-microsoft-com:vml" Requires="v">
                <p:oleObj spid="_x0000_s32771" name="Equation" r:id="rId4" imgW="1803240" imgH="469800" progId="Equation.DSMT4">
                  <p:embed/>
                </p:oleObj>
              </mc:Choice>
              <mc:Fallback>
                <p:oleObj name="Equation" r:id="rId4" imgW="1803240" imgH="469800" progId="Equation.DSMT4">
                  <p:embed/>
                  <p:pic>
                    <p:nvPicPr>
                      <p:cNvPr id="199684" name="对象 3"/>
                      <p:cNvPicPr>
                        <a:picLocks noChangeAspect="1" noChangeArrowheads="1"/>
                      </p:cNvPicPr>
                      <p:nvPr/>
                    </p:nvPicPr>
                    <p:blipFill>
                      <a:blip r:embed="rId5"/>
                      <a:srcRect/>
                      <a:stretch>
                        <a:fillRect/>
                      </a:stretch>
                    </p:blipFill>
                    <p:spPr bwMode="auto">
                      <a:xfrm>
                        <a:off x="3820317" y="3889539"/>
                        <a:ext cx="4551363" cy="1187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5467319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a:xfrm>
            <a:off x="393599" y="813469"/>
            <a:ext cx="11404800" cy="733977"/>
          </a:xfrm>
        </p:spPr>
        <p:txBody>
          <a:bodyPr>
            <a:normAutofit/>
          </a:bodyPr>
          <a:lstStyle/>
          <a:p>
            <a:r>
              <a:rPr lang="en-US" altLang="zh-CN" dirty="0"/>
              <a:t>Standardized Approach</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latin typeface="+mn-lt"/>
              <a:ea typeface="+mn-ea"/>
              <a:cs typeface="+mn-ea"/>
              <a:sym typeface="+mn-lt"/>
            </a:endParaRPr>
          </a:p>
        </p:txBody>
      </p:sp>
      <p:graphicFrame>
        <p:nvGraphicFramePr>
          <p:cNvPr id="4" name="表格 3">
            <a:extLst>
              <a:ext uri="{FF2B5EF4-FFF2-40B4-BE49-F238E27FC236}">
                <a16:creationId xmlns:a16="http://schemas.microsoft.com/office/drawing/2014/main" id="{5FB55A67-7A53-4E33-8533-F54B3554F763}"/>
              </a:ext>
            </a:extLst>
          </p:cNvPr>
          <p:cNvGraphicFramePr>
            <a:graphicFrameLocks noGrp="1"/>
          </p:cNvGraphicFramePr>
          <p:nvPr>
            <p:extLst>
              <p:ext uri="{D42A27DB-BD31-4B8C-83A1-F6EECF244321}">
                <p14:modId xmlns:p14="http://schemas.microsoft.com/office/powerpoint/2010/main" val="2060758414"/>
              </p:ext>
            </p:extLst>
          </p:nvPr>
        </p:nvGraphicFramePr>
        <p:xfrm>
          <a:off x="3253581" y="1547446"/>
          <a:ext cx="5684837" cy="3391200"/>
        </p:xfrm>
        <a:graphic>
          <a:graphicData uri="http://schemas.openxmlformats.org/drawingml/2006/table">
            <a:tbl>
              <a:tblPr firstRow="1" bandRow="1">
                <a:tableStyleId>{5C22544A-7EE6-4342-B048-85BDC9FD1C3A}</a:tableStyleId>
              </a:tblPr>
              <a:tblGrid>
                <a:gridCol w="3654538">
                  <a:extLst>
                    <a:ext uri="{9D8B030D-6E8A-4147-A177-3AD203B41FA5}">
                      <a16:colId xmlns:a16="http://schemas.microsoft.com/office/drawing/2014/main" val="20000"/>
                    </a:ext>
                  </a:extLst>
                </a:gridCol>
                <a:gridCol w="2030299">
                  <a:extLst>
                    <a:ext uri="{9D8B030D-6E8A-4147-A177-3AD203B41FA5}">
                      <a16:colId xmlns:a16="http://schemas.microsoft.com/office/drawing/2014/main" val="20001"/>
                    </a:ext>
                  </a:extLst>
                </a:gridCol>
              </a:tblGrid>
              <a:tr h="331722">
                <a:tc>
                  <a:txBody>
                    <a:bodyPr/>
                    <a:lstStyle/>
                    <a:p>
                      <a:pPr algn="ctr"/>
                      <a:r>
                        <a:rPr lang="en-US" altLang="zh-CN" sz="1800" b="1" baseline="0" dirty="0">
                          <a:solidFill>
                            <a:schemeClr val="bg1"/>
                          </a:solidFill>
                          <a:latin typeface="Arial" panose="020B0604020202020204" pitchFamily="34" charset="0"/>
                          <a:cs typeface="Arial" panose="020B0604020202020204" pitchFamily="34" charset="0"/>
                        </a:rPr>
                        <a:t>Business Lines</a:t>
                      </a:r>
                      <a:endParaRPr lang="zh-CN" altLang="en-US" sz="1800" b="1" baseline="0" dirty="0">
                        <a:solidFill>
                          <a:schemeClr val="bg1"/>
                        </a:solidFill>
                        <a:latin typeface="Arial" panose="020B0604020202020204" pitchFamily="34" charset="0"/>
                        <a:cs typeface="Arial" panose="020B0604020202020204" pitchFamily="34" charset="0"/>
                      </a:endParaRP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a:r>
                        <a:rPr lang="en-US" altLang="zh-CN" sz="1800" b="1" baseline="0" dirty="0">
                          <a:solidFill>
                            <a:schemeClr val="bg1"/>
                          </a:solidFill>
                          <a:latin typeface="Arial" panose="020B0604020202020204" pitchFamily="34" charset="0"/>
                          <a:cs typeface="Arial" panose="020B0604020202020204" pitchFamily="34" charset="0"/>
                        </a:rPr>
                        <a:t>Beta Factor</a:t>
                      </a:r>
                      <a:endParaRPr lang="zh-CN" altLang="en-US" sz="1800" b="1" baseline="0" dirty="0">
                        <a:solidFill>
                          <a:schemeClr val="bg1"/>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10000"/>
                  </a:ext>
                </a:extLst>
              </a:tr>
              <a:tr h="331722">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2C3E50"/>
                          </a:solidFill>
                          <a:latin typeface="Arial" panose="020B0604020202020204" pitchFamily="34" charset="0"/>
                          <a:cs typeface="Arial" panose="020B0604020202020204" pitchFamily="34" charset="0"/>
                        </a:rPr>
                        <a:t>Corporate Finance</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rgbClr val="2C3E50"/>
                          </a:solidFill>
                          <a:latin typeface="Arial" panose="020B0604020202020204" pitchFamily="34" charset="0"/>
                          <a:cs typeface="Arial" panose="020B0604020202020204" pitchFamily="34" charset="0"/>
                        </a:rPr>
                        <a:t>18%</a:t>
                      </a:r>
                      <a:endParaRPr lang="zh-CN" altLang="en-US" sz="1800" b="0" baseline="0" dirty="0">
                        <a:solidFill>
                          <a:srgbClr val="2C3E50"/>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31722">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2C3E50"/>
                          </a:solidFill>
                          <a:latin typeface="Arial" panose="020B0604020202020204" pitchFamily="34" charset="0"/>
                          <a:cs typeface="Arial" panose="020B0604020202020204" pitchFamily="34" charset="0"/>
                        </a:rPr>
                        <a:t>Trading and Sales</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rgbClr val="2C3E50"/>
                          </a:solidFill>
                          <a:latin typeface="Arial" panose="020B0604020202020204" pitchFamily="34" charset="0"/>
                          <a:cs typeface="Arial" panose="020B0604020202020204" pitchFamily="34" charset="0"/>
                        </a:rPr>
                        <a:t>18%</a:t>
                      </a:r>
                      <a:endParaRPr lang="zh-CN" altLang="en-US" sz="1800" b="0" baseline="0" dirty="0">
                        <a:solidFill>
                          <a:srgbClr val="2C3E50"/>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31722">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kumimoji="1" lang="en-US" altLang="zh-CN" sz="1800" b="0" dirty="0">
                          <a:solidFill>
                            <a:srgbClr val="2C3E50"/>
                          </a:solidFill>
                          <a:latin typeface="Arial" panose="020B0604020202020204" pitchFamily="34" charset="0"/>
                          <a:ea typeface="+mn-ea"/>
                          <a:cs typeface="Arial" panose="020B0604020202020204" pitchFamily="34" charset="0"/>
                        </a:rPr>
                        <a:t>Payment and Settlement</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rgbClr val="2C3E50"/>
                          </a:solidFill>
                          <a:latin typeface="Arial" panose="020B0604020202020204" pitchFamily="34" charset="0"/>
                          <a:cs typeface="Arial" panose="020B0604020202020204" pitchFamily="34" charset="0"/>
                        </a:rPr>
                        <a:t>18%</a:t>
                      </a:r>
                      <a:endParaRPr lang="zh-CN" altLang="en-US" sz="1800" b="0" baseline="0" dirty="0">
                        <a:solidFill>
                          <a:srgbClr val="2C3E50"/>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14592">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altLang="zh-CN" dirty="0">
                          <a:solidFill>
                            <a:srgbClr val="2C3E50"/>
                          </a:solidFill>
                        </a:rPr>
                        <a:t>Commercial Banking</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rgbClr val="2C3E50"/>
                          </a:solidFill>
                          <a:latin typeface="Arial" panose="020B0604020202020204" pitchFamily="34" charset="0"/>
                          <a:cs typeface="Arial" panose="020B0604020202020204" pitchFamily="34" charset="0"/>
                        </a:rPr>
                        <a:t>15%</a:t>
                      </a:r>
                      <a:endParaRPr lang="zh-CN" altLang="en-US" sz="1800" b="0" baseline="0" dirty="0">
                        <a:solidFill>
                          <a:srgbClr val="2C3E50"/>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59399">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kumimoji="1" lang="en-US" altLang="zh-CN" sz="2000" b="0" dirty="0">
                          <a:solidFill>
                            <a:srgbClr val="2C3E50"/>
                          </a:solidFill>
                          <a:latin typeface="+mn-lt"/>
                          <a:ea typeface="+mn-ea"/>
                          <a:cs typeface="微软雅黑" charset="0"/>
                        </a:rPr>
                        <a:t>Agency Services</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0" baseline="0" dirty="0">
                          <a:solidFill>
                            <a:srgbClr val="2C3E50"/>
                          </a:solidFill>
                          <a:latin typeface="Arial" panose="020B0604020202020204" pitchFamily="34" charset="0"/>
                          <a:cs typeface="Arial" panose="020B0604020202020204" pitchFamily="34" charset="0"/>
                        </a:rPr>
                        <a:t>15%</a:t>
                      </a:r>
                      <a:endParaRPr lang="zh-CN" altLang="en-US" sz="1800" b="0" baseline="0" dirty="0">
                        <a:solidFill>
                          <a:srgbClr val="2C3E50"/>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14592">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altLang="zh-CN" dirty="0">
                          <a:solidFill>
                            <a:srgbClr val="2C3E50"/>
                          </a:solidFill>
                        </a:rPr>
                        <a:t>Retail Banking</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rgbClr val="2C3E50"/>
                          </a:solidFill>
                          <a:latin typeface="Arial" panose="020B0604020202020204" pitchFamily="34" charset="0"/>
                          <a:cs typeface="Arial" panose="020B0604020202020204" pitchFamily="34" charset="0"/>
                        </a:rPr>
                        <a:t>12%</a:t>
                      </a:r>
                      <a:endParaRPr lang="zh-CN" altLang="en-US" sz="1800" b="0" baseline="0" dirty="0">
                        <a:solidFill>
                          <a:srgbClr val="2C3E50"/>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59399">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kumimoji="1" lang="en-US" altLang="zh-CN" sz="2000" b="0" dirty="0">
                          <a:solidFill>
                            <a:srgbClr val="2C3E50"/>
                          </a:solidFill>
                          <a:latin typeface="+mn-lt"/>
                          <a:ea typeface="+mn-ea"/>
                          <a:cs typeface="微软雅黑" charset="0"/>
                        </a:rPr>
                        <a:t>Asset Management</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rgbClr val="2C3E50"/>
                          </a:solidFill>
                          <a:latin typeface="Arial" panose="020B0604020202020204" pitchFamily="34" charset="0"/>
                          <a:cs typeface="Arial" panose="020B0604020202020204" pitchFamily="34" charset="0"/>
                        </a:rPr>
                        <a:t>12%</a:t>
                      </a:r>
                      <a:endParaRPr lang="zh-CN" altLang="en-US" sz="1800" b="0" baseline="0" dirty="0">
                        <a:solidFill>
                          <a:srgbClr val="2C3E50"/>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59399">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kumimoji="1" lang="en-US" altLang="zh-CN" sz="2000" b="0" dirty="0">
                          <a:solidFill>
                            <a:srgbClr val="2C3E50"/>
                          </a:solidFill>
                          <a:latin typeface="+mn-lt"/>
                          <a:ea typeface="+mn-ea"/>
                          <a:cs typeface="微软雅黑" charset="0"/>
                        </a:rPr>
                        <a:t>Retail Brokerage</a:t>
                      </a:r>
                    </a:p>
                  </a:txBody>
                  <a:tcPr marL="36000" marR="36000" marT="36000" marB="3600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rgbClr val="2C3E50"/>
                          </a:solidFill>
                          <a:latin typeface="Arial" panose="020B0604020202020204" pitchFamily="34" charset="0"/>
                          <a:cs typeface="Arial" panose="020B0604020202020204" pitchFamily="34" charset="0"/>
                        </a:rPr>
                        <a:t>12%</a:t>
                      </a:r>
                      <a:endParaRPr lang="zh-CN" altLang="en-US" sz="1800" b="0" baseline="0" dirty="0">
                        <a:solidFill>
                          <a:srgbClr val="2C3E50"/>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5" name="对象 4">
            <a:extLst>
              <a:ext uri="{FF2B5EF4-FFF2-40B4-BE49-F238E27FC236}">
                <a16:creationId xmlns:a16="http://schemas.microsoft.com/office/drawing/2014/main" id="{7D3FC021-CB79-4684-A859-D11B20EB915E}"/>
              </a:ext>
            </a:extLst>
          </p:cNvPr>
          <p:cNvGraphicFramePr>
            <a:graphicFrameLocks/>
          </p:cNvGraphicFramePr>
          <p:nvPr>
            <p:extLst>
              <p:ext uri="{D42A27DB-BD31-4B8C-83A1-F6EECF244321}">
                <p14:modId xmlns:p14="http://schemas.microsoft.com/office/powerpoint/2010/main" val="3766726609"/>
              </p:ext>
            </p:extLst>
          </p:nvPr>
        </p:nvGraphicFramePr>
        <p:xfrm>
          <a:off x="3253580" y="5310554"/>
          <a:ext cx="5684837" cy="1104900"/>
        </p:xfrm>
        <a:graphic>
          <a:graphicData uri="http://schemas.openxmlformats.org/presentationml/2006/ole">
            <mc:AlternateContent xmlns:mc="http://schemas.openxmlformats.org/markup-compatibility/2006">
              <mc:Choice xmlns:v="urn:schemas-microsoft-com:vml" Requires="v">
                <p:oleObj spid="_x0000_s33795" name="Equation" r:id="rId4" imgW="2920680" imgH="583920" progId="Equation.DSMT4">
                  <p:embed/>
                </p:oleObj>
              </mc:Choice>
              <mc:Fallback>
                <p:oleObj name="Equation" r:id="rId4" imgW="2920680" imgH="583920" progId="Equation.DSMT4">
                  <p:embed/>
                  <p:pic>
                    <p:nvPicPr>
                      <p:cNvPr id="5" name="对象 4"/>
                      <p:cNvPicPr>
                        <a:picLocks noChangeArrowheads="1"/>
                      </p:cNvPicPr>
                      <p:nvPr/>
                    </p:nvPicPr>
                    <p:blipFill>
                      <a:blip r:embed="rId5"/>
                      <a:srcRect/>
                      <a:stretch>
                        <a:fillRect/>
                      </a:stretch>
                    </p:blipFill>
                    <p:spPr bwMode="auto">
                      <a:xfrm>
                        <a:off x="3253580" y="5310554"/>
                        <a:ext cx="5684837"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43828148"/>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Advanced Measurement Approach - AMA</a:t>
            </a:r>
          </a:p>
          <a:p>
            <a:pPr lvl="1"/>
            <a:r>
              <a:rPr lang="en-US" altLang="zh-CN" dirty="0"/>
              <a:t>The operational risk regulatory capital requirement is calculated by the bank internally using </a:t>
            </a:r>
            <a:r>
              <a:rPr lang="en-US" altLang="zh-CN" u="sng" dirty="0"/>
              <a:t>qualitative and quantitative</a:t>
            </a:r>
            <a:r>
              <a:rPr lang="en-US" altLang="zh-CN" dirty="0"/>
              <a:t> criteria.</a:t>
            </a:r>
          </a:p>
          <a:p>
            <a:pPr lvl="1"/>
            <a:r>
              <a:rPr lang="en-US" altLang="zh-CN" dirty="0"/>
              <a:t>The Basel Committee has listed </a:t>
            </a:r>
            <a:r>
              <a:rPr lang="en-US" altLang="zh-CN" u="sng" dirty="0"/>
              <a:t>conditions that a bank must satisfy in order to use the standardized approach or the </a:t>
            </a:r>
            <a:r>
              <a:rPr lang="en-US" altLang="zh-CN" b="1" u="sng" dirty="0"/>
              <a:t>AMA</a:t>
            </a:r>
            <a:r>
              <a:rPr lang="en-US" altLang="zh-CN" u="sng" dirty="0"/>
              <a:t> approach</a:t>
            </a:r>
            <a:r>
              <a:rPr lang="en-US" altLang="zh-CN" dirty="0"/>
              <a:t>. It expects large internationally active banks to move toward adopting the AMA approach through time.</a:t>
            </a:r>
          </a:p>
          <a:p>
            <a:pPr lvl="1"/>
            <a:r>
              <a:rPr lang="en-US" altLang="zh-CN" u="sng" dirty="0"/>
              <a:t>The capital charge for AMA is calculated as the bank’s operational value at risk with a one-year horizon and a 99.9% confidence level.</a:t>
            </a:r>
          </a:p>
          <a:p>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2998010189"/>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p:txBody>
          <a:bodyPr>
            <a:normAutofit fontScale="92500" lnSpcReduction="20000"/>
          </a:bodyPr>
          <a:lstStyle/>
          <a:p>
            <a:r>
              <a:rPr lang="en-US" altLang="zh-CN" dirty="0"/>
              <a:t>Implementation of AMA</a:t>
            </a:r>
          </a:p>
          <a:p>
            <a:pPr lvl="1"/>
            <a:r>
              <a:rPr lang="en-US" altLang="zh-CN" dirty="0"/>
              <a:t>Internal Data</a:t>
            </a:r>
          </a:p>
          <a:p>
            <a:pPr lvl="2"/>
            <a:r>
              <a:rPr lang="en-US" altLang="zh-CN" dirty="0"/>
              <a:t>High-Frequency low-severity losses (HFLSLs) and Low-Frequency high-severity losses (LFHSLs)</a:t>
            </a:r>
            <a:endParaRPr lang="zh-CN" altLang="en-US" dirty="0"/>
          </a:p>
          <a:p>
            <a:pPr lvl="2"/>
            <a:r>
              <a:rPr lang="en-US" altLang="zh-CN" dirty="0"/>
              <a:t>Must be supplemented with external data and scenario analysis.</a:t>
            </a:r>
          </a:p>
          <a:p>
            <a:pPr lvl="1"/>
            <a:r>
              <a:rPr lang="en-US" altLang="zh-CN" dirty="0"/>
              <a:t>External Data</a:t>
            </a:r>
          </a:p>
          <a:p>
            <a:pPr lvl="2"/>
            <a:r>
              <a:rPr lang="en-US" altLang="zh-CN" dirty="0"/>
              <a:t>data consortia and data vendors</a:t>
            </a:r>
          </a:p>
          <a:p>
            <a:pPr lvl="2"/>
            <a:r>
              <a:rPr lang="en-US" altLang="zh-CN" dirty="0"/>
              <a:t>A scale adjustment should ne made to external data.</a:t>
            </a:r>
          </a:p>
          <a:p>
            <a:pPr lvl="1"/>
            <a:r>
              <a:rPr lang="en-US" altLang="zh-CN" dirty="0"/>
              <a:t>Scenario Analysis</a:t>
            </a:r>
          </a:p>
          <a:p>
            <a:pPr lvl="2"/>
            <a:r>
              <a:rPr lang="en-US" altLang="zh-CN" dirty="0"/>
              <a:t>The aim is to generate scenarios covering the full range of possible </a:t>
            </a:r>
            <a:r>
              <a:rPr lang="en-US" altLang="zh-CN" u="sng" dirty="0"/>
              <a:t>LFHSLs</a:t>
            </a:r>
            <a:r>
              <a:rPr lang="en-US" altLang="zh-CN" dirty="0"/>
              <a:t>.</a:t>
            </a:r>
          </a:p>
          <a:p>
            <a:pPr lvl="1"/>
            <a:r>
              <a:rPr lang="en-US" altLang="zh-CN" dirty="0"/>
              <a:t>Business Environment and Internal Control Factor</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1985293763"/>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Data Issues</a:t>
            </a:r>
          </a:p>
          <a:p>
            <a:pPr lvl="1"/>
            <a:r>
              <a:rPr lang="en-US" altLang="zh-CN" u="sng" dirty="0"/>
              <a:t>Loss frequency distribution: bank’s own data</a:t>
            </a:r>
            <a:r>
              <a:rPr lang="en-US" altLang="zh-CN" dirty="0"/>
              <a:t> as far as possible.</a:t>
            </a:r>
          </a:p>
          <a:p>
            <a:pPr lvl="1"/>
            <a:r>
              <a:rPr lang="en-US" altLang="zh-CN" dirty="0"/>
              <a:t>In regard to the </a:t>
            </a:r>
            <a:r>
              <a:rPr lang="en-US" altLang="zh-CN" u="sng" dirty="0"/>
              <a:t>loss severity data</a:t>
            </a:r>
            <a:r>
              <a:rPr lang="en-US" altLang="zh-CN" dirty="0"/>
              <a:t>, regulators encourage banks to </a:t>
            </a:r>
            <a:r>
              <a:rPr lang="en-US" altLang="zh-CN" u="sng" dirty="0"/>
              <a:t>use their own data in conjunction with external data</a:t>
            </a:r>
            <a:r>
              <a:rPr lang="en-US" altLang="zh-CN" dirty="0"/>
              <a:t>. There are two sources of external data: </a:t>
            </a:r>
            <a:r>
              <a:rPr lang="en-US" altLang="zh-CN" u="sng" dirty="0"/>
              <a:t>data obtained through sharing arrangements between banks; and publicly available data collected by third-party vendors</a:t>
            </a:r>
            <a:r>
              <a:rPr lang="en-US" altLang="zh-CN" dirty="0"/>
              <a:t>.</a:t>
            </a:r>
          </a:p>
          <a:p>
            <a:pPr lvl="1"/>
            <a:r>
              <a:rPr lang="en-US" altLang="zh-CN" dirty="0"/>
              <a:t>Relevant historical data is difficult to obtain, so </a:t>
            </a:r>
            <a:r>
              <a:rPr lang="en-US" altLang="zh-CN" u="sng" dirty="0"/>
              <a:t>regulators encourage banks to use scenario analysis</a:t>
            </a:r>
            <a:r>
              <a:rPr lang="en-US" altLang="zh-CN" dirty="0"/>
              <a:t>, in addition to internal and external loss data. This involves managerial judgment to generate scenarios where large losses occur.</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350087702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Get a Loss Distribution from the Loss Frequency distribution and the Loss Severity Distribution</a:t>
            </a:r>
          </a:p>
          <a:p>
            <a:pPr lvl="1"/>
            <a:r>
              <a:rPr lang="en-US" altLang="zh-CN" dirty="0"/>
              <a:t>The </a:t>
            </a:r>
            <a:r>
              <a:rPr lang="en-US" altLang="zh-CN" b="1" dirty="0"/>
              <a:t>loss frequency distribution </a:t>
            </a:r>
            <a:r>
              <a:rPr lang="en-US" altLang="zh-CN" dirty="0"/>
              <a:t>is the distribution of the </a:t>
            </a:r>
            <a:r>
              <a:rPr lang="en-US" altLang="zh-CN" u="sng" dirty="0"/>
              <a:t>number of losses</a:t>
            </a:r>
            <a:r>
              <a:rPr lang="en-US" altLang="zh-CN" dirty="0"/>
              <a:t> observed during the time horizon (typically one year). For loss frequency, a common probability distribution is the </a:t>
            </a:r>
            <a:r>
              <a:rPr lang="en-US" altLang="zh-CN" u="sng" dirty="0"/>
              <a:t>Poisson Distribution</a:t>
            </a:r>
            <a:r>
              <a:rPr lang="en-US" altLang="zh-CN" dirty="0"/>
              <a:t>.</a:t>
            </a:r>
          </a:p>
          <a:p>
            <a:pPr lvl="1"/>
            <a:r>
              <a:rPr lang="en-US" altLang="zh-CN" dirty="0"/>
              <a:t>The </a:t>
            </a:r>
            <a:r>
              <a:rPr lang="en-US" altLang="zh-CN" b="1" dirty="0"/>
              <a:t>loss severity distribution </a:t>
            </a:r>
            <a:r>
              <a:rPr lang="en-US" altLang="zh-CN" dirty="0"/>
              <a:t>is the distribution of the </a:t>
            </a:r>
            <a:r>
              <a:rPr lang="en-US" altLang="zh-CN" u="sng" dirty="0"/>
              <a:t>size of a loss</a:t>
            </a:r>
            <a:r>
              <a:rPr lang="en-US" altLang="zh-CN" dirty="0"/>
              <a:t>, given that a loss occurs. </a:t>
            </a:r>
            <a:r>
              <a:rPr lang="en-US" altLang="zh-CN" u="sng" dirty="0"/>
              <a:t>It is typically assumed that loss severity and loss frequency are independent.</a:t>
            </a:r>
            <a:r>
              <a:rPr lang="en-US" altLang="zh-CN" dirty="0"/>
              <a:t> For the loss severity distribution, a </a:t>
            </a:r>
            <a:r>
              <a:rPr lang="en-US" altLang="zh-CN" u="sng" dirty="0"/>
              <a:t>lognormal probability distribution</a:t>
            </a:r>
            <a:r>
              <a:rPr lang="en-US" altLang="zh-CN" dirty="0"/>
              <a:t> is often uses.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63297958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Loss Severity and Loss Frequency </a:t>
            </a:r>
          </a:p>
          <a:p>
            <a:pPr lvl="1"/>
            <a:r>
              <a:rPr lang="en-US" altLang="zh-CN" dirty="0"/>
              <a:t>The frequency and severity distributions must be </a:t>
            </a:r>
            <a:r>
              <a:rPr lang="en-US" altLang="zh-CN" u="sng" dirty="0"/>
              <a:t>combined</a:t>
            </a:r>
            <a:r>
              <a:rPr lang="en-US" altLang="zh-CN" dirty="0"/>
              <a:t>.</a:t>
            </a:r>
          </a:p>
          <a:p>
            <a:pPr lvl="1"/>
            <a:r>
              <a:rPr lang="en-US" altLang="zh-CN" u="sng" dirty="0"/>
              <a:t>Monte Carlo simulation</a:t>
            </a:r>
            <a:r>
              <a:rPr lang="en-US" altLang="zh-CN" dirty="0"/>
              <a:t> can be used for this purpose. </a:t>
            </a:r>
          </a:p>
          <a:p>
            <a:pPr lvl="2"/>
            <a:r>
              <a:rPr lang="en-US" altLang="zh-CN" u="sng" dirty="0"/>
              <a:t>We sample from the frequency distribution in order to determine the number of loss events (=n).</a:t>
            </a:r>
          </a:p>
          <a:p>
            <a:pPr lvl="2"/>
            <a:r>
              <a:rPr lang="en-US" altLang="zh-CN" u="sng" dirty="0"/>
              <a:t>We sample n times from the loss severity distribution to determine the loss experienced for each loss events (L</a:t>
            </a:r>
            <a:r>
              <a:rPr lang="en-US" altLang="zh-CN" u="sng" baseline="-25000" dirty="0"/>
              <a:t>1</a:t>
            </a:r>
            <a:r>
              <a:rPr lang="en-US" altLang="zh-CN" u="sng" dirty="0"/>
              <a:t>, L</a:t>
            </a:r>
            <a:r>
              <a:rPr lang="en-US" altLang="zh-CN" u="sng" baseline="-25000" dirty="0"/>
              <a:t>2</a:t>
            </a:r>
            <a:r>
              <a:rPr lang="en-US" altLang="zh-CN" u="sng" dirty="0"/>
              <a:t>, … L</a:t>
            </a:r>
            <a:r>
              <a:rPr lang="en-US" altLang="zh-CN" u="sng" baseline="-25000" dirty="0"/>
              <a:t>n</a:t>
            </a:r>
            <a:r>
              <a:rPr lang="en-US" altLang="zh-CN" u="sng" dirty="0"/>
              <a:t>).</a:t>
            </a:r>
          </a:p>
          <a:p>
            <a:pPr lvl="2"/>
            <a:r>
              <a:rPr lang="en-US" altLang="zh-CN" dirty="0"/>
              <a:t>We determine the total loss experienced (L</a:t>
            </a:r>
            <a:r>
              <a:rPr lang="en-US" altLang="zh-CN" baseline="-25000" dirty="0"/>
              <a:t>1</a:t>
            </a:r>
            <a:r>
              <a:rPr lang="en-US" altLang="zh-CN" dirty="0"/>
              <a:t> + L</a:t>
            </a:r>
            <a:r>
              <a:rPr lang="en-US" altLang="zh-CN" baseline="-25000" dirty="0"/>
              <a:t>2</a:t>
            </a:r>
            <a:r>
              <a:rPr lang="en-US" altLang="zh-CN" dirty="0"/>
              <a:t> + … L</a:t>
            </a:r>
            <a:r>
              <a:rPr lang="en-US" altLang="zh-CN" baseline="-25000" dirty="0"/>
              <a:t>n</a:t>
            </a:r>
            <a:r>
              <a:rPr lang="en-US" altLang="zh-CN" dirty="0"/>
              <a:t>).</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4079235383"/>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p:txBody>
          <a:bodyPr>
            <a:normAutofit/>
          </a:bodyPr>
          <a:lstStyle/>
          <a:p>
            <a:pPr>
              <a:defRPr/>
            </a:pPr>
            <a:r>
              <a:rPr lang="en-US" altLang="zh-CN" dirty="0"/>
              <a:t>Power Law to Measure Operational Risk</a:t>
            </a:r>
          </a:p>
          <a:p>
            <a:pPr lvl="1">
              <a:defRPr/>
            </a:pPr>
            <a:r>
              <a:rPr lang="en-US" altLang="zh-CN" dirty="0"/>
              <a:t>The power law stats that for a wide range of variables</a:t>
            </a:r>
          </a:p>
          <a:p>
            <a:pPr marL="346075" lvl="1" indent="0" algn="ctr">
              <a:buNone/>
              <a:defRPr/>
            </a:pPr>
            <a:r>
              <a:rPr lang="en-US" altLang="zh-CN" dirty="0"/>
              <a:t>Prob(v &gt; x) = </a:t>
            </a:r>
            <a:r>
              <a:rPr lang="en-US" altLang="zh-CN" dirty="0" err="1"/>
              <a:t>Kx</a:t>
            </a:r>
            <a:r>
              <a:rPr lang="en-US" altLang="zh-CN" baseline="30000" dirty="0"/>
              <a:t>-a</a:t>
            </a:r>
          </a:p>
          <a:p>
            <a:pPr marL="623888" lvl="1" indent="0">
              <a:buNone/>
              <a:defRPr/>
            </a:pPr>
            <a:r>
              <a:rPr lang="en-US" altLang="zh-CN" dirty="0"/>
              <a:t>where v is the value of the variable, x is the relatively large value of v, and K and a are constants.</a:t>
            </a:r>
          </a:p>
          <a:p>
            <a:pPr lvl="1">
              <a:defRPr/>
            </a:pPr>
            <a:r>
              <a:rPr lang="en-US" altLang="zh-CN" u="sng" dirty="0"/>
              <a:t>The power law holds well for large losses experience by banks.</a:t>
            </a:r>
          </a:p>
          <a:p>
            <a:pPr lvl="1">
              <a:defRPr/>
            </a:pPr>
            <a:r>
              <a:rPr lang="en-US" altLang="zh-CN" dirty="0"/>
              <a:t>This makes the calculation of </a:t>
            </a:r>
            <a:r>
              <a:rPr lang="en-US" altLang="zh-CN" dirty="0" err="1"/>
              <a:t>VaR</a:t>
            </a:r>
            <a:r>
              <a:rPr lang="en-US" altLang="zh-CN" dirty="0"/>
              <a:t> with high degrees of confidence (e.g., 99%) possible.</a:t>
            </a:r>
          </a:p>
          <a:p>
            <a:pPr lvl="1">
              <a:defRPr/>
            </a:pPr>
            <a:r>
              <a:rPr lang="en-US" altLang="zh-CN" dirty="0"/>
              <a:t>Internal or external loss data is used to estimate the power law parameters.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966251715"/>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Operational Risk Management</a:t>
            </a:r>
          </a:p>
          <a:p>
            <a:pPr lvl="1"/>
            <a:r>
              <a:rPr lang="en-US" altLang="zh-CN" sz="2000" b="1" dirty="0"/>
              <a:t>Risk control and self-assessment (RCSA) </a:t>
            </a:r>
            <a:r>
              <a:rPr lang="en-US" altLang="zh-CN" sz="2000" dirty="0"/>
              <a:t>involves </a:t>
            </a:r>
            <a:r>
              <a:rPr lang="en-US" altLang="zh-CN" sz="2000" u="sng" dirty="0"/>
              <a:t>asking business unit managers to identify their operational risks</a:t>
            </a:r>
            <a:r>
              <a:rPr lang="en-US" altLang="zh-CN" sz="2000" dirty="0"/>
              <a:t>. Sometimes questionnaires designed by senior managers are used.</a:t>
            </a:r>
          </a:p>
          <a:p>
            <a:pPr lvl="1"/>
            <a:r>
              <a:rPr lang="en-US" altLang="zh-CN" sz="2000" b="1" dirty="0"/>
              <a:t>Key Risk Indicators (KRIs)</a:t>
            </a:r>
            <a:r>
              <a:rPr lang="en-US" altLang="zh-CN" sz="2000" dirty="0"/>
              <a:t> are key tools in the management of operational risk. The most important indicators are prospective. </a:t>
            </a:r>
            <a:r>
              <a:rPr lang="en-US" altLang="zh-CN" sz="2000" u="sng" dirty="0"/>
              <a:t>They provide an early-warning system to track the level of operational risk in the organization.</a:t>
            </a:r>
            <a:r>
              <a:rPr lang="en-US" altLang="zh-CN" sz="2000" dirty="0"/>
              <a:t> Examples of key risk indicators are </a:t>
            </a:r>
            <a:r>
              <a:rPr lang="en-US" altLang="zh-CN" sz="2000" u="sng" dirty="0"/>
              <a:t>staff turnover and number of failed transactions</a:t>
            </a:r>
            <a:r>
              <a:rPr lang="en-US" altLang="zh-CN" sz="2000" dirty="0"/>
              <a:t>.</a:t>
            </a:r>
            <a:endParaRPr lang="zh-CN" altLang="en-US" sz="2000"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175468627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p:txBody>
          <a:bodyPr>
            <a:normAutofit lnSpcReduction="10000"/>
          </a:bodyPr>
          <a:lstStyle/>
          <a:p>
            <a:pPr>
              <a:lnSpc>
                <a:spcPct val="110000"/>
              </a:lnSpc>
            </a:pPr>
            <a:r>
              <a:rPr lang="en-US" altLang="zh-CN" dirty="0"/>
              <a:t>Risks of Moral Hazard and Adverse Selection when using Insurance to Mitigate Operational Risks</a:t>
            </a:r>
          </a:p>
          <a:p>
            <a:pPr lvl="1">
              <a:lnSpc>
                <a:spcPct val="110000"/>
              </a:lnSpc>
            </a:pPr>
            <a:r>
              <a:rPr lang="en-US" altLang="zh-CN" b="1" dirty="0"/>
              <a:t>Moral hazard</a:t>
            </a:r>
            <a:r>
              <a:rPr lang="en-US" altLang="zh-CN" dirty="0"/>
              <a:t> is </a:t>
            </a:r>
            <a:r>
              <a:rPr lang="en-US" altLang="zh-CN" u="sng" dirty="0"/>
              <a:t>the risk that the existence of the insurance contract will cause the bank to behave differently than it otherwise would</a:t>
            </a:r>
            <a:r>
              <a:rPr lang="en-US" altLang="zh-CN" dirty="0"/>
              <a:t>. This changed behavior increases the risks to the insurance company. Insurance companies typically deal with moral hazard in several ways:</a:t>
            </a:r>
          </a:p>
          <a:p>
            <a:pPr lvl="2">
              <a:lnSpc>
                <a:spcPct val="110000"/>
              </a:lnSpc>
            </a:pPr>
            <a:r>
              <a:rPr lang="en-US" altLang="zh-CN" dirty="0"/>
              <a:t>Deductible: bank is responsible for bearing the first portion of the loss.</a:t>
            </a:r>
          </a:p>
          <a:p>
            <a:pPr lvl="2">
              <a:lnSpc>
                <a:spcPct val="110000"/>
              </a:lnSpc>
            </a:pPr>
            <a:r>
              <a:rPr lang="en-US" altLang="zh-CN" dirty="0"/>
              <a:t>Coinsurance provision: insurance company pays a predetermined percentage (&lt; 100%) of losses in excess of the deductible.</a:t>
            </a:r>
          </a:p>
          <a:p>
            <a:pPr lvl="2">
              <a:lnSpc>
                <a:spcPct val="110000"/>
              </a:lnSpc>
            </a:pPr>
            <a:r>
              <a:rPr lang="en-US" altLang="zh-CN" dirty="0"/>
              <a:t>Policy limit: limit on the total liability of insurer.</a:t>
            </a:r>
          </a:p>
          <a:p>
            <a:pPr lvl="1">
              <a:lnSpc>
                <a:spcPct val="110000"/>
              </a:lnSpc>
            </a:pPr>
            <a:r>
              <a:rPr lang="en-US" altLang="zh-CN" b="1" dirty="0"/>
              <a:t>Adverse selection</a:t>
            </a:r>
            <a:r>
              <a:rPr lang="en-US" altLang="zh-CN" dirty="0"/>
              <a:t> is </a:t>
            </a:r>
            <a:r>
              <a:rPr lang="en-US" altLang="zh-CN" u="sng" dirty="0"/>
              <a:t>when an insurance company cannot distinguish between good and bad risks; consequently, it offers the same price to everyone and inadvertently attracts more of the bad risks</a:t>
            </a:r>
            <a:r>
              <a:rPr lang="en-US" altLang="zh-CN" dirty="0"/>
              <a:t>.</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348903608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p:txBody>
          <a:bodyPr>
            <a:normAutofit fontScale="92500"/>
          </a:bodyPr>
          <a:lstStyle/>
          <a:p>
            <a:r>
              <a:rPr lang="en-US" altLang="zh-CN" dirty="0"/>
              <a:t>Exercise 1</a:t>
            </a:r>
            <a:endParaRPr lang="zh-CN" altLang="en-US" dirty="0"/>
          </a:p>
          <a:p>
            <a:pPr>
              <a:buFont typeface="Wingdings" panose="05000000000000000000" pitchFamily="2" charset="2"/>
              <a:buChar char="l"/>
            </a:pPr>
            <a:r>
              <a:rPr lang="en-US" altLang="zh-CN" dirty="0">
                <a:solidFill>
                  <a:schemeClr val="tx1"/>
                </a:solidFill>
              </a:rPr>
              <a:t>Which one of the following cases or events can be considered as resulting from operational risk?</a:t>
            </a:r>
          </a:p>
          <a:p>
            <a:pPr marL="817200" lvl="1" indent="-457200">
              <a:buSzPct val="100000"/>
              <a:buFont typeface="+mj-lt"/>
              <a:buAutoNum type="alphaUcPeriod"/>
            </a:pPr>
            <a:r>
              <a:rPr lang="en-US" altLang="zh-CN" dirty="0"/>
              <a:t>A bank reports losses on a diversified portfolio of stocks during the stock market decline.</a:t>
            </a:r>
          </a:p>
          <a:p>
            <a:pPr marL="817200" lvl="1" indent="-457200">
              <a:buSzPct val="100000"/>
              <a:buFont typeface="+mj-lt"/>
              <a:buAutoNum type="alphaUcPeriod"/>
            </a:pPr>
            <a:r>
              <a:rPr lang="en-US" altLang="zh-CN" dirty="0"/>
              <a:t>The bank becomes embroiled in a high-profile lawsuit with a customer that accuses it of improper selling practices.</a:t>
            </a:r>
          </a:p>
          <a:p>
            <a:pPr marL="817200" lvl="1" indent="-457200">
              <a:buSzPct val="100000"/>
              <a:buFont typeface="+mj-lt"/>
              <a:buAutoNum type="alphaUcPeriod"/>
            </a:pPr>
            <a:r>
              <a:rPr lang="en-US" altLang="zh-CN" dirty="0"/>
              <a:t>The bank reports the loss of $1.5 billion due to rises in interest rates.</a:t>
            </a:r>
          </a:p>
          <a:p>
            <a:pPr marL="817200" lvl="1" indent="-457200">
              <a:buSzPct val="100000"/>
              <a:buFont typeface="+mj-lt"/>
              <a:buAutoNum type="alphaUcPeriod"/>
            </a:pPr>
            <a:r>
              <a:rPr lang="en-US" altLang="zh-CN" dirty="0"/>
              <a:t>A U.S. investor makes a loss as the yen depreciates relative to the dollar.</a:t>
            </a:r>
          </a:p>
          <a:p>
            <a:pPr marL="817200" lvl="1" indent="-457200">
              <a:buSzPct val="100000"/>
              <a:buFont typeface="+mj-lt"/>
              <a:buAutoNum type="alphaUcPeriod"/>
            </a:pPr>
            <a:endParaRPr lang="en-US" altLang="zh-CN" dirty="0"/>
          </a:p>
          <a:p>
            <a:pPr marL="417150" indent="-457200">
              <a:buSzPct val="100000"/>
              <a:buFont typeface="Wingdings" panose="05000000000000000000" pitchFamily="2" charset="2"/>
              <a:buChar char="l"/>
            </a:pPr>
            <a:r>
              <a:rPr lang="en-US" altLang="zh-CN" dirty="0">
                <a:solidFill>
                  <a:schemeClr val="tx1"/>
                </a:solidFill>
              </a:rPr>
              <a:t>Correct Answer : B</a:t>
            </a:r>
          </a:p>
          <a:p>
            <a:pPr lvl="1"/>
            <a:endParaRPr lang="en-US" altLang="zh-CN"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415591968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Operational Risk</a:t>
            </a:r>
            <a:endParaRPr lang="zh-CN" altLang="en-US" sz="2800" dirty="0"/>
          </a:p>
        </p:txBody>
      </p:sp>
      <p:sp>
        <p:nvSpPr>
          <p:cNvPr id="3" name="文本占位符 2"/>
          <p:cNvSpPr>
            <a:spLocks noGrp="1"/>
          </p:cNvSpPr>
          <p:nvPr>
            <p:ph type="body" sz="quarter" idx="10"/>
          </p:nvPr>
        </p:nvSpPr>
        <p:spPr/>
        <p:txBody>
          <a:bodyPr>
            <a:normAutofit/>
          </a:bodyPr>
          <a:lstStyle/>
          <a:p>
            <a:r>
              <a:rPr lang="en-US" altLang="zh-CN" dirty="0"/>
              <a:t>Exercise 2</a:t>
            </a:r>
            <a:endParaRPr lang="zh-CN" altLang="en-US" dirty="0"/>
          </a:p>
          <a:p>
            <a:pPr>
              <a:buFont typeface="Wingdings" panose="05000000000000000000" pitchFamily="2" charset="2"/>
              <a:buChar char="l"/>
            </a:pPr>
            <a:r>
              <a:rPr lang="en-US" altLang="zh-CN" dirty="0">
                <a:solidFill>
                  <a:schemeClr val="tx1"/>
                </a:solidFill>
              </a:rPr>
              <a:t>According to current Basel Committee proposals, banks using the advanced measurement approach must calculate the operational risk capital charge at a:</a:t>
            </a:r>
          </a:p>
          <a:p>
            <a:pPr marL="817200" lvl="1" indent="-457200">
              <a:buSzPct val="100000"/>
              <a:buFont typeface="+mj-lt"/>
              <a:buAutoNum type="alphaUcPeriod"/>
            </a:pPr>
            <a:r>
              <a:rPr lang="en-US" altLang="zh-CN" dirty="0"/>
              <a:t>99 percentile confidence level and a 1-year time horizon.</a:t>
            </a:r>
          </a:p>
          <a:p>
            <a:pPr marL="817200" lvl="1" indent="-457200">
              <a:buSzPct val="100000"/>
              <a:buFont typeface="+mj-lt"/>
              <a:buAutoNum type="alphaUcPeriod"/>
            </a:pPr>
            <a:r>
              <a:rPr lang="en-US" altLang="zh-CN" dirty="0"/>
              <a:t>99 percentile confidence level and a 5-year time horizon.</a:t>
            </a:r>
          </a:p>
          <a:p>
            <a:pPr marL="817200" lvl="1" indent="-457200">
              <a:buSzPct val="100000"/>
              <a:buFont typeface="+mj-lt"/>
              <a:buAutoNum type="alphaUcPeriod"/>
            </a:pPr>
            <a:r>
              <a:rPr lang="en-US" altLang="zh-CN" dirty="0"/>
              <a:t>99.9 percentile confidence level and a 1-year time horizon.</a:t>
            </a:r>
          </a:p>
          <a:p>
            <a:pPr marL="817200" lvl="1" indent="-457200">
              <a:buSzPct val="100000"/>
              <a:buFont typeface="+mj-lt"/>
              <a:buAutoNum type="alphaUcPeriod"/>
            </a:pPr>
            <a:r>
              <a:rPr lang="en-US" altLang="zh-CN" dirty="0"/>
              <a:t>99.9 percentile confidence level and a 5-year time horizon.</a:t>
            </a:r>
          </a:p>
          <a:p>
            <a:pPr marL="817200" lvl="1" indent="-457200">
              <a:buSzPct val="100000"/>
              <a:buFont typeface="+mj-lt"/>
              <a:buAutoNum type="alphaUcPeriod"/>
            </a:pPr>
            <a:endParaRPr lang="en-US" altLang="zh-CN" dirty="0"/>
          </a:p>
          <a:p>
            <a:pPr marL="417150" indent="-457200">
              <a:buSzPct val="100000"/>
              <a:buFont typeface="Wingdings" panose="05000000000000000000" pitchFamily="2" charset="2"/>
              <a:buChar char="l"/>
            </a:pPr>
            <a:r>
              <a:rPr lang="en-US" altLang="zh-CN" dirty="0">
                <a:solidFill>
                  <a:schemeClr val="tx1"/>
                </a:solidFill>
              </a:rPr>
              <a:t>Correct Answer : C</a:t>
            </a:r>
          </a:p>
          <a:p>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2110061632"/>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0dcd307-9ca5-411e-aa47-63bb535c667f" descr="BA8AAB+LCAAAAAAABADdVU2P2jAQ/S9ue6Mo8Ra1yo10lRb1Cy2o3VXFwU0G4jZxkGNW7CL++9oQBzsJEPayBXEh4zf2mzdjvxV6LR7mgDw0SgkX15TMOEkHAlLUQYMIeWyRJB3kUxZRNvvEs8U8R97vVZlmrvyiIv5JkgWoXEYFJcn206vhNewbZTRdpAXM6ToyRJZGyHW2QRpFCZiwARPA78sTXBXb/B8JLg8IMp4SIQ9cOes3qFhCXu+q66xVcgRLmdRB4y0tzaegpwRorFMtqDKHWS5oxnYZQyJ1A0mpodhK0g4qaQEXNCRJP6EzlgJTjGUBIMJYrn7OOH3MmLDXb+gsFnL1C8C80G9EH+V5U5LkoFWIyRy+y3N0cZuAK9NuICGC3lsIK+aidVlWCVJqVGEda+dJKeZOHFmq5GxpvO7s1WcMS3GaoirDlLOp9/uK2dBRG5jUCwqn8dayPGsoKslmNT+m0xzE7RB4KNn4D5b8xTWoYnYdQd5bt4s14m7/Lr06xtrFQNxap94VX80Dt5W2ed7MuTnYH3vSqt2qC9/UuElD68r36mOWZPz4e6VhtXWpBA1hHEMKGjOmTPRZJKlHuks+V3eWQZ5rAf/8hVAYaV5PoRZ5LPd8FQRXwQccvEO6Umfd9GjpA9s+WhV8m+ncpNRnsh+qOSmYGxNRq1PTb99jn4T/zB5r0lZnt8EDV/LFSsUnPTeHijs4tv+7zfZMm8VnabNfYfpMl8VtXBa3c1lsuSw+X5fFZ+qy7jGXdV7aZPeNmzk2xx9gbJosvlCTfW+ZbOD7147baLL4Ik0WmyaLL9lk2xY3kb8nrhbizAQPAAA=">
            <a:extLst>
              <a:ext uri="{FF2B5EF4-FFF2-40B4-BE49-F238E27FC236}">
                <a16:creationId xmlns:a16="http://schemas.microsoft.com/office/drawing/2014/main" id="{1493A4F0-9A06-4464-AD29-020579B7968E}"/>
              </a:ext>
            </a:extLst>
          </p:cNvPr>
          <p:cNvGrpSpPr>
            <a:grpSpLocks noChangeAspect="1"/>
          </p:cNvGrpSpPr>
          <p:nvPr/>
        </p:nvGrpSpPr>
        <p:grpSpPr>
          <a:xfrm>
            <a:off x="1099614" y="1788195"/>
            <a:ext cx="9992772" cy="3281611"/>
            <a:chOff x="1262052" y="1623553"/>
            <a:chExt cx="9992772" cy="3281611"/>
          </a:xfrm>
        </p:grpSpPr>
        <p:sp>
          <p:nvSpPr>
            <p:cNvPr id="3" name="AreaShape">
              <a:extLst>
                <a:ext uri="{FF2B5EF4-FFF2-40B4-BE49-F238E27FC236}">
                  <a16:creationId xmlns:a16="http://schemas.microsoft.com/office/drawing/2014/main" id="{0801B548-BC6D-4D7A-82C0-DE4BE113F0FD}"/>
                </a:ext>
              </a:extLst>
            </p:cNvPr>
            <p:cNvSpPr/>
            <p:nvPr/>
          </p:nvSpPr>
          <p:spPr bwMode="auto">
            <a:xfrm>
              <a:off x="1262052" y="1623553"/>
              <a:ext cx="9992772" cy="3281611"/>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4" name="ValueBack1">
              <a:extLst>
                <a:ext uri="{FF2B5EF4-FFF2-40B4-BE49-F238E27FC236}">
                  <a16:creationId xmlns:a16="http://schemas.microsoft.com/office/drawing/2014/main" id="{0A0BE5B9-BB5E-4CC4-8E7A-0375A904DFDC}"/>
                </a:ext>
              </a:extLst>
            </p:cNvPr>
            <p:cNvSpPr/>
            <p:nvPr/>
          </p:nvSpPr>
          <p:spPr>
            <a:xfrm>
              <a:off x="5255344" y="2583639"/>
              <a:ext cx="933168" cy="1436347"/>
            </a:xfrm>
            <a:custGeom>
              <a:avLst/>
              <a:gdLst>
                <a:gd name="connsiteX0" fmla="*/ 0 w 783762"/>
                <a:gd name="connsiteY0" fmla="*/ 97330 h 1206379"/>
                <a:gd name="connsiteX1" fmla="*/ 783761 w 783762"/>
                <a:gd name="connsiteY1" fmla="*/ 563490 h 1206379"/>
                <a:gd name="connsiteX2" fmla="*/ 783761 w 783762"/>
                <a:gd name="connsiteY2" fmla="*/ 1206379 h 1206379"/>
                <a:gd name="connsiteX3" fmla="*/ 0 w 783762"/>
                <a:gd name="connsiteY3" fmla="*/ 742781 h 1206379"/>
                <a:gd name="connsiteX4" fmla="*/ 71718 w 783762"/>
                <a:gd name="connsiteY4" fmla="*/ 35858 h 1206379"/>
                <a:gd name="connsiteX5" fmla="*/ 345779 w 783762"/>
                <a:gd name="connsiteY5" fmla="*/ 215150 h 1206379"/>
                <a:gd name="connsiteX6" fmla="*/ 770957 w 783762"/>
                <a:gd name="connsiteY6" fmla="*/ 514824 h 1206379"/>
                <a:gd name="connsiteX7" fmla="*/ 527632 w 783762"/>
                <a:gd name="connsiteY7" fmla="*/ 366268 h 1206379"/>
                <a:gd name="connsiteX8" fmla="*/ 71718 w 783762"/>
                <a:gd name="connsiteY8" fmla="*/ 97330 h 1206379"/>
                <a:gd name="connsiteX9" fmla="*/ 163925 w 783762"/>
                <a:gd name="connsiteY9" fmla="*/ 0 h 1206379"/>
                <a:gd name="connsiteX10" fmla="*/ 420055 w 783762"/>
                <a:gd name="connsiteY10" fmla="*/ 179292 h 1206379"/>
                <a:gd name="connsiteX11" fmla="*/ 783762 w 783762"/>
                <a:gd name="connsiteY11" fmla="*/ 499456 h 1206379"/>
                <a:gd name="connsiteX12" fmla="*/ 494334 w 783762"/>
                <a:gd name="connsiteY12" fmla="*/ 253571 h 1206379"/>
                <a:gd name="connsiteX13" fmla="*/ 163925 w 783762"/>
                <a:gd name="connsiteY13" fmla="*/ 87085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3762" h="1206379">
                  <a:moveTo>
                    <a:pt x="0" y="97330"/>
                  </a:moveTo>
                  <a:lnTo>
                    <a:pt x="783761" y="563490"/>
                  </a:lnTo>
                  <a:lnTo>
                    <a:pt x="783761" y="1206379"/>
                  </a:lnTo>
                  <a:lnTo>
                    <a:pt x="0" y="742781"/>
                  </a:lnTo>
                  <a:close/>
                  <a:moveTo>
                    <a:pt x="71718" y="35858"/>
                  </a:moveTo>
                  <a:cubicBezTo>
                    <a:pt x="89648" y="92207"/>
                    <a:pt x="345779" y="217712"/>
                    <a:pt x="345779" y="215150"/>
                  </a:cubicBezTo>
                  <a:cubicBezTo>
                    <a:pt x="673626" y="353462"/>
                    <a:pt x="770957" y="514824"/>
                    <a:pt x="770957" y="514824"/>
                  </a:cubicBezTo>
                  <a:cubicBezTo>
                    <a:pt x="719731" y="471282"/>
                    <a:pt x="527632" y="366268"/>
                    <a:pt x="527632" y="366268"/>
                  </a:cubicBezTo>
                  <a:cubicBezTo>
                    <a:pt x="437986" y="320164"/>
                    <a:pt x="71718" y="97330"/>
                    <a:pt x="71718" y="97330"/>
                  </a:cubicBezTo>
                  <a:close/>
                  <a:moveTo>
                    <a:pt x="163925" y="0"/>
                  </a:moveTo>
                  <a:cubicBezTo>
                    <a:pt x="189538" y="79402"/>
                    <a:pt x="420055" y="179292"/>
                    <a:pt x="420055" y="179292"/>
                  </a:cubicBezTo>
                  <a:cubicBezTo>
                    <a:pt x="776078" y="368830"/>
                    <a:pt x="783762" y="499456"/>
                    <a:pt x="783762" y="499456"/>
                  </a:cubicBezTo>
                  <a:cubicBezTo>
                    <a:pt x="714606" y="371391"/>
                    <a:pt x="494334" y="253571"/>
                    <a:pt x="494334" y="253571"/>
                  </a:cubicBezTo>
                  <a:cubicBezTo>
                    <a:pt x="356023" y="207467"/>
                    <a:pt x="163925" y="87085"/>
                    <a:pt x="163925" y="87085"/>
                  </a:cubicBezTo>
                  <a:close/>
                </a:path>
              </a:pathLst>
            </a:custGeom>
            <a:solidFill>
              <a:schemeClr val="accent1">
                <a:lumMod val="100000"/>
              </a:schemeClr>
            </a:solidFill>
            <a:ln w="20534" cap="flat">
              <a:noFill/>
              <a:prstDash val="solid"/>
              <a:miter/>
            </a:ln>
          </p:spPr>
          <p:txBody>
            <a:bodyPr rtlCol="0" anchor="ctr"/>
            <a:lstStyle/>
            <a:p>
              <a:endParaRPr lang="zh-CN" altLang="en-US"/>
            </a:p>
          </p:txBody>
        </p:sp>
        <p:sp>
          <p:nvSpPr>
            <p:cNvPr id="5" name="ValueBack2">
              <a:extLst>
                <a:ext uri="{FF2B5EF4-FFF2-40B4-BE49-F238E27FC236}">
                  <a16:creationId xmlns:a16="http://schemas.microsoft.com/office/drawing/2014/main" id="{3EF3DEE4-FD95-4FF7-8A3C-0CA049379F52}"/>
                </a:ext>
              </a:extLst>
            </p:cNvPr>
            <p:cNvSpPr/>
            <p:nvPr/>
          </p:nvSpPr>
          <p:spPr>
            <a:xfrm>
              <a:off x="6374534" y="2583639"/>
              <a:ext cx="933165" cy="1436347"/>
            </a:xfrm>
            <a:custGeom>
              <a:avLst/>
              <a:gdLst>
                <a:gd name="connsiteX0" fmla="*/ 783760 w 783760"/>
                <a:gd name="connsiteY0" fmla="*/ 97330 h 1206379"/>
                <a:gd name="connsiteX1" fmla="*/ 783760 w 783760"/>
                <a:gd name="connsiteY1" fmla="*/ 742781 h 1206379"/>
                <a:gd name="connsiteX2" fmla="*/ 0 w 783760"/>
                <a:gd name="connsiteY2" fmla="*/ 1206379 h 1206379"/>
                <a:gd name="connsiteX3" fmla="*/ 0 w 783760"/>
                <a:gd name="connsiteY3" fmla="*/ 563490 h 1206379"/>
                <a:gd name="connsiteX4" fmla="*/ 712044 w 783760"/>
                <a:gd name="connsiteY4" fmla="*/ 35858 h 1206379"/>
                <a:gd name="connsiteX5" fmla="*/ 712044 w 783760"/>
                <a:gd name="connsiteY5" fmla="*/ 97330 h 1206379"/>
                <a:gd name="connsiteX6" fmla="*/ 256131 w 783760"/>
                <a:gd name="connsiteY6" fmla="*/ 366268 h 1206379"/>
                <a:gd name="connsiteX7" fmla="*/ 12807 w 783760"/>
                <a:gd name="connsiteY7" fmla="*/ 514824 h 1206379"/>
                <a:gd name="connsiteX8" fmla="*/ 437985 w 783760"/>
                <a:gd name="connsiteY8" fmla="*/ 215150 h 1206379"/>
                <a:gd name="connsiteX9" fmla="*/ 712044 w 783760"/>
                <a:gd name="connsiteY9" fmla="*/ 35858 h 1206379"/>
                <a:gd name="connsiteX10" fmla="*/ 619837 w 783760"/>
                <a:gd name="connsiteY10" fmla="*/ 0 h 1206379"/>
                <a:gd name="connsiteX11" fmla="*/ 619837 w 783760"/>
                <a:gd name="connsiteY11" fmla="*/ 87085 h 1206379"/>
                <a:gd name="connsiteX12" fmla="*/ 289428 w 783760"/>
                <a:gd name="connsiteY12" fmla="*/ 253571 h 1206379"/>
                <a:gd name="connsiteX13" fmla="*/ 0 w 783760"/>
                <a:gd name="connsiteY13" fmla="*/ 499456 h 1206379"/>
                <a:gd name="connsiteX14" fmla="*/ 363706 w 783760"/>
                <a:gd name="connsiteY14" fmla="*/ 179292 h 1206379"/>
                <a:gd name="connsiteX15" fmla="*/ 619837 w 783760"/>
                <a:gd name="connsiteY15" fmla="*/ 0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83760" h="1206379">
                  <a:moveTo>
                    <a:pt x="783760" y="97330"/>
                  </a:moveTo>
                  <a:lnTo>
                    <a:pt x="783760" y="742781"/>
                  </a:lnTo>
                  <a:lnTo>
                    <a:pt x="0" y="1206379"/>
                  </a:lnTo>
                  <a:lnTo>
                    <a:pt x="0" y="563490"/>
                  </a:lnTo>
                  <a:close/>
                  <a:moveTo>
                    <a:pt x="712044" y="35858"/>
                  </a:moveTo>
                  <a:lnTo>
                    <a:pt x="712044" y="97330"/>
                  </a:lnTo>
                  <a:cubicBezTo>
                    <a:pt x="712044" y="97330"/>
                    <a:pt x="345776" y="320164"/>
                    <a:pt x="256131" y="366268"/>
                  </a:cubicBezTo>
                  <a:cubicBezTo>
                    <a:pt x="256131" y="366268"/>
                    <a:pt x="64033" y="471282"/>
                    <a:pt x="12807" y="514824"/>
                  </a:cubicBezTo>
                  <a:cubicBezTo>
                    <a:pt x="12807" y="514824"/>
                    <a:pt x="110136" y="353462"/>
                    <a:pt x="437985" y="215150"/>
                  </a:cubicBezTo>
                  <a:cubicBezTo>
                    <a:pt x="437985" y="217712"/>
                    <a:pt x="691553" y="92207"/>
                    <a:pt x="712044" y="35858"/>
                  </a:cubicBezTo>
                  <a:close/>
                  <a:moveTo>
                    <a:pt x="619837" y="0"/>
                  </a:moveTo>
                  <a:lnTo>
                    <a:pt x="619837" y="87085"/>
                  </a:lnTo>
                  <a:cubicBezTo>
                    <a:pt x="619837" y="87085"/>
                    <a:pt x="427739" y="207467"/>
                    <a:pt x="289428" y="253571"/>
                  </a:cubicBezTo>
                  <a:cubicBezTo>
                    <a:pt x="289428" y="253571"/>
                    <a:pt x="69155" y="371391"/>
                    <a:pt x="0" y="499456"/>
                  </a:cubicBezTo>
                  <a:cubicBezTo>
                    <a:pt x="0" y="499456"/>
                    <a:pt x="7684" y="368830"/>
                    <a:pt x="363706" y="179292"/>
                  </a:cubicBezTo>
                  <a:cubicBezTo>
                    <a:pt x="363706" y="179292"/>
                    <a:pt x="594224" y="79402"/>
                    <a:pt x="619837" y="0"/>
                  </a:cubicBezTo>
                  <a:close/>
                </a:path>
              </a:pathLst>
            </a:custGeom>
            <a:solidFill>
              <a:schemeClr val="accent3">
                <a:lumMod val="100000"/>
              </a:schemeClr>
            </a:solidFill>
            <a:ln w="20534" cap="flat">
              <a:noFill/>
              <a:prstDash val="solid"/>
              <a:miter/>
            </a:ln>
          </p:spPr>
          <p:txBody>
            <a:bodyPr rtlCol="0" anchor="ctr"/>
            <a:lstStyle/>
            <a:p>
              <a:endParaRPr lang="zh-CN" altLang="en-US"/>
            </a:p>
          </p:txBody>
        </p:sp>
        <p:sp>
          <p:nvSpPr>
            <p:cNvPr id="6" name="RelativeShape1">
              <a:extLst>
                <a:ext uri="{FF2B5EF4-FFF2-40B4-BE49-F238E27FC236}">
                  <a16:creationId xmlns:a16="http://schemas.microsoft.com/office/drawing/2014/main" id="{93746CF1-0B19-410A-A38E-CE512D993243}"/>
                </a:ext>
              </a:extLst>
            </p:cNvPr>
            <p:cNvSpPr/>
            <p:nvPr/>
          </p:nvSpPr>
          <p:spPr bwMode="auto">
            <a:xfrm>
              <a:off x="2135559"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7" name="RelativeShape2">
              <a:extLst>
                <a:ext uri="{FF2B5EF4-FFF2-40B4-BE49-F238E27FC236}">
                  <a16:creationId xmlns:a16="http://schemas.microsoft.com/office/drawing/2014/main" id="{D66CF947-5A01-4839-B102-747EFDD7281A}"/>
                </a:ext>
              </a:extLst>
            </p:cNvPr>
            <p:cNvSpPr/>
            <p:nvPr/>
          </p:nvSpPr>
          <p:spPr bwMode="auto">
            <a:xfrm>
              <a:off x="7364516"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8" name="ValueShape1">
              <a:extLst>
                <a:ext uri="{FF2B5EF4-FFF2-40B4-BE49-F238E27FC236}">
                  <a16:creationId xmlns:a16="http://schemas.microsoft.com/office/drawing/2014/main" id="{FB26877B-79B9-4CD8-8BC2-839063D1BB76}"/>
                </a:ext>
              </a:extLst>
            </p:cNvPr>
            <p:cNvSpPr/>
            <p:nvPr/>
          </p:nvSpPr>
          <p:spPr bwMode="auto">
            <a:xfrm>
              <a:off x="3578684" y="2723405"/>
              <a:ext cx="1627354" cy="754798"/>
            </a:xfrm>
            <a:prstGeom prst="rect">
              <a:avLst/>
            </a:prstGeom>
            <a:solidFill>
              <a:schemeClr val="accent1">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9" name="ValueShape2">
              <a:extLst>
                <a:ext uri="{FF2B5EF4-FFF2-40B4-BE49-F238E27FC236}">
                  <a16:creationId xmlns:a16="http://schemas.microsoft.com/office/drawing/2014/main" id="{8BE80031-FBBD-47D1-B814-D039F3BF91FC}"/>
                </a:ext>
              </a:extLst>
            </p:cNvPr>
            <p:cNvSpPr/>
            <p:nvPr/>
          </p:nvSpPr>
          <p:spPr bwMode="auto">
            <a:xfrm>
              <a:off x="7364516" y="2723405"/>
              <a:ext cx="1688763" cy="754798"/>
            </a:xfrm>
            <a:prstGeom prst="rect">
              <a:avLst/>
            </a:prstGeom>
            <a:solidFill>
              <a:schemeClr val="accent3">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10" name="ExtraShape">
              <a:extLst>
                <a:ext uri="{FF2B5EF4-FFF2-40B4-BE49-F238E27FC236}">
                  <a16:creationId xmlns:a16="http://schemas.microsoft.com/office/drawing/2014/main" id="{4DE28724-19BC-419C-BCCD-CC6E2D97C58F}"/>
                </a:ext>
              </a:extLst>
            </p:cNvPr>
            <p:cNvSpPr/>
            <p:nvPr/>
          </p:nvSpPr>
          <p:spPr bwMode="auto">
            <a:xfrm rot="7966385">
              <a:off x="5372123" y="1998499"/>
              <a:ext cx="1772631" cy="1717988"/>
            </a:xfrm>
            <a:custGeom>
              <a:avLst/>
              <a:gdLst>
                <a:gd name="connsiteX0" fmla="*/ 1009389 w 1488822"/>
                <a:gd name="connsiteY0" fmla="*/ 531908 h 1442928"/>
                <a:gd name="connsiteX1" fmla="*/ 927638 w 1488822"/>
                <a:gd name="connsiteY1" fmla="*/ 443542 h 1442928"/>
                <a:gd name="connsiteX2" fmla="*/ 1407071 w 1488822"/>
                <a:gd name="connsiteY2" fmla="*/ 0 h 1442928"/>
                <a:gd name="connsiteX3" fmla="*/ 1488822 w 1488822"/>
                <a:gd name="connsiteY3" fmla="*/ 88366 h 1442928"/>
                <a:gd name="connsiteX4" fmla="*/ 175265 w 1488822"/>
                <a:gd name="connsiteY4" fmla="*/ 1240780 h 1442928"/>
                <a:gd name="connsiteX5" fmla="*/ 0 w 1488822"/>
                <a:gd name="connsiteY5" fmla="*/ 900466 h 1442928"/>
                <a:gd name="connsiteX6" fmla="*/ 1 w 1488822"/>
                <a:gd name="connsiteY6" fmla="*/ 900467 h 1442928"/>
                <a:gd name="connsiteX7" fmla="*/ 1 w 1488822"/>
                <a:gd name="connsiteY7" fmla="*/ 900466 h 1442928"/>
                <a:gd name="connsiteX8" fmla="*/ 109696 w 1488822"/>
                <a:gd name="connsiteY8" fmla="*/ 798983 h 1442928"/>
                <a:gd name="connsiteX9" fmla="*/ 103102 w 1488822"/>
                <a:gd name="connsiteY9" fmla="*/ 783064 h 1442928"/>
                <a:gd name="connsiteX10" fmla="*/ 130693 w 1488822"/>
                <a:gd name="connsiteY10" fmla="*/ 755473 h 1442928"/>
                <a:gd name="connsiteX11" fmla="*/ 158284 w 1488822"/>
                <a:gd name="connsiteY11" fmla="*/ 755473 h 1442928"/>
                <a:gd name="connsiteX12" fmla="*/ 158284 w 1488822"/>
                <a:gd name="connsiteY12" fmla="*/ 783064 h 1442928"/>
                <a:gd name="connsiteX13" fmla="*/ 130693 w 1488822"/>
                <a:gd name="connsiteY13" fmla="*/ 810655 h 1442928"/>
                <a:gd name="connsiteX14" fmla="*/ 117896 w 1488822"/>
                <a:gd name="connsiteY14" fmla="*/ 805354 h 1442928"/>
                <a:gd name="connsiteX15" fmla="*/ 9205 w 1488822"/>
                <a:gd name="connsiteY15" fmla="*/ 905909 h 1442928"/>
                <a:gd name="connsiteX16" fmla="*/ 195140 w 1488822"/>
                <a:gd name="connsiteY16" fmla="*/ 1015874 h 1442928"/>
                <a:gd name="connsiteX17" fmla="*/ 194925 w 1488822"/>
                <a:gd name="connsiteY17" fmla="*/ 1014140 h 1442928"/>
                <a:gd name="connsiteX18" fmla="*/ 263892 w 1488822"/>
                <a:gd name="connsiteY18" fmla="*/ 872665 h 1442928"/>
                <a:gd name="connsiteX19" fmla="*/ 410296 w 1488822"/>
                <a:gd name="connsiteY19" fmla="*/ 814892 h 1442928"/>
                <a:gd name="connsiteX20" fmla="*/ 457989 w 1488822"/>
                <a:gd name="connsiteY20" fmla="*/ 824618 h 1442928"/>
                <a:gd name="connsiteX21" fmla="*/ 418631 w 1488822"/>
                <a:gd name="connsiteY21" fmla="*/ 775714 h 1442928"/>
                <a:gd name="connsiteX22" fmla="*/ 288313 w 1488822"/>
                <a:gd name="connsiteY22" fmla="*/ 570929 h 1442928"/>
                <a:gd name="connsiteX23" fmla="*/ 297512 w 1488822"/>
                <a:gd name="connsiteY23" fmla="*/ 380976 h 1442928"/>
                <a:gd name="connsiteX24" fmla="*/ 639727 w 1488822"/>
                <a:gd name="connsiteY24" fmla="*/ 483096 h 1442928"/>
                <a:gd name="connsiteX25" fmla="*/ 715184 w 1488822"/>
                <a:gd name="connsiteY25" fmla="*/ 640092 h 1442928"/>
                <a:gd name="connsiteX26" fmla="*/ 703903 w 1488822"/>
                <a:gd name="connsiteY26" fmla="*/ 650528 h 1442928"/>
                <a:gd name="connsiteX27" fmla="*/ 628648 w 1488822"/>
                <a:gd name="connsiteY27" fmla="*/ 674788 h 1442928"/>
                <a:gd name="connsiteX28" fmla="*/ 625067 w 1488822"/>
                <a:gd name="connsiteY28" fmla="*/ 786543 h 1442928"/>
                <a:gd name="connsiteX29" fmla="*/ 632189 w 1488822"/>
                <a:gd name="connsiteY29" fmla="*/ 795409 h 1442928"/>
                <a:gd name="connsiteX30" fmla="*/ 640720 w 1488822"/>
                <a:gd name="connsiteY30" fmla="*/ 803463 h 1442928"/>
                <a:gd name="connsiteX31" fmla="*/ 753882 w 1488822"/>
                <a:gd name="connsiteY31" fmla="*/ 810157 h 1442928"/>
                <a:gd name="connsiteX32" fmla="*/ 783914 w 1488822"/>
                <a:gd name="connsiteY32" fmla="*/ 737014 h 1442928"/>
                <a:gd name="connsiteX33" fmla="*/ 795195 w 1488822"/>
                <a:gd name="connsiteY33" fmla="*/ 726577 h 1442928"/>
                <a:gd name="connsiteX34" fmla="*/ 945856 w 1488822"/>
                <a:gd name="connsiteY34" fmla="*/ 813997 h 1442928"/>
                <a:gd name="connsiteX35" fmla="*/ 1021093 w 1488822"/>
                <a:gd name="connsiteY35" fmla="*/ 1163109 h 1442928"/>
                <a:gd name="connsiteX36" fmla="*/ 830999 w 1488822"/>
                <a:gd name="connsiteY36" fmla="*/ 1157529 h 1442928"/>
                <a:gd name="connsiteX37" fmla="*/ 635921 w 1488822"/>
                <a:gd name="connsiteY37" fmla="*/ 1010587 h 1442928"/>
                <a:gd name="connsiteX38" fmla="*/ 591226 w 1488822"/>
                <a:gd name="connsiteY38" fmla="*/ 968448 h 1442928"/>
                <a:gd name="connsiteX39" fmla="*/ 597245 w 1488822"/>
                <a:gd name="connsiteY39" fmla="*/ 1016969 h 1442928"/>
                <a:gd name="connsiteX40" fmla="*/ 528278 w 1488822"/>
                <a:gd name="connsiteY40" fmla="*/ 1158444 h 1442928"/>
                <a:gd name="connsiteX41" fmla="*/ 458611 w 1488822"/>
                <a:gd name="connsiteY41" fmla="*/ 1202056 h 1442928"/>
                <a:gd name="connsiteX42" fmla="*/ 397138 w 1488822"/>
                <a:gd name="connsiteY42" fmla="*/ 1213400 h 1442928"/>
                <a:gd name="connsiteX43" fmla="*/ 526279 w 1488822"/>
                <a:gd name="connsiteY43" fmla="*/ 1442928 h 144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8822" h="1442928">
                  <a:moveTo>
                    <a:pt x="1009389" y="531908"/>
                  </a:moveTo>
                  <a:lnTo>
                    <a:pt x="927638" y="443542"/>
                  </a:lnTo>
                  <a:lnTo>
                    <a:pt x="1407071" y="0"/>
                  </a:lnTo>
                  <a:lnTo>
                    <a:pt x="1488822" y="88366"/>
                  </a:lnTo>
                  <a:close/>
                  <a:moveTo>
                    <a:pt x="175265" y="1240780"/>
                  </a:moveTo>
                  <a:lnTo>
                    <a:pt x="0" y="900466"/>
                  </a:lnTo>
                  <a:lnTo>
                    <a:pt x="1" y="900467"/>
                  </a:lnTo>
                  <a:lnTo>
                    <a:pt x="1" y="900466"/>
                  </a:lnTo>
                  <a:lnTo>
                    <a:pt x="109696" y="798983"/>
                  </a:lnTo>
                  <a:lnTo>
                    <a:pt x="103102" y="783064"/>
                  </a:lnTo>
                  <a:cubicBezTo>
                    <a:pt x="103102" y="767826"/>
                    <a:pt x="115455" y="755473"/>
                    <a:pt x="130693" y="755473"/>
                  </a:cubicBezTo>
                  <a:lnTo>
                    <a:pt x="158284" y="755473"/>
                  </a:lnTo>
                  <a:lnTo>
                    <a:pt x="158284" y="783064"/>
                  </a:lnTo>
                  <a:cubicBezTo>
                    <a:pt x="158284" y="798302"/>
                    <a:pt x="145931" y="810655"/>
                    <a:pt x="130693" y="810655"/>
                  </a:cubicBezTo>
                  <a:lnTo>
                    <a:pt x="117896" y="805354"/>
                  </a:lnTo>
                  <a:lnTo>
                    <a:pt x="9205" y="905909"/>
                  </a:lnTo>
                  <a:lnTo>
                    <a:pt x="195140" y="1015874"/>
                  </a:lnTo>
                  <a:lnTo>
                    <a:pt x="194925" y="1014140"/>
                  </a:lnTo>
                  <a:cubicBezTo>
                    <a:pt x="198561" y="962786"/>
                    <a:pt x="221838" y="911570"/>
                    <a:pt x="263892" y="872665"/>
                  </a:cubicBezTo>
                  <a:cubicBezTo>
                    <a:pt x="305945" y="833759"/>
                    <a:pt x="358815" y="814530"/>
                    <a:pt x="410296" y="814892"/>
                  </a:cubicBezTo>
                  <a:lnTo>
                    <a:pt x="457989" y="824618"/>
                  </a:lnTo>
                  <a:lnTo>
                    <a:pt x="418631" y="775714"/>
                  </a:lnTo>
                  <a:cubicBezTo>
                    <a:pt x="370542" y="712719"/>
                    <a:pt x="322348" y="639541"/>
                    <a:pt x="288313" y="570929"/>
                  </a:cubicBezTo>
                  <a:cubicBezTo>
                    <a:pt x="227807" y="448953"/>
                    <a:pt x="297512" y="380976"/>
                    <a:pt x="297512" y="380976"/>
                  </a:cubicBezTo>
                  <a:lnTo>
                    <a:pt x="639727" y="483096"/>
                  </a:lnTo>
                  <a:cubicBezTo>
                    <a:pt x="617778" y="534804"/>
                    <a:pt x="715184" y="640092"/>
                    <a:pt x="715184" y="640092"/>
                  </a:cubicBezTo>
                  <a:lnTo>
                    <a:pt x="703903" y="650528"/>
                  </a:lnTo>
                  <a:cubicBezTo>
                    <a:pt x="667708" y="649120"/>
                    <a:pt x="628648" y="674788"/>
                    <a:pt x="628648" y="674788"/>
                  </a:cubicBezTo>
                  <a:cubicBezTo>
                    <a:pt x="590047" y="723584"/>
                    <a:pt x="611785" y="767589"/>
                    <a:pt x="625067" y="786543"/>
                  </a:cubicBezTo>
                  <a:lnTo>
                    <a:pt x="632189" y="795409"/>
                  </a:lnTo>
                  <a:lnTo>
                    <a:pt x="640720" y="803463"/>
                  </a:lnTo>
                  <a:cubicBezTo>
                    <a:pt x="659074" y="818705"/>
                    <a:pt x="702237" y="844852"/>
                    <a:pt x="753882" y="810157"/>
                  </a:cubicBezTo>
                  <a:cubicBezTo>
                    <a:pt x="753882" y="810157"/>
                    <a:pt x="782507" y="773209"/>
                    <a:pt x="783914" y="737014"/>
                  </a:cubicBezTo>
                  <a:lnTo>
                    <a:pt x="795195" y="726577"/>
                  </a:lnTo>
                  <a:cubicBezTo>
                    <a:pt x="795195" y="726577"/>
                    <a:pt x="892600" y="831864"/>
                    <a:pt x="945856" y="813997"/>
                  </a:cubicBezTo>
                  <a:lnTo>
                    <a:pt x="1021093" y="1163109"/>
                  </a:lnTo>
                  <a:cubicBezTo>
                    <a:pt x="1021093" y="1163109"/>
                    <a:pt x="947908" y="1227325"/>
                    <a:pt x="830999" y="1157529"/>
                  </a:cubicBezTo>
                  <a:cubicBezTo>
                    <a:pt x="765237" y="1118269"/>
                    <a:pt x="695473" y="1063943"/>
                    <a:pt x="635921" y="1010587"/>
                  </a:cubicBezTo>
                  <a:lnTo>
                    <a:pt x="591226" y="968448"/>
                  </a:lnTo>
                  <a:lnTo>
                    <a:pt x="597245" y="1016969"/>
                  </a:lnTo>
                  <a:cubicBezTo>
                    <a:pt x="593608" y="1068323"/>
                    <a:pt x="570331" y="1119539"/>
                    <a:pt x="528278" y="1158444"/>
                  </a:cubicBezTo>
                  <a:cubicBezTo>
                    <a:pt x="507251" y="1177897"/>
                    <a:pt x="483520" y="1192431"/>
                    <a:pt x="458611" y="1202056"/>
                  </a:cubicBezTo>
                  <a:lnTo>
                    <a:pt x="397138" y="1213400"/>
                  </a:lnTo>
                  <a:lnTo>
                    <a:pt x="526279" y="1442928"/>
                  </a:lnTo>
                  <a:close/>
                </a:path>
              </a:pathLst>
            </a:custGeom>
            <a:solidFill>
              <a:schemeClr val="accent1"/>
            </a:solidFill>
            <a:ln w="19050">
              <a:noFill/>
              <a:round/>
              <a:headEnd/>
              <a:tailEnd/>
            </a:ln>
          </p:spPr>
          <p:txBody>
            <a:bodyPr rot="0" spcFirstLastPara="0" vert="horz" wrap="square" lIns="91440" tIns="45720" rIns="91440" bIns="45720" numCol="1" spcCol="0" rtlCol="0" fromWordArt="0" anchor="ctr" anchorCtr="1" forceAA="0" compatLnSpc="1">
              <a:prstTxWarp prst="textNoShape">
                <a:avLst/>
              </a:prstTxWarp>
              <a:noAutofit/>
            </a:bodyPr>
            <a:lstStyle/>
            <a:p>
              <a:pPr algn="ctr"/>
              <a:endParaRPr lang="zh-CN" altLang="en-US" sz="1200" b="1" dirty="0">
                <a:solidFill>
                  <a:schemeClr val="tx1">
                    <a:lumMod val="75000"/>
                    <a:lumOff val="25000"/>
                  </a:schemeClr>
                </a:solidFill>
              </a:endParaRPr>
            </a:p>
          </p:txBody>
        </p:sp>
        <p:sp>
          <p:nvSpPr>
            <p:cNvPr id="11" name="ValueText1">
              <a:extLst>
                <a:ext uri="{FF2B5EF4-FFF2-40B4-BE49-F238E27FC236}">
                  <a16:creationId xmlns:a16="http://schemas.microsoft.com/office/drawing/2014/main" id="{EDBDD775-3579-4CA8-974B-1036888707D0}"/>
                </a:ext>
              </a:extLst>
            </p:cNvPr>
            <p:cNvSpPr txBox="1"/>
            <p:nvPr/>
          </p:nvSpPr>
          <p:spPr>
            <a:xfrm>
              <a:off x="2910028"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a:solidFill>
                    <a:schemeClr val="accent1">
                      <a:lumMod val="100000"/>
                    </a:schemeClr>
                  </a:solidFill>
                  <a:latin typeface="Impact" panose="020B0806030902050204" pitchFamily="34" charset="0"/>
                </a:rPr>
                <a:t>53%</a:t>
              </a:r>
              <a:endParaRPr lang="en-US" altLang="zh-CN" sz="3600" b="1" dirty="0">
                <a:solidFill>
                  <a:schemeClr val="accent1">
                    <a:lumMod val="100000"/>
                  </a:schemeClr>
                </a:solidFill>
                <a:latin typeface="Impact" panose="020B0806030902050204" pitchFamily="34" charset="0"/>
              </a:endParaRPr>
            </a:p>
          </p:txBody>
        </p:sp>
        <p:sp>
          <p:nvSpPr>
            <p:cNvPr id="12" name="ValueText2">
              <a:extLst>
                <a:ext uri="{FF2B5EF4-FFF2-40B4-BE49-F238E27FC236}">
                  <a16:creationId xmlns:a16="http://schemas.microsoft.com/office/drawing/2014/main" id="{3A46D92B-9B9E-4C45-9D21-0E83583F0B0C}"/>
                </a:ext>
              </a:extLst>
            </p:cNvPr>
            <p:cNvSpPr txBox="1"/>
            <p:nvPr/>
          </p:nvSpPr>
          <p:spPr>
            <a:xfrm>
              <a:off x="9164722"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a:solidFill>
                    <a:schemeClr val="accent3">
                      <a:lumMod val="100000"/>
                    </a:schemeClr>
                  </a:solidFill>
                  <a:latin typeface="Impact" panose="020B0806030902050204" pitchFamily="34" charset="0"/>
                </a:rPr>
                <a:t>55%</a:t>
              </a:r>
              <a:endParaRPr lang="en-US" altLang="zh-CN" sz="3600" b="1" dirty="0">
                <a:solidFill>
                  <a:schemeClr val="accent3">
                    <a:lumMod val="100000"/>
                  </a:schemeClr>
                </a:solidFill>
                <a:latin typeface="Impact" panose="020B0806030902050204" pitchFamily="34" charset="0"/>
              </a:endParaRPr>
            </a:p>
          </p:txBody>
        </p:sp>
        <p:sp>
          <p:nvSpPr>
            <p:cNvPr id="15" name="CustomText">
              <a:extLst>
                <a:ext uri="{FF2B5EF4-FFF2-40B4-BE49-F238E27FC236}">
                  <a16:creationId xmlns:a16="http://schemas.microsoft.com/office/drawing/2014/main" id="{D579BF51-77EB-4085-9DCF-88AD3E5322E0}"/>
                </a:ext>
              </a:extLst>
            </p:cNvPr>
            <p:cNvSpPr/>
            <p:nvPr/>
          </p:nvSpPr>
          <p:spPr>
            <a:xfrm>
              <a:off x="4636728" y="4100308"/>
              <a:ext cx="3438697" cy="382921"/>
            </a:xfrm>
            <a:prstGeom prst="rect">
              <a:avLst/>
            </a:prstGeom>
            <a:noFill/>
          </p:spPr>
          <p:txBody>
            <a:bodyPr wrap="square" lIns="90000" tIns="46800" rIns="90000" bIns="46800" anchor="ctr">
              <a:noAutofit/>
            </a:bodyPr>
            <a:lstStyle/>
            <a:p>
              <a:pPr lvl="0" algn="ctr">
                <a:defRPr/>
              </a:pPr>
              <a:r>
                <a:rPr lang="en-US" altLang="zh-CN" sz="2400" b="1" dirty="0">
                  <a:solidFill>
                    <a:schemeClr val="tx1">
                      <a:lumMod val="75000"/>
                      <a:lumOff val="25000"/>
                    </a:schemeClr>
                  </a:solidFill>
                </a:rPr>
                <a:t>Stress Testing</a:t>
              </a:r>
            </a:p>
          </p:txBody>
        </p:sp>
      </p:grpSp>
    </p:spTree>
    <p:extLst>
      <p:ext uri="{BB962C8B-B14F-4D97-AF65-F5344CB8AC3E}">
        <p14:creationId xmlns:p14="http://schemas.microsoft.com/office/powerpoint/2010/main" val="3258220057"/>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Properties of Stress Testing </a:t>
            </a:r>
            <a:r>
              <a:rPr lang="zh-CN" altLang="en-US" dirty="0"/>
              <a:t>压力测试的特性</a:t>
            </a:r>
            <a:endParaRPr lang="en-US" altLang="zh-CN" dirty="0"/>
          </a:p>
          <a:p>
            <a:r>
              <a:rPr lang="en-US" altLang="zh-CN" dirty="0"/>
              <a:t>Governance over Stress Testing </a:t>
            </a:r>
            <a:r>
              <a:rPr lang="zh-CN" altLang="en-US" dirty="0"/>
              <a:t>压力测试的管理</a:t>
            </a:r>
            <a:endParaRPr lang="en-US" altLang="zh-CN" dirty="0"/>
          </a:p>
          <a:p>
            <a:r>
              <a:rPr lang="en-US" altLang="zh-CN" dirty="0"/>
              <a:t>Stress Testing and Other Risk-Management Tools </a:t>
            </a:r>
            <a:r>
              <a:rPr lang="zh-CN" altLang="en-US" dirty="0"/>
              <a:t>压力测试以及其他风险管理工具</a:t>
            </a:r>
            <a:endParaRPr lang="en-US" altLang="zh-CN" dirty="0"/>
          </a:p>
          <a:p>
            <a:endParaRPr lang="zh-CN" altLang="en-US" b="0" dirty="0">
              <a:solidFill>
                <a:srgbClr val="002060"/>
              </a:solidFill>
              <a:latin typeface="+mn-lt"/>
              <a:ea typeface="+mn-ea"/>
              <a:cs typeface="+mn-ea"/>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1414942385"/>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Stress Testing</a:t>
            </a:r>
          </a:p>
        </p:txBody>
      </p:sp>
      <p:sp>
        <p:nvSpPr>
          <p:cNvPr id="3" name="文本占位符 2"/>
          <p:cNvSpPr>
            <a:spLocks noGrp="1"/>
          </p:cNvSpPr>
          <p:nvPr>
            <p:ph type="body" sz="quarter" idx="10"/>
          </p:nvPr>
        </p:nvSpPr>
        <p:spPr/>
        <p:txBody>
          <a:bodyPr>
            <a:normAutofit fontScale="92500" lnSpcReduction="20000"/>
          </a:bodyPr>
          <a:lstStyle/>
          <a:p>
            <a:r>
              <a:rPr lang="en-US" altLang="zh-CN" dirty="0"/>
              <a:t>Stress Testing</a:t>
            </a:r>
          </a:p>
          <a:p>
            <a:pPr lvl="1"/>
            <a:r>
              <a:rPr lang="en-US" altLang="zh-CN" dirty="0"/>
              <a:t>Generically, simple stress testing consists of three steps:</a:t>
            </a:r>
          </a:p>
          <a:p>
            <a:pPr lvl="2"/>
            <a:r>
              <a:rPr lang="en-US" altLang="zh-CN" u="sng" dirty="0"/>
              <a:t>Create a set of extreme market scenarios</a:t>
            </a:r>
            <a:r>
              <a:rPr lang="en-US" altLang="zh-CN" dirty="0"/>
              <a:t> (i.e., stressed scenarios) — often based on actual past events.</a:t>
            </a:r>
          </a:p>
          <a:p>
            <a:pPr lvl="2"/>
            <a:r>
              <a:rPr lang="en-US" altLang="zh-CN" dirty="0"/>
              <a:t>For each scenario, </a:t>
            </a:r>
            <a:r>
              <a:rPr lang="en-US" altLang="zh-CN" u="sng" dirty="0"/>
              <a:t>determine the price changes to individual instruments in the portfolio; sum the changes in order to determine change in portfolio value</a:t>
            </a:r>
            <a:r>
              <a:rPr lang="en-US" altLang="zh-CN" dirty="0"/>
              <a:t>.</a:t>
            </a:r>
          </a:p>
          <a:p>
            <a:pPr lvl="2"/>
            <a:r>
              <a:rPr lang="en-US" altLang="zh-CN" u="sng" dirty="0"/>
              <a:t>Summarize the results</a:t>
            </a:r>
            <a:r>
              <a:rPr lang="en-US" altLang="zh-CN" dirty="0"/>
              <a:t>: show estimated level of mark-to-market gains/losses for each stressed scenario; show where losses would be concentrated.</a:t>
            </a:r>
          </a:p>
          <a:p>
            <a:pPr lvl="1"/>
            <a:r>
              <a:rPr lang="en-US" altLang="zh-CN" dirty="0"/>
              <a:t>The goal of stress testing is to </a:t>
            </a:r>
            <a:r>
              <a:rPr lang="en-US" altLang="zh-CN" u="sng" dirty="0"/>
              <a:t>identify unusual scenarios that would not be covered by standard </a:t>
            </a:r>
            <a:r>
              <a:rPr lang="en-US" altLang="zh-CN" u="sng" dirty="0" err="1"/>
              <a:t>VaR</a:t>
            </a:r>
            <a:r>
              <a:rPr lang="en-US" altLang="zh-CN" u="sng" dirty="0"/>
              <a:t> models</a:t>
            </a:r>
            <a:r>
              <a:rPr lang="en-US" altLang="zh-CN" dirty="0"/>
              <a: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18311801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Stress Testing</a:t>
            </a:r>
          </a:p>
        </p:txBody>
      </p:sp>
      <p:sp>
        <p:nvSpPr>
          <p:cNvPr id="3" name="文本占位符 2"/>
          <p:cNvSpPr>
            <a:spLocks noGrp="1"/>
          </p:cNvSpPr>
          <p:nvPr>
            <p:ph type="body" sz="quarter" idx="10"/>
          </p:nvPr>
        </p:nvSpPr>
        <p:spPr/>
        <p:txBody>
          <a:bodyPr>
            <a:normAutofit/>
          </a:bodyPr>
          <a:lstStyle/>
          <a:p>
            <a:r>
              <a:rPr lang="en-US" altLang="zh-CN" dirty="0"/>
              <a:t>Rationale for the Use of Stress Testing</a:t>
            </a:r>
          </a:p>
          <a:p>
            <a:pPr lvl="1"/>
            <a:r>
              <a:rPr lang="en-US" altLang="zh-CN" dirty="0"/>
              <a:t>Provides forward-looking assessments of risk;</a:t>
            </a:r>
          </a:p>
          <a:p>
            <a:pPr lvl="1"/>
            <a:r>
              <a:rPr lang="en-US" altLang="zh-CN" dirty="0"/>
              <a:t>Overcoming limitations of models and historical data;</a:t>
            </a:r>
          </a:p>
          <a:p>
            <a:pPr lvl="1"/>
            <a:r>
              <a:rPr lang="en-US" altLang="zh-CN" dirty="0"/>
              <a:t>Complements Value at Risk (</a:t>
            </a:r>
            <a:r>
              <a:rPr lang="en-US" altLang="zh-CN" dirty="0" err="1"/>
              <a:t>VaR</a:t>
            </a:r>
            <a:r>
              <a:rPr lang="en-US" altLang="zh-CN" dirty="0"/>
              <a:t>);</a:t>
            </a:r>
          </a:p>
          <a:p>
            <a:pPr lvl="1"/>
            <a:r>
              <a:rPr lang="en-US" altLang="zh-CN" dirty="0"/>
              <a:t>Supports internal and external communication;</a:t>
            </a:r>
          </a:p>
          <a:p>
            <a:pPr lvl="1"/>
            <a:r>
              <a:rPr lang="en-US" altLang="zh-CN" dirty="0"/>
              <a:t>Feeds into capital and liquidity planning procedures;</a:t>
            </a:r>
          </a:p>
          <a:p>
            <a:pPr lvl="1"/>
            <a:r>
              <a:rPr lang="en-US" altLang="zh-CN" dirty="0"/>
              <a:t>Informs setting of a banks’ risk tolerance; </a:t>
            </a:r>
          </a:p>
          <a:p>
            <a:pPr lvl="1"/>
            <a:r>
              <a:rPr lang="en-US" altLang="zh-CN" dirty="0"/>
              <a:t>Facilitates development of risk mitigation or contingency plans across a range of stressed conditions.</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272784635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Stress Testing</a:t>
            </a:r>
          </a:p>
        </p:txBody>
      </p:sp>
      <p:sp>
        <p:nvSpPr>
          <p:cNvPr id="3" name="文本占位符 2"/>
          <p:cNvSpPr>
            <a:spLocks noGrp="1"/>
          </p:cNvSpPr>
          <p:nvPr>
            <p:ph type="body" sz="quarter" idx="10"/>
          </p:nvPr>
        </p:nvSpPr>
        <p:spPr/>
        <p:txBody>
          <a:bodyPr>
            <a:normAutofit fontScale="92500" lnSpcReduction="20000"/>
          </a:bodyPr>
          <a:lstStyle/>
          <a:p>
            <a:r>
              <a:rPr lang="en-US" altLang="zh-CN" dirty="0"/>
              <a:t>Benefits and Drawbacks of Stress Testing</a:t>
            </a:r>
          </a:p>
          <a:p>
            <a:pPr lvl="1"/>
            <a:r>
              <a:rPr lang="en-US" altLang="zh-CN" dirty="0"/>
              <a:t>Advantage</a:t>
            </a:r>
          </a:p>
          <a:p>
            <a:pPr lvl="2"/>
            <a:r>
              <a:rPr lang="en-US" altLang="zh-CN" dirty="0"/>
              <a:t>Complements (does not replace) value at risk. A tool to be used in addition to </a:t>
            </a:r>
            <a:r>
              <a:rPr lang="en-US" altLang="zh-CN" dirty="0" err="1"/>
              <a:t>VaR</a:t>
            </a:r>
            <a:r>
              <a:rPr lang="en-US" altLang="zh-CN" dirty="0"/>
              <a:t>;</a:t>
            </a:r>
          </a:p>
          <a:p>
            <a:pPr lvl="2"/>
            <a:r>
              <a:rPr lang="en-US" altLang="zh-CN" dirty="0"/>
              <a:t>Simple and intuitive;</a:t>
            </a:r>
          </a:p>
          <a:p>
            <a:pPr lvl="2"/>
            <a:r>
              <a:rPr lang="en-US" altLang="zh-CN" dirty="0"/>
              <a:t>Directly examines the tails (i.e., as opposed to measures of central tendency).</a:t>
            </a:r>
          </a:p>
          <a:p>
            <a:pPr lvl="1"/>
            <a:r>
              <a:rPr lang="en-US" altLang="zh-CN" dirty="0"/>
              <a:t>Disadvantage</a:t>
            </a:r>
          </a:p>
          <a:p>
            <a:pPr lvl="2"/>
            <a:r>
              <a:rPr lang="en-US" altLang="zh-CN" dirty="0"/>
              <a:t>Highly subjective;</a:t>
            </a:r>
          </a:p>
          <a:p>
            <a:pPr lvl="2"/>
            <a:r>
              <a:rPr lang="en-US" altLang="zh-CN" dirty="0"/>
              <a:t>Could generate false alarms: implausible scenarios;</a:t>
            </a:r>
          </a:p>
          <a:p>
            <a:pPr lvl="2"/>
            <a:r>
              <a:rPr lang="en-US" altLang="zh-CN" dirty="0"/>
              <a:t>Could miss plausible scenarios;</a:t>
            </a:r>
          </a:p>
          <a:p>
            <a:pPr lvl="2"/>
            <a:r>
              <a:rPr lang="en-US" altLang="zh-CN" dirty="0"/>
              <a:t>Difficult to interpret: can produce lots of unfiltered information.</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13080119"/>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Stress Testing</a:t>
            </a:r>
          </a:p>
        </p:txBody>
      </p:sp>
      <p:sp>
        <p:nvSpPr>
          <p:cNvPr id="3" name="文本占位符 2"/>
          <p:cNvSpPr>
            <a:spLocks noGrp="1"/>
          </p:cNvSpPr>
          <p:nvPr>
            <p:ph type="body" sz="quarter" idx="10"/>
          </p:nvPr>
        </p:nvSpPr>
        <p:spPr/>
        <p:txBody>
          <a:bodyPr>
            <a:normAutofit fontScale="92500"/>
          </a:bodyPr>
          <a:lstStyle/>
          <a:p>
            <a:r>
              <a:rPr lang="en-US" altLang="zh-CN" dirty="0"/>
              <a:t>Unidimensional and Multidimensional Scenario Analysis</a:t>
            </a:r>
          </a:p>
          <a:p>
            <a:pPr lvl="1"/>
            <a:r>
              <a:rPr lang="en-US" altLang="zh-CN" dirty="0"/>
              <a:t>Unidimensional scenarios focus </a:t>
            </a:r>
            <a:r>
              <a:rPr lang="en-US" altLang="zh-CN" u="sng" dirty="0"/>
              <a:t>”stressing” on key one variable at time</a:t>
            </a:r>
            <a:r>
              <a:rPr lang="en-US" altLang="zh-CN" dirty="0"/>
              <a:t>. The key weakness of a unidimensional analysis is that scenarios </a:t>
            </a:r>
            <a:r>
              <a:rPr lang="en-US" altLang="zh-CN" u="sng" dirty="0"/>
              <a:t>cannot, by definition, account for correlation</a:t>
            </a:r>
            <a:r>
              <a:rPr lang="en-US" altLang="zh-CN" dirty="0"/>
              <a:t>.</a:t>
            </a:r>
          </a:p>
          <a:p>
            <a:pPr lvl="1"/>
            <a:r>
              <a:rPr lang="en-US" altLang="zh-CN" dirty="0"/>
              <a:t>Multidimensional is more realistic and attempts to </a:t>
            </a:r>
            <a:r>
              <a:rPr lang="en-US" altLang="zh-CN" u="sng" dirty="0"/>
              <a:t>stress multiple variables and their relationships</a:t>
            </a:r>
            <a:r>
              <a:rPr lang="en-US" altLang="zh-CN" dirty="0"/>
              <a:t>.</a:t>
            </a:r>
          </a:p>
          <a:p>
            <a:r>
              <a:rPr lang="en-US" altLang="zh-CN" dirty="0"/>
              <a:t>Prospective Scenarios and Historical Scenarios</a:t>
            </a:r>
          </a:p>
          <a:p>
            <a:pPr lvl="1"/>
            <a:r>
              <a:rPr lang="en-US" altLang="zh-CN" b="1" dirty="0"/>
              <a:t>Prospective scenarios</a:t>
            </a:r>
            <a:r>
              <a:rPr lang="en-US" altLang="zh-CN" dirty="0"/>
              <a:t> try to analyze the implications of </a:t>
            </a:r>
            <a:r>
              <a:rPr lang="en-US" altLang="zh-CN" u="sng" dirty="0"/>
              <a:t>hypothetical one-off surprises</a:t>
            </a:r>
            <a:r>
              <a:rPr lang="en-US" altLang="zh-CN" dirty="0"/>
              <a:t>; e.g., a major bank failure, a geopolitical crisis.</a:t>
            </a:r>
          </a:p>
          <a:p>
            <a:pPr lvl="1"/>
            <a:r>
              <a:rPr lang="en-US" altLang="zh-CN" b="1" dirty="0"/>
              <a:t>Historical scenarios</a:t>
            </a:r>
            <a:r>
              <a:rPr lang="en-US" altLang="zh-CN" dirty="0"/>
              <a:t> look to </a:t>
            </a:r>
            <a:r>
              <a:rPr lang="en-US" altLang="zh-CN" u="sng" dirty="0"/>
              <a:t>actual past events</a:t>
            </a:r>
            <a:r>
              <a:rPr lang="en-US" altLang="zh-CN" dirty="0"/>
              <a:t> to identify scenarios that fall outside the </a:t>
            </a:r>
            <a:r>
              <a:rPr lang="en-US" altLang="zh-CN" dirty="0" err="1"/>
              <a:t>VaR</a:t>
            </a:r>
            <a:r>
              <a:rPr lang="en-US" altLang="zh-CN" dirty="0"/>
              <a:t> window.</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3375934572"/>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Stress Testing</a:t>
            </a:r>
          </a:p>
        </p:txBody>
      </p:sp>
      <p:sp>
        <p:nvSpPr>
          <p:cNvPr id="3" name="文本占位符 2"/>
          <p:cNvSpPr>
            <a:spLocks noGrp="1"/>
          </p:cNvSpPr>
          <p:nvPr>
            <p:ph type="body" sz="quarter" idx="10"/>
          </p:nvPr>
        </p:nvSpPr>
        <p:spPr/>
        <p:txBody>
          <a:bodyPr>
            <a:normAutofit fontScale="92500" lnSpcReduction="20000"/>
          </a:bodyPr>
          <a:lstStyle/>
          <a:p>
            <a:r>
              <a:rPr lang="en-US" altLang="zh-CN" dirty="0"/>
              <a:t>Event-Driven Scenarios and Portfolio-Driven Scenarios</a:t>
            </a:r>
          </a:p>
          <a:p>
            <a:pPr lvl="1"/>
            <a:r>
              <a:rPr lang="en-US" altLang="zh-CN" dirty="0"/>
              <a:t>Event-Driven</a:t>
            </a:r>
          </a:p>
          <a:p>
            <a:pPr lvl="2"/>
            <a:r>
              <a:rPr lang="en-US" altLang="zh-CN" dirty="0"/>
              <a:t>Scenario formulated from </a:t>
            </a:r>
            <a:r>
              <a:rPr lang="en-US" altLang="zh-CN" u="sng" dirty="0"/>
              <a:t>plausible events that generate movements in risk factors</a:t>
            </a:r>
            <a:r>
              <a:rPr lang="en-US" altLang="zh-CN" dirty="0"/>
              <a:t>.</a:t>
            </a:r>
          </a:p>
          <a:p>
            <a:pPr lvl="1"/>
            <a:r>
              <a:rPr lang="en-US" altLang="zh-CN" dirty="0"/>
              <a:t>Portfolio-Driven Scenarios</a:t>
            </a:r>
          </a:p>
          <a:p>
            <a:pPr lvl="2"/>
            <a:r>
              <a:rPr lang="en-US" altLang="zh-CN" dirty="0"/>
              <a:t>First, </a:t>
            </a:r>
            <a:r>
              <a:rPr lang="en-US" altLang="zh-CN" u="sng" dirty="0"/>
              <a:t>risk vulnerabilities in the current portfolio are identified. Second, translated into adverse movements in risk factors.</a:t>
            </a:r>
          </a:p>
          <a:p>
            <a:r>
              <a:rPr lang="en-US" altLang="zh-CN" dirty="0"/>
              <a:t>Sensitivity Analysis and Stress Testing Model Parameters</a:t>
            </a:r>
          </a:p>
          <a:p>
            <a:pPr lvl="1"/>
            <a:r>
              <a:rPr lang="en-US" altLang="zh-CN" dirty="0"/>
              <a:t>Sensitivity analysis is a form of stress testing that </a:t>
            </a:r>
            <a:r>
              <a:rPr lang="en-US" altLang="zh-CN" u="sng" dirty="0"/>
              <a:t>examines how model output variation relates to model input variation</a:t>
            </a:r>
            <a:r>
              <a:rPr lang="en-US" altLang="zh-CN" dirty="0"/>
              <a:t>.</a:t>
            </a:r>
          </a:p>
          <a:p>
            <a:pPr lvl="1"/>
            <a:r>
              <a:rPr lang="en-US" altLang="zh-CN" dirty="0"/>
              <a:t>Stress testing model parameters deals with just the </a:t>
            </a:r>
            <a:r>
              <a:rPr lang="en-US" altLang="zh-CN" u="sng" dirty="0"/>
              <a:t>variation in the model's inputs</a:t>
            </a:r>
            <a:r>
              <a:rPr lang="en-US" altLang="zh-CN" dirty="0"/>
              <a:t>.</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728073977"/>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Stress Testing</a:t>
            </a:r>
          </a:p>
        </p:txBody>
      </p:sp>
      <p:sp>
        <p:nvSpPr>
          <p:cNvPr id="3" name="文本占位符 2"/>
          <p:cNvSpPr>
            <a:spLocks noGrp="1"/>
          </p:cNvSpPr>
          <p:nvPr>
            <p:ph type="body" sz="quarter" idx="10"/>
          </p:nvPr>
        </p:nvSpPr>
        <p:spPr/>
        <p:txBody>
          <a:bodyPr>
            <a:normAutofit/>
          </a:bodyPr>
          <a:lstStyle/>
          <a:p>
            <a:r>
              <a:rPr lang="en-US" altLang="zh-CN" dirty="0"/>
              <a:t>Common One-Variable Sensitivity Tests</a:t>
            </a:r>
          </a:p>
          <a:p>
            <a:pPr lvl="1"/>
            <a:r>
              <a:rPr lang="en-US" altLang="zh-CN" dirty="0"/>
              <a:t>Derivatives Policy Group (DPG) unidimensional scenarios</a:t>
            </a:r>
          </a:p>
          <a:p>
            <a:pPr lvl="1"/>
            <a:r>
              <a:rPr lang="en-US" altLang="zh-CN" dirty="0"/>
              <a:t>Parallel yield-curve shifting by +/- 100 bps</a:t>
            </a:r>
          </a:p>
          <a:p>
            <a:pPr lvl="1"/>
            <a:r>
              <a:rPr lang="en-US" altLang="zh-CN" dirty="0"/>
              <a:t>Yield curve twisting by +/- 25 bps</a:t>
            </a:r>
          </a:p>
          <a:p>
            <a:pPr lvl="1"/>
            <a:r>
              <a:rPr lang="en-US" altLang="zh-CN" dirty="0"/>
              <a:t>Each of four combinations or yield-curve shifts and twists</a:t>
            </a:r>
          </a:p>
          <a:p>
            <a:pPr lvl="1"/>
            <a:r>
              <a:rPr lang="en-US" altLang="zh-CN" dirty="0"/>
              <a:t>Implied volatilities changing by +/- 20%</a:t>
            </a:r>
          </a:p>
          <a:p>
            <a:pPr lvl="1"/>
            <a:r>
              <a:rPr lang="en-US" altLang="zh-CN" dirty="0"/>
              <a:t>Equity index values changing by +/- 10%</a:t>
            </a:r>
          </a:p>
          <a:p>
            <a:pPr lvl="1"/>
            <a:r>
              <a:rPr lang="en-US" altLang="zh-CN" dirty="0"/>
              <a:t>Currencies moving by +/- 6% (major) or 20% (other)</a:t>
            </a:r>
          </a:p>
          <a:p>
            <a:pPr lvl="1"/>
            <a:r>
              <a:rPr lang="en-US" altLang="zh-CN" dirty="0"/>
              <a:t>Swap spreads changing by 20 bps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395318483"/>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Stress Testing</a:t>
            </a:r>
          </a:p>
        </p:txBody>
      </p:sp>
      <p:sp>
        <p:nvSpPr>
          <p:cNvPr id="3" name="文本占位符 2"/>
          <p:cNvSpPr>
            <a:spLocks noGrp="1"/>
          </p:cNvSpPr>
          <p:nvPr>
            <p:ph type="body" sz="quarter" idx="10"/>
          </p:nvPr>
        </p:nvSpPr>
        <p:spPr/>
        <p:txBody>
          <a:bodyPr>
            <a:normAutofit fontScale="92500" lnSpcReduction="20000"/>
          </a:bodyPr>
          <a:lstStyle/>
          <a:p>
            <a:r>
              <a:rPr lang="en-US" altLang="zh-CN" dirty="0"/>
              <a:t>Standard Portfolio Analysis of Risk System</a:t>
            </a:r>
          </a:p>
          <a:p>
            <a:pPr lvl="1"/>
            <a:r>
              <a:rPr lang="en-US" altLang="zh-CN" u="sng" dirty="0"/>
              <a:t>SPAN is a scenario-based method for measuring portfolio risk.</a:t>
            </a:r>
          </a:p>
          <a:p>
            <a:pPr lvl="1"/>
            <a:r>
              <a:rPr lang="en-US" altLang="zh-CN" dirty="0"/>
              <a:t>Calculates worst possible loss portfolio might incur over a specified time period (one trading day).</a:t>
            </a:r>
          </a:p>
          <a:p>
            <a:r>
              <a:rPr lang="en-US" altLang="zh-CN" dirty="0"/>
              <a:t>How the results of a stress test can be used to improve our risk analysis and risk management systems?</a:t>
            </a:r>
          </a:p>
          <a:p>
            <a:pPr lvl="1"/>
            <a:r>
              <a:rPr lang="en-US" altLang="zh-CN" dirty="0"/>
              <a:t>Set aside economic capital to absorb worst-case losses;</a:t>
            </a:r>
          </a:p>
          <a:p>
            <a:pPr lvl="1"/>
            <a:r>
              <a:rPr lang="en-US" altLang="zh-CN" dirty="0"/>
              <a:t>Purchase protection or insurance;</a:t>
            </a:r>
          </a:p>
          <a:p>
            <a:pPr lvl="1"/>
            <a:r>
              <a:rPr lang="en-US" altLang="zh-CN" dirty="0"/>
              <a:t>Modify the portfolio;</a:t>
            </a:r>
          </a:p>
          <a:p>
            <a:pPr lvl="1"/>
            <a:r>
              <a:rPr lang="en-US" altLang="zh-CN" dirty="0"/>
              <a:t>Restructure the business or product mix to enhance diversification;</a:t>
            </a:r>
          </a:p>
          <a:p>
            <a:pPr lvl="1"/>
            <a:r>
              <a:rPr lang="en-US" altLang="zh-CN" dirty="0"/>
              <a:t>Develop a corrective or contingency plan should a scenario occur;</a:t>
            </a:r>
          </a:p>
          <a:p>
            <a:pPr lvl="1"/>
            <a:r>
              <a:rPr lang="en-US" altLang="zh-CN" dirty="0"/>
              <a:t>Prepare alternative funding sources in anticipation of liquidity crunches.</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2940797742"/>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Stress Testing</a:t>
            </a:r>
          </a:p>
        </p:txBody>
      </p:sp>
      <p:sp>
        <p:nvSpPr>
          <p:cNvPr id="3" name="文本占位符 2"/>
          <p:cNvSpPr>
            <a:spLocks noGrp="1"/>
          </p:cNvSpPr>
          <p:nvPr>
            <p:ph type="body" sz="quarter" idx="10"/>
          </p:nvPr>
        </p:nvSpPr>
        <p:spPr/>
        <p:txBody>
          <a:bodyPr>
            <a:normAutofit/>
          </a:bodyPr>
          <a:lstStyle/>
          <a:p>
            <a:r>
              <a:rPr lang="en-US" altLang="zh-CN" dirty="0"/>
              <a:t>Major Weaknesses and Recommendations for Stress Testing and Integration in Risk Governances </a:t>
            </a:r>
          </a:p>
          <a:p>
            <a:pPr lvl="1"/>
            <a:r>
              <a:rPr lang="en-US" altLang="zh-CN" dirty="0"/>
              <a:t>Weaknesses: lack of involvement of board and senior management; lack of overall organizational view; lack of fully developed stress testing; lack of adequate response to crisis. </a:t>
            </a:r>
          </a:p>
          <a:p>
            <a:pPr lvl="1"/>
            <a:r>
              <a:rPr lang="en-US" altLang="zh-CN" dirty="0"/>
              <a:t>Recommendations: Stress testing should form an essential ingredient of overall governance of risk management plan, encompass multiple techniques and perspectives, involve a sound infrastructure and regular assessment, produce written policies and recommendations, and generate comprehensive firm and market-wide scenario testing. </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3691903053"/>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Stress Testing</a:t>
            </a:r>
          </a:p>
        </p:txBody>
      </p:sp>
      <p:sp>
        <p:nvSpPr>
          <p:cNvPr id="3" name="文本占位符 2"/>
          <p:cNvSpPr>
            <a:spLocks noGrp="1"/>
          </p:cNvSpPr>
          <p:nvPr>
            <p:ph type="body" sz="quarter" idx="10"/>
          </p:nvPr>
        </p:nvSpPr>
        <p:spPr/>
        <p:txBody>
          <a:bodyPr>
            <a:normAutofit fontScale="92500" lnSpcReduction="20000"/>
          </a:bodyPr>
          <a:lstStyle/>
          <a:p>
            <a:r>
              <a:rPr lang="en-US" altLang="zh-CN" dirty="0"/>
              <a:t>Stress Testing Methodologies</a:t>
            </a:r>
          </a:p>
          <a:p>
            <a:pPr lvl="1"/>
            <a:r>
              <a:rPr lang="en-US" altLang="zh-CN" dirty="0"/>
              <a:t>Weaknesses: inadequate infrastructure, inadequate risk assessment approaches, inadequate recognition of correlation, and inadequate firm- wide perspectives. </a:t>
            </a:r>
          </a:p>
          <a:p>
            <a:pPr lvl="1"/>
            <a:r>
              <a:rPr lang="en-US" altLang="zh-CN" dirty="0"/>
              <a:t>Recommendations: development of a comprehensive stress testing approach, identification and control of risk concentrations, multiple measurements of stress impact. </a:t>
            </a:r>
          </a:p>
          <a:p>
            <a:r>
              <a:rPr lang="en-US" altLang="zh-CN" dirty="0"/>
              <a:t>Stress Testing Scenarios</a:t>
            </a:r>
          </a:p>
          <a:p>
            <a:pPr lvl="1"/>
            <a:r>
              <a:rPr lang="en-US" altLang="zh-CN" dirty="0"/>
              <a:t>Weaknesses: Lack of depth and breadth; Lack of adequate techniques; Lack of forward-looking scenarios.</a:t>
            </a:r>
          </a:p>
          <a:p>
            <a:pPr lvl="1"/>
            <a:r>
              <a:rPr lang="en-US" altLang="zh-CN" dirty="0"/>
              <a:t>Recommendations: A variety of events; Futuristic outlook; Synergy effect; Time horizon; Reverse stress testing. </a:t>
            </a:r>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3251024817"/>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Stress Testing</a:t>
            </a:r>
          </a:p>
        </p:txBody>
      </p:sp>
      <p:sp>
        <p:nvSpPr>
          <p:cNvPr id="3" name="文本占位符 2"/>
          <p:cNvSpPr>
            <a:spLocks noGrp="1"/>
          </p:cNvSpPr>
          <p:nvPr>
            <p:ph type="body" sz="quarter" idx="10"/>
          </p:nvPr>
        </p:nvSpPr>
        <p:spPr/>
        <p:txBody>
          <a:bodyPr>
            <a:normAutofit fontScale="92500"/>
          </a:bodyPr>
          <a:lstStyle/>
          <a:p>
            <a:r>
              <a:rPr lang="en-US" altLang="zh-CN" dirty="0"/>
              <a:t>Stress Testing of Specific Risks</a:t>
            </a:r>
          </a:p>
          <a:p>
            <a:pPr lvl="1"/>
            <a:r>
              <a:rPr lang="en-US" altLang="zh-CN" dirty="0"/>
              <a:t>Complex Structured Products</a:t>
            </a:r>
          </a:p>
          <a:p>
            <a:pPr lvl="2"/>
            <a:r>
              <a:rPr lang="en-US" altLang="zh-CN" dirty="0"/>
              <a:t>Should consider underlying assets, their exposure to systematic market factors, relevant contractual agreements, and impact of leverage.</a:t>
            </a:r>
          </a:p>
          <a:p>
            <a:pPr lvl="1"/>
            <a:r>
              <a:rPr lang="en-US" altLang="zh-CN" dirty="0"/>
              <a:t>Basis Risk</a:t>
            </a:r>
          </a:p>
          <a:p>
            <a:pPr lvl="2"/>
            <a:r>
              <a:rPr lang="en-US" altLang="zh-CN" dirty="0"/>
              <a:t>The effectiveness of risk mitigation techniques should be systematically challenged.</a:t>
            </a:r>
          </a:p>
          <a:p>
            <a:pPr lvl="1"/>
            <a:r>
              <a:rPr lang="en-US" altLang="zh-CN" dirty="0"/>
              <a:t>Wrong-Way Risk</a:t>
            </a:r>
          </a:p>
          <a:p>
            <a:pPr lvl="2"/>
            <a:r>
              <a:rPr lang="en-US" altLang="zh-CN" dirty="0"/>
              <a:t>Banks should stress test for highly leveraged counterparties, including potential for wrong-way risk.</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2358478745"/>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Stress Testing</a:t>
            </a:r>
          </a:p>
        </p:txBody>
      </p:sp>
      <p:sp>
        <p:nvSpPr>
          <p:cNvPr id="3" name="文本占位符 2"/>
          <p:cNvSpPr>
            <a:spLocks noGrp="1"/>
          </p:cNvSpPr>
          <p:nvPr>
            <p:ph type="body" sz="quarter" idx="10"/>
          </p:nvPr>
        </p:nvSpPr>
        <p:spPr/>
        <p:txBody>
          <a:bodyPr>
            <a:normAutofit/>
          </a:bodyPr>
          <a:lstStyle/>
          <a:p>
            <a:pPr lvl="1"/>
            <a:r>
              <a:rPr lang="en-US" altLang="zh-CN" dirty="0"/>
              <a:t>Pipeline Risk</a:t>
            </a:r>
          </a:p>
          <a:p>
            <a:pPr lvl="2"/>
            <a:r>
              <a:rPr lang="en-US" altLang="zh-CN" dirty="0"/>
              <a:t>Many of the risks associated with pipeline and warehoused exposures emerge when a bank is unable to access the securitization market due to either bank specific or market stresses.</a:t>
            </a:r>
          </a:p>
          <a:p>
            <a:pPr lvl="1"/>
            <a:r>
              <a:rPr lang="en-US" altLang="zh-CN" dirty="0"/>
              <a:t>Contingent Risk</a:t>
            </a:r>
          </a:p>
          <a:p>
            <a:pPr lvl="2"/>
            <a:r>
              <a:rPr lang="en-US" altLang="zh-CN" dirty="0"/>
              <a:t>Had stress tests adequately captured contractual and reputational risk associated with off-balance sheet exposures, concentrations in such exposures may have been avoided.</a:t>
            </a:r>
          </a:p>
          <a:p>
            <a:pPr lvl="1"/>
            <a:r>
              <a:rPr lang="en-US" altLang="zh-CN" dirty="0"/>
              <a:t>Funding Risk</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1597095480"/>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a:bodyPr>
          <a:lstStyle/>
          <a:p>
            <a:r>
              <a:rPr lang="en-US" altLang="zh-CN" dirty="0"/>
              <a:t>I. Governance Structure</a:t>
            </a:r>
          </a:p>
          <a:p>
            <a:pPr lvl="1"/>
            <a:r>
              <a:rPr lang="en-US" altLang="zh-CN" dirty="0"/>
              <a:t>Stress testing: exercises used to conduct a forward-looking assessment of the potential impact of various adverse events and circumstances on a banking institution.</a:t>
            </a:r>
          </a:p>
          <a:p>
            <a:pPr lvl="1"/>
            <a:endParaRPr lang="en-US" altLang="zh-CN" dirty="0"/>
          </a:p>
          <a:p>
            <a:pPr lvl="1"/>
            <a:r>
              <a:rPr lang="en-US" altLang="zh-CN" dirty="0"/>
              <a:t>Risk appetite: the level and type of risk an institution is able and willing to assume in its exposures and business activities, given its business objectives and obligations to stakeholders.</a:t>
            </a:r>
          </a:p>
          <a:p>
            <a:endParaRPr lang="en-US" altLang="zh-CN"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3084693449"/>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a:bodyPr>
          <a:lstStyle/>
          <a:p>
            <a:r>
              <a:rPr lang="en-US" altLang="zh-CN" dirty="0"/>
              <a:t>I. Governance Structure</a:t>
            </a:r>
          </a:p>
          <a:p>
            <a:pPr lvl="1"/>
            <a:r>
              <a:rPr lang="en-US" altLang="zh-CN" dirty="0"/>
              <a:t>The BOD should:</a:t>
            </a:r>
          </a:p>
          <a:p>
            <a:pPr lvl="2">
              <a:buFont typeface="+mj-lt"/>
              <a:buAutoNum type="arabicPeriod"/>
            </a:pPr>
            <a:r>
              <a:rPr lang="en-US" altLang="zh-CN" dirty="0"/>
              <a:t>Have ultimate oversight responsibility for the entire organization.</a:t>
            </a:r>
          </a:p>
          <a:p>
            <a:pPr lvl="2">
              <a:buFont typeface="+mj-lt"/>
              <a:buAutoNum type="arabicPeriod"/>
            </a:pPr>
            <a:r>
              <a:rPr lang="en-US" altLang="zh-CN" dirty="0"/>
              <a:t>Define the culture of the organization.</a:t>
            </a:r>
          </a:p>
          <a:p>
            <a:pPr lvl="2">
              <a:buFont typeface="+mj-lt"/>
              <a:buAutoNum type="arabicPeriod"/>
            </a:pPr>
            <a:r>
              <a:rPr lang="en-US" altLang="zh-CN" dirty="0"/>
              <a:t>Be responsible for the institution’s stress-testing activities.</a:t>
            </a:r>
          </a:p>
          <a:p>
            <a:pPr lvl="2">
              <a:buFont typeface="+mj-lt"/>
              <a:buAutoNum type="arabicPeriod"/>
            </a:pPr>
            <a:r>
              <a:rPr lang="en-US" altLang="zh-CN" dirty="0"/>
              <a:t>Not rely on just one stress-test in making key decisions.</a:t>
            </a:r>
          </a:p>
          <a:p>
            <a:pPr lvl="2">
              <a:buFont typeface="+mj-lt"/>
              <a:buAutoNum type="arabicPeriod"/>
            </a:pPr>
            <a:r>
              <a:rPr lang="en-US" altLang="zh-CN" dirty="0"/>
              <a:t>Take action based on its review of stress-test results.</a:t>
            </a:r>
          </a:p>
          <a:p>
            <a:endParaRPr lang="en-US" altLang="zh-CN"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2603248310"/>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a:bodyPr>
          <a:lstStyle/>
          <a:p>
            <a:r>
              <a:rPr lang="en-US" altLang="zh-CN" dirty="0"/>
              <a:t>I. Governance Structure</a:t>
            </a:r>
          </a:p>
          <a:p>
            <a:pPr lvl="1"/>
            <a:r>
              <a:rPr lang="en-US" altLang="zh-CN" dirty="0"/>
              <a:t>Board members should:</a:t>
            </a:r>
          </a:p>
          <a:p>
            <a:pPr lvl="2">
              <a:buFont typeface="+mj-lt"/>
              <a:buAutoNum type="arabicPeriod"/>
            </a:pPr>
            <a:r>
              <a:rPr lang="en-US" altLang="zh-CN" dirty="0"/>
              <a:t>Be knowledgeable about stress-testing activities</a:t>
            </a:r>
          </a:p>
          <a:p>
            <a:pPr lvl="2">
              <a:buFont typeface="+mj-lt"/>
              <a:buAutoNum type="arabicPeriod"/>
            </a:pPr>
            <a:r>
              <a:rPr lang="en-US" altLang="zh-CN" dirty="0"/>
              <a:t>Evaluate information about stress-testing</a:t>
            </a:r>
          </a:p>
          <a:p>
            <a:pPr lvl="2">
              <a:buFont typeface="+mj-lt"/>
              <a:buAutoNum type="arabicPeriod"/>
            </a:pPr>
            <a:r>
              <a:rPr lang="en-US" altLang="zh-CN" dirty="0"/>
              <a:t>Ensure the stress-testing is in line with the institution’s risk appetite</a:t>
            </a:r>
          </a:p>
          <a:p>
            <a:pPr lvl="2">
              <a:buFont typeface="+mj-lt"/>
              <a:buAutoNum type="arabicPeriod"/>
            </a:pPr>
            <a:r>
              <a:rPr lang="en-US" altLang="zh-CN" dirty="0"/>
              <a:t>Use the results of the stress-tests with skepticism</a:t>
            </a:r>
          </a:p>
          <a:p>
            <a:pPr lvl="1">
              <a:buFont typeface="+mj-lt"/>
              <a:buAutoNum type="arabicPeriod"/>
            </a:pPr>
            <a:endParaRPr lang="en-US" altLang="zh-CN"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2457993448"/>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a:xfrm>
            <a:off x="393599" y="813469"/>
            <a:ext cx="11404800" cy="5780761"/>
          </a:xfrm>
        </p:spPr>
        <p:txBody>
          <a:bodyPr>
            <a:normAutofit/>
          </a:bodyPr>
          <a:lstStyle/>
          <a:p>
            <a:r>
              <a:rPr lang="en-US" altLang="zh-CN" dirty="0"/>
              <a:t>I. Governance Structure</a:t>
            </a:r>
          </a:p>
          <a:p>
            <a:pPr lvl="1"/>
            <a:r>
              <a:rPr lang="en-US" altLang="zh-CN" dirty="0"/>
              <a:t>Senior Management should:</a:t>
            </a:r>
          </a:p>
          <a:p>
            <a:pPr lvl="2">
              <a:buFont typeface="+mj-lt"/>
              <a:buAutoNum type="arabicPeriod"/>
            </a:pPr>
            <a:r>
              <a:rPr lang="en-US" altLang="zh-CN" dirty="0"/>
              <a:t>Ensure that stress-tests are implemented in a satisfactory manner</a:t>
            </a:r>
          </a:p>
          <a:p>
            <a:pPr lvl="2">
              <a:buFont typeface="+mj-lt"/>
              <a:buAutoNum type="arabicPeriod"/>
            </a:pPr>
            <a:r>
              <a:rPr lang="en-US" altLang="zh-CN" dirty="0"/>
              <a:t>Establish adequate policies and procedures and ensure compliance</a:t>
            </a:r>
          </a:p>
          <a:p>
            <a:pPr lvl="2">
              <a:buFont typeface="+mj-lt"/>
              <a:buAutoNum type="arabicPeriod"/>
            </a:pPr>
            <a:r>
              <a:rPr lang="en-US" altLang="zh-CN" dirty="0"/>
              <a:t>Allocate appropriate resources and assign competent staff</a:t>
            </a:r>
          </a:p>
          <a:p>
            <a:pPr lvl="2">
              <a:buFont typeface="+mj-lt"/>
              <a:buAutoNum type="arabicPeriod"/>
            </a:pPr>
            <a:r>
              <a:rPr lang="en-US" altLang="zh-CN" dirty="0"/>
              <a:t>Take prompt remedial actions when necessary</a:t>
            </a:r>
          </a:p>
          <a:p>
            <a:pPr lvl="2">
              <a:buFont typeface="+mj-lt"/>
              <a:buAutoNum type="arabicPeriod"/>
            </a:pPr>
            <a:r>
              <a:rPr lang="en-US" altLang="zh-CN" dirty="0"/>
              <a:t>Report to the board on stress-test developments and results</a:t>
            </a:r>
          </a:p>
          <a:p>
            <a:pPr lvl="2">
              <a:buFont typeface="+mj-lt"/>
              <a:buAutoNum type="arabicPeriod"/>
            </a:pPr>
            <a:r>
              <a:rPr lang="en-US" altLang="zh-CN" dirty="0"/>
              <a:t>Ensure that stress-tests are appropriately coordinated</a:t>
            </a:r>
          </a:p>
          <a:p>
            <a:pPr lvl="1">
              <a:buFont typeface="+mj-lt"/>
              <a:buAutoNum type="arabicPeriod"/>
            </a:pPr>
            <a:endParaRPr lang="en-US" altLang="zh-CN"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477801912"/>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a:bodyPr>
          <a:lstStyle/>
          <a:p>
            <a:r>
              <a:rPr lang="en-US" altLang="zh-CN" sz="2000" dirty="0"/>
              <a:t>I</a:t>
            </a:r>
            <a:r>
              <a:rPr lang="en-US" altLang="zh-CN" dirty="0"/>
              <a:t>. Governance Structure</a:t>
            </a:r>
          </a:p>
          <a:p>
            <a:pPr lvl="1"/>
            <a:r>
              <a:rPr lang="en-US" altLang="zh-CN" dirty="0"/>
              <a:t>Stress-testing should be used to:</a:t>
            </a:r>
          </a:p>
          <a:p>
            <a:pPr lvl="2"/>
            <a:r>
              <a:rPr lang="en-US" altLang="zh-CN" dirty="0"/>
              <a:t>Inform the board about alignment of the institution’s risk profile with the risk appetite.</a:t>
            </a:r>
          </a:p>
          <a:p>
            <a:pPr lvl="2"/>
            <a:r>
              <a:rPr lang="en-US" altLang="zh-CN" dirty="0"/>
              <a:t>Provide a forward-looking assessment of the potential impact of adverse outcomes.</a:t>
            </a:r>
          </a:p>
          <a:p>
            <a:endParaRPr lang="en-US" altLang="zh-CN"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2850261481"/>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a:bodyPr>
          <a:lstStyle/>
          <a:p>
            <a:pPr algn="just"/>
            <a:r>
              <a:rPr lang="en-US" altLang="zh-CN" dirty="0"/>
              <a:t>II. Policies, Procedures And Documentation</a:t>
            </a:r>
          </a:p>
          <a:p>
            <a:pPr lvl="1" algn="just"/>
            <a:r>
              <a:rPr lang="en-US" altLang="zh-CN" dirty="0"/>
              <a:t>Have written policies that govern the implementation of stress-tests</a:t>
            </a:r>
          </a:p>
          <a:p>
            <a:pPr lvl="2" algn="just"/>
            <a:r>
              <a:rPr lang="en-US" altLang="zh-CN" dirty="0"/>
              <a:t>In a clear manner;</a:t>
            </a:r>
          </a:p>
          <a:p>
            <a:pPr lvl="2" algn="just"/>
            <a:r>
              <a:rPr lang="en-US" altLang="zh-CN" dirty="0"/>
              <a:t>Approved and reassessed by the board;</a:t>
            </a:r>
          </a:p>
          <a:p>
            <a:pPr lvl="2" algn="just"/>
            <a:r>
              <a:rPr lang="en-US" altLang="zh-CN" dirty="0"/>
              <a:t>Effective and complete documentation;</a:t>
            </a:r>
          </a:p>
          <a:p>
            <a:pPr lvl="2" algn="just"/>
            <a:r>
              <a:rPr lang="en-US" altLang="zh-CN" dirty="0"/>
              <a:t>Up to date;</a:t>
            </a:r>
          </a:p>
          <a:p>
            <a:pPr lvl="1" algn="just"/>
            <a:r>
              <a:rPr lang="en-US" altLang="zh-CN" dirty="0"/>
              <a:t>Ensure that its stress-tests are documented appropriately.</a:t>
            </a:r>
          </a:p>
          <a:p>
            <a:pPr lvl="1" algn="just"/>
            <a:r>
              <a:rPr lang="en-US" altLang="zh-CN" dirty="0"/>
              <a:t>Ensure that documentation of the third-party approach is available.</a:t>
            </a:r>
          </a:p>
          <a:p>
            <a:endParaRPr lang="en-US" altLang="zh-CN"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4120024471"/>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a:bodyPr>
          <a:lstStyle/>
          <a:p>
            <a:pPr algn="just"/>
            <a:r>
              <a:rPr lang="en-US" altLang="zh-CN" sz="2000" dirty="0"/>
              <a:t>III. Validation And Independent Review</a:t>
            </a:r>
          </a:p>
          <a:p>
            <a:pPr lvl="1" algn="just"/>
            <a:r>
              <a:rPr lang="en-US" altLang="zh-CN" sz="2000" dirty="0"/>
              <a:t>Ensure the integrity of stress-testing processes and results.</a:t>
            </a:r>
          </a:p>
          <a:p>
            <a:pPr lvl="1" algn="just"/>
            <a:r>
              <a:rPr lang="en-US" altLang="zh-CN" sz="2000" dirty="0"/>
              <a:t>Conducted on an ongoing basis.</a:t>
            </a:r>
          </a:p>
          <a:p>
            <a:pPr lvl="1" algn="just"/>
            <a:r>
              <a:rPr lang="en-US" altLang="zh-CN" sz="2000" dirty="0"/>
              <a:t>The model used in a baseline situation may require a different specification to estimate stress outcomes.</a:t>
            </a:r>
          </a:p>
          <a:p>
            <a:pPr lvl="1" algn="just"/>
            <a:r>
              <a:rPr lang="en-US" altLang="zh-CN" sz="2000" dirty="0"/>
              <a:t>Limitations to which stress tests can be validated.</a:t>
            </a:r>
          </a:p>
          <a:p>
            <a:pPr lvl="1" algn="just"/>
            <a:r>
              <a:rPr lang="en-US" altLang="zh-CN" sz="2000" dirty="0"/>
              <a:t>Ensure that the benchmarks fit the institution’s risks.</a:t>
            </a:r>
          </a:p>
          <a:p>
            <a:pPr lvl="1" algn="just"/>
            <a:r>
              <a:rPr lang="en-US" altLang="zh-CN" sz="2000" dirty="0"/>
              <a:t>Expert-based judgement should be applied to ensure that test results are intuitive and logical.</a:t>
            </a:r>
          </a:p>
          <a:p>
            <a:pPr lvl="1" algn="just"/>
            <a:r>
              <a:rPr lang="en-US" altLang="zh-CN" sz="2000" dirty="0"/>
              <a:t>The lack of full validation should be communicated to users of stress-test results.</a:t>
            </a:r>
          </a:p>
          <a:p>
            <a:pPr lvl="1" algn="just"/>
            <a:r>
              <a:rPr lang="en-US" altLang="zh-CN" sz="2000" dirty="0"/>
              <a:t>Remediation plan to explain how the tests will be enhanced.</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349440589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a:bodyPr>
          <a:lstStyle/>
          <a:p>
            <a:r>
              <a:rPr lang="en-GB" altLang="en-US" dirty="0"/>
              <a:t>IV. Internal Audit</a:t>
            </a:r>
          </a:p>
          <a:p>
            <a:pPr lvl="1">
              <a:lnSpc>
                <a:spcPct val="130000"/>
              </a:lnSpc>
            </a:pPr>
            <a:r>
              <a:rPr lang="en-US" altLang="zh-CN" dirty="0"/>
              <a:t>Procedures:</a:t>
            </a:r>
          </a:p>
          <a:p>
            <a:pPr lvl="2">
              <a:lnSpc>
                <a:spcPct val="130000"/>
              </a:lnSpc>
            </a:pPr>
            <a:r>
              <a:rPr lang="en-US" altLang="zh-CN" dirty="0"/>
              <a:t>Provide independent evaluation of the stress-testing activities.</a:t>
            </a:r>
          </a:p>
          <a:p>
            <a:pPr lvl="2">
              <a:lnSpc>
                <a:spcPct val="130000"/>
              </a:lnSpc>
            </a:pPr>
            <a:r>
              <a:rPr lang="en-US" altLang="zh-CN" dirty="0"/>
              <a:t>Ensure that stress-tests are conducted in a sound manner and remain current.</a:t>
            </a:r>
          </a:p>
          <a:p>
            <a:pPr lvl="2">
              <a:lnSpc>
                <a:spcPct val="130000"/>
              </a:lnSpc>
            </a:pPr>
            <a:r>
              <a:rPr lang="en-US" altLang="zh-CN" dirty="0"/>
              <a:t>Assess the staff involved in stress-tests.</a:t>
            </a:r>
          </a:p>
          <a:p>
            <a:pPr lvl="2">
              <a:lnSpc>
                <a:spcPct val="130000"/>
              </a:lnSpc>
            </a:pPr>
            <a:r>
              <a:rPr lang="en-US" altLang="zh-CN" dirty="0"/>
              <a:t>Check that all material changes to stress-tests are documented.</a:t>
            </a:r>
          </a:p>
          <a:p>
            <a:pPr lvl="2">
              <a:lnSpc>
                <a:spcPct val="130000"/>
              </a:lnSpc>
            </a:pPr>
            <a:r>
              <a:rPr lang="en-US" altLang="zh-CN" dirty="0"/>
              <a:t>Evaluate the validation and review conducted for stress-tests.</a:t>
            </a:r>
          </a:p>
          <a:p>
            <a:pPr lvl="2">
              <a:lnSpc>
                <a:spcPct val="130000"/>
              </a:lnSpc>
            </a:pPr>
            <a:r>
              <a:rPr lang="en-US" altLang="zh-CN" dirty="0"/>
              <a:t>Ensure stress-testing deficiencies are identified, tracked, and remediated.</a:t>
            </a:r>
          </a:p>
          <a:p>
            <a:endParaRPr lang="en-US" altLang="zh-CN" sz="2000"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3924965277"/>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a:bodyPr>
          <a:lstStyle/>
          <a:p>
            <a:pPr algn="just">
              <a:lnSpc>
                <a:spcPct val="110000"/>
              </a:lnSpc>
            </a:pPr>
            <a:r>
              <a:rPr lang="en-GB" altLang="en-US" dirty="0"/>
              <a:t>V. Other Key Aspects Of Stress-testing Governance</a:t>
            </a:r>
          </a:p>
          <a:p>
            <a:pPr lvl="1" algn="just">
              <a:lnSpc>
                <a:spcPct val="110000"/>
              </a:lnSpc>
            </a:pPr>
            <a:r>
              <a:rPr lang="en-US" altLang="zh-CN" dirty="0"/>
              <a:t>1. Stress-testing Coverage</a:t>
            </a:r>
          </a:p>
          <a:p>
            <a:pPr lvl="2" algn="just">
              <a:lnSpc>
                <a:spcPct val="110000"/>
              </a:lnSpc>
            </a:pPr>
            <a:r>
              <a:rPr lang="en-US" altLang="zh-CN" dirty="0"/>
              <a:t>Be applied at various levels in the institution.</a:t>
            </a:r>
          </a:p>
          <a:p>
            <a:pPr lvl="2" algn="just">
              <a:lnSpc>
                <a:spcPct val="110000"/>
              </a:lnSpc>
            </a:pPr>
            <a:r>
              <a:rPr lang="en-US" altLang="zh-CN" dirty="0"/>
              <a:t>Capture the interplay among different exposures.</a:t>
            </a:r>
          </a:p>
          <a:p>
            <a:pPr lvl="2" algn="just">
              <a:lnSpc>
                <a:spcPct val="110000"/>
              </a:lnSpc>
            </a:pPr>
            <a:r>
              <a:rPr lang="en-US" altLang="zh-CN" dirty="0"/>
              <a:t>Be conducted over various relevant time horizons.</a:t>
            </a:r>
          </a:p>
          <a:p>
            <a:pPr lvl="1" algn="just">
              <a:lnSpc>
                <a:spcPct val="110000"/>
              </a:lnSpc>
            </a:pPr>
            <a:r>
              <a:rPr lang="en-US" altLang="zh-CN" dirty="0"/>
              <a:t>2. Stress-testing Types and Approaches</a:t>
            </a:r>
          </a:p>
          <a:p>
            <a:pPr lvl="2" algn="just">
              <a:lnSpc>
                <a:spcPct val="110000"/>
              </a:lnSpc>
            </a:pPr>
            <a:r>
              <a:rPr lang="en-US" altLang="zh-CN" dirty="0"/>
              <a:t>Be relevant to the strategy set by the board.</a:t>
            </a:r>
          </a:p>
          <a:p>
            <a:pPr lvl="2" algn="just">
              <a:lnSpc>
                <a:spcPct val="110000"/>
              </a:lnSpc>
            </a:pPr>
            <a:r>
              <a:rPr lang="en-US" altLang="zh-CN" dirty="0"/>
              <a:t>Consider the impact of both firm-specific and systemic stress events.</a:t>
            </a:r>
          </a:p>
          <a:p>
            <a:pPr lvl="2" algn="just">
              <a:lnSpc>
                <a:spcPct val="110000"/>
              </a:lnSpc>
            </a:pPr>
            <a:r>
              <a:rPr lang="en-US" altLang="zh-CN" dirty="0"/>
              <a:t>Consider the incremental and cumulative effects of stress conditions.</a:t>
            </a:r>
          </a:p>
          <a:p>
            <a:pPr lvl="2" algn="just">
              <a:lnSpc>
                <a:spcPct val="110000"/>
              </a:lnSpc>
            </a:pPr>
            <a:r>
              <a:rPr lang="en-US" altLang="zh-CN" dirty="0"/>
              <a:t>Take care in aggregating results across the firm and business lines.</a:t>
            </a:r>
          </a:p>
          <a:p>
            <a:pPr lvl="2" algn="just">
              <a:lnSpc>
                <a:spcPct val="110000"/>
              </a:lnSpc>
            </a:pPr>
            <a:r>
              <a:rPr lang="en-US" altLang="zh-CN" dirty="0"/>
              <a:t>Reverse stress tests.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2194621414"/>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6734539" cy="576064"/>
          </a:xfrm>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a:bodyPr>
          <a:lstStyle/>
          <a:p>
            <a:pPr algn="just"/>
            <a:r>
              <a:rPr lang="en-GB" altLang="en-US" dirty="0"/>
              <a:t>V. Other Key Aspects Of Stress-testing Governance</a:t>
            </a:r>
          </a:p>
          <a:p>
            <a:pPr lvl="1" algn="just"/>
            <a:r>
              <a:rPr lang="en-US" altLang="zh-CN" dirty="0"/>
              <a:t>3. Capital and Liquidity Stress Testing</a:t>
            </a:r>
          </a:p>
          <a:p>
            <a:pPr lvl="2" algn="just"/>
            <a:r>
              <a:rPr lang="en-US" altLang="zh-CN" dirty="0"/>
              <a:t>Consider the situation in which multiple risks manifest themselves at the same time.</a:t>
            </a:r>
          </a:p>
          <a:p>
            <a:pPr lvl="2" algn="just"/>
            <a:r>
              <a:rPr lang="en-US" altLang="zh-CN" dirty="0"/>
              <a:t>Stress testing can aid contingency planning.</a:t>
            </a:r>
          </a:p>
          <a:p>
            <a:endParaRPr lang="zh-CN" altLang="en-US"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4132199450"/>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182708" cy="576064"/>
          </a:xfrm>
        </p:spPr>
        <p:txBody>
          <a:bodyPr>
            <a:normAutofit fontScale="90000"/>
          </a:bodyPr>
          <a:lstStyle/>
          <a:p>
            <a:r>
              <a:rPr lang="en-US" altLang="zh-CN" sz="2800" dirty="0"/>
              <a:t>Stress Testing and Other Risk-Management Tools</a:t>
            </a:r>
          </a:p>
        </p:txBody>
      </p:sp>
      <p:sp>
        <p:nvSpPr>
          <p:cNvPr id="3" name="文本占位符 2"/>
          <p:cNvSpPr>
            <a:spLocks noGrp="1"/>
          </p:cNvSpPr>
          <p:nvPr>
            <p:ph type="body" sz="quarter" idx="10"/>
          </p:nvPr>
        </p:nvSpPr>
        <p:spPr/>
        <p:txBody>
          <a:bodyPr>
            <a:normAutofit/>
          </a:bodyPr>
          <a:lstStyle/>
          <a:p>
            <a:r>
              <a:rPr lang="en-GB" altLang="en-US" dirty="0"/>
              <a:t>I. Enterprise-wide Stress Testing</a:t>
            </a:r>
          </a:p>
          <a:p>
            <a:pPr lvl="1" algn="just"/>
            <a:r>
              <a:rPr lang="en-US" altLang="zh-CN" dirty="0"/>
              <a:t>An important use of stress testing has been to acquire enterprise-wide views of risk.</a:t>
            </a:r>
          </a:p>
          <a:p>
            <a:pPr lvl="1" algn="just"/>
            <a:endParaRPr lang="en-US" altLang="zh-CN" dirty="0"/>
          </a:p>
          <a:p>
            <a:pPr lvl="1" algn="just"/>
            <a:r>
              <a:rPr lang="en-US" altLang="zh-CN" dirty="0"/>
              <a:t>A stress test may be viewed as translation of a scenario into a loss estimate stress tests usually focus on a few scenarios, whereas </a:t>
            </a:r>
            <a:r>
              <a:rPr lang="en-US" altLang="zh-CN" dirty="0" err="1"/>
              <a:t>VaR</a:t>
            </a:r>
            <a:r>
              <a:rPr lang="en-US" altLang="zh-CN" dirty="0"/>
              <a:t> measures commonly utilize a very large number of scenarios.</a:t>
            </a:r>
          </a:p>
          <a:p>
            <a:endParaRPr lang="zh-CN" altLang="en-US" dirty="0">
              <a:latin typeface="+mn-lt"/>
              <a:ea typeface="+mn-ea"/>
              <a:cs typeface="+mn-ea"/>
              <a:sym typeface="+mn-lt"/>
            </a:endParaRPr>
          </a:p>
        </p:txBody>
      </p:sp>
    </p:spTree>
    <p:extLst>
      <p:ext uri="{BB962C8B-B14F-4D97-AF65-F5344CB8AC3E}">
        <p14:creationId xmlns:p14="http://schemas.microsoft.com/office/powerpoint/2010/main" val="852444919"/>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7954108" cy="576064"/>
          </a:xfrm>
        </p:spPr>
        <p:txBody>
          <a:bodyPr>
            <a:normAutofit fontScale="90000"/>
          </a:bodyPr>
          <a:lstStyle/>
          <a:p>
            <a:r>
              <a:rPr lang="en-US" altLang="zh-CN" sz="2800" dirty="0"/>
              <a:t>Stress Testing and Other Risk-Management Tools</a:t>
            </a:r>
          </a:p>
        </p:txBody>
      </p:sp>
      <p:sp>
        <p:nvSpPr>
          <p:cNvPr id="3" name="文本占位符 2"/>
          <p:cNvSpPr>
            <a:spLocks noGrp="1"/>
          </p:cNvSpPr>
          <p:nvPr>
            <p:ph type="body" sz="quarter" idx="10"/>
          </p:nvPr>
        </p:nvSpPr>
        <p:spPr/>
        <p:txBody>
          <a:bodyPr>
            <a:normAutofit/>
          </a:bodyPr>
          <a:lstStyle/>
          <a:p>
            <a:r>
              <a:rPr lang="en-GB" altLang="en-US" dirty="0"/>
              <a:t>II. Use Of </a:t>
            </a:r>
            <a:r>
              <a:rPr lang="en-GB" altLang="en-US" dirty="0" err="1"/>
              <a:t>Va</a:t>
            </a:r>
            <a:r>
              <a:rPr lang="en-US" altLang="zh-CN" dirty="0"/>
              <a:t>R</a:t>
            </a:r>
            <a:r>
              <a:rPr lang="en-GB" altLang="en-US" dirty="0"/>
              <a:t> Models In Stress Tests</a:t>
            </a:r>
            <a:r>
              <a:rPr lang="en-GB" altLang="zh-CN" dirty="0"/>
              <a:t> </a:t>
            </a:r>
            <a:endParaRPr lang="en-US" altLang="zh-CN" dirty="0"/>
          </a:p>
          <a:p>
            <a:pPr lvl="1"/>
            <a:r>
              <a:rPr lang="en-US" altLang="zh-CN" dirty="0"/>
              <a:t>Loss=PD×LGD×EAD</a:t>
            </a:r>
          </a:p>
          <a:p>
            <a:pPr lvl="1"/>
            <a:r>
              <a:rPr lang="en-US" altLang="zh-CN" dirty="0"/>
              <a:t>Associate probability with a given hypothetical or historical stress scenario:</a:t>
            </a:r>
          </a:p>
          <a:p>
            <a:pPr marL="1085850" lvl="2"/>
            <a:r>
              <a:rPr lang="en-US" altLang="zh-CN" dirty="0"/>
              <a:t>Purpose: assess where the losses based on stress tests lie in the loss distribution used in the </a:t>
            </a:r>
            <a:r>
              <a:rPr lang="en-US" altLang="zh-CN" dirty="0" err="1"/>
              <a:t>VaR</a:t>
            </a:r>
            <a:r>
              <a:rPr lang="en-US" altLang="zh-CN" dirty="0"/>
              <a:t>/EC estimation.</a:t>
            </a:r>
          </a:p>
          <a:p>
            <a:pPr marL="1085850" lvl="2"/>
            <a:r>
              <a:rPr lang="en-US" altLang="zh-CN" dirty="0"/>
              <a:t>Match the stressed loss to a point on the loss distribution =&gt; coming up with the probability of that scenario.</a:t>
            </a:r>
          </a:p>
          <a:p>
            <a:pPr lvl="1"/>
            <a:endParaRPr lang="en-US" altLang="zh-CN" sz="2000"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756641931"/>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7795846" cy="576064"/>
          </a:xfrm>
        </p:spPr>
        <p:txBody>
          <a:bodyPr>
            <a:normAutofit fontScale="90000"/>
          </a:bodyPr>
          <a:lstStyle/>
          <a:p>
            <a:r>
              <a:rPr lang="en-US" altLang="zh-CN" sz="2800" dirty="0"/>
              <a:t>Stress Testing and Other Risk-Management Tools</a:t>
            </a:r>
          </a:p>
        </p:txBody>
      </p:sp>
      <p:sp>
        <p:nvSpPr>
          <p:cNvPr id="3" name="文本占位符 2"/>
          <p:cNvSpPr>
            <a:spLocks noGrp="1"/>
          </p:cNvSpPr>
          <p:nvPr>
            <p:ph type="body" sz="quarter" idx="10"/>
          </p:nvPr>
        </p:nvSpPr>
        <p:spPr/>
        <p:txBody>
          <a:bodyPr>
            <a:normAutofit fontScale="92500"/>
          </a:bodyPr>
          <a:lstStyle/>
          <a:p>
            <a:pPr algn="just"/>
            <a:r>
              <a:rPr lang="en-GB" altLang="en-US" dirty="0"/>
              <a:t>III. Stressed Calibration Of Value At Risk Measures</a:t>
            </a:r>
          </a:p>
          <a:p>
            <a:pPr lvl="1" algn="just"/>
            <a:r>
              <a:rPr lang="en-US" altLang="zh-CN" dirty="0"/>
              <a:t>Supervisory approaches: the new market risk rule requires banks to use stressed inputs (incorporation of stress into the risk measurement).</a:t>
            </a:r>
          </a:p>
          <a:p>
            <a:pPr lvl="1" algn="just"/>
            <a:r>
              <a:rPr lang="en-US" altLang="zh-CN" dirty="0"/>
              <a:t>Six risk factors to simulate the exposures:</a:t>
            </a:r>
          </a:p>
          <a:p>
            <a:pPr lvl="2" algn="just">
              <a:buFont typeface="+mj-lt"/>
              <a:buAutoNum type="arabicPeriod"/>
            </a:pPr>
            <a:r>
              <a:rPr lang="en-US" altLang="zh-CN" dirty="0"/>
              <a:t>Three month LIBOR</a:t>
            </a:r>
          </a:p>
          <a:p>
            <a:pPr lvl="2" algn="just">
              <a:buFont typeface="+mj-lt"/>
              <a:buAutoNum type="arabicPeriod"/>
            </a:pPr>
            <a:r>
              <a:rPr lang="en-US" altLang="zh-CN" dirty="0"/>
              <a:t>The yield on BAA-rated bonds</a:t>
            </a:r>
          </a:p>
          <a:p>
            <a:pPr lvl="2" algn="just">
              <a:buFont typeface="+mj-lt"/>
              <a:buAutoNum type="arabicPeriod"/>
            </a:pPr>
            <a:r>
              <a:rPr lang="en-US" altLang="zh-CN" dirty="0"/>
              <a:t>The spread between yields on BAA- and AAA-rated bonds (BAA–AAA)</a:t>
            </a:r>
          </a:p>
          <a:p>
            <a:pPr lvl="2" algn="just">
              <a:buFont typeface="+mj-lt"/>
              <a:buAutoNum type="arabicPeriod"/>
            </a:pPr>
            <a:r>
              <a:rPr lang="en-US" altLang="zh-CN" dirty="0"/>
              <a:t>The return on the S&amp;P 500 index (SPX)</a:t>
            </a:r>
          </a:p>
          <a:p>
            <a:pPr lvl="2" algn="just">
              <a:buFont typeface="+mj-lt"/>
              <a:buAutoNum type="arabicPeriod"/>
            </a:pPr>
            <a:r>
              <a:rPr lang="en-US" altLang="zh-CN" dirty="0"/>
              <a:t>The change in the volatility option index</a:t>
            </a:r>
          </a:p>
          <a:p>
            <a:pPr lvl="2" algn="just">
              <a:buFont typeface="+mj-lt"/>
              <a:buAutoNum type="arabicPeriod"/>
            </a:pPr>
            <a:r>
              <a:rPr lang="en-US" altLang="zh-CN" dirty="0"/>
              <a:t>Contract interest rates on commitments for fixed-rate first mortgages</a:t>
            </a:r>
          </a:p>
          <a:p>
            <a:pPr algn="just"/>
            <a:endParaRPr lang="en-US" altLang="zh-CN" sz="2000"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2608960025"/>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516815" cy="576064"/>
          </a:xfrm>
        </p:spPr>
        <p:txBody>
          <a:bodyPr>
            <a:normAutofit fontScale="90000"/>
          </a:bodyPr>
          <a:lstStyle/>
          <a:p>
            <a:r>
              <a:rPr lang="en-US" altLang="zh-CN" sz="2800" dirty="0"/>
              <a:t>Stress Testing and Other Risk-Management Tools</a:t>
            </a:r>
          </a:p>
        </p:txBody>
      </p:sp>
      <p:sp>
        <p:nvSpPr>
          <p:cNvPr id="3" name="文本占位符 2"/>
          <p:cNvSpPr>
            <a:spLocks noGrp="1"/>
          </p:cNvSpPr>
          <p:nvPr>
            <p:ph type="body" sz="quarter" idx="10"/>
          </p:nvPr>
        </p:nvSpPr>
        <p:spPr/>
        <p:txBody>
          <a:bodyPr>
            <a:normAutofit/>
          </a:bodyPr>
          <a:lstStyle/>
          <a:p>
            <a:r>
              <a:rPr lang="en-GB" altLang="en-US" dirty="0"/>
              <a:t>III. Stressed Calibration Of Value At Risk Measures</a:t>
            </a:r>
          </a:p>
          <a:p>
            <a:pPr lvl="1"/>
            <a:r>
              <a:rPr lang="en-US" altLang="zh-CN" dirty="0"/>
              <a:t>Advantages of stressed risk metrics: </a:t>
            </a:r>
          </a:p>
          <a:p>
            <a:pPr lvl="2"/>
            <a:r>
              <a:rPr lang="en-US" altLang="zh-CN" dirty="0"/>
              <a:t>after taking into account stressed environments, capital should be adequate when the next stress occurs.</a:t>
            </a:r>
          </a:p>
          <a:p>
            <a:pPr lvl="1"/>
            <a:r>
              <a:rPr lang="en-US" altLang="zh-CN" dirty="0"/>
              <a:t>Disadvantages: </a:t>
            </a:r>
          </a:p>
          <a:p>
            <a:pPr lvl="2"/>
            <a:r>
              <a:rPr lang="en-US" altLang="zh-CN" dirty="0"/>
              <a:t>given that the inputs are always stressed, the risk metric will no longer be responsive to the current market conditions.</a:t>
            </a:r>
          </a:p>
          <a:p>
            <a:endParaRPr lang="en-US" altLang="zh-CN" sz="2000" dirty="0"/>
          </a:p>
          <a:p>
            <a:endParaRPr lang="zh-CN" altLang="en-US" dirty="0">
              <a:latin typeface="+mn-lt"/>
              <a:ea typeface="+mn-ea"/>
              <a:cs typeface="+mn-ea"/>
              <a:sym typeface="+mn-lt"/>
            </a:endParaRPr>
          </a:p>
        </p:txBody>
      </p:sp>
    </p:spTree>
    <p:extLst>
      <p:ext uri="{BB962C8B-B14F-4D97-AF65-F5344CB8AC3E}">
        <p14:creationId xmlns:p14="http://schemas.microsoft.com/office/powerpoint/2010/main" val="152823085"/>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8042031" cy="576064"/>
          </a:xfrm>
        </p:spPr>
        <p:txBody>
          <a:bodyPr>
            <a:normAutofit fontScale="90000"/>
          </a:bodyPr>
          <a:lstStyle/>
          <a:p>
            <a:r>
              <a:rPr lang="en-US" altLang="zh-CN" sz="2800" dirty="0"/>
              <a:t>Stress Testing and Other Risk-Management Tools</a:t>
            </a:r>
          </a:p>
        </p:txBody>
      </p:sp>
      <p:sp>
        <p:nvSpPr>
          <p:cNvPr id="3" name="文本占位符 2"/>
          <p:cNvSpPr>
            <a:spLocks noGrp="1"/>
          </p:cNvSpPr>
          <p:nvPr>
            <p:ph type="body" sz="quarter" idx="10"/>
          </p:nvPr>
        </p:nvSpPr>
        <p:spPr/>
        <p:txBody>
          <a:bodyPr>
            <a:normAutofit fontScale="85000" lnSpcReduction="20000"/>
          </a:bodyPr>
          <a:lstStyle/>
          <a:p>
            <a:r>
              <a:rPr lang="en-US" altLang="zh-CN" dirty="0"/>
              <a:t>Exercises</a:t>
            </a:r>
            <a:endParaRPr lang="zh-CN" altLang="en-US" dirty="0"/>
          </a:p>
          <a:p>
            <a:r>
              <a:rPr lang="en-US" altLang="zh-CN" dirty="0">
                <a:solidFill>
                  <a:schemeClr val="tx1"/>
                </a:solidFill>
              </a:rPr>
              <a:t>Which of the following statements about stress testing are true?</a:t>
            </a:r>
          </a:p>
          <a:p>
            <a:pPr marL="971550" lvl="1" indent="-514350">
              <a:buFont typeface="+mj-lt"/>
              <a:buAutoNum type="romanUcPeriod"/>
            </a:pPr>
            <a:r>
              <a:rPr lang="en-US" altLang="zh-CN" dirty="0"/>
              <a:t>Stress testing can complement </a:t>
            </a:r>
            <a:r>
              <a:rPr lang="en-US" altLang="zh-CN" dirty="0" err="1"/>
              <a:t>VaR</a:t>
            </a:r>
            <a:r>
              <a:rPr lang="en-US" altLang="zh-CN" dirty="0"/>
              <a:t> estimation in helping risk managers identify crucial vulnerabilities in a portfolio.</a:t>
            </a:r>
          </a:p>
          <a:p>
            <a:pPr marL="971550" lvl="1" indent="-514350">
              <a:buFont typeface="+mj-lt"/>
              <a:buAutoNum type="romanUcPeriod"/>
            </a:pPr>
            <a:r>
              <a:rPr lang="en-US" altLang="zh-CN" dirty="0"/>
              <a:t>Stress testing allows users to include scenarios that did not occur in the lookback horizon of the </a:t>
            </a:r>
            <a:r>
              <a:rPr lang="en-US" altLang="zh-CN" dirty="0" err="1"/>
              <a:t>VaR</a:t>
            </a:r>
            <a:r>
              <a:rPr lang="en-US" altLang="zh-CN" dirty="0"/>
              <a:t> data but are nonetheless possible.</a:t>
            </a:r>
          </a:p>
          <a:p>
            <a:pPr marL="971550" lvl="1" indent="-514350">
              <a:buFont typeface="+mj-lt"/>
              <a:buAutoNum type="romanUcPeriod"/>
            </a:pPr>
            <a:r>
              <a:rPr lang="en-US" altLang="zh-CN" dirty="0"/>
              <a:t>A drawback of stress testing is that it is highly subjective.</a:t>
            </a:r>
          </a:p>
          <a:p>
            <a:pPr marL="971550" lvl="1" indent="-514350">
              <a:buFont typeface="+mj-lt"/>
              <a:buAutoNum type="romanUcPeriod"/>
            </a:pPr>
            <a:r>
              <a:rPr lang="en-US" altLang="zh-CN" dirty="0"/>
              <a:t>The inclusion of a large number of scenarios helps management better understand the risk exposure of a portfolio.</a:t>
            </a:r>
          </a:p>
          <a:p>
            <a:pPr marL="914400" lvl="1" indent="-457200">
              <a:buFont typeface="+mj-lt"/>
              <a:buAutoNum type="alphaUcPeriod"/>
            </a:pPr>
            <a:r>
              <a:rPr lang="en-US" altLang="zh-CN" dirty="0"/>
              <a:t>I and II only</a:t>
            </a:r>
          </a:p>
          <a:p>
            <a:pPr marL="914400" lvl="1" indent="-457200">
              <a:buFont typeface="+mj-lt"/>
              <a:buAutoNum type="alphaUcPeriod"/>
            </a:pPr>
            <a:r>
              <a:rPr lang="en-US" altLang="zh-CN" dirty="0"/>
              <a:t>III and IV only</a:t>
            </a:r>
          </a:p>
          <a:p>
            <a:pPr marL="914400" lvl="1" indent="-457200">
              <a:buFont typeface="+mj-lt"/>
              <a:buAutoNum type="alphaUcPeriod"/>
            </a:pPr>
            <a:r>
              <a:rPr lang="en-US" altLang="zh-CN" dirty="0"/>
              <a:t>I, II and III only</a:t>
            </a:r>
          </a:p>
          <a:p>
            <a:pPr marL="914400" lvl="1" indent="-457200">
              <a:buFont typeface="+mj-lt"/>
              <a:buAutoNum type="alphaUcPeriod"/>
            </a:pPr>
            <a:r>
              <a:rPr lang="en-US" altLang="zh-CN" dirty="0"/>
              <a:t>All of the above</a:t>
            </a:r>
          </a:p>
          <a:p>
            <a:r>
              <a:rPr lang="en-US" altLang="zh-CN" dirty="0">
                <a:solidFill>
                  <a:schemeClr val="tx1"/>
                </a:solidFill>
              </a:rPr>
              <a:t>Correct Answer : C</a:t>
            </a:r>
            <a:endParaRPr lang="zh-CN" altLang="en-US" dirty="0">
              <a:solidFill>
                <a:schemeClr val="tx1"/>
              </a:solidFill>
            </a:endParaRPr>
          </a:p>
          <a:p>
            <a:endParaRPr lang="zh-CN" altLang="en-US" dirty="0">
              <a:latin typeface="+mn-lt"/>
              <a:ea typeface="+mn-ea"/>
              <a:cs typeface="+mn-ea"/>
              <a:sym typeface="+mn-lt"/>
            </a:endParaRPr>
          </a:p>
        </p:txBody>
      </p:sp>
    </p:spTree>
    <p:extLst>
      <p:ext uri="{BB962C8B-B14F-4D97-AF65-F5344CB8AC3E}">
        <p14:creationId xmlns:p14="http://schemas.microsoft.com/office/powerpoint/2010/main" val="341555855"/>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C915B3DB-23F0-4C0F-847F-90F8A2B7726B}"/>
              </a:ext>
            </a:extLst>
          </p:cNvPr>
          <p:cNvSpPr>
            <a:spLocks noGrp="1"/>
          </p:cNvSpPr>
          <p:nvPr>
            <p:ph type="body" sz="quarter" idx="12"/>
          </p:nvPr>
        </p:nvSpPr>
        <p:spPr/>
        <p:txBody>
          <a:bodyPr/>
          <a:lstStyle/>
          <a:p>
            <a:r>
              <a:rPr lang="en-US" altLang="zh-CN" b="0" dirty="0"/>
              <a:t>It's easier to give up, but you won't get anything in the end. It's harder to keep going, but you would get something in the end.</a:t>
            </a:r>
          </a:p>
          <a:p>
            <a:endParaRPr lang="en-US" altLang="zh-CN" b="0" dirty="0"/>
          </a:p>
          <a:p>
            <a:endParaRPr lang="en-US" altLang="zh-CN" b="0" dirty="0"/>
          </a:p>
          <a:p>
            <a:r>
              <a:rPr lang="zh-CN" altLang="en-US" b="0" dirty="0"/>
              <a:t>放弃当然很容易，但你最终什么也得不到。继续当然很难，但你总会得到一些东西。</a:t>
            </a:r>
            <a:endParaRPr lang="zh-CN" altLang="en-US" dirty="0"/>
          </a:p>
        </p:txBody>
      </p:sp>
    </p:spTree>
    <p:extLst>
      <p:ext uri="{BB962C8B-B14F-4D97-AF65-F5344CB8AC3E}">
        <p14:creationId xmlns:p14="http://schemas.microsoft.com/office/powerpoint/2010/main" val="37860178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ne&quot;,&quot;Name&quot;:&quot;无&quot;,&quot;HeaderHeight&quot;:0.0,&quot;FooterHeight&quot;:0.0,&quot;SideMargin&quot;:0.0,&quot;TopMargin&quot;:0.0,&quot;BottomMargin&quot;:0.0,&quot;IntervalMargin&quot;:0.0,&quot;SettingType&quot;:&quot;System&quot;}"/>
</p:tagLst>
</file>

<file path=ppt/theme/theme1.xml><?xml version="1.0" encoding="utf-8"?>
<a:theme xmlns:a="http://schemas.openxmlformats.org/drawingml/2006/main" name="1_Office 主题">
  <a:themeElements>
    <a:clrScheme name="黄绿色">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zv2psjci">
      <a:majorFont>
        <a:latin typeface="Segoe UI"/>
        <a:ea typeface="Microsoft YaHei"/>
        <a:cs typeface=""/>
      </a:majorFont>
      <a:minorFont>
        <a:latin typeface="Segoe U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V4_20190114_金融产品与市场_肖东昊.potx" id="{6D8F0C1A-2176-4CC4-BAF9-AE92C5C368AD}" vid="{DF885EF5-BA1F-4197-B122-81E04FB85622}"/>
    </a:ext>
  </a:extLst>
</a:theme>
</file>

<file path=ppt/theme/theme2.xml><?xml version="1.0" encoding="utf-8"?>
<a:theme xmlns:a="http://schemas.openxmlformats.org/drawingml/2006/main" name="Office 主题">
  <a:themeElements>
    <a:clrScheme name="黄绿色">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zv2psjci">
      <a:majorFont>
        <a:latin typeface="Segoe UI"/>
        <a:ea typeface="Microsoft YaHei"/>
        <a:cs typeface=""/>
      </a:majorFont>
      <a:minorFont>
        <a:latin typeface="Segoe U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V4_20190114_金融产品与市场_肖东昊.potx" id="{6D8F0C1A-2176-4CC4-BAF9-AE92C5C368AD}" vid="{3FDA8FE5-C95C-42E4-A76D-788D8D9DAF3F}"/>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9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66"/>
    </a:hlink>
    <a:folHlink>
      <a:srgbClr val="B2B2B2"/>
    </a:folHlink>
  </a:clrScheme>
  <a:fontScheme name="9_默认设计模板">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9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66"/>
    </a:hlink>
    <a:folHlink>
      <a:srgbClr val="B2B2B2"/>
    </a:folHlink>
  </a:clrScheme>
  <a:fontScheme name="9_默认设计模板">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1803</TotalTime>
  <Words>23221</Words>
  <Application>Microsoft Office PowerPoint</Application>
  <PresentationFormat>宽屏</PresentationFormat>
  <Paragraphs>2970</Paragraphs>
  <Slides>261</Slides>
  <Notes>190</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2</vt:i4>
      </vt:variant>
      <vt:variant>
        <vt:lpstr>幻灯片标题</vt:lpstr>
      </vt:variant>
      <vt:variant>
        <vt:i4>261</vt:i4>
      </vt:variant>
    </vt:vector>
  </HeadingPairs>
  <TitlesOfParts>
    <vt:vector size="277" baseType="lpstr">
      <vt:lpstr>Gill Sans</vt:lpstr>
      <vt:lpstr>Roboto</vt:lpstr>
      <vt:lpstr>等线</vt:lpstr>
      <vt:lpstr>等线</vt:lpstr>
      <vt:lpstr>微软雅黑</vt:lpstr>
      <vt:lpstr>Arial</vt:lpstr>
      <vt:lpstr>Calibri</vt:lpstr>
      <vt:lpstr>Cambria Math</vt:lpstr>
      <vt:lpstr>Impact</vt:lpstr>
      <vt:lpstr>Segoe UI</vt:lpstr>
      <vt:lpstr>Times New Roman</vt:lpstr>
      <vt:lpstr>Wingdings</vt:lpstr>
      <vt:lpstr>1_Office 主题</vt:lpstr>
      <vt:lpstr>Office 主题</vt:lpstr>
      <vt:lpstr>Equation</vt:lpstr>
      <vt:lpstr>MathType 6.0 Equation</vt:lpstr>
      <vt:lpstr>Valuation and Risk Models</vt:lpstr>
      <vt:lpstr>Topic Weightings in FRM Part I </vt:lpstr>
      <vt:lpstr>PowerPoint 演示文稿</vt:lpstr>
      <vt:lpstr>PowerPoint 演示文稿</vt:lpstr>
      <vt:lpstr>PowerPoint 演示文稿</vt:lpstr>
      <vt:lpstr>Binomial Trees</vt:lpstr>
      <vt:lpstr>Binomial Trees</vt:lpstr>
      <vt:lpstr>Binomial Trees</vt:lpstr>
      <vt:lpstr>Binomial Trees</vt:lpstr>
      <vt:lpstr>Binomial Trees</vt:lpstr>
      <vt:lpstr>Binomial Trees</vt:lpstr>
      <vt:lpstr>Binomial Trees</vt:lpstr>
      <vt:lpstr>Binomial Trees</vt:lpstr>
      <vt:lpstr>Binomial Trees</vt:lpstr>
      <vt:lpstr>Binomial Trees</vt:lpstr>
      <vt:lpstr>Binomial Trees</vt:lpstr>
      <vt:lpstr>Binomial Trees</vt:lpstr>
      <vt:lpstr>Binomial Trees</vt:lpstr>
      <vt:lpstr>Binomial Trees</vt:lpstr>
      <vt:lpstr>Binomial Trees</vt:lpstr>
      <vt:lpstr>Binomial Trees</vt:lpstr>
      <vt:lpstr>Binomial Trees</vt:lpstr>
      <vt:lpstr>Binomial Trees</vt:lpstr>
      <vt:lpstr>Binomial Trees</vt:lpstr>
      <vt:lpstr>Binomial Trees</vt:lpstr>
      <vt:lpstr>Black-Scholes-Merton Model</vt:lpstr>
      <vt:lpstr>Black-Scholes-Merton Model</vt:lpstr>
      <vt:lpstr>Black-Scholes-Merton Model</vt:lpstr>
      <vt:lpstr>Black-Scholes-Merton Model</vt:lpstr>
      <vt:lpstr>Black-Scholes-Merton Model</vt:lpstr>
      <vt:lpstr>Black-Scholes-Merton Model</vt:lpstr>
      <vt:lpstr>Black-Scholes-Merton Model</vt:lpstr>
      <vt:lpstr>Black-Scholes-Merton Model</vt:lpstr>
      <vt:lpstr>Black-Scholes-Merton Model</vt:lpstr>
      <vt:lpstr>Black-Scholes-Merton Model</vt:lpstr>
      <vt:lpstr>Black-Scholes-Merton Model</vt:lpstr>
      <vt:lpstr>Black-Scholes-Merton Model</vt:lpstr>
      <vt:lpstr>Black-Scholes-Merton Model</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The Greek Letters</vt:lpstr>
      <vt:lpstr>PowerPoint 演示文稿</vt:lpstr>
      <vt:lpstr>PowerPoint 演示文稿</vt:lpstr>
      <vt:lpstr>Reviews</vt:lpstr>
      <vt:lpstr>Reviews</vt:lpstr>
      <vt:lpstr>Reviews</vt:lpstr>
      <vt:lpstr>Reviews</vt:lpstr>
      <vt:lpstr>Spot, Forward and Par Rates</vt:lpstr>
      <vt:lpstr>Spot, Forward and Par Rates</vt:lpstr>
      <vt:lpstr>Spot, Forward and Par Rates</vt:lpstr>
      <vt:lpstr>Spot, Forward and Par Rates</vt:lpstr>
      <vt:lpstr>Spot, Forward and Par Rates</vt:lpstr>
      <vt:lpstr>Spot, Forward and Par Rates</vt:lpstr>
      <vt:lpstr>Spot, Forward and Par Rates</vt:lpstr>
      <vt:lpstr>Spot, Forward and Par Rates</vt:lpstr>
      <vt:lpstr>Spot, Forward and Par Rates</vt:lpstr>
      <vt:lpstr>Valuation</vt:lpstr>
      <vt:lpstr>Valuation</vt:lpstr>
      <vt:lpstr>Valuation</vt:lpstr>
      <vt:lpstr>Valuation</vt:lpstr>
      <vt:lpstr>Valuation</vt:lpstr>
      <vt:lpstr>Valuation</vt:lpstr>
      <vt:lpstr>Valuation</vt:lpstr>
      <vt:lpstr>Valuation</vt:lpstr>
      <vt:lpstr>Valuation</vt:lpstr>
      <vt:lpstr>Returns, Spreads and Yields</vt:lpstr>
      <vt:lpstr>Returns, Spreads and Yields</vt:lpstr>
      <vt:lpstr>Returns, Spreads and Yields</vt:lpstr>
      <vt:lpstr>Returns, Spreads and Yields</vt:lpstr>
      <vt:lpstr>Returns, Spreads and Yields</vt:lpstr>
      <vt:lpstr>Returns, Spreads and Yields</vt:lpstr>
      <vt:lpstr>Returns, Spreads and Yields</vt:lpstr>
      <vt:lpstr>Returns, Spreads and Yields</vt:lpstr>
      <vt:lpstr>Returns, Spreads and Yields</vt:lpstr>
      <vt:lpstr>Returns, Spreads and Yields</vt:lpstr>
      <vt:lpstr>Returns, Spreads and Yields</vt:lpstr>
      <vt:lpstr>Returns, Spreads and Yields</vt:lpstr>
      <vt:lpstr>Returns, Spreads and Yields</vt:lpstr>
      <vt:lpstr>Returns, Spreads and Yields</vt:lpstr>
      <vt:lpstr>Returns, Spreads and Yields</vt:lpstr>
      <vt:lpstr>Returns, Spreads and Yields</vt:lpstr>
      <vt:lpstr>Bond Replication</vt:lpstr>
      <vt:lpstr>Bond Replication</vt:lpstr>
      <vt:lpstr>Bond Replication</vt:lpstr>
      <vt:lpstr>Bond Replication</vt:lpstr>
      <vt:lpstr>Bond Replication</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One-Factor Risk Metrics and Hedges </vt:lpstr>
      <vt:lpstr>Multi-Factor Risk Metrics and Hedges </vt:lpstr>
      <vt:lpstr>Multi-Factor Risk Metrics and Hedges </vt:lpstr>
      <vt:lpstr>Multi-Factor Risk Metrics and Hedges </vt:lpstr>
      <vt:lpstr>Multi-Factor Risk Metrics and Hedges </vt:lpstr>
      <vt:lpstr>Multi-Factor Risk Metrics and Hedges </vt:lpstr>
      <vt:lpstr>Multi-Factor Risk Metrics and Hedges </vt:lpstr>
      <vt:lpstr>Multi-Factor Risk Metrics and Hedges </vt:lpstr>
      <vt:lpstr>Multi-Factor Risk Metrics and Hedges </vt:lpstr>
      <vt:lpstr>Multi-Factor Risk Metrics and Hedges </vt:lpstr>
      <vt:lpstr>Multi-Factor Risk Metrics and Hedges </vt:lpstr>
      <vt:lpstr>Multi-Factor Risk Metrics and Hedges </vt:lpstr>
      <vt:lpstr>PowerPoint 演示文稿</vt:lpstr>
      <vt:lpstr>PowerPoint 演示文稿</vt:lpstr>
      <vt:lpstr>Measures of Financial Risk</vt:lpstr>
      <vt:lpstr>Measures of Financial Risk</vt:lpstr>
      <vt:lpstr>Measures of Financial Risk</vt:lpstr>
      <vt:lpstr>Measures of Financial Risk</vt:lpstr>
      <vt:lpstr>Measures of Financial Risk</vt:lpstr>
      <vt:lpstr>Measures of Financial Risk</vt:lpstr>
      <vt:lpstr>Measures of Financial Risk</vt:lpstr>
      <vt:lpstr>Measures of Financial Risk</vt:lpstr>
      <vt:lpstr>Measures of Financial Risk</vt:lpstr>
      <vt:lpstr>Measures of Financial Risk</vt:lpstr>
      <vt:lpstr>Measures of Financial Risk</vt:lpstr>
      <vt:lpstr>Measures of Financial Risk</vt:lpstr>
      <vt:lpstr>Putting VaR to Work</vt:lpstr>
      <vt:lpstr>Putting VaR to Work</vt:lpstr>
      <vt:lpstr>Putting VaR to Work</vt:lpstr>
      <vt:lpstr>Putting VaR to Work</vt:lpstr>
      <vt:lpstr>Putting VaR to Work</vt:lpstr>
      <vt:lpstr>Putting VaR to Work</vt:lpstr>
      <vt:lpstr>Putting VaR to Work</vt:lpstr>
      <vt:lpstr>Putting VaR to Work</vt:lpstr>
      <vt:lpstr>Putting VaR to Work</vt:lpstr>
      <vt:lpstr>Quantifying Volatility in VaR Models</vt:lpstr>
      <vt:lpstr>Quantifying Volatility in VaR Models</vt:lpstr>
      <vt:lpstr>Quantifying Volatility in VaR Models</vt:lpstr>
      <vt:lpstr>Quantifying Volatility in VaR Models</vt:lpstr>
      <vt:lpstr>Quantifying Volatility in VaR Models</vt:lpstr>
      <vt:lpstr>Quantifying Volatility in VaR Models</vt:lpstr>
      <vt:lpstr>Quantifying Volatility in VaR Models</vt:lpstr>
      <vt:lpstr>Quantifying Volatility in VaR Models</vt:lpstr>
      <vt:lpstr>Quantifying Volatility in VaR Models</vt:lpstr>
      <vt:lpstr>Quantifying Volatility in VaR Models</vt:lpstr>
      <vt:lpstr>Quantifying Volatility in VaR Models</vt:lpstr>
      <vt:lpstr>Quantifying Volatility in VaR Models</vt:lpstr>
      <vt:lpstr>Quantifying Volatility in VaR Models</vt:lpstr>
      <vt:lpstr>Quantifying Volatility in VaR Models</vt:lpstr>
      <vt:lpstr>Quantifying Volatility in VaR Models</vt:lpstr>
      <vt:lpstr>PowerPoint 演示文稿</vt:lpstr>
      <vt:lpstr>PowerPoint 演示文稿</vt:lpstr>
      <vt:lpstr>External and Internal Ratings</vt:lpstr>
      <vt:lpstr>External and Internal Ratings</vt:lpstr>
      <vt:lpstr>External and Internal Ratings</vt:lpstr>
      <vt:lpstr>External and Internal Ratings</vt:lpstr>
      <vt:lpstr>External and Internal Ratings</vt:lpstr>
      <vt:lpstr>External and Internal Ratings</vt:lpstr>
      <vt:lpstr>External and Internal Ratings</vt:lpstr>
      <vt:lpstr>External and Internal Ratings</vt:lpstr>
      <vt:lpstr>External and Internal Ratings</vt:lpstr>
      <vt:lpstr>External and Internal Ratings</vt:lpstr>
      <vt:lpstr>External and Internal Ratings</vt:lpstr>
      <vt:lpstr>Capital Structure in Banks</vt:lpstr>
      <vt:lpstr>Capital Structure in Banks</vt:lpstr>
      <vt:lpstr>Capital Structure in Banks</vt:lpstr>
      <vt:lpstr>Capital Structure in Banks</vt:lpstr>
      <vt:lpstr>Capital Structure in Banks</vt:lpstr>
      <vt:lpstr>Capital Structure in Banks</vt:lpstr>
      <vt:lpstr>Capital Structure in Banks</vt:lpstr>
      <vt:lpstr>Capital Structure in Banks</vt:lpstr>
      <vt:lpstr>Capital Structure in Banks</vt:lpstr>
      <vt:lpstr>Capital Structure in Banks</vt:lpstr>
      <vt:lpstr>Country Risk</vt:lpstr>
      <vt:lpstr>Country Risk</vt:lpstr>
      <vt:lpstr>Country Risk</vt:lpstr>
      <vt:lpstr>Country Risk</vt:lpstr>
      <vt:lpstr>Country Risk</vt:lpstr>
      <vt:lpstr>Country Risk</vt:lpstr>
      <vt:lpstr>Country Risk</vt:lpstr>
      <vt:lpstr>Country Risk</vt:lpstr>
      <vt:lpstr>Country Risk</vt:lpstr>
      <vt:lpstr>Country Risk</vt:lpstr>
      <vt:lpstr>Country Risk</vt:lpstr>
      <vt:lpstr>Country Risk</vt:lpstr>
      <vt:lpstr>Country Risk</vt:lpstr>
      <vt:lpstr>Country Risk</vt:lpstr>
      <vt:lpstr>Country Risk</vt:lpstr>
      <vt:lpstr>Country Risk</vt:lpstr>
      <vt:lpstr>Country Risk</vt:lpstr>
      <vt:lpstr>Country Risk</vt:lpstr>
      <vt:lpstr>PowerPoint 演示文稿</vt:lpstr>
      <vt:lpstr>Operational Risk</vt:lpstr>
      <vt:lpstr>Operational Risk</vt:lpstr>
      <vt:lpstr>Operational Risk</vt:lpstr>
      <vt:lpstr>Operational Risk</vt:lpstr>
      <vt:lpstr>Operational Risk</vt:lpstr>
      <vt:lpstr>Operational Risk</vt:lpstr>
      <vt:lpstr>Operational Risk</vt:lpstr>
      <vt:lpstr>Operational Risk</vt:lpstr>
      <vt:lpstr>Operational Risk</vt:lpstr>
      <vt:lpstr>Operational Risk</vt:lpstr>
      <vt:lpstr>Operational Risk</vt:lpstr>
      <vt:lpstr>Operational Risk</vt:lpstr>
      <vt:lpstr>Operational Risk</vt:lpstr>
      <vt:lpstr>Operational Risk</vt:lpstr>
      <vt:lpstr>PowerPoint 演示文稿</vt:lpstr>
      <vt:lpstr>PowerPoint 演示文稿</vt:lpstr>
      <vt:lpstr>Stress Testing</vt:lpstr>
      <vt:lpstr>Stress Testing</vt:lpstr>
      <vt:lpstr>Stress Testing</vt:lpstr>
      <vt:lpstr>Stress Testing</vt:lpstr>
      <vt:lpstr>Stress Testing</vt:lpstr>
      <vt:lpstr>Stress Testing</vt:lpstr>
      <vt:lpstr>Stress Testing</vt:lpstr>
      <vt:lpstr>Stress Testing</vt:lpstr>
      <vt:lpstr>Stress Testing</vt:lpstr>
      <vt:lpstr>Stress Testing</vt:lpstr>
      <vt:lpstr>Stress Testing</vt:lpstr>
      <vt:lpstr>Governance over Stress Testing</vt:lpstr>
      <vt:lpstr>Governance over Stress Testing</vt:lpstr>
      <vt:lpstr>Governance over Stress Testing</vt:lpstr>
      <vt:lpstr>Governance over Stress Testing</vt:lpstr>
      <vt:lpstr>Governance over Stress Testing</vt:lpstr>
      <vt:lpstr>Governance over Stress Testing</vt:lpstr>
      <vt:lpstr>Governance over Stress Testing</vt:lpstr>
      <vt:lpstr>Governance over Stress Testing</vt:lpstr>
      <vt:lpstr>Governance over Stress Testing</vt:lpstr>
      <vt:lpstr>Governance over Stress Testing</vt:lpstr>
      <vt:lpstr>Stress Testing and Other Risk-Management Tools</vt:lpstr>
      <vt:lpstr>Stress Testing and Other Risk-Management Tools</vt:lpstr>
      <vt:lpstr>Stress Testing and Other Risk-Management Tools</vt:lpstr>
      <vt:lpstr>Stress Testing and Other Risk-Management Tools</vt:lpstr>
      <vt:lpstr>Stress Testing and Other Risk-Management Tools</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Market and Product</dc:title>
  <dc:creator>金程教育</dc:creator>
  <cp:lastModifiedBy>王天宇</cp:lastModifiedBy>
  <cp:revision>360</cp:revision>
  <dcterms:created xsi:type="dcterms:W3CDTF">2019-01-09T02:03:23Z</dcterms:created>
  <dcterms:modified xsi:type="dcterms:W3CDTF">2019-03-14T12:32:22Z</dcterms:modified>
</cp:coreProperties>
</file>