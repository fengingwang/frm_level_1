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228"/>
  </p:notesMasterIdLst>
  <p:handoutMasterIdLst>
    <p:handoutMasterId r:id="rId229"/>
  </p:handoutMasterIdLst>
  <p:sldIdLst>
    <p:sldId id="351" r:id="rId3"/>
    <p:sldId id="258" r:id="rId4"/>
    <p:sldId id="259" r:id="rId5"/>
    <p:sldId id="285" r:id="rId6"/>
    <p:sldId id="261" r:id="rId7"/>
    <p:sldId id="264" r:id="rId8"/>
    <p:sldId id="263" r:id="rId9"/>
    <p:sldId id="269" r:id="rId10"/>
    <p:sldId id="699" r:id="rId11"/>
    <p:sldId id="270" r:id="rId12"/>
    <p:sldId id="700" r:id="rId13"/>
    <p:sldId id="266" r:id="rId14"/>
    <p:sldId id="265" r:id="rId15"/>
    <p:sldId id="703" r:id="rId16"/>
    <p:sldId id="704" r:id="rId17"/>
    <p:sldId id="705" r:id="rId18"/>
    <p:sldId id="706" r:id="rId19"/>
    <p:sldId id="707" r:id="rId20"/>
    <p:sldId id="709" r:id="rId21"/>
    <p:sldId id="710" r:id="rId22"/>
    <p:sldId id="708" r:id="rId23"/>
    <p:sldId id="711" r:id="rId24"/>
    <p:sldId id="712" r:id="rId25"/>
    <p:sldId id="714" r:id="rId26"/>
    <p:sldId id="713" r:id="rId27"/>
    <p:sldId id="715" r:id="rId28"/>
    <p:sldId id="716" r:id="rId29"/>
    <p:sldId id="717" r:id="rId30"/>
    <p:sldId id="718" r:id="rId31"/>
    <p:sldId id="719" r:id="rId32"/>
    <p:sldId id="720" r:id="rId33"/>
    <p:sldId id="721" r:id="rId34"/>
    <p:sldId id="722" r:id="rId35"/>
    <p:sldId id="723" r:id="rId36"/>
    <p:sldId id="724" r:id="rId37"/>
    <p:sldId id="725" r:id="rId38"/>
    <p:sldId id="726" r:id="rId39"/>
    <p:sldId id="727" r:id="rId40"/>
    <p:sldId id="932" r:id="rId41"/>
    <p:sldId id="729" r:id="rId42"/>
    <p:sldId id="730" r:id="rId43"/>
    <p:sldId id="731" r:id="rId44"/>
    <p:sldId id="732" r:id="rId45"/>
    <p:sldId id="733" r:id="rId46"/>
    <p:sldId id="734" r:id="rId47"/>
    <p:sldId id="735" r:id="rId48"/>
    <p:sldId id="736" r:id="rId49"/>
    <p:sldId id="738" r:id="rId50"/>
    <p:sldId id="740" r:id="rId51"/>
    <p:sldId id="739" r:id="rId52"/>
    <p:sldId id="741" r:id="rId53"/>
    <p:sldId id="743" r:id="rId54"/>
    <p:sldId id="744" r:id="rId55"/>
    <p:sldId id="745" r:id="rId56"/>
    <p:sldId id="746" r:id="rId57"/>
    <p:sldId id="747" r:id="rId58"/>
    <p:sldId id="742" r:id="rId59"/>
    <p:sldId id="748" r:id="rId60"/>
    <p:sldId id="749" r:id="rId61"/>
    <p:sldId id="750" r:id="rId62"/>
    <p:sldId id="751" r:id="rId63"/>
    <p:sldId id="752" r:id="rId64"/>
    <p:sldId id="753" r:id="rId65"/>
    <p:sldId id="754" r:id="rId66"/>
    <p:sldId id="755" r:id="rId67"/>
    <p:sldId id="756" r:id="rId68"/>
    <p:sldId id="757" r:id="rId69"/>
    <p:sldId id="758" r:id="rId70"/>
    <p:sldId id="759" r:id="rId71"/>
    <p:sldId id="760" r:id="rId72"/>
    <p:sldId id="761" r:id="rId73"/>
    <p:sldId id="762" r:id="rId74"/>
    <p:sldId id="763" r:id="rId75"/>
    <p:sldId id="764" r:id="rId76"/>
    <p:sldId id="771" r:id="rId77"/>
    <p:sldId id="765" r:id="rId78"/>
    <p:sldId id="772" r:id="rId79"/>
    <p:sldId id="773" r:id="rId80"/>
    <p:sldId id="766" r:id="rId81"/>
    <p:sldId id="774" r:id="rId82"/>
    <p:sldId id="775" r:id="rId83"/>
    <p:sldId id="767" r:id="rId84"/>
    <p:sldId id="768" r:id="rId85"/>
    <p:sldId id="769" r:id="rId86"/>
    <p:sldId id="776" r:id="rId87"/>
    <p:sldId id="770" r:id="rId88"/>
    <p:sldId id="777" r:id="rId89"/>
    <p:sldId id="778" r:id="rId90"/>
    <p:sldId id="779" r:id="rId91"/>
    <p:sldId id="780" r:id="rId92"/>
    <p:sldId id="781" r:id="rId93"/>
    <p:sldId id="782" r:id="rId94"/>
    <p:sldId id="783" r:id="rId95"/>
    <p:sldId id="784" r:id="rId96"/>
    <p:sldId id="785" r:id="rId97"/>
    <p:sldId id="786" r:id="rId98"/>
    <p:sldId id="793" r:id="rId99"/>
    <p:sldId id="794" r:id="rId100"/>
    <p:sldId id="795" r:id="rId101"/>
    <p:sldId id="796" r:id="rId102"/>
    <p:sldId id="797" r:id="rId103"/>
    <p:sldId id="801" r:id="rId104"/>
    <p:sldId id="799" r:id="rId105"/>
    <p:sldId id="787" r:id="rId106"/>
    <p:sldId id="788" r:id="rId107"/>
    <p:sldId id="789" r:id="rId108"/>
    <p:sldId id="790" r:id="rId109"/>
    <p:sldId id="791" r:id="rId110"/>
    <p:sldId id="802" r:id="rId111"/>
    <p:sldId id="803" r:id="rId112"/>
    <p:sldId id="805" r:id="rId113"/>
    <p:sldId id="806" r:id="rId114"/>
    <p:sldId id="807" r:id="rId115"/>
    <p:sldId id="808" r:id="rId116"/>
    <p:sldId id="809" r:id="rId117"/>
    <p:sldId id="810" r:id="rId118"/>
    <p:sldId id="811" r:id="rId119"/>
    <p:sldId id="812" r:id="rId120"/>
    <p:sldId id="860" r:id="rId121"/>
    <p:sldId id="814" r:id="rId122"/>
    <p:sldId id="815" r:id="rId123"/>
    <p:sldId id="818" r:id="rId124"/>
    <p:sldId id="819" r:id="rId125"/>
    <p:sldId id="816" r:id="rId126"/>
    <p:sldId id="820" r:id="rId127"/>
    <p:sldId id="821" r:id="rId128"/>
    <p:sldId id="822" r:id="rId129"/>
    <p:sldId id="823" r:id="rId130"/>
    <p:sldId id="824" r:id="rId131"/>
    <p:sldId id="825" r:id="rId132"/>
    <p:sldId id="826" r:id="rId133"/>
    <p:sldId id="827" r:id="rId134"/>
    <p:sldId id="828" r:id="rId135"/>
    <p:sldId id="829" r:id="rId136"/>
    <p:sldId id="830" r:id="rId137"/>
    <p:sldId id="831" r:id="rId138"/>
    <p:sldId id="832" r:id="rId139"/>
    <p:sldId id="833" r:id="rId140"/>
    <p:sldId id="834" r:id="rId141"/>
    <p:sldId id="835" r:id="rId142"/>
    <p:sldId id="839" r:id="rId143"/>
    <p:sldId id="836" r:id="rId144"/>
    <p:sldId id="837" r:id="rId145"/>
    <p:sldId id="840" r:id="rId146"/>
    <p:sldId id="838" r:id="rId147"/>
    <p:sldId id="841" r:id="rId148"/>
    <p:sldId id="842" r:id="rId149"/>
    <p:sldId id="849" r:id="rId150"/>
    <p:sldId id="843" r:id="rId151"/>
    <p:sldId id="850" r:id="rId152"/>
    <p:sldId id="851" r:id="rId153"/>
    <p:sldId id="852" r:id="rId154"/>
    <p:sldId id="853" r:id="rId155"/>
    <p:sldId id="854" r:id="rId156"/>
    <p:sldId id="855" r:id="rId157"/>
    <p:sldId id="844" r:id="rId158"/>
    <p:sldId id="856" r:id="rId159"/>
    <p:sldId id="845" r:id="rId160"/>
    <p:sldId id="857" r:id="rId161"/>
    <p:sldId id="858" r:id="rId162"/>
    <p:sldId id="846" r:id="rId163"/>
    <p:sldId id="861" r:id="rId164"/>
    <p:sldId id="862" r:id="rId165"/>
    <p:sldId id="863" r:id="rId166"/>
    <p:sldId id="864" r:id="rId167"/>
    <p:sldId id="865" r:id="rId168"/>
    <p:sldId id="866" r:id="rId169"/>
    <p:sldId id="848" r:id="rId170"/>
    <p:sldId id="867" r:id="rId171"/>
    <p:sldId id="868" r:id="rId172"/>
    <p:sldId id="869" r:id="rId173"/>
    <p:sldId id="870" r:id="rId174"/>
    <p:sldId id="876" r:id="rId175"/>
    <p:sldId id="871" r:id="rId176"/>
    <p:sldId id="877" r:id="rId177"/>
    <p:sldId id="878" r:id="rId178"/>
    <p:sldId id="879" r:id="rId179"/>
    <p:sldId id="880" r:id="rId180"/>
    <p:sldId id="872" r:id="rId181"/>
    <p:sldId id="881" r:id="rId182"/>
    <p:sldId id="882" r:id="rId183"/>
    <p:sldId id="883" r:id="rId184"/>
    <p:sldId id="884" r:id="rId185"/>
    <p:sldId id="885" r:id="rId186"/>
    <p:sldId id="873" r:id="rId187"/>
    <p:sldId id="886" r:id="rId188"/>
    <p:sldId id="887" r:id="rId189"/>
    <p:sldId id="890" r:id="rId190"/>
    <p:sldId id="888" r:id="rId191"/>
    <p:sldId id="889" r:id="rId192"/>
    <p:sldId id="891" r:id="rId193"/>
    <p:sldId id="892" r:id="rId194"/>
    <p:sldId id="874" r:id="rId195"/>
    <p:sldId id="875" r:id="rId196"/>
    <p:sldId id="893" r:id="rId197"/>
    <p:sldId id="894" r:id="rId198"/>
    <p:sldId id="901" r:id="rId199"/>
    <p:sldId id="902" r:id="rId200"/>
    <p:sldId id="903" r:id="rId201"/>
    <p:sldId id="907" r:id="rId202"/>
    <p:sldId id="908" r:id="rId203"/>
    <p:sldId id="904" r:id="rId204"/>
    <p:sldId id="909" r:id="rId205"/>
    <p:sldId id="910" r:id="rId206"/>
    <p:sldId id="905" r:id="rId207"/>
    <p:sldId id="911" r:id="rId208"/>
    <p:sldId id="912" r:id="rId209"/>
    <p:sldId id="913" r:id="rId210"/>
    <p:sldId id="906" r:id="rId211"/>
    <p:sldId id="914" r:id="rId212"/>
    <p:sldId id="919" r:id="rId213"/>
    <p:sldId id="920" r:id="rId214"/>
    <p:sldId id="921" r:id="rId215"/>
    <p:sldId id="922" r:id="rId216"/>
    <p:sldId id="923" r:id="rId217"/>
    <p:sldId id="924" r:id="rId218"/>
    <p:sldId id="925" r:id="rId219"/>
    <p:sldId id="926" r:id="rId220"/>
    <p:sldId id="927" r:id="rId221"/>
    <p:sldId id="928" r:id="rId222"/>
    <p:sldId id="929" r:id="rId223"/>
    <p:sldId id="930" r:id="rId224"/>
    <p:sldId id="915" r:id="rId225"/>
    <p:sldId id="916" r:id="rId226"/>
    <p:sldId id="933" r:id="rId227"/>
  </p:sldIdLst>
  <p:sldSz cx="12192000" cy="6858000"/>
  <p:notesSz cx="6858000" cy="9144000"/>
  <p:custDataLst>
    <p:tags r:id="rId2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4E5D"/>
    <a:srgbClr val="FFECD9"/>
    <a:srgbClr val="FFD7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6" autoAdjust="0"/>
    <p:restoredTop sz="94331" autoAdjust="0"/>
  </p:normalViewPr>
  <p:slideViewPr>
    <p:cSldViewPr snapToGrid="0">
      <p:cViewPr varScale="1">
        <p:scale>
          <a:sx n="42" d="100"/>
          <a:sy n="42" d="100"/>
        </p:scale>
        <p:origin x="894" y="66"/>
      </p:cViewPr>
      <p:guideLst>
        <p:guide orient="horz" pos="2160"/>
        <p:guide pos="3840"/>
      </p:guideLst>
    </p:cSldViewPr>
  </p:slideViewPr>
  <p:notesTextViewPr>
    <p:cViewPr>
      <p:scale>
        <a:sx n="1" d="1"/>
        <a:sy n="1" d="1"/>
      </p:scale>
      <p:origin x="0" y="0"/>
    </p:cViewPr>
  </p:notesTextViewPr>
  <p:sorterViewPr>
    <p:cViewPr>
      <p:scale>
        <a:sx n="20" d="100"/>
        <a:sy n="20" d="100"/>
      </p:scale>
      <p:origin x="0" y="0"/>
    </p:cViewPr>
  </p:sorterViewPr>
  <p:notesViewPr>
    <p:cSldViewPr snapToGrid="0">
      <p:cViewPr varScale="1">
        <p:scale>
          <a:sx n="54" d="100"/>
          <a:sy n="54" d="100"/>
        </p:scale>
        <p:origin x="-291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slide" Target="slides/slide190.xml"/><Relationship Id="rId197" Type="http://schemas.openxmlformats.org/officeDocument/2006/relationships/slide" Target="slides/slide195.xml"/><Relationship Id="rId206" Type="http://schemas.openxmlformats.org/officeDocument/2006/relationships/slide" Target="slides/slide204.xml"/><Relationship Id="rId227" Type="http://schemas.openxmlformats.org/officeDocument/2006/relationships/slide" Target="slides/slide225.xml"/><Relationship Id="rId201" Type="http://schemas.openxmlformats.org/officeDocument/2006/relationships/slide" Target="slides/slide199.xml"/><Relationship Id="rId222" Type="http://schemas.openxmlformats.org/officeDocument/2006/relationships/slide" Target="slides/slide220.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217" Type="http://schemas.openxmlformats.org/officeDocument/2006/relationships/slide" Target="slides/slide215.xml"/><Relationship Id="rId1" Type="http://schemas.openxmlformats.org/officeDocument/2006/relationships/slideMaster" Target="slideMasters/slideMaster1.xml"/><Relationship Id="rId6" Type="http://schemas.openxmlformats.org/officeDocument/2006/relationships/slide" Target="slides/slide4.xml"/><Relationship Id="rId212" Type="http://schemas.openxmlformats.org/officeDocument/2006/relationships/slide" Target="slides/slide210.xml"/><Relationship Id="rId233" Type="http://schemas.openxmlformats.org/officeDocument/2006/relationships/theme" Target="theme/theme1.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slide" Target="slides/slide205.xml"/><Relationship Id="rId223" Type="http://schemas.openxmlformats.org/officeDocument/2006/relationships/slide" Target="slides/slide221.xml"/><Relationship Id="rId228" Type="http://schemas.openxmlformats.org/officeDocument/2006/relationships/notesMaster" Target="notesMasters/notes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34"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229" Type="http://schemas.openxmlformats.org/officeDocument/2006/relationships/handoutMaster" Target="handoutMasters/handoutMaster1.xml"/><Relationship Id="rId19" Type="http://schemas.openxmlformats.org/officeDocument/2006/relationships/slide" Target="slides/slide17.xml"/><Relationship Id="rId224" Type="http://schemas.openxmlformats.org/officeDocument/2006/relationships/slide" Target="slides/slide222.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30" Type="http://schemas.openxmlformats.org/officeDocument/2006/relationships/tags" Target="tags/tag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6" Type="http://schemas.openxmlformats.org/officeDocument/2006/relationships/slide" Target="slides/slide24.xml"/><Relationship Id="rId231" Type="http://schemas.openxmlformats.org/officeDocument/2006/relationships/presProps" Target="presProps.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FD298-C7A3-43C5-8990-873731D226A5}" type="datetimeFigureOut">
              <a:rPr lang="zh-CN" altLang="en-US" smtClean="0"/>
              <a:t>2019/4/9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8DA305-A548-4FB6-A4B0-337B2B9E8DDB}" type="slidenum">
              <a:rPr lang="zh-CN" altLang="en-US" smtClean="0"/>
              <a:t>‹#›</a:t>
            </a:fld>
            <a:endParaRPr lang="zh-CN" altLang="en-US"/>
          </a:p>
        </p:txBody>
      </p:sp>
    </p:spTree>
    <p:extLst>
      <p:ext uri="{BB962C8B-B14F-4D97-AF65-F5344CB8AC3E}">
        <p14:creationId xmlns:p14="http://schemas.microsoft.com/office/powerpoint/2010/main" val="11402469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B3421-B99B-4B5C-82C9-A3B0C4AC91F7}" type="datetimeFigureOut">
              <a:rPr lang="zh-CN" altLang="en-US" smtClean="0"/>
              <a:t>2019/4/9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81161-460F-4A2D-B57E-C43B8FD67BE1}" type="slidenum">
              <a:rPr lang="zh-CN" altLang="en-US" smtClean="0"/>
              <a:t>‹#›</a:t>
            </a:fld>
            <a:endParaRPr lang="zh-CN" altLang="en-US"/>
          </a:p>
        </p:txBody>
      </p:sp>
    </p:spTree>
    <p:extLst>
      <p:ext uri="{BB962C8B-B14F-4D97-AF65-F5344CB8AC3E}">
        <p14:creationId xmlns:p14="http://schemas.microsoft.com/office/powerpoint/2010/main" val="4598156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3</a:t>
            </a:fld>
            <a:endParaRPr lang="zh-CN" altLang="en-US"/>
          </a:p>
        </p:txBody>
      </p:sp>
    </p:spTree>
    <p:extLst>
      <p:ext uri="{BB962C8B-B14F-4D97-AF65-F5344CB8AC3E}">
        <p14:creationId xmlns:p14="http://schemas.microsoft.com/office/powerpoint/2010/main" val="1758656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科目">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grpSp>
        <p:nvGrpSpPr>
          <p:cNvPr id="9" name="组合 8">
            <a:extLst>
              <a:ext uri="{FF2B5EF4-FFF2-40B4-BE49-F238E27FC236}">
                <a16:creationId xmlns:a16="http://schemas.microsoft.com/office/drawing/2014/main" xmlns="" id="{0412969C-5F90-4E96-B585-14A6E1954127}"/>
              </a:ext>
            </a:extLst>
          </p:cNvPr>
          <p:cNvGrpSpPr/>
          <p:nvPr userDrawn="1"/>
        </p:nvGrpSpPr>
        <p:grpSpPr>
          <a:xfrm>
            <a:off x="0" y="2388291"/>
            <a:ext cx="4433455" cy="4559212"/>
            <a:chOff x="0" y="1814946"/>
            <a:chExt cx="4990985" cy="5132557"/>
          </a:xfrm>
        </p:grpSpPr>
        <p:grpSp>
          <p:nvGrpSpPr>
            <p:cNvPr id="10" name="组合 9">
              <a:extLst>
                <a:ext uri="{FF2B5EF4-FFF2-40B4-BE49-F238E27FC236}">
                  <a16:creationId xmlns:a16="http://schemas.microsoft.com/office/drawing/2014/main" xmlns="" id="{36904DEF-A29B-4827-B6E3-FFD7CF540525}"/>
                </a:ext>
              </a:extLst>
            </p:cNvPr>
            <p:cNvGrpSpPr/>
            <p:nvPr userDrawn="1"/>
          </p:nvGrpSpPr>
          <p:grpSpPr>
            <a:xfrm>
              <a:off x="0" y="1814946"/>
              <a:ext cx="3698628" cy="3693247"/>
              <a:chOff x="-33357" y="2313710"/>
              <a:chExt cx="3375724" cy="3370813"/>
            </a:xfrm>
          </p:grpSpPr>
          <p:sp>
            <p:nvSpPr>
              <p:cNvPr id="34" name="Freeform 5">
                <a:extLst>
                  <a:ext uri="{FF2B5EF4-FFF2-40B4-BE49-F238E27FC236}">
                    <a16:creationId xmlns:a16="http://schemas.microsoft.com/office/drawing/2014/main" xmlns="" id="{05BF9A91-9553-4FEE-9DD0-D84C357EBDCE}"/>
                  </a:ext>
                </a:extLst>
              </p:cNvPr>
              <p:cNvSpPr>
                <a:spLocks/>
              </p:cNvSpPr>
              <p:nvPr userDrawn="1"/>
            </p:nvSpPr>
            <p:spPr bwMode="auto">
              <a:xfrm>
                <a:off x="-33357" y="2313710"/>
                <a:ext cx="3375724" cy="3370813"/>
              </a:xfrm>
              <a:custGeom>
                <a:avLst/>
                <a:gdLst>
                  <a:gd name="T0" fmla="*/ 0 w 2062"/>
                  <a:gd name="T1" fmla="*/ 555 h 2059"/>
                  <a:gd name="T2" fmla="*/ 2062 w 2062"/>
                  <a:gd name="T3" fmla="*/ 0 h 2059"/>
                  <a:gd name="T4" fmla="*/ 1512 w 2062"/>
                  <a:gd name="T5" fmla="*/ 2059 h 2059"/>
                  <a:gd name="T6" fmla="*/ 0 w 2062"/>
                  <a:gd name="T7" fmla="*/ 555 h 2059"/>
                </a:gdLst>
                <a:ahLst/>
                <a:cxnLst>
                  <a:cxn ang="0">
                    <a:pos x="T0" y="T1"/>
                  </a:cxn>
                  <a:cxn ang="0">
                    <a:pos x="T2" y="T3"/>
                  </a:cxn>
                  <a:cxn ang="0">
                    <a:pos x="T4" y="T5"/>
                  </a:cxn>
                  <a:cxn ang="0">
                    <a:pos x="T6" y="T7"/>
                  </a:cxn>
                </a:cxnLst>
                <a:rect l="0" t="0" r="r" b="b"/>
                <a:pathLst>
                  <a:path w="2062" h="2059">
                    <a:moveTo>
                      <a:pt x="0" y="555"/>
                    </a:moveTo>
                    <a:lnTo>
                      <a:pt x="2062" y="0"/>
                    </a:lnTo>
                    <a:lnTo>
                      <a:pt x="1512" y="2059"/>
                    </a:lnTo>
                    <a:lnTo>
                      <a:pt x="0" y="55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
                <a:extLst>
                  <a:ext uri="{FF2B5EF4-FFF2-40B4-BE49-F238E27FC236}">
                    <a16:creationId xmlns:a16="http://schemas.microsoft.com/office/drawing/2014/main" xmlns="" id="{4F494B81-3C15-4C71-9A0A-29EB5AF5C755}"/>
                  </a:ext>
                </a:extLst>
              </p:cNvPr>
              <p:cNvSpPr>
                <a:spLocks/>
              </p:cNvSpPr>
              <p:nvPr userDrawn="1"/>
            </p:nvSpPr>
            <p:spPr bwMode="auto">
              <a:xfrm>
                <a:off x="-33357" y="3222306"/>
                <a:ext cx="2475313" cy="2462216"/>
              </a:xfrm>
              <a:custGeom>
                <a:avLst/>
                <a:gdLst>
                  <a:gd name="T0" fmla="*/ 0 w 1512"/>
                  <a:gd name="T1" fmla="*/ 0 h 1504"/>
                  <a:gd name="T2" fmla="*/ 1512 w 1512"/>
                  <a:gd name="T3" fmla="*/ 1504 h 1504"/>
                  <a:gd name="T4" fmla="*/ 1120 w 1512"/>
                  <a:gd name="T5" fmla="*/ 193 h 1504"/>
                  <a:gd name="T6" fmla="*/ 0 w 1512"/>
                  <a:gd name="T7" fmla="*/ 0 h 1504"/>
                </a:gdLst>
                <a:ahLst/>
                <a:cxnLst>
                  <a:cxn ang="0">
                    <a:pos x="T0" y="T1"/>
                  </a:cxn>
                  <a:cxn ang="0">
                    <a:pos x="T2" y="T3"/>
                  </a:cxn>
                  <a:cxn ang="0">
                    <a:pos x="T4" y="T5"/>
                  </a:cxn>
                  <a:cxn ang="0">
                    <a:pos x="T6" y="T7"/>
                  </a:cxn>
                </a:cxnLst>
                <a:rect l="0" t="0" r="r" b="b"/>
                <a:pathLst>
                  <a:path w="1512" h="1504">
                    <a:moveTo>
                      <a:pt x="0" y="0"/>
                    </a:moveTo>
                    <a:lnTo>
                      <a:pt x="1512" y="1504"/>
                    </a:lnTo>
                    <a:lnTo>
                      <a:pt x="1120" y="193"/>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8">
                <a:extLst>
                  <a:ext uri="{FF2B5EF4-FFF2-40B4-BE49-F238E27FC236}">
                    <a16:creationId xmlns:a16="http://schemas.microsoft.com/office/drawing/2014/main" xmlns="" id="{D8A2DB86-82B3-43BA-A913-246C7D7D372C}"/>
                  </a:ext>
                </a:extLst>
              </p:cNvPr>
              <p:cNvSpPr>
                <a:spLocks/>
              </p:cNvSpPr>
              <p:nvPr userDrawn="1"/>
            </p:nvSpPr>
            <p:spPr bwMode="auto">
              <a:xfrm>
                <a:off x="1800208" y="2313710"/>
                <a:ext cx="1542159" cy="3370813"/>
              </a:xfrm>
              <a:custGeom>
                <a:avLst/>
                <a:gdLst>
                  <a:gd name="T0" fmla="*/ 392 w 942"/>
                  <a:gd name="T1" fmla="*/ 2059 h 2059"/>
                  <a:gd name="T2" fmla="*/ 942 w 942"/>
                  <a:gd name="T3" fmla="*/ 0 h 2059"/>
                  <a:gd name="T4" fmla="*/ 0 w 942"/>
                  <a:gd name="T5" fmla="*/ 748 h 2059"/>
                  <a:gd name="T6" fmla="*/ 392 w 942"/>
                  <a:gd name="T7" fmla="*/ 2059 h 2059"/>
                </a:gdLst>
                <a:ahLst/>
                <a:cxnLst>
                  <a:cxn ang="0">
                    <a:pos x="T0" y="T1"/>
                  </a:cxn>
                  <a:cxn ang="0">
                    <a:pos x="T2" y="T3"/>
                  </a:cxn>
                  <a:cxn ang="0">
                    <a:pos x="T4" y="T5"/>
                  </a:cxn>
                  <a:cxn ang="0">
                    <a:pos x="T6" y="T7"/>
                  </a:cxn>
                </a:cxnLst>
                <a:rect l="0" t="0" r="r" b="b"/>
                <a:pathLst>
                  <a:path w="942" h="2059">
                    <a:moveTo>
                      <a:pt x="392" y="2059"/>
                    </a:moveTo>
                    <a:lnTo>
                      <a:pt x="942" y="0"/>
                    </a:lnTo>
                    <a:lnTo>
                      <a:pt x="0" y="748"/>
                    </a:lnTo>
                    <a:lnTo>
                      <a:pt x="392" y="2059"/>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 name="任意多边形: 形状 81">
              <a:extLst>
                <a:ext uri="{FF2B5EF4-FFF2-40B4-BE49-F238E27FC236}">
                  <a16:creationId xmlns:a16="http://schemas.microsoft.com/office/drawing/2014/main" xmlns="" id="{B1776A3A-8500-4A9A-A690-7CEA1816428C}"/>
                </a:ext>
              </a:extLst>
            </p:cNvPr>
            <p:cNvSpPr>
              <a:spLocks/>
            </p:cNvSpPr>
            <p:nvPr userDrawn="1"/>
          </p:nvSpPr>
          <p:spPr bwMode="auto">
            <a:xfrm>
              <a:off x="0" y="3884886"/>
              <a:ext cx="1746891" cy="2817918"/>
            </a:xfrm>
            <a:custGeom>
              <a:avLst/>
              <a:gdLst>
                <a:gd name="connsiteX0" fmla="*/ 1746891 w 1746891"/>
                <a:gd name="connsiteY0" fmla="*/ 0 h 2817918"/>
                <a:gd name="connsiteX1" fmla="*/ 1007883 w 1746891"/>
                <a:gd name="connsiteY1" fmla="*/ 2817918 h 2817918"/>
                <a:gd name="connsiteX2" fmla="*/ 0 w 1746891"/>
                <a:gd name="connsiteY2" fmla="*/ 1825729 h 2817918"/>
                <a:gd name="connsiteX3" fmla="*/ 0 w 1746891"/>
                <a:gd name="connsiteY3" fmla="*/ 482401 h 2817918"/>
              </a:gdLst>
              <a:ahLst/>
              <a:cxnLst>
                <a:cxn ang="0">
                  <a:pos x="connsiteX0" y="connsiteY0"/>
                </a:cxn>
                <a:cxn ang="0">
                  <a:pos x="connsiteX1" y="connsiteY1"/>
                </a:cxn>
                <a:cxn ang="0">
                  <a:pos x="connsiteX2" y="connsiteY2"/>
                </a:cxn>
                <a:cxn ang="0">
                  <a:pos x="connsiteX3" y="connsiteY3"/>
                </a:cxn>
              </a:cxnLst>
              <a:rect l="l" t="t" r="r" b="b"/>
              <a:pathLst>
                <a:path w="1746891" h="2817918">
                  <a:moveTo>
                    <a:pt x="1746891" y="0"/>
                  </a:moveTo>
                  <a:lnTo>
                    <a:pt x="1007883" y="2817918"/>
                  </a:lnTo>
                  <a:lnTo>
                    <a:pt x="0" y="1825729"/>
                  </a:lnTo>
                  <a:lnTo>
                    <a:pt x="0" y="482401"/>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4" name="任意多边形: 形状 83">
              <a:extLst>
                <a:ext uri="{FF2B5EF4-FFF2-40B4-BE49-F238E27FC236}">
                  <a16:creationId xmlns:a16="http://schemas.microsoft.com/office/drawing/2014/main" xmlns="" id="{B31F9719-A6E2-4A68-9E26-007E829B2EE6}"/>
                </a:ext>
              </a:extLst>
            </p:cNvPr>
            <p:cNvSpPr>
              <a:spLocks/>
            </p:cNvSpPr>
            <p:nvPr userDrawn="1"/>
          </p:nvSpPr>
          <p:spPr bwMode="auto">
            <a:xfrm>
              <a:off x="0" y="5072864"/>
              <a:ext cx="1007883" cy="1629939"/>
            </a:xfrm>
            <a:custGeom>
              <a:avLst/>
              <a:gdLst>
                <a:gd name="connsiteX0" fmla="*/ 0 w 1007883"/>
                <a:gd name="connsiteY0" fmla="*/ 0 h 1629939"/>
                <a:gd name="connsiteX1" fmla="*/ 467976 w 1007883"/>
                <a:gd name="connsiteY1" fmla="*/ 180622 h 1629939"/>
                <a:gd name="connsiteX2" fmla="*/ 1007883 w 1007883"/>
                <a:gd name="connsiteY2" fmla="*/ 1629939 h 1629939"/>
                <a:gd name="connsiteX3" fmla="*/ 0 w 1007883"/>
                <a:gd name="connsiteY3" fmla="*/ 637750 h 1629939"/>
              </a:gdLst>
              <a:ahLst/>
              <a:cxnLst>
                <a:cxn ang="0">
                  <a:pos x="connsiteX0" y="connsiteY0"/>
                </a:cxn>
                <a:cxn ang="0">
                  <a:pos x="connsiteX1" y="connsiteY1"/>
                </a:cxn>
                <a:cxn ang="0">
                  <a:pos x="connsiteX2" y="connsiteY2"/>
                </a:cxn>
                <a:cxn ang="0">
                  <a:pos x="connsiteX3" y="connsiteY3"/>
                </a:cxn>
              </a:cxnLst>
              <a:rect l="l" t="t" r="r" b="b"/>
              <a:pathLst>
                <a:path w="1007883" h="1629939">
                  <a:moveTo>
                    <a:pt x="0" y="0"/>
                  </a:moveTo>
                  <a:lnTo>
                    <a:pt x="467976" y="180622"/>
                  </a:lnTo>
                  <a:lnTo>
                    <a:pt x="1007883" y="1629939"/>
                  </a:lnTo>
                  <a:lnTo>
                    <a:pt x="0" y="637750"/>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7" name="Freeform 31">
              <a:extLst>
                <a:ext uri="{FF2B5EF4-FFF2-40B4-BE49-F238E27FC236}">
                  <a16:creationId xmlns:a16="http://schemas.microsoft.com/office/drawing/2014/main" xmlns="" id="{0858C27D-3B61-40EB-BB3F-3FAA0118294B}"/>
                </a:ext>
              </a:extLst>
            </p:cNvPr>
            <p:cNvSpPr>
              <a:spLocks/>
            </p:cNvSpPr>
            <p:nvPr userDrawn="1"/>
          </p:nvSpPr>
          <p:spPr bwMode="auto">
            <a:xfrm>
              <a:off x="467976" y="3884886"/>
              <a:ext cx="1278914" cy="2817918"/>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17">
              <a:extLst>
                <a:ext uri="{FF2B5EF4-FFF2-40B4-BE49-F238E27FC236}">
                  <a16:creationId xmlns:a16="http://schemas.microsoft.com/office/drawing/2014/main" xmlns="" id="{A2EC3842-A5D0-4936-A7C3-E5418585DDD2}"/>
                </a:ext>
              </a:extLst>
            </p:cNvPr>
            <p:cNvGrpSpPr/>
            <p:nvPr userDrawn="1"/>
          </p:nvGrpSpPr>
          <p:grpSpPr>
            <a:xfrm>
              <a:off x="1515683" y="4961112"/>
              <a:ext cx="1562320" cy="1569496"/>
              <a:chOff x="1350001" y="5185204"/>
              <a:chExt cx="1425924" cy="1432473"/>
            </a:xfrm>
          </p:grpSpPr>
          <p:sp>
            <p:nvSpPr>
              <p:cNvPr id="31" name="Freeform 33">
                <a:extLst>
                  <a:ext uri="{FF2B5EF4-FFF2-40B4-BE49-F238E27FC236}">
                    <a16:creationId xmlns:a16="http://schemas.microsoft.com/office/drawing/2014/main" xmlns="" id="{D5B1E0F4-3C85-41ED-BCC8-21997E7E4C3E}"/>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4">
                <a:extLst>
                  <a:ext uri="{FF2B5EF4-FFF2-40B4-BE49-F238E27FC236}">
                    <a16:creationId xmlns:a16="http://schemas.microsoft.com/office/drawing/2014/main" xmlns="" id="{2B881A2C-6EF7-4367-BB1D-A766EBA4061D}"/>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5">
                <a:extLst>
                  <a:ext uri="{FF2B5EF4-FFF2-40B4-BE49-F238E27FC236}">
                    <a16:creationId xmlns:a16="http://schemas.microsoft.com/office/drawing/2014/main" xmlns="" id="{A5EFA1AF-B367-49CB-B4EC-93319EB9C1EE}"/>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xmlns="" id="{459B8FC3-40F8-4320-8261-E04D3F1B857F}"/>
                </a:ext>
              </a:extLst>
            </p:cNvPr>
            <p:cNvGrpSpPr/>
            <p:nvPr userDrawn="1"/>
          </p:nvGrpSpPr>
          <p:grpSpPr>
            <a:xfrm rot="19800000">
              <a:off x="2689563" y="3277532"/>
              <a:ext cx="2301422" cy="2305825"/>
              <a:chOff x="-899390" y="4202937"/>
              <a:chExt cx="2566991" cy="2571903"/>
            </a:xfrm>
          </p:grpSpPr>
          <p:sp>
            <p:nvSpPr>
              <p:cNvPr id="28" name="Freeform 29">
                <a:extLst>
                  <a:ext uri="{FF2B5EF4-FFF2-40B4-BE49-F238E27FC236}">
                    <a16:creationId xmlns:a16="http://schemas.microsoft.com/office/drawing/2014/main" xmlns="" id="{0ADA7518-6DF5-4584-B719-DD59E8DA3F32}"/>
                  </a:ext>
                </a:extLst>
              </p:cNvPr>
              <p:cNvSpPr>
                <a:spLocks/>
              </p:cNvSpPr>
              <p:nvPr userDrawn="1"/>
            </p:nvSpPr>
            <p:spPr bwMode="auto">
              <a:xfrm>
                <a:off x="-899390" y="4202937"/>
                <a:ext cx="2566991" cy="2571903"/>
              </a:xfrm>
              <a:custGeom>
                <a:avLst/>
                <a:gdLst>
                  <a:gd name="T0" fmla="*/ 1156 w 1568"/>
                  <a:gd name="T1" fmla="*/ 1571 h 1571"/>
                  <a:gd name="T2" fmla="*/ 0 w 1568"/>
                  <a:gd name="T3" fmla="*/ 433 h 1571"/>
                  <a:gd name="T4" fmla="*/ 1568 w 1568"/>
                  <a:gd name="T5" fmla="*/ 0 h 1571"/>
                  <a:gd name="T6" fmla="*/ 1156 w 1568"/>
                  <a:gd name="T7" fmla="*/ 1571 h 1571"/>
                </a:gdLst>
                <a:ahLst/>
                <a:cxnLst>
                  <a:cxn ang="0">
                    <a:pos x="T0" y="T1"/>
                  </a:cxn>
                  <a:cxn ang="0">
                    <a:pos x="T2" y="T3"/>
                  </a:cxn>
                  <a:cxn ang="0">
                    <a:pos x="T4" y="T5"/>
                  </a:cxn>
                  <a:cxn ang="0">
                    <a:pos x="T6" y="T7"/>
                  </a:cxn>
                </a:cxnLst>
                <a:rect l="0" t="0" r="r" b="b"/>
                <a:pathLst>
                  <a:path w="1568" h="1571">
                    <a:moveTo>
                      <a:pt x="1156" y="1571"/>
                    </a:moveTo>
                    <a:lnTo>
                      <a:pt x="0" y="433"/>
                    </a:lnTo>
                    <a:lnTo>
                      <a:pt x="1568" y="0"/>
                    </a:lnTo>
                    <a:lnTo>
                      <a:pt x="1156" y="1571"/>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30">
                <a:extLst>
                  <a:ext uri="{FF2B5EF4-FFF2-40B4-BE49-F238E27FC236}">
                    <a16:creationId xmlns:a16="http://schemas.microsoft.com/office/drawing/2014/main" xmlns="" id="{D6B3F8B0-55AA-411D-89D4-850079304F2B}"/>
                  </a:ext>
                </a:extLst>
              </p:cNvPr>
              <p:cNvSpPr>
                <a:spLocks/>
              </p:cNvSpPr>
              <p:nvPr userDrawn="1"/>
            </p:nvSpPr>
            <p:spPr bwMode="auto">
              <a:xfrm>
                <a:off x="-899390" y="4911806"/>
                <a:ext cx="1892501" cy="1863033"/>
              </a:xfrm>
              <a:custGeom>
                <a:avLst/>
                <a:gdLst>
                  <a:gd name="T0" fmla="*/ 1156 w 1156"/>
                  <a:gd name="T1" fmla="*/ 1138 h 1138"/>
                  <a:gd name="T2" fmla="*/ 0 w 1156"/>
                  <a:gd name="T3" fmla="*/ 0 h 1138"/>
                  <a:gd name="T4" fmla="*/ 855 w 1156"/>
                  <a:gd name="T5" fmla="*/ 330 h 1138"/>
                  <a:gd name="T6" fmla="*/ 1156 w 1156"/>
                  <a:gd name="T7" fmla="*/ 1138 h 1138"/>
                </a:gdLst>
                <a:ahLst/>
                <a:cxnLst>
                  <a:cxn ang="0">
                    <a:pos x="T0" y="T1"/>
                  </a:cxn>
                  <a:cxn ang="0">
                    <a:pos x="T2" y="T3"/>
                  </a:cxn>
                  <a:cxn ang="0">
                    <a:pos x="T4" y="T5"/>
                  </a:cxn>
                  <a:cxn ang="0">
                    <a:pos x="T6" y="T7"/>
                  </a:cxn>
                </a:cxnLst>
                <a:rect l="0" t="0" r="r" b="b"/>
                <a:pathLst>
                  <a:path w="1156" h="1138">
                    <a:moveTo>
                      <a:pt x="1156" y="1138"/>
                    </a:moveTo>
                    <a:lnTo>
                      <a:pt x="0" y="0"/>
                    </a:lnTo>
                    <a:lnTo>
                      <a:pt x="855" y="330"/>
                    </a:lnTo>
                    <a:lnTo>
                      <a:pt x="1156" y="1138"/>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31">
                <a:extLst>
                  <a:ext uri="{FF2B5EF4-FFF2-40B4-BE49-F238E27FC236}">
                    <a16:creationId xmlns:a16="http://schemas.microsoft.com/office/drawing/2014/main" xmlns="" id="{CA25763A-E27B-4181-B8ED-004BFC30B31D}"/>
                  </a:ext>
                </a:extLst>
              </p:cNvPr>
              <p:cNvSpPr>
                <a:spLocks/>
              </p:cNvSpPr>
              <p:nvPr userDrawn="1"/>
            </p:nvSpPr>
            <p:spPr bwMode="auto">
              <a:xfrm>
                <a:off x="500341" y="4202937"/>
                <a:ext cx="1167260" cy="2571903"/>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xmlns="" id="{F79B4DE5-AEA4-4F1F-9A62-A0C87B3B6029}"/>
                </a:ext>
              </a:extLst>
            </p:cNvPr>
            <p:cNvGrpSpPr/>
            <p:nvPr userDrawn="1"/>
          </p:nvGrpSpPr>
          <p:grpSpPr>
            <a:xfrm rot="12600000">
              <a:off x="2990757" y="4894091"/>
              <a:ext cx="1689356" cy="1697115"/>
              <a:chOff x="1350001" y="5185204"/>
              <a:chExt cx="1425924" cy="1432473"/>
            </a:xfrm>
          </p:grpSpPr>
          <p:sp>
            <p:nvSpPr>
              <p:cNvPr id="25" name="Freeform 33">
                <a:extLst>
                  <a:ext uri="{FF2B5EF4-FFF2-40B4-BE49-F238E27FC236}">
                    <a16:creationId xmlns:a16="http://schemas.microsoft.com/office/drawing/2014/main" xmlns="" id="{003A2DFE-93DF-4FD0-923E-F322930F074C}"/>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4">
                <a:extLst>
                  <a:ext uri="{FF2B5EF4-FFF2-40B4-BE49-F238E27FC236}">
                    <a16:creationId xmlns:a16="http://schemas.microsoft.com/office/drawing/2014/main" xmlns="" id="{975BD6D9-5ED6-4E6F-BA2E-E15B943C7E49}"/>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35">
                <a:extLst>
                  <a:ext uri="{FF2B5EF4-FFF2-40B4-BE49-F238E27FC236}">
                    <a16:creationId xmlns:a16="http://schemas.microsoft.com/office/drawing/2014/main" xmlns="" id="{BBB0879C-3085-4593-B820-B612A7B98472}"/>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 name="任意多边形: 形状 94">
              <a:extLst>
                <a:ext uri="{FF2B5EF4-FFF2-40B4-BE49-F238E27FC236}">
                  <a16:creationId xmlns:a16="http://schemas.microsoft.com/office/drawing/2014/main" xmlns="" id="{0845FCBA-925F-42B0-8644-32E743140555}"/>
                </a:ext>
              </a:extLst>
            </p:cNvPr>
            <p:cNvSpPr>
              <a:spLocks/>
            </p:cNvSpPr>
            <p:nvPr userDrawn="1"/>
          </p:nvSpPr>
          <p:spPr bwMode="auto">
            <a:xfrm rot="5189261">
              <a:off x="2860960" y="6190506"/>
              <a:ext cx="631486" cy="750679"/>
            </a:xfrm>
            <a:custGeom>
              <a:avLst/>
              <a:gdLst>
                <a:gd name="connsiteX0" fmla="*/ 0 w 631486"/>
                <a:gd name="connsiteY0" fmla="*/ 174384 h 750679"/>
                <a:gd name="connsiteX1" fmla="*/ 631486 w 631486"/>
                <a:gd name="connsiteY1" fmla="*/ 0 h 750679"/>
                <a:gd name="connsiteX2" fmla="*/ 585410 w 631486"/>
                <a:gd name="connsiteY2" fmla="*/ 750679 h 750679"/>
              </a:gdLst>
              <a:ahLst/>
              <a:cxnLst>
                <a:cxn ang="0">
                  <a:pos x="connsiteX0" y="connsiteY0"/>
                </a:cxn>
                <a:cxn ang="0">
                  <a:pos x="connsiteX1" y="connsiteY1"/>
                </a:cxn>
                <a:cxn ang="0">
                  <a:pos x="connsiteX2" y="connsiteY2"/>
                </a:cxn>
              </a:cxnLst>
              <a:rect l="l" t="t" r="r" b="b"/>
              <a:pathLst>
                <a:path w="631486" h="750679">
                  <a:moveTo>
                    <a:pt x="0" y="174384"/>
                  </a:moveTo>
                  <a:lnTo>
                    <a:pt x="631486" y="0"/>
                  </a:lnTo>
                  <a:lnTo>
                    <a:pt x="585410" y="750679"/>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2" name="任意多边形: 形状 91">
              <a:extLst>
                <a:ext uri="{FF2B5EF4-FFF2-40B4-BE49-F238E27FC236}">
                  <a16:creationId xmlns:a16="http://schemas.microsoft.com/office/drawing/2014/main" xmlns="" id="{C4B29FC2-D183-470F-AAFE-76EA9D0BF6BE}"/>
                </a:ext>
              </a:extLst>
            </p:cNvPr>
            <p:cNvSpPr>
              <a:spLocks/>
            </p:cNvSpPr>
            <p:nvPr userDrawn="1"/>
          </p:nvSpPr>
          <p:spPr bwMode="auto">
            <a:xfrm rot="5189261">
              <a:off x="2785699" y="6270528"/>
              <a:ext cx="606416" cy="576295"/>
            </a:xfrm>
            <a:custGeom>
              <a:avLst/>
              <a:gdLst>
                <a:gd name="connsiteX0" fmla="*/ 0 w 606416"/>
                <a:gd name="connsiteY0" fmla="*/ 0 h 576295"/>
                <a:gd name="connsiteX1" fmla="*/ 606416 w 606416"/>
                <a:gd name="connsiteY1" fmla="*/ 234055 h 576295"/>
                <a:gd name="connsiteX2" fmla="*/ 585410 w 606416"/>
                <a:gd name="connsiteY2" fmla="*/ 576295 h 576295"/>
              </a:gdLst>
              <a:ahLst/>
              <a:cxnLst>
                <a:cxn ang="0">
                  <a:pos x="connsiteX0" y="connsiteY0"/>
                </a:cxn>
                <a:cxn ang="0">
                  <a:pos x="connsiteX1" y="connsiteY1"/>
                </a:cxn>
                <a:cxn ang="0">
                  <a:pos x="connsiteX2" y="connsiteY2"/>
                </a:cxn>
              </a:cxnLst>
              <a:rect l="l" t="t" r="r" b="b"/>
              <a:pathLst>
                <a:path w="606416" h="576295">
                  <a:moveTo>
                    <a:pt x="0" y="0"/>
                  </a:moveTo>
                  <a:lnTo>
                    <a:pt x="606416" y="234055"/>
                  </a:lnTo>
                  <a:lnTo>
                    <a:pt x="585410" y="576295"/>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 name="任意多边形: 形状 90">
              <a:extLst>
                <a:ext uri="{FF2B5EF4-FFF2-40B4-BE49-F238E27FC236}">
                  <a16:creationId xmlns:a16="http://schemas.microsoft.com/office/drawing/2014/main" xmlns="" id="{B8325B1A-E382-4FD1-AEF6-5A10C1B01511}"/>
                </a:ext>
              </a:extLst>
            </p:cNvPr>
            <p:cNvSpPr>
              <a:spLocks/>
            </p:cNvSpPr>
            <p:nvPr userDrawn="1"/>
          </p:nvSpPr>
          <p:spPr bwMode="auto">
            <a:xfrm rot="14413077">
              <a:off x="2085024" y="6535142"/>
              <a:ext cx="233740" cy="420980"/>
            </a:xfrm>
            <a:custGeom>
              <a:avLst/>
              <a:gdLst>
                <a:gd name="connsiteX0" fmla="*/ 233740 w 233740"/>
                <a:gd name="connsiteY0" fmla="*/ 420980 h 420980"/>
                <a:gd name="connsiteX1" fmla="*/ 0 w 233740"/>
                <a:gd name="connsiteY1" fmla="*/ 188477 h 420980"/>
                <a:gd name="connsiteX2" fmla="*/ 107863 w 233740"/>
                <a:gd name="connsiteY2" fmla="*/ 0 h 420980"/>
              </a:gdLst>
              <a:ahLst/>
              <a:cxnLst>
                <a:cxn ang="0">
                  <a:pos x="connsiteX0" y="connsiteY0"/>
                </a:cxn>
                <a:cxn ang="0">
                  <a:pos x="connsiteX1" y="connsiteY1"/>
                </a:cxn>
                <a:cxn ang="0">
                  <a:pos x="connsiteX2" y="connsiteY2"/>
                </a:cxn>
              </a:cxnLst>
              <a:rect l="l" t="t" r="r" b="b"/>
              <a:pathLst>
                <a:path w="233740" h="420980">
                  <a:moveTo>
                    <a:pt x="233740" y="420980"/>
                  </a:moveTo>
                  <a:lnTo>
                    <a:pt x="0" y="188477"/>
                  </a:lnTo>
                  <a:lnTo>
                    <a:pt x="107863" y="0"/>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 name="任意多边形: 形状 88">
              <a:extLst>
                <a:ext uri="{FF2B5EF4-FFF2-40B4-BE49-F238E27FC236}">
                  <a16:creationId xmlns:a16="http://schemas.microsoft.com/office/drawing/2014/main" xmlns="" id="{7AA8B293-6946-40C9-8DC5-F1CED6F06F6E}"/>
                </a:ext>
              </a:extLst>
            </p:cNvPr>
            <p:cNvSpPr>
              <a:spLocks/>
            </p:cNvSpPr>
            <p:nvPr userDrawn="1"/>
          </p:nvSpPr>
          <p:spPr bwMode="auto">
            <a:xfrm rot="14413077">
              <a:off x="1603089" y="6193125"/>
              <a:ext cx="417400" cy="1091355"/>
            </a:xfrm>
            <a:custGeom>
              <a:avLst/>
              <a:gdLst>
                <a:gd name="connsiteX0" fmla="*/ 125877 w 417400"/>
                <a:gd name="connsiteY0" fmla="*/ 1091355 h 1091355"/>
                <a:gd name="connsiteX1" fmla="*/ 0 w 417400"/>
                <a:gd name="connsiteY1" fmla="*/ 670375 h 1091355"/>
                <a:gd name="connsiteX2" fmla="*/ 355536 w 417400"/>
                <a:gd name="connsiteY2" fmla="*/ 49124 h 1091355"/>
                <a:gd name="connsiteX3" fmla="*/ 417400 w 417400"/>
                <a:gd name="connsiteY3" fmla="*/ 0 h 1091355"/>
              </a:gdLst>
              <a:ahLst/>
              <a:cxnLst>
                <a:cxn ang="0">
                  <a:pos x="connsiteX0" y="connsiteY0"/>
                </a:cxn>
                <a:cxn ang="0">
                  <a:pos x="connsiteX1" y="connsiteY1"/>
                </a:cxn>
                <a:cxn ang="0">
                  <a:pos x="connsiteX2" y="connsiteY2"/>
                </a:cxn>
                <a:cxn ang="0">
                  <a:pos x="connsiteX3" y="connsiteY3"/>
                </a:cxn>
              </a:cxnLst>
              <a:rect l="l" t="t" r="r" b="b"/>
              <a:pathLst>
                <a:path w="417400" h="1091355">
                  <a:moveTo>
                    <a:pt x="125877" y="1091355"/>
                  </a:moveTo>
                  <a:lnTo>
                    <a:pt x="0" y="670375"/>
                  </a:lnTo>
                  <a:lnTo>
                    <a:pt x="355536" y="49124"/>
                  </a:lnTo>
                  <a:lnTo>
                    <a:pt x="41740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7" name="组合 36">
            <a:extLst>
              <a:ext uri="{FF2B5EF4-FFF2-40B4-BE49-F238E27FC236}">
                <a16:creationId xmlns:a16="http://schemas.microsoft.com/office/drawing/2014/main" xmlns="" id="{C9A282B9-3374-41E6-AC2D-7784354EFF5A}"/>
              </a:ext>
            </a:extLst>
          </p:cNvPr>
          <p:cNvGrpSpPr/>
          <p:nvPr userDrawn="1"/>
        </p:nvGrpSpPr>
        <p:grpSpPr>
          <a:xfrm>
            <a:off x="9774834" y="941392"/>
            <a:ext cx="2417166" cy="3285611"/>
            <a:chOff x="9774834" y="0"/>
            <a:chExt cx="2417166" cy="3285611"/>
          </a:xfrm>
        </p:grpSpPr>
        <p:sp>
          <p:nvSpPr>
            <p:cNvPr id="38" name="任意多边形: 形状 138">
              <a:extLst>
                <a:ext uri="{FF2B5EF4-FFF2-40B4-BE49-F238E27FC236}">
                  <a16:creationId xmlns:a16="http://schemas.microsoft.com/office/drawing/2014/main" xmlns="" id="{50261AD0-962D-480B-B039-48A3CF72EF02}"/>
                </a:ext>
              </a:extLst>
            </p:cNvPr>
            <p:cNvSpPr/>
            <p:nvPr/>
          </p:nvSpPr>
          <p:spPr>
            <a:xfrm>
              <a:off x="10569108" y="287512"/>
              <a:ext cx="1622892" cy="2444653"/>
            </a:xfrm>
            <a:custGeom>
              <a:avLst/>
              <a:gdLst>
                <a:gd name="connsiteX0" fmla="*/ 652542 w 1622892"/>
                <a:gd name="connsiteY0" fmla="*/ 0 h 2444653"/>
                <a:gd name="connsiteX1" fmla="*/ 1622892 w 1622892"/>
                <a:gd name="connsiteY1" fmla="*/ 968289 h 2444653"/>
                <a:gd name="connsiteX2" fmla="*/ 1622892 w 1622892"/>
                <a:gd name="connsiteY2" fmla="*/ 2008935 h 2444653"/>
                <a:gd name="connsiteX3" fmla="*/ 0 w 1622892"/>
                <a:gd name="connsiteY3" fmla="*/ 2444653 h 2444653"/>
              </a:gdLst>
              <a:ahLst/>
              <a:cxnLst>
                <a:cxn ang="0">
                  <a:pos x="connsiteX0" y="connsiteY0"/>
                </a:cxn>
                <a:cxn ang="0">
                  <a:pos x="connsiteX1" y="connsiteY1"/>
                </a:cxn>
                <a:cxn ang="0">
                  <a:pos x="connsiteX2" y="connsiteY2"/>
                </a:cxn>
                <a:cxn ang="0">
                  <a:pos x="connsiteX3" y="connsiteY3"/>
                </a:cxn>
              </a:cxnLst>
              <a:rect l="l" t="t" r="r" b="b"/>
              <a:pathLst>
                <a:path w="1622892" h="2444653">
                  <a:moveTo>
                    <a:pt x="652542" y="0"/>
                  </a:moveTo>
                  <a:lnTo>
                    <a:pt x="1622892" y="968289"/>
                  </a:lnTo>
                  <a:lnTo>
                    <a:pt x="1622892" y="2008935"/>
                  </a:lnTo>
                  <a:lnTo>
                    <a:pt x="0" y="2444653"/>
                  </a:lnTo>
                  <a:close/>
                </a:path>
              </a:pathLst>
            </a:custGeom>
            <a:solidFill>
              <a:srgbClr val="B4B4B4"/>
            </a:solidFill>
            <a:ln w="9525" cap="flat">
              <a:noFill/>
              <a:prstDash val="solid"/>
              <a:miter/>
            </a:ln>
          </p:spPr>
          <p:txBody>
            <a:bodyPr rtlCol="0" anchor="ctr"/>
            <a:lstStyle/>
            <a:p>
              <a:endParaRPr lang="zh-CN" altLang="en-US"/>
            </a:p>
          </p:txBody>
        </p:sp>
        <p:sp>
          <p:nvSpPr>
            <p:cNvPr id="39" name="任意多边形: 形状 139">
              <a:extLst>
                <a:ext uri="{FF2B5EF4-FFF2-40B4-BE49-F238E27FC236}">
                  <a16:creationId xmlns:a16="http://schemas.microsoft.com/office/drawing/2014/main" xmlns="" id="{DF9E2CDB-F747-4283-B9FD-0DA2015F4517}"/>
                </a:ext>
              </a:extLst>
            </p:cNvPr>
            <p:cNvSpPr/>
            <p:nvPr/>
          </p:nvSpPr>
          <p:spPr>
            <a:xfrm>
              <a:off x="10569108" y="1843720"/>
              <a:ext cx="1622892" cy="888447"/>
            </a:xfrm>
            <a:custGeom>
              <a:avLst/>
              <a:gdLst>
                <a:gd name="connsiteX0" fmla="*/ 1114838 w 1622892"/>
                <a:gd name="connsiteY0" fmla="*/ 0 h 888447"/>
                <a:gd name="connsiteX1" fmla="*/ 1622892 w 1622892"/>
                <a:gd name="connsiteY1" fmla="*/ 88674 h 888447"/>
                <a:gd name="connsiteX2" fmla="*/ 1622892 w 1622892"/>
                <a:gd name="connsiteY2" fmla="*/ 452729 h 888447"/>
                <a:gd name="connsiteX3" fmla="*/ 0 w 1622892"/>
                <a:gd name="connsiteY3" fmla="*/ 888447 h 888447"/>
              </a:gdLst>
              <a:ahLst/>
              <a:cxnLst>
                <a:cxn ang="0">
                  <a:pos x="connsiteX0" y="connsiteY0"/>
                </a:cxn>
                <a:cxn ang="0">
                  <a:pos x="connsiteX1" y="connsiteY1"/>
                </a:cxn>
                <a:cxn ang="0">
                  <a:pos x="connsiteX2" y="connsiteY2"/>
                </a:cxn>
                <a:cxn ang="0">
                  <a:pos x="connsiteX3" y="connsiteY3"/>
                </a:cxn>
              </a:cxnLst>
              <a:rect l="l" t="t" r="r" b="b"/>
              <a:pathLst>
                <a:path w="1622892" h="888447">
                  <a:moveTo>
                    <a:pt x="1114838" y="0"/>
                  </a:moveTo>
                  <a:lnTo>
                    <a:pt x="1622892" y="88674"/>
                  </a:lnTo>
                  <a:lnTo>
                    <a:pt x="1622892" y="452729"/>
                  </a:lnTo>
                  <a:lnTo>
                    <a:pt x="0" y="888447"/>
                  </a:lnTo>
                  <a:close/>
                </a:path>
              </a:pathLst>
            </a:custGeom>
            <a:solidFill>
              <a:srgbClr val="D8D8D8"/>
            </a:solidFill>
            <a:ln w="9525" cap="flat">
              <a:noFill/>
              <a:prstDash val="solid"/>
              <a:miter/>
            </a:ln>
          </p:spPr>
          <p:txBody>
            <a:bodyPr rtlCol="0" anchor="ctr"/>
            <a:lstStyle/>
            <a:p>
              <a:endParaRPr lang="zh-CN" altLang="en-US"/>
            </a:p>
          </p:txBody>
        </p:sp>
        <p:sp>
          <p:nvSpPr>
            <p:cNvPr id="40" name="任意多边形: 形状 137">
              <a:extLst>
                <a:ext uri="{FF2B5EF4-FFF2-40B4-BE49-F238E27FC236}">
                  <a16:creationId xmlns:a16="http://schemas.microsoft.com/office/drawing/2014/main" xmlns="" id="{FBE8ED51-4463-4D5A-93B0-85FA65C21F09}"/>
                </a:ext>
              </a:extLst>
            </p:cNvPr>
            <p:cNvSpPr/>
            <p:nvPr/>
          </p:nvSpPr>
          <p:spPr>
            <a:xfrm>
              <a:off x="11221649" y="287512"/>
              <a:ext cx="970351" cy="1644881"/>
            </a:xfrm>
            <a:custGeom>
              <a:avLst/>
              <a:gdLst>
                <a:gd name="connsiteX0" fmla="*/ 0 w 970351"/>
                <a:gd name="connsiteY0" fmla="*/ 0 h 1644881"/>
                <a:gd name="connsiteX1" fmla="*/ 970351 w 970351"/>
                <a:gd name="connsiteY1" fmla="*/ 968290 h 1644881"/>
                <a:gd name="connsiteX2" fmla="*/ 970351 w 970351"/>
                <a:gd name="connsiteY2" fmla="*/ 1644881 h 1644881"/>
                <a:gd name="connsiteX3" fmla="*/ 462297 w 970351"/>
                <a:gd name="connsiteY3" fmla="*/ 1556208 h 1644881"/>
              </a:gdLst>
              <a:ahLst/>
              <a:cxnLst>
                <a:cxn ang="0">
                  <a:pos x="connsiteX0" y="connsiteY0"/>
                </a:cxn>
                <a:cxn ang="0">
                  <a:pos x="connsiteX1" y="connsiteY1"/>
                </a:cxn>
                <a:cxn ang="0">
                  <a:pos x="connsiteX2" y="connsiteY2"/>
                </a:cxn>
                <a:cxn ang="0">
                  <a:pos x="connsiteX3" y="connsiteY3"/>
                </a:cxn>
              </a:cxnLst>
              <a:rect l="l" t="t" r="r" b="b"/>
              <a:pathLst>
                <a:path w="970351" h="1644881">
                  <a:moveTo>
                    <a:pt x="0" y="0"/>
                  </a:moveTo>
                  <a:lnTo>
                    <a:pt x="970351" y="968290"/>
                  </a:lnTo>
                  <a:lnTo>
                    <a:pt x="970351" y="1644881"/>
                  </a:lnTo>
                  <a:lnTo>
                    <a:pt x="462297" y="1556208"/>
                  </a:lnTo>
                  <a:close/>
                </a:path>
              </a:pathLst>
            </a:custGeom>
            <a:solidFill>
              <a:srgbClr val="F0F0F0"/>
            </a:solidFill>
            <a:ln w="9525" cap="flat">
              <a:noFill/>
              <a:prstDash val="solid"/>
              <a:miter/>
            </a:ln>
          </p:spPr>
          <p:txBody>
            <a:bodyPr rtlCol="0" anchor="ctr"/>
            <a:lstStyle/>
            <a:p>
              <a:endParaRPr lang="zh-CN" altLang="en-US"/>
            </a:p>
          </p:txBody>
        </p:sp>
        <p:sp>
          <p:nvSpPr>
            <p:cNvPr id="41" name="任意多边形: 形状 9819">
              <a:extLst>
                <a:ext uri="{FF2B5EF4-FFF2-40B4-BE49-F238E27FC236}">
                  <a16:creationId xmlns:a16="http://schemas.microsoft.com/office/drawing/2014/main" xmlns="" id="{F341B9C7-FEFA-463D-82DE-D1042A71D192}"/>
                </a:ext>
              </a:extLst>
            </p:cNvPr>
            <p:cNvSpPr/>
            <p:nvPr/>
          </p:nvSpPr>
          <p:spPr>
            <a:xfrm>
              <a:off x="9774834" y="22121"/>
              <a:ext cx="1483914" cy="1483913"/>
            </a:xfrm>
            <a:custGeom>
              <a:avLst/>
              <a:gdLst>
                <a:gd name="connsiteX0" fmla="*/ 14268 w 1483913"/>
                <a:gd name="connsiteY0" fmla="*/ 398564 h 1483913"/>
                <a:gd name="connsiteX1" fmla="*/ 1479158 w 1483913"/>
                <a:gd name="connsiteY1" fmla="*/ 14268 h 1483913"/>
                <a:gd name="connsiteX2" fmla="*/ 1079642 w 1483913"/>
                <a:gd name="connsiteY2" fmla="*/ 1475353 h 1483913"/>
              </a:gdLst>
              <a:ahLst/>
              <a:cxnLst>
                <a:cxn ang="0">
                  <a:pos x="connsiteX0" y="connsiteY0"/>
                </a:cxn>
                <a:cxn ang="0">
                  <a:pos x="connsiteX1" y="connsiteY1"/>
                </a:cxn>
                <a:cxn ang="0">
                  <a:pos x="connsiteX2" y="connsiteY2"/>
                </a:cxn>
              </a:cxnLst>
              <a:rect l="l" t="t" r="r" b="b"/>
              <a:pathLst>
                <a:path w="1483913" h="1483913">
                  <a:moveTo>
                    <a:pt x="14268" y="398564"/>
                  </a:moveTo>
                  <a:lnTo>
                    <a:pt x="1479158" y="14268"/>
                  </a:lnTo>
                  <a:lnTo>
                    <a:pt x="1079642" y="1475353"/>
                  </a:lnTo>
                  <a:close/>
                </a:path>
              </a:pathLst>
            </a:custGeom>
            <a:solidFill>
              <a:srgbClr val="B4B4B4"/>
            </a:solidFill>
            <a:ln w="9525" cap="flat">
              <a:noFill/>
              <a:prstDash val="solid"/>
              <a:miter/>
            </a:ln>
          </p:spPr>
          <p:txBody>
            <a:bodyPr rtlCol="0" anchor="ctr"/>
            <a:lstStyle/>
            <a:p>
              <a:endParaRPr lang="zh-CN" altLang="en-US"/>
            </a:p>
          </p:txBody>
        </p:sp>
        <p:sp>
          <p:nvSpPr>
            <p:cNvPr id="42" name="任意多边形: 形状 9820">
              <a:extLst>
                <a:ext uri="{FF2B5EF4-FFF2-40B4-BE49-F238E27FC236}">
                  <a16:creationId xmlns:a16="http://schemas.microsoft.com/office/drawing/2014/main" xmlns="" id="{9878DE74-3C47-4F64-BD72-CAD242D68E5F}"/>
                </a:ext>
              </a:extLst>
            </p:cNvPr>
            <p:cNvSpPr/>
            <p:nvPr/>
          </p:nvSpPr>
          <p:spPr>
            <a:xfrm>
              <a:off x="9774834" y="22121"/>
              <a:ext cx="1483914" cy="551711"/>
            </a:xfrm>
            <a:custGeom>
              <a:avLst/>
              <a:gdLst>
                <a:gd name="connsiteX0" fmla="*/ 14268 w 1483913"/>
                <a:gd name="connsiteY0" fmla="*/ 398564 h 551711"/>
                <a:gd name="connsiteX1" fmla="*/ 1479158 w 1483913"/>
                <a:gd name="connsiteY1" fmla="*/ 14268 h 551711"/>
                <a:gd name="connsiteX2" fmla="*/ 809494 w 1483913"/>
                <a:gd name="connsiteY2" fmla="*/ 541248 h 551711"/>
              </a:gdLst>
              <a:ahLst/>
              <a:cxnLst>
                <a:cxn ang="0">
                  <a:pos x="connsiteX0" y="connsiteY0"/>
                </a:cxn>
                <a:cxn ang="0">
                  <a:pos x="connsiteX1" y="connsiteY1"/>
                </a:cxn>
                <a:cxn ang="0">
                  <a:pos x="connsiteX2" y="connsiteY2"/>
                </a:cxn>
              </a:cxnLst>
              <a:rect l="l" t="t" r="r" b="b"/>
              <a:pathLst>
                <a:path w="1483913" h="551711">
                  <a:moveTo>
                    <a:pt x="14268" y="398564"/>
                  </a:moveTo>
                  <a:lnTo>
                    <a:pt x="1479158" y="14268"/>
                  </a:lnTo>
                  <a:lnTo>
                    <a:pt x="809494" y="541248"/>
                  </a:lnTo>
                  <a:close/>
                </a:path>
              </a:pathLst>
            </a:custGeom>
            <a:solidFill>
              <a:srgbClr val="F0F0F0"/>
            </a:solidFill>
            <a:ln w="9525" cap="flat">
              <a:noFill/>
              <a:prstDash val="solid"/>
              <a:miter/>
            </a:ln>
          </p:spPr>
          <p:txBody>
            <a:bodyPr rtlCol="0" anchor="ctr"/>
            <a:lstStyle/>
            <a:p>
              <a:endParaRPr lang="zh-CN" altLang="en-US"/>
            </a:p>
          </p:txBody>
        </p:sp>
        <p:sp>
          <p:nvSpPr>
            <p:cNvPr id="43" name="任意多边形: 形状 9822">
              <a:extLst>
                <a:ext uri="{FF2B5EF4-FFF2-40B4-BE49-F238E27FC236}">
                  <a16:creationId xmlns:a16="http://schemas.microsoft.com/office/drawing/2014/main" xmlns="" id="{B0812A02-7B92-4DEA-9683-82A1B285267D}"/>
                </a:ext>
              </a:extLst>
            </p:cNvPr>
            <p:cNvSpPr/>
            <p:nvPr/>
          </p:nvSpPr>
          <p:spPr>
            <a:xfrm>
              <a:off x="10570059" y="22121"/>
              <a:ext cx="684883" cy="1483913"/>
            </a:xfrm>
            <a:custGeom>
              <a:avLst/>
              <a:gdLst>
                <a:gd name="connsiteX0" fmla="*/ 284417 w 684883"/>
                <a:gd name="connsiteY0" fmla="*/ 1475353 h 1483913"/>
                <a:gd name="connsiteX1" fmla="*/ 683932 w 684883"/>
                <a:gd name="connsiteY1" fmla="*/ 14268 h 1483913"/>
                <a:gd name="connsiteX2" fmla="*/ 14268 w 684883"/>
                <a:gd name="connsiteY2" fmla="*/ 541248 h 1483913"/>
              </a:gdLst>
              <a:ahLst/>
              <a:cxnLst>
                <a:cxn ang="0">
                  <a:pos x="connsiteX0" y="connsiteY0"/>
                </a:cxn>
                <a:cxn ang="0">
                  <a:pos x="connsiteX1" y="connsiteY1"/>
                </a:cxn>
                <a:cxn ang="0">
                  <a:pos x="connsiteX2" y="connsiteY2"/>
                </a:cxn>
              </a:cxnLst>
              <a:rect l="l" t="t" r="r" b="b"/>
              <a:pathLst>
                <a:path w="684883" h="1483913">
                  <a:moveTo>
                    <a:pt x="284417" y="1475353"/>
                  </a:moveTo>
                  <a:lnTo>
                    <a:pt x="683932" y="14268"/>
                  </a:lnTo>
                  <a:lnTo>
                    <a:pt x="14268" y="541248"/>
                  </a:lnTo>
                  <a:close/>
                </a:path>
              </a:pathLst>
            </a:custGeom>
            <a:solidFill>
              <a:srgbClr val="D8D8D8"/>
            </a:solidFill>
            <a:ln w="9525" cap="flat">
              <a:noFill/>
              <a:prstDash val="solid"/>
              <a:miter/>
            </a:ln>
          </p:spPr>
          <p:txBody>
            <a:bodyPr rtlCol="0" anchor="ctr"/>
            <a:lstStyle/>
            <a:p>
              <a:endParaRPr lang="zh-CN" altLang="en-US"/>
            </a:p>
          </p:txBody>
        </p:sp>
        <p:sp>
          <p:nvSpPr>
            <p:cNvPr id="44" name="任意多边形: 形状 31">
              <a:extLst>
                <a:ext uri="{FF2B5EF4-FFF2-40B4-BE49-F238E27FC236}">
                  <a16:creationId xmlns:a16="http://schemas.microsoft.com/office/drawing/2014/main" xmlns="" id="{62213F4B-3D8F-4CE2-9902-6D9838165829}"/>
                </a:ext>
              </a:extLst>
            </p:cNvPr>
            <p:cNvSpPr/>
            <p:nvPr/>
          </p:nvSpPr>
          <p:spPr>
            <a:xfrm>
              <a:off x="11255993" y="2353409"/>
              <a:ext cx="932202" cy="932202"/>
            </a:xfrm>
            <a:custGeom>
              <a:avLst/>
              <a:gdLst>
                <a:gd name="connsiteX0" fmla="*/ 687737 w 932202"/>
                <a:gd name="connsiteY0" fmla="*/ 933153 h 932202"/>
                <a:gd name="connsiteX1" fmla="*/ 14268 w 932202"/>
                <a:gd name="connsiteY1" fmla="*/ 261587 h 932202"/>
                <a:gd name="connsiteX2" fmla="*/ 933154 w 932202"/>
                <a:gd name="connsiteY2" fmla="*/ 14268 h 932202"/>
              </a:gdLst>
              <a:ahLst/>
              <a:cxnLst>
                <a:cxn ang="0">
                  <a:pos x="connsiteX0" y="connsiteY0"/>
                </a:cxn>
                <a:cxn ang="0">
                  <a:pos x="connsiteX1" y="connsiteY1"/>
                </a:cxn>
                <a:cxn ang="0">
                  <a:pos x="connsiteX2" y="connsiteY2"/>
                </a:cxn>
              </a:cxnLst>
              <a:rect l="l" t="t" r="r" b="b"/>
              <a:pathLst>
                <a:path w="932202" h="932202">
                  <a:moveTo>
                    <a:pt x="687737" y="933153"/>
                  </a:moveTo>
                  <a:lnTo>
                    <a:pt x="14268" y="261587"/>
                  </a:lnTo>
                  <a:lnTo>
                    <a:pt x="933154" y="14268"/>
                  </a:lnTo>
                  <a:close/>
                </a:path>
              </a:pathLst>
            </a:custGeom>
            <a:solidFill>
              <a:srgbClr val="B4B4B4"/>
            </a:solidFill>
            <a:ln w="9525" cap="flat">
              <a:noFill/>
              <a:prstDash val="solid"/>
              <a:miter/>
            </a:ln>
          </p:spPr>
          <p:txBody>
            <a:bodyPr rtlCol="0" anchor="ctr"/>
            <a:lstStyle/>
            <a:p>
              <a:endParaRPr lang="zh-CN" altLang="en-US"/>
            </a:p>
          </p:txBody>
        </p:sp>
        <p:sp>
          <p:nvSpPr>
            <p:cNvPr id="45" name="任意多边形: 形状 32">
              <a:extLst>
                <a:ext uri="{FF2B5EF4-FFF2-40B4-BE49-F238E27FC236}">
                  <a16:creationId xmlns:a16="http://schemas.microsoft.com/office/drawing/2014/main" xmlns="" id="{48E3B64C-E8DE-46B2-B215-E9A88A283AEF}"/>
                </a:ext>
              </a:extLst>
            </p:cNvPr>
            <p:cNvSpPr/>
            <p:nvPr/>
          </p:nvSpPr>
          <p:spPr>
            <a:xfrm>
              <a:off x="11255993" y="2600728"/>
              <a:ext cx="684883" cy="684883"/>
            </a:xfrm>
            <a:custGeom>
              <a:avLst/>
              <a:gdLst>
                <a:gd name="connsiteX0" fmla="*/ 687737 w 684883"/>
                <a:gd name="connsiteY0" fmla="*/ 685834 h 684883"/>
                <a:gd name="connsiteX1" fmla="*/ 14268 w 684883"/>
                <a:gd name="connsiteY1" fmla="*/ 14268 h 684883"/>
                <a:gd name="connsiteX2" fmla="*/ 512711 w 684883"/>
                <a:gd name="connsiteY2" fmla="*/ 210221 h 684883"/>
              </a:gdLst>
              <a:ahLst/>
              <a:cxnLst>
                <a:cxn ang="0">
                  <a:pos x="connsiteX0" y="connsiteY0"/>
                </a:cxn>
                <a:cxn ang="0">
                  <a:pos x="connsiteX1" y="connsiteY1"/>
                </a:cxn>
                <a:cxn ang="0">
                  <a:pos x="connsiteX2" y="connsiteY2"/>
                </a:cxn>
              </a:cxnLst>
              <a:rect l="l" t="t" r="r" b="b"/>
              <a:pathLst>
                <a:path w="684883" h="684883">
                  <a:moveTo>
                    <a:pt x="687737" y="685834"/>
                  </a:moveTo>
                  <a:lnTo>
                    <a:pt x="14268" y="14268"/>
                  </a:lnTo>
                  <a:lnTo>
                    <a:pt x="512711" y="210221"/>
                  </a:lnTo>
                  <a:close/>
                </a:path>
              </a:pathLst>
            </a:custGeom>
            <a:solidFill>
              <a:srgbClr val="F0F0F0"/>
            </a:solidFill>
            <a:ln w="9525" cap="flat">
              <a:noFill/>
              <a:prstDash val="solid"/>
              <a:miter/>
            </a:ln>
          </p:spPr>
          <p:txBody>
            <a:bodyPr rtlCol="0" anchor="ctr"/>
            <a:lstStyle/>
            <a:p>
              <a:endParaRPr lang="zh-CN" altLang="en-US"/>
            </a:p>
          </p:txBody>
        </p:sp>
        <p:sp>
          <p:nvSpPr>
            <p:cNvPr id="46" name="任意多边形: 形状 33">
              <a:extLst>
                <a:ext uri="{FF2B5EF4-FFF2-40B4-BE49-F238E27FC236}">
                  <a16:creationId xmlns:a16="http://schemas.microsoft.com/office/drawing/2014/main" xmlns="" id="{927F048F-3C99-4074-9A69-F88460B27E30}"/>
                </a:ext>
              </a:extLst>
            </p:cNvPr>
            <p:cNvSpPr/>
            <p:nvPr/>
          </p:nvSpPr>
          <p:spPr>
            <a:xfrm>
              <a:off x="11754436" y="2353409"/>
              <a:ext cx="437564" cy="932202"/>
            </a:xfrm>
            <a:custGeom>
              <a:avLst/>
              <a:gdLst>
                <a:gd name="connsiteX0" fmla="*/ 189294 w 437564"/>
                <a:gd name="connsiteY0" fmla="*/ 933153 h 932202"/>
                <a:gd name="connsiteX1" fmla="*/ 434711 w 437564"/>
                <a:gd name="connsiteY1" fmla="*/ 14268 h 932202"/>
                <a:gd name="connsiteX2" fmla="*/ 14268 w 437564"/>
                <a:gd name="connsiteY2" fmla="*/ 457540 h 932202"/>
              </a:gdLst>
              <a:ahLst/>
              <a:cxnLst>
                <a:cxn ang="0">
                  <a:pos x="connsiteX0" y="connsiteY0"/>
                </a:cxn>
                <a:cxn ang="0">
                  <a:pos x="connsiteX1" y="connsiteY1"/>
                </a:cxn>
                <a:cxn ang="0">
                  <a:pos x="connsiteX2" y="connsiteY2"/>
                </a:cxn>
              </a:cxnLst>
              <a:rect l="l" t="t" r="r" b="b"/>
              <a:pathLst>
                <a:path w="437564" h="932202">
                  <a:moveTo>
                    <a:pt x="189294" y="933153"/>
                  </a:moveTo>
                  <a:lnTo>
                    <a:pt x="434711" y="14268"/>
                  </a:lnTo>
                  <a:lnTo>
                    <a:pt x="14268" y="457540"/>
                  </a:lnTo>
                  <a:close/>
                </a:path>
              </a:pathLst>
            </a:custGeom>
            <a:solidFill>
              <a:srgbClr val="D8D8D8"/>
            </a:solidFill>
            <a:ln w="9525" cap="flat">
              <a:noFill/>
              <a:prstDash val="solid"/>
              <a:miter/>
            </a:ln>
          </p:spPr>
          <p:txBody>
            <a:bodyPr rtlCol="0" anchor="ctr"/>
            <a:lstStyle/>
            <a:p>
              <a:endParaRPr lang="zh-CN" altLang="en-US"/>
            </a:p>
          </p:txBody>
        </p:sp>
        <p:sp>
          <p:nvSpPr>
            <p:cNvPr id="47" name="任意多边形: 形状 130">
              <a:extLst>
                <a:ext uri="{FF2B5EF4-FFF2-40B4-BE49-F238E27FC236}">
                  <a16:creationId xmlns:a16="http://schemas.microsoft.com/office/drawing/2014/main" xmlns="" id="{74D9498E-2BA6-44E4-B3FB-A6DA8DBFE96D}"/>
                </a:ext>
              </a:extLst>
            </p:cNvPr>
            <p:cNvSpPr/>
            <p:nvPr/>
          </p:nvSpPr>
          <p:spPr>
            <a:xfrm>
              <a:off x="11231161" y="0"/>
              <a:ext cx="236678" cy="251368"/>
            </a:xfrm>
            <a:custGeom>
              <a:avLst/>
              <a:gdLst>
                <a:gd name="connsiteX0" fmla="*/ 65797 w 236678"/>
                <a:gd name="connsiteY0" fmla="*/ 0 h 251368"/>
                <a:gd name="connsiteX1" fmla="*/ 236678 w 236678"/>
                <a:gd name="connsiteY1" fmla="*/ 0 h 251368"/>
                <a:gd name="connsiteX2" fmla="*/ 0 w 236678"/>
                <a:gd name="connsiteY2" fmla="*/ 251368 h 251368"/>
              </a:gdLst>
              <a:ahLst/>
              <a:cxnLst>
                <a:cxn ang="0">
                  <a:pos x="connsiteX0" y="connsiteY0"/>
                </a:cxn>
                <a:cxn ang="0">
                  <a:pos x="connsiteX1" y="connsiteY1"/>
                </a:cxn>
                <a:cxn ang="0">
                  <a:pos x="connsiteX2" y="connsiteY2"/>
                </a:cxn>
              </a:cxnLst>
              <a:rect l="l" t="t" r="r" b="b"/>
              <a:pathLst>
                <a:path w="236678" h="251368">
                  <a:moveTo>
                    <a:pt x="65797" y="0"/>
                  </a:moveTo>
                  <a:lnTo>
                    <a:pt x="236678" y="0"/>
                  </a:lnTo>
                  <a:lnTo>
                    <a:pt x="0" y="251368"/>
                  </a:lnTo>
                  <a:close/>
                </a:path>
              </a:pathLst>
            </a:custGeom>
            <a:solidFill>
              <a:schemeClr val="accent3"/>
            </a:solidFill>
            <a:ln w="9525" cap="flat">
              <a:noFill/>
              <a:prstDash val="solid"/>
              <a:miter/>
            </a:ln>
          </p:spPr>
          <p:txBody>
            <a:bodyPr rtlCol="0" anchor="ctr"/>
            <a:lstStyle/>
            <a:p>
              <a:endParaRPr lang="zh-CN" altLang="en-US"/>
            </a:p>
          </p:txBody>
        </p:sp>
        <p:sp>
          <p:nvSpPr>
            <p:cNvPr id="48" name="任意多边形: 形状 128">
              <a:extLst>
                <a:ext uri="{FF2B5EF4-FFF2-40B4-BE49-F238E27FC236}">
                  <a16:creationId xmlns:a16="http://schemas.microsoft.com/office/drawing/2014/main" xmlns="" id="{EA738A62-D78C-4250-B583-C8A7EC8F6874}"/>
                </a:ext>
              </a:extLst>
            </p:cNvPr>
            <p:cNvSpPr/>
            <p:nvPr/>
          </p:nvSpPr>
          <p:spPr>
            <a:xfrm>
              <a:off x="11231161" y="0"/>
              <a:ext cx="918787" cy="251366"/>
            </a:xfrm>
            <a:custGeom>
              <a:avLst/>
              <a:gdLst>
                <a:gd name="connsiteX0" fmla="*/ 236676 w 918787"/>
                <a:gd name="connsiteY0" fmla="*/ 0 h 251366"/>
                <a:gd name="connsiteX1" fmla="*/ 918787 w 918787"/>
                <a:gd name="connsiteY1" fmla="*/ 0 h 251366"/>
                <a:gd name="connsiteX2" fmla="*/ 0 w 918787"/>
                <a:gd name="connsiteY2" fmla="*/ 251366 h 251366"/>
              </a:gdLst>
              <a:ahLst/>
              <a:cxnLst>
                <a:cxn ang="0">
                  <a:pos x="connsiteX0" y="connsiteY0"/>
                </a:cxn>
                <a:cxn ang="0">
                  <a:pos x="connsiteX1" y="connsiteY1"/>
                </a:cxn>
                <a:cxn ang="0">
                  <a:pos x="connsiteX2" y="connsiteY2"/>
                </a:cxn>
              </a:cxnLst>
              <a:rect l="l" t="t" r="r" b="b"/>
              <a:pathLst>
                <a:path w="918787" h="251366">
                  <a:moveTo>
                    <a:pt x="236676" y="0"/>
                  </a:moveTo>
                  <a:lnTo>
                    <a:pt x="918787" y="0"/>
                  </a:lnTo>
                  <a:lnTo>
                    <a:pt x="0" y="251366"/>
                  </a:lnTo>
                  <a:close/>
                </a:path>
              </a:pathLst>
            </a:custGeom>
            <a:solidFill>
              <a:schemeClr val="accent1"/>
            </a:solidFill>
            <a:ln w="9525" cap="flat">
              <a:noFill/>
              <a:prstDash val="solid"/>
              <a:miter/>
            </a:ln>
          </p:spPr>
          <p:txBody>
            <a:bodyPr rtlCol="0" anchor="ctr"/>
            <a:lstStyle/>
            <a:p>
              <a:endParaRPr lang="zh-CN" altLang="en-US"/>
            </a:p>
          </p:txBody>
        </p:sp>
        <p:sp>
          <p:nvSpPr>
            <p:cNvPr id="49" name="任意多边形: 形状 133">
              <a:extLst>
                <a:ext uri="{FF2B5EF4-FFF2-40B4-BE49-F238E27FC236}">
                  <a16:creationId xmlns:a16="http://schemas.microsoft.com/office/drawing/2014/main" xmlns="" id="{D2A5CA47-5484-4C28-8EE0-85A4E455BDEC}"/>
                </a:ext>
              </a:extLst>
            </p:cNvPr>
            <p:cNvSpPr/>
            <p:nvPr userDrawn="1"/>
          </p:nvSpPr>
          <p:spPr>
            <a:xfrm>
              <a:off x="11253991" y="12283"/>
              <a:ext cx="938009" cy="1013382"/>
            </a:xfrm>
            <a:custGeom>
              <a:avLst/>
              <a:gdLst>
                <a:gd name="connsiteX0" fmla="*/ 938009 w 938009"/>
                <a:gd name="connsiteY0" fmla="*/ 0 h 1013382"/>
                <a:gd name="connsiteX1" fmla="*/ 938009 w 938009"/>
                <a:gd name="connsiteY1" fmla="*/ 351444 h 1013382"/>
                <a:gd name="connsiteX2" fmla="*/ 768592 w 938009"/>
                <a:gd name="connsiteY2" fmla="*/ 1013382 h 1013382"/>
                <a:gd name="connsiteX3" fmla="*/ 0 w 938009"/>
                <a:gd name="connsiteY3" fmla="*/ 263815 h 1013382"/>
              </a:gdLst>
              <a:ahLst/>
              <a:cxnLst>
                <a:cxn ang="0">
                  <a:pos x="connsiteX0" y="connsiteY0"/>
                </a:cxn>
                <a:cxn ang="0">
                  <a:pos x="connsiteX1" y="connsiteY1"/>
                </a:cxn>
                <a:cxn ang="0">
                  <a:pos x="connsiteX2" y="connsiteY2"/>
                </a:cxn>
                <a:cxn ang="0">
                  <a:pos x="connsiteX3" y="connsiteY3"/>
                </a:cxn>
              </a:cxnLst>
              <a:rect l="l" t="t" r="r" b="b"/>
              <a:pathLst>
                <a:path w="938009" h="1013382">
                  <a:moveTo>
                    <a:pt x="938009" y="0"/>
                  </a:moveTo>
                  <a:lnTo>
                    <a:pt x="938009" y="351444"/>
                  </a:lnTo>
                  <a:lnTo>
                    <a:pt x="768592" y="1013382"/>
                  </a:lnTo>
                  <a:lnTo>
                    <a:pt x="0" y="263815"/>
                  </a:lnTo>
                  <a:close/>
                </a:path>
              </a:pathLst>
            </a:custGeom>
            <a:solidFill>
              <a:schemeClr val="accent1"/>
            </a:solidFill>
            <a:ln w="9525" cap="flat">
              <a:noFill/>
              <a:prstDash val="solid"/>
              <a:miter/>
            </a:ln>
          </p:spPr>
          <p:txBody>
            <a:bodyPr rtlCol="0" anchor="ctr"/>
            <a:lstStyle/>
            <a:p>
              <a:endParaRPr lang="zh-CN" altLang="en-US"/>
            </a:p>
          </p:txBody>
        </p:sp>
        <p:sp>
          <p:nvSpPr>
            <p:cNvPr id="50" name="任意多边形: 形状 134">
              <a:extLst>
                <a:ext uri="{FF2B5EF4-FFF2-40B4-BE49-F238E27FC236}">
                  <a16:creationId xmlns:a16="http://schemas.microsoft.com/office/drawing/2014/main" xmlns="" id="{1858AD30-FC4D-4A4A-B365-5F476D5CE41D}"/>
                </a:ext>
              </a:extLst>
            </p:cNvPr>
            <p:cNvSpPr/>
            <p:nvPr/>
          </p:nvSpPr>
          <p:spPr>
            <a:xfrm>
              <a:off x="11253991" y="12283"/>
              <a:ext cx="938009" cy="416012"/>
            </a:xfrm>
            <a:custGeom>
              <a:avLst/>
              <a:gdLst>
                <a:gd name="connsiteX0" fmla="*/ 938009 w 938009"/>
                <a:gd name="connsiteY0" fmla="*/ 0 h 416012"/>
                <a:gd name="connsiteX1" fmla="*/ 938009 w 938009"/>
                <a:gd name="connsiteY1" fmla="*/ 90979 h 416012"/>
                <a:gd name="connsiteX2" fmla="*/ 671567 w 938009"/>
                <a:gd name="connsiteY2" fmla="*/ 416012 h 416012"/>
                <a:gd name="connsiteX3" fmla="*/ 0 w 938009"/>
                <a:gd name="connsiteY3" fmla="*/ 263816 h 416012"/>
              </a:gdLst>
              <a:ahLst/>
              <a:cxnLst>
                <a:cxn ang="0">
                  <a:pos x="connsiteX0" y="connsiteY0"/>
                </a:cxn>
                <a:cxn ang="0">
                  <a:pos x="connsiteX1" y="connsiteY1"/>
                </a:cxn>
                <a:cxn ang="0">
                  <a:pos x="connsiteX2" y="connsiteY2"/>
                </a:cxn>
                <a:cxn ang="0">
                  <a:pos x="connsiteX3" y="connsiteY3"/>
                </a:cxn>
              </a:cxnLst>
              <a:rect l="l" t="t" r="r" b="b"/>
              <a:pathLst>
                <a:path w="938009" h="416012">
                  <a:moveTo>
                    <a:pt x="938009" y="0"/>
                  </a:moveTo>
                  <a:lnTo>
                    <a:pt x="938009" y="90979"/>
                  </a:lnTo>
                  <a:lnTo>
                    <a:pt x="671567" y="416012"/>
                  </a:lnTo>
                  <a:lnTo>
                    <a:pt x="0" y="263816"/>
                  </a:lnTo>
                  <a:close/>
                </a:path>
              </a:pathLst>
            </a:custGeom>
            <a:solidFill>
              <a:schemeClr val="accent3"/>
            </a:soli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xmlns="" id="{E372FD86-9F7A-45A6-90F6-B07D7A2080EC}"/>
                </a:ext>
              </a:extLst>
            </p:cNvPr>
            <p:cNvSpPr/>
            <p:nvPr/>
          </p:nvSpPr>
          <p:spPr>
            <a:xfrm>
              <a:off x="11239723" y="261830"/>
              <a:ext cx="780006" cy="760981"/>
            </a:xfrm>
            <a:custGeom>
              <a:avLst/>
              <a:gdLst>
                <a:gd name="connsiteX0" fmla="*/ 14268 w 780005"/>
                <a:gd name="connsiteY0" fmla="*/ 14268 h 760981"/>
                <a:gd name="connsiteX1" fmla="*/ 782860 w 780005"/>
                <a:gd name="connsiteY1" fmla="*/ 763835 h 760981"/>
                <a:gd name="connsiteX2" fmla="*/ 685835 w 780005"/>
                <a:gd name="connsiteY2" fmla="*/ 166465 h 760981"/>
              </a:gdLst>
              <a:ahLst/>
              <a:cxnLst>
                <a:cxn ang="0">
                  <a:pos x="connsiteX0" y="connsiteY0"/>
                </a:cxn>
                <a:cxn ang="0">
                  <a:pos x="connsiteX1" y="connsiteY1"/>
                </a:cxn>
                <a:cxn ang="0">
                  <a:pos x="connsiteX2" y="connsiteY2"/>
                </a:cxn>
              </a:cxnLst>
              <a:rect l="l" t="t" r="r" b="b"/>
              <a:pathLst>
                <a:path w="780005" h="760981">
                  <a:moveTo>
                    <a:pt x="14268" y="14268"/>
                  </a:moveTo>
                  <a:lnTo>
                    <a:pt x="782860" y="763835"/>
                  </a:lnTo>
                  <a:lnTo>
                    <a:pt x="685835" y="166465"/>
                  </a:lnTo>
                  <a:close/>
                </a:path>
              </a:pathLst>
            </a:custGeom>
            <a:solidFill>
              <a:schemeClr val="accent2"/>
            </a:solidFill>
            <a:ln w="9525" cap="flat">
              <a:noFill/>
              <a:prstDash val="solid"/>
              <a:miter/>
            </a:ln>
          </p:spPr>
          <p:txBody>
            <a:bodyPr rtlCol="0" anchor="ctr"/>
            <a:lstStyle/>
            <a:p>
              <a:endParaRPr lang="zh-CN" altLang="en-US"/>
            </a:p>
          </p:txBody>
        </p:sp>
      </p:grpSp>
      <p:sp>
        <p:nvSpPr>
          <p:cNvPr id="52" name="标题 1"/>
          <p:cNvSpPr>
            <a:spLocks noGrp="1"/>
          </p:cNvSpPr>
          <p:nvPr>
            <p:ph type="ctrTitle"/>
          </p:nvPr>
        </p:nvSpPr>
        <p:spPr>
          <a:xfrm>
            <a:off x="4405746" y="2175164"/>
            <a:ext cx="6877626" cy="1528893"/>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53" name="副标题 2"/>
          <p:cNvSpPr>
            <a:spLocks noGrp="1"/>
          </p:cNvSpPr>
          <p:nvPr>
            <p:ph type="subTitle" idx="1" hasCustomPrompt="1"/>
          </p:nvPr>
        </p:nvSpPr>
        <p:spPr>
          <a:xfrm>
            <a:off x="4405746" y="3704057"/>
            <a:ext cx="6877626" cy="558799"/>
          </a:xfrm>
          <a:ln>
            <a:solidFill>
              <a:schemeClr val="accent1"/>
            </a:solidFill>
          </a:ln>
        </p:spPr>
        <p:txBody>
          <a:bodyPr anchor="ctr">
            <a:normAutofit/>
          </a:bodyPr>
          <a:lstStyle>
            <a:lvl1pPr marL="0" indent="0" algn="l">
              <a:buNone/>
              <a:defRPr sz="200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smtClean="0"/>
              <a:t>FRM</a:t>
            </a:r>
            <a:r>
              <a:rPr lang="zh-CN" altLang="en-US" dirty="0" smtClean="0"/>
              <a:t>一级培训讲义</a:t>
            </a:r>
            <a:endParaRPr lang="en-US" dirty="0"/>
          </a:p>
        </p:txBody>
      </p:sp>
      <p:sp>
        <p:nvSpPr>
          <p:cNvPr id="54" name="文本占位符 13"/>
          <p:cNvSpPr>
            <a:spLocks noGrp="1"/>
          </p:cNvSpPr>
          <p:nvPr>
            <p:ph type="body" sz="quarter" idx="10" hasCustomPrompt="1"/>
          </p:nvPr>
        </p:nvSpPr>
        <p:spPr>
          <a:xfrm>
            <a:off x="4405746" y="4677656"/>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5" name="文本占位符 13"/>
          <p:cNvSpPr>
            <a:spLocks noGrp="1"/>
          </p:cNvSpPr>
          <p:nvPr>
            <p:ph type="body" sz="quarter" idx="11" hasCustomPrompt="1"/>
          </p:nvPr>
        </p:nvSpPr>
        <p:spPr>
          <a:xfrm>
            <a:off x="4405746" y="4973927"/>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65935740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892">
          <p15:clr>
            <a:srgbClr val="FBAE40"/>
          </p15:clr>
        </p15:guide>
        <p15:guide id="2" pos="55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00" b="1" baseline="0">
                <a:solidFill>
                  <a:schemeClr val="accent6">
                    <a:lumMod val="50000"/>
                  </a:schemeClr>
                </a:solidFill>
                <a:latin typeface="Roboto" panose="02000000000000000000" pitchFamily="2" charset="0"/>
              </a:defRPr>
            </a:lvl1pPr>
          </a:lstStyle>
          <a:p>
            <a:r>
              <a:rPr lang="zh-CN" altLang="en-US" dirty="0" smtClean="0"/>
              <a:t>单击此处编辑母版标题样式</a:t>
            </a:r>
            <a:endParaRPr lang="zh-CN" altLang="en-US" dirty="0"/>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17503641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58917"/>
            <a:ext cx="9264352" cy="0"/>
          </a:xfrm>
          <a:prstGeom prst="line">
            <a:avLst/>
          </a:prstGeom>
          <a:noFill/>
          <a:ln w="38100">
            <a:solidFill>
              <a:schemeClr val="accent3"/>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a:noFill/>
        </p:spPr>
        <p:txBody>
          <a:bodyPr/>
          <a:lstStyle>
            <a:lvl1pPr>
              <a:lnSpc>
                <a:spcPct val="120000"/>
              </a:lnSpc>
              <a:spcBef>
                <a:spcPts val="0"/>
              </a:spcBef>
              <a:defRPr b="1" i="0" baseline="0">
                <a:solidFill>
                  <a:schemeClr val="accent6">
                    <a:lumMod val="50000"/>
                  </a:schemeClr>
                </a:solidFill>
              </a:defRPr>
            </a:lvl1pPr>
            <a:lvl2pPr>
              <a:lnSpc>
                <a:spcPct val="120000"/>
              </a:lnSpc>
              <a:spcBef>
                <a:spcPts val="0"/>
              </a:spcBef>
              <a:defRPr baseline="0">
                <a:solidFill>
                  <a:schemeClr val="accent6"/>
                </a:solidFill>
              </a:defRPr>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307183323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知识点页">
    <p:spTree>
      <p:nvGrpSpPr>
        <p:cNvPr id="1" name=""/>
        <p:cNvGrpSpPr/>
        <p:nvPr/>
      </p:nvGrpSpPr>
      <p:grpSpPr>
        <a:xfrm>
          <a:off x="0" y="0"/>
          <a:ext cx="0" cy="0"/>
          <a:chOff x="0" y="0"/>
          <a:chExt cx="0" cy="0"/>
        </a:xfrm>
      </p:grpSpPr>
      <p:sp>
        <p:nvSpPr>
          <p:cNvPr id="7" name="Freeform 5">
            <a:extLst>
              <a:ext uri="{FF2B5EF4-FFF2-40B4-BE49-F238E27FC236}">
                <a16:creationId xmlns:a16="http://schemas.microsoft.com/office/drawing/2014/main" xmlns=""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xmlns=""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a16="http://schemas.microsoft.com/office/drawing/2014/main" xmlns=""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a16="http://schemas.microsoft.com/office/drawing/2014/main" xmlns=""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45477"/>
            <a:ext cx="4702164" cy="1278384"/>
          </a:xfrm>
        </p:spPr>
        <p:txBody>
          <a:bodyPr anchor="b">
            <a:noAutofit/>
          </a:bodyPr>
          <a:lstStyle>
            <a:lvl1pPr algn="l">
              <a:defRPr sz="3200" b="1">
                <a:solidFill>
                  <a:schemeClr val="tx1"/>
                </a:solidFill>
              </a:defRPr>
            </a:lvl1pPr>
          </a:lstStyle>
          <a:p>
            <a:r>
              <a:rPr lang="en-US" dirty="0"/>
              <a:t>Click to edit Master title style</a:t>
            </a:r>
            <a:endParaRPr lang="zh-CN" altLang="en-US" dirty="0"/>
          </a:p>
        </p:txBody>
      </p:sp>
    </p:spTree>
    <p:extLst>
      <p:ext uri="{BB962C8B-B14F-4D97-AF65-F5344CB8AC3E}">
        <p14:creationId xmlns:p14="http://schemas.microsoft.com/office/powerpoint/2010/main" val="198014169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2"/>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smtClean="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hasCustomPrompt="1"/>
          </p:nvPr>
        </p:nvSpPr>
        <p:spPr>
          <a:xfrm>
            <a:off x="393600" y="624043"/>
            <a:ext cx="6758517" cy="5838796"/>
          </a:xfrm>
        </p:spPr>
        <p:txBody>
          <a:bodyPr/>
          <a:lstStyle>
            <a:lvl1pPr marL="457189" indent="-457189">
              <a:buFont typeface="+mj-lt"/>
              <a:buAutoNum type="alphaUcPeriod"/>
              <a:defRPr i="0" baseline="0">
                <a:solidFill>
                  <a:schemeClr val="accent4">
                    <a:lumMod val="50000"/>
                  </a:schemeClr>
                </a:solidFill>
              </a:defRPr>
            </a:lvl1pPr>
          </a:lstStyle>
          <a:p>
            <a:pPr lvl="0"/>
            <a:r>
              <a:rPr lang="zh-CN" altLang="en-US" dirty="0" smtClean="0"/>
              <a:t>一二三</a:t>
            </a:r>
            <a:endParaRPr lang="zh-CN" altLang="en-US" dirty="0"/>
          </a:p>
        </p:txBody>
      </p:sp>
      <p:sp>
        <p:nvSpPr>
          <p:cNvPr id="9" name="圆角右箭头 8"/>
          <p:cNvSpPr/>
          <p:nvPr userDrawn="1"/>
        </p:nvSpPr>
        <p:spPr>
          <a:xfrm rot="5400000">
            <a:off x="974538" y="5526"/>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284464574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hasCustomPrompt="1"/>
          </p:nvPr>
        </p:nvSpPr>
        <p:spPr>
          <a:xfrm>
            <a:off x="609600" y="62400"/>
            <a:ext cx="9766852" cy="576064"/>
          </a:xfrm>
        </p:spPr>
        <p:txBody>
          <a:bodyPr>
            <a:noAutofit/>
          </a:bodyPr>
          <a:lstStyle>
            <a:lvl1pPr algn="l">
              <a:defRPr sz="2600" b="1" baseline="0">
                <a:solidFill>
                  <a:schemeClr val="accent6">
                    <a:lumMod val="50000"/>
                  </a:schemeClr>
                </a:solidFill>
                <a:latin typeface="+mj-ea"/>
                <a:ea typeface="+mj-ea"/>
              </a:defRPr>
            </a:lvl1pPr>
          </a:lstStyle>
          <a:p>
            <a:r>
              <a:rPr lang="en-US" altLang="zh-CN" dirty="0" smtClean="0"/>
              <a:t>A</a:t>
            </a:r>
            <a:endParaRPr lang="zh-CN" altLang="en-US" dirty="0"/>
          </a:p>
        </p:txBody>
      </p:sp>
      <p:sp>
        <p:nvSpPr>
          <p:cNvPr id="3" name="文本占位符 2"/>
          <p:cNvSpPr>
            <a:spLocks noGrp="1"/>
          </p:cNvSpPr>
          <p:nvPr>
            <p:ph type="body" sz="quarter" idx="10"/>
          </p:nvPr>
        </p:nvSpPr>
        <p:spPr>
          <a:xfrm>
            <a:off x="393599" y="813469"/>
            <a:ext cx="11404800" cy="5660163"/>
          </a:xfrm>
        </p:spPr>
        <p:txBody>
          <a:bodyPr/>
          <a:lstStyle>
            <a:lvl1pPr>
              <a:defRPr i="0" baseline="0">
                <a:solidFill>
                  <a:schemeClr val="accent5">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1pPr>
            <a:lvl2pPr marL="990575" indent="-380990">
              <a:buFont typeface="Wingdings" panose="05000000000000000000" pitchFamily="2" charset="2"/>
              <a:buChar char="l"/>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2pPr>
            <a:lvl3pPr>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3pPr>
            <a:lvl4pPr>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4pPr>
            <a:lvl5pPr>
              <a:defRPr sz="2200">
                <a:solidFill>
                  <a:schemeClr val="tx2">
                    <a:lumMod val="50000"/>
                  </a:schemeClr>
                </a:solidFill>
                <a:latin typeface="微软雅黑" panose="020B0503020204020204" pitchFamily="34" charset="-122"/>
                <a:ea typeface="微软雅黑" panose="020B0503020204020204" pitchFamily="34" charset="-122"/>
                <a:cs typeface="Segoe UI" panose="020B0502040204020203" pitchFamily="34" charset="0"/>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74837032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599" y="816000"/>
            <a:ext cx="10972800" cy="5657629"/>
          </a:xfrm>
          <a:solidFill>
            <a:schemeClr val="accent3">
              <a:lumMod val="20000"/>
              <a:lumOff val="80000"/>
              <a:alpha val="50196"/>
            </a:schemeClr>
          </a:solidFill>
          <a:ln>
            <a:noFill/>
          </a:ln>
        </p:spPr>
        <p:txBody>
          <a:bodyPr>
            <a:normAutofit/>
          </a:bodyPr>
          <a:lstStyle>
            <a:lvl1pPr>
              <a:defRPr sz="2200" b="0" i="0">
                <a:solidFill>
                  <a:srgbClr val="194E5D"/>
                </a:solidFill>
                <a:latin typeface="微软雅黑" panose="020B0503020204020204" pitchFamily="34" charset="-122"/>
                <a:ea typeface="微软雅黑" panose="020B0503020204020204" pitchFamily="34" charset="-122"/>
              </a:defRPr>
            </a:lvl1pPr>
            <a:lvl2pPr>
              <a:defRPr sz="2200">
                <a:solidFill>
                  <a:srgbClr val="194E5D"/>
                </a:solidFill>
                <a:latin typeface="微软雅黑" panose="020B0503020204020204" pitchFamily="34" charset="-122"/>
                <a:ea typeface="微软雅黑" panose="020B0503020204020204" pitchFamily="34" charset="-122"/>
              </a:defRPr>
            </a:lvl2pPr>
            <a:lvl3pPr>
              <a:defRPr sz="2200">
                <a:solidFill>
                  <a:srgbClr val="194E5D"/>
                </a:solidFill>
                <a:latin typeface="微软雅黑" panose="020B0503020204020204" pitchFamily="34" charset="-122"/>
                <a:ea typeface="微软雅黑" panose="020B0503020204020204" pitchFamily="34" charset="-122"/>
              </a:defRPr>
            </a:lvl3pPr>
            <a:lvl4pPr>
              <a:defRPr sz="2200">
                <a:solidFill>
                  <a:srgbClr val="194E5D"/>
                </a:solidFill>
                <a:latin typeface="微软雅黑" panose="020B0503020204020204" pitchFamily="34" charset="-122"/>
                <a:ea typeface="微软雅黑" panose="020B0503020204020204" pitchFamily="34" charset="-122"/>
              </a:defRPr>
            </a:lvl4pPr>
            <a:lvl5pPr>
              <a:defRPr sz="2200">
                <a:solidFill>
                  <a:srgbClr val="194E5D"/>
                </a:solidFill>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12" name="Freeform 112"/>
          <p:cNvSpPr>
            <a:spLocks noChangeAspect="1" noChangeArrowheads="1"/>
          </p:cNvSpPr>
          <p:nvPr userDrawn="1"/>
        </p:nvSpPr>
        <p:spPr bwMode="auto">
          <a:xfrm>
            <a:off x="143339" y="816003"/>
            <a:ext cx="249600" cy="286156"/>
          </a:xfrm>
          <a:custGeom>
            <a:avLst/>
            <a:gdLst>
              <a:gd name="T0" fmla="*/ 410607 w 390"/>
              <a:gd name="T1" fmla="*/ 0 h 444"/>
              <a:gd name="T2" fmla="*/ 0 w 390"/>
              <a:gd name="T3" fmla="*/ 63592 h 444"/>
              <a:gd name="T4" fmla="*/ 52367 w 390"/>
              <a:gd name="T5" fmla="*/ 531536 h 444"/>
              <a:gd name="T6" fmla="*/ 462974 w 390"/>
              <a:gd name="T7" fmla="*/ 478742 h 444"/>
              <a:gd name="T8" fmla="*/ 410607 w 390"/>
              <a:gd name="T9" fmla="*/ 0 h 444"/>
              <a:gd name="T10" fmla="*/ 410607 w 390"/>
              <a:gd name="T11" fmla="*/ 478742 h 444"/>
              <a:gd name="T12" fmla="*/ 52367 w 390"/>
              <a:gd name="T13" fmla="*/ 63592 h 444"/>
              <a:gd name="T14" fmla="*/ 410607 w 390"/>
              <a:gd name="T15" fmla="*/ 478742 h 444"/>
              <a:gd name="T16" fmla="*/ 263026 w 390"/>
              <a:gd name="T17" fmla="*/ 329960 h 444"/>
              <a:gd name="T18" fmla="*/ 115446 w 390"/>
              <a:gd name="T19" fmla="*/ 362356 h 444"/>
              <a:gd name="T20" fmla="*/ 263026 w 390"/>
              <a:gd name="T21" fmla="*/ 329960 h 444"/>
              <a:gd name="T22" fmla="*/ 347528 w 390"/>
              <a:gd name="T23" fmla="*/ 212374 h 444"/>
              <a:gd name="T24" fmla="*/ 232082 w 390"/>
              <a:gd name="T25" fmla="*/ 235172 h 444"/>
              <a:gd name="T26" fmla="*/ 347528 w 390"/>
              <a:gd name="T27" fmla="*/ 212374 h 444"/>
              <a:gd name="T28" fmla="*/ 232082 w 390"/>
              <a:gd name="T29" fmla="*/ 181178 h 444"/>
              <a:gd name="T30" fmla="*/ 347528 w 390"/>
              <a:gd name="T31" fmla="*/ 117586 h 444"/>
              <a:gd name="T32" fmla="*/ 232082 w 390"/>
              <a:gd name="T33" fmla="*/ 181178 h 444"/>
              <a:gd name="T34" fmla="*/ 199948 w 390"/>
              <a:gd name="T35" fmla="*/ 117586 h 444"/>
              <a:gd name="T36" fmla="*/ 115446 w 390"/>
              <a:gd name="T37" fmla="*/ 235172 h 444"/>
              <a:gd name="T38" fmla="*/ 199948 w 390"/>
              <a:gd name="T39" fmla="*/ 117586 h 444"/>
              <a:gd name="T40" fmla="*/ 167813 w 390"/>
              <a:gd name="T41" fmla="*/ 266368 h 444"/>
              <a:gd name="T42" fmla="*/ 115446 w 390"/>
              <a:gd name="T43" fmla="*/ 298764 h 444"/>
              <a:gd name="T44" fmla="*/ 167813 w 390"/>
              <a:gd name="T45" fmla="*/ 266368 h 444"/>
              <a:gd name="T46" fmla="*/ 199948 w 390"/>
              <a:gd name="T47" fmla="*/ 298764 h 444"/>
              <a:gd name="T48" fmla="*/ 347528 w 390"/>
              <a:gd name="T49" fmla="*/ 266368 h 444"/>
              <a:gd name="T50" fmla="*/ 199948 w 390"/>
              <a:gd name="T51" fmla="*/ 298764 h 444"/>
              <a:gd name="T52" fmla="*/ 347528 w 390"/>
              <a:gd name="T53" fmla="*/ 382754 h 444"/>
              <a:gd name="T54" fmla="*/ 115446 w 390"/>
              <a:gd name="T55" fmla="*/ 415150 h 444"/>
              <a:gd name="T56" fmla="*/ 347528 w 390"/>
              <a:gd name="T57" fmla="*/ 382754 h 444"/>
              <a:gd name="T58" fmla="*/ 295161 w 390"/>
              <a:gd name="T59" fmla="*/ 362356 h 444"/>
              <a:gd name="T60" fmla="*/ 347528 w 390"/>
              <a:gd name="T61" fmla="*/ 329960 h 444"/>
              <a:gd name="T62" fmla="*/ 295161 w 390"/>
              <a:gd name="T63" fmla="*/ 362356 h 4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90" h="444">
                <a:moveTo>
                  <a:pt x="345" y="0"/>
                </a:moveTo>
                <a:lnTo>
                  <a:pt x="345" y="0"/>
                </a:lnTo>
                <a:cubicBezTo>
                  <a:pt x="44" y="0"/>
                  <a:pt x="44" y="0"/>
                  <a:pt x="44" y="0"/>
                </a:cubicBezTo>
                <a:cubicBezTo>
                  <a:pt x="17" y="0"/>
                  <a:pt x="0" y="27"/>
                  <a:pt x="0" y="53"/>
                </a:cubicBezTo>
                <a:cubicBezTo>
                  <a:pt x="0" y="399"/>
                  <a:pt x="0" y="399"/>
                  <a:pt x="0" y="399"/>
                </a:cubicBezTo>
                <a:cubicBezTo>
                  <a:pt x="0" y="425"/>
                  <a:pt x="17" y="443"/>
                  <a:pt x="44" y="443"/>
                </a:cubicBezTo>
                <a:cubicBezTo>
                  <a:pt x="345" y="443"/>
                  <a:pt x="345" y="443"/>
                  <a:pt x="345" y="443"/>
                </a:cubicBezTo>
                <a:cubicBezTo>
                  <a:pt x="372" y="443"/>
                  <a:pt x="389" y="425"/>
                  <a:pt x="389" y="399"/>
                </a:cubicBezTo>
                <a:cubicBezTo>
                  <a:pt x="389" y="53"/>
                  <a:pt x="389" y="53"/>
                  <a:pt x="389" y="53"/>
                </a:cubicBezTo>
                <a:cubicBezTo>
                  <a:pt x="389" y="27"/>
                  <a:pt x="372" y="0"/>
                  <a:pt x="345" y="0"/>
                </a:cubicBezTo>
                <a:close/>
                <a:moveTo>
                  <a:pt x="345" y="399"/>
                </a:moveTo>
                <a:lnTo>
                  <a:pt x="345" y="399"/>
                </a:lnTo>
                <a:cubicBezTo>
                  <a:pt x="44" y="399"/>
                  <a:pt x="44" y="399"/>
                  <a:pt x="44" y="399"/>
                </a:cubicBezTo>
                <a:cubicBezTo>
                  <a:pt x="44" y="53"/>
                  <a:pt x="44" y="53"/>
                  <a:pt x="44" y="53"/>
                </a:cubicBezTo>
                <a:cubicBezTo>
                  <a:pt x="345" y="53"/>
                  <a:pt x="345" y="53"/>
                  <a:pt x="345" y="53"/>
                </a:cubicBezTo>
                <a:lnTo>
                  <a:pt x="345" y="399"/>
                </a:lnTo>
                <a:close/>
                <a:moveTo>
                  <a:pt x="221" y="275"/>
                </a:moveTo>
                <a:lnTo>
                  <a:pt x="221" y="275"/>
                </a:lnTo>
                <a:cubicBezTo>
                  <a:pt x="97" y="275"/>
                  <a:pt x="97" y="275"/>
                  <a:pt x="97" y="275"/>
                </a:cubicBezTo>
                <a:cubicBezTo>
                  <a:pt x="97" y="302"/>
                  <a:pt x="97" y="302"/>
                  <a:pt x="97" y="302"/>
                </a:cubicBezTo>
                <a:cubicBezTo>
                  <a:pt x="221" y="302"/>
                  <a:pt x="221" y="302"/>
                  <a:pt x="221" y="302"/>
                </a:cubicBezTo>
                <a:lnTo>
                  <a:pt x="221" y="275"/>
                </a:lnTo>
                <a:close/>
                <a:moveTo>
                  <a:pt x="292" y="177"/>
                </a:moveTo>
                <a:lnTo>
                  <a:pt x="292" y="177"/>
                </a:lnTo>
                <a:cubicBezTo>
                  <a:pt x="195" y="177"/>
                  <a:pt x="195" y="177"/>
                  <a:pt x="195" y="177"/>
                </a:cubicBezTo>
                <a:cubicBezTo>
                  <a:pt x="195" y="196"/>
                  <a:pt x="195" y="196"/>
                  <a:pt x="195" y="196"/>
                </a:cubicBezTo>
                <a:cubicBezTo>
                  <a:pt x="292" y="196"/>
                  <a:pt x="292" y="196"/>
                  <a:pt x="292" y="196"/>
                </a:cubicBezTo>
                <a:lnTo>
                  <a:pt x="292" y="177"/>
                </a:lnTo>
                <a:close/>
                <a:moveTo>
                  <a:pt x="195" y="151"/>
                </a:moveTo>
                <a:lnTo>
                  <a:pt x="195" y="151"/>
                </a:lnTo>
                <a:cubicBezTo>
                  <a:pt x="292" y="151"/>
                  <a:pt x="292" y="151"/>
                  <a:pt x="292" y="151"/>
                </a:cubicBezTo>
                <a:cubicBezTo>
                  <a:pt x="292" y="98"/>
                  <a:pt x="292" y="98"/>
                  <a:pt x="292" y="98"/>
                </a:cubicBezTo>
                <a:cubicBezTo>
                  <a:pt x="195" y="98"/>
                  <a:pt x="195" y="98"/>
                  <a:pt x="195" y="98"/>
                </a:cubicBezTo>
                <a:lnTo>
                  <a:pt x="195" y="151"/>
                </a:lnTo>
                <a:close/>
                <a:moveTo>
                  <a:pt x="168" y="98"/>
                </a:moveTo>
                <a:lnTo>
                  <a:pt x="168" y="98"/>
                </a:lnTo>
                <a:cubicBezTo>
                  <a:pt x="97" y="98"/>
                  <a:pt x="97" y="98"/>
                  <a:pt x="97" y="98"/>
                </a:cubicBezTo>
                <a:cubicBezTo>
                  <a:pt x="97" y="196"/>
                  <a:pt x="97" y="196"/>
                  <a:pt x="97" y="196"/>
                </a:cubicBezTo>
                <a:cubicBezTo>
                  <a:pt x="168" y="196"/>
                  <a:pt x="168" y="196"/>
                  <a:pt x="168" y="196"/>
                </a:cubicBezTo>
                <a:lnTo>
                  <a:pt x="168" y="98"/>
                </a:lnTo>
                <a:close/>
                <a:moveTo>
                  <a:pt x="141" y="222"/>
                </a:moveTo>
                <a:lnTo>
                  <a:pt x="141" y="222"/>
                </a:lnTo>
                <a:cubicBezTo>
                  <a:pt x="97" y="222"/>
                  <a:pt x="97" y="222"/>
                  <a:pt x="97" y="222"/>
                </a:cubicBezTo>
                <a:cubicBezTo>
                  <a:pt x="97" y="249"/>
                  <a:pt x="97" y="249"/>
                  <a:pt x="97" y="249"/>
                </a:cubicBezTo>
                <a:cubicBezTo>
                  <a:pt x="141" y="249"/>
                  <a:pt x="141" y="249"/>
                  <a:pt x="141" y="249"/>
                </a:cubicBezTo>
                <a:lnTo>
                  <a:pt x="141" y="222"/>
                </a:lnTo>
                <a:close/>
                <a:moveTo>
                  <a:pt x="168" y="249"/>
                </a:moveTo>
                <a:lnTo>
                  <a:pt x="168" y="249"/>
                </a:lnTo>
                <a:cubicBezTo>
                  <a:pt x="292" y="249"/>
                  <a:pt x="292" y="249"/>
                  <a:pt x="292" y="249"/>
                </a:cubicBezTo>
                <a:cubicBezTo>
                  <a:pt x="292" y="222"/>
                  <a:pt x="292" y="222"/>
                  <a:pt x="292" y="222"/>
                </a:cubicBezTo>
                <a:cubicBezTo>
                  <a:pt x="168" y="222"/>
                  <a:pt x="168" y="222"/>
                  <a:pt x="168" y="222"/>
                </a:cubicBezTo>
                <a:lnTo>
                  <a:pt x="168" y="249"/>
                </a:lnTo>
                <a:close/>
                <a:moveTo>
                  <a:pt x="292" y="319"/>
                </a:moveTo>
                <a:lnTo>
                  <a:pt x="292" y="319"/>
                </a:lnTo>
                <a:cubicBezTo>
                  <a:pt x="97" y="319"/>
                  <a:pt x="97" y="319"/>
                  <a:pt x="97" y="319"/>
                </a:cubicBezTo>
                <a:cubicBezTo>
                  <a:pt x="97" y="346"/>
                  <a:pt x="97" y="346"/>
                  <a:pt x="97" y="346"/>
                </a:cubicBezTo>
                <a:cubicBezTo>
                  <a:pt x="292" y="346"/>
                  <a:pt x="292" y="346"/>
                  <a:pt x="292" y="346"/>
                </a:cubicBezTo>
                <a:lnTo>
                  <a:pt x="292" y="319"/>
                </a:lnTo>
                <a:close/>
                <a:moveTo>
                  <a:pt x="248" y="302"/>
                </a:moveTo>
                <a:lnTo>
                  <a:pt x="248" y="302"/>
                </a:lnTo>
                <a:cubicBezTo>
                  <a:pt x="292" y="302"/>
                  <a:pt x="292" y="302"/>
                  <a:pt x="292" y="302"/>
                </a:cubicBezTo>
                <a:cubicBezTo>
                  <a:pt x="292" y="275"/>
                  <a:pt x="292" y="275"/>
                  <a:pt x="292" y="275"/>
                </a:cubicBezTo>
                <a:cubicBezTo>
                  <a:pt x="248" y="275"/>
                  <a:pt x="248" y="275"/>
                  <a:pt x="248" y="275"/>
                </a:cubicBezTo>
                <a:lnTo>
                  <a:pt x="248" y="302"/>
                </a:lnTo>
                <a:close/>
              </a:path>
            </a:pathLst>
          </a:custGeom>
          <a:solidFill>
            <a:srgbClr val="5F4B8B"/>
          </a:solidFill>
          <a:ln>
            <a:noFill/>
          </a:ln>
          <a:effectLst>
            <a:outerShdw blurRad="25400" dist="12700" dir="2700000" algn="tl" rotWithShape="0">
              <a:prstClr val="black">
                <a:alpha val="40000"/>
              </a:prstClr>
            </a:outerShdw>
          </a:effectLst>
          <a:extLst/>
        </p:spPr>
        <p:txBody>
          <a:bodyPr wrap="none" lIns="45720" tIns="22860" rIns="45720" bIns="2286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hasCustomPrompt="1"/>
          </p:nvPr>
        </p:nvSpPr>
        <p:spPr>
          <a:xfrm>
            <a:off x="609600" y="62400"/>
            <a:ext cx="6734539" cy="576064"/>
          </a:xfrm>
        </p:spPr>
        <p:txBody>
          <a:bodyPr>
            <a:normAutofit/>
          </a:bodyPr>
          <a:lstStyle>
            <a:lvl1pPr algn="l">
              <a:defRPr sz="2600" b="1" baseline="0">
                <a:solidFill>
                  <a:schemeClr val="accent6">
                    <a:lumMod val="50000"/>
                  </a:schemeClr>
                </a:solidFill>
                <a:latin typeface="+mj-ea"/>
                <a:ea typeface="+mj-ea"/>
              </a:defRPr>
            </a:lvl1pPr>
          </a:lstStyle>
          <a:p>
            <a:r>
              <a:rPr lang="en-US" altLang="zh-CN" dirty="0" smtClean="0"/>
              <a:t>A</a:t>
            </a:r>
            <a:endParaRPr lang="zh-CN" altLang="en-US" dirty="0"/>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9947305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i="0">
                <a:latin typeface="微软雅黑" panose="020B0503020204020204" pitchFamily="34" charset="-122"/>
                <a:ea typeface="微软雅黑" panose="020B0503020204020204" pitchFamily="34" charset="-122"/>
              </a:defRPr>
            </a:lvl1pPr>
            <a:lvl2pPr>
              <a:lnSpc>
                <a:spcPct val="120000"/>
              </a:lnSpc>
              <a:spcBef>
                <a:spcPts val="0"/>
              </a:spcBef>
              <a:defRPr baseline="0">
                <a:solidFill>
                  <a:schemeClr val="accent4">
                    <a:lumMod val="50000"/>
                  </a:schemeClr>
                </a:solidFill>
                <a:latin typeface="微软雅黑" panose="020B0503020204020204" pitchFamily="34" charset="-122"/>
                <a:ea typeface="微软雅黑" panose="020B0503020204020204" pitchFamily="34" charset="-122"/>
              </a:defRPr>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151386234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448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00" b="1" baseline="0">
                <a:solidFill>
                  <a:schemeClr val="accent6">
                    <a:lumMod val="50000"/>
                  </a:schemeClr>
                </a:solidFill>
                <a:latin typeface="Roboto" panose="02000000000000000000" pitchFamily="2" charset="0"/>
              </a:defRPr>
            </a:lvl1pPr>
          </a:lstStyle>
          <a:p>
            <a:r>
              <a:rPr lang="zh-CN" altLang="en-US" dirty="0" smtClean="0"/>
              <a:t>单击此处编辑母版标题样式</a:t>
            </a:r>
            <a:endParaRPr lang="zh-CN" altLang="en-US" dirty="0"/>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374940001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baseline="0">
                <a:solidFill>
                  <a:schemeClr val="accent6">
                    <a:lumMod val="50000"/>
                  </a:schemeClr>
                </a:solidFill>
              </a:defRPr>
            </a:lvl1pPr>
            <a:lvl2pPr>
              <a:lnSpc>
                <a:spcPct val="120000"/>
              </a:lnSpc>
              <a:spcBef>
                <a:spcPts val="0"/>
              </a:spcBef>
              <a:defRPr i="0"/>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265398734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1"/>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p:nvPr>
        </p:nvSpPr>
        <p:spPr>
          <a:xfrm>
            <a:off x="393600" y="624043"/>
            <a:ext cx="6758517" cy="5838796"/>
          </a:xfrm>
        </p:spPr>
        <p:txBody>
          <a:bodyPr>
            <a:normAutofit/>
          </a:bodyPr>
          <a:lstStyle>
            <a:lvl1pPr marL="457189" indent="-457189">
              <a:buFont typeface="+mj-lt"/>
              <a:buAutoNum type="arabicPeriod"/>
              <a:defRPr lang="zh-CN" altLang="en-US" sz="2400" i="0" kern="1200" baseline="0" dirty="0">
                <a:solidFill>
                  <a:srgbClr val="002060"/>
                </a:solidFill>
                <a:latin typeface="+mn-lt"/>
                <a:ea typeface="+mn-ea"/>
                <a:cs typeface="+mn-ea"/>
              </a:defRPr>
            </a:lvl1pPr>
          </a:lstStyle>
          <a:p>
            <a:pPr lvl="0"/>
            <a:endParaRPr lang="zh-CN" altLang="en-US" dirty="0"/>
          </a:p>
        </p:txBody>
      </p:sp>
      <p:sp>
        <p:nvSpPr>
          <p:cNvPr id="9" name="圆角右箭头 8"/>
          <p:cNvSpPr/>
          <p:nvPr userDrawn="1"/>
        </p:nvSpPr>
        <p:spPr>
          <a:xfrm rot="5400000">
            <a:off x="974533" y="5522"/>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354007795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00" b="1" baseline="0">
                <a:solidFill>
                  <a:schemeClr val="accent6">
                    <a:lumMod val="50000"/>
                  </a:schemeClr>
                </a:solidFill>
                <a:latin typeface="+mj-lt"/>
              </a:defRPr>
            </a:lvl1pPr>
          </a:lstStyle>
          <a:p>
            <a:endParaRPr lang="zh-CN" altLang="en-US" dirty="0"/>
          </a:p>
        </p:txBody>
      </p:sp>
      <p:sp>
        <p:nvSpPr>
          <p:cNvPr id="3" name="文本占位符 2"/>
          <p:cNvSpPr>
            <a:spLocks noGrp="1"/>
          </p:cNvSpPr>
          <p:nvPr>
            <p:ph type="body" sz="quarter" idx="10"/>
          </p:nvPr>
        </p:nvSpPr>
        <p:spPr>
          <a:xfrm>
            <a:off x="393599" y="813468"/>
            <a:ext cx="11404800" cy="5660163"/>
          </a:xfrm>
        </p:spPr>
        <p:txBody>
          <a:bodyPr/>
          <a:lstStyle>
            <a:lvl1pPr>
              <a:lnSpc>
                <a:spcPct val="150000"/>
              </a:lnSpc>
              <a:defRPr b="1" i="0" baseline="0">
                <a:solidFill>
                  <a:schemeClr val="accent6"/>
                </a:solidFill>
                <a:latin typeface="微软雅黑" panose="020B0503020204020204" pitchFamily="34" charset="-122"/>
                <a:ea typeface="微软雅黑" panose="020B0503020204020204" pitchFamily="34" charset="-122"/>
              </a:defRPr>
            </a:lvl1pPr>
            <a:lvl2pPr marL="990575" indent="-380990">
              <a:lnSpc>
                <a:spcPct val="150000"/>
              </a:lnSpc>
              <a:buFont typeface="Wingdings" panose="05000000000000000000" pitchFamily="2" charset="2"/>
              <a:buChar char="l"/>
              <a:defRPr sz="2200">
                <a:solidFill>
                  <a:schemeClr val="tx1"/>
                </a:solidFill>
                <a:latin typeface="Segoe UI" panose="020B0502040204020203" pitchFamily="34" charset="0"/>
                <a:ea typeface="微软雅黑" panose="020B0503020204020204" pitchFamily="34" charset="-122"/>
                <a:cs typeface="Segoe UI" panose="020B0502040204020203" pitchFamily="34" charset="0"/>
              </a:defRPr>
            </a:lvl2pPr>
            <a:lvl3pPr>
              <a:lnSpc>
                <a:spcPct val="150000"/>
              </a:lnSpc>
              <a:defRPr sz="2200">
                <a:solidFill>
                  <a:schemeClr val="tx1"/>
                </a:solidFill>
                <a:latin typeface="Segoe UI" panose="020B0502040204020203" pitchFamily="34" charset="0"/>
                <a:ea typeface="微软雅黑" panose="020B0503020204020204" pitchFamily="34" charset="-122"/>
                <a:cs typeface="Segoe UI" panose="020B0502040204020203" pitchFamily="34" charset="0"/>
              </a:defRPr>
            </a:lvl3pPr>
            <a:lvl4pPr>
              <a:lnSpc>
                <a:spcPct val="150000"/>
              </a:lnSpc>
              <a:defRPr sz="2200">
                <a:solidFill>
                  <a:schemeClr val="tx1"/>
                </a:solidFill>
                <a:latin typeface="Segoe UI" panose="020B0502040204020203" pitchFamily="34" charset="0"/>
                <a:ea typeface="微软雅黑" panose="020B0503020204020204" pitchFamily="34" charset="-122"/>
              </a:defRPr>
            </a:lvl4pPr>
            <a:lvl5pPr>
              <a:lnSpc>
                <a:spcPct val="150000"/>
              </a:lnSpc>
              <a:defRPr sz="2200">
                <a:solidFill>
                  <a:schemeClr val="tx1"/>
                </a:solidFill>
                <a:latin typeface="Segoe UI" panose="020B0502040204020203" pitchFamily="34" charset="0"/>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03522840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600" y="816002"/>
            <a:ext cx="10972800" cy="5657629"/>
          </a:xfrm>
          <a:solidFill>
            <a:schemeClr val="accent1">
              <a:lumMod val="40000"/>
              <a:lumOff val="60000"/>
              <a:alpha val="50196"/>
            </a:schemeClr>
          </a:solidFill>
        </p:spPr>
        <p:txBody>
          <a:bodyPr/>
          <a:lstStyle>
            <a:lvl1pPr>
              <a:defRPr baseline="0">
                <a:solidFill>
                  <a:schemeClr val="accent6">
                    <a:lumMod val="50000"/>
                  </a:schemeClr>
                </a:solidFill>
                <a:latin typeface="微软雅黑" panose="020B0503020204020204" pitchFamily="34" charset="-122"/>
                <a:ea typeface="微软雅黑" panose="020B0503020204020204" pitchFamily="34" charset="-122"/>
              </a:defRPr>
            </a:lvl1pPr>
            <a:lvl2pPr>
              <a:defRPr sz="2200">
                <a:solidFill>
                  <a:srgbClr val="002060"/>
                </a:solidFill>
                <a:latin typeface="微软雅黑" panose="020B0503020204020204" pitchFamily="34" charset="-122"/>
                <a:ea typeface="微软雅黑" panose="020B0503020204020204" pitchFamily="34" charset="-122"/>
              </a:defRPr>
            </a:lvl2pPr>
            <a:lvl3pPr>
              <a:defRPr sz="2200">
                <a:solidFill>
                  <a:srgbClr val="002060"/>
                </a:solidFill>
                <a:latin typeface="微软雅黑" panose="020B0503020204020204" pitchFamily="34" charset="-122"/>
                <a:ea typeface="微软雅黑" panose="020B0503020204020204" pitchFamily="34" charset="-122"/>
              </a:defRPr>
            </a:lvl3pPr>
            <a:lvl4pPr>
              <a:defRPr sz="2200">
                <a:solidFill>
                  <a:srgbClr val="002060"/>
                </a:solidFill>
                <a:latin typeface="微软雅黑" panose="020B0503020204020204" pitchFamily="34" charset="-122"/>
                <a:ea typeface="微软雅黑" panose="020B0503020204020204" pitchFamily="34" charset="-122"/>
              </a:defRPr>
            </a:lvl4pPr>
            <a:lvl5pPr>
              <a:defRPr sz="2200">
                <a:solidFill>
                  <a:srgbClr val="002060"/>
                </a:solidFill>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hasCustomPrompt="1"/>
          </p:nvPr>
        </p:nvSpPr>
        <p:spPr>
          <a:xfrm>
            <a:off x="609600" y="62400"/>
            <a:ext cx="6734539" cy="576064"/>
          </a:xfrm>
        </p:spPr>
        <p:txBody>
          <a:bodyPr>
            <a:normAutofit/>
          </a:bodyPr>
          <a:lstStyle>
            <a:lvl1pPr algn="l">
              <a:defRPr sz="2667" b="1" baseline="0">
                <a:solidFill>
                  <a:schemeClr val="accent6">
                    <a:lumMod val="50000"/>
                  </a:schemeClr>
                </a:solidFill>
                <a:latin typeface="+mj-lt"/>
              </a:defRPr>
            </a:lvl1pPr>
          </a:lstStyle>
          <a:p>
            <a:r>
              <a:rPr lang="en-US" altLang="zh-CN" dirty="0" smtClean="0"/>
              <a:t>Practice</a:t>
            </a:r>
            <a:endParaRPr lang="zh-CN" altLang="en-US" dirty="0"/>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4139999557"/>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36712"/>
            <a:ext cx="9264352" cy="0"/>
          </a:xfrm>
          <a:prstGeom prst="line">
            <a:avLst/>
          </a:prstGeom>
          <a:noFill/>
          <a:ln w="38100">
            <a:solidFill>
              <a:schemeClr val="accent2"/>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a:latin typeface="+mn-lt"/>
                <a:ea typeface="微软雅黑" panose="020B0503020204020204" pitchFamily="34" charset="-122"/>
              </a:defRPr>
            </a:lvl1pPr>
            <a:lvl2pPr>
              <a:lnSpc>
                <a:spcPct val="120000"/>
              </a:lnSpc>
              <a:spcBef>
                <a:spcPts val="0"/>
              </a:spcBef>
              <a:defRPr>
                <a:latin typeface="微软雅黑" panose="020B0503020204020204" pitchFamily="34" charset="-122"/>
                <a:ea typeface="微软雅黑" panose="020B0503020204020204" pitchFamily="34" charset="-122"/>
              </a:defRPr>
            </a:lvl2pPr>
          </a:lstStyle>
          <a:p>
            <a:pPr lvl="0"/>
            <a:r>
              <a:rPr lang="zh-CN" altLang="en-US" dirty="0" smtClean="0"/>
              <a:t>编辑母版文本样式</a:t>
            </a:r>
          </a:p>
          <a:p>
            <a:pPr lvl="1"/>
            <a:r>
              <a:rPr lang="zh-CN" altLang="en-US" dirty="0" smtClean="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smtClean="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smtClean="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47405311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2.xml"/><Relationship Id="rId7"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2510069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80" r:id="rId9"/>
  </p:sldLayoutIdLst>
  <p:timing>
    <p:tnLst>
      <p:par>
        <p:cTn id="1" dur="indefinite" restart="never" nodeType="tmRoot"/>
      </p:par>
    </p:tnLst>
  </p:timing>
  <p:hf sldNum="0" hd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50000"/>
        </a:lnSpc>
        <a:spcBef>
          <a:spcPts val="0"/>
        </a:spcBef>
        <a:buFont typeface="Wingdings" panose="05000000000000000000" pitchFamily="2" charset="2"/>
        <a:buChar char="Ø"/>
        <a:defRPr sz="2400" b="1" i="1" kern="1200" baseline="0">
          <a:solidFill>
            <a:schemeClr val="accent6">
              <a:lumMod val="50000"/>
            </a:schemeClr>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5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3392" y="1700808"/>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93145379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7" r:id="rId4"/>
    <p:sldLayoutId id="2147483678" r:id="rId5"/>
    <p:sldLayoutId id="2147483679" r:id="rId6"/>
  </p:sldLayoutIdLst>
  <p:timing>
    <p:tnLst>
      <p:par>
        <p:cTn id="1" dur="indefinite" restart="never" nodeType="tmRoot"/>
      </p:par>
    </p:tnLst>
  </p:timing>
  <p:hf sldNum="0" hd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20000"/>
        </a:lnSpc>
        <a:spcBef>
          <a:spcPts val="0"/>
        </a:spcBef>
        <a:buFont typeface="Wingdings" panose="05000000000000000000" pitchFamily="2" charset="2"/>
        <a:buChar char="Ø"/>
        <a:defRPr sz="2400" kern="1200" baseline="0">
          <a:solidFill>
            <a:srgbClr val="263238"/>
          </a:solidFill>
          <a:latin typeface="Roboto" panose="02000000000000000000" pitchFamily="2" charset="0"/>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chemeClr val="accent2"/>
          </a:solidFill>
          <a:latin typeface="Roboto" panose="02000000000000000000" pitchFamily="2" charset="0"/>
          <a:ea typeface="微软雅黑" panose="020B0503020204020204" pitchFamily="34" charset="-122"/>
          <a:cs typeface="+mn-cs"/>
        </a:defRPr>
      </a:lvl2pPr>
      <a:lvl3pPr marL="1523962" indent="-304792" algn="l" defTabSz="1219170" rtl="0" eaLnBrk="1" latinLnBrk="0" hangingPunct="1">
        <a:lnSpc>
          <a:spcPct val="120000"/>
        </a:lnSpc>
        <a:spcBef>
          <a:spcPts val="0"/>
        </a:spcBef>
        <a:buFont typeface="Wingdings" panose="05000000000000000000" pitchFamily="2" charset="2"/>
        <a:buChar char="ü"/>
        <a:defRPr sz="2400" kern="1200" baseline="0">
          <a:solidFill>
            <a:schemeClr val="accent2"/>
          </a:solidFill>
          <a:latin typeface="Roboto" panose="02000000000000000000" pitchFamily="2" charset="0"/>
          <a:ea typeface="微软雅黑" panose="020B0503020204020204" pitchFamily="34" charset="-122"/>
          <a:cs typeface="+mn-cs"/>
        </a:defRPr>
      </a:lvl3pPr>
      <a:lvl4pPr marL="2133547" indent="-304792" algn="l" defTabSz="1219170" rtl="0" eaLnBrk="1" latinLnBrk="0" hangingPunct="1">
        <a:lnSpc>
          <a:spcPct val="120000"/>
        </a:lnSpc>
        <a:spcBef>
          <a:spcPts val="0"/>
        </a:spcBef>
        <a:buFont typeface="Wingdings" panose="05000000000000000000" pitchFamily="2" charset="2"/>
        <a:buChar char="n"/>
        <a:defRPr sz="2400" kern="1200" baseline="0">
          <a:solidFill>
            <a:schemeClr val="accent2"/>
          </a:solidFill>
          <a:latin typeface="Roboto" panose="02000000000000000000" pitchFamily="2" charset="0"/>
          <a:ea typeface="微软雅黑" panose="020B0503020204020204" pitchFamily="34" charset="-122"/>
          <a:cs typeface="+mn-cs"/>
        </a:defRPr>
      </a:lvl4pPr>
      <a:lvl5pPr marL="2743131" indent="-304792" algn="l" defTabSz="1219170" rtl="0" eaLnBrk="1" latinLnBrk="0" hangingPunct="1">
        <a:lnSpc>
          <a:spcPct val="120000"/>
        </a:lnSpc>
        <a:spcBef>
          <a:spcPts val="0"/>
        </a:spcBef>
        <a:buFont typeface="Wingdings" panose="05000000000000000000" pitchFamily="2" charset="2"/>
        <a:buChar char="p"/>
        <a:defRPr sz="2400" kern="1200" baseline="0">
          <a:solidFill>
            <a:schemeClr val="accent2"/>
          </a:solidFill>
          <a:latin typeface="Roboto" panose="02000000000000000000" pitchFamily="2" charset="0"/>
          <a:ea typeface="微软雅黑" panose="020B0503020204020204" pitchFamily="34" charset="-122"/>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imgsrc.baidu.com/baike/pic/item/27d647eed89c6fe8b3fb9522.jpg" TargetMode="Externa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230808" y="1815152"/>
            <a:ext cx="5977718" cy="1888905"/>
          </a:xfrm>
          <a:ln>
            <a:noFill/>
          </a:ln>
        </p:spPr>
        <p:txBody>
          <a:bodyPr>
            <a:normAutofit/>
          </a:bodyPr>
          <a:lstStyle/>
          <a:p>
            <a:r>
              <a:rPr lang="en-US" altLang="zh-CN"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Foundations</a:t>
            </a:r>
            <a:br>
              <a:rPr lang="en-US" altLang="zh-CN"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altLang="zh-CN"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of Risk Management</a:t>
            </a:r>
            <a:endParaRPr lang="zh-CN" altLang="en-US" sz="4400" b="1"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副标题 2"/>
          <p:cNvSpPr>
            <a:spLocks noGrp="1"/>
          </p:cNvSpPr>
          <p:nvPr>
            <p:ph type="subTitle" idx="1"/>
          </p:nvPr>
        </p:nvSpPr>
        <p:spPr>
          <a:xfrm>
            <a:off x="4405746" y="3410176"/>
            <a:ext cx="4187410" cy="1269870"/>
          </a:xfrm>
          <a:ln>
            <a:noFill/>
          </a:ln>
        </p:spPr>
        <p:txBody>
          <a:bodyPr>
            <a:normAutofit/>
          </a:bodyPr>
          <a:lstStyle/>
          <a:p>
            <a:r>
              <a:rPr lang="en-US" altLang="zh-CN" sz="2600"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FRM</a:t>
            </a:r>
            <a:r>
              <a:rPr lang="zh-CN" altLang="en-US"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t>
            </a:r>
            <a:r>
              <a:rPr lang="en-US" altLang="zh-CN" sz="2600"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art</a:t>
            </a:r>
            <a:r>
              <a:rPr lang="en-US" altLang="zh-CN"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a:t>
            </a:r>
            <a:r>
              <a:rPr lang="en-US" altLang="zh-CN"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zh-CN" altLang="en-US" i="0" dirty="0" smtClean="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培训讲义</a:t>
            </a:r>
            <a:endPar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文本占位符 3"/>
          <p:cNvSpPr>
            <a:spLocks noGrp="1"/>
          </p:cNvSpPr>
          <p:nvPr>
            <p:ph type="body" sz="quarter" idx="10"/>
          </p:nvPr>
        </p:nvSpPr>
        <p:spPr>
          <a:xfrm>
            <a:off x="4405746" y="4677656"/>
            <a:ext cx="6886543" cy="296271"/>
          </a:xfrm>
          <a:ln>
            <a:noFill/>
          </a:ln>
        </p:spPr>
        <p:txBody>
          <a:bodyPr/>
          <a:lstStyle/>
          <a:p>
            <a:pPr algn="just"/>
            <a:r>
              <a:rPr lang="zh-CN" altLang="en-US" sz="1600" b="1" i="0" dirty="0" smtClean="0"/>
              <a:t>                                                                       </a:t>
            </a:r>
            <a:r>
              <a:rPr lang="zh-CN" altLang="en-US" sz="1600" b="1" i="0" dirty="0" smtClean="0">
                <a:solidFill>
                  <a:schemeClr val="accent6">
                    <a:lumMod val="50000"/>
                  </a:schemeClr>
                </a:solidFill>
              </a:rPr>
              <a:t>讲师：</a:t>
            </a:r>
            <a:r>
              <a:rPr lang="en-US" altLang="zh-CN" sz="1600" b="1" i="0" dirty="0" smtClean="0">
                <a:solidFill>
                  <a:schemeClr val="accent6">
                    <a:lumMod val="50000"/>
                  </a:schemeClr>
                </a:solidFill>
              </a:rPr>
              <a:t>Chen</a:t>
            </a:r>
            <a:endParaRPr lang="zh-CN" altLang="en-US" sz="1600" b="1" i="0" dirty="0">
              <a:solidFill>
                <a:schemeClr val="accent6">
                  <a:lumMod val="50000"/>
                </a:schemeClr>
              </a:solidFill>
            </a:endParaRPr>
          </a:p>
        </p:txBody>
      </p:sp>
    </p:spTree>
    <p:extLst>
      <p:ext uri="{BB962C8B-B14F-4D97-AF65-F5344CB8AC3E}">
        <p14:creationId xmlns:p14="http://schemas.microsoft.com/office/powerpoint/2010/main" val="34294622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3667" y="293755"/>
            <a:ext cx="6734539" cy="576064"/>
          </a:xfrm>
        </p:spPr>
        <p:txBody>
          <a:bodyPr>
            <a:normAutofit fontScale="90000"/>
          </a:bodyPr>
          <a:lstStyle/>
          <a:p>
            <a:r>
              <a:rPr lang="en-US" altLang="zh-CN" sz="3600" dirty="0" smtClean="0">
                <a:latin typeface="+mn-lt"/>
                <a:ea typeface="+mn-ea"/>
                <a:cs typeface="+mn-ea"/>
                <a:sym typeface="+mn-lt"/>
              </a:rPr>
              <a:t>Topic Weightings in FRM Part I</a:t>
            </a:r>
            <a:r>
              <a:rPr lang="en-US" altLang="zh-CN" dirty="0">
                <a:latin typeface="+mn-lt"/>
                <a:ea typeface="+mn-ea"/>
                <a:cs typeface="+mn-ea"/>
                <a:sym typeface="+mn-lt"/>
              </a:rPr>
              <a:t/>
            </a:r>
            <a:br>
              <a:rPr lang="en-US" altLang="zh-CN" dirty="0">
                <a:latin typeface="+mn-lt"/>
                <a:ea typeface="+mn-ea"/>
                <a:cs typeface="+mn-ea"/>
                <a:sym typeface="+mn-lt"/>
              </a:rPr>
            </a:br>
            <a:endParaRPr lang="zh-CN" altLang="en-US" dirty="0">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3459516164"/>
              </p:ext>
            </p:extLst>
          </p:nvPr>
        </p:nvGraphicFramePr>
        <p:xfrm>
          <a:off x="653667" y="1410161"/>
          <a:ext cx="10040880" cy="4323335"/>
        </p:xfrm>
        <a:graphic>
          <a:graphicData uri="http://schemas.openxmlformats.org/drawingml/2006/table">
            <a:tbl>
              <a:tblPr/>
              <a:tblGrid>
                <a:gridCol w="2652229">
                  <a:extLst>
                    <a:ext uri="{9D8B030D-6E8A-4147-A177-3AD203B41FA5}">
                      <a16:colId xmlns:a16="http://schemas.microsoft.com/office/drawing/2014/main" xmlns="" val="20000"/>
                    </a:ext>
                  </a:extLst>
                </a:gridCol>
                <a:gridCol w="5210482">
                  <a:extLst>
                    <a:ext uri="{9D8B030D-6E8A-4147-A177-3AD203B41FA5}">
                      <a16:colId xmlns:a16="http://schemas.microsoft.com/office/drawing/2014/main" xmlns="" val="20001"/>
                    </a:ext>
                  </a:extLst>
                </a:gridCol>
                <a:gridCol w="2178169">
                  <a:extLst>
                    <a:ext uri="{9D8B030D-6E8A-4147-A177-3AD203B41FA5}">
                      <a16:colId xmlns:a16="http://schemas.microsoft.com/office/drawing/2014/main" xmlns="" val="20002"/>
                    </a:ext>
                  </a:extLst>
                </a:gridCol>
              </a:tblGrid>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Session NO.</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Content</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Weights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extLst>
                  <a:ext uri="{0D108BD9-81ED-4DB2-BD59-A6C34878D82A}">
                    <a16:rowId xmlns:a16="http://schemas.microsoft.com/office/drawing/2014/main" xmlns="" val="10000"/>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1 </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FECD9"/>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Foundations of Risk Management</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FECD9"/>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20</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FECD9"/>
                    </a:solidFill>
                  </a:tcPr>
                </a:tc>
                <a:extLst>
                  <a:ext uri="{0D108BD9-81ED-4DB2-BD59-A6C34878D82A}">
                    <a16:rowId xmlns:a16="http://schemas.microsoft.com/office/drawing/2014/main" xmlns="" val="10001"/>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2 </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Quantitative Analysis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20</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3</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Financial Markets and Products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Study Session 4 </a:t>
                      </a:r>
                      <a:endParaRPr kumimoji="1" lang="zh-CN" altLang="en-US" sz="2400" b="0" i="0" u="none" strike="noStrike" kern="1200" cap="none" normalizeH="0" baseline="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Valuation and Risk Models</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smtClean="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smtClean="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6832050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a:xfrm>
            <a:off x="431800" y="1796820"/>
            <a:ext cx="5352055" cy="4696056"/>
          </a:xfrm>
        </p:spPr>
        <p:txBody>
          <a:bodyPr>
            <a:normAutofit fontScale="85000" lnSpcReduction="10000"/>
          </a:bodyPr>
          <a:lstStyle/>
          <a:p>
            <a:pPr>
              <a:lnSpc>
                <a:spcPct val="150000"/>
              </a:lnSpc>
            </a:pPr>
            <a:r>
              <a:rPr lang="en-US" altLang="zh-CN" smtClean="0"/>
              <a:t>Risk</a:t>
            </a:r>
            <a:r>
              <a:rPr lang="zh-CN" altLang="en-US" smtClean="0"/>
              <a:t> </a:t>
            </a:r>
            <a:r>
              <a:rPr lang="en-US" altLang="zh-CN" smtClean="0"/>
              <a:t>management:</a:t>
            </a:r>
            <a:r>
              <a:rPr lang="zh-CN" altLang="en-US" smtClean="0"/>
              <a:t> </a:t>
            </a:r>
            <a:r>
              <a:rPr lang="en-US" altLang="zh-CN" smtClean="0"/>
              <a:t>a</a:t>
            </a:r>
            <a:r>
              <a:rPr lang="zh-CN" altLang="en-US" smtClean="0"/>
              <a:t> </a:t>
            </a:r>
            <a:r>
              <a:rPr lang="en-US" altLang="zh-CN" smtClean="0"/>
              <a:t>helicopter</a:t>
            </a:r>
            <a:r>
              <a:rPr lang="zh-CN" altLang="en-US" smtClean="0"/>
              <a:t> </a:t>
            </a:r>
            <a:r>
              <a:rPr lang="en-US" altLang="zh-CN" smtClean="0"/>
              <a:t>view</a:t>
            </a:r>
          </a:p>
          <a:p>
            <a:pPr>
              <a:lnSpc>
                <a:spcPct val="150000"/>
              </a:lnSpc>
            </a:pPr>
            <a:r>
              <a:rPr lang="en-US" altLang="zh-CN" smtClean="0"/>
              <a:t>Corporate</a:t>
            </a:r>
            <a:r>
              <a:rPr lang="zh-CN" altLang="en-US" smtClean="0"/>
              <a:t> </a:t>
            </a:r>
            <a:r>
              <a:rPr lang="en-US" altLang="zh-CN" smtClean="0"/>
              <a:t>risk</a:t>
            </a:r>
            <a:r>
              <a:rPr lang="zh-CN" altLang="en-US" smtClean="0"/>
              <a:t> </a:t>
            </a:r>
            <a:r>
              <a:rPr lang="en-US" altLang="zh-CN" smtClean="0"/>
              <a:t>management:</a:t>
            </a:r>
            <a:r>
              <a:rPr lang="zh-CN" altLang="en-US" smtClean="0"/>
              <a:t> </a:t>
            </a:r>
            <a:r>
              <a:rPr lang="en-US" altLang="zh-CN" smtClean="0"/>
              <a:t>a</a:t>
            </a:r>
            <a:r>
              <a:rPr lang="zh-CN" altLang="en-US" smtClean="0"/>
              <a:t> </a:t>
            </a:r>
            <a:r>
              <a:rPr lang="en-US" altLang="zh-CN" smtClean="0"/>
              <a:t>primer</a:t>
            </a:r>
          </a:p>
          <a:p>
            <a:pPr>
              <a:lnSpc>
                <a:spcPct val="150000"/>
              </a:lnSpc>
            </a:pPr>
            <a:r>
              <a:rPr lang="en-US" altLang="zh-CN" smtClean="0"/>
              <a:t>Corporate</a:t>
            </a:r>
            <a:r>
              <a:rPr lang="zh-CN" altLang="en-US" smtClean="0"/>
              <a:t> </a:t>
            </a:r>
            <a:r>
              <a:rPr lang="en-US" altLang="zh-CN" smtClean="0"/>
              <a:t>governance</a:t>
            </a:r>
            <a:r>
              <a:rPr lang="zh-CN" altLang="en-US" smtClean="0"/>
              <a:t> </a:t>
            </a:r>
            <a:r>
              <a:rPr lang="en-US" altLang="zh-CN" smtClean="0"/>
              <a:t>and</a:t>
            </a:r>
            <a:r>
              <a:rPr lang="zh-CN" altLang="en-US" smtClean="0"/>
              <a:t> </a:t>
            </a:r>
            <a:r>
              <a:rPr lang="en-US" altLang="zh-CN" smtClean="0"/>
              <a:t>risk</a:t>
            </a:r>
            <a:r>
              <a:rPr lang="zh-CN" altLang="en-US" smtClean="0"/>
              <a:t> </a:t>
            </a:r>
            <a:r>
              <a:rPr lang="en-US" altLang="zh-CN" smtClean="0"/>
              <a:t>management</a:t>
            </a:r>
          </a:p>
          <a:p>
            <a:pPr>
              <a:lnSpc>
                <a:spcPct val="150000"/>
              </a:lnSpc>
            </a:pPr>
            <a:r>
              <a:rPr lang="en-US" altLang="zh-CN" smtClean="0"/>
              <a:t>What</a:t>
            </a:r>
            <a:r>
              <a:rPr lang="zh-CN" altLang="en-US" smtClean="0"/>
              <a:t> </a:t>
            </a:r>
            <a:r>
              <a:rPr lang="en-US" altLang="zh-CN" smtClean="0"/>
              <a:t>is</a:t>
            </a:r>
            <a:r>
              <a:rPr lang="zh-CN" altLang="en-US" smtClean="0"/>
              <a:t> </a:t>
            </a:r>
            <a:r>
              <a:rPr lang="en-US" altLang="zh-CN" smtClean="0"/>
              <a:t>ERM?</a:t>
            </a:r>
          </a:p>
          <a:p>
            <a:pPr>
              <a:lnSpc>
                <a:spcPct val="150000"/>
              </a:lnSpc>
            </a:pPr>
            <a:r>
              <a:rPr lang="en-US" altLang="zh-CN" smtClean="0"/>
              <a:t>Risk</a:t>
            </a:r>
            <a:r>
              <a:rPr lang="zh-CN" altLang="en-US" smtClean="0"/>
              <a:t> </a:t>
            </a:r>
            <a:r>
              <a:rPr lang="en-US" altLang="zh-CN" smtClean="0"/>
              <a:t>management</a:t>
            </a:r>
            <a:r>
              <a:rPr lang="zh-CN" altLang="en-US" smtClean="0"/>
              <a:t> </a:t>
            </a:r>
            <a:r>
              <a:rPr lang="en-US" altLang="zh-CN" smtClean="0"/>
              <a:t>and</a:t>
            </a:r>
            <a:r>
              <a:rPr lang="zh-CN" altLang="en-US" smtClean="0"/>
              <a:t> </a:t>
            </a:r>
            <a:r>
              <a:rPr lang="en-US" altLang="zh-CN" smtClean="0"/>
              <a:t>risk</a:t>
            </a:r>
            <a:r>
              <a:rPr lang="zh-CN" altLang="en-US" smtClean="0"/>
              <a:t> </a:t>
            </a:r>
            <a:r>
              <a:rPr lang="en-US" altLang="zh-CN" smtClean="0"/>
              <a:t>taking</a:t>
            </a:r>
            <a:r>
              <a:rPr lang="zh-CN" altLang="en-US" smtClean="0"/>
              <a:t> </a:t>
            </a:r>
            <a:r>
              <a:rPr lang="en-US" altLang="zh-CN" smtClean="0"/>
              <a:t>in</a:t>
            </a:r>
            <a:r>
              <a:rPr lang="zh-CN" altLang="en-US" smtClean="0"/>
              <a:t> </a:t>
            </a:r>
            <a:r>
              <a:rPr lang="en-US" altLang="zh-CN" smtClean="0"/>
              <a:t>banks</a:t>
            </a:r>
          </a:p>
          <a:p>
            <a:pPr>
              <a:lnSpc>
                <a:spcPct val="150000"/>
              </a:lnSpc>
            </a:pPr>
            <a:r>
              <a:rPr lang="en-US" altLang="zh-CN" smtClean="0"/>
              <a:t>Effective</a:t>
            </a:r>
            <a:r>
              <a:rPr lang="zh-CN" altLang="en-US" smtClean="0"/>
              <a:t> </a:t>
            </a:r>
            <a:r>
              <a:rPr lang="en-US" altLang="zh-CN" smtClean="0"/>
              <a:t>data</a:t>
            </a:r>
            <a:r>
              <a:rPr lang="zh-CN" altLang="en-US" smtClean="0"/>
              <a:t> </a:t>
            </a:r>
            <a:r>
              <a:rPr lang="en-US" altLang="zh-CN" smtClean="0"/>
              <a:t>aggregation</a:t>
            </a:r>
            <a:r>
              <a:rPr lang="zh-CN" altLang="en-US" smtClean="0"/>
              <a:t> </a:t>
            </a:r>
            <a:r>
              <a:rPr lang="en-US" altLang="zh-CN" smtClean="0"/>
              <a:t>and</a:t>
            </a:r>
            <a:r>
              <a:rPr lang="zh-CN" altLang="en-US" smtClean="0"/>
              <a:t> </a:t>
            </a:r>
            <a:r>
              <a:rPr lang="en-US" altLang="zh-CN" smtClean="0"/>
              <a:t>risk</a:t>
            </a:r>
            <a:r>
              <a:rPr lang="zh-CN" altLang="en-US" smtClean="0"/>
              <a:t> </a:t>
            </a:r>
            <a:r>
              <a:rPr lang="en-US" altLang="zh-CN" smtClean="0"/>
              <a:t>reporting</a:t>
            </a:r>
          </a:p>
          <a:p>
            <a:pPr lvl="1"/>
            <a:endParaRPr lang="en-US" altLang="zh-CN" smtClean="0">
              <a:latin typeface="+mn-lt"/>
              <a:ea typeface="+mn-ea"/>
              <a:cs typeface="+mn-ea"/>
              <a:sym typeface="+mn-lt"/>
            </a:endParaRPr>
          </a:p>
          <a:p>
            <a:endParaRPr lang="zh-CN" altLang="en-US" b="0" dirty="0">
              <a:latin typeface="+mn-lt"/>
              <a:ea typeface="+mn-ea"/>
              <a:cs typeface="+mn-ea"/>
              <a:sym typeface="+mn-lt"/>
            </a:endParaRPr>
          </a:p>
        </p:txBody>
      </p:sp>
      <p:sp>
        <p:nvSpPr>
          <p:cNvPr id="3" name="文本占位符 1"/>
          <p:cNvSpPr txBox="1">
            <a:spLocks/>
          </p:cNvSpPr>
          <p:nvPr/>
        </p:nvSpPr>
        <p:spPr>
          <a:xfrm>
            <a:off x="6136701" y="1103137"/>
            <a:ext cx="5352055" cy="5597207"/>
          </a:xfrm>
          <a:prstGeom prst="rect">
            <a:avLst/>
          </a:prstGeom>
        </p:spPr>
        <p:txBody>
          <a:bodyPr vert="horz" lIns="91440" tIns="45720" rIns="91440" bIns="45720" rtlCol="0">
            <a:noAutofit/>
          </a:bodyPr>
          <a:lstStyle>
            <a:lvl1pPr marL="457189" indent="-457189" algn="l" defTabSz="1219170" rtl="0" eaLnBrk="1" latinLnBrk="0" hangingPunct="1">
              <a:lnSpc>
                <a:spcPct val="120000"/>
              </a:lnSpc>
              <a:spcBef>
                <a:spcPts val="0"/>
              </a:spcBef>
              <a:buFont typeface="Wingdings" panose="05000000000000000000" pitchFamily="2" charset="2"/>
              <a:buChar char="Ø"/>
              <a:defRPr sz="2400" b="1" i="0" kern="1200" baseline="0">
                <a:solidFill>
                  <a:srgbClr val="7030A0"/>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a:lnSpc>
                <a:spcPct val="150000"/>
              </a:lnSpc>
            </a:pP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standard</a:t>
            </a:r>
            <a:r>
              <a:rPr lang="zh-CN" altLang="en-US" sz="2000" dirty="0">
                <a:solidFill>
                  <a:schemeClr val="accent6">
                    <a:lumMod val="50000"/>
                  </a:schemeClr>
                </a:solidFill>
              </a:rPr>
              <a:t> </a:t>
            </a:r>
            <a:r>
              <a:rPr lang="en-US" altLang="zh-CN" sz="2000" dirty="0">
                <a:solidFill>
                  <a:schemeClr val="accent6">
                    <a:lumMod val="50000"/>
                  </a:schemeClr>
                </a:solidFill>
              </a:rPr>
              <a:t>capital</a:t>
            </a:r>
            <a:r>
              <a:rPr lang="zh-CN" altLang="en-US" sz="2000" dirty="0">
                <a:solidFill>
                  <a:schemeClr val="accent6">
                    <a:lumMod val="50000"/>
                  </a:schemeClr>
                </a:solidFill>
              </a:rPr>
              <a:t> </a:t>
            </a:r>
            <a:r>
              <a:rPr lang="en-US" altLang="zh-CN" sz="2000" dirty="0">
                <a:solidFill>
                  <a:schemeClr val="accent6">
                    <a:lumMod val="50000"/>
                  </a:schemeClr>
                </a:solidFill>
              </a:rPr>
              <a:t>asset</a:t>
            </a:r>
            <a:r>
              <a:rPr lang="zh-CN" altLang="en-US" sz="2000" dirty="0">
                <a:solidFill>
                  <a:schemeClr val="accent6">
                    <a:lumMod val="50000"/>
                  </a:schemeClr>
                </a:solidFill>
              </a:rPr>
              <a:t> </a:t>
            </a:r>
            <a:r>
              <a:rPr lang="en-US" altLang="zh-CN" sz="2000" dirty="0">
                <a:solidFill>
                  <a:schemeClr val="accent6">
                    <a:lumMod val="50000"/>
                  </a:schemeClr>
                </a:solidFill>
              </a:rPr>
              <a:t>pricing</a:t>
            </a:r>
            <a:r>
              <a:rPr lang="zh-CN" altLang="en-US" sz="2000" dirty="0">
                <a:solidFill>
                  <a:schemeClr val="accent6">
                    <a:lumMod val="50000"/>
                  </a:schemeClr>
                </a:solidFill>
              </a:rPr>
              <a:t> </a:t>
            </a:r>
            <a:r>
              <a:rPr lang="en-US" altLang="zh-CN" sz="2000" dirty="0">
                <a:solidFill>
                  <a:schemeClr val="accent6">
                    <a:lumMod val="50000"/>
                  </a:schemeClr>
                </a:solidFill>
              </a:rPr>
              <a:t>model</a:t>
            </a:r>
          </a:p>
          <a:p>
            <a:pPr>
              <a:lnSpc>
                <a:spcPct val="150000"/>
              </a:lnSpc>
            </a:pPr>
            <a:r>
              <a:rPr lang="en-US" altLang="zh-CN" sz="2000" dirty="0">
                <a:solidFill>
                  <a:schemeClr val="accent6">
                    <a:lumMod val="50000"/>
                  </a:schemeClr>
                </a:solidFill>
              </a:rPr>
              <a:t>Applying</a:t>
            </a:r>
            <a:r>
              <a:rPr lang="zh-CN" altLang="en-US" sz="2000" dirty="0">
                <a:solidFill>
                  <a:schemeClr val="accent6">
                    <a:lumMod val="50000"/>
                  </a:schemeClr>
                </a:solidFill>
              </a:rPr>
              <a:t> </a:t>
            </a: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CAPM</a:t>
            </a:r>
            <a:r>
              <a:rPr lang="zh-CN" altLang="en-US" sz="2000" dirty="0">
                <a:solidFill>
                  <a:schemeClr val="accent6">
                    <a:lumMod val="50000"/>
                  </a:schemeClr>
                </a:solidFill>
              </a:rPr>
              <a:t> </a:t>
            </a:r>
            <a:r>
              <a:rPr lang="en-US" altLang="zh-CN" sz="2000" dirty="0">
                <a:solidFill>
                  <a:schemeClr val="accent6">
                    <a:lumMod val="50000"/>
                  </a:schemeClr>
                </a:solidFill>
              </a:rPr>
              <a:t>to</a:t>
            </a:r>
            <a:r>
              <a:rPr lang="zh-CN" altLang="en-US" sz="2000" dirty="0">
                <a:solidFill>
                  <a:schemeClr val="accent6">
                    <a:lumMod val="50000"/>
                  </a:schemeClr>
                </a:solidFill>
              </a:rPr>
              <a:t> </a:t>
            </a:r>
            <a:r>
              <a:rPr lang="en-US" altLang="zh-CN" sz="2000" dirty="0">
                <a:solidFill>
                  <a:schemeClr val="accent6">
                    <a:lumMod val="50000"/>
                  </a:schemeClr>
                </a:solidFill>
              </a:rPr>
              <a:t>performance</a:t>
            </a:r>
            <a:r>
              <a:rPr lang="zh-CN" altLang="en-US" sz="2000" dirty="0">
                <a:solidFill>
                  <a:schemeClr val="accent6">
                    <a:lumMod val="50000"/>
                  </a:schemeClr>
                </a:solidFill>
              </a:rPr>
              <a:t> </a:t>
            </a:r>
            <a:r>
              <a:rPr lang="en-US" altLang="zh-CN" sz="2000" dirty="0">
                <a:solidFill>
                  <a:schemeClr val="accent6">
                    <a:lumMod val="50000"/>
                  </a:schemeClr>
                </a:solidFill>
              </a:rPr>
              <a:t>measurement</a:t>
            </a:r>
          </a:p>
          <a:p>
            <a:pPr>
              <a:lnSpc>
                <a:spcPct val="150000"/>
              </a:lnSpc>
            </a:pPr>
            <a:r>
              <a:rPr lang="en-US" altLang="zh-CN" sz="2000" dirty="0">
                <a:solidFill>
                  <a:schemeClr val="accent6">
                    <a:lumMod val="50000"/>
                  </a:schemeClr>
                </a:solidFill>
              </a:rPr>
              <a:t>Arbitrage</a:t>
            </a:r>
            <a:r>
              <a:rPr lang="zh-CN" altLang="en-US" sz="2000" dirty="0">
                <a:solidFill>
                  <a:schemeClr val="accent6">
                    <a:lumMod val="50000"/>
                  </a:schemeClr>
                </a:solidFill>
              </a:rPr>
              <a:t> </a:t>
            </a:r>
            <a:r>
              <a:rPr lang="en-US" altLang="zh-CN" sz="2000" dirty="0">
                <a:solidFill>
                  <a:schemeClr val="accent6">
                    <a:lumMod val="50000"/>
                  </a:schemeClr>
                </a:solidFill>
              </a:rPr>
              <a:t>pricing</a:t>
            </a:r>
            <a:r>
              <a:rPr lang="zh-CN" altLang="en-US" sz="2000" dirty="0">
                <a:solidFill>
                  <a:schemeClr val="accent6">
                    <a:lumMod val="50000"/>
                  </a:schemeClr>
                </a:solidFill>
              </a:rPr>
              <a:t> </a:t>
            </a:r>
            <a:r>
              <a:rPr lang="en-US" altLang="zh-CN" sz="2000" dirty="0">
                <a:solidFill>
                  <a:schemeClr val="accent6">
                    <a:lumMod val="50000"/>
                  </a:schemeClr>
                </a:solidFill>
              </a:rPr>
              <a:t>theory</a:t>
            </a:r>
          </a:p>
          <a:p>
            <a:pPr>
              <a:lnSpc>
                <a:spcPct val="150000"/>
              </a:lnSpc>
            </a:pPr>
            <a:r>
              <a:rPr lang="en-US" altLang="zh-CN" sz="2000" dirty="0">
                <a:solidFill>
                  <a:schemeClr val="accent6">
                    <a:lumMod val="50000"/>
                  </a:schemeClr>
                </a:solidFill>
              </a:rPr>
              <a:t>Financial</a:t>
            </a:r>
            <a:r>
              <a:rPr lang="zh-CN" altLang="en-US" sz="2000" dirty="0">
                <a:solidFill>
                  <a:schemeClr val="accent6">
                    <a:lumMod val="50000"/>
                  </a:schemeClr>
                </a:solidFill>
              </a:rPr>
              <a:t> </a:t>
            </a:r>
            <a:r>
              <a:rPr lang="en-US" altLang="zh-CN" sz="2000" dirty="0">
                <a:solidFill>
                  <a:schemeClr val="accent6">
                    <a:lumMod val="50000"/>
                  </a:schemeClr>
                </a:solidFill>
              </a:rPr>
              <a:t>disasters</a:t>
            </a:r>
          </a:p>
          <a:p>
            <a:pPr>
              <a:lnSpc>
                <a:spcPct val="150000"/>
              </a:lnSpc>
            </a:pPr>
            <a:r>
              <a:rPr lang="en-US" altLang="zh-CN" sz="2000" dirty="0">
                <a:solidFill>
                  <a:schemeClr val="accent6">
                    <a:lumMod val="50000"/>
                  </a:schemeClr>
                </a:solidFill>
              </a:rPr>
              <a:t>Deciphering</a:t>
            </a:r>
            <a:r>
              <a:rPr lang="zh-CN" altLang="en-US" sz="2000" dirty="0">
                <a:solidFill>
                  <a:schemeClr val="accent6">
                    <a:lumMod val="50000"/>
                  </a:schemeClr>
                </a:solidFill>
              </a:rPr>
              <a:t> </a:t>
            </a: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liquidity</a:t>
            </a:r>
            <a:r>
              <a:rPr lang="zh-CN" altLang="en-US" sz="2000" dirty="0">
                <a:solidFill>
                  <a:schemeClr val="accent6">
                    <a:lumMod val="50000"/>
                  </a:schemeClr>
                </a:solidFill>
              </a:rPr>
              <a:t> </a:t>
            </a:r>
            <a:r>
              <a:rPr lang="en-US" altLang="zh-CN" sz="2000" dirty="0">
                <a:solidFill>
                  <a:schemeClr val="accent6">
                    <a:lumMod val="50000"/>
                  </a:schemeClr>
                </a:solidFill>
              </a:rPr>
              <a:t>and</a:t>
            </a:r>
            <a:r>
              <a:rPr lang="zh-CN" altLang="en-US" sz="2000" dirty="0">
                <a:solidFill>
                  <a:schemeClr val="accent6">
                    <a:lumMod val="50000"/>
                  </a:schemeClr>
                </a:solidFill>
              </a:rPr>
              <a:t> </a:t>
            </a:r>
            <a:r>
              <a:rPr lang="en-US" altLang="zh-CN" sz="2000" dirty="0">
                <a:solidFill>
                  <a:schemeClr val="accent6">
                    <a:lumMod val="50000"/>
                  </a:schemeClr>
                </a:solidFill>
              </a:rPr>
              <a:t>credit</a:t>
            </a:r>
            <a:r>
              <a:rPr lang="zh-CN" altLang="en-US" sz="2000" dirty="0">
                <a:solidFill>
                  <a:schemeClr val="accent6">
                    <a:lumMod val="50000"/>
                  </a:schemeClr>
                </a:solidFill>
              </a:rPr>
              <a:t> </a:t>
            </a:r>
            <a:r>
              <a:rPr lang="en-US" altLang="zh-CN" sz="2000" dirty="0">
                <a:solidFill>
                  <a:schemeClr val="accent6">
                    <a:lumMod val="50000"/>
                  </a:schemeClr>
                </a:solidFill>
              </a:rPr>
              <a:t>crunch</a:t>
            </a:r>
            <a:r>
              <a:rPr lang="zh-CN" altLang="en-US" sz="2000" dirty="0">
                <a:solidFill>
                  <a:schemeClr val="accent6">
                    <a:lumMod val="50000"/>
                  </a:schemeClr>
                </a:solidFill>
              </a:rPr>
              <a:t> </a:t>
            </a:r>
            <a:r>
              <a:rPr lang="en-US" altLang="zh-CN" sz="2000" dirty="0">
                <a:solidFill>
                  <a:schemeClr val="accent6">
                    <a:lumMod val="50000"/>
                  </a:schemeClr>
                </a:solidFill>
              </a:rPr>
              <a:t>2007-2008</a:t>
            </a:r>
          </a:p>
          <a:p>
            <a:pPr>
              <a:lnSpc>
                <a:spcPct val="150000"/>
              </a:lnSpc>
            </a:pPr>
            <a:r>
              <a:rPr lang="en-US" altLang="zh-CN" sz="2000" dirty="0">
                <a:solidFill>
                  <a:schemeClr val="accent6">
                    <a:lumMod val="50000"/>
                  </a:schemeClr>
                </a:solidFill>
              </a:rPr>
              <a:t>Getting</a:t>
            </a:r>
            <a:r>
              <a:rPr lang="zh-CN" altLang="en-US" sz="2000" dirty="0">
                <a:solidFill>
                  <a:schemeClr val="accent6">
                    <a:lumMod val="50000"/>
                  </a:schemeClr>
                </a:solidFill>
              </a:rPr>
              <a:t> </a:t>
            </a:r>
            <a:r>
              <a:rPr lang="en-US" altLang="zh-CN" sz="2000" dirty="0">
                <a:solidFill>
                  <a:schemeClr val="accent6">
                    <a:lumMod val="50000"/>
                  </a:schemeClr>
                </a:solidFill>
              </a:rPr>
              <a:t>up</a:t>
            </a:r>
            <a:r>
              <a:rPr lang="zh-CN" altLang="en-US" sz="2000" dirty="0">
                <a:solidFill>
                  <a:schemeClr val="accent6">
                    <a:lumMod val="50000"/>
                  </a:schemeClr>
                </a:solidFill>
              </a:rPr>
              <a:t> </a:t>
            </a:r>
            <a:r>
              <a:rPr lang="en-US" altLang="zh-CN" sz="2000" dirty="0">
                <a:solidFill>
                  <a:schemeClr val="accent6">
                    <a:lumMod val="50000"/>
                  </a:schemeClr>
                </a:solidFill>
              </a:rPr>
              <a:t>to</a:t>
            </a:r>
            <a:r>
              <a:rPr lang="zh-CN" altLang="en-US" sz="2000" dirty="0">
                <a:solidFill>
                  <a:schemeClr val="accent6">
                    <a:lumMod val="50000"/>
                  </a:schemeClr>
                </a:solidFill>
              </a:rPr>
              <a:t> </a:t>
            </a:r>
            <a:r>
              <a:rPr lang="en-US" altLang="zh-CN" sz="2000" dirty="0">
                <a:solidFill>
                  <a:schemeClr val="accent6">
                    <a:lumMod val="50000"/>
                  </a:schemeClr>
                </a:solidFill>
              </a:rPr>
              <a:t>speed</a:t>
            </a:r>
            <a:r>
              <a:rPr lang="zh-CN" altLang="en-US" sz="2000" dirty="0">
                <a:solidFill>
                  <a:schemeClr val="accent6">
                    <a:lumMod val="50000"/>
                  </a:schemeClr>
                </a:solidFill>
              </a:rPr>
              <a:t> </a:t>
            </a:r>
            <a:r>
              <a:rPr lang="en-US" altLang="zh-CN" sz="2000" dirty="0">
                <a:solidFill>
                  <a:schemeClr val="accent6">
                    <a:lumMod val="50000"/>
                  </a:schemeClr>
                </a:solidFill>
              </a:rPr>
              <a:t>on</a:t>
            </a:r>
            <a:r>
              <a:rPr lang="zh-CN" altLang="en-US" sz="2000" dirty="0">
                <a:solidFill>
                  <a:schemeClr val="accent6">
                    <a:lumMod val="50000"/>
                  </a:schemeClr>
                </a:solidFill>
              </a:rPr>
              <a:t> </a:t>
            </a:r>
            <a:r>
              <a:rPr lang="en-US" altLang="zh-CN" sz="2000" dirty="0">
                <a:solidFill>
                  <a:schemeClr val="accent6">
                    <a:lumMod val="50000"/>
                  </a:schemeClr>
                </a:solidFill>
              </a:rPr>
              <a:t>the</a:t>
            </a:r>
            <a:r>
              <a:rPr lang="zh-CN" altLang="en-US" sz="2000" dirty="0">
                <a:solidFill>
                  <a:schemeClr val="accent6">
                    <a:lumMod val="50000"/>
                  </a:schemeClr>
                </a:solidFill>
              </a:rPr>
              <a:t> </a:t>
            </a:r>
            <a:r>
              <a:rPr lang="en-US" altLang="zh-CN" sz="2000" dirty="0">
                <a:solidFill>
                  <a:schemeClr val="accent6">
                    <a:lumMod val="50000"/>
                  </a:schemeClr>
                </a:solidFill>
              </a:rPr>
              <a:t>financial</a:t>
            </a:r>
            <a:r>
              <a:rPr lang="zh-CN" altLang="en-US" sz="2000" dirty="0">
                <a:solidFill>
                  <a:schemeClr val="accent6">
                    <a:lumMod val="50000"/>
                  </a:schemeClr>
                </a:solidFill>
              </a:rPr>
              <a:t> </a:t>
            </a:r>
            <a:r>
              <a:rPr lang="en-US" altLang="zh-CN" sz="2000" dirty="0">
                <a:solidFill>
                  <a:schemeClr val="accent6">
                    <a:lumMod val="50000"/>
                  </a:schemeClr>
                </a:solidFill>
              </a:rPr>
              <a:t>crisis</a:t>
            </a:r>
          </a:p>
          <a:p>
            <a:pPr>
              <a:lnSpc>
                <a:spcPct val="150000"/>
              </a:lnSpc>
            </a:pPr>
            <a:r>
              <a:rPr lang="en-US" altLang="zh-CN" sz="2000" dirty="0">
                <a:solidFill>
                  <a:schemeClr val="accent6">
                    <a:lumMod val="50000"/>
                  </a:schemeClr>
                </a:solidFill>
              </a:rPr>
              <a:t>Risk</a:t>
            </a:r>
            <a:r>
              <a:rPr lang="zh-CN" altLang="en-US" sz="2000" dirty="0">
                <a:solidFill>
                  <a:schemeClr val="accent6">
                    <a:lumMod val="50000"/>
                  </a:schemeClr>
                </a:solidFill>
              </a:rPr>
              <a:t> </a:t>
            </a:r>
            <a:r>
              <a:rPr lang="en-US" altLang="zh-CN" sz="2000" dirty="0">
                <a:solidFill>
                  <a:schemeClr val="accent6">
                    <a:lumMod val="50000"/>
                  </a:schemeClr>
                </a:solidFill>
              </a:rPr>
              <a:t>management</a:t>
            </a:r>
            <a:r>
              <a:rPr lang="zh-CN" altLang="en-US" sz="2000" dirty="0">
                <a:solidFill>
                  <a:schemeClr val="accent6">
                    <a:lumMod val="50000"/>
                  </a:schemeClr>
                </a:solidFill>
              </a:rPr>
              <a:t> </a:t>
            </a:r>
            <a:r>
              <a:rPr lang="en-US" altLang="zh-CN" sz="2000" dirty="0">
                <a:solidFill>
                  <a:schemeClr val="accent6">
                    <a:lumMod val="50000"/>
                  </a:schemeClr>
                </a:solidFill>
              </a:rPr>
              <a:t>failures</a:t>
            </a:r>
          </a:p>
          <a:p>
            <a:pPr>
              <a:lnSpc>
                <a:spcPct val="150000"/>
              </a:lnSpc>
            </a:pPr>
            <a:r>
              <a:rPr lang="en-US" altLang="zh-CN" sz="2000" dirty="0">
                <a:solidFill>
                  <a:schemeClr val="accent6">
                    <a:lumMod val="50000"/>
                  </a:schemeClr>
                </a:solidFill>
              </a:rPr>
              <a:t>GARP</a:t>
            </a:r>
            <a:r>
              <a:rPr lang="zh-CN" altLang="en-US" sz="2000" dirty="0">
                <a:solidFill>
                  <a:schemeClr val="accent6">
                    <a:lumMod val="50000"/>
                  </a:schemeClr>
                </a:solidFill>
              </a:rPr>
              <a:t> </a:t>
            </a:r>
            <a:r>
              <a:rPr lang="en-US" altLang="zh-CN" sz="2000" dirty="0">
                <a:solidFill>
                  <a:schemeClr val="accent6">
                    <a:lumMod val="50000"/>
                  </a:schemeClr>
                </a:solidFill>
              </a:rPr>
              <a:t>code</a:t>
            </a:r>
            <a:r>
              <a:rPr lang="zh-CN" altLang="en-US" sz="2000" dirty="0">
                <a:solidFill>
                  <a:schemeClr val="accent6">
                    <a:lumMod val="50000"/>
                  </a:schemeClr>
                </a:solidFill>
              </a:rPr>
              <a:t> </a:t>
            </a:r>
            <a:r>
              <a:rPr lang="en-US" altLang="zh-CN" sz="2000" dirty="0">
                <a:solidFill>
                  <a:schemeClr val="accent6">
                    <a:lumMod val="50000"/>
                  </a:schemeClr>
                </a:solidFill>
              </a:rPr>
              <a:t>of</a:t>
            </a:r>
            <a:r>
              <a:rPr lang="zh-CN" altLang="en-US" sz="2000" dirty="0">
                <a:solidFill>
                  <a:schemeClr val="accent6">
                    <a:lumMod val="50000"/>
                  </a:schemeClr>
                </a:solidFill>
              </a:rPr>
              <a:t> </a:t>
            </a:r>
            <a:r>
              <a:rPr lang="en-US" altLang="zh-CN" sz="2000" dirty="0">
                <a:solidFill>
                  <a:schemeClr val="accent6">
                    <a:lumMod val="50000"/>
                  </a:schemeClr>
                </a:solidFill>
              </a:rPr>
              <a:t>conduct</a:t>
            </a:r>
          </a:p>
          <a:p>
            <a:pPr marL="0" indent="0">
              <a:lnSpc>
                <a:spcPct val="200000"/>
              </a:lnSpc>
              <a:buNone/>
            </a:pPr>
            <a:endParaRPr lang="en-US" altLang="zh-CN" sz="2000" dirty="0">
              <a:solidFill>
                <a:schemeClr val="accent6">
                  <a:lumMod val="50000"/>
                </a:schemeClr>
              </a:solidFill>
            </a:endParaRPr>
          </a:p>
          <a:p>
            <a:pPr lvl="1"/>
            <a:endParaRPr lang="en-US" altLang="zh-CN" sz="2000" dirty="0" smtClean="0">
              <a:solidFill>
                <a:schemeClr val="accent6">
                  <a:lumMod val="50000"/>
                </a:schemeClr>
              </a:solidFill>
              <a:latin typeface="+mn-lt"/>
              <a:ea typeface="+mn-ea"/>
              <a:cs typeface="+mn-ea"/>
              <a:sym typeface="+mn-lt"/>
            </a:endParaRPr>
          </a:p>
          <a:p>
            <a:endParaRPr lang="zh-CN" altLang="en-US" sz="2000" dirty="0">
              <a:solidFill>
                <a:schemeClr val="accent6">
                  <a:lumMod val="50000"/>
                </a:schemeClr>
              </a:solidFill>
              <a:latin typeface="+mn-lt"/>
              <a:ea typeface="+mn-ea"/>
              <a:cs typeface="+mn-ea"/>
              <a:sym typeface="+mn-lt"/>
            </a:endParaRPr>
          </a:p>
        </p:txBody>
      </p:sp>
    </p:spTree>
    <p:extLst>
      <p:ext uri="{BB962C8B-B14F-4D97-AF65-F5344CB8AC3E}">
        <p14:creationId xmlns:p14="http://schemas.microsoft.com/office/powerpoint/2010/main" val="3661900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761885"/>
            <a:ext cx="4702164" cy="895350"/>
          </a:xfrm>
        </p:spPr>
        <p:txBody>
          <a:bodyPr/>
          <a:lstStyle/>
          <a:p>
            <a:r>
              <a:rPr lang="en-US" altLang="zh-CN" dirty="0" smtClean="0"/>
              <a:t>Risk</a:t>
            </a:r>
            <a:r>
              <a:rPr lang="zh-CN" altLang="en-US" dirty="0" smtClean="0"/>
              <a:t> </a:t>
            </a:r>
            <a:r>
              <a:rPr lang="en-US" altLang="zh-CN" dirty="0" smtClean="0"/>
              <a:t>Management:</a:t>
            </a:r>
            <a:r>
              <a:rPr lang="zh-CN" altLang="en-US" dirty="0" smtClean="0"/>
              <a:t> </a:t>
            </a:r>
            <a:r>
              <a:rPr lang="en-US" altLang="zh-CN" dirty="0" smtClean="0"/>
              <a:t/>
            </a:r>
            <a:br>
              <a:rPr lang="en-US" altLang="zh-CN" dirty="0" smtClean="0"/>
            </a:br>
            <a:r>
              <a:rPr lang="en-US" altLang="zh-CN" dirty="0" smtClean="0"/>
              <a:t> a</a:t>
            </a:r>
            <a:r>
              <a:rPr lang="zh-CN" altLang="en-US" dirty="0" smtClean="0"/>
              <a:t> </a:t>
            </a:r>
            <a:r>
              <a:rPr lang="en-US" altLang="zh-CN" dirty="0" smtClean="0"/>
              <a:t>Helicopter</a:t>
            </a:r>
            <a:r>
              <a:rPr lang="zh-CN" altLang="en-US" dirty="0" smtClean="0"/>
              <a:t> </a:t>
            </a:r>
            <a:r>
              <a:rPr lang="en-US" altLang="zh-CN" dirty="0" smtClean="0"/>
              <a:t>View</a:t>
            </a:r>
            <a:endParaRPr lang="zh-CN" altLang="en-US" dirty="0"/>
          </a:p>
        </p:txBody>
      </p:sp>
    </p:spTree>
    <p:extLst>
      <p:ext uri="{BB962C8B-B14F-4D97-AF65-F5344CB8AC3E}">
        <p14:creationId xmlns:p14="http://schemas.microsoft.com/office/powerpoint/2010/main" val="37812875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buFont typeface="+mj-lt"/>
              <a:buAutoNum type="alphaUcPeriod"/>
            </a:pPr>
            <a:r>
              <a:rPr lang="en-US" altLang="zh-CN" dirty="0" smtClean="0">
                <a:sym typeface="+mn-lt"/>
              </a:rPr>
              <a:t>Is Risk Management Useful? </a:t>
            </a:r>
          </a:p>
          <a:p>
            <a:pPr>
              <a:buFont typeface="+mj-lt"/>
              <a:buAutoNum type="alphaUcPeriod"/>
            </a:pPr>
            <a:r>
              <a:rPr lang="en-US" altLang="zh-CN" dirty="0" smtClean="0">
                <a:sym typeface="+mn-lt"/>
              </a:rPr>
              <a:t>What is Risk?</a:t>
            </a:r>
          </a:p>
          <a:p>
            <a:pPr>
              <a:buFont typeface="+mj-lt"/>
              <a:buAutoNum type="alphaUcPeriod"/>
            </a:pPr>
            <a:r>
              <a:rPr lang="en-US" altLang="zh-CN" dirty="0" smtClean="0">
                <a:sym typeface="+mn-lt"/>
              </a:rPr>
              <a:t>The Conflict of Risk and Reward</a:t>
            </a:r>
          </a:p>
          <a:p>
            <a:pPr>
              <a:buFont typeface="+mj-lt"/>
              <a:buAutoNum type="alphaUcPeriod"/>
            </a:pPr>
            <a:r>
              <a:rPr lang="en-US" altLang="zh-CN" dirty="0" smtClean="0">
                <a:sym typeface="+mn-lt"/>
              </a:rPr>
              <a:t>The Danger of Names</a:t>
            </a:r>
          </a:p>
          <a:p>
            <a:pPr>
              <a:buFont typeface="+mj-lt"/>
              <a:buAutoNum type="alphaUcPeriod"/>
            </a:pPr>
            <a:r>
              <a:rPr lang="en-US" altLang="zh-CN" dirty="0" smtClean="0">
                <a:sym typeface="+mn-lt"/>
              </a:rPr>
              <a:t>Numbers are Dangerous too</a:t>
            </a:r>
          </a:p>
          <a:p>
            <a:pPr>
              <a:buFont typeface="+mj-lt"/>
              <a:buAutoNum type="alphaUcPeriod"/>
            </a:pPr>
            <a:r>
              <a:rPr lang="en-US" altLang="zh-CN" dirty="0" smtClean="0">
                <a:sym typeface="+mn-lt"/>
              </a:rPr>
              <a:t>The Risk </a:t>
            </a:r>
            <a:r>
              <a:rPr lang="en-US" altLang="zh-CN" dirty="0" smtClean="0">
                <a:sym typeface="+mn-lt"/>
              </a:rPr>
              <a:t>Manager's </a:t>
            </a:r>
            <a:endParaRPr lang="en-US" altLang="zh-CN" dirty="0" smtClean="0">
              <a:sym typeface="+mn-lt"/>
            </a:endParaRPr>
          </a:p>
          <a:p>
            <a:pPr>
              <a:buFont typeface="+mj-lt"/>
              <a:buAutoNum type="alphaUcPeriod"/>
            </a:pPr>
            <a:r>
              <a:rPr lang="en-US" altLang="zh-CN" dirty="0" smtClean="0">
                <a:sym typeface="+mn-lt"/>
              </a:rPr>
              <a:t>Typology of Risk Exposures</a:t>
            </a: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5985557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j-ea"/>
                <a:ea typeface="+mj-ea"/>
                <a:sym typeface="+mn-lt"/>
              </a:rPr>
              <a:t>A. Is Risk Management Useful?</a:t>
            </a:r>
            <a:endParaRPr lang="en-US" altLang="zh-CN" dirty="0">
              <a:latin typeface="+mj-ea"/>
              <a:ea typeface="+mj-ea"/>
              <a:sym typeface="+mn-lt"/>
            </a:endParaRPr>
          </a:p>
        </p:txBody>
      </p:sp>
      <p:sp>
        <p:nvSpPr>
          <p:cNvPr id="3" name="文本占位符 2"/>
          <p:cNvSpPr>
            <a:spLocks noGrp="1"/>
          </p:cNvSpPr>
          <p:nvPr>
            <p:ph type="body" sz="quarter" idx="10"/>
          </p:nvPr>
        </p:nvSpPr>
        <p:spPr>
          <a:xfrm>
            <a:off x="393599" y="813469"/>
            <a:ext cx="5723423" cy="5660163"/>
          </a:xfrm>
        </p:spPr>
        <p:txBody>
          <a:bodyPr/>
          <a:lstStyle/>
          <a:p>
            <a:r>
              <a:rPr lang="en-US" altLang="zh-CN" dirty="0" smtClean="0"/>
              <a:t>Risk management: </a:t>
            </a:r>
            <a:r>
              <a:rPr lang="en-US" altLang="zh-CN" b="0" dirty="0" smtClean="0"/>
              <a:t>how firms actively select the type and level of risk that it is appropriate for them to assume.</a:t>
            </a:r>
          </a:p>
          <a:p>
            <a:r>
              <a:rPr lang="en-US" altLang="zh-CN" dirty="0" smtClean="0"/>
              <a:t>Risk Management</a:t>
            </a:r>
            <a:r>
              <a:rPr lang="zh-CN" altLang="en-US" dirty="0" smtClean="0"/>
              <a:t> </a:t>
            </a:r>
            <a:r>
              <a:rPr lang="en-US" altLang="zh-CN" dirty="0" smtClean="0"/>
              <a:t>Process</a:t>
            </a:r>
          </a:p>
          <a:p>
            <a:endParaRPr lang="en-US" altLang="zh-CN" dirty="0" smtClean="0">
              <a:sym typeface="+mn-lt"/>
            </a:endParaRPr>
          </a:p>
          <a:p>
            <a:endParaRPr lang="zh-CN" altLang="en-US" dirty="0">
              <a:sym typeface="+mn-lt"/>
            </a:endParaRPr>
          </a:p>
        </p:txBody>
      </p:sp>
      <p:pic>
        <p:nvPicPr>
          <p:cNvPr id="4" name="图片 3">
            <a:extLst>
              <a:ext uri="{FF2B5EF4-FFF2-40B4-BE49-F238E27FC236}">
                <a16:creationId xmlns:a16="http://schemas.microsoft.com/office/drawing/2014/main" xmlns="" id="{BA795CFE-633A-BF4D-9FA4-F11A44487512}"/>
              </a:ext>
            </a:extLst>
          </p:cNvPr>
          <p:cNvPicPr>
            <a:picLocks noChangeAspect="1"/>
          </p:cNvPicPr>
          <p:nvPr/>
        </p:nvPicPr>
        <p:blipFill>
          <a:blip r:embed="rId2"/>
          <a:stretch>
            <a:fillRect/>
          </a:stretch>
        </p:blipFill>
        <p:spPr>
          <a:xfrm>
            <a:off x="6117022" y="756745"/>
            <a:ext cx="5410972" cy="5944291"/>
          </a:xfrm>
          <a:prstGeom prst="rect">
            <a:avLst/>
          </a:prstGeom>
        </p:spPr>
      </p:pic>
    </p:spTree>
    <p:extLst>
      <p:ext uri="{BB962C8B-B14F-4D97-AF65-F5344CB8AC3E}">
        <p14:creationId xmlns:p14="http://schemas.microsoft.com/office/powerpoint/2010/main" val="29590830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p:txBody>
          <a:bodyPr/>
          <a:lstStyle/>
          <a:p>
            <a:r>
              <a:rPr lang="en-US" altLang="zh-CN" dirty="0" smtClean="0">
                <a:sym typeface="+mn-lt"/>
              </a:rPr>
              <a:t>A. Is Risk Management Useful?</a:t>
            </a:r>
            <a:endParaRPr lang="en-US" altLang="zh-CN" dirty="0">
              <a:sym typeface="+mn-lt"/>
            </a:endParaRPr>
          </a:p>
        </p:txBody>
      </p:sp>
      <p:sp>
        <p:nvSpPr>
          <p:cNvPr id="3" name="文本占位符 2"/>
          <p:cNvSpPr>
            <a:spLocks noGrp="1"/>
          </p:cNvSpPr>
          <p:nvPr>
            <p:ph type="body" sz="quarter" idx="10"/>
          </p:nvPr>
        </p:nvSpPr>
        <p:spPr/>
        <p:txBody>
          <a:bodyPr>
            <a:normAutofit lnSpcReduction="10000"/>
          </a:bodyPr>
          <a:lstStyle/>
          <a:p>
            <a:r>
              <a:rPr lang="en-US" altLang="zh-CN" dirty="0" smtClean="0"/>
              <a:t>Risk management and risk taking aren't opposites, but two sides of the same coin.</a:t>
            </a:r>
          </a:p>
          <a:p>
            <a:pPr lvl="1"/>
            <a:r>
              <a:rPr lang="en" altLang="zh-CN" dirty="0" smtClean="0"/>
              <a:t>Together they drive all our modern economies. </a:t>
            </a:r>
          </a:p>
          <a:p>
            <a:pPr lvl="1"/>
            <a:r>
              <a:rPr lang="en-US" altLang="zh-CN" dirty="0" smtClean="0"/>
              <a:t>It's all about making </a:t>
            </a:r>
            <a:r>
              <a:rPr lang="en" altLang="zh-CN" dirty="0" smtClean="0"/>
              <a:t>forward-looking choices about risk in relation to reward.</a:t>
            </a:r>
            <a:endParaRPr lang="en-US" altLang="zh-CN" dirty="0" smtClean="0"/>
          </a:p>
          <a:p>
            <a:r>
              <a:rPr lang="en-US" altLang="zh-CN" dirty="0" smtClean="0"/>
              <a:t>Blames for Risk Management</a:t>
            </a:r>
          </a:p>
          <a:p>
            <a:pPr lvl="1"/>
            <a:r>
              <a:rPr lang="en-US" altLang="zh-CN" dirty="0" smtClean="0"/>
              <a:t>Fail to prevent market disruptions or accounting scandals.</a:t>
            </a:r>
          </a:p>
          <a:p>
            <a:pPr lvl="1"/>
            <a:r>
              <a:rPr lang="en-US" altLang="zh-CN" dirty="0" smtClean="0"/>
              <a:t>Derivative markets make it easier to take on large amount of risk.</a:t>
            </a:r>
          </a:p>
          <a:p>
            <a:pPr lvl="1"/>
            <a:r>
              <a:rPr lang="en-US" altLang="zh-CN" dirty="0" smtClean="0"/>
              <a:t>Sophisticated financial engineering lead to the violent implosion of firms.</a:t>
            </a:r>
          </a:p>
          <a:p>
            <a:pPr lvl="1"/>
            <a:r>
              <a:rPr lang="en-US" altLang="zh-CN" dirty="0" smtClean="0"/>
              <a:t>Only transfer risks to other firms.</a:t>
            </a:r>
          </a:p>
          <a:p>
            <a:pPr lvl="1"/>
            <a:r>
              <a:rPr lang="en-US" altLang="zh-CN" dirty="0" smtClean="0"/>
              <a:t>Work to the short-term benefit.</a:t>
            </a:r>
          </a:p>
          <a:p>
            <a:pPr lvl="2"/>
            <a:endParaRPr lang="en-US" altLang="zh-CN" dirty="0" smtClean="0">
              <a:sym typeface="+mn-lt"/>
            </a:endParaRPr>
          </a:p>
          <a:p>
            <a:pPr lvl="1"/>
            <a:endParaRPr lang="en-US" altLang="zh-CN" dirty="0" smtClean="0">
              <a:sym typeface="+mn-lt"/>
            </a:endParaRPr>
          </a:p>
          <a:p>
            <a:endParaRPr lang="en-US" altLang="zh-CN" dirty="0">
              <a:sym typeface="+mn-lt"/>
            </a:endParaRPr>
          </a:p>
        </p:txBody>
      </p:sp>
    </p:spTree>
    <p:extLst>
      <p:ext uri="{BB962C8B-B14F-4D97-AF65-F5344CB8AC3E}">
        <p14:creationId xmlns:p14="http://schemas.microsoft.com/office/powerpoint/2010/main" val="3965709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mn-lt"/>
              </a:rPr>
              <a:t>B. What is Risk?</a:t>
            </a:r>
          </a:p>
        </p:txBody>
      </p:sp>
      <p:sp>
        <p:nvSpPr>
          <p:cNvPr id="3" name="文本占位符 2"/>
          <p:cNvSpPr>
            <a:spLocks noGrp="1"/>
          </p:cNvSpPr>
          <p:nvPr>
            <p:ph type="body" sz="quarter" idx="10"/>
          </p:nvPr>
        </p:nvSpPr>
        <p:spPr/>
        <p:txBody>
          <a:bodyPr>
            <a:normAutofit/>
          </a:bodyPr>
          <a:lstStyle/>
          <a:p>
            <a:r>
              <a:rPr lang="en-US" altLang="zh-CN" dirty="0"/>
              <a:t>EL And UL</a:t>
            </a:r>
          </a:p>
          <a:p>
            <a:pPr lvl="1"/>
            <a:r>
              <a:rPr lang="en-US" altLang="zh-CN" dirty="0"/>
              <a:t>Expected loss: predictable, incurred in normal times, and already priced into the products.</a:t>
            </a:r>
          </a:p>
          <a:p>
            <a:pPr lvl="1"/>
            <a:r>
              <a:rPr lang="en-US" altLang="zh-CN" dirty="0"/>
              <a:t>Unexpected loss: lumpy, appear unexpectedly, big enough to upset business plans. Correlation risk is a major factor.</a:t>
            </a:r>
          </a:p>
          <a:p>
            <a:pPr lvl="1"/>
            <a:r>
              <a:rPr lang="en-US" altLang="zh-CN" dirty="0"/>
              <a:t>Risk management </a:t>
            </a:r>
            <a:r>
              <a:rPr lang="en-US" altLang="zh-CN" dirty="0" smtClean="0"/>
              <a:t>doesn't </a:t>
            </a:r>
            <a:r>
              <a:rPr lang="en-US" altLang="zh-CN" dirty="0"/>
              <a:t>aim to controlling and reducing EL but</a:t>
            </a:r>
            <a:r>
              <a:rPr lang="zh-CN" altLang="en-US" dirty="0"/>
              <a:t> </a:t>
            </a:r>
            <a:r>
              <a:rPr lang="en-US" altLang="zh-CN" dirty="0"/>
              <a:t>UL.</a:t>
            </a:r>
          </a:p>
        </p:txBody>
      </p:sp>
    </p:spTree>
    <p:extLst>
      <p:ext uri="{BB962C8B-B14F-4D97-AF65-F5344CB8AC3E}">
        <p14:creationId xmlns:p14="http://schemas.microsoft.com/office/powerpoint/2010/main" val="13434236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mn-lt"/>
              </a:rPr>
              <a:t>B. What is Risk?</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dirty="0" smtClean="0"/>
              <a:t>Old Treatment of Risk VS</a:t>
            </a:r>
            <a:r>
              <a:rPr lang="zh-CN" altLang="en-US" dirty="0" smtClean="0"/>
              <a:t> </a:t>
            </a:r>
            <a:r>
              <a:rPr lang="en-US" altLang="zh-CN" dirty="0" smtClean="0"/>
              <a:t>Stress Testing</a:t>
            </a:r>
          </a:p>
          <a:p>
            <a:pPr lvl="1"/>
            <a:r>
              <a:rPr lang="en-US" altLang="zh-CN" dirty="0" smtClean="0"/>
              <a:t>Risk managers: move from a historical-statistical treatments of risk to scenario analysis and stress testing.</a:t>
            </a:r>
          </a:p>
          <a:p>
            <a:r>
              <a:rPr lang="en-US" altLang="zh-CN" dirty="0" smtClean="0"/>
              <a:t>A Risk </a:t>
            </a:r>
            <a:r>
              <a:rPr lang="en-US" altLang="zh-CN" dirty="0" smtClean="0"/>
              <a:t>Manager's </a:t>
            </a:r>
            <a:r>
              <a:rPr lang="en-US" altLang="zh-CN" dirty="0" smtClean="0"/>
              <a:t>Job</a:t>
            </a:r>
          </a:p>
          <a:p>
            <a:pPr lvl="1"/>
            <a:r>
              <a:rPr lang="en-US" altLang="zh-CN" dirty="0" smtClean="0"/>
              <a:t>NO: control and reduce EL.</a:t>
            </a:r>
          </a:p>
          <a:p>
            <a:pPr lvl="1"/>
            <a:r>
              <a:rPr lang="en-US" altLang="zh-CN" dirty="0" smtClean="0"/>
              <a:t>Measure the UL.</a:t>
            </a:r>
          </a:p>
          <a:p>
            <a:pPr lvl="1"/>
            <a:r>
              <a:rPr lang="en-US" altLang="zh-CN" dirty="0" smtClean="0"/>
              <a:t>Set sufficient capital to protect against potential UL.</a:t>
            </a:r>
          </a:p>
          <a:p>
            <a:pPr lvl="1"/>
            <a:r>
              <a:rPr lang="en-US" altLang="zh-CN" dirty="0" smtClean="0"/>
              <a:t>Achieve appropriate return from the risky activities.</a:t>
            </a:r>
          </a:p>
          <a:p>
            <a:pPr lvl="1"/>
            <a:r>
              <a:rPr lang="en-US" altLang="zh-CN" dirty="0" smtClean="0"/>
              <a:t>Clear communication.</a:t>
            </a:r>
            <a:endParaRPr lang="en-US" altLang="zh-CN" dirty="0"/>
          </a:p>
        </p:txBody>
      </p:sp>
    </p:spTree>
    <p:extLst>
      <p:ext uri="{BB962C8B-B14F-4D97-AF65-F5344CB8AC3E}">
        <p14:creationId xmlns:p14="http://schemas.microsoft.com/office/powerpoint/2010/main" val="5519662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mn-lt"/>
              </a:rPr>
              <a:t>C. The Conflict of Risk and Reward</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smtClean="0"/>
              <a:t>Higher rate of return ⇒ assume more risk</a:t>
            </a:r>
          </a:p>
          <a:p>
            <a:pPr lvl="1"/>
            <a:r>
              <a:rPr lang="en-US" altLang="zh-CN" smtClean="0"/>
              <a:t>Risk: variability that can be quantified in terms of probabilities.</a:t>
            </a:r>
          </a:p>
          <a:p>
            <a:pPr lvl="1"/>
            <a:r>
              <a:rPr lang="en-US" altLang="zh-CN" smtClean="0"/>
              <a:t>Uncertainty: variability that cannot be quantified</a:t>
            </a:r>
            <a:endParaRPr lang="en-US" altLang="zh-CN" dirty="0"/>
          </a:p>
        </p:txBody>
      </p:sp>
    </p:spTree>
    <p:extLst>
      <p:ext uri="{BB962C8B-B14F-4D97-AF65-F5344CB8AC3E}">
        <p14:creationId xmlns:p14="http://schemas.microsoft.com/office/powerpoint/2010/main" val="22059205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mn-lt"/>
              </a:rPr>
              <a:t>C. The Conflict of Risk and Reward</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smtClean="0"/>
              <a:t>A Tradeoff between Risks and Rewards</a:t>
            </a:r>
          </a:p>
          <a:p>
            <a:pPr lvl="1"/>
            <a:r>
              <a:rPr lang="en-US" altLang="zh-CN" smtClean="0"/>
              <a:t>Poor risk management:</a:t>
            </a:r>
            <a:r>
              <a:rPr lang="zh-CN" altLang="en-US" smtClean="0"/>
              <a:t> </a:t>
            </a:r>
            <a:r>
              <a:rPr lang="en-US" altLang="zh-CN" smtClean="0"/>
              <a:t>powerful</a:t>
            </a:r>
            <a:r>
              <a:rPr lang="zh-CN" altLang="en-US" smtClean="0"/>
              <a:t> </a:t>
            </a:r>
            <a:r>
              <a:rPr lang="en-US" altLang="zh-CN" smtClean="0"/>
              <a:t>business leaders</a:t>
            </a:r>
            <a:r>
              <a:rPr lang="zh-CN" altLang="en-US" smtClean="0"/>
              <a:t> </a:t>
            </a:r>
            <a:r>
              <a:rPr lang="en-US" altLang="zh-CN" smtClean="0"/>
              <a:t>exaggerate returns while diminishing risks.</a:t>
            </a:r>
          </a:p>
          <a:p>
            <a:pPr lvl="1"/>
            <a:r>
              <a:rPr lang="en-US" altLang="zh-CN" smtClean="0"/>
              <a:t>Management might leave gaps in risk measurement.</a:t>
            </a:r>
          </a:p>
          <a:p>
            <a:pPr lvl="1"/>
            <a:r>
              <a:rPr lang="en-US" altLang="zh-CN" smtClean="0"/>
              <a:t>Risk management failure can be exacerbated by the compensation incentive schemes.</a:t>
            </a:r>
          </a:p>
          <a:p>
            <a:pPr lvl="1"/>
            <a:r>
              <a:rPr lang="en-US" altLang="zh-CN" smtClean="0"/>
              <a:t>Trading institutions may</a:t>
            </a:r>
            <a:r>
              <a:rPr lang="zh-CN" altLang="en-US" smtClean="0"/>
              <a:t> </a:t>
            </a:r>
            <a:r>
              <a:rPr lang="en-US" altLang="zh-CN" smtClean="0"/>
              <a:t>manipulate revenues.</a:t>
            </a:r>
          </a:p>
          <a:p>
            <a:pPr lvl="1"/>
            <a:r>
              <a:rPr lang="en-US" altLang="zh-CN" smtClean="0"/>
              <a:t>Poor risk measurement techniques:</a:t>
            </a:r>
            <a:r>
              <a:rPr lang="zh-CN" altLang="en-US" smtClean="0"/>
              <a:t> </a:t>
            </a:r>
            <a:r>
              <a:rPr lang="en-US" altLang="zh-CN" smtClean="0"/>
              <a:t>distorted</a:t>
            </a:r>
            <a:r>
              <a:rPr lang="zh-CN" altLang="en-US" smtClean="0"/>
              <a:t> </a:t>
            </a:r>
            <a:r>
              <a:rPr lang="en-US" altLang="zh-CN" smtClean="0"/>
              <a:t>risk.</a:t>
            </a:r>
          </a:p>
          <a:p>
            <a:pPr lvl="1"/>
            <a:r>
              <a:rPr lang="en-US" altLang="zh-CN" smtClean="0"/>
              <a:t>Industry regulators can be drawn into the deception.</a:t>
            </a:r>
            <a:endParaRPr lang="en-US" altLang="zh-CN" dirty="0"/>
          </a:p>
        </p:txBody>
      </p:sp>
    </p:spTree>
    <p:extLst>
      <p:ext uri="{BB962C8B-B14F-4D97-AF65-F5344CB8AC3E}">
        <p14:creationId xmlns:p14="http://schemas.microsoft.com/office/powerpoint/2010/main" val="22181482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mn-lt"/>
              </a:rPr>
              <a:t>D. The Danger of Names</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dirty="0" smtClean="0"/>
              <a:t>The classification of risk creates the potential for missed risks and gaps in responsibilities.</a:t>
            </a:r>
          </a:p>
          <a:p>
            <a:r>
              <a:rPr lang="en-US" altLang="zh-CN" dirty="0" smtClean="0"/>
              <a:t>The management of risk within silos is efficient but </a:t>
            </a:r>
            <a:r>
              <a:rPr lang="en-US" altLang="zh-CN" dirty="0" smtClean="0"/>
              <a:t>won't </a:t>
            </a:r>
            <a:r>
              <a:rPr lang="en-US" altLang="zh-CN" dirty="0" smtClean="0"/>
              <a:t>work together efficiently to manage the risks as a whole.</a:t>
            </a:r>
          </a:p>
          <a:p>
            <a:r>
              <a:rPr lang="en-US" altLang="zh-CN" dirty="0" smtClean="0"/>
              <a:t>Enterprise-wide risk management (ERM) breaks through risk management silos.</a:t>
            </a:r>
            <a:endParaRPr lang="en-US" altLang="zh-CN" dirty="0"/>
          </a:p>
        </p:txBody>
      </p:sp>
    </p:spTree>
    <p:extLst>
      <p:ext uri="{BB962C8B-B14F-4D97-AF65-F5344CB8AC3E}">
        <p14:creationId xmlns:p14="http://schemas.microsoft.com/office/powerpoint/2010/main" val="802283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mn-lt"/>
              </a:rPr>
              <a:t>E. Numbers are Dangerous too</a:t>
            </a:r>
            <a:endParaRPr lang="en-US" altLang="zh-CN" dirty="0">
              <a:sym typeface="+mn-lt"/>
            </a:endParaRPr>
          </a:p>
        </p:txBody>
      </p:sp>
      <p:sp>
        <p:nvSpPr>
          <p:cNvPr id="3" name="文本占位符 2"/>
          <p:cNvSpPr>
            <a:spLocks noGrp="1"/>
          </p:cNvSpPr>
          <p:nvPr>
            <p:ph type="body" sz="quarter" idx="10"/>
          </p:nvPr>
        </p:nvSpPr>
        <p:spPr/>
        <p:txBody>
          <a:bodyPr/>
          <a:lstStyle/>
          <a:p>
            <a:r>
              <a:rPr lang="en-US" altLang="zh-CN" smtClean="0"/>
              <a:t>Only some kinds of numbers are truly comparable.</a:t>
            </a:r>
          </a:p>
          <a:p>
            <a:r>
              <a:rPr lang="en-US" altLang="zh-CN" smtClean="0"/>
              <a:t>Introducing sophisticated models has its own dangers.</a:t>
            </a:r>
          </a:p>
          <a:p>
            <a:r>
              <a:rPr lang="en-US" altLang="zh-CN" smtClean="0"/>
              <a:t>A trader might falsify transaction details.</a:t>
            </a:r>
          </a:p>
          <a:p>
            <a:r>
              <a:rPr lang="en-US" altLang="zh-CN" smtClean="0"/>
              <a:t>Risk report readers seldom ask tough questions.</a:t>
            </a:r>
          </a:p>
          <a:p>
            <a:r>
              <a:rPr lang="en-US" altLang="zh-CN" smtClean="0"/>
              <a:t>All statistical estimation is subject to estimation errors and economic environment changes.</a:t>
            </a:r>
          </a:p>
          <a:p>
            <a:r>
              <a:rPr lang="en-US" altLang="zh-CN" smtClean="0"/>
              <a:t>Human psychology.</a:t>
            </a:r>
          </a:p>
          <a:p>
            <a:endParaRPr lang="zh-CN" altLang="en-US" dirty="0">
              <a:sym typeface="+mn-lt"/>
            </a:endParaRPr>
          </a:p>
        </p:txBody>
      </p:sp>
    </p:spTree>
    <p:extLst>
      <p:ext uri="{BB962C8B-B14F-4D97-AF65-F5344CB8AC3E}">
        <p14:creationId xmlns:p14="http://schemas.microsoft.com/office/powerpoint/2010/main" val="21817732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The Risk </a:t>
            </a:r>
            <a:r>
              <a:rPr lang="en-US" altLang="zh-CN" dirty="0" smtClean="0"/>
              <a:t>Manager's </a:t>
            </a:r>
            <a:r>
              <a:rPr lang="en-US" altLang="zh-CN" dirty="0" smtClean="0"/>
              <a:t>Job</a:t>
            </a:r>
            <a:endParaRPr lang="zh-CN" altLang="en-US" dirty="0"/>
          </a:p>
        </p:txBody>
      </p:sp>
      <p:sp>
        <p:nvSpPr>
          <p:cNvPr id="3" name="文本占位符 2"/>
          <p:cNvSpPr>
            <a:spLocks noGrp="1"/>
          </p:cNvSpPr>
          <p:nvPr>
            <p:ph type="body" sz="quarter" idx="10"/>
          </p:nvPr>
        </p:nvSpPr>
        <p:spPr/>
        <p:txBody>
          <a:bodyPr/>
          <a:lstStyle/>
          <a:p>
            <a:r>
              <a:rPr lang="en-US" altLang="zh-CN" dirty="0" smtClean="0"/>
              <a:t>Uncover the sources of risk and measure its impact: help make risk management decision.</a:t>
            </a:r>
          </a:p>
          <a:p>
            <a:r>
              <a:rPr lang="en-US" altLang="zh-CN" dirty="0" smtClean="0"/>
              <a:t>Balance risk and reward.</a:t>
            </a:r>
          </a:p>
          <a:p>
            <a:r>
              <a:rPr lang="en-US" altLang="zh-CN" dirty="0" smtClean="0"/>
              <a:t>Make risk transparent to key decision makers and stakeholders.</a:t>
            </a:r>
          </a:p>
          <a:p>
            <a:r>
              <a:rPr lang="en-US" altLang="zh-CN" dirty="0" smtClean="0"/>
              <a:t>Find the right relationship between business leaders and the specialist risk management functions.</a:t>
            </a:r>
          </a:p>
          <a:p>
            <a:endParaRPr lang="zh-CN" altLang="en-US" dirty="0"/>
          </a:p>
        </p:txBody>
      </p:sp>
    </p:spTree>
    <p:extLst>
      <p:ext uri="{BB962C8B-B14F-4D97-AF65-F5344CB8AC3E}">
        <p14:creationId xmlns:p14="http://schemas.microsoft.com/office/powerpoint/2010/main" val="24455198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smtClean="0"/>
              <a:t>Market risk is the risk that changes in financial market prices and rates will reduce the value of a security or a portfolio.</a:t>
            </a:r>
          </a:p>
          <a:p>
            <a:pPr lvl="1"/>
            <a:r>
              <a:rPr lang="en-US" altLang="zh-CN" smtClean="0"/>
              <a:t>Equity price risk</a:t>
            </a:r>
          </a:p>
          <a:p>
            <a:pPr lvl="1"/>
            <a:r>
              <a:rPr lang="en-US" altLang="zh-CN" smtClean="0"/>
              <a:t>Interest rate risk</a:t>
            </a:r>
          </a:p>
          <a:p>
            <a:pPr lvl="2"/>
            <a:r>
              <a:rPr lang="en-US" altLang="zh-CN" smtClean="0"/>
              <a:t>Trading risk</a:t>
            </a:r>
          </a:p>
          <a:p>
            <a:pPr lvl="3"/>
            <a:r>
              <a:rPr lang="en-US" altLang="zh-CN" smtClean="0"/>
              <a:t>General market risk (systematic risk)</a:t>
            </a:r>
          </a:p>
          <a:p>
            <a:pPr lvl="3"/>
            <a:r>
              <a:rPr lang="en-US" altLang="zh-CN" smtClean="0"/>
              <a:t>Specific risk (unsystematic risk)</a:t>
            </a:r>
          </a:p>
          <a:p>
            <a:pPr lvl="2"/>
            <a:r>
              <a:rPr lang="en-US" altLang="zh-CN" smtClean="0"/>
              <a:t>Gap risk (the risk that arises in the balance sheet of an institution)</a:t>
            </a:r>
          </a:p>
          <a:p>
            <a:pPr lvl="1"/>
            <a:r>
              <a:rPr lang="en-US" altLang="zh-CN" smtClean="0"/>
              <a:t>Foreign exchange risk</a:t>
            </a:r>
          </a:p>
          <a:p>
            <a:pPr lvl="1"/>
            <a:r>
              <a:rPr lang="pt-BR" altLang="zh-CN" smtClean="0"/>
              <a:t>Commodity </a:t>
            </a:r>
            <a:r>
              <a:rPr lang="en-US" altLang="zh-CN" smtClean="0"/>
              <a:t>price risk</a:t>
            </a:r>
          </a:p>
          <a:p>
            <a:endParaRPr lang="zh-CN" altLang="en-US" dirty="0"/>
          </a:p>
        </p:txBody>
      </p:sp>
    </p:spTree>
    <p:extLst>
      <p:ext uri="{BB962C8B-B14F-4D97-AF65-F5344CB8AC3E}">
        <p14:creationId xmlns:p14="http://schemas.microsoft.com/office/powerpoint/2010/main" val="12561612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smtClean="0"/>
              <a:t>Credit Risk:</a:t>
            </a:r>
            <a:r>
              <a:rPr lang="zh-CN" altLang="en-US" smtClean="0"/>
              <a:t> </a:t>
            </a:r>
            <a:r>
              <a:rPr lang="en-US" altLang="zh-CN" smtClean="0"/>
              <a:t>the risk of an economic loss from the failure of a counterparty to fulfil its contractual obligations, or from the increased risk of default during the term of the transaction.</a:t>
            </a:r>
          </a:p>
          <a:p>
            <a:pPr lvl="1"/>
            <a:r>
              <a:rPr lang="en-US" altLang="zh-CN" smtClean="0"/>
              <a:t>Default risk</a:t>
            </a:r>
          </a:p>
          <a:p>
            <a:pPr lvl="1"/>
            <a:r>
              <a:rPr lang="en-US" altLang="zh-CN" smtClean="0"/>
              <a:t>Bankruptcy </a:t>
            </a:r>
            <a:r>
              <a:rPr lang="en-US" altLang="en-US" smtClean="0"/>
              <a:t>risk</a:t>
            </a:r>
            <a:r>
              <a:rPr lang="en-US" altLang="zh-CN" smtClean="0"/>
              <a:t>(</a:t>
            </a:r>
            <a:r>
              <a:rPr lang="en" altLang="zh-CN" smtClean="0"/>
              <a:t>the risk of actually taking over the collateralized, or escrowed, assets of a defaulted borrower or counterparty</a:t>
            </a:r>
            <a:r>
              <a:rPr lang="en-US" altLang="zh-CN" smtClean="0"/>
              <a:t>)</a:t>
            </a:r>
            <a:endParaRPr lang="en-US" altLang="en-US" smtClean="0"/>
          </a:p>
          <a:p>
            <a:pPr lvl="1"/>
            <a:r>
              <a:rPr lang="en-US" altLang="zh-CN" smtClean="0"/>
              <a:t>Downgrade risk</a:t>
            </a:r>
          </a:p>
          <a:p>
            <a:pPr lvl="1"/>
            <a:r>
              <a:rPr lang="en-US" altLang="zh-CN" smtClean="0"/>
              <a:t>Settlement risk</a:t>
            </a:r>
          </a:p>
          <a:p>
            <a:endParaRPr lang="zh-CN" altLang="en-US" dirty="0"/>
          </a:p>
        </p:txBody>
      </p:sp>
    </p:spTree>
    <p:extLst>
      <p:ext uri="{BB962C8B-B14F-4D97-AF65-F5344CB8AC3E}">
        <p14:creationId xmlns:p14="http://schemas.microsoft.com/office/powerpoint/2010/main" val="5430700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dirty="0" smtClean="0"/>
              <a:t>Liquidity Risk</a:t>
            </a:r>
          </a:p>
          <a:p>
            <a:pPr lvl="1"/>
            <a:r>
              <a:rPr lang="en-US" altLang="zh-CN" dirty="0" smtClean="0"/>
              <a:t>Funding Liquidity Risk:</a:t>
            </a:r>
            <a:r>
              <a:rPr lang="zh-CN" altLang="en-US" dirty="0" smtClean="0"/>
              <a:t> </a:t>
            </a:r>
            <a:r>
              <a:rPr lang="en-US" altLang="zh-CN" dirty="0" smtClean="0"/>
              <a:t>a </a:t>
            </a:r>
            <a:r>
              <a:rPr lang="en-US" altLang="zh-CN" dirty="0" smtClean="0"/>
              <a:t>firm's </a:t>
            </a:r>
            <a:r>
              <a:rPr lang="en-US" altLang="zh-CN" dirty="0" smtClean="0"/>
              <a:t>ability to raise the necessary cash to roll over its debt; to meet the cash, margin, and collateral requirements; and to satisfy capital withdrawals.</a:t>
            </a:r>
          </a:p>
          <a:p>
            <a:pPr lvl="1"/>
            <a:r>
              <a:rPr lang="en-US" altLang="zh-CN" dirty="0" smtClean="0"/>
              <a:t>Trading Liquidity Risk:</a:t>
            </a:r>
            <a:r>
              <a:rPr lang="zh-CN" altLang="en-US" dirty="0" smtClean="0"/>
              <a:t> </a:t>
            </a:r>
            <a:r>
              <a:rPr lang="en-US" altLang="zh-CN" dirty="0" smtClean="0"/>
              <a:t>an institution will not be able to execute a transaction at the prevailing market price because there is temporarily no appetite for the deal on the other side of the market.</a:t>
            </a:r>
          </a:p>
          <a:p>
            <a:endParaRPr lang="zh-CN" altLang="en-US" dirty="0"/>
          </a:p>
        </p:txBody>
      </p:sp>
    </p:spTree>
    <p:extLst>
      <p:ext uri="{BB962C8B-B14F-4D97-AF65-F5344CB8AC3E}">
        <p14:creationId xmlns:p14="http://schemas.microsoft.com/office/powerpoint/2010/main" val="23020874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dirty="0" smtClean="0"/>
              <a:t>Operational risk refers to potential losses resulting from a range of operational weaknesses including inadequate systems, management failure, faulty controls, fraud, and human errors.</a:t>
            </a:r>
          </a:p>
          <a:p>
            <a:pPr lvl="1"/>
            <a:r>
              <a:rPr lang="en-US" altLang="zh-CN" dirty="0" smtClean="0"/>
              <a:t>Human factor risk</a:t>
            </a:r>
          </a:p>
          <a:p>
            <a:pPr lvl="2"/>
            <a:r>
              <a:rPr lang="en-US" altLang="zh-CN" dirty="0" smtClean="0"/>
              <a:t>Human factor risk is a special form of operational risk. Such  as pushing the wrong button on a computer.</a:t>
            </a:r>
          </a:p>
          <a:p>
            <a:pPr lvl="1"/>
            <a:r>
              <a:rPr lang="en-US" altLang="zh-CN" dirty="0" smtClean="0"/>
              <a:t>Technology risk</a:t>
            </a:r>
          </a:p>
          <a:p>
            <a:pPr lvl="2"/>
            <a:r>
              <a:rPr lang="en-US" altLang="zh-CN" dirty="0" smtClean="0"/>
              <a:t>Technology risk, principally computer systems risk, also falls into the operational risk category.</a:t>
            </a:r>
            <a:endParaRPr lang="en-US" altLang="zh-CN" dirty="0"/>
          </a:p>
        </p:txBody>
      </p:sp>
    </p:spTree>
    <p:extLst>
      <p:ext uri="{BB962C8B-B14F-4D97-AF65-F5344CB8AC3E}">
        <p14:creationId xmlns:p14="http://schemas.microsoft.com/office/powerpoint/2010/main" val="40476236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smtClean="0"/>
              <a:t>Legal And Regulatory Risk</a:t>
            </a:r>
          </a:p>
          <a:p>
            <a:pPr lvl="1"/>
            <a:r>
              <a:rPr lang="en-US" altLang="zh-CN" smtClean="0"/>
              <a:t>Legal and regulatory risk arises for a whole variety of reasons; it is closely related to operational risk as well as to reputation risk.</a:t>
            </a:r>
          </a:p>
          <a:p>
            <a:pPr lvl="2"/>
            <a:r>
              <a:rPr lang="en-US" altLang="zh-CN" smtClean="0"/>
              <a:t>For example, a counterparty might lack the legal or regulatory authority to engage in a risky transaction</a:t>
            </a:r>
          </a:p>
          <a:p>
            <a:pPr lvl="1"/>
            <a:r>
              <a:rPr lang="en-US" altLang="zh-CN" smtClean="0"/>
              <a:t>Another aspect of regulatory risk is the potential impact of a change in tax law on the market value of a position.</a:t>
            </a:r>
          </a:p>
          <a:p>
            <a:pPr lvl="2"/>
            <a:r>
              <a:rPr lang="en-US" altLang="zh-CN" smtClean="0"/>
              <a:t>For example, when the British government changed the tax code to remove a particular tax benefit during the summer of 1997, one major investment bank suffered huge losses.</a:t>
            </a:r>
            <a:endParaRPr lang="zh-CN" altLang="en-US" dirty="0" smtClean="0"/>
          </a:p>
        </p:txBody>
      </p:sp>
    </p:spTree>
    <p:extLst>
      <p:ext uri="{BB962C8B-B14F-4D97-AF65-F5344CB8AC3E}">
        <p14:creationId xmlns:p14="http://schemas.microsoft.com/office/powerpoint/2010/main" val="42454673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a:xfrm>
            <a:off x="393599" y="813469"/>
            <a:ext cx="11404800" cy="6044531"/>
          </a:xfrm>
        </p:spPr>
        <p:txBody>
          <a:bodyPr>
            <a:normAutofit/>
          </a:bodyPr>
          <a:lstStyle/>
          <a:p>
            <a:r>
              <a:rPr lang="en-US" altLang="zh-CN" dirty="0" smtClean="0"/>
              <a:t>Systemic Risk:</a:t>
            </a:r>
          </a:p>
          <a:p>
            <a:pPr lvl="1"/>
            <a:r>
              <a:rPr lang="en-US" altLang="zh-CN" dirty="0" smtClean="0"/>
              <a:t>Flight to quality</a:t>
            </a:r>
          </a:p>
          <a:p>
            <a:pPr lvl="2"/>
            <a:r>
              <a:rPr lang="en-US" altLang="zh-CN" dirty="0" smtClean="0"/>
              <a:t>Simply the perception of increased risk may lead to panic about the soundness of an institution, or to a more general “flight to quality” away from risky assets and toward assets perceived to be less risky.</a:t>
            </a:r>
          </a:p>
          <a:p>
            <a:pPr lvl="1"/>
            <a:r>
              <a:rPr lang="en-US" altLang="zh-CN" dirty="0" smtClean="0"/>
              <a:t>Panicked margin call requests</a:t>
            </a:r>
          </a:p>
          <a:p>
            <a:pPr lvl="2"/>
            <a:r>
              <a:rPr lang="en-US" altLang="zh-CN" dirty="0" smtClean="0"/>
              <a:t>As a consequence, borrowers may have to sell some of their assets at fire-sale prices, pushing prices further down, and creating further rounds of margin calls and forced sales.</a:t>
            </a:r>
            <a:endParaRPr lang="zh-CN" altLang="en-US" dirty="0" smtClean="0"/>
          </a:p>
          <a:p>
            <a:pPr lvl="1"/>
            <a:r>
              <a:rPr lang="en-US" altLang="zh-CN" dirty="0" smtClean="0"/>
              <a:t>The Dodd-Frank Act</a:t>
            </a:r>
            <a:r>
              <a:rPr lang="zh-CN" altLang="en-US" dirty="0" smtClean="0"/>
              <a:t> </a:t>
            </a:r>
            <a:r>
              <a:rPr lang="en-US" altLang="zh-CN" dirty="0" smtClean="0"/>
              <a:t>focuses on systemic risk.</a:t>
            </a:r>
            <a:endParaRPr lang="en-US" altLang="zh-CN" dirty="0"/>
          </a:p>
        </p:txBody>
      </p:sp>
    </p:spTree>
    <p:extLst>
      <p:ext uri="{BB962C8B-B14F-4D97-AF65-F5344CB8AC3E}">
        <p14:creationId xmlns:p14="http://schemas.microsoft.com/office/powerpoint/2010/main" val="37711749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 Typology of Risk Exposures</a:t>
            </a:r>
            <a:endParaRPr lang="zh-CN" altLang="en-US" dirty="0"/>
          </a:p>
        </p:txBody>
      </p:sp>
      <p:sp>
        <p:nvSpPr>
          <p:cNvPr id="3" name="文本占位符 2"/>
          <p:cNvSpPr>
            <a:spLocks noGrp="1"/>
          </p:cNvSpPr>
          <p:nvPr>
            <p:ph type="body" sz="quarter" idx="10"/>
          </p:nvPr>
        </p:nvSpPr>
        <p:spPr/>
        <p:txBody>
          <a:bodyPr/>
          <a:lstStyle/>
          <a:p>
            <a:r>
              <a:rPr lang="en-US" altLang="zh-CN" dirty="0" smtClean="0"/>
              <a:t>Business Risk</a:t>
            </a:r>
          </a:p>
          <a:p>
            <a:r>
              <a:rPr lang="en-US" altLang="zh-CN" dirty="0"/>
              <a:t>Reputation Risk</a:t>
            </a:r>
          </a:p>
          <a:p>
            <a:r>
              <a:rPr lang="en-US" altLang="zh-CN" dirty="0" smtClean="0"/>
              <a:t>Strategic Risk:</a:t>
            </a:r>
            <a:r>
              <a:rPr lang="zh-CN" altLang="en-US" dirty="0" smtClean="0"/>
              <a:t> </a:t>
            </a:r>
            <a:endParaRPr lang="en-US" altLang="zh-CN" dirty="0" smtClean="0"/>
          </a:p>
          <a:p>
            <a:pPr lvl="1"/>
            <a:r>
              <a:rPr lang="en-US" altLang="zh-CN" dirty="0" smtClean="0"/>
              <a:t>refers to the risk of significant investments for which there is a high uncertainty about success and profitability.</a:t>
            </a:r>
          </a:p>
          <a:p>
            <a:endParaRPr lang="en-US" altLang="zh-CN" dirty="0"/>
          </a:p>
        </p:txBody>
      </p:sp>
    </p:spTree>
    <p:extLst>
      <p:ext uri="{BB962C8B-B14F-4D97-AF65-F5344CB8AC3E}">
        <p14:creationId xmlns:p14="http://schemas.microsoft.com/office/powerpoint/2010/main" val="13776706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890477"/>
            <a:ext cx="4702164" cy="895350"/>
          </a:xfrm>
        </p:spPr>
        <p:txBody>
          <a:bodyPr>
            <a:noAutofit/>
          </a:bodyPr>
          <a:lstStyle/>
          <a:p>
            <a:r>
              <a:rPr lang="en-US" altLang="zh-CN" sz="2800" dirty="0" smtClean="0"/>
              <a:t>Corporate</a:t>
            </a:r>
            <a:r>
              <a:rPr lang="zh-CN" altLang="en-US" sz="2800" dirty="0" smtClean="0"/>
              <a:t> </a:t>
            </a:r>
            <a:r>
              <a:rPr lang="en-US" altLang="zh-CN" sz="2800" dirty="0" smtClean="0"/>
              <a:t>Risk</a:t>
            </a:r>
            <a:r>
              <a:rPr lang="zh-CN" altLang="en-US" sz="2800" dirty="0" smtClean="0"/>
              <a:t> </a:t>
            </a:r>
            <a:r>
              <a:rPr lang="en-US" altLang="zh-CN" sz="2800" dirty="0" smtClean="0"/>
              <a:t>Management:</a:t>
            </a:r>
            <a:r>
              <a:rPr lang="zh-CN" altLang="en-US" sz="2800" dirty="0" smtClean="0"/>
              <a:t> </a:t>
            </a:r>
            <a:r>
              <a:rPr lang="en-US" altLang="zh-CN" sz="2800" dirty="0" smtClean="0"/>
              <a:t>A</a:t>
            </a:r>
            <a:r>
              <a:rPr lang="zh-CN" altLang="en-US" sz="2800" dirty="0" smtClean="0"/>
              <a:t> </a:t>
            </a:r>
            <a:r>
              <a:rPr lang="en-US" altLang="zh-CN" sz="2800" dirty="0" smtClean="0"/>
              <a:t>Primer</a:t>
            </a:r>
            <a:endParaRPr lang="zh-CN" altLang="en-US" sz="2800" dirty="0"/>
          </a:p>
        </p:txBody>
      </p:sp>
    </p:spTree>
    <p:extLst>
      <p:ext uri="{BB962C8B-B14F-4D97-AF65-F5344CB8AC3E}">
        <p14:creationId xmlns:p14="http://schemas.microsoft.com/office/powerpoint/2010/main" val="42711022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buAutoNum type="alphaUcPeriod"/>
            </a:pPr>
            <a:r>
              <a:rPr lang="en-US" altLang="zh-CN" dirty="0" smtClean="0"/>
              <a:t>Why </a:t>
            </a:r>
            <a:r>
              <a:rPr lang="en-US" altLang="zh-CN" dirty="0"/>
              <a:t>Not to Manage Risk in </a:t>
            </a:r>
            <a:r>
              <a:rPr lang="en-US" altLang="zh-CN" dirty="0" smtClean="0"/>
              <a:t>Theory</a:t>
            </a:r>
          </a:p>
          <a:p>
            <a:pPr>
              <a:buAutoNum type="alphaUcPeriod"/>
            </a:pPr>
            <a:r>
              <a:rPr lang="en-US" altLang="zh-CN" dirty="0" smtClean="0"/>
              <a:t>Reasons </a:t>
            </a:r>
            <a:r>
              <a:rPr lang="en-US" altLang="zh-CN" dirty="0"/>
              <a:t>for Managing Risk in </a:t>
            </a:r>
            <a:r>
              <a:rPr lang="en-US" altLang="zh-CN" dirty="0" smtClean="0"/>
              <a:t>Practice</a:t>
            </a:r>
          </a:p>
          <a:p>
            <a:pPr>
              <a:buAutoNum type="alphaUcPeriod"/>
            </a:pPr>
            <a:r>
              <a:rPr lang="en-US" altLang="zh-CN" dirty="0" smtClean="0"/>
              <a:t>Hedging </a:t>
            </a:r>
            <a:r>
              <a:rPr lang="en-US" altLang="zh-CN" dirty="0"/>
              <a:t>Operations Versus Hedging Financial </a:t>
            </a:r>
            <a:r>
              <a:rPr lang="en-US" altLang="zh-CN" dirty="0" smtClean="0"/>
              <a:t>Positions</a:t>
            </a:r>
          </a:p>
          <a:p>
            <a:pPr>
              <a:buAutoNum type="alphaUcPeriod"/>
            </a:pPr>
            <a:r>
              <a:rPr lang="en-US" altLang="zh-CN" dirty="0" smtClean="0"/>
              <a:t>Putting </a:t>
            </a:r>
            <a:r>
              <a:rPr lang="en-US" altLang="zh-CN" dirty="0"/>
              <a:t>Risk Management into Practice</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6397858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Why Not to Manage Risk in Theory</a:t>
            </a:r>
            <a:endParaRPr lang="zh-CN" altLang="en-US" dirty="0"/>
          </a:p>
        </p:txBody>
      </p:sp>
      <p:sp>
        <p:nvSpPr>
          <p:cNvPr id="3" name="文本占位符 2"/>
          <p:cNvSpPr>
            <a:spLocks noGrp="1"/>
          </p:cNvSpPr>
          <p:nvPr>
            <p:ph type="body" sz="quarter" idx="10"/>
          </p:nvPr>
        </p:nvSpPr>
        <p:spPr/>
        <p:txBody>
          <a:bodyPr/>
          <a:lstStyle/>
          <a:p>
            <a:r>
              <a:rPr lang="en-US" altLang="zh-CN" dirty="0" smtClean="0"/>
              <a:t>Franco Modigliani and Merton Miller (M&amp;M):</a:t>
            </a:r>
          </a:p>
          <a:p>
            <a:pPr lvl="1"/>
            <a:r>
              <a:rPr lang="en-US" altLang="zh-CN" dirty="0" smtClean="0"/>
              <a:t>The value of a firm cannot be changed merely by means of financial transactions (or risk management).</a:t>
            </a:r>
          </a:p>
          <a:p>
            <a:pPr lvl="1"/>
            <a:r>
              <a:rPr lang="en-US" altLang="zh-CN" dirty="0" smtClean="0"/>
              <a:t>Firms should therefore not engage in any risk reduction activity.</a:t>
            </a:r>
          </a:p>
          <a:p>
            <a:pPr lvl="1"/>
            <a:r>
              <a:rPr lang="en-US" altLang="zh-CN" dirty="0" smtClean="0"/>
              <a:t>Individual investors can execute on their own.</a:t>
            </a:r>
          </a:p>
          <a:p>
            <a:r>
              <a:rPr lang="en-US" altLang="zh-CN" dirty="0" smtClean="0"/>
              <a:t>MM's </a:t>
            </a:r>
            <a:r>
              <a:rPr lang="en-US" altLang="zh-CN" dirty="0" smtClean="0"/>
              <a:t>assumption: the capital markets are perfect.</a:t>
            </a:r>
          </a:p>
          <a:p>
            <a:pPr lvl="1"/>
            <a:r>
              <a:rPr lang="en-US" altLang="zh-CN" dirty="0" smtClean="0"/>
              <a:t>Highly competitive; participants are not subject to transaction costs, commissions, or taxes.</a:t>
            </a:r>
          </a:p>
          <a:p>
            <a:endParaRPr lang="zh-CN" altLang="en-US" dirty="0"/>
          </a:p>
        </p:txBody>
      </p:sp>
    </p:spTree>
    <p:extLst>
      <p:ext uri="{BB962C8B-B14F-4D97-AF65-F5344CB8AC3E}">
        <p14:creationId xmlns:p14="http://schemas.microsoft.com/office/powerpoint/2010/main" val="32618119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Why Not to Manage Risk in Theory</a:t>
            </a:r>
            <a:endParaRPr lang="zh-CN" altLang="en-US" dirty="0"/>
          </a:p>
        </p:txBody>
      </p:sp>
      <p:sp>
        <p:nvSpPr>
          <p:cNvPr id="3" name="文本占位符 2"/>
          <p:cNvSpPr>
            <a:spLocks noGrp="1"/>
          </p:cNvSpPr>
          <p:nvPr>
            <p:ph type="body" sz="quarter" idx="10"/>
          </p:nvPr>
        </p:nvSpPr>
        <p:spPr/>
        <p:txBody>
          <a:bodyPr/>
          <a:lstStyle/>
          <a:p>
            <a:r>
              <a:rPr lang="en-US" altLang="zh-CN" dirty="0" smtClean="0"/>
              <a:t>CAPM:</a:t>
            </a:r>
          </a:p>
          <a:p>
            <a:pPr lvl="1"/>
            <a:r>
              <a:rPr lang="en-US" altLang="zh-CN" dirty="0" smtClean="0"/>
              <a:t>in a world with perfect capital markets, firms only base their investment decisions on systematic risks.</a:t>
            </a:r>
          </a:p>
          <a:p>
            <a:r>
              <a:rPr lang="en-US" altLang="zh-CN" dirty="0" smtClean="0"/>
              <a:t>Using hedging tools cannot increase the value of the firm.</a:t>
            </a:r>
          </a:p>
          <a:p>
            <a:r>
              <a:rPr lang="en-US" altLang="zh-CN" dirty="0" smtClean="0"/>
              <a:t>Active hedging may distract management from its core business.</a:t>
            </a:r>
          </a:p>
          <a:p>
            <a:r>
              <a:rPr lang="en-US" altLang="zh-CN" dirty="0" smtClean="0"/>
              <a:t>A careless risk management strategy can drag a firm down.</a:t>
            </a:r>
          </a:p>
          <a:p>
            <a:r>
              <a:rPr lang="en-US" altLang="zh-CN" dirty="0" smtClean="0"/>
              <a:t>Risk management strategy has compliance costs.</a:t>
            </a:r>
          </a:p>
          <a:p>
            <a:endParaRPr lang="zh-CN" altLang="en-US" dirty="0"/>
          </a:p>
        </p:txBody>
      </p:sp>
    </p:spTree>
    <p:extLst>
      <p:ext uri="{BB962C8B-B14F-4D97-AF65-F5344CB8AC3E}">
        <p14:creationId xmlns:p14="http://schemas.microsoft.com/office/powerpoint/2010/main" val="39570936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Reasons for Managing Risk in Practice</a:t>
            </a:r>
            <a:endParaRPr lang="zh-CN" altLang="en-US" dirty="0"/>
          </a:p>
        </p:txBody>
      </p:sp>
      <p:sp>
        <p:nvSpPr>
          <p:cNvPr id="3" name="文本占位符 2"/>
          <p:cNvSpPr>
            <a:spLocks noGrp="1"/>
          </p:cNvSpPr>
          <p:nvPr>
            <p:ph type="body" sz="quarter" idx="10"/>
          </p:nvPr>
        </p:nvSpPr>
        <p:spPr/>
        <p:txBody>
          <a:bodyPr/>
          <a:lstStyle/>
          <a:p>
            <a:r>
              <a:rPr lang="en-US" altLang="zh-CN" dirty="0" smtClean="0"/>
              <a:t>The “perfect</a:t>
            </a:r>
            <a:r>
              <a:rPr lang="zh-CN" altLang="en-US" dirty="0" smtClean="0"/>
              <a:t> </a:t>
            </a:r>
            <a:r>
              <a:rPr lang="en-US" altLang="zh-CN" dirty="0" smtClean="0"/>
              <a:t>market”</a:t>
            </a:r>
            <a:r>
              <a:rPr lang="zh-CN" altLang="en-US" dirty="0" smtClean="0"/>
              <a:t> </a:t>
            </a:r>
            <a:r>
              <a:rPr lang="en-US" altLang="zh-CN" dirty="0" smtClean="0"/>
              <a:t>assumption does not hold.</a:t>
            </a:r>
          </a:p>
          <a:p>
            <a:r>
              <a:rPr lang="en-US" altLang="zh-CN" dirty="0" smtClean="0"/>
              <a:t>The high fixed costs associated with financial distress and bankruptcy.</a:t>
            </a:r>
          </a:p>
          <a:p>
            <a:r>
              <a:rPr lang="en-US" altLang="zh-CN" dirty="0" smtClean="0"/>
              <a:t>Managers have an interest in reducing risks</a:t>
            </a:r>
            <a:r>
              <a:rPr lang="zh-CN" altLang="en-US" dirty="0" smtClean="0"/>
              <a:t> </a:t>
            </a:r>
            <a:r>
              <a:rPr lang="en-US" altLang="zh-CN" dirty="0" smtClean="0"/>
              <a:t>⇒</a:t>
            </a:r>
            <a:r>
              <a:rPr lang="zh-CN" altLang="en-US" dirty="0" smtClean="0"/>
              <a:t> </a:t>
            </a:r>
            <a:r>
              <a:rPr lang="en-US" altLang="zh-CN" dirty="0" smtClean="0"/>
              <a:t>to</a:t>
            </a:r>
            <a:r>
              <a:rPr lang="zh-CN" altLang="en-US" dirty="0" smtClean="0"/>
              <a:t> </a:t>
            </a:r>
            <a:r>
              <a:rPr lang="en-US" altLang="zh-CN" dirty="0" smtClean="0"/>
              <a:t>achieve the </a:t>
            </a:r>
            <a:r>
              <a:rPr lang="en-US" altLang="zh-CN" dirty="0" smtClean="0"/>
              <a:t>board's </a:t>
            </a:r>
            <a:r>
              <a:rPr lang="en-US" altLang="zh-CN" dirty="0" smtClean="0"/>
              <a:t>objectives.</a:t>
            </a:r>
          </a:p>
          <a:p>
            <a:r>
              <a:rPr lang="en-US" altLang="zh-CN" dirty="0" smtClean="0"/>
              <a:t>Hedging reduces the cost of capital</a:t>
            </a:r>
            <a:r>
              <a:rPr lang="zh-CN" altLang="en-US" dirty="0" smtClean="0"/>
              <a:t> </a:t>
            </a:r>
            <a:r>
              <a:rPr lang="en-US" altLang="zh-CN" dirty="0" smtClean="0"/>
              <a:t>and</a:t>
            </a:r>
            <a:r>
              <a:rPr lang="zh-CN" altLang="en-US" dirty="0" smtClean="0"/>
              <a:t> </a:t>
            </a:r>
            <a:r>
              <a:rPr lang="en-US" altLang="zh-CN" dirty="0" smtClean="0"/>
              <a:t>increases the debt capacity of companies.</a:t>
            </a:r>
          </a:p>
          <a:p>
            <a:r>
              <a:rPr lang="en-US" altLang="zh-CN" dirty="0" smtClean="0"/>
              <a:t>A firm can </a:t>
            </a:r>
            <a:r>
              <a:rPr lang="en-US" altLang="zh-CN" dirty="0" err="1" smtClean="0"/>
              <a:t>stabilise</a:t>
            </a:r>
            <a:r>
              <a:rPr lang="en-US" altLang="zh-CN" dirty="0" smtClean="0"/>
              <a:t> its costs through hedging.</a:t>
            </a:r>
          </a:p>
          <a:p>
            <a:r>
              <a:rPr lang="en-US" altLang="zh-CN" dirty="0" smtClean="0"/>
              <a:t>Purchasing insurance is expensive.</a:t>
            </a:r>
          </a:p>
          <a:p>
            <a:endParaRPr lang="zh-CN" altLang="en-US" dirty="0"/>
          </a:p>
        </p:txBody>
      </p:sp>
    </p:spTree>
    <p:extLst>
      <p:ext uri="{BB962C8B-B14F-4D97-AF65-F5344CB8AC3E}">
        <p14:creationId xmlns:p14="http://schemas.microsoft.com/office/powerpoint/2010/main" val="7252428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599" y="62400"/>
            <a:ext cx="9605963" cy="576064"/>
          </a:xfrm>
        </p:spPr>
        <p:txBody>
          <a:bodyPr>
            <a:normAutofit fontScale="90000"/>
          </a:bodyPr>
          <a:lstStyle/>
          <a:p>
            <a:r>
              <a:rPr lang="en-US" altLang="zh-CN" dirty="0" smtClean="0"/>
              <a:t>C. Hedging Operations Versus Hedging Financial Positions</a:t>
            </a:r>
            <a:endParaRPr lang="zh-CN" altLang="en-US" dirty="0"/>
          </a:p>
        </p:txBody>
      </p:sp>
      <p:sp>
        <p:nvSpPr>
          <p:cNvPr id="3" name="文本占位符 2"/>
          <p:cNvSpPr>
            <a:spLocks noGrp="1"/>
          </p:cNvSpPr>
          <p:nvPr>
            <p:ph type="body" sz="quarter" idx="10"/>
          </p:nvPr>
        </p:nvSpPr>
        <p:spPr/>
        <p:txBody>
          <a:bodyPr/>
          <a:lstStyle/>
          <a:p>
            <a:r>
              <a:rPr lang="en-US" altLang="zh-CN" smtClean="0"/>
              <a:t>A Twofold Conclusion</a:t>
            </a:r>
          </a:p>
          <a:p>
            <a:pPr lvl="1"/>
            <a:r>
              <a:rPr lang="en-US" altLang="zh-CN" smtClean="0"/>
              <a:t>Companies should concentrate on business areas in which they have comparative advantages</a:t>
            </a:r>
            <a:r>
              <a:rPr lang="zh-CN" altLang="en-US" smtClean="0"/>
              <a:t> </a:t>
            </a:r>
            <a:r>
              <a:rPr lang="en-US" altLang="zh-CN" smtClean="0"/>
              <a:t>⇒</a:t>
            </a:r>
            <a:r>
              <a:rPr lang="zh-CN" altLang="en-US" smtClean="0"/>
              <a:t> </a:t>
            </a:r>
            <a:r>
              <a:rPr lang="en-US" altLang="zh-CN" smtClean="0"/>
              <a:t>firms should risk-manage their operations.</a:t>
            </a:r>
          </a:p>
          <a:p>
            <a:pPr lvl="1"/>
            <a:r>
              <a:rPr lang="en-US" altLang="zh-CN" smtClean="0"/>
              <a:t>Firms may also hedge their assets and liabilities, so long as they disclose their hedging policy.</a:t>
            </a:r>
          </a:p>
          <a:p>
            <a:endParaRPr lang="zh-CN" altLang="en-US" dirty="0"/>
          </a:p>
        </p:txBody>
      </p:sp>
    </p:spTree>
    <p:extLst>
      <p:ext uri="{BB962C8B-B14F-4D97-AF65-F5344CB8AC3E}">
        <p14:creationId xmlns:p14="http://schemas.microsoft.com/office/powerpoint/2010/main" val="39369238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D. Putting Risk Management into Practice</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1. Determining The Objective</a:t>
            </a:r>
          </a:p>
          <a:p>
            <a:pPr lvl="1"/>
            <a:r>
              <a:rPr lang="en-US" altLang="zh-CN" dirty="0" smtClean="0"/>
              <a:t>The</a:t>
            </a:r>
            <a:r>
              <a:rPr lang="zh-CN" altLang="en-US" dirty="0" smtClean="0"/>
              <a:t> </a:t>
            </a:r>
            <a:r>
              <a:rPr lang="en-US" altLang="zh-CN" dirty="0" smtClean="0"/>
              <a:t>board</a:t>
            </a:r>
            <a:r>
              <a:rPr lang="zh-CN" altLang="en-US" dirty="0" smtClean="0"/>
              <a:t> </a:t>
            </a:r>
            <a:r>
              <a:rPr lang="en-US" altLang="zh-CN" dirty="0" smtClean="0"/>
              <a:t>defines</a:t>
            </a:r>
            <a:r>
              <a:rPr lang="zh-CN" altLang="en-US" dirty="0" smtClean="0"/>
              <a:t> </a:t>
            </a:r>
            <a:r>
              <a:rPr lang="en-US" altLang="zh-CN" dirty="0" smtClean="0"/>
              <a:t>the</a:t>
            </a:r>
            <a:r>
              <a:rPr lang="zh-CN" altLang="en-US" dirty="0" smtClean="0"/>
              <a:t> </a:t>
            </a:r>
            <a:r>
              <a:rPr lang="en-US" altLang="zh-CN" dirty="0" smtClean="0"/>
              <a:t>risk</a:t>
            </a:r>
            <a:r>
              <a:rPr lang="zh-CN" altLang="en-US" dirty="0" smtClean="0"/>
              <a:t> </a:t>
            </a:r>
            <a:r>
              <a:rPr lang="en-US" altLang="zh-CN" dirty="0" smtClean="0"/>
              <a:t>appetite.</a:t>
            </a:r>
          </a:p>
          <a:p>
            <a:pPr marL="0" indent="0">
              <a:buNone/>
            </a:pPr>
            <a:r>
              <a:rPr lang="en-US" altLang="zh-CN" dirty="0" smtClean="0"/>
              <a:t>2.</a:t>
            </a:r>
            <a:r>
              <a:rPr lang="zh-CN" altLang="en-US" dirty="0" smtClean="0"/>
              <a:t> </a:t>
            </a:r>
            <a:r>
              <a:rPr lang="en-US" altLang="zh-CN" dirty="0" smtClean="0"/>
              <a:t>Mapping The Risks</a:t>
            </a:r>
          </a:p>
          <a:p>
            <a:pPr lvl="1"/>
            <a:r>
              <a:rPr lang="en-US" altLang="zh-CN" dirty="0" smtClean="0"/>
              <a:t>Map the specific risks likely to arise from some risk factors.</a:t>
            </a:r>
          </a:p>
          <a:p>
            <a:pPr lvl="1"/>
            <a:r>
              <a:rPr lang="en-US" altLang="zh-CN" dirty="0" smtClean="0"/>
              <a:t>Make a record of all assets and liabilities with values that are sensitive to that risk factor.</a:t>
            </a:r>
          </a:p>
          <a:p>
            <a:pPr lvl="1"/>
            <a:r>
              <a:rPr lang="en-US" altLang="zh-CN" dirty="0" smtClean="0"/>
              <a:t>Each risk on the list should be </a:t>
            </a:r>
            <a:r>
              <a:rPr lang="en-US" altLang="zh-CN" dirty="0" smtClean="0"/>
              <a:t>characterized </a:t>
            </a:r>
            <a:r>
              <a:rPr lang="en-US" altLang="zh-CN" dirty="0" smtClean="0"/>
              <a:t>in terms of its potential damage and the probability of its occurrence.</a:t>
            </a:r>
          </a:p>
          <a:p>
            <a:endParaRPr lang="zh-CN" altLang="en-US" dirty="0"/>
          </a:p>
        </p:txBody>
      </p:sp>
    </p:spTree>
    <p:extLst>
      <p:ext uri="{BB962C8B-B14F-4D97-AF65-F5344CB8AC3E}">
        <p14:creationId xmlns:p14="http://schemas.microsoft.com/office/powerpoint/2010/main" val="3537030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D. Putting Risk Management into Practice</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3. Instruments For Risk Management</a:t>
            </a:r>
          </a:p>
          <a:p>
            <a:pPr lvl="1"/>
            <a:r>
              <a:rPr lang="en-US" altLang="zh-CN" dirty="0" smtClean="0"/>
              <a:t>Naturally hedged?</a:t>
            </a:r>
            <a:r>
              <a:rPr lang="zh-CN" altLang="en-US" dirty="0" smtClean="0"/>
              <a:t> </a:t>
            </a:r>
            <a:r>
              <a:rPr lang="en-US" altLang="zh-CN" dirty="0" smtClean="0"/>
              <a:t>transferable? insurable? not insurable? self-insure?</a:t>
            </a:r>
          </a:p>
          <a:p>
            <a:pPr lvl="1"/>
            <a:r>
              <a:rPr lang="en-US" altLang="zh-CN" dirty="0" smtClean="0"/>
              <a:t>Hedge with OTC instruments or exchange-traded instruments?</a:t>
            </a:r>
          </a:p>
          <a:p>
            <a:pPr marL="0" indent="0">
              <a:buNone/>
            </a:pPr>
            <a:r>
              <a:rPr lang="en-US" altLang="zh-CN" dirty="0" smtClean="0"/>
              <a:t>4. Constructing And Implementing A Strategy</a:t>
            </a:r>
          </a:p>
          <a:p>
            <a:pPr lvl="1"/>
            <a:r>
              <a:rPr lang="en-US" altLang="zh-CN" dirty="0" smtClean="0"/>
              <a:t>Static Hedging?</a:t>
            </a:r>
          </a:p>
          <a:p>
            <a:pPr lvl="1"/>
            <a:r>
              <a:rPr lang="en-US" altLang="zh-CN" dirty="0" smtClean="0"/>
              <a:t>Dynamic Hedging?</a:t>
            </a:r>
          </a:p>
          <a:p>
            <a:pPr lvl="1"/>
            <a:r>
              <a:rPr lang="en-US" altLang="zh-CN" dirty="0" smtClean="0"/>
              <a:t>Accounting</a:t>
            </a:r>
            <a:r>
              <a:rPr lang="zh-CN" altLang="en-US" dirty="0" smtClean="0"/>
              <a:t> </a:t>
            </a:r>
            <a:r>
              <a:rPr lang="en-US" altLang="zh-CN" dirty="0" smtClean="0"/>
              <a:t>issues</a:t>
            </a:r>
            <a:r>
              <a:rPr lang="zh-CN" altLang="en-US" dirty="0" smtClean="0"/>
              <a:t> </a:t>
            </a:r>
            <a:r>
              <a:rPr lang="en-US" altLang="zh-CN" dirty="0" smtClean="0"/>
              <a:t>and</a:t>
            </a:r>
            <a:r>
              <a:rPr lang="zh-CN" altLang="en-US" dirty="0" smtClean="0"/>
              <a:t> </a:t>
            </a:r>
            <a:r>
              <a:rPr lang="en-US" altLang="zh-CN" dirty="0" smtClean="0"/>
              <a:t>tax</a:t>
            </a:r>
            <a:r>
              <a:rPr lang="zh-CN" altLang="en-US" dirty="0" smtClean="0"/>
              <a:t> </a:t>
            </a:r>
            <a:r>
              <a:rPr lang="en-US" altLang="zh-CN" dirty="0" smtClean="0"/>
              <a:t>effects</a:t>
            </a:r>
          </a:p>
          <a:p>
            <a:pPr marL="0" indent="0">
              <a:buNone/>
            </a:pPr>
            <a:r>
              <a:rPr lang="en-US" altLang="zh-CN" dirty="0" smtClean="0"/>
              <a:t>5. Performance Evaluation</a:t>
            </a:r>
          </a:p>
          <a:p>
            <a:endParaRPr lang="zh-CN" altLang="en-US" dirty="0"/>
          </a:p>
        </p:txBody>
      </p:sp>
    </p:spTree>
    <p:extLst>
      <p:ext uri="{BB962C8B-B14F-4D97-AF65-F5344CB8AC3E}">
        <p14:creationId xmlns:p14="http://schemas.microsoft.com/office/powerpoint/2010/main" val="42632224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584962" y="2518989"/>
            <a:ext cx="4702164" cy="895350"/>
          </a:xfrm>
        </p:spPr>
        <p:txBody>
          <a:bodyPr>
            <a:normAutofit fontScale="90000"/>
          </a:bodyPr>
          <a:lstStyle/>
          <a:p>
            <a:r>
              <a:rPr lang="en-US" altLang="zh-CN" dirty="0"/>
              <a:t>Corporate</a:t>
            </a:r>
            <a:r>
              <a:rPr lang="zh-CN" altLang="en-US" dirty="0"/>
              <a:t> </a:t>
            </a:r>
            <a:r>
              <a:rPr lang="en-US" altLang="zh-CN" dirty="0"/>
              <a:t>Governance</a:t>
            </a:r>
            <a:r>
              <a:rPr lang="zh-CN" altLang="en-US" dirty="0"/>
              <a:t> </a:t>
            </a:r>
            <a:r>
              <a:rPr lang="en-US" altLang="zh-CN" dirty="0"/>
              <a:t>and</a:t>
            </a:r>
            <a:r>
              <a:rPr lang="zh-CN" altLang="en-US" dirty="0"/>
              <a:t> </a:t>
            </a:r>
            <a:r>
              <a:rPr lang="en-US" altLang="zh-CN" dirty="0"/>
              <a:t>Risk</a:t>
            </a:r>
            <a:r>
              <a:rPr lang="zh-CN" altLang="en-US" dirty="0"/>
              <a:t> </a:t>
            </a:r>
            <a:r>
              <a:rPr lang="en-US" altLang="zh-CN" dirty="0" smtClean="0"/>
              <a:t>Management</a:t>
            </a:r>
            <a:endParaRPr lang="zh-CN" altLang="en-US" dirty="0"/>
          </a:p>
        </p:txBody>
      </p:sp>
    </p:spTree>
    <p:extLst>
      <p:ext uri="{BB962C8B-B14F-4D97-AF65-F5344CB8AC3E}">
        <p14:creationId xmlns:p14="http://schemas.microsoft.com/office/powerpoint/2010/main" val="35208014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lang="en-US" altLang="zh-CN" dirty="0">
                <a:sym typeface="+mn-lt"/>
              </a:rPr>
              <a:t>A. </a:t>
            </a:r>
            <a:r>
              <a:rPr lang="en-US" altLang="zh-CN" dirty="0" smtClean="0">
                <a:sym typeface="+mn-lt"/>
              </a:rPr>
              <a:t>Introduction</a:t>
            </a:r>
          </a:p>
          <a:p>
            <a:pPr marL="457200" indent="-504000">
              <a:buNone/>
            </a:pPr>
            <a:r>
              <a:rPr lang="en-US" altLang="zh-CN" dirty="0"/>
              <a:t>B. Corporate Governance and </a:t>
            </a:r>
            <a:r>
              <a:rPr lang="en-US" altLang="zh-CN" dirty="0" smtClean="0"/>
              <a:t>Risk  Management</a:t>
            </a:r>
          </a:p>
          <a:p>
            <a:pPr marL="457200" indent="-504000">
              <a:buNone/>
            </a:pPr>
            <a:r>
              <a:rPr lang="en-US" altLang="zh-CN" dirty="0"/>
              <a:t>C. True Risk </a:t>
            </a:r>
            <a:r>
              <a:rPr lang="en-US" altLang="zh-CN" dirty="0" smtClean="0"/>
              <a:t>Governance</a:t>
            </a:r>
          </a:p>
          <a:p>
            <a:pPr marL="457200" indent="-504000">
              <a:buNone/>
            </a:pPr>
            <a:r>
              <a:rPr lang="en-US" altLang="zh-CN" dirty="0"/>
              <a:t>D. Committees and Risk </a:t>
            </a:r>
            <a:r>
              <a:rPr lang="en-US" altLang="zh-CN" dirty="0" smtClean="0"/>
              <a:t>Limits</a:t>
            </a:r>
          </a:p>
          <a:p>
            <a:pPr marL="457200" indent="-504000">
              <a:buNone/>
            </a:pPr>
            <a:r>
              <a:rPr lang="en-US" altLang="zh-CN" dirty="0"/>
              <a:t>E. Roles and Responsibilities in </a:t>
            </a:r>
            <a:r>
              <a:rPr lang="en-US" altLang="zh-CN" dirty="0" smtClean="0"/>
              <a:t>Practice</a:t>
            </a:r>
          </a:p>
          <a:p>
            <a:pPr marL="457200" indent="-504000">
              <a:buNone/>
            </a:pPr>
            <a:r>
              <a:rPr lang="en-US" altLang="zh-CN" dirty="0"/>
              <a:t>F. Limits and Limit Standards </a:t>
            </a:r>
            <a:r>
              <a:rPr lang="en-US" altLang="zh-CN" dirty="0" smtClean="0"/>
              <a:t>Policies</a:t>
            </a:r>
          </a:p>
          <a:p>
            <a:pPr marL="457200" indent="-504000">
              <a:buNone/>
            </a:pPr>
            <a:r>
              <a:rPr lang="en-US" altLang="zh-CN" dirty="0"/>
              <a:t>G. Standards for Monitoring </a:t>
            </a:r>
            <a:r>
              <a:rPr lang="en-US" altLang="zh-CN" dirty="0" smtClean="0"/>
              <a:t>Risk</a:t>
            </a:r>
          </a:p>
          <a:p>
            <a:pPr marL="457200" indent="-504000">
              <a:buNone/>
            </a:pPr>
            <a:r>
              <a:rPr lang="en-US" altLang="zh-CN" dirty="0"/>
              <a:t>H. What Is the Role of the Audit Function?</a:t>
            </a:r>
            <a:endParaRPr lang="en-US" altLang="zh-CN" dirty="0" smtClean="0"/>
          </a:p>
          <a:p>
            <a:pPr marL="457200" indent="-504000">
              <a:buNone/>
            </a:pPr>
            <a:endParaRPr lang="en-US" altLang="zh-CN" dirty="0" smtClean="0"/>
          </a:p>
          <a:p>
            <a:pPr marL="457200" indent="-504000">
              <a:buNone/>
            </a:pPr>
            <a:endParaRPr lang="en-US" altLang="zh-CN" dirty="0" smtClean="0"/>
          </a:p>
          <a:p>
            <a:pPr marL="457200" indent="-504000">
              <a:buNone/>
            </a:pPr>
            <a:endParaRPr lang="en-US" altLang="zh-CN" dirty="0" smtClean="0"/>
          </a:p>
          <a:p>
            <a:pPr marL="0" indent="0">
              <a:buNone/>
            </a:pP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9368852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Introduction</a:t>
            </a:r>
            <a:endParaRPr lang="zh-CN" altLang="en-US" dirty="0"/>
          </a:p>
        </p:txBody>
      </p:sp>
      <p:sp>
        <p:nvSpPr>
          <p:cNvPr id="3" name="文本占位符 2"/>
          <p:cNvSpPr>
            <a:spLocks noGrp="1"/>
          </p:cNvSpPr>
          <p:nvPr>
            <p:ph type="body" sz="quarter" idx="10"/>
          </p:nvPr>
        </p:nvSpPr>
        <p:spPr/>
        <p:txBody>
          <a:bodyPr/>
          <a:lstStyle/>
          <a:p>
            <a:r>
              <a:rPr lang="en-US" altLang="zh-CN" smtClean="0"/>
              <a:t>Sarbanes-Oxley Act (SOX)</a:t>
            </a:r>
          </a:p>
          <a:p>
            <a:pPr lvl="1"/>
            <a:r>
              <a:rPr lang="en-US" altLang="zh-CN" smtClean="0"/>
              <a:t>Penalise inattention, incompetence,</a:t>
            </a:r>
            <a:r>
              <a:rPr lang="zh-CN" altLang="en-US" smtClean="0"/>
              <a:t> </a:t>
            </a:r>
            <a:r>
              <a:rPr lang="en-US" altLang="zh-CN" smtClean="0"/>
              <a:t>and</a:t>
            </a:r>
            <a:r>
              <a:rPr lang="zh-CN" altLang="en-US" smtClean="0"/>
              <a:t> </a:t>
            </a:r>
            <a:r>
              <a:rPr lang="en-US" altLang="zh-CN" smtClean="0"/>
              <a:t>deliberate malfeasance.</a:t>
            </a:r>
          </a:p>
          <a:p>
            <a:pPr lvl="1"/>
            <a:r>
              <a:rPr lang="en-US" altLang="zh-CN" smtClean="0"/>
              <a:t>Ensure the accuracy of company reports filed with the SEC.</a:t>
            </a:r>
          </a:p>
          <a:p>
            <a:pPr lvl="1"/>
            <a:r>
              <a:rPr lang="en-US" altLang="zh-CN" smtClean="0"/>
              <a:t>Disclose to the audit committee any deficiencies and material weaknesses.</a:t>
            </a:r>
          </a:p>
          <a:p>
            <a:pPr lvl="1"/>
            <a:r>
              <a:rPr lang="en-US" altLang="zh-CN" smtClean="0"/>
              <a:t>The board of the company must include financial experts.</a:t>
            </a:r>
          </a:p>
          <a:p>
            <a:endParaRPr lang="zh-CN" altLang="en-US" dirty="0"/>
          </a:p>
        </p:txBody>
      </p:sp>
    </p:spTree>
    <p:extLst>
      <p:ext uri="{BB962C8B-B14F-4D97-AF65-F5344CB8AC3E}">
        <p14:creationId xmlns:p14="http://schemas.microsoft.com/office/powerpoint/2010/main" val="2437841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Introduction</a:t>
            </a:r>
            <a:endParaRPr lang="zh-CN" altLang="en-US" dirty="0"/>
          </a:p>
        </p:txBody>
      </p:sp>
      <p:sp>
        <p:nvSpPr>
          <p:cNvPr id="3" name="文本占位符 2"/>
          <p:cNvSpPr>
            <a:spLocks noGrp="1"/>
          </p:cNvSpPr>
          <p:nvPr>
            <p:ph type="body" sz="quarter" idx="10"/>
          </p:nvPr>
        </p:nvSpPr>
        <p:spPr/>
        <p:txBody>
          <a:bodyPr/>
          <a:lstStyle/>
          <a:p>
            <a:r>
              <a:rPr lang="en-US" altLang="zh-CN" dirty="0" smtClean="0"/>
              <a:t>Key Post-Crisis Corporate Governance Concerns</a:t>
            </a:r>
          </a:p>
          <a:p>
            <a:pPr lvl="1"/>
            <a:r>
              <a:rPr lang="en-US" altLang="zh-CN" dirty="0" smtClean="0"/>
              <a:t>Depositors, debt holders, and taxpayers have a much stronger interest in minimizing the risk of bank failure than do most shareholders.</a:t>
            </a:r>
          </a:p>
          <a:p>
            <a:pPr lvl="1"/>
            <a:r>
              <a:rPr lang="en-US" altLang="zh-CN" dirty="0" smtClean="0"/>
              <a:t>Board composition: bank boards contain the right balance of independence.</a:t>
            </a:r>
          </a:p>
          <a:p>
            <a:pPr lvl="1"/>
            <a:r>
              <a:rPr lang="en-US" altLang="zh-CN" dirty="0" smtClean="0"/>
              <a:t>Regulators have pushed banks to set out </a:t>
            </a:r>
            <a:r>
              <a:rPr lang="en-US" altLang="zh-CN" b="1" dirty="0" smtClean="0"/>
              <a:t>a </a:t>
            </a:r>
            <a:r>
              <a:rPr lang="en-US" altLang="zh-CN" b="1" u="sng" dirty="0" smtClean="0"/>
              <a:t>risk appetite </a:t>
            </a:r>
            <a:r>
              <a:rPr lang="en-US" altLang="zh-CN" dirty="0" smtClean="0"/>
              <a:t>that defines the </a:t>
            </a:r>
            <a:r>
              <a:rPr lang="en-US" altLang="zh-CN" dirty="0" smtClean="0"/>
              <a:t>firm's </a:t>
            </a:r>
            <a:r>
              <a:rPr lang="en-US" altLang="zh-CN" b="1" u="sng" dirty="0" smtClean="0"/>
              <a:t>willingness</a:t>
            </a:r>
            <a:r>
              <a:rPr lang="en-US" altLang="zh-CN" dirty="0" smtClean="0"/>
              <a:t> to take risk.</a:t>
            </a:r>
          </a:p>
          <a:p>
            <a:pPr lvl="1"/>
            <a:r>
              <a:rPr lang="en-US" altLang="zh-CN" dirty="0" smtClean="0"/>
              <a:t>Compensation: making bonuses a smaller part of the compensation package.</a:t>
            </a:r>
            <a:endParaRPr lang="en-US" altLang="zh-CN" dirty="0"/>
          </a:p>
        </p:txBody>
      </p:sp>
    </p:spTree>
    <p:extLst>
      <p:ext uri="{BB962C8B-B14F-4D97-AF65-F5344CB8AC3E}">
        <p14:creationId xmlns:p14="http://schemas.microsoft.com/office/powerpoint/2010/main" val="29383949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077200" cy="576064"/>
          </a:xfrm>
        </p:spPr>
        <p:txBody>
          <a:bodyPr>
            <a:normAutofit fontScale="90000"/>
          </a:bodyPr>
          <a:lstStyle/>
          <a:p>
            <a:r>
              <a:rPr lang="en-US" altLang="zh-CN" dirty="0" smtClean="0"/>
              <a:t>B. Corporate Governance and Risk Management</a:t>
            </a:r>
            <a:endParaRPr lang="zh-CN" altLang="en-US" dirty="0"/>
          </a:p>
        </p:txBody>
      </p:sp>
      <p:sp>
        <p:nvSpPr>
          <p:cNvPr id="3" name="文本占位符 2"/>
          <p:cNvSpPr>
            <a:spLocks noGrp="1"/>
          </p:cNvSpPr>
          <p:nvPr>
            <p:ph type="body" sz="quarter" idx="10"/>
          </p:nvPr>
        </p:nvSpPr>
        <p:spPr/>
        <p:txBody>
          <a:bodyPr/>
          <a:lstStyle/>
          <a:p>
            <a:r>
              <a:rPr lang="en-US" altLang="zh-CN" smtClean="0"/>
              <a:t>The Board Should</a:t>
            </a:r>
            <a:r>
              <a:rPr lang="zh-CN" altLang="en-US" smtClean="0"/>
              <a:t> </a:t>
            </a:r>
            <a:r>
              <a:rPr lang="en-US" altLang="zh-CN" smtClean="0"/>
              <a:t>(basic</a:t>
            </a:r>
            <a:r>
              <a:rPr lang="zh-CN" altLang="en-US" smtClean="0"/>
              <a:t> </a:t>
            </a:r>
            <a:r>
              <a:rPr lang="en-US" altLang="zh-CN" smtClean="0"/>
              <a:t>functions)</a:t>
            </a:r>
          </a:p>
          <a:p>
            <a:pPr lvl="1"/>
            <a:r>
              <a:rPr lang="en-US" altLang="zh-CN" smtClean="0"/>
              <a:t>Look after the interests of shareholders.</a:t>
            </a:r>
          </a:p>
          <a:p>
            <a:pPr lvl="1"/>
            <a:r>
              <a:rPr lang="en-US" altLang="zh-CN" smtClean="0"/>
              <a:t>Be sensitive to the concerns of other stakeholders.</a:t>
            </a:r>
          </a:p>
          <a:p>
            <a:pPr lvl="1"/>
            <a:r>
              <a:rPr lang="en-US" altLang="zh-CN" smtClean="0"/>
              <a:t>Alert for any conflict between the interests of management and stakeholders.</a:t>
            </a:r>
          </a:p>
          <a:p>
            <a:pPr lvl="1"/>
            <a:r>
              <a:rPr lang="en-US" altLang="zh-CN" smtClean="0"/>
              <a:t>Separate the role of the CEO and the chairman of the board.</a:t>
            </a:r>
          </a:p>
          <a:p>
            <a:endParaRPr lang="zh-CN" altLang="en-US" dirty="0"/>
          </a:p>
        </p:txBody>
      </p:sp>
    </p:spTree>
    <p:extLst>
      <p:ext uri="{BB962C8B-B14F-4D97-AF65-F5344CB8AC3E}">
        <p14:creationId xmlns:p14="http://schemas.microsoft.com/office/powerpoint/2010/main" val="3175494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020175" cy="576064"/>
          </a:xfrm>
        </p:spPr>
        <p:txBody>
          <a:bodyPr>
            <a:normAutofit/>
          </a:bodyPr>
          <a:lstStyle/>
          <a:p>
            <a:r>
              <a:rPr lang="en-US" altLang="zh-CN" dirty="0" smtClean="0"/>
              <a:t>B. Corporate Governance and Risk Management</a:t>
            </a:r>
            <a:endParaRPr lang="zh-CN" altLang="en-US" dirty="0"/>
          </a:p>
        </p:txBody>
      </p:sp>
      <p:sp>
        <p:nvSpPr>
          <p:cNvPr id="3" name="文本占位符 2"/>
          <p:cNvSpPr>
            <a:spLocks noGrp="1"/>
          </p:cNvSpPr>
          <p:nvPr>
            <p:ph type="body" sz="quarter" idx="10"/>
          </p:nvPr>
        </p:nvSpPr>
        <p:spPr/>
        <p:txBody>
          <a:bodyPr/>
          <a:lstStyle/>
          <a:p>
            <a:r>
              <a:rPr lang="en-US" altLang="zh-CN" smtClean="0"/>
              <a:t>CRO</a:t>
            </a:r>
            <a:r>
              <a:rPr lang="zh-CN" altLang="en-US" smtClean="0"/>
              <a:t> </a:t>
            </a:r>
            <a:r>
              <a:rPr lang="en-US" altLang="zh-CN" smtClean="0"/>
              <a:t>(dual</a:t>
            </a:r>
            <a:r>
              <a:rPr lang="zh-CN" altLang="en-US" smtClean="0"/>
              <a:t> </a:t>
            </a:r>
            <a:r>
              <a:rPr lang="en-US" altLang="zh-CN" smtClean="0"/>
              <a:t>positions)</a:t>
            </a:r>
          </a:p>
          <a:p>
            <a:pPr lvl="1"/>
            <a:r>
              <a:rPr lang="en-US" altLang="zh-CN" smtClean="0"/>
              <a:t>Act as a senior member of the management committee and attend board meetings regularly.</a:t>
            </a:r>
          </a:p>
          <a:p>
            <a:pPr lvl="1"/>
            <a:r>
              <a:rPr lang="en-US" altLang="zh-CN" smtClean="0"/>
              <a:t>Have a direct reporting line to the board or its risk committees in addition to reporting to the executive team.</a:t>
            </a:r>
          </a:p>
          <a:p>
            <a:endParaRPr lang="zh-CN" altLang="en-US" dirty="0"/>
          </a:p>
        </p:txBody>
      </p:sp>
    </p:spTree>
    <p:extLst>
      <p:ext uri="{BB962C8B-B14F-4D97-AF65-F5344CB8AC3E}">
        <p14:creationId xmlns:p14="http://schemas.microsoft.com/office/powerpoint/2010/main" val="16593138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 True Risk Governance</a:t>
            </a:r>
            <a:endParaRPr lang="zh-CN" altLang="en-US" dirty="0"/>
          </a:p>
        </p:txBody>
      </p:sp>
      <p:sp>
        <p:nvSpPr>
          <p:cNvPr id="3" name="文本占位符 2"/>
          <p:cNvSpPr>
            <a:spLocks noGrp="1"/>
          </p:cNvSpPr>
          <p:nvPr>
            <p:ph type="body" sz="quarter" idx="10"/>
          </p:nvPr>
        </p:nvSpPr>
        <p:spPr/>
        <p:txBody>
          <a:bodyPr/>
          <a:lstStyle/>
          <a:p>
            <a:r>
              <a:rPr lang="en-US" altLang="zh-CN" dirty="0" smtClean="0"/>
              <a:t>Risk Appetite</a:t>
            </a:r>
          </a:p>
          <a:p>
            <a:pPr lvl="1"/>
            <a:r>
              <a:rPr lang="en-US" altLang="zh-CN" dirty="0" smtClean="0"/>
              <a:t>The board </a:t>
            </a:r>
            <a:r>
              <a:rPr lang="en-US" altLang="zh-CN" dirty="0" err="1" smtClean="0"/>
              <a:t>characterises</a:t>
            </a:r>
            <a:r>
              <a:rPr lang="en-US" altLang="zh-CN" dirty="0" smtClean="0"/>
              <a:t> the risk appetite.</a:t>
            </a:r>
          </a:p>
          <a:p>
            <a:pPr lvl="1"/>
            <a:r>
              <a:rPr lang="en-US" altLang="zh-CN" dirty="0" smtClean="0"/>
              <a:t>Be connected to a</a:t>
            </a:r>
            <a:r>
              <a:rPr lang="zh-CN" altLang="en-US" dirty="0" smtClean="0"/>
              <a:t> </a:t>
            </a:r>
            <a:r>
              <a:rPr lang="en-US" altLang="zh-CN" dirty="0" smtClean="0"/>
              <a:t>firm's </a:t>
            </a:r>
            <a:r>
              <a:rPr lang="en-US" altLang="zh-CN" dirty="0" smtClean="0"/>
              <a:t>overall business strategy and capital plan.</a:t>
            </a:r>
          </a:p>
          <a:p>
            <a:pPr lvl="1"/>
            <a:r>
              <a:rPr lang="en-US" altLang="zh-CN" dirty="0" smtClean="0"/>
              <a:t>Clear communication of the </a:t>
            </a:r>
            <a:r>
              <a:rPr lang="en-US" altLang="zh-CN" dirty="0" smtClean="0"/>
              <a:t>firm's </a:t>
            </a:r>
            <a:r>
              <a:rPr lang="en-US" altLang="zh-CN" dirty="0" smtClean="0"/>
              <a:t>risk appetite and risk position.</a:t>
            </a:r>
          </a:p>
          <a:p>
            <a:endParaRPr lang="zh-CN" altLang="en-US" dirty="0"/>
          </a:p>
        </p:txBody>
      </p:sp>
    </p:spTree>
    <p:extLst>
      <p:ext uri="{BB962C8B-B14F-4D97-AF65-F5344CB8AC3E}">
        <p14:creationId xmlns:p14="http://schemas.microsoft.com/office/powerpoint/2010/main" val="20044093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True Risk Governance</a:t>
            </a:r>
            <a:endParaRPr lang="zh-CN" altLang="en-US" dirty="0"/>
          </a:p>
        </p:txBody>
      </p:sp>
      <p:sp>
        <p:nvSpPr>
          <p:cNvPr id="3" name="文本占位符 2"/>
          <p:cNvSpPr>
            <a:spLocks noGrp="1"/>
          </p:cNvSpPr>
          <p:nvPr>
            <p:ph type="body" sz="quarter" idx="10"/>
          </p:nvPr>
        </p:nvSpPr>
        <p:spPr/>
        <p:txBody>
          <a:bodyPr/>
          <a:lstStyle/>
          <a:p>
            <a:r>
              <a:rPr lang="en-US" altLang="zh-CN" smtClean="0"/>
              <a:t>Four Basic Choices in Risk Management</a:t>
            </a:r>
          </a:p>
          <a:p>
            <a:pPr lvl="1"/>
            <a:r>
              <a:rPr lang="en-US" altLang="zh-CN" smtClean="0"/>
              <a:t>Avoid risk.</a:t>
            </a:r>
          </a:p>
          <a:p>
            <a:pPr lvl="1"/>
            <a:r>
              <a:rPr lang="en-US" altLang="zh-CN" smtClean="0"/>
              <a:t>Transfer risk to third parties.</a:t>
            </a:r>
          </a:p>
          <a:p>
            <a:pPr lvl="1"/>
            <a:r>
              <a:rPr lang="en-US" altLang="zh-CN" smtClean="0"/>
              <a:t>Mitigate risk.</a:t>
            </a:r>
          </a:p>
          <a:p>
            <a:pPr lvl="1"/>
            <a:r>
              <a:rPr lang="en-US" altLang="zh-CN" smtClean="0"/>
              <a:t>Accept risk.</a:t>
            </a:r>
            <a:endParaRPr lang="en-US" altLang="zh-CN" dirty="0"/>
          </a:p>
        </p:txBody>
      </p:sp>
    </p:spTree>
    <p:extLst>
      <p:ext uri="{BB962C8B-B14F-4D97-AF65-F5344CB8AC3E}">
        <p14:creationId xmlns:p14="http://schemas.microsoft.com/office/powerpoint/2010/main" val="28028008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True Risk Governance</a:t>
            </a:r>
            <a:endParaRPr lang="zh-CN" altLang="en-US" dirty="0"/>
          </a:p>
        </p:txBody>
      </p:sp>
      <p:sp>
        <p:nvSpPr>
          <p:cNvPr id="3" name="文本占位符 2"/>
          <p:cNvSpPr>
            <a:spLocks noGrp="1"/>
          </p:cNvSpPr>
          <p:nvPr>
            <p:ph type="body" sz="quarter" idx="10"/>
          </p:nvPr>
        </p:nvSpPr>
        <p:spPr/>
        <p:txBody>
          <a:bodyPr/>
          <a:lstStyle/>
          <a:p>
            <a:r>
              <a:rPr lang="en-US" altLang="zh-CN" smtClean="0"/>
              <a:t>The Board Should</a:t>
            </a:r>
            <a:r>
              <a:rPr lang="zh-CN" altLang="en-US" smtClean="0"/>
              <a:t> </a:t>
            </a:r>
            <a:r>
              <a:rPr lang="en-US" altLang="zh-CN" smtClean="0"/>
              <a:t>ensure</a:t>
            </a:r>
            <a:r>
              <a:rPr lang="zh-CN" altLang="en-US" smtClean="0"/>
              <a:t> </a:t>
            </a:r>
            <a:r>
              <a:rPr lang="en-US" altLang="zh-CN" smtClean="0"/>
              <a:t>(advanced</a:t>
            </a:r>
            <a:r>
              <a:rPr lang="zh-CN" altLang="en-US" smtClean="0"/>
              <a:t> </a:t>
            </a:r>
            <a:r>
              <a:rPr lang="en-US" altLang="zh-CN" smtClean="0"/>
              <a:t>functions)</a:t>
            </a:r>
          </a:p>
          <a:p>
            <a:pPr lvl="1"/>
            <a:r>
              <a:rPr lang="en-US" altLang="zh-CN" smtClean="0"/>
              <a:t>Economic rather than accounting performance.</a:t>
            </a:r>
          </a:p>
          <a:p>
            <a:pPr lvl="1"/>
            <a:r>
              <a:rPr lang="en-US" altLang="zh-CN" smtClean="0"/>
              <a:t>“Soft” risks.</a:t>
            </a:r>
          </a:p>
          <a:p>
            <a:pPr lvl="1"/>
            <a:r>
              <a:rPr lang="en-US" altLang="zh-CN" smtClean="0"/>
              <a:t>Staff are rewarded based on risk-adjusted performance.</a:t>
            </a:r>
          </a:p>
          <a:p>
            <a:pPr lvl="1"/>
            <a:r>
              <a:rPr lang="en-US" altLang="zh-CN" smtClean="0"/>
              <a:t>Major transactions are consistent with the risk authorised.</a:t>
            </a:r>
          </a:p>
          <a:p>
            <a:pPr lvl="1"/>
            <a:r>
              <a:rPr lang="en-US" altLang="zh-CN" smtClean="0"/>
              <a:t>Keeping</a:t>
            </a:r>
            <a:r>
              <a:rPr lang="zh-CN" altLang="en-US" smtClean="0"/>
              <a:t> </a:t>
            </a:r>
            <a:r>
              <a:rPr lang="en-US" altLang="zh-CN" smtClean="0"/>
              <a:t>healthy skepticism.</a:t>
            </a:r>
            <a:endParaRPr lang="en-US" altLang="zh-CN" dirty="0"/>
          </a:p>
        </p:txBody>
      </p:sp>
    </p:spTree>
    <p:extLst>
      <p:ext uri="{BB962C8B-B14F-4D97-AF65-F5344CB8AC3E}">
        <p14:creationId xmlns:p14="http://schemas.microsoft.com/office/powerpoint/2010/main" val="38032418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D. Committees and Risk </a:t>
            </a:r>
            <a:r>
              <a:rPr lang="en-US" altLang="zh-CN" dirty="0" smtClean="0"/>
              <a:t>Limits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1. Risk Management</a:t>
            </a:r>
            <a:r>
              <a:rPr lang="zh-CN" altLang="en-US" dirty="0"/>
              <a:t> </a:t>
            </a:r>
            <a:r>
              <a:rPr lang="en-US" altLang="zh-CN" dirty="0"/>
              <a:t>Committee</a:t>
            </a:r>
          </a:p>
          <a:p>
            <a:pPr lvl="1"/>
            <a:r>
              <a:rPr lang="en-US" altLang="zh-CN" dirty="0"/>
              <a:t>Translate the overall risk appetite into a set of limits.</a:t>
            </a:r>
          </a:p>
          <a:p>
            <a:pPr lvl="1"/>
            <a:r>
              <a:rPr lang="en-US" altLang="zh-CN" dirty="0"/>
              <a:t>Independently review credit, market, and liquidity risks.</a:t>
            </a:r>
          </a:p>
          <a:p>
            <a:pPr lvl="1"/>
            <a:r>
              <a:rPr lang="en-US" altLang="zh-CN" dirty="0"/>
              <a:t>Report back to the board on a variety of items, such as all loans and credits over a specified dollar limit.</a:t>
            </a:r>
          </a:p>
          <a:p>
            <a:pPr marL="0" indent="0">
              <a:buNone/>
            </a:pPr>
            <a:r>
              <a:rPr lang="en-US" altLang="zh-CN" dirty="0"/>
              <a:t>2. Audit Committee of The</a:t>
            </a:r>
            <a:r>
              <a:rPr lang="zh-CN" altLang="en-US" dirty="0"/>
              <a:t> </a:t>
            </a:r>
            <a:r>
              <a:rPr lang="en-US" altLang="zh-CN" dirty="0"/>
              <a:t>Board</a:t>
            </a:r>
          </a:p>
          <a:p>
            <a:pPr lvl="1"/>
            <a:r>
              <a:rPr lang="en-US" altLang="zh-CN" dirty="0"/>
              <a:t>Check for infringements, oversee the quality of the processes.</a:t>
            </a:r>
          </a:p>
          <a:p>
            <a:pPr lvl="1"/>
            <a:r>
              <a:rPr lang="en-US" altLang="zh-CN" dirty="0"/>
              <a:t>But</a:t>
            </a:r>
            <a:r>
              <a:rPr lang="zh-CN" altLang="en-US" dirty="0"/>
              <a:t> </a:t>
            </a:r>
            <a:r>
              <a:rPr lang="en-US" altLang="zh-CN" dirty="0"/>
              <a:t>only confines to verification function.</a:t>
            </a:r>
          </a:p>
          <a:p>
            <a:pPr lvl="1"/>
            <a:r>
              <a:rPr lang="en-US" altLang="zh-CN" dirty="0"/>
              <a:t>Audit committee members are required to be financially literate.</a:t>
            </a:r>
          </a:p>
          <a:p>
            <a:endParaRPr lang="zh-CN" altLang="en-US" dirty="0"/>
          </a:p>
        </p:txBody>
      </p:sp>
    </p:spTree>
    <p:extLst>
      <p:ext uri="{BB962C8B-B14F-4D97-AF65-F5344CB8AC3E}">
        <p14:creationId xmlns:p14="http://schemas.microsoft.com/office/powerpoint/2010/main" val="15798487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D. Committees and Risk Limits</a:t>
            </a:r>
            <a:endParaRPr lang="zh-CN" altLang="en-US" dirty="0"/>
          </a:p>
        </p:txBody>
      </p:sp>
      <p:sp>
        <p:nvSpPr>
          <p:cNvPr id="3" name="文本占位符 2"/>
          <p:cNvSpPr>
            <a:spLocks noGrp="1"/>
          </p:cNvSpPr>
          <p:nvPr>
            <p:ph type="body" sz="quarter" idx="10"/>
          </p:nvPr>
        </p:nvSpPr>
        <p:spPr/>
        <p:txBody>
          <a:bodyPr/>
          <a:lstStyle/>
          <a:p>
            <a:pPr marL="468000" indent="-457200">
              <a:buNone/>
            </a:pPr>
            <a:r>
              <a:rPr lang="en-US" altLang="zh-CN" dirty="0" smtClean="0"/>
              <a:t>3. Risk Advisory Director</a:t>
            </a:r>
            <a:endParaRPr lang="en-US" altLang="zh-CN" dirty="0"/>
          </a:p>
          <a:p>
            <a:pPr marL="1001386" lvl="1" indent="-457200"/>
            <a:r>
              <a:rPr lang="en-US" altLang="zh-CN" dirty="0"/>
              <a:t>A</a:t>
            </a:r>
            <a:r>
              <a:rPr lang="en-US" altLang="zh-CN" dirty="0" smtClean="0"/>
              <a:t> member of the board who specializes in risk matters.</a:t>
            </a:r>
          </a:p>
          <a:p>
            <a:pPr marL="0" indent="0">
              <a:buNone/>
            </a:pPr>
            <a:r>
              <a:rPr lang="en-US" altLang="zh-CN" dirty="0" smtClean="0"/>
              <a:t>4. Compensation Committee</a:t>
            </a:r>
          </a:p>
          <a:p>
            <a:pPr lvl="1"/>
            <a:r>
              <a:rPr lang="en-US" altLang="zh-CN" dirty="0" smtClean="0"/>
              <a:t>Determine the compensation of top executives.</a:t>
            </a:r>
          </a:p>
          <a:p>
            <a:pPr lvl="1"/>
            <a:r>
              <a:rPr lang="en-US" altLang="zh-CN" dirty="0" smtClean="0"/>
              <a:t>Be aligned with the long-term interests of stakeholders, and with risk-adjusted return on capital.</a:t>
            </a:r>
          </a:p>
          <a:p>
            <a:pPr lvl="1"/>
            <a:r>
              <a:rPr lang="en-US" altLang="zh-CN" dirty="0" smtClean="0"/>
              <a:t>Removal of guaranteed bonuses.</a:t>
            </a:r>
          </a:p>
          <a:p>
            <a:pPr lvl="1"/>
            <a:r>
              <a:rPr lang="en-US" altLang="zh-CN" dirty="0" smtClean="0"/>
              <a:t>Stock-based compensation can encourage risk-taking.</a:t>
            </a:r>
          </a:p>
          <a:p>
            <a:endParaRPr lang="zh-CN" altLang="en-US" dirty="0"/>
          </a:p>
        </p:txBody>
      </p:sp>
    </p:spTree>
    <p:extLst>
      <p:ext uri="{BB962C8B-B14F-4D97-AF65-F5344CB8AC3E}">
        <p14:creationId xmlns:p14="http://schemas.microsoft.com/office/powerpoint/2010/main" val="34683623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 Roles and Responsibilities in Practice</a:t>
            </a:r>
            <a:endParaRPr lang="en-US" altLang="zh-CN" dirty="0"/>
          </a:p>
        </p:txBody>
      </p:sp>
      <p:sp>
        <p:nvSpPr>
          <p:cNvPr id="3" name="文本占位符 2"/>
          <p:cNvSpPr>
            <a:spLocks noGrp="1"/>
          </p:cNvSpPr>
          <p:nvPr>
            <p:ph type="body" sz="quarter" idx="10"/>
          </p:nvPr>
        </p:nvSpPr>
        <p:spPr/>
        <p:txBody>
          <a:bodyPr/>
          <a:lstStyle/>
          <a:p>
            <a:r>
              <a:rPr lang="en-US" altLang="zh-CN" smtClean="0"/>
              <a:t>Key Lessons from the Financial Crisis</a:t>
            </a:r>
          </a:p>
          <a:p>
            <a:pPr lvl="1"/>
            <a:r>
              <a:rPr lang="en-US" altLang="zh-CN" smtClean="0"/>
              <a:t>CROs should not just be after-the-fact risk managers but also risk strategists.</a:t>
            </a:r>
          </a:p>
          <a:p>
            <a:pPr lvl="1"/>
            <a:r>
              <a:rPr lang="en-US" altLang="zh-CN" smtClean="0"/>
              <a:t>Be independent of line business management.</a:t>
            </a:r>
          </a:p>
          <a:p>
            <a:pPr lvl="1"/>
            <a:r>
              <a:rPr lang="en-US" altLang="zh-CN" smtClean="0"/>
              <a:t>Have a strong enough voice.</a:t>
            </a:r>
          </a:p>
          <a:p>
            <a:pPr lvl="1"/>
            <a:r>
              <a:rPr lang="en-US" altLang="zh-CN" smtClean="0"/>
              <a:t>Must evaluate all new financial products to verify that the expected return is consistent with the risks undertaken.</a:t>
            </a:r>
          </a:p>
          <a:p>
            <a:endParaRPr lang="zh-CN" altLang="en-US" dirty="0"/>
          </a:p>
        </p:txBody>
      </p:sp>
    </p:spTree>
    <p:extLst>
      <p:ext uri="{BB962C8B-B14F-4D97-AF65-F5344CB8AC3E}">
        <p14:creationId xmlns:p14="http://schemas.microsoft.com/office/powerpoint/2010/main" val="34683623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Limits and Limit Standards Policies</a:t>
            </a:r>
            <a:endParaRPr lang="en-US" altLang="zh-CN" dirty="0"/>
          </a:p>
        </p:txBody>
      </p:sp>
      <p:sp>
        <p:nvSpPr>
          <p:cNvPr id="3" name="文本占位符 2"/>
          <p:cNvSpPr>
            <a:spLocks noGrp="1"/>
          </p:cNvSpPr>
          <p:nvPr>
            <p:ph type="body" sz="quarter" idx="10"/>
          </p:nvPr>
        </p:nvSpPr>
        <p:spPr/>
        <p:txBody>
          <a:bodyPr/>
          <a:lstStyle/>
          <a:p>
            <a:r>
              <a:rPr lang="en-US" altLang="zh-CN" smtClean="0"/>
              <a:t>An appropriate set of limits and authorities must be developed for each portfolio of business and for each type of risk.</a:t>
            </a:r>
          </a:p>
          <a:p>
            <a:r>
              <a:rPr lang="en-US" altLang="zh-CN" smtClean="0"/>
              <a:t>Limits should be related to VaR, scenario and stress testing to make sure the bank can survive worst-case scenarios.</a:t>
            </a:r>
          </a:p>
          <a:p>
            <a:endParaRPr lang="zh-CN" altLang="en-US" dirty="0"/>
          </a:p>
        </p:txBody>
      </p:sp>
    </p:spTree>
    <p:extLst>
      <p:ext uri="{BB962C8B-B14F-4D97-AF65-F5344CB8AC3E}">
        <p14:creationId xmlns:p14="http://schemas.microsoft.com/office/powerpoint/2010/main" val="34683623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 Standards for Monitoring Risk</a:t>
            </a:r>
            <a:endParaRPr lang="zh-CN" altLang="en-US" dirty="0"/>
          </a:p>
        </p:txBody>
      </p:sp>
      <p:sp>
        <p:nvSpPr>
          <p:cNvPr id="3" name="文本占位符 2"/>
          <p:cNvSpPr>
            <a:spLocks noGrp="1"/>
          </p:cNvSpPr>
          <p:nvPr>
            <p:ph type="body" sz="quarter" idx="10"/>
          </p:nvPr>
        </p:nvSpPr>
        <p:spPr/>
        <p:txBody>
          <a:bodyPr/>
          <a:lstStyle/>
          <a:p>
            <a:r>
              <a:rPr lang="en-US" altLang="zh-CN" smtClean="0"/>
              <a:t>How Should a Bank Monitor Those Limits?</a:t>
            </a:r>
          </a:p>
          <a:p>
            <a:pPr lvl="1"/>
            <a:r>
              <a:rPr lang="en-US" altLang="zh-CN" smtClean="0"/>
              <a:t>All market risk positions should be valued daily.</a:t>
            </a:r>
          </a:p>
          <a:p>
            <a:pPr lvl="1"/>
            <a:r>
              <a:rPr lang="en-US" altLang="zh-CN" smtClean="0"/>
              <a:t>All the assumptions</a:t>
            </a:r>
            <a:r>
              <a:rPr lang="zh-CN" altLang="en-US" smtClean="0"/>
              <a:t> </a:t>
            </a:r>
            <a:r>
              <a:rPr lang="en-US" altLang="zh-CN" smtClean="0"/>
              <a:t>should</a:t>
            </a:r>
            <a:r>
              <a:rPr lang="zh-CN" altLang="en-US" smtClean="0"/>
              <a:t> </a:t>
            </a:r>
            <a:r>
              <a:rPr lang="en-US" altLang="zh-CN" smtClean="0"/>
              <a:t>be</a:t>
            </a:r>
            <a:r>
              <a:rPr lang="zh-CN" altLang="en-US" smtClean="0"/>
              <a:t> </a:t>
            </a:r>
            <a:r>
              <a:rPr lang="en-US" altLang="zh-CN" smtClean="0"/>
              <a:t>verified.</a:t>
            </a:r>
          </a:p>
          <a:p>
            <a:pPr lvl="1"/>
            <a:r>
              <a:rPr lang="en-US" altLang="zh-CN" smtClean="0"/>
              <a:t>Timely and meaningful reports.</a:t>
            </a:r>
          </a:p>
          <a:p>
            <a:r>
              <a:rPr lang="en-US" altLang="zh-CN" smtClean="0"/>
              <a:t>Data Used in Limit Monitoring Must be</a:t>
            </a:r>
          </a:p>
          <a:p>
            <a:pPr lvl="1"/>
            <a:r>
              <a:rPr lang="en-US" altLang="zh-CN" smtClean="0"/>
              <a:t>Independent of the front office.</a:t>
            </a:r>
          </a:p>
          <a:p>
            <a:pPr lvl="1"/>
            <a:r>
              <a:rPr lang="en-US" altLang="zh-CN" smtClean="0"/>
              <a:t>Reconciled with the official books of the bank.</a:t>
            </a:r>
          </a:p>
          <a:p>
            <a:pPr lvl="1"/>
            <a:r>
              <a:rPr lang="en-US" altLang="zh-CN" smtClean="0"/>
              <a:t>In</a:t>
            </a:r>
            <a:r>
              <a:rPr lang="zh-CN" altLang="en-US" smtClean="0"/>
              <a:t> </a:t>
            </a:r>
            <a:r>
              <a:rPr lang="en-US" altLang="zh-CN" smtClean="0"/>
              <a:t>a</a:t>
            </a:r>
            <a:r>
              <a:rPr lang="zh-CN" altLang="en-US" smtClean="0"/>
              <a:t> </a:t>
            </a:r>
            <a:r>
              <a:rPr lang="en-US" altLang="zh-CN" smtClean="0"/>
              <a:t>proper</a:t>
            </a:r>
            <a:r>
              <a:rPr lang="zh-CN" altLang="en-US" smtClean="0"/>
              <a:t> </a:t>
            </a:r>
            <a:r>
              <a:rPr lang="en-US" altLang="zh-CN" smtClean="0"/>
              <a:t>format.</a:t>
            </a:r>
          </a:p>
          <a:p>
            <a:endParaRPr lang="zh-CN" altLang="en-US" dirty="0"/>
          </a:p>
        </p:txBody>
      </p:sp>
    </p:spTree>
    <p:extLst>
      <p:ext uri="{BB962C8B-B14F-4D97-AF65-F5344CB8AC3E}">
        <p14:creationId xmlns:p14="http://schemas.microsoft.com/office/powerpoint/2010/main" val="771268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H. What Is the Role of the Audit Function?</a:t>
            </a:r>
            <a:endParaRPr lang="zh-CN" altLang="en-US" dirty="0"/>
          </a:p>
        </p:txBody>
      </p:sp>
      <p:sp>
        <p:nvSpPr>
          <p:cNvPr id="3" name="文本占位符 2"/>
          <p:cNvSpPr>
            <a:spLocks noGrp="1"/>
          </p:cNvSpPr>
          <p:nvPr>
            <p:ph type="body" sz="quarter" idx="10"/>
          </p:nvPr>
        </p:nvSpPr>
        <p:spPr/>
        <p:txBody>
          <a:bodyPr/>
          <a:lstStyle/>
          <a:p>
            <a:r>
              <a:rPr lang="en-US" altLang="zh-CN" dirty="0" smtClean="0"/>
              <a:t>A Key Role of the Audit Function</a:t>
            </a:r>
          </a:p>
          <a:p>
            <a:pPr lvl="1"/>
            <a:r>
              <a:rPr lang="en-US" altLang="zh-CN" dirty="0" smtClean="0"/>
              <a:t>Provide an independent assessment of the </a:t>
            </a:r>
            <a:r>
              <a:rPr lang="en-US" altLang="zh-CN" dirty="0" smtClean="0"/>
              <a:t>bank's </a:t>
            </a:r>
            <a:r>
              <a:rPr lang="en-US" altLang="zh-CN" dirty="0" smtClean="0"/>
              <a:t>risk management.</a:t>
            </a:r>
          </a:p>
          <a:p>
            <a:pPr lvl="1"/>
            <a:r>
              <a:rPr lang="en-US" altLang="zh-CN" dirty="0" smtClean="0"/>
              <a:t>Examine the integrity of the management information system.</a:t>
            </a:r>
          </a:p>
          <a:p>
            <a:pPr lvl="1"/>
            <a:r>
              <a:rPr lang="en-US" altLang="zh-CN" dirty="0" smtClean="0"/>
              <a:t>Verify the accuracy of models through back-testing.</a:t>
            </a:r>
          </a:p>
          <a:p>
            <a:pPr lvl="1"/>
            <a:r>
              <a:rPr lang="en-US" altLang="zh-CN" dirty="0" smtClean="0"/>
              <a:t>Examine the documentation relating to compliance.</a:t>
            </a:r>
          </a:p>
          <a:p>
            <a:endParaRPr lang="zh-CN" altLang="en-US" dirty="0"/>
          </a:p>
        </p:txBody>
      </p:sp>
    </p:spTree>
    <p:extLst>
      <p:ext uri="{BB962C8B-B14F-4D97-AF65-F5344CB8AC3E}">
        <p14:creationId xmlns:p14="http://schemas.microsoft.com/office/powerpoint/2010/main" val="55791261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What is ERM</a:t>
            </a:r>
            <a:r>
              <a:rPr lang="en-US" altLang="zh-CN" dirty="0" smtClean="0"/>
              <a:t>?</a:t>
            </a:r>
            <a:endParaRPr lang="zh-CN" altLang="en-US" dirty="0"/>
          </a:p>
        </p:txBody>
      </p:sp>
    </p:spTree>
    <p:extLst>
      <p:ext uri="{BB962C8B-B14F-4D97-AF65-F5344CB8AC3E}">
        <p14:creationId xmlns:p14="http://schemas.microsoft.com/office/powerpoint/2010/main" val="20214508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ERM Definitions</a:t>
            </a:r>
          </a:p>
          <a:p>
            <a:r>
              <a:rPr lang="en-US" altLang="zh-CN" dirty="0" smtClean="0"/>
              <a:t>The </a:t>
            </a:r>
            <a:r>
              <a:rPr lang="en-US" altLang="zh-CN" dirty="0"/>
              <a:t>Benefits of </a:t>
            </a:r>
            <a:r>
              <a:rPr lang="en-US" altLang="zh-CN" dirty="0" smtClean="0"/>
              <a:t>ERM</a:t>
            </a:r>
          </a:p>
          <a:p>
            <a:r>
              <a:rPr lang="en-US" altLang="zh-CN" dirty="0" smtClean="0"/>
              <a:t>The </a:t>
            </a:r>
            <a:r>
              <a:rPr lang="en-US" altLang="zh-CN" dirty="0"/>
              <a:t>Chief Risk </a:t>
            </a:r>
            <a:r>
              <a:rPr lang="en-US" altLang="zh-CN" dirty="0" smtClean="0"/>
              <a:t>Officer</a:t>
            </a:r>
          </a:p>
          <a:p>
            <a:r>
              <a:rPr lang="en-US" altLang="zh-CN" dirty="0" smtClean="0"/>
              <a:t>Components </a:t>
            </a:r>
            <a:r>
              <a:rPr lang="en-US" altLang="zh-CN" dirty="0"/>
              <a:t>of ERM</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0691612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ERM Definitions</a:t>
            </a:r>
            <a:endParaRPr lang="zh-CN" altLang="en-US" dirty="0"/>
          </a:p>
        </p:txBody>
      </p:sp>
      <p:sp>
        <p:nvSpPr>
          <p:cNvPr id="3" name="文本占位符 2"/>
          <p:cNvSpPr>
            <a:spLocks noGrp="1"/>
          </p:cNvSpPr>
          <p:nvPr>
            <p:ph type="body" sz="quarter" idx="10"/>
          </p:nvPr>
        </p:nvSpPr>
        <p:spPr>
          <a:xfrm>
            <a:off x="393599" y="813469"/>
            <a:ext cx="5702400" cy="5660163"/>
          </a:xfrm>
        </p:spPr>
        <p:txBody>
          <a:bodyPr/>
          <a:lstStyle/>
          <a:p>
            <a:r>
              <a:rPr lang="en-US" altLang="zh-CN" dirty="0" smtClean="0"/>
              <a:t>The Book </a:t>
            </a:r>
            <a:r>
              <a:rPr lang="en-US" altLang="zh-CN" dirty="0" smtClean="0"/>
              <a:t>Author's </a:t>
            </a:r>
            <a:r>
              <a:rPr lang="en-US" altLang="zh-CN" dirty="0" smtClean="0"/>
              <a:t>Definition</a:t>
            </a:r>
          </a:p>
          <a:p>
            <a:pPr lvl="1"/>
            <a:r>
              <a:rPr lang="en-US" altLang="zh-CN" dirty="0" smtClean="0"/>
              <a:t>ERM is a comprehensive and integrated framework for managing key risks in order to achieve business objectives, minimize unexpected earnings volatility, and maximize firm value.</a:t>
            </a:r>
          </a:p>
          <a:p>
            <a:endParaRPr lang="zh-CN" altLang="en-US" dirty="0"/>
          </a:p>
        </p:txBody>
      </p:sp>
      <p:pic>
        <p:nvPicPr>
          <p:cNvPr id="4" name="Picture 3">
            <a:extLst>
              <a:ext uri="{FF2B5EF4-FFF2-40B4-BE49-F238E27FC236}">
                <a16:creationId xmlns:a16="http://schemas.microsoft.com/office/drawing/2014/main" xmlns="" id="{3C3F934B-EC7F-E640-B1A3-90C265AF6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724895"/>
            <a:ext cx="5861270" cy="5748737"/>
          </a:xfrm>
          <a:prstGeom prst="rect">
            <a:avLst/>
          </a:prstGeom>
        </p:spPr>
      </p:pic>
    </p:spTree>
    <p:extLst>
      <p:ext uri="{BB962C8B-B14F-4D97-AF65-F5344CB8AC3E}">
        <p14:creationId xmlns:p14="http://schemas.microsoft.com/office/powerpoint/2010/main" val="33433680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The Benefits of ERM</a:t>
            </a:r>
            <a:endParaRPr lang="zh-CN" altLang="en-US" dirty="0"/>
          </a:p>
        </p:txBody>
      </p:sp>
      <p:sp>
        <p:nvSpPr>
          <p:cNvPr id="3" name="文本占位符 2"/>
          <p:cNvSpPr>
            <a:spLocks noGrp="1"/>
          </p:cNvSpPr>
          <p:nvPr>
            <p:ph type="body" sz="quarter" idx="10"/>
          </p:nvPr>
        </p:nvSpPr>
        <p:spPr/>
        <p:txBody>
          <a:bodyPr/>
          <a:lstStyle/>
          <a:p>
            <a:r>
              <a:rPr lang="en-US" altLang="zh-CN" smtClean="0"/>
              <a:t>ERM Is All About Integration</a:t>
            </a:r>
          </a:p>
          <a:p>
            <a:pPr lvl="1"/>
            <a:r>
              <a:rPr lang="en-US" altLang="zh-CN" smtClean="0"/>
              <a:t>ERM requires an integrated risk organization.</a:t>
            </a:r>
          </a:p>
          <a:p>
            <a:pPr lvl="1"/>
            <a:r>
              <a:rPr lang="en-US" altLang="zh-CN" smtClean="0"/>
              <a:t>The CRO reports to the CEO and the Board in support of their risk oversight responsibilities.</a:t>
            </a:r>
          </a:p>
          <a:p>
            <a:pPr lvl="1"/>
            <a:r>
              <a:rPr lang="en-US" altLang="zh-CN" smtClean="0"/>
              <a:t>ERM requires the integration of risk transfer strategies.</a:t>
            </a:r>
          </a:p>
          <a:p>
            <a:pPr lvl="1"/>
            <a:r>
              <a:rPr lang="en-US" altLang="zh-CN" smtClean="0"/>
              <a:t>Take a portfolio view of all types of risk within a company.</a:t>
            </a:r>
          </a:p>
          <a:p>
            <a:pPr lvl="1"/>
            <a:r>
              <a:rPr lang="en-US" altLang="zh-CN" smtClean="0"/>
              <a:t>ERM requires the integration of risk management into the business processes of a company.</a:t>
            </a:r>
          </a:p>
          <a:p>
            <a:endParaRPr lang="zh-CN" altLang="en-US" dirty="0"/>
          </a:p>
        </p:txBody>
      </p:sp>
    </p:spTree>
    <p:extLst>
      <p:ext uri="{BB962C8B-B14F-4D97-AF65-F5344CB8AC3E}">
        <p14:creationId xmlns:p14="http://schemas.microsoft.com/office/powerpoint/2010/main" val="146892783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The Benefits of ERM</a:t>
            </a:r>
            <a:endParaRPr lang="zh-CN" altLang="en-US" dirty="0"/>
          </a:p>
        </p:txBody>
      </p:sp>
      <p:sp>
        <p:nvSpPr>
          <p:cNvPr id="3" name="文本占位符 2"/>
          <p:cNvSpPr>
            <a:spLocks noGrp="1"/>
          </p:cNvSpPr>
          <p:nvPr>
            <p:ph type="body" sz="quarter" idx="10"/>
          </p:nvPr>
        </p:nvSpPr>
        <p:spPr/>
        <p:txBody>
          <a:bodyPr/>
          <a:lstStyle/>
          <a:p>
            <a:r>
              <a:rPr lang="en-US" altLang="zh-CN" smtClean="0"/>
              <a:t>Three Benefits To ERM</a:t>
            </a:r>
          </a:p>
          <a:p>
            <a:pPr lvl="1"/>
            <a:r>
              <a:rPr lang="en-US" altLang="zh-CN" smtClean="0"/>
              <a:t>Organisational Effectiveness</a:t>
            </a:r>
          </a:p>
          <a:p>
            <a:pPr lvl="2"/>
            <a:r>
              <a:rPr lang="en-US" altLang="zh-CN" smtClean="0"/>
              <a:t>Various functions work cohesively and efficiently.</a:t>
            </a:r>
          </a:p>
          <a:p>
            <a:pPr lvl="1"/>
            <a:r>
              <a:rPr lang="en-US" altLang="zh-CN" smtClean="0"/>
              <a:t>Risk Reporting</a:t>
            </a:r>
          </a:p>
          <a:p>
            <a:pPr lvl="2"/>
            <a:r>
              <a:rPr lang="en-US" altLang="zh-CN" smtClean="0"/>
              <a:t>Timely and relevant risk reporting</a:t>
            </a:r>
          </a:p>
          <a:p>
            <a:pPr lvl="1"/>
            <a:r>
              <a:rPr lang="en-US" altLang="zh-CN" smtClean="0"/>
              <a:t>Business Performance</a:t>
            </a:r>
          </a:p>
          <a:p>
            <a:pPr lvl="2"/>
            <a:r>
              <a:rPr lang="en-US" altLang="zh-CN" smtClean="0"/>
              <a:t>Market value improvement.</a:t>
            </a:r>
          </a:p>
          <a:p>
            <a:pPr lvl="2"/>
            <a:r>
              <a:rPr lang="en-US" altLang="zh-CN" smtClean="0"/>
              <a:t>Lower earnings volatility</a:t>
            </a:r>
            <a:r>
              <a:rPr lang="zh-CN" altLang="en-US" smtClean="0"/>
              <a:t> </a:t>
            </a:r>
            <a:r>
              <a:rPr lang="en-US" altLang="zh-CN" smtClean="0"/>
              <a:t>…</a:t>
            </a:r>
          </a:p>
          <a:p>
            <a:endParaRPr lang="zh-CN" altLang="en-US" dirty="0"/>
          </a:p>
        </p:txBody>
      </p:sp>
    </p:spTree>
    <p:extLst>
      <p:ext uri="{BB962C8B-B14F-4D97-AF65-F5344CB8AC3E}">
        <p14:creationId xmlns:p14="http://schemas.microsoft.com/office/powerpoint/2010/main" val="49460931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The Chief Risk Officer</a:t>
            </a:r>
            <a:endParaRPr lang="zh-CN" altLang="en-US" dirty="0"/>
          </a:p>
        </p:txBody>
      </p:sp>
      <p:sp>
        <p:nvSpPr>
          <p:cNvPr id="3" name="文本占位符 2"/>
          <p:cNvSpPr>
            <a:spLocks noGrp="1"/>
          </p:cNvSpPr>
          <p:nvPr>
            <p:ph type="body" sz="quarter" idx="10"/>
          </p:nvPr>
        </p:nvSpPr>
        <p:spPr/>
        <p:txBody>
          <a:bodyPr/>
          <a:lstStyle/>
          <a:p>
            <a:r>
              <a:rPr lang="en-US" altLang="zh-CN" dirty="0" smtClean="0"/>
              <a:t>A CRO Is Responsible For</a:t>
            </a:r>
          </a:p>
          <a:p>
            <a:pPr lvl="1"/>
            <a:r>
              <a:rPr lang="en-US" altLang="zh-CN" dirty="0" smtClean="0"/>
              <a:t>Providing the overall leadership for enterprise risk management.</a:t>
            </a:r>
          </a:p>
          <a:p>
            <a:pPr lvl="1"/>
            <a:r>
              <a:rPr lang="en-US" altLang="zh-CN" dirty="0" smtClean="0"/>
              <a:t>Establishing an integrated risk management framework for all aspects of risks.</a:t>
            </a:r>
          </a:p>
          <a:p>
            <a:pPr lvl="1"/>
            <a:r>
              <a:rPr lang="en-US" altLang="zh-CN" dirty="0" smtClean="0"/>
              <a:t>Allocating economic capital to business activities.</a:t>
            </a:r>
          </a:p>
          <a:p>
            <a:pPr lvl="1"/>
            <a:r>
              <a:rPr lang="en-US" altLang="zh-CN" dirty="0" smtClean="0"/>
              <a:t>Communicating the </a:t>
            </a:r>
            <a:r>
              <a:rPr lang="en-US" altLang="zh-CN" dirty="0" smtClean="0"/>
              <a:t>company's </a:t>
            </a:r>
            <a:r>
              <a:rPr lang="en-US" altLang="zh-CN" dirty="0" smtClean="0"/>
              <a:t>risk profile to key stakeholders.</a:t>
            </a:r>
          </a:p>
          <a:p>
            <a:endParaRPr lang="zh-CN" altLang="en-US" dirty="0"/>
          </a:p>
        </p:txBody>
      </p:sp>
    </p:spTree>
    <p:extLst>
      <p:ext uri="{BB962C8B-B14F-4D97-AF65-F5344CB8AC3E}">
        <p14:creationId xmlns:p14="http://schemas.microsoft.com/office/powerpoint/2010/main" val="25354131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 The Chief Risk Officer</a:t>
            </a:r>
            <a:endParaRPr lang="zh-CN" altLang="en-US" dirty="0"/>
          </a:p>
        </p:txBody>
      </p:sp>
      <p:sp>
        <p:nvSpPr>
          <p:cNvPr id="3" name="文本占位符 2"/>
          <p:cNvSpPr>
            <a:spLocks noGrp="1"/>
          </p:cNvSpPr>
          <p:nvPr>
            <p:ph type="body" sz="quarter" idx="10"/>
          </p:nvPr>
        </p:nvSpPr>
        <p:spPr/>
        <p:txBody>
          <a:bodyPr/>
          <a:lstStyle/>
          <a:p>
            <a:r>
              <a:rPr lang="en-US" altLang="zh-CN" dirty="0" smtClean="0"/>
              <a:t>Reporting</a:t>
            </a:r>
          </a:p>
          <a:p>
            <a:pPr lvl="1"/>
            <a:r>
              <a:rPr lang="en-US" altLang="zh-CN" dirty="0" smtClean="0"/>
              <a:t>The heads of individual</a:t>
            </a:r>
            <a:r>
              <a:rPr lang="zh-CN" altLang="en-US" dirty="0" smtClean="0"/>
              <a:t> </a:t>
            </a:r>
            <a:r>
              <a:rPr lang="en-US" altLang="zh-CN" dirty="0" smtClean="0"/>
              <a:t>risk</a:t>
            </a:r>
            <a:r>
              <a:rPr lang="zh-CN" altLang="en-US" dirty="0" smtClean="0"/>
              <a:t> </a:t>
            </a:r>
            <a:r>
              <a:rPr lang="en-US" altLang="zh-CN" dirty="0" smtClean="0"/>
              <a:t>department</a:t>
            </a:r>
            <a:r>
              <a:rPr lang="zh-CN" altLang="en-US" dirty="0" smtClean="0"/>
              <a:t> </a:t>
            </a:r>
            <a:r>
              <a:rPr lang="en-US" altLang="zh-CN" dirty="0" smtClean="0"/>
              <a:t>report to the CRO.</a:t>
            </a:r>
          </a:p>
          <a:p>
            <a:pPr lvl="1"/>
            <a:r>
              <a:rPr lang="en-US" altLang="zh-CN" dirty="0" smtClean="0"/>
              <a:t>The CRO reports to the CFO or CEO.</a:t>
            </a:r>
          </a:p>
          <a:p>
            <a:pPr lvl="1"/>
            <a:r>
              <a:rPr lang="en-US" altLang="zh-CN" dirty="0" smtClean="0"/>
              <a:t>A dotted-line reporting relationship between the CRO and the board.</a:t>
            </a:r>
          </a:p>
          <a:p>
            <a:r>
              <a:rPr lang="en-US" altLang="zh-CN" dirty="0" smtClean="0"/>
              <a:t>An Ideal </a:t>
            </a:r>
            <a:r>
              <a:rPr lang="en-US" altLang="zh-CN" dirty="0" smtClean="0"/>
              <a:t>CRO's </a:t>
            </a:r>
            <a:r>
              <a:rPr lang="en-US" altLang="zh-CN" dirty="0" smtClean="0"/>
              <a:t>Superb Skills</a:t>
            </a:r>
          </a:p>
          <a:p>
            <a:pPr lvl="1"/>
            <a:r>
              <a:rPr lang="en-US" altLang="zh-CN" dirty="0" smtClean="0"/>
              <a:t>The leadership skills.</a:t>
            </a:r>
          </a:p>
          <a:p>
            <a:pPr lvl="1"/>
            <a:r>
              <a:rPr lang="en-US" altLang="zh-CN" dirty="0" smtClean="0"/>
              <a:t>To convert skeptics into believers.</a:t>
            </a:r>
          </a:p>
          <a:p>
            <a:pPr lvl="1"/>
            <a:r>
              <a:rPr lang="en-US" altLang="zh-CN" dirty="0" smtClean="0"/>
              <a:t>The stewardship to safeguard the </a:t>
            </a:r>
            <a:r>
              <a:rPr lang="en-US" altLang="zh-CN" dirty="0" smtClean="0"/>
              <a:t>company's</a:t>
            </a:r>
            <a:r>
              <a:rPr lang="zh-CN" altLang="en-US" dirty="0" smtClean="0"/>
              <a:t> </a:t>
            </a:r>
            <a:r>
              <a:rPr lang="en-US" altLang="zh-CN" dirty="0" smtClean="0"/>
              <a:t>assets.</a:t>
            </a:r>
          </a:p>
          <a:p>
            <a:pPr lvl="1"/>
            <a:r>
              <a:rPr lang="en-US" altLang="zh-CN" dirty="0" smtClean="0"/>
              <a:t>Having the technical skills.</a:t>
            </a:r>
          </a:p>
          <a:p>
            <a:pPr lvl="1"/>
            <a:r>
              <a:rPr lang="en-US" altLang="zh-CN" dirty="0" smtClean="0"/>
              <a:t>Having consulting skills.</a:t>
            </a:r>
            <a:endParaRPr lang="en-US" altLang="zh-CN" dirty="0"/>
          </a:p>
        </p:txBody>
      </p:sp>
    </p:spTree>
    <p:extLst>
      <p:ext uri="{BB962C8B-B14F-4D97-AF65-F5344CB8AC3E}">
        <p14:creationId xmlns:p14="http://schemas.microsoft.com/office/powerpoint/2010/main" val="41813812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Components of ERM</a:t>
            </a:r>
            <a:endParaRPr lang="zh-CN" altLang="en-US" dirty="0"/>
          </a:p>
        </p:txBody>
      </p:sp>
      <p:sp>
        <p:nvSpPr>
          <p:cNvPr id="3" name="文本占位符 2"/>
          <p:cNvSpPr>
            <a:spLocks noGrp="1"/>
          </p:cNvSpPr>
          <p:nvPr>
            <p:ph type="body" sz="quarter" idx="10"/>
          </p:nvPr>
        </p:nvSpPr>
        <p:spPr/>
        <p:txBody>
          <a:bodyPr/>
          <a:lstStyle/>
          <a:p>
            <a:r>
              <a:rPr lang="en-US" altLang="zh-CN" dirty="0" smtClean="0"/>
              <a:t>Corporate Governance</a:t>
            </a:r>
          </a:p>
          <a:p>
            <a:pPr lvl="1"/>
            <a:r>
              <a:rPr lang="en-US" altLang="zh-CN" dirty="0" smtClean="0"/>
              <a:t>Appropriate </a:t>
            </a:r>
            <a:r>
              <a:rPr lang="en-US" altLang="zh-CN" dirty="0" smtClean="0"/>
              <a:t>organizational </a:t>
            </a:r>
            <a:r>
              <a:rPr lang="en-US" altLang="zh-CN" dirty="0" smtClean="0"/>
              <a:t>processes and corporate controls to measure and manage risk.</a:t>
            </a:r>
          </a:p>
          <a:p>
            <a:r>
              <a:rPr lang="en-US" altLang="zh-CN" dirty="0" smtClean="0"/>
              <a:t>Line Management</a:t>
            </a:r>
          </a:p>
          <a:p>
            <a:pPr lvl="1"/>
            <a:r>
              <a:rPr lang="en-US" altLang="zh-CN" dirty="0" smtClean="0"/>
              <a:t>Align business strategy with corporate risk policy.</a:t>
            </a:r>
          </a:p>
          <a:p>
            <a:r>
              <a:rPr lang="en-US" altLang="zh-CN" dirty="0" smtClean="0"/>
              <a:t>Portfolio Management</a:t>
            </a:r>
          </a:p>
          <a:p>
            <a:pPr lvl="1"/>
            <a:r>
              <a:rPr lang="en-US" altLang="zh-CN" dirty="0" smtClean="0"/>
              <a:t>Set portfolio targets and risk limits.</a:t>
            </a:r>
          </a:p>
          <a:p>
            <a:pPr lvl="1"/>
            <a:r>
              <a:rPr lang="en-US" altLang="zh-CN" dirty="0" smtClean="0"/>
              <a:t>Ensure optimal portfolio returns.</a:t>
            </a:r>
            <a:endParaRPr lang="en-US" altLang="zh-CN" dirty="0"/>
          </a:p>
        </p:txBody>
      </p:sp>
    </p:spTree>
    <p:extLst>
      <p:ext uri="{BB962C8B-B14F-4D97-AF65-F5344CB8AC3E}">
        <p14:creationId xmlns:p14="http://schemas.microsoft.com/office/powerpoint/2010/main" val="13713067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Components of ERM</a:t>
            </a:r>
            <a:endParaRPr lang="zh-CN" altLang="en-US" dirty="0"/>
          </a:p>
        </p:txBody>
      </p:sp>
      <p:sp>
        <p:nvSpPr>
          <p:cNvPr id="3" name="文本占位符 2"/>
          <p:cNvSpPr>
            <a:spLocks noGrp="1"/>
          </p:cNvSpPr>
          <p:nvPr>
            <p:ph type="body" sz="quarter" idx="10"/>
          </p:nvPr>
        </p:nvSpPr>
        <p:spPr/>
        <p:txBody>
          <a:bodyPr/>
          <a:lstStyle/>
          <a:p>
            <a:r>
              <a:rPr lang="en-US" altLang="zh-CN" dirty="0" smtClean="0"/>
              <a:t>Risk Transfer</a:t>
            </a:r>
          </a:p>
          <a:p>
            <a:pPr lvl="1"/>
            <a:r>
              <a:rPr lang="en-US" altLang="zh-CN" dirty="0" smtClean="0"/>
              <a:t>Lower the cost of transferring out undesirable risks.</a:t>
            </a:r>
          </a:p>
          <a:p>
            <a:r>
              <a:rPr lang="en-US" altLang="zh-CN" dirty="0" smtClean="0"/>
              <a:t>Risk Analytics</a:t>
            </a:r>
          </a:p>
          <a:p>
            <a:pPr lvl="1"/>
            <a:r>
              <a:rPr lang="en-US" altLang="zh-CN" dirty="0" smtClean="0"/>
              <a:t>To quantify the </a:t>
            </a:r>
            <a:r>
              <a:rPr lang="en-US" altLang="zh-CN" dirty="0" smtClean="0"/>
              <a:t>company's </a:t>
            </a:r>
            <a:r>
              <a:rPr lang="en-US" altLang="zh-CN" dirty="0" smtClean="0"/>
              <a:t>risk exposures.</a:t>
            </a:r>
          </a:p>
          <a:p>
            <a:r>
              <a:rPr lang="en-US" altLang="zh-CN" dirty="0" smtClean="0"/>
              <a:t>Data and Technology Resources</a:t>
            </a:r>
          </a:p>
          <a:p>
            <a:pPr lvl="1"/>
            <a:r>
              <a:rPr lang="en-US" altLang="zh-CN" dirty="0" smtClean="0"/>
              <a:t>Improve the quality of data</a:t>
            </a:r>
          </a:p>
          <a:p>
            <a:r>
              <a:rPr lang="en-US" altLang="zh-CN" dirty="0" smtClean="0"/>
              <a:t>Stakeholder Management</a:t>
            </a:r>
          </a:p>
          <a:p>
            <a:pPr lvl="1"/>
            <a:r>
              <a:rPr lang="en-US" altLang="zh-CN" dirty="0" smtClean="0"/>
              <a:t>Communicate and report the </a:t>
            </a:r>
            <a:r>
              <a:rPr lang="en-US" altLang="zh-CN" dirty="0" smtClean="0"/>
              <a:t>company's </a:t>
            </a:r>
            <a:r>
              <a:rPr lang="en-US" altLang="zh-CN" dirty="0" smtClean="0"/>
              <a:t>risk information to its key stakeholders.</a:t>
            </a:r>
            <a:endParaRPr lang="en-US" altLang="zh-CN" dirty="0"/>
          </a:p>
        </p:txBody>
      </p:sp>
    </p:spTree>
    <p:extLst>
      <p:ext uri="{BB962C8B-B14F-4D97-AF65-F5344CB8AC3E}">
        <p14:creationId xmlns:p14="http://schemas.microsoft.com/office/powerpoint/2010/main" val="213080068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D. Components of ERM</a:t>
            </a:r>
            <a:endParaRPr lang="zh-CN" altLang="en-US" dirty="0"/>
          </a:p>
        </p:txBody>
      </p:sp>
      <p:pic>
        <p:nvPicPr>
          <p:cNvPr id="4" name="图片 3">
            <a:extLst>
              <a:ext uri="{FF2B5EF4-FFF2-40B4-BE49-F238E27FC236}">
                <a16:creationId xmlns:a16="http://schemas.microsoft.com/office/drawing/2014/main" xmlns="" id="{AB926FC9-45E2-AC4C-A5F7-729D0EA8D516}"/>
              </a:ext>
            </a:extLst>
          </p:cNvPr>
          <p:cNvPicPr>
            <a:picLocks noChangeAspect="1"/>
          </p:cNvPicPr>
          <p:nvPr/>
        </p:nvPicPr>
        <p:blipFill>
          <a:blip r:embed="rId2"/>
          <a:stretch>
            <a:fillRect/>
          </a:stretch>
        </p:blipFill>
        <p:spPr>
          <a:xfrm>
            <a:off x="1313291" y="884904"/>
            <a:ext cx="8375404" cy="5560142"/>
          </a:xfrm>
          <a:prstGeom prst="rect">
            <a:avLst/>
          </a:prstGeom>
        </p:spPr>
      </p:pic>
    </p:spTree>
    <p:extLst>
      <p:ext uri="{BB962C8B-B14F-4D97-AF65-F5344CB8AC3E}">
        <p14:creationId xmlns:p14="http://schemas.microsoft.com/office/powerpoint/2010/main" val="14006017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645509"/>
            <a:ext cx="4702164" cy="1278384"/>
          </a:xfrm>
        </p:spPr>
        <p:txBody>
          <a:bodyPr/>
          <a:lstStyle/>
          <a:p>
            <a:r>
              <a:rPr lang="en-US" altLang="zh-CN" dirty="0"/>
              <a:t>Risk Management and Risk Taking in </a:t>
            </a:r>
            <a:r>
              <a:rPr lang="en-US" altLang="zh-CN" dirty="0" smtClean="0"/>
              <a:t>Banks</a:t>
            </a:r>
            <a:endParaRPr lang="zh-CN" altLang="en-US" dirty="0"/>
          </a:p>
        </p:txBody>
      </p:sp>
    </p:spTree>
    <p:extLst>
      <p:ext uri="{BB962C8B-B14F-4D97-AF65-F5344CB8AC3E}">
        <p14:creationId xmlns:p14="http://schemas.microsoft.com/office/powerpoint/2010/main" val="853191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How </a:t>
            </a:r>
            <a:r>
              <a:rPr lang="en-US" altLang="zh-CN" dirty="0"/>
              <a:t>Does Risk Management Add Value</a:t>
            </a:r>
            <a:r>
              <a:rPr lang="en-US" altLang="zh-CN" dirty="0" smtClean="0"/>
              <a:t>?</a:t>
            </a:r>
          </a:p>
          <a:p>
            <a:r>
              <a:rPr lang="en-US" altLang="zh-CN" dirty="0" smtClean="0"/>
              <a:t>Determining </a:t>
            </a:r>
            <a:r>
              <a:rPr lang="en-US" altLang="zh-CN" dirty="0"/>
              <a:t>a </a:t>
            </a:r>
            <a:r>
              <a:rPr lang="en-US" altLang="zh-CN" dirty="0" smtClean="0"/>
              <a:t>Bank's </a:t>
            </a:r>
            <a:r>
              <a:rPr lang="en-US" altLang="zh-CN" dirty="0"/>
              <a:t>Risk </a:t>
            </a:r>
            <a:r>
              <a:rPr lang="en-US" altLang="zh-CN" dirty="0" smtClean="0"/>
              <a:t>Appetite</a:t>
            </a:r>
          </a:p>
          <a:p>
            <a:r>
              <a:rPr lang="en-US" altLang="zh-CN" dirty="0" smtClean="0"/>
              <a:t>Governance </a:t>
            </a:r>
            <a:r>
              <a:rPr lang="en-US" altLang="zh-CN" dirty="0"/>
              <a:t>and Risk </a:t>
            </a:r>
            <a:r>
              <a:rPr lang="en-US" altLang="zh-CN" dirty="0" smtClean="0"/>
              <a:t>Taking</a:t>
            </a:r>
          </a:p>
          <a:p>
            <a:r>
              <a:rPr lang="en-US" altLang="zh-CN" dirty="0" smtClean="0"/>
              <a:t>The </a:t>
            </a:r>
            <a:r>
              <a:rPr lang="en-US" altLang="zh-CN" dirty="0"/>
              <a:t>Organization of Risk </a:t>
            </a:r>
            <a:r>
              <a:rPr lang="en-US" altLang="zh-CN" dirty="0" smtClean="0"/>
              <a:t>Management</a:t>
            </a:r>
          </a:p>
          <a:p>
            <a:r>
              <a:rPr lang="en-US" altLang="zh-CN" dirty="0" smtClean="0"/>
              <a:t>The </a:t>
            </a:r>
            <a:r>
              <a:rPr lang="en-US" altLang="zh-CN" dirty="0"/>
              <a:t>Limits of Risk </a:t>
            </a:r>
            <a:r>
              <a:rPr lang="en-US" altLang="zh-CN" dirty="0" smtClean="0"/>
              <a:t>Measurement</a:t>
            </a:r>
          </a:p>
          <a:p>
            <a:r>
              <a:rPr lang="en-US" altLang="zh-CN" dirty="0" smtClean="0"/>
              <a:t>Incentives</a:t>
            </a:r>
            <a:r>
              <a:rPr lang="en-US" altLang="zh-CN" dirty="0"/>
              <a:t>, Culture, and Risk Management</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265927598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262938" cy="576064"/>
          </a:xfrm>
        </p:spPr>
        <p:txBody>
          <a:bodyPr>
            <a:normAutofit/>
          </a:bodyPr>
          <a:lstStyle/>
          <a:p>
            <a:r>
              <a:rPr lang="en-US" altLang="zh-CN" dirty="0" smtClean="0"/>
              <a:t>A. How Does Risk Management Add Value?</a:t>
            </a:r>
            <a:endParaRPr lang="zh-CN" altLang="en-US" dirty="0"/>
          </a:p>
        </p:txBody>
      </p:sp>
      <p:sp>
        <p:nvSpPr>
          <p:cNvPr id="3" name="文本占位符 2"/>
          <p:cNvSpPr>
            <a:spLocks noGrp="1"/>
          </p:cNvSpPr>
          <p:nvPr>
            <p:ph type="body" sz="quarter" idx="10"/>
          </p:nvPr>
        </p:nvSpPr>
        <p:spPr/>
        <p:txBody>
          <a:bodyPr/>
          <a:lstStyle/>
          <a:p>
            <a:r>
              <a:rPr lang="en-US" altLang="zh-CN" dirty="0" smtClean="0"/>
              <a:t>Attitudes Toward Risk</a:t>
            </a:r>
          </a:p>
          <a:p>
            <a:pPr lvl="1"/>
            <a:r>
              <a:rPr lang="en-US" altLang="zh-CN" dirty="0" smtClean="0"/>
              <a:t>Good risk</a:t>
            </a:r>
          </a:p>
          <a:p>
            <a:pPr lvl="2"/>
            <a:r>
              <a:rPr lang="en-US" altLang="zh-CN" dirty="0" smtClean="0"/>
              <a:t> risks that have a positive expected payoff on a stand-alone basis.</a:t>
            </a:r>
          </a:p>
          <a:p>
            <a:pPr lvl="1"/>
            <a:r>
              <a:rPr lang="en-US" altLang="zh-CN" dirty="0" smtClean="0"/>
              <a:t>Bad risk</a:t>
            </a:r>
          </a:p>
          <a:p>
            <a:pPr lvl="2"/>
            <a:r>
              <a:rPr lang="en-US" altLang="zh-CN" dirty="0" smtClean="0"/>
              <a:t> risks that can be expected to destroy value on a stand-alone basis.</a:t>
            </a:r>
          </a:p>
          <a:p>
            <a:pPr lvl="1"/>
            <a:r>
              <a:rPr lang="en-US" altLang="zh-CN" dirty="0" smtClean="0"/>
              <a:t>Banks cannot succeed without taking risks.</a:t>
            </a:r>
          </a:p>
          <a:p>
            <a:endParaRPr lang="zh-CN" altLang="en-US" dirty="0"/>
          </a:p>
        </p:txBody>
      </p:sp>
    </p:spTree>
    <p:extLst>
      <p:ext uri="{BB962C8B-B14F-4D97-AF65-F5344CB8AC3E}">
        <p14:creationId xmlns:p14="http://schemas.microsoft.com/office/powerpoint/2010/main" val="6955345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205788" cy="576064"/>
          </a:xfrm>
        </p:spPr>
        <p:txBody>
          <a:bodyPr>
            <a:normAutofit/>
          </a:bodyPr>
          <a:lstStyle/>
          <a:p>
            <a:r>
              <a:rPr lang="en-US" altLang="zh-CN" dirty="0" smtClean="0"/>
              <a:t>A. How Does Risk Management Add Value?</a:t>
            </a:r>
            <a:endParaRPr lang="zh-CN" altLang="en-US" dirty="0"/>
          </a:p>
        </p:txBody>
      </p:sp>
      <p:sp>
        <p:nvSpPr>
          <p:cNvPr id="3" name="文本占位符 2"/>
          <p:cNvSpPr>
            <a:spLocks noGrp="1"/>
          </p:cNvSpPr>
          <p:nvPr>
            <p:ph type="body" sz="quarter" idx="10"/>
          </p:nvPr>
        </p:nvSpPr>
        <p:spPr/>
        <p:txBody>
          <a:bodyPr/>
          <a:lstStyle/>
          <a:p>
            <a:r>
              <a:rPr lang="en-US" altLang="zh-CN" smtClean="0"/>
              <a:t>Modigliani-Miller Theorem</a:t>
            </a:r>
          </a:p>
          <a:p>
            <a:pPr lvl="1"/>
            <a:r>
              <a:rPr lang="en-US" altLang="zh-CN" smtClean="0"/>
              <a:t>The value of companies would not be affected by corporate efforts to manage financial risks.</a:t>
            </a:r>
          </a:p>
          <a:p>
            <a:r>
              <a:rPr lang="en-US" altLang="zh-CN" smtClean="0"/>
              <a:t>But in the real world:</a:t>
            </a:r>
          </a:p>
          <a:p>
            <a:pPr lvl="1"/>
            <a:r>
              <a:rPr lang="en-US" altLang="zh-CN" smtClean="0"/>
              <a:t>Taxes and transaction costs exist.</a:t>
            </a:r>
          </a:p>
          <a:p>
            <a:pPr lvl="1"/>
            <a:r>
              <a:rPr lang="en-US" altLang="zh-CN" smtClean="0"/>
              <a:t>Bad outcomes can lead to costly financial distress.</a:t>
            </a:r>
          </a:p>
          <a:p>
            <a:pPr lvl="1"/>
            <a:r>
              <a:rPr lang="en-US" altLang="zh-CN" smtClean="0"/>
              <a:t>Companies in distress may lose the ability to carry out their strategies.</a:t>
            </a:r>
          </a:p>
          <a:p>
            <a:endParaRPr lang="zh-CN" altLang="en-US" dirty="0"/>
          </a:p>
        </p:txBody>
      </p:sp>
    </p:spTree>
    <p:extLst>
      <p:ext uri="{BB962C8B-B14F-4D97-AF65-F5344CB8AC3E}">
        <p14:creationId xmlns:p14="http://schemas.microsoft.com/office/powerpoint/2010/main" val="352430548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505700" cy="576064"/>
          </a:xfrm>
        </p:spPr>
        <p:txBody>
          <a:bodyPr>
            <a:normAutofit/>
          </a:bodyPr>
          <a:lstStyle/>
          <a:p>
            <a:r>
              <a:rPr lang="en-US" altLang="zh-CN" dirty="0" smtClean="0"/>
              <a:t>A. How Does Risk Management Add Value?</a:t>
            </a:r>
            <a:endParaRPr lang="zh-CN" altLang="en-US" dirty="0"/>
          </a:p>
        </p:txBody>
      </p:sp>
      <p:sp>
        <p:nvSpPr>
          <p:cNvPr id="3" name="文本占位符 2"/>
          <p:cNvSpPr>
            <a:spLocks noGrp="1"/>
          </p:cNvSpPr>
          <p:nvPr>
            <p:ph type="body" sz="quarter" idx="10"/>
          </p:nvPr>
        </p:nvSpPr>
        <p:spPr/>
        <p:txBody>
          <a:bodyPr/>
          <a:lstStyle/>
          <a:p>
            <a:r>
              <a:rPr lang="en-US" altLang="zh-CN" dirty="0" smtClean="0"/>
              <a:t>The Goal of Risk Management for Banks</a:t>
            </a:r>
          </a:p>
          <a:p>
            <a:pPr lvl="1"/>
            <a:r>
              <a:rPr lang="en-US" altLang="zh-CN" dirty="0" smtClean="0"/>
              <a:t>To determine the optimal level of risk the level that maximizes bank value;</a:t>
            </a:r>
          </a:p>
          <a:p>
            <a:pPr lvl="1"/>
            <a:r>
              <a:rPr lang="en-US" altLang="zh-CN" dirty="0" smtClean="0"/>
              <a:t>But</a:t>
            </a:r>
            <a:r>
              <a:rPr lang="zh-CN" altLang="en-US" dirty="0" smtClean="0"/>
              <a:t> </a:t>
            </a:r>
            <a:r>
              <a:rPr lang="en-US" altLang="zh-CN" dirty="0" smtClean="0"/>
              <a:t>subject to the constraints imposed by regulators, laws, and regulations.</a:t>
            </a:r>
          </a:p>
          <a:p>
            <a:r>
              <a:rPr lang="en-US" altLang="zh-CN" dirty="0" smtClean="0"/>
              <a:t>A Tradeoff between Return and Risk</a:t>
            </a:r>
          </a:p>
          <a:p>
            <a:pPr lvl="1"/>
            <a:r>
              <a:rPr lang="en-US" altLang="zh-CN" dirty="0" smtClean="0"/>
              <a:t>Cost of taking on a single</a:t>
            </a:r>
            <a:r>
              <a:rPr lang="zh-CN" altLang="en-US" dirty="0" smtClean="0"/>
              <a:t> </a:t>
            </a:r>
            <a:r>
              <a:rPr lang="en-US" altLang="zh-CN" dirty="0" smtClean="0"/>
              <a:t>new risk &lt; gain.</a:t>
            </a:r>
          </a:p>
          <a:p>
            <a:pPr lvl="1"/>
            <a:r>
              <a:rPr lang="en-US" altLang="zh-CN" dirty="0" smtClean="0"/>
              <a:t>But risk-taking decisions must be assessed in terms of their impact on the overall risk.</a:t>
            </a:r>
          </a:p>
          <a:p>
            <a:pPr lvl="1"/>
            <a:r>
              <a:rPr lang="en-US" altLang="zh-CN" dirty="0" smtClean="0"/>
              <a:t>Major challenge: the tradeoff can not be made in real time.</a:t>
            </a:r>
            <a:endParaRPr lang="en-US" altLang="zh-CN" dirty="0"/>
          </a:p>
        </p:txBody>
      </p:sp>
    </p:spTree>
    <p:extLst>
      <p:ext uri="{BB962C8B-B14F-4D97-AF65-F5344CB8AC3E}">
        <p14:creationId xmlns:p14="http://schemas.microsoft.com/office/powerpoint/2010/main" val="35243054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Determining a </a:t>
            </a:r>
            <a:r>
              <a:rPr lang="en-US" altLang="zh-CN" dirty="0" smtClean="0"/>
              <a:t>Bank's </a:t>
            </a:r>
            <a:r>
              <a:rPr lang="en-US" altLang="zh-CN" dirty="0" smtClean="0"/>
              <a:t>Risk Appetite</a:t>
            </a:r>
            <a:endParaRPr lang="en-US" altLang="zh-CN" dirty="0"/>
          </a:p>
        </p:txBody>
      </p:sp>
      <p:sp>
        <p:nvSpPr>
          <p:cNvPr id="3" name="文本占位符 2"/>
          <p:cNvSpPr>
            <a:spLocks noGrp="1"/>
          </p:cNvSpPr>
          <p:nvPr>
            <p:ph type="body" sz="quarter" idx="10"/>
          </p:nvPr>
        </p:nvSpPr>
        <p:spPr/>
        <p:txBody>
          <a:bodyPr/>
          <a:lstStyle/>
          <a:p>
            <a:r>
              <a:rPr lang="en-US" altLang="zh-CN" dirty="0" smtClean="0"/>
              <a:t>Banks Cannot Operate with too much Risk</a:t>
            </a:r>
          </a:p>
          <a:p>
            <a:pPr lvl="1"/>
            <a:r>
              <a:rPr lang="en-US" altLang="zh-CN" dirty="0" smtClean="0"/>
              <a:t>Constrained by laws and regulations.</a:t>
            </a:r>
          </a:p>
          <a:p>
            <a:pPr lvl="1"/>
            <a:r>
              <a:rPr lang="en-US" altLang="zh-CN" dirty="0" smtClean="0"/>
              <a:t>Limiting a </a:t>
            </a:r>
            <a:r>
              <a:rPr lang="en-US" altLang="zh-CN" dirty="0" smtClean="0"/>
              <a:t>bank's </a:t>
            </a:r>
            <a:r>
              <a:rPr lang="en-US" altLang="zh-CN" dirty="0" smtClean="0"/>
              <a:t>ability to attract deposits.</a:t>
            </a:r>
          </a:p>
          <a:p>
            <a:pPr lvl="1"/>
            <a:r>
              <a:rPr lang="en-US" altLang="zh-CN" dirty="0" smtClean="0"/>
              <a:t>Derivatives counterparties will be reluctant to deal with the bank.</a:t>
            </a:r>
          </a:p>
          <a:p>
            <a:pPr lvl="1"/>
            <a:r>
              <a:rPr lang="en-US" altLang="zh-CN" dirty="0" smtClean="0"/>
              <a:t>Difficult to hire potential employees.</a:t>
            </a:r>
          </a:p>
          <a:p>
            <a:r>
              <a:rPr lang="en-US" altLang="zh-CN" dirty="0" smtClean="0"/>
              <a:t>Banks have to Take Some Risks</a:t>
            </a:r>
          </a:p>
          <a:p>
            <a:pPr lvl="1"/>
            <a:r>
              <a:rPr lang="en-US" altLang="zh-CN" dirty="0" smtClean="0"/>
              <a:t>To create wealth for their shareholders.</a:t>
            </a:r>
          </a:p>
          <a:p>
            <a:endParaRPr lang="zh-CN" altLang="en-US" dirty="0"/>
          </a:p>
        </p:txBody>
      </p:sp>
    </p:spTree>
    <p:extLst>
      <p:ext uri="{BB962C8B-B14F-4D97-AF65-F5344CB8AC3E}">
        <p14:creationId xmlns:p14="http://schemas.microsoft.com/office/powerpoint/2010/main" val="352430548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Determining a </a:t>
            </a:r>
            <a:r>
              <a:rPr lang="en-US" altLang="zh-CN" dirty="0" smtClean="0"/>
              <a:t>Bank's </a:t>
            </a:r>
            <a:r>
              <a:rPr lang="en-US" altLang="zh-CN" dirty="0" smtClean="0"/>
              <a:t>Risk Appetite</a:t>
            </a:r>
            <a:endParaRPr lang="en-US" altLang="zh-CN" dirty="0"/>
          </a:p>
        </p:txBody>
      </p:sp>
      <p:sp>
        <p:nvSpPr>
          <p:cNvPr id="3" name="文本占位符 2"/>
          <p:cNvSpPr>
            <a:spLocks noGrp="1"/>
          </p:cNvSpPr>
          <p:nvPr>
            <p:ph type="body" sz="quarter" idx="10"/>
          </p:nvPr>
        </p:nvSpPr>
        <p:spPr/>
        <p:txBody>
          <a:bodyPr/>
          <a:lstStyle/>
          <a:p>
            <a:r>
              <a:rPr lang="en-US" altLang="zh-CN" dirty="0" smtClean="0"/>
              <a:t>A </a:t>
            </a:r>
            <a:r>
              <a:rPr lang="en-US" altLang="zh-CN" dirty="0" smtClean="0"/>
              <a:t>Bank's </a:t>
            </a:r>
            <a:r>
              <a:rPr lang="en-US" altLang="zh-CN" dirty="0" smtClean="0"/>
              <a:t>Optimal </a:t>
            </a:r>
            <a:r>
              <a:rPr lang="en-US" altLang="en-US" dirty="0" smtClean="0"/>
              <a:t>Credit Rating</a:t>
            </a:r>
            <a:r>
              <a:rPr lang="zh-CN" altLang="en-US" dirty="0" smtClean="0"/>
              <a:t> </a:t>
            </a:r>
            <a:r>
              <a:rPr lang="en-US" altLang="zh-CN" dirty="0" smtClean="0"/>
              <a:t>Approaches</a:t>
            </a:r>
            <a:endParaRPr lang="en-US" altLang="en-US" dirty="0" smtClean="0"/>
          </a:p>
          <a:p>
            <a:pPr lvl="1"/>
            <a:r>
              <a:rPr lang="en-US" altLang="zh-CN" dirty="0" smtClean="0"/>
              <a:t>Banks</a:t>
            </a:r>
            <a:r>
              <a:rPr lang="zh-CN" altLang="en-US" dirty="0" smtClean="0"/>
              <a:t> </a:t>
            </a:r>
            <a:r>
              <a:rPr lang="en-US" altLang="zh-CN" dirty="0" smtClean="0"/>
              <a:t>t</a:t>
            </a:r>
            <a:r>
              <a:rPr lang="en-US" altLang="en-US" dirty="0" smtClean="0"/>
              <a:t>arget</a:t>
            </a:r>
            <a:r>
              <a:rPr lang="en-US" altLang="zh-CN" dirty="0" smtClean="0"/>
              <a:t>s</a:t>
            </a:r>
            <a:r>
              <a:rPr lang="en-US" altLang="en-US" dirty="0" smtClean="0"/>
              <a:t> a certain credit rating</a:t>
            </a:r>
            <a:r>
              <a:rPr lang="en-US" altLang="zh-CN" dirty="0" smtClean="0"/>
              <a:t>.</a:t>
            </a:r>
          </a:p>
          <a:p>
            <a:pPr lvl="2"/>
            <a:r>
              <a:rPr lang="en" altLang="zh-CN" dirty="0" smtClean="0"/>
              <a:t>the optimal rating of a bank is generally not the highest rating</a:t>
            </a:r>
          </a:p>
          <a:p>
            <a:pPr lvl="2"/>
            <a:r>
              <a:rPr lang="en-US" altLang="zh-CN" dirty="0" smtClean="0"/>
              <a:t>Banks with very different strategies, or liability and</a:t>
            </a:r>
            <a:r>
              <a:rPr lang="zh-CN" altLang="en-US" dirty="0" smtClean="0"/>
              <a:t> </a:t>
            </a:r>
            <a:r>
              <a:rPr lang="en-US" altLang="zh-CN" dirty="0" smtClean="0"/>
              <a:t>asset structures, could well end up having very different</a:t>
            </a:r>
            <a:r>
              <a:rPr lang="zh-CN" altLang="en-US" dirty="0" smtClean="0"/>
              <a:t> </a:t>
            </a:r>
            <a:r>
              <a:rPr lang="en-US" altLang="zh-CN" dirty="0" smtClean="0"/>
              <a:t>credit ratings, and different attitudes toward risk.</a:t>
            </a:r>
          </a:p>
          <a:p>
            <a:pPr lvl="2"/>
            <a:r>
              <a:rPr lang="en" altLang="zh-CN" dirty="0" smtClean="0"/>
              <a:t>A bank with more of a deposit franchise and with more relationship lending is likely to prefer a higher rating than an institution that is engaged in more transactional activities.</a:t>
            </a:r>
            <a:endParaRPr lang="en-US" altLang="en-US" dirty="0" smtClean="0"/>
          </a:p>
          <a:p>
            <a:pPr lvl="1"/>
            <a:r>
              <a:rPr lang="en-US" altLang="zh-CN" dirty="0" smtClean="0"/>
              <a:t>Banks</a:t>
            </a:r>
            <a:r>
              <a:rPr lang="zh-CN" altLang="en-US" dirty="0" smtClean="0"/>
              <a:t> </a:t>
            </a:r>
            <a:r>
              <a:rPr lang="en-US" altLang="zh-CN" dirty="0" smtClean="0"/>
              <a:t>targets</a:t>
            </a:r>
            <a:r>
              <a:rPr lang="zh-CN" altLang="en-US" dirty="0" smtClean="0"/>
              <a:t> </a:t>
            </a:r>
            <a:r>
              <a:rPr lang="en-US" altLang="zh-CN" dirty="0" smtClean="0"/>
              <a:t>a</a:t>
            </a:r>
            <a:r>
              <a:rPr lang="zh-CN" altLang="en-US" dirty="0" smtClean="0"/>
              <a:t> </a:t>
            </a:r>
            <a:r>
              <a:rPr lang="en-US" altLang="zh-CN" dirty="0" smtClean="0"/>
              <a:t>certain</a:t>
            </a:r>
            <a:r>
              <a:rPr lang="zh-CN" altLang="en-US" dirty="0" smtClean="0"/>
              <a:t> </a:t>
            </a:r>
            <a:r>
              <a:rPr lang="en-US" altLang="zh-CN" dirty="0" smtClean="0"/>
              <a:t>PD</a:t>
            </a:r>
            <a:r>
              <a:rPr lang="zh-CN" altLang="en-US" dirty="0" smtClean="0"/>
              <a:t> </a:t>
            </a:r>
            <a:r>
              <a:rPr lang="en-US" altLang="zh-CN" dirty="0" smtClean="0"/>
              <a:t>depending on the</a:t>
            </a:r>
            <a:r>
              <a:rPr lang="zh-CN" altLang="en-US" dirty="0" smtClean="0"/>
              <a:t> </a:t>
            </a:r>
            <a:r>
              <a:rPr lang="en-US" altLang="zh-CN" dirty="0" smtClean="0"/>
              <a:t>bank's </a:t>
            </a:r>
            <a:r>
              <a:rPr lang="en-US" altLang="zh-CN" dirty="0" smtClean="0"/>
              <a:t>business model.</a:t>
            </a:r>
            <a:endParaRPr lang="en-US" altLang="zh-CN" dirty="0"/>
          </a:p>
        </p:txBody>
      </p:sp>
    </p:spTree>
    <p:extLst>
      <p:ext uri="{BB962C8B-B14F-4D97-AF65-F5344CB8AC3E}">
        <p14:creationId xmlns:p14="http://schemas.microsoft.com/office/powerpoint/2010/main" val="352430548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B. Determining a </a:t>
            </a:r>
            <a:r>
              <a:rPr lang="en-US" altLang="zh-CN" dirty="0" smtClean="0"/>
              <a:t>Bank's </a:t>
            </a:r>
            <a:r>
              <a:rPr lang="en-US" altLang="zh-CN" dirty="0"/>
              <a:t>Risk Appetite</a:t>
            </a:r>
            <a:endParaRPr lang="zh-CN" altLang="en-US" dirty="0"/>
          </a:p>
        </p:txBody>
      </p:sp>
      <p:sp>
        <p:nvSpPr>
          <p:cNvPr id="3" name="文本占位符 2"/>
          <p:cNvSpPr>
            <a:spLocks noGrp="1"/>
          </p:cNvSpPr>
          <p:nvPr>
            <p:ph type="body" sz="quarter" idx="10"/>
          </p:nvPr>
        </p:nvSpPr>
        <p:spPr/>
        <p:txBody>
          <a:bodyPr/>
          <a:lstStyle/>
          <a:p>
            <a:r>
              <a:rPr lang="en-US" altLang="zh-CN" dirty="0"/>
              <a:t>Taking Social Costs into Account</a:t>
            </a:r>
          </a:p>
          <a:p>
            <a:pPr lvl="1"/>
            <a:r>
              <a:rPr lang="en-US" altLang="zh-CN" dirty="0"/>
              <a:t>To </a:t>
            </a:r>
            <a:r>
              <a:rPr lang="en-US" altLang="zh-CN" dirty="0" smtClean="0"/>
              <a:t>maximize </a:t>
            </a:r>
            <a:r>
              <a:rPr lang="en-US" altLang="zh-CN" dirty="0"/>
              <a:t>value for </a:t>
            </a:r>
            <a:r>
              <a:rPr lang="en-US" altLang="zh-CN" dirty="0" smtClean="0"/>
              <a:t>banks' </a:t>
            </a:r>
            <a:r>
              <a:rPr lang="en-US" altLang="zh-CN" dirty="0"/>
              <a:t>shareholders ⇒</a:t>
            </a:r>
            <a:r>
              <a:rPr lang="zh-CN" altLang="en-US" dirty="0"/>
              <a:t> </a:t>
            </a:r>
            <a:r>
              <a:rPr lang="en-US" altLang="zh-CN" dirty="0"/>
              <a:t>generate systemic risk to society.</a:t>
            </a:r>
          </a:p>
          <a:p>
            <a:pPr lvl="1"/>
            <a:r>
              <a:rPr lang="en-US" altLang="zh-CN" dirty="0"/>
              <a:t>Regulators therefore impose restrictions</a:t>
            </a:r>
            <a:r>
              <a:rPr lang="zh-CN" altLang="en-US" dirty="0"/>
              <a:t> </a:t>
            </a:r>
            <a:r>
              <a:rPr lang="en-US" altLang="zh-CN" dirty="0"/>
              <a:t>(capital).</a:t>
            </a:r>
          </a:p>
          <a:p>
            <a:pPr lvl="1"/>
            <a:r>
              <a:rPr lang="en-US" altLang="zh-CN" dirty="0"/>
              <a:t>Banks have to choose their level of risk subject to external constraints.</a:t>
            </a:r>
          </a:p>
          <a:p>
            <a:endParaRPr lang="zh-CN" altLang="en-US" dirty="0"/>
          </a:p>
        </p:txBody>
      </p:sp>
    </p:spTree>
    <p:extLst>
      <p:ext uri="{BB962C8B-B14F-4D97-AF65-F5344CB8AC3E}">
        <p14:creationId xmlns:p14="http://schemas.microsoft.com/office/powerpoint/2010/main" val="352430548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 Governance and Risk Taking</a:t>
            </a:r>
            <a:endParaRPr lang="en-US" altLang="zh-CN" dirty="0"/>
          </a:p>
        </p:txBody>
      </p:sp>
      <p:sp>
        <p:nvSpPr>
          <p:cNvPr id="3" name="文本占位符 2"/>
          <p:cNvSpPr>
            <a:spLocks noGrp="1"/>
          </p:cNvSpPr>
          <p:nvPr>
            <p:ph type="body" sz="quarter" idx="10"/>
          </p:nvPr>
        </p:nvSpPr>
        <p:spPr/>
        <p:txBody>
          <a:bodyPr/>
          <a:lstStyle/>
          <a:p>
            <a:r>
              <a:rPr lang="en-US" altLang="zh-CN" dirty="0" smtClean="0"/>
              <a:t>A Good Governance</a:t>
            </a:r>
          </a:p>
          <a:p>
            <a:pPr lvl="1"/>
            <a:r>
              <a:rPr lang="en-US" altLang="zh-CN" dirty="0" smtClean="0"/>
              <a:t>Make value-maximizing trade-offs between risk and reward.</a:t>
            </a:r>
          </a:p>
          <a:p>
            <a:pPr lvl="1"/>
            <a:r>
              <a:rPr lang="en-US" altLang="zh-CN" dirty="0" smtClean="0"/>
              <a:t>Operate</a:t>
            </a:r>
            <a:r>
              <a:rPr lang="zh-CN" altLang="en-US" dirty="0" smtClean="0"/>
              <a:t> </a:t>
            </a:r>
            <a:r>
              <a:rPr lang="en-US" altLang="zh-CN" dirty="0" smtClean="0"/>
              <a:t>within the constraints imposed by regulation.</a:t>
            </a:r>
          </a:p>
          <a:p>
            <a:pPr lvl="1"/>
            <a:r>
              <a:rPr lang="en-US" altLang="zh-CN" dirty="0" smtClean="0"/>
              <a:t>Consistent with the </a:t>
            </a:r>
            <a:r>
              <a:rPr lang="en-US" altLang="zh-CN" dirty="0" smtClean="0"/>
              <a:t>firm's </a:t>
            </a:r>
            <a:r>
              <a:rPr lang="en-US" altLang="zh-CN" dirty="0" smtClean="0"/>
              <a:t>risk appetite.</a:t>
            </a:r>
          </a:p>
          <a:p>
            <a:r>
              <a:rPr lang="en-US" altLang="zh-CN" dirty="0" smtClean="0"/>
              <a:t>Better Risk </a:t>
            </a:r>
            <a:r>
              <a:rPr lang="en-US" altLang="en-US" dirty="0" smtClean="0"/>
              <a:t>Governance</a:t>
            </a:r>
            <a:r>
              <a:rPr lang="en-US" altLang="zh-CN" dirty="0" smtClean="0"/>
              <a:t>=Better</a:t>
            </a:r>
            <a:r>
              <a:rPr lang="zh-CN" altLang="en-US" dirty="0" smtClean="0"/>
              <a:t> </a:t>
            </a:r>
            <a:r>
              <a:rPr lang="en-US" altLang="zh-CN" dirty="0" smtClean="0"/>
              <a:t>Risk</a:t>
            </a:r>
            <a:r>
              <a:rPr lang="zh-CN" altLang="en-US" dirty="0" smtClean="0"/>
              <a:t> </a:t>
            </a:r>
            <a:r>
              <a:rPr lang="en-US" altLang="zh-CN" dirty="0" smtClean="0"/>
              <a:t>Mgt.</a:t>
            </a:r>
            <a:r>
              <a:rPr lang="zh-CN" altLang="en-US" dirty="0" smtClean="0"/>
              <a:t> </a:t>
            </a:r>
            <a:r>
              <a:rPr lang="en-US" altLang="zh-CN" dirty="0" smtClean="0"/>
              <a:t>Proceed</a:t>
            </a:r>
            <a:r>
              <a:rPr lang="en-US" altLang="en-US" dirty="0" smtClean="0"/>
              <a:t> ≠ Less Risk</a:t>
            </a:r>
          </a:p>
          <a:p>
            <a:pPr lvl="1"/>
            <a:r>
              <a:rPr lang="en-US" altLang="en-US" dirty="0" smtClean="0"/>
              <a:t>Effective risk governance = taking risks rewarding for </a:t>
            </a:r>
            <a:r>
              <a:rPr lang="en-US" altLang="zh-CN" dirty="0" smtClean="0"/>
              <a:t>shareholders ≠ eliminating or even reducing risk-taking.</a:t>
            </a:r>
          </a:p>
          <a:p>
            <a:pPr lvl="1"/>
            <a:r>
              <a:rPr lang="en-US" altLang="zh-CN" dirty="0" smtClean="0"/>
              <a:t>Optimal amount of risk for</a:t>
            </a:r>
            <a:r>
              <a:rPr lang="zh-CN" altLang="en-US" dirty="0" smtClean="0"/>
              <a:t> </a:t>
            </a:r>
            <a:r>
              <a:rPr lang="en-US" altLang="zh-CN" dirty="0" smtClean="0"/>
              <a:t>a</a:t>
            </a:r>
            <a:r>
              <a:rPr lang="zh-CN" altLang="en-US" dirty="0" smtClean="0"/>
              <a:t> </a:t>
            </a:r>
            <a:r>
              <a:rPr lang="en-US" altLang="zh-CN" dirty="0" smtClean="0"/>
              <a:t>bank</a:t>
            </a:r>
            <a:r>
              <a:rPr lang="zh-CN" altLang="en-US" dirty="0" smtClean="0"/>
              <a:t> </a:t>
            </a:r>
            <a:r>
              <a:rPr lang="en-US" altLang="zh-CN" dirty="0" smtClean="0"/>
              <a:t>≠ optimal amount for society.</a:t>
            </a:r>
          </a:p>
          <a:p>
            <a:endParaRPr lang="zh-CN" altLang="en-US" dirty="0"/>
          </a:p>
        </p:txBody>
      </p:sp>
    </p:spTree>
    <p:extLst>
      <p:ext uri="{BB962C8B-B14F-4D97-AF65-F5344CB8AC3E}">
        <p14:creationId xmlns:p14="http://schemas.microsoft.com/office/powerpoint/2010/main" val="352430548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348538" cy="576064"/>
          </a:xfrm>
        </p:spPr>
        <p:txBody>
          <a:bodyPr>
            <a:normAutofit/>
          </a:bodyPr>
          <a:lstStyle/>
          <a:p>
            <a:r>
              <a:rPr lang="en-US" altLang="zh-CN" dirty="0" smtClean="0"/>
              <a:t>D. The Organization of Risk Management</a:t>
            </a:r>
            <a:endParaRPr lang="zh-CN" altLang="en-US" dirty="0"/>
          </a:p>
        </p:txBody>
      </p:sp>
      <p:sp>
        <p:nvSpPr>
          <p:cNvPr id="3" name="文本占位符 2"/>
          <p:cNvSpPr>
            <a:spLocks noGrp="1"/>
          </p:cNvSpPr>
          <p:nvPr>
            <p:ph type="body" sz="quarter" idx="10"/>
          </p:nvPr>
        </p:nvSpPr>
        <p:spPr/>
        <p:txBody>
          <a:bodyPr/>
          <a:lstStyle/>
          <a:p>
            <a:r>
              <a:rPr lang="en-US" altLang="zh-CN" dirty="0" smtClean="0"/>
              <a:t>Real-world Banks cannot Control Risk</a:t>
            </a:r>
          </a:p>
          <a:p>
            <a:pPr lvl="1"/>
            <a:r>
              <a:rPr lang="en-US" altLang="zh-CN" dirty="0" smtClean="0"/>
              <a:t>Limitations in risk measurement technology.</a:t>
            </a:r>
          </a:p>
          <a:p>
            <a:pPr lvl="2"/>
            <a:r>
              <a:rPr lang="en-US" altLang="zh-CN" dirty="0" smtClean="0"/>
              <a:t>Real-time risk measures do not exist.</a:t>
            </a:r>
          </a:p>
          <a:p>
            <a:pPr lvl="2"/>
            <a:r>
              <a:rPr lang="en-US" altLang="zh-CN" dirty="0" smtClean="0"/>
              <a:t>Risk measurement can be highly imprecise.</a:t>
            </a:r>
          </a:p>
          <a:p>
            <a:pPr lvl="2"/>
            <a:r>
              <a:rPr lang="en-US" altLang="zh-CN" dirty="0" smtClean="0"/>
              <a:t>Behavioral </a:t>
            </a:r>
            <a:r>
              <a:rPr lang="en-US" altLang="zh-CN" dirty="0" smtClean="0"/>
              <a:t>biases.</a:t>
            </a:r>
          </a:p>
          <a:p>
            <a:pPr lvl="1"/>
            <a:r>
              <a:rPr lang="en-US" altLang="zh-CN" dirty="0" smtClean="0"/>
              <a:t>Limitations of hedging.</a:t>
            </a:r>
          </a:p>
          <a:p>
            <a:pPr lvl="2"/>
            <a:r>
              <a:rPr lang="en-US" altLang="zh-CN" dirty="0" smtClean="0"/>
              <a:t>Some risks cannot be hedged.</a:t>
            </a:r>
          </a:p>
          <a:p>
            <a:pPr lvl="1"/>
            <a:r>
              <a:rPr lang="en-US" altLang="zh-CN" dirty="0" smtClean="0"/>
              <a:t>Limitations of control resulting from incentives.</a:t>
            </a:r>
          </a:p>
          <a:p>
            <a:endParaRPr lang="zh-CN" altLang="en-US" dirty="0"/>
          </a:p>
        </p:txBody>
      </p:sp>
    </p:spTree>
    <p:extLst>
      <p:ext uri="{BB962C8B-B14F-4D97-AF65-F5344CB8AC3E}">
        <p14:creationId xmlns:p14="http://schemas.microsoft.com/office/powerpoint/2010/main" val="310539710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934325" cy="576064"/>
          </a:xfrm>
        </p:spPr>
        <p:txBody>
          <a:bodyPr>
            <a:normAutofit/>
          </a:bodyPr>
          <a:lstStyle/>
          <a:p>
            <a:r>
              <a:rPr lang="en-US" altLang="zh-CN" dirty="0" smtClean="0"/>
              <a:t>D. The Organization of Risk Management</a:t>
            </a:r>
            <a:endParaRPr lang="zh-CN" altLang="en-US" dirty="0"/>
          </a:p>
        </p:txBody>
      </p:sp>
      <p:sp>
        <p:nvSpPr>
          <p:cNvPr id="3" name="文本占位符 2"/>
          <p:cNvSpPr>
            <a:spLocks noGrp="1"/>
          </p:cNvSpPr>
          <p:nvPr>
            <p:ph type="body" sz="quarter" idx="10"/>
          </p:nvPr>
        </p:nvSpPr>
        <p:spPr/>
        <p:txBody>
          <a:bodyPr/>
          <a:lstStyle/>
          <a:p>
            <a:r>
              <a:rPr lang="en-US" altLang="zh-CN" dirty="0" smtClean="0"/>
              <a:t>The Right Degree of Independence for Risk Managers</a:t>
            </a:r>
          </a:p>
          <a:p>
            <a:pPr lvl="1"/>
            <a:r>
              <a:rPr lang="en-US" altLang="zh-CN" dirty="0" smtClean="0"/>
              <a:t>Risk management is not an audit.</a:t>
            </a:r>
          </a:p>
          <a:p>
            <a:pPr lvl="2"/>
            <a:r>
              <a:rPr lang="en-US" altLang="zh-CN" dirty="0" smtClean="0"/>
              <a:t>Auditors only have a verification function.</a:t>
            </a:r>
          </a:p>
          <a:p>
            <a:pPr lvl="1"/>
            <a:r>
              <a:rPr lang="en-US" altLang="zh-CN" dirty="0" smtClean="0"/>
              <a:t>If risk managers are viewed as a police ⇒ face obstacles in gathering information.</a:t>
            </a:r>
          </a:p>
          <a:p>
            <a:pPr lvl="1"/>
            <a:r>
              <a:rPr lang="en-US" altLang="zh-CN" dirty="0" smtClean="0"/>
              <a:t>The reporting lines of risk managers should be completely separate from the businesses.</a:t>
            </a:r>
          </a:p>
          <a:p>
            <a:pPr lvl="2"/>
            <a:r>
              <a:rPr lang="en-US" altLang="zh-CN" dirty="0" smtClean="0"/>
              <a:t>Business lines have a strong commitment to managing risk ⇒ business lines collaborate with risk managers.</a:t>
            </a:r>
          </a:p>
          <a:p>
            <a:endParaRPr lang="zh-CN" altLang="en-US" dirty="0"/>
          </a:p>
        </p:txBody>
      </p:sp>
    </p:spTree>
    <p:extLst>
      <p:ext uri="{BB962C8B-B14F-4D97-AF65-F5344CB8AC3E}">
        <p14:creationId xmlns:p14="http://schemas.microsoft.com/office/powerpoint/2010/main" val="150482260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a:t>
            </a:r>
            <a:r>
              <a:rPr lang="en-US" altLang="zh-CN" dirty="0" smtClean="0"/>
              <a:t>. The Limits of Risk Measurement</a:t>
            </a:r>
            <a:endParaRPr lang="en-US" altLang="zh-CN" dirty="0"/>
          </a:p>
        </p:txBody>
      </p:sp>
      <p:sp>
        <p:nvSpPr>
          <p:cNvPr id="3" name="文本占位符 2"/>
          <p:cNvSpPr>
            <a:spLocks noGrp="1"/>
          </p:cNvSpPr>
          <p:nvPr>
            <p:ph type="body" sz="quarter" idx="10"/>
          </p:nvPr>
        </p:nvSpPr>
        <p:spPr/>
        <p:txBody>
          <a:bodyPr/>
          <a:lstStyle/>
          <a:p>
            <a:r>
              <a:rPr lang="en-US" altLang="zh-CN" smtClean="0"/>
              <a:t>Difficulties in Using VaR to Measure Risk at the Firm Level</a:t>
            </a:r>
          </a:p>
          <a:p>
            <a:r>
              <a:rPr lang="en-US" altLang="zh-CN" smtClean="0"/>
              <a:t>VaR does not capture all risks.</a:t>
            </a:r>
          </a:p>
          <a:p>
            <a:r>
              <a:rPr lang="en-US" altLang="zh-CN" smtClean="0"/>
              <a:t>VaR has substantial model risk.</a:t>
            </a:r>
          </a:p>
          <a:p>
            <a:pPr lvl="1"/>
            <a:r>
              <a:rPr lang="en-US" altLang="zh-CN" smtClean="0"/>
              <a:t>Mistakes in correlation estimates.</a:t>
            </a:r>
          </a:p>
          <a:p>
            <a:pPr lvl="1"/>
            <a:r>
              <a:rPr lang="en-US" altLang="zh-CN" smtClean="0"/>
              <a:t>Different statistical distributions.</a:t>
            </a:r>
          </a:p>
          <a:p>
            <a:pPr lvl="1"/>
            <a:r>
              <a:rPr lang="en-US" altLang="zh-CN" smtClean="0"/>
              <a:t>No sufficient historical</a:t>
            </a:r>
            <a:r>
              <a:rPr lang="zh-CN" altLang="en-US" smtClean="0"/>
              <a:t> </a:t>
            </a:r>
            <a:r>
              <a:rPr lang="en-US" altLang="zh-CN" smtClean="0"/>
              <a:t>data.</a:t>
            </a:r>
          </a:p>
          <a:p>
            <a:r>
              <a:rPr lang="en-US" altLang="zh-CN" smtClean="0"/>
              <a:t>Black swans.</a:t>
            </a:r>
          </a:p>
          <a:p>
            <a:r>
              <a:rPr lang="en-US" altLang="zh-CN" smtClean="0"/>
              <a:t>Stress testing</a:t>
            </a:r>
            <a:r>
              <a:rPr lang="zh-CN" altLang="en-US" smtClean="0"/>
              <a:t> </a:t>
            </a:r>
            <a:r>
              <a:rPr lang="en-US" altLang="zh-CN" smtClean="0"/>
              <a:t>is</a:t>
            </a:r>
            <a:r>
              <a:rPr lang="zh-CN" altLang="en-US" smtClean="0"/>
              <a:t> </a:t>
            </a:r>
            <a:r>
              <a:rPr lang="en-US" altLang="zh-CN" smtClean="0"/>
              <a:t>added.</a:t>
            </a:r>
          </a:p>
          <a:p>
            <a:endParaRPr lang="zh-CN" altLang="en-US" dirty="0"/>
          </a:p>
        </p:txBody>
      </p:sp>
    </p:spTree>
    <p:extLst>
      <p:ext uri="{BB962C8B-B14F-4D97-AF65-F5344CB8AC3E}">
        <p14:creationId xmlns:p14="http://schemas.microsoft.com/office/powerpoint/2010/main" val="150482260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F. Incentives, Culture, and Risk Management</a:t>
            </a:r>
            <a:endParaRPr lang="zh-CN" altLang="en-US" dirty="0"/>
          </a:p>
        </p:txBody>
      </p:sp>
      <p:sp>
        <p:nvSpPr>
          <p:cNvPr id="3" name="文本占位符 2"/>
          <p:cNvSpPr>
            <a:spLocks noGrp="1"/>
          </p:cNvSpPr>
          <p:nvPr>
            <p:ph type="body" sz="quarter" idx="10"/>
          </p:nvPr>
        </p:nvSpPr>
        <p:spPr/>
        <p:txBody>
          <a:bodyPr/>
          <a:lstStyle/>
          <a:p>
            <a:r>
              <a:rPr lang="en-US" altLang="zh-CN" dirty="0" smtClean="0"/>
              <a:t>Risk Management is not Auditing</a:t>
            </a:r>
          </a:p>
          <a:p>
            <a:pPr lvl="1"/>
            <a:r>
              <a:rPr lang="en-US" altLang="zh-CN" dirty="0" smtClean="0"/>
              <a:t>Risk managers must understand the </a:t>
            </a:r>
            <a:r>
              <a:rPr lang="en-US" altLang="zh-CN" dirty="0" smtClean="0"/>
              <a:t>bank's </a:t>
            </a:r>
            <a:r>
              <a:rPr lang="en-US" altLang="zh-CN" dirty="0" smtClean="0"/>
              <a:t>businesses.</a:t>
            </a:r>
          </a:p>
          <a:p>
            <a:pPr lvl="1"/>
            <a:r>
              <a:rPr lang="en-US" altLang="zh-CN" dirty="0" smtClean="0"/>
              <a:t>Risk managers also have to determine when risk appetite has to be changed.</a:t>
            </a:r>
          </a:p>
          <a:p>
            <a:pPr lvl="1"/>
            <a:r>
              <a:rPr lang="en-US" altLang="zh-CN" dirty="0" smtClean="0"/>
              <a:t>Risk</a:t>
            </a:r>
            <a:r>
              <a:rPr lang="zh-CN" altLang="en-US" dirty="0" smtClean="0"/>
              <a:t> </a:t>
            </a:r>
            <a:r>
              <a:rPr lang="en-US" altLang="zh-CN" dirty="0" smtClean="0"/>
              <a:t>managers:</a:t>
            </a:r>
            <a:r>
              <a:rPr lang="zh-CN" altLang="en-US" dirty="0" smtClean="0"/>
              <a:t> </a:t>
            </a:r>
            <a:r>
              <a:rPr lang="en-US" altLang="zh-CN" dirty="0" smtClean="0"/>
              <a:t>having a dialogue with business units.</a:t>
            </a:r>
          </a:p>
          <a:p>
            <a:endParaRPr lang="zh-CN" altLang="en-US" dirty="0"/>
          </a:p>
        </p:txBody>
      </p:sp>
    </p:spTree>
    <p:extLst>
      <p:ext uri="{BB962C8B-B14F-4D97-AF65-F5344CB8AC3E}">
        <p14:creationId xmlns:p14="http://schemas.microsoft.com/office/powerpoint/2010/main" val="203699092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F. Incentives, Culture, and Risk Management</a:t>
            </a:r>
            <a:endParaRPr lang="zh-CN" altLang="en-US" dirty="0"/>
          </a:p>
        </p:txBody>
      </p:sp>
      <p:sp>
        <p:nvSpPr>
          <p:cNvPr id="3" name="文本占位符 2"/>
          <p:cNvSpPr>
            <a:spLocks noGrp="1"/>
          </p:cNvSpPr>
          <p:nvPr>
            <p:ph type="body" sz="quarter" idx="10"/>
          </p:nvPr>
        </p:nvSpPr>
        <p:spPr/>
        <p:txBody>
          <a:bodyPr/>
          <a:lstStyle/>
          <a:p>
            <a:r>
              <a:rPr lang="en-US" altLang="zh-CN" smtClean="0"/>
              <a:t>Corporate Culture of Risk</a:t>
            </a:r>
          </a:p>
          <a:p>
            <a:pPr lvl="1"/>
            <a:r>
              <a:rPr lang="en-US" altLang="zh-CN" smtClean="0"/>
              <a:t>No incentive plan can precisely tell what actions</a:t>
            </a:r>
            <a:r>
              <a:rPr lang="zh-CN" altLang="en-US" smtClean="0"/>
              <a:t> </a:t>
            </a:r>
            <a:r>
              <a:rPr lang="en-US" altLang="zh-CN" smtClean="0"/>
              <a:t>to</a:t>
            </a:r>
            <a:r>
              <a:rPr lang="zh-CN" altLang="en-US" smtClean="0"/>
              <a:t> </a:t>
            </a:r>
            <a:r>
              <a:rPr lang="en-US" altLang="zh-CN" smtClean="0"/>
              <a:t>take in every situation.</a:t>
            </a:r>
          </a:p>
          <a:p>
            <a:pPr lvl="1"/>
            <a:r>
              <a:rPr lang="en-US" altLang="zh-CN" smtClean="0"/>
              <a:t>Not all risks can be quantified</a:t>
            </a:r>
            <a:r>
              <a:rPr lang="zh-CN" altLang="en-US" smtClean="0"/>
              <a:t> </a:t>
            </a:r>
            <a:r>
              <a:rPr lang="en-US" altLang="zh-CN" smtClean="0"/>
              <a:t>⇒</a:t>
            </a:r>
            <a:r>
              <a:rPr lang="zh-CN" altLang="en-US" smtClean="0"/>
              <a:t> </a:t>
            </a:r>
            <a:r>
              <a:rPr lang="en-US" altLang="zh-CN" smtClean="0"/>
              <a:t>incentive for employees to take risks that are not quantified.</a:t>
            </a:r>
          </a:p>
          <a:p>
            <a:pPr lvl="1"/>
            <a:r>
              <a:rPr lang="en-US" altLang="zh-CN" smtClean="0"/>
              <a:t>The ability of a firm to manage risk properly depends on its corporate culture.</a:t>
            </a:r>
          </a:p>
          <a:p>
            <a:pPr lvl="1"/>
            <a:r>
              <a:rPr lang="en-US" altLang="zh-CN" smtClean="0"/>
              <a:t>Companies where managers are viewed by their employees as trustworthy are more profitable.</a:t>
            </a:r>
          </a:p>
          <a:p>
            <a:pPr lvl="1"/>
            <a:r>
              <a:rPr lang="en-US" altLang="zh-CN" smtClean="0"/>
              <a:t>But</a:t>
            </a:r>
            <a:r>
              <a:rPr lang="zh-CN" altLang="en-US" smtClean="0"/>
              <a:t> </a:t>
            </a:r>
            <a:r>
              <a:rPr lang="en-US" altLang="zh-CN" smtClean="0"/>
              <a:t>good</a:t>
            </a:r>
            <a:r>
              <a:rPr lang="zh-CN" altLang="en-US" smtClean="0"/>
              <a:t> </a:t>
            </a:r>
            <a:r>
              <a:rPr lang="en-US" altLang="zh-CN" smtClean="0"/>
              <a:t>governance</a:t>
            </a:r>
            <a:r>
              <a:rPr lang="zh-CN" altLang="en-US" smtClean="0"/>
              <a:t> </a:t>
            </a:r>
            <a:r>
              <a:rPr lang="en-US" altLang="zh-CN" smtClean="0"/>
              <a:t>changes.</a:t>
            </a:r>
            <a:endParaRPr lang="en-US" altLang="zh-CN" dirty="0"/>
          </a:p>
        </p:txBody>
      </p:sp>
    </p:spTree>
    <p:extLst>
      <p:ext uri="{BB962C8B-B14F-4D97-AF65-F5344CB8AC3E}">
        <p14:creationId xmlns:p14="http://schemas.microsoft.com/office/powerpoint/2010/main" val="352443721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516917"/>
            <a:ext cx="4702164" cy="1278384"/>
          </a:xfrm>
        </p:spPr>
        <p:txBody>
          <a:bodyPr/>
          <a:lstStyle/>
          <a:p>
            <a:r>
              <a:rPr lang="en-US" altLang="zh-CN" dirty="0"/>
              <a:t>Effective</a:t>
            </a:r>
            <a:r>
              <a:rPr lang="zh-CN" altLang="en-US" dirty="0"/>
              <a:t> </a:t>
            </a:r>
            <a:r>
              <a:rPr lang="en-US" altLang="zh-CN" dirty="0"/>
              <a:t>Data</a:t>
            </a:r>
            <a:r>
              <a:rPr lang="zh-CN" altLang="en-US" dirty="0"/>
              <a:t> </a:t>
            </a:r>
            <a:r>
              <a:rPr lang="en-US" altLang="zh-CN" dirty="0"/>
              <a:t>Aggregation</a:t>
            </a:r>
            <a:r>
              <a:rPr lang="zh-CN" altLang="en-US" dirty="0"/>
              <a:t> </a:t>
            </a:r>
            <a:r>
              <a:rPr lang="en-US" altLang="zh-CN" dirty="0"/>
              <a:t>and</a:t>
            </a:r>
            <a:r>
              <a:rPr lang="zh-CN" altLang="en-US" dirty="0"/>
              <a:t> </a:t>
            </a:r>
            <a:r>
              <a:rPr lang="en-US" altLang="zh-CN" dirty="0"/>
              <a:t>Risk</a:t>
            </a:r>
            <a:r>
              <a:rPr lang="zh-CN" altLang="en-US" dirty="0"/>
              <a:t> </a:t>
            </a:r>
            <a:r>
              <a:rPr lang="en-US" altLang="zh-CN" dirty="0" smtClean="0"/>
              <a:t>Reporting</a:t>
            </a:r>
            <a:endParaRPr lang="zh-CN" altLang="en-US" dirty="0"/>
          </a:p>
        </p:txBody>
      </p:sp>
    </p:spTree>
    <p:extLst>
      <p:ext uri="{BB962C8B-B14F-4D97-AF65-F5344CB8AC3E}">
        <p14:creationId xmlns:p14="http://schemas.microsoft.com/office/powerpoint/2010/main" val="426051539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Introduction</a:t>
            </a:r>
          </a:p>
          <a:p>
            <a:r>
              <a:rPr lang="en-US" altLang="zh-CN" dirty="0"/>
              <a:t>Definition</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94249586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Introduction</a:t>
            </a:r>
            <a:endParaRPr lang="zh-CN" altLang="en-US" dirty="0"/>
          </a:p>
        </p:txBody>
      </p:sp>
      <p:sp>
        <p:nvSpPr>
          <p:cNvPr id="3" name="文本占位符 2"/>
          <p:cNvSpPr>
            <a:spLocks noGrp="1"/>
          </p:cNvSpPr>
          <p:nvPr>
            <p:ph type="body" sz="quarter" idx="10"/>
          </p:nvPr>
        </p:nvSpPr>
        <p:spPr/>
        <p:txBody>
          <a:bodyPr/>
          <a:lstStyle/>
          <a:p>
            <a:r>
              <a:rPr lang="en-US" altLang="zh-CN" dirty="0" smtClean="0"/>
              <a:t>A Lesson Learned from the Global Financial Crisis</a:t>
            </a:r>
          </a:p>
          <a:p>
            <a:pPr lvl="1"/>
            <a:r>
              <a:rPr lang="en-US" altLang="zh-CN" dirty="0" smtClean="0"/>
              <a:t>Banks' </a:t>
            </a:r>
            <a:r>
              <a:rPr lang="en-US" altLang="zh-CN" dirty="0" smtClean="0"/>
              <a:t>IT and data architectures were inadequate to support the broad management of financial risks because of weak risk data aggregation capabilities and risk reporting practices.</a:t>
            </a:r>
          </a:p>
          <a:p>
            <a:r>
              <a:rPr lang="en-US" altLang="zh-CN" dirty="0" smtClean="0"/>
              <a:t>Improving risk data aggregation will:</a:t>
            </a:r>
          </a:p>
          <a:p>
            <a:pPr lvl="1"/>
            <a:r>
              <a:rPr lang="en-US" altLang="zh-CN" dirty="0" smtClean="0"/>
              <a:t>Help banks and supervisors anticipate problems ahead.</a:t>
            </a:r>
          </a:p>
          <a:p>
            <a:pPr lvl="1"/>
            <a:r>
              <a:rPr lang="en-US" altLang="zh-CN" dirty="0" smtClean="0"/>
              <a:t>Gain in efficiency.</a:t>
            </a:r>
          </a:p>
          <a:p>
            <a:pPr lvl="1"/>
            <a:r>
              <a:rPr lang="en-US" altLang="zh-CN" dirty="0" smtClean="0"/>
              <a:t>Reduce probability of losses.</a:t>
            </a:r>
          </a:p>
          <a:p>
            <a:endParaRPr lang="zh-CN" altLang="en-US" dirty="0"/>
          </a:p>
        </p:txBody>
      </p:sp>
    </p:spTree>
    <p:extLst>
      <p:ext uri="{BB962C8B-B14F-4D97-AF65-F5344CB8AC3E}">
        <p14:creationId xmlns:p14="http://schemas.microsoft.com/office/powerpoint/2010/main" val="85701716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Definition</a:t>
            </a:r>
            <a:endParaRPr lang="zh-CN" altLang="en-US" dirty="0"/>
          </a:p>
        </p:txBody>
      </p:sp>
      <p:sp>
        <p:nvSpPr>
          <p:cNvPr id="3" name="文本占位符 2"/>
          <p:cNvSpPr>
            <a:spLocks noGrp="1"/>
          </p:cNvSpPr>
          <p:nvPr>
            <p:ph type="body" sz="quarter" idx="10"/>
          </p:nvPr>
        </p:nvSpPr>
        <p:spPr/>
        <p:txBody>
          <a:bodyPr/>
          <a:lstStyle/>
          <a:p>
            <a:r>
              <a:rPr lang="en-US" altLang="zh-CN" dirty="0" smtClean="0"/>
              <a:t>Risk data aggregation</a:t>
            </a:r>
          </a:p>
          <a:p>
            <a:pPr lvl="1"/>
            <a:r>
              <a:rPr lang="en-US" altLang="zh-CN" dirty="0" smtClean="0"/>
              <a:t>Defining, gathering and processing risk data according to the </a:t>
            </a:r>
            <a:r>
              <a:rPr lang="en-US" altLang="zh-CN" dirty="0" smtClean="0"/>
              <a:t>bank's </a:t>
            </a:r>
            <a:r>
              <a:rPr lang="en-US" altLang="zh-CN" dirty="0" smtClean="0"/>
              <a:t>risk reporting requirements to enable the bank to</a:t>
            </a:r>
            <a:r>
              <a:rPr lang="zh-CN" altLang="en-US" dirty="0" smtClean="0"/>
              <a:t> </a:t>
            </a:r>
            <a:r>
              <a:rPr lang="en-US" altLang="zh-CN" dirty="0" smtClean="0"/>
              <a:t>measure its performance against its risk tolerance/appetite.</a:t>
            </a:r>
          </a:p>
          <a:p>
            <a:endParaRPr lang="zh-CN" altLang="en-US" dirty="0"/>
          </a:p>
        </p:txBody>
      </p:sp>
    </p:spTree>
    <p:extLst>
      <p:ext uri="{BB962C8B-B14F-4D97-AF65-F5344CB8AC3E}">
        <p14:creationId xmlns:p14="http://schemas.microsoft.com/office/powerpoint/2010/main" val="30712939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I. Data Architecture and IT Infrastructure</a:t>
            </a:r>
            <a:endParaRPr lang="zh-CN" altLang="en-US" dirty="0"/>
          </a:p>
        </p:txBody>
      </p:sp>
      <p:sp>
        <p:nvSpPr>
          <p:cNvPr id="3" name="文本占位符 2"/>
          <p:cNvSpPr>
            <a:spLocks noGrp="1"/>
          </p:cNvSpPr>
          <p:nvPr>
            <p:ph type="body" sz="quarter" idx="10"/>
          </p:nvPr>
        </p:nvSpPr>
        <p:spPr/>
        <p:txBody>
          <a:bodyPr/>
          <a:lstStyle/>
          <a:p>
            <a:r>
              <a:rPr lang="en-US" altLang="zh-CN" dirty="0" smtClean="0"/>
              <a:t>Principle 1</a:t>
            </a:r>
          </a:p>
          <a:p>
            <a:pPr lvl="1"/>
            <a:r>
              <a:rPr lang="en-US" altLang="zh-CN" dirty="0" smtClean="0"/>
              <a:t>Governance - A </a:t>
            </a:r>
            <a:r>
              <a:rPr lang="en-US" altLang="zh-CN" dirty="0" smtClean="0"/>
              <a:t>bank's </a:t>
            </a:r>
            <a:r>
              <a:rPr lang="en-US" altLang="zh-CN" dirty="0" smtClean="0"/>
              <a:t>risk data aggregation capabilities and risk reporting practices should be subject to strong governance arrangements consistent with other principles and guidance established by the Basel Committee.</a:t>
            </a:r>
          </a:p>
          <a:p>
            <a:r>
              <a:rPr lang="en-US" altLang="zh-CN" dirty="0" smtClean="0"/>
              <a:t>Principle 2</a:t>
            </a:r>
          </a:p>
          <a:p>
            <a:pPr lvl="1"/>
            <a:r>
              <a:rPr lang="en-US" altLang="zh-CN" dirty="0" smtClean="0"/>
              <a:t>Data architecture and IT infrastructure - A bank should design, build and maintain </a:t>
            </a:r>
            <a:r>
              <a:rPr lang="en-US" altLang="zh-CN" b="1" dirty="0" smtClean="0"/>
              <a:t>data architecture and IT infrastructure </a:t>
            </a:r>
            <a:r>
              <a:rPr lang="en-US" altLang="zh-CN" dirty="0" smtClean="0"/>
              <a:t>which fully supports its risk data aggregation capabilities and risk reporting practices not only in normal times but also during times of stress or crisis, while still meeting the other Principles.</a:t>
            </a:r>
            <a:endParaRPr lang="zh-CN" altLang="en-US" dirty="0" smtClean="0"/>
          </a:p>
          <a:p>
            <a:endParaRPr lang="zh-CN" altLang="en-US" dirty="0"/>
          </a:p>
        </p:txBody>
      </p:sp>
    </p:spTree>
    <p:extLst>
      <p:ext uri="{BB962C8B-B14F-4D97-AF65-F5344CB8AC3E}">
        <p14:creationId xmlns:p14="http://schemas.microsoft.com/office/powerpoint/2010/main" val="49620835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II. Risk data aggregation capabilities</a:t>
            </a:r>
            <a:endParaRPr lang="zh-CN" altLang="en-US" dirty="0"/>
          </a:p>
        </p:txBody>
      </p:sp>
      <p:sp>
        <p:nvSpPr>
          <p:cNvPr id="3" name="文本占位符 2"/>
          <p:cNvSpPr>
            <a:spLocks noGrp="1"/>
          </p:cNvSpPr>
          <p:nvPr>
            <p:ph type="body" sz="quarter" idx="10"/>
          </p:nvPr>
        </p:nvSpPr>
        <p:spPr>
          <a:xfrm>
            <a:off x="393599" y="813469"/>
            <a:ext cx="11404800" cy="5901656"/>
          </a:xfrm>
        </p:spPr>
        <p:txBody>
          <a:bodyPr>
            <a:normAutofit/>
          </a:bodyPr>
          <a:lstStyle/>
          <a:p>
            <a:r>
              <a:rPr lang="en-US" altLang="zh-CN" dirty="0" smtClean="0"/>
              <a:t>Principle 3</a:t>
            </a:r>
          </a:p>
          <a:p>
            <a:pPr lvl="1"/>
            <a:r>
              <a:rPr lang="en-US" altLang="zh-CN" dirty="0" smtClean="0"/>
              <a:t>Accuracy and Integrity – A bank should be able to generate accurate and reliable risk data to meet normal and stress/crisis reporting accuracy requirements. Data should be </a:t>
            </a:r>
            <a:r>
              <a:rPr lang="en-US" altLang="zh-CN" b="1" dirty="0" smtClean="0"/>
              <a:t>aggregated on a largely automated basis </a:t>
            </a:r>
            <a:r>
              <a:rPr lang="en-US" altLang="zh-CN" dirty="0" smtClean="0"/>
              <a:t>so as to minimize the probability of errors.</a:t>
            </a:r>
          </a:p>
          <a:p>
            <a:r>
              <a:rPr lang="en-US" altLang="zh-CN" dirty="0" smtClean="0"/>
              <a:t>Principle 4</a:t>
            </a:r>
          </a:p>
          <a:p>
            <a:pPr lvl="1"/>
            <a:r>
              <a:rPr lang="en-US" altLang="zh-CN" dirty="0" smtClean="0"/>
              <a:t>Completeness – A bank should be able to capture and </a:t>
            </a:r>
            <a:r>
              <a:rPr lang="en-US" altLang="zh-CN" b="1" dirty="0" smtClean="0"/>
              <a:t>aggregate all material risk data </a:t>
            </a:r>
            <a:r>
              <a:rPr lang="en-US" altLang="zh-CN" dirty="0" smtClean="0"/>
              <a:t>across the banking group. Data should be available by business line, legal entity, asset type, industry, region and other groupings, as relevant for the risk in question, that permit identifying and reporting risk exposures, concentrations and emerging risks.</a:t>
            </a:r>
            <a:endParaRPr lang="zh-CN" altLang="en-US" dirty="0" smtClean="0"/>
          </a:p>
          <a:p>
            <a:endParaRPr lang="zh-CN" altLang="en-US" dirty="0"/>
          </a:p>
        </p:txBody>
      </p:sp>
    </p:spTree>
    <p:extLst>
      <p:ext uri="{BB962C8B-B14F-4D97-AF65-F5344CB8AC3E}">
        <p14:creationId xmlns:p14="http://schemas.microsoft.com/office/powerpoint/2010/main" val="161931924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II. Risk data aggregation capabilities</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smtClean="0"/>
              <a:t>Principle 5</a:t>
            </a:r>
          </a:p>
          <a:p>
            <a:pPr lvl="1"/>
            <a:r>
              <a:rPr lang="en-US" altLang="zh-CN" dirty="0" smtClean="0"/>
              <a:t>Timeliness – A bank should be able to generate aggregate and up-to-date risk data </a:t>
            </a:r>
            <a:r>
              <a:rPr lang="en-US" altLang="zh-CN" b="1" dirty="0" smtClean="0"/>
              <a:t>in a timely manner</a:t>
            </a:r>
            <a:r>
              <a:rPr lang="en-US" altLang="zh-CN" dirty="0" smtClean="0"/>
              <a:t>. The precise timing will also depend on the bank-specific frequency requirements for risk management reporting, under both normal and stress/crisis situations.</a:t>
            </a:r>
          </a:p>
          <a:p>
            <a:r>
              <a:rPr lang="en-US" altLang="zh-CN" dirty="0" smtClean="0"/>
              <a:t>Principle 6</a:t>
            </a:r>
          </a:p>
          <a:p>
            <a:pPr lvl="1"/>
            <a:r>
              <a:rPr lang="en-US" altLang="zh-CN" dirty="0" smtClean="0"/>
              <a:t>Adaptability – A bank should be able to generate aggregate risk data to meet a broad range of </a:t>
            </a:r>
            <a:r>
              <a:rPr lang="en-US" altLang="zh-CN" b="1" dirty="0" smtClean="0"/>
              <a:t>on-demand, ad hoc risk management reporting requests,</a:t>
            </a:r>
            <a:r>
              <a:rPr lang="en-US" altLang="zh-CN" dirty="0" smtClean="0"/>
              <a:t> including requests during stress/crisis situations, requests due to changing internal needs and requests to meet supervisory queries.</a:t>
            </a:r>
            <a:endParaRPr lang="zh-CN" altLang="en-US" dirty="0"/>
          </a:p>
        </p:txBody>
      </p:sp>
    </p:spTree>
    <p:extLst>
      <p:ext uri="{BB962C8B-B14F-4D97-AF65-F5344CB8AC3E}">
        <p14:creationId xmlns:p14="http://schemas.microsoft.com/office/powerpoint/2010/main" val="93283494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III. Risk reporting practices</a:t>
            </a:r>
            <a:endParaRPr lang="zh-CN" altLang="en-US" dirty="0"/>
          </a:p>
        </p:txBody>
      </p:sp>
      <p:sp>
        <p:nvSpPr>
          <p:cNvPr id="3" name="文本占位符 2"/>
          <p:cNvSpPr>
            <a:spLocks noGrp="1"/>
          </p:cNvSpPr>
          <p:nvPr>
            <p:ph type="body" sz="quarter" idx="10"/>
          </p:nvPr>
        </p:nvSpPr>
        <p:spPr/>
        <p:txBody>
          <a:bodyPr/>
          <a:lstStyle/>
          <a:p>
            <a:r>
              <a:rPr lang="en-US" altLang="zh-CN" dirty="0" smtClean="0"/>
              <a:t>Principle 7</a:t>
            </a:r>
          </a:p>
          <a:p>
            <a:pPr lvl="1"/>
            <a:r>
              <a:rPr lang="en-US" altLang="zh-CN" dirty="0" smtClean="0"/>
              <a:t>Accuracy - Risk management reports should accurately and precisely convey aggregated risk data and reflect risk in an exact manner. Reports should be </a:t>
            </a:r>
            <a:r>
              <a:rPr lang="en-US" altLang="zh-CN" b="1" dirty="0" smtClean="0"/>
              <a:t>reconciled and validated</a:t>
            </a:r>
            <a:r>
              <a:rPr lang="en-US" altLang="zh-CN" dirty="0" smtClean="0"/>
              <a:t>.</a:t>
            </a:r>
          </a:p>
          <a:p>
            <a:r>
              <a:rPr lang="en-US" altLang="zh-CN" dirty="0" smtClean="0"/>
              <a:t>Principle 8</a:t>
            </a:r>
          </a:p>
          <a:p>
            <a:pPr lvl="1"/>
            <a:r>
              <a:rPr lang="en-US" altLang="zh-CN" dirty="0" smtClean="0"/>
              <a:t>Comprehensiveness - Risk management reports should cover all material risk areas within the organization. The </a:t>
            </a:r>
            <a:r>
              <a:rPr lang="en-US" altLang="zh-CN" b="1" dirty="0" smtClean="0"/>
              <a:t>depth and scope </a:t>
            </a:r>
            <a:r>
              <a:rPr lang="en-US" altLang="zh-CN" dirty="0" smtClean="0"/>
              <a:t>of these reports should be consistent with the size and complexity of the </a:t>
            </a:r>
            <a:r>
              <a:rPr lang="en-US" altLang="zh-CN" dirty="0" smtClean="0"/>
              <a:t>bank's </a:t>
            </a:r>
            <a:r>
              <a:rPr lang="en-US" altLang="zh-CN" dirty="0" smtClean="0"/>
              <a:t>operations and risk profile, as well as the requirements of the recipients.</a:t>
            </a:r>
          </a:p>
        </p:txBody>
      </p:sp>
    </p:spTree>
    <p:extLst>
      <p:ext uri="{BB962C8B-B14F-4D97-AF65-F5344CB8AC3E}">
        <p14:creationId xmlns:p14="http://schemas.microsoft.com/office/powerpoint/2010/main" val="376532206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III. Risk reporting practices</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smtClean="0"/>
              <a:t>Principle 9</a:t>
            </a:r>
          </a:p>
          <a:p>
            <a:pPr lvl="1"/>
            <a:r>
              <a:rPr lang="en-US" altLang="zh-CN" dirty="0" smtClean="0"/>
              <a:t>Clarity and usefulness - Risk management reports should communicate information </a:t>
            </a:r>
            <a:r>
              <a:rPr lang="en-US" altLang="zh-CN" b="1" dirty="0" smtClean="0"/>
              <a:t>in a clear and concise manner. </a:t>
            </a:r>
            <a:r>
              <a:rPr lang="en-US" altLang="zh-CN" dirty="0" smtClean="0"/>
              <a:t>Reports should be easy to understand yet comprehensive enough to facilitate informed decision-making. Reports should include meaningful information </a:t>
            </a:r>
            <a:r>
              <a:rPr lang="en-US" altLang="zh-CN" b="1" dirty="0" smtClean="0"/>
              <a:t>tailored to the needs of the recipients.</a:t>
            </a:r>
            <a:endParaRPr lang="zh-CN" altLang="en-US" b="1" dirty="0" smtClean="0"/>
          </a:p>
          <a:p>
            <a:r>
              <a:rPr lang="en-US" altLang="zh-CN" dirty="0" smtClean="0"/>
              <a:t>Principle 10</a:t>
            </a:r>
          </a:p>
          <a:p>
            <a:pPr lvl="1"/>
            <a:r>
              <a:rPr lang="en-US" altLang="zh-CN" b="1" dirty="0" smtClean="0"/>
              <a:t>Frequency</a:t>
            </a:r>
            <a:r>
              <a:rPr lang="en-US" altLang="zh-CN" dirty="0" smtClean="0"/>
              <a:t> – The board and senior management (or other recipients as appropriate) should set the frequency of risk management report production and distribution. The frequency of reports should be increased during times of stress/crisis.</a:t>
            </a:r>
          </a:p>
          <a:p>
            <a:endParaRPr lang="zh-CN" altLang="en-US" dirty="0"/>
          </a:p>
        </p:txBody>
      </p:sp>
    </p:spTree>
    <p:extLst>
      <p:ext uri="{BB962C8B-B14F-4D97-AF65-F5344CB8AC3E}">
        <p14:creationId xmlns:p14="http://schemas.microsoft.com/office/powerpoint/2010/main" val="71820675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III. Risk reporting practices</a:t>
            </a:r>
            <a:endParaRPr lang="zh-CN" altLang="en-US" dirty="0"/>
          </a:p>
        </p:txBody>
      </p:sp>
      <p:sp>
        <p:nvSpPr>
          <p:cNvPr id="3" name="文本占位符 2"/>
          <p:cNvSpPr>
            <a:spLocks noGrp="1"/>
          </p:cNvSpPr>
          <p:nvPr>
            <p:ph type="body" sz="quarter" idx="10"/>
          </p:nvPr>
        </p:nvSpPr>
        <p:spPr/>
        <p:txBody>
          <a:bodyPr/>
          <a:lstStyle/>
          <a:p>
            <a:r>
              <a:rPr lang="en-US" altLang="zh-CN" dirty="0" smtClean="0"/>
              <a:t>Principle 11</a:t>
            </a:r>
          </a:p>
          <a:p>
            <a:pPr lvl="1"/>
            <a:r>
              <a:rPr lang="en-US" altLang="zh-CN" dirty="0" smtClean="0"/>
              <a:t>Distribution - Risk management reports should be distributed to the relevant parties while ensuring </a:t>
            </a:r>
            <a:r>
              <a:rPr lang="en-US" altLang="zh-CN" b="1" dirty="0" smtClean="0"/>
              <a:t>confidentiality </a:t>
            </a:r>
            <a:r>
              <a:rPr lang="en-US" altLang="zh-CN" dirty="0" smtClean="0"/>
              <a:t>is maintained.</a:t>
            </a:r>
          </a:p>
          <a:p>
            <a:r>
              <a:rPr lang="en-US" altLang="zh-CN" dirty="0"/>
              <a:t>Principle 12</a:t>
            </a:r>
          </a:p>
          <a:p>
            <a:pPr lvl="1"/>
            <a:r>
              <a:rPr lang="en-US" altLang="zh-CN" dirty="0"/>
              <a:t>Review - Supervisors should periodically </a:t>
            </a:r>
            <a:r>
              <a:rPr lang="en-US" altLang="zh-CN" b="1" dirty="0"/>
              <a:t>review and evaluate a </a:t>
            </a:r>
            <a:r>
              <a:rPr lang="en-US" altLang="zh-CN" b="1" dirty="0" smtClean="0"/>
              <a:t>bank's </a:t>
            </a:r>
            <a:r>
              <a:rPr lang="en-US" altLang="zh-CN" b="1" dirty="0"/>
              <a:t>compliance</a:t>
            </a:r>
            <a:r>
              <a:rPr lang="en-US" altLang="zh-CN" dirty="0"/>
              <a:t> with the eleven Principles above.</a:t>
            </a:r>
          </a:p>
          <a:p>
            <a:pPr lvl="1"/>
            <a:endParaRPr lang="zh-CN" altLang="en-US" dirty="0" smtClean="0"/>
          </a:p>
          <a:p>
            <a:endParaRPr lang="zh-CN" altLang="en-US" dirty="0"/>
          </a:p>
        </p:txBody>
      </p:sp>
    </p:spTree>
    <p:extLst>
      <p:ext uri="{BB962C8B-B14F-4D97-AF65-F5344CB8AC3E}">
        <p14:creationId xmlns:p14="http://schemas.microsoft.com/office/powerpoint/2010/main" val="31577916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IV. Supervisory review, tools and cooperation</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smtClean="0"/>
              <a:t>Principle 13</a:t>
            </a:r>
          </a:p>
          <a:p>
            <a:pPr lvl="1"/>
            <a:r>
              <a:rPr lang="en-US" altLang="zh-CN" b="1" dirty="0" smtClean="0"/>
              <a:t>Remedial actions </a:t>
            </a:r>
            <a:r>
              <a:rPr lang="en-US" altLang="zh-CN" dirty="0" smtClean="0"/>
              <a:t>and supervisory measures - Supervisors should have and use the appropriate tools and resources to require effective and timely remedial action by a bank to address deficiencies in its risk data aggregation capabilities and risk reporting practices.</a:t>
            </a:r>
          </a:p>
          <a:p>
            <a:r>
              <a:rPr lang="en-US" altLang="zh-CN" dirty="0" smtClean="0"/>
              <a:t>Principle 14</a:t>
            </a:r>
          </a:p>
          <a:p>
            <a:pPr lvl="1"/>
            <a:r>
              <a:rPr lang="en-US" altLang="zh-CN" b="1" dirty="0" smtClean="0"/>
              <a:t>Home/host cooperation </a:t>
            </a:r>
            <a:r>
              <a:rPr lang="en-US" altLang="zh-CN" dirty="0" smtClean="0"/>
              <a:t>- Supervisors should cooperate with relevant supervisors in other jurisdictions regarding the supervision and review of the Principles, and the implementation of any remedial action if necessary.</a:t>
            </a:r>
            <a:endParaRPr lang="zh-CN" altLang="en-US" dirty="0" smtClean="0"/>
          </a:p>
          <a:p>
            <a:endParaRPr lang="zh-CN" altLang="en-US" dirty="0"/>
          </a:p>
        </p:txBody>
      </p:sp>
    </p:spTree>
    <p:extLst>
      <p:ext uri="{BB962C8B-B14F-4D97-AF65-F5344CB8AC3E}">
        <p14:creationId xmlns:p14="http://schemas.microsoft.com/office/powerpoint/2010/main" val="63496509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The</a:t>
            </a:r>
            <a:r>
              <a:rPr lang="zh-CN" altLang="en-US" dirty="0"/>
              <a:t> </a:t>
            </a:r>
            <a:r>
              <a:rPr lang="en-US" altLang="zh-CN" dirty="0"/>
              <a:t>Standard</a:t>
            </a:r>
            <a:r>
              <a:rPr lang="zh-CN" altLang="en-US" dirty="0"/>
              <a:t> </a:t>
            </a:r>
            <a:r>
              <a:rPr lang="en-US" altLang="zh-CN" dirty="0"/>
              <a:t>Capital</a:t>
            </a:r>
            <a:r>
              <a:rPr lang="zh-CN" altLang="en-US" dirty="0"/>
              <a:t> </a:t>
            </a:r>
            <a:r>
              <a:rPr lang="en-US" altLang="zh-CN" dirty="0"/>
              <a:t>Asset</a:t>
            </a:r>
            <a:r>
              <a:rPr lang="zh-CN" altLang="en-US" dirty="0"/>
              <a:t> </a:t>
            </a:r>
            <a:r>
              <a:rPr lang="en-US" altLang="zh-CN" dirty="0"/>
              <a:t>Pricing</a:t>
            </a:r>
            <a:r>
              <a:rPr lang="zh-CN" altLang="en-US" dirty="0"/>
              <a:t> </a:t>
            </a:r>
            <a:r>
              <a:rPr lang="en-US" altLang="zh-CN" dirty="0" smtClean="0"/>
              <a:t>Model</a:t>
            </a:r>
            <a:endParaRPr lang="zh-CN" altLang="en-US" dirty="0"/>
          </a:p>
        </p:txBody>
      </p:sp>
    </p:spTree>
    <p:extLst>
      <p:ext uri="{BB962C8B-B14F-4D97-AF65-F5344CB8AC3E}">
        <p14:creationId xmlns:p14="http://schemas.microsoft.com/office/powerpoint/2010/main" val="3169908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93600" y="514350"/>
            <a:ext cx="6758517" cy="6343650"/>
          </a:xfrm>
        </p:spPr>
        <p:txBody>
          <a:bodyPr>
            <a:normAutofit lnSpcReduction="10000"/>
          </a:bodyPr>
          <a:lstStyle/>
          <a:p>
            <a:r>
              <a:rPr lang="en-US" altLang="zh-CN" dirty="0"/>
              <a:t>Foundation of quantitative </a:t>
            </a:r>
            <a:r>
              <a:rPr lang="en-US" altLang="zh-CN" dirty="0" smtClean="0"/>
              <a:t>methods</a:t>
            </a:r>
          </a:p>
          <a:p>
            <a:r>
              <a:rPr lang="en-US" altLang="zh-CN" dirty="0"/>
              <a:t>Markowitz portfolio </a:t>
            </a:r>
            <a:r>
              <a:rPr lang="en-US" altLang="zh-CN" dirty="0" smtClean="0"/>
              <a:t>theory</a:t>
            </a:r>
          </a:p>
          <a:p>
            <a:r>
              <a:rPr lang="en-US" altLang="zh-CN" dirty="0"/>
              <a:t>Effects of correlation on diversification </a:t>
            </a:r>
            <a:r>
              <a:rPr lang="en-US" altLang="zh-CN" dirty="0" smtClean="0"/>
              <a:t>benefits</a:t>
            </a:r>
          </a:p>
          <a:p>
            <a:r>
              <a:rPr lang="en-US" altLang="zh-CN" dirty="0" smtClean="0"/>
              <a:t>Markowitz </a:t>
            </a:r>
            <a:r>
              <a:rPr lang="en-US" altLang="zh-CN" dirty="0"/>
              <a:t>efficient </a:t>
            </a:r>
            <a:r>
              <a:rPr lang="en-US" altLang="zh-CN" dirty="0" smtClean="0"/>
              <a:t>frontier</a:t>
            </a:r>
          </a:p>
          <a:p>
            <a:r>
              <a:rPr lang="en-US" altLang="zh-CN" dirty="0"/>
              <a:t>Minimum variance </a:t>
            </a:r>
            <a:r>
              <a:rPr lang="en-US" altLang="zh-CN" dirty="0" smtClean="0"/>
              <a:t>portfolio</a:t>
            </a:r>
          </a:p>
          <a:p>
            <a:r>
              <a:rPr lang="en-US" altLang="zh-CN" dirty="0"/>
              <a:t>Define an optimal </a:t>
            </a:r>
            <a:r>
              <a:rPr lang="en-US" altLang="zh-CN" dirty="0" smtClean="0"/>
              <a:t>portfolio</a:t>
            </a:r>
          </a:p>
          <a:p>
            <a:r>
              <a:rPr lang="en-US" altLang="zh-CN" dirty="0"/>
              <a:t>Capital Market Line (CML)</a:t>
            </a:r>
            <a:endParaRPr lang="en-US" altLang="zh-CN" dirty="0" smtClean="0"/>
          </a:p>
          <a:p>
            <a:r>
              <a:rPr lang="en-US" altLang="zh-CN" dirty="0" smtClean="0"/>
              <a:t>Systematic </a:t>
            </a:r>
            <a:r>
              <a:rPr lang="en-US" altLang="zh-CN" dirty="0"/>
              <a:t>and Unsystematic Risk</a:t>
            </a:r>
            <a:endParaRPr lang="en-US" altLang="zh-CN" dirty="0" smtClean="0"/>
          </a:p>
          <a:p>
            <a:r>
              <a:rPr lang="en-US" altLang="zh-CN" dirty="0" smtClean="0"/>
              <a:t>Security </a:t>
            </a:r>
            <a:r>
              <a:rPr lang="en-US" altLang="zh-CN" dirty="0"/>
              <a:t>Market Line (SML)</a:t>
            </a:r>
            <a:endParaRPr lang="en-US" altLang="zh-CN" dirty="0" smtClean="0"/>
          </a:p>
          <a:p>
            <a:r>
              <a:rPr lang="en-US" altLang="zh-CN" dirty="0" smtClean="0"/>
              <a:t>Capital </a:t>
            </a:r>
            <a:r>
              <a:rPr lang="en-US" altLang="zh-CN" dirty="0"/>
              <a:t>Asset Pricing Model (CAPM)</a:t>
            </a:r>
            <a:endParaRPr lang="en-US" altLang="zh-CN" dirty="0" smtClean="0"/>
          </a:p>
          <a:p>
            <a:r>
              <a:rPr lang="en-US" altLang="zh-CN" dirty="0"/>
              <a:t>Comparing the CML and the SML</a:t>
            </a:r>
            <a:endParaRPr lang="en-US" altLang="zh-CN" dirty="0" smtClean="0"/>
          </a:p>
          <a:p>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90498624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Foundation of quantitative methods</a:t>
            </a:r>
            <a:endParaRPr lang="zh-CN" altLang="en-US" dirty="0"/>
          </a:p>
        </p:txBody>
      </p:sp>
      <p:sp>
        <p:nvSpPr>
          <p:cNvPr id="3" name="文本占位符 2"/>
          <p:cNvSpPr>
            <a:spLocks noGrp="1"/>
          </p:cNvSpPr>
          <p:nvPr>
            <p:ph type="body" sz="quarter" idx="10"/>
          </p:nvPr>
        </p:nvSpPr>
        <p:spPr/>
        <p:txBody>
          <a:bodyPr/>
          <a:lstStyle/>
          <a:p>
            <a:r>
              <a:rPr lang="en-US" altLang="zh-CN" dirty="0" smtClean="0"/>
              <a:t>Expected return</a:t>
            </a:r>
            <a:r>
              <a:rPr lang="zh-CN" altLang="en-US" dirty="0" smtClean="0"/>
              <a:t> </a:t>
            </a:r>
            <a:r>
              <a:rPr lang="en-US" altLang="zh-CN" dirty="0" smtClean="0"/>
              <a:t>/</a:t>
            </a:r>
            <a:r>
              <a:rPr lang="zh-CN" altLang="en-US" dirty="0" smtClean="0"/>
              <a:t> </a:t>
            </a:r>
            <a:r>
              <a:rPr lang="en-US" altLang="zh-CN" dirty="0" smtClean="0"/>
              <a:t>mean</a:t>
            </a:r>
            <a:r>
              <a:rPr lang="zh-CN" altLang="en-US" dirty="0" smtClean="0"/>
              <a:t> </a:t>
            </a:r>
            <a:r>
              <a:rPr lang="en-US" altLang="zh-CN" dirty="0" smtClean="0"/>
              <a:t>/</a:t>
            </a:r>
            <a:r>
              <a:rPr lang="zh-CN" altLang="en-US" dirty="0" smtClean="0"/>
              <a:t> </a:t>
            </a:r>
            <a:r>
              <a:rPr lang="en-US" altLang="zh-CN" dirty="0" smtClean="0"/>
              <a:t>μ</a:t>
            </a:r>
          </a:p>
          <a:p>
            <a:r>
              <a:rPr lang="en-US" altLang="zh-CN" dirty="0" smtClean="0"/>
              <a:t>Variance /</a:t>
            </a:r>
            <a:r>
              <a:rPr lang="zh-CN" altLang="en-US" dirty="0" smtClean="0"/>
              <a:t> </a:t>
            </a:r>
            <a:r>
              <a:rPr lang="en-US" altLang="zh-CN" dirty="0" smtClean="0"/>
              <a:t>risk</a:t>
            </a:r>
            <a:r>
              <a:rPr lang="zh-CN" altLang="en-US" dirty="0" smtClean="0"/>
              <a:t> </a:t>
            </a:r>
            <a:r>
              <a:rPr lang="en-US" altLang="zh-CN" dirty="0" smtClean="0"/>
              <a:t>/</a:t>
            </a:r>
            <a:r>
              <a:rPr lang="zh-CN" altLang="en-US" dirty="0" smtClean="0"/>
              <a:t> </a:t>
            </a:r>
            <a:r>
              <a:rPr lang="en-US" altLang="zh-CN" dirty="0" smtClean="0"/>
              <a:t>σ</a:t>
            </a:r>
            <a:r>
              <a:rPr lang="en-US" altLang="zh-CN" baseline="30000" dirty="0" smtClean="0"/>
              <a:t>2</a:t>
            </a:r>
          </a:p>
          <a:p>
            <a:r>
              <a:rPr lang="en-US" altLang="zh-CN" dirty="0" smtClean="0"/>
              <a:t>Standard deviation</a:t>
            </a:r>
            <a:r>
              <a:rPr lang="zh-CN" altLang="en-US" dirty="0" smtClean="0"/>
              <a:t> </a:t>
            </a:r>
            <a:r>
              <a:rPr lang="en-US" altLang="zh-CN" dirty="0"/>
              <a:t>/volatility</a:t>
            </a:r>
            <a:r>
              <a:rPr lang="zh-CN" altLang="en-US" dirty="0"/>
              <a:t>  </a:t>
            </a:r>
            <a:r>
              <a:rPr lang="en-US" altLang="zh-CN" dirty="0"/>
              <a:t>/</a:t>
            </a:r>
            <a:r>
              <a:rPr lang="zh-CN" altLang="en-US" dirty="0"/>
              <a:t> </a:t>
            </a:r>
            <a:r>
              <a:rPr lang="en-US" altLang="zh-CN" dirty="0" smtClean="0"/>
              <a:t>σ</a:t>
            </a:r>
            <a:endParaRPr lang="zh-CN" altLang="en-US" dirty="0" smtClean="0"/>
          </a:p>
          <a:p>
            <a:r>
              <a:rPr lang="en-US" altLang="zh-CN" dirty="0" smtClean="0"/>
              <a:t>Covariance</a:t>
            </a:r>
            <a:r>
              <a:rPr lang="zh-CN" altLang="en-US" dirty="0" smtClean="0"/>
              <a:t> </a:t>
            </a:r>
            <a:r>
              <a:rPr lang="en-US" altLang="zh-CN" dirty="0" smtClean="0"/>
              <a:t>/</a:t>
            </a:r>
            <a:r>
              <a:rPr lang="zh-CN" altLang="en-US" dirty="0" smtClean="0"/>
              <a:t> </a:t>
            </a:r>
            <a:r>
              <a:rPr lang="en-US" altLang="zh-CN" dirty="0" smtClean="0"/>
              <a:t>Cov</a:t>
            </a:r>
          </a:p>
          <a:p>
            <a:r>
              <a:rPr lang="en-US" altLang="zh-CN" dirty="0" smtClean="0"/>
              <a:t>Correlation</a:t>
            </a:r>
            <a:r>
              <a:rPr lang="zh-CN" altLang="en-US" dirty="0" smtClean="0"/>
              <a:t> </a:t>
            </a:r>
            <a:r>
              <a:rPr lang="en-US" altLang="zh-CN" dirty="0" smtClean="0"/>
              <a:t>/</a:t>
            </a:r>
            <a:r>
              <a:rPr lang="zh-CN" altLang="en-US" dirty="0" smtClean="0"/>
              <a:t> </a:t>
            </a:r>
            <a:r>
              <a:rPr lang="en-US" altLang="zh-CN" dirty="0" smtClean="0"/>
              <a:t>ρ</a:t>
            </a:r>
          </a:p>
          <a:p>
            <a:r>
              <a:rPr lang="en-US" altLang="zh-CN" dirty="0" smtClean="0"/>
              <a:t>Expected return and volatility of a two-asset portfolio</a:t>
            </a:r>
          </a:p>
          <a:p>
            <a:endParaRPr lang="zh-CN" altLang="en-US" dirty="0"/>
          </a:p>
        </p:txBody>
      </p:sp>
    </p:spTree>
    <p:extLst>
      <p:ext uri="{BB962C8B-B14F-4D97-AF65-F5344CB8AC3E}">
        <p14:creationId xmlns:p14="http://schemas.microsoft.com/office/powerpoint/2010/main" val="329109581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Markowitz portfolio theory</a:t>
            </a:r>
            <a:endParaRPr lang="zh-CN" altLang="en-US" dirty="0"/>
          </a:p>
        </p:txBody>
      </p:sp>
      <p:sp>
        <p:nvSpPr>
          <p:cNvPr id="3" name="文本占位符 2"/>
          <p:cNvSpPr>
            <a:spLocks noGrp="1"/>
          </p:cNvSpPr>
          <p:nvPr>
            <p:ph type="body" sz="quarter" idx="10"/>
          </p:nvPr>
        </p:nvSpPr>
        <p:spPr/>
        <p:txBody>
          <a:bodyPr/>
          <a:lstStyle/>
          <a:p>
            <a:r>
              <a:rPr lang="en-US" altLang="zh-CN" dirty="0" smtClean="0"/>
              <a:t>A</a:t>
            </a:r>
            <a:r>
              <a:rPr lang="zh-CN" altLang="en-US" dirty="0" smtClean="0"/>
              <a:t> </a:t>
            </a:r>
            <a:r>
              <a:rPr lang="en-US" altLang="zh-CN" dirty="0" smtClean="0"/>
              <a:t>rational person</a:t>
            </a:r>
          </a:p>
          <a:p>
            <a:pPr lvl="1"/>
            <a:r>
              <a:rPr lang="en-US" altLang="zh-CN" dirty="0" smtClean="0"/>
              <a:t>Risk aversion</a:t>
            </a:r>
          </a:p>
          <a:p>
            <a:pPr lvl="1"/>
            <a:r>
              <a:rPr lang="en-US" altLang="zh-CN" dirty="0" smtClean="0"/>
              <a:t>Risk neutral</a:t>
            </a:r>
          </a:p>
          <a:p>
            <a:pPr lvl="1"/>
            <a:r>
              <a:rPr lang="en-US" altLang="zh-CN" dirty="0" smtClean="0"/>
              <a:t>Risk preference</a:t>
            </a:r>
            <a:endParaRPr lang="zh-CN" altLang="en-US" dirty="0"/>
          </a:p>
        </p:txBody>
      </p:sp>
      <p:grpSp>
        <p:nvGrpSpPr>
          <p:cNvPr id="4" name="组合 16"/>
          <p:cNvGrpSpPr>
            <a:grpSpLocks/>
          </p:cNvGrpSpPr>
          <p:nvPr/>
        </p:nvGrpSpPr>
        <p:grpSpPr bwMode="auto">
          <a:xfrm>
            <a:off x="985799" y="3479393"/>
            <a:ext cx="2831125" cy="2712892"/>
            <a:chOff x="387104" y="3494124"/>
            <a:chExt cx="2300835" cy="2245462"/>
          </a:xfrm>
          <a:noFill/>
        </p:grpSpPr>
        <p:cxnSp>
          <p:nvCxnSpPr>
            <p:cNvPr id="5" name="直接箭头连接符 4"/>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6" name="直接箭头连接符 5"/>
            <p:cNvCxnSpPr/>
            <p:nvPr/>
          </p:nvCxnSpPr>
          <p:spPr bwMode="auto">
            <a:xfrm rot="5400000" flipH="1" flipV="1">
              <a:off x="-216578" y="4617141"/>
              <a:ext cx="1656202" cy="1587"/>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7" name="任意多边形 6"/>
            <p:cNvSpPr/>
            <p:nvPr/>
          </p:nvSpPr>
          <p:spPr bwMode="auto">
            <a:xfrm>
              <a:off x="820372" y="3983642"/>
              <a:ext cx="1484175" cy="1191889"/>
            </a:xfrm>
            <a:custGeom>
              <a:avLst/>
              <a:gdLst>
                <a:gd name="connsiteX0" fmla="*/ 1549400 w 1549400"/>
                <a:gd name="connsiteY0" fmla="*/ 0 h 1181100"/>
                <a:gd name="connsiteX1" fmla="*/ 965200 w 1549400"/>
                <a:gd name="connsiteY1" fmla="*/ 850900 h 1181100"/>
                <a:gd name="connsiteX2" fmla="*/ 0 w 1549400"/>
                <a:gd name="connsiteY2" fmla="*/ 1181100 h 1181100"/>
              </a:gdLst>
              <a:ahLst/>
              <a:cxnLst>
                <a:cxn ang="0">
                  <a:pos x="connsiteX0" y="connsiteY0"/>
                </a:cxn>
                <a:cxn ang="0">
                  <a:pos x="connsiteX1" y="connsiteY1"/>
                </a:cxn>
                <a:cxn ang="0">
                  <a:pos x="connsiteX2" y="connsiteY2"/>
                </a:cxn>
              </a:cxnLst>
              <a:rect l="l" t="t" r="r" b="b"/>
              <a:pathLst>
                <a:path w="1549400" h="1181100">
                  <a:moveTo>
                    <a:pt x="1549400" y="0"/>
                  </a:moveTo>
                  <a:cubicBezTo>
                    <a:pt x="1386416" y="327025"/>
                    <a:pt x="1223433" y="654050"/>
                    <a:pt x="965200" y="850900"/>
                  </a:cubicBezTo>
                  <a:cubicBezTo>
                    <a:pt x="706967" y="1047750"/>
                    <a:pt x="184150" y="1134533"/>
                    <a:pt x="0" y="1181100"/>
                  </a:cubicBezTo>
                </a:path>
              </a:pathLst>
            </a:cu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wrap="square" lIns="72000" tIns="72000" rIns="72000" bIns="72000">
              <a:spAutoFit/>
            </a:bodyPr>
            <a:lstStyle/>
            <a:p>
              <a:pPr>
                <a:spcBef>
                  <a:spcPct val="50000"/>
                </a:spcBef>
                <a:buFont typeface="Wingdings" pitchFamily="2" charset="2"/>
                <a:buChar char="Ø"/>
                <a:defRPr/>
              </a:pPr>
              <a:endParaRPr lang="zh-CN" altLang="en-US" sz="1500" b="1">
                <a:solidFill>
                  <a:schemeClr val="bg1"/>
                </a:solidFill>
                <a:ea typeface="楷体_GB2312" pitchFamily="49" charset="-122"/>
              </a:endParaRPr>
            </a:p>
          </p:txBody>
        </p:sp>
        <p:sp>
          <p:nvSpPr>
            <p:cNvPr id="8" name="TextBox 7"/>
            <p:cNvSpPr txBox="1"/>
            <p:nvPr/>
          </p:nvSpPr>
          <p:spPr>
            <a:xfrm>
              <a:off x="387104" y="3494124"/>
              <a:ext cx="522274" cy="308057"/>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9" name="TextBox 8"/>
            <p:cNvSpPr txBox="1"/>
            <p:nvPr/>
          </p:nvSpPr>
          <p:spPr>
            <a:xfrm>
              <a:off x="2376797" y="5401358"/>
              <a:ext cx="311142" cy="338228"/>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grpSp>
        <p:nvGrpSpPr>
          <p:cNvPr id="25" name="组合 24"/>
          <p:cNvGrpSpPr/>
          <p:nvPr/>
        </p:nvGrpSpPr>
        <p:grpSpPr>
          <a:xfrm>
            <a:off x="4048748" y="3510387"/>
            <a:ext cx="2698527" cy="2753907"/>
            <a:chOff x="4048748" y="3510387"/>
            <a:chExt cx="2698527" cy="2753907"/>
          </a:xfrm>
        </p:grpSpPr>
        <p:grpSp>
          <p:nvGrpSpPr>
            <p:cNvPr id="10" name="组合 35"/>
            <p:cNvGrpSpPr>
              <a:grpSpLocks/>
            </p:cNvGrpSpPr>
            <p:nvPr/>
          </p:nvGrpSpPr>
          <p:grpSpPr bwMode="auto">
            <a:xfrm>
              <a:off x="4250917" y="3854690"/>
              <a:ext cx="2304932" cy="2000967"/>
              <a:chOff x="3683800" y="3883328"/>
              <a:chExt cx="1873202" cy="1656202"/>
            </a:xfrm>
            <a:noFill/>
          </p:grpSpPr>
          <p:grpSp>
            <p:nvGrpSpPr>
              <p:cNvPr id="11" name="组合 17"/>
              <p:cNvGrpSpPr>
                <a:grpSpLocks/>
              </p:cNvGrpSpPr>
              <p:nvPr/>
            </p:nvGrpSpPr>
            <p:grpSpPr bwMode="auto">
              <a:xfrm>
                <a:off x="3683800" y="3883328"/>
                <a:ext cx="1873202" cy="1656202"/>
                <a:chOff x="610728" y="3789834"/>
                <a:chExt cx="1873202" cy="1656202"/>
              </a:xfrm>
              <a:grpFill/>
            </p:grpSpPr>
            <p:cxnSp>
              <p:nvCxnSpPr>
                <p:cNvPr id="13" name="直接箭头连接符 12"/>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bwMode="auto">
                <a:xfrm rot="5400000" flipH="1" flipV="1">
                  <a:off x="-216579" y="4617141"/>
                  <a:ext cx="1656202"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cxnSp>
            <p:nvCxnSpPr>
              <p:cNvPr id="12" name="直接连接符 11"/>
              <p:cNvCxnSpPr/>
              <p:nvPr/>
            </p:nvCxnSpPr>
            <p:spPr bwMode="auto">
              <a:xfrm flipV="1">
                <a:off x="3780636" y="4221556"/>
                <a:ext cx="1582696" cy="1224286"/>
              </a:xfrm>
              <a:prstGeom prst="line">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0" name="TextBox 19"/>
            <p:cNvSpPr txBox="1"/>
            <p:nvPr/>
          </p:nvSpPr>
          <p:spPr bwMode="auto">
            <a:xfrm>
              <a:off x="4048748" y="3510387"/>
              <a:ext cx="642646" cy="37218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22" name="TextBox 21"/>
            <p:cNvSpPr txBox="1"/>
            <p:nvPr/>
          </p:nvSpPr>
          <p:spPr bwMode="auto">
            <a:xfrm>
              <a:off x="6364422" y="5855658"/>
              <a:ext cx="382853" cy="40863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grpSp>
        <p:nvGrpSpPr>
          <p:cNvPr id="24" name="组合 23"/>
          <p:cNvGrpSpPr/>
          <p:nvPr/>
        </p:nvGrpSpPr>
        <p:grpSpPr>
          <a:xfrm>
            <a:off x="6726973" y="3588581"/>
            <a:ext cx="2755994" cy="2673792"/>
            <a:chOff x="6598381" y="3588581"/>
            <a:chExt cx="2755994" cy="2673792"/>
          </a:xfrm>
        </p:grpSpPr>
        <p:grpSp>
          <p:nvGrpSpPr>
            <p:cNvPr id="15" name="组合 34"/>
            <p:cNvGrpSpPr>
              <a:grpSpLocks/>
            </p:cNvGrpSpPr>
            <p:nvPr/>
          </p:nvGrpSpPr>
          <p:grpSpPr bwMode="auto">
            <a:xfrm>
              <a:off x="6858017" y="3854690"/>
              <a:ext cx="2304932" cy="2000967"/>
              <a:chOff x="6348097" y="3883328"/>
              <a:chExt cx="1873201" cy="1656202"/>
            </a:xfrm>
            <a:noFill/>
          </p:grpSpPr>
          <p:grpSp>
            <p:nvGrpSpPr>
              <p:cNvPr id="16" name="组合 25"/>
              <p:cNvGrpSpPr>
                <a:grpSpLocks/>
              </p:cNvGrpSpPr>
              <p:nvPr/>
            </p:nvGrpSpPr>
            <p:grpSpPr bwMode="auto">
              <a:xfrm>
                <a:off x="6348097" y="3883328"/>
                <a:ext cx="1873201" cy="1656202"/>
                <a:chOff x="610729" y="3789834"/>
                <a:chExt cx="1873201" cy="1656202"/>
              </a:xfrm>
              <a:grpFill/>
            </p:grpSpPr>
            <p:cxnSp>
              <p:nvCxnSpPr>
                <p:cNvPr id="18" name="直接箭头连接符 17"/>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bwMode="auto">
                <a:xfrm rot="5400000" flipH="1" flipV="1">
                  <a:off x="-216578" y="4617141"/>
                  <a:ext cx="1656202" cy="1587"/>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
            <p:nvSpPr>
              <p:cNvPr id="17" name="任意多边形 16"/>
              <p:cNvSpPr/>
              <p:nvPr/>
            </p:nvSpPr>
            <p:spPr bwMode="auto">
              <a:xfrm>
                <a:off x="6578278" y="4102414"/>
                <a:ext cx="1396964" cy="1191889"/>
              </a:xfrm>
              <a:custGeom>
                <a:avLst/>
                <a:gdLst>
                  <a:gd name="connsiteX0" fmla="*/ 0 w 1397000"/>
                  <a:gd name="connsiteY0" fmla="*/ 889000 h 889000"/>
                  <a:gd name="connsiteX1" fmla="*/ 508000 w 1397000"/>
                  <a:gd name="connsiteY1" fmla="*/ 190500 h 889000"/>
                  <a:gd name="connsiteX2" fmla="*/ 1397000 w 1397000"/>
                  <a:gd name="connsiteY2" fmla="*/ 0 h 889000"/>
                </a:gdLst>
                <a:ahLst/>
                <a:cxnLst>
                  <a:cxn ang="0">
                    <a:pos x="connsiteX0" y="connsiteY0"/>
                  </a:cxn>
                  <a:cxn ang="0">
                    <a:pos x="connsiteX1" y="connsiteY1"/>
                  </a:cxn>
                  <a:cxn ang="0">
                    <a:pos x="connsiteX2" y="connsiteY2"/>
                  </a:cxn>
                </a:cxnLst>
                <a:rect l="l" t="t" r="r" b="b"/>
                <a:pathLst>
                  <a:path w="1397000" h="889000">
                    <a:moveTo>
                      <a:pt x="0" y="889000"/>
                    </a:moveTo>
                    <a:cubicBezTo>
                      <a:pt x="137583" y="613833"/>
                      <a:pt x="275167" y="338667"/>
                      <a:pt x="508000" y="190500"/>
                    </a:cubicBezTo>
                    <a:cubicBezTo>
                      <a:pt x="740833" y="42333"/>
                      <a:pt x="1068916" y="21166"/>
                      <a:pt x="1397000" y="0"/>
                    </a:cubicBezTo>
                  </a:path>
                </a:pathLst>
              </a:cu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lIns="72000" tIns="72000" rIns="72000" bIns="72000">
                <a:spAutoFit/>
              </a:bodyPr>
              <a:lstStyle/>
              <a:p>
                <a:pPr>
                  <a:spcBef>
                    <a:spcPct val="50000"/>
                  </a:spcBef>
                  <a:buFont typeface="Wingdings" pitchFamily="2" charset="2"/>
                  <a:buChar char="Ø"/>
                  <a:defRPr/>
                </a:pPr>
                <a:endParaRPr lang="zh-CN" altLang="en-US" sz="1500" b="1">
                  <a:solidFill>
                    <a:schemeClr val="bg1"/>
                  </a:solidFill>
                  <a:ea typeface="楷体_GB2312" pitchFamily="49" charset="-122"/>
                </a:endParaRPr>
              </a:p>
            </p:txBody>
          </p:sp>
        </p:grpSp>
        <p:sp>
          <p:nvSpPr>
            <p:cNvPr id="21" name="TextBox 20"/>
            <p:cNvSpPr txBox="1"/>
            <p:nvPr/>
          </p:nvSpPr>
          <p:spPr bwMode="auto">
            <a:xfrm>
              <a:off x="6598381" y="3588581"/>
              <a:ext cx="642646" cy="37218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23" name="TextBox 22"/>
            <p:cNvSpPr txBox="1"/>
            <p:nvPr/>
          </p:nvSpPr>
          <p:spPr bwMode="auto">
            <a:xfrm>
              <a:off x="8971522" y="5853737"/>
              <a:ext cx="382853" cy="40863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spTree>
    <p:extLst>
      <p:ext uri="{BB962C8B-B14F-4D97-AF65-F5344CB8AC3E}">
        <p14:creationId xmlns:p14="http://schemas.microsoft.com/office/powerpoint/2010/main" val="49789888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j-ea"/>
                <a:ea typeface="+mj-ea"/>
              </a:rPr>
              <a:t>B. Markowitz portfolio theory</a:t>
            </a:r>
            <a:endParaRPr lang="zh-CN" altLang="en-US" dirty="0">
              <a:latin typeface="+mj-ea"/>
              <a:ea typeface="+mj-ea"/>
            </a:endParaRPr>
          </a:p>
        </p:txBody>
      </p:sp>
      <p:sp>
        <p:nvSpPr>
          <p:cNvPr id="3" name="文本占位符 2"/>
          <p:cNvSpPr>
            <a:spLocks noGrp="1"/>
          </p:cNvSpPr>
          <p:nvPr>
            <p:ph type="body" sz="quarter" idx="10"/>
          </p:nvPr>
        </p:nvSpPr>
        <p:spPr/>
        <p:txBody>
          <a:bodyPr/>
          <a:lstStyle/>
          <a:p>
            <a:r>
              <a:rPr lang="en-US" altLang="zh-CN" dirty="0" smtClean="0"/>
              <a:t>Mean Variance Model</a:t>
            </a:r>
          </a:p>
          <a:p>
            <a:pPr lvl="1"/>
            <a:r>
              <a:rPr lang="en-US" altLang="zh-CN" dirty="0" smtClean="0"/>
              <a:t>Return: E(R)</a:t>
            </a:r>
          </a:p>
          <a:p>
            <a:pPr lvl="1"/>
            <a:r>
              <a:rPr lang="en-US" altLang="zh-CN" dirty="0" smtClean="0"/>
              <a:t>Risk: σ</a:t>
            </a:r>
          </a:p>
          <a:p>
            <a:r>
              <a:rPr lang="en-US" altLang="zh-CN" dirty="0" smtClean="0"/>
              <a:t>Risk Aversion</a:t>
            </a:r>
          </a:p>
          <a:p>
            <a:endParaRPr lang="zh-CN" altLang="en-US" dirty="0"/>
          </a:p>
        </p:txBody>
      </p:sp>
      <p:grpSp>
        <p:nvGrpSpPr>
          <p:cNvPr id="4" name="Group 58"/>
          <p:cNvGrpSpPr>
            <a:grpSpLocks/>
          </p:cNvGrpSpPr>
          <p:nvPr/>
        </p:nvGrpSpPr>
        <p:grpSpPr bwMode="auto">
          <a:xfrm>
            <a:off x="4761666" y="1563610"/>
            <a:ext cx="3492500" cy="2698750"/>
            <a:chOff x="3560" y="799"/>
            <a:chExt cx="2200" cy="1700"/>
          </a:xfrm>
        </p:grpSpPr>
        <p:pic>
          <p:nvPicPr>
            <p:cNvPr id="5" name="Picture 16" descr="27d647eed89c6fe8b3fb9522">
              <a:hlinkClick r:id="rId2"/>
            </p:cNvPr>
            <p:cNvPicPr>
              <a:picLocks noChangeAspect="1" noChangeArrowheads="1"/>
            </p:cNvPicPr>
            <p:nvPr/>
          </p:nvPicPr>
          <p:blipFill>
            <a:blip r:embed="rId3" cstate="print"/>
            <a:srcRect/>
            <a:stretch>
              <a:fillRect/>
            </a:stretch>
          </p:blipFill>
          <p:spPr bwMode="auto">
            <a:xfrm>
              <a:off x="4195" y="799"/>
              <a:ext cx="930" cy="1225"/>
            </a:xfrm>
            <a:prstGeom prst="rect">
              <a:avLst/>
            </a:prstGeom>
            <a:noFill/>
            <a:ln w="9525">
              <a:noFill/>
              <a:miter lim="800000"/>
              <a:headEnd/>
              <a:tailEnd/>
            </a:ln>
          </p:spPr>
        </p:pic>
        <p:sp>
          <p:nvSpPr>
            <p:cNvPr id="6" name="Text Box 17"/>
            <p:cNvSpPr txBox="1">
              <a:spLocks noChangeArrowheads="1"/>
            </p:cNvSpPr>
            <p:nvPr/>
          </p:nvSpPr>
          <p:spPr bwMode="auto">
            <a:xfrm>
              <a:off x="3560" y="2115"/>
              <a:ext cx="2200" cy="384"/>
            </a:xfrm>
            <a:prstGeom prst="rect">
              <a:avLst/>
            </a:prstGeom>
            <a:noFill/>
            <a:ln w="9525">
              <a:noFill/>
              <a:miter lim="800000"/>
              <a:headEnd/>
              <a:tailEnd/>
            </a:ln>
          </p:spPr>
          <p:txBody>
            <a:bodyPr>
              <a:spAutoFit/>
            </a:bodyPr>
            <a:lstStyle/>
            <a:p>
              <a:pPr algn="ctr">
                <a:lnSpc>
                  <a:spcPct val="120000"/>
                </a:lnSpc>
                <a:spcBef>
                  <a:spcPts val="0"/>
                </a:spcBef>
                <a:buClr>
                  <a:srgbClr val="990000"/>
                </a:buClr>
                <a:buFont typeface="Wingdings" pitchFamily="2" charset="2"/>
                <a:buNone/>
              </a:pPr>
              <a:r>
                <a:rPr lang="en-US" altLang="zh-CN" sz="1400" dirty="0"/>
                <a:t>Harry M. Markowitz </a:t>
              </a:r>
              <a:r>
                <a:rPr lang="zh-CN" altLang="en-US" sz="1400" dirty="0"/>
                <a:t>（</a:t>
              </a:r>
              <a:r>
                <a:rPr lang="en-US" altLang="zh-CN" sz="1400" dirty="0"/>
                <a:t>1927-</a:t>
              </a:r>
              <a:r>
                <a:rPr lang="zh-CN" altLang="en-US" sz="1400" dirty="0"/>
                <a:t>）</a:t>
              </a:r>
            </a:p>
            <a:p>
              <a:pPr algn="ctr">
                <a:lnSpc>
                  <a:spcPct val="120000"/>
                </a:lnSpc>
                <a:spcBef>
                  <a:spcPts val="0"/>
                </a:spcBef>
                <a:buClr>
                  <a:srgbClr val="990000"/>
                </a:buClr>
                <a:buFont typeface="Wingdings" pitchFamily="2" charset="2"/>
                <a:buNone/>
              </a:pPr>
              <a:r>
                <a:rPr lang="en-US" altLang="zh-CN" sz="1400" dirty="0"/>
                <a:t>1990</a:t>
              </a:r>
              <a:r>
                <a:rPr lang="zh-CN" altLang="en-US" sz="1400" dirty="0"/>
                <a:t>年诺贝尔经济学奖获得者 </a:t>
              </a:r>
            </a:p>
          </p:txBody>
        </p:sp>
      </p:grpSp>
      <p:grpSp>
        <p:nvGrpSpPr>
          <p:cNvPr id="7" name="组合 16"/>
          <p:cNvGrpSpPr>
            <a:grpSpLocks/>
          </p:cNvGrpSpPr>
          <p:nvPr/>
        </p:nvGrpSpPr>
        <p:grpSpPr bwMode="auto">
          <a:xfrm>
            <a:off x="1260965" y="3164012"/>
            <a:ext cx="2831125" cy="2712892"/>
            <a:chOff x="387104" y="3494124"/>
            <a:chExt cx="2300835" cy="2245462"/>
          </a:xfrm>
          <a:noFill/>
        </p:grpSpPr>
        <p:cxnSp>
          <p:nvCxnSpPr>
            <p:cNvPr id="8" name="直接箭头连接符 7"/>
            <p:cNvCxnSpPr/>
            <p:nvPr/>
          </p:nvCxnSpPr>
          <p:spPr bwMode="auto">
            <a:xfrm>
              <a:off x="612316" y="5444447"/>
              <a:ext cx="1871614" cy="1588"/>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9" name="直接箭头连接符 8"/>
            <p:cNvCxnSpPr/>
            <p:nvPr/>
          </p:nvCxnSpPr>
          <p:spPr bwMode="auto">
            <a:xfrm rot="5400000" flipH="1" flipV="1">
              <a:off x="-216578" y="4617141"/>
              <a:ext cx="1656202" cy="1587"/>
            </a:xfrm>
            <a:prstGeom prst="straightConnector1">
              <a:avLst/>
            </a:prstGeom>
            <a:grpFill/>
            <a:ln>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0" name="任意多边形 9"/>
            <p:cNvSpPr/>
            <p:nvPr/>
          </p:nvSpPr>
          <p:spPr bwMode="auto">
            <a:xfrm>
              <a:off x="820372" y="3983642"/>
              <a:ext cx="1484175" cy="1191889"/>
            </a:xfrm>
            <a:custGeom>
              <a:avLst/>
              <a:gdLst>
                <a:gd name="connsiteX0" fmla="*/ 1549400 w 1549400"/>
                <a:gd name="connsiteY0" fmla="*/ 0 h 1181100"/>
                <a:gd name="connsiteX1" fmla="*/ 965200 w 1549400"/>
                <a:gd name="connsiteY1" fmla="*/ 850900 h 1181100"/>
                <a:gd name="connsiteX2" fmla="*/ 0 w 1549400"/>
                <a:gd name="connsiteY2" fmla="*/ 1181100 h 1181100"/>
              </a:gdLst>
              <a:ahLst/>
              <a:cxnLst>
                <a:cxn ang="0">
                  <a:pos x="connsiteX0" y="connsiteY0"/>
                </a:cxn>
                <a:cxn ang="0">
                  <a:pos x="connsiteX1" y="connsiteY1"/>
                </a:cxn>
                <a:cxn ang="0">
                  <a:pos x="connsiteX2" y="connsiteY2"/>
                </a:cxn>
              </a:cxnLst>
              <a:rect l="l" t="t" r="r" b="b"/>
              <a:pathLst>
                <a:path w="1549400" h="1181100">
                  <a:moveTo>
                    <a:pt x="1549400" y="0"/>
                  </a:moveTo>
                  <a:cubicBezTo>
                    <a:pt x="1386416" y="327025"/>
                    <a:pt x="1223433" y="654050"/>
                    <a:pt x="965200" y="850900"/>
                  </a:cubicBezTo>
                  <a:cubicBezTo>
                    <a:pt x="706967" y="1047750"/>
                    <a:pt x="184150" y="1134533"/>
                    <a:pt x="0" y="1181100"/>
                  </a:cubicBezTo>
                </a:path>
              </a:pathLst>
            </a:cu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wrap="square" lIns="72000" tIns="72000" rIns="72000" bIns="72000">
              <a:spAutoFit/>
            </a:bodyPr>
            <a:lstStyle/>
            <a:p>
              <a:pPr>
                <a:spcBef>
                  <a:spcPct val="50000"/>
                </a:spcBef>
                <a:buFont typeface="Wingdings" pitchFamily="2" charset="2"/>
                <a:buChar char="Ø"/>
                <a:defRPr/>
              </a:pPr>
              <a:endParaRPr lang="zh-CN" altLang="en-US" sz="1500" b="1">
                <a:solidFill>
                  <a:schemeClr val="bg1"/>
                </a:solidFill>
                <a:ea typeface="楷体_GB2312" pitchFamily="49" charset="-122"/>
              </a:endParaRPr>
            </a:p>
          </p:txBody>
        </p:sp>
        <p:sp>
          <p:nvSpPr>
            <p:cNvPr id="11" name="TextBox 10"/>
            <p:cNvSpPr txBox="1"/>
            <p:nvPr/>
          </p:nvSpPr>
          <p:spPr>
            <a:xfrm>
              <a:off x="387104" y="3494124"/>
              <a:ext cx="522274" cy="308057"/>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n-US" altLang="zh-CN" sz="1400" dirty="0">
                  <a:solidFill>
                    <a:schemeClr val="tx1"/>
                  </a:solidFill>
                  <a:latin typeface="Arial" pitchFamily="34" charset="0"/>
                  <a:cs typeface="Arial" pitchFamily="34" charset="0"/>
                </a:rPr>
                <a:t>E(R)</a:t>
              </a:r>
              <a:endParaRPr lang="zh-CN" altLang="en-US" sz="1400" dirty="0">
                <a:solidFill>
                  <a:schemeClr val="bg1"/>
                </a:solidFill>
                <a:latin typeface="Arial" pitchFamily="34" charset="0"/>
                <a:cs typeface="Arial" pitchFamily="34" charset="0"/>
              </a:endParaRPr>
            </a:p>
          </p:txBody>
        </p:sp>
        <p:sp>
          <p:nvSpPr>
            <p:cNvPr id="12" name="TextBox 11"/>
            <p:cNvSpPr txBox="1"/>
            <p:nvPr/>
          </p:nvSpPr>
          <p:spPr>
            <a:xfrm>
              <a:off x="2376797" y="5401358"/>
              <a:ext cx="311142" cy="338228"/>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a:spAutoFit/>
            </a:bodyPr>
            <a:lstStyle/>
            <a:p>
              <a:pPr>
                <a:defRPr/>
              </a:pPr>
              <a:r>
                <a:rPr lang="el-GR" altLang="zh-CN" sz="1600" dirty="0">
                  <a:solidFill>
                    <a:schemeClr val="tx1"/>
                  </a:solidFill>
                  <a:latin typeface="Arial" pitchFamily="34" charset="0"/>
                  <a:cs typeface="Arial" pitchFamily="34" charset="0"/>
                </a:rPr>
                <a:t>σ</a:t>
              </a:r>
              <a:endParaRPr lang="zh-CN" altLang="en-US" sz="1600" dirty="0">
                <a:solidFill>
                  <a:schemeClr val="tx1"/>
                </a:solidFill>
                <a:latin typeface="Arial" pitchFamily="34" charset="0"/>
                <a:cs typeface="Arial" pitchFamily="34" charset="0"/>
              </a:endParaRPr>
            </a:p>
          </p:txBody>
        </p:sp>
      </p:grpSp>
    </p:spTree>
    <p:extLst>
      <p:ext uri="{BB962C8B-B14F-4D97-AF65-F5344CB8AC3E}">
        <p14:creationId xmlns:p14="http://schemas.microsoft.com/office/powerpoint/2010/main" val="387365476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C. Effects of correlation on diversification benefits</a:t>
            </a:r>
            <a:endParaRPr lang="en-US" altLang="zh-CN" dirty="0"/>
          </a:p>
        </p:txBody>
      </p:sp>
      <p:cxnSp>
        <p:nvCxnSpPr>
          <p:cNvPr id="6" name="直接箭头连接符 5"/>
          <p:cNvCxnSpPr/>
          <p:nvPr/>
        </p:nvCxnSpPr>
        <p:spPr>
          <a:xfrm>
            <a:off x="11801475" y="4393702"/>
            <a:ext cx="914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639763" y="1120878"/>
            <a:ext cx="8424610" cy="5158855"/>
            <a:chOff x="639763" y="1120878"/>
            <a:chExt cx="8424610" cy="5158855"/>
          </a:xfrm>
        </p:grpSpPr>
        <p:grpSp>
          <p:nvGrpSpPr>
            <p:cNvPr id="8" name="Group 2"/>
            <p:cNvGrpSpPr/>
            <p:nvPr/>
          </p:nvGrpSpPr>
          <p:grpSpPr>
            <a:xfrm>
              <a:off x="639763" y="1120878"/>
              <a:ext cx="8424610" cy="5158855"/>
              <a:chOff x="250825" y="1412875"/>
              <a:chExt cx="8114506" cy="4693119"/>
            </a:xfrm>
          </p:grpSpPr>
          <p:sp>
            <p:nvSpPr>
              <p:cNvPr id="9" name="任意多边形 8"/>
              <p:cNvSpPr/>
              <p:nvPr/>
            </p:nvSpPr>
            <p:spPr bwMode="auto">
              <a:xfrm>
                <a:off x="4413250" y="2252663"/>
                <a:ext cx="2125663" cy="3216275"/>
              </a:xfrm>
              <a:custGeom>
                <a:avLst/>
                <a:gdLst>
                  <a:gd name="connsiteX0" fmla="*/ 2125980 w 2125980"/>
                  <a:gd name="connsiteY0" fmla="*/ 0 h 3215640"/>
                  <a:gd name="connsiteX1" fmla="*/ 297180 w 2125980"/>
                  <a:gd name="connsiteY1" fmla="*/ 1402080 h 3215640"/>
                  <a:gd name="connsiteX2" fmla="*/ 342900 w 2125980"/>
                  <a:gd name="connsiteY2" fmla="*/ 3215640 h 3215640"/>
                </a:gdLst>
                <a:ahLst/>
                <a:cxnLst>
                  <a:cxn ang="0">
                    <a:pos x="connsiteX0" y="connsiteY0"/>
                  </a:cxn>
                  <a:cxn ang="0">
                    <a:pos x="connsiteX1" y="connsiteY1"/>
                  </a:cxn>
                  <a:cxn ang="0">
                    <a:pos x="connsiteX2" y="connsiteY2"/>
                  </a:cxn>
                </a:cxnLst>
                <a:rect l="l" t="t" r="r" b="b"/>
                <a:pathLst>
                  <a:path w="2125980" h="3215640">
                    <a:moveTo>
                      <a:pt x="2125980" y="0"/>
                    </a:moveTo>
                    <a:cubicBezTo>
                      <a:pt x="1360170" y="433070"/>
                      <a:pt x="594360" y="866140"/>
                      <a:pt x="297180" y="1402080"/>
                    </a:cubicBezTo>
                    <a:cubicBezTo>
                      <a:pt x="0" y="1938020"/>
                      <a:pt x="171450" y="2576830"/>
                      <a:pt x="342900" y="3215640"/>
                    </a:cubicBezTo>
                  </a:path>
                </a:pathLst>
              </a:custGeom>
              <a:noFill/>
              <a:ln w="38100" cap="sq" cmpd="sng" algn="ctr">
                <a:solidFill>
                  <a:schemeClr val="accent2">
                    <a:lumMod val="75000"/>
                  </a:schemeClr>
                </a:solidFill>
                <a:prstDash val="solid"/>
                <a:round/>
                <a:headEnd type="none" w="sm" len="sm"/>
                <a:tailEnd type="none" w="sm" len="sm"/>
              </a:ln>
              <a:effectLst/>
            </p:spPr>
            <p:txBody>
              <a:bodyPr wrap="none"/>
              <a:lstStyle/>
              <a:p>
                <a:pPr>
                  <a:defRPr/>
                </a:pPr>
                <a:endParaRPr lang="zh-CN" altLang="en-US">
                  <a:latin typeface="Verdana" pitchFamily="34" charset="0"/>
                  <a:ea typeface="宋体" pitchFamily="2" charset="-122"/>
                </a:endParaRPr>
              </a:p>
            </p:txBody>
          </p:sp>
          <p:cxnSp>
            <p:nvCxnSpPr>
              <p:cNvPr id="12" name="直接连接符 11"/>
              <p:cNvCxnSpPr>
                <a:cxnSpLocks noChangeShapeType="1"/>
              </p:cNvCxnSpPr>
              <p:nvPr/>
            </p:nvCxnSpPr>
            <p:spPr bwMode="auto">
              <a:xfrm rot="10800000" flipV="1">
                <a:off x="900113" y="2232025"/>
                <a:ext cx="5643562" cy="1571625"/>
              </a:xfrm>
              <a:prstGeom prst="line">
                <a:avLst/>
              </a:prstGeom>
              <a:noFill/>
              <a:ln w="38100" cap="sq" algn="ctr">
                <a:solidFill>
                  <a:schemeClr val="accent6">
                    <a:lumMod val="50000"/>
                  </a:schemeClr>
                </a:solidFill>
                <a:round/>
                <a:headEnd type="none" w="sm" len="sm"/>
                <a:tailEnd type="none" w="sm" len="sm"/>
              </a:ln>
            </p:spPr>
          </p:cxnSp>
          <p:cxnSp>
            <p:nvCxnSpPr>
              <p:cNvPr id="13" name="直接连接符 12"/>
              <p:cNvCxnSpPr>
                <a:cxnSpLocks noChangeShapeType="1"/>
              </p:cNvCxnSpPr>
              <p:nvPr/>
            </p:nvCxnSpPr>
            <p:spPr bwMode="auto">
              <a:xfrm>
                <a:off x="900113" y="3803650"/>
                <a:ext cx="3857625" cy="1643063"/>
              </a:xfrm>
              <a:prstGeom prst="line">
                <a:avLst/>
              </a:prstGeom>
              <a:noFill/>
              <a:ln w="38100" cap="sq" algn="ctr">
                <a:solidFill>
                  <a:schemeClr val="accent6">
                    <a:lumMod val="50000"/>
                  </a:schemeClr>
                </a:solidFill>
                <a:round/>
                <a:headEnd type="none" w="sm" len="sm"/>
                <a:tailEnd type="none" w="sm" len="sm"/>
              </a:ln>
            </p:spPr>
          </p:cxnSp>
          <p:sp>
            <p:nvSpPr>
              <p:cNvPr id="14" name="任意多边形 13"/>
              <p:cNvSpPr/>
              <p:nvPr/>
            </p:nvSpPr>
            <p:spPr bwMode="auto">
              <a:xfrm>
                <a:off x="3362325" y="2236788"/>
                <a:ext cx="3162300" cy="3200400"/>
              </a:xfrm>
              <a:custGeom>
                <a:avLst/>
                <a:gdLst>
                  <a:gd name="connsiteX0" fmla="*/ 3162300 w 3162300"/>
                  <a:gd name="connsiteY0" fmla="*/ 0 h 3200400"/>
                  <a:gd name="connsiteX1" fmla="*/ 297180 w 3162300"/>
                  <a:gd name="connsiteY1" fmla="*/ 1722120 h 3200400"/>
                  <a:gd name="connsiteX2" fmla="*/ 1379220 w 3162300"/>
                  <a:gd name="connsiteY2" fmla="*/ 3200400 h 3200400"/>
                </a:gdLst>
                <a:ahLst/>
                <a:cxnLst>
                  <a:cxn ang="0">
                    <a:pos x="connsiteX0" y="connsiteY0"/>
                  </a:cxn>
                  <a:cxn ang="0">
                    <a:pos x="connsiteX1" y="connsiteY1"/>
                  </a:cxn>
                  <a:cxn ang="0">
                    <a:pos x="connsiteX2" y="connsiteY2"/>
                  </a:cxn>
                </a:cxnLst>
                <a:rect l="l" t="t" r="r" b="b"/>
                <a:pathLst>
                  <a:path w="3162300" h="3200400">
                    <a:moveTo>
                      <a:pt x="3162300" y="0"/>
                    </a:moveTo>
                    <a:cubicBezTo>
                      <a:pt x="1878330" y="594360"/>
                      <a:pt x="594360" y="1188720"/>
                      <a:pt x="297180" y="1722120"/>
                    </a:cubicBezTo>
                    <a:cubicBezTo>
                      <a:pt x="0" y="2255520"/>
                      <a:pt x="689610" y="2727960"/>
                      <a:pt x="1379220" y="3200400"/>
                    </a:cubicBezTo>
                  </a:path>
                </a:pathLst>
              </a:custGeom>
              <a:noFill/>
              <a:ln w="38100" cap="sq" cmpd="sng" algn="ctr">
                <a:solidFill>
                  <a:schemeClr val="accent3">
                    <a:lumMod val="75000"/>
                  </a:schemeClr>
                </a:solidFill>
                <a:prstDash val="solid"/>
                <a:round/>
                <a:headEnd type="none" w="sm" len="sm"/>
                <a:tailEnd type="none" w="sm" len="sm"/>
              </a:ln>
              <a:effectLst/>
            </p:spPr>
            <p:txBody>
              <a:bodyPr wrap="none"/>
              <a:lstStyle/>
              <a:p>
                <a:pPr>
                  <a:defRPr/>
                </a:pPr>
                <a:endParaRPr lang="zh-CN" altLang="en-US">
                  <a:latin typeface="Verdana" pitchFamily="34" charset="0"/>
                  <a:ea typeface="宋体" pitchFamily="2" charset="-122"/>
                </a:endParaRPr>
              </a:p>
            </p:txBody>
          </p:sp>
          <p:sp>
            <p:nvSpPr>
              <p:cNvPr id="15" name="任意多边形 14"/>
              <p:cNvSpPr>
                <a:spLocks/>
              </p:cNvSpPr>
              <p:nvPr/>
            </p:nvSpPr>
            <p:spPr bwMode="auto">
              <a:xfrm>
                <a:off x="2238847" y="2268538"/>
                <a:ext cx="4237037" cy="3168650"/>
              </a:xfrm>
              <a:custGeom>
                <a:avLst/>
                <a:gdLst>
                  <a:gd name="T0" fmla="*/ 4236720 w 4236720"/>
                  <a:gd name="T1" fmla="*/ 0 h 3169920"/>
                  <a:gd name="T2" fmla="*/ 289560 w 4236720"/>
                  <a:gd name="T3" fmla="*/ 1524000 h 3169920"/>
                  <a:gd name="T4" fmla="*/ 2499360 w 4236720"/>
                  <a:gd name="T5" fmla="*/ 3169920 h 3169920"/>
                  <a:gd name="T6" fmla="*/ 0 60000 65536"/>
                  <a:gd name="T7" fmla="*/ 0 60000 65536"/>
                  <a:gd name="T8" fmla="*/ 0 60000 65536"/>
                </a:gdLst>
                <a:ahLst/>
                <a:cxnLst>
                  <a:cxn ang="T6">
                    <a:pos x="T0" y="T1"/>
                  </a:cxn>
                  <a:cxn ang="T7">
                    <a:pos x="T2" y="T3"/>
                  </a:cxn>
                  <a:cxn ang="T8">
                    <a:pos x="T4" y="T5"/>
                  </a:cxn>
                </a:cxnLst>
                <a:rect l="0" t="0" r="r" b="b"/>
                <a:pathLst>
                  <a:path w="4236720" h="3169920">
                    <a:moveTo>
                      <a:pt x="4236720" y="0"/>
                    </a:moveTo>
                    <a:cubicBezTo>
                      <a:pt x="2407920" y="497840"/>
                      <a:pt x="579120" y="995680"/>
                      <a:pt x="289560" y="1524000"/>
                    </a:cubicBezTo>
                    <a:cubicBezTo>
                      <a:pt x="0" y="2052320"/>
                      <a:pt x="1249680" y="2611120"/>
                      <a:pt x="2499360" y="3169920"/>
                    </a:cubicBezTo>
                  </a:path>
                </a:pathLst>
              </a:custGeom>
              <a:noFill/>
              <a:ln w="38100" cap="sq" cmpd="sng" algn="ctr">
                <a:solidFill>
                  <a:schemeClr val="accent5">
                    <a:lumMod val="75000"/>
                  </a:schemeClr>
                </a:solidFill>
                <a:prstDash val="solid"/>
                <a:round/>
                <a:headEnd type="none" w="sm" len="sm"/>
                <a:tailEnd type="none" w="sm" len="sm"/>
              </a:ln>
            </p:spPr>
            <p:txBody>
              <a:bodyPr wrap="none"/>
              <a:lstStyle/>
              <a:p>
                <a:endParaRPr lang="zh-CN" altLang="en-US"/>
              </a:p>
            </p:txBody>
          </p:sp>
          <p:sp>
            <p:nvSpPr>
              <p:cNvPr id="16" name="TextBox 31"/>
              <p:cNvSpPr txBox="1">
                <a:spLocks noChangeArrowheads="1"/>
              </p:cNvSpPr>
              <p:nvPr/>
            </p:nvSpPr>
            <p:spPr bwMode="auto">
              <a:xfrm>
                <a:off x="250825" y="1412875"/>
                <a:ext cx="1214438" cy="363988"/>
              </a:xfrm>
              <a:prstGeom prst="rect">
                <a:avLst/>
              </a:prstGeom>
              <a:noFill/>
              <a:ln w="9525">
                <a:noFill/>
                <a:miter lim="800000"/>
                <a:headEnd/>
                <a:tailEnd/>
              </a:ln>
            </p:spPr>
            <p:txBody>
              <a:bodyPr>
                <a:spAutoFit/>
              </a:bodyPr>
              <a:lstStyle/>
              <a:p>
                <a:r>
                  <a:rPr lang="en-US" altLang="zh-CN" sz="2000" dirty="0" smtClean="0"/>
                  <a:t>E(R)</a:t>
                </a:r>
                <a:endParaRPr lang="zh-CN" altLang="en-US" sz="2000" dirty="0"/>
              </a:p>
            </p:txBody>
          </p:sp>
          <p:sp>
            <p:nvSpPr>
              <p:cNvPr id="17" name="TextBox 32"/>
              <p:cNvSpPr txBox="1">
                <a:spLocks noChangeArrowheads="1"/>
              </p:cNvSpPr>
              <p:nvPr/>
            </p:nvSpPr>
            <p:spPr bwMode="auto">
              <a:xfrm>
                <a:off x="7436644" y="5686008"/>
                <a:ext cx="928687" cy="419986"/>
              </a:xfrm>
              <a:prstGeom prst="rect">
                <a:avLst/>
              </a:prstGeom>
              <a:noFill/>
              <a:ln w="9525">
                <a:noFill/>
                <a:miter lim="800000"/>
                <a:headEnd/>
                <a:tailEnd/>
              </a:ln>
            </p:spPr>
            <p:txBody>
              <a:bodyPr>
                <a:spAutoFit/>
              </a:bodyPr>
              <a:lstStyle/>
              <a:p>
                <a:r>
                  <a:rPr lang="el-GR" altLang="zh-CN" sz="2400" dirty="0" smtClean="0"/>
                  <a:t>σ</a:t>
                </a:r>
                <a:endParaRPr lang="zh-CN" altLang="en-US" sz="2400" dirty="0"/>
              </a:p>
            </p:txBody>
          </p:sp>
          <p:sp>
            <p:nvSpPr>
              <p:cNvPr id="18" name="TextBox 17"/>
              <p:cNvSpPr txBox="1">
                <a:spLocks noChangeArrowheads="1"/>
              </p:cNvSpPr>
              <p:nvPr/>
            </p:nvSpPr>
            <p:spPr bwMode="auto">
              <a:xfrm>
                <a:off x="973139" y="4656931"/>
                <a:ext cx="1000125" cy="369887"/>
              </a:xfrm>
              <a:prstGeom prst="rect">
                <a:avLst/>
              </a:prstGeom>
              <a:noFill/>
              <a:ln w="9525">
                <a:noFill/>
                <a:miter lim="800000"/>
                <a:headEnd/>
                <a:tailEnd/>
              </a:ln>
            </p:spPr>
            <p:txBody>
              <a:bodyPr>
                <a:spAutoFit/>
              </a:bodyPr>
              <a:lstStyle/>
              <a:p>
                <a:r>
                  <a:rPr lang="en-US" altLang="zh-CN" sz="2000" dirty="0"/>
                  <a:t>ρ=-1</a:t>
                </a:r>
                <a:endParaRPr lang="zh-CN" altLang="en-US" sz="2000" dirty="0"/>
              </a:p>
            </p:txBody>
          </p:sp>
          <p:cxnSp>
            <p:nvCxnSpPr>
              <p:cNvPr id="19" name="直接连接符 18"/>
              <p:cNvCxnSpPr>
                <a:cxnSpLocks noChangeShapeType="1"/>
              </p:cNvCxnSpPr>
              <p:nvPr/>
            </p:nvCxnSpPr>
            <p:spPr bwMode="auto">
              <a:xfrm rot="5400000">
                <a:off x="4043363" y="2946400"/>
                <a:ext cx="3214688" cy="1785937"/>
              </a:xfrm>
              <a:prstGeom prst="line">
                <a:avLst/>
              </a:prstGeom>
              <a:noFill/>
              <a:ln w="38100" cap="sq" algn="ctr">
                <a:solidFill>
                  <a:schemeClr val="accent1">
                    <a:lumMod val="75000"/>
                  </a:schemeClr>
                </a:solidFill>
                <a:round/>
                <a:headEnd type="none" w="sm" len="sm"/>
                <a:tailEnd type="none" w="sm" len="sm"/>
              </a:ln>
            </p:spPr>
          </p:cxnSp>
          <p:sp>
            <p:nvSpPr>
              <p:cNvPr id="20" name="TextBox 19"/>
              <p:cNvSpPr txBox="1">
                <a:spLocks noChangeArrowheads="1"/>
              </p:cNvSpPr>
              <p:nvPr/>
            </p:nvSpPr>
            <p:spPr bwMode="auto">
              <a:xfrm>
                <a:off x="6043613" y="1804988"/>
                <a:ext cx="2000250" cy="368300"/>
              </a:xfrm>
              <a:prstGeom prst="rect">
                <a:avLst/>
              </a:prstGeom>
              <a:noFill/>
              <a:ln w="9525">
                <a:noFill/>
                <a:miter lim="800000"/>
                <a:headEnd/>
                <a:tailEnd/>
              </a:ln>
            </p:spPr>
            <p:txBody>
              <a:bodyPr>
                <a:spAutoFit/>
              </a:bodyPr>
              <a:lstStyle/>
              <a:p>
                <a:r>
                  <a:rPr lang="en-US" altLang="zh-CN"/>
                  <a:t>100% Stock A</a:t>
                </a:r>
                <a:endParaRPr lang="zh-CN" altLang="en-US"/>
              </a:p>
            </p:txBody>
          </p:sp>
          <p:sp>
            <p:nvSpPr>
              <p:cNvPr id="21" name="TextBox 20"/>
              <p:cNvSpPr txBox="1">
                <a:spLocks noChangeArrowheads="1"/>
              </p:cNvSpPr>
              <p:nvPr/>
            </p:nvSpPr>
            <p:spPr bwMode="auto">
              <a:xfrm>
                <a:off x="4829175" y="5292725"/>
                <a:ext cx="2000250" cy="369888"/>
              </a:xfrm>
              <a:prstGeom prst="rect">
                <a:avLst/>
              </a:prstGeom>
              <a:noFill/>
              <a:ln w="9525">
                <a:noFill/>
                <a:miter lim="800000"/>
                <a:headEnd/>
                <a:tailEnd/>
              </a:ln>
            </p:spPr>
            <p:txBody>
              <a:bodyPr>
                <a:spAutoFit/>
              </a:bodyPr>
              <a:lstStyle/>
              <a:p>
                <a:r>
                  <a:rPr lang="en-US" altLang="zh-CN"/>
                  <a:t>100% Stock B</a:t>
                </a:r>
                <a:endParaRPr lang="zh-CN" altLang="en-US"/>
              </a:p>
            </p:txBody>
          </p:sp>
          <p:sp>
            <p:nvSpPr>
              <p:cNvPr id="22" name="TextBox 21"/>
              <p:cNvSpPr txBox="1">
                <a:spLocks noChangeArrowheads="1"/>
              </p:cNvSpPr>
              <p:nvPr/>
            </p:nvSpPr>
            <p:spPr bwMode="auto">
              <a:xfrm>
                <a:off x="5614988" y="3732213"/>
                <a:ext cx="1000125" cy="368300"/>
              </a:xfrm>
              <a:prstGeom prst="rect">
                <a:avLst/>
              </a:prstGeom>
              <a:noFill/>
              <a:ln w="9525">
                <a:noFill/>
                <a:miter lim="800000"/>
                <a:headEnd/>
                <a:tailEnd/>
              </a:ln>
            </p:spPr>
            <p:txBody>
              <a:bodyPr>
                <a:spAutoFit/>
              </a:bodyPr>
              <a:lstStyle/>
              <a:p>
                <a:r>
                  <a:rPr lang="en-US" altLang="zh-CN" sz="2000" dirty="0"/>
                  <a:t>ρ=+1</a:t>
                </a:r>
                <a:endParaRPr lang="zh-CN" altLang="en-US" sz="2000" dirty="0"/>
              </a:p>
            </p:txBody>
          </p:sp>
          <p:sp>
            <p:nvSpPr>
              <p:cNvPr id="23" name="TextBox 22"/>
              <p:cNvSpPr txBox="1">
                <a:spLocks noChangeArrowheads="1"/>
              </p:cNvSpPr>
              <p:nvPr/>
            </p:nvSpPr>
            <p:spPr bwMode="auto">
              <a:xfrm>
                <a:off x="3686175" y="3732213"/>
                <a:ext cx="1000125" cy="368300"/>
              </a:xfrm>
              <a:prstGeom prst="rect">
                <a:avLst/>
              </a:prstGeom>
              <a:noFill/>
              <a:ln w="9525">
                <a:noFill/>
                <a:miter lim="800000"/>
                <a:headEnd/>
                <a:tailEnd/>
              </a:ln>
            </p:spPr>
            <p:txBody>
              <a:bodyPr>
                <a:spAutoFit/>
              </a:bodyPr>
              <a:lstStyle/>
              <a:p>
                <a:r>
                  <a:rPr lang="en-US" altLang="zh-CN" sz="2000"/>
                  <a:t>ρ=0.3</a:t>
                </a:r>
                <a:endParaRPr lang="zh-CN" altLang="en-US" sz="2000"/>
              </a:p>
            </p:txBody>
          </p:sp>
          <p:sp>
            <p:nvSpPr>
              <p:cNvPr id="24" name="TextBox 23"/>
              <p:cNvSpPr txBox="1">
                <a:spLocks noChangeArrowheads="1"/>
              </p:cNvSpPr>
              <p:nvPr/>
            </p:nvSpPr>
            <p:spPr bwMode="auto">
              <a:xfrm>
                <a:off x="2543175" y="3732213"/>
                <a:ext cx="1000125" cy="368300"/>
              </a:xfrm>
              <a:prstGeom prst="rect">
                <a:avLst/>
              </a:prstGeom>
              <a:noFill/>
              <a:ln w="9525">
                <a:noFill/>
                <a:miter lim="800000"/>
                <a:headEnd/>
                <a:tailEnd/>
              </a:ln>
            </p:spPr>
            <p:txBody>
              <a:bodyPr>
                <a:spAutoFit/>
              </a:bodyPr>
              <a:lstStyle/>
              <a:p>
                <a:r>
                  <a:rPr lang="en-US" altLang="zh-CN" sz="2000" dirty="0"/>
                  <a:t>ρ=-0.3</a:t>
                </a:r>
                <a:endParaRPr lang="zh-CN" altLang="en-US" sz="2000" dirty="0"/>
              </a:p>
            </p:txBody>
          </p:sp>
          <p:sp>
            <p:nvSpPr>
              <p:cNvPr id="25" name="TextBox 24"/>
              <p:cNvSpPr txBox="1">
                <a:spLocks noChangeArrowheads="1"/>
              </p:cNvSpPr>
              <p:nvPr/>
            </p:nvSpPr>
            <p:spPr bwMode="auto">
              <a:xfrm>
                <a:off x="4614863" y="3732213"/>
                <a:ext cx="1143000" cy="368300"/>
              </a:xfrm>
              <a:prstGeom prst="rect">
                <a:avLst/>
              </a:prstGeom>
              <a:noFill/>
              <a:ln w="9525">
                <a:noFill/>
                <a:miter lim="800000"/>
                <a:headEnd/>
                <a:tailEnd/>
              </a:ln>
            </p:spPr>
            <p:txBody>
              <a:bodyPr>
                <a:spAutoFit/>
              </a:bodyPr>
              <a:lstStyle/>
              <a:p>
                <a:r>
                  <a:rPr lang="en-US" altLang="zh-CN" sz="2000"/>
                  <a:t>ρ=0.8</a:t>
                </a:r>
                <a:endParaRPr lang="zh-CN" altLang="en-US" sz="2000"/>
              </a:p>
            </p:txBody>
          </p:sp>
          <p:sp>
            <p:nvSpPr>
              <p:cNvPr id="26" name="TextBox 25"/>
              <p:cNvSpPr txBox="1">
                <a:spLocks noChangeArrowheads="1"/>
              </p:cNvSpPr>
              <p:nvPr/>
            </p:nvSpPr>
            <p:spPr bwMode="auto">
              <a:xfrm>
                <a:off x="6400800" y="3019425"/>
                <a:ext cx="1500188" cy="646113"/>
              </a:xfrm>
              <a:prstGeom prst="rect">
                <a:avLst/>
              </a:prstGeom>
              <a:noFill/>
              <a:ln w="9525">
                <a:noFill/>
                <a:miter lim="800000"/>
                <a:headEnd/>
                <a:tailEnd/>
              </a:ln>
            </p:spPr>
            <p:txBody>
              <a:bodyPr>
                <a:spAutoFit/>
              </a:bodyPr>
              <a:lstStyle/>
              <a:p>
                <a:r>
                  <a:rPr lang="en-US" altLang="zh-CN" dirty="0"/>
                  <a:t>80% A +</a:t>
                </a:r>
                <a:r>
                  <a:rPr lang="zh-CN" altLang="en-US" dirty="0"/>
                  <a:t> </a:t>
                </a:r>
                <a:r>
                  <a:rPr lang="en-US" altLang="zh-CN" dirty="0"/>
                  <a:t>20% B</a:t>
                </a:r>
                <a:endParaRPr lang="zh-CN" altLang="en-US" dirty="0"/>
              </a:p>
            </p:txBody>
          </p:sp>
          <p:cxnSp>
            <p:nvCxnSpPr>
              <p:cNvPr id="27" name="直接箭头连接符 26"/>
              <p:cNvCxnSpPr>
                <a:stCxn id="26" idx="1"/>
              </p:cNvCxnSpPr>
              <p:nvPr/>
            </p:nvCxnSpPr>
            <p:spPr>
              <a:xfrm rot="10800000" flipV="1">
                <a:off x="5757863" y="3341688"/>
                <a:ext cx="642937" cy="320675"/>
              </a:xfrm>
              <a:prstGeom prst="straightConnector1">
                <a:avLst/>
              </a:prstGeom>
              <a:ln w="25400">
                <a:solidFill>
                  <a:srgbClr val="FF0000"/>
                </a:solidFill>
                <a:headEnd type="none" w="lg" len="lg"/>
                <a:tailEnd type="arrow" w="sm" len="lg"/>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614988" y="3576638"/>
                <a:ext cx="214312"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838700" y="3284538"/>
                <a:ext cx="214313"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332288" y="3141663"/>
                <a:ext cx="214312"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756025" y="2997200"/>
                <a:ext cx="214313"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2819400" y="3141663"/>
                <a:ext cx="214313" cy="14287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Line 21"/>
              <p:cNvSpPr>
                <a:spLocks noChangeShapeType="1"/>
              </p:cNvSpPr>
              <p:nvPr/>
            </p:nvSpPr>
            <p:spPr bwMode="auto">
              <a:xfrm flipV="1">
                <a:off x="1258888" y="4173538"/>
                <a:ext cx="498475" cy="433387"/>
              </a:xfrm>
              <a:prstGeom prst="line">
                <a:avLst/>
              </a:prstGeom>
              <a:noFill/>
              <a:ln w="9525">
                <a:solidFill>
                  <a:srgbClr val="000000"/>
                </a:solidFill>
                <a:round/>
                <a:headEnd/>
                <a:tailEnd type="triangle" w="med" len="med"/>
              </a:ln>
            </p:spPr>
            <p:txBody>
              <a:bodyPr/>
              <a:lstStyle/>
              <a:p>
                <a:endParaRPr lang="zh-CN" altLang="en-US"/>
              </a:p>
            </p:txBody>
          </p:sp>
          <p:sp>
            <p:nvSpPr>
              <p:cNvPr id="34" name="Line 22"/>
              <p:cNvSpPr>
                <a:spLocks noChangeShapeType="1"/>
              </p:cNvSpPr>
              <p:nvPr/>
            </p:nvSpPr>
            <p:spPr bwMode="auto">
              <a:xfrm flipV="1">
                <a:off x="1257300" y="3719513"/>
                <a:ext cx="0" cy="904875"/>
              </a:xfrm>
              <a:prstGeom prst="line">
                <a:avLst/>
              </a:prstGeom>
              <a:noFill/>
              <a:ln w="9525">
                <a:solidFill>
                  <a:srgbClr val="000000"/>
                </a:solidFill>
                <a:round/>
                <a:headEnd/>
                <a:tailEnd type="triangle" w="med" len="med"/>
              </a:ln>
            </p:spPr>
            <p:txBody>
              <a:bodyPr/>
              <a:lstStyle/>
              <a:p>
                <a:endParaRPr lang="zh-CN" altLang="en-US"/>
              </a:p>
            </p:txBody>
          </p:sp>
        </p:grpSp>
        <p:sp>
          <p:nvSpPr>
            <p:cNvPr id="3" name="椭圆 2"/>
            <p:cNvSpPr/>
            <p:nvPr/>
          </p:nvSpPr>
          <p:spPr>
            <a:xfrm>
              <a:off x="5258968" y="5483027"/>
              <a:ext cx="144000" cy="144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7112806" y="1957481"/>
              <a:ext cx="144000" cy="144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箭头连接符 35"/>
            <p:cNvCxnSpPr/>
            <p:nvPr/>
          </p:nvCxnSpPr>
          <p:spPr>
            <a:xfrm flipV="1">
              <a:off x="1270188" y="1398881"/>
              <a:ext cx="0" cy="457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rot="5400000" flipV="1">
              <a:off x="4700968" y="2531588"/>
              <a:ext cx="0" cy="6876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26931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Markowitz efficient frontier</a:t>
            </a:r>
            <a:endParaRPr lang="zh-CN" altLang="en-US" dirty="0"/>
          </a:p>
        </p:txBody>
      </p:sp>
      <p:sp>
        <p:nvSpPr>
          <p:cNvPr id="20" name="文本占位符 19"/>
          <p:cNvSpPr>
            <a:spLocks noGrp="1"/>
          </p:cNvSpPr>
          <p:nvPr>
            <p:ph type="body" sz="quarter" idx="10"/>
          </p:nvPr>
        </p:nvSpPr>
        <p:spPr/>
        <p:txBody>
          <a:bodyPr/>
          <a:lstStyle/>
          <a:p>
            <a:endParaRPr lang="zh-CN" altLang="en-US" dirty="0"/>
          </a:p>
        </p:txBody>
      </p:sp>
      <p:grpSp>
        <p:nvGrpSpPr>
          <p:cNvPr id="4" name="Group 8">
            <a:extLst>
              <a:ext uri="{FF2B5EF4-FFF2-40B4-BE49-F238E27FC236}">
                <a16:creationId xmlns:a16="http://schemas.microsoft.com/office/drawing/2014/main" xmlns="" id="{7D613A21-0DCE-D64D-9544-DD538707A96B}"/>
              </a:ext>
            </a:extLst>
          </p:cNvPr>
          <p:cNvGrpSpPr/>
          <p:nvPr/>
        </p:nvGrpSpPr>
        <p:grpSpPr>
          <a:xfrm>
            <a:off x="415131" y="1412776"/>
            <a:ext cx="8313739" cy="4966243"/>
            <a:chOff x="400108" y="1412776"/>
            <a:chExt cx="8313739" cy="4966243"/>
          </a:xfrm>
        </p:grpSpPr>
        <p:sp>
          <p:nvSpPr>
            <p:cNvPr id="5" name="Text Box 13"/>
            <p:cNvSpPr txBox="1">
              <a:spLocks noChangeArrowheads="1"/>
            </p:cNvSpPr>
            <p:nvPr/>
          </p:nvSpPr>
          <p:spPr bwMode="auto">
            <a:xfrm>
              <a:off x="5118001" y="1412776"/>
              <a:ext cx="3471832" cy="923330"/>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indent="-285750" fontAlgn="ctr">
                <a:buClr>
                  <a:srgbClr val="990000"/>
                </a:buClr>
                <a:buFont typeface="Wingdings" pitchFamily="2" charset="2"/>
                <a:buNone/>
                <a:defRPr/>
              </a:pPr>
              <a:r>
                <a:rPr lang="en-US" altLang="zh-CN" dirty="0">
                  <a:latin typeface="+mn-lt"/>
                  <a:ea typeface="宋体" pitchFamily="2" charset="-122"/>
                </a:rPr>
                <a:t>Optimal portfolios should lie on this curve (know as the Efficient Frontier)</a:t>
              </a:r>
            </a:p>
          </p:txBody>
        </p:sp>
        <p:sp>
          <p:nvSpPr>
            <p:cNvPr id="6" name="Text Box 14"/>
            <p:cNvSpPr txBox="1">
              <a:spLocks noChangeArrowheads="1"/>
            </p:cNvSpPr>
            <p:nvPr/>
          </p:nvSpPr>
          <p:spPr bwMode="auto">
            <a:xfrm>
              <a:off x="1653945" y="2318830"/>
              <a:ext cx="2243060" cy="923330"/>
            </a:xfrm>
            <a:prstGeom prst="rect">
              <a:avLst/>
            </a:prstGeom>
            <a:noFill/>
            <a:ln w="9525" algn="ctr">
              <a:noFill/>
              <a:miter lim="800000"/>
              <a:headEnd/>
              <a:tailEnd/>
            </a:ln>
          </p:spPr>
          <p:txBody>
            <a:bodyPr>
              <a:spAutoFit/>
            </a:bodyPr>
            <a:lstStyle/>
            <a:p>
              <a:pPr indent="-285750" fontAlgn="ctr">
                <a:buClr>
                  <a:srgbClr val="990000"/>
                </a:buClr>
                <a:buFont typeface="Wingdings" pitchFamily="2" charset="2"/>
                <a:buNone/>
                <a:defRPr/>
              </a:pPr>
              <a:r>
                <a:rPr lang="en-US" altLang="zh-CN" dirty="0">
                  <a:latin typeface="+mn-lt"/>
                  <a:ea typeface="宋体" pitchFamily="2" charset="-122"/>
                </a:rPr>
                <a:t>A portfolio above this curve is impossible</a:t>
              </a:r>
            </a:p>
          </p:txBody>
        </p:sp>
        <p:sp>
          <p:nvSpPr>
            <p:cNvPr id="7" name="Text Box 16"/>
            <p:cNvSpPr txBox="1">
              <a:spLocks noChangeArrowheads="1"/>
            </p:cNvSpPr>
            <p:nvPr/>
          </p:nvSpPr>
          <p:spPr bwMode="auto">
            <a:xfrm>
              <a:off x="4935482" y="4498060"/>
              <a:ext cx="3460622" cy="1200329"/>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indent="-285750" fontAlgn="ctr">
                <a:buClr>
                  <a:srgbClr val="990000"/>
                </a:buClr>
                <a:buFont typeface="Wingdings" pitchFamily="2" charset="2"/>
                <a:buNone/>
                <a:defRPr/>
              </a:pPr>
              <a:r>
                <a:rPr lang="en-US" altLang="zh-CN" dirty="0">
                  <a:latin typeface="+mn-lt"/>
                  <a:ea typeface="宋体" pitchFamily="2" charset="-122"/>
                </a:rPr>
                <a:t>Portfolios below this curve are not efficient, because for the same risk one should achieve a great return</a:t>
              </a:r>
            </a:p>
          </p:txBody>
        </p:sp>
        <p:sp>
          <p:nvSpPr>
            <p:cNvPr id="8" name="Text Box 4"/>
            <p:cNvSpPr txBox="1">
              <a:spLocks noChangeArrowheads="1"/>
            </p:cNvSpPr>
            <p:nvPr/>
          </p:nvSpPr>
          <p:spPr bwMode="auto">
            <a:xfrm>
              <a:off x="2270525" y="4868495"/>
              <a:ext cx="2396333" cy="424732"/>
            </a:xfrm>
            <a:prstGeom prst="rect">
              <a:avLst/>
            </a:prstGeom>
            <a:noFill/>
            <a:ln w="9525" algn="ctr">
              <a:noFill/>
              <a:miter lim="800000"/>
              <a:headEnd/>
              <a:tailEnd/>
            </a:ln>
          </p:spPr>
          <p:txBody>
            <a:bodyPr>
              <a:spAutoFit/>
            </a:bodyPr>
            <a:lstStyle/>
            <a:p>
              <a:pPr indent="-285750">
                <a:lnSpc>
                  <a:spcPct val="120000"/>
                </a:lnSpc>
                <a:spcBef>
                  <a:spcPct val="50000"/>
                </a:spcBef>
                <a:buClr>
                  <a:srgbClr val="990000"/>
                </a:buClr>
                <a:buFont typeface="Wingdings" pitchFamily="2" charset="2"/>
                <a:buNone/>
                <a:defRPr/>
              </a:pPr>
              <a:r>
                <a:rPr lang="en-US" altLang="zh-CN" dirty="0">
                  <a:latin typeface="+mn-lt"/>
                  <a:ea typeface="宋体" pitchFamily="2" charset="-122"/>
                </a:rPr>
                <a:t>Low Risk/Low Return</a:t>
              </a:r>
            </a:p>
          </p:txBody>
        </p:sp>
        <p:sp>
          <p:nvSpPr>
            <p:cNvPr id="9" name="Line 5"/>
            <p:cNvSpPr>
              <a:spLocks noChangeShapeType="1"/>
            </p:cNvSpPr>
            <p:nvPr/>
          </p:nvSpPr>
          <p:spPr bwMode="auto">
            <a:xfrm>
              <a:off x="1413558" y="6133869"/>
              <a:ext cx="6182778" cy="0"/>
            </a:xfrm>
            <a:prstGeom prst="line">
              <a:avLst/>
            </a:prstGeom>
            <a:noFill/>
            <a:ln w="28575">
              <a:solidFill>
                <a:schemeClr val="tx1"/>
              </a:solidFill>
              <a:round/>
              <a:headEnd/>
              <a:tailEnd type="triangle" w="med" len="med"/>
            </a:ln>
          </p:spPr>
          <p:txBody>
            <a:bodyPr wrap="square">
              <a:spAutoFit/>
            </a:bodyPr>
            <a:lstStyle/>
            <a:p>
              <a:endParaRPr lang="zh-CN" altLang="en-US"/>
            </a:p>
          </p:txBody>
        </p:sp>
        <p:sp>
          <p:nvSpPr>
            <p:cNvPr id="10" name="Line 6"/>
            <p:cNvSpPr>
              <a:spLocks noChangeShapeType="1"/>
            </p:cNvSpPr>
            <p:nvPr/>
          </p:nvSpPr>
          <p:spPr bwMode="auto">
            <a:xfrm flipV="1">
              <a:off x="1413558" y="1957869"/>
              <a:ext cx="0" cy="4176000"/>
            </a:xfrm>
            <a:prstGeom prst="line">
              <a:avLst/>
            </a:prstGeom>
            <a:ln w="28575">
              <a:headEnd/>
              <a:tailEnd type="triangle" w="med" len="med"/>
            </a:ln>
          </p:spPr>
          <p:style>
            <a:lnRef idx="1">
              <a:schemeClr val="dk1"/>
            </a:lnRef>
            <a:fillRef idx="0">
              <a:schemeClr val="dk1"/>
            </a:fillRef>
            <a:effectRef idx="0">
              <a:schemeClr val="dk1"/>
            </a:effectRef>
            <a:fontRef idx="minor">
              <a:schemeClr val="tx1"/>
            </a:fontRef>
          </p:style>
          <p:txBody>
            <a:bodyPr>
              <a:spAutoFit/>
            </a:bodyPr>
            <a:lstStyle/>
            <a:p>
              <a:endParaRPr lang="zh-CN" altLang="en-US"/>
            </a:p>
          </p:txBody>
        </p:sp>
        <p:sp>
          <p:nvSpPr>
            <p:cNvPr id="11" name="Arc 7"/>
            <p:cNvSpPr>
              <a:spLocks/>
            </p:cNvSpPr>
            <p:nvPr/>
          </p:nvSpPr>
          <p:spPr bwMode="auto">
            <a:xfrm rot="10800000" flipV="1">
              <a:off x="1639347" y="2893781"/>
              <a:ext cx="4634448" cy="2808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p:spPr>
          <p:txBody>
            <a:bodyPr wrap="none" anchor="ctr">
              <a:spAutoFit/>
            </a:bodyPr>
            <a:lstStyle/>
            <a:p>
              <a:endParaRPr lang="zh-CN" altLang="en-US"/>
            </a:p>
          </p:txBody>
        </p:sp>
        <p:sp>
          <p:nvSpPr>
            <p:cNvPr id="12" name="Line 8"/>
            <p:cNvSpPr>
              <a:spLocks noChangeShapeType="1"/>
            </p:cNvSpPr>
            <p:nvPr/>
          </p:nvSpPr>
          <p:spPr bwMode="auto">
            <a:xfrm flipH="1">
              <a:off x="1787676" y="5080861"/>
              <a:ext cx="448282"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3" name="Text Box 9"/>
            <p:cNvSpPr txBox="1">
              <a:spLocks noChangeArrowheads="1"/>
            </p:cNvSpPr>
            <p:nvPr/>
          </p:nvSpPr>
          <p:spPr bwMode="auto">
            <a:xfrm>
              <a:off x="2775475" y="3881138"/>
              <a:ext cx="3329574" cy="424732"/>
            </a:xfrm>
            <a:prstGeom prst="rect">
              <a:avLst/>
            </a:prstGeom>
            <a:noFill/>
            <a:ln w="9525" algn="ctr">
              <a:noFill/>
              <a:miter lim="800000"/>
              <a:headEnd/>
              <a:tailEnd/>
            </a:ln>
          </p:spPr>
          <p:txBody>
            <a:bodyPr wrap="square">
              <a:spAutoFit/>
            </a:bodyPr>
            <a:lstStyle/>
            <a:p>
              <a:pPr indent="-285750">
                <a:lnSpc>
                  <a:spcPct val="120000"/>
                </a:lnSpc>
                <a:spcBef>
                  <a:spcPct val="50000"/>
                </a:spcBef>
                <a:buClr>
                  <a:srgbClr val="990000"/>
                </a:buClr>
                <a:buFont typeface="Wingdings" pitchFamily="2" charset="2"/>
                <a:buNone/>
                <a:defRPr/>
              </a:pPr>
              <a:r>
                <a:rPr lang="en-US" altLang="zh-CN" dirty="0">
                  <a:latin typeface="+mn-lt"/>
                  <a:ea typeface="宋体" pitchFamily="2" charset="-122"/>
                </a:rPr>
                <a:t>Medium Risk/Medium Return</a:t>
              </a:r>
            </a:p>
          </p:txBody>
        </p:sp>
        <p:sp>
          <p:nvSpPr>
            <p:cNvPr id="14" name="Line 10"/>
            <p:cNvSpPr>
              <a:spLocks noChangeShapeType="1"/>
            </p:cNvSpPr>
            <p:nvPr/>
          </p:nvSpPr>
          <p:spPr bwMode="auto">
            <a:xfrm flipH="1" flipV="1">
              <a:off x="3282500" y="3541481"/>
              <a:ext cx="299954" cy="288925"/>
            </a:xfrm>
            <a:prstGeom prst="line">
              <a:avLst/>
            </a:prstGeom>
            <a:noFill/>
            <a:ln w="9525">
              <a:solidFill>
                <a:schemeClr val="tx1"/>
              </a:solidFill>
              <a:round/>
              <a:headEnd/>
              <a:tailEnd type="triangle" w="med" len="med"/>
            </a:ln>
          </p:spPr>
          <p:txBody>
            <a:bodyPr>
              <a:spAutoFit/>
            </a:bodyPr>
            <a:lstStyle/>
            <a:p>
              <a:endParaRPr lang="zh-CN" altLang="en-US"/>
            </a:p>
          </p:txBody>
        </p:sp>
        <p:sp>
          <p:nvSpPr>
            <p:cNvPr id="15" name="Text Box 11"/>
            <p:cNvSpPr txBox="1">
              <a:spLocks noChangeArrowheads="1"/>
            </p:cNvSpPr>
            <p:nvPr/>
          </p:nvSpPr>
          <p:spPr bwMode="auto">
            <a:xfrm>
              <a:off x="3984583" y="3429000"/>
              <a:ext cx="2459625" cy="424732"/>
            </a:xfrm>
            <a:prstGeom prst="rect">
              <a:avLst/>
            </a:prstGeom>
            <a:noFill/>
            <a:ln w="9525" algn="ctr">
              <a:noFill/>
              <a:miter lim="800000"/>
              <a:headEnd/>
              <a:tailEnd/>
            </a:ln>
          </p:spPr>
          <p:txBody>
            <a:bodyPr wrap="square">
              <a:spAutoFit/>
            </a:bodyPr>
            <a:lstStyle/>
            <a:p>
              <a:pPr indent="-285750" algn="ctr">
                <a:lnSpc>
                  <a:spcPct val="120000"/>
                </a:lnSpc>
                <a:spcBef>
                  <a:spcPct val="50000"/>
                </a:spcBef>
                <a:buClr>
                  <a:srgbClr val="990000"/>
                </a:buClr>
                <a:buFont typeface="Wingdings" pitchFamily="2" charset="2"/>
                <a:buNone/>
                <a:defRPr/>
              </a:pPr>
              <a:r>
                <a:rPr lang="en-US" altLang="zh-CN" dirty="0">
                  <a:latin typeface="+mn-lt"/>
                  <a:ea typeface="宋体" pitchFamily="2" charset="-122"/>
                </a:rPr>
                <a:t>High Risk/High Return</a:t>
              </a:r>
            </a:p>
          </p:txBody>
        </p:sp>
        <p:sp>
          <p:nvSpPr>
            <p:cNvPr id="16" name="Line 12"/>
            <p:cNvSpPr>
              <a:spLocks noChangeShapeType="1"/>
            </p:cNvSpPr>
            <p:nvPr/>
          </p:nvSpPr>
          <p:spPr bwMode="auto">
            <a:xfrm flipV="1">
              <a:off x="5151441" y="2966806"/>
              <a:ext cx="0" cy="43180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7" name="Text Box 15"/>
            <p:cNvSpPr txBox="1">
              <a:spLocks noChangeArrowheads="1"/>
            </p:cNvSpPr>
            <p:nvPr/>
          </p:nvSpPr>
          <p:spPr bwMode="auto">
            <a:xfrm>
              <a:off x="7228033" y="5884588"/>
              <a:ext cx="938077" cy="494431"/>
            </a:xfrm>
            <a:prstGeom prst="rect">
              <a:avLst/>
            </a:prstGeom>
            <a:noFill/>
            <a:ln w="9525" algn="ctr">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defRPr/>
              </a:pPr>
              <a:r>
                <a:rPr lang="el-GR" altLang="zh-CN" sz="2400" dirty="0">
                  <a:latin typeface="+mn-lt"/>
                  <a:ea typeface="宋体" pitchFamily="2" charset="-122"/>
                  <a:cs typeface="Times New Roman" pitchFamily="18" charset="0"/>
                </a:rPr>
                <a:t>σ</a:t>
              </a:r>
              <a:r>
                <a:rPr lang="en-US" altLang="zh-CN" sz="2400" baseline="-25000" dirty="0">
                  <a:latin typeface="+mn-lt"/>
                  <a:ea typeface="宋体" pitchFamily="2" charset="-122"/>
                  <a:cs typeface="Times New Roman" pitchFamily="18" charset="0"/>
                </a:rPr>
                <a:t>P</a:t>
              </a:r>
              <a:endParaRPr lang="el-GR" altLang="zh-CN" sz="2400" dirty="0">
                <a:latin typeface="+mn-lt"/>
                <a:ea typeface="宋体" pitchFamily="2" charset="-122"/>
                <a:cs typeface="Times New Roman" pitchFamily="18" charset="0"/>
              </a:endParaRPr>
            </a:p>
          </p:txBody>
        </p:sp>
        <p:sp>
          <p:nvSpPr>
            <p:cNvPr id="18" name="Text Box 17"/>
            <p:cNvSpPr txBox="1">
              <a:spLocks noChangeArrowheads="1"/>
            </p:cNvSpPr>
            <p:nvPr/>
          </p:nvSpPr>
          <p:spPr bwMode="auto">
            <a:xfrm>
              <a:off x="400108" y="1515652"/>
              <a:ext cx="1232776" cy="428625"/>
            </a:xfrm>
            <a:prstGeom prst="rect">
              <a:avLst/>
            </a:prstGeom>
            <a:noFill/>
            <a:ln w="9525" algn="ctr">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defRPr/>
              </a:pPr>
              <a:r>
                <a:rPr lang="en-US" altLang="zh-CN" sz="2000" dirty="0">
                  <a:latin typeface="+mn-lt"/>
                  <a:ea typeface="宋体" pitchFamily="2" charset="-122"/>
                </a:rPr>
                <a:t>E(R</a:t>
              </a:r>
              <a:r>
                <a:rPr lang="en-US" altLang="zh-CN" sz="2000" baseline="-25000" dirty="0">
                  <a:latin typeface="+mn-lt"/>
                  <a:ea typeface="宋体" pitchFamily="2" charset="-122"/>
                </a:rPr>
                <a:t>P</a:t>
              </a:r>
              <a:r>
                <a:rPr lang="en-US" altLang="zh-CN" sz="2000" dirty="0">
                  <a:latin typeface="+mn-lt"/>
                  <a:ea typeface="宋体" pitchFamily="2" charset="-122"/>
                </a:rPr>
                <a:t>)</a:t>
              </a:r>
            </a:p>
          </p:txBody>
        </p:sp>
        <p:sp>
          <p:nvSpPr>
            <p:cNvPr id="19" name="TextBox 18"/>
            <p:cNvSpPr txBox="1"/>
            <p:nvPr/>
          </p:nvSpPr>
          <p:spPr>
            <a:xfrm>
              <a:off x="5742218" y="2445605"/>
              <a:ext cx="2971629" cy="369332"/>
            </a:xfrm>
            <a:prstGeom prst="rect">
              <a:avLst/>
            </a:prstGeom>
            <a:noFill/>
          </p:spPr>
          <p:txBody>
            <a:bodyPr wrap="square" rtlCol="0">
              <a:spAutoFit/>
            </a:bodyPr>
            <a:lstStyle/>
            <a:p>
              <a:r>
                <a:rPr lang="en-US" altLang="zh-CN" dirty="0"/>
                <a:t>Markowitz efficient frontier</a:t>
              </a:r>
            </a:p>
          </p:txBody>
        </p:sp>
      </p:grpSp>
    </p:spTree>
    <p:extLst>
      <p:ext uri="{BB962C8B-B14F-4D97-AF65-F5344CB8AC3E}">
        <p14:creationId xmlns:p14="http://schemas.microsoft.com/office/powerpoint/2010/main" val="182651932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 Minimum variance portfolio</a:t>
            </a:r>
            <a:endParaRPr lang="zh-CN" altLang="en-US" dirty="0"/>
          </a:p>
        </p:txBody>
      </p:sp>
      <p:sp>
        <p:nvSpPr>
          <p:cNvPr id="3" name="文本占位符 2"/>
          <p:cNvSpPr>
            <a:spLocks noGrp="1"/>
          </p:cNvSpPr>
          <p:nvPr>
            <p:ph type="body" sz="quarter" idx="10"/>
          </p:nvPr>
        </p:nvSpPr>
        <p:spPr/>
        <p:txBody>
          <a:bodyPr/>
          <a:lstStyle/>
          <a:p>
            <a:r>
              <a:rPr lang="en-US" altLang="zh-CN" dirty="0" smtClean="0"/>
              <a:t>Definition:</a:t>
            </a:r>
            <a:r>
              <a:rPr lang="zh-CN" altLang="en-US" dirty="0" smtClean="0"/>
              <a:t> </a:t>
            </a:r>
            <a:r>
              <a:rPr lang="en-US" altLang="zh-CN" b="0" dirty="0" smtClean="0"/>
              <a:t>the portfolio with the smallest variance among all possible portfolios on a portfolio possibilities curve.</a:t>
            </a:r>
          </a:p>
          <a:p>
            <a:r>
              <a:rPr lang="en-US" altLang="zh-CN" dirty="0" smtClean="0"/>
              <a:t>The shape of the portfolio possibilities curve is best described in two pieces:</a:t>
            </a:r>
          </a:p>
          <a:p>
            <a:pPr lvl="1"/>
            <a:r>
              <a:rPr lang="en-US" altLang="zh-CN" dirty="0" smtClean="0"/>
              <a:t>The portion of the portfolio possibility curve that lies above the minimum variance portfolio is concave.</a:t>
            </a:r>
          </a:p>
          <a:p>
            <a:pPr lvl="1"/>
            <a:r>
              <a:rPr lang="en-US" altLang="zh-CN" dirty="0" smtClean="0"/>
              <a:t>The portion of the portfolio possibility curve that lies below the minimum variance portfolio is convex.</a:t>
            </a:r>
          </a:p>
          <a:p>
            <a:endParaRPr lang="zh-CN" altLang="en-US" dirty="0"/>
          </a:p>
        </p:txBody>
      </p:sp>
    </p:spTree>
    <p:extLst>
      <p:ext uri="{BB962C8B-B14F-4D97-AF65-F5344CB8AC3E}">
        <p14:creationId xmlns:p14="http://schemas.microsoft.com/office/powerpoint/2010/main" val="222900454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Define an optimal portfolio</a:t>
            </a:r>
            <a:endParaRPr lang="zh-CN" altLang="en-US" dirty="0"/>
          </a:p>
        </p:txBody>
      </p:sp>
      <p:pic>
        <p:nvPicPr>
          <p:cNvPr id="4" name="Picture 7">
            <a:extLst>
              <a:ext uri="{FF2B5EF4-FFF2-40B4-BE49-F238E27FC236}">
                <a16:creationId xmlns:a16="http://schemas.microsoft.com/office/drawing/2014/main" xmlns="" id="{B35BE925-B945-CE45-85B5-D2E0603CE9AA}"/>
              </a:ext>
            </a:extLst>
          </p:cNvPr>
          <p:cNvPicPr>
            <a:picLocks noChangeAspect="1"/>
          </p:cNvPicPr>
          <p:nvPr/>
        </p:nvPicPr>
        <p:blipFill>
          <a:blip r:embed="rId2"/>
          <a:stretch>
            <a:fillRect/>
          </a:stretch>
        </p:blipFill>
        <p:spPr>
          <a:xfrm>
            <a:off x="747999" y="1224116"/>
            <a:ext cx="8189476" cy="4676622"/>
          </a:xfrm>
          <a:prstGeom prst="rect">
            <a:avLst/>
          </a:prstGeom>
        </p:spPr>
      </p:pic>
    </p:spTree>
    <p:extLst>
      <p:ext uri="{BB962C8B-B14F-4D97-AF65-F5344CB8AC3E}">
        <p14:creationId xmlns:p14="http://schemas.microsoft.com/office/powerpoint/2010/main" val="334407576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 Capital Market Line (CML)</a:t>
            </a:r>
            <a:endParaRPr lang="zh-CN" altLang="en-US" dirty="0"/>
          </a:p>
        </p:txBody>
      </p:sp>
      <p:grpSp>
        <p:nvGrpSpPr>
          <p:cNvPr id="4" name="Group 14">
            <a:extLst>
              <a:ext uri="{FF2B5EF4-FFF2-40B4-BE49-F238E27FC236}">
                <a16:creationId xmlns:a16="http://schemas.microsoft.com/office/drawing/2014/main" xmlns="" id="{F25A4AEF-30E2-0B4C-9A50-5ABBA9B27C15}"/>
              </a:ext>
            </a:extLst>
          </p:cNvPr>
          <p:cNvGrpSpPr/>
          <p:nvPr/>
        </p:nvGrpSpPr>
        <p:grpSpPr>
          <a:xfrm>
            <a:off x="651123" y="1032387"/>
            <a:ext cx="8610864" cy="5344914"/>
            <a:chOff x="400108" y="1412776"/>
            <a:chExt cx="7841754" cy="4855423"/>
          </a:xfrm>
        </p:grpSpPr>
        <p:sp>
          <p:nvSpPr>
            <p:cNvPr id="5" name="Line 5"/>
            <p:cNvSpPr>
              <a:spLocks noChangeShapeType="1"/>
            </p:cNvSpPr>
            <p:nvPr/>
          </p:nvSpPr>
          <p:spPr bwMode="auto">
            <a:xfrm>
              <a:off x="1413558" y="6030993"/>
              <a:ext cx="6182778" cy="0"/>
            </a:xfrm>
            <a:prstGeom prst="line">
              <a:avLst/>
            </a:prstGeom>
            <a:noFill/>
            <a:ln w="28575">
              <a:solidFill>
                <a:schemeClr val="tx1"/>
              </a:solidFill>
              <a:round/>
              <a:headEnd/>
              <a:tailEnd type="triangle" w="med" len="med"/>
            </a:ln>
          </p:spPr>
          <p:txBody>
            <a:bodyPr wrap="square">
              <a:spAutoFit/>
            </a:bodyPr>
            <a:lstStyle/>
            <a:p>
              <a:endParaRPr lang="zh-CN" altLang="en-US"/>
            </a:p>
          </p:txBody>
        </p:sp>
        <p:sp>
          <p:nvSpPr>
            <p:cNvPr id="6" name="Line 6"/>
            <p:cNvSpPr>
              <a:spLocks noChangeShapeType="1"/>
            </p:cNvSpPr>
            <p:nvPr/>
          </p:nvSpPr>
          <p:spPr bwMode="auto">
            <a:xfrm flipV="1">
              <a:off x="1413558" y="1854993"/>
              <a:ext cx="0" cy="4176000"/>
            </a:xfrm>
            <a:prstGeom prst="line">
              <a:avLst/>
            </a:prstGeom>
            <a:noFill/>
            <a:ln w="28575">
              <a:solidFill>
                <a:schemeClr val="tx1"/>
              </a:solidFill>
              <a:round/>
              <a:headEnd/>
              <a:tailEnd type="triangle" w="med" len="med"/>
            </a:ln>
          </p:spPr>
          <p:txBody>
            <a:bodyPr>
              <a:spAutoFit/>
            </a:bodyPr>
            <a:lstStyle/>
            <a:p>
              <a:endParaRPr lang="zh-CN" altLang="en-US"/>
            </a:p>
          </p:txBody>
        </p:sp>
        <p:sp>
          <p:nvSpPr>
            <p:cNvPr id="7" name="Arc 7"/>
            <p:cNvSpPr>
              <a:spLocks/>
            </p:cNvSpPr>
            <p:nvPr/>
          </p:nvSpPr>
          <p:spPr bwMode="auto">
            <a:xfrm rot="10800000" flipV="1">
              <a:off x="1639347" y="2790905"/>
              <a:ext cx="4634448" cy="2808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p:spPr>
          <p:txBody>
            <a:bodyPr wrap="none" anchor="ctr">
              <a:spAutoFit/>
            </a:bodyPr>
            <a:lstStyle/>
            <a:p>
              <a:endParaRPr lang="zh-CN" altLang="en-US"/>
            </a:p>
          </p:txBody>
        </p:sp>
        <p:sp>
          <p:nvSpPr>
            <p:cNvPr id="8" name="Text Box 15"/>
            <p:cNvSpPr txBox="1">
              <a:spLocks noChangeArrowheads="1"/>
            </p:cNvSpPr>
            <p:nvPr/>
          </p:nvSpPr>
          <p:spPr bwMode="auto">
            <a:xfrm>
              <a:off x="7228033" y="5781712"/>
              <a:ext cx="854289" cy="486487"/>
            </a:xfrm>
            <a:prstGeom prst="rect">
              <a:avLst/>
            </a:prstGeom>
            <a:noFill/>
            <a:ln w="9525" algn="ctr">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defRPr/>
              </a:pPr>
              <a:r>
                <a:rPr lang="el-GR" altLang="zh-CN" sz="2400" dirty="0">
                  <a:latin typeface="+mn-lt"/>
                  <a:ea typeface="宋体" pitchFamily="2" charset="-122"/>
                  <a:cs typeface="Times New Roman" pitchFamily="18" charset="0"/>
                </a:rPr>
                <a:t>σ</a:t>
              </a:r>
              <a:r>
                <a:rPr lang="en-US" altLang="zh-CN" sz="2400" baseline="-25000" dirty="0">
                  <a:latin typeface="+mn-lt"/>
                  <a:ea typeface="宋体" pitchFamily="2" charset="-122"/>
                  <a:cs typeface="Times New Roman" pitchFamily="18" charset="0"/>
                </a:rPr>
                <a:t>P</a:t>
              </a:r>
              <a:endParaRPr lang="el-GR" altLang="zh-CN" sz="2400" dirty="0">
                <a:latin typeface="+mn-lt"/>
                <a:ea typeface="宋体" pitchFamily="2" charset="-122"/>
                <a:cs typeface="Times New Roman" pitchFamily="18" charset="0"/>
              </a:endParaRPr>
            </a:p>
          </p:txBody>
        </p:sp>
        <p:sp>
          <p:nvSpPr>
            <p:cNvPr id="9" name="Text Box 17"/>
            <p:cNvSpPr txBox="1">
              <a:spLocks noChangeArrowheads="1"/>
            </p:cNvSpPr>
            <p:nvPr/>
          </p:nvSpPr>
          <p:spPr bwMode="auto">
            <a:xfrm>
              <a:off x="400108" y="1412776"/>
              <a:ext cx="1232776" cy="388281"/>
            </a:xfrm>
            <a:prstGeom prst="rect">
              <a:avLst/>
            </a:prstGeom>
            <a:noFill/>
            <a:ln w="9525" algn="ctr">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defRPr/>
              </a:pPr>
              <a:r>
                <a:rPr lang="en-US" altLang="zh-CN" sz="2000" dirty="0">
                  <a:latin typeface="+mn-lt"/>
                  <a:ea typeface="宋体" pitchFamily="2" charset="-122"/>
                </a:rPr>
                <a:t>E(R</a:t>
              </a:r>
              <a:r>
                <a:rPr lang="en-US" altLang="zh-CN" sz="2000" baseline="-25000" dirty="0">
                  <a:latin typeface="+mn-lt"/>
                  <a:ea typeface="宋体" pitchFamily="2" charset="-122"/>
                </a:rPr>
                <a:t>P</a:t>
              </a:r>
              <a:r>
                <a:rPr lang="en-US" altLang="zh-CN" sz="2000" dirty="0">
                  <a:latin typeface="+mn-lt"/>
                  <a:ea typeface="宋体" pitchFamily="2" charset="-122"/>
                </a:rPr>
                <a:t>)</a:t>
              </a:r>
            </a:p>
          </p:txBody>
        </p:sp>
        <p:sp>
          <p:nvSpPr>
            <p:cNvPr id="10" name="TextBox 9"/>
            <p:cNvSpPr txBox="1"/>
            <p:nvPr/>
          </p:nvSpPr>
          <p:spPr>
            <a:xfrm>
              <a:off x="6405878" y="2482511"/>
              <a:ext cx="1835984" cy="369332"/>
            </a:xfrm>
            <a:prstGeom prst="rect">
              <a:avLst/>
            </a:prstGeom>
            <a:noFill/>
          </p:spPr>
          <p:txBody>
            <a:bodyPr wrap="square" rtlCol="0">
              <a:spAutoFit/>
            </a:bodyPr>
            <a:lstStyle/>
            <a:p>
              <a:r>
                <a:rPr lang="en-US" altLang="zh-CN"/>
                <a:t>Efficient </a:t>
              </a:r>
              <a:r>
                <a:rPr lang="en-US" altLang="zh-CN" dirty="0"/>
                <a:t>frontier</a:t>
              </a:r>
            </a:p>
          </p:txBody>
        </p:sp>
        <p:sp>
          <p:nvSpPr>
            <p:cNvPr id="11" name="Line 7"/>
            <p:cNvSpPr>
              <a:spLocks noChangeShapeType="1"/>
            </p:cNvSpPr>
            <p:nvPr/>
          </p:nvSpPr>
          <p:spPr bwMode="auto">
            <a:xfrm flipV="1">
              <a:off x="1422720" y="2276576"/>
              <a:ext cx="4742618" cy="1855810"/>
            </a:xfrm>
            <a:prstGeom prst="line">
              <a:avLst/>
            </a:prstGeom>
            <a:noFill/>
            <a:ln w="28575">
              <a:solidFill>
                <a:schemeClr val="tx1"/>
              </a:solidFill>
              <a:round/>
              <a:headEnd/>
              <a:tailEnd/>
            </a:ln>
          </p:spPr>
          <p:txBody>
            <a:bodyPr wrap="square">
              <a:spAutoFit/>
            </a:bodyPr>
            <a:lstStyle/>
            <a:p>
              <a:endParaRPr lang="zh-CN" altLang="en-US"/>
            </a:p>
          </p:txBody>
        </p:sp>
        <p:sp>
          <p:nvSpPr>
            <p:cNvPr id="12" name="Line 7"/>
            <p:cNvSpPr>
              <a:spLocks noChangeShapeType="1"/>
            </p:cNvSpPr>
            <p:nvPr/>
          </p:nvSpPr>
          <p:spPr bwMode="auto">
            <a:xfrm flipV="1">
              <a:off x="1413557" y="3974195"/>
              <a:ext cx="1070211" cy="170842"/>
            </a:xfrm>
            <a:prstGeom prst="line">
              <a:avLst/>
            </a:prstGeom>
            <a:noFill/>
            <a:ln w="28575">
              <a:solidFill>
                <a:schemeClr val="tx1"/>
              </a:solidFill>
              <a:round/>
              <a:headEnd/>
              <a:tailEnd/>
            </a:ln>
          </p:spPr>
          <p:txBody>
            <a:bodyPr wrap="square">
              <a:spAutoFit/>
            </a:bodyPr>
            <a:lstStyle/>
            <a:p>
              <a:endParaRPr lang="zh-CN" altLang="en-US"/>
            </a:p>
          </p:txBody>
        </p:sp>
        <p:sp>
          <p:nvSpPr>
            <p:cNvPr id="13" name="Text Box 13"/>
            <p:cNvSpPr txBox="1">
              <a:spLocks noChangeArrowheads="1"/>
            </p:cNvSpPr>
            <p:nvPr/>
          </p:nvSpPr>
          <p:spPr bwMode="auto">
            <a:xfrm>
              <a:off x="5846734" y="1829682"/>
              <a:ext cx="2232248" cy="369332"/>
            </a:xfrm>
            <a:prstGeom prst="rect">
              <a:avLst/>
            </a:prstGeom>
            <a:noFill/>
          </p:spPr>
          <p:txBody>
            <a:bodyPr wrap="square" rtlCol="0">
              <a:spAutoFit/>
            </a:bodyPr>
            <a:lstStyle>
              <a:defPPr>
                <a:defRPr lang="zh-CN"/>
              </a:defPPr>
              <a:lvl1pPr>
                <a:defRPr/>
              </a:lvl1pPr>
            </a:lstStyle>
            <a:p>
              <a:r>
                <a:rPr lang="en-US" altLang="zh-CN" dirty="0"/>
                <a:t>Capital Market Line</a:t>
              </a:r>
            </a:p>
          </p:txBody>
        </p:sp>
        <p:sp>
          <p:nvSpPr>
            <p:cNvPr id="14" name="Text Box 15"/>
            <p:cNvSpPr txBox="1">
              <a:spLocks noChangeArrowheads="1"/>
            </p:cNvSpPr>
            <p:nvPr/>
          </p:nvSpPr>
          <p:spPr bwMode="auto">
            <a:xfrm>
              <a:off x="3229296" y="2862551"/>
              <a:ext cx="649288" cy="369332"/>
            </a:xfrm>
            <a:prstGeom prst="rect">
              <a:avLst/>
            </a:prstGeom>
            <a:noFill/>
            <a:ln w="9525">
              <a:noFill/>
              <a:miter lim="800000"/>
              <a:headEnd/>
              <a:tailEnd/>
            </a:ln>
          </p:spPr>
          <p:txBody>
            <a:bodyPr>
              <a:spAutoFit/>
            </a:bodyPr>
            <a:lstStyle/>
            <a:p>
              <a:pPr algn="ctr">
                <a:spcBef>
                  <a:spcPts val="0"/>
                </a:spcBef>
                <a:buClr>
                  <a:srgbClr val="990000"/>
                </a:buClr>
                <a:buFont typeface="Wingdings" pitchFamily="2" charset="2"/>
                <a:buNone/>
              </a:pPr>
              <a:r>
                <a:rPr lang="en-US" altLang="zh-CN" dirty="0"/>
                <a:t>M</a:t>
              </a:r>
            </a:p>
          </p:txBody>
        </p:sp>
        <p:sp>
          <p:nvSpPr>
            <p:cNvPr id="17" name="Text Box 16"/>
            <p:cNvSpPr txBox="1">
              <a:spLocks noChangeArrowheads="1"/>
            </p:cNvSpPr>
            <p:nvPr/>
          </p:nvSpPr>
          <p:spPr bwMode="auto">
            <a:xfrm>
              <a:off x="952820" y="3896633"/>
              <a:ext cx="469900" cy="369332"/>
            </a:xfrm>
            <a:prstGeom prst="rect">
              <a:avLst/>
            </a:prstGeom>
            <a:noFill/>
            <a:ln w="9525">
              <a:noFill/>
              <a:miter lim="800000"/>
              <a:headEnd/>
              <a:tailEnd/>
            </a:ln>
          </p:spPr>
          <p:txBody>
            <a:bodyPr wrap="square">
              <a:spAutoFit/>
            </a:bodyPr>
            <a:lstStyle/>
            <a:p>
              <a:pPr algn="ctr">
                <a:spcBef>
                  <a:spcPts val="0"/>
                </a:spcBef>
                <a:buClr>
                  <a:srgbClr val="990000"/>
                </a:buClr>
                <a:buFont typeface="Wingdings" pitchFamily="2" charset="2"/>
                <a:buNone/>
              </a:pPr>
              <a:r>
                <a:rPr lang="en-US" altLang="zh-CN" dirty="0"/>
                <a:t>R</a:t>
              </a:r>
              <a:r>
                <a:rPr lang="en-US" altLang="zh-CN" baseline="-25000" dirty="0"/>
                <a:t>f</a:t>
              </a:r>
              <a:endParaRPr lang="en-US" altLang="zh-CN" dirty="0"/>
            </a:p>
          </p:txBody>
        </p:sp>
        <p:sp>
          <p:nvSpPr>
            <p:cNvPr id="18" name="TextBox 17"/>
            <p:cNvSpPr txBox="1"/>
            <p:nvPr/>
          </p:nvSpPr>
          <p:spPr>
            <a:xfrm>
              <a:off x="3721657" y="3712498"/>
              <a:ext cx="4248472" cy="1421928"/>
            </a:xfrm>
            <a:prstGeom prst="rect">
              <a:avLst/>
            </a:prstGeom>
            <a:noFill/>
          </p:spPr>
          <p:txBody>
            <a:bodyPr wrap="square" rtlCol="0">
              <a:spAutoFit/>
            </a:bodyPr>
            <a:lstStyle/>
            <a:p>
              <a:pPr>
                <a:lnSpc>
                  <a:spcPct val="120000"/>
                </a:lnSpc>
              </a:pPr>
              <a:r>
                <a:rPr lang="en-US" dirty="0"/>
                <a:t>After the addition of risk-free asset, the allocation decision is between the riskless asset and the market portfolio. The CML is </a:t>
              </a:r>
              <a:r>
                <a:rPr lang="en-US" altLang="zh-CN" dirty="0"/>
                <a:t>the</a:t>
              </a:r>
              <a:r>
                <a:rPr lang="zh-CN" altLang="en-US" dirty="0"/>
                <a:t> </a:t>
              </a:r>
              <a:r>
                <a:rPr lang="en-US" dirty="0"/>
                <a:t>efficient frontier.</a:t>
              </a:r>
            </a:p>
          </p:txBody>
        </p:sp>
        <mc:AlternateContent xmlns:mc="http://schemas.openxmlformats.org/markup-compatibility/2006" xmlns:a14="http://schemas.microsoft.com/office/drawing/2010/main">
          <mc:Choice Requires="a14">
            <p:sp>
              <p:nvSpPr>
                <p:cNvPr id="19" name="TextBox 18"/>
                <p:cNvSpPr txBox="1"/>
                <p:nvPr/>
              </p:nvSpPr>
              <p:spPr>
                <a:xfrm>
                  <a:off x="2560182" y="1611104"/>
                  <a:ext cx="2980730" cy="5862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charset="0"/>
                              </a:rPr>
                              <m:t>𝐸</m:t>
                            </m:r>
                            <m:r>
                              <a:rPr lang="en-US" altLang="zh-CN" sz="2000" b="0" i="1" smtClean="0">
                                <a:latin typeface="Cambria Math" charset="0"/>
                              </a:rPr>
                              <m:t>(</m:t>
                            </m:r>
                            <m:r>
                              <a:rPr lang="en-US" altLang="zh-CN" sz="2000" b="0" i="1" smtClean="0">
                                <a:latin typeface="Cambria Math" charset="0"/>
                              </a:rPr>
                              <m:t>𝑅</m:t>
                            </m:r>
                          </m:e>
                          <m:sub>
                            <m:r>
                              <a:rPr lang="en-US" altLang="zh-CN" sz="2000" b="0" i="1" smtClean="0">
                                <a:latin typeface="Cambria Math" charset="0"/>
                              </a:rPr>
                              <m:t>𝑃</m:t>
                            </m:r>
                          </m:sub>
                        </m:sSub>
                        <m:r>
                          <a:rPr lang="en-US" altLang="zh-CN" sz="2000" b="0" i="1" smtClean="0">
                            <a:latin typeface="Cambria Math" charset="0"/>
                          </a:rPr>
                          <m:t>)=</m:t>
                        </m:r>
                        <m:sSub>
                          <m:sSubPr>
                            <m:ctrlPr>
                              <a:rPr lang="en-US" altLang="zh-CN" sz="2000" b="0" i="1" smtClean="0">
                                <a:latin typeface="Cambria Math" panose="02040503050406030204" pitchFamily="18" charset="0"/>
                              </a:rPr>
                            </m:ctrlPr>
                          </m:sSubPr>
                          <m:e>
                            <m:r>
                              <a:rPr lang="en-US" altLang="zh-CN" sz="2000" b="0" i="1" smtClean="0">
                                <a:latin typeface="Cambria Math" charset="0"/>
                              </a:rPr>
                              <m:t>𝑅</m:t>
                            </m:r>
                          </m:e>
                          <m:sub>
                            <m:r>
                              <a:rPr lang="en-US" altLang="zh-CN" sz="2000" b="0" i="1" smtClean="0">
                                <a:latin typeface="Cambria Math" charset="0"/>
                              </a:rPr>
                              <m:t>𝑓</m:t>
                            </m:r>
                          </m:sub>
                        </m:sSub>
                        <m:r>
                          <a:rPr lang="en-US" altLang="zh-CN" sz="2000" b="0" i="1" smtClean="0">
                            <a:latin typeface="Cambria Math"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charset="0"/>
                                  </a:rPr>
                                  <m:t>𝐸</m:t>
                                </m:r>
                                <m:r>
                                  <a:rPr lang="en-US" altLang="zh-CN" sz="2000" b="0" i="1" smtClean="0">
                                    <a:latin typeface="Cambria Math" charset="0"/>
                                  </a:rPr>
                                  <m:t>(</m:t>
                                </m:r>
                                <m:r>
                                  <a:rPr lang="en-US" altLang="zh-CN" sz="2000" b="0" i="1" smtClean="0">
                                    <a:latin typeface="Cambria Math" charset="0"/>
                                  </a:rPr>
                                  <m:t>𝑅</m:t>
                                </m:r>
                              </m:e>
                              <m:sub>
                                <m:r>
                                  <a:rPr lang="en-US" altLang="zh-CN" sz="2000" b="0" i="1" smtClean="0">
                                    <a:latin typeface="Cambria Math" charset="0"/>
                                  </a:rPr>
                                  <m:t>𝑀</m:t>
                                </m:r>
                              </m:sub>
                            </m:sSub>
                            <m:r>
                              <a:rPr lang="en-US" altLang="zh-CN" sz="2000" b="0" i="1" smtClean="0">
                                <a:latin typeface="Cambria Math" charset="0"/>
                              </a:rPr>
                              <m:t>)−</m:t>
                            </m:r>
                            <m:sSub>
                              <m:sSubPr>
                                <m:ctrlPr>
                                  <a:rPr lang="en-US" altLang="zh-CN" sz="2000" b="0" i="1" smtClean="0">
                                    <a:latin typeface="Cambria Math" panose="02040503050406030204" pitchFamily="18" charset="0"/>
                                  </a:rPr>
                                </m:ctrlPr>
                              </m:sSubPr>
                              <m:e>
                                <m:r>
                                  <a:rPr lang="en-US" altLang="zh-CN" sz="2000" b="0" i="1" smtClean="0">
                                    <a:latin typeface="Cambria Math" charset="0"/>
                                  </a:rPr>
                                  <m:t>𝑅</m:t>
                                </m:r>
                              </m:e>
                              <m:sub>
                                <m:r>
                                  <a:rPr lang="en-US" altLang="zh-CN" sz="2000" b="0" i="1" smtClean="0">
                                    <a:latin typeface="Cambria Math" charset="0"/>
                                  </a:rPr>
                                  <m:t>𝑓</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charset="0"/>
                                    <a:ea typeface="Cambria Math" charset="0"/>
                                    <a:cs typeface="Cambria Math" charset="0"/>
                                  </a:rPr>
                                  <m:t>𝜎</m:t>
                                </m:r>
                              </m:e>
                              <m:sub>
                                <m:r>
                                  <a:rPr lang="en-US" altLang="zh-CN" sz="2000" b="0" i="1" smtClean="0">
                                    <a:latin typeface="Cambria Math" charset="0"/>
                                  </a:rPr>
                                  <m:t>𝑀</m:t>
                                </m:r>
                              </m:sub>
                            </m:sSub>
                          </m:den>
                        </m:f>
                        <m:sSub>
                          <m:sSubPr>
                            <m:ctrlPr>
                              <a:rPr lang="en-US" altLang="zh-CN" sz="2000" b="0" i="1" smtClean="0">
                                <a:latin typeface="Cambria Math" panose="02040503050406030204" pitchFamily="18" charset="0"/>
                              </a:rPr>
                            </m:ctrlPr>
                          </m:sSubPr>
                          <m:e>
                            <m:r>
                              <a:rPr lang="en-US" altLang="zh-CN" sz="2000" b="0" i="1" smtClean="0">
                                <a:latin typeface="Cambria Math" charset="0"/>
                                <a:ea typeface="Cambria Math" charset="0"/>
                                <a:cs typeface="Cambria Math" charset="0"/>
                              </a:rPr>
                              <m:t>𝜎</m:t>
                            </m:r>
                          </m:e>
                          <m:sub>
                            <m:r>
                              <a:rPr lang="en-US" altLang="zh-CN" sz="2000" b="0" i="1" smtClean="0">
                                <a:latin typeface="Cambria Math" charset="0"/>
                              </a:rPr>
                              <m:t>𝑃</m:t>
                            </m:r>
                          </m:sub>
                        </m:sSub>
                      </m:oMath>
                    </m:oMathPara>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560182" y="1611104"/>
                  <a:ext cx="2980730" cy="586266"/>
                </a:xfrm>
                <a:prstGeom prst="rect">
                  <a:avLst/>
                </a:prstGeom>
                <a:blipFill rotWithShape="1">
                  <a:blip r:embed="rId2"/>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88625856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 Capital Market Line (CML)</a:t>
            </a:r>
            <a:endParaRPr lang="zh-CN" altLang="en-US" dirty="0"/>
          </a:p>
        </p:txBody>
      </p:sp>
      <p:sp>
        <p:nvSpPr>
          <p:cNvPr id="3" name="文本占位符 2"/>
          <p:cNvSpPr>
            <a:spLocks noGrp="1"/>
          </p:cNvSpPr>
          <p:nvPr>
            <p:ph type="body" sz="quarter" idx="10"/>
          </p:nvPr>
        </p:nvSpPr>
        <p:spPr/>
        <p:txBody>
          <a:bodyPr/>
          <a:lstStyle/>
          <a:p>
            <a:r>
              <a:rPr lang="en-US" altLang="zh-CN" b="0" dirty="0" smtClean="0"/>
              <a:t>The point of tangency – Portfolio P, is known as the market portfolio. When one can lent or borrow money use riskless rate,</a:t>
            </a:r>
            <a:r>
              <a:rPr lang="zh-CN" altLang="en-US" b="0" dirty="0" smtClean="0"/>
              <a:t> </a:t>
            </a:r>
            <a:r>
              <a:rPr lang="en-US" altLang="zh-CN" b="0" dirty="0" smtClean="0"/>
              <a:t>investor will hold a combination of the market portfolio and the risk-free asset.</a:t>
            </a:r>
          </a:p>
          <a:p>
            <a:r>
              <a:rPr lang="en-US" altLang="zh-CN" b="0" dirty="0" smtClean="0"/>
              <a:t>Risk-averse investors will create lower risk portfolios by lending (i.e., investing in the risk-free asset). More risk-tolerant investors will increase portfolio return by borrowing at the risk-free rate.</a:t>
            </a:r>
          </a:p>
          <a:p>
            <a:endParaRPr lang="zh-CN" altLang="en-US" b="0" dirty="0"/>
          </a:p>
        </p:txBody>
      </p:sp>
      <p:grpSp>
        <p:nvGrpSpPr>
          <p:cNvPr id="4" name="Group 3"/>
          <p:cNvGrpSpPr/>
          <p:nvPr/>
        </p:nvGrpSpPr>
        <p:grpSpPr>
          <a:xfrm>
            <a:off x="1714201" y="4044717"/>
            <a:ext cx="6015337" cy="2707452"/>
            <a:chOff x="1356672" y="3524150"/>
            <a:chExt cx="5771823" cy="2576114"/>
          </a:xfrm>
        </p:grpSpPr>
        <p:cxnSp>
          <p:nvCxnSpPr>
            <p:cNvPr id="5" name="Straight Connector 4"/>
            <p:cNvCxnSpPr/>
            <p:nvPr/>
          </p:nvCxnSpPr>
          <p:spPr bwMode="auto">
            <a:xfrm>
              <a:off x="2553941" y="5918895"/>
              <a:ext cx="283527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7"/>
            <p:cNvCxnSpPr/>
            <p:nvPr/>
          </p:nvCxnSpPr>
          <p:spPr bwMode="auto">
            <a:xfrm rot="5400000" flipH="1" flipV="1">
              <a:off x="1451421" y="4816376"/>
              <a:ext cx="2201863"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0"/>
            <p:cNvCxnSpPr/>
            <p:nvPr/>
          </p:nvCxnSpPr>
          <p:spPr bwMode="auto">
            <a:xfrm flipV="1">
              <a:off x="2553941" y="4031357"/>
              <a:ext cx="2663825" cy="1336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5"/>
            <p:cNvSpPr txBox="1">
              <a:spLocks noChangeArrowheads="1"/>
            </p:cNvSpPr>
            <p:nvPr/>
          </p:nvSpPr>
          <p:spPr bwMode="auto">
            <a:xfrm>
              <a:off x="3928562" y="4057803"/>
              <a:ext cx="1203222" cy="351416"/>
            </a:xfrm>
            <a:prstGeom prst="rect">
              <a:avLst/>
            </a:prstGeom>
            <a:noFill/>
            <a:ln w="9525">
              <a:noFill/>
              <a:miter lim="800000"/>
              <a:headEnd/>
              <a:tailEnd/>
            </a:ln>
          </p:spPr>
          <p:txBody>
            <a:bodyPr>
              <a:spAutoFit/>
            </a:bodyPr>
            <a:lstStyle/>
            <a:p>
              <a:r>
                <a:rPr lang="en-US" altLang="zh-CN" b="1" dirty="0">
                  <a:solidFill>
                    <a:srgbClr val="C00000"/>
                  </a:solidFill>
                  <a:latin typeface="Calibri" pitchFamily="34" charset="0"/>
                </a:rPr>
                <a:t>Borrowing</a:t>
              </a:r>
              <a:endParaRPr lang="zh-CN" altLang="en-US" b="1" dirty="0">
                <a:solidFill>
                  <a:srgbClr val="C00000"/>
                </a:solidFill>
                <a:latin typeface="Calibri" pitchFamily="34" charset="0"/>
              </a:endParaRPr>
            </a:p>
          </p:txBody>
        </p:sp>
        <p:sp>
          <p:nvSpPr>
            <p:cNvPr id="9" name="TextBox 16"/>
            <p:cNvSpPr txBox="1">
              <a:spLocks noChangeArrowheads="1"/>
            </p:cNvSpPr>
            <p:nvPr/>
          </p:nvSpPr>
          <p:spPr bwMode="auto">
            <a:xfrm>
              <a:off x="2608283" y="4687962"/>
              <a:ext cx="913084" cy="351416"/>
            </a:xfrm>
            <a:prstGeom prst="rect">
              <a:avLst/>
            </a:prstGeom>
            <a:noFill/>
            <a:ln w="9525">
              <a:noFill/>
              <a:miter lim="800000"/>
              <a:headEnd/>
              <a:tailEnd/>
            </a:ln>
          </p:spPr>
          <p:txBody>
            <a:bodyPr>
              <a:spAutoFit/>
            </a:bodyPr>
            <a:lstStyle/>
            <a:p>
              <a:r>
                <a:rPr lang="en-US" altLang="zh-CN" b="1" dirty="0">
                  <a:solidFill>
                    <a:srgbClr val="C00000"/>
                  </a:solidFill>
                  <a:latin typeface="Calibri" pitchFamily="34" charset="0"/>
                </a:rPr>
                <a:t>Lending</a:t>
              </a:r>
              <a:endParaRPr lang="zh-CN" altLang="en-US" b="1" dirty="0">
                <a:solidFill>
                  <a:srgbClr val="C00000"/>
                </a:solidFill>
                <a:latin typeface="Calibri" pitchFamily="34" charset="0"/>
              </a:endParaRPr>
            </a:p>
          </p:txBody>
        </p:sp>
        <p:sp>
          <p:nvSpPr>
            <p:cNvPr id="10" name="TextBox 17"/>
            <p:cNvSpPr txBox="1">
              <a:spLocks noChangeArrowheads="1"/>
            </p:cNvSpPr>
            <p:nvPr/>
          </p:nvSpPr>
          <p:spPr bwMode="auto">
            <a:xfrm>
              <a:off x="3756673" y="5053904"/>
              <a:ext cx="1295993" cy="380701"/>
            </a:xfrm>
            <a:prstGeom prst="rect">
              <a:avLst/>
            </a:prstGeom>
            <a:noFill/>
            <a:ln w="9525">
              <a:noFill/>
              <a:miter lim="800000"/>
              <a:headEnd/>
              <a:tailEnd/>
            </a:ln>
          </p:spPr>
          <p:txBody>
            <a:bodyPr>
              <a:spAutoFit/>
            </a:bodyPr>
            <a:lstStyle/>
            <a:p>
              <a:r>
                <a:rPr lang="en-US" altLang="zh-CN" sz="2000" dirty="0">
                  <a:latin typeface="Calibri" pitchFamily="34" charset="0"/>
                </a:rPr>
                <a:t>Portfolio P</a:t>
              </a:r>
              <a:endParaRPr lang="zh-CN" altLang="en-US" sz="2000" dirty="0">
                <a:latin typeface="Calibri" pitchFamily="34" charset="0"/>
              </a:endParaRPr>
            </a:p>
          </p:txBody>
        </p:sp>
        <p:cxnSp>
          <p:nvCxnSpPr>
            <p:cNvPr id="11" name="Straight Arrow Connector 19"/>
            <p:cNvCxnSpPr/>
            <p:nvPr/>
          </p:nvCxnSpPr>
          <p:spPr bwMode="auto">
            <a:xfrm flipH="1" flipV="1">
              <a:off x="3707904" y="4851436"/>
              <a:ext cx="135088" cy="20227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 Box 11"/>
            <p:cNvSpPr txBox="1">
              <a:spLocks noChangeArrowheads="1"/>
            </p:cNvSpPr>
            <p:nvPr/>
          </p:nvSpPr>
          <p:spPr bwMode="auto">
            <a:xfrm>
              <a:off x="5399707" y="5693573"/>
              <a:ext cx="1728788" cy="406691"/>
            </a:xfrm>
            <a:prstGeom prst="rect">
              <a:avLst/>
            </a:prstGeom>
            <a:noFill/>
            <a:ln w="9525">
              <a:noFill/>
              <a:miter lim="800000"/>
              <a:headEnd/>
              <a:tailEnd/>
            </a:ln>
          </p:spPr>
          <p:txBody>
            <a:bodyPr>
              <a:spAutoFit/>
            </a:bodyPr>
            <a:lstStyle/>
            <a:p>
              <a:pPr>
                <a:lnSpc>
                  <a:spcPct val="120000"/>
                </a:lnSpc>
                <a:spcBef>
                  <a:spcPts val="0"/>
                </a:spcBef>
                <a:buClr>
                  <a:srgbClr val="990000"/>
                </a:buClr>
                <a:buFont typeface="Wingdings" pitchFamily="2" charset="2"/>
                <a:buNone/>
              </a:pPr>
              <a:r>
                <a:rPr lang="en-US" altLang="zh-CN" sz="2000" dirty="0"/>
                <a:t>Risk(</a:t>
              </a:r>
              <a:r>
                <a:rPr lang="el-GR" altLang="zh-CN" sz="2000" dirty="0">
                  <a:cs typeface="Times New Roman" pitchFamily="18" charset="0"/>
                </a:rPr>
                <a:t>σ</a:t>
              </a:r>
              <a:r>
                <a:rPr lang="en-US" altLang="zh-CN" sz="2000" baseline="-25000" dirty="0">
                  <a:cs typeface="Times New Roman" pitchFamily="18" charset="0"/>
                </a:rPr>
                <a:t>p</a:t>
              </a:r>
              <a:r>
                <a:rPr lang="en-US" altLang="zh-CN" sz="2000" dirty="0"/>
                <a:t>)</a:t>
              </a:r>
            </a:p>
          </p:txBody>
        </p:sp>
        <p:sp>
          <p:nvSpPr>
            <p:cNvPr id="13" name="Text Box 12"/>
            <p:cNvSpPr txBox="1">
              <a:spLocks noChangeArrowheads="1"/>
            </p:cNvSpPr>
            <p:nvPr/>
          </p:nvSpPr>
          <p:spPr bwMode="auto">
            <a:xfrm>
              <a:off x="1356672" y="3524150"/>
              <a:ext cx="1175943" cy="406691"/>
            </a:xfrm>
            <a:prstGeom prst="rect">
              <a:avLst/>
            </a:prstGeom>
            <a:noFill/>
            <a:ln w="9525">
              <a:noFill/>
              <a:miter lim="800000"/>
              <a:headEnd/>
              <a:tailEnd/>
            </a:ln>
          </p:spPr>
          <p:txBody>
            <a:bodyPr wrap="square">
              <a:spAutoFit/>
            </a:bodyPr>
            <a:lstStyle/>
            <a:p>
              <a:pPr marL="742950" indent="-285750" algn="r">
                <a:lnSpc>
                  <a:spcPct val="120000"/>
                </a:lnSpc>
                <a:spcBef>
                  <a:spcPct val="50000"/>
                </a:spcBef>
                <a:buClr>
                  <a:srgbClr val="990000"/>
                </a:buClr>
                <a:buFont typeface="Wingdings" pitchFamily="2" charset="2"/>
                <a:buNone/>
              </a:pPr>
              <a:r>
                <a:rPr lang="en-US" altLang="zh-CN" sz="2000" dirty="0"/>
                <a:t>E(</a:t>
              </a:r>
              <a:r>
                <a:rPr lang="en-US" altLang="zh-CN" sz="2000" dirty="0" err="1"/>
                <a:t>R</a:t>
              </a:r>
              <a:r>
                <a:rPr lang="en-US" altLang="zh-CN" sz="2000" baseline="-25000" dirty="0" err="1"/>
                <a:t>p</a:t>
              </a:r>
              <a:r>
                <a:rPr lang="en-US" altLang="zh-CN" sz="2000" dirty="0"/>
                <a:t>)</a:t>
              </a:r>
            </a:p>
          </p:txBody>
        </p:sp>
      </p:grpSp>
    </p:spTree>
    <p:extLst>
      <p:ext uri="{BB962C8B-B14F-4D97-AF65-F5344CB8AC3E}">
        <p14:creationId xmlns:p14="http://schemas.microsoft.com/office/powerpoint/2010/main" val="183783018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 Systematic and Unsystematic Risk</a:t>
            </a:r>
            <a:endParaRPr lang="zh-CN" altLang="en-US" dirty="0"/>
          </a:p>
        </p:txBody>
      </p:sp>
      <p:sp>
        <p:nvSpPr>
          <p:cNvPr id="3" name="文本占位符 2"/>
          <p:cNvSpPr>
            <a:spLocks noGrp="1"/>
          </p:cNvSpPr>
          <p:nvPr>
            <p:ph type="body" sz="quarter" idx="10"/>
          </p:nvPr>
        </p:nvSpPr>
        <p:spPr/>
        <p:txBody>
          <a:bodyPr/>
          <a:lstStyle/>
          <a:p>
            <a:r>
              <a:rPr lang="en-US" altLang="zh-CN" dirty="0" smtClean="0"/>
              <a:t>Total risk= systematic risk+ unsystematic risk</a:t>
            </a:r>
          </a:p>
          <a:p>
            <a:r>
              <a:rPr lang="en-US" altLang="zh-CN" dirty="0" smtClean="0"/>
              <a:t>Systematic risk</a:t>
            </a:r>
            <a:r>
              <a:rPr lang="zh-CN" altLang="en-US" dirty="0" smtClean="0"/>
              <a:t> </a:t>
            </a:r>
            <a:r>
              <a:rPr lang="en-US" altLang="zh-CN" dirty="0" smtClean="0"/>
              <a:t>is the only important</a:t>
            </a:r>
            <a:r>
              <a:rPr lang="zh-CN" altLang="en-US" dirty="0" smtClean="0"/>
              <a:t> </a:t>
            </a:r>
            <a:r>
              <a:rPr lang="en-US" altLang="zh-CN" dirty="0" smtClean="0"/>
              <a:t>ingredient</a:t>
            </a:r>
            <a:r>
              <a:rPr lang="zh-CN" altLang="en-US" dirty="0" smtClean="0"/>
              <a:t> </a:t>
            </a:r>
            <a:r>
              <a:rPr lang="en-US" altLang="zh-CN" dirty="0" smtClean="0"/>
              <a:t>in determining</a:t>
            </a:r>
            <a:r>
              <a:rPr lang="zh-CN" altLang="en-US" dirty="0" smtClean="0"/>
              <a:t> </a:t>
            </a:r>
            <a:r>
              <a:rPr lang="en-US" altLang="zh-CN" dirty="0" smtClean="0"/>
              <a:t>expected</a:t>
            </a:r>
            <a:r>
              <a:rPr lang="zh-CN" altLang="en-US" dirty="0" smtClean="0"/>
              <a:t> </a:t>
            </a:r>
            <a:r>
              <a:rPr lang="en-US" altLang="zh-CN" dirty="0" smtClean="0"/>
              <a:t>returns and that nonsystematic risk plays no role</a:t>
            </a:r>
          </a:p>
          <a:p>
            <a:endParaRPr lang="zh-CN" altLang="en-US" dirty="0"/>
          </a:p>
        </p:txBody>
      </p:sp>
      <p:grpSp>
        <p:nvGrpSpPr>
          <p:cNvPr id="6" name="Group 12">
            <a:extLst>
              <a:ext uri="{FF2B5EF4-FFF2-40B4-BE49-F238E27FC236}">
                <a16:creationId xmlns:a16="http://schemas.microsoft.com/office/drawing/2014/main" xmlns="" id="{D8B1A378-AD82-0348-8BF3-BE16345E1E8A}"/>
              </a:ext>
            </a:extLst>
          </p:cNvPr>
          <p:cNvGrpSpPr/>
          <p:nvPr/>
        </p:nvGrpSpPr>
        <p:grpSpPr>
          <a:xfrm>
            <a:off x="1052630" y="2571749"/>
            <a:ext cx="7526244" cy="4029075"/>
            <a:chOff x="1025761" y="2883710"/>
            <a:chExt cx="7526244" cy="3353602"/>
          </a:xfrm>
        </p:grpSpPr>
        <p:sp>
          <p:nvSpPr>
            <p:cNvPr id="7" name="Line 6"/>
            <p:cNvSpPr>
              <a:spLocks noChangeShapeType="1"/>
            </p:cNvSpPr>
            <p:nvPr/>
          </p:nvSpPr>
          <p:spPr bwMode="auto">
            <a:xfrm flipV="1">
              <a:off x="2232025" y="3239540"/>
              <a:ext cx="0" cy="2087564"/>
            </a:xfrm>
            <a:prstGeom prst="line">
              <a:avLst/>
            </a:prstGeom>
            <a:noFill/>
            <a:ln w="28575">
              <a:solidFill>
                <a:schemeClr val="tx1"/>
              </a:solidFill>
              <a:round/>
              <a:headEnd/>
              <a:tailEnd type="triangle" w="med" len="med"/>
            </a:ln>
          </p:spPr>
          <p:txBody>
            <a:bodyPr>
              <a:spAutoFit/>
            </a:bodyPr>
            <a:lstStyle/>
            <a:p>
              <a:endParaRPr lang="zh-CN" altLang="en-US"/>
            </a:p>
          </p:txBody>
        </p:sp>
        <p:sp>
          <p:nvSpPr>
            <p:cNvPr id="8" name="Line 7"/>
            <p:cNvSpPr>
              <a:spLocks noChangeShapeType="1"/>
            </p:cNvSpPr>
            <p:nvPr/>
          </p:nvSpPr>
          <p:spPr bwMode="auto">
            <a:xfrm>
              <a:off x="2232025" y="5327103"/>
              <a:ext cx="4537075" cy="0"/>
            </a:xfrm>
            <a:prstGeom prst="line">
              <a:avLst/>
            </a:prstGeom>
            <a:noFill/>
            <a:ln w="28575">
              <a:solidFill>
                <a:schemeClr val="tx1"/>
              </a:solidFill>
              <a:round/>
              <a:headEnd/>
              <a:tailEnd type="triangle" w="med" len="med"/>
            </a:ln>
          </p:spPr>
          <p:txBody>
            <a:bodyPr>
              <a:spAutoFit/>
            </a:bodyPr>
            <a:lstStyle/>
            <a:p>
              <a:endParaRPr lang="zh-CN" altLang="en-US"/>
            </a:p>
          </p:txBody>
        </p:sp>
        <p:sp>
          <p:nvSpPr>
            <p:cNvPr id="9" name="Freeform 8"/>
            <p:cNvSpPr>
              <a:spLocks/>
            </p:cNvSpPr>
            <p:nvPr/>
          </p:nvSpPr>
          <p:spPr bwMode="auto">
            <a:xfrm>
              <a:off x="3228975" y="3815802"/>
              <a:ext cx="2387600" cy="1008063"/>
            </a:xfrm>
            <a:custGeom>
              <a:avLst/>
              <a:gdLst>
                <a:gd name="T0" fmla="*/ 7 w 1504"/>
                <a:gd name="T1" fmla="*/ 635 h 635"/>
                <a:gd name="T2" fmla="*/ 98 w 1504"/>
                <a:gd name="T3" fmla="*/ 408 h 635"/>
                <a:gd name="T4" fmla="*/ 597 w 1504"/>
                <a:gd name="T5" fmla="*/ 136 h 635"/>
                <a:gd name="T6" fmla="*/ 1504 w 1504"/>
                <a:gd name="T7" fmla="*/ 0 h 635"/>
                <a:gd name="T8" fmla="*/ 0 60000 65536"/>
                <a:gd name="T9" fmla="*/ 0 60000 65536"/>
                <a:gd name="T10" fmla="*/ 0 60000 65536"/>
                <a:gd name="T11" fmla="*/ 0 60000 65536"/>
                <a:gd name="T12" fmla="*/ 0 w 1504"/>
                <a:gd name="T13" fmla="*/ 0 h 635"/>
                <a:gd name="T14" fmla="*/ 1504 w 1504"/>
                <a:gd name="T15" fmla="*/ 635 h 635"/>
              </a:gdLst>
              <a:ahLst/>
              <a:cxnLst>
                <a:cxn ang="T8">
                  <a:pos x="T0" y="T1"/>
                </a:cxn>
                <a:cxn ang="T9">
                  <a:pos x="T2" y="T3"/>
                </a:cxn>
                <a:cxn ang="T10">
                  <a:pos x="T4" y="T5"/>
                </a:cxn>
                <a:cxn ang="T11">
                  <a:pos x="T6" y="T7"/>
                </a:cxn>
              </a:cxnLst>
              <a:rect l="T12" t="T13" r="T14" b="T15"/>
              <a:pathLst>
                <a:path w="1504" h="635">
                  <a:moveTo>
                    <a:pt x="7" y="635"/>
                  </a:moveTo>
                  <a:cubicBezTo>
                    <a:pt x="3" y="563"/>
                    <a:pt x="0" y="491"/>
                    <a:pt x="98" y="408"/>
                  </a:cubicBezTo>
                  <a:cubicBezTo>
                    <a:pt x="196" y="325"/>
                    <a:pt x="363" y="204"/>
                    <a:pt x="597" y="136"/>
                  </a:cubicBezTo>
                  <a:cubicBezTo>
                    <a:pt x="831" y="68"/>
                    <a:pt x="1167" y="34"/>
                    <a:pt x="1504" y="0"/>
                  </a:cubicBezTo>
                </a:path>
              </a:pathLst>
            </a:custGeom>
            <a:noFill/>
            <a:ln w="28575">
              <a:solidFill>
                <a:srgbClr val="FF0000"/>
              </a:solidFill>
              <a:round/>
              <a:headEnd/>
              <a:tailEnd/>
            </a:ln>
          </p:spPr>
          <p:txBody>
            <a:bodyPr>
              <a:spAutoFit/>
            </a:bodyPr>
            <a:lstStyle/>
            <a:p>
              <a:endParaRPr lang="zh-CN" altLang="en-US"/>
            </a:p>
          </p:txBody>
        </p:sp>
        <p:sp>
          <p:nvSpPr>
            <p:cNvPr id="10" name="Line 9"/>
            <p:cNvSpPr>
              <a:spLocks noChangeShapeType="1"/>
            </p:cNvSpPr>
            <p:nvPr/>
          </p:nvSpPr>
          <p:spPr bwMode="auto">
            <a:xfrm flipV="1">
              <a:off x="2232025" y="3364951"/>
              <a:ext cx="3492103" cy="1414463"/>
            </a:xfrm>
            <a:prstGeom prst="line">
              <a:avLst/>
            </a:prstGeom>
            <a:noFill/>
            <a:ln w="28575">
              <a:solidFill>
                <a:schemeClr val="accent2"/>
              </a:solidFill>
              <a:round/>
              <a:headEnd/>
              <a:tailEnd/>
            </a:ln>
          </p:spPr>
          <p:txBody>
            <a:bodyPr wrap="square">
              <a:spAutoFit/>
            </a:bodyPr>
            <a:lstStyle/>
            <a:p>
              <a:endParaRPr lang="zh-CN" altLang="en-US"/>
            </a:p>
          </p:txBody>
        </p:sp>
        <p:sp>
          <p:nvSpPr>
            <p:cNvPr id="11" name="Rectangle 10"/>
            <p:cNvSpPr>
              <a:spLocks noChangeArrowheads="1"/>
            </p:cNvSpPr>
            <p:nvPr/>
          </p:nvSpPr>
          <p:spPr bwMode="auto">
            <a:xfrm>
              <a:off x="3346450" y="3976140"/>
              <a:ext cx="774700" cy="276225"/>
            </a:xfrm>
            <a:prstGeom prst="rect">
              <a:avLst/>
            </a:prstGeom>
            <a:noFill/>
            <a:ln w="9525">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pPr>
              <a:r>
                <a:rPr lang="en-US" altLang="zh-CN" sz="1000" dirty="0"/>
                <a:t>●</a:t>
              </a:r>
            </a:p>
          </p:txBody>
        </p:sp>
        <p:sp>
          <p:nvSpPr>
            <p:cNvPr id="12" name="Text Box 11"/>
            <p:cNvSpPr txBox="1">
              <a:spLocks noChangeArrowheads="1"/>
            </p:cNvSpPr>
            <p:nvPr/>
          </p:nvSpPr>
          <p:spPr bwMode="auto">
            <a:xfrm>
              <a:off x="6335712" y="5039766"/>
              <a:ext cx="2135393" cy="424732"/>
            </a:xfrm>
            <a:prstGeom prst="rect">
              <a:avLst/>
            </a:prstGeom>
            <a:noFill/>
            <a:ln w="9525">
              <a:noFill/>
              <a:miter lim="800000"/>
              <a:headEnd/>
              <a:tailEnd/>
            </a:ln>
          </p:spPr>
          <p:txBody>
            <a:bodyPr wrap="square">
              <a:spAutoFit/>
            </a:bodyPr>
            <a:lstStyle/>
            <a:p>
              <a:pPr marL="742950" indent="-285750">
                <a:lnSpc>
                  <a:spcPct val="120000"/>
                </a:lnSpc>
                <a:spcBef>
                  <a:spcPct val="50000"/>
                </a:spcBef>
                <a:buClr>
                  <a:srgbClr val="990000"/>
                </a:buClr>
                <a:buFont typeface="Wingdings" pitchFamily="2" charset="2"/>
                <a:buNone/>
              </a:pPr>
              <a:r>
                <a:rPr lang="en-US" altLang="zh-CN" dirty="0"/>
                <a:t>Risk(</a:t>
              </a:r>
              <a:r>
                <a:rPr lang="el-GR" altLang="zh-CN" dirty="0">
                  <a:cs typeface="Times New Roman" pitchFamily="18" charset="0"/>
                </a:rPr>
                <a:t>σ</a:t>
              </a:r>
              <a:r>
                <a:rPr lang="en-US" altLang="zh-CN" baseline="-25000" dirty="0">
                  <a:cs typeface="Times New Roman" pitchFamily="18" charset="0"/>
                </a:rPr>
                <a:t>p</a:t>
              </a:r>
              <a:r>
                <a:rPr lang="en-US" altLang="zh-CN" dirty="0"/>
                <a:t>)</a:t>
              </a:r>
            </a:p>
          </p:txBody>
        </p:sp>
        <p:sp>
          <p:nvSpPr>
            <p:cNvPr id="13" name="Text Box 12"/>
            <p:cNvSpPr txBox="1">
              <a:spLocks noChangeArrowheads="1"/>
            </p:cNvSpPr>
            <p:nvPr/>
          </p:nvSpPr>
          <p:spPr bwMode="auto">
            <a:xfrm>
              <a:off x="1025761" y="2883710"/>
              <a:ext cx="1452521" cy="424732"/>
            </a:xfrm>
            <a:prstGeom prst="rect">
              <a:avLst/>
            </a:prstGeom>
            <a:noFill/>
            <a:ln w="9525">
              <a:noFill/>
              <a:miter lim="800000"/>
              <a:headEnd/>
              <a:tailEnd/>
            </a:ln>
          </p:spPr>
          <p:txBody>
            <a:bodyPr wrap="square">
              <a:spAutoFit/>
            </a:bodyPr>
            <a:lstStyle/>
            <a:p>
              <a:pPr marL="742950" indent="-285750" algn="r">
                <a:lnSpc>
                  <a:spcPct val="120000"/>
                </a:lnSpc>
                <a:spcBef>
                  <a:spcPct val="50000"/>
                </a:spcBef>
                <a:buClr>
                  <a:srgbClr val="990000"/>
                </a:buClr>
                <a:buFont typeface="Wingdings" pitchFamily="2" charset="2"/>
                <a:buNone/>
              </a:pPr>
              <a:r>
                <a:rPr lang="en-US" altLang="zh-CN" dirty="0"/>
                <a:t>E(</a:t>
              </a:r>
              <a:r>
                <a:rPr lang="en-US" altLang="zh-CN" dirty="0" err="1"/>
                <a:t>R</a:t>
              </a:r>
              <a:r>
                <a:rPr lang="en-US" altLang="zh-CN" baseline="-25000" dirty="0" err="1"/>
                <a:t>p</a:t>
              </a:r>
              <a:r>
                <a:rPr lang="en-US" altLang="zh-CN" dirty="0"/>
                <a:t>)</a:t>
              </a:r>
            </a:p>
          </p:txBody>
        </p:sp>
        <p:sp>
          <p:nvSpPr>
            <p:cNvPr id="14" name="Text Box 13"/>
            <p:cNvSpPr txBox="1">
              <a:spLocks noChangeArrowheads="1"/>
            </p:cNvSpPr>
            <p:nvPr/>
          </p:nvSpPr>
          <p:spPr bwMode="auto">
            <a:xfrm>
              <a:off x="5479644" y="2960261"/>
              <a:ext cx="2513419" cy="424732"/>
            </a:xfrm>
            <a:prstGeom prst="rect">
              <a:avLst/>
            </a:prstGeom>
            <a:noFill/>
            <a:ln w="9525">
              <a:noFill/>
              <a:miter lim="800000"/>
              <a:headEnd/>
              <a:tailEnd/>
            </a:ln>
          </p:spPr>
          <p:txBody>
            <a:bodyPr wrap="square">
              <a:spAutoFit/>
            </a:bodyPr>
            <a:lstStyle/>
            <a:p>
              <a:pPr>
                <a:lnSpc>
                  <a:spcPct val="120000"/>
                </a:lnSpc>
                <a:spcBef>
                  <a:spcPts val="0"/>
                </a:spcBef>
                <a:buClr>
                  <a:srgbClr val="990000"/>
                </a:buClr>
                <a:buFont typeface="Wingdings" pitchFamily="2" charset="2"/>
                <a:buNone/>
              </a:pPr>
              <a:r>
                <a:rPr lang="en-US" altLang="zh-CN" dirty="0"/>
                <a:t>Capital Market Line</a:t>
              </a:r>
            </a:p>
          </p:txBody>
        </p:sp>
        <p:sp>
          <p:nvSpPr>
            <p:cNvPr id="15" name="Text Box 14"/>
            <p:cNvSpPr txBox="1">
              <a:spLocks noChangeArrowheads="1"/>
            </p:cNvSpPr>
            <p:nvPr/>
          </p:nvSpPr>
          <p:spPr bwMode="auto">
            <a:xfrm>
              <a:off x="5616575" y="3588790"/>
              <a:ext cx="2935430" cy="424732"/>
            </a:xfrm>
            <a:prstGeom prst="rect">
              <a:avLst/>
            </a:prstGeom>
            <a:noFill/>
            <a:ln w="9525">
              <a:noFill/>
              <a:miter lim="800000"/>
              <a:headEnd/>
              <a:tailEnd/>
            </a:ln>
          </p:spPr>
          <p:txBody>
            <a:bodyPr wrap="square">
              <a:spAutoFit/>
            </a:bodyPr>
            <a:lstStyle>
              <a:defPPr>
                <a:defRPr lang="zh-CN"/>
              </a:defPPr>
              <a:lvl1pPr>
                <a:lnSpc>
                  <a:spcPct val="120000"/>
                </a:lnSpc>
                <a:spcBef>
                  <a:spcPts val="0"/>
                </a:spcBef>
                <a:buClr>
                  <a:srgbClr val="990000"/>
                </a:buClr>
                <a:buFont typeface="Wingdings" pitchFamily="2" charset="2"/>
                <a:buNone/>
                <a:defRPr sz="1600"/>
              </a:lvl1pPr>
            </a:lstStyle>
            <a:p>
              <a:r>
                <a:rPr lang="en-US" altLang="zh-CN" sz="1800" dirty="0"/>
                <a:t>Efficient Frontier</a:t>
              </a:r>
            </a:p>
          </p:txBody>
        </p:sp>
        <p:sp>
          <p:nvSpPr>
            <p:cNvPr id="16" name="Text Box 15"/>
            <p:cNvSpPr txBox="1">
              <a:spLocks noChangeArrowheads="1"/>
            </p:cNvSpPr>
            <p:nvPr/>
          </p:nvSpPr>
          <p:spPr bwMode="auto">
            <a:xfrm>
              <a:off x="3262313" y="3704677"/>
              <a:ext cx="649288" cy="385763"/>
            </a:xfrm>
            <a:prstGeom prst="rect">
              <a:avLst/>
            </a:prstGeom>
            <a:noFill/>
            <a:ln w="9525">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pPr>
              <a:r>
                <a:rPr lang="en-US" altLang="zh-CN" sz="1600"/>
                <a:t>M</a:t>
              </a:r>
            </a:p>
          </p:txBody>
        </p:sp>
        <p:sp>
          <p:nvSpPr>
            <p:cNvPr id="17" name="Text Box 16"/>
            <p:cNvSpPr txBox="1">
              <a:spLocks noChangeArrowheads="1"/>
            </p:cNvSpPr>
            <p:nvPr/>
          </p:nvSpPr>
          <p:spPr bwMode="auto">
            <a:xfrm>
              <a:off x="1370013" y="4412703"/>
              <a:ext cx="935038" cy="385763"/>
            </a:xfrm>
            <a:prstGeom prst="rect">
              <a:avLst/>
            </a:prstGeom>
            <a:noFill/>
            <a:ln w="9525">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pPr>
              <a:r>
                <a:rPr lang="en-US" altLang="zh-CN" sz="1600" dirty="0"/>
                <a:t>R</a:t>
              </a:r>
              <a:r>
                <a:rPr lang="en-US" altLang="zh-CN" sz="1600" baseline="-25000" dirty="0"/>
                <a:t>f</a:t>
              </a:r>
              <a:endParaRPr lang="en-US" altLang="zh-CN" sz="1600" dirty="0"/>
            </a:p>
          </p:txBody>
        </p:sp>
        <p:sp>
          <p:nvSpPr>
            <p:cNvPr id="18" name="Rectangle 17"/>
            <p:cNvSpPr>
              <a:spLocks noChangeArrowheads="1"/>
            </p:cNvSpPr>
            <p:nvPr/>
          </p:nvSpPr>
          <p:spPr bwMode="auto">
            <a:xfrm>
              <a:off x="3240088" y="4466678"/>
              <a:ext cx="742950" cy="238125"/>
            </a:xfrm>
            <a:prstGeom prst="rect">
              <a:avLst/>
            </a:prstGeom>
            <a:noFill/>
            <a:ln w="9525">
              <a:noFill/>
              <a:miter lim="800000"/>
              <a:headEnd/>
              <a:tailEnd/>
            </a:ln>
          </p:spPr>
          <p:txBody>
            <a:bodyPr wrap="none">
              <a:spAutoFit/>
            </a:bodyPr>
            <a:lstStyle/>
            <a:p>
              <a:pPr marL="742950" indent="-285750">
                <a:lnSpc>
                  <a:spcPct val="120000"/>
                </a:lnSpc>
                <a:spcBef>
                  <a:spcPct val="50000"/>
                </a:spcBef>
                <a:buClr>
                  <a:srgbClr val="990000"/>
                </a:buClr>
                <a:buFont typeface="Wingdings" pitchFamily="2" charset="2"/>
                <a:buNone/>
              </a:pPr>
              <a:r>
                <a:rPr lang="en-US" altLang="zh-CN" sz="800">
                  <a:solidFill>
                    <a:srgbClr val="FF0000"/>
                  </a:solidFill>
                </a:rPr>
                <a:t>●</a:t>
              </a:r>
            </a:p>
          </p:txBody>
        </p:sp>
        <p:sp>
          <p:nvSpPr>
            <p:cNvPr id="19" name="Text Box 18"/>
            <p:cNvSpPr txBox="1">
              <a:spLocks noChangeArrowheads="1"/>
            </p:cNvSpPr>
            <p:nvPr/>
          </p:nvSpPr>
          <p:spPr bwMode="auto">
            <a:xfrm>
              <a:off x="3346450" y="4376656"/>
              <a:ext cx="865188" cy="299996"/>
            </a:xfrm>
            <a:prstGeom prst="rect">
              <a:avLst/>
            </a:prstGeom>
            <a:noFill/>
            <a:ln w="9525">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pPr>
              <a:r>
                <a:rPr lang="en-US" altLang="zh-CN" sz="1600" dirty="0">
                  <a:solidFill>
                    <a:srgbClr val="FF0000"/>
                  </a:solidFill>
                </a:rPr>
                <a:t>A</a:t>
              </a:r>
            </a:p>
          </p:txBody>
        </p:sp>
        <p:sp>
          <p:nvSpPr>
            <p:cNvPr id="20" name="Line 19"/>
            <p:cNvSpPr>
              <a:spLocks noChangeShapeType="1"/>
            </p:cNvSpPr>
            <p:nvPr/>
          </p:nvSpPr>
          <p:spPr bwMode="auto">
            <a:xfrm flipH="1">
              <a:off x="2243137" y="4585740"/>
              <a:ext cx="1584000" cy="29965"/>
            </a:xfrm>
            <a:prstGeom prst="line">
              <a:avLst/>
            </a:prstGeom>
            <a:noFill/>
            <a:ln w="19050">
              <a:solidFill>
                <a:srgbClr val="000080"/>
              </a:solidFill>
              <a:prstDash val="dash"/>
              <a:round/>
              <a:headEnd/>
              <a:tailEnd/>
            </a:ln>
          </p:spPr>
          <p:txBody>
            <a:bodyPr wrap="square">
              <a:spAutoFit/>
            </a:bodyPr>
            <a:lstStyle/>
            <a:p>
              <a:endParaRPr lang="zh-CN" altLang="en-US"/>
            </a:p>
          </p:txBody>
        </p:sp>
        <p:sp>
          <p:nvSpPr>
            <p:cNvPr id="21" name="AutoShape 20"/>
            <p:cNvSpPr>
              <a:spLocks/>
            </p:cNvSpPr>
            <p:nvPr/>
          </p:nvSpPr>
          <p:spPr bwMode="auto">
            <a:xfrm rot="5400000">
              <a:off x="3141509" y="4190104"/>
              <a:ext cx="269682" cy="1080000"/>
            </a:xfrm>
            <a:prstGeom prst="rightBrace">
              <a:avLst>
                <a:gd name="adj1" fmla="val 36740"/>
                <a:gd name="adj2" fmla="val 50000"/>
              </a:avLst>
            </a:prstGeom>
            <a:noFill/>
            <a:ln w="9525">
              <a:solidFill>
                <a:schemeClr val="tx1"/>
              </a:solidFill>
              <a:round/>
              <a:headEnd/>
              <a:tailEnd/>
            </a:ln>
          </p:spPr>
          <p:txBody>
            <a:bodyPr anchor="ctr">
              <a:spAutoFit/>
            </a:bodyPr>
            <a:lstStyle/>
            <a:p>
              <a:endParaRPr kumimoji="1" lang="zh-CN" altLang="zh-CN" sz="2000"/>
            </a:p>
          </p:txBody>
        </p:sp>
        <p:sp>
          <p:nvSpPr>
            <p:cNvPr id="22" name="AutoShape 21"/>
            <p:cNvSpPr>
              <a:spLocks/>
            </p:cNvSpPr>
            <p:nvPr/>
          </p:nvSpPr>
          <p:spPr bwMode="auto">
            <a:xfrm rot="5400000">
              <a:off x="2333625" y="4504778"/>
              <a:ext cx="252413" cy="433388"/>
            </a:xfrm>
            <a:prstGeom prst="rightBrace">
              <a:avLst>
                <a:gd name="adj1" fmla="val 14308"/>
                <a:gd name="adj2" fmla="val 50000"/>
              </a:avLst>
            </a:prstGeom>
            <a:noFill/>
            <a:ln w="9525">
              <a:solidFill>
                <a:schemeClr val="tx1"/>
              </a:solidFill>
              <a:round/>
              <a:headEnd/>
              <a:tailEnd/>
            </a:ln>
          </p:spPr>
          <p:txBody>
            <a:bodyPr anchor="ctr">
              <a:spAutoFit/>
            </a:bodyPr>
            <a:lstStyle/>
            <a:p>
              <a:endParaRPr kumimoji="1" lang="zh-CN" altLang="zh-CN" sz="2000"/>
            </a:p>
          </p:txBody>
        </p:sp>
        <p:sp>
          <p:nvSpPr>
            <p:cNvPr id="23" name="Text Box 22"/>
            <p:cNvSpPr txBox="1">
              <a:spLocks noChangeArrowheads="1"/>
            </p:cNvSpPr>
            <p:nvPr/>
          </p:nvSpPr>
          <p:spPr bwMode="auto">
            <a:xfrm>
              <a:off x="1404317" y="5849962"/>
              <a:ext cx="2087563" cy="387350"/>
            </a:xfrm>
            <a:prstGeom prst="rect">
              <a:avLst/>
            </a:prstGeom>
            <a:noFill/>
            <a:ln w="9525">
              <a:noFill/>
              <a:miter lim="800000"/>
              <a:headEnd/>
              <a:tailEnd/>
            </a:ln>
          </p:spPr>
          <p:txBody>
            <a:bodyPr wrap="square">
              <a:spAutoFit/>
            </a:bodyPr>
            <a:lstStyle>
              <a:defPPr>
                <a:defRPr lang="zh-CN"/>
              </a:defPPr>
              <a:lvl1pPr>
                <a:lnSpc>
                  <a:spcPct val="120000"/>
                </a:lnSpc>
                <a:spcBef>
                  <a:spcPts val="0"/>
                </a:spcBef>
                <a:buClr>
                  <a:srgbClr val="990000"/>
                </a:buClr>
                <a:buFont typeface="Wingdings" pitchFamily="2" charset="2"/>
                <a:buNone/>
                <a:defRPr sz="1600"/>
              </a:lvl1pPr>
            </a:lstStyle>
            <a:p>
              <a:r>
                <a:rPr lang="en-US" altLang="zh-CN"/>
                <a:t>Systematic </a:t>
              </a:r>
              <a:r>
                <a:rPr lang="en-US" altLang="zh-CN" dirty="0"/>
                <a:t>risk</a:t>
              </a:r>
            </a:p>
          </p:txBody>
        </p:sp>
        <p:sp>
          <p:nvSpPr>
            <p:cNvPr id="24" name="AutoShape 23"/>
            <p:cNvSpPr>
              <a:spLocks noChangeArrowheads="1"/>
            </p:cNvSpPr>
            <p:nvPr/>
          </p:nvSpPr>
          <p:spPr bwMode="auto">
            <a:xfrm>
              <a:off x="2427288" y="4869903"/>
              <a:ext cx="71438" cy="949326"/>
            </a:xfrm>
            <a:prstGeom prst="upArrow">
              <a:avLst>
                <a:gd name="adj1" fmla="val 50000"/>
                <a:gd name="adj2" fmla="val 252222"/>
              </a:avLst>
            </a:prstGeom>
            <a:solidFill>
              <a:srgbClr val="0070C0">
                <a:alpha val="50000"/>
              </a:srgbClr>
            </a:solidFill>
            <a:ln w="9525">
              <a:noFill/>
              <a:miter lim="800000"/>
              <a:headEnd/>
              <a:tailEnd/>
            </a:ln>
          </p:spPr>
          <p:txBody>
            <a:bodyPr wrap="square" anchor="ctr">
              <a:spAutoFit/>
            </a:bodyPr>
            <a:lstStyle/>
            <a:p>
              <a:endParaRPr kumimoji="1" lang="zh-CN" altLang="zh-CN" sz="2000"/>
            </a:p>
          </p:txBody>
        </p:sp>
        <p:sp>
          <p:nvSpPr>
            <p:cNvPr id="25" name="Text Box 24"/>
            <p:cNvSpPr txBox="1">
              <a:spLocks noChangeArrowheads="1"/>
            </p:cNvSpPr>
            <p:nvPr/>
          </p:nvSpPr>
          <p:spPr bwMode="auto">
            <a:xfrm>
              <a:off x="2772593" y="5546179"/>
              <a:ext cx="2303463" cy="387350"/>
            </a:xfrm>
            <a:prstGeom prst="rect">
              <a:avLst/>
            </a:prstGeom>
            <a:noFill/>
            <a:ln w="9525">
              <a:noFill/>
              <a:miter lim="800000"/>
              <a:headEnd/>
              <a:tailEnd/>
            </a:ln>
          </p:spPr>
          <p:txBody>
            <a:bodyPr wrap="square">
              <a:spAutoFit/>
            </a:bodyPr>
            <a:lstStyle>
              <a:defPPr>
                <a:defRPr lang="zh-CN"/>
              </a:defPPr>
              <a:lvl1pPr>
                <a:lnSpc>
                  <a:spcPct val="120000"/>
                </a:lnSpc>
                <a:spcBef>
                  <a:spcPts val="0"/>
                </a:spcBef>
                <a:buClr>
                  <a:srgbClr val="990000"/>
                </a:buClr>
                <a:buFont typeface="Wingdings" pitchFamily="2" charset="2"/>
                <a:buNone/>
                <a:defRPr sz="1600"/>
              </a:lvl1pPr>
            </a:lstStyle>
            <a:p>
              <a:r>
                <a:rPr lang="en-US" altLang="zh-CN" dirty="0"/>
                <a:t>Unsystematic risk</a:t>
              </a:r>
            </a:p>
          </p:txBody>
        </p:sp>
        <p:sp>
          <p:nvSpPr>
            <p:cNvPr id="26" name="AutoShape 25"/>
            <p:cNvSpPr>
              <a:spLocks noChangeArrowheads="1"/>
            </p:cNvSpPr>
            <p:nvPr/>
          </p:nvSpPr>
          <p:spPr bwMode="auto">
            <a:xfrm>
              <a:off x="3203575" y="4869903"/>
              <a:ext cx="71438" cy="720725"/>
            </a:xfrm>
            <a:prstGeom prst="upArrow">
              <a:avLst>
                <a:gd name="adj1" fmla="val 50000"/>
                <a:gd name="adj2" fmla="val 252222"/>
              </a:avLst>
            </a:prstGeom>
            <a:solidFill>
              <a:srgbClr val="0070C0">
                <a:alpha val="50000"/>
              </a:srgbClr>
            </a:solidFill>
            <a:ln w="9525">
              <a:noFill/>
              <a:miter lim="800000"/>
              <a:headEnd/>
              <a:tailEnd/>
            </a:ln>
          </p:spPr>
          <p:txBody>
            <a:bodyPr wrap="none" anchor="ctr">
              <a:spAutoFit/>
            </a:bodyPr>
            <a:lstStyle/>
            <a:p>
              <a:endParaRPr kumimoji="1" lang="zh-CN" altLang="zh-CN" sz="2000"/>
            </a:p>
          </p:txBody>
        </p:sp>
      </p:grpSp>
    </p:spTree>
    <p:extLst>
      <p:ext uri="{BB962C8B-B14F-4D97-AF65-F5344CB8AC3E}">
        <p14:creationId xmlns:p14="http://schemas.microsoft.com/office/powerpoint/2010/main" val="367439576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 Systematic and Unsystematic Risk</a:t>
            </a:r>
            <a:endParaRPr lang="zh-CN" altLang="en-US" dirty="0"/>
          </a:p>
        </p:txBody>
      </p:sp>
      <p:sp>
        <p:nvSpPr>
          <p:cNvPr id="3" name="文本占位符 2"/>
          <p:cNvSpPr>
            <a:spLocks noGrp="1"/>
          </p:cNvSpPr>
          <p:nvPr>
            <p:ph type="body" sz="quarter" idx="10"/>
          </p:nvPr>
        </p:nvSpPr>
        <p:spPr/>
        <p:txBody>
          <a:bodyPr/>
          <a:lstStyle/>
          <a:p>
            <a:r>
              <a:rPr lang="en-US" altLang="zh-CN" smtClean="0"/>
              <a:t>Risk vs. Number of Portfolio Assets</a:t>
            </a:r>
          </a:p>
          <a:p>
            <a:endParaRPr lang="zh-CN" altLang="en-US" dirty="0"/>
          </a:p>
        </p:txBody>
      </p:sp>
      <p:grpSp>
        <p:nvGrpSpPr>
          <p:cNvPr id="4" name="Group 8">
            <a:extLst>
              <a:ext uri="{FF2B5EF4-FFF2-40B4-BE49-F238E27FC236}">
                <a16:creationId xmlns:a16="http://schemas.microsoft.com/office/drawing/2014/main" xmlns="" id="{3BFF9B0D-3929-1044-8DB3-8E83FA2A6258}"/>
              </a:ext>
            </a:extLst>
          </p:cNvPr>
          <p:cNvGrpSpPr/>
          <p:nvPr/>
        </p:nvGrpSpPr>
        <p:grpSpPr>
          <a:xfrm>
            <a:off x="671480" y="1717960"/>
            <a:ext cx="8243490" cy="4186093"/>
            <a:chOff x="504974" y="2031892"/>
            <a:chExt cx="8243490" cy="4186093"/>
          </a:xfrm>
        </p:grpSpPr>
        <p:sp>
          <p:nvSpPr>
            <p:cNvPr id="5" name="Line 5"/>
            <p:cNvSpPr>
              <a:spLocks noChangeShapeType="1"/>
            </p:cNvSpPr>
            <p:nvPr/>
          </p:nvSpPr>
          <p:spPr bwMode="auto">
            <a:xfrm>
              <a:off x="2590923" y="5785937"/>
              <a:ext cx="5154613" cy="0"/>
            </a:xfrm>
            <a:prstGeom prst="line">
              <a:avLst/>
            </a:prstGeom>
            <a:noFill/>
            <a:ln w="28575">
              <a:solidFill>
                <a:srgbClr val="000000"/>
              </a:solidFill>
              <a:round/>
              <a:headEnd type="none" w="med" len="med"/>
              <a:tailEnd type="arrow" w="med" len="med"/>
            </a:ln>
          </p:spPr>
          <p:txBody>
            <a:bodyPr/>
            <a:lstStyle/>
            <a:p>
              <a:endParaRPr lang="zh-CN" altLang="en-US"/>
            </a:p>
          </p:txBody>
        </p:sp>
        <p:sp>
          <p:nvSpPr>
            <p:cNvPr id="6" name="Line 6"/>
            <p:cNvSpPr>
              <a:spLocks noChangeShapeType="1"/>
            </p:cNvSpPr>
            <p:nvPr/>
          </p:nvSpPr>
          <p:spPr bwMode="auto">
            <a:xfrm flipV="1">
              <a:off x="2590923" y="2329949"/>
              <a:ext cx="0" cy="3455988"/>
            </a:xfrm>
            <a:prstGeom prst="line">
              <a:avLst/>
            </a:prstGeom>
            <a:noFill/>
            <a:ln w="28575">
              <a:solidFill>
                <a:schemeClr val="tx1"/>
              </a:solidFill>
              <a:round/>
              <a:headEnd type="none" w="med" len="med"/>
              <a:tailEnd type="arrow" w="med" len="med"/>
            </a:ln>
          </p:spPr>
          <p:txBody>
            <a:bodyPr/>
            <a:lstStyle/>
            <a:p>
              <a:endParaRPr lang="zh-CN" altLang="en-US"/>
            </a:p>
          </p:txBody>
        </p:sp>
        <p:sp>
          <p:nvSpPr>
            <p:cNvPr id="7" name="Line 7"/>
            <p:cNvSpPr>
              <a:spLocks noChangeShapeType="1"/>
            </p:cNvSpPr>
            <p:nvPr/>
          </p:nvSpPr>
          <p:spPr bwMode="auto">
            <a:xfrm>
              <a:off x="2590923" y="4865187"/>
              <a:ext cx="5154613" cy="0"/>
            </a:xfrm>
            <a:prstGeom prst="line">
              <a:avLst/>
            </a:prstGeom>
            <a:noFill/>
            <a:ln w="9525">
              <a:solidFill>
                <a:srgbClr val="000000"/>
              </a:solidFill>
              <a:round/>
              <a:headEnd/>
              <a:tailEnd/>
            </a:ln>
          </p:spPr>
          <p:txBody>
            <a:bodyPr/>
            <a:lstStyle/>
            <a:p>
              <a:endParaRPr lang="zh-CN" altLang="en-US"/>
            </a:p>
          </p:txBody>
        </p:sp>
        <p:sp>
          <p:nvSpPr>
            <p:cNvPr id="8" name="Arc 8"/>
            <p:cNvSpPr>
              <a:spLocks/>
            </p:cNvSpPr>
            <p:nvPr/>
          </p:nvSpPr>
          <p:spPr bwMode="auto">
            <a:xfrm rot="10800000">
              <a:off x="2894135" y="2345824"/>
              <a:ext cx="4548188" cy="2427288"/>
            </a:xfrm>
            <a:custGeom>
              <a:avLst/>
              <a:gdLst>
                <a:gd name="T0" fmla="*/ 0 w 22592"/>
                <a:gd name="T1" fmla="*/ 0 h 22906"/>
                <a:gd name="T2" fmla="*/ 0 w 22592"/>
                <a:gd name="T3" fmla="*/ 0 h 22906"/>
                <a:gd name="T4" fmla="*/ 0 w 22592"/>
                <a:gd name="T5" fmla="*/ 0 h 22906"/>
                <a:gd name="T6" fmla="*/ 0 60000 65536"/>
                <a:gd name="T7" fmla="*/ 0 60000 65536"/>
                <a:gd name="T8" fmla="*/ 0 60000 65536"/>
                <a:gd name="T9" fmla="*/ 0 w 22592"/>
                <a:gd name="T10" fmla="*/ 0 h 22906"/>
                <a:gd name="T11" fmla="*/ 22592 w 22592"/>
                <a:gd name="T12" fmla="*/ 22906 h 22906"/>
              </a:gdLst>
              <a:ahLst/>
              <a:cxnLst>
                <a:cxn ang="T6">
                  <a:pos x="T0" y="T1"/>
                </a:cxn>
                <a:cxn ang="T7">
                  <a:pos x="T2" y="T3"/>
                </a:cxn>
                <a:cxn ang="T8">
                  <a:pos x="T4" y="T5"/>
                </a:cxn>
              </a:cxnLst>
              <a:rect l="T9" t="T10" r="T11" b="T12"/>
              <a:pathLst>
                <a:path w="22592" h="22906" fill="none" extrusionOk="0">
                  <a:moveTo>
                    <a:pt x="-1" y="22"/>
                  </a:moveTo>
                  <a:cubicBezTo>
                    <a:pt x="330" y="7"/>
                    <a:pt x="661" y="-1"/>
                    <a:pt x="992" y="0"/>
                  </a:cubicBezTo>
                  <a:cubicBezTo>
                    <a:pt x="12921" y="0"/>
                    <a:pt x="22592" y="9670"/>
                    <a:pt x="22592" y="21600"/>
                  </a:cubicBezTo>
                  <a:cubicBezTo>
                    <a:pt x="22592" y="22035"/>
                    <a:pt x="22578" y="22471"/>
                    <a:pt x="22552" y="22906"/>
                  </a:cubicBezTo>
                </a:path>
                <a:path w="22592" h="22906" stroke="0" extrusionOk="0">
                  <a:moveTo>
                    <a:pt x="-1" y="22"/>
                  </a:moveTo>
                  <a:cubicBezTo>
                    <a:pt x="330" y="7"/>
                    <a:pt x="661" y="-1"/>
                    <a:pt x="992" y="0"/>
                  </a:cubicBezTo>
                  <a:cubicBezTo>
                    <a:pt x="12921" y="0"/>
                    <a:pt x="22592" y="9670"/>
                    <a:pt x="22592" y="21600"/>
                  </a:cubicBezTo>
                  <a:cubicBezTo>
                    <a:pt x="22592" y="22035"/>
                    <a:pt x="22578" y="22471"/>
                    <a:pt x="22552" y="22906"/>
                  </a:cubicBezTo>
                  <a:lnTo>
                    <a:pt x="992" y="21600"/>
                  </a:lnTo>
                  <a:lnTo>
                    <a:pt x="-1" y="22"/>
                  </a:lnTo>
                  <a:close/>
                </a:path>
              </a:pathLst>
            </a:custGeom>
            <a:noFill/>
            <a:ln w="28575">
              <a:solidFill>
                <a:srgbClr val="FF0000"/>
              </a:solidFill>
              <a:round/>
              <a:headEnd/>
              <a:tailEnd/>
            </a:ln>
          </p:spPr>
          <p:txBody>
            <a:bodyPr rot="10800000"/>
            <a:lstStyle/>
            <a:p>
              <a:endParaRPr lang="zh-CN" altLang="en-US"/>
            </a:p>
          </p:txBody>
        </p:sp>
        <p:sp>
          <p:nvSpPr>
            <p:cNvPr id="9" name="Line 9"/>
            <p:cNvSpPr>
              <a:spLocks noChangeShapeType="1"/>
            </p:cNvSpPr>
            <p:nvPr/>
          </p:nvSpPr>
          <p:spPr bwMode="auto">
            <a:xfrm flipH="1">
              <a:off x="4106985" y="3042737"/>
              <a:ext cx="1212850" cy="900113"/>
            </a:xfrm>
            <a:prstGeom prst="line">
              <a:avLst/>
            </a:prstGeom>
            <a:noFill/>
            <a:ln w="9525">
              <a:solidFill>
                <a:srgbClr val="000000"/>
              </a:solidFill>
              <a:round/>
              <a:headEnd/>
              <a:tailEnd type="triangle" w="med" len="med"/>
            </a:ln>
          </p:spPr>
          <p:txBody>
            <a:bodyPr/>
            <a:lstStyle/>
            <a:p>
              <a:endParaRPr lang="zh-CN" altLang="en-US"/>
            </a:p>
          </p:txBody>
        </p:sp>
        <p:sp>
          <p:nvSpPr>
            <p:cNvPr id="10" name="Rectangle 11"/>
            <p:cNvSpPr>
              <a:spLocks noChangeArrowheads="1"/>
            </p:cNvSpPr>
            <p:nvPr/>
          </p:nvSpPr>
          <p:spPr bwMode="auto">
            <a:xfrm>
              <a:off x="2987824" y="2539004"/>
              <a:ext cx="5760640" cy="313932"/>
            </a:xfrm>
            <a:prstGeom prst="rect">
              <a:avLst/>
            </a:prstGeom>
            <a:noFill/>
            <a:ln w="9525">
              <a:noFill/>
              <a:miter lim="800000"/>
              <a:headEnd/>
              <a:tailEnd/>
            </a:ln>
          </p:spPr>
          <p:txBody>
            <a:bodyPr wrap="square">
              <a:spAutoFit/>
            </a:bodyPr>
            <a:lstStyle/>
            <a:p>
              <a:pPr algn="ctr">
                <a:lnSpc>
                  <a:spcPct val="80000"/>
                </a:lnSpc>
                <a:spcBef>
                  <a:spcPts val="0"/>
                </a:spcBef>
                <a:buClr>
                  <a:srgbClr val="990000"/>
                </a:buClr>
                <a:buFont typeface="Wingdings" pitchFamily="2" charset="2"/>
                <a:buNone/>
              </a:pPr>
              <a:r>
                <a:rPr lang="en-US" altLang="zh-CN" dirty="0">
                  <a:cs typeface="Times New Roman" pitchFamily="18" charset="0"/>
                </a:rPr>
                <a:t>Total Risk = unsystematic risk + systematic risk</a:t>
              </a:r>
            </a:p>
          </p:txBody>
        </p:sp>
        <p:sp>
          <p:nvSpPr>
            <p:cNvPr id="11" name="Text Box 12"/>
            <p:cNvSpPr txBox="1">
              <a:spLocks noChangeArrowheads="1"/>
            </p:cNvSpPr>
            <p:nvPr/>
          </p:nvSpPr>
          <p:spPr bwMode="auto">
            <a:xfrm>
              <a:off x="1364176" y="2031892"/>
              <a:ext cx="1223963"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pPr algn="r"/>
              <a:r>
                <a:rPr lang="el-GR" altLang="zh-CN" dirty="0"/>
                <a:t>σ</a:t>
              </a:r>
              <a:r>
                <a:rPr lang="en-US" altLang="zh-CN" dirty="0"/>
                <a:t>(risk)</a:t>
              </a:r>
              <a:endParaRPr lang="el-GR" altLang="zh-CN" dirty="0"/>
            </a:p>
          </p:txBody>
        </p:sp>
        <p:sp>
          <p:nvSpPr>
            <p:cNvPr id="12" name="Text Box 13"/>
            <p:cNvSpPr txBox="1">
              <a:spLocks noChangeArrowheads="1"/>
            </p:cNvSpPr>
            <p:nvPr/>
          </p:nvSpPr>
          <p:spPr bwMode="auto">
            <a:xfrm>
              <a:off x="504974" y="4705916"/>
              <a:ext cx="2050802"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pPr algn="r"/>
              <a:r>
                <a:rPr lang="en-US" altLang="zh-CN" dirty="0"/>
                <a:t>Market risk (</a:t>
              </a:r>
              <a:r>
                <a:rPr lang="el-GR" altLang="zh-CN" dirty="0"/>
                <a:t>σ</a:t>
              </a:r>
              <a:r>
                <a:rPr lang="en-US" altLang="zh-CN" baseline="-25000" dirty="0"/>
                <a:t>mkt</a:t>
              </a:r>
              <a:r>
                <a:rPr lang="en-US" altLang="zh-CN" dirty="0"/>
                <a:t>)</a:t>
              </a:r>
              <a:endParaRPr lang="el-GR" altLang="zh-CN" dirty="0"/>
            </a:p>
          </p:txBody>
        </p:sp>
        <p:sp>
          <p:nvSpPr>
            <p:cNvPr id="13" name="Line 14"/>
            <p:cNvSpPr>
              <a:spLocks noChangeShapeType="1"/>
            </p:cNvSpPr>
            <p:nvPr/>
          </p:nvSpPr>
          <p:spPr bwMode="auto">
            <a:xfrm>
              <a:off x="7270873" y="4849312"/>
              <a:ext cx="0" cy="936625"/>
            </a:xfrm>
            <a:prstGeom prst="line">
              <a:avLst/>
            </a:prstGeom>
            <a:noFill/>
            <a:ln w="9525">
              <a:solidFill>
                <a:schemeClr val="tx1"/>
              </a:solidFill>
              <a:prstDash val="dash"/>
              <a:round/>
              <a:headEnd/>
              <a:tailEnd/>
            </a:ln>
          </p:spPr>
          <p:txBody>
            <a:bodyPr>
              <a:spAutoFit/>
            </a:bodyPr>
            <a:lstStyle/>
            <a:p>
              <a:endParaRPr lang="zh-CN" altLang="en-US"/>
            </a:p>
          </p:txBody>
        </p:sp>
        <p:sp>
          <p:nvSpPr>
            <p:cNvPr id="14" name="Text Box 15"/>
            <p:cNvSpPr txBox="1">
              <a:spLocks noChangeArrowheads="1"/>
            </p:cNvSpPr>
            <p:nvPr/>
          </p:nvSpPr>
          <p:spPr bwMode="auto">
            <a:xfrm>
              <a:off x="2379726" y="5221874"/>
              <a:ext cx="2306637"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r>
                <a:rPr lang="en-US" altLang="zh-CN" dirty="0"/>
                <a:t>Systematic Risk</a:t>
              </a:r>
              <a:endParaRPr lang="el-GR" altLang="zh-CN" dirty="0"/>
            </a:p>
          </p:txBody>
        </p:sp>
        <p:sp>
          <p:nvSpPr>
            <p:cNvPr id="15" name="Text Box 16"/>
            <p:cNvSpPr txBox="1">
              <a:spLocks noChangeArrowheads="1"/>
            </p:cNvSpPr>
            <p:nvPr/>
          </p:nvSpPr>
          <p:spPr bwMode="auto">
            <a:xfrm>
              <a:off x="2236217" y="4152399"/>
              <a:ext cx="2663825" cy="314325"/>
            </a:xfrm>
            <a:prstGeom prst="rect">
              <a:avLst/>
            </a:prstGeom>
            <a:noFill/>
            <a:ln w="9525">
              <a:noFill/>
              <a:miter lim="800000"/>
              <a:headEnd/>
              <a:tailEnd/>
            </a:ln>
          </p:spPr>
          <p:txBody>
            <a:bodyPr wrap="square">
              <a:spAutoFit/>
            </a:bodyPr>
            <a:lstStyle/>
            <a:p>
              <a:pPr algn="ctr">
                <a:lnSpc>
                  <a:spcPct val="80000"/>
                </a:lnSpc>
                <a:spcBef>
                  <a:spcPts val="0"/>
                </a:spcBef>
                <a:buClr>
                  <a:srgbClr val="990000"/>
                </a:buClr>
                <a:buFont typeface="Wingdings" pitchFamily="2" charset="2"/>
                <a:buNone/>
              </a:pPr>
              <a:r>
                <a:rPr lang="en-US" altLang="zh-CN" dirty="0">
                  <a:cs typeface="Times New Roman" pitchFamily="18" charset="0"/>
                </a:rPr>
                <a:t>Unsystematic Risk</a:t>
              </a:r>
              <a:endParaRPr lang="el-GR" altLang="zh-CN" dirty="0"/>
            </a:p>
          </p:txBody>
        </p:sp>
        <p:sp>
          <p:nvSpPr>
            <p:cNvPr id="16" name="Line 17"/>
            <p:cNvSpPr>
              <a:spLocks noChangeShapeType="1"/>
            </p:cNvSpPr>
            <p:nvPr/>
          </p:nvSpPr>
          <p:spPr bwMode="auto">
            <a:xfrm flipV="1">
              <a:off x="3168079" y="3338012"/>
              <a:ext cx="0" cy="86360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7" name="Line 18"/>
            <p:cNvSpPr>
              <a:spLocks noChangeShapeType="1"/>
            </p:cNvSpPr>
            <p:nvPr/>
          </p:nvSpPr>
          <p:spPr bwMode="auto">
            <a:xfrm>
              <a:off x="3168079" y="4466724"/>
              <a:ext cx="0" cy="360363"/>
            </a:xfrm>
            <a:prstGeom prst="line">
              <a:avLst/>
            </a:prstGeom>
            <a:noFill/>
            <a:ln w="9525">
              <a:solidFill>
                <a:schemeClr val="tx1"/>
              </a:solidFill>
              <a:round/>
              <a:headEnd/>
              <a:tailEnd type="triangle" w="med" len="med"/>
            </a:ln>
          </p:spPr>
          <p:txBody>
            <a:bodyPr>
              <a:spAutoFit/>
            </a:bodyPr>
            <a:lstStyle/>
            <a:p>
              <a:endParaRPr lang="zh-CN" altLang="en-US"/>
            </a:p>
          </p:txBody>
        </p:sp>
        <p:sp>
          <p:nvSpPr>
            <p:cNvPr id="18" name="Line 19"/>
            <p:cNvSpPr>
              <a:spLocks noChangeShapeType="1"/>
            </p:cNvSpPr>
            <p:nvPr/>
          </p:nvSpPr>
          <p:spPr bwMode="auto">
            <a:xfrm flipV="1">
              <a:off x="3168079" y="4922337"/>
              <a:ext cx="0" cy="287338"/>
            </a:xfrm>
            <a:prstGeom prst="line">
              <a:avLst/>
            </a:prstGeom>
            <a:noFill/>
            <a:ln w="9525">
              <a:solidFill>
                <a:schemeClr val="tx1"/>
              </a:solidFill>
              <a:round/>
              <a:headEnd/>
              <a:tailEnd type="triangle" w="med" len="med"/>
            </a:ln>
          </p:spPr>
          <p:txBody>
            <a:bodyPr>
              <a:spAutoFit/>
            </a:bodyPr>
            <a:lstStyle/>
            <a:p>
              <a:endParaRPr lang="zh-CN" altLang="en-US"/>
            </a:p>
          </p:txBody>
        </p:sp>
        <p:sp>
          <p:nvSpPr>
            <p:cNvPr id="19" name="Line 20"/>
            <p:cNvSpPr>
              <a:spLocks noChangeShapeType="1"/>
            </p:cNvSpPr>
            <p:nvPr/>
          </p:nvSpPr>
          <p:spPr bwMode="auto">
            <a:xfrm>
              <a:off x="3168079" y="5487487"/>
              <a:ext cx="0" cy="287338"/>
            </a:xfrm>
            <a:prstGeom prst="line">
              <a:avLst/>
            </a:prstGeom>
            <a:noFill/>
            <a:ln w="9525">
              <a:solidFill>
                <a:schemeClr val="tx1"/>
              </a:solidFill>
              <a:round/>
              <a:headEnd/>
              <a:tailEnd type="triangle" w="med" len="med"/>
            </a:ln>
          </p:spPr>
          <p:txBody>
            <a:bodyPr>
              <a:spAutoFit/>
            </a:bodyPr>
            <a:lstStyle/>
            <a:p>
              <a:endParaRPr lang="zh-CN" altLang="en-US"/>
            </a:p>
          </p:txBody>
        </p:sp>
        <p:sp>
          <p:nvSpPr>
            <p:cNvPr id="20" name="Text Box 21"/>
            <p:cNvSpPr txBox="1">
              <a:spLocks noChangeArrowheads="1"/>
            </p:cNvSpPr>
            <p:nvPr/>
          </p:nvSpPr>
          <p:spPr bwMode="auto">
            <a:xfrm>
              <a:off x="2590923" y="5904053"/>
              <a:ext cx="5761038" cy="313932"/>
            </a:xfrm>
            <a:prstGeom prst="rect">
              <a:avLst/>
            </a:prstGeom>
            <a:noFill/>
            <a:ln w="9525">
              <a:noFill/>
              <a:miter lim="800000"/>
              <a:headEnd/>
              <a:tailEnd/>
            </a:ln>
          </p:spPr>
          <p:txBody>
            <a:bodyPr wrap="square">
              <a:spAutoFit/>
            </a:bodyPr>
            <a:lstStyle>
              <a:defPPr>
                <a:defRPr lang="zh-CN"/>
              </a:defPPr>
              <a:lvl1pPr algn="ctr">
                <a:lnSpc>
                  <a:spcPct val="80000"/>
                </a:lnSpc>
                <a:spcBef>
                  <a:spcPts val="0"/>
                </a:spcBef>
                <a:buClr>
                  <a:srgbClr val="990000"/>
                </a:buClr>
                <a:buFont typeface="Wingdings" pitchFamily="2" charset="2"/>
                <a:buNone/>
                <a:defRPr>
                  <a:cs typeface="Times New Roman" pitchFamily="18" charset="0"/>
                </a:defRPr>
              </a:lvl1pPr>
            </a:lstStyle>
            <a:p>
              <a:r>
                <a:rPr lang="en-US" altLang="zh-CN" dirty="0"/>
                <a:t>Number of securities in the portfolio ≈</a:t>
              </a:r>
              <a:r>
                <a:rPr lang="zh-CN" altLang="en-US" dirty="0"/>
                <a:t> </a:t>
              </a:r>
              <a:r>
                <a:rPr lang="en-US" altLang="zh-CN" dirty="0"/>
                <a:t>30</a:t>
              </a:r>
            </a:p>
          </p:txBody>
        </p:sp>
      </p:grpSp>
    </p:spTree>
    <p:extLst>
      <p:ext uri="{BB962C8B-B14F-4D97-AF65-F5344CB8AC3E}">
        <p14:creationId xmlns:p14="http://schemas.microsoft.com/office/powerpoint/2010/main" val="117661378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 Security Market Line (SML)</a:t>
            </a:r>
            <a:endParaRPr lang="zh-CN" altLang="en-US" dirty="0"/>
          </a:p>
        </p:txBody>
      </p:sp>
      <p:grpSp>
        <p:nvGrpSpPr>
          <p:cNvPr id="4" name="Group 7">
            <a:extLst>
              <a:ext uri="{FF2B5EF4-FFF2-40B4-BE49-F238E27FC236}">
                <a16:creationId xmlns:a16="http://schemas.microsoft.com/office/drawing/2014/main" xmlns="" id="{97304C56-C66D-DD47-A0AA-9F71FD5A6D27}"/>
              </a:ext>
            </a:extLst>
          </p:cNvPr>
          <p:cNvGrpSpPr/>
          <p:nvPr/>
        </p:nvGrpSpPr>
        <p:grpSpPr>
          <a:xfrm>
            <a:off x="518201" y="1475079"/>
            <a:ext cx="8107599" cy="4586936"/>
            <a:chOff x="352833" y="1412776"/>
            <a:chExt cx="8107599" cy="4586936"/>
          </a:xfrm>
        </p:grpSpPr>
        <p:sp>
          <p:nvSpPr>
            <p:cNvPr id="5" name="Line 5"/>
            <p:cNvSpPr>
              <a:spLocks noChangeShapeType="1"/>
            </p:cNvSpPr>
            <p:nvPr/>
          </p:nvSpPr>
          <p:spPr bwMode="auto">
            <a:xfrm>
              <a:off x="1413558" y="5558372"/>
              <a:ext cx="6182778" cy="0"/>
            </a:xfrm>
            <a:prstGeom prst="line">
              <a:avLst/>
            </a:prstGeom>
            <a:noFill/>
            <a:ln w="28575">
              <a:solidFill>
                <a:schemeClr val="tx1"/>
              </a:solidFill>
              <a:round/>
              <a:headEnd/>
              <a:tailEnd type="triangle" w="med" len="med"/>
            </a:ln>
          </p:spPr>
          <p:txBody>
            <a:bodyPr wrap="square">
              <a:spAutoFit/>
            </a:bodyPr>
            <a:lstStyle/>
            <a:p>
              <a:endParaRPr lang="zh-CN" altLang="en-US"/>
            </a:p>
          </p:txBody>
        </p:sp>
        <p:sp>
          <p:nvSpPr>
            <p:cNvPr id="6" name="Line 6"/>
            <p:cNvSpPr>
              <a:spLocks noChangeShapeType="1"/>
            </p:cNvSpPr>
            <p:nvPr/>
          </p:nvSpPr>
          <p:spPr bwMode="auto">
            <a:xfrm flipV="1">
              <a:off x="1413558" y="1712113"/>
              <a:ext cx="0" cy="3852000"/>
            </a:xfrm>
            <a:prstGeom prst="line">
              <a:avLst/>
            </a:prstGeom>
            <a:noFill/>
            <a:ln w="28575">
              <a:solidFill>
                <a:schemeClr val="tx1"/>
              </a:solidFill>
              <a:round/>
              <a:headEnd/>
              <a:tailEnd type="triangle" w="med" len="med"/>
            </a:ln>
          </p:spPr>
          <p:txBody>
            <a:bodyPr>
              <a:spAutoFit/>
            </a:bodyPr>
            <a:lstStyle/>
            <a:p>
              <a:endParaRPr lang="zh-CN" altLang="en-US"/>
            </a:p>
          </p:txBody>
        </p:sp>
        <p:sp>
          <p:nvSpPr>
            <p:cNvPr id="7" name="Text Box 17"/>
            <p:cNvSpPr txBox="1">
              <a:spLocks noChangeArrowheads="1"/>
            </p:cNvSpPr>
            <p:nvPr/>
          </p:nvSpPr>
          <p:spPr bwMode="auto">
            <a:xfrm>
              <a:off x="400108" y="1412776"/>
              <a:ext cx="1232776" cy="428625"/>
            </a:xfrm>
            <a:prstGeom prst="rect">
              <a:avLst/>
            </a:prstGeom>
            <a:noFill/>
            <a:ln w="9525" algn="ctr">
              <a:noFill/>
              <a:miter lim="800000"/>
              <a:headEnd/>
              <a:tailEnd/>
            </a:ln>
          </p:spPr>
          <p:txBody>
            <a:bodyPr>
              <a:spAutoFit/>
            </a:bodyPr>
            <a:lstStyle/>
            <a:p>
              <a:pPr marL="742950" indent="-285750">
                <a:lnSpc>
                  <a:spcPct val="120000"/>
                </a:lnSpc>
                <a:spcBef>
                  <a:spcPct val="50000"/>
                </a:spcBef>
                <a:buClr>
                  <a:srgbClr val="990000"/>
                </a:buClr>
                <a:buFont typeface="Wingdings" pitchFamily="2" charset="2"/>
                <a:buNone/>
                <a:defRPr/>
              </a:pPr>
              <a:r>
                <a:rPr lang="en-US" altLang="zh-CN" dirty="0">
                  <a:latin typeface="+mn-lt"/>
                  <a:ea typeface="宋体" pitchFamily="2" charset="-122"/>
                </a:rPr>
                <a:t>E(R</a:t>
              </a:r>
              <a:r>
                <a:rPr lang="en-US" altLang="zh-CN" baseline="-25000" dirty="0">
                  <a:latin typeface="+mn-lt"/>
                  <a:ea typeface="宋体" pitchFamily="2" charset="-122"/>
                </a:rPr>
                <a:t>P</a:t>
              </a:r>
              <a:r>
                <a:rPr lang="en-US" altLang="zh-CN" dirty="0">
                  <a:latin typeface="+mn-lt"/>
                  <a:ea typeface="宋体" pitchFamily="2" charset="-122"/>
                </a:rPr>
                <a:t>)</a:t>
              </a:r>
            </a:p>
          </p:txBody>
        </p:sp>
        <p:sp>
          <p:nvSpPr>
            <p:cNvPr id="8" name="Text Box 13"/>
            <p:cNvSpPr txBox="1">
              <a:spLocks noChangeArrowheads="1"/>
            </p:cNvSpPr>
            <p:nvPr/>
          </p:nvSpPr>
          <p:spPr bwMode="auto">
            <a:xfrm>
              <a:off x="5508104" y="1759899"/>
              <a:ext cx="2468759" cy="646331"/>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r>
                <a:rPr lang="en-US" altLang="zh-CN" sz="1800" dirty="0"/>
                <a:t>Security Market Line</a:t>
              </a:r>
              <a:endParaRPr lang="zh-CN" altLang="en-US" sz="1800" dirty="0"/>
            </a:p>
            <a:p>
              <a:r>
                <a:rPr lang="en-US" altLang="zh-CN" sz="1800" dirty="0"/>
                <a:t>(SML)</a:t>
              </a:r>
            </a:p>
          </p:txBody>
        </p:sp>
        <p:sp>
          <p:nvSpPr>
            <p:cNvPr id="9" name="Text Box 16"/>
            <p:cNvSpPr txBox="1">
              <a:spLocks noChangeArrowheads="1"/>
            </p:cNvSpPr>
            <p:nvPr/>
          </p:nvSpPr>
          <p:spPr bwMode="auto">
            <a:xfrm>
              <a:off x="952820" y="4252936"/>
              <a:ext cx="469900" cy="369332"/>
            </a:xfrm>
            <a:prstGeom prst="rect">
              <a:avLst/>
            </a:prstGeom>
            <a:noFill/>
            <a:ln w="9525">
              <a:noFill/>
              <a:miter lim="800000"/>
              <a:headEnd/>
              <a:tailEnd/>
            </a:ln>
          </p:spPr>
          <p:txBody>
            <a:bodyPr wrap="square">
              <a:spAutoFit/>
            </a:bodyPr>
            <a:lstStyle/>
            <a:p>
              <a:pPr algn="ctr">
                <a:spcBef>
                  <a:spcPts val="0"/>
                </a:spcBef>
                <a:buClr>
                  <a:srgbClr val="990000"/>
                </a:buClr>
                <a:buFont typeface="Wingdings" pitchFamily="2" charset="2"/>
                <a:buNone/>
              </a:pPr>
              <a:r>
                <a:rPr lang="en-US" altLang="zh-CN" dirty="0"/>
                <a:t>R</a:t>
              </a:r>
              <a:r>
                <a:rPr lang="en-US" altLang="zh-CN" baseline="-25000" dirty="0"/>
                <a:t>f</a:t>
              </a:r>
              <a:endParaRPr lang="en-US" altLang="zh-CN" dirty="0"/>
            </a:p>
          </p:txBody>
        </p:sp>
        <mc:AlternateContent xmlns:mc="http://schemas.openxmlformats.org/markup-compatibility/2006" xmlns:a14="http://schemas.microsoft.com/office/drawing/2010/main">
          <mc:Choice Requires="a14">
            <p:sp>
              <p:nvSpPr>
                <p:cNvPr id="10" name="TextBox 9"/>
                <p:cNvSpPr txBox="1"/>
                <p:nvPr/>
              </p:nvSpPr>
              <p:spPr>
                <a:xfrm>
                  <a:off x="5385552" y="2642671"/>
                  <a:ext cx="3074880"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𝐸</m:t>
                            </m:r>
                            <m:r>
                              <a:rPr lang="en-US" altLang="zh-CN" b="0" i="1" smtClean="0">
                                <a:latin typeface="Cambria Math" charset="0"/>
                              </a:rPr>
                              <m:t>(</m:t>
                            </m:r>
                            <m:r>
                              <a:rPr lang="en-US" altLang="zh-CN" b="0" i="1" smtClean="0">
                                <a:latin typeface="Cambria Math" charset="0"/>
                              </a:rPr>
                              <m:t>𝑅</m:t>
                            </m:r>
                          </m:e>
                          <m:sub>
                            <m:r>
                              <a:rPr lang="en-US" altLang="zh-CN" b="0" i="1" smtClean="0">
                                <a:latin typeface="Cambria Math" charset="0"/>
                              </a:rPr>
                              <m:t>𝑃</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𝑅</m:t>
                            </m:r>
                          </m:e>
                          <m:sub>
                            <m:r>
                              <a:rPr lang="en-US" altLang="zh-CN" b="0" i="1" smtClean="0">
                                <a:latin typeface="Cambria Math" charset="0"/>
                              </a:rPr>
                              <m:t>𝑓</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ea typeface="Cambria Math" charset="0"/>
                                <a:cs typeface="Cambria Math" charset="0"/>
                              </a:rPr>
                              <m:t>𝛽</m:t>
                            </m:r>
                          </m:e>
                          <m:sub>
                            <m:r>
                              <a:rPr lang="en-US" altLang="zh-CN" b="0" i="1" smtClean="0">
                                <a:latin typeface="Cambria Math" charset="0"/>
                              </a:rPr>
                              <m:t>𝑃</m:t>
                            </m:r>
                          </m:sub>
                        </m:sSub>
                        <m:r>
                          <a:rPr lang="en-US" altLang="zh-CN" b="0" i="1" smtClean="0">
                            <a:latin typeface="Cambria Math" charset="0"/>
                          </a:rPr>
                          <m:t>[</m:t>
                        </m:r>
                        <m:r>
                          <a:rPr lang="en-US" altLang="zh-CN" b="0" i="1" smtClean="0">
                            <a:latin typeface="Cambria Math" charset="0"/>
                          </a:rPr>
                          <m:t>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charset="0"/>
                                  </a:rPr>
                                  <m:t>𝑅</m:t>
                                </m:r>
                              </m:e>
                              <m:sub>
                                <m:r>
                                  <a:rPr lang="en-US" altLang="zh-CN" b="0" i="1" smtClean="0">
                                    <a:latin typeface="Cambria Math" charset="0"/>
                                  </a:rPr>
                                  <m:t>𝑀</m:t>
                                </m:r>
                              </m:sub>
                            </m:sSub>
                          </m:e>
                        </m:d>
                        <m:r>
                          <a:rPr lang="en-US" altLang="zh-CN" b="0" i="1" smtClean="0">
                            <a:latin typeface="Cambria Math" charset="0"/>
                          </a:rPr>
                          <m:t>−</m:t>
                        </m:r>
                        <m:sSub>
                          <m:sSubPr>
                            <m:ctrlPr>
                              <a:rPr lang="en-US" altLang="zh-CN" i="1">
                                <a:latin typeface="Cambria Math" panose="02040503050406030204" pitchFamily="18" charset="0"/>
                              </a:rPr>
                            </m:ctrlPr>
                          </m:sSubPr>
                          <m:e>
                            <m:r>
                              <a:rPr lang="en-US" altLang="zh-CN" i="1">
                                <a:latin typeface="Cambria Math" charset="0"/>
                              </a:rPr>
                              <m:t>𝑅</m:t>
                            </m:r>
                          </m:e>
                          <m:sub>
                            <m:r>
                              <a:rPr lang="en-US" altLang="zh-CN" i="1">
                                <a:latin typeface="Cambria Math" charset="0"/>
                              </a:rPr>
                              <m:t>𝑓</m:t>
                            </m:r>
                          </m:sub>
                        </m:sSub>
                        <m:r>
                          <a:rPr lang="en-US" altLang="zh-CN" b="0" i="1" smtClean="0">
                            <a:latin typeface="Cambria Math" charset="0"/>
                          </a:rPr>
                          <m:t>]</m:t>
                        </m:r>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385552" y="2642671"/>
                  <a:ext cx="3074880" cy="299249"/>
                </a:xfrm>
                <a:prstGeom prst="rect">
                  <a:avLst/>
                </a:prstGeom>
                <a:blipFill>
                  <a:blip r:embed="rId2"/>
                  <a:stretch>
                    <a:fillRect l="-823" r="-2058" b="-20000"/>
                  </a:stretch>
                </a:blipFill>
              </p:spPr>
              <p:txBody>
                <a:bodyPr/>
                <a:lstStyle/>
                <a:p>
                  <a:r>
                    <a:rPr lang="en-US">
                      <a:noFill/>
                    </a:rPr>
                    <a:t> </a:t>
                  </a:r>
                </a:p>
              </p:txBody>
            </p:sp>
          </mc:Fallback>
        </mc:AlternateContent>
        <p:sp>
          <p:nvSpPr>
            <p:cNvPr id="11" name="Line 7"/>
            <p:cNvSpPr>
              <a:spLocks noChangeShapeType="1"/>
            </p:cNvSpPr>
            <p:nvPr/>
          </p:nvSpPr>
          <p:spPr bwMode="auto">
            <a:xfrm flipV="1">
              <a:off x="1413558" y="2246004"/>
              <a:ext cx="4166554" cy="2194552"/>
            </a:xfrm>
            <a:prstGeom prst="line">
              <a:avLst/>
            </a:prstGeom>
            <a:noFill/>
            <a:ln w="38100">
              <a:solidFill>
                <a:srgbClr val="FF0000"/>
              </a:solidFill>
              <a:round/>
              <a:headEnd/>
              <a:tailEnd/>
            </a:ln>
          </p:spPr>
          <p:txBody>
            <a:bodyPr wrap="square">
              <a:spAutoFit/>
            </a:bodyPr>
            <a:lstStyle/>
            <a:p>
              <a:endParaRPr lang="zh-CN" altLang="en-US"/>
            </a:p>
          </p:txBody>
        </p:sp>
        <p:sp>
          <p:nvSpPr>
            <p:cNvPr id="12" name="Text Box 18"/>
            <p:cNvSpPr txBox="1">
              <a:spLocks noChangeArrowheads="1"/>
            </p:cNvSpPr>
            <p:nvPr/>
          </p:nvSpPr>
          <p:spPr bwMode="auto">
            <a:xfrm>
              <a:off x="5796459" y="5630380"/>
              <a:ext cx="2663973" cy="369332"/>
            </a:xfrm>
            <a:prstGeom prst="rect">
              <a:avLst/>
            </a:prstGeom>
            <a:noFill/>
            <a:ln w="9525">
              <a:noFill/>
              <a:miter lim="800000"/>
              <a:headEnd/>
              <a:tailEnd/>
            </a:ln>
          </p:spPr>
          <p:txBody>
            <a:bodyPr wrap="square">
              <a:spAutoFit/>
            </a:bodyPr>
            <a:lstStyle/>
            <a:p>
              <a:pPr algn="ctr">
                <a:spcBef>
                  <a:spcPts val="0"/>
                </a:spcBef>
                <a:buClr>
                  <a:srgbClr val="990000"/>
                </a:buClr>
                <a:buFont typeface="Wingdings" pitchFamily="2" charset="2"/>
                <a:buNone/>
              </a:pPr>
              <a:r>
                <a:rPr lang="en-US" altLang="zh-CN" dirty="0"/>
                <a:t>Systematic Risk (</a:t>
              </a:r>
              <a:r>
                <a:rPr lang="el-GR" altLang="zh-CN" dirty="0">
                  <a:cs typeface="Times New Roman" pitchFamily="18" charset="0"/>
                </a:rPr>
                <a:t>β</a:t>
              </a:r>
              <a:r>
                <a:rPr lang="en-US" altLang="zh-CN" baseline="-25000" dirty="0">
                  <a:cs typeface="Times New Roman" pitchFamily="18" charset="0"/>
                </a:rPr>
                <a:t>P</a:t>
              </a:r>
              <a:r>
                <a:rPr lang="en-US" altLang="zh-CN" dirty="0"/>
                <a:t>)</a:t>
              </a:r>
              <a:endParaRPr lang="el-GR" altLang="zh-CN" dirty="0">
                <a:cs typeface="Times New Roman" pitchFamily="18" charset="0"/>
              </a:endParaRPr>
            </a:p>
          </p:txBody>
        </p:sp>
        <p:sp>
          <p:nvSpPr>
            <p:cNvPr id="13" name="Line 9"/>
            <p:cNvSpPr>
              <a:spLocks noChangeShapeType="1"/>
            </p:cNvSpPr>
            <p:nvPr/>
          </p:nvSpPr>
          <p:spPr bwMode="auto">
            <a:xfrm flipH="1">
              <a:off x="1422720" y="3434364"/>
              <a:ext cx="1925144" cy="0"/>
            </a:xfrm>
            <a:prstGeom prst="line">
              <a:avLst/>
            </a:prstGeom>
            <a:noFill/>
            <a:ln w="9525">
              <a:solidFill>
                <a:schemeClr val="tx1"/>
              </a:solidFill>
              <a:prstDash val="dash"/>
              <a:round/>
              <a:headEnd/>
              <a:tailEnd/>
            </a:ln>
          </p:spPr>
          <p:txBody>
            <a:bodyPr wrap="square">
              <a:spAutoFit/>
            </a:bodyPr>
            <a:lstStyle/>
            <a:p>
              <a:endParaRPr lang="zh-CN" altLang="en-US"/>
            </a:p>
          </p:txBody>
        </p:sp>
        <p:sp>
          <p:nvSpPr>
            <p:cNvPr id="14" name="Line 10"/>
            <p:cNvSpPr>
              <a:spLocks noChangeShapeType="1"/>
            </p:cNvSpPr>
            <p:nvPr/>
          </p:nvSpPr>
          <p:spPr bwMode="auto">
            <a:xfrm>
              <a:off x="3347864" y="3434364"/>
              <a:ext cx="0" cy="2124000"/>
            </a:xfrm>
            <a:prstGeom prst="line">
              <a:avLst/>
            </a:prstGeom>
            <a:noFill/>
            <a:ln w="9525">
              <a:solidFill>
                <a:schemeClr val="tx1"/>
              </a:solidFill>
              <a:prstDash val="dash"/>
              <a:round/>
              <a:headEnd/>
              <a:tailEnd/>
            </a:ln>
          </p:spPr>
          <p:txBody>
            <a:bodyPr>
              <a:spAutoFit/>
            </a:bodyPr>
            <a:lstStyle/>
            <a:p>
              <a:endParaRPr lang="zh-CN" altLang="en-US"/>
            </a:p>
          </p:txBody>
        </p:sp>
        <p:sp>
          <p:nvSpPr>
            <p:cNvPr id="15" name="Text Box 17"/>
            <p:cNvSpPr txBox="1">
              <a:spLocks noChangeArrowheads="1"/>
            </p:cNvSpPr>
            <p:nvPr/>
          </p:nvSpPr>
          <p:spPr bwMode="auto">
            <a:xfrm>
              <a:off x="2827810" y="5628916"/>
              <a:ext cx="1206333" cy="369332"/>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r>
                <a:rPr lang="el-GR" altLang="zh-CN" sz="1800" dirty="0"/>
                <a:t>β</a:t>
              </a:r>
              <a:r>
                <a:rPr lang="en-US" altLang="zh-CN" sz="1800" baseline="-25000" dirty="0"/>
                <a:t>mkt</a:t>
              </a:r>
              <a:r>
                <a:rPr lang="en-US" altLang="zh-CN" sz="1800" dirty="0"/>
                <a:t>=1</a:t>
              </a:r>
              <a:endParaRPr lang="el-GR" altLang="zh-CN" sz="1800" dirty="0"/>
            </a:p>
          </p:txBody>
        </p:sp>
        <p:sp>
          <p:nvSpPr>
            <p:cNvPr id="16" name="Text Box 15"/>
            <p:cNvSpPr txBox="1">
              <a:spLocks noChangeArrowheads="1"/>
            </p:cNvSpPr>
            <p:nvPr/>
          </p:nvSpPr>
          <p:spPr bwMode="auto">
            <a:xfrm>
              <a:off x="3950109" y="3250008"/>
              <a:ext cx="1655763" cy="646331"/>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r>
                <a:rPr lang="en-US" altLang="zh-CN" sz="1800" dirty="0"/>
                <a:t>Market </a:t>
              </a:r>
            </a:p>
            <a:p>
              <a:r>
                <a:rPr lang="en-US" altLang="zh-CN" sz="1800" dirty="0"/>
                <a:t>Portfolio</a:t>
              </a:r>
            </a:p>
          </p:txBody>
        </p:sp>
        <p:sp>
          <p:nvSpPr>
            <p:cNvPr id="17" name="Line 16"/>
            <p:cNvSpPr>
              <a:spLocks noChangeShapeType="1"/>
            </p:cNvSpPr>
            <p:nvPr/>
          </p:nvSpPr>
          <p:spPr bwMode="auto">
            <a:xfrm flipH="1">
              <a:off x="3519015" y="3542148"/>
              <a:ext cx="719138"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18" name="Text Box 12"/>
            <p:cNvSpPr txBox="1">
              <a:spLocks noChangeArrowheads="1"/>
            </p:cNvSpPr>
            <p:nvPr/>
          </p:nvSpPr>
          <p:spPr bwMode="auto">
            <a:xfrm>
              <a:off x="352833" y="3260213"/>
              <a:ext cx="1050815" cy="369332"/>
            </a:xfrm>
            <a:prstGeom prst="rect">
              <a:avLst/>
            </a:prstGeom>
            <a:noFill/>
            <a:ln w="9525">
              <a:noFill/>
              <a:miter lim="800000"/>
              <a:headEnd/>
              <a:tailEnd/>
            </a:ln>
          </p:spPr>
          <p:txBody>
            <a:bodyPr wrap="square">
              <a:spAutoFit/>
            </a:bodyPr>
            <a:lstStyle>
              <a:defPPr>
                <a:defRPr lang="zh-CN"/>
              </a:defPPr>
              <a:lvl1pPr algn="ctr">
                <a:spcBef>
                  <a:spcPts val="0"/>
                </a:spcBef>
                <a:buClr>
                  <a:srgbClr val="990000"/>
                </a:buClr>
                <a:buFont typeface="Wingdings" pitchFamily="2" charset="2"/>
                <a:buNone/>
                <a:defRPr sz="1700"/>
              </a:lvl1pPr>
            </a:lstStyle>
            <a:p>
              <a:pPr algn="r"/>
              <a:r>
                <a:rPr lang="en-US" altLang="zh-CN" sz="1800" dirty="0"/>
                <a:t>E(</a:t>
              </a:r>
              <a:r>
                <a:rPr lang="en-US" altLang="zh-CN" sz="1800" dirty="0" err="1"/>
                <a:t>R</a:t>
              </a:r>
              <a:r>
                <a:rPr lang="en-US" altLang="zh-CN" sz="1800" baseline="-25000" dirty="0" err="1"/>
                <a:t>mkt</a:t>
              </a:r>
              <a:r>
                <a:rPr lang="en-US" altLang="zh-CN" sz="1800" dirty="0"/>
                <a:t>)</a:t>
              </a:r>
            </a:p>
          </p:txBody>
        </p:sp>
      </p:grpSp>
    </p:spTree>
    <p:extLst>
      <p:ext uri="{BB962C8B-B14F-4D97-AF65-F5344CB8AC3E}">
        <p14:creationId xmlns:p14="http://schemas.microsoft.com/office/powerpoint/2010/main" val="19852700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 Capital Asset Pricing Model (CAPM)</a:t>
            </a:r>
            <a:endParaRPr lang="zh-CN" altLang="en-US" dirty="0"/>
          </a:p>
        </p:txBody>
      </p:sp>
      <mc:AlternateContent xmlns:mc="http://schemas.openxmlformats.org/markup-compatibility/2006" xmlns:a14="http://schemas.microsoft.com/office/drawing/2010/main">
        <mc:Choice Requires="a14">
          <p:sp>
            <p:nvSpPr>
              <p:cNvPr id="20" name="文本占位符 19"/>
              <p:cNvSpPr>
                <a:spLocks noGrp="1"/>
              </p:cNvSpPr>
              <p:nvPr>
                <p:ph type="body" sz="quarter" idx="10"/>
              </p:nvPr>
            </p:nvSpPr>
            <p:spPr/>
            <p:txBody>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a:latin typeface="Cambria Math"/>
                          </a:rPr>
                          <m:t>𝐸</m:t>
                        </m:r>
                        <m:r>
                          <a:rPr lang="en-US" altLang="zh-CN">
                            <a:latin typeface="Cambria Math"/>
                          </a:rPr>
                          <m:t>(</m:t>
                        </m:r>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𝑓</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𝑃</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𝑀</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𝑓</m:t>
                        </m:r>
                      </m:sub>
                    </m:sSub>
                    <m:r>
                      <a:rPr lang="en-US" altLang="zh-CN">
                        <a:latin typeface="Cambria Math"/>
                      </a:rPr>
                      <m:t>]</m:t>
                    </m:r>
                  </m:oMath>
                </a14:m>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𝑃</m:t>
                        </m:r>
                      </m:sub>
                    </m:sSub>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𝐶𝑜𝑣</m:t>
                        </m:r>
                        <m:r>
                          <a:rPr lang="en-US" altLang="zh-CN">
                            <a:latin typeface="Cambria Math"/>
                          </a:rPr>
                          <m:t>(</m:t>
                        </m:r>
                        <m:r>
                          <a:rPr lang="en-US" altLang="zh-CN">
                            <a:latin typeface="Cambria Math"/>
                          </a:rPr>
                          <m:t>𝑃</m:t>
                        </m:r>
                        <m:r>
                          <a:rPr lang="en-US" altLang="zh-CN">
                            <a:latin typeface="Cambria Math"/>
                          </a:rPr>
                          <m:t>,</m:t>
                        </m:r>
                        <m:r>
                          <a:rPr lang="en-US" altLang="zh-CN">
                            <a:latin typeface="Cambria Math"/>
                          </a:rPr>
                          <m:t>𝑀</m:t>
                        </m:r>
                        <m:r>
                          <a:rPr lang="en-US" altLang="zh-CN">
                            <a:latin typeface="Cambria Math"/>
                          </a:rPr>
                          <m:t>)</m:t>
                        </m:r>
                      </m:num>
                      <m:den>
                        <m:sSubSup>
                          <m:sSubSupPr>
                            <m:ctrlPr>
                              <a:rPr lang="en-US" altLang="zh-CN" i="1">
                                <a:latin typeface="Cambria Math" panose="02040503050406030204" pitchFamily="18" charset="0"/>
                              </a:rPr>
                            </m:ctrlPr>
                          </m:sSubSupPr>
                          <m:e>
                            <m:r>
                              <a:rPr lang="en-US" altLang="zh-CN">
                                <a:latin typeface="Cambria Math"/>
                              </a:rPr>
                              <m:t>𝜎</m:t>
                            </m:r>
                          </m:e>
                          <m:sub>
                            <m:r>
                              <a:rPr lang="en-US" altLang="zh-CN">
                                <a:latin typeface="Cambria Math"/>
                              </a:rPr>
                              <m:t>𝑀</m:t>
                            </m:r>
                          </m:sub>
                          <m:sup>
                            <m:r>
                              <a:rPr lang="en-US" altLang="zh-CN">
                                <a:latin typeface="Cambria Math"/>
                              </a:rPr>
                              <m:t>2</m:t>
                            </m:r>
                          </m:sup>
                        </m:sSubSup>
                      </m:den>
                    </m:f>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𝜌</m:t>
                        </m:r>
                      </m:e>
                      <m:sub>
                        <m:r>
                          <a:rPr lang="en-US" altLang="zh-CN">
                            <a:latin typeface="Cambria Math"/>
                          </a:rPr>
                          <m:t>𝑃</m:t>
                        </m:r>
                        <m:r>
                          <a:rPr lang="en-US" altLang="zh-CN">
                            <a:latin typeface="Cambria Math"/>
                          </a:rPr>
                          <m:t>,</m:t>
                        </m:r>
                        <m:r>
                          <a:rPr lang="en-US" altLang="zh-CN">
                            <a:latin typeface="Cambria Math"/>
                          </a:rPr>
                          <m:t>𝑀</m:t>
                        </m:r>
                      </m:sub>
                    </m:sSub>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a:latin typeface="Cambria Math"/>
                              </a:rPr>
                              <m:t>𝜎</m:t>
                            </m:r>
                          </m:e>
                          <m:sub>
                            <m:r>
                              <a:rPr lang="en-US" altLang="zh-CN">
                                <a:latin typeface="Cambria Math"/>
                              </a:rPr>
                              <m:t>𝑃</m:t>
                            </m:r>
                          </m:sub>
                        </m:sSub>
                      </m:num>
                      <m:den>
                        <m:sSub>
                          <m:sSubPr>
                            <m:ctrlPr>
                              <a:rPr lang="en-US" altLang="zh-CN" i="1">
                                <a:latin typeface="Cambria Math" panose="02040503050406030204" pitchFamily="18" charset="0"/>
                              </a:rPr>
                            </m:ctrlPr>
                          </m:sSubPr>
                          <m:e>
                            <m:r>
                              <a:rPr lang="en-US" altLang="zh-CN">
                                <a:latin typeface="Cambria Math"/>
                              </a:rPr>
                              <m:t>𝜎</m:t>
                            </m:r>
                          </m:e>
                          <m:sub>
                            <m:r>
                              <a:rPr lang="en-US" altLang="zh-CN">
                                <a:latin typeface="Cambria Math"/>
                              </a:rPr>
                              <m:t>𝑀</m:t>
                            </m:r>
                          </m:sub>
                        </m:sSub>
                      </m:den>
                    </m:f>
                  </m:oMath>
                </a14:m>
                <a:endParaRPr lang="en-US" altLang="zh-CN" dirty="0"/>
              </a:p>
              <a:p>
                <a:pPr lvl="1"/>
                <a:r>
                  <a:rPr lang="en-US" altLang="zh-CN" dirty="0"/>
                  <a:t>E(RP): expected return on risky asset</a:t>
                </a:r>
              </a:p>
              <a:p>
                <a:pPr lvl="1"/>
                <a:r>
                  <a:rPr lang="en-US" altLang="zh-CN" dirty="0"/>
                  <a:t>R</a:t>
                </a:r>
                <a:r>
                  <a:rPr lang="en-US" altLang="zh-CN" baseline="-25000" dirty="0"/>
                  <a:t>f</a:t>
                </a:r>
                <a:r>
                  <a:rPr lang="en-US" altLang="zh-CN" dirty="0"/>
                  <a:t> : risk-free rate</a:t>
                </a:r>
              </a:p>
              <a:p>
                <a:pPr lvl="1"/>
                <a:r>
                  <a:rPr lang="en-US" altLang="zh-CN" dirty="0"/>
                  <a:t>E(RM) - R</a:t>
                </a:r>
                <a:r>
                  <a:rPr lang="en-US" altLang="zh-CN" baseline="-25000" dirty="0"/>
                  <a:t>f</a:t>
                </a:r>
                <a:r>
                  <a:rPr lang="en-US" altLang="zh-CN" dirty="0"/>
                  <a:t> : market portfolio risk premium</a:t>
                </a:r>
              </a:p>
              <a:p>
                <a:pPr lvl="1"/>
                <a:r>
                  <a:rPr lang="el-GR" altLang="zh-CN" dirty="0"/>
                  <a:t>β</a:t>
                </a:r>
                <a:r>
                  <a:rPr lang="en-US" altLang="zh-CN" dirty="0"/>
                  <a:t>P : systematical risk of asset P</a:t>
                </a:r>
              </a:p>
              <a:p>
                <a:pPr lvl="1"/>
                <a:r>
                  <a:rPr lang="el-GR" altLang="zh-CN" dirty="0"/>
                  <a:t>β</a:t>
                </a:r>
                <a:r>
                  <a:rPr lang="en-US" altLang="zh-CN" dirty="0"/>
                  <a:t>P</a:t>
                </a:r>
                <a:r>
                  <a:rPr lang="el-GR" altLang="zh-CN" dirty="0"/>
                  <a:t>×</a:t>
                </a:r>
                <a:r>
                  <a:rPr lang="en-US" altLang="zh-CN" dirty="0"/>
                  <a:t>[E(RM) - R</a:t>
                </a:r>
                <a:r>
                  <a:rPr lang="en-US" altLang="zh-CN" baseline="-25000" dirty="0"/>
                  <a:t>f</a:t>
                </a:r>
                <a:r>
                  <a:rPr lang="en-US" altLang="zh-CN" dirty="0"/>
                  <a:t> ]: beta-adjusted market risk premium</a:t>
                </a:r>
                <a:endParaRPr lang="el-GR" altLang="zh-CN" dirty="0"/>
              </a:p>
              <a:p>
                <a:endParaRPr lang="zh-CN" altLang="en-US" dirty="0"/>
              </a:p>
            </p:txBody>
          </p:sp>
        </mc:Choice>
        <mc:Fallback xmlns="">
          <p:sp>
            <p:nvSpPr>
              <p:cNvPr id="20" name="文本占位符 19"/>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758862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t>
            </a:r>
            <a:r>
              <a:rPr lang="en-US" altLang="zh-CN" dirty="0" smtClean="0"/>
              <a:t>. Capital Asset Pricing Model (CAPM)</a:t>
            </a:r>
            <a:endParaRPr lang="zh-CN" altLang="en-US" dirty="0"/>
          </a:p>
        </p:txBody>
      </p:sp>
      <p:sp>
        <p:nvSpPr>
          <p:cNvPr id="3" name="文本占位符 2"/>
          <p:cNvSpPr>
            <a:spLocks noGrp="1"/>
          </p:cNvSpPr>
          <p:nvPr>
            <p:ph type="body" sz="quarter" idx="10"/>
          </p:nvPr>
        </p:nvSpPr>
        <p:spPr/>
        <p:txBody>
          <a:bodyPr/>
          <a:lstStyle/>
          <a:p>
            <a:r>
              <a:rPr lang="en-US" altLang="zh-CN" dirty="0" smtClean="0"/>
              <a:t>The expected return on the market is 15%, the risk-free rate is 8%, and the beta for stock A is 1.2. Compute the rate of return that would be expected (required) on this stock.</a:t>
            </a:r>
          </a:p>
          <a:p>
            <a:pPr lvl="2"/>
            <a:r>
              <a:rPr lang="en-US" altLang="zh-CN" dirty="0" smtClean="0"/>
              <a:t>Answer:</a:t>
            </a:r>
            <a:r>
              <a:rPr lang="zh-CN" altLang="en-US" dirty="0" smtClean="0"/>
              <a:t> </a:t>
            </a:r>
            <a:r>
              <a:rPr lang="en-US" altLang="zh-CN" dirty="0" smtClean="0"/>
              <a:t>E(RA)</a:t>
            </a:r>
            <a:r>
              <a:rPr lang="zh-CN" altLang="en-US" dirty="0" smtClean="0"/>
              <a:t> </a:t>
            </a:r>
            <a:r>
              <a:rPr lang="en-US" altLang="zh-CN" dirty="0" smtClean="0"/>
              <a:t>=</a:t>
            </a:r>
            <a:r>
              <a:rPr lang="zh-CN" altLang="en-US" dirty="0" smtClean="0"/>
              <a:t> </a:t>
            </a:r>
            <a:r>
              <a:rPr lang="en-US" altLang="zh-CN" dirty="0" smtClean="0"/>
              <a:t>0.08 + 1.2 </a:t>
            </a:r>
            <a:r>
              <a:rPr lang="zh-CN" altLang="en-US" dirty="0" smtClean="0"/>
              <a:t>*</a:t>
            </a:r>
            <a:r>
              <a:rPr lang="en-US" altLang="zh-CN" dirty="0" smtClean="0"/>
              <a:t> (0.15-0.08)</a:t>
            </a:r>
            <a:r>
              <a:rPr lang="zh-CN" altLang="en-US" dirty="0" smtClean="0"/>
              <a:t> </a:t>
            </a:r>
            <a:r>
              <a:rPr lang="en-US" altLang="zh-CN" dirty="0" smtClean="0"/>
              <a:t>=</a:t>
            </a:r>
            <a:r>
              <a:rPr lang="zh-CN" altLang="en-US" dirty="0" smtClean="0"/>
              <a:t> </a:t>
            </a:r>
            <a:r>
              <a:rPr lang="en-US" altLang="zh-CN" dirty="0" smtClean="0"/>
              <a:t>0.164</a:t>
            </a:r>
          </a:p>
          <a:p>
            <a:pPr lvl="2"/>
            <a:r>
              <a:rPr lang="en-US" altLang="zh-CN" dirty="0" smtClean="0"/>
              <a:t>note: </a:t>
            </a:r>
            <a:r>
              <a:rPr lang="el-GR" altLang="zh-CN" dirty="0" smtClean="0"/>
              <a:t>β</a:t>
            </a:r>
            <a:r>
              <a:rPr lang="en-US" altLang="zh-CN" dirty="0" smtClean="0"/>
              <a:t>A&gt;1 ⇒ E(RA) &gt; E(</a:t>
            </a:r>
            <a:r>
              <a:rPr lang="en-US" altLang="zh-CN" dirty="0" err="1" smtClean="0"/>
              <a:t>Rm</a:t>
            </a:r>
            <a:r>
              <a:rPr lang="en-US" altLang="zh-CN" dirty="0" smtClean="0"/>
              <a:t>)</a:t>
            </a:r>
          </a:p>
          <a:p>
            <a:pPr lvl="1"/>
            <a:r>
              <a:rPr lang="en-US" altLang="zh-CN" dirty="0" smtClean="0"/>
              <a:t>The expected return on the market is 15%, the risk-free rate is 8%, and the beta for stock B is 0.8. Compute the rate of return that would be expected (required) on this stock.</a:t>
            </a:r>
          </a:p>
          <a:p>
            <a:pPr lvl="2"/>
            <a:r>
              <a:rPr lang="en-US" altLang="zh-CN" dirty="0" smtClean="0"/>
              <a:t>Answer:</a:t>
            </a:r>
            <a:r>
              <a:rPr lang="zh-CN" altLang="en-US" dirty="0" smtClean="0"/>
              <a:t> </a:t>
            </a:r>
            <a:r>
              <a:rPr lang="en-US" altLang="zh-CN" dirty="0" smtClean="0"/>
              <a:t>E(RB)</a:t>
            </a:r>
            <a:r>
              <a:rPr lang="zh-CN" altLang="en-US" dirty="0" smtClean="0"/>
              <a:t> </a:t>
            </a:r>
            <a:r>
              <a:rPr lang="en-US" altLang="zh-CN" dirty="0" smtClean="0"/>
              <a:t>=</a:t>
            </a:r>
            <a:r>
              <a:rPr lang="zh-CN" altLang="en-US" dirty="0" smtClean="0"/>
              <a:t> </a:t>
            </a:r>
            <a:r>
              <a:rPr lang="en-US" altLang="zh-CN" dirty="0" smtClean="0"/>
              <a:t>0.08 + 0.8 </a:t>
            </a:r>
            <a:r>
              <a:rPr lang="zh-CN" altLang="en-US" dirty="0" smtClean="0"/>
              <a:t>*</a:t>
            </a:r>
            <a:r>
              <a:rPr lang="en-US" altLang="zh-CN" dirty="0" smtClean="0"/>
              <a:t> (0.15-0.08)</a:t>
            </a:r>
            <a:r>
              <a:rPr lang="zh-CN" altLang="en-US" dirty="0" smtClean="0"/>
              <a:t> </a:t>
            </a:r>
            <a:r>
              <a:rPr lang="en-US" altLang="zh-CN" dirty="0" smtClean="0"/>
              <a:t>=</a:t>
            </a:r>
            <a:r>
              <a:rPr lang="zh-CN" altLang="en-US" dirty="0" smtClean="0"/>
              <a:t> </a:t>
            </a:r>
            <a:r>
              <a:rPr lang="en-US" altLang="zh-CN" dirty="0" smtClean="0"/>
              <a:t>0.136</a:t>
            </a:r>
          </a:p>
          <a:p>
            <a:pPr lvl="2"/>
            <a:r>
              <a:rPr lang="en-US" altLang="zh-CN" dirty="0" smtClean="0"/>
              <a:t>note: </a:t>
            </a:r>
            <a:r>
              <a:rPr lang="el-GR" altLang="zh-CN" dirty="0" smtClean="0"/>
              <a:t>β</a:t>
            </a:r>
            <a:r>
              <a:rPr lang="en-US" altLang="zh-CN" dirty="0" smtClean="0"/>
              <a:t>B &lt;1 ⇒ E(RB) &lt; E(</a:t>
            </a:r>
            <a:r>
              <a:rPr lang="en-US" altLang="zh-CN" dirty="0" err="1" smtClean="0"/>
              <a:t>Rm</a:t>
            </a:r>
            <a:r>
              <a:rPr lang="en-US" altLang="zh-CN" dirty="0" smtClean="0"/>
              <a:t>)</a:t>
            </a:r>
          </a:p>
          <a:p>
            <a:endParaRPr lang="zh-CN" altLang="en-US" dirty="0"/>
          </a:p>
        </p:txBody>
      </p:sp>
    </p:spTree>
    <p:extLst>
      <p:ext uri="{BB962C8B-B14F-4D97-AF65-F5344CB8AC3E}">
        <p14:creationId xmlns:p14="http://schemas.microsoft.com/office/powerpoint/2010/main" val="191295710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K. Comparing the CML and the SML</a:t>
            </a:r>
            <a:endParaRPr lang="zh-CN" altLang="en-US" dirty="0"/>
          </a:p>
        </p:txBody>
      </p:sp>
      <p:grpSp>
        <p:nvGrpSpPr>
          <p:cNvPr id="4" name="Group 8">
            <a:extLst>
              <a:ext uri="{FF2B5EF4-FFF2-40B4-BE49-F238E27FC236}">
                <a16:creationId xmlns:a16="http://schemas.microsoft.com/office/drawing/2014/main" xmlns="" id="{C1F48EDA-4E98-1240-B274-63292ACE2919}"/>
              </a:ext>
            </a:extLst>
          </p:cNvPr>
          <p:cNvGrpSpPr/>
          <p:nvPr/>
        </p:nvGrpSpPr>
        <p:grpSpPr>
          <a:xfrm>
            <a:off x="1823244" y="1258915"/>
            <a:ext cx="5497513" cy="4978397"/>
            <a:chOff x="1823244" y="1258915"/>
            <a:chExt cx="5497513" cy="4978397"/>
          </a:xfrm>
        </p:grpSpPr>
        <p:sp>
          <p:nvSpPr>
            <p:cNvPr id="5" name="Text Box 14"/>
            <p:cNvSpPr txBox="1">
              <a:spLocks noChangeArrowheads="1"/>
            </p:cNvSpPr>
            <p:nvPr/>
          </p:nvSpPr>
          <p:spPr bwMode="auto">
            <a:xfrm>
              <a:off x="6471444" y="1258915"/>
              <a:ext cx="679450" cy="366712"/>
            </a:xfrm>
            <a:prstGeom prst="rect">
              <a:avLst/>
            </a:prstGeom>
            <a:noFill/>
            <a:ln w="9525">
              <a:noFill/>
              <a:miter lim="800000"/>
              <a:headEnd/>
              <a:tailEnd/>
            </a:ln>
          </p:spPr>
          <p:txBody>
            <a:bodyPr wrap="none">
              <a:spAutoFit/>
            </a:bodyPr>
            <a:lstStyle/>
            <a:p>
              <a:r>
                <a:rPr lang="en-US" altLang="zh-CN"/>
                <a:t>CML</a:t>
              </a:r>
            </a:p>
          </p:txBody>
        </p:sp>
        <p:sp>
          <p:nvSpPr>
            <p:cNvPr id="6" name="Line 6"/>
            <p:cNvSpPr>
              <a:spLocks noChangeShapeType="1"/>
            </p:cNvSpPr>
            <p:nvPr/>
          </p:nvSpPr>
          <p:spPr bwMode="auto">
            <a:xfrm>
              <a:off x="2615407" y="2565426"/>
              <a:ext cx="3384550" cy="0"/>
            </a:xfrm>
            <a:prstGeom prst="line">
              <a:avLst/>
            </a:prstGeom>
            <a:noFill/>
            <a:ln w="12700">
              <a:solidFill>
                <a:schemeClr val="tx1"/>
              </a:solidFill>
              <a:prstDash val="dash"/>
              <a:round/>
              <a:headEnd/>
              <a:tailEnd/>
            </a:ln>
          </p:spPr>
          <p:txBody>
            <a:bodyPr/>
            <a:lstStyle/>
            <a:p>
              <a:endParaRPr lang="zh-CN" altLang="en-US"/>
            </a:p>
          </p:txBody>
        </p:sp>
        <p:sp>
          <p:nvSpPr>
            <p:cNvPr id="7" name="Text Box 7"/>
            <p:cNvSpPr txBox="1">
              <a:spLocks noChangeArrowheads="1"/>
            </p:cNvSpPr>
            <p:nvPr/>
          </p:nvSpPr>
          <p:spPr bwMode="auto">
            <a:xfrm>
              <a:off x="6052344" y="2354289"/>
              <a:ext cx="450850" cy="366712"/>
            </a:xfrm>
            <a:prstGeom prst="rect">
              <a:avLst/>
            </a:prstGeom>
            <a:noFill/>
            <a:ln w="9525">
              <a:noFill/>
              <a:miter lim="800000"/>
              <a:headEnd/>
              <a:tailEnd/>
            </a:ln>
          </p:spPr>
          <p:txBody>
            <a:bodyPr>
              <a:spAutoFit/>
            </a:bodyPr>
            <a:lstStyle/>
            <a:p>
              <a:endParaRPr lang="zh-CN" altLang="zh-CN"/>
            </a:p>
          </p:txBody>
        </p:sp>
        <p:sp>
          <p:nvSpPr>
            <p:cNvPr id="8" name="Line 8"/>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9" name="Freeform 9"/>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12700">
              <a:solidFill>
                <a:schemeClr val="tx1"/>
              </a:solidFill>
              <a:round/>
              <a:headEnd/>
              <a:tailEnd/>
            </a:ln>
          </p:spPr>
          <p:txBody>
            <a:bodyPr/>
            <a:lstStyle/>
            <a:p>
              <a:endParaRPr lang="zh-CN" altLang="en-US"/>
            </a:p>
          </p:txBody>
        </p:sp>
        <p:sp>
          <p:nvSpPr>
            <p:cNvPr id="10" name="Line 10"/>
            <p:cNvSpPr>
              <a:spLocks noChangeShapeType="1"/>
            </p:cNvSpPr>
            <p:nvPr/>
          </p:nvSpPr>
          <p:spPr bwMode="auto">
            <a:xfrm flipV="1">
              <a:off x="2615407" y="1628802"/>
              <a:ext cx="4321175" cy="1368424"/>
            </a:xfrm>
            <a:prstGeom prst="line">
              <a:avLst/>
            </a:prstGeom>
            <a:noFill/>
            <a:ln w="9525">
              <a:solidFill>
                <a:schemeClr val="tx1"/>
              </a:solidFill>
              <a:round/>
              <a:headEnd/>
              <a:tailEnd/>
            </a:ln>
          </p:spPr>
          <p:txBody>
            <a:bodyPr/>
            <a:lstStyle/>
            <a:p>
              <a:endParaRPr lang="zh-CN" altLang="en-US"/>
            </a:p>
          </p:txBody>
        </p:sp>
        <p:sp>
          <p:nvSpPr>
            <p:cNvPr id="11" name="Text Box 18"/>
            <p:cNvSpPr txBox="1">
              <a:spLocks noChangeArrowheads="1"/>
            </p:cNvSpPr>
            <p:nvPr/>
          </p:nvSpPr>
          <p:spPr bwMode="auto">
            <a:xfrm>
              <a:off x="2112169" y="2846414"/>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12" name="Text Box 19"/>
            <p:cNvSpPr txBox="1">
              <a:spLocks noChangeArrowheads="1"/>
            </p:cNvSpPr>
            <p:nvPr/>
          </p:nvSpPr>
          <p:spPr bwMode="auto">
            <a:xfrm>
              <a:off x="1823244" y="2349527"/>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13" name="Line 20"/>
            <p:cNvSpPr>
              <a:spLocks noChangeShapeType="1"/>
            </p:cNvSpPr>
            <p:nvPr/>
          </p:nvSpPr>
          <p:spPr bwMode="auto">
            <a:xfrm>
              <a:off x="2615407" y="5775350"/>
              <a:ext cx="4535488" cy="0"/>
            </a:xfrm>
            <a:prstGeom prst="line">
              <a:avLst/>
            </a:prstGeom>
            <a:noFill/>
            <a:ln w="28575">
              <a:solidFill>
                <a:schemeClr val="tx1"/>
              </a:solidFill>
              <a:round/>
              <a:headEnd/>
              <a:tailEnd type="triangle" w="med" len="med"/>
            </a:ln>
          </p:spPr>
          <p:txBody>
            <a:bodyPr/>
            <a:lstStyle/>
            <a:p>
              <a:endParaRPr lang="zh-CN" altLang="en-US"/>
            </a:p>
          </p:txBody>
        </p:sp>
        <p:sp>
          <p:nvSpPr>
            <p:cNvPr id="14" name="Line 21"/>
            <p:cNvSpPr>
              <a:spLocks noChangeShapeType="1"/>
            </p:cNvSpPr>
            <p:nvPr/>
          </p:nvSpPr>
          <p:spPr bwMode="auto">
            <a:xfrm flipV="1">
              <a:off x="2615407" y="3859238"/>
              <a:ext cx="0" cy="1916111"/>
            </a:xfrm>
            <a:prstGeom prst="line">
              <a:avLst/>
            </a:prstGeom>
            <a:noFill/>
            <a:ln w="28575">
              <a:solidFill>
                <a:schemeClr val="tx1"/>
              </a:solidFill>
              <a:round/>
              <a:headEnd/>
              <a:tailEnd type="triangle" w="med" len="med"/>
            </a:ln>
          </p:spPr>
          <p:txBody>
            <a:bodyPr/>
            <a:lstStyle/>
            <a:p>
              <a:endParaRPr lang="zh-CN" altLang="en-US"/>
            </a:p>
          </p:txBody>
        </p:sp>
        <p:sp>
          <p:nvSpPr>
            <p:cNvPr id="15" name="Line 22"/>
            <p:cNvSpPr>
              <a:spLocks noChangeShapeType="1"/>
            </p:cNvSpPr>
            <p:nvPr/>
          </p:nvSpPr>
          <p:spPr bwMode="auto">
            <a:xfrm flipV="1">
              <a:off x="2615407" y="4003701"/>
              <a:ext cx="3816350" cy="1195387"/>
            </a:xfrm>
            <a:prstGeom prst="line">
              <a:avLst/>
            </a:prstGeom>
            <a:noFill/>
            <a:ln w="25400">
              <a:solidFill>
                <a:srgbClr val="FF0000"/>
              </a:solidFill>
              <a:round/>
              <a:headEnd/>
              <a:tailEnd/>
            </a:ln>
          </p:spPr>
          <p:txBody>
            <a:bodyPr/>
            <a:lstStyle/>
            <a:p>
              <a:endParaRPr lang="zh-CN" altLang="en-US"/>
            </a:p>
          </p:txBody>
        </p:sp>
        <p:sp>
          <p:nvSpPr>
            <p:cNvPr id="16" name="Line 23"/>
            <p:cNvSpPr>
              <a:spLocks noChangeShapeType="1"/>
            </p:cNvSpPr>
            <p:nvPr/>
          </p:nvSpPr>
          <p:spPr bwMode="auto">
            <a:xfrm>
              <a:off x="3983832" y="4767288"/>
              <a:ext cx="0" cy="1008062"/>
            </a:xfrm>
            <a:prstGeom prst="line">
              <a:avLst/>
            </a:prstGeom>
            <a:noFill/>
            <a:ln w="12700">
              <a:solidFill>
                <a:schemeClr val="tx1"/>
              </a:solidFill>
              <a:prstDash val="dash"/>
              <a:round/>
              <a:headEnd/>
              <a:tailEnd/>
            </a:ln>
          </p:spPr>
          <p:txBody>
            <a:bodyPr/>
            <a:lstStyle/>
            <a:p>
              <a:endParaRPr lang="zh-CN" altLang="en-US"/>
            </a:p>
          </p:txBody>
        </p:sp>
        <p:sp>
          <p:nvSpPr>
            <p:cNvPr id="17" name="Text Box 26"/>
            <p:cNvSpPr txBox="1">
              <a:spLocks noChangeArrowheads="1"/>
            </p:cNvSpPr>
            <p:nvPr/>
          </p:nvSpPr>
          <p:spPr bwMode="auto">
            <a:xfrm>
              <a:off x="6522244" y="3894163"/>
              <a:ext cx="654050" cy="366712"/>
            </a:xfrm>
            <a:prstGeom prst="rect">
              <a:avLst/>
            </a:prstGeom>
            <a:noFill/>
            <a:ln w="9525">
              <a:noFill/>
              <a:miter lim="800000"/>
              <a:headEnd/>
              <a:tailEnd/>
            </a:ln>
          </p:spPr>
          <p:txBody>
            <a:bodyPr wrap="none">
              <a:spAutoFit/>
            </a:bodyPr>
            <a:lstStyle/>
            <a:p>
              <a:r>
                <a:rPr lang="en-US" altLang="zh-CN"/>
                <a:t>SML</a:t>
              </a:r>
            </a:p>
          </p:txBody>
        </p:sp>
        <p:sp>
          <p:nvSpPr>
            <p:cNvPr id="18" name="Text Box 30"/>
            <p:cNvSpPr txBox="1">
              <a:spLocks noChangeArrowheads="1"/>
            </p:cNvSpPr>
            <p:nvPr/>
          </p:nvSpPr>
          <p:spPr bwMode="auto">
            <a:xfrm>
              <a:off x="2112169" y="5048275"/>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19" name="Text Box 31"/>
            <p:cNvSpPr txBox="1">
              <a:spLocks noChangeArrowheads="1"/>
            </p:cNvSpPr>
            <p:nvPr/>
          </p:nvSpPr>
          <p:spPr bwMode="auto">
            <a:xfrm>
              <a:off x="1823244" y="4551388"/>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20" name="Text Box 32"/>
            <p:cNvSpPr txBox="1">
              <a:spLocks noChangeArrowheads="1"/>
            </p:cNvSpPr>
            <p:nvPr/>
          </p:nvSpPr>
          <p:spPr bwMode="auto">
            <a:xfrm>
              <a:off x="1986757" y="3708426"/>
              <a:ext cx="628650" cy="366712"/>
            </a:xfrm>
            <a:prstGeom prst="rect">
              <a:avLst/>
            </a:prstGeom>
            <a:noFill/>
            <a:ln w="9525">
              <a:noFill/>
              <a:miter lim="800000"/>
              <a:headEnd/>
              <a:tailEnd/>
            </a:ln>
          </p:spPr>
          <p:txBody>
            <a:bodyPr wrap="none">
              <a:spAutoFit/>
            </a:bodyPr>
            <a:lstStyle/>
            <a:p>
              <a:r>
                <a:rPr lang="en-US" altLang="zh-CN"/>
                <a:t>E(R)</a:t>
              </a:r>
              <a:endParaRPr lang="en-US" altLang="zh-CN" baseline="-25000"/>
            </a:p>
          </p:txBody>
        </p:sp>
        <p:sp>
          <p:nvSpPr>
            <p:cNvPr id="21" name="Text Box 33"/>
            <p:cNvSpPr txBox="1">
              <a:spLocks noChangeArrowheads="1"/>
            </p:cNvSpPr>
            <p:nvPr/>
          </p:nvSpPr>
          <p:spPr bwMode="auto">
            <a:xfrm>
              <a:off x="3634582" y="5867425"/>
              <a:ext cx="709613" cy="369887"/>
            </a:xfrm>
            <a:prstGeom prst="rect">
              <a:avLst/>
            </a:prstGeom>
            <a:noFill/>
            <a:ln w="9525">
              <a:noFill/>
              <a:miter lim="800000"/>
              <a:headEnd/>
              <a:tailEnd/>
            </a:ln>
          </p:spPr>
          <p:txBody>
            <a:bodyPr wrap="none">
              <a:spAutoFit/>
            </a:bodyPr>
            <a:lstStyle/>
            <a:p>
              <a:r>
                <a:rPr lang="el-GR" altLang="zh-CN" dirty="0">
                  <a:cs typeface="Arial" charset="0"/>
                </a:rPr>
                <a:t>β</a:t>
              </a:r>
              <a:r>
                <a:rPr lang="en-US" altLang="zh-CN" baseline="-25000" dirty="0">
                  <a:cs typeface="Arial" charset="0"/>
                </a:rPr>
                <a:t>M</a:t>
              </a:r>
              <a:r>
                <a:rPr lang="en-US" altLang="zh-CN" dirty="0">
                  <a:cs typeface="Arial" charset="0"/>
                </a:rPr>
                <a:t>=1</a:t>
              </a:r>
              <a:endParaRPr lang="el-GR" altLang="zh-CN" dirty="0">
                <a:cs typeface="Arial" charset="0"/>
              </a:endParaRPr>
            </a:p>
          </p:txBody>
        </p:sp>
        <p:sp>
          <p:nvSpPr>
            <p:cNvPr id="22" name="Rectangle 34"/>
            <p:cNvSpPr>
              <a:spLocks noChangeArrowheads="1"/>
            </p:cNvSpPr>
            <p:nvPr/>
          </p:nvSpPr>
          <p:spPr bwMode="auto">
            <a:xfrm>
              <a:off x="6908007" y="5842025"/>
              <a:ext cx="412750" cy="366712"/>
            </a:xfrm>
            <a:prstGeom prst="rect">
              <a:avLst/>
            </a:prstGeom>
            <a:noFill/>
            <a:ln w="9525">
              <a:noFill/>
              <a:miter lim="800000"/>
              <a:headEnd/>
              <a:tailEnd/>
            </a:ln>
          </p:spPr>
          <p:txBody>
            <a:bodyPr wrap="none">
              <a:spAutoFit/>
            </a:bodyPr>
            <a:lstStyle/>
            <a:p>
              <a:r>
                <a:rPr lang="el-GR" altLang="zh-CN"/>
                <a:t>β</a:t>
              </a:r>
              <a:endParaRPr lang="en-US" altLang="zh-CN"/>
            </a:p>
          </p:txBody>
        </p:sp>
        <p:sp>
          <p:nvSpPr>
            <p:cNvPr id="23" name="Line 35"/>
            <p:cNvSpPr>
              <a:spLocks noChangeShapeType="1"/>
            </p:cNvSpPr>
            <p:nvPr/>
          </p:nvSpPr>
          <p:spPr bwMode="auto">
            <a:xfrm>
              <a:off x="2615407" y="4767288"/>
              <a:ext cx="3960813" cy="0"/>
            </a:xfrm>
            <a:prstGeom prst="line">
              <a:avLst/>
            </a:prstGeom>
            <a:noFill/>
            <a:ln w="12700">
              <a:solidFill>
                <a:schemeClr val="tx1"/>
              </a:solidFill>
              <a:prstDash val="dash"/>
              <a:round/>
              <a:headEnd/>
              <a:tailEnd/>
            </a:ln>
          </p:spPr>
          <p:txBody>
            <a:bodyPr/>
            <a:lstStyle/>
            <a:p>
              <a:endParaRPr lang="zh-CN" altLang="en-US"/>
            </a:p>
          </p:txBody>
        </p:sp>
        <p:sp>
          <p:nvSpPr>
            <p:cNvPr id="24" name="Rectangle 37"/>
            <p:cNvSpPr>
              <a:spLocks noChangeArrowheads="1"/>
            </p:cNvSpPr>
            <p:nvPr/>
          </p:nvSpPr>
          <p:spPr bwMode="auto">
            <a:xfrm>
              <a:off x="6863557" y="3565551"/>
              <a:ext cx="412750" cy="366712"/>
            </a:xfrm>
            <a:prstGeom prst="rect">
              <a:avLst/>
            </a:prstGeom>
            <a:noFill/>
            <a:ln w="9525">
              <a:noFill/>
              <a:miter lim="800000"/>
              <a:headEnd/>
              <a:tailEnd/>
            </a:ln>
          </p:spPr>
          <p:txBody>
            <a:bodyPr wrap="none">
              <a:spAutoFit/>
            </a:bodyPr>
            <a:lstStyle/>
            <a:p>
              <a:r>
                <a:rPr lang="el-GR" altLang="zh-CN">
                  <a:cs typeface="Arial" charset="0"/>
                </a:rPr>
                <a:t>σ</a:t>
              </a:r>
            </a:p>
          </p:txBody>
        </p:sp>
        <p:sp>
          <p:nvSpPr>
            <p:cNvPr id="25" name="Rectangle 38"/>
            <p:cNvSpPr>
              <a:spLocks noChangeArrowheads="1"/>
            </p:cNvSpPr>
            <p:nvPr/>
          </p:nvSpPr>
          <p:spPr bwMode="auto">
            <a:xfrm>
              <a:off x="3802857" y="3500463"/>
              <a:ext cx="539750" cy="366712"/>
            </a:xfrm>
            <a:prstGeom prst="rect">
              <a:avLst/>
            </a:prstGeom>
            <a:noFill/>
            <a:ln w="9525">
              <a:noFill/>
              <a:miter lim="800000"/>
              <a:headEnd/>
              <a:tailEnd/>
            </a:ln>
          </p:spPr>
          <p:txBody>
            <a:bodyPr wrap="none">
              <a:spAutoFit/>
            </a:bodyPr>
            <a:lstStyle/>
            <a:p>
              <a:r>
                <a:rPr lang="el-GR" altLang="zh-CN">
                  <a:cs typeface="Arial" charset="0"/>
                </a:rPr>
                <a:t>σ</a:t>
              </a:r>
              <a:r>
                <a:rPr lang="en-US" altLang="zh-CN" baseline="-25000">
                  <a:cs typeface="Arial" charset="0"/>
                </a:rPr>
                <a:t>M</a:t>
              </a:r>
              <a:endParaRPr lang="el-GR" altLang="zh-CN" baseline="-25000">
                <a:cs typeface="Arial" charset="0"/>
              </a:endParaRPr>
            </a:p>
          </p:txBody>
        </p:sp>
        <p:sp>
          <p:nvSpPr>
            <p:cNvPr id="26" name="Line 39"/>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27" name="Freeform 40"/>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28" name="Line 41"/>
            <p:cNvSpPr>
              <a:spLocks noChangeShapeType="1"/>
            </p:cNvSpPr>
            <p:nvPr/>
          </p:nvSpPr>
          <p:spPr bwMode="auto">
            <a:xfrm flipV="1">
              <a:off x="2615407" y="1628802"/>
              <a:ext cx="4321175" cy="1368424"/>
            </a:xfrm>
            <a:prstGeom prst="line">
              <a:avLst/>
            </a:prstGeom>
            <a:noFill/>
            <a:ln w="9525">
              <a:solidFill>
                <a:schemeClr val="tx1"/>
              </a:solidFill>
              <a:round/>
              <a:headEnd/>
              <a:tailEnd/>
            </a:ln>
          </p:spPr>
          <p:txBody>
            <a:bodyPr/>
            <a:lstStyle/>
            <a:p>
              <a:endParaRPr lang="zh-CN" altLang="en-US"/>
            </a:p>
          </p:txBody>
        </p:sp>
        <p:sp>
          <p:nvSpPr>
            <p:cNvPr id="29" name="Text Box 47"/>
            <p:cNvSpPr txBox="1">
              <a:spLocks noChangeArrowheads="1"/>
            </p:cNvSpPr>
            <p:nvPr/>
          </p:nvSpPr>
          <p:spPr bwMode="auto">
            <a:xfrm>
              <a:off x="2112169" y="2846414"/>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30" name="Text Box 48"/>
            <p:cNvSpPr txBox="1">
              <a:spLocks noChangeArrowheads="1"/>
            </p:cNvSpPr>
            <p:nvPr/>
          </p:nvSpPr>
          <p:spPr bwMode="auto">
            <a:xfrm>
              <a:off x="1823244" y="2349527"/>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31" name="Rectangle 50"/>
            <p:cNvSpPr>
              <a:spLocks noChangeArrowheads="1"/>
            </p:cNvSpPr>
            <p:nvPr/>
          </p:nvSpPr>
          <p:spPr bwMode="auto">
            <a:xfrm>
              <a:off x="6863557" y="3565551"/>
              <a:ext cx="412750" cy="366712"/>
            </a:xfrm>
            <a:prstGeom prst="rect">
              <a:avLst/>
            </a:prstGeom>
            <a:noFill/>
            <a:ln w="9525">
              <a:noFill/>
              <a:miter lim="800000"/>
              <a:headEnd/>
              <a:tailEnd/>
            </a:ln>
          </p:spPr>
          <p:txBody>
            <a:bodyPr wrap="none">
              <a:spAutoFit/>
            </a:bodyPr>
            <a:lstStyle/>
            <a:p>
              <a:r>
                <a:rPr lang="el-GR" altLang="zh-CN">
                  <a:cs typeface="Arial" charset="0"/>
                </a:rPr>
                <a:t>σ</a:t>
              </a:r>
            </a:p>
          </p:txBody>
        </p:sp>
        <p:sp>
          <p:nvSpPr>
            <p:cNvPr id="32" name="Rectangle 51"/>
            <p:cNvSpPr>
              <a:spLocks noChangeArrowheads="1"/>
            </p:cNvSpPr>
            <p:nvPr/>
          </p:nvSpPr>
          <p:spPr bwMode="auto">
            <a:xfrm>
              <a:off x="3802857" y="3500463"/>
              <a:ext cx="539750" cy="366712"/>
            </a:xfrm>
            <a:prstGeom prst="rect">
              <a:avLst/>
            </a:prstGeom>
            <a:noFill/>
            <a:ln w="9525">
              <a:noFill/>
              <a:miter lim="800000"/>
              <a:headEnd/>
              <a:tailEnd/>
            </a:ln>
          </p:spPr>
          <p:txBody>
            <a:bodyPr wrap="none">
              <a:spAutoFit/>
            </a:bodyPr>
            <a:lstStyle/>
            <a:p>
              <a:r>
                <a:rPr lang="el-GR" altLang="zh-CN">
                  <a:cs typeface="Arial" charset="0"/>
                </a:rPr>
                <a:t>σ</a:t>
              </a:r>
              <a:r>
                <a:rPr lang="en-US" altLang="zh-CN" baseline="-25000">
                  <a:cs typeface="Arial" charset="0"/>
                </a:rPr>
                <a:t>M</a:t>
              </a:r>
              <a:endParaRPr lang="el-GR" altLang="zh-CN" baseline="-25000">
                <a:cs typeface="Arial" charset="0"/>
              </a:endParaRPr>
            </a:p>
          </p:txBody>
        </p:sp>
        <p:sp>
          <p:nvSpPr>
            <p:cNvPr id="33" name="Line 53"/>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34" name="Line 54"/>
            <p:cNvSpPr>
              <a:spLocks noChangeShapeType="1"/>
            </p:cNvSpPr>
            <p:nvPr/>
          </p:nvSpPr>
          <p:spPr bwMode="auto">
            <a:xfrm flipV="1">
              <a:off x="2615407" y="1398606"/>
              <a:ext cx="0" cy="2196000"/>
            </a:xfrm>
            <a:prstGeom prst="line">
              <a:avLst/>
            </a:prstGeom>
            <a:noFill/>
            <a:ln w="28575">
              <a:solidFill>
                <a:schemeClr val="tx1"/>
              </a:solidFill>
              <a:round/>
              <a:headEnd/>
              <a:tailEnd type="triangle" w="med" len="med"/>
            </a:ln>
          </p:spPr>
          <p:txBody>
            <a:bodyPr/>
            <a:lstStyle/>
            <a:p>
              <a:endParaRPr lang="zh-CN" altLang="en-US"/>
            </a:p>
          </p:txBody>
        </p:sp>
        <p:sp>
          <p:nvSpPr>
            <p:cNvPr id="35" name="Freeform 55"/>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36" name="Line 56"/>
            <p:cNvSpPr>
              <a:spLocks noChangeShapeType="1"/>
            </p:cNvSpPr>
            <p:nvPr/>
          </p:nvSpPr>
          <p:spPr bwMode="auto">
            <a:xfrm flipV="1">
              <a:off x="2615407" y="1628802"/>
              <a:ext cx="4321175" cy="1368424"/>
            </a:xfrm>
            <a:prstGeom prst="line">
              <a:avLst/>
            </a:prstGeom>
            <a:noFill/>
            <a:ln w="9525">
              <a:solidFill>
                <a:schemeClr val="tx1"/>
              </a:solidFill>
              <a:round/>
              <a:headEnd/>
              <a:tailEnd/>
            </a:ln>
          </p:spPr>
          <p:txBody>
            <a:bodyPr/>
            <a:lstStyle/>
            <a:p>
              <a:endParaRPr lang="zh-CN" altLang="en-US"/>
            </a:p>
          </p:txBody>
        </p:sp>
        <p:sp>
          <p:nvSpPr>
            <p:cNvPr id="37" name="Text Box 62"/>
            <p:cNvSpPr txBox="1">
              <a:spLocks noChangeArrowheads="1"/>
            </p:cNvSpPr>
            <p:nvPr/>
          </p:nvSpPr>
          <p:spPr bwMode="auto">
            <a:xfrm>
              <a:off x="2112169" y="2846414"/>
              <a:ext cx="387350" cy="366712"/>
            </a:xfrm>
            <a:prstGeom prst="rect">
              <a:avLst/>
            </a:prstGeom>
            <a:noFill/>
            <a:ln w="9525">
              <a:noFill/>
              <a:miter lim="800000"/>
              <a:headEnd/>
              <a:tailEnd/>
            </a:ln>
          </p:spPr>
          <p:txBody>
            <a:bodyPr wrap="none">
              <a:spAutoFit/>
            </a:bodyPr>
            <a:lstStyle/>
            <a:p>
              <a:r>
                <a:rPr lang="en-US" altLang="zh-CN" dirty="0"/>
                <a:t>R</a:t>
              </a:r>
              <a:r>
                <a:rPr lang="en-US" altLang="zh-CN" baseline="-25000" dirty="0"/>
                <a:t>f</a:t>
              </a:r>
            </a:p>
          </p:txBody>
        </p:sp>
        <p:sp>
          <p:nvSpPr>
            <p:cNvPr id="38" name="Text Box 63"/>
            <p:cNvSpPr txBox="1">
              <a:spLocks noChangeArrowheads="1"/>
            </p:cNvSpPr>
            <p:nvPr/>
          </p:nvSpPr>
          <p:spPr bwMode="auto">
            <a:xfrm>
              <a:off x="1823244" y="2349527"/>
              <a:ext cx="763588" cy="366712"/>
            </a:xfrm>
            <a:prstGeom prst="rect">
              <a:avLst/>
            </a:prstGeom>
            <a:noFill/>
            <a:ln w="9525">
              <a:noFill/>
              <a:miter lim="800000"/>
              <a:headEnd/>
              <a:tailEnd/>
            </a:ln>
          </p:spPr>
          <p:txBody>
            <a:bodyPr wrap="none">
              <a:spAutoFit/>
            </a:bodyPr>
            <a:lstStyle/>
            <a:p>
              <a:r>
                <a:rPr lang="en-US" altLang="zh-CN"/>
                <a:t>E(R</a:t>
              </a:r>
              <a:r>
                <a:rPr lang="en-US" altLang="zh-CN" baseline="-25000"/>
                <a:t>M</a:t>
              </a:r>
              <a:r>
                <a:rPr lang="en-US" altLang="zh-CN"/>
                <a:t>)</a:t>
              </a:r>
              <a:endParaRPr lang="en-US" altLang="zh-CN" baseline="-25000"/>
            </a:p>
          </p:txBody>
        </p:sp>
        <p:sp>
          <p:nvSpPr>
            <p:cNvPr id="39" name="Text Box 64"/>
            <p:cNvSpPr txBox="1">
              <a:spLocks noChangeArrowheads="1"/>
            </p:cNvSpPr>
            <p:nvPr/>
          </p:nvSpPr>
          <p:spPr bwMode="auto">
            <a:xfrm>
              <a:off x="1915319" y="1549427"/>
              <a:ext cx="628650" cy="366712"/>
            </a:xfrm>
            <a:prstGeom prst="rect">
              <a:avLst/>
            </a:prstGeom>
            <a:noFill/>
            <a:ln w="9525">
              <a:noFill/>
              <a:miter lim="800000"/>
              <a:headEnd/>
              <a:tailEnd/>
            </a:ln>
          </p:spPr>
          <p:txBody>
            <a:bodyPr wrap="none">
              <a:spAutoFit/>
            </a:bodyPr>
            <a:lstStyle/>
            <a:p>
              <a:r>
                <a:rPr lang="en-US" altLang="zh-CN"/>
                <a:t>E(R)</a:t>
              </a:r>
              <a:endParaRPr lang="en-US" altLang="zh-CN" baseline="-25000"/>
            </a:p>
          </p:txBody>
        </p:sp>
        <p:sp>
          <p:nvSpPr>
            <p:cNvPr id="40" name="Rectangle 66"/>
            <p:cNvSpPr>
              <a:spLocks noChangeArrowheads="1"/>
            </p:cNvSpPr>
            <p:nvPr/>
          </p:nvSpPr>
          <p:spPr bwMode="auto">
            <a:xfrm>
              <a:off x="6863557" y="3565551"/>
              <a:ext cx="412750" cy="366712"/>
            </a:xfrm>
            <a:prstGeom prst="rect">
              <a:avLst/>
            </a:prstGeom>
            <a:noFill/>
            <a:ln w="9525">
              <a:noFill/>
              <a:miter lim="800000"/>
              <a:headEnd/>
              <a:tailEnd/>
            </a:ln>
          </p:spPr>
          <p:txBody>
            <a:bodyPr wrap="none">
              <a:spAutoFit/>
            </a:bodyPr>
            <a:lstStyle/>
            <a:p>
              <a:r>
                <a:rPr lang="el-GR" altLang="zh-CN">
                  <a:cs typeface="Arial" charset="0"/>
                </a:rPr>
                <a:t>σ</a:t>
              </a:r>
            </a:p>
          </p:txBody>
        </p:sp>
        <p:sp>
          <p:nvSpPr>
            <p:cNvPr id="41" name="Rectangle 67"/>
            <p:cNvSpPr>
              <a:spLocks noChangeArrowheads="1"/>
            </p:cNvSpPr>
            <p:nvPr/>
          </p:nvSpPr>
          <p:spPr bwMode="auto">
            <a:xfrm>
              <a:off x="3802857" y="3500463"/>
              <a:ext cx="539750" cy="366712"/>
            </a:xfrm>
            <a:prstGeom prst="rect">
              <a:avLst/>
            </a:prstGeom>
            <a:noFill/>
            <a:ln w="9525">
              <a:noFill/>
              <a:miter lim="800000"/>
              <a:headEnd/>
              <a:tailEnd/>
            </a:ln>
          </p:spPr>
          <p:txBody>
            <a:bodyPr wrap="none">
              <a:spAutoFit/>
            </a:bodyPr>
            <a:lstStyle/>
            <a:p>
              <a:r>
                <a:rPr lang="el-GR" altLang="zh-CN">
                  <a:cs typeface="Arial" charset="0"/>
                </a:rPr>
                <a:t>σ</a:t>
              </a:r>
              <a:r>
                <a:rPr lang="en-US" altLang="zh-CN" baseline="-25000">
                  <a:cs typeface="Arial" charset="0"/>
                </a:rPr>
                <a:t>M</a:t>
              </a:r>
              <a:endParaRPr lang="el-GR" altLang="zh-CN" baseline="-25000">
                <a:cs typeface="Arial" charset="0"/>
              </a:endParaRPr>
            </a:p>
          </p:txBody>
        </p:sp>
        <p:sp>
          <p:nvSpPr>
            <p:cNvPr id="42" name="Line 68"/>
            <p:cNvSpPr>
              <a:spLocks noChangeShapeType="1"/>
            </p:cNvSpPr>
            <p:nvPr/>
          </p:nvSpPr>
          <p:spPr bwMode="auto">
            <a:xfrm>
              <a:off x="2615407" y="3573488"/>
              <a:ext cx="4535488" cy="0"/>
            </a:xfrm>
            <a:prstGeom prst="line">
              <a:avLst/>
            </a:prstGeom>
            <a:noFill/>
            <a:ln w="9525">
              <a:solidFill>
                <a:schemeClr val="tx1"/>
              </a:solidFill>
              <a:round/>
              <a:headEnd/>
              <a:tailEnd type="triangle" w="med" len="med"/>
            </a:ln>
          </p:spPr>
          <p:txBody>
            <a:bodyPr/>
            <a:lstStyle/>
            <a:p>
              <a:endParaRPr lang="zh-CN" altLang="en-US"/>
            </a:p>
          </p:txBody>
        </p:sp>
        <p:sp>
          <p:nvSpPr>
            <p:cNvPr id="43" name="Freeform 69"/>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44" name="Line 71"/>
            <p:cNvSpPr>
              <a:spLocks noChangeShapeType="1"/>
            </p:cNvSpPr>
            <p:nvPr/>
          </p:nvSpPr>
          <p:spPr bwMode="auto">
            <a:xfrm flipV="1">
              <a:off x="2615407" y="1628802"/>
              <a:ext cx="4321175" cy="1368424"/>
            </a:xfrm>
            <a:prstGeom prst="line">
              <a:avLst/>
            </a:prstGeom>
            <a:noFill/>
            <a:ln w="25400">
              <a:solidFill>
                <a:srgbClr val="FF0000"/>
              </a:solidFill>
              <a:round/>
              <a:headEnd/>
              <a:tailEnd/>
            </a:ln>
          </p:spPr>
          <p:txBody>
            <a:bodyPr/>
            <a:lstStyle/>
            <a:p>
              <a:endParaRPr lang="zh-CN" altLang="en-US"/>
            </a:p>
          </p:txBody>
        </p:sp>
        <p:sp>
          <p:nvSpPr>
            <p:cNvPr id="45" name="Line 72"/>
            <p:cNvSpPr>
              <a:spLocks noChangeShapeType="1"/>
            </p:cNvSpPr>
            <p:nvPr/>
          </p:nvSpPr>
          <p:spPr bwMode="auto">
            <a:xfrm>
              <a:off x="2615407" y="3573488"/>
              <a:ext cx="4535488" cy="0"/>
            </a:xfrm>
            <a:prstGeom prst="line">
              <a:avLst/>
            </a:prstGeom>
            <a:noFill/>
            <a:ln w="28575">
              <a:solidFill>
                <a:schemeClr val="tx1"/>
              </a:solidFill>
              <a:round/>
              <a:headEnd/>
              <a:tailEnd type="triangle" w="med" len="med"/>
            </a:ln>
          </p:spPr>
          <p:txBody>
            <a:bodyPr/>
            <a:lstStyle/>
            <a:p>
              <a:endParaRPr lang="zh-CN" altLang="en-US"/>
            </a:p>
          </p:txBody>
        </p:sp>
        <p:sp>
          <p:nvSpPr>
            <p:cNvPr id="46" name="Freeform 73"/>
            <p:cNvSpPr>
              <a:spLocks/>
            </p:cNvSpPr>
            <p:nvPr/>
          </p:nvSpPr>
          <p:spPr bwMode="auto">
            <a:xfrm>
              <a:off x="3442494" y="2062189"/>
              <a:ext cx="3133725" cy="1295399"/>
            </a:xfrm>
            <a:custGeom>
              <a:avLst/>
              <a:gdLst>
                <a:gd name="T0" fmla="*/ 2147453933 w 1974"/>
                <a:gd name="T1" fmla="*/ 0 h 816"/>
                <a:gd name="T2" fmla="*/ 2147453933 w 1974"/>
                <a:gd name="T3" fmla="*/ 2147453821 h 816"/>
                <a:gd name="T4" fmla="*/ 2147453933 w 1974"/>
                <a:gd name="T5" fmla="*/ 2147453821 h 816"/>
                <a:gd name="T6" fmla="*/ 0 60000 65536"/>
                <a:gd name="T7" fmla="*/ 0 60000 65536"/>
                <a:gd name="T8" fmla="*/ 0 60000 65536"/>
                <a:gd name="T9" fmla="*/ 0 w 1974"/>
                <a:gd name="T10" fmla="*/ 0 h 816"/>
                <a:gd name="T11" fmla="*/ 1974 w 1974"/>
                <a:gd name="T12" fmla="*/ 816 h 816"/>
              </a:gdLst>
              <a:ahLst/>
              <a:cxnLst>
                <a:cxn ang="T6">
                  <a:pos x="T0" y="T1"/>
                </a:cxn>
                <a:cxn ang="T7">
                  <a:pos x="T2" y="T3"/>
                </a:cxn>
                <a:cxn ang="T8">
                  <a:pos x="T4" y="T5"/>
                </a:cxn>
              </a:cxnLst>
              <a:rect l="T9" t="T10" r="T11" b="T12"/>
              <a:pathLst>
                <a:path w="1974" h="816">
                  <a:moveTo>
                    <a:pt x="1974" y="0"/>
                  </a:moveTo>
                  <a:cubicBezTo>
                    <a:pt x="1237" y="113"/>
                    <a:pt x="500" y="227"/>
                    <a:pt x="250" y="363"/>
                  </a:cubicBezTo>
                  <a:cubicBezTo>
                    <a:pt x="0" y="499"/>
                    <a:pt x="439" y="741"/>
                    <a:pt x="477" y="816"/>
                  </a:cubicBezTo>
                </a:path>
              </a:pathLst>
            </a:custGeom>
            <a:noFill/>
            <a:ln w="9525">
              <a:solidFill>
                <a:schemeClr val="tx1"/>
              </a:solidFill>
              <a:round/>
              <a:headEnd/>
              <a:tailEnd/>
            </a:ln>
          </p:spPr>
          <p:txBody>
            <a:bodyPr/>
            <a:lstStyle/>
            <a:p>
              <a:endParaRPr lang="zh-CN" altLang="en-US"/>
            </a:p>
          </p:txBody>
        </p:sp>
        <p:sp>
          <p:nvSpPr>
            <p:cNvPr id="47" name="Text Box 74"/>
            <p:cNvSpPr txBox="1">
              <a:spLocks noChangeArrowheads="1"/>
            </p:cNvSpPr>
            <p:nvPr/>
          </p:nvSpPr>
          <p:spPr bwMode="auto">
            <a:xfrm>
              <a:off x="5960269" y="2376514"/>
              <a:ext cx="581025" cy="369887"/>
            </a:xfrm>
            <a:prstGeom prst="rect">
              <a:avLst/>
            </a:prstGeom>
            <a:noFill/>
            <a:ln w="9525">
              <a:noFill/>
              <a:miter lim="800000"/>
              <a:headEnd/>
              <a:tailEnd/>
            </a:ln>
          </p:spPr>
          <p:txBody>
            <a:bodyPr wrap="none">
              <a:spAutoFit/>
            </a:bodyPr>
            <a:lstStyle/>
            <a:p>
              <a:r>
                <a:rPr lang="el-GR" altLang="zh-CN" dirty="0">
                  <a:cs typeface="Arial" charset="0"/>
                </a:rPr>
                <a:t>β</a:t>
              </a:r>
              <a:r>
                <a:rPr lang="en-US" altLang="zh-CN" dirty="0">
                  <a:cs typeface="Arial" charset="0"/>
                </a:rPr>
                <a:t>=1</a:t>
              </a:r>
              <a:endParaRPr lang="el-GR" altLang="zh-CN" dirty="0">
                <a:cs typeface="Arial" charset="0"/>
              </a:endParaRPr>
            </a:p>
          </p:txBody>
        </p:sp>
        <p:sp>
          <p:nvSpPr>
            <p:cNvPr id="48" name="Line 23"/>
            <p:cNvSpPr>
              <a:spLocks noChangeShapeType="1"/>
            </p:cNvSpPr>
            <p:nvPr/>
          </p:nvSpPr>
          <p:spPr bwMode="auto">
            <a:xfrm>
              <a:off x="3983832" y="2565426"/>
              <a:ext cx="0" cy="1008062"/>
            </a:xfrm>
            <a:prstGeom prst="line">
              <a:avLst/>
            </a:prstGeom>
            <a:noFill/>
            <a:ln w="12700">
              <a:solidFill>
                <a:schemeClr val="tx1"/>
              </a:solidFill>
              <a:prstDash val="dash"/>
              <a:round/>
              <a:headEnd/>
              <a:tailEnd/>
            </a:ln>
          </p:spPr>
          <p:txBody>
            <a:bodyPr/>
            <a:lstStyle/>
            <a:p>
              <a:endParaRPr lang="zh-CN" altLang="en-US"/>
            </a:p>
          </p:txBody>
        </p:sp>
      </p:grpSp>
    </p:spTree>
    <p:extLst>
      <p:ext uri="{BB962C8B-B14F-4D97-AF65-F5344CB8AC3E}">
        <p14:creationId xmlns:p14="http://schemas.microsoft.com/office/powerpoint/2010/main" val="266512775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dirty="0" smtClean="0"/>
              <a:t>For a portfolio invested in two risky assets, the higher the correlation of returns between the returns of the risky assets, the:</a:t>
            </a:r>
          </a:p>
          <a:p>
            <a:pPr marL="1123935" lvl="1" indent="-514350">
              <a:buFont typeface="+mj-lt"/>
              <a:buAutoNum type="romanUcPeriod"/>
            </a:pPr>
            <a:r>
              <a:rPr lang="en-US" altLang="zh-CN" dirty="0" smtClean="0"/>
              <a:t>Greater the expected return of the portfolio</a:t>
            </a:r>
          </a:p>
          <a:p>
            <a:pPr marL="1123935" lvl="1" indent="-514350">
              <a:buFont typeface="+mj-lt"/>
              <a:buAutoNum type="romanUcPeriod"/>
            </a:pPr>
            <a:r>
              <a:rPr lang="en-US" altLang="zh-CN" dirty="0" smtClean="0"/>
              <a:t>Smaller the expected return of the portfolio</a:t>
            </a:r>
          </a:p>
          <a:p>
            <a:pPr marL="1123935" lvl="1" indent="-514350">
              <a:buFont typeface="+mj-lt"/>
              <a:buAutoNum type="romanUcPeriod"/>
            </a:pPr>
            <a:r>
              <a:rPr lang="en-US" altLang="zh-CN" dirty="0" smtClean="0"/>
              <a:t>Lower the volatility of portfolio returns.</a:t>
            </a:r>
          </a:p>
          <a:p>
            <a:pPr marL="1123935" lvl="1" indent="-514350">
              <a:buFont typeface="+mj-lt"/>
              <a:buAutoNum type="romanUcPeriod"/>
            </a:pPr>
            <a:r>
              <a:rPr lang="en-US" altLang="zh-CN" dirty="0" smtClean="0"/>
              <a:t>Higher the standard deviation of portfolio returns.</a:t>
            </a:r>
          </a:p>
          <a:p>
            <a:pPr marL="1066785" lvl="1" indent="-457200">
              <a:buFont typeface="+mj-lt"/>
              <a:buAutoNum type="alphaUcPeriod"/>
            </a:pPr>
            <a:r>
              <a:rPr lang="en-US" altLang="zh-CN" dirty="0" smtClean="0"/>
              <a:t>I and IV</a:t>
            </a:r>
          </a:p>
          <a:p>
            <a:pPr marL="1066785" lvl="1" indent="-457200">
              <a:buFont typeface="+mj-lt"/>
              <a:buAutoNum type="alphaUcPeriod"/>
            </a:pPr>
            <a:r>
              <a:rPr lang="en-US" altLang="zh-CN" dirty="0" smtClean="0"/>
              <a:t>IV only</a:t>
            </a:r>
          </a:p>
          <a:p>
            <a:pPr marL="1066785" lvl="1" indent="-457200">
              <a:buFont typeface="+mj-lt"/>
              <a:buAutoNum type="alphaUcPeriod"/>
            </a:pPr>
            <a:r>
              <a:rPr lang="en-US" altLang="zh-CN" dirty="0" smtClean="0"/>
              <a:t>II and III</a:t>
            </a:r>
          </a:p>
          <a:p>
            <a:pPr marL="1066785" lvl="1" indent="-457200">
              <a:buFont typeface="+mj-lt"/>
              <a:buAutoNum type="alphaUcPeriod"/>
            </a:pPr>
            <a:r>
              <a:rPr lang="en-US" altLang="zh-CN" dirty="0" smtClean="0"/>
              <a:t>III only</a:t>
            </a:r>
          </a:p>
          <a:p>
            <a:pPr lvl="1"/>
            <a:endParaRPr lang="en-US" altLang="zh-CN" dirty="0" smtClean="0"/>
          </a:p>
          <a:p>
            <a:r>
              <a:rPr lang="en-US" altLang="zh-CN" dirty="0" smtClean="0"/>
              <a:t>Correct answer : B</a:t>
            </a:r>
            <a:endParaRPr lang="en-US" altLang="zh-CN" dirty="0"/>
          </a:p>
        </p:txBody>
      </p:sp>
      <p:sp>
        <p:nvSpPr>
          <p:cNvPr id="3" name="标题 2"/>
          <p:cNvSpPr>
            <a:spLocks noGrp="1"/>
          </p:cNvSpPr>
          <p:nvPr>
            <p:ph type="title"/>
          </p:nvPr>
        </p:nvSpPr>
        <p:spPr/>
        <p:txBody>
          <a:bodyPr/>
          <a:lstStyle/>
          <a:p>
            <a:r>
              <a:rPr lang="en-US" altLang="zh-CN" smtClean="0">
                <a:sym typeface="+mn-lt"/>
              </a:rPr>
              <a:t>Practice 1</a:t>
            </a:r>
            <a:endParaRPr lang="zh-CN" altLang="en-US" dirty="0">
              <a:sym typeface="+mn-lt"/>
            </a:endParaRPr>
          </a:p>
        </p:txBody>
      </p:sp>
    </p:spTree>
    <p:extLst>
      <p:ext uri="{BB962C8B-B14F-4D97-AF65-F5344CB8AC3E}">
        <p14:creationId xmlns:p14="http://schemas.microsoft.com/office/powerpoint/2010/main" val="280534992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2000" dirty="0" smtClean="0"/>
              <a:t>The standard deviation of returns is 0.30 for Stock A and 0.20 for Stock B. The covariance between the returns of A and B is 0.006. The correlation of returns between A and B is:</a:t>
            </a:r>
          </a:p>
          <a:p>
            <a:pPr marL="1066785" lvl="1" indent="-457200">
              <a:buFont typeface="+mj-lt"/>
              <a:buAutoNum type="alphaUcPeriod"/>
            </a:pPr>
            <a:r>
              <a:rPr lang="en-US" altLang="zh-CN" sz="2000" dirty="0" smtClean="0"/>
              <a:t>0.10</a:t>
            </a:r>
          </a:p>
          <a:p>
            <a:pPr marL="1066785" lvl="1" indent="-457200">
              <a:buFont typeface="+mj-lt"/>
              <a:buAutoNum type="alphaUcPeriod"/>
            </a:pPr>
            <a:r>
              <a:rPr lang="en-US" altLang="zh-CN" sz="2000" dirty="0" smtClean="0"/>
              <a:t>0.20</a:t>
            </a:r>
          </a:p>
          <a:p>
            <a:pPr marL="1066785" lvl="1" indent="-457200">
              <a:buFont typeface="+mj-lt"/>
              <a:buAutoNum type="alphaUcPeriod"/>
            </a:pPr>
            <a:r>
              <a:rPr lang="en-US" altLang="zh-CN" sz="2000" dirty="0" smtClean="0"/>
              <a:t>0.30</a:t>
            </a:r>
          </a:p>
          <a:p>
            <a:pPr marL="1066785" lvl="1" indent="-457200">
              <a:buFont typeface="+mj-lt"/>
              <a:buAutoNum type="alphaUcPeriod"/>
            </a:pPr>
            <a:r>
              <a:rPr lang="en-US" altLang="zh-CN" sz="2000" dirty="0" smtClean="0"/>
              <a:t>0.40</a:t>
            </a:r>
          </a:p>
          <a:p>
            <a:pPr lvl="1"/>
            <a:endParaRPr lang="en-US" altLang="zh-CN" dirty="0" smtClean="0"/>
          </a:p>
          <a:p>
            <a:r>
              <a:rPr lang="en-US" altLang="zh-CN" sz="2000" dirty="0" smtClean="0"/>
              <a:t>Correct answer : A</a:t>
            </a:r>
            <a:endParaRPr lang="en-US" altLang="zh-CN" sz="2000" dirty="0"/>
          </a:p>
        </p:txBody>
      </p:sp>
      <p:sp>
        <p:nvSpPr>
          <p:cNvPr id="3" name="标题 2"/>
          <p:cNvSpPr>
            <a:spLocks noGrp="1"/>
          </p:cNvSpPr>
          <p:nvPr>
            <p:ph type="title"/>
          </p:nvPr>
        </p:nvSpPr>
        <p:spPr/>
        <p:txBody>
          <a:bodyPr/>
          <a:lstStyle/>
          <a:p>
            <a:r>
              <a:rPr lang="en-US" altLang="zh-CN" smtClean="0">
                <a:sym typeface="+mn-lt"/>
              </a:rPr>
              <a:t>Practice 2</a:t>
            </a:r>
            <a:endParaRPr lang="zh-CN" altLang="en-US" dirty="0">
              <a:sym typeface="+mn-lt"/>
            </a:endParaRPr>
          </a:p>
        </p:txBody>
      </p:sp>
    </p:spTree>
    <p:extLst>
      <p:ext uri="{BB962C8B-B14F-4D97-AF65-F5344CB8AC3E}">
        <p14:creationId xmlns:p14="http://schemas.microsoft.com/office/powerpoint/2010/main" val="427679312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09599" y="816000"/>
            <a:ext cx="10972800" cy="6042000"/>
          </a:xfrm>
        </p:spPr>
        <p:txBody>
          <a:bodyPr>
            <a:normAutofit fontScale="62500" lnSpcReduction="20000"/>
          </a:bodyPr>
          <a:lstStyle/>
          <a:p>
            <a:r>
              <a:rPr lang="en-US" altLang="zh-CN" sz="2900" dirty="0" smtClean="0"/>
              <a:t> Jimmy invests stock A by the CAPM. The information of stock A is as follows: </a:t>
            </a:r>
          </a:p>
          <a:p>
            <a:pPr lvl="2"/>
            <a:r>
              <a:rPr lang="en-US" altLang="zh-CN" sz="2900" dirty="0" smtClean="0"/>
              <a:t>Expected marker risk premium  9% </a:t>
            </a:r>
          </a:p>
          <a:p>
            <a:pPr lvl="2"/>
            <a:r>
              <a:rPr lang="en-US" altLang="zh-CN" sz="2900" dirty="0" smtClean="0"/>
              <a:t>Risk-free rate                              4% </a:t>
            </a:r>
          </a:p>
          <a:p>
            <a:pPr lvl="2"/>
            <a:r>
              <a:rPr lang="en-US" altLang="zh-CN" sz="2900" dirty="0" smtClean="0"/>
              <a:t>Historical beta  for stock A        1.20 </a:t>
            </a:r>
          </a:p>
          <a:p>
            <a:pPr marL="609585" lvl="1" indent="0">
              <a:buNone/>
            </a:pPr>
            <a:r>
              <a:rPr lang="en-US" altLang="zh-CN" sz="2900" dirty="0" smtClean="0"/>
              <a:t>Jimmy holds that   historical beta can not reflect appropriate forecasts of future beta, so he uses the following formula to forecast beta: </a:t>
            </a:r>
          </a:p>
          <a:p>
            <a:pPr marL="609585" lvl="1" indent="0">
              <a:buNone/>
            </a:pPr>
            <a:r>
              <a:rPr lang="en-US" altLang="zh-CN" sz="2900" dirty="0" smtClean="0"/>
              <a:t>                   Forecasted  beta = 0.70 + 0.20× historical beta </a:t>
            </a:r>
          </a:p>
          <a:p>
            <a:pPr marL="609585" lvl="1" indent="0">
              <a:buNone/>
            </a:pPr>
            <a:r>
              <a:rPr lang="en-US" altLang="zh-CN" sz="2900" dirty="0" smtClean="0"/>
              <a:t>After making  an examination of market trends and the financial statements, Jimmy forecasts that the return for stock A will be 10%. Jimmy should derive the following required return for stock A along with the following valuation decision (undervalued or overvalued): </a:t>
            </a:r>
          </a:p>
          <a:p>
            <a:pPr marL="609585" lvl="1" indent="0">
              <a:buNone/>
            </a:pPr>
            <a:endParaRPr lang="en-US" altLang="zh-CN" dirty="0" smtClean="0"/>
          </a:p>
          <a:p>
            <a:pPr marL="0" indent="0">
              <a:buNone/>
            </a:pPr>
            <a:r>
              <a:rPr lang="en-US" altLang="zh-CN" sz="2900" dirty="0"/>
              <a:t> </a:t>
            </a:r>
            <a:r>
              <a:rPr lang="en-US" altLang="zh-CN" sz="2900" dirty="0" smtClean="0"/>
              <a:t>                   Valuation      CAPM required return </a:t>
            </a:r>
          </a:p>
          <a:p>
            <a:pPr marL="1066785" lvl="1" indent="-457200">
              <a:buFont typeface="+mj-lt"/>
              <a:buAutoNum type="alphaUcPeriod"/>
            </a:pPr>
            <a:r>
              <a:rPr lang="en-US" altLang="zh-CN" sz="2900" dirty="0" smtClean="0"/>
              <a:t>     overvalued                   8.7% </a:t>
            </a:r>
          </a:p>
          <a:p>
            <a:pPr marL="1066785" lvl="1" indent="-457200">
              <a:buFont typeface="+mj-lt"/>
              <a:buAutoNum type="alphaUcPeriod"/>
            </a:pPr>
            <a:r>
              <a:rPr lang="en-US" altLang="zh-CN" sz="2900" dirty="0" smtClean="0"/>
              <a:t>     overvalued                 12.46% </a:t>
            </a:r>
          </a:p>
          <a:p>
            <a:pPr marL="1066785" lvl="1" indent="-457200">
              <a:buFont typeface="+mj-lt"/>
              <a:buAutoNum type="alphaUcPeriod"/>
            </a:pPr>
            <a:r>
              <a:rPr lang="en-US" altLang="zh-CN" sz="2900" dirty="0" smtClean="0"/>
              <a:t>     undervalued                 8.7% </a:t>
            </a:r>
          </a:p>
          <a:p>
            <a:pPr marL="1066785" lvl="1" indent="-457200">
              <a:buFont typeface="+mj-lt"/>
              <a:buAutoNum type="alphaUcPeriod"/>
            </a:pPr>
            <a:r>
              <a:rPr lang="en-US" altLang="zh-CN" sz="2900" dirty="0" smtClean="0"/>
              <a:t>     undervalued               12.46%</a:t>
            </a:r>
            <a:endParaRPr lang="en-US" altLang="zh-CN" sz="2900" dirty="0"/>
          </a:p>
        </p:txBody>
      </p:sp>
      <p:sp>
        <p:nvSpPr>
          <p:cNvPr id="3" name="标题 2"/>
          <p:cNvSpPr>
            <a:spLocks noGrp="1"/>
          </p:cNvSpPr>
          <p:nvPr>
            <p:ph type="title"/>
          </p:nvPr>
        </p:nvSpPr>
        <p:spPr/>
        <p:txBody>
          <a:bodyPr/>
          <a:lstStyle/>
          <a:p>
            <a:r>
              <a:rPr lang="en-US" altLang="zh-CN" smtClean="0">
                <a:sym typeface="+mn-lt"/>
              </a:rPr>
              <a:t>Practice 3</a:t>
            </a:r>
            <a:endParaRPr lang="zh-CN" altLang="en-US" dirty="0">
              <a:sym typeface="+mn-lt"/>
            </a:endParaRPr>
          </a:p>
        </p:txBody>
      </p:sp>
    </p:spTree>
    <p:extLst>
      <p:ext uri="{BB962C8B-B14F-4D97-AF65-F5344CB8AC3E}">
        <p14:creationId xmlns:p14="http://schemas.microsoft.com/office/powerpoint/2010/main" val="212264680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2000" dirty="0" smtClean="0"/>
              <a:t>Correct answer : B          </a:t>
            </a:r>
          </a:p>
          <a:p>
            <a:r>
              <a:rPr lang="en-US" altLang="zh-CN" sz="2000" dirty="0" smtClean="0"/>
              <a:t>The CAPM equation is: </a:t>
            </a:r>
          </a:p>
          <a:p>
            <a:pPr lvl="1"/>
            <a:r>
              <a:rPr lang="en-US" altLang="zh-CN" sz="2000" dirty="0" smtClean="0"/>
              <a:t>beta forecast = 0.70 + 0.20 × (1.20) =  0.94</a:t>
            </a:r>
          </a:p>
          <a:p>
            <a:pPr marL="0" indent="0">
              <a:buNone/>
            </a:pPr>
            <a:r>
              <a:rPr lang="en-US" altLang="zh-CN" sz="2000" dirty="0" smtClean="0"/>
              <a:t>       The CAPM required return is: </a:t>
            </a:r>
          </a:p>
          <a:p>
            <a:pPr marL="0" indent="0">
              <a:buNone/>
            </a:pPr>
            <a:r>
              <a:rPr lang="en-US" altLang="zh-CN" sz="2000" dirty="0" smtClean="0"/>
              <a:t>                                                 4%+0.94*9%=12.46%</a:t>
            </a:r>
          </a:p>
          <a:p>
            <a:pPr lvl="1"/>
            <a:r>
              <a:rPr lang="en-US" altLang="zh-CN" sz="2000" dirty="0" smtClean="0"/>
              <a:t>Jimmy should decide that the stock is overvalued because she forecasts that the return will equal only 10%. whereas the required return  (minimum acceptable return)  is 12.46%.</a:t>
            </a:r>
            <a:endParaRPr lang="zh-CN" altLang="en-US" sz="2000" dirty="0"/>
          </a:p>
        </p:txBody>
      </p:sp>
      <p:sp>
        <p:nvSpPr>
          <p:cNvPr id="3" name="标题 2"/>
          <p:cNvSpPr>
            <a:spLocks noGrp="1"/>
          </p:cNvSpPr>
          <p:nvPr>
            <p:ph type="title"/>
          </p:nvPr>
        </p:nvSpPr>
        <p:spPr/>
        <p:txBody>
          <a:bodyPr/>
          <a:lstStyle/>
          <a:p>
            <a:r>
              <a:rPr lang="en-US" altLang="zh-CN" smtClean="0">
                <a:sym typeface="+mn-lt"/>
              </a:rPr>
              <a:t>Practice 3</a:t>
            </a:r>
            <a:endParaRPr lang="zh-CN" altLang="en-US" dirty="0">
              <a:sym typeface="+mn-lt"/>
            </a:endParaRPr>
          </a:p>
        </p:txBody>
      </p:sp>
      <p:graphicFrame>
        <p:nvGraphicFramePr>
          <p:cNvPr id="4" name="对象 3"/>
          <p:cNvGraphicFramePr>
            <a:graphicFrameLocks/>
          </p:cNvGraphicFramePr>
          <p:nvPr>
            <p:extLst>
              <p:ext uri="{D42A27DB-BD31-4B8C-83A1-F6EECF244321}">
                <p14:modId xmlns:p14="http://schemas.microsoft.com/office/powerpoint/2010/main" val="826059894"/>
              </p:ext>
            </p:extLst>
          </p:nvPr>
        </p:nvGraphicFramePr>
        <p:xfrm>
          <a:off x="4442797" y="1363305"/>
          <a:ext cx="3051688" cy="486695"/>
        </p:xfrm>
        <a:graphic>
          <a:graphicData uri="http://schemas.openxmlformats.org/presentationml/2006/ole">
            <mc:AlternateContent xmlns:mc="http://schemas.openxmlformats.org/markup-compatibility/2006">
              <mc:Choice xmlns:v="urn:schemas-microsoft-com:vml" Requires="v">
                <p:oleObj spid="_x0000_s1058" name="Equation" r:id="rId3" imgW="1536700" imgH="241300" progId="Equation.DSMT4">
                  <p:embed/>
                </p:oleObj>
              </mc:Choice>
              <mc:Fallback>
                <p:oleObj name="Equation" r:id="rId3" imgW="1536700" imgH="241300" progId="Equation.DSMT4">
                  <p:embed/>
                  <p:pic>
                    <p:nvPicPr>
                      <p:cNvPr id="0"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2797" y="1363305"/>
                        <a:ext cx="3051688" cy="48669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4398337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dirty="0" smtClean="0"/>
              <a:t>There are two analysts Mike and Bob discussed the use of CML. </a:t>
            </a:r>
          </a:p>
          <a:p>
            <a:pPr lvl="1"/>
            <a:r>
              <a:rPr lang="en-US" altLang="zh-CN" dirty="0" smtClean="0"/>
              <a:t>Mike thinks that the CML assumes that investors hold two portfolios: 1) the risk-free asset. 2) a risky portfolio ,which is composed of all assets weighted according to their relative market value capitalizations.</a:t>
            </a:r>
          </a:p>
          <a:p>
            <a:pPr lvl="1"/>
            <a:r>
              <a:rPr lang="en-US" altLang="zh-CN" dirty="0" smtClean="0"/>
              <a:t>Bob holds that the CML is useful in computing the required return for individual portfolio. Are the statements of Mike and Bob correct? </a:t>
            </a:r>
          </a:p>
          <a:p>
            <a:pPr lvl="1"/>
            <a:r>
              <a:rPr lang="en-US" altLang="zh-CN" dirty="0" smtClean="0"/>
              <a:t>Only </a:t>
            </a:r>
            <a:r>
              <a:rPr lang="en-US" altLang="zh-CN" dirty="0" smtClean="0"/>
              <a:t>Mike's  </a:t>
            </a:r>
            <a:r>
              <a:rPr lang="en-US" altLang="zh-CN" dirty="0" smtClean="0"/>
              <a:t>statement is correct. </a:t>
            </a:r>
          </a:p>
          <a:p>
            <a:pPr lvl="1"/>
            <a:r>
              <a:rPr lang="en-US" altLang="zh-CN" dirty="0" smtClean="0"/>
              <a:t>Only </a:t>
            </a:r>
            <a:r>
              <a:rPr lang="en-US" altLang="zh-CN" dirty="0" smtClean="0"/>
              <a:t>Bob's  </a:t>
            </a:r>
            <a:r>
              <a:rPr lang="en-US" altLang="zh-CN" dirty="0" smtClean="0"/>
              <a:t>statement is correct. </a:t>
            </a:r>
          </a:p>
          <a:p>
            <a:pPr lvl="1"/>
            <a:r>
              <a:rPr lang="en-US" altLang="zh-CN" dirty="0" smtClean="0"/>
              <a:t>Both statements are correct. </a:t>
            </a:r>
          </a:p>
          <a:p>
            <a:pPr lvl="1"/>
            <a:r>
              <a:rPr lang="en-US" altLang="zh-CN" dirty="0" smtClean="0"/>
              <a:t>Neither statement is correct.</a:t>
            </a:r>
          </a:p>
          <a:p>
            <a:pPr lvl="1"/>
            <a:endParaRPr lang="en-US" altLang="zh-CN" dirty="0" smtClean="0"/>
          </a:p>
          <a:p>
            <a:r>
              <a:rPr lang="en-US" altLang="zh-CN" dirty="0" smtClean="0"/>
              <a:t>Correct answer : A</a:t>
            </a:r>
            <a:endParaRPr lang="zh-CN" altLang="en-US" dirty="0"/>
          </a:p>
        </p:txBody>
      </p:sp>
      <p:sp>
        <p:nvSpPr>
          <p:cNvPr id="3" name="标题 2"/>
          <p:cNvSpPr>
            <a:spLocks noGrp="1"/>
          </p:cNvSpPr>
          <p:nvPr>
            <p:ph type="title"/>
          </p:nvPr>
        </p:nvSpPr>
        <p:spPr/>
        <p:txBody>
          <a:bodyPr/>
          <a:lstStyle/>
          <a:p>
            <a:r>
              <a:rPr lang="en-US" altLang="zh-CN" smtClean="0">
                <a:sym typeface="+mn-lt"/>
              </a:rPr>
              <a:t>Practice 4</a:t>
            </a:r>
            <a:endParaRPr lang="zh-CN" altLang="en-US" dirty="0">
              <a:sym typeface="+mn-lt"/>
            </a:endParaRPr>
          </a:p>
        </p:txBody>
      </p:sp>
    </p:spTree>
    <p:extLst>
      <p:ext uri="{BB962C8B-B14F-4D97-AF65-F5344CB8AC3E}">
        <p14:creationId xmlns:p14="http://schemas.microsoft.com/office/powerpoint/2010/main" val="12906436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2" y="2545493"/>
            <a:ext cx="4702164" cy="1278384"/>
          </a:xfrm>
        </p:spPr>
        <p:txBody>
          <a:bodyPr/>
          <a:lstStyle/>
          <a:p>
            <a:r>
              <a:rPr lang="en-US" altLang="zh-CN" dirty="0"/>
              <a:t>Applying the CAPM to Performance </a:t>
            </a:r>
            <a:r>
              <a:rPr lang="en-US" altLang="zh-CN" dirty="0" smtClean="0"/>
              <a:t>Measurement</a:t>
            </a:r>
            <a:endParaRPr lang="zh-CN" altLang="en-US" dirty="0"/>
          </a:p>
        </p:txBody>
      </p:sp>
    </p:spTree>
    <p:extLst>
      <p:ext uri="{BB962C8B-B14F-4D97-AF65-F5344CB8AC3E}">
        <p14:creationId xmlns:p14="http://schemas.microsoft.com/office/powerpoint/2010/main" val="364833577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Sharpe </a:t>
            </a:r>
            <a:r>
              <a:rPr lang="en-US" altLang="zh-CN" dirty="0" smtClean="0"/>
              <a:t>ratio</a:t>
            </a:r>
          </a:p>
          <a:p>
            <a:r>
              <a:rPr lang="en-US" altLang="zh-CN" dirty="0"/>
              <a:t>Treynor </a:t>
            </a:r>
            <a:r>
              <a:rPr lang="en-US" altLang="zh-CN" dirty="0" smtClean="0"/>
              <a:t>ratio</a:t>
            </a:r>
          </a:p>
          <a:p>
            <a:r>
              <a:rPr lang="en-US" altLang="zh-CN" dirty="0"/>
              <a:t>Sortino ratio</a:t>
            </a:r>
            <a:endParaRPr lang="en-US" altLang="zh-CN" dirty="0" smtClean="0"/>
          </a:p>
          <a:p>
            <a:r>
              <a:rPr lang="en-US" altLang="zh-CN" dirty="0"/>
              <a:t>Information ratio</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9148622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Sharpe ratio</a:t>
            </a:r>
            <a:endParaRPr lang="zh-CN" altLang="en-US" dirty="0"/>
          </a:p>
        </p:txBody>
      </p:sp>
      <mc:AlternateContent xmlns:mc="http://schemas.openxmlformats.org/markup-compatibility/2006">
        <mc:Choice xmlns:a14="http://schemas.microsoft.com/office/drawing/2010/main" Requires="a14">
          <p:sp>
            <p:nvSpPr>
              <p:cNvPr id="3" name="文本占位符 2"/>
              <p:cNvSpPr>
                <a:spLocks noGrp="1"/>
              </p:cNvSpPr>
              <p:nvPr>
                <p:ph type="body" sz="quarter" idx="10"/>
              </p:nvPr>
            </p:nvSpPr>
            <p:spPr/>
            <p:txBody>
              <a:bodyPr/>
              <a:lstStyle/>
              <a:p>
                <a:r>
                  <a:rPr lang="en-US" altLang="zh-CN" b="0" dirty="0" smtClean="0"/>
                  <a:t>Measures the ratio of the average rate of return E(R</a:t>
                </a:r>
                <a:r>
                  <a:rPr lang="en-US" altLang="zh-CN" b="0" baseline="-25000" dirty="0" smtClean="0"/>
                  <a:t>P</a:t>
                </a:r>
                <a:r>
                  <a:rPr lang="en-US" altLang="zh-CN" b="0" dirty="0" smtClean="0"/>
                  <a:t>), in excess of the risk-free rate RF, to the absolute risk σ(R</a:t>
                </a:r>
                <a:r>
                  <a:rPr lang="en-US" altLang="zh-CN" b="0" baseline="-25000" dirty="0" smtClean="0"/>
                  <a:t>P</a:t>
                </a:r>
                <a:r>
                  <a:rPr lang="en-US" altLang="zh-CN" b="0" dirty="0" smtClean="0"/>
                  <a:t>).</a:t>
                </a:r>
              </a:p>
              <a:p>
                <a:pPr marL="0" indent="0">
                  <a:buNone/>
                </a:pPr>
                <a14:m>
                  <m:oMathPara xmlns:m="http://schemas.openxmlformats.org/officeDocument/2006/math">
                    <m:oMathParaPr>
                      <m:jc m:val="centerGroup"/>
                    </m:oMathParaPr>
                    <m:oMath xmlns:m="http://schemas.openxmlformats.org/officeDocument/2006/math">
                      <m:r>
                        <a:rPr lang="en-US" altLang="zh-CN" b="1" i="1" smtClean="0">
                          <a:latin typeface="Cambria Math"/>
                        </a:rPr>
                        <m:t>𝑺𝑷</m:t>
                      </m:r>
                      <m:r>
                        <a:rPr lang="en-US" altLang="zh-CN" b="1" i="1" smtClean="0">
                          <a:latin typeface="Cambria Math"/>
                        </a:rPr>
                        <m:t>=</m:t>
                      </m:r>
                      <m:f>
                        <m:fPr>
                          <m:ctrlPr>
                            <a:rPr lang="en-US" altLang="zh-CN" b="1" i="1" smtClean="0">
                              <a:latin typeface="Cambria Math" panose="02040503050406030204" pitchFamily="18" charset="0"/>
                            </a:rPr>
                          </m:ctrlPr>
                        </m:fPr>
                        <m:num>
                          <m:r>
                            <a:rPr lang="en-US" altLang="zh-CN" b="1" i="1" smtClean="0">
                              <a:latin typeface="Cambria Math"/>
                            </a:rPr>
                            <m:t>𝑬</m:t>
                          </m:r>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a:rPr>
                                    <m:t>𝑹</m:t>
                                  </m:r>
                                </m:e>
                                <m:sub>
                                  <m:r>
                                    <a:rPr lang="en-US" altLang="zh-CN" b="1" i="1" smtClean="0">
                                      <a:latin typeface="Cambria Math"/>
                                    </a:rPr>
                                    <m:t>𝑷</m:t>
                                  </m:r>
                                </m:sub>
                              </m:sSub>
                            </m:e>
                          </m:d>
                          <m:r>
                            <a:rPr lang="en-US" altLang="zh-CN" b="1" i="1" smtClean="0">
                              <a:latin typeface="Cambria Math"/>
                            </a:rPr>
                            <m:t>−</m:t>
                          </m:r>
                          <m:sSub>
                            <m:sSubPr>
                              <m:ctrlPr>
                                <a:rPr lang="en-US" altLang="zh-CN" b="1" i="1" smtClean="0">
                                  <a:latin typeface="Cambria Math" panose="02040503050406030204" pitchFamily="18" charset="0"/>
                                </a:rPr>
                              </m:ctrlPr>
                            </m:sSubPr>
                            <m:e>
                              <m:r>
                                <a:rPr lang="en-US" altLang="zh-CN" b="1" i="1" smtClean="0">
                                  <a:latin typeface="Cambria Math"/>
                                </a:rPr>
                                <m:t>𝑹</m:t>
                              </m:r>
                            </m:e>
                            <m:sub>
                              <m:r>
                                <a:rPr lang="en-US" altLang="zh-CN" b="1" i="1" smtClean="0">
                                  <a:latin typeface="Cambria Math"/>
                                </a:rPr>
                                <m:t>𝒇</m:t>
                              </m:r>
                            </m:sub>
                          </m:sSub>
                        </m:num>
                        <m:den>
                          <m:r>
                            <a:rPr lang="zh-CN" altLang="en-US" b="1" i="1" smtClean="0">
                              <a:latin typeface="Cambria Math"/>
                            </a:rPr>
                            <m:t>𝝈</m:t>
                          </m:r>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a:rPr>
                                    <m:t>𝑹</m:t>
                                  </m:r>
                                </m:e>
                                <m:sub>
                                  <m:r>
                                    <a:rPr lang="en-US" altLang="zh-CN" b="1" i="1" smtClean="0">
                                      <a:latin typeface="Cambria Math"/>
                                    </a:rPr>
                                    <m:t>𝑷</m:t>
                                  </m:r>
                                </m:sub>
                              </m:sSub>
                            </m:e>
                          </m:d>
                        </m:den>
                      </m:f>
                    </m:oMath>
                  </m:oMathPara>
                </a14:m>
                <a:endParaRPr lang="en-US" altLang="zh-CN" dirty="0" smtClean="0"/>
              </a:p>
              <a:p>
                <a:pPr lvl="1"/>
                <a:r>
                  <a:rPr lang="en-US" altLang="zh-CN" dirty="0" smtClean="0"/>
                  <a:t>Widely used for measuring portfolio performance that are not very diversified.</a:t>
                </a:r>
              </a:p>
              <a:p>
                <a:pPr lvl="1"/>
                <a:r>
                  <a:rPr lang="en-US" altLang="zh-CN" dirty="0" smtClean="0"/>
                  <a:t>A better method for measuring historical performance.</a:t>
                </a:r>
              </a:p>
              <a:p>
                <a:pPr lvl="1"/>
                <a:r>
                  <a:rPr lang="en-US" altLang="zh-CN" dirty="0" smtClean="0"/>
                  <a:t>Suitable for evaluating the performance of a portfolio that represents an </a:t>
                </a:r>
                <a:r>
                  <a:rPr lang="en-US" altLang="zh-CN" dirty="0" smtClean="0"/>
                  <a:t>individual's </a:t>
                </a:r>
                <a:r>
                  <a:rPr lang="en-US" altLang="zh-CN" dirty="0" smtClean="0"/>
                  <a:t>total investment.</a:t>
                </a:r>
              </a:p>
              <a:p>
                <a:endParaRPr lang="zh-CN" altLang="en-US" dirty="0"/>
              </a:p>
            </p:txBody>
          </p:sp>
        </mc:Choice>
        <mc:Fallback>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0">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6394910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Treynor ratio</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b="0" dirty="0" smtClean="0"/>
                  <a:t>Treynor ratio is equal to the risk premium divided by beta (systematic risk)</a:t>
                </a:r>
                <a:endParaRPr lang="zh-CN" altLang="en-US" b="0"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𝑇𝑅</m:t>
                      </m:r>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𝐹</m:t>
                              </m:r>
                            </m:sub>
                          </m:sSub>
                        </m:num>
                        <m:den>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𝑃</m:t>
                              </m:r>
                            </m:sub>
                          </m:sSub>
                        </m:den>
                      </m:f>
                    </m:oMath>
                  </m:oMathPara>
                </a14:m>
                <a:endParaRPr lang="en-US" altLang="zh-CN" dirty="0" smtClean="0"/>
              </a:p>
              <a:p>
                <a:pPr marL="0" indent="0">
                  <a:buNone/>
                </a:pPr>
                <a:endParaRPr lang="en-US" altLang="zh-CN" dirty="0"/>
              </a:p>
              <a:p>
                <a:pPr lvl="1"/>
                <a:r>
                  <a:rPr lang="en-US" altLang="zh-CN" dirty="0"/>
                  <a:t>More appropriate for comparing well-diversified portfolios and a more forward-looking measure.</a:t>
                </a:r>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r="-12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78148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Sortino ratio</a:t>
            </a:r>
            <a:endParaRPr lang="zh-CN" altLang="en-US" dirty="0"/>
          </a:p>
        </p:txBody>
      </p:sp>
      <mc:AlternateContent xmlns:mc="http://schemas.openxmlformats.org/markup-compatibility/2006">
        <mc:Choice xmlns:a14="http://schemas.microsoft.com/office/drawing/2010/main" Requires="a14">
          <p:sp>
            <p:nvSpPr>
              <p:cNvPr id="3" name="文本占位符 2"/>
              <p:cNvSpPr>
                <a:spLocks noGrp="1"/>
              </p:cNvSpPr>
              <p:nvPr>
                <p:ph type="body" sz="quarter" idx="10"/>
              </p:nvPr>
            </p:nvSpPr>
            <p:spPr/>
            <p:txBody>
              <a:bodyPr>
                <a:normAutofit/>
              </a:bodyPr>
              <a:lstStyle/>
              <a:p>
                <a:r>
                  <a:rPr lang="en-US" altLang="zh-CN" b="0" dirty="0" smtClean="0"/>
                  <a:t>MAR</a:t>
                </a:r>
                <a:r>
                  <a:rPr lang="zh-CN" altLang="en-US" b="0" dirty="0"/>
                  <a:t> </a:t>
                </a:r>
                <a:r>
                  <a:rPr lang="en-US" altLang="zh-CN" b="0" dirty="0"/>
                  <a:t>(minimum</a:t>
                </a:r>
                <a:r>
                  <a:rPr lang="zh-CN" altLang="en-US" b="0" dirty="0"/>
                  <a:t> </a:t>
                </a:r>
                <a:r>
                  <a:rPr lang="en-US" altLang="zh-CN" b="0" dirty="0"/>
                  <a:t>acceptable</a:t>
                </a:r>
                <a:r>
                  <a:rPr lang="zh-CN" altLang="en-US" b="0" dirty="0"/>
                  <a:t> </a:t>
                </a:r>
                <a:r>
                  <a:rPr lang="en-US" altLang="zh-CN" b="0" dirty="0"/>
                  <a:t>return)</a:t>
                </a:r>
                <a:r>
                  <a:rPr lang="zh-CN" altLang="en-US" b="0" dirty="0"/>
                  <a:t> </a:t>
                </a:r>
                <a:r>
                  <a:rPr lang="en-US" altLang="zh-CN" b="0" dirty="0"/>
                  <a:t>is</a:t>
                </a:r>
                <a:r>
                  <a:rPr lang="zh-CN" altLang="en-US" b="0" dirty="0"/>
                  <a:t> </a:t>
                </a:r>
                <a:r>
                  <a:rPr lang="en-US" altLang="zh-CN" b="0" dirty="0"/>
                  <a:t>the</a:t>
                </a:r>
                <a:r>
                  <a:rPr lang="zh-CN" altLang="en-US" b="0" dirty="0"/>
                  <a:t> </a:t>
                </a:r>
                <a:r>
                  <a:rPr lang="en-US" altLang="zh-CN" b="0" dirty="0"/>
                  <a:t>return</a:t>
                </a:r>
                <a:r>
                  <a:rPr lang="zh-CN" altLang="en-US" b="0" dirty="0"/>
                  <a:t> </a:t>
                </a:r>
                <a:r>
                  <a:rPr lang="en-US" altLang="zh-CN" b="0" dirty="0"/>
                  <a:t>below</a:t>
                </a:r>
                <a:r>
                  <a:rPr lang="zh-CN" altLang="en-US" b="0" dirty="0"/>
                  <a:t> </a:t>
                </a:r>
                <a:r>
                  <a:rPr lang="en-US" altLang="zh-CN" b="0" dirty="0"/>
                  <a:t>which</a:t>
                </a:r>
                <a:r>
                  <a:rPr lang="zh-CN" altLang="en-US" b="0" dirty="0"/>
                  <a:t> </a:t>
                </a:r>
                <a:r>
                  <a:rPr lang="en-US" altLang="zh-CN" b="0" dirty="0"/>
                  <a:t>the</a:t>
                </a:r>
                <a:r>
                  <a:rPr lang="zh-CN" altLang="en-US" b="0" dirty="0"/>
                  <a:t> </a:t>
                </a:r>
                <a:r>
                  <a:rPr lang="en-US" altLang="zh-CN" b="0" dirty="0"/>
                  <a:t>investor</a:t>
                </a:r>
                <a:r>
                  <a:rPr lang="zh-CN" altLang="en-US" b="0" dirty="0"/>
                  <a:t> </a:t>
                </a:r>
                <a:r>
                  <a:rPr lang="en-US" altLang="zh-CN" b="0" dirty="0"/>
                  <a:t>does</a:t>
                </a:r>
                <a:r>
                  <a:rPr lang="zh-CN" altLang="en-US" b="0" dirty="0"/>
                  <a:t> </a:t>
                </a:r>
                <a:r>
                  <a:rPr lang="en-US" altLang="zh-CN" b="0" dirty="0"/>
                  <a:t>not</a:t>
                </a:r>
                <a:r>
                  <a:rPr lang="zh-CN" altLang="en-US" b="0" dirty="0"/>
                  <a:t> </a:t>
                </a:r>
                <a:r>
                  <a:rPr lang="en-US" altLang="zh-CN" b="0" dirty="0"/>
                  <a:t>wish</a:t>
                </a:r>
                <a:r>
                  <a:rPr lang="zh-CN" altLang="en-US" b="0" dirty="0"/>
                  <a:t> </a:t>
                </a:r>
                <a:r>
                  <a:rPr lang="en-US" altLang="zh-CN" b="0" dirty="0"/>
                  <a:t>to</a:t>
                </a:r>
                <a:r>
                  <a:rPr lang="zh-CN" altLang="en-US" b="0" dirty="0"/>
                  <a:t> </a:t>
                </a:r>
                <a:r>
                  <a:rPr lang="en-US" altLang="zh-CN" b="0" dirty="0"/>
                  <a:t>drop.</a:t>
                </a:r>
                <a:endParaRPr lang="zh-CN" altLang="en-US" b="0" dirty="0"/>
              </a:p>
              <a:p>
                <a:r>
                  <a:rPr lang="en-US" altLang="zh-CN" b="0" dirty="0"/>
                  <a:t>Sortino ratio measures the ratio of the average rate of return E(RP),</a:t>
                </a:r>
                <a:r>
                  <a:rPr lang="zh-CN" altLang="en-US" b="0" dirty="0"/>
                  <a:t> </a:t>
                </a:r>
                <a:r>
                  <a:rPr lang="en-US" altLang="zh-CN" b="0" dirty="0"/>
                  <a:t>in excess of the risk-free rate RF, to the semi-standard deviation,</a:t>
                </a:r>
                <a:r>
                  <a:rPr lang="zh-CN" altLang="en-US" b="0" dirty="0"/>
                  <a:t> </a:t>
                </a:r>
                <a:r>
                  <a:rPr lang="en-US" altLang="zh-CN" b="0" dirty="0"/>
                  <a:t>which considers only data points that represent a loss.</a:t>
                </a:r>
                <a:endParaRPr lang="zh-CN" altLang="en-US" b="0" dirty="0"/>
              </a:p>
              <a:p>
                <a:pPr marL="0" indent="0">
                  <a:buNone/>
                </a:pPr>
                <a:r>
                  <a:rPr lang="en-US" altLang="zh-CN" dirty="0" smtClean="0"/>
                  <a:t>                      </a:t>
                </a:r>
                <a14:m>
                  <m:oMath xmlns:m="http://schemas.openxmlformats.org/officeDocument/2006/math">
                    <m:r>
                      <a:rPr lang="en-US" altLang="zh-CN">
                        <a:latin typeface="Cambria Math"/>
                      </a:rPr>
                      <m:t>𝑆𝑜𝑟𝑡𝑖𝑛𝑜</m:t>
                    </m:r>
                    <m:r>
                      <a:rPr lang="zh-CN" altLang="en-US">
                        <a:latin typeface="Cambria Math"/>
                      </a:rPr>
                      <m:t> </m:t>
                    </m:r>
                    <m:r>
                      <a:rPr lang="en-US" altLang="zh-CN">
                        <a:latin typeface="Cambria Math"/>
                      </a:rPr>
                      <m:t>𝑅𝑎𝑡𝑖𝑜</m:t>
                    </m:r>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r>
                          <a:rPr lang="en-US" altLang="zh-CN">
                            <a:latin typeface="Cambria Math"/>
                          </a:rPr>
                          <m:t>𝑀𝐴𝑅</m:t>
                        </m:r>
                      </m:num>
                      <m:den>
                        <m:rad>
                          <m:radPr>
                            <m:degHide m:val="on"/>
                            <m:ctrlPr>
                              <a:rPr lang="en-US" altLang="zh-CN" i="1">
                                <a:latin typeface="Cambria Math" panose="02040503050406030204" pitchFamily="18" charset="0"/>
                              </a:rPr>
                            </m:ctrlPr>
                          </m:radPr>
                          <m:deg/>
                          <m:e>
                            <m:f>
                              <m:fPr>
                                <m:ctrlPr>
                                  <a:rPr lang="en-US" altLang="zh-CN" i="1">
                                    <a:latin typeface="Cambria Math" panose="02040503050406030204" pitchFamily="18" charset="0"/>
                                  </a:rPr>
                                </m:ctrlPr>
                              </m:fPr>
                              <m:num>
                                <m:r>
                                  <a:rPr lang="en-US" altLang="zh-CN">
                                    <a:latin typeface="Cambria Math"/>
                                  </a:rPr>
                                  <m:t>1</m:t>
                                </m:r>
                              </m:num>
                              <m:den>
                                <m:r>
                                  <a:rPr lang="en-US" altLang="zh-CN">
                                    <a:latin typeface="Cambria Math"/>
                                  </a:rPr>
                                  <m:t>𝑁</m:t>
                                </m:r>
                                <m:r>
                                  <a:rPr lang="en-US" altLang="zh-CN">
                                    <a:latin typeface="Cambria Math"/>
                                  </a:rPr>
                                  <m:t>−1</m:t>
                                </m:r>
                              </m:den>
                            </m:f>
                            <m:nary>
                              <m:naryPr>
                                <m:chr m:val="∑"/>
                                <m:ctrlPr>
                                  <a:rPr lang="en-US" altLang="zh-CN" i="1">
                                    <a:latin typeface="Cambria Math" panose="02040503050406030204" pitchFamily="18" charset="0"/>
                                  </a:rPr>
                                </m:ctrlPr>
                              </m:naryPr>
                              <m:sub>
                                <m:r>
                                  <m:rPr>
                                    <m:brk m:alnAt="23"/>
                                  </m:rPr>
                                  <a:rPr lang="en-US" altLang="zh-CN">
                                    <a:latin typeface="Cambria Math"/>
                                  </a:rPr>
                                  <m:t>𝑡</m:t>
                                </m:r>
                                <m:r>
                                  <a:rPr lang="en-US" altLang="zh-CN">
                                    <a:latin typeface="Cambria Math"/>
                                  </a:rPr>
                                  <m:t>=1</m:t>
                                </m:r>
                              </m:sub>
                              <m:sup>
                                <m:r>
                                  <m:rPr>
                                    <m:sty m:val="p"/>
                                  </m:rPr>
                                  <a:rPr lang="en-US" altLang="zh-CN">
                                    <a:latin typeface="Cambria Math"/>
                                  </a:rPr>
                                  <m:t>N</m:t>
                                </m:r>
                              </m:sup>
                              <m:e>
                                <m:sSup>
                                  <m:sSupPr>
                                    <m:ctrlPr>
                                      <a:rPr lang="en-US" altLang="zh-CN" i="1">
                                        <a:latin typeface="Cambria Math" panose="02040503050406030204" pitchFamily="18" charset="0"/>
                                      </a:rPr>
                                    </m:ctrlPr>
                                  </m:sSupPr>
                                  <m:e>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𝑃𝑡</m:t>
                                        </m:r>
                                      </m:sub>
                                    </m:sSub>
                                    <m:r>
                                      <a:rPr lang="en-US" altLang="zh-CN">
                                        <a:latin typeface="Cambria Math"/>
                                      </a:rPr>
                                      <m:t>−</m:t>
                                    </m:r>
                                    <m:r>
                                      <a:rPr lang="en-US" altLang="zh-CN">
                                        <a:latin typeface="Cambria Math"/>
                                      </a:rPr>
                                      <m:t>𝑀𝐴𝑅</m:t>
                                    </m:r>
                                    <m:r>
                                      <a:rPr lang="en-US" altLang="zh-CN">
                                        <a:latin typeface="Cambria Math"/>
                                      </a:rPr>
                                      <m:t>)</m:t>
                                    </m:r>
                                  </m:e>
                                  <m:sup>
                                    <m:r>
                                      <a:rPr lang="en-US" altLang="zh-CN">
                                        <a:latin typeface="Cambria Math"/>
                                      </a:rPr>
                                      <m:t>2</m:t>
                                    </m:r>
                                  </m:sup>
                                </m:sSup>
                              </m:e>
                            </m:nary>
                          </m:e>
                        </m:rad>
                      </m:den>
                    </m:f>
                  </m:oMath>
                </a14:m>
                <a:r>
                  <a:rPr lang="zh-CN" altLang="en-US" dirty="0"/>
                  <a:t>	</a:t>
                </a:r>
                <a:r>
                  <a:rPr lang="en-US" altLang="zh-CN" dirty="0"/>
                  <a:t>(R</a:t>
                </a:r>
                <a:r>
                  <a:rPr lang="en-US" altLang="zh-CN" baseline="-25000" dirty="0"/>
                  <a:t>Pt</a:t>
                </a:r>
                <a:r>
                  <a:rPr lang="en-US" altLang="zh-CN" dirty="0"/>
                  <a:t> &lt; MAR)</a:t>
                </a:r>
                <a:endParaRPr lang="zh-CN" altLang="en-US" dirty="0"/>
              </a:p>
              <a:p>
                <a:pPr lvl="1"/>
                <a:r>
                  <a:rPr lang="en-US" altLang="zh-CN" dirty="0"/>
                  <a:t>Where</a:t>
                </a:r>
                <a:r>
                  <a:rPr lang="zh-CN" altLang="en-US" dirty="0"/>
                  <a:t> </a:t>
                </a:r>
                <a:r>
                  <a:rPr lang="en-US" altLang="zh-CN" dirty="0"/>
                  <a:t>T</a:t>
                </a:r>
                <a:r>
                  <a:rPr lang="zh-CN" altLang="en-US" dirty="0"/>
                  <a:t> </a:t>
                </a:r>
                <a:r>
                  <a:rPr lang="en-US" altLang="zh-CN" dirty="0"/>
                  <a:t>is the number of observed losses.</a:t>
                </a:r>
              </a:p>
              <a:p>
                <a:pPr lvl="1"/>
                <a:r>
                  <a:rPr lang="en-US" altLang="zh-CN" dirty="0"/>
                  <a:t>The Sortino ratio is more relevant than the Sharpe ratio when the return distribution is skewed to the left.</a:t>
                </a:r>
              </a:p>
              <a:p>
                <a:endParaRPr lang="zh-CN" altLang="en-US" dirty="0"/>
              </a:p>
            </p:txBody>
          </p:sp>
        </mc:Choice>
        <mc:Fallback>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0">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803968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Jensen's </a:t>
            </a:r>
            <a:r>
              <a:rPr lang="en-US" altLang="zh-CN" dirty="0" smtClean="0"/>
              <a:t>alpha</a:t>
            </a:r>
            <a:endParaRPr lang="zh-CN" altLang="en-US" dirty="0"/>
          </a:p>
        </p:txBody>
      </p:sp>
      <mc:AlternateContent xmlns:mc="http://schemas.openxmlformats.org/markup-compatibility/2006">
        <mc:Choice xmlns:a14="http://schemas.microsoft.com/office/drawing/2010/main" Requires="a14">
          <p:sp>
            <p:nvSpPr>
              <p:cNvPr id="3" name="文本占位符 2"/>
              <p:cNvSpPr>
                <a:spLocks noGrp="1"/>
              </p:cNvSpPr>
              <p:nvPr>
                <p:ph type="body" sz="quarter" idx="10"/>
              </p:nvPr>
            </p:nvSpPr>
            <p:spPr/>
            <p:txBody>
              <a:bodyPr/>
              <a:lstStyle/>
              <a:p>
                <a:r>
                  <a:rPr lang="en-US" altLang="zh-CN" b="0" dirty="0" smtClean="0"/>
                  <a:t>Jensen's </a:t>
                </a:r>
                <a:r>
                  <a:rPr lang="en-US" altLang="zh-CN" b="0" dirty="0" smtClean="0"/>
                  <a:t>alpha is the </a:t>
                </a:r>
                <a:r>
                  <a:rPr lang="en-US" altLang="zh-CN" b="0" dirty="0" smtClean="0"/>
                  <a:t>asset's </a:t>
                </a:r>
                <a:r>
                  <a:rPr lang="en-US" altLang="zh-CN" b="0" dirty="0" smtClean="0"/>
                  <a:t>excess return over the return predicted by the CAPM.</a:t>
                </a:r>
              </a:p>
              <a:p>
                <a:pPr marL="0" indent="0">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𝑃</m:t>
                              </m:r>
                            </m:sub>
                          </m:sSub>
                        </m:e>
                      </m:d>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𝐹</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𝛼</m:t>
                          </m:r>
                        </m:e>
                        <m:sub>
                          <m:r>
                            <a:rPr lang="en-US" altLang="zh-CN">
                              <a:latin typeface="Cambria Math" panose="02040503050406030204" pitchFamily="18" charset="0"/>
                            </a:rPr>
                            <m:t>𝑃</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𝛽</m:t>
                          </m:r>
                        </m:e>
                        <m:sub>
                          <m:r>
                            <a:rPr lang="en-US" altLang="zh-CN">
                              <a:latin typeface="Cambria Math" panose="02040503050406030204" pitchFamily="18" charset="0"/>
                            </a:rPr>
                            <m:t>𝑃</m:t>
                          </m:r>
                        </m:sub>
                      </m:sSub>
                      <m:d>
                        <m:dPr>
                          <m:begChr m:val="["/>
                          <m:endChr m:val="]"/>
                          <m:ctrlPr>
                            <a:rPr lang="en-US" altLang="zh-CN" i="1">
                              <a:latin typeface="Cambria Math" panose="02040503050406030204" pitchFamily="18" charset="0"/>
                            </a:rPr>
                          </m:ctrlPr>
                        </m:dPr>
                        <m:e>
                          <m:r>
                            <a:rPr lang="en-US" altLang="zh-CN">
                              <a:latin typeface="Cambria Math" panose="02040503050406030204" pitchFamily="18" charset="0"/>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𝑀</m:t>
                                  </m:r>
                                </m:sub>
                              </m:sSub>
                            </m:e>
                          </m:d>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𝑅</m:t>
                              </m:r>
                            </m:e>
                            <m:sub>
                              <m:r>
                                <a:rPr lang="en-US" altLang="zh-CN">
                                  <a:latin typeface="Cambria Math" panose="02040503050406030204" pitchFamily="18" charset="0"/>
                                </a:rPr>
                                <m:t>𝐹</m:t>
                              </m:r>
                            </m:sub>
                          </m:sSub>
                        </m:e>
                      </m:d>
                    </m:oMath>
                  </m:oMathPara>
                </a14:m>
                <a:endParaRPr lang="zh-CN" altLang="en-US" dirty="0"/>
              </a:p>
              <a:p>
                <a:pPr marL="0" indent="0">
                  <a:buNone/>
                </a:pPr>
                <a:endParaRPr lang="en-US" altLang="zh-CN" dirty="0" smtClean="0"/>
              </a:p>
              <a:p>
                <a:pPr lvl="1"/>
                <a:r>
                  <a:rPr lang="en-US" altLang="zh-CN" dirty="0" smtClean="0"/>
                  <a:t>Most appropriate for comparing portfolios that have the same beta and can be used to rank portfolios within peer groups.</a:t>
                </a:r>
              </a:p>
              <a:p>
                <a:endParaRPr lang="zh-CN" altLang="en-US" dirty="0"/>
              </a:p>
            </p:txBody>
          </p:sp>
        </mc:Choice>
        <mc:Fallback>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0">
                <a:blip r:embed="rId2"/>
                <a:stretch>
                  <a:fillRect l="-749" r="-14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8024078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Information ratio</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smtClean="0"/>
                  <a:t>Tracking</a:t>
                </a:r>
                <a:r>
                  <a:rPr lang="zh-CN" altLang="en-US" dirty="0"/>
                  <a:t> </a:t>
                </a:r>
                <a:r>
                  <a:rPr lang="en-US" altLang="zh-CN" dirty="0"/>
                  <a:t>error:</a:t>
                </a:r>
                <a:r>
                  <a:rPr lang="zh-CN" altLang="en-US" dirty="0"/>
                  <a:t> </a:t>
                </a:r>
                <a:r>
                  <a:rPr lang="en-US" altLang="zh-CN" b="0" dirty="0" smtClean="0"/>
                  <a:t>the</a:t>
                </a:r>
                <a:r>
                  <a:rPr lang="zh-CN" altLang="en-US" b="0" dirty="0" smtClean="0"/>
                  <a:t> </a:t>
                </a:r>
                <a:r>
                  <a:rPr lang="en-US" altLang="zh-CN" b="0" dirty="0"/>
                  <a:t>standard</a:t>
                </a:r>
                <a:r>
                  <a:rPr lang="zh-CN" altLang="en-US" b="0" dirty="0"/>
                  <a:t> </a:t>
                </a:r>
                <a:r>
                  <a:rPr lang="en-US" altLang="zh-CN" b="0" dirty="0"/>
                  <a:t>deviation</a:t>
                </a:r>
                <a:r>
                  <a:rPr lang="zh-CN" altLang="en-US" b="0" dirty="0"/>
                  <a:t> </a:t>
                </a:r>
                <a:r>
                  <a:rPr lang="en-US" altLang="zh-CN" b="0" dirty="0"/>
                  <a:t>of</a:t>
                </a:r>
                <a:r>
                  <a:rPr lang="zh-CN" altLang="en-US" b="0" dirty="0"/>
                  <a:t> </a:t>
                </a:r>
                <a:r>
                  <a:rPr lang="en-US" altLang="zh-CN" b="0" dirty="0"/>
                  <a:t>the</a:t>
                </a:r>
                <a:r>
                  <a:rPr lang="zh-CN" altLang="en-US" b="0" dirty="0"/>
                  <a:t> </a:t>
                </a:r>
                <a:r>
                  <a:rPr lang="en-US" altLang="zh-CN" b="0" dirty="0"/>
                  <a:t>difference</a:t>
                </a:r>
                <a:r>
                  <a:rPr lang="zh-CN" altLang="en-US" b="0" dirty="0"/>
                  <a:t> </a:t>
                </a:r>
                <a:r>
                  <a:rPr lang="en-US" altLang="zh-CN" b="0" dirty="0"/>
                  <a:t>in</a:t>
                </a:r>
                <a:r>
                  <a:rPr lang="zh-CN" altLang="en-US" b="0" dirty="0"/>
                  <a:t> </a:t>
                </a:r>
                <a:r>
                  <a:rPr lang="en-US" altLang="zh-CN" b="0" dirty="0"/>
                  <a:t>return</a:t>
                </a:r>
                <a:r>
                  <a:rPr lang="zh-CN" altLang="en-US" b="0" dirty="0"/>
                  <a:t> </a:t>
                </a:r>
                <a:r>
                  <a:rPr lang="en-US" altLang="zh-CN" b="0" dirty="0"/>
                  <a:t>between</a:t>
                </a:r>
                <a:r>
                  <a:rPr lang="zh-CN" altLang="en-US" b="0" dirty="0"/>
                  <a:t> </a:t>
                </a:r>
                <a:r>
                  <a:rPr lang="en-US" altLang="zh-CN" b="0" dirty="0"/>
                  <a:t>the</a:t>
                </a:r>
                <a:r>
                  <a:rPr lang="zh-CN" altLang="en-US" b="0" dirty="0"/>
                  <a:t> </a:t>
                </a:r>
                <a:r>
                  <a:rPr lang="en-US" altLang="zh-CN" b="0" dirty="0"/>
                  <a:t>portfolio</a:t>
                </a:r>
                <a:r>
                  <a:rPr lang="zh-CN" altLang="en-US" b="0" dirty="0"/>
                  <a:t> </a:t>
                </a:r>
                <a:r>
                  <a:rPr lang="en-US" altLang="zh-CN" b="0" dirty="0"/>
                  <a:t>and</a:t>
                </a:r>
                <a:r>
                  <a:rPr lang="zh-CN" altLang="en-US" b="0" dirty="0"/>
                  <a:t> </a:t>
                </a:r>
                <a:r>
                  <a:rPr lang="en-US" altLang="zh-CN" b="0" dirty="0"/>
                  <a:t>the</a:t>
                </a:r>
                <a:r>
                  <a:rPr lang="zh-CN" altLang="en-US" b="0" dirty="0"/>
                  <a:t> </a:t>
                </a:r>
                <a:r>
                  <a:rPr lang="en-US" altLang="zh-CN" b="0" dirty="0"/>
                  <a:t>benchmark.</a:t>
                </a:r>
                <a:endParaRPr lang="zh-CN" altLang="en-US" b="0"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𝑇𝐸</m:t>
                      </m:r>
                      <m:r>
                        <a:rPr lang="en-US" altLang="zh-CN">
                          <a:latin typeface="Cambria Math"/>
                        </a:rPr>
                        <m:t>=</m:t>
                      </m:r>
                      <m:r>
                        <a:rPr lang="en-US" altLang="zh-CN">
                          <a:latin typeface="Cambria Math"/>
                        </a:rPr>
                        <m:t>𝜎</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𝐵</m:t>
                          </m:r>
                        </m:sub>
                      </m:sSub>
                      <m:r>
                        <a:rPr lang="en-US" altLang="zh-CN">
                          <a:latin typeface="Cambria Math"/>
                        </a:rPr>
                        <m:t>)</m:t>
                      </m:r>
                    </m:oMath>
                  </m:oMathPara>
                </a14:m>
                <a:endParaRPr lang="zh-CN" altLang="en-US" dirty="0"/>
              </a:p>
              <a:p>
                <a:r>
                  <a:rPr lang="en-US" altLang="zh-CN" dirty="0"/>
                  <a:t>The information ratio </a:t>
                </a:r>
                <a:r>
                  <a:rPr lang="en-US" altLang="zh-CN" b="0" dirty="0"/>
                  <a:t>measures the ratio of the residual return of the</a:t>
                </a:r>
                <a:r>
                  <a:rPr lang="zh-CN" altLang="en-US" b="0" dirty="0"/>
                  <a:t> </a:t>
                </a:r>
                <a:r>
                  <a:rPr lang="en-US" altLang="zh-CN" b="0" dirty="0"/>
                  <a:t>portfolio compared with its residual risk</a:t>
                </a:r>
                <a:r>
                  <a:rPr lang="zh-CN" altLang="en-US" b="0" dirty="0"/>
                  <a:t> </a:t>
                </a:r>
                <a:r>
                  <a:rPr lang="en-US" altLang="zh-CN" b="0" dirty="0"/>
                  <a:t>(tracking</a:t>
                </a:r>
                <a:r>
                  <a:rPr lang="zh-CN" altLang="en-US" b="0" dirty="0"/>
                  <a:t> </a:t>
                </a:r>
                <a:r>
                  <a:rPr lang="en-US" altLang="zh-CN" b="0" dirty="0"/>
                  <a:t>error). </a:t>
                </a:r>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𝐼𝑅</m:t>
                      </m:r>
                      <m:r>
                        <a:rPr lang="en-US" altLang="zh-CN">
                          <a:latin typeface="Cambria Math"/>
                        </a:rPr>
                        <m:t>=</m:t>
                      </m:r>
                      <m:f>
                        <m:fPr>
                          <m:ctrlPr>
                            <a:rPr lang="en-US" altLang="zh-CN" i="1">
                              <a:latin typeface="Cambria Math" panose="02040503050406030204" pitchFamily="18" charset="0"/>
                            </a:rPr>
                          </m:ctrlPr>
                        </m:fPr>
                        <m:num>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r>
                            <a:rPr lang="en-US" altLang="zh-CN">
                              <a:latin typeface="Cambria Math"/>
                            </a:rPr>
                            <m:t>𝐸</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𝐵</m:t>
                              </m:r>
                            </m:sub>
                          </m:sSub>
                          <m:r>
                            <a:rPr lang="en-US" altLang="zh-CN">
                              <a:latin typeface="Cambria Math"/>
                            </a:rPr>
                            <m:t>)</m:t>
                          </m:r>
                        </m:num>
                        <m:den>
                          <m:r>
                            <a:rPr lang="en-US" altLang="zh-CN">
                              <a:latin typeface="Cambria Math"/>
                            </a:rPr>
                            <m:t>𝜎</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𝑃</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𝐵</m:t>
                              </m:r>
                            </m:sub>
                          </m:sSub>
                          <m:r>
                            <a:rPr lang="en-US" altLang="zh-CN">
                              <a:latin typeface="Cambria Math"/>
                            </a:rPr>
                            <m:t>)</m:t>
                          </m:r>
                        </m:den>
                      </m:f>
                      <m:r>
                        <a:rPr lang="en-US" altLang="zh-CN">
                          <a:latin typeface="Cambria Math"/>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a:latin typeface="Cambria Math"/>
                                </a:rPr>
                                <m:t>𝛼</m:t>
                              </m:r>
                            </m:e>
                            <m:sub>
                              <m:r>
                                <a:rPr lang="en-US" altLang="zh-CN">
                                  <a:latin typeface="Cambria Math"/>
                                </a:rPr>
                                <m:t>𝑃</m:t>
                              </m:r>
                            </m:sub>
                          </m:sSub>
                        </m:num>
                        <m:den>
                          <m:r>
                            <a:rPr lang="en-US" altLang="zh-CN">
                              <a:latin typeface="Cambria Math"/>
                            </a:rPr>
                            <m:t>𝜎</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𝛼</m:t>
                              </m:r>
                            </m:e>
                            <m:sub>
                              <m:r>
                                <a:rPr lang="en-US" altLang="zh-CN">
                                  <a:latin typeface="Cambria Math"/>
                                </a:rPr>
                                <m:t>𝑃</m:t>
                              </m:r>
                            </m:sub>
                          </m:sSub>
                          <m:r>
                            <a:rPr lang="en-US" altLang="zh-CN">
                              <a:latin typeface="Cambria Math"/>
                            </a:rPr>
                            <m:t>)</m:t>
                          </m:r>
                        </m:den>
                      </m:f>
                    </m:oMath>
                  </m:oMathPara>
                </a14:m>
                <a:endParaRPr lang="zh-CN" altLang="en-US" dirty="0"/>
              </a:p>
              <a:p>
                <a:pPr lvl="1"/>
                <a:r>
                  <a:rPr lang="en-US" altLang="zh-CN" dirty="0"/>
                  <a:t>To check that the risk taken by the manager, in deviating from the benchmark, is sufficiently rewarded.</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220693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Arbitrage Pricing </a:t>
            </a:r>
            <a:r>
              <a:rPr lang="en-US" altLang="zh-CN" dirty="0" smtClean="0"/>
              <a:t>Theory</a:t>
            </a:r>
            <a:endParaRPr lang="zh-CN" altLang="en-US" dirty="0"/>
          </a:p>
        </p:txBody>
      </p:sp>
    </p:spTree>
    <p:extLst>
      <p:ext uri="{BB962C8B-B14F-4D97-AF65-F5344CB8AC3E}">
        <p14:creationId xmlns:p14="http://schemas.microsoft.com/office/powerpoint/2010/main" val="51313771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Single-Factor </a:t>
            </a:r>
            <a:r>
              <a:rPr lang="en-US" altLang="zh-CN" dirty="0" smtClean="0"/>
              <a:t>Model</a:t>
            </a:r>
          </a:p>
          <a:p>
            <a:r>
              <a:rPr lang="en-US" altLang="zh-CN" dirty="0"/>
              <a:t>Multifactor M</a:t>
            </a:r>
            <a:r>
              <a:rPr lang="en-US" altLang="zh-CN" dirty="0" smtClean="0"/>
              <a:t>odels</a:t>
            </a:r>
          </a:p>
          <a:p>
            <a:r>
              <a:rPr lang="en-US" altLang="zh-CN" dirty="0"/>
              <a:t>Arbitrage Pricing </a:t>
            </a:r>
            <a:r>
              <a:rPr lang="en-US" altLang="zh-CN" dirty="0" smtClean="0"/>
              <a:t>Theory</a:t>
            </a:r>
          </a:p>
          <a:p>
            <a:r>
              <a:rPr lang="en-US" altLang="zh-CN" dirty="0"/>
              <a:t>Arbitrage, Risk Arbitrage, and </a:t>
            </a:r>
            <a:r>
              <a:rPr lang="en-US" altLang="zh-CN" dirty="0" smtClean="0"/>
              <a:t>Equilibrium</a:t>
            </a:r>
          </a:p>
          <a:p>
            <a:r>
              <a:rPr lang="en-US" altLang="zh-CN" dirty="0"/>
              <a:t>Risk </a:t>
            </a:r>
            <a:r>
              <a:rPr lang="en-US" altLang="zh-CN" dirty="0" smtClean="0"/>
              <a:t>premiums</a:t>
            </a:r>
          </a:p>
          <a:p>
            <a:r>
              <a:rPr lang="en-US" altLang="zh-CN" dirty="0"/>
              <a:t>Comparison of</a:t>
            </a:r>
            <a:r>
              <a:rPr lang="zh-CN" altLang="en-US" dirty="0"/>
              <a:t> </a:t>
            </a:r>
            <a:r>
              <a:rPr lang="en-US" altLang="zh-CN" dirty="0"/>
              <a:t>CAPM and APT </a:t>
            </a:r>
            <a:endParaRPr lang="en-US" altLang="zh-CN" dirty="0" smtClean="0"/>
          </a:p>
          <a:p>
            <a:r>
              <a:rPr lang="en-US" altLang="zh-CN" dirty="0"/>
              <a:t>Fama-French Three-Factor Model</a:t>
            </a:r>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98511609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Single-Factor Model</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fontScale="92500" lnSpcReduction="20000"/>
              </a:bodyPr>
              <a:lstStyle/>
              <a:p>
                <a:r>
                  <a:rPr lang="en-US" altLang="zh-CN" dirty="0" smtClean="0"/>
                  <a:t>In a single-factor model, uncertainty in asset returns has two sources: a common or macroeconomic factor, and firm-specific events.</a:t>
                </a:r>
              </a:p>
              <a:p>
                <a:r>
                  <a:rPr lang="en-US" altLang="zh-CN" dirty="0"/>
                  <a:t>The factor model states that the actual return on firm i will equal its initially expected return plus a (zero expected value) random amount attributable to unanticipated economy-wide events, plus another (zero expected value) random amount attributable to firm–specific events.</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sub>
                    </m:sSub>
                    <m:r>
                      <a:rPr lang="en-US" altLang="zh-CN">
                        <a:latin typeface="Cambria Math"/>
                      </a:rPr>
                      <m:t>𝐹</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m:t>
                        </m:r>
                      </m:sub>
                    </m:sSub>
                  </m:oMath>
                </a14:m>
                <a:endParaRPr lang="en-US" altLang="zh-CN" dirty="0"/>
              </a:p>
              <a:p>
                <a:pPr lvl="1"/>
                <a:r>
                  <a:rPr lang="en-US" altLang="zh-CN" dirty="0"/>
                  <a:t>F is the deviation of the common factor from its expected value;</a:t>
                </a:r>
              </a:p>
              <a:p>
                <a:pPr lvl="1"/>
                <a:r>
                  <a:rPr lang="el-GR" altLang="zh-CN" dirty="0"/>
                  <a:t>β</a:t>
                </a:r>
                <a:r>
                  <a:rPr lang="en-US" altLang="zh-CN" dirty="0"/>
                  <a:t>i is the sensitivity of firm i to that factor;</a:t>
                </a:r>
              </a:p>
              <a:p>
                <a:pPr lvl="1"/>
                <a:r>
                  <a:rPr lang="en-US" altLang="zh-CN" dirty="0" err="1"/>
                  <a:t>ei</a:t>
                </a:r>
                <a:r>
                  <a:rPr lang="en-US" altLang="zh-CN" dirty="0"/>
                  <a:t> is the firm-specific disturbance;</a:t>
                </a:r>
              </a:p>
              <a:p>
                <a:pPr lvl="1"/>
                <a:r>
                  <a:rPr lang="en-US" altLang="zh-CN" dirty="0"/>
                  <a:t>E(</a:t>
                </a:r>
                <a:r>
                  <a:rPr lang="en-US" altLang="zh-CN" dirty="0" err="1"/>
                  <a:t>Ri</a:t>
                </a:r>
                <a:r>
                  <a:rPr lang="en-US" altLang="zh-CN" dirty="0"/>
                  <a:t>) is the expected</a:t>
                </a:r>
                <a:r>
                  <a:rPr lang="zh-CN" altLang="en-US" dirty="0"/>
                  <a:t> </a:t>
                </a:r>
                <a:r>
                  <a:rPr lang="en-US" altLang="zh-CN" dirty="0"/>
                  <a:t>excess return on stock </a:t>
                </a:r>
                <a:r>
                  <a:rPr lang="en-US" altLang="zh-CN" dirty="0" err="1"/>
                  <a:t>i</a:t>
                </a:r>
                <a:r>
                  <a:rPr lang="en-US" altLang="zh-CN" dirty="0"/>
                  <a:t>;</a:t>
                </a:r>
              </a:p>
              <a:p>
                <a:pPr lvl="1"/>
                <a:r>
                  <a:rPr lang="en-US" altLang="zh-CN" dirty="0"/>
                  <a:t>The nonsystematic components of returns (</a:t>
                </a:r>
                <a:r>
                  <a:rPr lang="en-US" altLang="zh-CN" dirty="0" err="1"/>
                  <a:t>ei</a:t>
                </a:r>
                <a:r>
                  <a:rPr lang="en-US" altLang="zh-CN" dirty="0"/>
                  <a:t>), are assumed to be uncorrelated among themselves and uncorrelated with the factor F.</a:t>
                </a:r>
                <a:endParaRPr lang="zh-CN" altLang="en-US" dirty="0"/>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481" r="-5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5658306"/>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Single-Factor Model</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smtClean="0"/>
                  <a:t>The expected value of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m:t>
                        </m:r>
                      </m:sub>
                    </m:sSub>
                  </m:oMath>
                </a14:m>
                <a:r>
                  <a:rPr lang="en-US" altLang="zh-CN" dirty="0"/>
                  <a:t> for any well-diversified portfolio is zero, and its variance also is effectively zero. We conclude that for a well-diversified portfolio, for all practical purposes</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sub>
                    </m:sSub>
                    <m:r>
                      <a:rPr lang="en-US" altLang="zh-CN">
                        <a:latin typeface="Cambria Math"/>
                      </a:rPr>
                      <m:t>𝐹</m:t>
                    </m:r>
                  </m:oMath>
                </a14:m>
                <a:endParaRPr lang="en-US" altLang="zh-CN" dirty="0"/>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r="-481"/>
                </a:stretch>
              </a:blipFill>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4508641" y="2758387"/>
            <a:ext cx="5419845" cy="3448993"/>
          </a:xfrm>
          <a:prstGeom prst="rect">
            <a:avLst/>
          </a:prstGeom>
        </p:spPr>
      </p:pic>
    </p:spTree>
    <p:extLst>
      <p:ext uri="{BB962C8B-B14F-4D97-AF65-F5344CB8AC3E}">
        <p14:creationId xmlns:p14="http://schemas.microsoft.com/office/powerpoint/2010/main" val="111551471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Multifactor </a:t>
            </a:r>
            <a:r>
              <a:rPr lang="en-US" altLang="zh-CN" dirty="0"/>
              <a:t>M</a:t>
            </a:r>
            <a:r>
              <a:rPr lang="en-US" altLang="zh-CN" dirty="0" smtClean="0"/>
              <a:t>odels</a:t>
            </a:r>
            <a:endParaRPr lang="zh-CN" altLang="en-US" dirty="0"/>
          </a:p>
        </p:txBody>
      </p:sp>
      <p:sp>
        <p:nvSpPr>
          <p:cNvPr id="3" name="文本占位符 2"/>
          <p:cNvSpPr>
            <a:spLocks noGrp="1"/>
          </p:cNvSpPr>
          <p:nvPr>
            <p:ph type="body" sz="quarter" idx="10"/>
          </p:nvPr>
        </p:nvSpPr>
        <p:spPr/>
        <p:txBody>
          <a:bodyPr/>
          <a:lstStyle/>
          <a:p>
            <a:r>
              <a:rPr lang="en-US" altLang="zh-CN" smtClean="0"/>
              <a:t>Multifactor Model</a:t>
            </a:r>
          </a:p>
          <a:p>
            <a:pPr lvl="1"/>
            <a:r>
              <a:rPr lang="en-US" altLang="zh-CN" smtClean="0"/>
              <a:t>Models that allow for several factors can provide better descriptions of security returns.</a:t>
            </a:r>
          </a:p>
          <a:p>
            <a:pPr lvl="1"/>
            <a:r>
              <a:rPr lang="en-US" altLang="zh-CN" smtClean="0"/>
              <a:t>Multifactor models of security returns can be used to measure and manage exposure to each of many economy-wide factors such as business-cycle risk, interest or inflation rate risk, energy price risk, and so on.</a:t>
            </a:r>
          </a:p>
          <a:p>
            <a:pPr lvl="1"/>
            <a:r>
              <a:rPr lang="en-US" altLang="zh-CN" smtClean="0"/>
              <a:t>Factor models are tools that allow us to describe and quantify the different factors that affect the rate of return on a security during any time period.</a:t>
            </a:r>
          </a:p>
          <a:p>
            <a:endParaRPr lang="zh-CN" altLang="en-US" dirty="0"/>
          </a:p>
        </p:txBody>
      </p:sp>
    </p:spTree>
    <p:extLst>
      <p:ext uri="{BB962C8B-B14F-4D97-AF65-F5344CB8AC3E}">
        <p14:creationId xmlns:p14="http://schemas.microsoft.com/office/powerpoint/2010/main" val="959926282"/>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Multifactor </a:t>
            </a:r>
            <a:r>
              <a:rPr lang="en-US" altLang="zh-CN" dirty="0"/>
              <a:t>M</a:t>
            </a:r>
            <a:r>
              <a:rPr lang="en-US" altLang="zh-CN" dirty="0" smtClean="0"/>
              <a:t>odels</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smtClean="0"/>
                  <a:t>The equation for multifactor model for stock i</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r>
                      <a:rPr lang="en-US" altLang="zh-CN">
                        <a:latin typeface="Cambria Math"/>
                      </a:rPr>
                      <m:t>=</m:t>
                    </m:r>
                    <m:r>
                      <a:rPr lang="en-US" altLang="zh-CN">
                        <a:latin typeface="Cambria Math"/>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m:t>
                            </m:r>
                          </m:sub>
                        </m:sSub>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𝐺𝐷𝑃</m:t>
                        </m:r>
                      </m:sub>
                    </m:sSub>
                    <m:r>
                      <a:rPr lang="en-US" altLang="zh-CN">
                        <a:latin typeface="Cambria Math"/>
                      </a:rPr>
                      <m:t>𝐺𝐷𝑃</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𝐼𝑅</m:t>
                        </m:r>
                      </m:sub>
                    </m:sSub>
                    <m:r>
                      <a:rPr lang="en-US" altLang="zh-CN">
                        <a:latin typeface="Cambria Math"/>
                      </a:rPr>
                      <m:t>𝐼𝑅</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m:t>
                        </m:r>
                      </m:sub>
                    </m:sSub>
                  </m:oMath>
                </a14:m>
                <a:endParaRPr lang="en-US" altLang="zh-CN" dirty="0"/>
              </a:p>
              <a:p>
                <a:pPr lvl="1"/>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a:rPr>
                          <m:t>𝑅</m:t>
                        </m:r>
                      </m:e>
                      <m:sub>
                        <m:r>
                          <a:rPr lang="zh-CN" altLang="en-US">
                            <a:latin typeface="Cambria Math"/>
                          </a:rPr>
                          <m:t>𝑖</m:t>
                        </m:r>
                      </m:sub>
                    </m:sSub>
                  </m:oMath>
                </a14:m>
                <a:r>
                  <a:rPr lang="en-US" altLang="zh-CN" dirty="0"/>
                  <a:t> = return on stock i</a:t>
                </a:r>
              </a:p>
              <a:p>
                <a:pPr lvl="1"/>
                <a14:m>
                  <m:oMath xmlns:m="http://schemas.openxmlformats.org/officeDocument/2006/math">
                    <m:d>
                      <m:dPr>
                        <m:begChr m:val=""/>
                        <m:ctrlPr>
                          <a:rPr lang="zh-CN" altLang="en-US" i="1">
                            <a:latin typeface="Cambria Math" panose="02040503050406030204" pitchFamily="18" charset="0"/>
                          </a:rPr>
                        </m:ctrlPr>
                      </m:dPr>
                      <m:e>
                        <m:r>
                          <a:rPr lang="zh-CN" altLang="en-US">
                            <a:latin typeface="Cambria Math"/>
                          </a:rPr>
                          <m:t>𝐸</m:t>
                        </m:r>
                        <m:r>
                          <a:rPr lang="zh-CN" altLang="en-US">
                            <a:latin typeface="Cambria Math"/>
                          </a:rPr>
                          <m:t>(</m:t>
                        </m:r>
                        <m:sSub>
                          <m:sSubPr>
                            <m:ctrlPr>
                              <a:rPr lang="zh-CN" altLang="en-US" i="1">
                                <a:latin typeface="Cambria Math" panose="02040503050406030204" pitchFamily="18" charset="0"/>
                              </a:rPr>
                            </m:ctrlPr>
                          </m:sSubPr>
                          <m:e>
                            <m:r>
                              <a:rPr lang="zh-CN" altLang="en-US">
                                <a:latin typeface="Cambria Math"/>
                              </a:rPr>
                              <m:t>𝑅</m:t>
                            </m:r>
                          </m:e>
                          <m:sub>
                            <m:r>
                              <a:rPr lang="zh-CN" altLang="en-US">
                                <a:latin typeface="Cambria Math"/>
                              </a:rPr>
                              <m:t>𝑖</m:t>
                            </m:r>
                          </m:sub>
                        </m:sSub>
                      </m:e>
                    </m:d>
                  </m:oMath>
                </a14:m>
                <a:r>
                  <a:rPr lang="en-US" altLang="zh-CN" dirty="0"/>
                  <a:t> = expected</a:t>
                </a:r>
                <a:r>
                  <a:rPr lang="zh-CN" altLang="en-US" dirty="0"/>
                  <a:t> </a:t>
                </a:r>
                <a:r>
                  <a:rPr lang="en-US" altLang="zh-CN" dirty="0"/>
                  <a:t>excess</a:t>
                </a:r>
                <a:r>
                  <a:rPr lang="zh-CN" altLang="en-US" dirty="0"/>
                  <a:t> </a:t>
                </a:r>
                <a:r>
                  <a:rPr lang="en-US" altLang="zh-CN" dirty="0"/>
                  <a:t>rate</a:t>
                </a:r>
                <a:r>
                  <a:rPr lang="zh-CN" altLang="en-US" dirty="0"/>
                  <a:t> </a:t>
                </a:r>
                <a:r>
                  <a:rPr lang="en-US" altLang="zh-CN" dirty="0"/>
                  <a:t>of return for stock i</a:t>
                </a:r>
              </a:p>
              <a:p>
                <a:pPr lvl="1"/>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𝐺𝐷𝑃</m:t>
                        </m:r>
                      </m:sub>
                    </m:sSub>
                  </m:oMath>
                </a14:m>
                <a:r>
                  <a:rPr lang="en-US" altLang="zh-CN" dirty="0"/>
                  <a:t> = GDP</a:t>
                </a:r>
                <a:r>
                  <a:rPr lang="zh-CN" altLang="en-US" dirty="0"/>
                  <a:t> </a:t>
                </a:r>
                <a:r>
                  <a:rPr lang="en-US" altLang="zh-CN" dirty="0"/>
                  <a:t>factor beta for stock </a:t>
                </a:r>
                <a:r>
                  <a:rPr lang="en-US" altLang="zh-CN" dirty="0" err="1"/>
                  <a:t>i</a:t>
                </a:r>
                <a:endParaRPr lang="zh-CN" altLang="en-US" dirty="0"/>
              </a:p>
              <a:p>
                <a:pPr lvl="1"/>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𝐼𝑅</m:t>
                        </m:r>
                      </m:sub>
                    </m:sSub>
                  </m:oMath>
                </a14:m>
                <a:r>
                  <a:rPr lang="en-US" altLang="zh-CN" dirty="0"/>
                  <a:t> = interest</a:t>
                </a:r>
                <a:r>
                  <a:rPr lang="zh-CN" altLang="en-US" dirty="0"/>
                  <a:t> </a:t>
                </a:r>
                <a:r>
                  <a:rPr lang="en-US" altLang="zh-CN" dirty="0"/>
                  <a:t>rate</a:t>
                </a:r>
                <a:r>
                  <a:rPr lang="zh-CN" altLang="en-US" dirty="0"/>
                  <a:t> </a:t>
                </a:r>
                <a:r>
                  <a:rPr lang="en-US" altLang="zh-CN" dirty="0"/>
                  <a:t>factor beta for stock </a:t>
                </a:r>
                <a:r>
                  <a:rPr lang="en-US" altLang="zh-CN" dirty="0" err="1"/>
                  <a:t>i</a:t>
                </a:r>
                <a:endParaRPr lang="en-US" altLang="zh-CN" dirty="0"/>
              </a:p>
              <a:p>
                <a:pPr lvl="1"/>
                <a:r>
                  <a:rPr lang="en-US" altLang="zh-CN" dirty="0"/>
                  <a:t>GDP</a:t>
                </a:r>
                <a:r>
                  <a:rPr lang="zh-CN" altLang="en-US" dirty="0"/>
                  <a:t> </a:t>
                </a:r>
                <a:r>
                  <a:rPr lang="en-US" altLang="zh-CN" dirty="0"/>
                  <a:t>= deviation of GDP factor from its expected value</a:t>
                </a:r>
                <a:endParaRPr lang="zh-CN" altLang="en-US" dirty="0"/>
              </a:p>
              <a:p>
                <a:pPr lvl="1"/>
                <a:r>
                  <a:rPr lang="en-US" altLang="zh-CN" dirty="0"/>
                  <a:t>IR</a:t>
                </a:r>
                <a:r>
                  <a:rPr lang="zh-CN" altLang="en-US" dirty="0"/>
                  <a:t> </a:t>
                </a:r>
                <a:r>
                  <a:rPr lang="en-US" altLang="zh-CN" dirty="0"/>
                  <a:t>=</a:t>
                </a:r>
                <a:r>
                  <a:rPr lang="zh-CN" altLang="en-US" dirty="0"/>
                  <a:t> </a:t>
                </a:r>
                <a:r>
                  <a:rPr lang="en-US" altLang="zh-CN" dirty="0"/>
                  <a:t>deviation of interest</a:t>
                </a:r>
                <a:r>
                  <a:rPr lang="zh-CN" altLang="en-US" dirty="0"/>
                  <a:t> </a:t>
                </a:r>
                <a:r>
                  <a:rPr lang="en-US" altLang="zh-CN" dirty="0"/>
                  <a:t>rate</a:t>
                </a:r>
                <a:r>
                  <a:rPr lang="zh-CN" altLang="en-US" dirty="0"/>
                  <a:t> </a:t>
                </a:r>
                <a:r>
                  <a:rPr lang="en-US" altLang="zh-CN" dirty="0"/>
                  <a:t>factor from its expected value</a:t>
                </a:r>
              </a:p>
              <a:p>
                <a:pPr lvl="1"/>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a:rPr>
                          <m:t>𝑒</m:t>
                        </m:r>
                      </m:e>
                      <m:sub>
                        <m:r>
                          <a:rPr lang="zh-CN" altLang="en-US">
                            <a:latin typeface="Cambria Math"/>
                          </a:rPr>
                          <m:t>𝑖</m:t>
                        </m:r>
                      </m:sub>
                    </m:sSub>
                  </m:oMath>
                </a14:m>
                <a:r>
                  <a:rPr lang="en-US" altLang="zh-CN" dirty="0"/>
                  <a:t> = firm-specific return for stock </a:t>
                </a:r>
                <a:r>
                  <a:rPr lang="en-US" altLang="zh-CN" dirty="0" err="1" smtClean="0"/>
                  <a:t>i</a:t>
                </a:r>
                <a:endParaRPr lang="en-US" altLang="zh-CN"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870316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 Arbitrage Pricing Theory </a:t>
            </a:r>
            <a:endParaRPr lang="zh-CN" altLang="en-US" dirty="0"/>
          </a:p>
        </p:txBody>
      </p:sp>
      <p:sp>
        <p:nvSpPr>
          <p:cNvPr id="3" name="文本占位符 2"/>
          <p:cNvSpPr>
            <a:spLocks noGrp="1"/>
          </p:cNvSpPr>
          <p:nvPr>
            <p:ph type="body" sz="quarter" idx="10"/>
          </p:nvPr>
        </p:nvSpPr>
        <p:spPr/>
        <p:txBody>
          <a:bodyPr/>
          <a:lstStyle/>
          <a:p>
            <a:r>
              <a:rPr lang="en-US" altLang="zh-CN" smtClean="0"/>
              <a:t>Arbitrage pricing theory (APT) is a general theory of asset pricing that holds that the expected return of a financial asset can be modeled as a linear function of various macro-economic factors or theoretical market indices, where sensitivity to changes in each factor is represented by a factor-specific beta coefficient.</a:t>
            </a:r>
            <a:endParaRPr lang="zh-CN" altLang="en-US" smtClean="0"/>
          </a:p>
          <a:p>
            <a:r>
              <a:rPr lang="en-US" altLang="zh-CN" smtClean="0"/>
              <a:t>Propositions:</a:t>
            </a:r>
            <a:endParaRPr lang="zh-CN" altLang="en-US" smtClean="0"/>
          </a:p>
          <a:p>
            <a:pPr lvl="1"/>
            <a:r>
              <a:rPr lang="en-US" altLang="zh-CN" smtClean="0"/>
              <a:t>Security</a:t>
            </a:r>
            <a:r>
              <a:rPr lang="zh-CN" altLang="en-US" smtClean="0"/>
              <a:t> </a:t>
            </a:r>
            <a:r>
              <a:rPr lang="en-US" altLang="zh-CN" smtClean="0"/>
              <a:t>returns can be described by a factor model</a:t>
            </a:r>
            <a:endParaRPr lang="zh-CN" altLang="en-US" smtClean="0"/>
          </a:p>
          <a:p>
            <a:pPr lvl="1"/>
            <a:r>
              <a:rPr lang="en-US" altLang="zh-CN" smtClean="0"/>
              <a:t>There are sufficient securities to diversify</a:t>
            </a:r>
            <a:r>
              <a:rPr lang="zh-CN" altLang="en-US" smtClean="0"/>
              <a:t> </a:t>
            </a:r>
            <a:r>
              <a:rPr lang="en-US" altLang="zh-CN" smtClean="0"/>
              <a:t>away idiosyncratic risk</a:t>
            </a:r>
            <a:endParaRPr lang="zh-CN" altLang="en-US" smtClean="0"/>
          </a:p>
          <a:p>
            <a:pPr lvl="1"/>
            <a:r>
              <a:rPr lang="en-US" altLang="zh-CN" smtClean="0"/>
              <a:t>Well-functioning security markets do not allow for the persistence</a:t>
            </a:r>
            <a:r>
              <a:rPr lang="zh-CN" altLang="en-US" smtClean="0"/>
              <a:t> </a:t>
            </a:r>
            <a:r>
              <a:rPr lang="en-US" altLang="zh-CN" smtClean="0"/>
              <a:t>of arbitrage opportunities.</a:t>
            </a:r>
          </a:p>
          <a:p>
            <a:endParaRPr lang="zh-CN" altLang="en-US" dirty="0"/>
          </a:p>
        </p:txBody>
      </p:sp>
    </p:spTree>
    <p:extLst>
      <p:ext uri="{BB962C8B-B14F-4D97-AF65-F5344CB8AC3E}">
        <p14:creationId xmlns:p14="http://schemas.microsoft.com/office/powerpoint/2010/main" val="310248442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 Arbitrage </a:t>
            </a:r>
            <a:r>
              <a:rPr lang="en-US" altLang="zh-CN" dirty="0"/>
              <a:t>Pricing Theory </a:t>
            </a:r>
            <a:endParaRPr lang="zh-CN" altLang="en-US" dirty="0"/>
          </a:p>
        </p:txBody>
      </p:sp>
      <p:sp>
        <p:nvSpPr>
          <p:cNvPr id="3" name="文本占位符 2"/>
          <p:cNvSpPr>
            <a:spLocks noGrp="1"/>
          </p:cNvSpPr>
          <p:nvPr>
            <p:ph type="body" sz="quarter" idx="10"/>
          </p:nvPr>
        </p:nvSpPr>
        <p:spPr/>
        <p:txBody>
          <a:bodyPr/>
          <a:lstStyle/>
          <a:p>
            <a:r>
              <a:rPr lang="en-US" altLang="zh-CN" smtClean="0"/>
              <a:t>Arbitrage Opportunities </a:t>
            </a:r>
          </a:p>
          <a:p>
            <a:pPr lvl="1"/>
            <a:r>
              <a:rPr lang="en-US" altLang="zh-CN" smtClean="0"/>
              <a:t>The APT assumes there are no market imperfections preventing investors from exploiting arbitrage opportunities </a:t>
            </a:r>
          </a:p>
          <a:p>
            <a:pPr lvl="1"/>
            <a:r>
              <a:rPr lang="en-US" altLang="zh-CN" smtClean="0"/>
              <a:t>Extreme long and short positions are permitted and mispricing will disappear immediately</a:t>
            </a:r>
          </a:p>
          <a:p>
            <a:pPr lvl="1"/>
            <a:r>
              <a:rPr lang="en-US" altLang="zh-CN" smtClean="0"/>
              <a:t>All arbitrage opportunities would be exploited and eliminated immediately</a:t>
            </a:r>
          </a:p>
          <a:p>
            <a:endParaRPr lang="zh-CN" altLang="en-US" dirty="0"/>
          </a:p>
        </p:txBody>
      </p:sp>
    </p:spTree>
    <p:extLst>
      <p:ext uri="{BB962C8B-B14F-4D97-AF65-F5344CB8AC3E}">
        <p14:creationId xmlns:p14="http://schemas.microsoft.com/office/powerpoint/2010/main" val="226664875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D. Arbitrage, Risk Arbitrage, and Equilibrium</a:t>
            </a:r>
            <a:endParaRPr lang="zh-CN" altLang="en-US" dirty="0"/>
          </a:p>
        </p:txBody>
      </p:sp>
      <p:sp>
        <p:nvSpPr>
          <p:cNvPr id="3" name="文本占位符 2"/>
          <p:cNvSpPr>
            <a:spLocks noGrp="1"/>
          </p:cNvSpPr>
          <p:nvPr>
            <p:ph type="body" sz="quarter" idx="10"/>
          </p:nvPr>
        </p:nvSpPr>
        <p:spPr/>
        <p:txBody>
          <a:bodyPr/>
          <a:lstStyle/>
          <a:p>
            <a:r>
              <a:rPr lang="en-US" altLang="zh-CN" dirty="0" smtClean="0"/>
              <a:t>CAPM's</a:t>
            </a:r>
            <a:r>
              <a:rPr lang="zh-CN" altLang="en-US" dirty="0" smtClean="0"/>
              <a:t> </a:t>
            </a:r>
            <a:r>
              <a:rPr lang="en-US" altLang="zh-CN" dirty="0" smtClean="0"/>
              <a:t>argument</a:t>
            </a:r>
            <a:r>
              <a:rPr lang="en-US" altLang="zh-CN" b="0" dirty="0" smtClean="0"/>
              <a:t>:</a:t>
            </a:r>
            <a:r>
              <a:rPr lang="zh-CN" altLang="en-US" b="0" dirty="0" smtClean="0"/>
              <a:t> </a:t>
            </a:r>
            <a:r>
              <a:rPr lang="en-US" altLang="zh-CN" b="0" dirty="0" smtClean="0"/>
              <a:t> If a security is mispriced, then investors will tilt their</a:t>
            </a:r>
            <a:r>
              <a:rPr lang="zh-CN" altLang="en-US" b="0" dirty="0" smtClean="0"/>
              <a:t> </a:t>
            </a:r>
            <a:r>
              <a:rPr lang="en-US" altLang="zh-CN" b="0" dirty="0" smtClean="0"/>
              <a:t>portfolios toward the underpriced and away from the overpriced securities, each by a relatively</a:t>
            </a:r>
            <a:r>
              <a:rPr lang="zh-CN" altLang="en-US" b="0" dirty="0" smtClean="0"/>
              <a:t> </a:t>
            </a:r>
            <a:r>
              <a:rPr lang="en-US" altLang="zh-CN" b="0" dirty="0" smtClean="0"/>
              <a:t>small dollar amount.</a:t>
            </a:r>
            <a:endParaRPr lang="zh-CN" altLang="en-US" b="0" dirty="0" smtClean="0"/>
          </a:p>
          <a:p>
            <a:r>
              <a:rPr lang="en-US" altLang="zh-CN" dirty="0" smtClean="0"/>
              <a:t>APT's </a:t>
            </a:r>
            <a:r>
              <a:rPr lang="en-US" altLang="zh-CN" dirty="0" smtClean="0"/>
              <a:t>implication: </a:t>
            </a:r>
            <a:r>
              <a:rPr lang="en-US" altLang="zh-CN" b="0" dirty="0" smtClean="0"/>
              <a:t>a few</a:t>
            </a:r>
            <a:r>
              <a:rPr lang="zh-CN" altLang="en-US" b="0" dirty="0" smtClean="0"/>
              <a:t> </a:t>
            </a:r>
            <a:r>
              <a:rPr lang="en-US" altLang="zh-CN" b="0" dirty="0" smtClean="0"/>
              <a:t>investors who identify an arbitrage opportunity will mobilize large dollar amounts and</a:t>
            </a:r>
            <a:r>
              <a:rPr lang="zh-CN" altLang="en-US" b="0" dirty="0" smtClean="0"/>
              <a:t> </a:t>
            </a:r>
            <a:r>
              <a:rPr lang="en-US" altLang="zh-CN" b="0" dirty="0" smtClean="0"/>
              <a:t>quickly restore equilibrium.</a:t>
            </a:r>
            <a:endParaRPr lang="zh-CN" altLang="en-US" b="0" dirty="0" smtClean="0"/>
          </a:p>
          <a:p>
            <a:r>
              <a:rPr lang="en-US" altLang="zh-CN" dirty="0" smtClean="0"/>
              <a:t>Arbitrageur often refers to a professional searching for mispriced securities in</a:t>
            </a:r>
            <a:r>
              <a:rPr lang="zh-CN" altLang="en-US" dirty="0" smtClean="0"/>
              <a:t> </a:t>
            </a:r>
            <a:r>
              <a:rPr lang="en-US" altLang="zh-CN" dirty="0" smtClean="0"/>
              <a:t>specific areas such as merger-target stocks</a:t>
            </a:r>
          </a:p>
          <a:p>
            <a:endParaRPr lang="zh-CN" altLang="en-US" dirty="0"/>
          </a:p>
        </p:txBody>
      </p:sp>
    </p:spTree>
    <p:extLst>
      <p:ext uri="{BB962C8B-B14F-4D97-AF65-F5344CB8AC3E}">
        <p14:creationId xmlns:p14="http://schemas.microsoft.com/office/powerpoint/2010/main" val="43093703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 Risk premiums </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lstStyle/>
              <a:p>
                <a:r>
                  <a:rPr lang="en-US" altLang="zh-CN" dirty="0" smtClean="0"/>
                  <a:t>The risk premiums are derived as follows:</a:t>
                </a:r>
              </a:p>
              <a:p>
                <a:pPr lvl="1"/>
                <a:r>
                  <a:rPr lang="en-US" altLang="zh-CN" dirty="0"/>
                  <a:t>Create factor portfolios. Each factor portfolio is a well-diversified portfolio that has a beta equal to one for a single risk factor, and betas equal to zero on the remaining factors.</a:t>
                </a:r>
              </a:p>
              <a:p>
                <a:pPr lvl="1"/>
                <a:r>
                  <a:rPr lang="en-US" altLang="zh-CN" dirty="0"/>
                  <a:t>Derive returns for each factor portfolio. For instance, define</a:t>
                </a:r>
                <a:r>
                  <a:rPr lang="zh-CN" altLang="en-US" dirty="0"/>
                  <a:t> </a:t>
                </a:r>
                <a14:m>
                  <m:oMath xmlns:m="http://schemas.openxmlformats.org/officeDocument/2006/math">
                    <m:d>
                      <m:dPr>
                        <m:begChr m:val=""/>
                        <m:ctrlPr>
                          <a:rPr lang="zh-CN" altLang="en-US" i="1">
                            <a:latin typeface="Cambria Math" panose="02040503050406030204" pitchFamily="18" charset="0"/>
                          </a:rPr>
                        </m:ctrlPr>
                      </m:dPr>
                      <m:e>
                        <m:r>
                          <a:rPr lang="zh-CN" altLang="en-US">
                            <a:latin typeface="Cambria Math"/>
                          </a:rPr>
                          <m:t>𝐸</m:t>
                        </m:r>
                        <m:r>
                          <a:rPr lang="zh-CN" altLang="en-US">
                            <a:latin typeface="Cambria Math"/>
                          </a:rPr>
                          <m:t>(</m:t>
                        </m:r>
                        <m:sSub>
                          <m:sSubPr>
                            <m:ctrlPr>
                              <a:rPr lang="zh-CN" altLang="en-US" i="1">
                                <a:latin typeface="Cambria Math" panose="02040503050406030204" pitchFamily="18" charset="0"/>
                              </a:rPr>
                            </m:ctrlPr>
                          </m:sSubPr>
                          <m:e>
                            <m:r>
                              <a:rPr lang="zh-CN" altLang="en-US">
                                <a:latin typeface="Cambria Math"/>
                              </a:rPr>
                              <m:t>𝑅</m:t>
                            </m:r>
                          </m:e>
                          <m:sub>
                            <m:r>
                              <a:rPr lang="zh-CN" altLang="en-US">
                                <a:latin typeface="Cambria Math"/>
                              </a:rPr>
                              <m:t>𝑖</m:t>
                            </m:r>
                          </m:sub>
                        </m:sSub>
                      </m:e>
                    </m:d>
                  </m:oMath>
                </a14:m>
                <a:r>
                  <a:rPr lang="zh-CN" altLang="en-US" dirty="0"/>
                  <a:t> </a:t>
                </a:r>
                <a:r>
                  <a:rPr lang="en-US" altLang="zh-CN" dirty="0"/>
                  <a:t>as the expected return on Factor Portfolio i.</a:t>
                </a:r>
              </a:p>
              <a:p>
                <a:pPr lvl="1"/>
                <a:r>
                  <a:rPr lang="en-US" altLang="zh-CN" dirty="0"/>
                  <a:t>Calculate risk premiums for each factor portfolio</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393396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占位符 1"/>
              <p:cNvSpPr>
                <a:spLocks noGrp="1"/>
              </p:cNvSpPr>
              <p:nvPr>
                <p:ph type="body" sz="quarter" idx="10"/>
              </p:nvPr>
            </p:nvSpPr>
            <p:spPr/>
            <p:txBody>
              <a:bodyPr/>
              <a:lstStyle/>
              <a:p>
                <a:r>
                  <a:rPr lang="en-US" altLang="zh-CN" dirty="0" smtClean="0"/>
                  <a:t>Northeast Airlines has a GDP beta of 1.2 and an interest rate beta of -0.3. Suppose the risk premium for one unit of exposure to GDP risk is 6%, while the risk premium for one unit of exposure to interest rate risk is -7%. If the risk-free rate is 4%, what the total risk premium for Northeast Airlines?</a:t>
                </a:r>
              </a:p>
              <a:p>
                <a:endParaRPr lang="zh-CN" altLang="en-US" dirty="0"/>
              </a:p>
              <a:p>
                <a:r>
                  <a:rPr lang="en-US" altLang="zh-CN" dirty="0"/>
                  <a:t>Explanation</a:t>
                </a:r>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𝐸</m:t>
                      </m:r>
                      <m:d>
                        <m:dPr>
                          <m:ctrlPr>
                            <a:rPr lang="en-US" altLang="zh-CN" i="1">
                              <a:latin typeface="Cambria Math" panose="02040503050406030204" pitchFamily="18" charset="0"/>
                            </a:rPr>
                          </m:ctrlPr>
                        </m:dPr>
                        <m:e>
                          <m:r>
                            <a:rPr lang="en-US" altLang="zh-CN">
                              <a:latin typeface="Cambria Math"/>
                            </a:rPr>
                            <m:t>𝑅</m:t>
                          </m:r>
                        </m:e>
                      </m:d>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𝑓</m:t>
                          </m:r>
                        </m:sub>
                      </m:sSub>
                      <m:r>
                        <a:rPr lang="en-US" altLang="zh-CN">
                          <a:latin typeface="Cambria Math"/>
                        </a:rPr>
                        <m:t>+</m:t>
                      </m:r>
                      <m:r>
                        <a:rPr lang="en-US" altLang="zh-CN">
                          <a:latin typeface="Cambria Math"/>
                        </a:rPr>
                        <m:t>𝐺𝐷𝑃</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𝑅𝑃</m:t>
                          </m:r>
                        </m:e>
                        <m:sub>
                          <m:r>
                            <a:rPr lang="en-US" altLang="zh-CN">
                              <a:latin typeface="Cambria Math"/>
                            </a:rPr>
                            <m:t>𝐺𝐷𝑃</m:t>
                          </m:r>
                        </m:sub>
                      </m:sSub>
                      <m:r>
                        <a:rPr lang="en-US" altLang="zh-CN">
                          <a:latin typeface="Cambria Math"/>
                        </a:rPr>
                        <m:t>+</m:t>
                      </m:r>
                      <m:r>
                        <a:rPr lang="en-US" altLang="zh-CN">
                          <a:latin typeface="Cambria Math"/>
                        </a:rPr>
                        <m:t>𝐼𝑅</m:t>
                      </m:r>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𝑅𝑃</m:t>
                          </m:r>
                        </m:e>
                        <m:sub>
                          <m:r>
                            <a:rPr lang="en-US" altLang="zh-CN">
                              <a:latin typeface="Cambria Math"/>
                            </a:rPr>
                            <m:t>𝐼𝑅</m:t>
                          </m:r>
                        </m:sub>
                      </m:sSub>
                    </m:oMath>
                  </m:oMathPara>
                </a14:m>
                <a:endParaRPr lang="zh-CN" altLang="en-US" dirty="0"/>
              </a:p>
              <a:p>
                <a:pPr marL="0" indent="0">
                  <a:buNone/>
                </a:pPr>
                <a14:m>
                  <m:oMathPara xmlns:m="http://schemas.openxmlformats.org/officeDocument/2006/math">
                    <m:oMathParaPr>
                      <m:jc m:val="centerGroup"/>
                    </m:oMathParaPr>
                    <m:oMath xmlns:m="http://schemas.openxmlformats.org/officeDocument/2006/math">
                      <m:r>
                        <a:rPr lang="en-US" altLang="zh-CN">
                          <a:latin typeface="Cambria Math"/>
                        </a:rPr>
                        <m:t>𝐸</m:t>
                      </m:r>
                      <m:r>
                        <a:rPr lang="en-US" altLang="zh-CN">
                          <a:latin typeface="Cambria Math"/>
                        </a:rPr>
                        <m:t>(</m:t>
                      </m:r>
                      <m:r>
                        <a:rPr lang="en-US" altLang="zh-CN">
                          <a:latin typeface="Cambria Math"/>
                        </a:rPr>
                        <m:t>𝑅</m:t>
                      </m:r>
                      <m:r>
                        <a:rPr lang="en-US" altLang="zh-CN">
                          <a:latin typeface="Cambria Math"/>
                        </a:rPr>
                        <m:t>)=4%+1.2×6%+</m:t>
                      </m:r>
                      <m:d>
                        <m:dPr>
                          <m:ctrlPr>
                            <a:rPr lang="en-US" altLang="zh-CN" i="1">
                              <a:latin typeface="Cambria Math" panose="02040503050406030204" pitchFamily="18" charset="0"/>
                            </a:rPr>
                          </m:ctrlPr>
                        </m:dPr>
                        <m:e>
                          <m:r>
                            <a:rPr lang="en-US" altLang="zh-CN">
                              <a:latin typeface="Cambria Math"/>
                            </a:rPr>
                            <m:t>−0.3</m:t>
                          </m:r>
                        </m:e>
                      </m:d>
                      <m:d>
                        <m:dPr>
                          <m:ctrlPr>
                            <a:rPr lang="en-US" altLang="zh-CN" i="1">
                              <a:latin typeface="Cambria Math" panose="02040503050406030204" pitchFamily="18" charset="0"/>
                            </a:rPr>
                          </m:ctrlPr>
                        </m:dPr>
                        <m:e>
                          <m:r>
                            <a:rPr lang="en-US" altLang="zh-CN">
                              <a:latin typeface="Cambria Math"/>
                            </a:rPr>
                            <m:t>−7%</m:t>
                          </m:r>
                        </m:e>
                      </m:d>
                      <m:r>
                        <a:rPr lang="en-US" altLang="zh-CN">
                          <a:latin typeface="Cambria Math"/>
                        </a:rPr>
                        <m:t>=13.3%</m:t>
                      </m:r>
                    </m:oMath>
                  </m:oMathPara>
                </a14:m>
                <a:endParaRPr lang="zh-CN" altLang="en-US" dirty="0"/>
              </a:p>
            </p:txBody>
          </p:sp>
        </mc:Choice>
        <mc:Fallback xmlns="">
          <p:sp>
            <p:nvSpPr>
              <p:cNvPr id="2" name="文本占位符 1"/>
              <p:cNvSpPr>
                <a:spLocks noGrp="1" noRot="1" noChangeAspect="1" noMove="1" noResize="1" noEditPoints="1" noAdjustHandles="1" noChangeArrowheads="1" noChangeShapeType="1" noTextEdit="1"/>
              </p:cNvSpPr>
              <p:nvPr>
                <p:ph type="body" sz="quarter" idx="10"/>
              </p:nvPr>
            </p:nvSpPr>
            <p:spPr>
              <a:blipFill rotWithShape="1">
                <a:blip r:embed="rId2"/>
                <a:stretch>
                  <a:fillRect l="-556"/>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en-US" altLang="zh-CN" dirty="0" smtClean="0">
                <a:sym typeface="+mn-lt"/>
              </a:rPr>
              <a:t>Practice</a:t>
            </a:r>
            <a:endParaRPr lang="zh-CN" altLang="en-US" dirty="0">
              <a:sym typeface="+mn-lt"/>
            </a:endParaRPr>
          </a:p>
        </p:txBody>
      </p:sp>
    </p:spTree>
    <p:extLst>
      <p:ext uri="{BB962C8B-B14F-4D97-AF65-F5344CB8AC3E}">
        <p14:creationId xmlns:p14="http://schemas.microsoft.com/office/powerpoint/2010/main" val="2791198339"/>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Comparison of</a:t>
            </a:r>
            <a:r>
              <a:rPr lang="zh-CN" altLang="en-US" dirty="0" smtClean="0"/>
              <a:t> </a:t>
            </a:r>
            <a:r>
              <a:rPr lang="en-US" altLang="zh-CN" dirty="0" smtClean="0"/>
              <a:t>CAPM and APT </a:t>
            </a:r>
            <a:endParaRPr lang="zh-CN" altLang="en-US" dirty="0"/>
          </a:p>
        </p:txBody>
      </p:sp>
      <p:graphicFrame>
        <p:nvGraphicFramePr>
          <p:cNvPr id="4" name="Group 25"/>
          <p:cNvGraphicFramePr>
            <a:graphicFrameLocks/>
          </p:cNvGraphicFramePr>
          <p:nvPr>
            <p:extLst>
              <p:ext uri="{D42A27DB-BD31-4B8C-83A1-F6EECF244321}">
                <p14:modId xmlns:p14="http://schemas.microsoft.com/office/powerpoint/2010/main" val="1864416603"/>
              </p:ext>
            </p:extLst>
          </p:nvPr>
        </p:nvGraphicFramePr>
        <p:xfrm>
          <a:off x="371474" y="1071333"/>
          <a:ext cx="11258552" cy="5577070"/>
        </p:xfrm>
        <a:graphic>
          <a:graphicData uri="http://schemas.openxmlformats.org/drawingml/2006/table">
            <a:tbl>
              <a:tblPr>
                <a:tableStyleId>{2D5ABB26-0587-4C30-8999-92F81FD0307C}</a:tableStyleId>
              </a:tblPr>
              <a:tblGrid>
                <a:gridCol w="1890021">
                  <a:extLst>
                    <a:ext uri="{9D8B030D-6E8A-4147-A177-3AD203B41FA5}">
                      <a16:colId xmlns:a16="http://schemas.microsoft.com/office/drawing/2014/main" xmlns="" val="20000"/>
                    </a:ext>
                  </a:extLst>
                </a:gridCol>
                <a:gridCol w="4300415">
                  <a:extLst>
                    <a:ext uri="{9D8B030D-6E8A-4147-A177-3AD203B41FA5}">
                      <a16:colId xmlns:a16="http://schemas.microsoft.com/office/drawing/2014/main" xmlns="" val="20001"/>
                    </a:ext>
                  </a:extLst>
                </a:gridCol>
                <a:gridCol w="5068116">
                  <a:extLst>
                    <a:ext uri="{9D8B030D-6E8A-4147-A177-3AD203B41FA5}">
                      <a16:colId xmlns:a16="http://schemas.microsoft.com/office/drawing/2014/main" xmlns="" val="20002"/>
                    </a:ext>
                  </a:extLst>
                </a:gridCol>
              </a:tblGrid>
              <a:tr h="475257">
                <a:tc>
                  <a:txBody>
                    <a:bodyPr/>
                    <a:lstStyle/>
                    <a:p>
                      <a:pPr marL="0" marR="0" lvl="0" indent="0" algn="l" defTabSz="914400" rtl="0" eaLnBrk="1" fontAlgn="base" latinLnBrk="0" hangingPunct="1">
                        <a:lnSpc>
                          <a:spcPct val="105000"/>
                        </a:lnSpc>
                        <a:spcBef>
                          <a:spcPct val="20000"/>
                        </a:spcBef>
                        <a:spcAft>
                          <a:spcPct val="0"/>
                        </a:spcAft>
                        <a:buClr>
                          <a:srgbClr val="990000"/>
                        </a:buClr>
                        <a:buSzTx/>
                        <a:buFont typeface="Wingdings" pitchFamily="2" charset="2"/>
                        <a:buNone/>
                        <a:tabLst/>
                      </a:pPr>
                      <a:endParaRPr kumimoji="0" lang="zh-CN"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CAPM</a:t>
                      </a:r>
                      <a:endParaRPr kumimoji="1" lang="en-US" altLang="zh-CN" sz="2400" b="1"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APT</a:t>
                      </a:r>
                      <a:endParaRPr kumimoji="1" lang="en-US" altLang="zh-CN" sz="2400" b="1"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2903203">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Assumptions</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T w="28575"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All investors should hold some combination of the market portfolio and the risk-free asset. To control risk, less risk averse investors simply hold more of the market portfolio and less of the risk-free asset.</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T w="28575" cap="flat" cmpd="sng" algn="ctr">
                      <a:solidFill>
                        <a:schemeClr val="tx1"/>
                      </a:solidFill>
                      <a:prstDash val="solid"/>
                      <a:round/>
                      <a:headEnd type="none" w="med" len="med"/>
                      <a:tailEnd type="none" w="med" len="med"/>
                    </a:lnT>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APT gives no special role to the market portfolio, and is far more flexible than CAPM. Asset returns follow a multifactor process, allowing investors to manage several risk factors, rather than just one.</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0001"/>
                  </a:ext>
                </a:extLst>
              </a:tr>
              <a:tr h="2198379">
                <a:tc>
                  <a:txBody>
                    <a:bodyPr/>
                    <a:lstStyle/>
                    <a:p>
                      <a:pPr marL="342900" marR="0" lvl="0" indent="-34290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Conclusions</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a:ln>
                            <a:noFill/>
                          </a:ln>
                          <a:effectLst/>
                        </a:rPr>
                        <a:t>The risk of the </a:t>
                      </a:r>
                      <a:r>
                        <a:rPr kumimoji="1" lang="en-US" altLang="zh-CN" sz="2400" u="none" strike="noStrike" cap="none" normalizeH="0" baseline="0" dirty="0" smtClean="0">
                          <a:ln>
                            <a:noFill/>
                          </a:ln>
                          <a:effectLst/>
                        </a:rPr>
                        <a:t>investor's </a:t>
                      </a:r>
                      <a:r>
                        <a:rPr kumimoji="1" lang="en-US" altLang="zh-CN" sz="2400" u="none" strike="noStrike" cap="none" normalizeH="0" baseline="0" dirty="0">
                          <a:ln>
                            <a:noFill/>
                          </a:ln>
                          <a:effectLst/>
                        </a:rPr>
                        <a:t>portfolio is determined solely by the resulting portfolio beta.</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5000"/>
                        </a:lnSpc>
                        <a:spcBef>
                          <a:spcPct val="0"/>
                        </a:spcBef>
                        <a:spcAft>
                          <a:spcPct val="0"/>
                        </a:spcAft>
                        <a:buClrTx/>
                        <a:buSzTx/>
                        <a:buFontTx/>
                        <a:buNone/>
                        <a:tabLst/>
                      </a:pPr>
                      <a:r>
                        <a:rPr kumimoji="1" lang="en-US" altLang="zh-CN" sz="2400" u="none" strike="noStrike" cap="none" normalizeH="0" baseline="0" dirty="0" smtClean="0">
                          <a:ln>
                            <a:noFill/>
                          </a:ln>
                          <a:effectLst/>
                        </a:rPr>
                        <a:t>Investor's </a:t>
                      </a:r>
                      <a:r>
                        <a:rPr kumimoji="1" lang="en-US" altLang="zh-CN" sz="2400" u="none" strike="noStrike" cap="none" normalizeH="0" baseline="0" dirty="0">
                          <a:ln>
                            <a:noFill/>
                          </a:ln>
                          <a:effectLst/>
                        </a:rPr>
                        <a:t>unique circumstances may drive the investor to hold portfolios titled away from the market portfolio in order to hedge or speculate on multiple risk factors.</a:t>
                      </a:r>
                      <a:endParaRPr kumimoji="1" lang="en-US" altLang="zh-CN" sz="2400" b="0" i="0" u="none" strike="noStrike" cap="none" normalizeH="0" baseline="0" dirty="0">
                        <a:ln>
                          <a:noFill/>
                        </a:ln>
                        <a:solidFill>
                          <a:srgbClr val="2C3E50"/>
                        </a:solidFill>
                        <a:effectLst/>
                        <a:latin typeface="Times New Roman" charset="0"/>
                        <a:ea typeface="Times New Roman" charset="0"/>
                        <a:cs typeface="Times New Roman" charset="0"/>
                      </a:endParaRPr>
                    </a:p>
                  </a:txBody>
                  <a:tcPr marL="42743" marR="42743" anchor="ctr" horzOverflow="overflow">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58156968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 Fama-French Three-Factor Model</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fontScale="92500"/>
              </a:bodyPr>
              <a:lstStyle/>
              <a:p>
                <a:r>
                  <a:rPr lang="en-US" altLang="zh-CN" dirty="0" smtClean="0"/>
                  <a:t>The </a:t>
                </a:r>
                <a:r>
                  <a:rPr lang="en-US" altLang="zh-CN" dirty="0"/>
                  <a:t>Fama-French three-factor model incorporates the following systematic factors:</a:t>
                </a:r>
              </a:p>
              <a:p>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𝑖𝑡</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𝛼</m:t>
                        </m:r>
                      </m:e>
                      <m:sub>
                        <m:r>
                          <a:rPr lang="en-US" altLang="zh-CN">
                            <a:latin typeface="Cambria Math"/>
                          </a:rPr>
                          <m:t>𝑖</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𝑖𝑀</m:t>
                        </m:r>
                      </m:sub>
                    </m:sSub>
                    <m:sSub>
                      <m:sSubPr>
                        <m:ctrlPr>
                          <a:rPr lang="en-US" altLang="zh-CN" i="1">
                            <a:latin typeface="Cambria Math" panose="02040503050406030204" pitchFamily="18" charset="0"/>
                          </a:rPr>
                        </m:ctrlPr>
                      </m:sSubPr>
                      <m:e>
                        <m:r>
                          <a:rPr lang="en-US" altLang="zh-CN">
                            <a:latin typeface="Cambria Math"/>
                          </a:rPr>
                          <m:t>𝑅</m:t>
                        </m:r>
                      </m:e>
                      <m:sub>
                        <m:r>
                          <a:rPr lang="en-US" altLang="zh-CN">
                            <a:latin typeface="Cambria Math"/>
                          </a:rPr>
                          <m:t>𝑀𝑡</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𝑆𝑀𝐵</m:t>
                        </m:r>
                      </m:sub>
                    </m:sSub>
                    <m:sSub>
                      <m:sSubPr>
                        <m:ctrlPr>
                          <a:rPr lang="en-US" altLang="zh-CN" i="1">
                            <a:latin typeface="Cambria Math" panose="02040503050406030204" pitchFamily="18" charset="0"/>
                          </a:rPr>
                        </m:ctrlPr>
                      </m:sSubPr>
                      <m:e>
                        <m:r>
                          <a:rPr lang="en-US" altLang="zh-CN">
                            <a:latin typeface="Cambria Math"/>
                          </a:rPr>
                          <m:t>𝑆𝑀𝐵</m:t>
                        </m:r>
                      </m:e>
                      <m:sub>
                        <m:r>
                          <a:rPr lang="en-US" altLang="zh-CN">
                            <a:latin typeface="Cambria Math"/>
                          </a:rPr>
                          <m:t>𝑡</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a:rPr>
                          <m:t>𝛽</m:t>
                        </m:r>
                      </m:e>
                      <m:sub>
                        <m:r>
                          <a:rPr lang="en-US" altLang="zh-CN">
                            <a:latin typeface="Cambria Math"/>
                          </a:rPr>
                          <m:t>𝑖</m:t>
                        </m:r>
                        <m:r>
                          <a:rPr lang="en-US" altLang="zh-CN">
                            <a:latin typeface="Cambria Math"/>
                          </a:rPr>
                          <m:t>,</m:t>
                        </m:r>
                        <m:r>
                          <a:rPr lang="en-US" altLang="zh-CN">
                            <a:latin typeface="Cambria Math"/>
                          </a:rPr>
                          <m:t>𝐻𝑀𝐿</m:t>
                        </m:r>
                      </m:sub>
                    </m:sSub>
                    <m:sSub>
                      <m:sSubPr>
                        <m:ctrlPr>
                          <a:rPr lang="en-US" altLang="zh-CN" i="1">
                            <a:latin typeface="Cambria Math" panose="02040503050406030204" pitchFamily="18" charset="0"/>
                          </a:rPr>
                        </m:ctrlPr>
                      </m:sSubPr>
                      <m:e>
                        <m:r>
                          <a:rPr lang="en-US" altLang="zh-CN">
                            <a:latin typeface="Cambria Math"/>
                          </a:rPr>
                          <m:t>𝐻𝑀𝐿</m:t>
                        </m:r>
                      </m:e>
                      <m:sub>
                        <m:r>
                          <a:rPr lang="en-US" altLang="zh-CN">
                            <a:latin typeface="Cambria Math"/>
                          </a:rPr>
                          <m:t>𝑡</m:t>
                        </m:r>
                      </m:sub>
                    </m:sSub>
                    <m:r>
                      <a:rPr lang="en-US" altLang="zh-CN">
                        <a:latin typeface="Cambria Math"/>
                      </a:rPr>
                      <m:t>+</m:t>
                    </m:r>
                    <m:sSub>
                      <m:sSubPr>
                        <m:ctrlPr>
                          <a:rPr lang="en-US" altLang="zh-CN" i="1">
                            <a:latin typeface="Cambria Math" panose="02040503050406030204" pitchFamily="18" charset="0"/>
                          </a:rPr>
                        </m:ctrlPr>
                      </m:sSubPr>
                      <m:e>
                        <m:r>
                          <a:rPr lang="en-US" altLang="zh-CN">
                            <a:latin typeface="Cambria Math"/>
                          </a:rPr>
                          <m:t>𝑒</m:t>
                        </m:r>
                      </m:e>
                      <m:sub>
                        <m:r>
                          <a:rPr lang="en-US" altLang="zh-CN">
                            <a:latin typeface="Cambria Math"/>
                          </a:rPr>
                          <m:t>𝑖𝑡</m:t>
                        </m:r>
                      </m:sub>
                    </m:sSub>
                  </m:oMath>
                </a14:m>
                <a:endParaRPr lang="zh-CN" altLang="en-US" dirty="0"/>
              </a:p>
              <a:p>
                <a:pPr lvl="1"/>
                <a:r>
                  <a:rPr lang="en-US" altLang="zh-CN" dirty="0"/>
                  <a:t>SMB = Small</a:t>
                </a:r>
                <a:r>
                  <a:rPr lang="zh-CN" altLang="en-US" dirty="0"/>
                  <a:t> </a:t>
                </a:r>
                <a:r>
                  <a:rPr lang="en-US" altLang="zh-CN" dirty="0"/>
                  <a:t>minus</a:t>
                </a:r>
                <a:r>
                  <a:rPr lang="zh-CN" altLang="en-US" dirty="0"/>
                  <a:t> </a:t>
                </a:r>
                <a:r>
                  <a:rPr lang="en-US" altLang="zh-CN" dirty="0"/>
                  <a:t>big</a:t>
                </a:r>
                <a:r>
                  <a:rPr lang="zh-CN" altLang="en-US" dirty="0"/>
                  <a:t> </a:t>
                </a:r>
                <a:r>
                  <a:rPr lang="en-US" altLang="zh-CN" dirty="0"/>
                  <a:t>(the</a:t>
                </a:r>
                <a:r>
                  <a:rPr lang="zh-CN" altLang="en-US" dirty="0"/>
                  <a:t> </a:t>
                </a:r>
                <a:r>
                  <a:rPr lang="en-US" altLang="zh-CN" dirty="0"/>
                  <a:t>return</a:t>
                </a:r>
                <a:r>
                  <a:rPr lang="zh-CN" altLang="en-US" dirty="0"/>
                  <a:t> </a:t>
                </a:r>
                <a:r>
                  <a:rPr lang="en-US" altLang="zh-CN" dirty="0"/>
                  <a:t>of</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small</a:t>
                </a:r>
                <a:r>
                  <a:rPr lang="zh-CN" altLang="en-US" dirty="0"/>
                  <a:t> </a:t>
                </a:r>
                <a:r>
                  <a:rPr lang="en-US" altLang="zh-CN" dirty="0"/>
                  <a:t>stocks</a:t>
                </a:r>
                <a:r>
                  <a:rPr lang="zh-CN" altLang="en-US" dirty="0"/>
                  <a:t> </a:t>
                </a:r>
                <a:r>
                  <a:rPr lang="en-US" altLang="zh-CN" dirty="0"/>
                  <a:t>–</a:t>
                </a:r>
                <a:r>
                  <a:rPr lang="zh-CN" altLang="en-US" dirty="0"/>
                  <a:t> </a:t>
                </a:r>
                <a:r>
                  <a:rPr lang="en-US" altLang="zh-CN" dirty="0"/>
                  <a:t>return</a:t>
                </a:r>
                <a:r>
                  <a:rPr lang="zh-CN" altLang="en-US" dirty="0"/>
                  <a:t> </a:t>
                </a:r>
                <a:r>
                  <a:rPr lang="en-US" altLang="zh-CN" dirty="0"/>
                  <a:t>on</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large</a:t>
                </a:r>
                <a:r>
                  <a:rPr lang="zh-CN" altLang="en-US" dirty="0"/>
                  <a:t> </a:t>
                </a:r>
                <a:r>
                  <a:rPr lang="en-US" altLang="zh-CN" dirty="0"/>
                  <a:t>stocks)</a:t>
                </a:r>
                <a:endParaRPr lang="zh-CN" altLang="en-US" dirty="0"/>
              </a:p>
              <a:p>
                <a:pPr lvl="1"/>
                <a:r>
                  <a:rPr lang="en-US" altLang="zh-CN" dirty="0"/>
                  <a:t>HML = High</a:t>
                </a:r>
                <a:r>
                  <a:rPr lang="zh-CN" altLang="en-US" dirty="0"/>
                  <a:t> </a:t>
                </a:r>
                <a:r>
                  <a:rPr lang="en-US" altLang="zh-CN" dirty="0"/>
                  <a:t>minus</a:t>
                </a:r>
                <a:r>
                  <a:rPr lang="zh-CN" altLang="en-US" dirty="0"/>
                  <a:t> </a:t>
                </a:r>
                <a:r>
                  <a:rPr lang="en-US" altLang="zh-CN" dirty="0"/>
                  <a:t>low</a:t>
                </a:r>
                <a:r>
                  <a:rPr lang="zh-CN" altLang="en-US" dirty="0"/>
                  <a:t> </a:t>
                </a:r>
                <a:r>
                  <a:rPr lang="en-US" altLang="zh-CN" dirty="0"/>
                  <a:t>(the</a:t>
                </a:r>
                <a:r>
                  <a:rPr lang="zh-CN" altLang="en-US" dirty="0"/>
                  <a:t> </a:t>
                </a:r>
                <a:r>
                  <a:rPr lang="en-US" altLang="zh-CN" dirty="0"/>
                  <a:t>return</a:t>
                </a:r>
                <a:r>
                  <a:rPr lang="zh-CN" altLang="en-US" dirty="0"/>
                  <a:t> </a:t>
                </a:r>
                <a:r>
                  <a:rPr lang="en-US" altLang="zh-CN" dirty="0"/>
                  <a:t>of</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stocks</a:t>
                </a:r>
                <a:r>
                  <a:rPr lang="zh-CN" altLang="en-US" dirty="0"/>
                  <a:t> </a:t>
                </a:r>
                <a:r>
                  <a:rPr lang="en-US" altLang="zh-CN" dirty="0"/>
                  <a:t>with</a:t>
                </a:r>
                <a:r>
                  <a:rPr lang="zh-CN" altLang="en-US" dirty="0"/>
                  <a:t> </a:t>
                </a:r>
                <a:r>
                  <a:rPr lang="en-US" altLang="zh-CN" dirty="0"/>
                  <a:t>a</a:t>
                </a:r>
                <a:r>
                  <a:rPr lang="zh-CN" altLang="en-US" dirty="0"/>
                  <a:t> </a:t>
                </a:r>
                <a:r>
                  <a:rPr lang="en-US" altLang="zh-CN" dirty="0"/>
                  <a:t>high</a:t>
                </a:r>
                <a:r>
                  <a:rPr lang="zh-CN" altLang="en-US" dirty="0"/>
                  <a:t> </a:t>
                </a:r>
                <a:r>
                  <a:rPr lang="en-US" altLang="zh-CN" dirty="0"/>
                  <a:t>book-to-market</a:t>
                </a:r>
                <a:r>
                  <a:rPr lang="zh-CN" altLang="en-US" dirty="0"/>
                  <a:t> </a:t>
                </a:r>
                <a:r>
                  <a:rPr lang="en-US" altLang="zh-CN" dirty="0"/>
                  <a:t>ratio</a:t>
                </a:r>
                <a:r>
                  <a:rPr lang="zh-CN" altLang="en-US" dirty="0"/>
                  <a:t> </a:t>
                </a:r>
                <a:r>
                  <a:rPr lang="en-US" altLang="zh-CN" dirty="0"/>
                  <a:t>–</a:t>
                </a:r>
                <a:r>
                  <a:rPr lang="zh-CN" altLang="en-US" dirty="0"/>
                  <a:t> </a:t>
                </a:r>
                <a:r>
                  <a:rPr lang="en-US" altLang="zh-CN" dirty="0"/>
                  <a:t>return</a:t>
                </a:r>
                <a:r>
                  <a:rPr lang="zh-CN" altLang="en-US" dirty="0"/>
                  <a:t> </a:t>
                </a:r>
                <a:r>
                  <a:rPr lang="en-US" altLang="zh-CN" dirty="0"/>
                  <a:t>on</a:t>
                </a:r>
                <a:r>
                  <a:rPr lang="zh-CN" altLang="en-US" dirty="0"/>
                  <a:t> </a:t>
                </a:r>
                <a:r>
                  <a:rPr lang="en-US" altLang="zh-CN" dirty="0"/>
                  <a:t>a</a:t>
                </a:r>
                <a:r>
                  <a:rPr lang="zh-CN" altLang="en-US" dirty="0"/>
                  <a:t> </a:t>
                </a:r>
                <a:r>
                  <a:rPr lang="en-US" altLang="zh-CN" dirty="0"/>
                  <a:t>portfolio</a:t>
                </a:r>
                <a:r>
                  <a:rPr lang="zh-CN" altLang="en-US" dirty="0"/>
                  <a:t> </a:t>
                </a:r>
                <a:r>
                  <a:rPr lang="en-US" altLang="zh-CN" dirty="0"/>
                  <a:t>of</a:t>
                </a:r>
                <a:r>
                  <a:rPr lang="zh-CN" altLang="en-US" dirty="0"/>
                  <a:t> </a:t>
                </a:r>
                <a:r>
                  <a:rPr lang="en-US" altLang="zh-CN" dirty="0"/>
                  <a:t>stocks</a:t>
                </a:r>
                <a:r>
                  <a:rPr lang="zh-CN" altLang="en-US" dirty="0"/>
                  <a:t> </a:t>
                </a:r>
                <a:r>
                  <a:rPr lang="en-US" altLang="zh-CN" dirty="0"/>
                  <a:t>with</a:t>
                </a:r>
                <a:r>
                  <a:rPr lang="zh-CN" altLang="en-US" dirty="0"/>
                  <a:t> </a:t>
                </a:r>
                <a:r>
                  <a:rPr lang="en-US" altLang="zh-CN" dirty="0"/>
                  <a:t>a</a:t>
                </a:r>
                <a:r>
                  <a:rPr lang="zh-CN" altLang="en-US" dirty="0"/>
                  <a:t> </a:t>
                </a:r>
                <a:r>
                  <a:rPr lang="en-US" altLang="zh-CN" dirty="0"/>
                  <a:t>low</a:t>
                </a:r>
                <a:r>
                  <a:rPr lang="zh-CN" altLang="en-US" dirty="0"/>
                  <a:t> </a:t>
                </a:r>
                <a:r>
                  <a:rPr lang="en-US" altLang="zh-CN" dirty="0"/>
                  <a:t>book-to-market</a:t>
                </a:r>
                <a:r>
                  <a:rPr lang="zh-CN" altLang="en-US" dirty="0"/>
                  <a:t> </a:t>
                </a:r>
                <a:r>
                  <a:rPr lang="en-US" altLang="zh-CN" dirty="0"/>
                  <a:t>ratio)</a:t>
                </a:r>
              </a:p>
              <a:p>
                <a:r>
                  <a:rPr lang="en-US" altLang="zh-CN" dirty="0"/>
                  <a:t>F&amp;F</a:t>
                </a:r>
                <a:r>
                  <a:rPr lang="zh-CN" altLang="en-US" dirty="0"/>
                  <a:t> </a:t>
                </a:r>
                <a:r>
                  <a:rPr lang="en-US" altLang="zh-CN" dirty="0"/>
                  <a:t>have</a:t>
                </a:r>
                <a:r>
                  <a:rPr lang="zh-CN" altLang="en-US" dirty="0"/>
                  <a:t> </a:t>
                </a:r>
                <a:r>
                  <a:rPr lang="en-US" altLang="zh-CN" dirty="0"/>
                  <a:t>observed:</a:t>
                </a:r>
                <a:r>
                  <a:rPr lang="zh-CN" altLang="en-US" dirty="0"/>
                  <a:t> </a:t>
                </a:r>
                <a:r>
                  <a:rPr lang="en-US" altLang="zh-CN" b="0" dirty="0"/>
                  <a:t>firms with high ratios of book-to-market value are more likely to be in financial distress</a:t>
                </a:r>
                <a:r>
                  <a:rPr lang="zh-CN" altLang="en-US" b="0" dirty="0"/>
                  <a:t> </a:t>
                </a:r>
                <a:r>
                  <a:rPr lang="en-US" altLang="zh-CN" b="0" dirty="0"/>
                  <a:t>and that small stocks may be more sensitive to changes in business conditions. Thus, these</a:t>
                </a:r>
                <a:r>
                  <a:rPr lang="zh-CN" altLang="en-US" b="0" dirty="0"/>
                  <a:t> </a:t>
                </a:r>
                <a:r>
                  <a:rPr lang="en-US" altLang="zh-CN" b="0" dirty="0"/>
                  <a:t>variables may capture sensitivity to risk factors in the macro</a:t>
                </a:r>
                <a:r>
                  <a:rPr lang="zh-CN" altLang="en-US" b="0" dirty="0"/>
                  <a:t> </a:t>
                </a:r>
                <a:r>
                  <a:rPr lang="en-US" altLang="zh-CN" b="0" dirty="0"/>
                  <a:t>economy.</a:t>
                </a:r>
              </a:p>
              <a:p>
                <a:endParaRPr lang="zh-CN" altLang="en-US" dirty="0"/>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rotWithShape="1">
                <a:blip r:embed="rId2"/>
                <a:stretch>
                  <a:fillRect l="-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0615281"/>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Financial </a:t>
            </a:r>
            <a:r>
              <a:rPr lang="en-US" altLang="zh-CN" dirty="0" smtClean="0"/>
              <a:t>Disasters</a:t>
            </a:r>
            <a:endParaRPr lang="zh-CN" altLang="en-US" dirty="0"/>
          </a:p>
        </p:txBody>
      </p:sp>
    </p:spTree>
    <p:extLst>
      <p:ext uri="{BB962C8B-B14F-4D97-AF65-F5344CB8AC3E}">
        <p14:creationId xmlns:p14="http://schemas.microsoft.com/office/powerpoint/2010/main" val="211288111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93600" y="624042"/>
            <a:ext cx="6758517" cy="6233957"/>
          </a:xfrm>
        </p:spPr>
        <p:txBody>
          <a:bodyPr>
            <a:normAutofit/>
          </a:bodyPr>
          <a:lstStyle/>
          <a:p>
            <a:r>
              <a:rPr lang="en-US" altLang="zh-CN" dirty="0"/>
              <a:t>Drysdale Securities and Chase Manhattan </a:t>
            </a:r>
            <a:r>
              <a:rPr lang="en-US" altLang="zh-CN" dirty="0" smtClean="0"/>
              <a:t>Bank</a:t>
            </a:r>
          </a:p>
          <a:p>
            <a:r>
              <a:rPr lang="en-US" altLang="zh-CN" dirty="0"/>
              <a:t>Kidder </a:t>
            </a:r>
            <a:r>
              <a:rPr lang="en-US" altLang="zh-CN" dirty="0" smtClean="0"/>
              <a:t>Peabody</a:t>
            </a:r>
          </a:p>
          <a:p>
            <a:r>
              <a:rPr lang="en-US" altLang="zh-CN" dirty="0"/>
              <a:t>Barings</a:t>
            </a:r>
            <a:r>
              <a:rPr lang="zh-CN" altLang="en-US" dirty="0"/>
              <a:t> </a:t>
            </a:r>
            <a:r>
              <a:rPr lang="en-US" altLang="zh-CN" dirty="0" smtClean="0"/>
              <a:t>Bank</a:t>
            </a:r>
          </a:p>
          <a:p>
            <a:r>
              <a:rPr lang="en-US" altLang="zh-CN" dirty="0"/>
              <a:t>Allied Irish </a:t>
            </a:r>
            <a:r>
              <a:rPr lang="en-US" altLang="zh-CN" dirty="0" smtClean="0"/>
              <a:t>Bank</a:t>
            </a:r>
          </a:p>
          <a:p>
            <a:r>
              <a:rPr lang="en-US" altLang="zh-CN" dirty="0"/>
              <a:t>Union Bank of </a:t>
            </a:r>
            <a:r>
              <a:rPr lang="en-US" altLang="zh-CN" dirty="0" smtClean="0"/>
              <a:t>Switzerland</a:t>
            </a:r>
          </a:p>
          <a:p>
            <a:r>
              <a:rPr lang="en-US" altLang="zh-CN" dirty="0" err="1"/>
              <a:t>Société</a:t>
            </a:r>
            <a:r>
              <a:rPr lang="en-US" altLang="zh-CN" dirty="0"/>
              <a:t> </a:t>
            </a:r>
            <a:r>
              <a:rPr lang="en-US" altLang="zh-CN" dirty="0" err="1" smtClean="0"/>
              <a:t>Générale</a:t>
            </a:r>
            <a:endParaRPr lang="en-US" altLang="zh-CN" dirty="0" smtClean="0"/>
          </a:p>
          <a:p>
            <a:r>
              <a:rPr lang="en-US" altLang="zh-CN" dirty="0" err="1" smtClean="0"/>
              <a:t>Metallgesellschaft</a:t>
            </a:r>
            <a:endParaRPr lang="en-US" altLang="zh-CN" dirty="0" smtClean="0"/>
          </a:p>
          <a:p>
            <a:r>
              <a:rPr lang="en-US" altLang="zh-CN" dirty="0"/>
              <a:t>Long-Term Capital Management (LTCM</a:t>
            </a:r>
            <a:r>
              <a:rPr lang="en-US" altLang="zh-CN" dirty="0" smtClean="0"/>
              <a:t>)</a:t>
            </a:r>
          </a:p>
          <a:p>
            <a:r>
              <a:rPr lang="en-US" altLang="zh-CN" dirty="0" smtClean="0"/>
              <a:t>Banker's Trust</a:t>
            </a:r>
          </a:p>
          <a:p>
            <a:r>
              <a:rPr lang="en-US" altLang="zh-CN" dirty="0"/>
              <a:t>JPMorgan, Citigroup, and Enron</a:t>
            </a:r>
            <a:endParaRPr lang="en-US" altLang="zh-CN" dirty="0" smtClean="0"/>
          </a:p>
          <a:p>
            <a:endParaRPr lang="en-US" altLang="zh-CN" dirty="0" smtClean="0"/>
          </a:p>
          <a:p>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577197030"/>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A. Drysdale Securities and Chase Manhattan Bank</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dirty="0" smtClean="0"/>
              <a:t>Incidence</a:t>
            </a:r>
          </a:p>
          <a:p>
            <a:pPr lvl="1"/>
            <a:r>
              <a:rPr lang="en-US" altLang="zh-CN" dirty="0" smtClean="0"/>
              <a:t>During 3 months in 1976, Drysdale Government Securities, obtaining unsecured borrowing of about $300</a:t>
            </a:r>
            <a:r>
              <a:rPr lang="zh-CN" altLang="en-US" dirty="0" smtClean="0"/>
              <a:t> </a:t>
            </a:r>
            <a:r>
              <a:rPr lang="en-US" altLang="zh-CN" dirty="0" smtClean="0"/>
              <a:t>million by exploiting a flaw in the market practices for computing the value of U.S. government bond collateral.</a:t>
            </a:r>
            <a:endParaRPr lang="zh-CN" altLang="en-US" dirty="0" smtClean="0"/>
          </a:p>
          <a:p>
            <a:pPr lvl="1"/>
            <a:r>
              <a:rPr lang="en-US" altLang="zh-CN" dirty="0" smtClean="0"/>
              <a:t>But Drysdale only have $20 million in capital.</a:t>
            </a:r>
          </a:p>
          <a:p>
            <a:pPr lvl="1"/>
            <a:r>
              <a:rPr lang="en-US" altLang="zh-CN" dirty="0" smtClean="0"/>
              <a:t>Drysdale used the borrowed money to take outright positions in bond markets.</a:t>
            </a:r>
            <a:endParaRPr lang="zh-CN" altLang="en-US" dirty="0" smtClean="0"/>
          </a:p>
          <a:p>
            <a:pPr lvl="1"/>
            <a:r>
              <a:rPr lang="en-US" altLang="zh-CN" dirty="0" smtClean="0"/>
              <a:t>But was unable to repay the borrowed funds because of the decline of the bond value and lost all of the $300</a:t>
            </a:r>
            <a:r>
              <a:rPr lang="zh-CN" altLang="en-US" dirty="0" smtClean="0"/>
              <a:t> </a:t>
            </a:r>
            <a:r>
              <a:rPr lang="en-US" altLang="zh-CN" dirty="0" smtClean="0"/>
              <a:t>million, then Drysdale went bankrupt.</a:t>
            </a:r>
          </a:p>
          <a:p>
            <a:pPr lvl="1"/>
            <a:r>
              <a:rPr lang="en-US" altLang="zh-CN" dirty="0" smtClean="0"/>
              <a:t>Chase Manhattan absorbed almost all of these losses because they had brokered most of </a:t>
            </a:r>
            <a:r>
              <a:rPr lang="en-US" altLang="zh-CN" dirty="0" err="1" smtClean="0"/>
              <a:t>Drysdale's</a:t>
            </a:r>
            <a:r>
              <a:rPr lang="en-US" altLang="zh-CN" dirty="0" smtClean="0"/>
              <a:t> </a:t>
            </a:r>
            <a:r>
              <a:rPr lang="en-US" altLang="zh-CN" dirty="0" smtClean="0"/>
              <a:t>securities borrowings. </a:t>
            </a:r>
          </a:p>
          <a:p>
            <a:r>
              <a:rPr lang="en-US" altLang="zh-CN" dirty="0" smtClean="0"/>
              <a:t>Results</a:t>
            </a:r>
          </a:p>
          <a:p>
            <a:pPr lvl="1"/>
            <a:r>
              <a:rPr lang="en-US" altLang="zh-CN" dirty="0" smtClean="0"/>
              <a:t>Chase experienced reputational damage and an impact on to their stock price.</a:t>
            </a:r>
          </a:p>
          <a:p>
            <a:endParaRPr lang="zh-CN" altLang="en-US" dirty="0"/>
          </a:p>
        </p:txBody>
      </p:sp>
    </p:spTree>
    <p:extLst>
      <p:ext uri="{BB962C8B-B14F-4D97-AF65-F5344CB8AC3E}">
        <p14:creationId xmlns:p14="http://schemas.microsoft.com/office/powerpoint/2010/main" val="403404042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A. Drysdale Securities and Chase Manhattan Bank</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dirty="0" smtClean="0"/>
              <a:t>Main Reasons</a:t>
            </a:r>
          </a:p>
          <a:p>
            <a:pPr lvl="1"/>
            <a:r>
              <a:rPr lang="en-US" altLang="zh-CN" dirty="0" smtClean="0"/>
              <a:t>Chase failed to detect the unauthorized positions: Chase did not believe the </a:t>
            </a:r>
            <a:r>
              <a:rPr lang="en-US" altLang="zh-CN" dirty="0" smtClean="0"/>
              <a:t>firm's</a:t>
            </a:r>
            <a:r>
              <a:rPr lang="zh-CN" altLang="en-US" dirty="0" smtClean="0"/>
              <a:t> </a:t>
            </a:r>
            <a:r>
              <a:rPr lang="en-US" altLang="zh-CN" dirty="0" smtClean="0"/>
              <a:t>capital was a risk. </a:t>
            </a:r>
          </a:p>
          <a:p>
            <a:pPr lvl="1"/>
            <a:r>
              <a:rPr lang="en-US" altLang="zh-CN" dirty="0" smtClean="0"/>
              <a:t>The inexperienced managers in Chase were convinced they were simply acting as middlemen.</a:t>
            </a:r>
          </a:p>
          <a:p>
            <a:pPr lvl="1"/>
            <a:r>
              <a:rPr lang="en-US" altLang="zh-CN" dirty="0" smtClean="0"/>
              <a:t>They did not correctly interpret borrowing agreements that made Chase take full responsibility for payments due.</a:t>
            </a:r>
          </a:p>
          <a:p>
            <a:r>
              <a:rPr lang="en-US" altLang="zh-CN" dirty="0" smtClean="0"/>
              <a:t>Lessons Learned</a:t>
            </a:r>
          </a:p>
          <a:p>
            <a:pPr lvl="1"/>
            <a:r>
              <a:rPr lang="en-US" altLang="zh-CN" dirty="0" smtClean="0"/>
              <a:t>Need for more precise methods for computing the value of collateral.</a:t>
            </a:r>
          </a:p>
          <a:p>
            <a:pPr lvl="1"/>
            <a:r>
              <a:rPr lang="en-US" altLang="zh-CN" dirty="0" smtClean="0"/>
              <a:t>Need for better process control. The need for a process that forced areas contemplating new product offerings to receive prior approval from representatives of the principal risk control functions within the firm. </a:t>
            </a:r>
            <a:endParaRPr lang="en-US" altLang="zh-CN" dirty="0"/>
          </a:p>
        </p:txBody>
      </p:sp>
    </p:spTree>
    <p:extLst>
      <p:ext uri="{BB962C8B-B14F-4D97-AF65-F5344CB8AC3E}">
        <p14:creationId xmlns:p14="http://schemas.microsoft.com/office/powerpoint/2010/main" val="428602091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Kidder Peabody</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smtClean="0"/>
              <a:t>Incidence</a:t>
            </a:r>
          </a:p>
          <a:p>
            <a:pPr lvl="1"/>
            <a:r>
              <a:rPr lang="en-US" altLang="zh-CN" dirty="0" smtClean="0"/>
              <a:t>Between 1992 and 1994, Joseph Jett, head of the government bond trading desk, entered into a series of trades that were incorrectly reported in the </a:t>
            </a:r>
            <a:r>
              <a:rPr lang="en-US" altLang="zh-CN" dirty="0" smtClean="0"/>
              <a:t>firm's </a:t>
            </a:r>
            <a:r>
              <a:rPr lang="en-US" altLang="zh-CN" dirty="0" smtClean="0"/>
              <a:t>accounting system, artificially inflating reported profits.</a:t>
            </a:r>
            <a:endParaRPr lang="zh-CN" altLang="en-US" dirty="0" smtClean="0"/>
          </a:p>
          <a:p>
            <a:pPr lvl="1"/>
            <a:r>
              <a:rPr lang="en-US" altLang="zh-CN" dirty="0" smtClean="0"/>
              <a:t>When this was ultimately corrected in April 1994, $350 million in previously reported gains had to be reversed.</a:t>
            </a:r>
          </a:p>
          <a:p>
            <a:r>
              <a:rPr lang="en-US" altLang="zh-CN" dirty="0" smtClean="0"/>
              <a:t>Results</a:t>
            </a:r>
          </a:p>
          <a:p>
            <a:pPr lvl="1"/>
            <a:r>
              <a:rPr lang="en-US" altLang="zh-CN" dirty="0" smtClean="0"/>
              <a:t>The loss of cash was not actual, but the announcement of such a massive misreporting of earnings triggered a substantial loss of confidence in the competence of the </a:t>
            </a:r>
            <a:r>
              <a:rPr lang="en-US" altLang="zh-CN" dirty="0" smtClean="0"/>
              <a:t>firm's </a:t>
            </a:r>
            <a:r>
              <a:rPr lang="en-US" altLang="zh-CN" dirty="0" smtClean="0"/>
              <a:t>management by customers and General Electric, which owned Kidder.</a:t>
            </a:r>
          </a:p>
          <a:p>
            <a:pPr lvl="1"/>
            <a:r>
              <a:rPr lang="en-US" altLang="zh-CN" dirty="0" smtClean="0"/>
              <a:t>In October 1994, General Electric, the owner of the Kidder Peabody, sold Kidder to Paine Webber, which dismantled the firm.</a:t>
            </a:r>
          </a:p>
          <a:p>
            <a:endParaRPr lang="zh-CN" altLang="en-US" dirty="0"/>
          </a:p>
        </p:txBody>
      </p:sp>
    </p:spTree>
    <p:extLst>
      <p:ext uri="{BB962C8B-B14F-4D97-AF65-F5344CB8AC3E}">
        <p14:creationId xmlns:p14="http://schemas.microsoft.com/office/powerpoint/2010/main" val="331417734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Kidder Peabody</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smtClean="0"/>
              <a:t>Main Reasons</a:t>
            </a:r>
          </a:p>
          <a:p>
            <a:pPr lvl="1"/>
            <a:r>
              <a:rPr lang="en-US" altLang="zh-CN" dirty="0" smtClean="0"/>
              <a:t>The computer system used to report government bond trading activity did not account for a forward </a:t>
            </a:r>
            <a:r>
              <a:rPr lang="en-US" altLang="zh-CN" dirty="0" smtClean="0"/>
              <a:t>contract's </a:t>
            </a:r>
            <a:r>
              <a:rPr lang="en-US" altLang="zh-CN" dirty="0" smtClean="0"/>
              <a:t>present value. A trader can get instantly profit by purchasing a bond for cash and delivering the forward contract. </a:t>
            </a:r>
          </a:p>
          <a:p>
            <a:pPr lvl="1"/>
            <a:r>
              <a:rPr lang="en-US" altLang="zh-CN" dirty="0" smtClean="0"/>
              <a:t>The system failed to realize that this profit would disappear once financing costs for the cash bond were taken into account.</a:t>
            </a:r>
          </a:p>
          <a:p>
            <a:r>
              <a:rPr lang="en-US" altLang="zh-CN" dirty="0" smtClean="0"/>
              <a:t>Lessons to be learned</a:t>
            </a:r>
          </a:p>
          <a:p>
            <a:pPr lvl="1"/>
            <a:r>
              <a:rPr lang="en-US" altLang="zh-CN" dirty="0" smtClean="0"/>
              <a:t>Always investigate a stream of large unexpected profits thoroughly and make sure you completely understand the source. </a:t>
            </a:r>
          </a:p>
          <a:p>
            <a:pPr lvl="1"/>
            <a:r>
              <a:rPr lang="en-US" altLang="zh-CN" dirty="0" smtClean="0"/>
              <a:t>Periodically review models and systems to see if changes in the way they are being used require changes in simplifying assumptions.</a:t>
            </a:r>
            <a:endParaRPr lang="zh-CN" altLang="en-US" dirty="0"/>
          </a:p>
        </p:txBody>
      </p:sp>
    </p:spTree>
    <p:extLst>
      <p:ext uri="{BB962C8B-B14F-4D97-AF65-F5344CB8AC3E}">
        <p14:creationId xmlns:p14="http://schemas.microsoft.com/office/powerpoint/2010/main" val="377447722"/>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Barings</a:t>
            </a:r>
            <a:r>
              <a:rPr lang="zh-CN" altLang="en-US" smtClean="0"/>
              <a:t> </a:t>
            </a:r>
            <a:r>
              <a:rPr lang="en-US" altLang="zh-CN" smtClean="0"/>
              <a:t>Bank</a:t>
            </a:r>
            <a:endParaRPr lang="zh-CN" altLang="en-US" dirty="0"/>
          </a:p>
        </p:txBody>
      </p:sp>
      <p:sp>
        <p:nvSpPr>
          <p:cNvPr id="3" name="文本占位符 2"/>
          <p:cNvSpPr>
            <a:spLocks noGrp="1"/>
          </p:cNvSpPr>
          <p:nvPr>
            <p:ph type="body" sz="quarter" idx="10"/>
          </p:nvPr>
        </p:nvSpPr>
        <p:spPr/>
        <p:txBody>
          <a:bodyPr/>
          <a:lstStyle/>
          <a:p>
            <a:r>
              <a:rPr lang="en-US" altLang="zh-CN" dirty="0" smtClean="0"/>
              <a:t>Incident</a:t>
            </a:r>
          </a:p>
          <a:p>
            <a:pPr lvl="1"/>
            <a:r>
              <a:rPr lang="en-US" altLang="zh-CN" dirty="0" smtClean="0"/>
              <a:t>The incident involved the loss of roughly $1.25 billion due to the unauthorized trading activities during 1993 to 1995 of a single, relatively junior trader named Nick Leeson.</a:t>
            </a:r>
          </a:p>
          <a:p>
            <a:pPr lvl="1"/>
            <a:r>
              <a:rPr lang="en-US" altLang="zh-CN" dirty="0" smtClean="0"/>
              <a:t>The size of the losses relative to </a:t>
            </a:r>
            <a:r>
              <a:rPr lang="en-US" altLang="zh-CN" dirty="0" smtClean="0"/>
              <a:t>Baring's </a:t>
            </a:r>
            <a:r>
              <a:rPr lang="en-US" altLang="zh-CN" dirty="0" smtClean="0"/>
              <a:t>capital along with potential additional losses on outstanding trades forced Barings into bankruptcy in February 1995.</a:t>
            </a:r>
          </a:p>
          <a:p>
            <a:endParaRPr lang="zh-CN" altLang="en-US" dirty="0"/>
          </a:p>
        </p:txBody>
      </p:sp>
    </p:spTree>
    <p:extLst>
      <p:ext uri="{BB962C8B-B14F-4D97-AF65-F5344CB8AC3E}">
        <p14:creationId xmlns:p14="http://schemas.microsoft.com/office/powerpoint/2010/main" val="282405183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Barings</a:t>
            </a:r>
            <a:r>
              <a:rPr lang="zh-CN" altLang="en-US" smtClean="0"/>
              <a:t> </a:t>
            </a:r>
            <a:r>
              <a:rPr lang="en-US" altLang="zh-CN" smtClean="0"/>
              <a:t>Bank</a:t>
            </a:r>
            <a:endParaRPr lang="zh-CN" altLang="en-US" dirty="0"/>
          </a:p>
        </p:txBody>
      </p:sp>
      <p:sp>
        <p:nvSpPr>
          <p:cNvPr id="3" name="文本占位符 2"/>
          <p:cNvSpPr>
            <a:spLocks noGrp="1"/>
          </p:cNvSpPr>
          <p:nvPr>
            <p:ph type="body" sz="quarter" idx="10"/>
          </p:nvPr>
        </p:nvSpPr>
        <p:spPr/>
        <p:txBody>
          <a:bodyPr/>
          <a:lstStyle/>
          <a:p>
            <a:r>
              <a:rPr lang="en-US" altLang="zh-CN" dirty="0" smtClean="0"/>
              <a:t>Nick </a:t>
            </a:r>
            <a:r>
              <a:rPr lang="en-US" altLang="zh-CN" dirty="0" err="1" smtClean="0"/>
              <a:t>Leeson's</a:t>
            </a:r>
            <a:r>
              <a:rPr lang="en-US" altLang="zh-CN" dirty="0" smtClean="0"/>
              <a:t> </a:t>
            </a:r>
            <a:r>
              <a:rPr lang="en-US" altLang="zh-CN" dirty="0" smtClean="0"/>
              <a:t>strategy 1</a:t>
            </a:r>
          </a:p>
          <a:p>
            <a:pPr lvl="1"/>
            <a:r>
              <a:rPr lang="en-US" altLang="zh-CN" dirty="0" err="1" smtClean="0"/>
              <a:t>Leeson's</a:t>
            </a:r>
            <a:r>
              <a:rPr lang="en-US" altLang="zh-CN" dirty="0" smtClean="0"/>
              <a:t> </a:t>
            </a:r>
            <a:r>
              <a:rPr lang="en-US" altLang="zh-CN" dirty="0" smtClean="0"/>
              <a:t>trading involved two strategies:</a:t>
            </a:r>
            <a:r>
              <a:rPr lang="zh-CN" altLang="en-US" dirty="0" smtClean="0"/>
              <a:t> </a:t>
            </a:r>
            <a:r>
              <a:rPr lang="en-US" altLang="zh-CN" dirty="0" smtClean="0"/>
              <a:t>selling straddles on the Nikkei 225 and arbitraging price differences on Nikkei 225 futures contracts that were trading on different</a:t>
            </a:r>
            <a:r>
              <a:rPr lang="zh-CN" altLang="en-US" dirty="0" smtClean="0"/>
              <a:t> </a:t>
            </a:r>
            <a:r>
              <a:rPr lang="en-US" altLang="zh-CN" dirty="0" smtClean="0"/>
              <a:t>exchanges.</a:t>
            </a:r>
          </a:p>
          <a:p>
            <a:pPr lvl="1"/>
            <a:r>
              <a:rPr lang="en-US" altLang="zh-CN" dirty="0" smtClean="0"/>
              <a:t>A short straddle involves selling calls and puts.</a:t>
            </a:r>
          </a:p>
          <a:p>
            <a:pPr lvl="1"/>
            <a:r>
              <a:rPr lang="en-US" altLang="zh-CN" dirty="0" smtClean="0"/>
              <a:t>A short straddle strategy is profitable when the underlying index remains relatively unchanged over the life of the straddle. </a:t>
            </a:r>
          </a:p>
          <a:p>
            <a:pPr lvl="1"/>
            <a:r>
              <a:rPr lang="en-US" altLang="zh-CN" dirty="0" smtClean="0"/>
              <a:t>The calls and puts expire worthless, leaving the option writer with the option premium.</a:t>
            </a:r>
          </a:p>
          <a:p>
            <a:endParaRPr lang="zh-CN" altLang="en-US" dirty="0"/>
          </a:p>
        </p:txBody>
      </p:sp>
    </p:spTree>
    <p:extLst>
      <p:ext uri="{BB962C8B-B14F-4D97-AF65-F5344CB8AC3E}">
        <p14:creationId xmlns:p14="http://schemas.microsoft.com/office/powerpoint/2010/main" val="1371691149"/>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Barings</a:t>
            </a:r>
            <a:r>
              <a:rPr lang="zh-CN" altLang="en-US" smtClean="0"/>
              <a:t> </a:t>
            </a:r>
            <a:r>
              <a:rPr lang="en-US" altLang="zh-CN" smtClean="0"/>
              <a:t>Bank</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smtClean="0"/>
              <a:t>Nick </a:t>
            </a:r>
            <a:r>
              <a:rPr lang="en-US" altLang="zh-CN" dirty="0" err="1" smtClean="0"/>
              <a:t>Leeson's</a:t>
            </a:r>
            <a:r>
              <a:rPr lang="en-US" altLang="zh-CN" dirty="0" smtClean="0"/>
              <a:t> </a:t>
            </a:r>
            <a:r>
              <a:rPr lang="en-US" altLang="zh-CN" dirty="0" smtClean="0"/>
              <a:t>strategy 2</a:t>
            </a:r>
            <a:endParaRPr lang="zh-CN" altLang="en-US" dirty="0" smtClean="0"/>
          </a:p>
          <a:p>
            <a:pPr lvl="1"/>
            <a:r>
              <a:rPr lang="en-US" altLang="zh-CN" dirty="0" smtClean="0"/>
              <a:t>The Nikkei 225 futures arbitrage involves taking a long futures position on one exchange where the price is relatively low and hedging with an offsetting  short position on another exchange where the price is relatively higher.</a:t>
            </a:r>
          </a:p>
          <a:p>
            <a:pPr lvl="1"/>
            <a:r>
              <a:rPr lang="en-US" altLang="zh-CN" dirty="0" smtClean="0"/>
              <a:t>In order to recover the losses, Leeson abandoned the hedged position in the long-short futures arbitrage strategy and initiated a speculative long-long futures positions on both exchanges in hope of profiting from an increase in the Nikkei 225 which finally led to much more loss.</a:t>
            </a:r>
          </a:p>
          <a:p>
            <a:pPr lvl="1"/>
            <a:r>
              <a:rPr lang="en-US" altLang="zh-CN" dirty="0" smtClean="0"/>
              <a:t>The Nikkei 225 plunged because the earthquake in Japan, then the huge losses were created. </a:t>
            </a:r>
          </a:p>
          <a:p>
            <a:endParaRPr lang="zh-CN" altLang="en-US" dirty="0"/>
          </a:p>
        </p:txBody>
      </p:sp>
    </p:spTree>
    <p:extLst>
      <p:ext uri="{BB962C8B-B14F-4D97-AF65-F5344CB8AC3E}">
        <p14:creationId xmlns:p14="http://schemas.microsoft.com/office/powerpoint/2010/main" val="2980216908"/>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Barings</a:t>
            </a:r>
            <a:r>
              <a:rPr lang="zh-CN" altLang="en-US" smtClean="0"/>
              <a:t> </a:t>
            </a:r>
            <a:r>
              <a:rPr lang="en-US" altLang="zh-CN" smtClean="0"/>
              <a:t>Bank</a:t>
            </a:r>
            <a:endParaRPr lang="zh-CN" altLang="en-US" dirty="0"/>
          </a:p>
        </p:txBody>
      </p:sp>
      <p:sp>
        <p:nvSpPr>
          <p:cNvPr id="3" name="文本占位符 2"/>
          <p:cNvSpPr>
            <a:spLocks noGrp="1"/>
          </p:cNvSpPr>
          <p:nvPr>
            <p:ph type="body" sz="quarter" idx="10"/>
          </p:nvPr>
        </p:nvSpPr>
        <p:spPr/>
        <p:txBody>
          <a:bodyPr/>
          <a:lstStyle/>
          <a:p>
            <a:r>
              <a:rPr lang="en-US" altLang="zh-CN" dirty="0" smtClean="0"/>
              <a:t>Main Reasons</a:t>
            </a:r>
          </a:p>
          <a:p>
            <a:pPr lvl="1"/>
            <a:r>
              <a:rPr lang="en-US" altLang="zh-CN" dirty="0" smtClean="0"/>
              <a:t>Allowing Leeson to function as a head of trading and the back office at an isolated branch.</a:t>
            </a:r>
          </a:p>
          <a:p>
            <a:pPr lvl="1"/>
            <a:r>
              <a:rPr lang="en-US" altLang="zh-CN" dirty="0" smtClean="0"/>
              <a:t>Leeson was able to decide the trade strategy as the floor manager.</a:t>
            </a:r>
          </a:p>
          <a:p>
            <a:pPr lvl="1"/>
            <a:r>
              <a:rPr lang="en-US" altLang="zh-CN" dirty="0" smtClean="0"/>
              <a:t>Leeson was able to use the back-office influence to hide the losses, and book the profitable trade to the standard trading accounts, while booking the unprofitable trade to the old error account (Account 88888) to escape reporting to senior management.</a:t>
            </a:r>
          </a:p>
          <a:p>
            <a:endParaRPr lang="zh-CN" altLang="en-US" dirty="0"/>
          </a:p>
        </p:txBody>
      </p:sp>
    </p:spTree>
    <p:extLst>
      <p:ext uri="{BB962C8B-B14F-4D97-AF65-F5344CB8AC3E}">
        <p14:creationId xmlns:p14="http://schemas.microsoft.com/office/powerpoint/2010/main" val="157491736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Barings</a:t>
            </a:r>
            <a:r>
              <a:rPr lang="zh-CN" altLang="en-US" smtClean="0"/>
              <a:t> </a:t>
            </a:r>
            <a:r>
              <a:rPr lang="en-US" altLang="zh-CN" smtClean="0"/>
              <a:t>Bank</a:t>
            </a:r>
            <a:endParaRPr lang="zh-CN" altLang="en-US" dirty="0"/>
          </a:p>
        </p:txBody>
      </p:sp>
      <p:sp>
        <p:nvSpPr>
          <p:cNvPr id="3" name="文本占位符 2"/>
          <p:cNvSpPr>
            <a:spLocks noGrp="1"/>
          </p:cNvSpPr>
          <p:nvPr>
            <p:ph type="body" sz="quarter" idx="10"/>
          </p:nvPr>
        </p:nvSpPr>
        <p:spPr>
          <a:xfrm>
            <a:off x="393599" y="813469"/>
            <a:ext cx="11404800" cy="5730206"/>
          </a:xfrm>
        </p:spPr>
        <p:txBody>
          <a:bodyPr>
            <a:normAutofit fontScale="92500"/>
          </a:bodyPr>
          <a:lstStyle/>
          <a:p>
            <a:r>
              <a:rPr lang="en-US" altLang="zh-CN" dirty="0" smtClean="0"/>
              <a:t>The management failed to inquire how a low-risk trading strategy was supposedly generating such a large profit.</a:t>
            </a:r>
          </a:p>
          <a:p>
            <a:pPr lvl="1"/>
            <a:r>
              <a:rPr lang="en-US" altLang="zh-CN" dirty="0" smtClean="0"/>
              <a:t>The failure can be attributed to the very poor structuring of management information so that different risk control areas could be looking at reports that did not tie together. This made Leeson receive without question $354 million to meet margin calls from London office.</a:t>
            </a:r>
          </a:p>
          <a:p>
            <a:pPr lvl="1"/>
            <a:r>
              <a:rPr lang="en-US" altLang="zh-CN" dirty="0" smtClean="0"/>
              <a:t>Political power struggles and senior </a:t>
            </a:r>
            <a:r>
              <a:rPr lang="en-US" altLang="zh-CN" dirty="0" smtClean="0"/>
              <a:t>management's </a:t>
            </a:r>
            <a:r>
              <a:rPr lang="en-US" altLang="zh-CN" dirty="0" smtClean="0"/>
              <a:t>lack of understanding about </a:t>
            </a:r>
            <a:r>
              <a:rPr lang="en-US" altLang="zh-CN" dirty="0" smtClean="0"/>
              <a:t>Lesson's </a:t>
            </a:r>
            <a:r>
              <a:rPr lang="en-US" altLang="zh-CN" dirty="0" smtClean="0"/>
              <a:t>role eroded oversight and allowed trading losses to be hidden.</a:t>
            </a:r>
          </a:p>
          <a:p>
            <a:r>
              <a:rPr lang="en-US" altLang="zh-CN" dirty="0" smtClean="0"/>
              <a:t>Information provided to the credit risk area was not integrated with information provided to funding and showed no such credit extension.</a:t>
            </a:r>
            <a:endParaRPr lang="zh-CN" altLang="en-US" dirty="0" smtClean="0"/>
          </a:p>
        </p:txBody>
      </p:sp>
    </p:spTree>
    <p:extLst>
      <p:ext uri="{BB962C8B-B14F-4D97-AF65-F5344CB8AC3E}">
        <p14:creationId xmlns:p14="http://schemas.microsoft.com/office/powerpoint/2010/main" val="377552344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Barings</a:t>
            </a:r>
            <a:r>
              <a:rPr lang="zh-CN" altLang="en-US" smtClean="0"/>
              <a:t> </a:t>
            </a:r>
            <a:r>
              <a:rPr lang="en-US" altLang="zh-CN" smtClean="0"/>
              <a:t>Bank</a:t>
            </a:r>
            <a:endParaRPr lang="zh-CN" altLang="en-US" dirty="0"/>
          </a:p>
        </p:txBody>
      </p:sp>
      <p:sp>
        <p:nvSpPr>
          <p:cNvPr id="3" name="文本占位符 2"/>
          <p:cNvSpPr>
            <a:spLocks noGrp="1"/>
          </p:cNvSpPr>
          <p:nvPr>
            <p:ph type="body" sz="quarter" idx="10"/>
          </p:nvPr>
        </p:nvSpPr>
        <p:spPr/>
        <p:txBody>
          <a:bodyPr/>
          <a:lstStyle/>
          <a:p>
            <a:r>
              <a:rPr lang="en-US" altLang="zh-CN" dirty="0" err="1" smtClean="0"/>
              <a:t>Leeson's</a:t>
            </a:r>
            <a:r>
              <a:rPr lang="en-US" altLang="zh-CN" dirty="0" smtClean="0"/>
              <a:t> </a:t>
            </a:r>
            <a:r>
              <a:rPr lang="en-US" altLang="zh-CN" dirty="0" smtClean="0"/>
              <a:t>to be learned</a:t>
            </a:r>
          </a:p>
          <a:p>
            <a:pPr lvl="1"/>
            <a:r>
              <a:rPr lang="en-US" altLang="zh-CN" dirty="0" smtClean="0"/>
              <a:t>Absolute necessity of an independent trading back office.</a:t>
            </a:r>
          </a:p>
          <a:p>
            <a:pPr lvl="1"/>
            <a:r>
              <a:rPr lang="en-US" altLang="zh-CN" dirty="0" smtClean="0"/>
              <a:t>The need to make thorough inquiries about unexpected sources of profit (loss) and cash movements.</a:t>
            </a:r>
          </a:p>
          <a:p>
            <a:pPr lvl="1"/>
            <a:r>
              <a:rPr lang="en-US" altLang="zh-CN" dirty="0" smtClean="0"/>
              <a:t>The need to establish information, reporting, and control systems.</a:t>
            </a:r>
          </a:p>
          <a:p>
            <a:endParaRPr lang="zh-CN" altLang="en-US" dirty="0"/>
          </a:p>
        </p:txBody>
      </p:sp>
    </p:spTree>
    <p:extLst>
      <p:ext uri="{BB962C8B-B14F-4D97-AF65-F5344CB8AC3E}">
        <p14:creationId xmlns:p14="http://schemas.microsoft.com/office/powerpoint/2010/main" val="377552344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Allied Irish Bank</a:t>
            </a:r>
            <a:endParaRPr lang="zh-CN" altLang="en-US" dirty="0"/>
          </a:p>
        </p:txBody>
      </p:sp>
      <p:sp>
        <p:nvSpPr>
          <p:cNvPr id="3" name="文本占位符 2"/>
          <p:cNvSpPr>
            <a:spLocks noGrp="1"/>
          </p:cNvSpPr>
          <p:nvPr>
            <p:ph type="body" sz="quarter" idx="10"/>
          </p:nvPr>
        </p:nvSpPr>
        <p:spPr/>
        <p:txBody>
          <a:bodyPr/>
          <a:lstStyle/>
          <a:p>
            <a:r>
              <a:rPr lang="en-US" altLang="zh-CN" dirty="0" smtClean="0"/>
              <a:t>Incident</a:t>
            </a:r>
          </a:p>
          <a:p>
            <a:pPr lvl="1"/>
            <a:r>
              <a:rPr lang="en-US" altLang="zh-CN" dirty="0" smtClean="0"/>
              <a:t>John Rusnak, a currency option trader in charge of a very small trading book in </a:t>
            </a:r>
            <a:r>
              <a:rPr lang="en-US" altLang="zh-CN" dirty="0" smtClean="0"/>
              <a:t>AIB's </a:t>
            </a:r>
            <a:r>
              <a:rPr lang="en-US" altLang="zh-CN" dirty="0" smtClean="0"/>
              <a:t>subsidiary, entered into massive unauthorized trades during the period 1997 through 2002, ultimately resulting in $691 million in losses.</a:t>
            </a:r>
          </a:p>
          <a:p>
            <a:r>
              <a:rPr lang="en-US" altLang="zh-CN" dirty="0" smtClean="0"/>
              <a:t>Result</a:t>
            </a:r>
          </a:p>
          <a:p>
            <a:pPr lvl="1"/>
            <a:r>
              <a:rPr lang="en-US" altLang="zh-CN" dirty="0" smtClean="0"/>
              <a:t>This resulted in a major blow to </a:t>
            </a:r>
            <a:r>
              <a:rPr lang="en-US" altLang="zh-CN" dirty="0" smtClean="0"/>
              <a:t>AIB's </a:t>
            </a:r>
            <a:r>
              <a:rPr lang="en-US" altLang="zh-CN" dirty="0" smtClean="0"/>
              <a:t>reputation and stock price.</a:t>
            </a:r>
          </a:p>
          <a:p>
            <a:endParaRPr lang="zh-CN" altLang="en-US" dirty="0"/>
          </a:p>
        </p:txBody>
      </p:sp>
    </p:spTree>
    <p:extLst>
      <p:ext uri="{BB962C8B-B14F-4D97-AF65-F5344CB8AC3E}">
        <p14:creationId xmlns:p14="http://schemas.microsoft.com/office/powerpoint/2010/main" val="332468775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Allied </a:t>
            </a:r>
            <a:r>
              <a:rPr lang="en-US" altLang="zh-CN" dirty="0" smtClean="0"/>
              <a:t>Irish Bank</a:t>
            </a:r>
            <a:endParaRPr lang="zh-CN" altLang="en-US" dirty="0"/>
          </a:p>
        </p:txBody>
      </p:sp>
      <p:sp>
        <p:nvSpPr>
          <p:cNvPr id="3" name="文本占位符 2"/>
          <p:cNvSpPr>
            <a:spLocks noGrp="1"/>
          </p:cNvSpPr>
          <p:nvPr>
            <p:ph type="body" sz="quarter" idx="10"/>
          </p:nvPr>
        </p:nvSpPr>
        <p:spPr>
          <a:xfrm>
            <a:off x="393599" y="813469"/>
            <a:ext cx="11404800" cy="6044531"/>
          </a:xfrm>
        </p:spPr>
        <p:txBody>
          <a:bodyPr>
            <a:normAutofit fontScale="92500" lnSpcReduction="20000"/>
          </a:bodyPr>
          <a:lstStyle/>
          <a:p>
            <a:r>
              <a:rPr lang="en-US" altLang="zh-CN" dirty="0" smtClean="0"/>
              <a:t>Main Reasons</a:t>
            </a:r>
          </a:p>
          <a:p>
            <a:pPr lvl="1"/>
            <a:r>
              <a:rPr lang="en-US" altLang="zh-CN" dirty="0" smtClean="0"/>
              <a:t>Rusnak was able to hide the trading activities from management by creating imaginary trades to offset his real trades, making his trading positions appear small.</a:t>
            </a:r>
          </a:p>
          <a:p>
            <a:pPr lvl="1"/>
            <a:r>
              <a:rPr lang="en-US" altLang="zh-CN" dirty="0" smtClean="0"/>
              <a:t>He persuaded back-office personnel not</a:t>
            </a:r>
            <a:r>
              <a:rPr lang="zh-CN" altLang="en-US" dirty="0" smtClean="0"/>
              <a:t> </a:t>
            </a:r>
            <a:r>
              <a:rPr lang="en-US" altLang="zh-CN" dirty="0" smtClean="0"/>
              <a:t>to check these bogus trades.</a:t>
            </a:r>
            <a:endParaRPr lang="zh-CN" altLang="en-US" dirty="0" smtClean="0"/>
          </a:p>
          <a:p>
            <a:pPr lvl="1"/>
            <a:r>
              <a:rPr lang="en-US" altLang="zh-CN" dirty="0" smtClean="0"/>
              <a:t>He obtained cash to cover</a:t>
            </a:r>
            <a:r>
              <a:rPr lang="zh-CN" altLang="en-US" dirty="0" smtClean="0"/>
              <a:t> </a:t>
            </a:r>
            <a:r>
              <a:rPr lang="en-US" altLang="zh-CN" dirty="0" smtClean="0"/>
              <a:t>his losses by selling deep-in-the-money options, which</a:t>
            </a:r>
            <a:r>
              <a:rPr lang="zh-CN" altLang="en-US" dirty="0" smtClean="0"/>
              <a:t> </a:t>
            </a:r>
            <a:r>
              <a:rPr lang="en-US" altLang="zh-CN" dirty="0" smtClean="0"/>
              <a:t>provided cash up front.</a:t>
            </a:r>
          </a:p>
          <a:p>
            <a:pPr lvl="1"/>
            <a:r>
              <a:rPr lang="en-US" altLang="zh-CN" dirty="0" err="1" smtClean="0"/>
              <a:t>Rusnak's</a:t>
            </a:r>
            <a:r>
              <a:rPr lang="en-US" altLang="zh-CN" dirty="0" smtClean="0"/>
              <a:t>  </a:t>
            </a:r>
            <a:r>
              <a:rPr lang="en-US" altLang="zh-CN" dirty="0" smtClean="0"/>
              <a:t>bullying of operations personnel</a:t>
            </a:r>
            <a:r>
              <a:rPr lang="zh-CN" altLang="en-US" dirty="0" smtClean="0"/>
              <a:t> </a:t>
            </a:r>
            <a:r>
              <a:rPr lang="en-US" altLang="zh-CN" dirty="0" smtClean="0"/>
              <a:t>as part of a general culture of hostility toward control</a:t>
            </a:r>
            <a:r>
              <a:rPr lang="zh-CN" altLang="en-US" dirty="0" smtClean="0"/>
              <a:t> </a:t>
            </a:r>
            <a:r>
              <a:rPr lang="en-US" altLang="zh-CN" dirty="0" smtClean="0"/>
              <a:t>staff.</a:t>
            </a:r>
            <a:endParaRPr lang="zh-CN" altLang="en-US" dirty="0" smtClean="0"/>
          </a:p>
          <a:p>
            <a:pPr lvl="1"/>
            <a:r>
              <a:rPr lang="en-US" altLang="zh-CN" dirty="0" smtClean="0"/>
              <a:t>AIB's </a:t>
            </a:r>
            <a:r>
              <a:rPr lang="en-US" altLang="zh-CN" dirty="0" smtClean="0"/>
              <a:t>management was so inexperienced that failed to figure out </a:t>
            </a:r>
            <a:r>
              <a:rPr lang="en-US" altLang="zh-CN" dirty="0" err="1" smtClean="0"/>
              <a:t>Rusnak's</a:t>
            </a:r>
            <a:r>
              <a:rPr lang="en-US" altLang="zh-CN" dirty="0" smtClean="0"/>
              <a:t> </a:t>
            </a:r>
            <a:r>
              <a:rPr lang="en-US" altLang="zh-CN" dirty="0"/>
              <a:t>trading </a:t>
            </a:r>
            <a:r>
              <a:rPr lang="en-US" altLang="zh-CN" dirty="0" smtClean="0"/>
              <a:t>activates.</a:t>
            </a:r>
            <a:endParaRPr lang="zh-CN" altLang="en-US" dirty="0" smtClean="0"/>
          </a:p>
          <a:p>
            <a:pPr lvl="1"/>
            <a:r>
              <a:rPr lang="en-US" altLang="zh-CN" dirty="0" smtClean="0"/>
              <a:t>Rusnak</a:t>
            </a:r>
            <a:r>
              <a:rPr lang="zh-CN" altLang="en-US" dirty="0" smtClean="0"/>
              <a:t> </a:t>
            </a:r>
            <a:r>
              <a:rPr lang="en-US" altLang="zh-CN" dirty="0" smtClean="0"/>
              <a:t>was</a:t>
            </a:r>
            <a:r>
              <a:rPr lang="zh-CN" altLang="en-US" dirty="0" smtClean="0"/>
              <a:t> </a:t>
            </a:r>
            <a:r>
              <a:rPr lang="en-US" altLang="zh-CN" dirty="0" smtClean="0"/>
              <a:t>extremely</a:t>
            </a:r>
            <a:r>
              <a:rPr lang="zh-CN" altLang="en-US" dirty="0" smtClean="0"/>
              <a:t> </a:t>
            </a:r>
            <a:r>
              <a:rPr lang="en-US" altLang="zh-CN" dirty="0" smtClean="0"/>
              <a:t>modest</a:t>
            </a:r>
            <a:r>
              <a:rPr lang="zh-CN" altLang="en-US" dirty="0" smtClean="0"/>
              <a:t> </a:t>
            </a:r>
            <a:r>
              <a:rPr lang="en-US" altLang="zh-CN" dirty="0" smtClean="0"/>
              <a:t>in</a:t>
            </a:r>
            <a:r>
              <a:rPr lang="zh-CN" altLang="en-US" dirty="0" smtClean="0"/>
              <a:t> </a:t>
            </a:r>
            <a:r>
              <a:rPr lang="en-US" altLang="zh-CN" dirty="0" smtClean="0"/>
              <a:t>the</a:t>
            </a:r>
            <a:r>
              <a:rPr lang="zh-CN" altLang="en-US" dirty="0" smtClean="0"/>
              <a:t> </a:t>
            </a:r>
            <a:r>
              <a:rPr lang="en-US" altLang="zh-CN" dirty="0" smtClean="0"/>
              <a:t>amount</a:t>
            </a:r>
            <a:r>
              <a:rPr lang="zh-CN" altLang="en-US" dirty="0" smtClean="0"/>
              <a:t> </a:t>
            </a:r>
            <a:r>
              <a:rPr lang="en-US" altLang="zh-CN" dirty="0" smtClean="0"/>
              <a:t>of</a:t>
            </a:r>
            <a:r>
              <a:rPr lang="zh-CN" altLang="en-US" dirty="0" smtClean="0"/>
              <a:t> </a:t>
            </a:r>
            <a:r>
              <a:rPr lang="en-US" altLang="zh-CN" dirty="0" smtClean="0"/>
              <a:t>false</a:t>
            </a:r>
            <a:r>
              <a:rPr lang="zh-CN" altLang="en-US" dirty="0" smtClean="0"/>
              <a:t> </a:t>
            </a:r>
            <a:r>
              <a:rPr lang="en-US" altLang="zh-CN" dirty="0" smtClean="0"/>
              <a:t>profit</a:t>
            </a:r>
            <a:r>
              <a:rPr lang="zh-CN" altLang="en-US" dirty="0" smtClean="0"/>
              <a:t> </a:t>
            </a:r>
            <a:r>
              <a:rPr lang="en-US" altLang="zh-CN" dirty="0" smtClean="0"/>
              <a:t>he</a:t>
            </a:r>
            <a:r>
              <a:rPr lang="zh-CN" altLang="en-US" dirty="0" smtClean="0"/>
              <a:t> </a:t>
            </a:r>
            <a:r>
              <a:rPr lang="en-US" altLang="zh-CN" dirty="0" smtClean="0"/>
              <a:t>claimed.</a:t>
            </a:r>
            <a:endParaRPr lang="zh-CN" altLang="en-US" dirty="0" smtClean="0"/>
          </a:p>
          <a:p>
            <a:pPr lvl="1"/>
            <a:r>
              <a:rPr lang="en-US" altLang="zh-CN" dirty="0" smtClean="0"/>
              <a:t>He</a:t>
            </a:r>
            <a:r>
              <a:rPr lang="zh-CN" altLang="en-US" dirty="0" smtClean="0"/>
              <a:t> </a:t>
            </a:r>
            <a:r>
              <a:rPr lang="en-US" altLang="zh-CN" dirty="0" smtClean="0"/>
              <a:t>chose</a:t>
            </a:r>
            <a:r>
              <a:rPr lang="zh-CN" altLang="en-US" dirty="0" smtClean="0"/>
              <a:t> </a:t>
            </a:r>
            <a:r>
              <a:rPr lang="en-US" altLang="zh-CN" dirty="0" smtClean="0"/>
              <a:t>counterparties</a:t>
            </a:r>
            <a:r>
              <a:rPr lang="zh-CN" altLang="en-US" dirty="0" smtClean="0"/>
              <a:t> </a:t>
            </a:r>
            <a:r>
              <a:rPr lang="en-US" altLang="zh-CN" dirty="0" smtClean="0"/>
              <a:t>in</a:t>
            </a:r>
            <a:r>
              <a:rPr lang="zh-CN" altLang="en-US" dirty="0" smtClean="0"/>
              <a:t> </a:t>
            </a:r>
            <a:r>
              <a:rPr lang="en-US" altLang="zh-CN" dirty="0" smtClean="0"/>
              <a:t>the</a:t>
            </a:r>
            <a:r>
              <a:rPr lang="zh-CN" altLang="en-US" dirty="0" smtClean="0"/>
              <a:t> </a:t>
            </a:r>
            <a:r>
              <a:rPr lang="en-US" altLang="zh-CN" dirty="0" smtClean="0"/>
              <a:t>Asian</a:t>
            </a:r>
            <a:r>
              <a:rPr lang="zh-CN" altLang="en-US" dirty="0" smtClean="0"/>
              <a:t> </a:t>
            </a:r>
            <a:r>
              <a:rPr lang="en-US" altLang="zh-CN" dirty="0" smtClean="0"/>
              <a:t>time</a:t>
            </a:r>
            <a:r>
              <a:rPr lang="zh-CN" altLang="en-US" dirty="0" smtClean="0"/>
              <a:t> </a:t>
            </a:r>
            <a:r>
              <a:rPr lang="en-US" altLang="zh-CN" dirty="0" smtClean="0"/>
              <a:t>zone.</a:t>
            </a:r>
            <a:endParaRPr lang="zh-CN" altLang="en-US" dirty="0" smtClean="0"/>
          </a:p>
          <a:p>
            <a:pPr lvl="1"/>
            <a:r>
              <a:rPr lang="en-US" altLang="zh-CN" dirty="0" smtClean="0"/>
              <a:t>He</a:t>
            </a:r>
            <a:r>
              <a:rPr lang="zh-CN" altLang="en-US" dirty="0" smtClean="0"/>
              <a:t> </a:t>
            </a:r>
            <a:r>
              <a:rPr lang="en-US" altLang="zh-CN" dirty="0" smtClean="0"/>
              <a:t>relied</a:t>
            </a:r>
            <a:r>
              <a:rPr lang="zh-CN" altLang="en-US" dirty="0" smtClean="0"/>
              <a:t> </a:t>
            </a:r>
            <a:r>
              <a:rPr lang="en-US" altLang="zh-CN" dirty="0" smtClean="0"/>
              <a:t>on</a:t>
            </a:r>
            <a:r>
              <a:rPr lang="zh-CN" altLang="en-US" dirty="0" smtClean="0"/>
              <a:t> </a:t>
            </a:r>
            <a:r>
              <a:rPr lang="en-US" altLang="zh-CN" dirty="0" smtClean="0"/>
              <a:t>arguments</a:t>
            </a:r>
            <a:r>
              <a:rPr lang="zh-CN" altLang="en-US" dirty="0" smtClean="0"/>
              <a:t> </a:t>
            </a:r>
            <a:r>
              <a:rPr lang="en-US" altLang="zh-CN" dirty="0" smtClean="0"/>
              <a:t>that</a:t>
            </a:r>
            <a:r>
              <a:rPr lang="zh-CN" altLang="en-US" dirty="0" smtClean="0"/>
              <a:t> </a:t>
            </a:r>
            <a:r>
              <a:rPr lang="en-US" altLang="zh-CN" dirty="0" smtClean="0"/>
              <a:t>costs</a:t>
            </a:r>
            <a:r>
              <a:rPr lang="zh-CN" altLang="en-US" dirty="0" smtClean="0"/>
              <a:t> </a:t>
            </a:r>
            <a:r>
              <a:rPr lang="en-US" altLang="zh-CN" dirty="0" smtClean="0"/>
              <a:t>should</a:t>
            </a:r>
            <a:r>
              <a:rPr lang="zh-CN" altLang="en-US" dirty="0" smtClean="0"/>
              <a:t> </a:t>
            </a:r>
            <a:r>
              <a:rPr lang="en-US" altLang="zh-CN" dirty="0" smtClean="0"/>
              <a:t>be</a:t>
            </a:r>
            <a:r>
              <a:rPr lang="zh-CN" altLang="en-US" dirty="0" smtClean="0"/>
              <a:t> </a:t>
            </a:r>
            <a:r>
              <a:rPr lang="en-US" altLang="zh-CN" dirty="0" smtClean="0"/>
              <a:t>cut</a:t>
            </a:r>
            <a:r>
              <a:rPr lang="zh-CN" altLang="en-US" dirty="0" smtClean="0"/>
              <a:t> </a:t>
            </a:r>
            <a:r>
              <a:rPr lang="en-US" altLang="zh-CN" dirty="0" smtClean="0"/>
              <a:t>be</a:t>
            </a:r>
            <a:r>
              <a:rPr lang="zh-CN" altLang="en-US" dirty="0" smtClean="0"/>
              <a:t> </a:t>
            </a:r>
            <a:r>
              <a:rPr lang="en-US" altLang="zh-CN" dirty="0" smtClean="0"/>
              <a:t>weakening</a:t>
            </a:r>
            <a:r>
              <a:rPr lang="zh-CN" altLang="en-US" dirty="0" smtClean="0"/>
              <a:t> </a:t>
            </a:r>
            <a:r>
              <a:rPr lang="en-US" altLang="zh-CN" dirty="0" smtClean="0"/>
              <a:t>or</a:t>
            </a:r>
            <a:r>
              <a:rPr lang="zh-CN" altLang="en-US" dirty="0" smtClean="0"/>
              <a:t> </a:t>
            </a:r>
            <a:r>
              <a:rPr lang="en-US" altLang="zh-CN" dirty="0" smtClean="0"/>
              <a:t>eliminating</a:t>
            </a:r>
            <a:r>
              <a:rPr lang="zh-CN" altLang="en-US" dirty="0" smtClean="0"/>
              <a:t> </a:t>
            </a:r>
            <a:r>
              <a:rPr lang="en-US" altLang="zh-CN" dirty="0" smtClean="0"/>
              <a:t>key</a:t>
            </a:r>
            <a:r>
              <a:rPr lang="zh-CN" altLang="en-US" dirty="0" smtClean="0"/>
              <a:t> </a:t>
            </a:r>
            <a:r>
              <a:rPr lang="en-US" altLang="zh-CN" dirty="0" smtClean="0"/>
              <a:t>controls.</a:t>
            </a:r>
            <a:endParaRPr lang="zh-CN" altLang="en-US" dirty="0" smtClean="0"/>
          </a:p>
          <a:p>
            <a:endParaRPr lang="zh-CN" altLang="en-US" dirty="0"/>
          </a:p>
        </p:txBody>
      </p:sp>
    </p:spTree>
    <p:extLst>
      <p:ext uri="{BB962C8B-B14F-4D97-AF65-F5344CB8AC3E}">
        <p14:creationId xmlns:p14="http://schemas.microsoft.com/office/powerpoint/2010/main" val="3303145878"/>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Allied </a:t>
            </a:r>
            <a:r>
              <a:rPr lang="en-US" altLang="zh-CN" dirty="0" smtClean="0"/>
              <a:t>Irish Bank</a:t>
            </a:r>
            <a:endParaRPr lang="zh-CN" altLang="en-US" dirty="0"/>
          </a:p>
        </p:txBody>
      </p:sp>
      <p:sp>
        <p:nvSpPr>
          <p:cNvPr id="3" name="文本占位符 2"/>
          <p:cNvSpPr>
            <a:spLocks noGrp="1"/>
          </p:cNvSpPr>
          <p:nvPr>
            <p:ph type="body" sz="quarter" idx="10"/>
          </p:nvPr>
        </p:nvSpPr>
        <p:spPr/>
        <p:txBody>
          <a:bodyPr/>
          <a:lstStyle/>
          <a:p>
            <a:r>
              <a:rPr lang="en-US" altLang="zh-CN" dirty="0" smtClean="0"/>
              <a:t>Lessons to be learned</a:t>
            </a:r>
          </a:p>
          <a:p>
            <a:pPr lvl="1"/>
            <a:r>
              <a:rPr lang="en-US" altLang="zh-CN" dirty="0" smtClean="0"/>
              <a:t>This case is similar to Barings. But Rusnak had no</a:t>
            </a:r>
            <a:r>
              <a:rPr lang="zh-CN" altLang="en-US" dirty="0" smtClean="0"/>
              <a:t> </a:t>
            </a:r>
            <a:r>
              <a:rPr lang="en-US" altLang="zh-CN" dirty="0" smtClean="0"/>
              <a:t>dual role.</a:t>
            </a:r>
          </a:p>
          <a:p>
            <a:pPr lvl="1"/>
            <a:r>
              <a:rPr lang="en-US" altLang="zh-CN" dirty="0" smtClean="0"/>
              <a:t>Avoid</a:t>
            </a:r>
            <a:r>
              <a:rPr lang="zh-CN" altLang="en-US" dirty="0" smtClean="0"/>
              <a:t> </a:t>
            </a:r>
            <a:r>
              <a:rPr lang="en-US" altLang="zh-CN" dirty="0" smtClean="0"/>
              <a:t>engaging</a:t>
            </a:r>
            <a:r>
              <a:rPr lang="zh-CN" altLang="en-US" dirty="0" smtClean="0"/>
              <a:t> </a:t>
            </a:r>
            <a:r>
              <a:rPr lang="en-US" altLang="zh-CN" dirty="0" smtClean="0"/>
              <a:t>in</a:t>
            </a:r>
            <a:r>
              <a:rPr lang="zh-CN" altLang="en-US" dirty="0" smtClean="0"/>
              <a:t> </a:t>
            </a:r>
            <a:r>
              <a:rPr lang="en-US" altLang="zh-CN" dirty="0" smtClean="0"/>
              <a:t>small</a:t>
            </a:r>
            <a:r>
              <a:rPr lang="zh-CN" altLang="en-US" dirty="0" smtClean="0"/>
              <a:t> </a:t>
            </a:r>
            <a:r>
              <a:rPr lang="en-US" altLang="zh-CN" dirty="0" smtClean="0"/>
              <a:t>ventures</a:t>
            </a:r>
            <a:r>
              <a:rPr lang="zh-CN" altLang="en-US" dirty="0" smtClean="0"/>
              <a:t> </a:t>
            </a:r>
            <a:r>
              <a:rPr lang="en-US" altLang="zh-CN" dirty="0" smtClean="0"/>
              <a:t>in</a:t>
            </a:r>
            <a:r>
              <a:rPr lang="zh-CN" altLang="en-US" dirty="0" smtClean="0"/>
              <a:t> </a:t>
            </a:r>
            <a:r>
              <a:rPr lang="en-US" altLang="zh-CN" dirty="0" smtClean="0"/>
              <a:t>which</a:t>
            </a:r>
            <a:r>
              <a:rPr lang="zh-CN" altLang="en-US" dirty="0" smtClean="0"/>
              <a:t> </a:t>
            </a:r>
            <a:r>
              <a:rPr lang="en-US" altLang="zh-CN" dirty="0" smtClean="0"/>
              <a:t>the</a:t>
            </a:r>
            <a:r>
              <a:rPr lang="zh-CN" altLang="en-US" dirty="0" smtClean="0"/>
              <a:t> </a:t>
            </a:r>
            <a:r>
              <a:rPr lang="en-US" altLang="zh-CN" dirty="0" smtClean="0"/>
              <a:t>firm</a:t>
            </a:r>
            <a:r>
              <a:rPr lang="zh-CN" altLang="en-US" dirty="0" smtClean="0"/>
              <a:t> </a:t>
            </a:r>
            <a:r>
              <a:rPr lang="en-US" altLang="zh-CN" dirty="0" smtClean="0"/>
              <a:t>lacks</a:t>
            </a:r>
            <a:r>
              <a:rPr lang="zh-CN" altLang="en-US" dirty="0" smtClean="0"/>
              <a:t> </a:t>
            </a:r>
            <a:r>
              <a:rPr lang="en-US" altLang="zh-CN" dirty="0" smtClean="0"/>
              <a:t>any</a:t>
            </a:r>
            <a:r>
              <a:rPr lang="zh-CN" altLang="en-US" dirty="0" smtClean="0"/>
              <a:t> </a:t>
            </a:r>
            <a:r>
              <a:rPr lang="en-US" altLang="zh-CN" dirty="0" smtClean="0"/>
              <a:t>depth</a:t>
            </a:r>
            <a:r>
              <a:rPr lang="zh-CN" altLang="en-US" dirty="0" smtClean="0"/>
              <a:t> </a:t>
            </a:r>
            <a:r>
              <a:rPr lang="en-US" altLang="zh-CN" dirty="0" smtClean="0"/>
              <a:t>of</a:t>
            </a:r>
            <a:r>
              <a:rPr lang="zh-CN" altLang="en-US" dirty="0" smtClean="0"/>
              <a:t> </a:t>
            </a:r>
            <a:r>
              <a:rPr lang="en-US" altLang="zh-CN" dirty="0" smtClean="0"/>
              <a:t>expertise.</a:t>
            </a:r>
          </a:p>
          <a:p>
            <a:pPr lvl="1"/>
            <a:r>
              <a:rPr lang="en-US" altLang="zh-CN" dirty="0" smtClean="0"/>
              <a:t>Risk management architecture is crucial.</a:t>
            </a:r>
          </a:p>
          <a:p>
            <a:pPr lvl="1"/>
            <a:r>
              <a:rPr lang="en-US" altLang="zh-CN" dirty="0" smtClean="0"/>
              <a:t>Relationship between parent and overseas units needs to be clarified.</a:t>
            </a:r>
          </a:p>
          <a:p>
            <a:pPr lvl="1"/>
            <a:r>
              <a:rPr lang="en-US" altLang="zh-CN" dirty="0" smtClean="0"/>
              <a:t>Strong and enforceable back-office controls are essential.</a:t>
            </a:r>
            <a:endParaRPr lang="zh-CN" altLang="en-US" dirty="0"/>
          </a:p>
        </p:txBody>
      </p:sp>
    </p:spTree>
    <p:extLst>
      <p:ext uri="{BB962C8B-B14F-4D97-AF65-F5344CB8AC3E}">
        <p14:creationId xmlns:p14="http://schemas.microsoft.com/office/powerpoint/2010/main" val="2304247700"/>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 Union </a:t>
            </a:r>
            <a:r>
              <a:rPr lang="en-US" altLang="zh-CN" dirty="0" smtClean="0"/>
              <a:t>Bank of Switzerland </a:t>
            </a:r>
            <a:endParaRPr lang="zh-CN" altLang="en-US" dirty="0"/>
          </a:p>
        </p:txBody>
      </p:sp>
      <p:sp>
        <p:nvSpPr>
          <p:cNvPr id="3" name="文本占位符 2"/>
          <p:cNvSpPr>
            <a:spLocks noGrp="1"/>
          </p:cNvSpPr>
          <p:nvPr>
            <p:ph type="body" sz="quarter" idx="10"/>
          </p:nvPr>
        </p:nvSpPr>
        <p:spPr/>
        <p:txBody>
          <a:bodyPr/>
          <a:lstStyle/>
          <a:p>
            <a:r>
              <a:rPr lang="en-US" altLang="zh-CN" smtClean="0"/>
              <a:t>Incident</a:t>
            </a:r>
          </a:p>
          <a:p>
            <a:pPr lvl="1"/>
            <a:r>
              <a:rPr lang="en-US" altLang="zh-CN" smtClean="0"/>
              <a:t>In 1997, UBS lost $400 - $700 million in equity derivatives.</a:t>
            </a:r>
            <a:endParaRPr lang="zh-CN" altLang="en-US" smtClean="0"/>
          </a:p>
          <a:p>
            <a:pPr lvl="1"/>
            <a:r>
              <a:rPr lang="en-US" altLang="zh-CN" smtClean="0"/>
              <a:t>In 1998, UBS lost $700 million due to a large position in Long Term Capital Management (LTCM). </a:t>
            </a:r>
          </a:p>
          <a:p>
            <a:pPr lvl="1"/>
            <a:r>
              <a:rPr lang="en-US" altLang="zh-CN" smtClean="0"/>
              <a:t>The 1997 losses force UBS into a merger on unfavorable terms with Swiss Bank Corp,</a:t>
            </a:r>
            <a:r>
              <a:rPr lang="zh-CN" altLang="en-US" smtClean="0"/>
              <a:t> </a:t>
            </a:r>
            <a:r>
              <a:rPr lang="en-US" altLang="zh-CN" smtClean="0"/>
              <a:t>and</a:t>
            </a:r>
            <a:r>
              <a:rPr lang="zh-CN" altLang="en-US" smtClean="0"/>
              <a:t> </a:t>
            </a:r>
            <a:r>
              <a:rPr lang="en-US" altLang="zh-CN" smtClean="0"/>
              <a:t>the 1998 losses occurred after the merger.</a:t>
            </a:r>
          </a:p>
          <a:p>
            <a:endParaRPr lang="zh-CN" altLang="en-US" dirty="0"/>
          </a:p>
        </p:txBody>
      </p:sp>
    </p:spTree>
    <p:extLst>
      <p:ext uri="{BB962C8B-B14F-4D97-AF65-F5344CB8AC3E}">
        <p14:creationId xmlns:p14="http://schemas.microsoft.com/office/powerpoint/2010/main" val="173404634"/>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Union </a:t>
            </a:r>
            <a:r>
              <a:rPr lang="en-US" altLang="zh-CN" dirty="0" smtClean="0"/>
              <a:t>Bank of Switzerland </a:t>
            </a:r>
            <a:endParaRPr lang="zh-CN" altLang="en-US" dirty="0"/>
          </a:p>
        </p:txBody>
      </p:sp>
      <p:sp>
        <p:nvSpPr>
          <p:cNvPr id="3" name="文本占位符 2"/>
          <p:cNvSpPr>
            <a:spLocks noGrp="1"/>
          </p:cNvSpPr>
          <p:nvPr>
            <p:ph type="body" sz="quarter" idx="10"/>
          </p:nvPr>
        </p:nvSpPr>
        <p:spPr/>
        <p:txBody>
          <a:bodyPr/>
          <a:lstStyle/>
          <a:p>
            <a:r>
              <a:rPr lang="en-US" altLang="zh-CN" smtClean="0"/>
              <a:t>Main Reasons</a:t>
            </a:r>
            <a:endParaRPr lang="zh-CN" altLang="en-US" smtClean="0"/>
          </a:p>
          <a:p>
            <a:pPr lvl="1"/>
            <a:r>
              <a:rPr lang="en-US" altLang="zh-CN" smtClean="0"/>
              <a:t>Less is known about this disaster than the others.</a:t>
            </a:r>
          </a:p>
          <a:p>
            <a:pPr lvl="1"/>
            <a:r>
              <a:rPr lang="en-US" altLang="zh-CN" smtClean="0"/>
              <a:t>The equity derivatives business was run without the degree of management oversight that would normally be expected in a firm of the size and sophistication of UBS.</a:t>
            </a:r>
            <a:endParaRPr lang="zh-CN" altLang="en-US" smtClean="0"/>
          </a:p>
          <a:p>
            <a:pPr lvl="1"/>
            <a:r>
              <a:rPr lang="en-US" altLang="zh-CN" smtClean="0"/>
              <a:t>The senior risk manager authority for the department doubled as the head of quantitative analytics.</a:t>
            </a:r>
            <a:endParaRPr lang="zh-CN" altLang="en-US" smtClean="0"/>
          </a:p>
          <a:p>
            <a:pPr lvl="1"/>
            <a:r>
              <a:rPr lang="en-US" altLang="zh-CN" smtClean="0"/>
              <a:t>He</a:t>
            </a:r>
            <a:r>
              <a:rPr lang="zh-CN" altLang="en-US" smtClean="0"/>
              <a:t> </a:t>
            </a:r>
            <a:r>
              <a:rPr lang="en-US" altLang="zh-CN" smtClean="0"/>
              <a:t>was</a:t>
            </a:r>
            <a:r>
              <a:rPr lang="zh-CN" altLang="en-US" smtClean="0"/>
              <a:t> </a:t>
            </a:r>
            <a:r>
              <a:rPr lang="en-US" altLang="zh-CN" smtClean="0"/>
              <a:t>contributed to business decisions for which he had review responsibility and his compensation was tied to trading results.</a:t>
            </a:r>
            <a:endParaRPr lang="en-US" altLang="zh-CN" dirty="0"/>
          </a:p>
        </p:txBody>
      </p:sp>
    </p:spTree>
    <p:extLst>
      <p:ext uri="{BB962C8B-B14F-4D97-AF65-F5344CB8AC3E}">
        <p14:creationId xmlns:p14="http://schemas.microsoft.com/office/powerpoint/2010/main" val="84942338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 Union </a:t>
            </a:r>
            <a:r>
              <a:rPr lang="en-US" altLang="zh-CN" dirty="0" smtClean="0"/>
              <a:t>Bank of Switzerland </a:t>
            </a:r>
            <a:endParaRPr lang="zh-CN" altLang="en-US" dirty="0"/>
          </a:p>
        </p:txBody>
      </p:sp>
      <p:sp>
        <p:nvSpPr>
          <p:cNvPr id="3" name="文本占位符 2"/>
          <p:cNvSpPr>
            <a:spLocks noGrp="1"/>
          </p:cNvSpPr>
          <p:nvPr>
            <p:ph type="body" sz="quarter" idx="10"/>
          </p:nvPr>
        </p:nvSpPr>
        <p:spPr/>
        <p:txBody>
          <a:bodyPr/>
          <a:lstStyle/>
          <a:p>
            <a:r>
              <a:rPr lang="en-US" altLang="zh-CN" smtClean="0"/>
              <a:t>The 1997 equity derivatives losses appear to have been due to the following four factors: </a:t>
            </a:r>
          </a:p>
          <a:p>
            <a:pPr lvl="1"/>
            <a:r>
              <a:rPr lang="en-US" altLang="zh-CN" smtClean="0"/>
              <a:t>A change in British tax laws, which impacted the value of some long-dated stock options.</a:t>
            </a:r>
          </a:p>
          <a:p>
            <a:pPr lvl="1"/>
            <a:r>
              <a:rPr lang="en-US" altLang="zh-CN" smtClean="0"/>
              <a:t>A large position in Japanese bank warrants, that was inadequately hedged. </a:t>
            </a:r>
          </a:p>
          <a:p>
            <a:pPr lvl="1"/>
            <a:r>
              <a:rPr lang="en-US" altLang="zh-CN" smtClean="0"/>
              <a:t>An overly aggressive valuation of long-dated options on equity baskets that utilized atypical correlation assumptions.</a:t>
            </a:r>
          </a:p>
          <a:p>
            <a:pPr lvl="1"/>
            <a:r>
              <a:rPr lang="en-US" altLang="zh-CN" smtClean="0"/>
              <a:t>Losses on other long-dated basked options, perhaps due to model risk. </a:t>
            </a:r>
            <a:endParaRPr lang="en-US" altLang="zh-CN" dirty="0"/>
          </a:p>
        </p:txBody>
      </p:sp>
    </p:spTree>
    <p:extLst>
      <p:ext uri="{BB962C8B-B14F-4D97-AF65-F5344CB8AC3E}">
        <p14:creationId xmlns:p14="http://schemas.microsoft.com/office/powerpoint/2010/main" val="4170702511"/>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a:t>
            </a:r>
            <a:r>
              <a:rPr lang="en-US" altLang="zh-CN" dirty="0" err="1" smtClean="0"/>
              <a:t>Société</a:t>
            </a:r>
            <a:r>
              <a:rPr lang="en-US" altLang="zh-CN" dirty="0" smtClean="0"/>
              <a:t> </a:t>
            </a:r>
            <a:r>
              <a:rPr lang="en-US" altLang="zh-CN" dirty="0" err="1" smtClean="0"/>
              <a:t>Générale</a:t>
            </a:r>
            <a:endParaRPr lang="zh-CN" altLang="en-US" dirty="0"/>
          </a:p>
        </p:txBody>
      </p:sp>
      <p:sp>
        <p:nvSpPr>
          <p:cNvPr id="3" name="文本占位符 2"/>
          <p:cNvSpPr>
            <a:spLocks noGrp="1"/>
          </p:cNvSpPr>
          <p:nvPr>
            <p:ph type="body" sz="quarter" idx="10"/>
          </p:nvPr>
        </p:nvSpPr>
        <p:spPr/>
        <p:txBody>
          <a:bodyPr/>
          <a:lstStyle/>
          <a:p>
            <a:r>
              <a:rPr lang="en-US" altLang="zh-CN" smtClean="0"/>
              <a:t>Incident</a:t>
            </a:r>
          </a:p>
          <a:p>
            <a:pPr lvl="1"/>
            <a:r>
              <a:rPr lang="en-US" altLang="zh-CN" smtClean="0"/>
              <a:t>In January 2008, Société Générale reported trading losses of $7.1 billion that the firm attributed to unauthorized activity by a junior trader, Jerome Kerviel. </a:t>
            </a:r>
          </a:p>
          <a:p>
            <a:r>
              <a:rPr lang="en-US" altLang="zh-CN" smtClean="0"/>
              <a:t>Result</a:t>
            </a:r>
          </a:p>
          <a:p>
            <a:pPr lvl="1"/>
            <a:r>
              <a:rPr lang="en-US" altLang="zh-CN" smtClean="0"/>
              <a:t>The large loss severely damaged Société Générale reputation and required it to raise a large amount of new capital.</a:t>
            </a:r>
          </a:p>
          <a:p>
            <a:endParaRPr lang="zh-CN" altLang="en-US" dirty="0"/>
          </a:p>
        </p:txBody>
      </p:sp>
    </p:spTree>
    <p:extLst>
      <p:ext uri="{BB962C8B-B14F-4D97-AF65-F5344CB8AC3E}">
        <p14:creationId xmlns:p14="http://schemas.microsoft.com/office/powerpoint/2010/main" val="3378038748"/>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smtClean="0"/>
              <a:t>Générale</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err="1" smtClean="0"/>
              <a:t>Jérôme</a:t>
            </a:r>
            <a:r>
              <a:rPr lang="en-US" altLang="zh-CN" dirty="0" smtClean="0"/>
              <a:t> </a:t>
            </a:r>
            <a:r>
              <a:rPr lang="en-US" altLang="zh-CN" dirty="0" err="1" smtClean="0"/>
              <a:t>Kerviel's</a:t>
            </a:r>
            <a:r>
              <a:rPr lang="en-US" altLang="zh-CN" dirty="0" smtClean="0"/>
              <a:t> </a:t>
            </a:r>
            <a:r>
              <a:rPr lang="en-US" altLang="zh-CN" dirty="0" smtClean="0"/>
              <a:t>strategy</a:t>
            </a:r>
          </a:p>
          <a:p>
            <a:pPr lvl="1"/>
            <a:r>
              <a:rPr lang="en-US" altLang="zh-CN" dirty="0" err="1" smtClean="0"/>
              <a:t>Kerviel</a:t>
            </a:r>
            <a:r>
              <a:rPr lang="en-US" altLang="zh-CN" dirty="0" smtClean="0"/>
              <a:t> took very large unauthorized positions in equities and exchange-traded futures. His primary method for concealing these unauthorized positions was to enter fictitious transactions that offset the risk and P&amp;L of his true trades. </a:t>
            </a:r>
          </a:p>
          <a:p>
            <a:pPr lvl="1"/>
            <a:r>
              <a:rPr lang="en-US" altLang="zh-CN" dirty="0" smtClean="0"/>
              <a:t>The fictitious nature of these transactions was hidden mostly by creating transactions with forward start dates and then, relying on his knowledge of when control personnel would seek confirmation of a forward-dated trade, canceling the trade prior to the date that confirmation would be sought (</a:t>
            </a:r>
            <a:r>
              <a:rPr lang="en-US" altLang="zh-CN" dirty="0" err="1" smtClean="0"/>
              <a:t>Kerviel</a:t>
            </a:r>
            <a:r>
              <a:rPr lang="en-US" altLang="zh-CN" dirty="0" smtClean="0"/>
              <a:t> had previously worked in the middle office of the firm, which may have provided him with particular insight into the actions of control personnel). </a:t>
            </a:r>
          </a:p>
          <a:p>
            <a:pPr lvl="1"/>
            <a:r>
              <a:rPr lang="en-US" altLang="zh-CN" dirty="0" smtClean="0"/>
              <a:t>Not surprisingly, given his need to constantly replace canceled fictitious transactions with new ones, there were a large number of these trades, 947 transactions.</a:t>
            </a:r>
            <a:endParaRPr lang="en-US" altLang="zh-CN" dirty="0"/>
          </a:p>
        </p:txBody>
      </p:sp>
    </p:spTree>
    <p:extLst>
      <p:ext uri="{BB962C8B-B14F-4D97-AF65-F5344CB8AC3E}">
        <p14:creationId xmlns:p14="http://schemas.microsoft.com/office/powerpoint/2010/main" val="297844732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smtClean="0"/>
              <a:t>Générale</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smtClean="0"/>
              <a:t>Main Reasons</a:t>
            </a:r>
          </a:p>
          <a:p>
            <a:pPr lvl="1"/>
            <a:r>
              <a:rPr lang="en-US" altLang="zh-CN" dirty="0" smtClean="0"/>
              <a:t>The incorrect handling of trade cancellations.</a:t>
            </a:r>
          </a:p>
          <a:p>
            <a:pPr lvl="1"/>
            <a:r>
              <a:rPr lang="en-US" altLang="zh-CN" dirty="0" smtClean="0"/>
              <a:t>Until his</a:t>
            </a:r>
            <a:r>
              <a:rPr lang="zh-CN" altLang="en-US" dirty="0" smtClean="0"/>
              <a:t> </a:t>
            </a:r>
            <a:r>
              <a:rPr lang="en-US" altLang="zh-CN" dirty="0" smtClean="0"/>
              <a:t>immediate manager was replaced in</a:t>
            </a:r>
            <a:r>
              <a:rPr lang="zh-CN" altLang="en-US" dirty="0" smtClean="0"/>
              <a:t> </a:t>
            </a:r>
            <a:r>
              <a:rPr lang="en-US" altLang="zh-CN" dirty="0" smtClean="0"/>
              <a:t>two</a:t>
            </a:r>
            <a:r>
              <a:rPr lang="zh-CN" altLang="en-US" dirty="0" smtClean="0"/>
              <a:t> </a:t>
            </a:r>
            <a:r>
              <a:rPr lang="en-US" altLang="zh-CN" dirty="0" smtClean="0"/>
              <a:t>and</a:t>
            </a:r>
            <a:r>
              <a:rPr lang="zh-CN" altLang="en-US" dirty="0" smtClean="0"/>
              <a:t> </a:t>
            </a:r>
            <a:r>
              <a:rPr lang="en-US" altLang="zh-CN" dirty="0" smtClean="0"/>
              <a:t>a</a:t>
            </a:r>
            <a:r>
              <a:rPr lang="zh-CN" altLang="en-US" dirty="0" smtClean="0"/>
              <a:t> </a:t>
            </a:r>
            <a:r>
              <a:rPr lang="en-US" altLang="zh-CN" dirty="0" smtClean="0"/>
              <a:t>half</a:t>
            </a:r>
            <a:r>
              <a:rPr lang="zh-CN" altLang="en-US" dirty="0" smtClean="0"/>
              <a:t> </a:t>
            </a:r>
            <a:r>
              <a:rPr lang="en-US" altLang="zh-CN" dirty="0" smtClean="0"/>
              <a:t>month, </a:t>
            </a:r>
            <a:r>
              <a:rPr lang="en-US" altLang="zh-CN" dirty="0" err="1" smtClean="0"/>
              <a:t>Kerviel's</a:t>
            </a:r>
            <a:r>
              <a:rPr lang="en-US" altLang="zh-CN" dirty="0" smtClean="0"/>
              <a:t> </a:t>
            </a:r>
            <a:r>
              <a:rPr lang="en-US" altLang="zh-CN" dirty="0" smtClean="0"/>
              <a:t>positions were validated.</a:t>
            </a:r>
          </a:p>
          <a:p>
            <a:pPr lvl="1"/>
            <a:r>
              <a:rPr lang="en-US" altLang="zh-CN" dirty="0" smtClean="0"/>
              <a:t>The inaction of </a:t>
            </a:r>
            <a:r>
              <a:rPr lang="en-US" altLang="zh-CN" dirty="0" err="1" smtClean="0"/>
              <a:t>Kerviel's</a:t>
            </a:r>
            <a:r>
              <a:rPr lang="en-US" altLang="zh-CN" dirty="0" smtClean="0"/>
              <a:t> </a:t>
            </a:r>
            <a:r>
              <a:rPr lang="en-US" altLang="zh-CN" dirty="0" smtClean="0"/>
              <a:t>trading assistant to report fraudulent activity.</a:t>
            </a:r>
          </a:p>
          <a:p>
            <a:pPr lvl="1"/>
            <a:r>
              <a:rPr lang="en-US" altLang="zh-CN" dirty="0" smtClean="0"/>
              <a:t>The violation of the </a:t>
            </a:r>
            <a:r>
              <a:rPr lang="en-US" altLang="zh-CN" dirty="0" smtClean="0"/>
              <a:t>bank's </a:t>
            </a:r>
            <a:r>
              <a:rPr lang="en-US" altLang="zh-CN" dirty="0" smtClean="0"/>
              <a:t>vacation policy.</a:t>
            </a:r>
          </a:p>
          <a:p>
            <a:pPr lvl="1"/>
            <a:r>
              <a:rPr lang="en-US" altLang="zh-CN" dirty="0" smtClean="0"/>
              <a:t>There were no limits or other monitoring</a:t>
            </a:r>
            <a:r>
              <a:rPr lang="zh-CN" altLang="en-US" dirty="0" smtClean="0"/>
              <a:t> </a:t>
            </a:r>
            <a:r>
              <a:rPr lang="en-US" altLang="zh-CN" dirty="0" smtClean="0"/>
              <a:t>of </a:t>
            </a:r>
            <a:r>
              <a:rPr lang="en-US" altLang="zh-CN" dirty="0" err="1" smtClean="0"/>
              <a:t>Kerviel's</a:t>
            </a:r>
            <a:r>
              <a:rPr lang="en-US" altLang="zh-CN" dirty="0" smtClean="0"/>
              <a:t> </a:t>
            </a:r>
            <a:r>
              <a:rPr lang="en-US" altLang="zh-CN" dirty="0" smtClean="0"/>
              <a:t>gross positions, only his net positions.</a:t>
            </a:r>
            <a:endParaRPr lang="zh-CN" altLang="en-US" dirty="0" smtClean="0"/>
          </a:p>
          <a:p>
            <a:pPr lvl="1"/>
            <a:r>
              <a:rPr lang="en-US" altLang="zh-CN" dirty="0" err="1" smtClean="0"/>
              <a:t>Kerviel's</a:t>
            </a:r>
            <a:r>
              <a:rPr lang="en-US" altLang="zh-CN" dirty="0" smtClean="0"/>
              <a:t> </a:t>
            </a:r>
            <a:r>
              <a:rPr lang="en-US" altLang="zh-CN" dirty="0" smtClean="0"/>
              <a:t>unusually high amount</a:t>
            </a:r>
            <a:r>
              <a:rPr lang="zh-CN" altLang="en-US" dirty="0" smtClean="0"/>
              <a:t> </a:t>
            </a:r>
            <a:r>
              <a:rPr lang="en-US" altLang="zh-CN" dirty="0" smtClean="0"/>
              <a:t>of brokerage commissions, related to</a:t>
            </a:r>
            <a:r>
              <a:rPr lang="zh-CN" altLang="en-US" dirty="0" smtClean="0"/>
              <a:t> </a:t>
            </a:r>
            <a:r>
              <a:rPr lang="en-US" altLang="zh-CN" dirty="0" smtClean="0"/>
              <a:t>his</a:t>
            </a:r>
            <a:r>
              <a:rPr lang="zh-CN" altLang="en-US" dirty="0" smtClean="0"/>
              <a:t> </a:t>
            </a:r>
            <a:r>
              <a:rPr lang="en-US" altLang="zh-CN" dirty="0" smtClean="0"/>
              <a:t>high level of gross positions, could also have provided a</a:t>
            </a:r>
            <a:r>
              <a:rPr lang="zh-CN" altLang="en-US" dirty="0" smtClean="0"/>
              <a:t> </a:t>
            </a:r>
            <a:r>
              <a:rPr lang="en-US" altLang="zh-CN" dirty="0" smtClean="0"/>
              <a:t>warning sign.</a:t>
            </a:r>
          </a:p>
          <a:p>
            <a:pPr lvl="1"/>
            <a:r>
              <a:rPr lang="en-US" altLang="zh-CN" dirty="0" smtClean="0"/>
              <a:t>The weak reporting system for collateral and cash accounts.</a:t>
            </a:r>
          </a:p>
          <a:p>
            <a:pPr lvl="1"/>
            <a:r>
              <a:rPr lang="en-US" altLang="zh-CN" dirty="0" err="1" smtClean="0"/>
              <a:t>Kerviel</a:t>
            </a:r>
            <a:r>
              <a:rPr lang="en-US" altLang="zh-CN" dirty="0" smtClean="0"/>
              <a:t> was reporting</a:t>
            </a:r>
            <a:r>
              <a:rPr lang="zh-CN" altLang="en-US" dirty="0" smtClean="0"/>
              <a:t> </a:t>
            </a:r>
            <a:r>
              <a:rPr lang="en-US" altLang="zh-CN" dirty="0" smtClean="0"/>
              <a:t>trading gains in excess of levels his authorized position</a:t>
            </a:r>
            <a:r>
              <a:rPr lang="zh-CN" altLang="en-US" dirty="0" smtClean="0"/>
              <a:t> </a:t>
            </a:r>
            <a:r>
              <a:rPr lang="en-US" altLang="zh-CN" dirty="0" smtClean="0"/>
              <a:t>taking could have accounted for,</a:t>
            </a:r>
            <a:r>
              <a:rPr lang="zh-CN" altLang="en-US" dirty="0" smtClean="0"/>
              <a:t> </a:t>
            </a:r>
            <a:r>
              <a:rPr lang="en-US" altLang="zh-CN" dirty="0" smtClean="0"/>
              <a:t>but</a:t>
            </a:r>
            <a:r>
              <a:rPr lang="zh-CN" altLang="en-US" dirty="0" smtClean="0"/>
              <a:t> </a:t>
            </a:r>
            <a:r>
              <a:rPr lang="en-US" altLang="zh-CN" dirty="0" smtClean="0"/>
              <a:t>an</a:t>
            </a:r>
            <a:r>
              <a:rPr lang="zh-CN" altLang="en-US" dirty="0" smtClean="0"/>
              <a:t> </a:t>
            </a:r>
            <a:r>
              <a:rPr lang="en-US" altLang="zh-CN" dirty="0" smtClean="0"/>
              <a:t>investigation into unexpected reported trading gains</a:t>
            </a:r>
            <a:r>
              <a:rPr lang="zh-CN" altLang="en-US" dirty="0" smtClean="0"/>
              <a:t> </a:t>
            </a:r>
            <a:r>
              <a:rPr lang="en-US" altLang="zh-CN" dirty="0" smtClean="0"/>
              <a:t>was</a:t>
            </a:r>
            <a:r>
              <a:rPr lang="zh-CN" altLang="en-US" dirty="0" smtClean="0"/>
              <a:t> </a:t>
            </a:r>
            <a:r>
              <a:rPr lang="en-US" altLang="zh-CN" dirty="0" smtClean="0"/>
              <a:t>lacked.</a:t>
            </a:r>
          </a:p>
          <a:p>
            <a:endParaRPr lang="zh-CN" altLang="en-US" dirty="0"/>
          </a:p>
        </p:txBody>
      </p:sp>
    </p:spTree>
    <p:extLst>
      <p:ext uri="{BB962C8B-B14F-4D97-AF65-F5344CB8AC3E}">
        <p14:creationId xmlns:p14="http://schemas.microsoft.com/office/powerpoint/2010/main" val="2300069790"/>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smtClean="0"/>
              <a:t>Générale</a:t>
            </a:r>
            <a:endParaRPr lang="zh-CN" altLang="en-US" dirty="0"/>
          </a:p>
        </p:txBody>
      </p:sp>
      <p:sp>
        <p:nvSpPr>
          <p:cNvPr id="3" name="文本占位符 2"/>
          <p:cNvSpPr>
            <a:spLocks noGrp="1"/>
          </p:cNvSpPr>
          <p:nvPr>
            <p:ph type="body" sz="quarter" idx="10"/>
          </p:nvPr>
        </p:nvSpPr>
        <p:spPr/>
        <p:txBody>
          <a:bodyPr>
            <a:normAutofit/>
          </a:bodyPr>
          <a:lstStyle/>
          <a:p>
            <a:r>
              <a:rPr lang="en-US" altLang="zh-CN" smtClean="0"/>
              <a:t>Lessons to be learned</a:t>
            </a:r>
          </a:p>
          <a:p>
            <a:pPr lvl="1"/>
            <a:r>
              <a:rPr lang="en-US" altLang="zh-CN" smtClean="0"/>
              <a:t>Trade Cancellation : Institute systems for monitoring patterns of trade cancellation. Flag any trader who appears to be using an unusually high number of such cancellations.</a:t>
            </a:r>
          </a:p>
          <a:p>
            <a:pPr lvl="1"/>
            <a:r>
              <a:rPr lang="en-US" altLang="zh-CN" smtClean="0"/>
              <a:t>Supervision : Control personnel should be aware of situations in which traders are being supervised by temporary or new managers. Tightened control procedures should be employed.</a:t>
            </a:r>
          </a:p>
          <a:p>
            <a:pPr lvl="1"/>
            <a:r>
              <a:rPr lang="en-US" altLang="zh-CN" smtClean="0"/>
              <a:t>Trading Assistant : Control personnel must remember that even in situations where there is no suspicion of dishonesty, trading assistants are often under intense pressure from the traders with whom they work closely.</a:t>
            </a:r>
          </a:p>
          <a:p>
            <a:endParaRPr lang="zh-CN" altLang="en-US" dirty="0"/>
          </a:p>
        </p:txBody>
      </p:sp>
    </p:spTree>
    <p:extLst>
      <p:ext uri="{BB962C8B-B14F-4D97-AF65-F5344CB8AC3E}">
        <p14:creationId xmlns:p14="http://schemas.microsoft.com/office/powerpoint/2010/main" val="760685755"/>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 </a:t>
            </a:r>
            <a:r>
              <a:rPr lang="en-US" altLang="zh-CN" dirty="0" err="1"/>
              <a:t>Société</a:t>
            </a:r>
            <a:r>
              <a:rPr lang="en-US" altLang="zh-CN" dirty="0"/>
              <a:t> </a:t>
            </a:r>
            <a:r>
              <a:rPr lang="en-US" altLang="zh-CN" dirty="0" err="1" smtClean="0"/>
              <a:t>Générale</a:t>
            </a:r>
            <a:endParaRPr lang="zh-CN" altLang="en-US" dirty="0"/>
          </a:p>
        </p:txBody>
      </p:sp>
      <p:sp>
        <p:nvSpPr>
          <p:cNvPr id="3" name="文本占位符 2"/>
          <p:cNvSpPr>
            <a:spLocks noGrp="1"/>
          </p:cNvSpPr>
          <p:nvPr>
            <p:ph type="body" sz="quarter" idx="10"/>
          </p:nvPr>
        </p:nvSpPr>
        <p:spPr/>
        <p:txBody>
          <a:bodyPr/>
          <a:lstStyle/>
          <a:p>
            <a:r>
              <a:rPr lang="en-US" altLang="zh-CN" smtClean="0"/>
              <a:t>Lessons to be learned</a:t>
            </a:r>
          </a:p>
          <a:p>
            <a:pPr lvl="1"/>
            <a:r>
              <a:rPr lang="en-US" altLang="zh-CN" smtClean="0"/>
              <a:t>Vacation Policy: Rules for mandatory time away from work should be enforced. </a:t>
            </a:r>
          </a:p>
          <a:p>
            <a:pPr lvl="1"/>
            <a:r>
              <a:rPr lang="en-US" altLang="zh-CN" smtClean="0"/>
              <a:t>Cash and Collateral: Cash and collateral requirements should be monitored down to the individual trader level. Better monitoring of cash and credit flows would have also been instrumental in uncovering the Barings and Allied Irish Bank frauds.</a:t>
            </a:r>
          </a:p>
          <a:p>
            <a:pPr lvl="1"/>
            <a:r>
              <a:rPr lang="en-US" altLang="zh-CN" smtClean="0"/>
              <a:t>P&amp;L: Any patterns of P&amp;L that are unusual relative to expectations need to be identified and investigated by both management and the control functions. </a:t>
            </a:r>
          </a:p>
          <a:p>
            <a:endParaRPr lang="zh-CN" altLang="en-US" dirty="0"/>
          </a:p>
        </p:txBody>
      </p:sp>
    </p:spTree>
    <p:extLst>
      <p:ext uri="{BB962C8B-B14F-4D97-AF65-F5344CB8AC3E}">
        <p14:creationId xmlns:p14="http://schemas.microsoft.com/office/powerpoint/2010/main" val="3538815840"/>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 </a:t>
            </a:r>
            <a:r>
              <a:rPr lang="en-US" altLang="zh-CN" dirty="0" err="1" smtClean="0"/>
              <a:t>Metallgesellschaft</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smtClean="0"/>
              <a:t>Incidence</a:t>
            </a:r>
          </a:p>
          <a:p>
            <a:pPr lvl="1"/>
            <a:r>
              <a:rPr lang="en-US" altLang="zh-CN" smtClean="0"/>
              <a:t>In 1992, an American subsidiary of MG, Metallgesellachaft Refining and Marketing (MGRM), began a program of entering into long-term contracts to supply customers with gas and oil products at fixed costs and hedge these contracts with short-term gas and oil futures.</a:t>
            </a:r>
          </a:p>
          <a:p>
            <a:r>
              <a:rPr lang="en-US" altLang="zh-CN" smtClean="0"/>
              <a:t>Results</a:t>
            </a:r>
          </a:p>
          <a:p>
            <a:pPr lvl="1"/>
            <a:r>
              <a:rPr lang="en-US" altLang="zh-CN" smtClean="0"/>
              <a:t>In 1993, when a large decrease in gas and oil prices had resulted in funding needs o f around $900 million, the MG parent responded by closing down the futures positions, leaving unhedged exposure to gas and oil price increases through the customer contracts. Faced with this open exposure, MG negotiated unwinds of these contracts at unfavorable terms.</a:t>
            </a:r>
          </a:p>
          <a:p>
            <a:endParaRPr lang="zh-CN" altLang="en-US" dirty="0"/>
          </a:p>
        </p:txBody>
      </p:sp>
    </p:spTree>
    <p:extLst>
      <p:ext uri="{BB962C8B-B14F-4D97-AF65-F5344CB8AC3E}">
        <p14:creationId xmlns:p14="http://schemas.microsoft.com/office/powerpoint/2010/main" val="3468090079"/>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lstStyle/>
          <a:p>
            <a:r>
              <a:rPr lang="en-US" altLang="zh-CN" smtClean="0"/>
              <a:t>The Strategy</a:t>
            </a:r>
          </a:p>
          <a:p>
            <a:pPr lvl="1"/>
            <a:r>
              <a:rPr lang="en-US" altLang="zh-CN" smtClean="0"/>
              <a:t>MGRM began a program of entering into long-term contracts to supply customers with gas and oil products at fixed costs and to hedge these contracts with short term gas and oil futures. </a:t>
            </a:r>
          </a:p>
          <a:p>
            <a:pPr lvl="1"/>
            <a:r>
              <a:rPr lang="en-US" altLang="zh-CN" smtClean="0"/>
              <a:t>The futures being used to hedge were exchange-traded instruments requiring daily cash settlement. The long-term contracts with customers involved no such cash settlement,  which can lead to funding liquidity risk.</a:t>
            </a:r>
          </a:p>
          <a:p>
            <a:endParaRPr lang="zh-CN" altLang="en-US" dirty="0"/>
          </a:p>
        </p:txBody>
      </p:sp>
    </p:spTree>
    <p:extLst>
      <p:ext uri="{BB962C8B-B14F-4D97-AF65-F5344CB8AC3E}">
        <p14:creationId xmlns:p14="http://schemas.microsoft.com/office/powerpoint/2010/main" val="2190225890"/>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smtClean="0"/>
              <a:t>The Reasons for the Failure of the Strategy</a:t>
            </a:r>
          </a:p>
          <a:p>
            <a:pPr lvl="1"/>
            <a:r>
              <a:rPr lang="en-US" altLang="zh-CN" dirty="0" smtClean="0"/>
              <a:t>The market shifted to </a:t>
            </a:r>
            <a:r>
              <a:rPr lang="en-US" altLang="zh-CN" dirty="0" err="1" smtClean="0"/>
              <a:t>contango</a:t>
            </a:r>
            <a:r>
              <a:rPr lang="en-US" altLang="zh-CN" dirty="0" smtClean="0"/>
              <a:t> (futures price &gt; spot price) that exploited the basis risk.</a:t>
            </a:r>
          </a:p>
          <a:p>
            <a:pPr lvl="2"/>
            <a:r>
              <a:rPr lang="en-US" altLang="zh-CN" dirty="0" smtClean="0"/>
              <a:t>Stack-and-roll hedge exposes to basis risk.</a:t>
            </a:r>
          </a:p>
          <a:p>
            <a:pPr lvl="2"/>
            <a:r>
              <a:rPr lang="en-US" altLang="zh-CN" dirty="0" smtClean="0"/>
              <a:t>Shift to </a:t>
            </a:r>
            <a:r>
              <a:rPr lang="en-US" altLang="zh-CN" dirty="0" err="1" smtClean="0"/>
              <a:t>contango</a:t>
            </a:r>
            <a:r>
              <a:rPr lang="en-US" altLang="zh-CN" dirty="0" smtClean="0"/>
              <a:t> created losses on roll return.</a:t>
            </a:r>
          </a:p>
          <a:p>
            <a:pPr lvl="2"/>
            <a:r>
              <a:rPr lang="en-US" altLang="zh-CN" dirty="0" smtClean="0"/>
              <a:t>Led to cash flow (liquidity) risks.</a:t>
            </a:r>
          </a:p>
          <a:p>
            <a:pPr lvl="1"/>
            <a:r>
              <a:rPr lang="en-US" altLang="zh-CN" dirty="0" smtClean="0"/>
              <a:t>German accounting methods required </a:t>
            </a:r>
            <a:r>
              <a:rPr lang="en-US" altLang="zh-CN" dirty="0" err="1" smtClean="0"/>
              <a:t>Metallgesellschaft</a:t>
            </a:r>
            <a:r>
              <a:rPr lang="en-US" altLang="zh-CN" dirty="0" smtClean="0"/>
              <a:t> to show futures losses (from futures) but could not recognize unrealized gains from the forward.</a:t>
            </a:r>
          </a:p>
          <a:p>
            <a:pPr lvl="2"/>
            <a:r>
              <a:rPr lang="en-US" altLang="zh-CN" dirty="0" smtClean="0"/>
              <a:t>German accounting standards increased the </a:t>
            </a:r>
            <a:r>
              <a:rPr lang="en-US" altLang="zh-CN" dirty="0" smtClean="0"/>
              <a:t>MGRM's </a:t>
            </a:r>
            <a:r>
              <a:rPr lang="en-US" altLang="zh-CN" dirty="0" smtClean="0"/>
              <a:t>perceived credit risk and restricted the </a:t>
            </a:r>
            <a:r>
              <a:rPr lang="en-US" altLang="zh-CN" dirty="0" smtClean="0"/>
              <a:t>company's </a:t>
            </a:r>
            <a:r>
              <a:rPr lang="en-US" altLang="zh-CN" dirty="0" smtClean="0"/>
              <a:t>access to credit, which made the problem worse.</a:t>
            </a:r>
          </a:p>
          <a:p>
            <a:pPr lvl="2"/>
            <a:r>
              <a:rPr lang="en-US" altLang="zh-CN" dirty="0" smtClean="0"/>
              <a:t>These reported losses triggered margin calls and a panic, which led to credit rating downgrades.</a:t>
            </a:r>
          </a:p>
          <a:p>
            <a:endParaRPr lang="zh-CN" altLang="en-US" dirty="0"/>
          </a:p>
        </p:txBody>
      </p:sp>
    </p:spTree>
    <p:extLst>
      <p:ext uri="{BB962C8B-B14F-4D97-AF65-F5344CB8AC3E}">
        <p14:creationId xmlns:p14="http://schemas.microsoft.com/office/powerpoint/2010/main" val="3518224094"/>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 </a:t>
            </a:r>
            <a:r>
              <a:rPr lang="en-US" altLang="zh-CN" dirty="0" err="1"/>
              <a:t>Metallgesellschaft</a:t>
            </a:r>
            <a:endParaRPr lang="zh-CN" altLang="en-US" dirty="0"/>
          </a:p>
        </p:txBody>
      </p:sp>
      <p:sp>
        <p:nvSpPr>
          <p:cNvPr id="3" name="文本占位符 2"/>
          <p:cNvSpPr>
            <a:spLocks noGrp="1"/>
          </p:cNvSpPr>
          <p:nvPr>
            <p:ph type="body" sz="quarter" idx="10"/>
          </p:nvPr>
        </p:nvSpPr>
        <p:spPr/>
        <p:txBody>
          <a:bodyPr/>
          <a:lstStyle/>
          <a:p>
            <a:r>
              <a:rPr lang="en-US" altLang="zh-CN" dirty="0" smtClean="0"/>
              <a:t>Lessons to be learned</a:t>
            </a:r>
          </a:p>
          <a:p>
            <a:pPr lvl="1"/>
            <a:r>
              <a:rPr lang="en-US" altLang="zh-CN" dirty="0" smtClean="0"/>
              <a:t>It is often a key component of a market </a:t>
            </a:r>
            <a:r>
              <a:rPr lang="en-US" altLang="zh-CN" dirty="0" smtClean="0"/>
              <a:t>maker's </a:t>
            </a:r>
            <a:r>
              <a:rPr lang="en-US" altLang="zh-CN" dirty="0" smtClean="0"/>
              <a:t>business strategy to extend available liquidity in a market.</a:t>
            </a:r>
          </a:p>
          <a:p>
            <a:pPr lvl="1"/>
            <a:r>
              <a:rPr lang="en-US" altLang="zh-CN" dirty="0" smtClean="0"/>
              <a:t>The uncertainty of roll cost is a key risk for strategies involving shorter-term hedges against longer-term risk.</a:t>
            </a:r>
          </a:p>
          <a:p>
            <a:pPr lvl="1"/>
            <a:r>
              <a:rPr lang="en-US" altLang="zh-CN" dirty="0" smtClean="0"/>
              <a:t>A firm running short-term hedges against longer-term risk requires the flexibility to choose the shorter-term hedge that offers the best trade­off between risk and reward.</a:t>
            </a:r>
          </a:p>
          <a:p>
            <a:endParaRPr lang="zh-CN" altLang="en-US" dirty="0"/>
          </a:p>
        </p:txBody>
      </p:sp>
    </p:spTree>
    <p:extLst>
      <p:ext uri="{BB962C8B-B14F-4D97-AF65-F5344CB8AC3E}">
        <p14:creationId xmlns:p14="http://schemas.microsoft.com/office/powerpoint/2010/main" val="809454631"/>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H. Long-Term </a:t>
            </a:r>
            <a:r>
              <a:rPr lang="en-US" altLang="zh-CN" dirty="0"/>
              <a:t>Capital Management (LTCM</a:t>
            </a:r>
            <a:r>
              <a:rPr lang="en-US" altLang="zh-CN" dirty="0" smtClean="0"/>
              <a:t>)</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dirty="0"/>
              <a:t>Introduction of LTCM</a:t>
            </a:r>
          </a:p>
          <a:p>
            <a:pPr lvl="1"/>
            <a:r>
              <a:rPr lang="en-US" altLang="zh-CN" dirty="0"/>
              <a:t>LTCM, a hedge fund,</a:t>
            </a:r>
            <a:r>
              <a:rPr lang="zh-CN" altLang="en-US" dirty="0"/>
              <a:t> </a:t>
            </a:r>
            <a:r>
              <a:rPr lang="en-US" altLang="zh-CN" dirty="0"/>
              <a:t>was founded in early</a:t>
            </a:r>
            <a:r>
              <a:rPr lang="zh-CN" altLang="en-US" dirty="0"/>
              <a:t> </a:t>
            </a:r>
            <a:r>
              <a:rPr lang="en-US" altLang="zh-CN" dirty="0"/>
              <a:t>1994, generated stellar returns in its first few years of operation. </a:t>
            </a:r>
          </a:p>
          <a:p>
            <a:pPr lvl="1"/>
            <a:r>
              <a:rPr lang="en-US" altLang="zh-CN" dirty="0"/>
              <a:t>The partners worked together at Salomon Brothers and, given their success, decided to start their own fund and proceeded to seek capital from investors. Funding was provided to LTCM despite the secretive nature of its positions.</a:t>
            </a:r>
          </a:p>
          <a:p>
            <a:pPr lvl="1"/>
            <a:r>
              <a:rPr lang="en-US" altLang="zh-CN" dirty="0"/>
              <a:t>The fund was focused on long-term investment strategies. And in the late years of operations, the partners at LTCM invested a large portion of their net worth in the fund since they believed so strongly in the success of their trading strategies.</a:t>
            </a:r>
          </a:p>
          <a:p>
            <a:endParaRPr lang="zh-CN" altLang="en-US" dirty="0"/>
          </a:p>
        </p:txBody>
      </p:sp>
    </p:spTree>
    <p:extLst>
      <p:ext uri="{BB962C8B-B14F-4D97-AF65-F5344CB8AC3E}">
        <p14:creationId xmlns:p14="http://schemas.microsoft.com/office/powerpoint/2010/main" val="704794350"/>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a:t>
            </a:r>
            <a:r>
              <a:rPr lang="en-US" altLang="zh-CN" dirty="0" smtClean="0"/>
              <a:t>Capital Management (LTCM)</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dirty="0" smtClean="0"/>
              <a:t>The Strategies</a:t>
            </a:r>
          </a:p>
          <a:p>
            <a:pPr lvl="1"/>
            <a:r>
              <a:rPr lang="en-US" altLang="zh-CN" dirty="0" smtClean="0"/>
              <a:t>LTCM's </a:t>
            </a:r>
            <a:r>
              <a:rPr lang="en-US" altLang="zh-CN" dirty="0" smtClean="0"/>
              <a:t>investments strategies:</a:t>
            </a:r>
            <a:r>
              <a:rPr lang="zh-CN" altLang="en-US" dirty="0" smtClean="0"/>
              <a:t> </a:t>
            </a:r>
            <a:r>
              <a:rPr lang="en-US" altLang="zh-CN" dirty="0" smtClean="0"/>
              <a:t>relative value, credit spreads, and equity volatility.</a:t>
            </a:r>
          </a:p>
          <a:p>
            <a:pPr lvl="2"/>
            <a:r>
              <a:rPr lang="en-US" altLang="zh-CN" dirty="0" smtClean="0"/>
              <a:t>Relative value strategies involved arbitraging price differences, among similar securities and profiting when the prices converged.</a:t>
            </a:r>
          </a:p>
          <a:p>
            <a:pPr lvl="2"/>
            <a:r>
              <a:rPr lang="en-US" altLang="zh-CN" dirty="0" smtClean="0"/>
              <a:t>LTCM noticed that credit spread were historically high, they entered into mortgage spreads and international high-yield bond spreads intending to profit when the spreads shrank to more typical historical levels.</a:t>
            </a:r>
          </a:p>
          <a:p>
            <a:pPr lvl="2"/>
            <a:r>
              <a:rPr lang="en-US" altLang="zh-CN" dirty="0" smtClean="0"/>
              <a:t>LTCM's </a:t>
            </a:r>
            <a:r>
              <a:rPr lang="en-US" altLang="zh-CN" dirty="0" smtClean="0"/>
              <a:t>equity volatility strategy assumed that volatility on equity options tended to revert to long-term average levels. When volatility implied by equity options was abnormally high, LTCM “sold volatility” until it regressed to normal levels.</a:t>
            </a:r>
            <a:endParaRPr lang="zh-CN" altLang="en-US" dirty="0"/>
          </a:p>
        </p:txBody>
      </p:sp>
    </p:spTree>
    <p:extLst>
      <p:ext uri="{BB962C8B-B14F-4D97-AF65-F5344CB8AC3E}">
        <p14:creationId xmlns:p14="http://schemas.microsoft.com/office/powerpoint/2010/main" val="181471002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a:t>
            </a:r>
            <a:r>
              <a:rPr lang="en-US" altLang="zh-CN" dirty="0" smtClean="0"/>
              <a:t>Capital Management (LTCM)</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smtClean="0"/>
              <a:t>Two major events</a:t>
            </a:r>
          </a:p>
          <a:p>
            <a:pPr lvl="1"/>
            <a:r>
              <a:rPr lang="en-US" altLang="zh-CN" dirty="0" smtClean="0"/>
              <a:t>In August of 1998, Russia unexpectedly defaulted on its debt. This economic shock caused the yields on developing </a:t>
            </a:r>
            <a:r>
              <a:rPr lang="en-US" altLang="zh-CN" dirty="0" smtClean="0"/>
              <a:t>nations' </a:t>
            </a:r>
            <a:r>
              <a:rPr lang="en-US" altLang="zh-CN" dirty="0" smtClean="0"/>
              <a:t>debt to increase and a flight to the quality of government bonds in industrialized countries. </a:t>
            </a:r>
          </a:p>
          <a:p>
            <a:pPr lvl="2"/>
            <a:r>
              <a:rPr lang="en-US" altLang="zh-CN" dirty="0" smtClean="0"/>
              <a:t>The flight to quality increased, rather the decreased, credit spreads, causing huge losses for LTCM.</a:t>
            </a:r>
          </a:p>
          <a:p>
            <a:pPr lvl="1"/>
            <a:r>
              <a:rPr lang="en-US" altLang="zh-CN" dirty="0" smtClean="0"/>
              <a:t>Brazil devalued its currency, thereby further increasing interest rates and risk premiums.</a:t>
            </a:r>
          </a:p>
          <a:p>
            <a:pPr lvl="2"/>
            <a:r>
              <a:rPr lang="en-US" altLang="zh-CN" dirty="0" smtClean="0"/>
              <a:t>The general increase in volatility also generated losses in </a:t>
            </a:r>
            <a:r>
              <a:rPr lang="en-US" altLang="zh-CN" dirty="0" smtClean="0"/>
              <a:t>LTCM's </a:t>
            </a:r>
            <a:r>
              <a:rPr lang="en-US" altLang="zh-CN" dirty="0" smtClean="0"/>
              <a:t>equity volatility strategies.</a:t>
            </a:r>
            <a:endParaRPr lang="zh-CN" altLang="en-US" dirty="0"/>
          </a:p>
        </p:txBody>
      </p:sp>
    </p:spTree>
    <p:extLst>
      <p:ext uri="{BB962C8B-B14F-4D97-AF65-F5344CB8AC3E}">
        <p14:creationId xmlns:p14="http://schemas.microsoft.com/office/powerpoint/2010/main" val="232988337"/>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a:t>
            </a:r>
            <a:r>
              <a:rPr lang="en-US" altLang="zh-CN" dirty="0" smtClean="0"/>
              <a:t>Capital Management (LTCM)</a:t>
            </a:r>
            <a:endParaRPr lang="zh-CN" altLang="en-US" dirty="0"/>
          </a:p>
        </p:txBody>
      </p:sp>
      <p:sp>
        <p:nvSpPr>
          <p:cNvPr id="3" name="文本占位符 2"/>
          <p:cNvSpPr>
            <a:spLocks noGrp="1"/>
          </p:cNvSpPr>
          <p:nvPr>
            <p:ph type="body" sz="quarter" idx="10"/>
          </p:nvPr>
        </p:nvSpPr>
        <p:spPr/>
        <p:txBody>
          <a:bodyPr/>
          <a:lstStyle/>
          <a:p>
            <a:r>
              <a:rPr lang="en-US" altLang="zh-CN" dirty="0" smtClean="0"/>
              <a:t>The Risks faced by LTCM</a:t>
            </a:r>
          </a:p>
          <a:p>
            <a:r>
              <a:rPr lang="en-US" altLang="zh-CN" dirty="0" smtClean="0"/>
              <a:t>The insufficient of equity and cash flow crisis.</a:t>
            </a:r>
          </a:p>
          <a:p>
            <a:pPr lvl="1"/>
            <a:r>
              <a:rPr lang="en-US" altLang="zh-CN" dirty="0" smtClean="0"/>
              <a:t>The large increase in yield spread caused huge losses and severe cash flow problems caused by realizing marked to market losses and meeting margin calls.</a:t>
            </a:r>
          </a:p>
          <a:p>
            <a:pPr lvl="1"/>
            <a:r>
              <a:rPr lang="en-US" altLang="zh-CN" dirty="0" smtClean="0"/>
              <a:t>LTCM lost 44% of its capital in just one month. And the </a:t>
            </a:r>
            <a:r>
              <a:rPr lang="en-US" altLang="zh-CN" dirty="0" smtClean="0"/>
              <a:t>firm's </a:t>
            </a:r>
            <a:r>
              <a:rPr lang="en-US" altLang="zh-CN" dirty="0" smtClean="0"/>
              <a:t>lack of equity created a cash flow crisis and make it necessary to liquidate positions to meet margin calls.</a:t>
            </a:r>
            <a:endParaRPr lang="en-US" altLang="zh-CN" dirty="0"/>
          </a:p>
        </p:txBody>
      </p:sp>
    </p:spTree>
    <p:extLst>
      <p:ext uri="{BB962C8B-B14F-4D97-AF65-F5344CB8AC3E}">
        <p14:creationId xmlns:p14="http://schemas.microsoft.com/office/powerpoint/2010/main" val="2417350048"/>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a:t>
            </a:r>
            <a:r>
              <a:rPr lang="en-US" altLang="zh-CN" dirty="0" smtClean="0"/>
              <a:t>Capital Management (LTCM)</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smtClean="0"/>
              <a:t>Model Risk: valuation or trading models are flawed.</a:t>
            </a:r>
          </a:p>
          <a:p>
            <a:pPr lvl="1"/>
            <a:r>
              <a:rPr lang="en-US" altLang="zh-CN" dirty="0" smtClean="0"/>
              <a:t>LTCM's </a:t>
            </a:r>
            <a:r>
              <a:rPr lang="en-US" altLang="zh-CN" dirty="0" smtClean="0"/>
              <a:t>model assumed that historical relationships were useful predictors of future relationships, which is often true in the absence of economic shocks. However, external shocks often cause correlations that are historically low to increase sharply. </a:t>
            </a:r>
          </a:p>
          <a:p>
            <a:pPr lvl="1"/>
            <a:r>
              <a:rPr lang="en-US" altLang="zh-CN" dirty="0" smtClean="0"/>
              <a:t>The models also assumed that low-frequency/high-severity events were uncorrelated over time.</a:t>
            </a:r>
          </a:p>
          <a:p>
            <a:pPr lvl="1"/>
            <a:r>
              <a:rPr lang="en-US" altLang="zh-CN" dirty="0" smtClean="0"/>
              <a:t>One economic shock triggered another so that extremely low probability events were occurring several times per week, and as a result, traditional VaR models underestimated risk in the tails of the distribution.</a:t>
            </a:r>
            <a:endParaRPr lang="en-US" altLang="zh-CN" dirty="0"/>
          </a:p>
        </p:txBody>
      </p:sp>
    </p:spTree>
    <p:extLst>
      <p:ext uri="{BB962C8B-B14F-4D97-AF65-F5344CB8AC3E}">
        <p14:creationId xmlns:p14="http://schemas.microsoft.com/office/powerpoint/2010/main" val="2793810843"/>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a:t>
            </a:r>
            <a:r>
              <a:rPr lang="en-US" altLang="zh-CN" dirty="0" smtClean="0"/>
              <a:t>Capital Management (LTCM)</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smtClean="0"/>
              <a:t>Market Risk</a:t>
            </a:r>
          </a:p>
          <a:p>
            <a:pPr lvl="1"/>
            <a:r>
              <a:rPr lang="en-US" altLang="zh-CN" dirty="0" smtClean="0"/>
              <a:t>LTCM was diversified across the globe, across different asset classes, and across different trading strategies. However, all of its strategies were based on the notion that risk premiums and market volatility would ultimately decline. And the lack of diversification made LTCM subject to the market risk.</a:t>
            </a:r>
          </a:p>
          <a:p>
            <a:r>
              <a:rPr lang="en-US" altLang="zh-CN" dirty="0" smtClean="0"/>
              <a:t>Trading Liquidity Risk</a:t>
            </a:r>
          </a:p>
          <a:p>
            <a:pPr lvl="1"/>
            <a:r>
              <a:rPr lang="en-US" altLang="zh-CN" dirty="0" smtClean="0"/>
              <a:t>LTCM considered the possibility of market impact to some extent in its short risk measures, but underestimated the magnitude of its influence on market prices, particularly in the event of forced liquidation.</a:t>
            </a:r>
          </a:p>
          <a:p>
            <a:r>
              <a:rPr lang="en-US" altLang="zh-CN" dirty="0" smtClean="0"/>
              <a:t>Limited Reporting Obligation to Regulators</a:t>
            </a:r>
          </a:p>
          <a:p>
            <a:pPr lvl="1"/>
            <a:r>
              <a:rPr lang="en-US" altLang="zh-CN" dirty="0" smtClean="0"/>
              <a:t>Although the size of its positions required financial statement reporting and daily position reporting, these reports were incomplete and lacked disclosure of derivative positions and trading strategies.</a:t>
            </a:r>
            <a:endParaRPr lang="zh-CN" altLang="en-US" dirty="0"/>
          </a:p>
        </p:txBody>
      </p:sp>
    </p:spTree>
    <p:extLst>
      <p:ext uri="{BB962C8B-B14F-4D97-AF65-F5344CB8AC3E}">
        <p14:creationId xmlns:p14="http://schemas.microsoft.com/office/powerpoint/2010/main" val="233698755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 Long-Term </a:t>
            </a:r>
            <a:r>
              <a:rPr lang="en-US" altLang="zh-CN" dirty="0" smtClean="0"/>
              <a:t>Capital Management (LTCM)</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smtClean="0"/>
              <a:t>The Results</a:t>
            </a:r>
          </a:p>
          <a:p>
            <a:pPr lvl="1"/>
            <a:r>
              <a:rPr lang="en-US" altLang="zh-CN" smtClean="0"/>
              <a:t>The Federal Reserve Bank of New York orchestrated a bailout in which 14 leading banks and investment houses invested $3.65 billion for a 90% stake in LTCM.</a:t>
            </a:r>
          </a:p>
          <a:p>
            <a:r>
              <a:rPr lang="en-US" altLang="zh-CN" smtClean="0"/>
              <a:t>Lessons to be Learned</a:t>
            </a:r>
          </a:p>
          <a:p>
            <a:pPr lvl="1"/>
            <a:r>
              <a:rPr lang="en-US" altLang="zh-CN" smtClean="0"/>
              <a:t>It is essential to require initial margin for counterparties whose principal business is investing and trading. </a:t>
            </a:r>
          </a:p>
          <a:p>
            <a:pPr lvl="1"/>
            <a:r>
              <a:rPr lang="en-US" altLang="zh-CN" smtClean="0"/>
              <a:t>To incorporate potential liquidation costs into prices in the event of adverse market condition.</a:t>
            </a:r>
          </a:p>
          <a:p>
            <a:pPr lvl="1"/>
            <a:r>
              <a:rPr lang="en-US" altLang="zh-CN" smtClean="0"/>
              <a:t>A push for greater disclosure by counterparties of their trading strategies and positions. </a:t>
            </a:r>
          </a:p>
          <a:p>
            <a:pPr lvl="1"/>
            <a:r>
              <a:rPr lang="en-US" altLang="zh-CN" smtClean="0"/>
              <a:t>Better use of stress tests in assessing credit risk. </a:t>
            </a:r>
            <a:endParaRPr lang="zh-CN" altLang="en-US" dirty="0"/>
          </a:p>
        </p:txBody>
      </p:sp>
    </p:spTree>
    <p:extLst>
      <p:ext uri="{BB962C8B-B14F-4D97-AF65-F5344CB8AC3E}">
        <p14:creationId xmlns:p14="http://schemas.microsoft.com/office/powerpoint/2010/main" val="340278456"/>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 Banker's </a:t>
            </a:r>
            <a:r>
              <a:rPr lang="en-US" altLang="zh-CN" dirty="0" smtClean="0"/>
              <a:t>Trust</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smtClean="0"/>
              <a:t>Incident</a:t>
            </a:r>
          </a:p>
          <a:p>
            <a:pPr lvl="1"/>
            <a:r>
              <a:rPr lang="en-US" altLang="zh-CN" dirty="0" smtClean="0"/>
              <a:t>Procter &amp; Gamble (P&amp;G) and Gibson Greetings sought the assistance of </a:t>
            </a:r>
            <a:r>
              <a:rPr lang="en-US" altLang="zh-CN" dirty="0" smtClean="0"/>
              <a:t>Banker's </a:t>
            </a:r>
            <a:r>
              <a:rPr lang="en-US" altLang="zh-CN" dirty="0" smtClean="0"/>
              <a:t>Trust (BT) to help them reduce funding costs.</a:t>
            </a:r>
            <a:endParaRPr lang="zh-CN" altLang="en-US" dirty="0" smtClean="0"/>
          </a:p>
          <a:p>
            <a:pPr lvl="1"/>
            <a:r>
              <a:rPr lang="en-US" altLang="zh-CN" dirty="0" smtClean="0"/>
              <a:t>BT used derivative trades, which promised the two companies a high-probability, small reduction in funding costs in exchange for a low-probability, large loss.</a:t>
            </a:r>
            <a:endParaRPr lang="zh-CN" altLang="en-US" dirty="0" smtClean="0"/>
          </a:p>
          <a:p>
            <a:pPr lvl="1"/>
            <a:r>
              <a:rPr lang="en-US" altLang="zh-CN" dirty="0" smtClean="0"/>
              <a:t>The derivative structures developed by BT were intentionally complex and prevented P&amp;G and Gibson from fully understanding the trade values and risks that were involved.</a:t>
            </a:r>
            <a:endParaRPr lang="zh-CN" altLang="en-US" dirty="0" smtClean="0"/>
          </a:p>
          <a:p>
            <a:pPr lvl="1"/>
            <a:r>
              <a:rPr lang="en-US" altLang="zh-CN" dirty="0" smtClean="0"/>
              <a:t>The structures were not comparable to other derivative trades making it impossible to get a competitive quote.</a:t>
            </a:r>
            <a:endParaRPr lang="zh-CN" altLang="en-US" dirty="0" smtClean="0"/>
          </a:p>
          <a:p>
            <a:pPr lvl="1"/>
            <a:r>
              <a:rPr lang="en-US" altLang="zh-CN" dirty="0" smtClean="0"/>
              <a:t>In 1994, P&amp;G and Gibson finally realized that they had been misled after discovering that they had suffered huge losses. As a result, the two companies sued BT.</a:t>
            </a:r>
          </a:p>
          <a:p>
            <a:endParaRPr lang="zh-CN" altLang="en-US" dirty="0"/>
          </a:p>
        </p:txBody>
      </p:sp>
    </p:spTree>
    <p:extLst>
      <p:ext uri="{BB962C8B-B14F-4D97-AF65-F5344CB8AC3E}">
        <p14:creationId xmlns:p14="http://schemas.microsoft.com/office/powerpoint/2010/main" val="2695050686"/>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 </a:t>
            </a:r>
            <a:r>
              <a:rPr lang="en-US" altLang="zh-CN" dirty="0" smtClean="0"/>
              <a:t>Banker's Trust</a:t>
            </a:r>
            <a:endParaRPr lang="zh-CN" altLang="en-US" dirty="0"/>
          </a:p>
        </p:txBody>
      </p:sp>
      <p:sp>
        <p:nvSpPr>
          <p:cNvPr id="3" name="文本占位符 2"/>
          <p:cNvSpPr>
            <a:spLocks noGrp="1"/>
          </p:cNvSpPr>
          <p:nvPr>
            <p:ph type="body" sz="quarter" idx="10"/>
          </p:nvPr>
        </p:nvSpPr>
        <p:spPr/>
        <p:txBody>
          <a:bodyPr/>
          <a:lstStyle/>
          <a:p>
            <a:r>
              <a:rPr lang="en-US" altLang="zh-CN" dirty="0" smtClean="0"/>
              <a:t>Lessons to be Learned</a:t>
            </a:r>
          </a:p>
          <a:p>
            <a:pPr lvl="1"/>
            <a:r>
              <a:rPr lang="en-US" altLang="zh-CN" dirty="0" smtClean="0"/>
              <a:t>This case demonstrated the importance of matching trades with a </a:t>
            </a:r>
            <a:r>
              <a:rPr lang="en-US" altLang="zh-CN" dirty="0" smtClean="0"/>
              <a:t>client's </a:t>
            </a:r>
            <a:r>
              <a:rPr lang="en-US" altLang="zh-CN" dirty="0" smtClean="0"/>
              <a:t>needs and providing price quotes that are independent from the front office. </a:t>
            </a:r>
          </a:p>
          <a:p>
            <a:pPr lvl="1"/>
            <a:r>
              <a:rPr lang="en-US" altLang="zh-CN" dirty="0" smtClean="0"/>
              <a:t>It also demonstrated the importance of exercising caution with any form of communication that could eventually be made public, as it could damage a </a:t>
            </a:r>
            <a:r>
              <a:rPr lang="en-US" altLang="zh-CN" dirty="0" smtClean="0"/>
              <a:t>firm's </a:t>
            </a:r>
            <a:r>
              <a:rPr lang="en-US" altLang="zh-CN" dirty="0" smtClean="0"/>
              <a:t>reputation if unethical practices are present.</a:t>
            </a:r>
          </a:p>
          <a:p>
            <a:endParaRPr lang="zh-CN" altLang="en-US" dirty="0"/>
          </a:p>
        </p:txBody>
      </p:sp>
    </p:spTree>
    <p:extLst>
      <p:ext uri="{BB962C8B-B14F-4D97-AF65-F5344CB8AC3E}">
        <p14:creationId xmlns:p14="http://schemas.microsoft.com/office/powerpoint/2010/main" val="2975956068"/>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 JP </a:t>
            </a:r>
            <a:r>
              <a:rPr lang="en-US" altLang="zh-CN" dirty="0" smtClean="0"/>
              <a:t>Morgan, Citigroup, and Enron</a:t>
            </a:r>
            <a:endParaRPr lang="zh-CN" altLang="en-US" dirty="0"/>
          </a:p>
        </p:txBody>
      </p:sp>
      <p:sp>
        <p:nvSpPr>
          <p:cNvPr id="3" name="文本占位符 2"/>
          <p:cNvSpPr>
            <a:spLocks noGrp="1"/>
          </p:cNvSpPr>
          <p:nvPr>
            <p:ph type="body" sz="quarter" idx="10"/>
          </p:nvPr>
        </p:nvSpPr>
        <p:spPr/>
        <p:txBody>
          <a:bodyPr/>
          <a:lstStyle/>
          <a:p>
            <a:r>
              <a:rPr lang="en-US" altLang="zh-CN" smtClean="0"/>
              <a:t>Incident</a:t>
            </a:r>
            <a:endParaRPr lang="zh-CN" altLang="en-US" smtClean="0"/>
          </a:p>
          <a:p>
            <a:pPr lvl="1"/>
            <a:r>
              <a:rPr lang="en-US" altLang="zh-CN" smtClean="0"/>
              <a:t>Citigroup and JP Morgan Chase, the largest and second largest US banks respectively, reached an agreement July 28 2003 with the Securities and Exchange Commission (SEC) to pay a combined $286 million in fines in connection with their involvement in the fraud perpetrated by Enron.</a:t>
            </a:r>
          </a:p>
          <a:p>
            <a:pPr lvl="1"/>
            <a:r>
              <a:rPr lang="en-US" altLang="zh-CN" smtClean="0"/>
              <a:t>The SEC charged that the two banks aided defunct energy trading giant Enron in disguising loans as cash in order to defraud investors.</a:t>
            </a:r>
          </a:p>
          <a:p>
            <a:endParaRPr lang="zh-CN" altLang="en-US" dirty="0"/>
          </a:p>
        </p:txBody>
      </p:sp>
    </p:spTree>
    <p:extLst>
      <p:ext uri="{BB962C8B-B14F-4D97-AF65-F5344CB8AC3E}">
        <p14:creationId xmlns:p14="http://schemas.microsoft.com/office/powerpoint/2010/main" val="4038909823"/>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 JP </a:t>
            </a:r>
            <a:r>
              <a:rPr lang="en-US" altLang="zh-CN" dirty="0" smtClean="0"/>
              <a:t>Morgan, Citigroup, and Enron</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smtClean="0"/>
              <a:t>Details, Result and Lesson</a:t>
            </a:r>
          </a:p>
          <a:p>
            <a:pPr lvl="1"/>
            <a:r>
              <a:rPr lang="en-US" altLang="zh-CN" dirty="0" smtClean="0"/>
              <a:t>Enron had for years been engaging in dubious accounting practices to hide the size of its borrowings from investors and lenders.</a:t>
            </a:r>
          </a:p>
          <a:p>
            <a:pPr lvl="1"/>
            <a:r>
              <a:rPr lang="en-US" altLang="zh-CN" dirty="0" smtClean="0"/>
              <a:t>One of the ploys that Enron had used was to disguise a borrowing as an oil futures contract. Sold oil for future delivery, getting cash, and then agreed to buy back the oil that it delivered for a fixed price. When you canceled out the oil part of the trades, what was left was just an agreement for Enron to pay cash later for cash it had received up front - in practice, a loan.</a:t>
            </a:r>
          </a:p>
          <a:p>
            <a:pPr lvl="1"/>
            <a:r>
              <a:rPr lang="en-US" altLang="zh-CN" dirty="0" smtClean="0"/>
              <a:t>When this was finally disclosed, JPMorgan Chase and Citigroup, </a:t>
            </a:r>
            <a:r>
              <a:rPr lang="en-US" altLang="zh-CN" dirty="0" smtClean="0"/>
              <a:t>Enron's </a:t>
            </a:r>
            <a:r>
              <a:rPr lang="en-US" altLang="zh-CN" dirty="0" smtClean="0"/>
              <a:t>principal counterparties on these trades, justified their activities by saying that they hade not harmed Enron and that they had no part in determining how Enron had accounted for the transactions on its books. But both JPMorgan and Citigroup clearly knew what </a:t>
            </a:r>
            <a:r>
              <a:rPr lang="en-US" altLang="zh-CN" dirty="0" smtClean="0"/>
              <a:t>Enron's </a:t>
            </a:r>
            <a:r>
              <a:rPr lang="en-US" altLang="zh-CN" dirty="0" smtClean="0"/>
              <a:t>intent was in entering into the transaction. In the end, they agreed to pay a combined $286 million for “helping to commit a fraud” on </a:t>
            </a:r>
            <a:r>
              <a:rPr lang="en-US" altLang="zh-CN" dirty="0" smtClean="0"/>
              <a:t>Enron's </a:t>
            </a:r>
            <a:r>
              <a:rPr lang="en-US" altLang="zh-CN" dirty="0" smtClean="0"/>
              <a:t>shareholders.</a:t>
            </a:r>
            <a:endParaRPr lang="zh-CN" altLang="en-US" dirty="0"/>
          </a:p>
        </p:txBody>
      </p:sp>
    </p:spTree>
    <p:extLst>
      <p:ext uri="{BB962C8B-B14F-4D97-AF65-F5344CB8AC3E}">
        <p14:creationId xmlns:p14="http://schemas.microsoft.com/office/powerpoint/2010/main" val="1614656725"/>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JP Morgan, Citigroup, and Enron</a:t>
            </a:r>
            <a:endParaRPr lang="zh-CN" altLang="en-US" dirty="0"/>
          </a:p>
        </p:txBody>
      </p:sp>
      <p:grpSp>
        <p:nvGrpSpPr>
          <p:cNvPr id="4" name="组合 3"/>
          <p:cNvGrpSpPr/>
          <p:nvPr/>
        </p:nvGrpSpPr>
        <p:grpSpPr>
          <a:xfrm>
            <a:off x="1054237" y="1349354"/>
            <a:ext cx="8451850" cy="4641850"/>
            <a:chOff x="360363" y="1451446"/>
            <a:chExt cx="8451850" cy="4641850"/>
          </a:xfrm>
        </p:grpSpPr>
        <p:sp>
          <p:nvSpPr>
            <p:cNvPr id="5" name="Rectangle 2"/>
            <p:cNvSpPr>
              <a:spLocks noChangeArrowheads="1"/>
            </p:cNvSpPr>
            <p:nvPr/>
          </p:nvSpPr>
          <p:spPr bwMode="auto">
            <a:xfrm>
              <a:off x="3825875" y="4683596"/>
              <a:ext cx="1439863" cy="1008063"/>
            </a:xfrm>
            <a:prstGeom prst="rect">
              <a:avLst/>
            </a:prstGeom>
            <a:solidFill>
              <a:srgbClr val="FFCDC9"/>
            </a:solidFill>
            <a:ln w="9525" algn="ctr">
              <a:solidFill>
                <a:schemeClr val="tx1"/>
              </a:solidFill>
              <a:round/>
              <a:headEnd/>
              <a:tailEnd/>
            </a:ln>
          </p:spPr>
          <p:txBody>
            <a:bodyPr anchor="ctr"/>
            <a:lstStyle/>
            <a:p>
              <a:pPr algn="ctr">
                <a:buFont typeface="Arial" charset="0"/>
                <a:buNone/>
              </a:pPr>
              <a:r>
                <a:rPr lang="en-US" altLang="zh-CN" sz="2000"/>
                <a:t>Enron</a:t>
              </a:r>
              <a:endParaRPr lang="zh-CN" altLang="en-US" sz="2000"/>
            </a:p>
          </p:txBody>
        </p:sp>
        <p:sp>
          <p:nvSpPr>
            <p:cNvPr id="6" name="Rectangle 3"/>
            <p:cNvSpPr>
              <a:spLocks noChangeArrowheads="1"/>
            </p:cNvSpPr>
            <p:nvPr/>
          </p:nvSpPr>
          <p:spPr bwMode="auto">
            <a:xfrm>
              <a:off x="7235825" y="4683596"/>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000"/>
                <a:t>Mahonia</a:t>
              </a:r>
              <a:endParaRPr lang="zh-CN" altLang="en-US" sz="2000"/>
            </a:p>
          </p:txBody>
        </p:sp>
        <p:sp>
          <p:nvSpPr>
            <p:cNvPr id="7" name="Rectangle 6"/>
            <p:cNvSpPr>
              <a:spLocks noChangeArrowheads="1"/>
            </p:cNvSpPr>
            <p:nvPr/>
          </p:nvSpPr>
          <p:spPr bwMode="auto">
            <a:xfrm>
              <a:off x="495300" y="4683596"/>
              <a:ext cx="1441450" cy="1008063"/>
            </a:xfrm>
            <a:prstGeom prst="rect">
              <a:avLst/>
            </a:prstGeom>
            <a:solidFill>
              <a:srgbClr val="FFCDC9"/>
            </a:solidFill>
            <a:ln w="9525" algn="ctr">
              <a:solidFill>
                <a:schemeClr val="tx1"/>
              </a:solidFill>
              <a:round/>
              <a:headEnd/>
              <a:tailEnd/>
            </a:ln>
          </p:spPr>
          <p:txBody>
            <a:bodyPr anchor="ctr"/>
            <a:lstStyle/>
            <a:p>
              <a:pPr algn="ctr"/>
              <a:r>
                <a:rPr lang="en-US" altLang="zh-CN" sz="2000"/>
                <a:t>Stoneville Aegean</a:t>
              </a:r>
              <a:endParaRPr lang="zh-CN" altLang="en-US" sz="2000"/>
            </a:p>
          </p:txBody>
        </p:sp>
        <p:sp>
          <p:nvSpPr>
            <p:cNvPr id="8" name="Right Arrow 7"/>
            <p:cNvSpPr/>
            <p:nvPr/>
          </p:nvSpPr>
          <p:spPr bwMode="auto">
            <a:xfrm>
              <a:off x="1995488" y="4645496"/>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Gas</a:t>
              </a:r>
            </a:p>
          </p:txBody>
        </p:sp>
        <p:sp>
          <p:nvSpPr>
            <p:cNvPr id="9" name="Rectangle 10"/>
            <p:cNvSpPr>
              <a:spLocks noChangeArrowheads="1"/>
            </p:cNvSpPr>
            <p:nvPr/>
          </p:nvSpPr>
          <p:spPr bwMode="auto">
            <a:xfrm>
              <a:off x="3825875" y="1451446"/>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000" dirty="0"/>
                <a:t>JP Morgan</a:t>
              </a:r>
              <a:endParaRPr lang="zh-CN" altLang="en-US" sz="2000" dirty="0"/>
            </a:p>
          </p:txBody>
        </p:sp>
        <p:sp>
          <p:nvSpPr>
            <p:cNvPr id="10" name="Left Arrow 13"/>
            <p:cNvSpPr/>
            <p:nvPr/>
          </p:nvSpPr>
          <p:spPr bwMode="auto">
            <a:xfrm>
              <a:off x="1995488" y="5185246"/>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$400m + </a:t>
              </a:r>
              <a:r>
                <a:rPr lang="en-US" altLang="zh-CN" dirty="0" err="1">
                  <a:solidFill>
                    <a:schemeClr val="tx1"/>
                  </a:solidFill>
                  <a:latin typeface="Arial" pitchFamily="34" charset="0"/>
                  <a:ea typeface="宋体" pitchFamily="2" charset="-122"/>
                </a:rPr>
                <a:t>i</a:t>
              </a:r>
              <a:endParaRPr lang="zh-CN" altLang="en-US" dirty="0">
                <a:solidFill>
                  <a:schemeClr val="tx1"/>
                </a:solidFill>
                <a:latin typeface="Arial" pitchFamily="34" charset="0"/>
                <a:ea typeface="宋体" pitchFamily="2" charset="-122"/>
              </a:endParaRPr>
            </a:p>
          </p:txBody>
        </p:sp>
        <p:sp>
          <p:nvSpPr>
            <p:cNvPr id="11" name="Right Arrow 14"/>
            <p:cNvSpPr/>
            <p:nvPr/>
          </p:nvSpPr>
          <p:spPr bwMode="auto">
            <a:xfrm>
              <a:off x="5364163" y="4645496"/>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Gas</a:t>
              </a:r>
            </a:p>
          </p:txBody>
        </p:sp>
        <p:sp>
          <p:nvSpPr>
            <p:cNvPr id="12" name="Left Arrow 15"/>
            <p:cNvSpPr/>
            <p:nvPr/>
          </p:nvSpPr>
          <p:spPr bwMode="auto">
            <a:xfrm>
              <a:off x="5364163" y="5185246"/>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$400 million</a:t>
              </a:r>
              <a:endParaRPr lang="zh-CN" altLang="en-US" dirty="0">
                <a:solidFill>
                  <a:schemeClr val="tx1"/>
                </a:solidFill>
                <a:latin typeface="Arial" pitchFamily="34" charset="0"/>
                <a:ea typeface="宋体" pitchFamily="2" charset="-122"/>
              </a:endParaRPr>
            </a:p>
          </p:txBody>
        </p:sp>
        <p:sp>
          <p:nvSpPr>
            <p:cNvPr id="13" name="Up Arrow 16"/>
            <p:cNvSpPr/>
            <p:nvPr/>
          </p:nvSpPr>
          <p:spPr bwMode="auto">
            <a:xfrm rot="3036414">
              <a:off x="2135982" y="1864990"/>
              <a:ext cx="503237" cy="3209925"/>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4" name="Up Arrow 19"/>
            <p:cNvSpPr/>
            <p:nvPr/>
          </p:nvSpPr>
          <p:spPr bwMode="auto">
            <a:xfrm rot="7872518">
              <a:off x="6448425" y="1873722"/>
              <a:ext cx="503237" cy="3211512"/>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5" name="TextBox 20"/>
            <p:cNvSpPr txBox="1">
              <a:spLocks noChangeArrowheads="1"/>
            </p:cNvSpPr>
            <p:nvPr/>
          </p:nvSpPr>
          <p:spPr bwMode="auto">
            <a:xfrm>
              <a:off x="6516688" y="2865909"/>
              <a:ext cx="889000" cy="369887"/>
            </a:xfrm>
            <a:prstGeom prst="rect">
              <a:avLst/>
            </a:prstGeom>
            <a:noFill/>
            <a:ln w="9525">
              <a:noFill/>
              <a:miter lim="800000"/>
              <a:headEnd/>
              <a:tailEnd/>
            </a:ln>
          </p:spPr>
          <p:txBody>
            <a:bodyPr wrap="none">
              <a:spAutoFit/>
            </a:bodyPr>
            <a:lstStyle/>
            <a:p>
              <a:r>
                <a:rPr lang="en-US" altLang="zh-CN"/>
                <a:t>$400m</a:t>
              </a:r>
              <a:endParaRPr lang="zh-CN" altLang="en-US"/>
            </a:p>
          </p:txBody>
        </p:sp>
        <p:sp>
          <p:nvSpPr>
            <p:cNvPr id="16" name="TextBox 21"/>
            <p:cNvSpPr txBox="1">
              <a:spLocks noChangeArrowheads="1"/>
            </p:cNvSpPr>
            <p:nvPr/>
          </p:nvSpPr>
          <p:spPr bwMode="auto">
            <a:xfrm>
              <a:off x="1258888" y="2865909"/>
              <a:ext cx="1204912" cy="369887"/>
            </a:xfrm>
            <a:prstGeom prst="rect">
              <a:avLst/>
            </a:prstGeom>
            <a:noFill/>
            <a:ln w="9525">
              <a:noFill/>
              <a:miter lim="800000"/>
              <a:headEnd/>
              <a:tailEnd/>
            </a:ln>
          </p:spPr>
          <p:txBody>
            <a:bodyPr wrap="none">
              <a:spAutoFit/>
            </a:bodyPr>
            <a:lstStyle/>
            <a:p>
              <a:r>
                <a:rPr lang="en-US" altLang="zh-CN"/>
                <a:t>$400m + i</a:t>
              </a:r>
              <a:endParaRPr lang="zh-CN" altLang="en-US"/>
            </a:p>
          </p:txBody>
        </p:sp>
        <p:sp>
          <p:nvSpPr>
            <p:cNvPr id="17" name="Rounded Rectangle 22"/>
            <p:cNvSpPr/>
            <p:nvPr/>
          </p:nvSpPr>
          <p:spPr bwMode="auto">
            <a:xfrm>
              <a:off x="360363" y="5590059"/>
              <a:ext cx="1711325" cy="503237"/>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 mask of JP</a:t>
              </a:r>
              <a:endParaRPr lang="zh-CN" altLang="en-US" dirty="0">
                <a:solidFill>
                  <a:schemeClr val="tx1"/>
                </a:solidFill>
                <a:latin typeface="Arial" pitchFamily="34" charset="0"/>
                <a:ea typeface="宋体" pitchFamily="2" charset="-122"/>
              </a:endParaRPr>
            </a:p>
          </p:txBody>
        </p:sp>
        <p:sp>
          <p:nvSpPr>
            <p:cNvPr id="18" name="Rounded Rectangle 23"/>
            <p:cNvSpPr/>
            <p:nvPr/>
          </p:nvSpPr>
          <p:spPr bwMode="auto">
            <a:xfrm>
              <a:off x="7100888" y="5590059"/>
              <a:ext cx="1711325" cy="503237"/>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 mask of JP</a:t>
              </a:r>
              <a:endParaRPr lang="zh-CN" altLang="en-US" dirty="0">
                <a:solidFill>
                  <a:schemeClr val="tx1"/>
                </a:solidFill>
                <a:latin typeface="Arial" pitchFamily="34" charset="0"/>
                <a:ea typeface="宋体" pitchFamily="2" charset="-122"/>
              </a:endParaRPr>
            </a:p>
          </p:txBody>
        </p:sp>
      </p:grpSp>
    </p:spTree>
    <p:extLst>
      <p:ext uri="{BB962C8B-B14F-4D97-AF65-F5344CB8AC3E}">
        <p14:creationId xmlns:p14="http://schemas.microsoft.com/office/powerpoint/2010/main" val="1977882488"/>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 </a:t>
            </a:r>
            <a:r>
              <a:rPr lang="en-US" altLang="zh-CN" dirty="0" smtClean="0"/>
              <a:t>JP Morgan</a:t>
            </a:r>
            <a:r>
              <a:rPr lang="en-US" altLang="zh-CN" dirty="0" smtClean="0"/>
              <a:t>, Citigroup, and Enron</a:t>
            </a:r>
            <a:endParaRPr lang="zh-CN" altLang="en-US" dirty="0"/>
          </a:p>
        </p:txBody>
      </p:sp>
      <p:grpSp>
        <p:nvGrpSpPr>
          <p:cNvPr id="4" name="组合 3"/>
          <p:cNvGrpSpPr/>
          <p:nvPr/>
        </p:nvGrpSpPr>
        <p:grpSpPr>
          <a:xfrm>
            <a:off x="495300" y="1327174"/>
            <a:ext cx="9305925" cy="4910138"/>
            <a:chOff x="495300" y="1327174"/>
            <a:chExt cx="8316913" cy="4910138"/>
          </a:xfrm>
        </p:grpSpPr>
        <p:sp>
          <p:nvSpPr>
            <p:cNvPr id="5" name="Rectangle 2"/>
            <p:cNvSpPr>
              <a:spLocks noChangeArrowheads="1"/>
            </p:cNvSpPr>
            <p:nvPr/>
          </p:nvSpPr>
          <p:spPr bwMode="auto">
            <a:xfrm>
              <a:off x="3825875" y="4559324"/>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400"/>
                <a:t>Fishtail</a:t>
              </a:r>
              <a:endParaRPr lang="zh-CN" altLang="en-US" sz="2400"/>
            </a:p>
          </p:txBody>
        </p:sp>
        <p:sp>
          <p:nvSpPr>
            <p:cNvPr id="6" name="Rectangle 3"/>
            <p:cNvSpPr>
              <a:spLocks noChangeArrowheads="1"/>
            </p:cNvSpPr>
            <p:nvPr/>
          </p:nvSpPr>
          <p:spPr bwMode="auto">
            <a:xfrm>
              <a:off x="7235825" y="4559324"/>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400"/>
                <a:t>An SPE</a:t>
              </a:r>
              <a:endParaRPr lang="zh-CN" altLang="en-US" sz="2400"/>
            </a:p>
          </p:txBody>
        </p:sp>
        <p:sp>
          <p:nvSpPr>
            <p:cNvPr id="7" name="Rectangle 6"/>
            <p:cNvSpPr>
              <a:spLocks noChangeArrowheads="1"/>
            </p:cNvSpPr>
            <p:nvPr/>
          </p:nvSpPr>
          <p:spPr bwMode="auto">
            <a:xfrm>
              <a:off x="495300" y="4559324"/>
              <a:ext cx="1441450" cy="1008063"/>
            </a:xfrm>
            <a:prstGeom prst="rect">
              <a:avLst/>
            </a:prstGeom>
            <a:solidFill>
              <a:srgbClr val="FFCDC9"/>
            </a:solidFill>
            <a:ln w="9525" algn="ctr">
              <a:solidFill>
                <a:schemeClr val="tx1"/>
              </a:solidFill>
              <a:round/>
              <a:headEnd/>
              <a:tailEnd/>
            </a:ln>
          </p:spPr>
          <p:txBody>
            <a:bodyPr anchor="ctr"/>
            <a:lstStyle/>
            <a:p>
              <a:pPr algn="ctr"/>
              <a:r>
                <a:rPr lang="en-US" altLang="zh-CN" sz="2400"/>
                <a:t>Enron</a:t>
              </a:r>
              <a:endParaRPr lang="zh-CN" altLang="en-US" sz="2400"/>
            </a:p>
          </p:txBody>
        </p:sp>
        <p:sp>
          <p:nvSpPr>
            <p:cNvPr id="8" name="Right Arrow 7"/>
            <p:cNvSpPr/>
            <p:nvPr/>
          </p:nvSpPr>
          <p:spPr bwMode="auto">
            <a:xfrm>
              <a:off x="1995488" y="4521224"/>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Assets</a:t>
              </a:r>
            </a:p>
          </p:txBody>
        </p:sp>
        <p:sp>
          <p:nvSpPr>
            <p:cNvPr id="9" name="Rectangle 10"/>
            <p:cNvSpPr>
              <a:spLocks noChangeArrowheads="1"/>
            </p:cNvSpPr>
            <p:nvPr/>
          </p:nvSpPr>
          <p:spPr bwMode="auto">
            <a:xfrm>
              <a:off x="3825875" y="1327174"/>
              <a:ext cx="1439863" cy="1008063"/>
            </a:xfrm>
            <a:prstGeom prst="rect">
              <a:avLst/>
            </a:prstGeom>
            <a:solidFill>
              <a:srgbClr val="FFCDC9"/>
            </a:solidFill>
            <a:ln w="9525" algn="ctr">
              <a:solidFill>
                <a:schemeClr val="tx1"/>
              </a:solidFill>
              <a:round/>
              <a:headEnd/>
              <a:tailEnd/>
            </a:ln>
          </p:spPr>
          <p:txBody>
            <a:bodyPr anchor="ctr"/>
            <a:lstStyle/>
            <a:p>
              <a:pPr algn="ctr"/>
              <a:r>
                <a:rPr lang="en-US" altLang="zh-CN" sz="2400"/>
                <a:t>Citi</a:t>
              </a:r>
              <a:endParaRPr lang="zh-CN" altLang="en-US" sz="2400"/>
            </a:p>
          </p:txBody>
        </p:sp>
        <p:sp>
          <p:nvSpPr>
            <p:cNvPr id="10" name="Left Arrow 13"/>
            <p:cNvSpPr/>
            <p:nvPr/>
          </p:nvSpPr>
          <p:spPr bwMode="auto">
            <a:xfrm>
              <a:off x="1995488" y="5060974"/>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$200m</a:t>
              </a:r>
              <a:endParaRPr lang="zh-CN" altLang="en-US" dirty="0">
                <a:solidFill>
                  <a:schemeClr val="tx1"/>
                </a:solidFill>
                <a:latin typeface="Arial" pitchFamily="34" charset="0"/>
                <a:ea typeface="宋体" pitchFamily="2" charset="-122"/>
              </a:endParaRPr>
            </a:p>
          </p:txBody>
        </p:sp>
        <p:sp>
          <p:nvSpPr>
            <p:cNvPr id="11" name="Right Arrow 14"/>
            <p:cNvSpPr/>
            <p:nvPr/>
          </p:nvSpPr>
          <p:spPr bwMode="auto">
            <a:xfrm>
              <a:off x="5364163" y="4521224"/>
              <a:ext cx="1779587" cy="528638"/>
            </a:xfrm>
            <a:prstGeom prst="rightArrow">
              <a:avLst/>
            </a:prstGeom>
            <a:ln>
              <a:headEnd type="none" w="med" len="med"/>
              <a:tailEnd type="none" w="med" len="med"/>
            </a:ln>
            <a:extLst/>
          </p:spPr>
          <p:style>
            <a:lnRef idx="2">
              <a:schemeClr val="accent4"/>
            </a:lnRef>
            <a:fillRef idx="1">
              <a:schemeClr val="lt1"/>
            </a:fillRef>
            <a:effectRef idx="0">
              <a:schemeClr val="accent4"/>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Assets</a:t>
              </a:r>
            </a:p>
          </p:txBody>
        </p:sp>
        <p:sp>
          <p:nvSpPr>
            <p:cNvPr id="12" name="Left Arrow 15"/>
            <p:cNvSpPr/>
            <p:nvPr/>
          </p:nvSpPr>
          <p:spPr bwMode="auto">
            <a:xfrm>
              <a:off x="5364163" y="5060974"/>
              <a:ext cx="1779587" cy="503238"/>
            </a:xfrm>
            <a:prstGeom prst="left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nchor="ctr"/>
            <a:lstStyle/>
            <a:p>
              <a:pPr algn="ctr">
                <a:defRPr/>
              </a:pPr>
              <a:r>
                <a:rPr lang="en-US" altLang="zh-CN" dirty="0">
                  <a:solidFill>
                    <a:schemeClr val="tx1"/>
                  </a:solidFill>
                  <a:latin typeface="Arial" pitchFamily="34" charset="0"/>
                  <a:ea typeface="宋体" pitchFamily="2" charset="-122"/>
                </a:rPr>
                <a:t>$200m</a:t>
              </a:r>
              <a:endParaRPr lang="zh-CN" altLang="en-US" dirty="0">
                <a:solidFill>
                  <a:schemeClr val="tx1"/>
                </a:solidFill>
                <a:latin typeface="Arial" pitchFamily="34" charset="0"/>
                <a:ea typeface="宋体" pitchFamily="2" charset="-122"/>
              </a:endParaRPr>
            </a:p>
          </p:txBody>
        </p:sp>
        <p:sp>
          <p:nvSpPr>
            <p:cNvPr id="13" name="Up Arrow 16"/>
            <p:cNvSpPr/>
            <p:nvPr/>
          </p:nvSpPr>
          <p:spPr bwMode="auto">
            <a:xfrm rot="3036414">
              <a:off x="2135982" y="1740718"/>
              <a:ext cx="503237" cy="3209925"/>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4" name="Up Arrow 19"/>
            <p:cNvSpPr/>
            <p:nvPr/>
          </p:nvSpPr>
          <p:spPr bwMode="auto">
            <a:xfrm rot="7872518">
              <a:off x="6448425" y="1749450"/>
              <a:ext cx="503237" cy="3211512"/>
            </a:xfrm>
            <a:prstGeom prst="upArrow">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buFont typeface="Arial" pitchFamily="34" charset="0"/>
                <a:buNone/>
                <a:defRPr/>
              </a:pPr>
              <a:endParaRPr lang="zh-CN" altLang="en-US">
                <a:solidFill>
                  <a:schemeClr val="tx1"/>
                </a:solidFill>
                <a:latin typeface="Arial" pitchFamily="34" charset="0"/>
                <a:ea typeface="宋体" pitchFamily="2" charset="-122"/>
              </a:endParaRPr>
            </a:p>
          </p:txBody>
        </p:sp>
        <p:sp>
          <p:nvSpPr>
            <p:cNvPr id="15" name="TextBox 20"/>
            <p:cNvSpPr txBox="1">
              <a:spLocks noChangeArrowheads="1"/>
            </p:cNvSpPr>
            <p:nvPr/>
          </p:nvSpPr>
          <p:spPr bwMode="auto">
            <a:xfrm>
              <a:off x="6516688" y="2741637"/>
              <a:ext cx="1536700" cy="369887"/>
            </a:xfrm>
            <a:prstGeom prst="rect">
              <a:avLst/>
            </a:prstGeom>
            <a:noFill/>
            <a:ln w="9525">
              <a:noFill/>
              <a:miter lim="800000"/>
              <a:headEnd/>
              <a:tailEnd/>
            </a:ln>
          </p:spPr>
          <p:txBody>
            <a:bodyPr wrap="none">
              <a:spAutoFit/>
            </a:bodyPr>
            <a:lstStyle/>
            <a:p>
              <a:r>
                <a:rPr lang="en-US" altLang="zh-CN"/>
                <a:t>Loan=$200m</a:t>
              </a:r>
              <a:endParaRPr lang="zh-CN" altLang="en-US"/>
            </a:p>
          </p:txBody>
        </p:sp>
        <p:sp>
          <p:nvSpPr>
            <p:cNvPr id="16" name="TextBox 21"/>
            <p:cNvSpPr txBox="1">
              <a:spLocks noChangeArrowheads="1"/>
            </p:cNvSpPr>
            <p:nvPr/>
          </p:nvSpPr>
          <p:spPr bwMode="auto">
            <a:xfrm>
              <a:off x="1116013" y="2354287"/>
              <a:ext cx="1223962" cy="922337"/>
            </a:xfrm>
            <a:prstGeom prst="rect">
              <a:avLst/>
            </a:prstGeom>
            <a:noFill/>
            <a:ln w="9525">
              <a:noFill/>
              <a:miter lim="800000"/>
              <a:headEnd/>
              <a:tailEnd/>
            </a:ln>
          </p:spPr>
          <p:txBody>
            <a:bodyPr>
              <a:spAutoFit/>
            </a:bodyPr>
            <a:lstStyle/>
            <a:p>
              <a:r>
                <a:rPr lang="en-US" altLang="zh-CN" dirty="0"/>
                <a:t>Return $200m in 6 months</a:t>
              </a:r>
              <a:endParaRPr lang="zh-CN" altLang="en-US" dirty="0"/>
            </a:p>
          </p:txBody>
        </p:sp>
        <p:sp>
          <p:nvSpPr>
            <p:cNvPr id="17" name="Rounded Rectangle 23"/>
            <p:cNvSpPr/>
            <p:nvPr/>
          </p:nvSpPr>
          <p:spPr bwMode="auto">
            <a:xfrm>
              <a:off x="7100888" y="5465787"/>
              <a:ext cx="1711325" cy="771525"/>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Controlled by Enron</a:t>
              </a:r>
              <a:endParaRPr lang="zh-CN" altLang="en-US" dirty="0">
                <a:solidFill>
                  <a:schemeClr val="tx1"/>
                </a:solidFill>
                <a:latin typeface="Arial" pitchFamily="34" charset="0"/>
                <a:ea typeface="宋体" pitchFamily="2" charset="-122"/>
              </a:endParaRPr>
            </a:p>
          </p:txBody>
        </p:sp>
        <p:sp>
          <p:nvSpPr>
            <p:cNvPr id="18" name="Rounded Rectangle 17"/>
            <p:cNvSpPr/>
            <p:nvPr/>
          </p:nvSpPr>
          <p:spPr bwMode="auto">
            <a:xfrm>
              <a:off x="3690938" y="5465787"/>
              <a:ext cx="1711325" cy="771525"/>
            </a:xfrm>
            <a:prstGeom prst="roundRect">
              <a:avLst/>
            </a:prstGeom>
            <a:solidFill>
              <a:srgbClr val="00B050"/>
            </a:solidFill>
            <a:ln>
              <a:solidFill>
                <a:srgbClr val="00B050"/>
              </a:solidFill>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anchor="ctr"/>
            <a:lstStyle/>
            <a:p>
              <a:pPr algn="ctr">
                <a:buFont typeface="Arial" pitchFamily="34" charset="0"/>
                <a:buNone/>
                <a:defRPr/>
              </a:pPr>
              <a:r>
                <a:rPr lang="en-US" altLang="zh-CN" dirty="0">
                  <a:solidFill>
                    <a:schemeClr val="tx1"/>
                  </a:solidFill>
                  <a:latin typeface="Arial" pitchFamily="34" charset="0"/>
                  <a:ea typeface="宋体" pitchFamily="2" charset="-122"/>
                </a:rPr>
                <a:t>Controlled by Enron</a:t>
              </a:r>
              <a:endParaRPr lang="zh-CN" altLang="en-US" dirty="0">
                <a:solidFill>
                  <a:schemeClr val="tx1"/>
                </a:solidFill>
                <a:latin typeface="Arial" pitchFamily="34" charset="0"/>
                <a:ea typeface="宋体" pitchFamily="2" charset="-122"/>
              </a:endParaRPr>
            </a:p>
          </p:txBody>
        </p:sp>
        <p:sp>
          <p:nvSpPr>
            <p:cNvPr id="19" name="Line Callout 3 (Accent Bar) 4"/>
            <p:cNvSpPr/>
            <p:nvPr/>
          </p:nvSpPr>
          <p:spPr bwMode="auto">
            <a:xfrm>
              <a:off x="3332163" y="3084537"/>
              <a:ext cx="2452687" cy="1243012"/>
            </a:xfrm>
            <a:prstGeom prst="accentCallout3">
              <a:avLst>
                <a:gd name="adj1" fmla="val 18750"/>
                <a:gd name="adj2" fmla="val -8333"/>
                <a:gd name="adj3" fmla="val 53785"/>
                <a:gd name="adj4" fmla="val -20081"/>
                <a:gd name="adj5" fmla="val 81957"/>
                <a:gd name="adj6" fmla="val -20682"/>
                <a:gd name="adj7" fmla="val 167227"/>
                <a:gd name="adj8" fmla="val -20583"/>
              </a:avLst>
            </a:prstGeom>
            <a:solidFill>
              <a:schemeClr val="bg2">
                <a:lumMod val="40000"/>
                <a:lumOff val="60000"/>
              </a:schemeClr>
            </a:solidFill>
            <a:ln>
              <a:headEnd type="none" w="med" len="med"/>
              <a:tailEnd type="none" w="med" len="med"/>
            </a:ln>
            <a:extLst/>
          </p:spPr>
          <p:style>
            <a:lnRef idx="1">
              <a:schemeClr val="accent4"/>
            </a:lnRef>
            <a:fillRef idx="2">
              <a:schemeClr val="accent4"/>
            </a:fillRef>
            <a:effectRef idx="1">
              <a:schemeClr val="accent4"/>
            </a:effectRef>
            <a:fontRef idx="minor">
              <a:schemeClr val="dk1"/>
            </a:fontRef>
          </p:style>
          <p:txBody>
            <a:bodyPr/>
            <a:lstStyle/>
            <a:p>
              <a:pPr>
                <a:defRPr/>
              </a:pPr>
              <a:r>
                <a:rPr lang="en-US" altLang="zh-CN" dirty="0"/>
                <a:t>The proceeds of the sale was recorded on </a:t>
              </a:r>
              <a:r>
                <a:rPr lang="en-US" altLang="zh-CN" dirty="0" smtClean="0"/>
                <a:t>Enron's </a:t>
              </a:r>
              <a:r>
                <a:rPr lang="en-US" altLang="zh-CN" dirty="0"/>
                <a:t>2000 earnings report</a:t>
              </a:r>
              <a:endParaRPr lang="zh-CN" altLang="en-US" dirty="0">
                <a:solidFill>
                  <a:schemeClr val="tx1"/>
                </a:solidFill>
                <a:latin typeface="Arial" pitchFamily="34" charset="0"/>
                <a:ea typeface="宋体" pitchFamily="2" charset="-122"/>
              </a:endParaRPr>
            </a:p>
          </p:txBody>
        </p:sp>
      </p:grpSp>
    </p:spTree>
    <p:extLst>
      <p:ext uri="{BB962C8B-B14F-4D97-AF65-F5344CB8AC3E}">
        <p14:creationId xmlns:p14="http://schemas.microsoft.com/office/powerpoint/2010/main" val="1197818014"/>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smtClean="0"/>
              <a:t>A stack-and-roll hedge as described in the Metallgesellschaft case is best described as:</a:t>
            </a:r>
          </a:p>
          <a:p>
            <a:pPr lvl="1"/>
            <a:r>
              <a:rPr lang="en-US" altLang="zh-CN" smtClean="0"/>
              <a:t>Buying futures contracts of different expirations and allowing them to expire in sequence.</a:t>
            </a:r>
          </a:p>
          <a:p>
            <a:pPr lvl="1"/>
            <a:r>
              <a:rPr lang="en-US" altLang="zh-CN" smtClean="0"/>
              <a:t>Buying futures contracts of different expirations and closing out the position shortly before expiration.</a:t>
            </a:r>
          </a:p>
          <a:p>
            <a:pPr lvl="1"/>
            <a:r>
              <a:rPr lang="en-US" altLang="zh-CN" smtClean="0"/>
              <a:t>Using short-term futures to hedge a long-term risk exposure by replacing them with longer-term contracts shortly before they expire.</a:t>
            </a:r>
          </a:p>
          <a:p>
            <a:pPr lvl="1"/>
            <a:r>
              <a:rPr lang="en-US" altLang="zh-CN" smtClean="0"/>
              <a:t>Using short-term futures contracts with a larger notional value than the long-term risk they are meant to hedge. </a:t>
            </a:r>
          </a:p>
          <a:p>
            <a:pPr lvl="1"/>
            <a:endParaRPr lang="en-US" altLang="zh-CN" smtClean="0"/>
          </a:p>
          <a:p>
            <a:r>
              <a:rPr lang="en-US" altLang="zh-CN" smtClean="0"/>
              <a:t>Correct answer : C</a:t>
            </a:r>
            <a:endParaRPr lang="en-US" altLang="zh-CN" dirty="0"/>
          </a:p>
        </p:txBody>
      </p:sp>
      <p:sp>
        <p:nvSpPr>
          <p:cNvPr id="3" name="标题 2"/>
          <p:cNvSpPr>
            <a:spLocks noGrp="1"/>
          </p:cNvSpPr>
          <p:nvPr>
            <p:ph type="title"/>
          </p:nvPr>
        </p:nvSpPr>
        <p:spPr/>
        <p:txBody>
          <a:bodyPr/>
          <a:lstStyle/>
          <a:p>
            <a:r>
              <a:rPr lang="en-US" altLang="zh-CN" smtClean="0">
                <a:sym typeface="+mn-lt"/>
              </a:rPr>
              <a:t>Practice 1</a:t>
            </a:r>
            <a:endParaRPr lang="zh-CN" altLang="en-US" dirty="0">
              <a:sym typeface="+mn-lt"/>
            </a:endParaRPr>
          </a:p>
        </p:txBody>
      </p:sp>
    </p:spTree>
    <p:extLst>
      <p:ext uri="{BB962C8B-B14F-4D97-AF65-F5344CB8AC3E}">
        <p14:creationId xmlns:p14="http://schemas.microsoft.com/office/powerpoint/2010/main" val="101090571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2500"/>
          </a:bodyPr>
          <a:lstStyle/>
          <a:p>
            <a:r>
              <a:rPr lang="en-US" altLang="zh-CN" dirty="0" smtClean="0"/>
              <a:t>Past financial disasters have resulted when a firm allows a trader to have dual roles as both the head of trading and the head of the back-office support function. Which of the following case studies did not involve this particular operational risk oversight?</a:t>
            </a:r>
          </a:p>
          <a:p>
            <a:pPr lvl="1"/>
            <a:r>
              <a:rPr lang="en-US" altLang="zh-CN" dirty="0" smtClean="0"/>
              <a:t>Drysdale Securities</a:t>
            </a:r>
          </a:p>
          <a:p>
            <a:pPr lvl="1"/>
            <a:r>
              <a:rPr lang="en-US" altLang="zh-CN" dirty="0" smtClean="0"/>
              <a:t>Allied Irish Bank</a:t>
            </a:r>
          </a:p>
          <a:p>
            <a:pPr lvl="1"/>
            <a:r>
              <a:rPr lang="en-US" altLang="zh-CN" dirty="0" smtClean="0"/>
              <a:t>Barings</a:t>
            </a:r>
          </a:p>
          <a:p>
            <a:pPr lvl="1"/>
            <a:r>
              <a:rPr lang="en-US" altLang="zh-CN" dirty="0" smtClean="0"/>
              <a:t>I only</a:t>
            </a:r>
          </a:p>
          <a:p>
            <a:pPr lvl="1"/>
            <a:r>
              <a:rPr lang="en-US" altLang="zh-CN" dirty="0" smtClean="0"/>
              <a:t>II and III</a:t>
            </a:r>
          </a:p>
          <a:p>
            <a:pPr lvl="1"/>
            <a:r>
              <a:rPr lang="en-US" altLang="zh-CN" dirty="0" smtClean="0"/>
              <a:t>I and II</a:t>
            </a:r>
          </a:p>
          <a:p>
            <a:pPr lvl="1"/>
            <a:r>
              <a:rPr lang="en-US" altLang="zh-CN" dirty="0" smtClean="0"/>
              <a:t>I, II, and III</a:t>
            </a:r>
          </a:p>
          <a:p>
            <a:pPr lvl="1"/>
            <a:endParaRPr lang="en-US" altLang="zh-CN" dirty="0" smtClean="0"/>
          </a:p>
          <a:p>
            <a:r>
              <a:rPr lang="en-US" altLang="zh-CN" dirty="0" smtClean="0"/>
              <a:t>Correct answer : C</a:t>
            </a:r>
            <a:endParaRPr lang="zh-CN" altLang="en-US" dirty="0"/>
          </a:p>
        </p:txBody>
      </p:sp>
      <p:sp>
        <p:nvSpPr>
          <p:cNvPr id="3" name="标题 2"/>
          <p:cNvSpPr>
            <a:spLocks noGrp="1"/>
          </p:cNvSpPr>
          <p:nvPr>
            <p:ph type="title"/>
          </p:nvPr>
        </p:nvSpPr>
        <p:spPr/>
        <p:txBody>
          <a:bodyPr/>
          <a:lstStyle/>
          <a:p>
            <a:r>
              <a:rPr lang="en-US" altLang="zh-CN" smtClean="0">
                <a:sym typeface="+mn-lt"/>
              </a:rPr>
              <a:t>Practice 2</a:t>
            </a:r>
            <a:endParaRPr lang="zh-CN" altLang="en-US" dirty="0">
              <a:sym typeface="+mn-lt"/>
            </a:endParaRPr>
          </a:p>
        </p:txBody>
      </p:sp>
    </p:spTree>
    <p:extLst>
      <p:ext uri="{BB962C8B-B14F-4D97-AF65-F5344CB8AC3E}">
        <p14:creationId xmlns:p14="http://schemas.microsoft.com/office/powerpoint/2010/main" val="4239003805"/>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mtClean="0"/>
              <a:t>Which of the following is a common attribute of the collapse at both Metallgesellschaft and Long-Term Capital Management (LTCM)?</a:t>
            </a:r>
          </a:p>
          <a:p>
            <a:pPr lvl="1"/>
            <a:r>
              <a:rPr lang="en-US" altLang="zh-CN" smtClean="0"/>
              <a:t>Cash flow problems caused by large mark to market losses.</a:t>
            </a:r>
          </a:p>
          <a:p>
            <a:pPr lvl="1"/>
            <a:r>
              <a:rPr lang="en-US" altLang="zh-CN" smtClean="0"/>
              <a:t>High Leverage.</a:t>
            </a:r>
          </a:p>
          <a:p>
            <a:pPr lvl="1"/>
            <a:r>
              <a:rPr lang="en-US" altLang="zh-CN" smtClean="0"/>
              <a:t>Fraud.</a:t>
            </a:r>
          </a:p>
          <a:p>
            <a:pPr lvl="1"/>
            <a:r>
              <a:rPr lang="en-US" altLang="zh-CN" smtClean="0"/>
              <a:t>There are no similarities between the causes of the collapse at Metallgesellschaft and LTCM.</a:t>
            </a:r>
          </a:p>
          <a:p>
            <a:pPr lvl="1"/>
            <a:endParaRPr lang="en-US" altLang="zh-CN" smtClean="0"/>
          </a:p>
          <a:p>
            <a:pPr lvl="1"/>
            <a:endParaRPr lang="en-US" altLang="zh-CN" smtClean="0"/>
          </a:p>
          <a:p>
            <a:pPr lvl="1"/>
            <a:r>
              <a:rPr lang="en-US" altLang="zh-CN" smtClean="0"/>
              <a:t>Correct answer : A</a:t>
            </a:r>
          </a:p>
          <a:p>
            <a:pPr lvl="1"/>
            <a:endParaRPr lang="en-US" altLang="zh-CN" dirty="0"/>
          </a:p>
        </p:txBody>
      </p:sp>
      <p:sp>
        <p:nvSpPr>
          <p:cNvPr id="3" name="标题 2"/>
          <p:cNvSpPr>
            <a:spLocks noGrp="1"/>
          </p:cNvSpPr>
          <p:nvPr>
            <p:ph type="title"/>
          </p:nvPr>
        </p:nvSpPr>
        <p:spPr/>
        <p:txBody>
          <a:bodyPr/>
          <a:lstStyle/>
          <a:p>
            <a:r>
              <a:rPr lang="en-US" altLang="zh-CN" smtClean="0">
                <a:sym typeface="+mn-lt"/>
              </a:rPr>
              <a:t>Practice 3</a:t>
            </a:r>
            <a:endParaRPr lang="zh-CN" altLang="en-US" dirty="0">
              <a:sym typeface="+mn-lt"/>
            </a:endParaRPr>
          </a:p>
        </p:txBody>
      </p:sp>
    </p:spTree>
    <p:extLst>
      <p:ext uri="{BB962C8B-B14F-4D97-AF65-F5344CB8AC3E}">
        <p14:creationId xmlns:p14="http://schemas.microsoft.com/office/powerpoint/2010/main" val="3664823881"/>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a:bodyPr>
          <a:lstStyle/>
          <a:p>
            <a:r>
              <a:rPr lang="en-US" altLang="zh-CN" dirty="0" smtClean="0"/>
              <a:t>In the case of Barings Bank (Barings), Nick Leeson incurred huge trading losses. Which of the following statements correctly describes one of the factors that led to the bankruptcy of Barings?</a:t>
            </a:r>
          </a:p>
          <a:p>
            <a:pPr lvl="1"/>
            <a:r>
              <a:rPr lang="en-US" altLang="zh-CN" dirty="0" smtClean="0"/>
              <a:t>Barings had insufficient liquidity to cover marked to market losses.</a:t>
            </a:r>
          </a:p>
          <a:p>
            <a:pPr lvl="1"/>
            <a:r>
              <a:rPr lang="en-US" altLang="zh-CN" dirty="0" smtClean="0"/>
              <a:t>Leeson used a long straddle strategy on the Nikkei 225.</a:t>
            </a:r>
          </a:p>
          <a:p>
            <a:pPr lvl="1"/>
            <a:r>
              <a:rPr lang="en-US" altLang="zh-CN" dirty="0" smtClean="0"/>
              <a:t>Leeson held speculative double short positions in the market for Nikkei 225 futures contracts.</a:t>
            </a:r>
          </a:p>
          <a:p>
            <a:pPr lvl="1"/>
            <a:r>
              <a:rPr lang="en-US" altLang="zh-CN" dirty="0" smtClean="0"/>
              <a:t>There was ambiguity concerning who was responsible for performing specific oversight functions.</a:t>
            </a:r>
          </a:p>
          <a:p>
            <a:pPr lvl="1"/>
            <a:endParaRPr lang="en-US" altLang="zh-CN" dirty="0" smtClean="0"/>
          </a:p>
          <a:p>
            <a:r>
              <a:rPr lang="en-US" altLang="zh-CN" dirty="0" smtClean="0"/>
              <a:t>Correct answer : D</a:t>
            </a:r>
          </a:p>
          <a:p>
            <a:pPr lvl="1"/>
            <a:endParaRPr lang="en-US" altLang="zh-CN" dirty="0"/>
          </a:p>
        </p:txBody>
      </p:sp>
      <p:sp>
        <p:nvSpPr>
          <p:cNvPr id="3" name="标题 2"/>
          <p:cNvSpPr>
            <a:spLocks noGrp="1"/>
          </p:cNvSpPr>
          <p:nvPr>
            <p:ph type="title"/>
          </p:nvPr>
        </p:nvSpPr>
        <p:spPr/>
        <p:txBody>
          <a:bodyPr/>
          <a:lstStyle/>
          <a:p>
            <a:r>
              <a:rPr lang="en-US" altLang="zh-CN" smtClean="0">
                <a:sym typeface="+mn-lt"/>
              </a:rPr>
              <a:t>Practice 4</a:t>
            </a:r>
            <a:endParaRPr lang="zh-CN" altLang="en-US" dirty="0">
              <a:sym typeface="+mn-lt"/>
            </a:endParaRPr>
          </a:p>
        </p:txBody>
      </p:sp>
    </p:spTree>
    <p:extLst>
      <p:ext uri="{BB962C8B-B14F-4D97-AF65-F5344CB8AC3E}">
        <p14:creationId xmlns:p14="http://schemas.microsoft.com/office/powerpoint/2010/main" val="284284000"/>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Deciphering the Liquidity and Credit Crunch </a:t>
            </a:r>
            <a:r>
              <a:rPr lang="en-US" altLang="zh-CN" dirty="0" smtClean="0"/>
              <a:t>2007-2008</a:t>
            </a:r>
            <a:endParaRPr lang="zh-CN" altLang="en-US" dirty="0"/>
          </a:p>
        </p:txBody>
      </p:sp>
    </p:spTree>
    <p:extLst>
      <p:ext uri="{BB962C8B-B14F-4D97-AF65-F5344CB8AC3E}">
        <p14:creationId xmlns:p14="http://schemas.microsoft.com/office/powerpoint/2010/main" val="2679526254"/>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Banking </a:t>
            </a:r>
            <a:r>
              <a:rPr lang="en-US" altLang="zh-CN" dirty="0"/>
              <a:t>Industry </a:t>
            </a:r>
            <a:r>
              <a:rPr lang="en-US" altLang="zh-CN" dirty="0" smtClean="0"/>
              <a:t>Trends</a:t>
            </a:r>
          </a:p>
          <a:p>
            <a:r>
              <a:rPr lang="en-US" altLang="zh-CN" dirty="0"/>
              <a:t>The Unfolding of the</a:t>
            </a:r>
            <a:r>
              <a:rPr lang="zh-CN" altLang="en-US" dirty="0"/>
              <a:t> </a:t>
            </a:r>
            <a:r>
              <a:rPr lang="en-US" altLang="zh-CN" dirty="0" smtClean="0"/>
              <a:t>Crisis</a:t>
            </a:r>
          </a:p>
          <a:p>
            <a:r>
              <a:rPr lang="en-US" altLang="zh-CN" dirty="0" smtClean="0"/>
              <a:t>Amplifying </a:t>
            </a:r>
            <a:r>
              <a:rPr lang="en-US" altLang="zh-CN" dirty="0"/>
              <a:t>Mechanisms and Recurring Themes</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367995524"/>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dirty="0" smtClean="0"/>
              <a:t>Trend 1: Securitization.</a:t>
            </a:r>
            <a:r>
              <a:rPr lang="zh-CN" altLang="en-US" dirty="0" smtClean="0"/>
              <a:t> </a:t>
            </a:r>
            <a:r>
              <a:rPr lang="en-US" altLang="en-US" dirty="0" smtClean="0"/>
              <a:t>“</a:t>
            </a:r>
            <a:r>
              <a:rPr lang="en-US" altLang="zh-CN" dirty="0" smtClean="0"/>
              <a:t>Originate and distribute” model:</a:t>
            </a:r>
            <a:r>
              <a:rPr lang="zh-CN" altLang="en-US" dirty="0" smtClean="0"/>
              <a:t> </a:t>
            </a:r>
            <a:r>
              <a:rPr lang="en-US" altLang="zh-CN" dirty="0" smtClean="0"/>
              <a:t>banks repackaged loans and passed them on to various other financial investors.</a:t>
            </a:r>
          </a:p>
          <a:p>
            <a:pPr lvl="1"/>
            <a:r>
              <a:rPr lang="en-US" altLang="zh-CN" dirty="0" smtClean="0"/>
              <a:t>Collateralized Debt Obligations (CDOs).</a:t>
            </a:r>
          </a:p>
          <a:p>
            <a:pPr lvl="1"/>
            <a:r>
              <a:rPr lang="en-US" altLang="zh-CN" dirty="0" smtClean="0"/>
              <a:t>Tranches:</a:t>
            </a:r>
            <a:r>
              <a:rPr lang="zh-CN" altLang="en-US" dirty="0" smtClean="0"/>
              <a:t> </a:t>
            </a:r>
            <a:r>
              <a:rPr lang="en-US" altLang="zh-CN" dirty="0" smtClean="0"/>
              <a:t>senior, equity,</a:t>
            </a:r>
            <a:r>
              <a:rPr lang="zh-CN" altLang="en-US" dirty="0" smtClean="0"/>
              <a:t> </a:t>
            </a:r>
            <a:r>
              <a:rPr lang="en-US" altLang="zh-CN" dirty="0" smtClean="0"/>
              <a:t>mezzanine tranches.</a:t>
            </a:r>
          </a:p>
          <a:p>
            <a:pPr lvl="1"/>
            <a:r>
              <a:rPr lang="en-US" altLang="zh-CN" dirty="0" smtClean="0"/>
              <a:t>Credit Default Swaps (CDS): buyers of these tranches can protect themselves by purchasing CDS contracts insuring against the default.</a:t>
            </a:r>
          </a:p>
          <a:p>
            <a:endParaRPr lang="zh-CN" altLang="en-US" dirty="0"/>
          </a:p>
        </p:txBody>
      </p:sp>
    </p:spTree>
    <p:extLst>
      <p:ext uri="{BB962C8B-B14F-4D97-AF65-F5344CB8AC3E}">
        <p14:creationId xmlns:p14="http://schemas.microsoft.com/office/powerpoint/2010/main" val="3533624255"/>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smtClean="0"/>
              <a:t>Trend 2: Shortening the Maturity Structure</a:t>
            </a:r>
            <a:r>
              <a:rPr lang="zh-CN" altLang="en-US" smtClean="0"/>
              <a:t> </a:t>
            </a:r>
            <a:r>
              <a:rPr lang="en-US" altLang="zh-CN" smtClean="0"/>
              <a:t>and</a:t>
            </a:r>
            <a:r>
              <a:rPr lang="zh-CN" altLang="en-US" smtClean="0"/>
              <a:t> </a:t>
            </a:r>
            <a:r>
              <a:rPr lang="en-US" altLang="zh-CN" smtClean="0"/>
              <a:t>Resulting</a:t>
            </a:r>
            <a:r>
              <a:rPr lang="zh-CN" altLang="en-US" smtClean="0"/>
              <a:t> </a:t>
            </a:r>
            <a:r>
              <a:rPr lang="en-US" altLang="zh-CN" smtClean="0"/>
              <a:t>the</a:t>
            </a:r>
            <a:r>
              <a:rPr lang="zh-CN" altLang="en-US" smtClean="0"/>
              <a:t> </a:t>
            </a:r>
            <a:r>
              <a:rPr lang="en-US" altLang="en-US" smtClean="0"/>
              <a:t>Maturity Mismatch</a:t>
            </a:r>
          </a:p>
          <a:p>
            <a:pPr lvl="1"/>
            <a:r>
              <a:rPr lang="en-US" altLang="zh-CN" smtClean="0"/>
              <a:t>Most investors prefer assets with short maturities.</a:t>
            </a:r>
          </a:p>
          <a:p>
            <a:pPr lvl="2"/>
            <a:r>
              <a:rPr lang="en-US" altLang="zh-CN" smtClean="0"/>
              <a:t>To withdraw funds at short notice.</a:t>
            </a:r>
          </a:p>
          <a:p>
            <a:pPr lvl="1"/>
            <a:r>
              <a:rPr lang="en-US" altLang="zh-CN" smtClean="0"/>
              <a:t>But most investment</a:t>
            </a:r>
            <a:r>
              <a:rPr lang="zh-CN" altLang="en-US" smtClean="0"/>
              <a:t> </a:t>
            </a:r>
            <a:r>
              <a:rPr lang="en-US" altLang="zh-CN" smtClean="0"/>
              <a:t>mortgages have</a:t>
            </a:r>
            <a:r>
              <a:rPr lang="zh-CN" altLang="en-US" smtClean="0"/>
              <a:t> </a:t>
            </a:r>
            <a:r>
              <a:rPr lang="en-US" altLang="zh-CN" smtClean="0"/>
              <a:t>long maturities.</a:t>
            </a:r>
          </a:p>
          <a:p>
            <a:pPr lvl="1"/>
            <a:r>
              <a:rPr lang="en-US" altLang="zh-CN" smtClean="0"/>
              <a:t>As</a:t>
            </a:r>
            <a:r>
              <a:rPr lang="zh-CN" altLang="en-US" smtClean="0"/>
              <a:t> </a:t>
            </a:r>
            <a:r>
              <a:rPr lang="en-US" altLang="zh-CN" smtClean="0"/>
              <a:t>a</a:t>
            </a:r>
            <a:r>
              <a:rPr lang="zh-CN" altLang="en-US" smtClean="0"/>
              <a:t> </a:t>
            </a:r>
            <a:r>
              <a:rPr lang="en-US" altLang="zh-CN" smtClean="0"/>
              <a:t>result,</a:t>
            </a:r>
            <a:r>
              <a:rPr lang="zh-CN" altLang="en-US" smtClean="0"/>
              <a:t> </a:t>
            </a:r>
            <a:r>
              <a:rPr lang="en-US" altLang="zh-CN" smtClean="0"/>
              <a:t>banks increasingly financed their asset holdings with shorter maturity instruments.</a:t>
            </a:r>
            <a:endParaRPr lang="en-US" altLang="zh-CN" dirty="0"/>
          </a:p>
        </p:txBody>
      </p:sp>
    </p:spTree>
    <p:extLst>
      <p:ext uri="{BB962C8B-B14F-4D97-AF65-F5344CB8AC3E}">
        <p14:creationId xmlns:p14="http://schemas.microsoft.com/office/powerpoint/2010/main" val="3319046261"/>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smtClean="0"/>
              <a:t>Shadow Banks</a:t>
            </a:r>
          </a:p>
          <a:p>
            <a:pPr lvl="1"/>
            <a:r>
              <a:rPr lang="en-US" altLang="zh-CN" smtClean="0"/>
              <a:t>Raise funds by lending short-term asset-backed commercial paper.</a:t>
            </a:r>
          </a:p>
          <a:p>
            <a:pPr lvl="1"/>
            <a:r>
              <a:rPr lang="en-US" altLang="zh-CN" smtClean="0"/>
              <a:t>The short-term assets are backed by a pool of mortgages.</a:t>
            </a:r>
          </a:p>
          <a:p>
            <a:pPr lvl="1"/>
            <a:r>
              <a:rPr lang="en-US" altLang="zh-CN" smtClean="0"/>
              <a:t>In the case of default, owners of the asset-backed commercial paper have the power to sell the underlying collateral assets.</a:t>
            </a:r>
          </a:p>
          <a:p>
            <a:pPr lvl="1"/>
            <a:r>
              <a:rPr lang="en-US" altLang="zh-CN" smtClean="0"/>
              <a:t>But</a:t>
            </a:r>
            <a:r>
              <a:rPr lang="zh-CN" altLang="en-US" smtClean="0"/>
              <a:t> </a:t>
            </a:r>
            <a:r>
              <a:rPr lang="en-US" altLang="zh-CN" smtClean="0"/>
              <a:t>exposes the banks to funding liquidity risk</a:t>
            </a:r>
            <a:r>
              <a:rPr lang="zh-CN" altLang="en-US" smtClean="0"/>
              <a:t> </a:t>
            </a:r>
            <a:r>
              <a:rPr lang="en-US" altLang="zh-CN" smtClean="0"/>
              <a:t>(borrow</a:t>
            </a:r>
            <a:r>
              <a:rPr lang="zh-CN" altLang="en-US" smtClean="0"/>
              <a:t> </a:t>
            </a:r>
            <a:r>
              <a:rPr lang="en-US" altLang="zh-CN" smtClean="0"/>
              <a:t>short</a:t>
            </a:r>
            <a:r>
              <a:rPr lang="zh-CN" altLang="en-US" smtClean="0"/>
              <a:t> </a:t>
            </a:r>
            <a:r>
              <a:rPr lang="en-US" altLang="zh-CN" smtClean="0"/>
              <a:t>and</a:t>
            </a:r>
            <a:r>
              <a:rPr lang="zh-CN" altLang="en-US" smtClean="0"/>
              <a:t> </a:t>
            </a:r>
            <a:r>
              <a:rPr lang="en-US" altLang="zh-CN" smtClean="0"/>
              <a:t>invest</a:t>
            </a:r>
            <a:r>
              <a:rPr lang="zh-CN" altLang="en-US" smtClean="0"/>
              <a:t> </a:t>
            </a:r>
            <a:r>
              <a:rPr lang="en-US" altLang="zh-CN" smtClean="0"/>
              <a:t>in</a:t>
            </a:r>
            <a:r>
              <a:rPr lang="zh-CN" altLang="en-US" smtClean="0"/>
              <a:t> </a:t>
            </a:r>
            <a:r>
              <a:rPr lang="en-US" altLang="zh-CN" smtClean="0"/>
              <a:t>long).</a:t>
            </a:r>
            <a:endParaRPr lang="en-US" altLang="zh-CN" dirty="0"/>
          </a:p>
        </p:txBody>
      </p:sp>
    </p:spTree>
    <p:extLst>
      <p:ext uri="{BB962C8B-B14F-4D97-AF65-F5344CB8AC3E}">
        <p14:creationId xmlns:p14="http://schemas.microsoft.com/office/powerpoint/2010/main" val="3319046261"/>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smtClean="0"/>
              <a:t>Short-term Repurchase Agreements (repos)</a:t>
            </a:r>
          </a:p>
          <a:p>
            <a:pPr lvl="1"/>
            <a:r>
              <a:rPr lang="en-US" altLang="zh-CN" smtClean="0"/>
              <a:t>Repo: A ﬁrm borrows funds by selling a collateral asset today and promising to repurchase it at a later date.</a:t>
            </a:r>
          </a:p>
          <a:p>
            <a:pPr lvl="1"/>
            <a:r>
              <a:rPr lang="en-US" altLang="zh-CN" smtClean="0"/>
              <a:t>Overnight</a:t>
            </a:r>
            <a:r>
              <a:rPr lang="zh-CN" altLang="en-US" smtClean="0"/>
              <a:t> </a:t>
            </a:r>
            <a:r>
              <a:rPr lang="en-US" altLang="zh-CN" smtClean="0"/>
              <a:t>repos:</a:t>
            </a:r>
            <a:r>
              <a:rPr lang="zh-CN" altLang="en-US" smtClean="0"/>
              <a:t> </a:t>
            </a:r>
            <a:r>
              <a:rPr lang="en-US" altLang="zh-CN" smtClean="0"/>
              <a:t>banks</a:t>
            </a:r>
            <a:r>
              <a:rPr lang="zh-CN" altLang="en-US" smtClean="0"/>
              <a:t> </a:t>
            </a:r>
            <a:r>
              <a:rPr lang="en-US" altLang="zh-CN" smtClean="0"/>
              <a:t>have</a:t>
            </a:r>
            <a:r>
              <a:rPr lang="zh-CN" altLang="en-US" smtClean="0"/>
              <a:t> </a:t>
            </a:r>
            <a:r>
              <a:rPr lang="en-US" altLang="zh-CN" smtClean="0"/>
              <a:t>to</a:t>
            </a:r>
            <a:r>
              <a:rPr lang="zh-CN" altLang="en-US" smtClean="0"/>
              <a:t> </a:t>
            </a:r>
            <a:r>
              <a:rPr lang="en-US" altLang="zh-CN" smtClean="0"/>
              <a:t>roll</a:t>
            </a:r>
            <a:r>
              <a:rPr lang="zh-CN" altLang="en-US" smtClean="0"/>
              <a:t> </a:t>
            </a:r>
            <a:r>
              <a:rPr lang="en-US" altLang="zh-CN" smtClean="0"/>
              <a:t>over</a:t>
            </a:r>
            <a:r>
              <a:rPr lang="zh-CN" altLang="en-US" smtClean="0"/>
              <a:t> </a:t>
            </a:r>
            <a:r>
              <a:rPr lang="en-US" altLang="zh-CN" smtClean="0"/>
              <a:t>their</a:t>
            </a:r>
            <a:r>
              <a:rPr lang="zh-CN" altLang="en-US" smtClean="0"/>
              <a:t> </a:t>
            </a:r>
            <a:r>
              <a:rPr lang="en-US" altLang="zh-CN" smtClean="0"/>
              <a:t>funding</a:t>
            </a:r>
            <a:r>
              <a:rPr lang="zh-CN" altLang="en-US" smtClean="0"/>
              <a:t> </a:t>
            </a:r>
            <a:r>
              <a:rPr lang="en-US" altLang="zh-CN" smtClean="0"/>
              <a:t>on</a:t>
            </a:r>
            <a:r>
              <a:rPr lang="zh-CN" altLang="en-US" smtClean="0"/>
              <a:t> </a:t>
            </a:r>
            <a:r>
              <a:rPr lang="en-US" altLang="zh-CN" smtClean="0"/>
              <a:t>a</a:t>
            </a:r>
            <a:r>
              <a:rPr lang="zh-CN" altLang="en-US" smtClean="0"/>
              <a:t> </a:t>
            </a:r>
            <a:r>
              <a:rPr lang="en-US" altLang="zh-CN" smtClean="0"/>
              <a:t>daily</a:t>
            </a:r>
            <a:r>
              <a:rPr lang="zh-CN" altLang="en-US" smtClean="0"/>
              <a:t> </a:t>
            </a:r>
            <a:r>
              <a:rPr lang="en-US" altLang="zh-CN" smtClean="0"/>
              <a:t>basis.</a:t>
            </a:r>
          </a:p>
          <a:p>
            <a:r>
              <a:rPr lang="en-US" altLang="zh-CN" smtClean="0"/>
              <a:t>Conclusion</a:t>
            </a:r>
          </a:p>
          <a:p>
            <a:pPr lvl="1"/>
            <a:r>
              <a:rPr lang="en-US" altLang="zh-CN" smtClean="0"/>
              <a:t>Leading up to the crisis,</a:t>
            </a:r>
            <a:r>
              <a:rPr lang="zh-CN" altLang="en-US" smtClean="0"/>
              <a:t> </a:t>
            </a:r>
            <a:r>
              <a:rPr lang="en-US" altLang="zh-CN" smtClean="0"/>
              <a:t>any reduction in funding liquidity could thus lead to significant stress for the financial system.</a:t>
            </a:r>
            <a:endParaRPr lang="en-US" altLang="zh-CN" dirty="0"/>
          </a:p>
        </p:txBody>
      </p:sp>
    </p:spTree>
    <p:extLst>
      <p:ext uri="{BB962C8B-B14F-4D97-AF65-F5344CB8AC3E}">
        <p14:creationId xmlns:p14="http://schemas.microsoft.com/office/powerpoint/2010/main" val="3319046261"/>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smtClean="0"/>
              <a:t>Why</a:t>
            </a:r>
            <a:r>
              <a:rPr lang="zh-CN" altLang="en-US" smtClean="0"/>
              <a:t> </a:t>
            </a:r>
            <a:r>
              <a:rPr lang="en-US" altLang="zh-CN" smtClean="0"/>
              <a:t>the</a:t>
            </a:r>
            <a:r>
              <a:rPr lang="zh-CN" altLang="en-US" smtClean="0"/>
              <a:t> </a:t>
            </a:r>
            <a:r>
              <a:rPr lang="en-US" altLang="zh-CN" smtClean="0"/>
              <a:t>Popularity of Structured Products</a:t>
            </a:r>
            <a:r>
              <a:rPr lang="zh-CN" altLang="en-US" smtClean="0"/>
              <a:t> </a:t>
            </a:r>
            <a:r>
              <a:rPr lang="en-US" altLang="zh-CN" smtClean="0"/>
              <a:t>rises?</a:t>
            </a:r>
          </a:p>
          <a:p>
            <a:pPr lvl="1"/>
            <a:r>
              <a:rPr lang="en-US" altLang="en-US" smtClean="0"/>
              <a:t>Lowering </a:t>
            </a:r>
            <a:r>
              <a:rPr lang="en-US" altLang="zh-CN" smtClean="0"/>
              <a:t>funding</a:t>
            </a:r>
            <a:r>
              <a:rPr lang="zh-CN" altLang="en-US" smtClean="0"/>
              <a:t> </a:t>
            </a:r>
            <a:r>
              <a:rPr lang="en-US" altLang="en-US" smtClean="0"/>
              <a:t>interest rates</a:t>
            </a:r>
            <a:r>
              <a:rPr lang="zh-CN" altLang="en-US" smtClean="0"/>
              <a:t> </a:t>
            </a:r>
            <a:r>
              <a:rPr lang="en-US" altLang="zh-CN" smtClean="0"/>
              <a:t>because</a:t>
            </a:r>
            <a:r>
              <a:rPr lang="zh-CN" altLang="en-US" smtClean="0"/>
              <a:t> </a:t>
            </a:r>
            <a:r>
              <a:rPr lang="en-US" altLang="zh-CN" smtClean="0"/>
              <a:t>risk</a:t>
            </a:r>
            <a:r>
              <a:rPr lang="zh-CN" altLang="en-US" smtClean="0"/>
              <a:t> </a:t>
            </a:r>
            <a:r>
              <a:rPr lang="en-US" altLang="zh-CN" smtClean="0"/>
              <a:t>is</a:t>
            </a:r>
            <a:r>
              <a:rPr lang="zh-CN" altLang="en-US" smtClean="0"/>
              <a:t> </a:t>
            </a:r>
            <a:r>
              <a:rPr lang="en-US" altLang="zh-CN" smtClean="0"/>
              <a:t>transferred.</a:t>
            </a:r>
            <a:endParaRPr lang="en-US" altLang="en-US" smtClean="0"/>
          </a:p>
          <a:p>
            <a:pPr lvl="1"/>
            <a:r>
              <a:rPr lang="en-US" altLang="en-US" smtClean="0"/>
              <a:t>Regulatory and ratings arbitrage:</a:t>
            </a:r>
            <a:r>
              <a:rPr lang="zh-CN" altLang="en-US" smtClean="0"/>
              <a:t> </a:t>
            </a:r>
            <a:r>
              <a:rPr lang="en-US" altLang="zh-CN" smtClean="0"/>
              <a:t>b</a:t>
            </a:r>
            <a:r>
              <a:rPr lang="en-US" altLang="en-US" smtClean="0"/>
              <a:t>anks were able to reduce their capital charges</a:t>
            </a:r>
            <a:r>
              <a:rPr lang="en-US" altLang="zh-CN" smtClean="0"/>
              <a:t>.</a:t>
            </a:r>
          </a:p>
          <a:p>
            <a:pPr lvl="1"/>
            <a:r>
              <a:rPr lang="en-US" altLang="zh-CN" smtClean="0"/>
              <a:t>O</a:t>
            </a:r>
            <a:r>
              <a:rPr lang="en-US" altLang="en-US" smtClean="0"/>
              <a:t>ptimistic forecasts about structured ﬁnance products</a:t>
            </a:r>
            <a:r>
              <a:rPr lang="en-US" altLang="zh-CN" smtClean="0"/>
              <a:t>:</a:t>
            </a:r>
            <a:r>
              <a:rPr lang="zh-CN" altLang="en-US" smtClean="0"/>
              <a:t> </a:t>
            </a:r>
            <a:r>
              <a:rPr lang="en-US" altLang="zh-CN" smtClean="0"/>
              <a:t>low</a:t>
            </a:r>
            <a:r>
              <a:rPr lang="zh-CN" altLang="en-US" smtClean="0"/>
              <a:t> </a:t>
            </a:r>
            <a:r>
              <a:rPr lang="en-US" altLang="zh-CN" smtClean="0"/>
              <a:t>default,</a:t>
            </a:r>
            <a:r>
              <a:rPr lang="zh-CN" altLang="en-US" smtClean="0"/>
              <a:t> </a:t>
            </a:r>
            <a:r>
              <a:rPr lang="en-US" altLang="zh-CN" smtClean="0"/>
              <a:t>low</a:t>
            </a:r>
            <a:r>
              <a:rPr lang="zh-CN" altLang="en-US" smtClean="0"/>
              <a:t> </a:t>
            </a:r>
            <a:r>
              <a:rPr lang="en-US" altLang="zh-CN" smtClean="0"/>
              <a:t>correlation.</a:t>
            </a:r>
            <a:endParaRPr lang="en-US" altLang="en-US" smtClean="0"/>
          </a:p>
          <a:p>
            <a:pPr lvl="1"/>
            <a:r>
              <a:rPr lang="en-US" altLang="zh-CN" smtClean="0"/>
              <a:t>M</a:t>
            </a:r>
            <a:r>
              <a:rPr lang="en-US" altLang="en-US" smtClean="0"/>
              <a:t>ore favourable ratings</a:t>
            </a:r>
            <a:r>
              <a:rPr lang="en-US" altLang="zh-CN" smtClean="0"/>
              <a:t>:</a:t>
            </a:r>
            <a:r>
              <a:rPr lang="zh-CN" altLang="en-US" smtClean="0"/>
              <a:t> </a:t>
            </a:r>
            <a:r>
              <a:rPr lang="en-US" altLang="zh-CN" smtClean="0"/>
              <a:t>higher</a:t>
            </a:r>
            <a:r>
              <a:rPr lang="zh-CN" altLang="en-US" smtClean="0"/>
              <a:t> </a:t>
            </a:r>
            <a:r>
              <a:rPr lang="en-US" altLang="zh-CN" smtClean="0"/>
              <a:t>rating</a:t>
            </a:r>
            <a:r>
              <a:rPr lang="zh-CN" altLang="en-US" smtClean="0"/>
              <a:t> </a:t>
            </a:r>
            <a:r>
              <a:rPr lang="en-US" altLang="zh-CN" smtClean="0"/>
              <a:t>fees,</a:t>
            </a:r>
            <a:r>
              <a:rPr lang="zh-CN" altLang="en-US" smtClean="0"/>
              <a:t> </a:t>
            </a:r>
            <a:r>
              <a:rPr lang="en-US" altLang="zh-CN" smtClean="0"/>
              <a:t>high</a:t>
            </a:r>
            <a:r>
              <a:rPr lang="zh-CN" altLang="en-US" smtClean="0"/>
              <a:t> </a:t>
            </a:r>
            <a:r>
              <a:rPr lang="en-US" altLang="zh-CN" smtClean="0"/>
              <a:t>return.</a:t>
            </a:r>
          </a:p>
          <a:p>
            <a:pPr lvl="1"/>
            <a:r>
              <a:rPr lang="en-US" altLang="zh-CN" smtClean="0"/>
              <a:t>Rating agencies collected higher fees for structured products</a:t>
            </a:r>
            <a:r>
              <a:rPr lang="zh-CN" altLang="en-US" smtClean="0"/>
              <a:t> </a:t>
            </a:r>
            <a:r>
              <a:rPr lang="en-US" altLang="zh-CN" smtClean="0"/>
              <a:t>than</a:t>
            </a:r>
            <a:r>
              <a:rPr lang="zh-CN" altLang="en-US" smtClean="0"/>
              <a:t> </a:t>
            </a:r>
            <a:r>
              <a:rPr lang="en-US" altLang="zh-CN" smtClean="0"/>
              <a:t>corporate</a:t>
            </a:r>
            <a:r>
              <a:rPr lang="zh-CN" altLang="en-US" smtClean="0"/>
              <a:t> </a:t>
            </a:r>
            <a:r>
              <a:rPr lang="en-US" altLang="zh-CN" smtClean="0"/>
              <a:t>bond.</a:t>
            </a:r>
            <a:endParaRPr lang="en-US" altLang="zh-CN" dirty="0"/>
          </a:p>
        </p:txBody>
      </p:sp>
    </p:spTree>
    <p:extLst>
      <p:ext uri="{BB962C8B-B14F-4D97-AF65-F5344CB8AC3E}">
        <p14:creationId xmlns:p14="http://schemas.microsoft.com/office/powerpoint/2010/main" val="3319046261"/>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Banking Industry Trends</a:t>
            </a:r>
            <a:endParaRPr lang="zh-CN" altLang="en-US" dirty="0"/>
          </a:p>
        </p:txBody>
      </p:sp>
      <p:sp>
        <p:nvSpPr>
          <p:cNvPr id="3" name="文本占位符 2"/>
          <p:cNvSpPr>
            <a:spLocks noGrp="1"/>
          </p:cNvSpPr>
          <p:nvPr>
            <p:ph type="body" sz="quarter" idx="10"/>
          </p:nvPr>
        </p:nvSpPr>
        <p:spPr/>
        <p:txBody>
          <a:bodyPr/>
          <a:lstStyle/>
          <a:p>
            <a:r>
              <a:rPr lang="en-US" altLang="zh-CN" smtClean="0"/>
              <a:t>Consequences:</a:t>
            </a:r>
            <a:r>
              <a:rPr lang="zh-CN" altLang="en-US" smtClean="0"/>
              <a:t> </a:t>
            </a:r>
            <a:r>
              <a:rPr lang="en-US" altLang="zh-CN" smtClean="0"/>
              <a:t>Cheap Credit and Low Lending Standards</a:t>
            </a:r>
          </a:p>
          <a:p>
            <a:pPr lvl="1"/>
            <a:r>
              <a:rPr lang="en-US" altLang="zh-CN" smtClean="0"/>
              <a:t>Teaser rates.</a:t>
            </a:r>
          </a:p>
          <a:p>
            <a:pPr lvl="1"/>
            <a:r>
              <a:rPr lang="en-US" altLang="zh-CN" smtClean="0"/>
              <a:t>No-documentation mortgages.</a:t>
            </a:r>
          </a:p>
          <a:p>
            <a:pPr lvl="1"/>
            <a:r>
              <a:rPr lang="en-US" altLang="zh-CN" smtClean="0"/>
              <a:t>NINJA (no income, no job or assets) loans.</a:t>
            </a:r>
          </a:p>
          <a:p>
            <a:pPr lvl="1"/>
            <a:r>
              <a:rPr lang="en-US" altLang="zh-CN" smtClean="0"/>
              <a:t>Reﬁnance another loan using the increased value of a house.</a:t>
            </a:r>
          </a:p>
          <a:p>
            <a:r>
              <a:rPr lang="en-US" altLang="zh-CN" smtClean="0"/>
              <a:t>And</a:t>
            </a:r>
            <a:r>
              <a:rPr lang="zh-CN" altLang="en-US" smtClean="0"/>
              <a:t> </a:t>
            </a:r>
            <a:r>
              <a:rPr lang="en-US" altLang="zh-CN" smtClean="0"/>
              <a:t>housing boom</a:t>
            </a:r>
            <a:r>
              <a:rPr lang="zh-CN" altLang="en-US" smtClean="0"/>
              <a:t> </a:t>
            </a:r>
            <a:r>
              <a:rPr lang="en-US" altLang="zh-CN" smtClean="0"/>
              <a:t>came</a:t>
            </a:r>
            <a:r>
              <a:rPr lang="zh-CN" altLang="en-US" smtClean="0"/>
              <a:t> </a:t>
            </a:r>
            <a:r>
              <a:rPr lang="en-US" altLang="zh-CN" smtClean="0"/>
              <a:t>true!</a:t>
            </a:r>
            <a:endParaRPr lang="en-US" altLang="zh-CN" dirty="0"/>
          </a:p>
        </p:txBody>
      </p:sp>
    </p:spTree>
    <p:extLst>
      <p:ext uri="{BB962C8B-B14F-4D97-AF65-F5344CB8AC3E}">
        <p14:creationId xmlns:p14="http://schemas.microsoft.com/office/powerpoint/2010/main" val="3885585126"/>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The Unfolding of the</a:t>
            </a:r>
            <a:r>
              <a:rPr lang="zh-CN" altLang="en-US" dirty="0" smtClean="0"/>
              <a:t> </a:t>
            </a:r>
            <a:r>
              <a:rPr lang="en-US" altLang="zh-CN" dirty="0" smtClean="0"/>
              <a:t>Crisis</a:t>
            </a:r>
            <a:endParaRPr lang="zh-CN" altLang="en-US" dirty="0"/>
          </a:p>
        </p:txBody>
      </p:sp>
      <p:sp>
        <p:nvSpPr>
          <p:cNvPr id="3" name="文本占位符 2"/>
          <p:cNvSpPr>
            <a:spLocks noGrp="1"/>
          </p:cNvSpPr>
          <p:nvPr>
            <p:ph type="body" sz="quarter" idx="10"/>
          </p:nvPr>
        </p:nvSpPr>
        <p:spPr/>
        <p:txBody>
          <a:bodyPr/>
          <a:lstStyle/>
          <a:p>
            <a:r>
              <a:rPr lang="en-US" altLang="zh-CN" smtClean="0"/>
              <a:t>The Subprime Mortgage Crisis</a:t>
            </a:r>
          </a:p>
          <a:p>
            <a:pPr lvl="1"/>
            <a:r>
              <a:rPr lang="en-US" altLang="zh-CN" smtClean="0"/>
              <a:t>House prices and sales continued to drop.</a:t>
            </a:r>
          </a:p>
          <a:p>
            <a:pPr lvl="1"/>
            <a:r>
              <a:rPr lang="en-US" altLang="zh-CN" smtClean="0"/>
              <a:t>An increase in subprime mortgage defaults: February 2007</a:t>
            </a:r>
          </a:p>
          <a:p>
            <a:pPr lvl="1"/>
            <a:r>
              <a:rPr lang="en-US" altLang="zh-CN" smtClean="0"/>
              <a:t>Rating downgrades.</a:t>
            </a:r>
          </a:p>
          <a:p>
            <a:r>
              <a:rPr lang="en-US" altLang="zh-CN" smtClean="0"/>
              <a:t>Asset-Backed Commercial Paper</a:t>
            </a:r>
          </a:p>
          <a:p>
            <a:pPr lvl="1"/>
            <a:r>
              <a:rPr lang="en-US" altLang="zh-CN" smtClean="0"/>
              <a:t>Money market participants had become reluctant to lend to each other.</a:t>
            </a:r>
          </a:p>
          <a:p>
            <a:r>
              <a:rPr lang="en-US" altLang="zh-CN" smtClean="0"/>
              <a:t>LIBOR: surged upward in times of crises.</a:t>
            </a:r>
          </a:p>
          <a:p>
            <a:endParaRPr lang="en-US" altLang="zh-CN" smtClean="0"/>
          </a:p>
          <a:p>
            <a:endParaRPr lang="zh-CN" altLang="en-US" dirty="0"/>
          </a:p>
        </p:txBody>
      </p:sp>
    </p:spTree>
    <p:extLst>
      <p:ext uri="{BB962C8B-B14F-4D97-AF65-F5344CB8AC3E}">
        <p14:creationId xmlns:p14="http://schemas.microsoft.com/office/powerpoint/2010/main" val="1049589170"/>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The Unfolding of the</a:t>
            </a:r>
            <a:r>
              <a:rPr lang="zh-CN" altLang="en-US" smtClean="0"/>
              <a:t> </a:t>
            </a:r>
            <a:r>
              <a:rPr lang="en-US" altLang="zh-CN" smtClean="0"/>
              <a:t>Crisis</a:t>
            </a:r>
            <a:endParaRPr lang="zh-CN" altLang="en-US" dirty="0"/>
          </a:p>
        </p:txBody>
      </p:sp>
      <p:sp>
        <p:nvSpPr>
          <p:cNvPr id="3" name="文本占位符 2"/>
          <p:cNvSpPr>
            <a:spLocks noGrp="1"/>
          </p:cNvSpPr>
          <p:nvPr>
            <p:ph type="body" sz="quarter" idx="10"/>
          </p:nvPr>
        </p:nvSpPr>
        <p:spPr/>
        <p:txBody>
          <a:bodyPr/>
          <a:lstStyle/>
          <a:p>
            <a:r>
              <a:rPr lang="en-US" altLang="zh-CN" dirty="0" smtClean="0"/>
              <a:t>Central Banks Step Forward</a:t>
            </a:r>
          </a:p>
          <a:p>
            <a:pPr lvl="1"/>
            <a:r>
              <a:rPr lang="en-US" altLang="zh-CN" dirty="0" smtClean="0"/>
              <a:t>To alleviate the liquidity crunch, the Federal Reserve reduced the discount rate, broadened the type of collateral that banks could post, and lengthened the lending horizon.</a:t>
            </a:r>
          </a:p>
          <a:p>
            <a:pPr lvl="1"/>
            <a:r>
              <a:rPr lang="en-US" altLang="zh-CN" dirty="0" smtClean="0"/>
              <a:t>However, banks are reluctant to borrow at the </a:t>
            </a:r>
            <a:r>
              <a:rPr lang="en-US" altLang="zh-CN" dirty="0" smtClean="0"/>
              <a:t>Fed's </a:t>
            </a:r>
            <a:r>
              <a:rPr lang="en-US" altLang="zh-CN" dirty="0" smtClean="0"/>
              <a:t>discount window</a:t>
            </a:r>
            <a:r>
              <a:rPr lang="zh-CN" altLang="en-US" dirty="0" smtClean="0"/>
              <a:t> </a:t>
            </a:r>
            <a:r>
              <a:rPr lang="en-US" altLang="zh-CN" dirty="0" smtClean="0"/>
              <a:t>(showing</a:t>
            </a:r>
            <a:r>
              <a:rPr lang="zh-CN" altLang="en-US" dirty="0" smtClean="0"/>
              <a:t> </a:t>
            </a:r>
            <a:r>
              <a:rPr lang="en-US" altLang="zh-CN" dirty="0" smtClean="0"/>
              <a:t>lack of credit-worthiness).</a:t>
            </a:r>
          </a:p>
          <a:p>
            <a:pPr lvl="1"/>
            <a:r>
              <a:rPr lang="en-US" altLang="zh-CN" dirty="0" smtClean="0"/>
              <a:t>Therefore, the Fed announced the creation of the Term Auction Facility (TAF): banks could borrow anonymously!</a:t>
            </a:r>
          </a:p>
          <a:p>
            <a:endParaRPr lang="zh-CN" altLang="en-US" dirty="0"/>
          </a:p>
        </p:txBody>
      </p:sp>
    </p:spTree>
    <p:extLst>
      <p:ext uri="{BB962C8B-B14F-4D97-AF65-F5344CB8AC3E}">
        <p14:creationId xmlns:p14="http://schemas.microsoft.com/office/powerpoint/2010/main" val="3754786169"/>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The Unfolding of the</a:t>
            </a:r>
            <a:r>
              <a:rPr lang="zh-CN" altLang="en-US" smtClean="0"/>
              <a:t> </a:t>
            </a:r>
            <a:r>
              <a:rPr lang="en-US" altLang="zh-CN" smtClean="0"/>
              <a:t>Crisis</a:t>
            </a:r>
            <a:endParaRPr lang="zh-CN" altLang="en-US" dirty="0"/>
          </a:p>
        </p:txBody>
      </p:sp>
      <p:sp>
        <p:nvSpPr>
          <p:cNvPr id="3" name="文本占位符 2"/>
          <p:cNvSpPr>
            <a:spLocks noGrp="1"/>
          </p:cNvSpPr>
          <p:nvPr>
            <p:ph type="body" sz="quarter" idx="10"/>
          </p:nvPr>
        </p:nvSpPr>
        <p:spPr/>
        <p:txBody>
          <a:bodyPr/>
          <a:lstStyle/>
          <a:p>
            <a:r>
              <a:rPr lang="en-US" altLang="zh-CN" smtClean="0"/>
              <a:t>The Monoline Insurers</a:t>
            </a:r>
          </a:p>
          <a:p>
            <a:pPr lvl="1"/>
            <a:r>
              <a:rPr lang="en-US" altLang="zh-CN" smtClean="0"/>
              <a:t>On the verge of being downgraded by all three major rating agencies</a:t>
            </a:r>
            <a:r>
              <a:rPr lang="zh-CN" altLang="en-US" smtClean="0"/>
              <a:t> </a:t>
            </a:r>
            <a:r>
              <a:rPr lang="en-US" altLang="zh-CN" smtClean="0"/>
              <a:t>⇒</a:t>
            </a:r>
            <a:r>
              <a:rPr lang="zh-CN" altLang="en-US" smtClean="0"/>
              <a:t> </a:t>
            </a:r>
            <a:r>
              <a:rPr lang="en-US" altLang="zh-CN" smtClean="0"/>
              <a:t>triggering</a:t>
            </a:r>
            <a:r>
              <a:rPr lang="zh-CN" altLang="en-US" smtClean="0"/>
              <a:t> </a:t>
            </a:r>
            <a:r>
              <a:rPr lang="en-US" altLang="zh-CN" smtClean="0"/>
              <a:t>a huge sell-off of the assets by money market funds.</a:t>
            </a:r>
          </a:p>
          <a:p>
            <a:r>
              <a:rPr lang="en-US" altLang="zh-CN" smtClean="0"/>
              <a:t>Bear Sterns:</a:t>
            </a:r>
            <a:r>
              <a:rPr lang="zh-CN" altLang="en-US" smtClean="0"/>
              <a:t> </a:t>
            </a:r>
            <a:r>
              <a:rPr lang="en-US" altLang="zh-CN" smtClean="0"/>
              <a:t>was</a:t>
            </a:r>
            <a:r>
              <a:rPr lang="zh-CN" altLang="en-US" smtClean="0"/>
              <a:t> </a:t>
            </a:r>
            <a:r>
              <a:rPr lang="en-US" altLang="zh-CN" smtClean="0"/>
              <a:t>acquired</a:t>
            </a:r>
            <a:r>
              <a:rPr lang="zh-CN" altLang="en-US" smtClean="0"/>
              <a:t> </a:t>
            </a:r>
            <a:r>
              <a:rPr lang="en-US" altLang="zh-CN" smtClean="0"/>
              <a:t>by</a:t>
            </a:r>
            <a:r>
              <a:rPr lang="zh-CN" altLang="en-US" smtClean="0"/>
              <a:t> </a:t>
            </a:r>
            <a:r>
              <a:rPr lang="en-US" altLang="zh-CN" smtClean="0"/>
              <a:t>JPMorgan Chase.</a:t>
            </a:r>
          </a:p>
          <a:p>
            <a:r>
              <a:rPr lang="en-US" altLang="zh-CN" smtClean="0"/>
              <a:t>Government-Sponsored Enterprises</a:t>
            </a:r>
          </a:p>
          <a:p>
            <a:pPr lvl="1"/>
            <a:r>
              <a:rPr lang="en-US" altLang="zh-CN" smtClean="0"/>
              <a:t>Problems at Fannie and Freddie flared up.</a:t>
            </a:r>
          </a:p>
          <a:p>
            <a:pPr lvl="1"/>
            <a:r>
              <a:rPr lang="en-US" altLang="zh-CN" smtClean="0"/>
              <a:t>Enjoyed explicit government guarantee.</a:t>
            </a:r>
          </a:p>
          <a:p>
            <a:endParaRPr lang="zh-CN" altLang="en-US" dirty="0"/>
          </a:p>
        </p:txBody>
      </p:sp>
    </p:spTree>
    <p:extLst>
      <p:ext uri="{BB962C8B-B14F-4D97-AF65-F5344CB8AC3E}">
        <p14:creationId xmlns:p14="http://schemas.microsoft.com/office/powerpoint/2010/main" val="3754786169"/>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The Unfolding of the</a:t>
            </a:r>
            <a:r>
              <a:rPr lang="zh-CN" altLang="en-US" smtClean="0"/>
              <a:t> </a:t>
            </a:r>
            <a:r>
              <a:rPr lang="en-US" altLang="zh-CN" smtClean="0"/>
              <a:t>Crisis</a:t>
            </a:r>
            <a:endParaRPr lang="zh-CN" altLang="en-US" dirty="0"/>
          </a:p>
        </p:txBody>
      </p:sp>
      <p:sp>
        <p:nvSpPr>
          <p:cNvPr id="3" name="文本占位符 2"/>
          <p:cNvSpPr>
            <a:spLocks noGrp="1"/>
          </p:cNvSpPr>
          <p:nvPr>
            <p:ph type="body" sz="quarter" idx="10"/>
          </p:nvPr>
        </p:nvSpPr>
        <p:spPr/>
        <p:txBody>
          <a:bodyPr/>
          <a:lstStyle/>
          <a:p>
            <a:r>
              <a:rPr lang="en-US" altLang="zh-CN" dirty="0" smtClean="0"/>
              <a:t>Lehman Brothers, Merrill Lynch</a:t>
            </a:r>
          </a:p>
          <a:p>
            <a:pPr lvl="1"/>
            <a:r>
              <a:rPr lang="en-US" altLang="zh-CN" dirty="0" smtClean="0"/>
              <a:t>Lehman had to declare bankruptcy.</a:t>
            </a:r>
          </a:p>
          <a:p>
            <a:pPr lvl="1"/>
            <a:r>
              <a:rPr lang="en-US" altLang="zh-CN" dirty="0" smtClean="0"/>
              <a:t>Merrill Lynch sold itself to Bank of America.</a:t>
            </a:r>
          </a:p>
          <a:p>
            <a:pPr lvl="1"/>
            <a:r>
              <a:rPr lang="en-US" altLang="zh-CN" dirty="0" smtClean="0"/>
              <a:t>Lehman's</a:t>
            </a:r>
            <a:r>
              <a:rPr lang="zh-CN" altLang="en-US" dirty="0" smtClean="0"/>
              <a:t> </a:t>
            </a:r>
            <a:r>
              <a:rPr lang="en-US" altLang="zh-CN" dirty="0" smtClean="0"/>
              <a:t>counterparties suffered losses.</a:t>
            </a:r>
          </a:p>
          <a:p>
            <a:pPr lvl="1"/>
            <a:r>
              <a:rPr lang="en-US" altLang="zh-CN" dirty="0" smtClean="0"/>
              <a:t>The CDS prices soared.</a:t>
            </a:r>
          </a:p>
          <a:p>
            <a:pPr lvl="1"/>
            <a:r>
              <a:rPr lang="en-US" altLang="zh-CN" dirty="0" smtClean="0"/>
              <a:t>Financial non-asset-backed commercial paper experienced a sharp fall.</a:t>
            </a:r>
          </a:p>
          <a:p>
            <a:endParaRPr lang="zh-CN" altLang="en-US" dirty="0"/>
          </a:p>
        </p:txBody>
      </p:sp>
    </p:spTree>
    <p:extLst>
      <p:ext uri="{BB962C8B-B14F-4D97-AF65-F5344CB8AC3E}">
        <p14:creationId xmlns:p14="http://schemas.microsoft.com/office/powerpoint/2010/main" val="3754786169"/>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The Unfolding of the</a:t>
            </a:r>
            <a:r>
              <a:rPr lang="zh-CN" altLang="en-US" smtClean="0"/>
              <a:t> </a:t>
            </a:r>
            <a:r>
              <a:rPr lang="en-US" altLang="zh-CN" smtClean="0"/>
              <a:t>Crisis</a:t>
            </a:r>
            <a:endParaRPr lang="zh-CN" altLang="en-US" dirty="0"/>
          </a:p>
        </p:txBody>
      </p:sp>
      <p:sp>
        <p:nvSpPr>
          <p:cNvPr id="3" name="文本占位符 2"/>
          <p:cNvSpPr>
            <a:spLocks noGrp="1"/>
          </p:cNvSpPr>
          <p:nvPr>
            <p:ph type="body" sz="quarter" idx="10"/>
          </p:nvPr>
        </p:nvSpPr>
        <p:spPr/>
        <p:txBody>
          <a:bodyPr/>
          <a:lstStyle/>
          <a:p>
            <a:r>
              <a:rPr lang="en-US" altLang="zh-CN" smtClean="0"/>
              <a:t>AIG</a:t>
            </a:r>
          </a:p>
          <a:p>
            <a:pPr lvl="1"/>
            <a:r>
              <a:rPr lang="en-US" altLang="zh-CN" smtClean="0"/>
              <a:t>AIG faced a serious liquidity shortage.</a:t>
            </a:r>
          </a:p>
          <a:p>
            <a:pPr lvl="1"/>
            <a:r>
              <a:rPr lang="en-US" altLang="zh-CN" smtClean="0"/>
              <a:t>The Federal Reserve quickly bailout AIG.</a:t>
            </a:r>
          </a:p>
          <a:p>
            <a:r>
              <a:rPr lang="en-US" altLang="zh-CN" smtClean="0"/>
              <a:t>Coordinated Bailout</a:t>
            </a:r>
          </a:p>
          <a:p>
            <a:pPr lvl="1"/>
            <a:r>
              <a:rPr lang="en-US" altLang="zh-CN" smtClean="0"/>
              <a:t>Credit for firms and local and state governments tightened</a:t>
            </a:r>
            <a:r>
              <a:rPr lang="zh-CN" altLang="en-US" smtClean="0"/>
              <a:t> </a:t>
            </a:r>
            <a:r>
              <a:rPr lang="en-US" altLang="zh-CN" smtClean="0"/>
              <a:t>⇒ infecting the global economy.</a:t>
            </a:r>
          </a:p>
          <a:p>
            <a:pPr lvl="1"/>
            <a:r>
              <a:rPr lang="en-US" altLang="zh-CN" smtClean="0"/>
              <a:t>The Treasury Secretary proposed a $700 billion bailout plan.</a:t>
            </a:r>
          </a:p>
          <a:p>
            <a:pPr lvl="1"/>
            <a:r>
              <a:rPr lang="en-US" altLang="zh-CN" smtClean="0"/>
              <a:t>The Fed set its target interest rate</a:t>
            </a:r>
            <a:r>
              <a:rPr lang="zh-CN" altLang="en-US" smtClean="0"/>
              <a:t> </a:t>
            </a:r>
            <a:r>
              <a:rPr lang="en-US" altLang="zh-CN" smtClean="0"/>
              <a:t>to 0 ~ 0.25%.</a:t>
            </a:r>
          </a:p>
          <a:p>
            <a:endParaRPr lang="zh-CN" altLang="en-US" dirty="0"/>
          </a:p>
        </p:txBody>
      </p:sp>
    </p:spTree>
    <p:extLst>
      <p:ext uri="{BB962C8B-B14F-4D97-AF65-F5344CB8AC3E}">
        <p14:creationId xmlns:p14="http://schemas.microsoft.com/office/powerpoint/2010/main" val="3754786169"/>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smtClean="0"/>
              <a:t>Liquidity Risk</a:t>
            </a:r>
          </a:p>
          <a:p>
            <a:r>
              <a:rPr lang="en-US" altLang="zh-CN" smtClean="0"/>
              <a:t>Funding Liquidity Risk</a:t>
            </a:r>
          </a:p>
          <a:p>
            <a:pPr lvl="1"/>
            <a:r>
              <a:rPr lang="en-US" altLang="zh-CN" smtClean="0"/>
              <a:t>Describes the ease with which expert investors and arbitrageurs can obtain funding from financiers.</a:t>
            </a:r>
          </a:p>
          <a:p>
            <a:pPr lvl="1"/>
            <a:r>
              <a:rPr lang="en-US" altLang="zh-CN" smtClean="0"/>
              <a:t>Funding liquidity is high when it is easy to raise money.</a:t>
            </a:r>
          </a:p>
          <a:p>
            <a:r>
              <a:rPr lang="en-US" altLang="zh-CN" smtClean="0"/>
              <a:t>Market Liquidity Risk</a:t>
            </a:r>
          </a:p>
          <a:p>
            <a:pPr lvl="1"/>
            <a:r>
              <a:rPr lang="en-US" altLang="zh-CN" smtClean="0"/>
              <a:t>Market liquidity is low when it is difficult to raise money by selling the asset.</a:t>
            </a:r>
          </a:p>
          <a:p>
            <a:endParaRPr lang="zh-CN" altLang="en-US" dirty="0"/>
          </a:p>
        </p:txBody>
      </p:sp>
    </p:spTree>
    <p:extLst>
      <p:ext uri="{BB962C8B-B14F-4D97-AF65-F5344CB8AC3E}">
        <p14:creationId xmlns:p14="http://schemas.microsoft.com/office/powerpoint/2010/main" val="810378494"/>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dirty="0" smtClean="0"/>
              <a:t>Loss Spiral And Margin Spiral</a:t>
            </a:r>
          </a:p>
          <a:p>
            <a:r>
              <a:rPr lang="en-US" altLang="zh-CN" dirty="0" smtClean="0"/>
              <a:t>Loss Spiral</a:t>
            </a:r>
          </a:p>
          <a:p>
            <a:pPr lvl="1"/>
            <a:r>
              <a:rPr lang="en-US" altLang="zh-CN" dirty="0" smtClean="0"/>
              <a:t>Decline in the value of assets ⇒</a:t>
            </a:r>
            <a:r>
              <a:rPr lang="zh-CN" altLang="en-US" dirty="0" smtClean="0"/>
              <a:t> </a:t>
            </a:r>
            <a:r>
              <a:rPr lang="en-US" altLang="zh-CN" dirty="0" smtClean="0"/>
              <a:t>eroding the </a:t>
            </a:r>
            <a:r>
              <a:rPr lang="en-US" altLang="zh-CN" dirty="0" smtClean="0"/>
              <a:t>investors' </a:t>
            </a:r>
            <a:r>
              <a:rPr lang="en-US" altLang="zh-CN" dirty="0" smtClean="0"/>
              <a:t>net worth ⇒</a:t>
            </a:r>
            <a:r>
              <a:rPr lang="zh-CN" altLang="en-US" dirty="0" smtClean="0"/>
              <a:t> </a:t>
            </a:r>
            <a:r>
              <a:rPr lang="en-US" altLang="zh-CN" dirty="0" smtClean="0"/>
              <a:t>selling</a:t>
            </a:r>
            <a:r>
              <a:rPr lang="zh-CN" altLang="en-US" dirty="0" smtClean="0"/>
              <a:t> </a:t>
            </a:r>
            <a:r>
              <a:rPr lang="en-US" altLang="zh-CN" dirty="0" smtClean="0"/>
              <a:t>for</a:t>
            </a:r>
            <a:r>
              <a:rPr lang="zh-CN" altLang="en-US" dirty="0" smtClean="0"/>
              <a:t> </a:t>
            </a:r>
            <a:r>
              <a:rPr lang="en-US" altLang="zh-CN" dirty="0" smtClean="0"/>
              <a:t>money</a:t>
            </a:r>
            <a:r>
              <a:rPr lang="zh-CN" altLang="en-US" dirty="0" smtClean="0"/>
              <a:t> </a:t>
            </a:r>
            <a:r>
              <a:rPr lang="en-US" altLang="zh-CN" dirty="0" smtClean="0"/>
              <a:t>⇒</a:t>
            </a:r>
            <a:r>
              <a:rPr lang="zh-CN" altLang="en-US" dirty="0" smtClean="0"/>
              <a:t> </a:t>
            </a:r>
            <a:r>
              <a:rPr lang="en-US" altLang="zh-CN" dirty="0" smtClean="0"/>
              <a:t>these sales depressing the price further</a:t>
            </a:r>
            <a:r>
              <a:rPr lang="zh-CN" altLang="en-US" dirty="0" smtClean="0"/>
              <a:t> </a:t>
            </a:r>
            <a:r>
              <a:rPr lang="en-US" altLang="zh-CN" dirty="0" smtClean="0"/>
              <a:t>⇒ inducing more selling.</a:t>
            </a:r>
          </a:p>
          <a:p>
            <a:r>
              <a:rPr lang="en-US" altLang="zh-CN" dirty="0" smtClean="0"/>
              <a:t>Margin/haircut Spiral</a:t>
            </a:r>
          </a:p>
          <a:p>
            <a:pPr lvl="1"/>
            <a:r>
              <a:rPr lang="en-US" altLang="zh-CN" dirty="0" smtClean="0"/>
              <a:t>As margins or haircuts rise</a:t>
            </a:r>
            <a:r>
              <a:rPr lang="zh-CN" altLang="en-US" dirty="0" smtClean="0"/>
              <a:t> </a:t>
            </a:r>
            <a:r>
              <a:rPr lang="en-US" altLang="zh-CN" dirty="0" smtClean="0"/>
              <a:t>⇒ the investor has to sell</a:t>
            </a:r>
            <a:r>
              <a:rPr lang="zh-CN" altLang="en-US" dirty="0" smtClean="0"/>
              <a:t> </a:t>
            </a:r>
            <a:r>
              <a:rPr lang="en-US" altLang="zh-CN" dirty="0" smtClean="0"/>
              <a:t>more</a:t>
            </a:r>
            <a:r>
              <a:rPr lang="zh-CN" altLang="en-US" dirty="0" smtClean="0"/>
              <a:t> </a:t>
            </a:r>
            <a:r>
              <a:rPr lang="en-US" altLang="zh-CN" dirty="0" smtClean="0"/>
              <a:t>assets</a:t>
            </a:r>
            <a:r>
              <a:rPr lang="zh-CN" altLang="en-US" dirty="0" smtClean="0"/>
              <a:t> </a:t>
            </a:r>
            <a:r>
              <a:rPr lang="en-US" altLang="zh-CN" dirty="0" smtClean="0"/>
              <a:t>⇒</a:t>
            </a:r>
            <a:r>
              <a:rPr lang="zh-CN" altLang="en-US" dirty="0" smtClean="0"/>
              <a:t> </a:t>
            </a:r>
            <a:r>
              <a:rPr lang="en-US" altLang="zh-CN" dirty="0" smtClean="0"/>
              <a:t>a</a:t>
            </a:r>
            <a:r>
              <a:rPr lang="zh-CN" altLang="en-US" dirty="0" smtClean="0"/>
              <a:t> </a:t>
            </a:r>
            <a:r>
              <a:rPr lang="en-US" altLang="zh-CN" dirty="0" smtClean="0"/>
              <a:t>lower</a:t>
            </a:r>
            <a:r>
              <a:rPr lang="zh-CN" altLang="en-US" dirty="0" smtClean="0"/>
              <a:t> </a:t>
            </a:r>
            <a:r>
              <a:rPr lang="en-US" altLang="zh-CN" dirty="0" smtClean="0"/>
              <a:t>price</a:t>
            </a:r>
            <a:r>
              <a:rPr lang="zh-CN" altLang="en-US" dirty="0" smtClean="0"/>
              <a:t> </a:t>
            </a:r>
            <a:r>
              <a:rPr lang="en-US" altLang="zh-CN" dirty="0" smtClean="0"/>
              <a:t>⇒</a:t>
            </a:r>
            <a:r>
              <a:rPr lang="zh-CN" altLang="en-US" dirty="0" smtClean="0"/>
              <a:t> </a:t>
            </a:r>
            <a:r>
              <a:rPr lang="en-US" altLang="zh-CN" dirty="0" smtClean="0"/>
              <a:t>increasing margins further and forcing more sales.</a:t>
            </a:r>
          </a:p>
          <a:p>
            <a:endParaRPr lang="zh-CN" altLang="en-US" dirty="0"/>
          </a:p>
        </p:txBody>
      </p:sp>
    </p:spTree>
    <p:extLst>
      <p:ext uri="{BB962C8B-B14F-4D97-AF65-F5344CB8AC3E}">
        <p14:creationId xmlns:p14="http://schemas.microsoft.com/office/powerpoint/2010/main" val="2610839429"/>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dirty="0" smtClean="0"/>
              <a:t>Lending Channel</a:t>
            </a:r>
          </a:p>
          <a:p>
            <a:r>
              <a:rPr lang="en-US" altLang="zh-CN" dirty="0" smtClean="0"/>
              <a:t>Moral Hazard</a:t>
            </a:r>
          </a:p>
          <a:p>
            <a:pPr lvl="1"/>
            <a:r>
              <a:rPr lang="en-US" altLang="zh-CN" dirty="0" smtClean="0"/>
              <a:t>Most lending is intermediated by banks.</a:t>
            </a:r>
          </a:p>
          <a:p>
            <a:pPr lvl="1"/>
            <a:r>
              <a:rPr lang="en-US" altLang="zh-CN" dirty="0" smtClean="0"/>
              <a:t>The net worth of the </a:t>
            </a:r>
            <a:r>
              <a:rPr lang="en-US" altLang="zh-CN" dirty="0" smtClean="0"/>
              <a:t>intermediaries' </a:t>
            </a:r>
            <a:r>
              <a:rPr lang="en-US" altLang="zh-CN" dirty="0" smtClean="0"/>
              <a:t>stake falls ⇒ intermediaries may then reduce their monitoring effort.</a:t>
            </a:r>
          </a:p>
          <a:p>
            <a:r>
              <a:rPr lang="en-US" altLang="zh-CN" dirty="0" smtClean="0"/>
              <a:t>Precautionary Hoarding</a:t>
            </a:r>
          </a:p>
          <a:p>
            <a:pPr lvl="1"/>
            <a:r>
              <a:rPr lang="en-US" altLang="zh-CN" dirty="0" smtClean="0"/>
              <a:t>Lenders are afraid that they might suffer from interim shocks</a:t>
            </a:r>
            <a:r>
              <a:rPr lang="zh-CN" altLang="en-US" dirty="0" smtClean="0"/>
              <a:t> </a:t>
            </a:r>
            <a:r>
              <a:rPr lang="en-US" altLang="zh-CN" dirty="0" smtClean="0"/>
              <a:t>⇒ precautionary hoarding arises</a:t>
            </a:r>
            <a:r>
              <a:rPr lang="zh-CN" altLang="en-US" dirty="0" smtClean="0"/>
              <a:t> </a:t>
            </a:r>
            <a:r>
              <a:rPr lang="en-US" altLang="zh-CN" dirty="0" smtClean="0"/>
              <a:t>⇒</a:t>
            </a:r>
            <a:r>
              <a:rPr lang="zh-CN" altLang="en-US" dirty="0" smtClean="0"/>
              <a:t> </a:t>
            </a:r>
            <a:r>
              <a:rPr lang="en-US" altLang="zh-CN" dirty="0" smtClean="0"/>
              <a:t>sharp spikes in</a:t>
            </a:r>
            <a:r>
              <a:rPr lang="zh-CN" altLang="en-US" dirty="0" smtClean="0"/>
              <a:t> </a:t>
            </a:r>
            <a:r>
              <a:rPr lang="en-US" altLang="zh-CN" dirty="0" smtClean="0"/>
              <a:t>LIBOR.</a:t>
            </a:r>
          </a:p>
          <a:p>
            <a:endParaRPr lang="zh-CN" altLang="en-US" dirty="0"/>
          </a:p>
        </p:txBody>
      </p:sp>
    </p:spTree>
    <p:extLst>
      <p:ext uri="{BB962C8B-B14F-4D97-AF65-F5344CB8AC3E}">
        <p14:creationId xmlns:p14="http://schemas.microsoft.com/office/powerpoint/2010/main" val="2610839429"/>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C. Amplifying Mechanisms and Recurring Themes</a:t>
            </a:r>
            <a:endParaRPr lang="zh-CN" altLang="en-US" dirty="0"/>
          </a:p>
        </p:txBody>
      </p:sp>
      <p:sp>
        <p:nvSpPr>
          <p:cNvPr id="3" name="文本占位符 2"/>
          <p:cNvSpPr>
            <a:spLocks noGrp="1"/>
          </p:cNvSpPr>
          <p:nvPr>
            <p:ph type="body" sz="quarter" idx="10"/>
          </p:nvPr>
        </p:nvSpPr>
        <p:spPr/>
        <p:txBody>
          <a:bodyPr/>
          <a:lstStyle/>
          <a:p>
            <a:r>
              <a:rPr lang="en-US" altLang="zh-CN" smtClean="0"/>
              <a:t>Runs On Financial Institutions</a:t>
            </a:r>
          </a:p>
          <a:p>
            <a:pPr lvl="1"/>
            <a:r>
              <a:rPr lang="en-US" altLang="zh-CN" smtClean="0"/>
              <a:t>Everybody had an incentive to be the first to withdraw funds from a possibly troubled bank.</a:t>
            </a:r>
          </a:p>
          <a:p>
            <a:r>
              <a:rPr lang="en-US" altLang="zh-CN" smtClean="0"/>
              <a:t>Network Effects</a:t>
            </a:r>
          </a:p>
          <a:p>
            <a:pPr lvl="1"/>
            <a:r>
              <a:rPr lang="en-US" altLang="zh-CN" smtClean="0"/>
              <a:t>Most financial institutions are lenders and borrowers at the same time.</a:t>
            </a:r>
          </a:p>
          <a:p>
            <a:pPr lvl="1"/>
            <a:r>
              <a:rPr lang="en-US" altLang="zh-CN" smtClean="0"/>
              <a:t>Gridlock Risk:</a:t>
            </a:r>
            <a:r>
              <a:rPr lang="zh-CN" altLang="en-US" smtClean="0"/>
              <a:t> </a:t>
            </a:r>
            <a:r>
              <a:rPr lang="en-US" altLang="zh-CN" smtClean="0"/>
              <a:t>multilateral netting agreements can stabilise the system.</a:t>
            </a:r>
          </a:p>
          <a:p>
            <a:endParaRPr lang="zh-CN" altLang="en-US" dirty="0"/>
          </a:p>
        </p:txBody>
      </p:sp>
    </p:spTree>
    <p:extLst>
      <p:ext uri="{BB962C8B-B14F-4D97-AF65-F5344CB8AC3E}">
        <p14:creationId xmlns:p14="http://schemas.microsoft.com/office/powerpoint/2010/main" val="2610839429"/>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Getting</a:t>
            </a:r>
            <a:r>
              <a:rPr lang="zh-CN" altLang="en-US" dirty="0"/>
              <a:t> </a:t>
            </a:r>
            <a:r>
              <a:rPr lang="en-US" altLang="zh-CN" dirty="0"/>
              <a:t>up</a:t>
            </a:r>
            <a:r>
              <a:rPr lang="zh-CN" altLang="en-US" dirty="0"/>
              <a:t> </a:t>
            </a:r>
            <a:r>
              <a:rPr lang="en-US" altLang="zh-CN" dirty="0"/>
              <a:t>to</a:t>
            </a:r>
            <a:r>
              <a:rPr lang="zh-CN" altLang="en-US" dirty="0"/>
              <a:t> </a:t>
            </a:r>
            <a:r>
              <a:rPr lang="en-US" altLang="zh-CN" dirty="0"/>
              <a:t>Speed</a:t>
            </a:r>
            <a:r>
              <a:rPr lang="zh-CN" altLang="en-US" dirty="0"/>
              <a:t> </a:t>
            </a:r>
            <a:r>
              <a:rPr lang="en-US" altLang="zh-CN" dirty="0"/>
              <a:t>on</a:t>
            </a:r>
            <a:r>
              <a:rPr lang="zh-CN" altLang="en-US" dirty="0"/>
              <a:t> </a:t>
            </a:r>
            <a:r>
              <a:rPr lang="en-US" altLang="zh-CN" dirty="0"/>
              <a:t>the</a:t>
            </a:r>
            <a:r>
              <a:rPr lang="zh-CN" altLang="en-US" dirty="0"/>
              <a:t> </a:t>
            </a:r>
            <a:r>
              <a:rPr lang="en-US" altLang="zh-CN" dirty="0"/>
              <a:t>Financial</a:t>
            </a:r>
            <a:r>
              <a:rPr lang="zh-CN" altLang="en-US" dirty="0"/>
              <a:t> </a:t>
            </a:r>
            <a:r>
              <a:rPr lang="en-US" altLang="zh-CN" dirty="0" smtClean="0"/>
              <a:t>Crisis</a:t>
            </a:r>
            <a:endParaRPr lang="zh-CN" altLang="en-US" dirty="0"/>
          </a:p>
        </p:txBody>
      </p:sp>
    </p:spTree>
    <p:extLst>
      <p:ext uri="{BB962C8B-B14F-4D97-AF65-F5344CB8AC3E}">
        <p14:creationId xmlns:p14="http://schemas.microsoft.com/office/powerpoint/2010/main" val="2619565028"/>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Overview and Timeline of the </a:t>
            </a:r>
            <a:r>
              <a:rPr lang="en-US" altLang="zh-CN" dirty="0" smtClean="0"/>
              <a:t>Crisis</a:t>
            </a:r>
          </a:p>
          <a:p>
            <a:r>
              <a:rPr lang="en-US" altLang="zh-CN" dirty="0"/>
              <a:t>The Crisis </a:t>
            </a:r>
            <a:r>
              <a:rPr lang="en-US" altLang="zh-CN" dirty="0" smtClean="0"/>
              <a:t>Build-Up</a:t>
            </a:r>
          </a:p>
          <a:p>
            <a:r>
              <a:rPr lang="en-US" altLang="zh-CN" dirty="0" smtClean="0"/>
              <a:t>The Panics</a:t>
            </a:r>
          </a:p>
          <a:p>
            <a:r>
              <a:rPr lang="en-US" altLang="zh-CN" dirty="0"/>
              <a:t>Policy </a:t>
            </a:r>
            <a:r>
              <a:rPr lang="en-US" altLang="zh-CN" dirty="0" smtClean="0"/>
              <a:t>Responses</a:t>
            </a:r>
          </a:p>
          <a:p>
            <a:r>
              <a:rPr lang="en-US" altLang="zh-CN" dirty="0"/>
              <a:t>Real Effects of the Financial Crisis</a:t>
            </a:r>
            <a:endParaRPr lang="en-US" altLang="zh-CN" dirty="0" smtClean="0"/>
          </a:p>
          <a:p>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684200240"/>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Overview and Timeline of the Crisis</a:t>
            </a:r>
            <a:endParaRPr lang="zh-CN" altLang="en-US" dirty="0"/>
          </a:p>
        </p:txBody>
      </p:sp>
      <p:sp>
        <p:nvSpPr>
          <p:cNvPr id="3" name="文本占位符 2"/>
          <p:cNvSpPr>
            <a:spLocks noGrp="1"/>
          </p:cNvSpPr>
          <p:nvPr>
            <p:ph type="body" sz="quarter" idx="10"/>
          </p:nvPr>
        </p:nvSpPr>
        <p:spPr/>
        <p:txBody>
          <a:bodyPr/>
          <a:lstStyle/>
          <a:p>
            <a:r>
              <a:rPr lang="en-US" altLang="zh-CN" dirty="0" smtClean="0"/>
              <a:t>Bernanke's </a:t>
            </a:r>
            <a:r>
              <a:rPr lang="en-US" altLang="zh-CN" dirty="0" smtClean="0"/>
              <a:t>Testimony</a:t>
            </a:r>
          </a:p>
          <a:p>
            <a:pPr lvl="1"/>
            <a:r>
              <a:rPr lang="en-US" altLang="zh-CN" dirty="0" smtClean="0"/>
              <a:t>Losses on subprime mortgages were a trigger for the crisis.</a:t>
            </a:r>
          </a:p>
          <a:p>
            <a:pPr lvl="1"/>
            <a:r>
              <a:rPr lang="en-US" altLang="zh-CN" dirty="0" smtClean="0"/>
              <a:t>But subprime losses were not large enough for the magnitude of the crisis.</a:t>
            </a:r>
          </a:p>
          <a:p>
            <a:pPr lvl="1"/>
            <a:r>
              <a:rPr lang="en-US" altLang="zh-CN" dirty="0" smtClean="0"/>
              <a:t>Shadow banking was also the source of key vulnerabilities.</a:t>
            </a:r>
          </a:p>
          <a:p>
            <a:r>
              <a:rPr lang="en-US" altLang="zh-CN" dirty="0" smtClean="0"/>
              <a:t>Vulnerabilities in Shadow Banks</a:t>
            </a:r>
          </a:p>
          <a:p>
            <a:pPr lvl="1"/>
            <a:r>
              <a:rPr lang="en-US" altLang="zh-CN" dirty="0" smtClean="0"/>
              <a:t>Short-term debt: repurchase agreements, and commercial paper.</a:t>
            </a:r>
          </a:p>
          <a:p>
            <a:pPr lvl="1"/>
            <a:r>
              <a:rPr lang="en-US" altLang="zh-CN" dirty="0" smtClean="0"/>
              <a:t>These markets are large, but unregulated.</a:t>
            </a:r>
          </a:p>
          <a:p>
            <a:endParaRPr lang="zh-CN" altLang="en-US" dirty="0"/>
          </a:p>
        </p:txBody>
      </p:sp>
    </p:spTree>
    <p:extLst>
      <p:ext uri="{BB962C8B-B14F-4D97-AF65-F5344CB8AC3E}">
        <p14:creationId xmlns:p14="http://schemas.microsoft.com/office/powerpoint/2010/main" val="3299611900"/>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 Overview and Timeline of the Crisis</a:t>
            </a:r>
            <a:endParaRPr lang="zh-CN" altLang="en-US" dirty="0"/>
          </a:p>
        </p:txBody>
      </p:sp>
      <p:sp>
        <p:nvSpPr>
          <p:cNvPr id="3" name="文本占位符 2"/>
          <p:cNvSpPr>
            <a:spLocks noGrp="1"/>
          </p:cNvSpPr>
          <p:nvPr>
            <p:ph type="body" sz="quarter" idx="10"/>
          </p:nvPr>
        </p:nvSpPr>
        <p:spPr/>
        <p:txBody>
          <a:bodyPr/>
          <a:lstStyle/>
          <a:p>
            <a:r>
              <a:rPr lang="en-US" altLang="zh-CN" smtClean="0"/>
              <a:t>The Progress of the Crisis</a:t>
            </a:r>
          </a:p>
          <a:p>
            <a:pPr lvl="1"/>
            <a:r>
              <a:rPr lang="en-US" altLang="zh-CN" smtClean="0"/>
              <a:t>Disruptions in the U.S. short-term debt markets created a shortage of U.S. dollars in global markets.</a:t>
            </a:r>
          </a:p>
          <a:p>
            <a:pPr lvl="1"/>
            <a:r>
              <a:rPr lang="en-US" altLang="zh-CN" smtClean="0"/>
              <a:t>The failure of Lehman ⇒ run on money market mutual funds.</a:t>
            </a:r>
          </a:p>
          <a:p>
            <a:pPr lvl="1"/>
            <a:r>
              <a:rPr lang="en-US" altLang="zh-CN" smtClean="0"/>
              <a:t>Reduction in policy rates.</a:t>
            </a:r>
          </a:p>
          <a:p>
            <a:pPr lvl="1"/>
            <a:r>
              <a:rPr lang="en-US" altLang="zh-CN" smtClean="0"/>
              <a:t>Banks hoarding liquidity ⇒ transmitting the crisis to the real sector.</a:t>
            </a:r>
          </a:p>
          <a:p>
            <a:endParaRPr lang="zh-CN" altLang="en-US" dirty="0"/>
          </a:p>
        </p:txBody>
      </p:sp>
    </p:spTree>
    <p:extLst>
      <p:ext uri="{BB962C8B-B14F-4D97-AF65-F5344CB8AC3E}">
        <p14:creationId xmlns:p14="http://schemas.microsoft.com/office/powerpoint/2010/main" val="1432438964"/>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 The Crisis Build-Up</a:t>
            </a:r>
            <a:endParaRPr lang="en-US" altLang="zh-CN" dirty="0"/>
          </a:p>
        </p:txBody>
      </p:sp>
      <p:sp>
        <p:nvSpPr>
          <p:cNvPr id="3" name="文本占位符 2"/>
          <p:cNvSpPr>
            <a:spLocks noGrp="1"/>
          </p:cNvSpPr>
          <p:nvPr>
            <p:ph type="body" sz="quarter" idx="10"/>
          </p:nvPr>
        </p:nvSpPr>
        <p:spPr/>
        <p:txBody>
          <a:bodyPr/>
          <a:lstStyle/>
          <a:p>
            <a:r>
              <a:rPr lang="en-US" altLang="zh-CN" smtClean="0"/>
              <a:t>Why were Shadow Banks Growing? </a:t>
            </a:r>
          </a:p>
          <a:p>
            <a:pPr lvl="1"/>
            <a:r>
              <a:rPr lang="en-US" altLang="zh-CN" smtClean="0"/>
              <a:t>The traditional banking model became less profitable.</a:t>
            </a:r>
          </a:p>
          <a:p>
            <a:pPr lvl="1"/>
            <a:r>
              <a:rPr lang="en-US" altLang="zh-CN" smtClean="0"/>
              <a:t>Institutional cash pools have a demand for insured deposit alternatives.</a:t>
            </a:r>
          </a:p>
          <a:p>
            <a:pPr lvl="1"/>
            <a:r>
              <a:rPr lang="en-US" altLang="zh-CN" smtClean="0"/>
              <a:t>And</a:t>
            </a:r>
            <a:r>
              <a:rPr lang="zh-CN" altLang="en-US" smtClean="0"/>
              <a:t> </a:t>
            </a:r>
            <a:r>
              <a:rPr lang="en-US" altLang="zh-CN" smtClean="0"/>
              <a:t>the shadow banking system rose to fill this gap.</a:t>
            </a:r>
          </a:p>
          <a:p>
            <a:endParaRPr lang="zh-CN" altLang="en-US" dirty="0"/>
          </a:p>
        </p:txBody>
      </p:sp>
    </p:spTree>
    <p:extLst>
      <p:ext uri="{BB962C8B-B14F-4D97-AF65-F5344CB8AC3E}">
        <p14:creationId xmlns:p14="http://schemas.microsoft.com/office/powerpoint/2010/main" val="2408497976"/>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The Crisis Build-Up</a:t>
            </a:r>
            <a:endParaRPr lang="en-US" altLang="zh-CN" dirty="0"/>
          </a:p>
        </p:txBody>
      </p:sp>
      <p:sp>
        <p:nvSpPr>
          <p:cNvPr id="3" name="文本占位符 2"/>
          <p:cNvSpPr>
            <a:spLocks noGrp="1"/>
          </p:cNvSpPr>
          <p:nvPr>
            <p:ph type="body" sz="quarter" idx="10"/>
          </p:nvPr>
        </p:nvSpPr>
        <p:spPr/>
        <p:txBody>
          <a:bodyPr/>
          <a:lstStyle/>
          <a:p>
            <a:r>
              <a:rPr lang="en-US" altLang="zh-CN" smtClean="0"/>
              <a:t>Credit Boom (Foreign Factors)</a:t>
            </a:r>
          </a:p>
          <a:p>
            <a:pPr lvl="1"/>
            <a:r>
              <a:rPr lang="en-US" altLang="zh-CN" smtClean="0"/>
              <a:t>In the US: national saving &lt; U.S. capital investment.</a:t>
            </a:r>
          </a:p>
          <a:p>
            <a:pPr lvl="1"/>
            <a:r>
              <a:rPr lang="en-US" altLang="zh-CN" smtClean="0"/>
              <a:t>Large and persistent capital inflows from foreigners seeking U.S. assets.</a:t>
            </a:r>
          </a:p>
          <a:p>
            <a:pPr lvl="1"/>
            <a:r>
              <a:rPr lang="en-US" altLang="zh-CN" smtClean="0"/>
              <a:t>Institutional cash pools had to find substitutes such as</a:t>
            </a:r>
            <a:r>
              <a:rPr lang="zh-CN" altLang="en-US" smtClean="0"/>
              <a:t> </a:t>
            </a:r>
            <a:r>
              <a:rPr lang="en-US" altLang="zh-CN" smtClean="0"/>
              <a:t>repo.</a:t>
            </a:r>
          </a:p>
          <a:p>
            <a:r>
              <a:rPr lang="en-US" altLang="zh-CN" smtClean="0"/>
              <a:t>Credit Boom (Domestic Factors)</a:t>
            </a:r>
          </a:p>
          <a:p>
            <a:pPr lvl="1"/>
            <a:r>
              <a:rPr lang="en-US" altLang="zh-CN" smtClean="0"/>
              <a:t>The increase in the production of asset-backed securities appears to be a credit boom.</a:t>
            </a:r>
          </a:p>
          <a:p>
            <a:pPr lvl="1"/>
            <a:r>
              <a:rPr lang="en-US" altLang="zh-CN" smtClean="0"/>
              <a:t>House prices were rising.</a:t>
            </a:r>
          </a:p>
          <a:p>
            <a:endParaRPr lang="zh-CN" altLang="en-US" dirty="0"/>
          </a:p>
        </p:txBody>
      </p:sp>
    </p:spTree>
    <p:extLst>
      <p:ext uri="{BB962C8B-B14F-4D97-AF65-F5344CB8AC3E}">
        <p14:creationId xmlns:p14="http://schemas.microsoft.com/office/powerpoint/2010/main" val="1797438985"/>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 The Panics</a:t>
            </a:r>
            <a:endParaRPr lang="en-US" altLang="zh-CN" dirty="0"/>
          </a:p>
        </p:txBody>
      </p:sp>
      <p:sp>
        <p:nvSpPr>
          <p:cNvPr id="3" name="文本占位符 2"/>
          <p:cNvSpPr>
            <a:spLocks noGrp="1"/>
          </p:cNvSpPr>
          <p:nvPr>
            <p:ph type="body" sz="quarter" idx="10"/>
          </p:nvPr>
        </p:nvSpPr>
        <p:spPr/>
        <p:txBody>
          <a:bodyPr/>
          <a:lstStyle/>
          <a:p>
            <a:r>
              <a:rPr lang="en-US" altLang="zh-CN" smtClean="0"/>
              <a:t>Briefings</a:t>
            </a:r>
          </a:p>
          <a:p>
            <a:pPr lvl="1"/>
            <a:r>
              <a:rPr lang="en-US" altLang="zh-CN" smtClean="0"/>
              <a:t>Two panic periods of the financial crisis: August 2007 and September-October 2008.</a:t>
            </a:r>
          </a:p>
          <a:p>
            <a:pPr lvl="1"/>
            <a:r>
              <a:rPr lang="en-US" altLang="zh-CN" smtClean="0"/>
              <a:t>The crisis eventually spread to the real economy.</a:t>
            </a:r>
          </a:p>
          <a:p>
            <a:endParaRPr lang="zh-CN" altLang="en-US" dirty="0"/>
          </a:p>
        </p:txBody>
      </p:sp>
    </p:spTree>
    <p:extLst>
      <p:ext uri="{BB962C8B-B14F-4D97-AF65-F5344CB8AC3E}">
        <p14:creationId xmlns:p14="http://schemas.microsoft.com/office/powerpoint/2010/main" val="2408497976"/>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The Panics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smtClean="0"/>
              <a:t>1. Asset-backed Commercial Paper</a:t>
            </a:r>
          </a:p>
          <a:p>
            <a:r>
              <a:rPr lang="en-US" altLang="zh-CN" dirty="0" smtClean="0"/>
              <a:t>What is ABCP?</a:t>
            </a:r>
          </a:p>
          <a:p>
            <a:r>
              <a:rPr lang="en-US" altLang="zh-CN" dirty="0" smtClean="0"/>
              <a:t>Why ABCP Becoming Prevalent?</a:t>
            </a:r>
          </a:p>
          <a:p>
            <a:pPr lvl="1"/>
            <a:r>
              <a:rPr lang="en-US" altLang="zh-CN" dirty="0" smtClean="0"/>
              <a:t>More transparent</a:t>
            </a:r>
            <a:r>
              <a:rPr lang="zh-CN" altLang="en-US" dirty="0" smtClean="0"/>
              <a:t> </a:t>
            </a:r>
            <a:r>
              <a:rPr lang="en-US" altLang="zh-CN" dirty="0" smtClean="0"/>
              <a:t>⇒ lowering funding costs.</a:t>
            </a:r>
          </a:p>
          <a:p>
            <a:pPr lvl="1"/>
            <a:r>
              <a:rPr lang="en-US" altLang="zh-CN" dirty="0" smtClean="0"/>
              <a:t>Save on regulatory capital.</a:t>
            </a:r>
          </a:p>
          <a:p>
            <a:r>
              <a:rPr lang="en-US" altLang="zh-CN" dirty="0" smtClean="0"/>
              <a:t>ABCP Run</a:t>
            </a:r>
          </a:p>
          <a:p>
            <a:pPr lvl="1"/>
            <a:r>
              <a:rPr lang="en-US" altLang="zh-CN" dirty="0" smtClean="0"/>
              <a:t>Lenders are unwilling to refinance CP when it comes due.</a:t>
            </a:r>
          </a:p>
          <a:p>
            <a:pPr lvl="1"/>
            <a:r>
              <a:rPr lang="en-US" altLang="zh-CN" dirty="0" smtClean="0"/>
              <a:t>Programs were more likely to experience a run if they had high credit risk or high liquidity risk.</a:t>
            </a:r>
          </a:p>
          <a:p>
            <a:endParaRPr lang="zh-CN" altLang="en-US" dirty="0"/>
          </a:p>
        </p:txBody>
      </p:sp>
    </p:spTree>
    <p:extLst>
      <p:ext uri="{BB962C8B-B14F-4D97-AF65-F5344CB8AC3E}">
        <p14:creationId xmlns:p14="http://schemas.microsoft.com/office/powerpoint/2010/main" val="2408497976"/>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The Panics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smtClean="0"/>
              <a:t>2. Money Market Mutual Funds</a:t>
            </a:r>
          </a:p>
          <a:p>
            <a:r>
              <a:rPr lang="en-US" altLang="zh-CN" dirty="0" smtClean="0"/>
              <a:t>A Chain Effect</a:t>
            </a:r>
          </a:p>
          <a:p>
            <a:pPr lvl="1"/>
            <a:r>
              <a:rPr lang="en-US" altLang="zh-CN" dirty="0" smtClean="0"/>
              <a:t>MMFs saw the values of their stakes decline when ABCP yields rose ⇒ were forced to sell their underlying assets ⇒ further downward pressure on asset classes held by many MMFs.</a:t>
            </a:r>
          </a:p>
          <a:p>
            <a:r>
              <a:rPr lang="en-US" altLang="zh-CN" dirty="0" smtClean="0"/>
              <a:t>The Lehman bankruptcy was a major shock to MMFs.</a:t>
            </a:r>
          </a:p>
          <a:p>
            <a:pPr lvl="1"/>
            <a:r>
              <a:rPr lang="en-US" altLang="zh-CN" dirty="0" smtClean="0"/>
              <a:t>It led to run on many MMFs.</a:t>
            </a:r>
          </a:p>
          <a:p>
            <a:pPr lvl="1"/>
            <a:r>
              <a:rPr lang="en-US" altLang="zh-CN" dirty="0" smtClean="0"/>
              <a:t>Investors moved to government-only MMFs.</a:t>
            </a:r>
          </a:p>
          <a:p>
            <a:endParaRPr lang="zh-CN" altLang="en-US" dirty="0"/>
          </a:p>
        </p:txBody>
      </p:sp>
    </p:spTree>
    <p:extLst>
      <p:ext uri="{BB962C8B-B14F-4D97-AF65-F5344CB8AC3E}">
        <p14:creationId xmlns:p14="http://schemas.microsoft.com/office/powerpoint/2010/main" val="713156935"/>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 The Panics</a:t>
            </a:r>
            <a:endParaRPr lang="en-US" altLang="zh-CN" dirty="0"/>
          </a:p>
        </p:txBody>
      </p:sp>
      <p:sp>
        <p:nvSpPr>
          <p:cNvPr id="3" name="文本占位符 2"/>
          <p:cNvSpPr>
            <a:spLocks noGrp="1"/>
          </p:cNvSpPr>
          <p:nvPr>
            <p:ph type="body" sz="quarter" idx="10"/>
          </p:nvPr>
        </p:nvSpPr>
        <p:spPr/>
        <p:txBody>
          <a:bodyPr/>
          <a:lstStyle/>
          <a:p>
            <a:pPr marL="0" indent="0">
              <a:buNone/>
            </a:pPr>
            <a:r>
              <a:rPr lang="en-US" altLang="zh-CN" dirty="0" smtClean="0"/>
              <a:t>3. Repo</a:t>
            </a:r>
          </a:p>
          <a:p>
            <a:pPr lvl="1"/>
            <a:r>
              <a:rPr lang="en-US" altLang="zh-CN" dirty="0" smtClean="0"/>
              <a:t>Repo is the shadow-banking equivalent of a deposit market.</a:t>
            </a:r>
          </a:p>
          <a:p>
            <a:pPr lvl="1"/>
            <a:r>
              <a:rPr lang="en-US" altLang="zh-CN" dirty="0" smtClean="0"/>
              <a:t>Haircuts continued a steady rise throughout 2007-2008. </a:t>
            </a:r>
          </a:p>
          <a:p>
            <a:pPr lvl="1"/>
            <a:r>
              <a:rPr lang="en-US" altLang="zh-CN" dirty="0" smtClean="0"/>
              <a:t>Following the Lehman failure, the haircut rose by an additional 20% to 100%.</a:t>
            </a:r>
          </a:p>
          <a:p>
            <a:r>
              <a:rPr lang="en-US" altLang="zh-CN" dirty="0" smtClean="0"/>
              <a:t>Subprime crisis turned into the collapse of global financial institutions.</a:t>
            </a:r>
          </a:p>
          <a:p>
            <a:endParaRPr lang="zh-CN" altLang="en-US" dirty="0"/>
          </a:p>
        </p:txBody>
      </p:sp>
    </p:spTree>
    <p:extLst>
      <p:ext uri="{BB962C8B-B14F-4D97-AF65-F5344CB8AC3E}">
        <p14:creationId xmlns:p14="http://schemas.microsoft.com/office/powerpoint/2010/main" val="3684672951"/>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Policy Responses</a:t>
            </a:r>
            <a:endParaRPr lang="zh-CN" altLang="en-US" dirty="0"/>
          </a:p>
        </p:txBody>
      </p:sp>
      <p:sp>
        <p:nvSpPr>
          <p:cNvPr id="3" name="文本占位符 2"/>
          <p:cNvSpPr>
            <a:spLocks noGrp="1"/>
          </p:cNvSpPr>
          <p:nvPr>
            <p:ph type="body" sz="quarter" idx="10"/>
          </p:nvPr>
        </p:nvSpPr>
        <p:spPr/>
        <p:txBody>
          <a:bodyPr/>
          <a:lstStyle/>
          <a:p>
            <a:r>
              <a:rPr lang="en-US" altLang="zh-CN" smtClean="0"/>
              <a:t>Liquidity support was effective</a:t>
            </a:r>
            <a:r>
              <a:rPr lang="zh-CN" altLang="en-US" smtClean="0"/>
              <a:t> </a:t>
            </a:r>
            <a:r>
              <a:rPr lang="en-US" altLang="zh-CN" smtClean="0"/>
              <a:t>during the pre-Lehman period.</a:t>
            </a:r>
          </a:p>
          <a:p>
            <a:r>
              <a:rPr lang="en-US" altLang="zh-CN" smtClean="0"/>
              <a:t>After the fall of Lehman, capital injections were the most effective policy.</a:t>
            </a:r>
          </a:p>
          <a:p>
            <a:endParaRPr lang="zh-CN" altLang="en-US" dirty="0"/>
          </a:p>
        </p:txBody>
      </p:sp>
    </p:spTree>
    <p:extLst>
      <p:ext uri="{BB962C8B-B14F-4D97-AF65-F5344CB8AC3E}">
        <p14:creationId xmlns:p14="http://schemas.microsoft.com/office/powerpoint/2010/main" val="1498016790"/>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Real Effects of the Financial Crisis</a:t>
            </a:r>
            <a:endParaRPr lang="zh-CN" altLang="en-US" dirty="0"/>
          </a:p>
        </p:txBody>
      </p:sp>
      <p:sp>
        <p:nvSpPr>
          <p:cNvPr id="3" name="文本占位符 2"/>
          <p:cNvSpPr>
            <a:spLocks noGrp="1"/>
          </p:cNvSpPr>
          <p:nvPr>
            <p:ph type="body" sz="quarter" idx="10"/>
          </p:nvPr>
        </p:nvSpPr>
        <p:spPr/>
        <p:txBody>
          <a:bodyPr/>
          <a:lstStyle/>
          <a:p>
            <a:r>
              <a:rPr lang="en-US" altLang="zh-CN" smtClean="0"/>
              <a:t>The widespread loss of confidence reached the real sector of the economy.</a:t>
            </a:r>
          </a:p>
          <a:p>
            <a:r>
              <a:rPr lang="en-US" altLang="zh-CN" smtClean="0"/>
              <a:t>Intermediaries began to hoard cash and stop lending.</a:t>
            </a:r>
          </a:p>
          <a:p>
            <a:r>
              <a:rPr lang="en-US" altLang="zh-CN" smtClean="0"/>
              <a:t>Significant impacts on the real economy.</a:t>
            </a:r>
          </a:p>
          <a:p>
            <a:endParaRPr lang="zh-CN" altLang="en-US" dirty="0"/>
          </a:p>
        </p:txBody>
      </p:sp>
    </p:spTree>
    <p:extLst>
      <p:ext uri="{BB962C8B-B14F-4D97-AF65-F5344CB8AC3E}">
        <p14:creationId xmlns:p14="http://schemas.microsoft.com/office/powerpoint/2010/main" val="3679509857"/>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Risk Management </a:t>
            </a:r>
            <a:r>
              <a:rPr lang="en-US" altLang="zh-CN" dirty="0" smtClean="0"/>
              <a:t>Failures</a:t>
            </a:r>
            <a:endParaRPr lang="zh-CN" altLang="en-US" dirty="0"/>
          </a:p>
        </p:txBody>
      </p:sp>
    </p:spTree>
    <p:extLst>
      <p:ext uri="{BB962C8B-B14F-4D97-AF65-F5344CB8AC3E}">
        <p14:creationId xmlns:p14="http://schemas.microsoft.com/office/powerpoint/2010/main" val="188147238"/>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A Typology of Risk</a:t>
            </a:r>
            <a:r>
              <a:rPr lang="zh-CN" altLang="en-US" dirty="0"/>
              <a:t> </a:t>
            </a:r>
            <a:r>
              <a:rPr lang="en-US" altLang="zh-CN" dirty="0"/>
              <a:t>Management </a:t>
            </a:r>
            <a:r>
              <a:rPr lang="en-US" altLang="zh-CN" dirty="0" smtClean="0"/>
              <a:t>Failures</a:t>
            </a:r>
          </a:p>
          <a:p>
            <a:r>
              <a:rPr lang="en-US" altLang="zh-CN" dirty="0"/>
              <a:t>Was the Collapse of LTCM a Risk Mgmt. Failure?</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2089038017"/>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A. A Typology of Risk</a:t>
            </a:r>
            <a:r>
              <a:rPr lang="zh-CN" altLang="en-US" dirty="0" smtClean="0"/>
              <a:t> </a:t>
            </a:r>
            <a:r>
              <a:rPr lang="en-US" altLang="zh-CN" dirty="0" smtClean="0"/>
              <a:t>Management Failures</a:t>
            </a:r>
            <a:endParaRPr lang="zh-CN" altLang="en-US" dirty="0"/>
          </a:p>
        </p:txBody>
      </p:sp>
      <p:sp>
        <p:nvSpPr>
          <p:cNvPr id="3" name="文本占位符 2"/>
          <p:cNvSpPr>
            <a:spLocks noGrp="1"/>
          </p:cNvSpPr>
          <p:nvPr>
            <p:ph type="body" sz="quarter" idx="10"/>
          </p:nvPr>
        </p:nvSpPr>
        <p:spPr/>
        <p:txBody>
          <a:bodyPr/>
          <a:lstStyle/>
          <a:p>
            <a:r>
              <a:rPr lang="en-US" altLang="zh-CN" dirty="0" smtClean="0"/>
              <a:t>A large loss is not evidence of a risk management failure because a large loss can happen even if risk management is flawless.</a:t>
            </a:r>
          </a:p>
          <a:p>
            <a:pPr marL="0" indent="0">
              <a:buNone/>
            </a:pPr>
            <a:r>
              <a:rPr lang="en-US" altLang="zh-CN" dirty="0" smtClean="0"/>
              <a:t>1. </a:t>
            </a:r>
            <a:r>
              <a:rPr lang="en-US" altLang="zh-CN" dirty="0" smtClean="0"/>
              <a:t>Mismeasurement </a:t>
            </a:r>
            <a:r>
              <a:rPr lang="en-US" altLang="zh-CN" dirty="0" smtClean="0"/>
              <a:t>of Known Risks</a:t>
            </a:r>
          </a:p>
          <a:p>
            <a:r>
              <a:rPr lang="en-US" altLang="zh-CN" dirty="0" smtClean="0"/>
              <a:t>Risk Managers could Make a Mistake in</a:t>
            </a:r>
          </a:p>
          <a:p>
            <a:pPr lvl="1"/>
            <a:r>
              <a:rPr lang="en-US" altLang="zh-CN" dirty="0" smtClean="0"/>
              <a:t>Assessing the probability of a loss.</a:t>
            </a:r>
          </a:p>
          <a:p>
            <a:pPr lvl="1"/>
            <a:r>
              <a:rPr lang="en-US" altLang="zh-CN" dirty="0" smtClean="0"/>
              <a:t>Using the wrong distribution.</a:t>
            </a:r>
          </a:p>
          <a:p>
            <a:pPr lvl="1"/>
            <a:r>
              <a:rPr lang="en-US" altLang="zh-CN" dirty="0" smtClean="0"/>
              <a:t>Correlations may be </a:t>
            </a:r>
            <a:r>
              <a:rPr lang="en-US" altLang="zh-CN" dirty="0" err="1" smtClean="0"/>
              <a:t>mis</a:t>
            </a:r>
            <a:r>
              <a:rPr lang="en-US" altLang="zh-CN" dirty="0" smtClean="0"/>
              <a:t>-measured.</a:t>
            </a:r>
          </a:p>
          <a:p>
            <a:pPr lvl="1"/>
            <a:r>
              <a:rPr lang="en-US" altLang="zh-CN" dirty="0" smtClean="0"/>
              <a:t>A known risk may not manifest itself in the past.</a:t>
            </a:r>
          </a:p>
          <a:p>
            <a:endParaRPr lang="zh-CN" altLang="en-US" dirty="0"/>
          </a:p>
        </p:txBody>
      </p:sp>
    </p:spTree>
    <p:extLst>
      <p:ext uri="{BB962C8B-B14F-4D97-AF65-F5344CB8AC3E}">
        <p14:creationId xmlns:p14="http://schemas.microsoft.com/office/powerpoint/2010/main" val="1908925493"/>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A. A Typology of Risk</a:t>
            </a:r>
            <a:r>
              <a:rPr lang="zh-CN" altLang="en-US" smtClean="0"/>
              <a:t> </a:t>
            </a:r>
            <a:r>
              <a:rPr lang="en-US" altLang="zh-CN" smtClean="0"/>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2. </a:t>
            </a:r>
            <a:r>
              <a:rPr lang="en-US" altLang="zh-CN" dirty="0" smtClean="0"/>
              <a:t>Mismeasurement </a:t>
            </a:r>
            <a:r>
              <a:rPr lang="en-US" altLang="zh-CN" dirty="0" smtClean="0"/>
              <a:t>Due To Ignored Risks</a:t>
            </a:r>
          </a:p>
          <a:p>
            <a:r>
              <a:rPr lang="en-US" altLang="zh-CN" dirty="0" smtClean="0"/>
              <a:t>Ignored known risks</a:t>
            </a:r>
          </a:p>
          <a:p>
            <a:r>
              <a:rPr lang="en-US" altLang="zh-CN" dirty="0" smtClean="0"/>
              <a:t>Mistakes in information collection</a:t>
            </a:r>
          </a:p>
          <a:p>
            <a:pPr lvl="1"/>
            <a:r>
              <a:rPr lang="en-US" altLang="zh-CN" dirty="0" smtClean="0"/>
              <a:t>Risk</a:t>
            </a:r>
            <a:r>
              <a:rPr lang="zh-CN" altLang="en-US" dirty="0" smtClean="0"/>
              <a:t> </a:t>
            </a:r>
            <a:r>
              <a:rPr lang="en-US" altLang="zh-CN" dirty="0" smtClean="0"/>
              <a:t>is</a:t>
            </a:r>
            <a:r>
              <a:rPr lang="zh-CN" altLang="en-US" dirty="0" smtClean="0"/>
              <a:t> </a:t>
            </a:r>
            <a:r>
              <a:rPr lang="en-US" altLang="zh-CN" dirty="0" smtClean="0"/>
              <a:t>known</a:t>
            </a:r>
            <a:r>
              <a:rPr lang="zh-CN" altLang="en-US" dirty="0" smtClean="0"/>
              <a:t> </a:t>
            </a:r>
            <a:r>
              <a:rPr lang="en-US" altLang="zh-CN" dirty="0" smtClean="0"/>
              <a:t>but did not enter the relevant risk models.</a:t>
            </a:r>
          </a:p>
          <a:p>
            <a:pPr lvl="1"/>
            <a:r>
              <a:rPr lang="en-US" altLang="zh-CN" dirty="0" smtClean="0"/>
              <a:t>Losses from risks that were not accounted for (such as business risk).</a:t>
            </a:r>
          </a:p>
          <a:p>
            <a:r>
              <a:rPr lang="en-US" altLang="zh-CN" dirty="0" smtClean="0"/>
              <a:t>Unknown risks</a:t>
            </a:r>
          </a:p>
          <a:p>
            <a:pPr lvl="1"/>
            <a:r>
              <a:rPr lang="en-US" altLang="zh-CN" dirty="0" smtClean="0"/>
              <a:t>Do not create risk management problems.</a:t>
            </a:r>
          </a:p>
          <a:p>
            <a:endParaRPr lang="zh-CN" altLang="en-US" dirty="0"/>
          </a:p>
        </p:txBody>
      </p:sp>
    </p:spTree>
    <p:extLst>
      <p:ext uri="{BB962C8B-B14F-4D97-AF65-F5344CB8AC3E}">
        <p14:creationId xmlns:p14="http://schemas.microsoft.com/office/powerpoint/2010/main" val="987827048"/>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A. A Typology of Risk</a:t>
            </a:r>
            <a:r>
              <a:rPr lang="zh-CN" altLang="en-US" smtClean="0"/>
              <a:t> </a:t>
            </a:r>
            <a:r>
              <a:rPr lang="en-US" altLang="zh-CN" smtClean="0"/>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3. Communication Failures</a:t>
            </a:r>
          </a:p>
          <a:p>
            <a:r>
              <a:rPr lang="en-US" altLang="zh-CN" dirty="0" smtClean="0"/>
              <a:t>Risk management has to provide timely information to the board and top management.</a:t>
            </a:r>
          </a:p>
          <a:p>
            <a:r>
              <a:rPr lang="en-US" altLang="zh-CN" dirty="0" smtClean="0"/>
              <a:t>Right information, at the right time, to the right people.</a:t>
            </a:r>
          </a:p>
          <a:p>
            <a:r>
              <a:rPr lang="en-US" altLang="zh-CN" dirty="0" smtClean="0"/>
              <a:t>Hierarchical structures sometimes are filters when information was sent up.</a:t>
            </a:r>
          </a:p>
          <a:p>
            <a:endParaRPr lang="zh-CN" altLang="en-US" dirty="0"/>
          </a:p>
        </p:txBody>
      </p:sp>
    </p:spTree>
    <p:extLst>
      <p:ext uri="{BB962C8B-B14F-4D97-AF65-F5344CB8AC3E}">
        <p14:creationId xmlns:p14="http://schemas.microsoft.com/office/powerpoint/2010/main" val="348568877"/>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A. A Typology of Risk</a:t>
            </a:r>
            <a:r>
              <a:rPr lang="zh-CN" altLang="en-US" smtClean="0"/>
              <a:t> </a:t>
            </a:r>
            <a:r>
              <a:rPr lang="en-US" altLang="zh-CN" smtClean="0"/>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4. Failures In Monitoring</a:t>
            </a:r>
            <a:r>
              <a:rPr lang="zh-CN" altLang="en-US" dirty="0" smtClean="0"/>
              <a:t> </a:t>
            </a:r>
            <a:r>
              <a:rPr lang="en-US" altLang="zh-CN" dirty="0" smtClean="0"/>
              <a:t>And Managing Risks</a:t>
            </a:r>
          </a:p>
          <a:p>
            <a:r>
              <a:rPr lang="en-US" altLang="zh-CN" dirty="0" smtClean="0"/>
              <a:t>Risks can change sharply because of derivatives positions.</a:t>
            </a:r>
          </a:p>
          <a:p>
            <a:r>
              <a:rPr lang="en-US" altLang="zh-CN" dirty="0" smtClean="0"/>
              <a:t>Hedges adjusted daily could create large losses.</a:t>
            </a:r>
          </a:p>
          <a:p>
            <a:r>
              <a:rPr lang="en-US" altLang="zh-CN" dirty="0" smtClean="0"/>
              <a:t>When</a:t>
            </a:r>
            <a:r>
              <a:rPr lang="zh-CN" altLang="en-US" dirty="0" smtClean="0"/>
              <a:t> </a:t>
            </a:r>
            <a:r>
              <a:rPr lang="en-US" altLang="zh-CN" dirty="0" smtClean="0"/>
              <a:t>liquidity dries up in the markets, many risk-mitigating options can no longer be used.</a:t>
            </a:r>
          </a:p>
          <a:p>
            <a:r>
              <a:rPr lang="en-US" altLang="zh-CN" dirty="0" smtClean="0"/>
              <a:t>Individuals may take risks that remain hidden for a while.</a:t>
            </a:r>
          </a:p>
          <a:p>
            <a:r>
              <a:rPr lang="en" altLang="zh-CN" dirty="0" smtClean="0"/>
              <a:t>The</a:t>
            </a:r>
            <a:r>
              <a:rPr lang="zh-CN" altLang="en-US" dirty="0" smtClean="0"/>
              <a:t> </a:t>
            </a:r>
            <a:r>
              <a:rPr lang="en" altLang="zh-CN" dirty="0" smtClean="0"/>
              <a:t>effectiveness</a:t>
            </a:r>
            <a:r>
              <a:rPr lang="zh-CN" altLang="en-US" dirty="0" smtClean="0"/>
              <a:t> </a:t>
            </a:r>
            <a:r>
              <a:rPr lang="en" altLang="zh-CN" dirty="0" smtClean="0"/>
              <a:t>of</a:t>
            </a:r>
            <a:r>
              <a:rPr lang="zh-CN" altLang="en-US" dirty="0" smtClean="0"/>
              <a:t> </a:t>
            </a:r>
            <a:r>
              <a:rPr lang="en" altLang="zh-CN" dirty="0" smtClean="0"/>
              <a:t>risk</a:t>
            </a:r>
            <a:r>
              <a:rPr lang="zh-CN" altLang="en-US" dirty="0" smtClean="0"/>
              <a:t> </a:t>
            </a:r>
            <a:r>
              <a:rPr lang="en" altLang="zh-CN" dirty="0" smtClean="0"/>
              <a:t>monitoring</a:t>
            </a:r>
            <a:r>
              <a:rPr lang="zh-CN" altLang="en-US" dirty="0" smtClean="0"/>
              <a:t> </a:t>
            </a:r>
            <a:r>
              <a:rPr lang="en" altLang="zh-CN" dirty="0" smtClean="0"/>
              <a:t>and</a:t>
            </a:r>
            <a:r>
              <a:rPr lang="zh-CN" altLang="en-US" dirty="0" smtClean="0"/>
              <a:t> </a:t>
            </a:r>
            <a:r>
              <a:rPr lang="en" altLang="zh-CN" dirty="0" smtClean="0"/>
              <a:t>control</a:t>
            </a:r>
            <a:r>
              <a:rPr lang="zh-CN" altLang="en-US" dirty="0" smtClean="0"/>
              <a:t> </a:t>
            </a:r>
            <a:r>
              <a:rPr lang="en" altLang="zh-CN" dirty="0" smtClean="0"/>
              <a:t>depends</a:t>
            </a:r>
            <a:r>
              <a:rPr lang="zh-CN" altLang="en-US" dirty="0" smtClean="0"/>
              <a:t> </a:t>
            </a:r>
            <a:r>
              <a:rPr lang="en" altLang="zh-CN" dirty="0" smtClean="0"/>
              <a:t>crucially</a:t>
            </a:r>
            <a:r>
              <a:rPr lang="zh-CN" altLang="en-US" dirty="0" smtClean="0"/>
              <a:t> </a:t>
            </a:r>
            <a:r>
              <a:rPr lang="en" altLang="zh-CN" dirty="0" smtClean="0"/>
              <a:t>on</a:t>
            </a:r>
            <a:r>
              <a:rPr lang="zh-CN" altLang="en-US" dirty="0" smtClean="0"/>
              <a:t> </a:t>
            </a:r>
            <a:r>
              <a:rPr lang="en" altLang="zh-CN" dirty="0" smtClean="0"/>
              <a:t>an</a:t>
            </a:r>
            <a:r>
              <a:rPr lang="zh-CN" altLang="en-US" dirty="0" smtClean="0"/>
              <a:t> </a:t>
            </a:r>
            <a:r>
              <a:rPr lang="en" altLang="zh-CN" dirty="0" smtClean="0"/>
              <a:t>institution's</a:t>
            </a:r>
            <a:r>
              <a:rPr lang="zh-CN" altLang="en-US" dirty="0" smtClean="0"/>
              <a:t> </a:t>
            </a:r>
            <a:r>
              <a:rPr lang="en" altLang="zh-CN" dirty="0" smtClean="0"/>
              <a:t>culture</a:t>
            </a:r>
            <a:r>
              <a:rPr lang="zh-CN" altLang="en-US" dirty="0" smtClean="0"/>
              <a:t> </a:t>
            </a:r>
            <a:r>
              <a:rPr lang="en" altLang="zh-CN" dirty="0" smtClean="0"/>
              <a:t>and</a:t>
            </a:r>
            <a:r>
              <a:rPr lang="zh-CN" altLang="en-US" dirty="0" smtClean="0"/>
              <a:t> </a:t>
            </a:r>
            <a:r>
              <a:rPr lang="en" altLang="zh-CN" dirty="0" smtClean="0"/>
              <a:t>incentives.</a:t>
            </a:r>
            <a:r>
              <a:rPr lang="zh-CN" altLang="en-US" dirty="0" smtClean="0"/>
              <a:t> </a:t>
            </a:r>
            <a:endParaRPr lang="en" altLang="zh-CN" dirty="0" smtClean="0"/>
          </a:p>
          <a:p>
            <a:endParaRPr lang="zh-CN" altLang="en-US" dirty="0"/>
          </a:p>
        </p:txBody>
      </p:sp>
    </p:spTree>
    <p:extLst>
      <p:ext uri="{BB962C8B-B14F-4D97-AF65-F5344CB8AC3E}">
        <p14:creationId xmlns:p14="http://schemas.microsoft.com/office/powerpoint/2010/main" val="3870454473"/>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A. A Typology of Risk</a:t>
            </a:r>
            <a:r>
              <a:rPr lang="zh-CN" altLang="en-US" smtClean="0"/>
              <a:t> </a:t>
            </a:r>
            <a:r>
              <a:rPr lang="en-US" altLang="zh-CN" smtClean="0"/>
              <a:t>Management Failures</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5. Risk Measures and Risk</a:t>
            </a:r>
            <a:r>
              <a:rPr lang="zh-CN" altLang="en-US" dirty="0" smtClean="0"/>
              <a:t> </a:t>
            </a:r>
            <a:r>
              <a:rPr lang="en-US" altLang="zh-CN" dirty="0" smtClean="0"/>
              <a:t>Management Failures</a:t>
            </a:r>
          </a:p>
          <a:p>
            <a:r>
              <a:rPr lang="en-US" altLang="zh-CN" dirty="0" smtClean="0"/>
              <a:t>VaR does not capture small-probability losses.</a:t>
            </a:r>
          </a:p>
          <a:p>
            <a:r>
              <a:rPr lang="en" altLang="zh-CN" dirty="0" smtClean="0"/>
              <a:t>To assess risk, firms have to look at longer horizons and  have to take a comprehensive view of their risks.</a:t>
            </a:r>
            <a:r>
              <a:rPr lang="zh-CN" altLang="en-US" dirty="0" smtClean="0"/>
              <a:t>  </a:t>
            </a:r>
            <a:r>
              <a:rPr lang="en-US" altLang="zh-CN" dirty="0" smtClean="0"/>
              <a:t>But</a:t>
            </a:r>
            <a:r>
              <a:rPr lang="zh-CN" altLang="en-US" dirty="0" smtClean="0"/>
              <a:t> </a:t>
            </a:r>
            <a:r>
              <a:rPr lang="en-US" altLang="zh-CN" dirty="0" smtClean="0"/>
              <a:t>VaR</a:t>
            </a:r>
            <a:r>
              <a:rPr lang="zh-CN" altLang="en-US" dirty="0" smtClean="0"/>
              <a:t> </a:t>
            </a:r>
            <a:r>
              <a:rPr lang="en-US" altLang="zh-CN" dirty="0" smtClean="0"/>
              <a:t>seems</a:t>
            </a:r>
            <a:r>
              <a:rPr lang="zh-CN" altLang="en-US" dirty="0" smtClean="0"/>
              <a:t> </a:t>
            </a:r>
            <a:r>
              <a:rPr lang="en-US" altLang="zh-CN" dirty="0" smtClean="0"/>
              <a:t>work</a:t>
            </a:r>
            <a:r>
              <a:rPr lang="zh-CN" altLang="en-US" dirty="0" smtClean="0"/>
              <a:t> </a:t>
            </a:r>
            <a:r>
              <a:rPr lang="en-US" altLang="zh-CN" dirty="0" smtClean="0"/>
              <a:t>well</a:t>
            </a:r>
            <a:r>
              <a:rPr lang="zh-CN" altLang="en-US" dirty="0" smtClean="0"/>
              <a:t> </a:t>
            </a:r>
            <a:r>
              <a:rPr lang="en-US" altLang="zh-CN" dirty="0" smtClean="0"/>
              <a:t>with</a:t>
            </a:r>
            <a:r>
              <a:rPr lang="zh-CN" altLang="en-US" dirty="0" smtClean="0"/>
              <a:t> </a:t>
            </a:r>
            <a:r>
              <a:rPr lang="en-US" altLang="zh-CN" dirty="0" smtClean="0"/>
              <a:t>shorter</a:t>
            </a:r>
            <a:r>
              <a:rPr lang="zh-CN" altLang="en-US" dirty="0" smtClean="0"/>
              <a:t> </a:t>
            </a:r>
            <a:r>
              <a:rPr lang="en-US" altLang="zh-CN" dirty="0" smtClean="0"/>
              <a:t>horizons.</a:t>
            </a:r>
            <a:r>
              <a:rPr lang="en" altLang="zh-CN" dirty="0" smtClean="0"/>
              <a:t> </a:t>
            </a:r>
            <a:endParaRPr lang="en-US" altLang="zh-CN" dirty="0" smtClean="0"/>
          </a:p>
          <a:p>
            <a:r>
              <a:rPr lang="en-US" altLang="en-US" dirty="0" smtClean="0"/>
              <a:t>When we consider years, crises are not extremely rare events.</a:t>
            </a:r>
          </a:p>
          <a:p>
            <a:r>
              <a:rPr lang="en-US" altLang="en-US" dirty="0" smtClean="0"/>
              <a:t>During crisis periods, firms will make multiple losses</a:t>
            </a:r>
            <a:r>
              <a:rPr lang="en-US" altLang="zh-CN" dirty="0" smtClean="0"/>
              <a:t>.</a:t>
            </a:r>
          </a:p>
          <a:p>
            <a:r>
              <a:rPr lang="en" altLang="zh-CN" dirty="0" smtClean="0"/>
              <a:t>Crises involve complicated interactions across risks and  across institutions. There is little hope for statistical risk models relying on  historical data to capture such complicated situations. </a:t>
            </a:r>
          </a:p>
          <a:p>
            <a:endParaRPr lang="zh-CN" altLang="en-US" dirty="0"/>
          </a:p>
        </p:txBody>
      </p:sp>
    </p:spTree>
    <p:extLst>
      <p:ext uri="{BB962C8B-B14F-4D97-AF65-F5344CB8AC3E}">
        <p14:creationId xmlns:p14="http://schemas.microsoft.com/office/powerpoint/2010/main" val="3870454473"/>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smtClean="0"/>
              <a:t>Wide</a:t>
            </a:r>
            <a:r>
              <a:rPr lang="zh-CN" altLang="en-US" smtClean="0"/>
              <a:t> </a:t>
            </a:r>
            <a:r>
              <a:rPr lang="en-US" altLang="zh-CN" smtClean="0"/>
              <a:t>discussion.</a:t>
            </a:r>
            <a:r>
              <a:rPr lang="zh-CN" altLang="en-US" smtClean="0"/>
              <a:t> </a:t>
            </a:r>
            <a:r>
              <a:rPr lang="en-US" altLang="zh-CN" smtClean="0"/>
              <a:t>Please</a:t>
            </a:r>
            <a:r>
              <a:rPr lang="zh-CN" altLang="en-US" smtClean="0"/>
              <a:t> </a:t>
            </a:r>
            <a:r>
              <a:rPr lang="en-US" altLang="zh-CN" smtClean="0"/>
              <a:t>review</a:t>
            </a:r>
            <a:r>
              <a:rPr lang="zh-CN" altLang="en-US" smtClean="0"/>
              <a:t> </a:t>
            </a:r>
            <a:r>
              <a:rPr lang="en-US" altLang="zh-CN" smtClean="0"/>
              <a:t>the</a:t>
            </a:r>
            <a:r>
              <a:rPr lang="zh-CN" altLang="en-US" smtClean="0"/>
              <a:t> </a:t>
            </a:r>
            <a:r>
              <a:rPr lang="en-US" altLang="zh-CN" smtClean="0"/>
              <a:t>FRM</a:t>
            </a:r>
            <a:r>
              <a:rPr lang="zh-CN" altLang="en-US" smtClean="0"/>
              <a:t> </a:t>
            </a:r>
            <a:r>
              <a:rPr lang="en-US" altLang="zh-CN" smtClean="0"/>
              <a:t>official</a:t>
            </a:r>
            <a:r>
              <a:rPr lang="zh-CN" altLang="en-US" smtClean="0"/>
              <a:t> </a:t>
            </a:r>
            <a:r>
              <a:rPr lang="en-US" altLang="zh-CN" smtClean="0"/>
              <a:t>book</a:t>
            </a:r>
            <a:r>
              <a:rPr lang="zh-CN" altLang="en-US" smtClean="0"/>
              <a:t> </a:t>
            </a:r>
            <a:r>
              <a:rPr lang="en-US" altLang="zh-CN" smtClean="0"/>
              <a:t>for</a:t>
            </a:r>
            <a:r>
              <a:rPr lang="zh-CN" altLang="en-US" smtClean="0"/>
              <a:t> </a:t>
            </a:r>
            <a:r>
              <a:rPr lang="en-US" altLang="zh-CN" smtClean="0"/>
              <a:t>more</a:t>
            </a:r>
            <a:r>
              <a:rPr lang="zh-CN" altLang="en-US" smtClean="0"/>
              <a:t> </a:t>
            </a:r>
            <a:r>
              <a:rPr lang="en-US" altLang="zh-CN" smtClean="0"/>
              <a:t>details.</a:t>
            </a:r>
          </a:p>
          <a:p>
            <a:r>
              <a:rPr lang="en" altLang="zh-CN" smtClean="0"/>
              <a:t>In summary, risk management does not prevent losses.  With good risk management, large losses can occur when  those making the risk-taking decisions conclude that taking large, well-understood risks creates value for their organization.</a:t>
            </a:r>
          </a:p>
          <a:p>
            <a:endParaRPr lang="zh-CN" altLang="en-US" dirty="0"/>
          </a:p>
        </p:txBody>
      </p:sp>
    </p:spTree>
    <p:extLst>
      <p:ext uri="{BB962C8B-B14F-4D97-AF65-F5344CB8AC3E}">
        <p14:creationId xmlns:p14="http://schemas.microsoft.com/office/powerpoint/2010/main" val="2673912854"/>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smtClean="0"/>
              <a:t>Performance:</a:t>
            </a:r>
          </a:p>
          <a:p>
            <a:pPr lvl="1"/>
            <a:r>
              <a:rPr lang="en-US" altLang="zh-CN" smtClean="0"/>
              <a:t>1994: 20%</a:t>
            </a:r>
          </a:p>
          <a:p>
            <a:pPr lvl="1"/>
            <a:r>
              <a:rPr lang="en-US" altLang="zh-CN" smtClean="0"/>
              <a:t>1995: 43%</a:t>
            </a:r>
          </a:p>
          <a:p>
            <a:pPr lvl="1"/>
            <a:r>
              <a:rPr lang="en-US" altLang="zh-CN" smtClean="0"/>
              <a:t>1996: 41%</a:t>
            </a:r>
          </a:p>
          <a:p>
            <a:pPr lvl="1"/>
            <a:r>
              <a:rPr lang="en-US" altLang="zh-CN" smtClean="0"/>
              <a:t>1997: 17%</a:t>
            </a:r>
          </a:p>
          <a:p>
            <a:pPr lvl="1"/>
            <a:r>
              <a:rPr lang="en-US" altLang="zh-CN" smtClean="0"/>
              <a:t>August and September, 1998: a loss of more than 70%</a:t>
            </a:r>
            <a:endParaRPr lang="zh-CN" altLang="en-US" smtClean="0"/>
          </a:p>
          <a:p>
            <a:endParaRPr lang="zh-CN" altLang="en-US" dirty="0"/>
          </a:p>
        </p:txBody>
      </p:sp>
    </p:spTree>
    <p:extLst>
      <p:ext uri="{BB962C8B-B14F-4D97-AF65-F5344CB8AC3E}">
        <p14:creationId xmlns:p14="http://schemas.microsoft.com/office/powerpoint/2010/main" val="3362645903"/>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B. Was the Collapse of LTCM a Risk Mgmt. Failure?</a:t>
            </a:r>
            <a:endParaRPr lang="zh-CN" altLang="en-US" dirty="0"/>
          </a:p>
        </p:txBody>
      </p:sp>
      <p:sp>
        <p:nvSpPr>
          <p:cNvPr id="3" name="文本占位符 2"/>
          <p:cNvSpPr>
            <a:spLocks noGrp="1"/>
          </p:cNvSpPr>
          <p:nvPr>
            <p:ph type="body" sz="quarter" idx="10"/>
          </p:nvPr>
        </p:nvSpPr>
        <p:spPr/>
        <p:txBody>
          <a:bodyPr>
            <a:normAutofit fontScale="92500"/>
          </a:bodyPr>
          <a:lstStyle/>
          <a:p>
            <a:r>
              <a:rPr lang="en-US" altLang="zh-CN" smtClean="0"/>
              <a:t>LTCM wrote to its investors: it</a:t>
            </a:r>
            <a:r>
              <a:rPr lang="zh-CN" altLang="en-US" smtClean="0"/>
              <a:t> </a:t>
            </a:r>
            <a:r>
              <a:rPr lang="en-US" altLang="zh-CN" smtClean="0"/>
              <a:t>expected that the fund would experience a loss in excess</a:t>
            </a:r>
            <a:r>
              <a:rPr lang="zh-CN" altLang="en-US" smtClean="0"/>
              <a:t> </a:t>
            </a:r>
            <a:r>
              <a:rPr lang="en-US" altLang="zh-CN" smtClean="0"/>
              <a:t>of 20% only in one year out of;</a:t>
            </a:r>
            <a:r>
              <a:rPr lang="zh-CN" altLang="en-US" smtClean="0"/>
              <a:t> </a:t>
            </a:r>
            <a:r>
              <a:rPr lang="en-US" altLang="zh-CN" smtClean="0"/>
              <a:t>one year</a:t>
            </a:r>
            <a:r>
              <a:rPr lang="zh-CN" altLang="en-US" smtClean="0"/>
              <a:t> </a:t>
            </a:r>
            <a:r>
              <a:rPr lang="en-US" altLang="zh-CN" smtClean="0"/>
              <a:t>out of 100 can be expected to have a loss of 70%.</a:t>
            </a:r>
            <a:endParaRPr lang="zh-CN" altLang="en-US" smtClean="0"/>
          </a:p>
          <a:p>
            <a:r>
              <a:rPr lang="en-US" altLang="zh-CN" smtClean="0"/>
              <a:t>Argument: the risk</a:t>
            </a:r>
            <a:r>
              <a:rPr lang="zh-CN" altLang="en-US" smtClean="0"/>
              <a:t> </a:t>
            </a:r>
            <a:r>
              <a:rPr lang="en-US" altLang="zh-CN" smtClean="0"/>
              <a:t>of the fund was poorly managed.</a:t>
            </a:r>
            <a:endParaRPr lang="zh-CN" altLang="en-US" smtClean="0"/>
          </a:p>
          <a:p>
            <a:pPr lvl="1"/>
            <a:r>
              <a:rPr lang="en-US" altLang="zh-CN" smtClean="0"/>
              <a:t>Risk management could not have been improved</a:t>
            </a:r>
            <a:r>
              <a:rPr lang="zh-CN" altLang="en-US" smtClean="0"/>
              <a:t> </a:t>
            </a:r>
            <a:r>
              <a:rPr lang="en-US" altLang="zh-CN" smtClean="0"/>
              <a:t>in this case.</a:t>
            </a:r>
            <a:endParaRPr lang="zh-CN" altLang="en-US" smtClean="0"/>
          </a:p>
          <a:p>
            <a:r>
              <a:rPr lang="en-US" altLang="zh-CN" smtClean="0"/>
              <a:t>The managers took</a:t>
            </a:r>
            <a:r>
              <a:rPr lang="zh-CN" altLang="en-US" smtClean="0"/>
              <a:t> </a:t>
            </a:r>
            <a:r>
              <a:rPr lang="en-US" altLang="zh-CN" smtClean="0"/>
              <a:t>risks they should not have, but that is not a risk management</a:t>
            </a:r>
            <a:r>
              <a:rPr lang="zh-CN" altLang="en-US" smtClean="0"/>
              <a:t> </a:t>
            </a:r>
            <a:r>
              <a:rPr lang="en-US" altLang="zh-CN" smtClean="0"/>
              <a:t>issue as long as the risks were properly understood.</a:t>
            </a:r>
          </a:p>
          <a:p>
            <a:r>
              <a:rPr lang="en-US" altLang="zh-CN" smtClean="0"/>
              <a:t>Deciding whether to take a known risk is not a decision</a:t>
            </a:r>
            <a:r>
              <a:rPr lang="zh-CN" altLang="en-US" smtClean="0"/>
              <a:t> </a:t>
            </a:r>
            <a:r>
              <a:rPr lang="en-US" altLang="zh-CN" smtClean="0"/>
              <a:t>for risk managers. The decision depends on the risk appetite of an institution. However, defining the risk appetite is</a:t>
            </a:r>
            <a:r>
              <a:rPr lang="zh-CN" altLang="en-US" smtClean="0"/>
              <a:t> </a:t>
            </a:r>
            <a:r>
              <a:rPr lang="en-US" altLang="zh-CN" smtClean="0"/>
              <a:t>a decision for the board and top management.</a:t>
            </a:r>
            <a:endParaRPr lang="en-US" altLang="zh-CN" dirty="0"/>
          </a:p>
        </p:txBody>
      </p:sp>
    </p:spTree>
    <p:extLst>
      <p:ext uri="{BB962C8B-B14F-4D97-AF65-F5344CB8AC3E}">
        <p14:creationId xmlns:p14="http://schemas.microsoft.com/office/powerpoint/2010/main" val="1073441163"/>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dirty="0" smtClean="0"/>
              <a:t>In</a:t>
            </a:r>
            <a:r>
              <a:rPr lang="zh-CN" altLang="en-US" dirty="0" smtClean="0"/>
              <a:t> </a:t>
            </a:r>
            <a:r>
              <a:rPr lang="en-US" altLang="zh-CN" dirty="0" smtClean="0"/>
              <a:t>spite</a:t>
            </a:r>
            <a:r>
              <a:rPr lang="zh-CN" altLang="en-US" dirty="0" smtClean="0"/>
              <a:t> </a:t>
            </a:r>
            <a:r>
              <a:rPr lang="en-US" altLang="zh-CN" dirty="0" smtClean="0"/>
              <a:t>of</a:t>
            </a:r>
            <a:r>
              <a:rPr lang="zh-CN" altLang="en-US" dirty="0" smtClean="0"/>
              <a:t> </a:t>
            </a:r>
            <a:r>
              <a:rPr lang="en-US" altLang="zh-CN" dirty="0" smtClean="0"/>
              <a:t>the cost</a:t>
            </a:r>
            <a:r>
              <a:rPr lang="zh-CN" altLang="en-US" dirty="0" smtClean="0"/>
              <a:t> </a:t>
            </a:r>
            <a:r>
              <a:rPr lang="en-US" altLang="zh-CN" dirty="0" smtClean="0"/>
              <a:t>of losing $3.5 billion for the investors in LTCM, there were no additional costs beyond the</a:t>
            </a:r>
            <a:r>
              <a:rPr lang="zh-CN" altLang="en-US" dirty="0" smtClean="0"/>
              <a:t> </a:t>
            </a:r>
            <a:r>
              <a:rPr lang="en-US" altLang="zh-CN" dirty="0" smtClean="0"/>
              <a:t>direct monetary loss. For most firms, large losses</a:t>
            </a:r>
            <a:r>
              <a:rPr lang="zh-CN" altLang="en-US" dirty="0" smtClean="0"/>
              <a:t> </a:t>
            </a:r>
            <a:r>
              <a:rPr lang="en-US" altLang="zh-CN" dirty="0" smtClean="0"/>
              <a:t>have deadweight costs.</a:t>
            </a:r>
            <a:endParaRPr lang="zh-CN" altLang="en-US" dirty="0" smtClean="0"/>
          </a:p>
          <a:p>
            <a:r>
              <a:rPr lang="en-US" altLang="zh-CN" u="sng" dirty="0" smtClean="0"/>
              <a:t>Argument</a:t>
            </a:r>
            <a:r>
              <a:rPr lang="en-US" altLang="zh-CN" dirty="0" smtClean="0"/>
              <a:t>:</a:t>
            </a:r>
            <a:r>
              <a:rPr lang="zh-CN" altLang="en-US" dirty="0" smtClean="0"/>
              <a:t> </a:t>
            </a:r>
            <a:r>
              <a:rPr lang="en-US" altLang="zh-CN" b="0" dirty="0" smtClean="0"/>
              <a:t>by increasing its leverage, it could boost the return to its</a:t>
            </a:r>
            <a:r>
              <a:rPr lang="zh-CN" altLang="en-US" b="0" dirty="0" smtClean="0"/>
              <a:t> </a:t>
            </a:r>
            <a:r>
              <a:rPr lang="en-US" altLang="zh-CN" b="0" dirty="0" smtClean="0"/>
              <a:t>shareholders if things went well at the expense of making</a:t>
            </a:r>
            <a:r>
              <a:rPr lang="zh-CN" altLang="en-US" b="0" dirty="0" smtClean="0"/>
              <a:t> </a:t>
            </a:r>
            <a:r>
              <a:rPr lang="en-US" altLang="zh-CN" b="0" dirty="0" smtClean="0"/>
              <a:t>more losses if things went poorly.</a:t>
            </a:r>
            <a:endParaRPr lang="zh-CN" altLang="en-US" b="0" dirty="0" smtClean="0"/>
          </a:p>
          <a:p>
            <a:pPr lvl="1"/>
            <a:r>
              <a:rPr lang="en-US" altLang="zh-CN" dirty="0" smtClean="0"/>
              <a:t>The</a:t>
            </a:r>
            <a:r>
              <a:rPr lang="zh-CN" altLang="en-US" dirty="0" smtClean="0"/>
              <a:t> </a:t>
            </a:r>
            <a:r>
              <a:rPr lang="en-US" altLang="zh-CN" dirty="0" smtClean="0"/>
              <a:t>partners</a:t>
            </a:r>
            <a:r>
              <a:rPr lang="zh-CN" altLang="en-US" dirty="0" smtClean="0"/>
              <a:t> </a:t>
            </a:r>
            <a:r>
              <a:rPr lang="en-US" altLang="zh-CN" dirty="0" smtClean="0"/>
              <a:t>of</a:t>
            </a:r>
            <a:r>
              <a:rPr lang="zh-CN" altLang="en-US" dirty="0" smtClean="0"/>
              <a:t> </a:t>
            </a:r>
            <a:r>
              <a:rPr lang="en-US" altLang="zh-CN" dirty="0" smtClean="0"/>
              <a:t>LTCM</a:t>
            </a:r>
            <a:r>
              <a:rPr lang="zh-CN" altLang="en-US" dirty="0" smtClean="0"/>
              <a:t> </a:t>
            </a:r>
            <a:r>
              <a:rPr lang="en-US" altLang="zh-CN" dirty="0" smtClean="0"/>
              <a:t>knew</a:t>
            </a:r>
            <a:r>
              <a:rPr lang="zh-CN" altLang="en-US" dirty="0" smtClean="0"/>
              <a:t> </a:t>
            </a:r>
            <a:r>
              <a:rPr lang="en-US" altLang="zh-CN" dirty="0" smtClean="0"/>
              <a:t>the</a:t>
            </a:r>
            <a:r>
              <a:rPr lang="zh-CN" altLang="en-US" dirty="0" smtClean="0"/>
              <a:t> </a:t>
            </a:r>
            <a:r>
              <a:rPr lang="en-US" altLang="zh-CN" dirty="0" smtClean="0"/>
              <a:t>risks</a:t>
            </a:r>
            <a:r>
              <a:rPr lang="zh-CN" altLang="en-US" dirty="0" smtClean="0"/>
              <a:t> </a:t>
            </a:r>
            <a:r>
              <a:rPr lang="en-US" altLang="zh-CN" dirty="0" smtClean="0"/>
              <a:t>and</a:t>
            </a:r>
            <a:r>
              <a:rPr lang="zh-CN" altLang="en-US" dirty="0" smtClean="0"/>
              <a:t> </a:t>
            </a:r>
            <a:r>
              <a:rPr lang="en-US" altLang="zh-CN" dirty="0" smtClean="0"/>
              <a:t>the</a:t>
            </a:r>
            <a:r>
              <a:rPr lang="zh-CN" altLang="en-US" dirty="0" smtClean="0"/>
              <a:t> </a:t>
            </a:r>
            <a:r>
              <a:rPr lang="en-US" altLang="zh-CN" dirty="0" smtClean="0"/>
              <a:t>rewards</a:t>
            </a:r>
            <a:r>
              <a:rPr lang="zh-CN" altLang="en-US" dirty="0" smtClean="0"/>
              <a:t> </a:t>
            </a:r>
            <a:r>
              <a:rPr lang="en-US" altLang="zh-CN" dirty="0" smtClean="0"/>
              <a:t>from</a:t>
            </a:r>
            <a:r>
              <a:rPr lang="zh-CN" altLang="en-US" dirty="0" smtClean="0"/>
              <a:t> </a:t>
            </a:r>
            <a:r>
              <a:rPr lang="en-US" altLang="zh-CN" dirty="0" smtClean="0"/>
              <a:t>doing</a:t>
            </a:r>
            <a:r>
              <a:rPr lang="zh-CN" altLang="en-US" dirty="0" smtClean="0"/>
              <a:t> </a:t>
            </a:r>
            <a:r>
              <a:rPr lang="en-US" altLang="zh-CN" dirty="0" smtClean="0"/>
              <a:t>so.</a:t>
            </a:r>
            <a:endParaRPr lang="zh-CN" altLang="en-US" dirty="0" smtClean="0"/>
          </a:p>
          <a:p>
            <a:r>
              <a:rPr lang="en-US" altLang="zh-CN" u="sng" dirty="0" smtClean="0"/>
              <a:t>Argument:</a:t>
            </a:r>
            <a:r>
              <a:rPr lang="zh-CN" altLang="en-US" dirty="0" smtClean="0"/>
              <a:t> </a:t>
            </a:r>
            <a:r>
              <a:rPr lang="en-US" altLang="zh-CN" b="0" dirty="0" smtClean="0"/>
              <a:t>top management had incentives to take too much</a:t>
            </a:r>
            <a:r>
              <a:rPr lang="zh-CN" altLang="en-US" b="0" dirty="0" smtClean="0"/>
              <a:t> </a:t>
            </a:r>
            <a:r>
              <a:rPr lang="en-US" altLang="zh-CN" b="0" dirty="0" smtClean="0"/>
              <a:t>risk</a:t>
            </a:r>
            <a:r>
              <a:rPr lang="en-US" altLang="zh-CN" dirty="0" smtClean="0"/>
              <a:t>.</a:t>
            </a:r>
            <a:endParaRPr lang="zh-CN" altLang="en-US" dirty="0" smtClean="0"/>
          </a:p>
          <a:p>
            <a:pPr lvl="1"/>
            <a:r>
              <a:rPr lang="en-US" altLang="zh-CN" dirty="0" smtClean="0"/>
              <a:t>The partners of LTCM</a:t>
            </a:r>
            <a:r>
              <a:rPr lang="zh-CN" altLang="en-US" dirty="0" smtClean="0"/>
              <a:t> </a:t>
            </a:r>
            <a:r>
              <a:rPr lang="en-US" altLang="zh-CN" dirty="0" smtClean="0"/>
              <a:t>collectively had almost $2 billion invested in the fund</a:t>
            </a:r>
            <a:r>
              <a:rPr lang="zh-CN" altLang="en-US" dirty="0" smtClean="0"/>
              <a:t> </a:t>
            </a:r>
            <a:r>
              <a:rPr lang="en-US" altLang="zh-CN" dirty="0" smtClean="0"/>
              <a:t>at the beginning of 1998.</a:t>
            </a:r>
          </a:p>
          <a:p>
            <a:endParaRPr lang="zh-CN" altLang="en-US" dirty="0"/>
          </a:p>
        </p:txBody>
      </p:sp>
    </p:spTree>
    <p:extLst>
      <p:ext uri="{BB962C8B-B14F-4D97-AF65-F5344CB8AC3E}">
        <p14:creationId xmlns:p14="http://schemas.microsoft.com/office/powerpoint/2010/main" val="4175768980"/>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B. Was the Collapse of LTCM a Risk Mgmt. Failure?</a:t>
            </a:r>
            <a:endParaRPr lang="zh-CN" altLang="en-US" dirty="0"/>
          </a:p>
        </p:txBody>
      </p:sp>
      <p:sp>
        <p:nvSpPr>
          <p:cNvPr id="3" name="文本占位符 2"/>
          <p:cNvSpPr>
            <a:spLocks noGrp="1"/>
          </p:cNvSpPr>
          <p:nvPr>
            <p:ph type="body" sz="quarter" idx="10"/>
          </p:nvPr>
        </p:nvSpPr>
        <p:spPr/>
        <p:txBody>
          <a:bodyPr/>
          <a:lstStyle/>
          <a:p>
            <a:r>
              <a:rPr lang="en-US" altLang="zh-CN" dirty="0" smtClean="0"/>
              <a:t>Russia defaulted on its domestic debt</a:t>
            </a:r>
            <a:r>
              <a:rPr lang="zh-CN" altLang="en-US" dirty="0" smtClean="0"/>
              <a:t> </a:t>
            </a:r>
            <a:r>
              <a:rPr lang="de-DE" altLang="zh-CN" dirty="0" smtClean="0"/>
              <a:t>in August 1998</a:t>
            </a:r>
            <a:endParaRPr lang="zh-CN" altLang="en-US" dirty="0" smtClean="0"/>
          </a:p>
          <a:p>
            <a:r>
              <a:rPr lang="en-US" altLang="zh-CN" u="sng" dirty="0" smtClean="0"/>
              <a:t>Argument:</a:t>
            </a:r>
            <a:r>
              <a:rPr lang="en-US" altLang="zh-CN" dirty="0" smtClean="0"/>
              <a:t> Had LTCM</a:t>
            </a:r>
            <a:r>
              <a:rPr lang="zh-CN" altLang="en-US" dirty="0" smtClean="0"/>
              <a:t> </a:t>
            </a:r>
            <a:r>
              <a:rPr lang="en-US" altLang="zh-CN" dirty="0" smtClean="0"/>
              <a:t>taken into account counterparty risk properly, they would have understood that their</a:t>
            </a:r>
            <a:r>
              <a:rPr lang="zh-CN" altLang="en-US" dirty="0" smtClean="0"/>
              <a:t> </a:t>
            </a:r>
            <a:r>
              <a:rPr lang="en-US" altLang="zh-CN" dirty="0" smtClean="0"/>
              <a:t>positions had substantial risk in the event of an adverse</a:t>
            </a:r>
            <a:r>
              <a:rPr lang="zh-CN" altLang="en-US" dirty="0" smtClean="0"/>
              <a:t> </a:t>
            </a:r>
            <a:r>
              <a:rPr lang="en-US" altLang="zh-CN" dirty="0" smtClean="0"/>
              <a:t>shock to the Russian banking system.</a:t>
            </a:r>
            <a:endParaRPr lang="zh-CN" altLang="en-US" dirty="0" smtClean="0"/>
          </a:p>
          <a:p>
            <a:pPr lvl="1"/>
            <a:r>
              <a:rPr lang="en-US" altLang="zh-CN" dirty="0" smtClean="0"/>
              <a:t>In</a:t>
            </a:r>
            <a:r>
              <a:rPr lang="zh-CN" altLang="en-US" dirty="0" smtClean="0"/>
              <a:t> </a:t>
            </a:r>
            <a:r>
              <a:rPr lang="en-US" altLang="zh-CN" dirty="0" smtClean="0"/>
              <a:t>fact,</a:t>
            </a:r>
            <a:r>
              <a:rPr lang="zh-CN" altLang="en-US" dirty="0" smtClean="0"/>
              <a:t> </a:t>
            </a:r>
            <a:r>
              <a:rPr lang="en-US" altLang="zh-CN" dirty="0" smtClean="0"/>
              <a:t>LTCM did</a:t>
            </a:r>
            <a:r>
              <a:rPr lang="zh-CN" altLang="en-US" dirty="0" smtClean="0"/>
              <a:t> </a:t>
            </a:r>
            <a:r>
              <a:rPr lang="en-US" altLang="zh-CN" dirty="0" smtClean="0"/>
              <a:t>not</a:t>
            </a:r>
            <a:r>
              <a:rPr lang="zh-CN" altLang="en-US" dirty="0" smtClean="0"/>
              <a:t> </a:t>
            </a:r>
            <a:r>
              <a:rPr lang="en-US" altLang="zh-CN" dirty="0" smtClean="0"/>
              <a:t>behave like these</a:t>
            </a:r>
            <a:r>
              <a:rPr lang="zh-CN" altLang="en-US" dirty="0" smtClean="0"/>
              <a:t> </a:t>
            </a:r>
            <a:r>
              <a:rPr lang="en-US" altLang="zh-CN" dirty="0" smtClean="0"/>
              <a:t>other hedge funds. Further, </a:t>
            </a:r>
            <a:r>
              <a:rPr lang="en-US" altLang="zh-CN" dirty="0" smtClean="0"/>
              <a:t>LTCM's </a:t>
            </a:r>
            <a:r>
              <a:rPr lang="en-US" altLang="zh-CN" dirty="0" smtClean="0"/>
              <a:t>Russian exposures</a:t>
            </a:r>
            <a:r>
              <a:rPr lang="zh-CN" altLang="en-US" dirty="0" smtClean="0"/>
              <a:t> </a:t>
            </a:r>
            <a:r>
              <a:rPr lang="en-US" altLang="zh-CN" dirty="0" smtClean="0"/>
              <a:t>were relatively small.</a:t>
            </a:r>
            <a:endParaRPr lang="zh-CN" altLang="en-US" dirty="0" smtClean="0"/>
          </a:p>
          <a:p>
            <a:endParaRPr lang="zh-CN" altLang="en-US" dirty="0"/>
          </a:p>
        </p:txBody>
      </p:sp>
    </p:spTree>
    <p:extLst>
      <p:ext uri="{BB962C8B-B14F-4D97-AF65-F5344CB8AC3E}">
        <p14:creationId xmlns:p14="http://schemas.microsoft.com/office/powerpoint/2010/main" val="4271345963"/>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584961" y="2445477"/>
            <a:ext cx="4945051" cy="1278384"/>
          </a:xfrm>
        </p:spPr>
        <p:txBody>
          <a:bodyPr/>
          <a:lstStyle/>
          <a:p>
            <a:r>
              <a:rPr lang="en-US" altLang="zh-CN" dirty="0"/>
              <a:t>GARP</a:t>
            </a:r>
            <a:r>
              <a:rPr lang="zh-CN" altLang="en-US" dirty="0"/>
              <a:t> </a:t>
            </a:r>
            <a:r>
              <a:rPr lang="en-US" altLang="zh-CN" dirty="0"/>
              <a:t>Code</a:t>
            </a:r>
            <a:r>
              <a:rPr lang="zh-CN" altLang="en-US" dirty="0"/>
              <a:t> </a:t>
            </a:r>
            <a:r>
              <a:rPr lang="en-US" altLang="zh-CN" dirty="0"/>
              <a:t>of</a:t>
            </a:r>
            <a:r>
              <a:rPr lang="zh-CN" altLang="en-US" dirty="0"/>
              <a:t> </a:t>
            </a:r>
            <a:r>
              <a:rPr lang="en-US" altLang="zh-CN" dirty="0" smtClean="0"/>
              <a:t>Conduct</a:t>
            </a:r>
            <a:endParaRPr lang="zh-CN" altLang="en-US" dirty="0"/>
          </a:p>
        </p:txBody>
      </p:sp>
    </p:spTree>
    <p:extLst>
      <p:ext uri="{BB962C8B-B14F-4D97-AF65-F5344CB8AC3E}">
        <p14:creationId xmlns:p14="http://schemas.microsoft.com/office/powerpoint/2010/main" val="1726990144"/>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Introductory </a:t>
            </a:r>
            <a:r>
              <a:rPr lang="en-US" altLang="zh-CN" dirty="0" smtClean="0"/>
              <a:t>Statement</a:t>
            </a:r>
          </a:p>
          <a:p>
            <a:r>
              <a:rPr lang="en-US" altLang="zh-CN" dirty="0"/>
              <a:t>Code of </a:t>
            </a:r>
            <a:r>
              <a:rPr lang="en-US" altLang="zh-CN" dirty="0" smtClean="0"/>
              <a:t>Conduct</a:t>
            </a:r>
          </a:p>
          <a:p>
            <a:r>
              <a:rPr lang="en-US" altLang="zh-CN" dirty="0"/>
              <a:t>Applicability and enforcement</a:t>
            </a:r>
            <a:endParaRPr lang="zh-CN" altLang="en-US" dirty="0">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solidFill>
                <a:prstClr val="black"/>
              </a:solidFill>
            </a:endParaRPr>
          </a:p>
        </p:txBody>
      </p:sp>
    </p:spTree>
    <p:extLst>
      <p:ext uri="{BB962C8B-B14F-4D97-AF65-F5344CB8AC3E}">
        <p14:creationId xmlns:p14="http://schemas.microsoft.com/office/powerpoint/2010/main" val="2652605120"/>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Introductory Statement</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dirty="0" smtClean="0"/>
              <a:t>The GARP Code of Conduct (“Code”) sets forth principles of professional conduct for Global Association of Risk Professional (“GARP”) Financial Risk Management program (FRM®) certification and other GARP certification and diploma holders and candidates, </a:t>
            </a:r>
            <a:r>
              <a:rPr lang="en-US" altLang="zh-CN" dirty="0" smtClean="0"/>
              <a:t>GARP's </a:t>
            </a:r>
            <a:r>
              <a:rPr lang="en-US" altLang="zh-CN" dirty="0" smtClean="0"/>
              <a:t>Board of Trustees, its Regional Directors, GARP Committee Members and </a:t>
            </a:r>
            <a:r>
              <a:rPr lang="en-US" altLang="zh-CN" dirty="0" smtClean="0"/>
              <a:t>GARP's </a:t>
            </a:r>
            <a:r>
              <a:rPr lang="en-US" altLang="zh-CN" dirty="0" smtClean="0"/>
              <a:t>staff (hereinafter collectively referred to as “GARP Members”) in support of the advancement of the financial risk management profession. </a:t>
            </a:r>
          </a:p>
          <a:p>
            <a:r>
              <a:rPr lang="en-US" altLang="zh-CN" dirty="0" smtClean="0"/>
              <a:t>为了推动风险管理职业的发展，GARP制定了行为准则以约束FRM持证人、其他GARP发证的持证人以及相应的候选人、GARP理事会、区域总监、GARP委员会成员以及协会员工（以下统称为“GARP会员”），</a:t>
            </a:r>
            <a:r>
              <a:rPr lang="en-US" altLang="zh-CN" dirty="0" err="1" smtClean="0"/>
              <a:t>该准则旨在推进最高水平的道德行为和信息披露要求，同时为个人和风险管理职业指明方向</a:t>
            </a:r>
            <a:r>
              <a:rPr lang="zh-CN" altLang="en-US" dirty="0" smtClean="0"/>
              <a:t>。</a:t>
            </a:r>
            <a:endParaRPr lang="en-US" altLang="zh-CN" dirty="0" smtClean="0"/>
          </a:p>
          <a:p>
            <a:r>
              <a:rPr lang="en-US" altLang="zh-CN" dirty="0" smtClean="0"/>
              <a:t>These principles promote the highest levels of ethical conduct and disclosure and provide direction and support for both the individual practitioner and the risk management profession.</a:t>
            </a:r>
          </a:p>
          <a:p>
            <a:endParaRPr lang="zh-CN" altLang="en-US" dirty="0"/>
          </a:p>
        </p:txBody>
      </p:sp>
    </p:spTree>
    <p:extLst>
      <p:ext uri="{BB962C8B-B14F-4D97-AF65-F5344CB8AC3E}">
        <p14:creationId xmlns:p14="http://schemas.microsoft.com/office/powerpoint/2010/main" val="1313662871"/>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Code of Conduct</a:t>
            </a:r>
            <a:endParaRPr lang="zh-CN" altLang="en-US" dirty="0"/>
          </a:p>
        </p:txBody>
      </p:sp>
      <p:sp>
        <p:nvSpPr>
          <p:cNvPr id="3" name="文本占位符 2"/>
          <p:cNvSpPr>
            <a:spLocks noGrp="1"/>
          </p:cNvSpPr>
          <p:nvPr>
            <p:ph type="body" sz="quarter" idx="10"/>
          </p:nvPr>
        </p:nvSpPr>
        <p:spPr/>
        <p:txBody>
          <a:bodyPr>
            <a:normAutofit/>
          </a:bodyPr>
          <a:lstStyle/>
          <a:p>
            <a:pPr marL="457200" indent="-457200">
              <a:buFont typeface="+mj-lt"/>
              <a:buAutoNum type="arabicPeriod"/>
            </a:pPr>
            <a:r>
              <a:rPr lang="en-US" altLang="zh-CN" dirty="0" smtClean="0"/>
              <a:t>Principles</a:t>
            </a:r>
          </a:p>
          <a:p>
            <a:r>
              <a:rPr lang="en-US" altLang="zh-CN" dirty="0" smtClean="0"/>
              <a:t>Professional Integrity and Ethical Conduct. </a:t>
            </a:r>
          </a:p>
          <a:p>
            <a:pPr lvl="1"/>
            <a:r>
              <a:rPr lang="en-US" altLang="zh-CN" dirty="0" smtClean="0"/>
              <a:t>GARP Members shall act with honesty, integrity, and competence to fulfill the risk </a:t>
            </a:r>
            <a:r>
              <a:rPr lang="en-US" altLang="zh-CN" dirty="0" smtClean="0"/>
              <a:t>professional's </a:t>
            </a:r>
            <a:r>
              <a:rPr lang="en-US" altLang="zh-CN" dirty="0" smtClean="0"/>
              <a:t>responsibilities and to uphold the reputation of the risk management profession. GARP Members must avoid disguised contrivances in assessments, measurements and processes that are intended to provide business advantage at the expense of honesty and truthfulness.</a:t>
            </a:r>
          </a:p>
          <a:p>
            <a:pPr lvl="1"/>
            <a:r>
              <a:rPr lang="en-US" altLang="zh-CN" dirty="0" smtClean="0"/>
              <a:t>职业道德和操守。GARP会员应当具备诚实，正直以及履行风险管理职责的能力，并维护风险管理职业的声誉。协会会员不得在评估、计量过程中利用掩饰手段，通过歪曲事实来获取商业利益</a:t>
            </a:r>
            <a:r>
              <a:rPr lang="zh-CN" altLang="en-US" dirty="0" smtClean="0"/>
              <a:t>。</a:t>
            </a:r>
          </a:p>
          <a:p>
            <a:endParaRPr lang="zh-CN" altLang="en-US" dirty="0"/>
          </a:p>
        </p:txBody>
      </p:sp>
    </p:spTree>
    <p:extLst>
      <p:ext uri="{BB962C8B-B14F-4D97-AF65-F5344CB8AC3E}">
        <p14:creationId xmlns:p14="http://schemas.microsoft.com/office/powerpoint/2010/main" val="457752452"/>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fontScale="85000" lnSpcReduction="20000"/>
          </a:bodyPr>
          <a:lstStyle/>
          <a:p>
            <a:r>
              <a:rPr lang="en-US" altLang="zh-CN" smtClean="0"/>
              <a:t>Conflicts of Interest. </a:t>
            </a:r>
          </a:p>
          <a:p>
            <a:pPr lvl="1"/>
            <a:r>
              <a:rPr lang="en-US" altLang="zh-CN" smtClean="0"/>
              <a:t>GARP Members have a responsibility to promote the interests of all relevant constituencies and will not knowingly perform risk management services directly or indirectly involving an actual or potential conflict of interest unless full disclosure has been provided to all affected parties of any actual or apparent conflict of interest. Where conflicts are unavoidable GARP Members commit to their full disclosure and management.</a:t>
            </a:r>
          </a:p>
          <a:p>
            <a:pPr lvl="1"/>
            <a:r>
              <a:rPr lang="zh-CN" altLang="en-US" smtClean="0"/>
              <a:t>利益冲突。</a:t>
            </a:r>
            <a:r>
              <a:rPr lang="en-US" altLang="zh-CN" smtClean="0"/>
              <a:t>GARP</a:t>
            </a:r>
            <a:r>
              <a:rPr lang="zh-CN" altLang="en-US" smtClean="0"/>
              <a:t>会员有责任促进有关团体的利益，不能故意直接或间接从事可能导致实际或潜在利益冲突的风险管理服务，除非充分披露所有受影响各方的实际和明显的利益冲突，且这些冲突是无法避免的。</a:t>
            </a:r>
          </a:p>
          <a:p>
            <a:r>
              <a:rPr lang="en-US" altLang="zh-CN" smtClean="0"/>
              <a:t>Confidentiality.</a:t>
            </a:r>
          </a:p>
          <a:p>
            <a:pPr lvl="1"/>
            <a:r>
              <a:rPr lang="en-US" altLang="zh-CN" smtClean="0"/>
              <a:t>GARP Members will take all reasonable precautionary measures to prevent intentional and unintentional disclosure of confidential information.</a:t>
            </a:r>
          </a:p>
          <a:p>
            <a:pPr lvl="1"/>
            <a:r>
              <a:rPr lang="zh-CN" altLang="en-US" smtClean="0"/>
              <a:t>保密性。</a:t>
            </a:r>
            <a:r>
              <a:rPr lang="en-US" altLang="zh-CN" smtClean="0"/>
              <a:t>GARP</a:t>
            </a:r>
            <a:r>
              <a:rPr lang="zh-CN" altLang="en-US" smtClean="0"/>
              <a:t>会员应采取所有合理的预防措施来防止有意或无意的泄漏秘密信息。</a:t>
            </a:r>
            <a:endParaRPr lang="en-US" altLang="zh-CN" smtClean="0"/>
          </a:p>
          <a:p>
            <a:endParaRPr lang="zh-CN" altLang="en-US" dirty="0"/>
          </a:p>
        </p:txBody>
      </p:sp>
    </p:spTree>
    <p:extLst>
      <p:ext uri="{BB962C8B-B14F-4D97-AF65-F5344CB8AC3E}">
        <p14:creationId xmlns:p14="http://schemas.microsoft.com/office/powerpoint/2010/main" val="2208923496"/>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smtClean="0"/>
              <a:t>2.  Professional </a:t>
            </a:r>
            <a:r>
              <a:rPr lang="en-US" altLang="zh-CN" dirty="0" smtClean="0"/>
              <a:t>standards</a:t>
            </a:r>
          </a:p>
          <a:p>
            <a:r>
              <a:rPr lang="en-US" altLang="zh-CN" dirty="0" smtClean="0"/>
              <a:t>Fundamental Responsibilities</a:t>
            </a:r>
          </a:p>
          <a:p>
            <a:pPr lvl="1"/>
            <a:r>
              <a:rPr lang="en-US" altLang="zh-CN" dirty="0" smtClean="0"/>
              <a:t>GARP Members must endeavor, and encourage others, to operate at the highest level of professional skill.</a:t>
            </a:r>
          </a:p>
          <a:p>
            <a:pPr lvl="1"/>
            <a:r>
              <a:rPr lang="en-US" altLang="zh-CN" dirty="0" smtClean="0"/>
              <a:t>GARP</a:t>
            </a:r>
            <a:r>
              <a:rPr lang="zh-CN" altLang="en-US" dirty="0" smtClean="0"/>
              <a:t>会员必须努力学习并鼓励他人以达到最高的专业技能水平</a:t>
            </a:r>
            <a:r>
              <a:rPr lang="en-US" altLang="zh-CN" dirty="0" smtClean="0"/>
              <a:t>.</a:t>
            </a:r>
          </a:p>
          <a:p>
            <a:pPr lvl="1"/>
            <a:r>
              <a:rPr lang="en-US" altLang="zh-CN" dirty="0" smtClean="0"/>
              <a:t>GARP Members should always continue to perfect their expertise.</a:t>
            </a:r>
          </a:p>
          <a:p>
            <a:pPr lvl="1"/>
            <a:r>
              <a:rPr lang="en-US" altLang="zh-CN" dirty="0" smtClean="0"/>
              <a:t>GARP</a:t>
            </a:r>
            <a:r>
              <a:rPr lang="zh-CN" altLang="en-US" dirty="0" smtClean="0"/>
              <a:t>会员应不断完善各自的专长。</a:t>
            </a:r>
            <a:endParaRPr lang="en-US" altLang="zh-CN" dirty="0" smtClean="0"/>
          </a:p>
          <a:p>
            <a:pPr lvl="1"/>
            <a:r>
              <a:rPr lang="en-US" altLang="zh-CN" dirty="0" smtClean="0"/>
              <a:t>GARP Members have a personal ethical responsibility and cannot out-source or delegate that responsibility to others. </a:t>
            </a:r>
          </a:p>
          <a:p>
            <a:pPr lvl="1"/>
            <a:r>
              <a:rPr lang="en-US" altLang="zh-CN" dirty="0" smtClean="0"/>
              <a:t>GARP</a:t>
            </a:r>
            <a:r>
              <a:rPr lang="zh-CN" altLang="en-US" dirty="0" smtClean="0"/>
              <a:t>会员应履行个人的道德责任，不能推卸责任于他人</a:t>
            </a:r>
            <a:r>
              <a:rPr lang="en-US" altLang="zh-CN" dirty="0" smtClean="0"/>
              <a:t>.</a:t>
            </a:r>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fontScale="92500" lnSpcReduction="20000"/>
          </a:bodyPr>
          <a:lstStyle/>
          <a:p>
            <a:r>
              <a:rPr lang="en-US" altLang="zh-CN" dirty="0" smtClean="0"/>
              <a:t>Best Practices</a:t>
            </a:r>
          </a:p>
          <a:p>
            <a:pPr lvl="1"/>
            <a:r>
              <a:rPr lang="en-US" altLang="zh-CN" dirty="0" smtClean="0"/>
              <a:t>GARP Members will promote and adhere to applicable </a:t>
            </a:r>
            <a:r>
              <a:rPr lang="en-US" altLang="zh-CN" dirty="0" smtClean="0"/>
              <a:t>'best </a:t>
            </a:r>
            <a:r>
              <a:rPr lang="en-US" altLang="zh-CN" dirty="0" smtClean="0"/>
              <a:t>practice </a:t>
            </a:r>
            <a:r>
              <a:rPr lang="en-US" altLang="zh-CN" dirty="0" smtClean="0"/>
              <a:t>standards', </a:t>
            </a:r>
            <a:r>
              <a:rPr lang="en-US" altLang="zh-CN" dirty="0" smtClean="0"/>
              <a:t>and will ensure that risk management activities performed under his/her direct supervision or management satisfies these applicable standards.</a:t>
            </a:r>
          </a:p>
          <a:p>
            <a:pPr lvl="1"/>
            <a:r>
              <a:rPr lang="en-US" altLang="zh-CN" dirty="0" smtClean="0"/>
              <a:t>GARP</a:t>
            </a:r>
            <a:r>
              <a:rPr lang="zh-CN" altLang="en-US" dirty="0" smtClean="0"/>
              <a:t>会员要促进和遵守可行</a:t>
            </a:r>
            <a:r>
              <a:rPr lang="zh-CN" altLang="en-US" dirty="0" smtClean="0"/>
              <a:t>的</a:t>
            </a:r>
            <a:r>
              <a:rPr lang="en-US" altLang="zh-CN" dirty="0" smtClean="0"/>
              <a:t>'</a:t>
            </a:r>
            <a:r>
              <a:rPr lang="zh-CN" altLang="en-US" dirty="0" smtClean="0"/>
              <a:t>最佳实践标准</a:t>
            </a:r>
            <a:r>
              <a:rPr lang="en-US" altLang="zh-CN" dirty="0" smtClean="0"/>
              <a:t>'</a:t>
            </a:r>
            <a:r>
              <a:rPr lang="zh-CN" altLang="en-US" dirty="0" smtClean="0"/>
              <a:t>，</a:t>
            </a:r>
            <a:r>
              <a:rPr lang="zh-CN" altLang="en-US" dirty="0" smtClean="0"/>
              <a:t>并确保他</a:t>
            </a:r>
            <a:r>
              <a:rPr lang="en-US" altLang="zh-CN" dirty="0" smtClean="0"/>
              <a:t>/</a:t>
            </a:r>
            <a:r>
              <a:rPr lang="zh-CN" altLang="en-US" dirty="0" smtClean="0"/>
              <a:t>她所负责的风险管理活动满足这些标准。</a:t>
            </a:r>
            <a:endParaRPr lang="en-US" altLang="zh-CN" dirty="0" smtClean="0"/>
          </a:p>
          <a:p>
            <a:pPr lvl="1"/>
            <a:r>
              <a:rPr lang="en-US" altLang="zh-CN" dirty="0" smtClean="0"/>
              <a:t>GARP Members recognize that risk management does not exist in a vacuum.</a:t>
            </a:r>
          </a:p>
          <a:p>
            <a:pPr lvl="1"/>
            <a:r>
              <a:rPr lang="en-US" altLang="zh-CN" dirty="0" smtClean="0"/>
              <a:t>GARP</a:t>
            </a:r>
            <a:r>
              <a:rPr lang="zh-CN" altLang="en-US" dirty="0" smtClean="0"/>
              <a:t>会员务必考虑自己的评估和活动对同事、社区以及工作环境等所带来的广泛影响。</a:t>
            </a:r>
            <a:endParaRPr lang="en-US" altLang="zh-CN" dirty="0" smtClean="0"/>
          </a:p>
          <a:p>
            <a:pPr lvl="1"/>
            <a:r>
              <a:rPr lang="en-US" altLang="zh-CN" dirty="0" smtClean="0"/>
              <a:t>GARP Members commit to considering the wider impact of their assessments and actions on their colleagues and the wider community and environment in which they work.</a:t>
            </a:r>
          </a:p>
          <a:p>
            <a:pPr lvl="1"/>
            <a:r>
              <a:rPr lang="en-US" altLang="zh-CN" dirty="0" smtClean="0"/>
              <a:t>GARP</a:t>
            </a:r>
            <a:r>
              <a:rPr lang="zh-CN" altLang="en-US" dirty="0" smtClean="0"/>
              <a:t>会员在代表企业进行交流活动时须确保所传达的信息是清晰明确、符合实际情况和目标听众、并满足相应的行为标准。</a:t>
            </a:r>
            <a:endParaRPr lang="en-US" altLang="zh-CN" dirty="0" smtClean="0"/>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lstStyle/>
          <a:p>
            <a:r>
              <a:rPr lang="en-US" altLang="zh-CN" smtClean="0"/>
              <a:t>Communication and Disclosure</a:t>
            </a:r>
          </a:p>
          <a:p>
            <a:pPr lvl="1"/>
            <a:r>
              <a:rPr lang="en-US" altLang="zh-CN" smtClean="0"/>
              <a:t>GARP Members issuing any communications on behalf of their firm will ensure that the communications are clear, appropriate to the circumstances and their intended audience, and satisfy applicable standards of conduct. </a:t>
            </a:r>
          </a:p>
          <a:p>
            <a:pPr lvl="1"/>
            <a:r>
              <a:rPr lang="en-US" altLang="zh-CN" smtClean="0"/>
              <a:t>GARP</a:t>
            </a:r>
            <a:r>
              <a:rPr lang="zh-CN" altLang="en-US" smtClean="0"/>
              <a:t>会员在代表企业进行交流活动时须确保所传达的信息是清晰明确、符合实际情况和目标听众、并满足相应的行为标准。</a:t>
            </a:r>
            <a:endParaRPr lang="en-US" altLang="zh-CN" smtClean="0"/>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fontScale="85000" lnSpcReduction="10000"/>
          </a:bodyPr>
          <a:lstStyle/>
          <a:p>
            <a:pPr marL="0" indent="0">
              <a:buNone/>
            </a:pPr>
            <a:r>
              <a:rPr lang="en-US" altLang="zh-CN" sz="2800" dirty="0" smtClean="0"/>
              <a:t>3</a:t>
            </a:r>
            <a:r>
              <a:rPr lang="en-US" altLang="zh-CN" sz="2800" dirty="0" smtClean="0"/>
              <a:t>.  Rules </a:t>
            </a:r>
            <a:r>
              <a:rPr lang="en-US" altLang="zh-CN" sz="2800" dirty="0" smtClean="0"/>
              <a:t>of  conduct</a:t>
            </a:r>
          </a:p>
          <a:p>
            <a:r>
              <a:rPr lang="en-US" altLang="zh-CN" dirty="0" smtClean="0"/>
              <a:t>Professional Integrity and Ethical Conduct</a:t>
            </a:r>
          </a:p>
          <a:p>
            <a:pPr lvl="1"/>
            <a:r>
              <a:rPr lang="en-US" altLang="zh-CN" dirty="0" smtClean="0"/>
              <a:t>GARP Members Shall act professionally, ethically and with integrity in all dealings with employers, existing  or  potential  clients,  the  public,  and  other  practitioners  in  the  financial services industry. </a:t>
            </a:r>
          </a:p>
          <a:p>
            <a:pPr lvl="1"/>
            <a:r>
              <a:rPr lang="zh-CN" altLang="en-US" dirty="0" smtClean="0"/>
              <a:t>应本着专业、道德和正直的原则与雇主、现有</a:t>
            </a:r>
            <a:r>
              <a:rPr lang="en-US" altLang="zh-CN" dirty="0" smtClean="0"/>
              <a:t>/</a:t>
            </a:r>
            <a:r>
              <a:rPr lang="zh-CN" altLang="en-US" dirty="0" smtClean="0"/>
              <a:t>潜在客户、公众和金融业的其他从业人员进行交往。</a:t>
            </a:r>
            <a:endParaRPr lang="en-US" altLang="zh-CN" dirty="0" smtClean="0"/>
          </a:p>
          <a:p>
            <a:pPr lvl="1"/>
            <a:r>
              <a:rPr lang="en-US" altLang="zh-CN" dirty="0" smtClean="0"/>
              <a:t>Shall exercise reasonable judgment in the provision of risk services while maintaining independence of thought  and  direction.  GARP  Members  must not offer, solicit, or accept any gift, benefit, compensation, or consideration that could be reasonably expected to compromise their own or </a:t>
            </a:r>
            <a:r>
              <a:rPr lang="en-US" altLang="zh-CN" dirty="0" smtClean="0"/>
              <a:t>another's </a:t>
            </a:r>
            <a:r>
              <a:rPr lang="en-US" altLang="zh-CN" dirty="0" smtClean="0"/>
              <a:t>independence and objectivity.  </a:t>
            </a:r>
          </a:p>
          <a:p>
            <a:pPr lvl="1"/>
            <a:r>
              <a:rPr lang="zh-CN" altLang="en-US" dirty="0" smtClean="0"/>
              <a:t>在提供风险管理服务过程中除保持客观独立性外还应做出合理判断，</a:t>
            </a:r>
            <a:r>
              <a:rPr lang="en-US" altLang="zh-CN" dirty="0" smtClean="0"/>
              <a:t>GARP</a:t>
            </a:r>
            <a:r>
              <a:rPr lang="zh-CN" altLang="en-US" dirty="0" smtClean="0"/>
              <a:t>会员应禁止提供、索取或接受任何可能损害自己或他人客观独立性的礼物、利益、补偿或其他安排。</a:t>
            </a:r>
            <a:endParaRPr lang="en-US" altLang="zh-CN" dirty="0" smtClean="0"/>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pPr lvl="1"/>
            <a:r>
              <a:rPr lang="en-US" altLang="zh-CN" smtClean="0"/>
              <a:t>Shall not knowingly misrepresent details relating to analysis, recommendations, actions, or other professional activities.</a:t>
            </a:r>
          </a:p>
          <a:p>
            <a:pPr lvl="1"/>
            <a:r>
              <a:rPr lang="zh-CN" altLang="en-US" smtClean="0"/>
              <a:t>不得故意对有关分析、建议、行为或其他职业活动的细节进行错误表述。</a:t>
            </a:r>
          </a:p>
          <a:p>
            <a:pPr lvl="1"/>
            <a:r>
              <a:rPr lang="en-US" altLang="zh-CN" smtClean="0"/>
              <a:t>Shall not engage in any professional conduct involving dishonesty or deception or engage in any act that reflects negatively on their integrity, character, trustwort</a:t>
            </a:r>
            <a:r>
              <a:rPr lang="zh-CN" altLang="en-US" smtClean="0"/>
              <a:t>。</a:t>
            </a:r>
            <a:r>
              <a:rPr lang="en-US" altLang="zh-CN" smtClean="0"/>
              <a:t>hiness, or professional ability or on the risk management profession.</a:t>
            </a:r>
          </a:p>
          <a:p>
            <a:pPr lvl="1"/>
            <a:r>
              <a:rPr lang="zh-CN" altLang="en-US" smtClean="0"/>
              <a:t>不得从事任何有损于诚实、正直、信任、职业技能或风险管理职业的欺诈活动。</a:t>
            </a:r>
            <a:endParaRPr lang="en-US" altLang="zh-CN" smtClean="0"/>
          </a:p>
          <a:p>
            <a:pPr lvl="1"/>
            <a:r>
              <a:rPr lang="en-US" altLang="zh-CN" smtClean="0"/>
              <a:t>Shall not engage in any conduct or commit any act that compromises the integrity of the GARP, the (Financial Risk Manager) FRM® designation or the integrity or validity of the examinations leading to the award of the right to use the FRM designation or any other credentials that may be offered by GARP.</a:t>
            </a:r>
          </a:p>
          <a:p>
            <a:pPr lvl="1"/>
            <a:r>
              <a:rPr lang="zh-CN" altLang="en-US" smtClean="0"/>
              <a:t>不得从事任何有损于</a:t>
            </a:r>
            <a:r>
              <a:rPr lang="en-US" altLang="zh-CN" smtClean="0"/>
              <a:t>GARP  </a:t>
            </a:r>
            <a:r>
              <a:rPr lang="zh-CN" altLang="en-US" smtClean="0"/>
              <a:t>、</a:t>
            </a:r>
            <a:r>
              <a:rPr lang="en-US" altLang="zh-CN" smtClean="0"/>
              <a:t>FRM</a:t>
            </a:r>
            <a:r>
              <a:rPr lang="zh-CN" altLang="en-US" smtClean="0"/>
              <a:t>称号、</a:t>
            </a:r>
            <a:r>
              <a:rPr lang="en-US" altLang="zh-CN" smtClean="0"/>
              <a:t>FRM</a:t>
            </a:r>
            <a:r>
              <a:rPr lang="zh-CN" altLang="en-US" smtClean="0"/>
              <a:t>考试或可获得</a:t>
            </a:r>
            <a:r>
              <a:rPr lang="en-US" altLang="zh-CN" smtClean="0"/>
              <a:t>GARP</a:t>
            </a:r>
            <a:r>
              <a:rPr lang="zh-CN" altLang="en-US" smtClean="0"/>
              <a:t>授予其他称号的考试的声誉或公正性等活动。</a:t>
            </a:r>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lstStyle/>
          <a:p>
            <a:pPr lvl="1"/>
            <a:r>
              <a:rPr lang="en-US" altLang="zh-CN" smtClean="0"/>
              <a:t>endeavor to be mindful of cultural differences regarding ethical behavior and customs, and to avoid any actions that are, or may have the appearance of being unethical according to local customs. If there appears to be a conflict or overlap of standards, the GARP member should always seek to apply the higher standard.</a:t>
            </a:r>
          </a:p>
          <a:p>
            <a:pPr lvl="1"/>
            <a:r>
              <a:rPr lang="zh-CN" altLang="en-US" smtClean="0"/>
              <a:t>应努力注意道德行为和习俗上的文化差异，并避免明显违反当地习俗的活动。如果同时存在多个冲突或重叠的标准，</a:t>
            </a:r>
            <a:r>
              <a:rPr lang="en-US" altLang="zh-CN" smtClean="0"/>
              <a:t>GARP</a:t>
            </a:r>
            <a:r>
              <a:rPr lang="zh-CN" altLang="en-US" smtClean="0"/>
              <a:t>会员应始终遵循更严格的标准。</a:t>
            </a:r>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a:bodyPr>
          <a:lstStyle/>
          <a:p>
            <a:r>
              <a:rPr lang="en-US" altLang="zh-CN" dirty="0" smtClean="0"/>
              <a:t>Conflict of Interest</a:t>
            </a:r>
          </a:p>
          <a:p>
            <a:r>
              <a:rPr lang="en-US" altLang="zh-CN" dirty="0" smtClean="0"/>
              <a:t>GARP Members:</a:t>
            </a:r>
          </a:p>
          <a:p>
            <a:pPr lvl="1"/>
            <a:r>
              <a:rPr lang="en-US" altLang="zh-CN" dirty="0" smtClean="0"/>
              <a:t>Act fairly in all situations and must fully disclose any actual or potential conflict to all affected parties.</a:t>
            </a:r>
          </a:p>
          <a:p>
            <a:pPr lvl="1"/>
            <a:r>
              <a:rPr lang="zh-CN" altLang="en-US" dirty="0" smtClean="0"/>
              <a:t>在任何情况下均公平处事并且充分披露所有实际的或潜在的受影响各方的利益冲突。</a:t>
            </a:r>
            <a:endParaRPr lang="en-US" altLang="zh-CN" dirty="0" smtClean="0"/>
          </a:p>
          <a:p>
            <a:pPr lvl="1"/>
            <a:r>
              <a:rPr lang="en-US" altLang="zh-CN" dirty="0" smtClean="0"/>
              <a:t>Make full and fair disclosure of all matters that could reasonably be expected to impair their independence and objectivity or interfere with their respective duties to their employer, clients, and prospective clients.</a:t>
            </a:r>
          </a:p>
          <a:p>
            <a:pPr lvl="1"/>
            <a:r>
              <a:rPr lang="zh-CN" altLang="en-US" dirty="0" smtClean="0"/>
              <a:t>充分且公正的披露所有可能损害客观独立性或涉及对雇主、客户和潜在客户职责的事件。</a:t>
            </a:r>
            <a:endParaRPr lang="en-US" altLang="zh-CN" dirty="0" smtClean="0"/>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Code of </a:t>
            </a:r>
            <a:r>
              <a:rPr lang="en-US" altLang="zh-CN" dirty="0" smtClean="0"/>
              <a:t>Conduct</a:t>
            </a:r>
            <a:endParaRPr lang="zh-CN" altLang="en-US" dirty="0"/>
          </a:p>
        </p:txBody>
      </p:sp>
      <p:sp>
        <p:nvSpPr>
          <p:cNvPr id="3" name="文本占位符 2"/>
          <p:cNvSpPr>
            <a:spLocks noGrp="1"/>
          </p:cNvSpPr>
          <p:nvPr>
            <p:ph type="body" sz="quarter" idx="10"/>
          </p:nvPr>
        </p:nvSpPr>
        <p:spPr/>
        <p:txBody>
          <a:bodyPr/>
          <a:lstStyle/>
          <a:p>
            <a:r>
              <a:rPr lang="en-US" altLang="zh-CN" dirty="0"/>
              <a:t>Confidentiality</a:t>
            </a:r>
          </a:p>
          <a:p>
            <a:r>
              <a:rPr lang="en-US" altLang="zh-CN" b="0" dirty="0"/>
              <a:t>GARP Members:</a:t>
            </a:r>
          </a:p>
          <a:p>
            <a:pPr lvl="1"/>
            <a:r>
              <a:rPr lang="en-US" altLang="zh-CN" dirty="0"/>
              <a:t>Shall not make use of confidential information for inappropriate purposes and unless having received prior consent shall maintain the confidentiality of their work, their employer or client.</a:t>
            </a:r>
          </a:p>
          <a:p>
            <a:pPr lvl="1"/>
            <a:r>
              <a:rPr lang="zh-CN" altLang="en-US" dirty="0"/>
              <a:t>不得将机密用于非正当目的，应该对工作、雇主和客户的信息保密，除非事先得到同意。</a:t>
            </a:r>
            <a:endParaRPr lang="en-US" altLang="zh-CN" dirty="0"/>
          </a:p>
          <a:p>
            <a:pPr lvl="1"/>
            <a:r>
              <a:rPr lang="en-US" altLang="zh-CN" dirty="0"/>
              <a:t>Must not use confidential information to benefit personally.</a:t>
            </a:r>
          </a:p>
          <a:p>
            <a:pPr lvl="1"/>
            <a:r>
              <a:rPr lang="zh-CN" altLang="en-US" dirty="0"/>
              <a:t>不得使用机密为个人谋利。</a:t>
            </a:r>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fontScale="92500" lnSpcReduction="10000"/>
          </a:bodyPr>
          <a:lstStyle/>
          <a:p>
            <a:r>
              <a:rPr lang="en-US" altLang="zh-CN" sz="2600" dirty="0" smtClean="0"/>
              <a:t>Fundamental Responsibilities</a:t>
            </a:r>
          </a:p>
          <a:p>
            <a:r>
              <a:rPr lang="en-US" altLang="zh-CN" dirty="0" smtClean="0"/>
              <a:t>GARP Members:</a:t>
            </a:r>
          </a:p>
          <a:p>
            <a:pPr lvl="1"/>
            <a:r>
              <a:rPr lang="en-US" altLang="zh-CN" dirty="0" smtClean="0"/>
              <a:t>Comply with all applicable laws, rules, and regulations (including this Code) governing the GARP </a:t>
            </a:r>
            <a:r>
              <a:rPr lang="en-US" altLang="zh-CN" dirty="0" smtClean="0"/>
              <a:t>Members' </a:t>
            </a:r>
            <a:r>
              <a:rPr lang="en-US" altLang="zh-CN" dirty="0" smtClean="0"/>
              <a:t>professional activities and shall not knowingly participate or assist in any violation of such laws, rules, or regulations.</a:t>
            </a:r>
          </a:p>
          <a:p>
            <a:pPr lvl="1"/>
            <a:r>
              <a:rPr lang="zh-CN" altLang="en-US" dirty="0" smtClean="0"/>
              <a:t>遵守所有适用的法律、法规和规章（包括本准则），不得故意从事违反上述法律法规的活动。</a:t>
            </a:r>
          </a:p>
          <a:p>
            <a:pPr lvl="1"/>
            <a:r>
              <a:rPr lang="en-US" altLang="zh-CN" dirty="0" smtClean="0"/>
              <a:t>Have ethical responsibilities and cannot out-source or delegate those responsibilities to others. </a:t>
            </a:r>
          </a:p>
          <a:p>
            <a:pPr lvl="1"/>
            <a:r>
              <a:rPr lang="zh-CN" altLang="en-US" dirty="0" smtClean="0"/>
              <a:t>遵守所有适用的法律、法规和规章（包括本准则），不得故意从事违反上述法律法规的活动。</a:t>
            </a:r>
          </a:p>
          <a:p>
            <a:pPr lvl="1"/>
            <a:r>
              <a:rPr lang="en-US" altLang="zh-CN" dirty="0" smtClean="0"/>
              <a:t>Understand the needs and complexity of their employer or client, and should provide appropriate and suitable risk management services and advice.</a:t>
            </a:r>
          </a:p>
          <a:p>
            <a:pPr lvl="1"/>
            <a:r>
              <a:rPr lang="zh-CN" altLang="en-US" dirty="0" smtClean="0"/>
              <a:t>理解雇主或客户的需求及其复杂性，并提供恰当、合适的风险管理服务及咨询。</a:t>
            </a:r>
            <a:endParaRPr lang="en-US" altLang="zh-CN" dirty="0" smtClean="0"/>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lstStyle/>
          <a:p>
            <a:pPr lvl="1"/>
            <a:r>
              <a:rPr lang="en-US" altLang="zh-CN" smtClean="0"/>
              <a:t>Be diligent about not overstating the accuracy or certainty of results or conclusions.</a:t>
            </a:r>
          </a:p>
          <a:p>
            <a:pPr lvl="1"/>
            <a:r>
              <a:rPr lang="zh-CN" altLang="en-US" smtClean="0"/>
              <a:t>勤勉尽职，不夸大结论的准确性和确定性。</a:t>
            </a:r>
            <a:endParaRPr lang="en-US" altLang="zh-CN" smtClean="0"/>
          </a:p>
          <a:p>
            <a:pPr lvl="1"/>
            <a:r>
              <a:rPr lang="en-US" altLang="zh-CN" smtClean="0"/>
              <a:t>Clearly disclose the relevant limits of their specific knowledge and expertise concerning risk assessment, industry practices and applicable laws and regulations.</a:t>
            </a:r>
          </a:p>
          <a:p>
            <a:pPr lvl="1"/>
            <a:r>
              <a:rPr lang="zh-CN" altLang="en-US" smtClean="0"/>
              <a:t>清楚地披露自身在风险评估、行业实践和法规方面的专业知识的不足。</a:t>
            </a:r>
            <a:endParaRPr lang="en-US" altLang="zh-CN" smtClean="0"/>
          </a:p>
          <a:p>
            <a:endParaRPr lang="zh-CN" altLang="en-US" dirty="0"/>
          </a:p>
        </p:txBody>
      </p:sp>
    </p:spTree>
    <p:extLst>
      <p:ext uri="{BB962C8B-B14F-4D97-AF65-F5344CB8AC3E}">
        <p14:creationId xmlns:p14="http://schemas.microsoft.com/office/powerpoint/2010/main" val="3090150864"/>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normAutofit lnSpcReduction="10000"/>
          </a:bodyPr>
          <a:lstStyle/>
          <a:p>
            <a:r>
              <a:rPr lang="en-US" altLang="zh-CN" smtClean="0"/>
              <a:t>General Accepted Practices </a:t>
            </a:r>
          </a:p>
          <a:p>
            <a:r>
              <a:rPr lang="en-US" altLang="zh-CN" smtClean="0"/>
              <a:t>GARP Members:</a:t>
            </a:r>
          </a:p>
          <a:p>
            <a:pPr lvl="1"/>
            <a:r>
              <a:rPr lang="en-US" altLang="zh-CN" smtClean="0"/>
              <a:t>Execute all services with diligence and perform all work in a manner that is independent from interested parties. GARP Members should collect, analyze and distribute risk information with the highest level of professional objectivity.</a:t>
            </a:r>
          </a:p>
          <a:p>
            <a:pPr lvl="1"/>
            <a:r>
              <a:rPr lang="zh-CN" altLang="en-US" smtClean="0"/>
              <a:t>勤勉尽职地对待所有工作并且保持客观独立性，</a:t>
            </a:r>
            <a:r>
              <a:rPr lang="en-US" altLang="zh-CN" smtClean="0"/>
              <a:t>GARP</a:t>
            </a:r>
            <a:r>
              <a:rPr lang="zh-CN" altLang="en-US" smtClean="0"/>
              <a:t>会员应当在收集、分析和发布风险管理信息时保持客观性的最高标准。</a:t>
            </a:r>
          </a:p>
          <a:p>
            <a:pPr lvl="1"/>
            <a:r>
              <a:rPr lang="en-US" altLang="zh-CN" smtClean="0"/>
              <a:t>Shall be familiar with current generally accepted risk management practices and shall clearly indicate any departure from their use.</a:t>
            </a:r>
          </a:p>
          <a:p>
            <a:pPr lvl="1"/>
            <a:r>
              <a:rPr lang="zh-CN" altLang="en-US" smtClean="0"/>
              <a:t>应当熟悉目前广泛接受的风险管理实践，并明确地辨认出与之背离的任何活动。</a:t>
            </a:r>
            <a:endParaRPr lang="en-US" altLang="zh-CN" smtClean="0"/>
          </a:p>
          <a:p>
            <a:endParaRPr lang="zh-CN" altLang="en-US" dirty="0"/>
          </a:p>
        </p:txBody>
      </p:sp>
    </p:spTree>
    <p:extLst>
      <p:ext uri="{BB962C8B-B14F-4D97-AF65-F5344CB8AC3E}">
        <p14:creationId xmlns:p14="http://schemas.microsoft.com/office/powerpoint/2010/main" val="3891719242"/>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Code of Conduct</a:t>
            </a:r>
            <a:endParaRPr lang="zh-CN" altLang="en-US" dirty="0"/>
          </a:p>
        </p:txBody>
      </p:sp>
      <p:sp>
        <p:nvSpPr>
          <p:cNvPr id="3" name="文本占位符 2"/>
          <p:cNvSpPr>
            <a:spLocks noGrp="1"/>
          </p:cNvSpPr>
          <p:nvPr>
            <p:ph type="body" sz="quarter" idx="10"/>
          </p:nvPr>
        </p:nvSpPr>
        <p:spPr/>
        <p:txBody>
          <a:bodyPr/>
          <a:lstStyle/>
          <a:p>
            <a:pPr lvl="1"/>
            <a:r>
              <a:rPr lang="en-US" altLang="zh-CN" smtClean="0"/>
              <a:t>Shall ensure that communications include factual data and do not contain false information.</a:t>
            </a:r>
          </a:p>
          <a:p>
            <a:pPr lvl="1"/>
            <a:r>
              <a:rPr lang="zh-CN" altLang="en-US" smtClean="0"/>
              <a:t>应当确保信息传达过程中使用事实数据且不含错误信息。</a:t>
            </a:r>
            <a:endParaRPr lang="en-US" altLang="zh-CN" smtClean="0"/>
          </a:p>
          <a:p>
            <a:pPr lvl="1"/>
            <a:r>
              <a:rPr lang="en-US" altLang="zh-CN" smtClean="0"/>
              <a:t>Shall make a distinction between fact and opinion in the presentation of analysis and recommendations.</a:t>
            </a:r>
          </a:p>
          <a:p>
            <a:pPr lvl="1"/>
            <a:r>
              <a:rPr lang="zh-CN" altLang="en-US" smtClean="0"/>
              <a:t>应当在提供分析和推荐报告时对事实还是观点进行区分。</a:t>
            </a:r>
            <a:endParaRPr lang="en-US" altLang="zh-CN" smtClean="0"/>
          </a:p>
          <a:p>
            <a:endParaRPr lang="zh-CN" altLang="en-US" dirty="0"/>
          </a:p>
        </p:txBody>
      </p:sp>
    </p:spTree>
    <p:extLst>
      <p:ext uri="{BB962C8B-B14F-4D97-AF65-F5344CB8AC3E}">
        <p14:creationId xmlns:p14="http://schemas.microsoft.com/office/powerpoint/2010/main" val="20047338"/>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Applicability and enforcement</a:t>
            </a:r>
            <a:endParaRPr lang="zh-CN" altLang="en-US" dirty="0"/>
          </a:p>
        </p:txBody>
      </p:sp>
      <p:sp>
        <p:nvSpPr>
          <p:cNvPr id="3" name="文本占位符 2"/>
          <p:cNvSpPr>
            <a:spLocks noGrp="1"/>
          </p:cNvSpPr>
          <p:nvPr>
            <p:ph type="body" sz="quarter" idx="10"/>
          </p:nvPr>
        </p:nvSpPr>
        <p:spPr/>
        <p:txBody>
          <a:bodyPr/>
          <a:lstStyle/>
          <a:p>
            <a:r>
              <a:rPr lang="en-US" altLang="zh-CN" dirty="0" smtClean="0"/>
              <a:t>Violation(s) of this Code may result in, among other things, the temporary suspension or permanent removal of the GARP Member from </a:t>
            </a:r>
            <a:r>
              <a:rPr lang="en-US" altLang="zh-CN" dirty="0" smtClean="0"/>
              <a:t>GARP's </a:t>
            </a:r>
            <a:r>
              <a:rPr lang="en-US" altLang="zh-CN" dirty="0" smtClean="0"/>
              <a:t>Membership roles, and may also include temporarily or permanently removing from the violator the right to use or refer to having earned the FRM designation or any other GARP granted designation, following a formal determination that such a violation has occurred.</a:t>
            </a:r>
          </a:p>
          <a:p>
            <a:endParaRPr lang="zh-CN" altLang="en-US" dirty="0"/>
          </a:p>
        </p:txBody>
      </p:sp>
    </p:spTree>
    <p:extLst>
      <p:ext uri="{BB962C8B-B14F-4D97-AF65-F5344CB8AC3E}">
        <p14:creationId xmlns:p14="http://schemas.microsoft.com/office/powerpoint/2010/main" val="612311364"/>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40340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ne&quot;,&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1_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6458</TotalTime>
  <Words>14578</Words>
  <Application>Microsoft Office PowerPoint</Application>
  <PresentationFormat>宽屏</PresentationFormat>
  <Paragraphs>1416</Paragraphs>
  <Slides>225</Slides>
  <Notes>1</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225</vt:i4>
      </vt:variant>
    </vt:vector>
  </HeadingPairs>
  <TitlesOfParts>
    <vt:vector size="242" baseType="lpstr">
      <vt:lpstr>Gill Sans</vt:lpstr>
      <vt:lpstr>Roboto</vt:lpstr>
      <vt:lpstr>等线</vt:lpstr>
      <vt:lpstr>楷体_GB2312</vt:lpstr>
      <vt:lpstr>宋体</vt:lpstr>
      <vt:lpstr>Microsoft YaHei</vt:lpstr>
      <vt:lpstr>Microsoft YaHei</vt:lpstr>
      <vt:lpstr>Arial</vt:lpstr>
      <vt:lpstr>Calibri</vt:lpstr>
      <vt:lpstr>Cambria Math</vt:lpstr>
      <vt:lpstr>Segoe UI</vt:lpstr>
      <vt:lpstr>Times New Roman</vt:lpstr>
      <vt:lpstr>Verdana</vt:lpstr>
      <vt:lpstr>Wingdings</vt:lpstr>
      <vt:lpstr>1_Office 主题</vt:lpstr>
      <vt:lpstr>Office 主题</vt:lpstr>
      <vt:lpstr>Equation</vt:lpstr>
      <vt:lpstr>Foundations of Risk Management</vt:lpstr>
      <vt:lpstr>Topic Weightings in FRM Part I </vt:lpstr>
      <vt:lpstr>PowerPoint 演示文稿</vt:lpstr>
      <vt:lpstr>Risk Management:   a Helicopter View</vt:lpstr>
      <vt:lpstr>PowerPoint 演示文稿</vt:lpstr>
      <vt:lpstr>A. Is Risk Management Useful?</vt:lpstr>
      <vt:lpstr>A. Is Risk Management Useful?</vt:lpstr>
      <vt:lpstr>B. What is Risk?</vt:lpstr>
      <vt:lpstr>B. What is Risk?</vt:lpstr>
      <vt:lpstr>C. The Conflict of Risk and Reward</vt:lpstr>
      <vt:lpstr>C. The Conflict of Risk and Reward</vt:lpstr>
      <vt:lpstr>D. The Danger of Names</vt:lpstr>
      <vt:lpstr>E. Numbers are Dangerous too</vt:lpstr>
      <vt:lpstr>F. The Risk Manager's Job</vt:lpstr>
      <vt:lpstr>G. Typology of Risk Exposures</vt:lpstr>
      <vt:lpstr>G. Typology of Risk Exposures</vt:lpstr>
      <vt:lpstr>G. Typology of Risk Exposures</vt:lpstr>
      <vt:lpstr>G. Typology of Risk Exposures</vt:lpstr>
      <vt:lpstr>G. Typology of Risk Exposures</vt:lpstr>
      <vt:lpstr>G. Typology of Risk Exposures</vt:lpstr>
      <vt:lpstr>G. Typology of Risk Exposures</vt:lpstr>
      <vt:lpstr>Corporate Risk Management: A Primer</vt:lpstr>
      <vt:lpstr>PowerPoint 演示文稿</vt:lpstr>
      <vt:lpstr>A. Why Not to Manage Risk in Theory</vt:lpstr>
      <vt:lpstr>A. Why Not to Manage Risk in Theory</vt:lpstr>
      <vt:lpstr>B. Reasons for Managing Risk in Practice</vt:lpstr>
      <vt:lpstr>C. Hedging Operations Versus Hedging Financial Positions</vt:lpstr>
      <vt:lpstr>D. Putting Risk Management into Practice</vt:lpstr>
      <vt:lpstr>D. Putting Risk Management into Practice</vt:lpstr>
      <vt:lpstr>Corporate Governance and Risk Management</vt:lpstr>
      <vt:lpstr>PowerPoint 演示文稿</vt:lpstr>
      <vt:lpstr>A. Introduction</vt:lpstr>
      <vt:lpstr>A. Introduction</vt:lpstr>
      <vt:lpstr>B. Corporate Governance and Risk Management</vt:lpstr>
      <vt:lpstr>B. Corporate Governance and Risk Management</vt:lpstr>
      <vt:lpstr>C. True Risk Governance</vt:lpstr>
      <vt:lpstr>C. True Risk Governance</vt:lpstr>
      <vt:lpstr>C. True Risk Governance</vt:lpstr>
      <vt:lpstr>D. Committees and Risk Limits</vt:lpstr>
      <vt:lpstr>D. Committees and Risk Limits</vt:lpstr>
      <vt:lpstr>E. Roles and Responsibilities in Practice</vt:lpstr>
      <vt:lpstr>F. Limits and Limit Standards Policies</vt:lpstr>
      <vt:lpstr>G. Standards for Monitoring Risk</vt:lpstr>
      <vt:lpstr>H. What Is the Role of the Audit Function?</vt:lpstr>
      <vt:lpstr>What is ERM?</vt:lpstr>
      <vt:lpstr>PowerPoint 演示文稿</vt:lpstr>
      <vt:lpstr>A. ERM Definitions</vt:lpstr>
      <vt:lpstr>B. The Benefits of ERM</vt:lpstr>
      <vt:lpstr>B. The Benefits of ERM</vt:lpstr>
      <vt:lpstr>C. The Chief Risk Officer</vt:lpstr>
      <vt:lpstr>C. The Chief Risk Officer</vt:lpstr>
      <vt:lpstr>D. Components of ERM</vt:lpstr>
      <vt:lpstr>D. Components of ERM</vt:lpstr>
      <vt:lpstr>D. Components of ERM</vt:lpstr>
      <vt:lpstr>Risk Management and Risk Taking in Banks</vt:lpstr>
      <vt:lpstr>PowerPoint 演示文稿</vt:lpstr>
      <vt:lpstr>A. How Does Risk Management Add Value?</vt:lpstr>
      <vt:lpstr>A. How Does Risk Management Add Value?</vt:lpstr>
      <vt:lpstr>A. How Does Risk Management Add Value?</vt:lpstr>
      <vt:lpstr>B. Determining a Bank's Risk Appetite</vt:lpstr>
      <vt:lpstr>B. Determining a Bank's Risk Appetite</vt:lpstr>
      <vt:lpstr>B. Determining a Bank's Risk Appetite</vt:lpstr>
      <vt:lpstr>C. Governance and Risk Taking</vt:lpstr>
      <vt:lpstr>D. The Organization of Risk Management</vt:lpstr>
      <vt:lpstr>D. The Organization of Risk Management</vt:lpstr>
      <vt:lpstr>E. The Limits of Risk Measurement</vt:lpstr>
      <vt:lpstr>F. Incentives, Culture, and Risk Management</vt:lpstr>
      <vt:lpstr>F. Incentives, Culture, and Risk Management</vt:lpstr>
      <vt:lpstr>Effective Data Aggregation and Risk Reporting</vt:lpstr>
      <vt:lpstr>PowerPoint 演示文稿</vt:lpstr>
      <vt:lpstr>A. Introduction</vt:lpstr>
      <vt:lpstr>B. Definition</vt:lpstr>
      <vt:lpstr>I. Data Architecture and IT Infrastructure</vt:lpstr>
      <vt:lpstr>II. Risk data aggregation capabilities</vt:lpstr>
      <vt:lpstr>II. Risk data aggregation capabilities</vt:lpstr>
      <vt:lpstr>III. Risk reporting practices</vt:lpstr>
      <vt:lpstr>III. Risk reporting practices</vt:lpstr>
      <vt:lpstr>III. Risk reporting practices</vt:lpstr>
      <vt:lpstr>IV. Supervisory review, tools and cooperation</vt:lpstr>
      <vt:lpstr>The Standard Capital Asset Pricing Model</vt:lpstr>
      <vt:lpstr>PowerPoint 演示文稿</vt:lpstr>
      <vt:lpstr>A. Foundation of quantitative methods</vt:lpstr>
      <vt:lpstr>B. Markowitz portfolio theory</vt:lpstr>
      <vt:lpstr>B. Markowitz portfolio theory</vt:lpstr>
      <vt:lpstr>C. Effects of correlation on diversification benefits</vt:lpstr>
      <vt:lpstr>D. Markowitz efficient frontier</vt:lpstr>
      <vt:lpstr>E. Minimum variance portfolio</vt:lpstr>
      <vt:lpstr>F. Define an optimal portfolio</vt:lpstr>
      <vt:lpstr>G. Capital Market Line (CML)</vt:lpstr>
      <vt:lpstr>G. Capital Market Line (CML)</vt:lpstr>
      <vt:lpstr>H. Systematic and Unsystematic Risk</vt:lpstr>
      <vt:lpstr>H. Systematic and Unsystematic Risk</vt:lpstr>
      <vt:lpstr>I. Security Market Line (SML)</vt:lpstr>
      <vt:lpstr>J. Capital Asset Pricing Model (CAPM)</vt:lpstr>
      <vt:lpstr>J. Capital Asset Pricing Model (CAPM)</vt:lpstr>
      <vt:lpstr>K. Comparing the CML and the SML</vt:lpstr>
      <vt:lpstr>Practice 1</vt:lpstr>
      <vt:lpstr>Practice 2</vt:lpstr>
      <vt:lpstr>Practice 3</vt:lpstr>
      <vt:lpstr>Practice 3</vt:lpstr>
      <vt:lpstr>Practice 4</vt:lpstr>
      <vt:lpstr>Applying the CAPM to Performance Measurement</vt:lpstr>
      <vt:lpstr>PowerPoint 演示文稿</vt:lpstr>
      <vt:lpstr>Sharpe ratio</vt:lpstr>
      <vt:lpstr>Treynor ratio</vt:lpstr>
      <vt:lpstr>Sortino ratio</vt:lpstr>
      <vt:lpstr>Jensen's alpha</vt:lpstr>
      <vt:lpstr>Information ratio</vt:lpstr>
      <vt:lpstr>Arbitrage Pricing Theory</vt:lpstr>
      <vt:lpstr>PowerPoint 演示文稿</vt:lpstr>
      <vt:lpstr>A. Single-Factor Model</vt:lpstr>
      <vt:lpstr>A. Single-Factor Model</vt:lpstr>
      <vt:lpstr>B. Multifactor Models</vt:lpstr>
      <vt:lpstr>B. Multifactor Models</vt:lpstr>
      <vt:lpstr>C. Arbitrage Pricing Theory </vt:lpstr>
      <vt:lpstr>C. Arbitrage Pricing Theory </vt:lpstr>
      <vt:lpstr>D. Arbitrage, Risk Arbitrage, and Equilibrium</vt:lpstr>
      <vt:lpstr>E. Risk premiums </vt:lpstr>
      <vt:lpstr>Practice</vt:lpstr>
      <vt:lpstr>F. Comparison of CAPM and APT </vt:lpstr>
      <vt:lpstr>G. Fama-French Three-Factor Model</vt:lpstr>
      <vt:lpstr>Financial Disasters</vt:lpstr>
      <vt:lpstr>PowerPoint 演示文稿</vt:lpstr>
      <vt:lpstr>A. Drysdale Securities and Chase Manhattan Bank</vt:lpstr>
      <vt:lpstr>A. Drysdale Securities and Chase Manhattan Bank</vt:lpstr>
      <vt:lpstr>B. Kidder Peabody</vt:lpstr>
      <vt:lpstr>B. Kidder Peabody</vt:lpstr>
      <vt:lpstr>C. Barings Bank</vt:lpstr>
      <vt:lpstr>C. Barings Bank</vt:lpstr>
      <vt:lpstr>C. Barings Bank</vt:lpstr>
      <vt:lpstr>C. Barings Bank</vt:lpstr>
      <vt:lpstr>C. Barings Bank</vt:lpstr>
      <vt:lpstr>C. Barings Bank</vt:lpstr>
      <vt:lpstr>D. Allied Irish Bank</vt:lpstr>
      <vt:lpstr>D. Allied Irish Bank</vt:lpstr>
      <vt:lpstr>D. Allied Irish Bank</vt:lpstr>
      <vt:lpstr>E. Union Bank of Switzerland </vt:lpstr>
      <vt:lpstr>E. Union Bank of Switzerland </vt:lpstr>
      <vt:lpstr>E. Union Bank of Switzerland </vt:lpstr>
      <vt:lpstr>F. Société Générale</vt:lpstr>
      <vt:lpstr>F. Société Générale</vt:lpstr>
      <vt:lpstr>F. Société Générale</vt:lpstr>
      <vt:lpstr>F. Société Générale</vt:lpstr>
      <vt:lpstr>F. Société Générale</vt:lpstr>
      <vt:lpstr>G. Metallgesellschaft</vt:lpstr>
      <vt:lpstr>G. Metallgesellschaft</vt:lpstr>
      <vt:lpstr>G. Metallgesellschaft</vt:lpstr>
      <vt:lpstr>G. Metallgesellschaft</vt:lpstr>
      <vt:lpstr>H. Long-Term Capital Management (LTCM)</vt:lpstr>
      <vt:lpstr>H. Long-Term Capital Management (LTCM)</vt:lpstr>
      <vt:lpstr>H. Long-Term Capital Management (LTCM)</vt:lpstr>
      <vt:lpstr>H. Long-Term Capital Management (LTCM)</vt:lpstr>
      <vt:lpstr>H. Long-Term Capital Management (LTCM)</vt:lpstr>
      <vt:lpstr>H. Long-Term Capital Management (LTCM)</vt:lpstr>
      <vt:lpstr>H. Long-Term Capital Management (LTCM)</vt:lpstr>
      <vt:lpstr>I. Banker's Trust</vt:lpstr>
      <vt:lpstr>I. Banker's Trust</vt:lpstr>
      <vt:lpstr>J. JP Morgan, Citigroup, and Enron</vt:lpstr>
      <vt:lpstr>J. JP Morgan, Citigroup, and Enron</vt:lpstr>
      <vt:lpstr>J. JP Morgan, Citigroup, and Enron</vt:lpstr>
      <vt:lpstr>J. JP Morgan, Citigroup, and Enron</vt:lpstr>
      <vt:lpstr>Practice 1</vt:lpstr>
      <vt:lpstr>Practice 2</vt:lpstr>
      <vt:lpstr>Practice 3</vt:lpstr>
      <vt:lpstr>Practice 4</vt:lpstr>
      <vt:lpstr>Deciphering the Liquidity and Credit Crunch 2007-2008</vt:lpstr>
      <vt:lpstr>PowerPoint 演示文稿</vt:lpstr>
      <vt:lpstr>A. Banking Industry Trends</vt:lpstr>
      <vt:lpstr>A. Banking Industry Trends</vt:lpstr>
      <vt:lpstr>A. Banking Industry Trends</vt:lpstr>
      <vt:lpstr>A. Banking Industry Trends</vt:lpstr>
      <vt:lpstr>A. Banking Industry Trends</vt:lpstr>
      <vt:lpstr>A. Banking Industry Trends</vt:lpstr>
      <vt:lpstr>B. The Unfolding of the Crisis</vt:lpstr>
      <vt:lpstr>B. The Unfolding of the Crisis</vt:lpstr>
      <vt:lpstr>B. The Unfolding of the Crisis</vt:lpstr>
      <vt:lpstr>B. The Unfolding of the Crisis</vt:lpstr>
      <vt:lpstr>B. The Unfolding of the Crisis</vt:lpstr>
      <vt:lpstr>C. Amplifying Mechanisms and Recurring Themes</vt:lpstr>
      <vt:lpstr>C. Amplifying Mechanisms and Recurring Themes</vt:lpstr>
      <vt:lpstr>C. Amplifying Mechanisms and Recurring Themes</vt:lpstr>
      <vt:lpstr>C. Amplifying Mechanisms and Recurring Themes</vt:lpstr>
      <vt:lpstr>Getting up to Speed on the Financial Crisis</vt:lpstr>
      <vt:lpstr>PowerPoint 演示文稿</vt:lpstr>
      <vt:lpstr>A. Overview and Timeline of the Crisis</vt:lpstr>
      <vt:lpstr>A. Overview and Timeline of the Crisis</vt:lpstr>
      <vt:lpstr>B. The Crisis Build-Up</vt:lpstr>
      <vt:lpstr>B. The Crisis Build-Up</vt:lpstr>
      <vt:lpstr>C. The Panics</vt:lpstr>
      <vt:lpstr>C. The Panics</vt:lpstr>
      <vt:lpstr>C. The Panics</vt:lpstr>
      <vt:lpstr>C. The Panics</vt:lpstr>
      <vt:lpstr>D. Policy Responses</vt:lpstr>
      <vt:lpstr>F. Real Effects of the Financial Crisis</vt:lpstr>
      <vt:lpstr>Risk Management Failures</vt:lpstr>
      <vt:lpstr>PowerPoint 演示文稿</vt:lpstr>
      <vt:lpstr>A. A Typology of Risk Management Failures</vt:lpstr>
      <vt:lpstr>A. A Typology of Risk Management Failures</vt:lpstr>
      <vt:lpstr>A. A Typology of Risk Management Failures</vt:lpstr>
      <vt:lpstr>A. A Typology of Risk Management Failures</vt:lpstr>
      <vt:lpstr>A. A Typology of Risk Management Failures</vt:lpstr>
      <vt:lpstr>B. Was the Collapse of LTCM a Risk Mgmt. Failure?</vt:lpstr>
      <vt:lpstr>B. Was the Collapse of LTCM a Risk Mgmt. Failure?</vt:lpstr>
      <vt:lpstr>B. Was the Collapse of LTCM a Risk Mgmt. Failure?</vt:lpstr>
      <vt:lpstr>B. Was the Collapse of LTCM a Risk Mgmt. Failure?</vt:lpstr>
      <vt:lpstr>B. Was the Collapse of LTCM a Risk Mgmt. Failure?</vt:lpstr>
      <vt:lpstr>GARP Code of Conduct</vt:lpstr>
      <vt:lpstr>PowerPoint 演示文稿</vt:lpstr>
      <vt:lpstr>Introductory Statement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Code of Conduct</vt:lpstr>
      <vt:lpstr>Applicability and enforcement</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Market and Product</dc:title>
  <dc:creator>金程教育</dc:creator>
  <cp:lastModifiedBy>陈麒如</cp:lastModifiedBy>
  <cp:revision>530</cp:revision>
  <dcterms:created xsi:type="dcterms:W3CDTF">2019-01-09T02:03:23Z</dcterms:created>
  <dcterms:modified xsi:type="dcterms:W3CDTF">2019-04-09T02:28:31Z</dcterms:modified>
</cp:coreProperties>
</file>