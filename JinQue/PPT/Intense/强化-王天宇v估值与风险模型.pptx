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125"/>
  </p:notesMasterIdLst>
  <p:sldIdLst>
    <p:sldId id="351" r:id="rId3"/>
    <p:sldId id="258" r:id="rId4"/>
    <p:sldId id="259" r:id="rId5"/>
    <p:sldId id="347" r:id="rId6"/>
    <p:sldId id="261" r:id="rId7"/>
    <p:sldId id="264" r:id="rId8"/>
    <p:sldId id="353" r:id="rId9"/>
    <p:sldId id="634" r:id="rId10"/>
    <p:sldId id="635" r:id="rId11"/>
    <p:sldId id="636" r:id="rId12"/>
    <p:sldId id="637" r:id="rId13"/>
    <p:sldId id="638" r:id="rId14"/>
    <p:sldId id="639" r:id="rId15"/>
    <p:sldId id="640" r:id="rId16"/>
    <p:sldId id="641" r:id="rId17"/>
    <p:sldId id="642" r:id="rId18"/>
    <p:sldId id="643" r:id="rId19"/>
    <p:sldId id="644" r:id="rId20"/>
    <p:sldId id="645" r:id="rId21"/>
    <p:sldId id="646" r:id="rId22"/>
    <p:sldId id="647" r:id="rId23"/>
    <p:sldId id="648" r:id="rId24"/>
    <p:sldId id="692" r:id="rId25"/>
    <p:sldId id="693" r:id="rId26"/>
    <p:sldId id="649" r:id="rId27"/>
    <p:sldId id="650" r:id="rId28"/>
    <p:sldId id="651" r:id="rId29"/>
    <p:sldId id="652" r:id="rId30"/>
    <p:sldId id="653" r:id="rId31"/>
    <p:sldId id="654" r:id="rId32"/>
    <p:sldId id="655" r:id="rId33"/>
    <p:sldId id="656" r:id="rId34"/>
    <p:sldId id="694" r:id="rId35"/>
    <p:sldId id="695" r:id="rId36"/>
    <p:sldId id="657" r:id="rId37"/>
    <p:sldId id="658" r:id="rId38"/>
    <p:sldId id="659" r:id="rId39"/>
    <p:sldId id="660" r:id="rId40"/>
    <p:sldId id="661" r:id="rId41"/>
    <p:sldId id="662" r:id="rId42"/>
    <p:sldId id="663" r:id="rId43"/>
    <p:sldId id="696" r:id="rId44"/>
    <p:sldId id="664" r:id="rId45"/>
    <p:sldId id="697" r:id="rId46"/>
    <p:sldId id="698" r:id="rId47"/>
    <p:sldId id="733" r:id="rId48"/>
    <p:sldId id="734" r:id="rId49"/>
    <p:sldId id="735" r:id="rId50"/>
    <p:sldId id="736" r:id="rId51"/>
    <p:sldId id="737" r:id="rId52"/>
    <p:sldId id="738" r:id="rId53"/>
    <p:sldId id="739" r:id="rId54"/>
    <p:sldId id="740" r:id="rId55"/>
    <p:sldId id="741" r:id="rId56"/>
    <p:sldId id="742" r:id="rId57"/>
    <p:sldId id="743" r:id="rId58"/>
    <p:sldId id="744" r:id="rId59"/>
    <p:sldId id="699" r:id="rId60"/>
    <p:sldId id="700" r:id="rId61"/>
    <p:sldId id="701" r:id="rId62"/>
    <p:sldId id="702" r:id="rId63"/>
    <p:sldId id="745" r:id="rId64"/>
    <p:sldId id="746" r:id="rId65"/>
    <p:sldId id="703" r:id="rId66"/>
    <p:sldId id="704" r:id="rId67"/>
    <p:sldId id="705" r:id="rId68"/>
    <p:sldId id="706" r:id="rId69"/>
    <p:sldId id="707" r:id="rId70"/>
    <p:sldId id="708" r:id="rId71"/>
    <p:sldId id="709" r:id="rId72"/>
    <p:sldId id="710" r:id="rId73"/>
    <p:sldId id="711" r:id="rId74"/>
    <p:sldId id="712" r:id="rId75"/>
    <p:sldId id="713" r:id="rId76"/>
    <p:sldId id="714" r:id="rId77"/>
    <p:sldId id="715" r:id="rId78"/>
    <p:sldId id="716" r:id="rId79"/>
    <p:sldId id="717" r:id="rId80"/>
    <p:sldId id="718" r:id="rId81"/>
    <p:sldId id="719" r:id="rId82"/>
    <p:sldId id="720" r:id="rId83"/>
    <p:sldId id="721" r:id="rId84"/>
    <p:sldId id="722" r:id="rId85"/>
    <p:sldId id="723" r:id="rId86"/>
    <p:sldId id="724" r:id="rId87"/>
    <p:sldId id="725" r:id="rId88"/>
    <p:sldId id="726" r:id="rId89"/>
    <p:sldId id="727" r:id="rId90"/>
    <p:sldId id="728" r:id="rId91"/>
    <p:sldId id="729" r:id="rId92"/>
    <p:sldId id="730" r:id="rId93"/>
    <p:sldId id="731" r:id="rId94"/>
    <p:sldId id="732" r:id="rId95"/>
    <p:sldId id="665" r:id="rId96"/>
    <p:sldId id="666" r:id="rId97"/>
    <p:sldId id="667" r:id="rId98"/>
    <p:sldId id="668" r:id="rId99"/>
    <p:sldId id="669" r:id="rId100"/>
    <p:sldId id="670" r:id="rId101"/>
    <p:sldId id="671" r:id="rId102"/>
    <p:sldId id="672" r:id="rId103"/>
    <p:sldId id="673" r:id="rId104"/>
    <p:sldId id="674" r:id="rId105"/>
    <p:sldId id="675" r:id="rId106"/>
    <p:sldId id="676" r:id="rId107"/>
    <p:sldId id="677" r:id="rId108"/>
    <p:sldId id="678" r:id="rId109"/>
    <p:sldId id="679" r:id="rId110"/>
    <p:sldId id="680" r:id="rId111"/>
    <p:sldId id="681" r:id="rId112"/>
    <p:sldId id="682" r:id="rId113"/>
    <p:sldId id="683" r:id="rId114"/>
    <p:sldId id="684" r:id="rId115"/>
    <p:sldId id="685" r:id="rId116"/>
    <p:sldId id="686" r:id="rId117"/>
    <p:sldId id="687" r:id="rId118"/>
    <p:sldId id="688" r:id="rId119"/>
    <p:sldId id="689" r:id="rId120"/>
    <p:sldId id="690" r:id="rId121"/>
    <p:sldId id="691" r:id="rId122"/>
    <p:sldId id="747" r:id="rId123"/>
    <p:sldId id="633" r:id="rId124"/>
  </p:sldIdLst>
  <p:sldSz cx="12192000" cy="6858000"/>
  <p:notesSz cx="6858000" cy="9144000"/>
  <p:custDataLst>
    <p:tags r:id="rId1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73" autoAdjust="0"/>
  </p:normalViewPr>
  <p:slideViewPr>
    <p:cSldViewPr snapToGrid="0">
      <p:cViewPr varScale="1">
        <p:scale>
          <a:sx n="64" d="100"/>
          <a:sy n="64" d="100"/>
        </p:scale>
        <p:origin x="67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B3421-B99B-4B5C-82C9-A3B0C4AC91F7}" type="datetimeFigureOut">
              <a:rPr lang="zh-CN" altLang="en-US" smtClean="0"/>
              <a:t>2019/4/15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81161-460F-4A2D-B57E-C43B8FD67BE1}" type="slidenum">
              <a:rPr lang="zh-CN" altLang="en-US" smtClean="0"/>
              <a:t>‹#›</a:t>
            </a:fld>
            <a:endParaRPr lang="zh-CN" altLang="en-US"/>
          </a:p>
        </p:txBody>
      </p:sp>
    </p:spTree>
    <p:extLst>
      <p:ext uri="{BB962C8B-B14F-4D97-AF65-F5344CB8AC3E}">
        <p14:creationId xmlns:p14="http://schemas.microsoft.com/office/powerpoint/2010/main" val="459815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同学们大家好，今天我们要讲的是</a:t>
            </a:r>
            <a:r>
              <a:rPr lang="en-US" altLang="zh-CN" dirty="0"/>
              <a:t>FRM</a:t>
            </a:r>
            <a:r>
              <a:rPr lang="zh-CN" altLang="en-US" dirty="0"/>
              <a:t>一级考试里的第四部分内容，也就是</a:t>
            </a:r>
            <a:r>
              <a:rPr lang="en-US" altLang="zh-CN" dirty="0"/>
              <a:t>Valuation and Risk models</a:t>
            </a:r>
            <a:r>
              <a:rPr lang="zh-CN" altLang="en-US" dirty="0"/>
              <a:t>，估值与风险模型。</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a:t>
            </a:fld>
            <a:endParaRPr lang="zh-CN" altLang="en-US"/>
          </a:p>
        </p:txBody>
      </p:sp>
    </p:spTree>
    <p:extLst>
      <p:ext uri="{BB962C8B-B14F-4D97-AF65-F5344CB8AC3E}">
        <p14:creationId xmlns:p14="http://schemas.microsoft.com/office/powerpoint/2010/main" val="1323970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这部分内容在</a:t>
            </a:r>
            <a:r>
              <a:rPr lang="en-US" altLang="zh-CN" dirty="0"/>
              <a:t>FRM</a:t>
            </a:r>
            <a:r>
              <a:rPr lang="zh-CN" altLang="en-US" dirty="0"/>
              <a:t>一级考试里占了</a:t>
            </a:r>
            <a:r>
              <a:rPr lang="en-US" altLang="zh-CN" dirty="0"/>
              <a:t>30%</a:t>
            </a:r>
            <a:r>
              <a:rPr lang="zh-CN" altLang="en-US" dirty="0"/>
              <a:t>的比重。</a:t>
            </a:r>
          </a:p>
        </p:txBody>
      </p:sp>
      <p:sp>
        <p:nvSpPr>
          <p:cNvPr id="4" name="灯片编号占位符 3"/>
          <p:cNvSpPr>
            <a:spLocks noGrp="1"/>
          </p:cNvSpPr>
          <p:nvPr>
            <p:ph type="sldNum" sz="quarter" idx="5"/>
          </p:nvPr>
        </p:nvSpPr>
        <p:spPr/>
        <p:txBody>
          <a:bodyPr/>
          <a:lstStyle/>
          <a:p>
            <a:fld id="{81981161-460F-4A2D-B57E-C43B8FD67BE1}" type="slidenum">
              <a:rPr lang="zh-CN" altLang="en-US" smtClean="0"/>
              <a:t>2</a:t>
            </a:fld>
            <a:endParaRPr lang="zh-CN" altLang="en-US"/>
          </a:p>
        </p:txBody>
      </p:sp>
    </p:spTree>
    <p:extLst>
      <p:ext uri="{BB962C8B-B14F-4D97-AF65-F5344CB8AC3E}">
        <p14:creationId xmlns:p14="http://schemas.microsoft.com/office/powerpoint/2010/main" val="3610378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981161-460F-4A2D-B57E-C43B8FD67BE1}" type="slidenum">
              <a:rPr lang="zh-CN" altLang="en-US" smtClean="0"/>
              <a:t>3</a:t>
            </a:fld>
            <a:endParaRPr lang="zh-CN" altLang="en-US"/>
          </a:p>
        </p:txBody>
      </p:sp>
    </p:spTree>
    <p:extLst>
      <p:ext uri="{BB962C8B-B14F-4D97-AF65-F5344CB8AC3E}">
        <p14:creationId xmlns:p14="http://schemas.microsoft.com/office/powerpoint/2010/main" val="1758656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首先我们来讲</a:t>
            </a:r>
            <a:r>
              <a:rPr lang="en-US" altLang="zh-CN" dirty="0"/>
              <a:t>Option Valuation</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4</a:t>
            </a:fld>
            <a:endParaRPr lang="zh-CN" altLang="en-US"/>
          </a:p>
        </p:txBody>
      </p:sp>
    </p:spTree>
    <p:extLst>
      <p:ext uri="{BB962C8B-B14F-4D97-AF65-F5344CB8AC3E}">
        <p14:creationId xmlns:p14="http://schemas.microsoft.com/office/powerpoint/2010/main" val="1456300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这部分我们主要介绍两种方法，二叉树法和</a:t>
            </a:r>
            <a:r>
              <a:rPr lang="en-US" altLang="zh-CN" dirty="0"/>
              <a:t>BSM</a:t>
            </a:r>
            <a:r>
              <a:rPr lang="zh-CN" altLang="en-US" dirty="0"/>
              <a:t>模型法，最后说一下希腊字母。</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5</a:t>
            </a:fld>
            <a:endParaRPr lang="zh-CN" altLang="en-US"/>
          </a:p>
        </p:txBody>
      </p:sp>
    </p:spTree>
    <p:extLst>
      <p:ext uri="{BB962C8B-B14F-4D97-AF65-F5344CB8AC3E}">
        <p14:creationId xmlns:p14="http://schemas.microsoft.com/office/powerpoint/2010/main" val="1716611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6</a:t>
            </a:fld>
            <a:endParaRPr lang="zh-CN" altLang="en-US"/>
          </a:p>
        </p:txBody>
      </p:sp>
    </p:spTree>
    <p:extLst>
      <p:ext uri="{BB962C8B-B14F-4D97-AF65-F5344CB8AC3E}">
        <p14:creationId xmlns:p14="http://schemas.microsoft.com/office/powerpoint/2010/main" val="522735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13</a:t>
            </a:fld>
            <a:endParaRPr lang="zh-CN" altLang="en-US"/>
          </a:p>
        </p:txBody>
      </p:sp>
    </p:spTree>
    <p:extLst>
      <p:ext uri="{BB962C8B-B14F-4D97-AF65-F5344CB8AC3E}">
        <p14:creationId xmlns:p14="http://schemas.microsoft.com/office/powerpoint/2010/main" val="95221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首先我们来讲</a:t>
            </a:r>
            <a:r>
              <a:rPr lang="en-US" altLang="zh-CN" dirty="0"/>
              <a:t>Option Valuation</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23</a:t>
            </a:fld>
            <a:endParaRPr lang="zh-CN" altLang="en-US"/>
          </a:p>
        </p:txBody>
      </p:sp>
    </p:spTree>
    <p:extLst>
      <p:ext uri="{BB962C8B-B14F-4D97-AF65-F5344CB8AC3E}">
        <p14:creationId xmlns:p14="http://schemas.microsoft.com/office/powerpoint/2010/main" val="2022659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这部分我们主要介绍两种方法，二叉树法和</a:t>
            </a:r>
            <a:r>
              <a:rPr lang="en-US" altLang="zh-CN" dirty="0"/>
              <a:t>BSM</a:t>
            </a:r>
            <a:r>
              <a:rPr lang="zh-CN" altLang="en-US" dirty="0"/>
              <a:t>模型法，最后说一下希腊字母。</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24</a:t>
            </a:fld>
            <a:endParaRPr lang="zh-CN" altLang="en-US"/>
          </a:p>
        </p:txBody>
      </p:sp>
    </p:spTree>
    <p:extLst>
      <p:ext uri="{BB962C8B-B14F-4D97-AF65-F5344CB8AC3E}">
        <p14:creationId xmlns:p14="http://schemas.microsoft.com/office/powerpoint/2010/main" val="3577821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首先我们来讲</a:t>
            </a:r>
            <a:r>
              <a:rPr lang="en-US" altLang="zh-CN" dirty="0"/>
              <a:t>Option Valuation</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33</a:t>
            </a:fld>
            <a:endParaRPr lang="zh-CN" altLang="en-US"/>
          </a:p>
        </p:txBody>
      </p:sp>
    </p:spTree>
    <p:extLst>
      <p:ext uri="{BB962C8B-B14F-4D97-AF65-F5344CB8AC3E}">
        <p14:creationId xmlns:p14="http://schemas.microsoft.com/office/powerpoint/2010/main" val="911542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这部分我们主要介绍两种方法，二叉树法和</a:t>
            </a:r>
            <a:r>
              <a:rPr lang="en-US" altLang="zh-CN" dirty="0"/>
              <a:t>BSM</a:t>
            </a:r>
            <a:r>
              <a:rPr lang="zh-CN" altLang="en-US" dirty="0"/>
              <a:t>模型法，最后说一下希腊字母。</a:t>
            </a:r>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34</a:t>
            </a:fld>
            <a:endParaRPr lang="zh-CN" altLang="en-US"/>
          </a:p>
        </p:txBody>
      </p:sp>
    </p:spTree>
    <p:extLst>
      <p:ext uri="{BB962C8B-B14F-4D97-AF65-F5344CB8AC3E}">
        <p14:creationId xmlns:p14="http://schemas.microsoft.com/office/powerpoint/2010/main" val="1626476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首先我们来讲</a:t>
            </a:r>
            <a:r>
              <a:rPr lang="en-US" altLang="zh-CN" dirty="0"/>
              <a:t>Option Valuation</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42</a:t>
            </a:fld>
            <a:endParaRPr lang="zh-CN" altLang="en-US"/>
          </a:p>
        </p:txBody>
      </p:sp>
    </p:spTree>
    <p:extLst>
      <p:ext uri="{BB962C8B-B14F-4D97-AF65-F5344CB8AC3E}">
        <p14:creationId xmlns:p14="http://schemas.microsoft.com/office/powerpoint/2010/main" val="3550709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首先我们来讲</a:t>
            </a:r>
            <a:r>
              <a:rPr lang="en-US" altLang="zh-CN" dirty="0"/>
              <a:t>Option Valuation</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56</a:t>
            </a:fld>
            <a:endParaRPr lang="zh-CN" altLang="en-US"/>
          </a:p>
        </p:txBody>
      </p:sp>
    </p:spTree>
    <p:extLst>
      <p:ext uri="{BB962C8B-B14F-4D97-AF65-F5344CB8AC3E}">
        <p14:creationId xmlns:p14="http://schemas.microsoft.com/office/powerpoint/2010/main" val="2606242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57</a:t>
            </a:fld>
            <a:endParaRPr lang="zh-CN" altLang="en-US"/>
          </a:p>
        </p:txBody>
      </p:sp>
    </p:spTree>
    <p:extLst>
      <p:ext uri="{BB962C8B-B14F-4D97-AF65-F5344CB8AC3E}">
        <p14:creationId xmlns:p14="http://schemas.microsoft.com/office/powerpoint/2010/main" val="2399376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120</a:t>
            </a:fld>
            <a:endParaRPr lang="zh-CN" altLang="en-US"/>
          </a:p>
        </p:txBody>
      </p:sp>
    </p:spTree>
    <p:extLst>
      <p:ext uri="{BB962C8B-B14F-4D97-AF65-F5344CB8AC3E}">
        <p14:creationId xmlns:p14="http://schemas.microsoft.com/office/powerpoint/2010/main" val="3515253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1981161-460F-4A2D-B57E-C43B8FD67BE1}" type="slidenum">
              <a:rPr lang="zh-CN" altLang="en-US" smtClean="0"/>
              <a:t>121</a:t>
            </a:fld>
            <a:endParaRPr lang="zh-CN" altLang="en-US"/>
          </a:p>
        </p:txBody>
      </p:sp>
    </p:spTree>
    <p:extLst>
      <p:ext uri="{BB962C8B-B14F-4D97-AF65-F5344CB8AC3E}">
        <p14:creationId xmlns:p14="http://schemas.microsoft.com/office/powerpoint/2010/main" val="32993165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科目">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grpSp>
        <p:nvGrpSpPr>
          <p:cNvPr id="9" name="组合 8">
            <a:extLst>
              <a:ext uri="{FF2B5EF4-FFF2-40B4-BE49-F238E27FC236}">
                <a16:creationId xmlns:a16="http://schemas.microsoft.com/office/drawing/2014/main" id="{0412969C-5F90-4E96-B585-14A6E1954127}"/>
              </a:ext>
            </a:extLst>
          </p:cNvPr>
          <p:cNvGrpSpPr/>
          <p:nvPr userDrawn="1"/>
        </p:nvGrpSpPr>
        <p:grpSpPr>
          <a:xfrm>
            <a:off x="0" y="2388291"/>
            <a:ext cx="4433455" cy="4559212"/>
            <a:chOff x="0" y="1814946"/>
            <a:chExt cx="4990985" cy="5132557"/>
          </a:xfrm>
        </p:grpSpPr>
        <p:grpSp>
          <p:nvGrpSpPr>
            <p:cNvPr id="10" name="组合 9">
              <a:extLst>
                <a:ext uri="{FF2B5EF4-FFF2-40B4-BE49-F238E27FC236}">
                  <a16:creationId xmlns:a16="http://schemas.microsoft.com/office/drawing/2014/main" id="{36904DEF-A29B-4827-B6E3-FFD7CF540525}"/>
                </a:ext>
              </a:extLst>
            </p:cNvPr>
            <p:cNvGrpSpPr/>
            <p:nvPr userDrawn="1"/>
          </p:nvGrpSpPr>
          <p:grpSpPr>
            <a:xfrm>
              <a:off x="0" y="1814946"/>
              <a:ext cx="3698628" cy="3693247"/>
              <a:chOff x="-33357" y="2313710"/>
              <a:chExt cx="3375724" cy="3370813"/>
            </a:xfrm>
          </p:grpSpPr>
          <p:sp>
            <p:nvSpPr>
              <p:cNvPr id="34" name="Freeform 5">
                <a:extLst>
                  <a:ext uri="{FF2B5EF4-FFF2-40B4-BE49-F238E27FC236}">
                    <a16:creationId xmlns:a16="http://schemas.microsoft.com/office/drawing/2014/main" id="{05BF9A91-9553-4FEE-9DD0-D84C357EBDCE}"/>
                  </a:ext>
                </a:extLst>
              </p:cNvPr>
              <p:cNvSpPr>
                <a:spLocks/>
              </p:cNvSpPr>
              <p:nvPr userDrawn="1"/>
            </p:nvSpPr>
            <p:spPr bwMode="auto">
              <a:xfrm>
                <a:off x="-33357" y="2313710"/>
                <a:ext cx="3375724" cy="3370813"/>
              </a:xfrm>
              <a:custGeom>
                <a:avLst/>
                <a:gdLst>
                  <a:gd name="T0" fmla="*/ 0 w 2062"/>
                  <a:gd name="T1" fmla="*/ 555 h 2059"/>
                  <a:gd name="T2" fmla="*/ 2062 w 2062"/>
                  <a:gd name="T3" fmla="*/ 0 h 2059"/>
                  <a:gd name="T4" fmla="*/ 1512 w 2062"/>
                  <a:gd name="T5" fmla="*/ 2059 h 2059"/>
                  <a:gd name="T6" fmla="*/ 0 w 2062"/>
                  <a:gd name="T7" fmla="*/ 555 h 2059"/>
                </a:gdLst>
                <a:ahLst/>
                <a:cxnLst>
                  <a:cxn ang="0">
                    <a:pos x="T0" y="T1"/>
                  </a:cxn>
                  <a:cxn ang="0">
                    <a:pos x="T2" y="T3"/>
                  </a:cxn>
                  <a:cxn ang="0">
                    <a:pos x="T4" y="T5"/>
                  </a:cxn>
                  <a:cxn ang="0">
                    <a:pos x="T6" y="T7"/>
                  </a:cxn>
                </a:cxnLst>
                <a:rect l="0" t="0" r="r" b="b"/>
                <a:pathLst>
                  <a:path w="2062" h="2059">
                    <a:moveTo>
                      <a:pt x="0" y="555"/>
                    </a:moveTo>
                    <a:lnTo>
                      <a:pt x="2062" y="0"/>
                    </a:lnTo>
                    <a:lnTo>
                      <a:pt x="1512" y="2059"/>
                    </a:lnTo>
                    <a:lnTo>
                      <a:pt x="0" y="55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
                <a:extLst>
                  <a:ext uri="{FF2B5EF4-FFF2-40B4-BE49-F238E27FC236}">
                    <a16:creationId xmlns:a16="http://schemas.microsoft.com/office/drawing/2014/main" id="{4F494B81-3C15-4C71-9A0A-29EB5AF5C755}"/>
                  </a:ext>
                </a:extLst>
              </p:cNvPr>
              <p:cNvSpPr>
                <a:spLocks/>
              </p:cNvSpPr>
              <p:nvPr userDrawn="1"/>
            </p:nvSpPr>
            <p:spPr bwMode="auto">
              <a:xfrm>
                <a:off x="-33357" y="3222306"/>
                <a:ext cx="2475313" cy="2462216"/>
              </a:xfrm>
              <a:custGeom>
                <a:avLst/>
                <a:gdLst>
                  <a:gd name="T0" fmla="*/ 0 w 1512"/>
                  <a:gd name="T1" fmla="*/ 0 h 1504"/>
                  <a:gd name="T2" fmla="*/ 1512 w 1512"/>
                  <a:gd name="T3" fmla="*/ 1504 h 1504"/>
                  <a:gd name="T4" fmla="*/ 1120 w 1512"/>
                  <a:gd name="T5" fmla="*/ 193 h 1504"/>
                  <a:gd name="T6" fmla="*/ 0 w 1512"/>
                  <a:gd name="T7" fmla="*/ 0 h 1504"/>
                </a:gdLst>
                <a:ahLst/>
                <a:cxnLst>
                  <a:cxn ang="0">
                    <a:pos x="T0" y="T1"/>
                  </a:cxn>
                  <a:cxn ang="0">
                    <a:pos x="T2" y="T3"/>
                  </a:cxn>
                  <a:cxn ang="0">
                    <a:pos x="T4" y="T5"/>
                  </a:cxn>
                  <a:cxn ang="0">
                    <a:pos x="T6" y="T7"/>
                  </a:cxn>
                </a:cxnLst>
                <a:rect l="0" t="0" r="r" b="b"/>
                <a:pathLst>
                  <a:path w="1512" h="1504">
                    <a:moveTo>
                      <a:pt x="0" y="0"/>
                    </a:moveTo>
                    <a:lnTo>
                      <a:pt x="1512" y="1504"/>
                    </a:lnTo>
                    <a:lnTo>
                      <a:pt x="1120" y="193"/>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8">
                <a:extLst>
                  <a:ext uri="{FF2B5EF4-FFF2-40B4-BE49-F238E27FC236}">
                    <a16:creationId xmlns:a16="http://schemas.microsoft.com/office/drawing/2014/main" id="{D8A2DB86-82B3-43BA-A913-246C7D7D372C}"/>
                  </a:ext>
                </a:extLst>
              </p:cNvPr>
              <p:cNvSpPr>
                <a:spLocks/>
              </p:cNvSpPr>
              <p:nvPr userDrawn="1"/>
            </p:nvSpPr>
            <p:spPr bwMode="auto">
              <a:xfrm>
                <a:off x="1800208" y="2313710"/>
                <a:ext cx="1542159" cy="3370813"/>
              </a:xfrm>
              <a:custGeom>
                <a:avLst/>
                <a:gdLst>
                  <a:gd name="T0" fmla="*/ 392 w 942"/>
                  <a:gd name="T1" fmla="*/ 2059 h 2059"/>
                  <a:gd name="T2" fmla="*/ 942 w 942"/>
                  <a:gd name="T3" fmla="*/ 0 h 2059"/>
                  <a:gd name="T4" fmla="*/ 0 w 942"/>
                  <a:gd name="T5" fmla="*/ 748 h 2059"/>
                  <a:gd name="T6" fmla="*/ 392 w 942"/>
                  <a:gd name="T7" fmla="*/ 2059 h 2059"/>
                </a:gdLst>
                <a:ahLst/>
                <a:cxnLst>
                  <a:cxn ang="0">
                    <a:pos x="T0" y="T1"/>
                  </a:cxn>
                  <a:cxn ang="0">
                    <a:pos x="T2" y="T3"/>
                  </a:cxn>
                  <a:cxn ang="0">
                    <a:pos x="T4" y="T5"/>
                  </a:cxn>
                  <a:cxn ang="0">
                    <a:pos x="T6" y="T7"/>
                  </a:cxn>
                </a:cxnLst>
                <a:rect l="0" t="0" r="r" b="b"/>
                <a:pathLst>
                  <a:path w="942" h="2059">
                    <a:moveTo>
                      <a:pt x="392" y="2059"/>
                    </a:moveTo>
                    <a:lnTo>
                      <a:pt x="942" y="0"/>
                    </a:lnTo>
                    <a:lnTo>
                      <a:pt x="0" y="748"/>
                    </a:lnTo>
                    <a:lnTo>
                      <a:pt x="392" y="2059"/>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 name="任意多边形: 形状 81">
              <a:extLst>
                <a:ext uri="{FF2B5EF4-FFF2-40B4-BE49-F238E27FC236}">
                  <a16:creationId xmlns:a16="http://schemas.microsoft.com/office/drawing/2014/main" id="{B1776A3A-8500-4A9A-A690-7CEA1816428C}"/>
                </a:ext>
              </a:extLst>
            </p:cNvPr>
            <p:cNvSpPr>
              <a:spLocks/>
            </p:cNvSpPr>
            <p:nvPr userDrawn="1"/>
          </p:nvSpPr>
          <p:spPr bwMode="auto">
            <a:xfrm>
              <a:off x="0" y="3884886"/>
              <a:ext cx="1746891" cy="2817918"/>
            </a:xfrm>
            <a:custGeom>
              <a:avLst/>
              <a:gdLst>
                <a:gd name="connsiteX0" fmla="*/ 1746891 w 1746891"/>
                <a:gd name="connsiteY0" fmla="*/ 0 h 2817918"/>
                <a:gd name="connsiteX1" fmla="*/ 1007883 w 1746891"/>
                <a:gd name="connsiteY1" fmla="*/ 2817918 h 2817918"/>
                <a:gd name="connsiteX2" fmla="*/ 0 w 1746891"/>
                <a:gd name="connsiteY2" fmla="*/ 1825729 h 2817918"/>
                <a:gd name="connsiteX3" fmla="*/ 0 w 1746891"/>
                <a:gd name="connsiteY3" fmla="*/ 482401 h 2817918"/>
              </a:gdLst>
              <a:ahLst/>
              <a:cxnLst>
                <a:cxn ang="0">
                  <a:pos x="connsiteX0" y="connsiteY0"/>
                </a:cxn>
                <a:cxn ang="0">
                  <a:pos x="connsiteX1" y="connsiteY1"/>
                </a:cxn>
                <a:cxn ang="0">
                  <a:pos x="connsiteX2" y="connsiteY2"/>
                </a:cxn>
                <a:cxn ang="0">
                  <a:pos x="connsiteX3" y="connsiteY3"/>
                </a:cxn>
              </a:cxnLst>
              <a:rect l="l" t="t" r="r" b="b"/>
              <a:pathLst>
                <a:path w="1746891" h="2817918">
                  <a:moveTo>
                    <a:pt x="1746891" y="0"/>
                  </a:moveTo>
                  <a:lnTo>
                    <a:pt x="1007883" y="2817918"/>
                  </a:lnTo>
                  <a:lnTo>
                    <a:pt x="0" y="1825729"/>
                  </a:lnTo>
                  <a:lnTo>
                    <a:pt x="0" y="482401"/>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4" name="任意多边形: 形状 83">
              <a:extLst>
                <a:ext uri="{FF2B5EF4-FFF2-40B4-BE49-F238E27FC236}">
                  <a16:creationId xmlns:a16="http://schemas.microsoft.com/office/drawing/2014/main" id="{B31F9719-A6E2-4A68-9E26-007E829B2EE6}"/>
                </a:ext>
              </a:extLst>
            </p:cNvPr>
            <p:cNvSpPr>
              <a:spLocks/>
            </p:cNvSpPr>
            <p:nvPr userDrawn="1"/>
          </p:nvSpPr>
          <p:spPr bwMode="auto">
            <a:xfrm>
              <a:off x="0" y="5072864"/>
              <a:ext cx="1007883" cy="1629939"/>
            </a:xfrm>
            <a:custGeom>
              <a:avLst/>
              <a:gdLst>
                <a:gd name="connsiteX0" fmla="*/ 0 w 1007883"/>
                <a:gd name="connsiteY0" fmla="*/ 0 h 1629939"/>
                <a:gd name="connsiteX1" fmla="*/ 467976 w 1007883"/>
                <a:gd name="connsiteY1" fmla="*/ 180622 h 1629939"/>
                <a:gd name="connsiteX2" fmla="*/ 1007883 w 1007883"/>
                <a:gd name="connsiteY2" fmla="*/ 1629939 h 1629939"/>
                <a:gd name="connsiteX3" fmla="*/ 0 w 1007883"/>
                <a:gd name="connsiteY3" fmla="*/ 637750 h 1629939"/>
              </a:gdLst>
              <a:ahLst/>
              <a:cxnLst>
                <a:cxn ang="0">
                  <a:pos x="connsiteX0" y="connsiteY0"/>
                </a:cxn>
                <a:cxn ang="0">
                  <a:pos x="connsiteX1" y="connsiteY1"/>
                </a:cxn>
                <a:cxn ang="0">
                  <a:pos x="connsiteX2" y="connsiteY2"/>
                </a:cxn>
                <a:cxn ang="0">
                  <a:pos x="connsiteX3" y="connsiteY3"/>
                </a:cxn>
              </a:cxnLst>
              <a:rect l="l" t="t" r="r" b="b"/>
              <a:pathLst>
                <a:path w="1007883" h="1629939">
                  <a:moveTo>
                    <a:pt x="0" y="0"/>
                  </a:moveTo>
                  <a:lnTo>
                    <a:pt x="467976" y="180622"/>
                  </a:lnTo>
                  <a:lnTo>
                    <a:pt x="1007883" y="1629939"/>
                  </a:lnTo>
                  <a:lnTo>
                    <a:pt x="0" y="637750"/>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7" name="Freeform 31">
              <a:extLst>
                <a:ext uri="{FF2B5EF4-FFF2-40B4-BE49-F238E27FC236}">
                  <a16:creationId xmlns:a16="http://schemas.microsoft.com/office/drawing/2014/main" id="{0858C27D-3B61-40EB-BB3F-3FAA0118294B}"/>
                </a:ext>
              </a:extLst>
            </p:cNvPr>
            <p:cNvSpPr>
              <a:spLocks/>
            </p:cNvSpPr>
            <p:nvPr userDrawn="1"/>
          </p:nvSpPr>
          <p:spPr bwMode="auto">
            <a:xfrm>
              <a:off x="467976" y="3884886"/>
              <a:ext cx="1278914" cy="2817918"/>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17">
              <a:extLst>
                <a:ext uri="{FF2B5EF4-FFF2-40B4-BE49-F238E27FC236}">
                  <a16:creationId xmlns:a16="http://schemas.microsoft.com/office/drawing/2014/main" id="{A2EC3842-A5D0-4936-A7C3-E5418585DDD2}"/>
                </a:ext>
              </a:extLst>
            </p:cNvPr>
            <p:cNvGrpSpPr/>
            <p:nvPr userDrawn="1"/>
          </p:nvGrpSpPr>
          <p:grpSpPr>
            <a:xfrm>
              <a:off x="1515683" y="4961112"/>
              <a:ext cx="1562320" cy="1569496"/>
              <a:chOff x="1350001" y="5185204"/>
              <a:chExt cx="1425924" cy="1432473"/>
            </a:xfrm>
          </p:grpSpPr>
          <p:sp>
            <p:nvSpPr>
              <p:cNvPr id="31" name="Freeform 33">
                <a:extLst>
                  <a:ext uri="{FF2B5EF4-FFF2-40B4-BE49-F238E27FC236}">
                    <a16:creationId xmlns:a16="http://schemas.microsoft.com/office/drawing/2014/main" id="{D5B1E0F4-3C85-41ED-BCC8-21997E7E4C3E}"/>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4">
                <a:extLst>
                  <a:ext uri="{FF2B5EF4-FFF2-40B4-BE49-F238E27FC236}">
                    <a16:creationId xmlns:a16="http://schemas.microsoft.com/office/drawing/2014/main" id="{2B881A2C-6EF7-4367-BB1D-A766EBA4061D}"/>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5">
                <a:extLst>
                  <a:ext uri="{FF2B5EF4-FFF2-40B4-BE49-F238E27FC236}">
                    <a16:creationId xmlns:a16="http://schemas.microsoft.com/office/drawing/2014/main" id="{A5EFA1AF-B367-49CB-B4EC-93319EB9C1EE}"/>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459B8FC3-40F8-4320-8261-E04D3F1B857F}"/>
                </a:ext>
              </a:extLst>
            </p:cNvPr>
            <p:cNvGrpSpPr/>
            <p:nvPr userDrawn="1"/>
          </p:nvGrpSpPr>
          <p:grpSpPr>
            <a:xfrm rot="19800000">
              <a:off x="2689563" y="3277532"/>
              <a:ext cx="2301422" cy="2305825"/>
              <a:chOff x="-899390" y="4202937"/>
              <a:chExt cx="2566991" cy="2571903"/>
            </a:xfrm>
          </p:grpSpPr>
          <p:sp>
            <p:nvSpPr>
              <p:cNvPr id="28" name="Freeform 29">
                <a:extLst>
                  <a:ext uri="{FF2B5EF4-FFF2-40B4-BE49-F238E27FC236}">
                    <a16:creationId xmlns:a16="http://schemas.microsoft.com/office/drawing/2014/main" id="{0ADA7518-6DF5-4584-B719-DD59E8DA3F32}"/>
                  </a:ext>
                </a:extLst>
              </p:cNvPr>
              <p:cNvSpPr>
                <a:spLocks/>
              </p:cNvSpPr>
              <p:nvPr userDrawn="1"/>
            </p:nvSpPr>
            <p:spPr bwMode="auto">
              <a:xfrm>
                <a:off x="-899390" y="4202937"/>
                <a:ext cx="2566991" cy="2571903"/>
              </a:xfrm>
              <a:custGeom>
                <a:avLst/>
                <a:gdLst>
                  <a:gd name="T0" fmla="*/ 1156 w 1568"/>
                  <a:gd name="T1" fmla="*/ 1571 h 1571"/>
                  <a:gd name="T2" fmla="*/ 0 w 1568"/>
                  <a:gd name="T3" fmla="*/ 433 h 1571"/>
                  <a:gd name="T4" fmla="*/ 1568 w 1568"/>
                  <a:gd name="T5" fmla="*/ 0 h 1571"/>
                  <a:gd name="T6" fmla="*/ 1156 w 1568"/>
                  <a:gd name="T7" fmla="*/ 1571 h 1571"/>
                </a:gdLst>
                <a:ahLst/>
                <a:cxnLst>
                  <a:cxn ang="0">
                    <a:pos x="T0" y="T1"/>
                  </a:cxn>
                  <a:cxn ang="0">
                    <a:pos x="T2" y="T3"/>
                  </a:cxn>
                  <a:cxn ang="0">
                    <a:pos x="T4" y="T5"/>
                  </a:cxn>
                  <a:cxn ang="0">
                    <a:pos x="T6" y="T7"/>
                  </a:cxn>
                </a:cxnLst>
                <a:rect l="0" t="0" r="r" b="b"/>
                <a:pathLst>
                  <a:path w="1568" h="1571">
                    <a:moveTo>
                      <a:pt x="1156" y="1571"/>
                    </a:moveTo>
                    <a:lnTo>
                      <a:pt x="0" y="433"/>
                    </a:lnTo>
                    <a:lnTo>
                      <a:pt x="1568" y="0"/>
                    </a:lnTo>
                    <a:lnTo>
                      <a:pt x="1156" y="1571"/>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30">
                <a:extLst>
                  <a:ext uri="{FF2B5EF4-FFF2-40B4-BE49-F238E27FC236}">
                    <a16:creationId xmlns:a16="http://schemas.microsoft.com/office/drawing/2014/main" id="{D6B3F8B0-55AA-411D-89D4-850079304F2B}"/>
                  </a:ext>
                </a:extLst>
              </p:cNvPr>
              <p:cNvSpPr>
                <a:spLocks/>
              </p:cNvSpPr>
              <p:nvPr userDrawn="1"/>
            </p:nvSpPr>
            <p:spPr bwMode="auto">
              <a:xfrm>
                <a:off x="-899390" y="4911806"/>
                <a:ext cx="1892501" cy="1863033"/>
              </a:xfrm>
              <a:custGeom>
                <a:avLst/>
                <a:gdLst>
                  <a:gd name="T0" fmla="*/ 1156 w 1156"/>
                  <a:gd name="T1" fmla="*/ 1138 h 1138"/>
                  <a:gd name="T2" fmla="*/ 0 w 1156"/>
                  <a:gd name="T3" fmla="*/ 0 h 1138"/>
                  <a:gd name="T4" fmla="*/ 855 w 1156"/>
                  <a:gd name="T5" fmla="*/ 330 h 1138"/>
                  <a:gd name="T6" fmla="*/ 1156 w 1156"/>
                  <a:gd name="T7" fmla="*/ 1138 h 1138"/>
                </a:gdLst>
                <a:ahLst/>
                <a:cxnLst>
                  <a:cxn ang="0">
                    <a:pos x="T0" y="T1"/>
                  </a:cxn>
                  <a:cxn ang="0">
                    <a:pos x="T2" y="T3"/>
                  </a:cxn>
                  <a:cxn ang="0">
                    <a:pos x="T4" y="T5"/>
                  </a:cxn>
                  <a:cxn ang="0">
                    <a:pos x="T6" y="T7"/>
                  </a:cxn>
                </a:cxnLst>
                <a:rect l="0" t="0" r="r" b="b"/>
                <a:pathLst>
                  <a:path w="1156" h="1138">
                    <a:moveTo>
                      <a:pt x="1156" y="1138"/>
                    </a:moveTo>
                    <a:lnTo>
                      <a:pt x="0" y="0"/>
                    </a:lnTo>
                    <a:lnTo>
                      <a:pt x="855" y="330"/>
                    </a:lnTo>
                    <a:lnTo>
                      <a:pt x="1156" y="1138"/>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31">
                <a:extLst>
                  <a:ext uri="{FF2B5EF4-FFF2-40B4-BE49-F238E27FC236}">
                    <a16:creationId xmlns:a16="http://schemas.microsoft.com/office/drawing/2014/main" id="{CA25763A-E27B-4181-B8ED-004BFC30B31D}"/>
                  </a:ext>
                </a:extLst>
              </p:cNvPr>
              <p:cNvSpPr>
                <a:spLocks/>
              </p:cNvSpPr>
              <p:nvPr userDrawn="1"/>
            </p:nvSpPr>
            <p:spPr bwMode="auto">
              <a:xfrm>
                <a:off x="500341" y="4202937"/>
                <a:ext cx="1167260" cy="2571903"/>
              </a:xfrm>
              <a:custGeom>
                <a:avLst/>
                <a:gdLst>
                  <a:gd name="T0" fmla="*/ 301 w 713"/>
                  <a:gd name="T1" fmla="*/ 1571 h 1571"/>
                  <a:gd name="T2" fmla="*/ 713 w 713"/>
                  <a:gd name="T3" fmla="*/ 0 h 1571"/>
                  <a:gd name="T4" fmla="*/ 0 w 713"/>
                  <a:gd name="T5" fmla="*/ 763 h 1571"/>
                  <a:gd name="T6" fmla="*/ 301 w 713"/>
                  <a:gd name="T7" fmla="*/ 1571 h 1571"/>
                </a:gdLst>
                <a:ahLst/>
                <a:cxnLst>
                  <a:cxn ang="0">
                    <a:pos x="T0" y="T1"/>
                  </a:cxn>
                  <a:cxn ang="0">
                    <a:pos x="T2" y="T3"/>
                  </a:cxn>
                  <a:cxn ang="0">
                    <a:pos x="T4" y="T5"/>
                  </a:cxn>
                  <a:cxn ang="0">
                    <a:pos x="T6" y="T7"/>
                  </a:cxn>
                </a:cxnLst>
                <a:rect l="0" t="0" r="r" b="b"/>
                <a:pathLst>
                  <a:path w="713" h="1571">
                    <a:moveTo>
                      <a:pt x="301" y="1571"/>
                    </a:moveTo>
                    <a:lnTo>
                      <a:pt x="713" y="0"/>
                    </a:lnTo>
                    <a:lnTo>
                      <a:pt x="0" y="763"/>
                    </a:lnTo>
                    <a:lnTo>
                      <a:pt x="301" y="1571"/>
                    </a:ln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F79B4DE5-AEA4-4F1F-9A62-A0C87B3B6029}"/>
                </a:ext>
              </a:extLst>
            </p:cNvPr>
            <p:cNvGrpSpPr/>
            <p:nvPr userDrawn="1"/>
          </p:nvGrpSpPr>
          <p:grpSpPr>
            <a:xfrm rot="12600000">
              <a:off x="2990757" y="4894091"/>
              <a:ext cx="1689356" cy="1697115"/>
              <a:chOff x="1350001" y="5185204"/>
              <a:chExt cx="1425924" cy="1432473"/>
            </a:xfrm>
          </p:grpSpPr>
          <p:sp>
            <p:nvSpPr>
              <p:cNvPr id="25" name="Freeform 33">
                <a:extLst>
                  <a:ext uri="{FF2B5EF4-FFF2-40B4-BE49-F238E27FC236}">
                    <a16:creationId xmlns:a16="http://schemas.microsoft.com/office/drawing/2014/main" id="{003A2DFE-93DF-4FD0-923E-F322930F074C}"/>
                  </a:ext>
                </a:extLst>
              </p:cNvPr>
              <p:cNvSpPr>
                <a:spLocks/>
              </p:cNvSpPr>
              <p:nvPr userDrawn="1"/>
            </p:nvSpPr>
            <p:spPr bwMode="auto">
              <a:xfrm>
                <a:off x="1350001" y="5185204"/>
                <a:ext cx="1425924" cy="1432473"/>
              </a:xfrm>
              <a:custGeom>
                <a:avLst/>
                <a:gdLst>
                  <a:gd name="T0" fmla="*/ 0 w 871"/>
                  <a:gd name="T1" fmla="*/ 875 h 875"/>
                  <a:gd name="T2" fmla="*/ 224 w 871"/>
                  <a:gd name="T3" fmla="*/ 0 h 875"/>
                  <a:gd name="T4" fmla="*/ 871 w 871"/>
                  <a:gd name="T5" fmla="*/ 631 h 875"/>
                  <a:gd name="T6" fmla="*/ 0 w 871"/>
                  <a:gd name="T7" fmla="*/ 875 h 875"/>
                </a:gdLst>
                <a:ahLst/>
                <a:cxnLst>
                  <a:cxn ang="0">
                    <a:pos x="T0" y="T1"/>
                  </a:cxn>
                  <a:cxn ang="0">
                    <a:pos x="T2" y="T3"/>
                  </a:cxn>
                  <a:cxn ang="0">
                    <a:pos x="T4" y="T5"/>
                  </a:cxn>
                  <a:cxn ang="0">
                    <a:pos x="T6" y="T7"/>
                  </a:cxn>
                </a:cxnLst>
                <a:rect l="0" t="0" r="r" b="b"/>
                <a:pathLst>
                  <a:path w="871" h="875">
                    <a:moveTo>
                      <a:pt x="0" y="875"/>
                    </a:moveTo>
                    <a:lnTo>
                      <a:pt x="224" y="0"/>
                    </a:lnTo>
                    <a:lnTo>
                      <a:pt x="871" y="631"/>
                    </a:lnTo>
                    <a:lnTo>
                      <a:pt x="0" y="87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4">
                <a:extLst>
                  <a:ext uri="{FF2B5EF4-FFF2-40B4-BE49-F238E27FC236}">
                    <a16:creationId xmlns:a16="http://schemas.microsoft.com/office/drawing/2014/main" id="{975BD6D9-5ED6-4E6F-BA2E-E15B943C7E49}"/>
                  </a:ext>
                </a:extLst>
              </p:cNvPr>
              <p:cNvSpPr>
                <a:spLocks/>
              </p:cNvSpPr>
              <p:nvPr userDrawn="1"/>
            </p:nvSpPr>
            <p:spPr bwMode="auto">
              <a:xfrm>
                <a:off x="1350001" y="5185204"/>
                <a:ext cx="500956" cy="1432473"/>
              </a:xfrm>
              <a:custGeom>
                <a:avLst/>
                <a:gdLst>
                  <a:gd name="T0" fmla="*/ 0 w 306"/>
                  <a:gd name="T1" fmla="*/ 875 h 875"/>
                  <a:gd name="T2" fmla="*/ 224 w 306"/>
                  <a:gd name="T3" fmla="*/ 0 h 875"/>
                  <a:gd name="T4" fmla="*/ 306 w 306"/>
                  <a:gd name="T5" fmla="*/ 504 h 875"/>
                  <a:gd name="T6" fmla="*/ 0 w 306"/>
                  <a:gd name="T7" fmla="*/ 875 h 875"/>
                </a:gdLst>
                <a:ahLst/>
                <a:cxnLst>
                  <a:cxn ang="0">
                    <a:pos x="T0" y="T1"/>
                  </a:cxn>
                  <a:cxn ang="0">
                    <a:pos x="T2" y="T3"/>
                  </a:cxn>
                  <a:cxn ang="0">
                    <a:pos x="T4" y="T5"/>
                  </a:cxn>
                  <a:cxn ang="0">
                    <a:pos x="T6" y="T7"/>
                  </a:cxn>
                </a:cxnLst>
                <a:rect l="0" t="0" r="r" b="b"/>
                <a:pathLst>
                  <a:path w="306" h="875">
                    <a:moveTo>
                      <a:pt x="0" y="875"/>
                    </a:moveTo>
                    <a:lnTo>
                      <a:pt x="224" y="0"/>
                    </a:lnTo>
                    <a:lnTo>
                      <a:pt x="306" y="504"/>
                    </a:lnTo>
                    <a:lnTo>
                      <a:pt x="0" y="87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35">
                <a:extLst>
                  <a:ext uri="{FF2B5EF4-FFF2-40B4-BE49-F238E27FC236}">
                    <a16:creationId xmlns:a16="http://schemas.microsoft.com/office/drawing/2014/main" id="{BBB0879C-3085-4593-B820-B612A7B98472}"/>
                  </a:ext>
                </a:extLst>
              </p:cNvPr>
              <p:cNvSpPr>
                <a:spLocks/>
              </p:cNvSpPr>
              <p:nvPr userDrawn="1"/>
            </p:nvSpPr>
            <p:spPr bwMode="auto">
              <a:xfrm>
                <a:off x="1350001" y="6010308"/>
                <a:ext cx="1425924" cy="607369"/>
              </a:xfrm>
              <a:custGeom>
                <a:avLst/>
                <a:gdLst>
                  <a:gd name="T0" fmla="*/ 0 w 871"/>
                  <a:gd name="T1" fmla="*/ 371 h 371"/>
                  <a:gd name="T2" fmla="*/ 871 w 871"/>
                  <a:gd name="T3" fmla="*/ 127 h 371"/>
                  <a:gd name="T4" fmla="*/ 306 w 871"/>
                  <a:gd name="T5" fmla="*/ 0 h 371"/>
                  <a:gd name="T6" fmla="*/ 0 w 871"/>
                  <a:gd name="T7" fmla="*/ 371 h 371"/>
                </a:gdLst>
                <a:ahLst/>
                <a:cxnLst>
                  <a:cxn ang="0">
                    <a:pos x="T0" y="T1"/>
                  </a:cxn>
                  <a:cxn ang="0">
                    <a:pos x="T2" y="T3"/>
                  </a:cxn>
                  <a:cxn ang="0">
                    <a:pos x="T4" y="T5"/>
                  </a:cxn>
                  <a:cxn ang="0">
                    <a:pos x="T6" y="T7"/>
                  </a:cxn>
                </a:cxnLst>
                <a:rect l="0" t="0" r="r" b="b"/>
                <a:pathLst>
                  <a:path w="871" h="371">
                    <a:moveTo>
                      <a:pt x="0" y="371"/>
                    </a:moveTo>
                    <a:lnTo>
                      <a:pt x="871" y="127"/>
                    </a:lnTo>
                    <a:lnTo>
                      <a:pt x="306" y="0"/>
                    </a:lnTo>
                    <a:lnTo>
                      <a:pt x="0" y="37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 name="任意多边形: 形状 94">
              <a:extLst>
                <a:ext uri="{FF2B5EF4-FFF2-40B4-BE49-F238E27FC236}">
                  <a16:creationId xmlns:a16="http://schemas.microsoft.com/office/drawing/2014/main" id="{0845FCBA-925F-42B0-8644-32E743140555}"/>
                </a:ext>
              </a:extLst>
            </p:cNvPr>
            <p:cNvSpPr>
              <a:spLocks/>
            </p:cNvSpPr>
            <p:nvPr userDrawn="1"/>
          </p:nvSpPr>
          <p:spPr bwMode="auto">
            <a:xfrm rot="5189261">
              <a:off x="2860960" y="6190506"/>
              <a:ext cx="631486" cy="750679"/>
            </a:xfrm>
            <a:custGeom>
              <a:avLst/>
              <a:gdLst>
                <a:gd name="connsiteX0" fmla="*/ 0 w 631486"/>
                <a:gd name="connsiteY0" fmla="*/ 174384 h 750679"/>
                <a:gd name="connsiteX1" fmla="*/ 631486 w 631486"/>
                <a:gd name="connsiteY1" fmla="*/ 0 h 750679"/>
                <a:gd name="connsiteX2" fmla="*/ 585410 w 631486"/>
                <a:gd name="connsiteY2" fmla="*/ 750679 h 750679"/>
              </a:gdLst>
              <a:ahLst/>
              <a:cxnLst>
                <a:cxn ang="0">
                  <a:pos x="connsiteX0" y="connsiteY0"/>
                </a:cxn>
                <a:cxn ang="0">
                  <a:pos x="connsiteX1" y="connsiteY1"/>
                </a:cxn>
                <a:cxn ang="0">
                  <a:pos x="connsiteX2" y="connsiteY2"/>
                </a:cxn>
              </a:cxnLst>
              <a:rect l="l" t="t" r="r" b="b"/>
              <a:pathLst>
                <a:path w="631486" h="750679">
                  <a:moveTo>
                    <a:pt x="0" y="174384"/>
                  </a:moveTo>
                  <a:lnTo>
                    <a:pt x="631486" y="0"/>
                  </a:lnTo>
                  <a:lnTo>
                    <a:pt x="585410" y="750679"/>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2" name="任意多边形: 形状 91">
              <a:extLst>
                <a:ext uri="{FF2B5EF4-FFF2-40B4-BE49-F238E27FC236}">
                  <a16:creationId xmlns:a16="http://schemas.microsoft.com/office/drawing/2014/main" id="{C4B29FC2-D183-470F-AAFE-76EA9D0BF6BE}"/>
                </a:ext>
              </a:extLst>
            </p:cNvPr>
            <p:cNvSpPr>
              <a:spLocks/>
            </p:cNvSpPr>
            <p:nvPr userDrawn="1"/>
          </p:nvSpPr>
          <p:spPr bwMode="auto">
            <a:xfrm rot="5189261">
              <a:off x="2785699" y="6270528"/>
              <a:ext cx="606416" cy="576295"/>
            </a:xfrm>
            <a:custGeom>
              <a:avLst/>
              <a:gdLst>
                <a:gd name="connsiteX0" fmla="*/ 0 w 606416"/>
                <a:gd name="connsiteY0" fmla="*/ 0 h 576295"/>
                <a:gd name="connsiteX1" fmla="*/ 606416 w 606416"/>
                <a:gd name="connsiteY1" fmla="*/ 234055 h 576295"/>
                <a:gd name="connsiteX2" fmla="*/ 585410 w 606416"/>
                <a:gd name="connsiteY2" fmla="*/ 576295 h 576295"/>
              </a:gdLst>
              <a:ahLst/>
              <a:cxnLst>
                <a:cxn ang="0">
                  <a:pos x="connsiteX0" y="connsiteY0"/>
                </a:cxn>
                <a:cxn ang="0">
                  <a:pos x="connsiteX1" y="connsiteY1"/>
                </a:cxn>
                <a:cxn ang="0">
                  <a:pos x="connsiteX2" y="connsiteY2"/>
                </a:cxn>
              </a:cxnLst>
              <a:rect l="l" t="t" r="r" b="b"/>
              <a:pathLst>
                <a:path w="606416" h="576295">
                  <a:moveTo>
                    <a:pt x="0" y="0"/>
                  </a:moveTo>
                  <a:lnTo>
                    <a:pt x="606416" y="234055"/>
                  </a:lnTo>
                  <a:lnTo>
                    <a:pt x="585410" y="576295"/>
                  </a:ln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 name="任意多边形: 形状 90">
              <a:extLst>
                <a:ext uri="{FF2B5EF4-FFF2-40B4-BE49-F238E27FC236}">
                  <a16:creationId xmlns:a16="http://schemas.microsoft.com/office/drawing/2014/main" id="{B8325B1A-E382-4FD1-AEF6-5A10C1B01511}"/>
                </a:ext>
              </a:extLst>
            </p:cNvPr>
            <p:cNvSpPr>
              <a:spLocks/>
            </p:cNvSpPr>
            <p:nvPr userDrawn="1"/>
          </p:nvSpPr>
          <p:spPr bwMode="auto">
            <a:xfrm rot="14413077">
              <a:off x="2085024" y="6535142"/>
              <a:ext cx="233740" cy="420980"/>
            </a:xfrm>
            <a:custGeom>
              <a:avLst/>
              <a:gdLst>
                <a:gd name="connsiteX0" fmla="*/ 233740 w 233740"/>
                <a:gd name="connsiteY0" fmla="*/ 420980 h 420980"/>
                <a:gd name="connsiteX1" fmla="*/ 0 w 233740"/>
                <a:gd name="connsiteY1" fmla="*/ 188477 h 420980"/>
                <a:gd name="connsiteX2" fmla="*/ 107863 w 233740"/>
                <a:gd name="connsiteY2" fmla="*/ 0 h 420980"/>
              </a:gdLst>
              <a:ahLst/>
              <a:cxnLst>
                <a:cxn ang="0">
                  <a:pos x="connsiteX0" y="connsiteY0"/>
                </a:cxn>
                <a:cxn ang="0">
                  <a:pos x="connsiteX1" y="connsiteY1"/>
                </a:cxn>
                <a:cxn ang="0">
                  <a:pos x="connsiteX2" y="connsiteY2"/>
                </a:cxn>
              </a:cxnLst>
              <a:rect l="l" t="t" r="r" b="b"/>
              <a:pathLst>
                <a:path w="233740" h="420980">
                  <a:moveTo>
                    <a:pt x="233740" y="420980"/>
                  </a:moveTo>
                  <a:lnTo>
                    <a:pt x="0" y="188477"/>
                  </a:lnTo>
                  <a:lnTo>
                    <a:pt x="107863" y="0"/>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 name="任意多边形: 形状 88">
              <a:extLst>
                <a:ext uri="{FF2B5EF4-FFF2-40B4-BE49-F238E27FC236}">
                  <a16:creationId xmlns:a16="http://schemas.microsoft.com/office/drawing/2014/main" id="{7AA8B293-6946-40C9-8DC5-F1CED6F06F6E}"/>
                </a:ext>
              </a:extLst>
            </p:cNvPr>
            <p:cNvSpPr>
              <a:spLocks/>
            </p:cNvSpPr>
            <p:nvPr userDrawn="1"/>
          </p:nvSpPr>
          <p:spPr bwMode="auto">
            <a:xfrm rot="14413077">
              <a:off x="1603089" y="6193125"/>
              <a:ext cx="417400" cy="1091355"/>
            </a:xfrm>
            <a:custGeom>
              <a:avLst/>
              <a:gdLst>
                <a:gd name="connsiteX0" fmla="*/ 125877 w 417400"/>
                <a:gd name="connsiteY0" fmla="*/ 1091355 h 1091355"/>
                <a:gd name="connsiteX1" fmla="*/ 0 w 417400"/>
                <a:gd name="connsiteY1" fmla="*/ 670375 h 1091355"/>
                <a:gd name="connsiteX2" fmla="*/ 355536 w 417400"/>
                <a:gd name="connsiteY2" fmla="*/ 49124 h 1091355"/>
                <a:gd name="connsiteX3" fmla="*/ 417400 w 417400"/>
                <a:gd name="connsiteY3" fmla="*/ 0 h 1091355"/>
              </a:gdLst>
              <a:ahLst/>
              <a:cxnLst>
                <a:cxn ang="0">
                  <a:pos x="connsiteX0" y="connsiteY0"/>
                </a:cxn>
                <a:cxn ang="0">
                  <a:pos x="connsiteX1" y="connsiteY1"/>
                </a:cxn>
                <a:cxn ang="0">
                  <a:pos x="connsiteX2" y="connsiteY2"/>
                </a:cxn>
                <a:cxn ang="0">
                  <a:pos x="connsiteX3" y="connsiteY3"/>
                </a:cxn>
              </a:cxnLst>
              <a:rect l="l" t="t" r="r" b="b"/>
              <a:pathLst>
                <a:path w="417400" h="1091355">
                  <a:moveTo>
                    <a:pt x="125877" y="1091355"/>
                  </a:moveTo>
                  <a:lnTo>
                    <a:pt x="0" y="670375"/>
                  </a:lnTo>
                  <a:lnTo>
                    <a:pt x="355536" y="49124"/>
                  </a:lnTo>
                  <a:lnTo>
                    <a:pt x="41740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grpSp>
        <p:nvGrpSpPr>
          <p:cNvPr id="37" name="组合 36">
            <a:extLst>
              <a:ext uri="{FF2B5EF4-FFF2-40B4-BE49-F238E27FC236}">
                <a16:creationId xmlns:a16="http://schemas.microsoft.com/office/drawing/2014/main" id="{C9A282B9-3374-41E6-AC2D-7784354EFF5A}"/>
              </a:ext>
            </a:extLst>
          </p:cNvPr>
          <p:cNvGrpSpPr/>
          <p:nvPr userDrawn="1"/>
        </p:nvGrpSpPr>
        <p:grpSpPr>
          <a:xfrm>
            <a:off x="9774834" y="941392"/>
            <a:ext cx="2417166" cy="3285611"/>
            <a:chOff x="9774834" y="0"/>
            <a:chExt cx="2417166" cy="3285611"/>
          </a:xfrm>
        </p:grpSpPr>
        <p:sp>
          <p:nvSpPr>
            <p:cNvPr id="38" name="任意多边形: 形状 138">
              <a:extLst>
                <a:ext uri="{FF2B5EF4-FFF2-40B4-BE49-F238E27FC236}">
                  <a16:creationId xmlns:a16="http://schemas.microsoft.com/office/drawing/2014/main" id="{50261AD0-962D-480B-B039-48A3CF72EF02}"/>
                </a:ext>
              </a:extLst>
            </p:cNvPr>
            <p:cNvSpPr/>
            <p:nvPr/>
          </p:nvSpPr>
          <p:spPr>
            <a:xfrm>
              <a:off x="10569108" y="287512"/>
              <a:ext cx="1622892" cy="2444653"/>
            </a:xfrm>
            <a:custGeom>
              <a:avLst/>
              <a:gdLst>
                <a:gd name="connsiteX0" fmla="*/ 652542 w 1622892"/>
                <a:gd name="connsiteY0" fmla="*/ 0 h 2444653"/>
                <a:gd name="connsiteX1" fmla="*/ 1622892 w 1622892"/>
                <a:gd name="connsiteY1" fmla="*/ 968289 h 2444653"/>
                <a:gd name="connsiteX2" fmla="*/ 1622892 w 1622892"/>
                <a:gd name="connsiteY2" fmla="*/ 2008935 h 2444653"/>
                <a:gd name="connsiteX3" fmla="*/ 0 w 1622892"/>
                <a:gd name="connsiteY3" fmla="*/ 2444653 h 2444653"/>
              </a:gdLst>
              <a:ahLst/>
              <a:cxnLst>
                <a:cxn ang="0">
                  <a:pos x="connsiteX0" y="connsiteY0"/>
                </a:cxn>
                <a:cxn ang="0">
                  <a:pos x="connsiteX1" y="connsiteY1"/>
                </a:cxn>
                <a:cxn ang="0">
                  <a:pos x="connsiteX2" y="connsiteY2"/>
                </a:cxn>
                <a:cxn ang="0">
                  <a:pos x="connsiteX3" y="connsiteY3"/>
                </a:cxn>
              </a:cxnLst>
              <a:rect l="l" t="t" r="r" b="b"/>
              <a:pathLst>
                <a:path w="1622892" h="2444653">
                  <a:moveTo>
                    <a:pt x="652542" y="0"/>
                  </a:moveTo>
                  <a:lnTo>
                    <a:pt x="1622892" y="968289"/>
                  </a:lnTo>
                  <a:lnTo>
                    <a:pt x="1622892" y="2008935"/>
                  </a:lnTo>
                  <a:lnTo>
                    <a:pt x="0" y="2444653"/>
                  </a:lnTo>
                  <a:close/>
                </a:path>
              </a:pathLst>
            </a:custGeom>
            <a:solidFill>
              <a:srgbClr val="B4B4B4"/>
            </a:solidFill>
            <a:ln w="9525" cap="flat">
              <a:noFill/>
              <a:prstDash val="solid"/>
              <a:miter/>
            </a:ln>
          </p:spPr>
          <p:txBody>
            <a:bodyPr rtlCol="0" anchor="ctr"/>
            <a:lstStyle/>
            <a:p>
              <a:endParaRPr lang="zh-CN" altLang="en-US"/>
            </a:p>
          </p:txBody>
        </p:sp>
        <p:sp>
          <p:nvSpPr>
            <p:cNvPr id="39" name="任意多边形: 形状 139">
              <a:extLst>
                <a:ext uri="{FF2B5EF4-FFF2-40B4-BE49-F238E27FC236}">
                  <a16:creationId xmlns:a16="http://schemas.microsoft.com/office/drawing/2014/main" id="{DF9E2CDB-F747-4283-B9FD-0DA2015F4517}"/>
                </a:ext>
              </a:extLst>
            </p:cNvPr>
            <p:cNvSpPr/>
            <p:nvPr/>
          </p:nvSpPr>
          <p:spPr>
            <a:xfrm>
              <a:off x="10569108" y="1843720"/>
              <a:ext cx="1622892" cy="888447"/>
            </a:xfrm>
            <a:custGeom>
              <a:avLst/>
              <a:gdLst>
                <a:gd name="connsiteX0" fmla="*/ 1114838 w 1622892"/>
                <a:gd name="connsiteY0" fmla="*/ 0 h 888447"/>
                <a:gd name="connsiteX1" fmla="*/ 1622892 w 1622892"/>
                <a:gd name="connsiteY1" fmla="*/ 88674 h 888447"/>
                <a:gd name="connsiteX2" fmla="*/ 1622892 w 1622892"/>
                <a:gd name="connsiteY2" fmla="*/ 452729 h 888447"/>
                <a:gd name="connsiteX3" fmla="*/ 0 w 1622892"/>
                <a:gd name="connsiteY3" fmla="*/ 888447 h 888447"/>
              </a:gdLst>
              <a:ahLst/>
              <a:cxnLst>
                <a:cxn ang="0">
                  <a:pos x="connsiteX0" y="connsiteY0"/>
                </a:cxn>
                <a:cxn ang="0">
                  <a:pos x="connsiteX1" y="connsiteY1"/>
                </a:cxn>
                <a:cxn ang="0">
                  <a:pos x="connsiteX2" y="connsiteY2"/>
                </a:cxn>
                <a:cxn ang="0">
                  <a:pos x="connsiteX3" y="connsiteY3"/>
                </a:cxn>
              </a:cxnLst>
              <a:rect l="l" t="t" r="r" b="b"/>
              <a:pathLst>
                <a:path w="1622892" h="888447">
                  <a:moveTo>
                    <a:pt x="1114838" y="0"/>
                  </a:moveTo>
                  <a:lnTo>
                    <a:pt x="1622892" y="88674"/>
                  </a:lnTo>
                  <a:lnTo>
                    <a:pt x="1622892" y="452729"/>
                  </a:lnTo>
                  <a:lnTo>
                    <a:pt x="0" y="888447"/>
                  </a:lnTo>
                  <a:close/>
                </a:path>
              </a:pathLst>
            </a:custGeom>
            <a:solidFill>
              <a:srgbClr val="D8D8D8"/>
            </a:solidFill>
            <a:ln w="9525" cap="flat">
              <a:noFill/>
              <a:prstDash val="solid"/>
              <a:miter/>
            </a:ln>
          </p:spPr>
          <p:txBody>
            <a:bodyPr rtlCol="0" anchor="ctr"/>
            <a:lstStyle/>
            <a:p>
              <a:endParaRPr lang="zh-CN" altLang="en-US"/>
            </a:p>
          </p:txBody>
        </p:sp>
        <p:sp>
          <p:nvSpPr>
            <p:cNvPr id="40" name="任意多边形: 形状 137">
              <a:extLst>
                <a:ext uri="{FF2B5EF4-FFF2-40B4-BE49-F238E27FC236}">
                  <a16:creationId xmlns:a16="http://schemas.microsoft.com/office/drawing/2014/main" id="{FBE8ED51-4463-4D5A-93B0-85FA65C21F09}"/>
                </a:ext>
              </a:extLst>
            </p:cNvPr>
            <p:cNvSpPr/>
            <p:nvPr/>
          </p:nvSpPr>
          <p:spPr>
            <a:xfrm>
              <a:off x="11221649" y="287512"/>
              <a:ext cx="970351" cy="1644881"/>
            </a:xfrm>
            <a:custGeom>
              <a:avLst/>
              <a:gdLst>
                <a:gd name="connsiteX0" fmla="*/ 0 w 970351"/>
                <a:gd name="connsiteY0" fmla="*/ 0 h 1644881"/>
                <a:gd name="connsiteX1" fmla="*/ 970351 w 970351"/>
                <a:gd name="connsiteY1" fmla="*/ 968290 h 1644881"/>
                <a:gd name="connsiteX2" fmla="*/ 970351 w 970351"/>
                <a:gd name="connsiteY2" fmla="*/ 1644881 h 1644881"/>
                <a:gd name="connsiteX3" fmla="*/ 462297 w 970351"/>
                <a:gd name="connsiteY3" fmla="*/ 1556208 h 1644881"/>
              </a:gdLst>
              <a:ahLst/>
              <a:cxnLst>
                <a:cxn ang="0">
                  <a:pos x="connsiteX0" y="connsiteY0"/>
                </a:cxn>
                <a:cxn ang="0">
                  <a:pos x="connsiteX1" y="connsiteY1"/>
                </a:cxn>
                <a:cxn ang="0">
                  <a:pos x="connsiteX2" y="connsiteY2"/>
                </a:cxn>
                <a:cxn ang="0">
                  <a:pos x="connsiteX3" y="connsiteY3"/>
                </a:cxn>
              </a:cxnLst>
              <a:rect l="l" t="t" r="r" b="b"/>
              <a:pathLst>
                <a:path w="970351" h="1644881">
                  <a:moveTo>
                    <a:pt x="0" y="0"/>
                  </a:moveTo>
                  <a:lnTo>
                    <a:pt x="970351" y="968290"/>
                  </a:lnTo>
                  <a:lnTo>
                    <a:pt x="970351" y="1644881"/>
                  </a:lnTo>
                  <a:lnTo>
                    <a:pt x="462297" y="1556208"/>
                  </a:lnTo>
                  <a:close/>
                </a:path>
              </a:pathLst>
            </a:custGeom>
            <a:solidFill>
              <a:srgbClr val="F0F0F0"/>
            </a:solidFill>
            <a:ln w="9525" cap="flat">
              <a:noFill/>
              <a:prstDash val="solid"/>
              <a:miter/>
            </a:ln>
          </p:spPr>
          <p:txBody>
            <a:bodyPr rtlCol="0" anchor="ctr"/>
            <a:lstStyle/>
            <a:p>
              <a:endParaRPr lang="zh-CN" altLang="en-US"/>
            </a:p>
          </p:txBody>
        </p:sp>
        <p:sp>
          <p:nvSpPr>
            <p:cNvPr id="41" name="任意多边形: 形状 9819">
              <a:extLst>
                <a:ext uri="{FF2B5EF4-FFF2-40B4-BE49-F238E27FC236}">
                  <a16:creationId xmlns:a16="http://schemas.microsoft.com/office/drawing/2014/main" id="{F341B9C7-FEFA-463D-82DE-D1042A71D192}"/>
                </a:ext>
              </a:extLst>
            </p:cNvPr>
            <p:cNvSpPr/>
            <p:nvPr/>
          </p:nvSpPr>
          <p:spPr>
            <a:xfrm>
              <a:off x="9774834" y="22121"/>
              <a:ext cx="1483914" cy="1483913"/>
            </a:xfrm>
            <a:custGeom>
              <a:avLst/>
              <a:gdLst>
                <a:gd name="connsiteX0" fmla="*/ 14268 w 1483913"/>
                <a:gd name="connsiteY0" fmla="*/ 398564 h 1483913"/>
                <a:gd name="connsiteX1" fmla="*/ 1479158 w 1483913"/>
                <a:gd name="connsiteY1" fmla="*/ 14268 h 1483913"/>
                <a:gd name="connsiteX2" fmla="*/ 1079642 w 1483913"/>
                <a:gd name="connsiteY2" fmla="*/ 1475353 h 1483913"/>
              </a:gdLst>
              <a:ahLst/>
              <a:cxnLst>
                <a:cxn ang="0">
                  <a:pos x="connsiteX0" y="connsiteY0"/>
                </a:cxn>
                <a:cxn ang="0">
                  <a:pos x="connsiteX1" y="connsiteY1"/>
                </a:cxn>
                <a:cxn ang="0">
                  <a:pos x="connsiteX2" y="connsiteY2"/>
                </a:cxn>
              </a:cxnLst>
              <a:rect l="l" t="t" r="r" b="b"/>
              <a:pathLst>
                <a:path w="1483913" h="1483913">
                  <a:moveTo>
                    <a:pt x="14268" y="398564"/>
                  </a:moveTo>
                  <a:lnTo>
                    <a:pt x="1479158" y="14268"/>
                  </a:lnTo>
                  <a:lnTo>
                    <a:pt x="1079642" y="1475353"/>
                  </a:lnTo>
                  <a:close/>
                </a:path>
              </a:pathLst>
            </a:custGeom>
            <a:solidFill>
              <a:srgbClr val="B4B4B4"/>
            </a:solidFill>
            <a:ln w="9525" cap="flat">
              <a:noFill/>
              <a:prstDash val="solid"/>
              <a:miter/>
            </a:ln>
          </p:spPr>
          <p:txBody>
            <a:bodyPr rtlCol="0" anchor="ctr"/>
            <a:lstStyle/>
            <a:p>
              <a:endParaRPr lang="zh-CN" altLang="en-US"/>
            </a:p>
          </p:txBody>
        </p:sp>
        <p:sp>
          <p:nvSpPr>
            <p:cNvPr id="42" name="任意多边形: 形状 9820">
              <a:extLst>
                <a:ext uri="{FF2B5EF4-FFF2-40B4-BE49-F238E27FC236}">
                  <a16:creationId xmlns:a16="http://schemas.microsoft.com/office/drawing/2014/main" id="{9878DE74-3C47-4F64-BD72-CAD242D68E5F}"/>
                </a:ext>
              </a:extLst>
            </p:cNvPr>
            <p:cNvSpPr/>
            <p:nvPr/>
          </p:nvSpPr>
          <p:spPr>
            <a:xfrm>
              <a:off x="9774834" y="22121"/>
              <a:ext cx="1483914" cy="551711"/>
            </a:xfrm>
            <a:custGeom>
              <a:avLst/>
              <a:gdLst>
                <a:gd name="connsiteX0" fmla="*/ 14268 w 1483913"/>
                <a:gd name="connsiteY0" fmla="*/ 398564 h 551711"/>
                <a:gd name="connsiteX1" fmla="*/ 1479158 w 1483913"/>
                <a:gd name="connsiteY1" fmla="*/ 14268 h 551711"/>
                <a:gd name="connsiteX2" fmla="*/ 809494 w 1483913"/>
                <a:gd name="connsiteY2" fmla="*/ 541248 h 551711"/>
              </a:gdLst>
              <a:ahLst/>
              <a:cxnLst>
                <a:cxn ang="0">
                  <a:pos x="connsiteX0" y="connsiteY0"/>
                </a:cxn>
                <a:cxn ang="0">
                  <a:pos x="connsiteX1" y="connsiteY1"/>
                </a:cxn>
                <a:cxn ang="0">
                  <a:pos x="connsiteX2" y="connsiteY2"/>
                </a:cxn>
              </a:cxnLst>
              <a:rect l="l" t="t" r="r" b="b"/>
              <a:pathLst>
                <a:path w="1483913" h="551711">
                  <a:moveTo>
                    <a:pt x="14268" y="398564"/>
                  </a:moveTo>
                  <a:lnTo>
                    <a:pt x="1479158" y="14268"/>
                  </a:lnTo>
                  <a:lnTo>
                    <a:pt x="809494" y="541248"/>
                  </a:lnTo>
                  <a:close/>
                </a:path>
              </a:pathLst>
            </a:custGeom>
            <a:solidFill>
              <a:srgbClr val="F0F0F0"/>
            </a:solidFill>
            <a:ln w="9525" cap="flat">
              <a:noFill/>
              <a:prstDash val="solid"/>
              <a:miter/>
            </a:ln>
          </p:spPr>
          <p:txBody>
            <a:bodyPr rtlCol="0" anchor="ctr"/>
            <a:lstStyle/>
            <a:p>
              <a:endParaRPr lang="zh-CN" altLang="en-US"/>
            </a:p>
          </p:txBody>
        </p:sp>
        <p:sp>
          <p:nvSpPr>
            <p:cNvPr id="43" name="任意多边形: 形状 9822">
              <a:extLst>
                <a:ext uri="{FF2B5EF4-FFF2-40B4-BE49-F238E27FC236}">
                  <a16:creationId xmlns:a16="http://schemas.microsoft.com/office/drawing/2014/main" id="{B0812A02-7B92-4DEA-9683-82A1B285267D}"/>
                </a:ext>
              </a:extLst>
            </p:cNvPr>
            <p:cNvSpPr/>
            <p:nvPr/>
          </p:nvSpPr>
          <p:spPr>
            <a:xfrm>
              <a:off x="10570059" y="22121"/>
              <a:ext cx="684883" cy="1483913"/>
            </a:xfrm>
            <a:custGeom>
              <a:avLst/>
              <a:gdLst>
                <a:gd name="connsiteX0" fmla="*/ 284417 w 684883"/>
                <a:gd name="connsiteY0" fmla="*/ 1475353 h 1483913"/>
                <a:gd name="connsiteX1" fmla="*/ 683932 w 684883"/>
                <a:gd name="connsiteY1" fmla="*/ 14268 h 1483913"/>
                <a:gd name="connsiteX2" fmla="*/ 14268 w 684883"/>
                <a:gd name="connsiteY2" fmla="*/ 541248 h 1483913"/>
              </a:gdLst>
              <a:ahLst/>
              <a:cxnLst>
                <a:cxn ang="0">
                  <a:pos x="connsiteX0" y="connsiteY0"/>
                </a:cxn>
                <a:cxn ang="0">
                  <a:pos x="connsiteX1" y="connsiteY1"/>
                </a:cxn>
                <a:cxn ang="0">
                  <a:pos x="connsiteX2" y="connsiteY2"/>
                </a:cxn>
              </a:cxnLst>
              <a:rect l="l" t="t" r="r" b="b"/>
              <a:pathLst>
                <a:path w="684883" h="1483913">
                  <a:moveTo>
                    <a:pt x="284417" y="1475353"/>
                  </a:moveTo>
                  <a:lnTo>
                    <a:pt x="683932" y="14268"/>
                  </a:lnTo>
                  <a:lnTo>
                    <a:pt x="14268" y="541248"/>
                  </a:lnTo>
                  <a:close/>
                </a:path>
              </a:pathLst>
            </a:custGeom>
            <a:solidFill>
              <a:srgbClr val="D8D8D8"/>
            </a:solidFill>
            <a:ln w="9525" cap="flat">
              <a:noFill/>
              <a:prstDash val="solid"/>
              <a:miter/>
            </a:ln>
          </p:spPr>
          <p:txBody>
            <a:bodyPr rtlCol="0" anchor="ctr"/>
            <a:lstStyle/>
            <a:p>
              <a:endParaRPr lang="zh-CN" altLang="en-US"/>
            </a:p>
          </p:txBody>
        </p:sp>
        <p:sp>
          <p:nvSpPr>
            <p:cNvPr id="44" name="任意多边形: 形状 31">
              <a:extLst>
                <a:ext uri="{FF2B5EF4-FFF2-40B4-BE49-F238E27FC236}">
                  <a16:creationId xmlns:a16="http://schemas.microsoft.com/office/drawing/2014/main" id="{62213F4B-3D8F-4CE2-9902-6D9838165829}"/>
                </a:ext>
              </a:extLst>
            </p:cNvPr>
            <p:cNvSpPr/>
            <p:nvPr/>
          </p:nvSpPr>
          <p:spPr>
            <a:xfrm>
              <a:off x="11255993" y="2353409"/>
              <a:ext cx="932202" cy="932202"/>
            </a:xfrm>
            <a:custGeom>
              <a:avLst/>
              <a:gdLst>
                <a:gd name="connsiteX0" fmla="*/ 687737 w 932202"/>
                <a:gd name="connsiteY0" fmla="*/ 933153 h 932202"/>
                <a:gd name="connsiteX1" fmla="*/ 14268 w 932202"/>
                <a:gd name="connsiteY1" fmla="*/ 261587 h 932202"/>
                <a:gd name="connsiteX2" fmla="*/ 933154 w 932202"/>
                <a:gd name="connsiteY2" fmla="*/ 14268 h 932202"/>
              </a:gdLst>
              <a:ahLst/>
              <a:cxnLst>
                <a:cxn ang="0">
                  <a:pos x="connsiteX0" y="connsiteY0"/>
                </a:cxn>
                <a:cxn ang="0">
                  <a:pos x="connsiteX1" y="connsiteY1"/>
                </a:cxn>
                <a:cxn ang="0">
                  <a:pos x="connsiteX2" y="connsiteY2"/>
                </a:cxn>
              </a:cxnLst>
              <a:rect l="l" t="t" r="r" b="b"/>
              <a:pathLst>
                <a:path w="932202" h="932202">
                  <a:moveTo>
                    <a:pt x="687737" y="933153"/>
                  </a:moveTo>
                  <a:lnTo>
                    <a:pt x="14268" y="261587"/>
                  </a:lnTo>
                  <a:lnTo>
                    <a:pt x="933154" y="14268"/>
                  </a:lnTo>
                  <a:close/>
                </a:path>
              </a:pathLst>
            </a:custGeom>
            <a:solidFill>
              <a:srgbClr val="B4B4B4"/>
            </a:solidFill>
            <a:ln w="9525" cap="flat">
              <a:noFill/>
              <a:prstDash val="solid"/>
              <a:miter/>
            </a:ln>
          </p:spPr>
          <p:txBody>
            <a:bodyPr rtlCol="0" anchor="ctr"/>
            <a:lstStyle/>
            <a:p>
              <a:endParaRPr lang="zh-CN" altLang="en-US"/>
            </a:p>
          </p:txBody>
        </p:sp>
        <p:sp>
          <p:nvSpPr>
            <p:cNvPr id="45" name="任意多边形: 形状 32">
              <a:extLst>
                <a:ext uri="{FF2B5EF4-FFF2-40B4-BE49-F238E27FC236}">
                  <a16:creationId xmlns:a16="http://schemas.microsoft.com/office/drawing/2014/main" id="{48E3B64C-E8DE-46B2-B215-E9A88A283AEF}"/>
                </a:ext>
              </a:extLst>
            </p:cNvPr>
            <p:cNvSpPr/>
            <p:nvPr/>
          </p:nvSpPr>
          <p:spPr>
            <a:xfrm>
              <a:off x="11255993" y="2600728"/>
              <a:ext cx="684883" cy="684883"/>
            </a:xfrm>
            <a:custGeom>
              <a:avLst/>
              <a:gdLst>
                <a:gd name="connsiteX0" fmla="*/ 687737 w 684883"/>
                <a:gd name="connsiteY0" fmla="*/ 685834 h 684883"/>
                <a:gd name="connsiteX1" fmla="*/ 14268 w 684883"/>
                <a:gd name="connsiteY1" fmla="*/ 14268 h 684883"/>
                <a:gd name="connsiteX2" fmla="*/ 512711 w 684883"/>
                <a:gd name="connsiteY2" fmla="*/ 210221 h 684883"/>
              </a:gdLst>
              <a:ahLst/>
              <a:cxnLst>
                <a:cxn ang="0">
                  <a:pos x="connsiteX0" y="connsiteY0"/>
                </a:cxn>
                <a:cxn ang="0">
                  <a:pos x="connsiteX1" y="connsiteY1"/>
                </a:cxn>
                <a:cxn ang="0">
                  <a:pos x="connsiteX2" y="connsiteY2"/>
                </a:cxn>
              </a:cxnLst>
              <a:rect l="l" t="t" r="r" b="b"/>
              <a:pathLst>
                <a:path w="684883" h="684883">
                  <a:moveTo>
                    <a:pt x="687737" y="685834"/>
                  </a:moveTo>
                  <a:lnTo>
                    <a:pt x="14268" y="14268"/>
                  </a:lnTo>
                  <a:lnTo>
                    <a:pt x="512711" y="210221"/>
                  </a:lnTo>
                  <a:close/>
                </a:path>
              </a:pathLst>
            </a:custGeom>
            <a:solidFill>
              <a:srgbClr val="F0F0F0"/>
            </a:solidFill>
            <a:ln w="9525" cap="flat">
              <a:noFill/>
              <a:prstDash val="solid"/>
              <a:miter/>
            </a:ln>
          </p:spPr>
          <p:txBody>
            <a:bodyPr rtlCol="0" anchor="ctr"/>
            <a:lstStyle/>
            <a:p>
              <a:endParaRPr lang="zh-CN" altLang="en-US"/>
            </a:p>
          </p:txBody>
        </p:sp>
        <p:sp>
          <p:nvSpPr>
            <p:cNvPr id="46" name="任意多边形: 形状 33">
              <a:extLst>
                <a:ext uri="{FF2B5EF4-FFF2-40B4-BE49-F238E27FC236}">
                  <a16:creationId xmlns:a16="http://schemas.microsoft.com/office/drawing/2014/main" id="{927F048F-3C99-4074-9A69-F88460B27E30}"/>
                </a:ext>
              </a:extLst>
            </p:cNvPr>
            <p:cNvSpPr/>
            <p:nvPr/>
          </p:nvSpPr>
          <p:spPr>
            <a:xfrm>
              <a:off x="11754436" y="2353409"/>
              <a:ext cx="437564" cy="932202"/>
            </a:xfrm>
            <a:custGeom>
              <a:avLst/>
              <a:gdLst>
                <a:gd name="connsiteX0" fmla="*/ 189294 w 437564"/>
                <a:gd name="connsiteY0" fmla="*/ 933153 h 932202"/>
                <a:gd name="connsiteX1" fmla="*/ 434711 w 437564"/>
                <a:gd name="connsiteY1" fmla="*/ 14268 h 932202"/>
                <a:gd name="connsiteX2" fmla="*/ 14268 w 437564"/>
                <a:gd name="connsiteY2" fmla="*/ 457540 h 932202"/>
              </a:gdLst>
              <a:ahLst/>
              <a:cxnLst>
                <a:cxn ang="0">
                  <a:pos x="connsiteX0" y="connsiteY0"/>
                </a:cxn>
                <a:cxn ang="0">
                  <a:pos x="connsiteX1" y="connsiteY1"/>
                </a:cxn>
                <a:cxn ang="0">
                  <a:pos x="connsiteX2" y="connsiteY2"/>
                </a:cxn>
              </a:cxnLst>
              <a:rect l="l" t="t" r="r" b="b"/>
              <a:pathLst>
                <a:path w="437564" h="932202">
                  <a:moveTo>
                    <a:pt x="189294" y="933153"/>
                  </a:moveTo>
                  <a:lnTo>
                    <a:pt x="434711" y="14268"/>
                  </a:lnTo>
                  <a:lnTo>
                    <a:pt x="14268" y="457540"/>
                  </a:lnTo>
                  <a:close/>
                </a:path>
              </a:pathLst>
            </a:custGeom>
            <a:solidFill>
              <a:srgbClr val="D8D8D8"/>
            </a:solidFill>
            <a:ln w="9525" cap="flat">
              <a:noFill/>
              <a:prstDash val="solid"/>
              <a:miter/>
            </a:ln>
          </p:spPr>
          <p:txBody>
            <a:bodyPr rtlCol="0" anchor="ctr"/>
            <a:lstStyle/>
            <a:p>
              <a:endParaRPr lang="zh-CN" altLang="en-US"/>
            </a:p>
          </p:txBody>
        </p:sp>
        <p:sp>
          <p:nvSpPr>
            <p:cNvPr id="47" name="任意多边形: 形状 130">
              <a:extLst>
                <a:ext uri="{FF2B5EF4-FFF2-40B4-BE49-F238E27FC236}">
                  <a16:creationId xmlns:a16="http://schemas.microsoft.com/office/drawing/2014/main" id="{74D9498E-2BA6-44E4-B3FB-A6DA8DBFE96D}"/>
                </a:ext>
              </a:extLst>
            </p:cNvPr>
            <p:cNvSpPr/>
            <p:nvPr/>
          </p:nvSpPr>
          <p:spPr>
            <a:xfrm>
              <a:off x="11231161" y="0"/>
              <a:ext cx="236678" cy="251368"/>
            </a:xfrm>
            <a:custGeom>
              <a:avLst/>
              <a:gdLst>
                <a:gd name="connsiteX0" fmla="*/ 65797 w 236678"/>
                <a:gd name="connsiteY0" fmla="*/ 0 h 251368"/>
                <a:gd name="connsiteX1" fmla="*/ 236678 w 236678"/>
                <a:gd name="connsiteY1" fmla="*/ 0 h 251368"/>
                <a:gd name="connsiteX2" fmla="*/ 0 w 236678"/>
                <a:gd name="connsiteY2" fmla="*/ 251368 h 251368"/>
              </a:gdLst>
              <a:ahLst/>
              <a:cxnLst>
                <a:cxn ang="0">
                  <a:pos x="connsiteX0" y="connsiteY0"/>
                </a:cxn>
                <a:cxn ang="0">
                  <a:pos x="connsiteX1" y="connsiteY1"/>
                </a:cxn>
                <a:cxn ang="0">
                  <a:pos x="connsiteX2" y="connsiteY2"/>
                </a:cxn>
              </a:cxnLst>
              <a:rect l="l" t="t" r="r" b="b"/>
              <a:pathLst>
                <a:path w="236678" h="251368">
                  <a:moveTo>
                    <a:pt x="65797" y="0"/>
                  </a:moveTo>
                  <a:lnTo>
                    <a:pt x="236678" y="0"/>
                  </a:lnTo>
                  <a:lnTo>
                    <a:pt x="0" y="251368"/>
                  </a:lnTo>
                  <a:close/>
                </a:path>
              </a:pathLst>
            </a:custGeom>
            <a:solidFill>
              <a:schemeClr val="accent3"/>
            </a:solidFill>
            <a:ln w="9525" cap="flat">
              <a:noFill/>
              <a:prstDash val="solid"/>
              <a:miter/>
            </a:ln>
          </p:spPr>
          <p:txBody>
            <a:bodyPr rtlCol="0" anchor="ctr"/>
            <a:lstStyle/>
            <a:p>
              <a:endParaRPr lang="zh-CN" altLang="en-US"/>
            </a:p>
          </p:txBody>
        </p:sp>
        <p:sp>
          <p:nvSpPr>
            <p:cNvPr id="48" name="任意多边形: 形状 128">
              <a:extLst>
                <a:ext uri="{FF2B5EF4-FFF2-40B4-BE49-F238E27FC236}">
                  <a16:creationId xmlns:a16="http://schemas.microsoft.com/office/drawing/2014/main" id="{EA738A62-D78C-4250-B583-C8A7EC8F6874}"/>
                </a:ext>
              </a:extLst>
            </p:cNvPr>
            <p:cNvSpPr/>
            <p:nvPr/>
          </p:nvSpPr>
          <p:spPr>
            <a:xfrm>
              <a:off x="11231161" y="0"/>
              <a:ext cx="918787" cy="251366"/>
            </a:xfrm>
            <a:custGeom>
              <a:avLst/>
              <a:gdLst>
                <a:gd name="connsiteX0" fmla="*/ 236676 w 918787"/>
                <a:gd name="connsiteY0" fmla="*/ 0 h 251366"/>
                <a:gd name="connsiteX1" fmla="*/ 918787 w 918787"/>
                <a:gd name="connsiteY1" fmla="*/ 0 h 251366"/>
                <a:gd name="connsiteX2" fmla="*/ 0 w 918787"/>
                <a:gd name="connsiteY2" fmla="*/ 251366 h 251366"/>
              </a:gdLst>
              <a:ahLst/>
              <a:cxnLst>
                <a:cxn ang="0">
                  <a:pos x="connsiteX0" y="connsiteY0"/>
                </a:cxn>
                <a:cxn ang="0">
                  <a:pos x="connsiteX1" y="connsiteY1"/>
                </a:cxn>
                <a:cxn ang="0">
                  <a:pos x="connsiteX2" y="connsiteY2"/>
                </a:cxn>
              </a:cxnLst>
              <a:rect l="l" t="t" r="r" b="b"/>
              <a:pathLst>
                <a:path w="918787" h="251366">
                  <a:moveTo>
                    <a:pt x="236676" y="0"/>
                  </a:moveTo>
                  <a:lnTo>
                    <a:pt x="918787" y="0"/>
                  </a:lnTo>
                  <a:lnTo>
                    <a:pt x="0" y="251366"/>
                  </a:lnTo>
                  <a:close/>
                </a:path>
              </a:pathLst>
            </a:custGeom>
            <a:solidFill>
              <a:schemeClr val="accent1"/>
            </a:solidFill>
            <a:ln w="9525" cap="flat">
              <a:noFill/>
              <a:prstDash val="solid"/>
              <a:miter/>
            </a:ln>
          </p:spPr>
          <p:txBody>
            <a:bodyPr rtlCol="0" anchor="ctr"/>
            <a:lstStyle/>
            <a:p>
              <a:endParaRPr lang="zh-CN" altLang="en-US"/>
            </a:p>
          </p:txBody>
        </p:sp>
        <p:sp>
          <p:nvSpPr>
            <p:cNvPr id="49" name="任意多边形: 形状 133">
              <a:extLst>
                <a:ext uri="{FF2B5EF4-FFF2-40B4-BE49-F238E27FC236}">
                  <a16:creationId xmlns:a16="http://schemas.microsoft.com/office/drawing/2014/main" id="{D2A5CA47-5484-4C28-8EE0-85A4E455BDEC}"/>
                </a:ext>
              </a:extLst>
            </p:cNvPr>
            <p:cNvSpPr/>
            <p:nvPr userDrawn="1"/>
          </p:nvSpPr>
          <p:spPr>
            <a:xfrm>
              <a:off x="11253991" y="12283"/>
              <a:ext cx="938009" cy="1013382"/>
            </a:xfrm>
            <a:custGeom>
              <a:avLst/>
              <a:gdLst>
                <a:gd name="connsiteX0" fmla="*/ 938009 w 938009"/>
                <a:gd name="connsiteY0" fmla="*/ 0 h 1013382"/>
                <a:gd name="connsiteX1" fmla="*/ 938009 w 938009"/>
                <a:gd name="connsiteY1" fmla="*/ 351444 h 1013382"/>
                <a:gd name="connsiteX2" fmla="*/ 768592 w 938009"/>
                <a:gd name="connsiteY2" fmla="*/ 1013382 h 1013382"/>
                <a:gd name="connsiteX3" fmla="*/ 0 w 938009"/>
                <a:gd name="connsiteY3" fmla="*/ 263815 h 1013382"/>
              </a:gdLst>
              <a:ahLst/>
              <a:cxnLst>
                <a:cxn ang="0">
                  <a:pos x="connsiteX0" y="connsiteY0"/>
                </a:cxn>
                <a:cxn ang="0">
                  <a:pos x="connsiteX1" y="connsiteY1"/>
                </a:cxn>
                <a:cxn ang="0">
                  <a:pos x="connsiteX2" y="connsiteY2"/>
                </a:cxn>
                <a:cxn ang="0">
                  <a:pos x="connsiteX3" y="connsiteY3"/>
                </a:cxn>
              </a:cxnLst>
              <a:rect l="l" t="t" r="r" b="b"/>
              <a:pathLst>
                <a:path w="938009" h="1013382">
                  <a:moveTo>
                    <a:pt x="938009" y="0"/>
                  </a:moveTo>
                  <a:lnTo>
                    <a:pt x="938009" y="351444"/>
                  </a:lnTo>
                  <a:lnTo>
                    <a:pt x="768592" y="1013382"/>
                  </a:lnTo>
                  <a:lnTo>
                    <a:pt x="0" y="263815"/>
                  </a:lnTo>
                  <a:close/>
                </a:path>
              </a:pathLst>
            </a:custGeom>
            <a:solidFill>
              <a:schemeClr val="accent1"/>
            </a:solidFill>
            <a:ln w="9525" cap="flat">
              <a:noFill/>
              <a:prstDash val="solid"/>
              <a:miter/>
            </a:ln>
          </p:spPr>
          <p:txBody>
            <a:bodyPr rtlCol="0" anchor="ctr"/>
            <a:lstStyle/>
            <a:p>
              <a:endParaRPr lang="zh-CN" altLang="en-US"/>
            </a:p>
          </p:txBody>
        </p:sp>
        <p:sp>
          <p:nvSpPr>
            <p:cNvPr id="50" name="任意多边形: 形状 134">
              <a:extLst>
                <a:ext uri="{FF2B5EF4-FFF2-40B4-BE49-F238E27FC236}">
                  <a16:creationId xmlns:a16="http://schemas.microsoft.com/office/drawing/2014/main" id="{1858AD30-FC4D-4A4A-B365-5F476D5CE41D}"/>
                </a:ext>
              </a:extLst>
            </p:cNvPr>
            <p:cNvSpPr/>
            <p:nvPr/>
          </p:nvSpPr>
          <p:spPr>
            <a:xfrm>
              <a:off x="11253991" y="12283"/>
              <a:ext cx="938009" cy="416012"/>
            </a:xfrm>
            <a:custGeom>
              <a:avLst/>
              <a:gdLst>
                <a:gd name="connsiteX0" fmla="*/ 938009 w 938009"/>
                <a:gd name="connsiteY0" fmla="*/ 0 h 416012"/>
                <a:gd name="connsiteX1" fmla="*/ 938009 w 938009"/>
                <a:gd name="connsiteY1" fmla="*/ 90979 h 416012"/>
                <a:gd name="connsiteX2" fmla="*/ 671567 w 938009"/>
                <a:gd name="connsiteY2" fmla="*/ 416012 h 416012"/>
                <a:gd name="connsiteX3" fmla="*/ 0 w 938009"/>
                <a:gd name="connsiteY3" fmla="*/ 263816 h 416012"/>
              </a:gdLst>
              <a:ahLst/>
              <a:cxnLst>
                <a:cxn ang="0">
                  <a:pos x="connsiteX0" y="connsiteY0"/>
                </a:cxn>
                <a:cxn ang="0">
                  <a:pos x="connsiteX1" y="connsiteY1"/>
                </a:cxn>
                <a:cxn ang="0">
                  <a:pos x="connsiteX2" y="connsiteY2"/>
                </a:cxn>
                <a:cxn ang="0">
                  <a:pos x="connsiteX3" y="connsiteY3"/>
                </a:cxn>
              </a:cxnLst>
              <a:rect l="l" t="t" r="r" b="b"/>
              <a:pathLst>
                <a:path w="938009" h="416012">
                  <a:moveTo>
                    <a:pt x="938009" y="0"/>
                  </a:moveTo>
                  <a:lnTo>
                    <a:pt x="938009" y="90979"/>
                  </a:lnTo>
                  <a:lnTo>
                    <a:pt x="671567" y="416012"/>
                  </a:lnTo>
                  <a:lnTo>
                    <a:pt x="0" y="263816"/>
                  </a:lnTo>
                  <a:close/>
                </a:path>
              </a:pathLst>
            </a:custGeom>
            <a:solidFill>
              <a:schemeClr val="accent3"/>
            </a:solid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E372FD86-9F7A-45A6-90F6-B07D7A2080EC}"/>
                </a:ext>
              </a:extLst>
            </p:cNvPr>
            <p:cNvSpPr/>
            <p:nvPr/>
          </p:nvSpPr>
          <p:spPr>
            <a:xfrm>
              <a:off x="11239723" y="261830"/>
              <a:ext cx="780006" cy="760981"/>
            </a:xfrm>
            <a:custGeom>
              <a:avLst/>
              <a:gdLst>
                <a:gd name="connsiteX0" fmla="*/ 14268 w 780005"/>
                <a:gd name="connsiteY0" fmla="*/ 14268 h 760981"/>
                <a:gd name="connsiteX1" fmla="*/ 782860 w 780005"/>
                <a:gd name="connsiteY1" fmla="*/ 763835 h 760981"/>
                <a:gd name="connsiteX2" fmla="*/ 685835 w 780005"/>
                <a:gd name="connsiteY2" fmla="*/ 166465 h 760981"/>
              </a:gdLst>
              <a:ahLst/>
              <a:cxnLst>
                <a:cxn ang="0">
                  <a:pos x="connsiteX0" y="connsiteY0"/>
                </a:cxn>
                <a:cxn ang="0">
                  <a:pos x="connsiteX1" y="connsiteY1"/>
                </a:cxn>
                <a:cxn ang="0">
                  <a:pos x="connsiteX2" y="connsiteY2"/>
                </a:cxn>
              </a:cxnLst>
              <a:rect l="l" t="t" r="r" b="b"/>
              <a:pathLst>
                <a:path w="780005" h="760981">
                  <a:moveTo>
                    <a:pt x="14268" y="14268"/>
                  </a:moveTo>
                  <a:lnTo>
                    <a:pt x="782860" y="763835"/>
                  </a:lnTo>
                  <a:lnTo>
                    <a:pt x="685835" y="166465"/>
                  </a:lnTo>
                  <a:close/>
                </a:path>
              </a:pathLst>
            </a:custGeom>
            <a:solidFill>
              <a:schemeClr val="accent2"/>
            </a:solidFill>
            <a:ln w="9525" cap="flat">
              <a:noFill/>
              <a:prstDash val="solid"/>
              <a:miter/>
            </a:ln>
          </p:spPr>
          <p:txBody>
            <a:bodyPr rtlCol="0" anchor="ctr"/>
            <a:lstStyle/>
            <a:p>
              <a:endParaRPr lang="zh-CN" altLang="en-US"/>
            </a:p>
          </p:txBody>
        </p:sp>
      </p:grpSp>
      <p:sp>
        <p:nvSpPr>
          <p:cNvPr id="52" name="标题 1"/>
          <p:cNvSpPr>
            <a:spLocks noGrp="1"/>
          </p:cNvSpPr>
          <p:nvPr>
            <p:ph type="ctrTitle"/>
          </p:nvPr>
        </p:nvSpPr>
        <p:spPr>
          <a:xfrm>
            <a:off x="4405746" y="2175164"/>
            <a:ext cx="6877626" cy="1528893"/>
          </a:xfr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53" name="副标题 2"/>
          <p:cNvSpPr>
            <a:spLocks noGrp="1"/>
          </p:cNvSpPr>
          <p:nvPr>
            <p:ph type="subTitle" idx="1" hasCustomPrompt="1"/>
          </p:nvPr>
        </p:nvSpPr>
        <p:spPr>
          <a:xfrm>
            <a:off x="4405746" y="3704057"/>
            <a:ext cx="6877626" cy="558799"/>
          </a:xfrm>
          <a:ln>
            <a:solidFill>
              <a:schemeClr val="accent1"/>
            </a:solidFill>
          </a:ln>
        </p:spPr>
        <p:txBody>
          <a:bodyPr anchor="ctr">
            <a:normAutofit/>
          </a:bodyPr>
          <a:lstStyle>
            <a:lvl1pPr marL="0" indent="0" algn="l">
              <a:buNone/>
              <a:defRPr sz="200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FRM</a:t>
            </a:r>
            <a:r>
              <a:rPr lang="zh-CN" altLang="en-US" dirty="0"/>
              <a:t>一级培训讲义</a:t>
            </a:r>
            <a:endParaRPr lang="en-US" dirty="0"/>
          </a:p>
        </p:txBody>
      </p:sp>
      <p:sp>
        <p:nvSpPr>
          <p:cNvPr id="54" name="文本占位符 13"/>
          <p:cNvSpPr>
            <a:spLocks noGrp="1"/>
          </p:cNvSpPr>
          <p:nvPr>
            <p:ph type="body" sz="quarter" idx="10" hasCustomPrompt="1"/>
          </p:nvPr>
        </p:nvSpPr>
        <p:spPr>
          <a:xfrm>
            <a:off x="4405746" y="4677656"/>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5" name="文本占位符 13"/>
          <p:cNvSpPr>
            <a:spLocks noGrp="1"/>
          </p:cNvSpPr>
          <p:nvPr>
            <p:ph type="body" sz="quarter" idx="11" hasCustomPrompt="1"/>
          </p:nvPr>
        </p:nvSpPr>
        <p:spPr>
          <a:xfrm>
            <a:off x="4405746" y="4973927"/>
            <a:ext cx="6877626" cy="296271"/>
          </a:xfrm>
          <a:ln>
            <a:solidFill>
              <a:schemeClr val="accent1"/>
            </a:solidFill>
          </a:ln>
        </p:spPr>
        <p:txBody>
          <a:bodyPr vert="horz" anchor="ctr">
            <a:noAutofit/>
          </a:bodyPr>
          <a:lstStyle>
            <a:lvl1pPr marL="0" indent="0" algn="l">
              <a:buNone/>
              <a:defRPr sz="15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659357406"/>
      </p:ext>
    </p:extLst>
  </p:cSld>
  <p:clrMapOvr>
    <a:masterClrMapping/>
  </p:clrMapOvr>
  <p:extLst mod="1">
    <p:ext uri="{DCECCB84-F9BA-43D5-87BE-67443E8EF086}">
      <p15:sldGuideLst xmlns:p15="http://schemas.microsoft.com/office/powerpoint/2012/main">
        <p15:guide id="1" orient="horz" pos="1892">
          <p15:clr>
            <a:srgbClr val="FBAE40"/>
          </p15:clr>
        </p15:guide>
        <p15:guide id="2" pos="55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17503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58917"/>
            <a:ext cx="9264352" cy="0"/>
          </a:xfrm>
          <a:prstGeom prst="line">
            <a:avLst/>
          </a:prstGeom>
          <a:noFill/>
          <a:ln w="38100">
            <a:solidFill>
              <a:schemeClr val="accent3"/>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a:noFill/>
        </p:spPr>
        <p:txBody>
          <a:bodyPr/>
          <a:lstStyle>
            <a:lvl1pPr marL="457189" indent="-457189" algn="l" defTabSz="1219170" rtl="0" eaLnBrk="1" latinLnBrk="0" hangingPunct="1">
              <a:lnSpc>
                <a:spcPct val="120000"/>
              </a:lnSpc>
              <a:spcBef>
                <a:spcPts val="0"/>
              </a:spcBef>
              <a:buFont typeface="Wingdings" panose="05000000000000000000" pitchFamily="2" charset="2"/>
              <a:buChar char="Ø"/>
              <a:defRPr lang="zh-CN" altLang="en-US" sz="2400" b="1" i="0" kern="1200" baseline="0" dirty="0" smtClean="0">
                <a:solidFill>
                  <a:schemeClr val="accent6">
                    <a:lumMod val="75000"/>
                  </a:schemeClr>
                </a:solidFill>
                <a:latin typeface="+mn-lt"/>
                <a:ea typeface="+mn-ea"/>
                <a:cs typeface="+mn-ea"/>
              </a:defRPr>
            </a:lvl1pPr>
            <a:lvl2pPr marL="990575" indent="-380990">
              <a:lnSpc>
                <a:spcPct val="120000"/>
              </a:lnSpc>
              <a:spcBef>
                <a:spcPts val="0"/>
              </a:spcBef>
              <a:defRPr lang="zh-CN" altLang="en-US" sz="2400" kern="1200" baseline="0" dirty="0" smtClean="0">
                <a:solidFill>
                  <a:schemeClr val="tx1"/>
                </a:solidFill>
                <a:latin typeface="+mn-lt"/>
                <a:ea typeface="+mn-ea"/>
                <a:cs typeface="+mn-ea"/>
              </a:defRPr>
            </a:lvl2pPr>
          </a:lstStyle>
          <a:p>
            <a:pPr lvl="0"/>
            <a:r>
              <a:rPr lang="zh-CN" altLang="en-US" dirty="0"/>
              <a:t>编辑母版文本样式</a:t>
            </a:r>
          </a:p>
          <a:p>
            <a:pPr marL="990575" lvl="1" indent="-380990" algn="l" defTabSz="1219170" rtl="0" eaLnBrk="1" latinLnBrk="0" hangingPunct="1">
              <a:lnSpc>
                <a:spcPct val="120000"/>
              </a:lnSpc>
              <a:spcBef>
                <a:spcPts val="0"/>
              </a:spcBef>
              <a:buFont typeface="Arial" panose="020B0604020202020204" pitchFamily="34" charset="0"/>
              <a:buChar char="•"/>
            </a:pPr>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3071833235"/>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知识点页">
    <p:spTree>
      <p:nvGrpSpPr>
        <p:cNvPr id="1" name=""/>
        <p:cNvGrpSpPr/>
        <p:nvPr/>
      </p:nvGrpSpPr>
      <p:grpSpPr>
        <a:xfrm>
          <a:off x="0" y="0"/>
          <a:ext cx="0" cy="0"/>
          <a:chOff x="0" y="0"/>
          <a:chExt cx="0" cy="0"/>
        </a:xfrm>
      </p:grpSpPr>
      <p:sp>
        <p:nvSpPr>
          <p:cNvPr id="7" name="Freeform 5">
            <a:extLst>
              <a:ext uri="{FF2B5EF4-FFF2-40B4-BE49-F238E27FC236}">
                <a16:creationId xmlns:a16="http://schemas.microsoft.com/office/drawing/2014/main" id="{433B396D-7790-42BC-AF50-047D0B0821F6}"/>
              </a:ext>
            </a:extLst>
          </p:cNvPr>
          <p:cNvSpPr>
            <a:spLocks/>
          </p:cNvSpPr>
          <p:nvPr userDrawn="1"/>
        </p:nvSpPr>
        <p:spPr bwMode="auto">
          <a:xfrm>
            <a:off x="2948458" y="1744663"/>
            <a:ext cx="1887538" cy="1633538"/>
          </a:xfrm>
          <a:custGeom>
            <a:avLst/>
            <a:gdLst>
              <a:gd name="T0" fmla="*/ 891 w 1189"/>
              <a:gd name="T1" fmla="*/ 0 h 1029"/>
              <a:gd name="T2" fmla="*/ 298 w 1189"/>
              <a:gd name="T3" fmla="*/ 0 h 1029"/>
              <a:gd name="T4" fmla="*/ 0 w 1189"/>
              <a:gd name="T5" fmla="*/ 515 h 1029"/>
              <a:gd name="T6" fmla="*/ 298 w 1189"/>
              <a:gd name="T7" fmla="*/ 1029 h 1029"/>
              <a:gd name="T8" fmla="*/ 891 w 1189"/>
              <a:gd name="T9" fmla="*/ 1029 h 1029"/>
              <a:gd name="T10" fmla="*/ 1189 w 1189"/>
              <a:gd name="T11" fmla="*/ 515 h 1029"/>
              <a:gd name="T12" fmla="*/ 891 w 1189"/>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9" h="1029">
                <a:moveTo>
                  <a:pt x="891" y="0"/>
                </a:moveTo>
                <a:lnTo>
                  <a:pt x="298" y="0"/>
                </a:lnTo>
                <a:lnTo>
                  <a:pt x="0" y="515"/>
                </a:lnTo>
                <a:lnTo>
                  <a:pt x="298" y="1029"/>
                </a:lnTo>
                <a:lnTo>
                  <a:pt x="891" y="1029"/>
                </a:lnTo>
                <a:lnTo>
                  <a:pt x="1189" y="515"/>
                </a:lnTo>
                <a:lnTo>
                  <a:pt x="891"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2E69467A-673E-46CD-9A18-F70940E3CF82}"/>
              </a:ext>
            </a:extLst>
          </p:cNvPr>
          <p:cNvSpPr>
            <a:spLocks/>
          </p:cNvSpPr>
          <p:nvPr userDrawn="1"/>
        </p:nvSpPr>
        <p:spPr bwMode="auto">
          <a:xfrm>
            <a:off x="4447058" y="2614613"/>
            <a:ext cx="1885950" cy="1633538"/>
          </a:xfrm>
          <a:custGeom>
            <a:avLst/>
            <a:gdLst>
              <a:gd name="T0" fmla="*/ 891 w 1188"/>
              <a:gd name="T1" fmla="*/ 0 h 1029"/>
              <a:gd name="T2" fmla="*/ 297 w 1188"/>
              <a:gd name="T3" fmla="*/ 0 h 1029"/>
              <a:gd name="T4" fmla="*/ 0 w 1188"/>
              <a:gd name="T5" fmla="*/ 514 h 1029"/>
              <a:gd name="T6" fmla="*/ 297 w 1188"/>
              <a:gd name="T7" fmla="*/ 1029 h 1029"/>
              <a:gd name="T8" fmla="*/ 891 w 1188"/>
              <a:gd name="T9" fmla="*/ 1029 h 1029"/>
              <a:gd name="T10" fmla="*/ 1188 w 1188"/>
              <a:gd name="T11" fmla="*/ 514 h 1029"/>
              <a:gd name="T12" fmla="*/ 891 w 1188"/>
              <a:gd name="T13" fmla="*/ 0 h 1029"/>
            </a:gdLst>
            <a:ahLst/>
            <a:cxnLst>
              <a:cxn ang="0">
                <a:pos x="T0" y="T1"/>
              </a:cxn>
              <a:cxn ang="0">
                <a:pos x="T2" y="T3"/>
              </a:cxn>
              <a:cxn ang="0">
                <a:pos x="T4" y="T5"/>
              </a:cxn>
              <a:cxn ang="0">
                <a:pos x="T6" y="T7"/>
              </a:cxn>
              <a:cxn ang="0">
                <a:pos x="T8" y="T9"/>
              </a:cxn>
              <a:cxn ang="0">
                <a:pos x="T10" y="T11"/>
              </a:cxn>
              <a:cxn ang="0">
                <a:pos x="T12" y="T13"/>
              </a:cxn>
            </a:cxnLst>
            <a:rect l="0" t="0" r="r" b="b"/>
            <a:pathLst>
              <a:path w="1188" h="1029">
                <a:moveTo>
                  <a:pt x="891" y="0"/>
                </a:moveTo>
                <a:lnTo>
                  <a:pt x="297" y="0"/>
                </a:lnTo>
                <a:lnTo>
                  <a:pt x="0" y="514"/>
                </a:lnTo>
                <a:lnTo>
                  <a:pt x="297" y="1029"/>
                </a:lnTo>
                <a:lnTo>
                  <a:pt x="891" y="1029"/>
                </a:lnTo>
                <a:lnTo>
                  <a:pt x="1188" y="514"/>
                </a:lnTo>
                <a:lnTo>
                  <a:pt x="891"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a:extLst>
              <a:ext uri="{FF2B5EF4-FFF2-40B4-BE49-F238E27FC236}">
                <a16:creationId xmlns:a16="http://schemas.microsoft.com/office/drawing/2014/main" id="{D8027134-E46D-48A6-AAB3-AF30EFC06F22}"/>
              </a:ext>
            </a:extLst>
          </p:cNvPr>
          <p:cNvSpPr>
            <a:spLocks/>
          </p:cNvSpPr>
          <p:nvPr userDrawn="1"/>
        </p:nvSpPr>
        <p:spPr bwMode="auto">
          <a:xfrm>
            <a:off x="2948458" y="3484563"/>
            <a:ext cx="1887538" cy="1631950"/>
          </a:xfrm>
          <a:custGeom>
            <a:avLst/>
            <a:gdLst>
              <a:gd name="T0" fmla="*/ 891 w 1189"/>
              <a:gd name="T1" fmla="*/ 0 h 1028"/>
              <a:gd name="T2" fmla="*/ 298 w 1189"/>
              <a:gd name="T3" fmla="*/ 0 h 1028"/>
              <a:gd name="T4" fmla="*/ 0 w 1189"/>
              <a:gd name="T5" fmla="*/ 514 h 1028"/>
              <a:gd name="T6" fmla="*/ 298 w 1189"/>
              <a:gd name="T7" fmla="*/ 1028 h 1028"/>
              <a:gd name="T8" fmla="*/ 891 w 1189"/>
              <a:gd name="T9" fmla="*/ 1028 h 1028"/>
              <a:gd name="T10" fmla="*/ 1189 w 1189"/>
              <a:gd name="T11" fmla="*/ 514 h 1028"/>
              <a:gd name="T12" fmla="*/ 891 w 1189"/>
              <a:gd name="T13" fmla="*/ 0 h 1028"/>
            </a:gdLst>
            <a:ahLst/>
            <a:cxnLst>
              <a:cxn ang="0">
                <a:pos x="T0" y="T1"/>
              </a:cxn>
              <a:cxn ang="0">
                <a:pos x="T2" y="T3"/>
              </a:cxn>
              <a:cxn ang="0">
                <a:pos x="T4" y="T5"/>
              </a:cxn>
              <a:cxn ang="0">
                <a:pos x="T6" y="T7"/>
              </a:cxn>
              <a:cxn ang="0">
                <a:pos x="T8" y="T9"/>
              </a:cxn>
              <a:cxn ang="0">
                <a:pos x="T10" y="T11"/>
              </a:cxn>
              <a:cxn ang="0">
                <a:pos x="T12" y="T13"/>
              </a:cxn>
            </a:cxnLst>
            <a:rect l="0" t="0" r="r" b="b"/>
            <a:pathLst>
              <a:path w="1189" h="1028">
                <a:moveTo>
                  <a:pt x="891" y="0"/>
                </a:moveTo>
                <a:lnTo>
                  <a:pt x="298" y="0"/>
                </a:lnTo>
                <a:lnTo>
                  <a:pt x="0" y="514"/>
                </a:lnTo>
                <a:lnTo>
                  <a:pt x="298" y="1028"/>
                </a:lnTo>
                <a:lnTo>
                  <a:pt x="891" y="1028"/>
                </a:lnTo>
                <a:lnTo>
                  <a:pt x="1189" y="514"/>
                </a:lnTo>
                <a:lnTo>
                  <a:pt x="891"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8">
            <a:extLst>
              <a:ext uri="{FF2B5EF4-FFF2-40B4-BE49-F238E27FC236}">
                <a16:creationId xmlns:a16="http://schemas.microsoft.com/office/drawing/2014/main" id="{C6498189-ECB6-41C8-A7ED-CF672A9E763E}"/>
              </a:ext>
            </a:extLst>
          </p:cNvPr>
          <p:cNvSpPr>
            <a:spLocks/>
          </p:cNvSpPr>
          <p:nvPr userDrawn="1"/>
        </p:nvSpPr>
        <p:spPr bwMode="auto">
          <a:xfrm>
            <a:off x="0" y="2613025"/>
            <a:ext cx="3311995" cy="1631950"/>
          </a:xfrm>
          <a:custGeom>
            <a:avLst/>
            <a:gdLst>
              <a:gd name="connsiteX0" fmla="*/ 0 w 3311995"/>
              <a:gd name="connsiteY0" fmla="*/ 0 h 1631950"/>
              <a:gd name="connsiteX1" fmla="*/ 2838920 w 3311995"/>
              <a:gd name="connsiteY1" fmla="*/ 0 h 1631950"/>
              <a:gd name="connsiteX2" fmla="*/ 3311995 w 3311995"/>
              <a:gd name="connsiteY2" fmla="*/ 815975 h 1631950"/>
              <a:gd name="connsiteX3" fmla="*/ 2838920 w 3311995"/>
              <a:gd name="connsiteY3" fmla="*/ 1631950 h 1631950"/>
              <a:gd name="connsiteX4" fmla="*/ 0 w 3311995"/>
              <a:gd name="connsiteY4" fmla="*/ 1631950 h 163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1995" h="1631950">
                <a:moveTo>
                  <a:pt x="0" y="0"/>
                </a:moveTo>
                <a:lnTo>
                  <a:pt x="2838920" y="0"/>
                </a:lnTo>
                <a:lnTo>
                  <a:pt x="3311995" y="815975"/>
                </a:lnTo>
                <a:lnTo>
                  <a:pt x="2838920" y="1631950"/>
                </a:lnTo>
                <a:lnTo>
                  <a:pt x="0" y="1631950"/>
                </a:lnTo>
                <a:close/>
              </a:path>
            </a:pathLst>
          </a:custGeom>
          <a:solidFill>
            <a:srgbClr val="C3D92F"/>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3" name="标题 1"/>
          <p:cNvSpPr>
            <a:spLocks noGrp="1"/>
          </p:cNvSpPr>
          <p:nvPr>
            <p:ph type="title"/>
          </p:nvPr>
        </p:nvSpPr>
        <p:spPr>
          <a:xfrm>
            <a:off x="6584962" y="2418973"/>
            <a:ext cx="4702164"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14" name="文本占位符 2"/>
          <p:cNvSpPr>
            <a:spLocks noGrp="1"/>
          </p:cNvSpPr>
          <p:nvPr>
            <p:ph type="body" idx="1"/>
          </p:nvPr>
        </p:nvSpPr>
        <p:spPr>
          <a:xfrm>
            <a:off x="6586078" y="3314323"/>
            <a:ext cx="4702164" cy="1015623"/>
          </a:xfrm>
        </p:spPr>
        <p:txBody>
          <a:bodyPr anchor="t">
            <a:normAutofit/>
          </a:bodyPr>
          <a:lstStyle>
            <a:lvl1pPr marL="0" indent="0" algn="l">
              <a:lnSpc>
                <a:spcPct val="100000"/>
              </a:lnSpc>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Tree>
    <p:extLst>
      <p:ext uri="{BB962C8B-B14F-4D97-AF65-F5344CB8AC3E}">
        <p14:creationId xmlns:p14="http://schemas.microsoft.com/office/powerpoint/2010/main" val="198014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2"/>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hasCustomPrompt="1"/>
          </p:nvPr>
        </p:nvSpPr>
        <p:spPr>
          <a:xfrm>
            <a:off x="393600" y="624043"/>
            <a:ext cx="6758517" cy="5838796"/>
          </a:xfrm>
        </p:spPr>
        <p:txBody>
          <a:bodyPr/>
          <a:lstStyle>
            <a:lvl1pPr marL="457189" indent="-457189">
              <a:buFont typeface="+mj-lt"/>
              <a:buAutoNum type="arabicPeriod"/>
              <a:defRPr i="0" baseline="0">
                <a:solidFill>
                  <a:schemeClr val="accent3"/>
                </a:solidFill>
              </a:defRPr>
            </a:lvl1pPr>
          </a:lstStyle>
          <a:p>
            <a:pPr lvl="0"/>
            <a:r>
              <a:rPr lang="zh-CN" altLang="en-US" dirty="0"/>
              <a:t>一二三</a:t>
            </a:r>
          </a:p>
        </p:txBody>
      </p:sp>
      <p:sp>
        <p:nvSpPr>
          <p:cNvPr id="9" name="圆角右箭头 8"/>
          <p:cNvSpPr/>
          <p:nvPr userDrawn="1"/>
        </p:nvSpPr>
        <p:spPr>
          <a:xfrm rot="5400000">
            <a:off x="974538" y="5526"/>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2844645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
        <p:nvSpPr>
          <p:cNvPr id="3" name="文本占位符 2"/>
          <p:cNvSpPr>
            <a:spLocks noGrp="1"/>
          </p:cNvSpPr>
          <p:nvPr>
            <p:ph type="body" sz="quarter" idx="10"/>
          </p:nvPr>
        </p:nvSpPr>
        <p:spPr>
          <a:xfrm>
            <a:off x="393599" y="813469"/>
            <a:ext cx="11404800" cy="5660163"/>
          </a:xfrm>
        </p:spPr>
        <p:txBody>
          <a:bodyPr/>
          <a:lstStyle>
            <a:lvl1pPr>
              <a:defRPr i="0" baseline="0">
                <a:solidFill>
                  <a:schemeClr val="accent6"/>
                </a:solidFill>
                <a:latin typeface="微软雅黑" panose="020B0503020204020204" pitchFamily="34" charset="-122"/>
                <a:ea typeface="微软雅黑" panose="020B0503020204020204" pitchFamily="34" charset="-122"/>
                <a:cs typeface="Segoe UI" panose="020B0502040204020203" pitchFamily="34" charset="0"/>
              </a:defRPr>
            </a:lvl1pPr>
            <a:lvl2pPr marL="990575" indent="-380990">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2pPr>
            <a:lvl3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3pPr>
            <a:lvl4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4pPr>
            <a:lvl5pPr>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748370326"/>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599" y="816000"/>
            <a:ext cx="10972800" cy="5657629"/>
          </a:xfrm>
          <a:solidFill>
            <a:srgbClr val="B7C0D7">
              <a:alpha val="50196"/>
            </a:srgbClr>
          </a:solidFill>
        </p:spPr>
        <p:txBody>
          <a:bodyPr/>
          <a:lstStyle>
            <a:lvl1pPr>
              <a:defRPr b="0" i="0">
                <a:solidFill>
                  <a:schemeClr val="accent6"/>
                </a:solidFill>
                <a:latin typeface="微软雅黑" panose="020B0503020204020204" pitchFamily="34" charset="-122"/>
                <a:ea typeface="微软雅黑" panose="020B0503020204020204" pitchFamily="34" charset="-122"/>
              </a:defRPr>
            </a:lvl1pPr>
            <a:lvl2pPr>
              <a:defRPr>
                <a:solidFill>
                  <a:schemeClr val="accent6">
                    <a:lumMod val="75000"/>
                  </a:schemeClr>
                </a:solidFill>
                <a:latin typeface="微软雅黑" panose="020B0503020204020204" pitchFamily="34" charset="-122"/>
                <a:ea typeface="微软雅黑" panose="020B0503020204020204" pitchFamily="34" charset="-122"/>
              </a:defRPr>
            </a:lvl2pPr>
            <a:lvl3pPr>
              <a:defRPr>
                <a:solidFill>
                  <a:schemeClr val="accent6">
                    <a:lumMod val="75000"/>
                  </a:schemeClr>
                </a:solidFill>
                <a:latin typeface="微软雅黑" panose="020B0503020204020204" pitchFamily="34" charset="-122"/>
                <a:ea typeface="微软雅黑" panose="020B0503020204020204" pitchFamily="34" charset="-122"/>
              </a:defRPr>
            </a:lvl3pPr>
            <a:lvl4pPr>
              <a:defRPr>
                <a:solidFill>
                  <a:schemeClr val="accent6">
                    <a:lumMod val="75000"/>
                  </a:schemeClr>
                </a:solidFill>
                <a:latin typeface="微软雅黑" panose="020B0503020204020204" pitchFamily="34" charset="-122"/>
                <a:ea typeface="微软雅黑" panose="020B0503020204020204" pitchFamily="34" charset="-122"/>
              </a:defRPr>
            </a:lvl4pPr>
            <a:lvl5pPr>
              <a:defRPr>
                <a:solidFill>
                  <a:schemeClr val="accent6">
                    <a:lumMod val="75000"/>
                  </a:schemeClr>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Freeform 112"/>
          <p:cNvSpPr>
            <a:spLocks noChangeAspect="1" noChangeArrowheads="1"/>
          </p:cNvSpPr>
          <p:nvPr userDrawn="1"/>
        </p:nvSpPr>
        <p:spPr bwMode="auto">
          <a:xfrm>
            <a:off x="143339" y="816003"/>
            <a:ext cx="249600" cy="286156"/>
          </a:xfrm>
          <a:custGeom>
            <a:avLst/>
            <a:gdLst>
              <a:gd name="T0" fmla="*/ 410607 w 390"/>
              <a:gd name="T1" fmla="*/ 0 h 444"/>
              <a:gd name="T2" fmla="*/ 0 w 390"/>
              <a:gd name="T3" fmla="*/ 63592 h 444"/>
              <a:gd name="T4" fmla="*/ 52367 w 390"/>
              <a:gd name="T5" fmla="*/ 531536 h 444"/>
              <a:gd name="T6" fmla="*/ 462974 w 390"/>
              <a:gd name="T7" fmla="*/ 478742 h 444"/>
              <a:gd name="T8" fmla="*/ 410607 w 390"/>
              <a:gd name="T9" fmla="*/ 0 h 444"/>
              <a:gd name="T10" fmla="*/ 410607 w 390"/>
              <a:gd name="T11" fmla="*/ 478742 h 444"/>
              <a:gd name="T12" fmla="*/ 52367 w 390"/>
              <a:gd name="T13" fmla="*/ 63592 h 444"/>
              <a:gd name="T14" fmla="*/ 410607 w 390"/>
              <a:gd name="T15" fmla="*/ 478742 h 444"/>
              <a:gd name="T16" fmla="*/ 263026 w 390"/>
              <a:gd name="T17" fmla="*/ 329960 h 444"/>
              <a:gd name="T18" fmla="*/ 115446 w 390"/>
              <a:gd name="T19" fmla="*/ 362356 h 444"/>
              <a:gd name="T20" fmla="*/ 263026 w 390"/>
              <a:gd name="T21" fmla="*/ 329960 h 444"/>
              <a:gd name="T22" fmla="*/ 347528 w 390"/>
              <a:gd name="T23" fmla="*/ 212374 h 444"/>
              <a:gd name="T24" fmla="*/ 232082 w 390"/>
              <a:gd name="T25" fmla="*/ 235172 h 444"/>
              <a:gd name="T26" fmla="*/ 347528 w 390"/>
              <a:gd name="T27" fmla="*/ 212374 h 444"/>
              <a:gd name="T28" fmla="*/ 232082 w 390"/>
              <a:gd name="T29" fmla="*/ 181178 h 444"/>
              <a:gd name="T30" fmla="*/ 347528 w 390"/>
              <a:gd name="T31" fmla="*/ 117586 h 444"/>
              <a:gd name="T32" fmla="*/ 232082 w 390"/>
              <a:gd name="T33" fmla="*/ 181178 h 444"/>
              <a:gd name="T34" fmla="*/ 199948 w 390"/>
              <a:gd name="T35" fmla="*/ 117586 h 444"/>
              <a:gd name="T36" fmla="*/ 115446 w 390"/>
              <a:gd name="T37" fmla="*/ 235172 h 444"/>
              <a:gd name="T38" fmla="*/ 199948 w 390"/>
              <a:gd name="T39" fmla="*/ 117586 h 444"/>
              <a:gd name="T40" fmla="*/ 167813 w 390"/>
              <a:gd name="T41" fmla="*/ 266368 h 444"/>
              <a:gd name="T42" fmla="*/ 115446 w 390"/>
              <a:gd name="T43" fmla="*/ 298764 h 444"/>
              <a:gd name="T44" fmla="*/ 167813 w 390"/>
              <a:gd name="T45" fmla="*/ 266368 h 444"/>
              <a:gd name="T46" fmla="*/ 199948 w 390"/>
              <a:gd name="T47" fmla="*/ 298764 h 444"/>
              <a:gd name="T48" fmla="*/ 347528 w 390"/>
              <a:gd name="T49" fmla="*/ 266368 h 444"/>
              <a:gd name="T50" fmla="*/ 199948 w 390"/>
              <a:gd name="T51" fmla="*/ 298764 h 444"/>
              <a:gd name="T52" fmla="*/ 347528 w 390"/>
              <a:gd name="T53" fmla="*/ 382754 h 444"/>
              <a:gd name="T54" fmla="*/ 115446 w 390"/>
              <a:gd name="T55" fmla="*/ 415150 h 444"/>
              <a:gd name="T56" fmla="*/ 347528 w 390"/>
              <a:gd name="T57" fmla="*/ 382754 h 444"/>
              <a:gd name="T58" fmla="*/ 295161 w 390"/>
              <a:gd name="T59" fmla="*/ 362356 h 444"/>
              <a:gd name="T60" fmla="*/ 347528 w 390"/>
              <a:gd name="T61" fmla="*/ 329960 h 444"/>
              <a:gd name="T62" fmla="*/ 295161 w 390"/>
              <a:gd name="T63" fmla="*/ 362356 h 44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90" h="444">
                <a:moveTo>
                  <a:pt x="345" y="0"/>
                </a:moveTo>
                <a:lnTo>
                  <a:pt x="345" y="0"/>
                </a:lnTo>
                <a:cubicBezTo>
                  <a:pt x="44" y="0"/>
                  <a:pt x="44" y="0"/>
                  <a:pt x="44" y="0"/>
                </a:cubicBezTo>
                <a:cubicBezTo>
                  <a:pt x="17" y="0"/>
                  <a:pt x="0" y="27"/>
                  <a:pt x="0" y="53"/>
                </a:cubicBezTo>
                <a:cubicBezTo>
                  <a:pt x="0" y="399"/>
                  <a:pt x="0" y="399"/>
                  <a:pt x="0" y="399"/>
                </a:cubicBezTo>
                <a:cubicBezTo>
                  <a:pt x="0" y="425"/>
                  <a:pt x="17" y="443"/>
                  <a:pt x="44" y="443"/>
                </a:cubicBezTo>
                <a:cubicBezTo>
                  <a:pt x="345" y="443"/>
                  <a:pt x="345" y="443"/>
                  <a:pt x="345" y="443"/>
                </a:cubicBezTo>
                <a:cubicBezTo>
                  <a:pt x="372" y="443"/>
                  <a:pt x="389" y="425"/>
                  <a:pt x="389" y="399"/>
                </a:cubicBezTo>
                <a:cubicBezTo>
                  <a:pt x="389" y="53"/>
                  <a:pt x="389" y="53"/>
                  <a:pt x="389" y="53"/>
                </a:cubicBezTo>
                <a:cubicBezTo>
                  <a:pt x="389" y="27"/>
                  <a:pt x="372" y="0"/>
                  <a:pt x="345" y="0"/>
                </a:cubicBezTo>
                <a:close/>
                <a:moveTo>
                  <a:pt x="345" y="399"/>
                </a:moveTo>
                <a:lnTo>
                  <a:pt x="345" y="399"/>
                </a:lnTo>
                <a:cubicBezTo>
                  <a:pt x="44" y="399"/>
                  <a:pt x="44" y="399"/>
                  <a:pt x="44" y="399"/>
                </a:cubicBezTo>
                <a:cubicBezTo>
                  <a:pt x="44" y="53"/>
                  <a:pt x="44" y="53"/>
                  <a:pt x="44" y="53"/>
                </a:cubicBezTo>
                <a:cubicBezTo>
                  <a:pt x="345" y="53"/>
                  <a:pt x="345" y="53"/>
                  <a:pt x="345" y="53"/>
                </a:cubicBezTo>
                <a:lnTo>
                  <a:pt x="345" y="399"/>
                </a:lnTo>
                <a:close/>
                <a:moveTo>
                  <a:pt x="221" y="275"/>
                </a:moveTo>
                <a:lnTo>
                  <a:pt x="221" y="275"/>
                </a:lnTo>
                <a:cubicBezTo>
                  <a:pt x="97" y="275"/>
                  <a:pt x="97" y="275"/>
                  <a:pt x="97" y="275"/>
                </a:cubicBezTo>
                <a:cubicBezTo>
                  <a:pt x="97" y="302"/>
                  <a:pt x="97" y="302"/>
                  <a:pt x="97" y="302"/>
                </a:cubicBezTo>
                <a:cubicBezTo>
                  <a:pt x="221" y="302"/>
                  <a:pt x="221" y="302"/>
                  <a:pt x="221" y="302"/>
                </a:cubicBezTo>
                <a:lnTo>
                  <a:pt x="221" y="275"/>
                </a:lnTo>
                <a:close/>
                <a:moveTo>
                  <a:pt x="292" y="177"/>
                </a:moveTo>
                <a:lnTo>
                  <a:pt x="292" y="177"/>
                </a:lnTo>
                <a:cubicBezTo>
                  <a:pt x="195" y="177"/>
                  <a:pt x="195" y="177"/>
                  <a:pt x="195" y="177"/>
                </a:cubicBezTo>
                <a:cubicBezTo>
                  <a:pt x="195" y="196"/>
                  <a:pt x="195" y="196"/>
                  <a:pt x="195" y="196"/>
                </a:cubicBezTo>
                <a:cubicBezTo>
                  <a:pt x="292" y="196"/>
                  <a:pt x="292" y="196"/>
                  <a:pt x="292" y="196"/>
                </a:cubicBezTo>
                <a:lnTo>
                  <a:pt x="292" y="177"/>
                </a:lnTo>
                <a:close/>
                <a:moveTo>
                  <a:pt x="195" y="151"/>
                </a:moveTo>
                <a:lnTo>
                  <a:pt x="195" y="151"/>
                </a:lnTo>
                <a:cubicBezTo>
                  <a:pt x="292" y="151"/>
                  <a:pt x="292" y="151"/>
                  <a:pt x="292" y="151"/>
                </a:cubicBezTo>
                <a:cubicBezTo>
                  <a:pt x="292" y="98"/>
                  <a:pt x="292" y="98"/>
                  <a:pt x="292" y="98"/>
                </a:cubicBezTo>
                <a:cubicBezTo>
                  <a:pt x="195" y="98"/>
                  <a:pt x="195" y="98"/>
                  <a:pt x="195" y="98"/>
                </a:cubicBezTo>
                <a:lnTo>
                  <a:pt x="195" y="151"/>
                </a:lnTo>
                <a:close/>
                <a:moveTo>
                  <a:pt x="168" y="98"/>
                </a:moveTo>
                <a:lnTo>
                  <a:pt x="168" y="98"/>
                </a:lnTo>
                <a:cubicBezTo>
                  <a:pt x="97" y="98"/>
                  <a:pt x="97" y="98"/>
                  <a:pt x="97" y="98"/>
                </a:cubicBezTo>
                <a:cubicBezTo>
                  <a:pt x="97" y="196"/>
                  <a:pt x="97" y="196"/>
                  <a:pt x="97" y="196"/>
                </a:cubicBezTo>
                <a:cubicBezTo>
                  <a:pt x="168" y="196"/>
                  <a:pt x="168" y="196"/>
                  <a:pt x="168" y="196"/>
                </a:cubicBezTo>
                <a:lnTo>
                  <a:pt x="168" y="98"/>
                </a:lnTo>
                <a:close/>
                <a:moveTo>
                  <a:pt x="141" y="222"/>
                </a:moveTo>
                <a:lnTo>
                  <a:pt x="141" y="222"/>
                </a:lnTo>
                <a:cubicBezTo>
                  <a:pt x="97" y="222"/>
                  <a:pt x="97" y="222"/>
                  <a:pt x="97" y="222"/>
                </a:cubicBezTo>
                <a:cubicBezTo>
                  <a:pt x="97" y="249"/>
                  <a:pt x="97" y="249"/>
                  <a:pt x="97" y="249"/>
                </a:cubicBezTo>
                <a:cubicBezTo>
                  <a:pt x="141" y="249"/>
                  <a:pt x="141" y="249"/>
                  <a:pt x="141" y="249"/>
                </a:cubicBezTo>
                <a:lnTo>
                  <a:pt x="141" y="222"/>
                </a:lnTo>
                <a:close/>
                <a:moveTo>
                  <a:pt x="168" y="249"/>
                </a:moveTo>
                <a:lnTo>
                  <a:pt x="168" y="249"/>
                </a:lnTo>
                <a:cubicBezTo>
                  <a:pt x="292" y="249"/>
                  <a:pt x="292" y="249"/>
                  <a:pt x="292" y="249"/>
                </a:cubicBezTo>
                <a:cubicBezTo>
                  <a:pt x="292" y="222"/>
                  <a:pt x="292" y="222"/>
                  <a:pt x="292" y="222"/>
                </a:cubicBezTo>
                <a:cubicBezTo>
                  <a:pt x="168" y="222"/>
                  <a:pt x="168" y="222"/>
                  <a:pt x="168" y="222"/>
                </a:cubicBezTo>
                <a:lnTo>
                  <a:pt x="168" y="249"/>
                </a:lnTo>
                <a:close/>
                <a:moveTo>
                  <a:pt x="292" y="319"/>
                </a:moveTo>
                <a:lnTo>
                  <a:pt x="292" y="319"/>
                </a:lnTo>
                <a:cubicBezTo>
                  <a:pt x="97" y="319"/>
                  <a:pt x="97" y="319"/>
                  <a:pt x="97" y="319"/>
                </a:cubicBezTo>
                <a:cubicBezTo>
                  <a:pt x="97" y="346"/>
                  <a:pt x="97" y="346"/>
                  <a:pt x="97" y="346"/>
                </a:cubicBezTo>
                <a:cubicBezTo>
                  <a:pt x="292" y="346"/>
                  <a:pt x="292" y="346"/>
                  <a:pt x="292" y="346"/>
                </a:cubicBezTo>
                <a:lnTo>
                  <a:pt x="292" y="319"/>
                </a:lnTo>
                <a:close/>
                <a:moveTo>
                  <a:pt x="248" y="302"/>
                </a:moveTo>
                <a:lnTo>
                  <a:pt x="248" y="302"/>
                </a:lnTo>
                <a:cubicBezTo>
                  <a:pt x="292" y="302"/>
                  <a:pt x="292" y="302"/>
                  <a:pt x="292" y="302"/>
                </a:cubicBezTo>
                <a:cubicBezTo>
                  <a:pt x="292" y="275"/>
                  <a:pt x="292" y="275"/>
                  <a:pt x="292" y="275"/>
                </a:cubicBezTo>
                <a:cubicBezTo>
                  <a:pt x="248" y="275"/>
                  <a:pt x="248" y="275"/>
                  <a:pt x="248" y="275"/>
                </a:cubicBezTo>
                <a:lnTo>
                  <a:pt x="248" y="302"/>
                </a:lnTo>
                <a:close/>
              </a:path>
            </a:pathLst>
          </a:custGeom>
          <a:solidFill>
            <a:srgbClr val="5F4B8B"/>
          </a:solidFill>
          <a:ln>
            <a:noFill/>
          </a:ln>
          <a:effectLst>
            <a:outerShdw blurRad="25400" dist="12700" dir="2700000" algn="tl" rotWithShape="0">
              <a:prstClr val="black">
                <a:alpha val="40000"/>
              </a:prstClr>
            </a:outerShdw>
          </a:effectLst>
          <a:extLst/>
        </p:spPr>
        <p:txBody>
          <a:bodyPr wrap="none" lIns="45720" tIns="22860" rIns="45720" bIns="2286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Tree>
    <p:extLst>
      <p:ext uri="{BB962C8B-B14F-4D97-AF65-F5344CB8AC3E}">
        <p14:creationId xmlns:p14="http://schemas.microsoft.com/office/powerpoint/2010/main" val="299473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i="0">
                <a:latin typeface="微软雅黑" panose="020B0503020204020204" pitchFamily="34" charset="-122"/>
                <a:ea typeface="微软雅黑" panose="020B0503020204020204" pitchFamily="34" charset="-122"/>
              </a:defRPr>
            </a:lvl1pPr>
            <a:lvl2pPr>
              <a:lnSpc>
                <a:spcPct val="120000"/>
              </a:lnSpc>
              <a:spcBef>
                <a:spcPts val="0"/>
              </a:spcBef>
              <a:defRPr baseline="0">
                <a:solidFill>
                  <a:schemeClr val="accent6"/>
                </a:solidFill>
                <a:latin typeface="微软雅黑" panose="020B0503020204020204" pitchFamily="34" charset="-122"/>
                <a:ea typeface="微软雅黑" panose="020B0503020204020204" pitchFamily="34" charset="-122"/>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40"/>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1513862343"/>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4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科目权重页">
    <p:spTree>
      <p:nvGrpSpPr>
        <p:cNvPr id="1" name=""/>
        <p:cNvGrpSpPr/>
        <p:nvPr/>
      </p:nvGrpSpPr>
      <p:grpSpPr>
        <a:xfrm>
          <a:off x="0" y="0"/>
          <a:ext cx="0" cy="0"/>
          <a:chOff x="0" y="0"/>
          <a:chExt cx="0" cy="0"/>
        </a:xfrm>
      </p:grpSpPr>
      <p:sp>
        <p:nvSpPr>
          <p:cNvPr id="15"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cxnSp>
        <p:nvCxnSpPr>
          <p:cNvPr id="6" name="直接连接符 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7"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374940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科目框架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672000"/>
            <a:ext cx="9264352" cy="0"/>
          </a:xfrm>
          <a:prstGeom prst="line">
            <a:avLst/>
          </a:prstGeom>
          <a:noFill/>
          <a:ln w="38100">
            <a:solidFill>
              <a:srgbClr val="5F4B8B"/>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baseline="0">
                <a:solidFill>
                  <a:schemeClr val="accent6">
                    <a:lumMod val="50000"/>
                  </a:schemeClr>
                </a:solidFill>
              </a:defRPr>
            </a:lvl1pPr>
            <a:lvl2pPr>
              <a:lnSpc>
                <a:spcPct val="120000"/>
              </a:lnSpc>
              <a:spcBef>
                <a:spcPts val="0"/>
              </a:spcBef>
              <a:defRPr i="0"/>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F</a:t>
            </a:r>
            <a:endParaRPr kumimoji="0" lang="zh-CN" altLang="en-US" sz="14933"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Roboto" panose="02000000000000000000" pitchFamily="2" charset="0"/>
                <a:cs typeface="Roboto" panose="02000000000000000000" pitchFamily="2" charset="0"/>
              </a:rPr>
              <a:t>ramework</a:t>
            </a:r>
            <a:endParaRPr kumimoji="0" lang="zh-CN" altLang="en-US" sz="6000" b="1" i="0" u="none" strike="noStrike" kern="1200" cap="none" spc="0" normalizeH="0" baseline="0" noProof="0" dirty="0">
              <a:ln>
                <a:noFill/>
              </a:ln>
              <a:solidFill>
                <a:schemeClr val="accent6">
                  <a:lumMod val="50000"/>
                </a:schemeClr>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2653987345"/>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ing的知识点框架页">
    <p:spTree>
      <p:nvGrpSpPr>
        <p:cNvPr id="1" name=""/>
        <p:cNvGrpSpPr/>
        <p:nvPr/>
      </p:nvGrpSpPr>
      <p:grpSpPr>
        <a:xfrm>
          <a:off x="0" y="0"/>
          <a:ext cx="0" cy="0"/>
          <a:chOff x="0" y="0"/>
          <a:chExt cx="0" cy="0"/>
        </a:xfrm>
      </p:grpSpPr>
      <p:sp>
        <p:nvSpPr>
          <p:cNvPr id="3" name="矩形 2"/>
          <p:cNvSpPr/>
          <p:nvPr userDrawn="1"/>
        </p:nvSpPr>
        <p:spPr>
          <a:xfrm>
            <a:off x="7295456" y="3115511"/>
            <a:ext cx="4896544" cy="1056117"/>
          </a:xfrm>
          <a:prstGeom prst="rect">
            <a:avLst/>
          </a:prstGeom>
          <a:noFill/>
          <a:ln>
            <a:noFill/>
          </a:ln>
          <a:effectLst>
            <a:outerShdw blurRad="254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3"/>
                </a:solidFill>
                <a:effectLst/>
                <a:uLnTx/>
                <a:uFillTx/>
                <a:latin typeface="Roboto" panose="02000000000000000000" pitchFamily="2" charset="0"/>
                <a:ea typeface="Roboto" panose="02000000000000000000" pitchFamily="2" charset="0"/>
                <a:cs typeface="Roboto" panose="02000000000000000000" pitchFamily="2" charset="0"/>
              </a:rPr>
              <a:t>FRAMEWORK</a:t>
            </a:r>
            <a:endParaRPr kumimoji="0" lang="zh-CN" altLang="en-US" sz="6000" b="1" i="0" u="none" strike="noStrike" kern="1200" cap="none" spc="0" normalizeH="0" baseline="0" noProof="0" dirty="0">
              <a:ln>
                <a:noFill/>
              </a:ln>
              <a:solidFill>
                <a:schemeClr val="accent3"/>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5" name="文本占位符 4"/>
          <p:cNvSpPr>
            <a:spLocks noGrp="1"/>
          </p:cNvSpPr>
          <p:nvPr>
            <p:ph type="body" sz="quarter" idx="10"/>
          </p:nvPr>
        </p:nvSpPr>
        <p:spPr>
          <a:xfrm>
            <a:off x="393600" y="624043"/>
            <a:ext cx="6758517" cy="5838796"/>
          </a:xfrm>
        </p:spPr>
        <p:txBody>
          <a:bodyPr/>
          <a:lstStyle>
            <a:lvl1pPr marL="457189" indent="-457189">
              <a:buFont typeface="+mj-lt"/>
              <a:buAutoNum type="arabicPeriod"/>
              <a:defRPr i="0" baseline="0"/>
            </a:lvl1pPr>
          </a:lstStyle>
          <a:p>
            <a:pPr lvl="0"/>
            <a:endParaRPr lang="zh-CN" altLang="en-US" dirty="0"/>
          </a:p>
        </p:txBody>
      </p:sp>
      <p:sp>
        <p:nvSpPr>
          <p:cNvPr id="9" name="圆角右箭头 8"/>
          <p:cNvSpPr/>
          <p:nvPr userDrawn="1"/>
        </p:nvSpPr>
        <p:spPr>
          <a:xfrm rot="5400000">
            <a:off x="974533" y="5522"/>
            <a:ext cx="6114479" cy="6816759"/>
          </a:xfrm>
          <a:prstGeom prst="bentArrow">
            <a:avLst>
              <a:gd name="adj1" fmla="val 2008"/>
              <a:gd name="adj2" fmla="val 2623"/>
              <a:gd name="adj3" fmla="val 2444"/>
              <a:gd name="adj4" fmla="val 6713"/>
            </a:avLst>
          </a:prstGeom>
          <a:solidFill>
            <a:srgbClr val="BCB4C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AutoShape 52"/>
          <p:cNvSpPr>
            <a:spLocks noChangeAspect="1"/>
          </p:cNvSpPr>
          <p:nvPr userDrawn="1"/>
        </p:nvSpPr>
        <p:spPr bwMode="auto">
          <a:xfrm>
            <a:off x="144000" y="212659"/>
            <a:ext cx="285824" cy="2880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708" y="14020"/>
                </a:moveTo>
                <a:cubicBezTo>
                  <a:pt x="20951" y="14020"/>
                  <a:pt x="21161" y="14125"/>
                  <a:pt x="21335" y="14334"/>
                </a:cubicBezTo>
                <a:cubicBezTo>
                  <a:pt x="21511" y="14548"/>
                  <a:pt x="21599" y="14810"/>
                  <a:pt x="21599" y="15115"/>
                </a:cubicBezTo>
                <a:lnTo>
                  <a:pt x="21599" y="20504"/>
                </a:lnTo>
                <a:cubicBezTo>
                  <a:pt x="21599" y="20815"/>
                  <a:pt x="21511" y="21071"/>
                  <a:pt x="21335" y="21285"/>
                </a:cubicBezTo>
                <a:cubicBezTo>
                  <a:pt x="21161" y="21494"/>
                  <a:pt x="20951" y="21599"/>
                  <a:pt x="20708" y="21599"/>
                </a:cubicBezTo>
                <a:lnTo>
                  <a:pt x="16197" y="21599"/>
                </a:lnTo>
                <a:cubicBezTo>
                  <a:pt x="15940" y="21599"/>
                  <a:pt x="15729" y="21494"/>
                  <a:pt x="15563" y="21285"/>
                </a:cubicBezTo>
                <a:cubicBezTo>
                  <a:pt x="15399" y="21071"/>
                  <a:pt x="15316" y="20815"/>
                  <a:pt x="15316" y="20504"/>
                </a:cubicBezTo>
                <a:lnTo>
                  <a:pt x="15316" y="15115"/>
                </a:lnTo>
                <a:cubicBezTo>
                  <a:pt x="15316" y="14810"/>
                  <a:pt x="15399" y="14548"/>
                  <a:pt x="15570" y="14334"/>
                </a:cubicBezTo>
                <a:cubicBezTo>
                  <a:pt x="15737" y="14125"/>
                  <a:pt x="15945" y="14020"/>
                  <a:pt x="16197" y="14020"/>
                </a:cubicBezTo>
                <a:lnTo>
                  <a:pt x="17788" y="14020"/>
                </a:lnTo>
                <a:lnTo>
                  <a:pt x="17788" y="11869"/>
                </a:lnTo>
                <a:cubicBezTo>
                  <a:pt x="17788" y="11699"/>
                  <a:pt x="17707" y="11610"/>
                  <a:pt x="17543" y="11602"/>
                </a:cubicBezTo>
                <a:lnTo>
                  <a:pt x="11473" y="11602"/>
                </a:lnTo>
                <a:lnTo>
                  <a:pt x="11473" y="14019"/>
                </a:lnTo>
                <a:lnTo>
                  <a:pt x="13054" y="14019"/>
                </a:lnTo>
                <a:cubicBezTo>
                  <a:pt x="13296" y="14019"/>
                  <a:pt x="13507" y="14125"/>
                  <a:pt x="13681" y="14334"/>
                </a:cubicBezTo>
                <a:cubicBezTo>
                  <a:pt x="13857" y="14548"/>
                  <a:pt x="13945" y="14810"/>
                  <a:pt x="13945" y="15115"/>
                </a:cubicBezTo>
                <a:lnTo>
                  <a:pt x="13945" y="20504"/>
                </a:lnTo>
                <a:cubicBezTo>
                  <a:pt x="13945" y="20815"/>
                  <a:pt x="13857" y="21071"/>
                  <a:pt x="13681" y="21285"/>
                </a:cubicBezTo>
                <a:cubicBezTo>
                  <a:pt x="13507" y="21494"/>
                  <a:pt x="13296" y="21599"/>
                  <a:pt x="13054" y="21599"/>
                </a:cubicBezTo>
                <a:lnTo>
                  <a:pt x="8543" y="21599"/>
                </a:lnTo>
                <a:cubicBezTo>
                  <a:pt x="8298" y="21599"/>
                  <a:pt x="8090" y="21494"/>
                  <a:pt x="7913" y="21285"/>
                </a:cubicBezTo>
                <a:cubicBezTo>
                  <a:pt x="7740" y="21071"/>
                  <a:pt x="7651" y="20815"/>
                  <a:pt x="7651" y="20504"/>
                </a:cubicBezTo>
                <a:lnTo>
                  <a:pt x="7651" y="15115"/>
                </a:lnTo>
                <a:cubicBezTo>
                  <a:pt x="7651" y="14810"/>
                  <a:pt x="7740" y="14548"/>
                  <a:pt x="7913" y="14334"/>
                </a:cubicBezTo>
                <a:cubicBezTo>
                  <a:pt x="8090" y="14125"/>
                  <a:pt x="8298" y="14019"/>
                  <a:pt x="8543" y="14019"/>
                </a:cubicBezTo>
                <a:lnTo>
                  <a:pt x="10124" y="14019"/>
                </a:lnTo>
                <a:lnTo>
                  <a:pt x="10124" y="11602"/>
                </a:lnTo>
                <a:lnTo>
                  <a:pt x="4056" y="11602"/>
                </a:lnTo>
                <a:cubicBezTo>
                  <a:pt x="3901" y="11602"/>
                  <a:pt x="3821" y="11690"/>
                  <a:pt x="3821" y="11869"/>
                </a:cubicBezTo>
                <a:lnTo>
                  <a:pt x="3821" y="14020"/>
                </a:lnTo>
                <a:lnTo>
                  <a:pt x="5402" y="14020"/>
                </a:lnTo>
                <a:cubicBezTo>
                  <a:pt x="5661" y="14020"/>
                  <a:pt x="5874" y="14125"/>
                  <a:pt x="6053" y="14334"/>
                </a:cubicBezTo>
                <a:cubicBezTo>
                  <a:pt x="6229" y="14548"/>
                  <a:pt x="6315" y="14810"/>
                  <a:pt x="6315" y="15115"/>
                </a:cubicBezTo>
                <a:lnTo>
                  <a:pt x="6315" y="20504"/>
                </a:lnTo>
                <a:cubicBezTo>
                  <a:pt x="6315" y="20815"/>
                  <a:pt x="6229" y="21071"/>
                  <a:pt x="6053" y="21285"/>
                </a:cubicBezTo>
                <a:cubicBezTo>
                  <a:pt x="5877" y="21494"/>
                  <a:pt x="5664" y="21599"/>
                  <a:pt x="5402" y="21599"/>
                </a:cubicBezTo>
                <a:lnTo>
                  <a:pt x="913" y="21599"/>
                </a:lnTo>
                <a:cubicBezTo>
                  <a:pt x="658" y="21599"/>
                  <a:pt x="440" y="21494"/>
                  <a:pt x="261" y="21285"/>
                </a:cubicBezTo>
                <a:cubicBezTo>
                  <a:pt x="88" y="21071"/>
                  <a:pt x="0" y="20815"/>
                  <a:pt x="0" y="20504"/>
                </a:cubicBezTo>
                <a:lnTo>
                  <a:pt x="0" y="15115"/>
                </a:lnTo>
                <a:cubicBezTo>
                  <a:pt x="0" y="14810"/>
                  <a:pt x="88" y="14548"/>
                  <a:pt x="261" y="14334"/>
                </a:cubicBezTo>
                <a:cubicBezTo>
                  <a:pt x="438" y="14125"/>
                  <a:pt x="656" y="14020"/>
                  <a:pt x="913" y="14020"/>
                </a:cubicBezTo>
                <a:lnTo>
                  <a:pt x="2472" y="14020"/>
                </a:lnTo>
                <a:lnTo>
                  <a:pt x="2472" y="11869"/>
                </a:lnTo>
                <a:cubicBezTo>
                  <a:pt x="2472" y="11352"/>
                  <a:pt x="2629" y="10911"/>
                  <a:pt x="2942" y="10544"/>
                </a:cubicBezTo>
                <a:cubicBezTo>
                  <a:pt x="3253" y="10180"/>
                  <a:pt x="3622" y="9997"/>
                  <a:pt x="4053" y="9997"/>
                </a:cubicBezTo>
                <a:lnTo>
                  <a:pt x="10121" y="9997"/>
                </a:lnTo>
                <a:lnTo>
                  <a:pt x="10121" y="7550"/>
                </a:lnTo>
                <a:lnTo>
                  <a:pt x="8540" y="7550"/>
                </a:lnTo>
                <a:cubicBezTo>
                  <a:pt x="8295" y="7550"/>
                  <a:pt x="8087" y="7450"/>
                  <a:pt x="7911" y="7248"/>
                </a:cubicBezTo>
                <a:cubicBezTo>
                  <a:pt x="7737" y="7045"/>
                  <a:pt x="7649" y="6789"/>
                  <a:pt x="7649" y="6484"/>
                </a:cubicBezTo>
                <a:lnTo>
                  <a:pt x="7649" y="1066"/>
                </a:lnTo>
                <a:cubicBezTo>
                  <a:pt x="7649" y="775"/>
                  <a:pt x="7737" y="522"/>
                  <a:pt x="7911" y="314"/>
                </a:cubicBezTo>
                <a:cubicBezTo>
                  <a:pt x="8087" y="102"/>
                  <a:pt x="8295" y="0"/>
                  <a:pt x="8540" y="0"/>
                </a:cubicBezTo>
                <a:lnTo>
                  <a:pt x="13052" y="0"/>
                </a:lnTo>
                <a:cubicBezTo>
                  <a:pt x="13294" y="0"/>
                  <a:pt x="13504" y="102"/>
                  <a:pt x="13678" y="314"/>
                </a:cubicBezTo>
                <a:cubicBezTo>
                  <a:pt x="13854" y="522"/>
                  <a:pt x="13943" y="775"/>
                  <a:pt x="13943" y="1066"/>
                </a:cubicBezTo>
                <a:lnTo>
                  <a:pt x="13943" y="6484"/>
                </a:lnTo>
                <a:cubicBezTo>
                  <a:pt x="13943" y="6789"/>
                  <a:pt x="13854" y="7045"/>
                  <a:pt x="13678" y="7248"/>
                </a:cubicBezTo>
                <a:cubicBezTo>
                  <a:pt x="13504" y="7450"/>
                  <a:pt x="13294" y="7550"/>
                  <a:pt x="13052" y="7550"/>
                </a:cubicBezTo>
                <a:lnTo>
                  <a:pt x="11470" y="7550"/>
                </a:lnTo>
                <a:lnTo>
                  <a:pt x="11470" y="9997"/>
                </a:lnTo>
                <a:lnTo>
                  <a:pt x="17541" y="9997"/>
                </a:lnTo>
                <a:cubicBezTo>
                  <a:pt x="17969" y="9997"/>
                  <a:pt x="18339" y="10177"/>
                  <a:pt x="18652" y="10538"/>
                </a:cubicBezTo>
                <a:cubicBezTo>
                  <a:pt x="18966" y="10899"/>
                  <a:pt x="19122" y="11343"/>
                  <a:pt x="19122" y="11869"/>
                </a:cubicBezTo>
                <a:lnTo>
                  <a:pt x="19122" y="14020"/>
                </a:lnTo>
                <a:lnTo>
                  <a:pt x="20708" y="14020"/>
                </a:lnTo>
                <a:close/>
              </a:path>
            </a:pathLst>
          </a:custGeom>
          <a:solidFill>
            <a:schemeClr val="accent6">
              <a:lumMod val="50000"/>
            </a:schemeClr>
          </a:solidFill>
          <a:ln>
            <a:noFill/>
          </a:ln>
          <a:effectLst>
            <a:outerShdw blurRad="25400" dist="12700" dir="8100000" algn="tr" rotWithShape="0">
              <a:srgbClr val="5F4B8B">
                <a:alpha val="40000"/>
              </a:srgbClr>
            </a:outerShdw>
          </a:effectLst>
          <a:extLst/>
        </p:spPr>
        <p:txBody>
          <a:bodyPr lIns="50789" tIns="50789" rIns="50789" bIns="50789" anchor="ctr"/>
          <a:lstStyle/>
          <a:p>
            <a:pPr marL="0" marR="0" lvl="0" indent="0" algn="l" defTabSz="457086" rtl="0" eaLnBrk="1" fontAlgn="auto" latinLnBrk="0" hangingPunct="1">
              <a:lnSpc>
                <a:spcPct val="100000"/>
              </a:lnSpc>
              <a:spcBef>
                <a:spcPts val="0"/>
              </a:spcBef>
              <a:spcAft>
                <a:spcPts val="0"/>
              </a:spcAft>
              <a:buClrTx/>
              <a:buSzTx/>
              <a:buFontTx/>
              <a:buNone/>
              <a:tabLst/>
              <a:defRPr/>
            </a:pPr>
            <a:endParaRPr kumimoji="0" lang="es-ES" sz="2933" b="0" i="0" u="none" strike="noStrike" kern="1200" cap="none" spc="0" normalizeH="0" baseline="0" noProof="0" dirty="0">
              <a:ln>
                <a:noFill/>
              </a:ln>
              <a:solidFill>
                <a:prstClr val="white"/>
              </a:solidFill>
              <a:effectLst>
                <a:outerShdw blurRad="38100" dist="38100" dir="2700000" algn="tl">
                  <a:srgbClr val="000000"/>
                </a:outerShdw>
              </a:effectLst>
              <a:uLnTx/>
              <a:uFillTx/>
              <a:latin typeface="Gill Sans" charset="0"/>
              <a:ea typeface="+mn-ea"/>
              <a:cs typeface="Gill Sans" charset="0"/>
              <a:sym typeface="Gill Sans" charset="0"/>
            </a:endParaRPr>
          </a:p>
        </p:txBody>
      </p:sp>
    </p:spTree>
    <p:extLst>
      <p:ext uri="{BB962C8B-B14F-4D97-AF65-F5344CB8AC3E}">
        <p14:creationId xmlns:p14="http://schemas.microsoft.com/office/powerpoint/2010/main" val="3540077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本内容页">
    <p:spTree>
      <p:nvGrpSpPr>
        <p:cNvPr id="1" name=""/>
        <p:cNvGrpSpPr/>
        <p:nvPr/>
      </p:nvGrpSpPr>
      <p:grpSpPr>
        <a:xfrm>
          <a:off x="0" y="0"/>
          <a:ext cx="0" cy="0"/>
          <a:chOff x="0" y="0"/>
          <a:chExt cx="0" cy="0"/>
        </a:xfrm>
      </p:grpSpPr>
      <p:cxnSp>
        <p:nvCxnSpPr>
          <p:cNvPr id="7" name="直接连接符 6"/>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9"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
        <p:nvSpPr>
          <p:cNvPr id="3" name="文本占位符 2"/>
          <p:cNvSpPr>
            <a:spLocks noGrp="1"/>
          </p:cNvSpPr>
          <p:nvPr>
            <p:ph type="body" sz="quarter" idx="10"/>
          </p:nvPr>
        </p:nvSpPr>
        <p:spPr>
          <a:xfrm>
            <a:off x="393599" y="813468"/>
            <a:ext cx="11404800" cy="5660163"/>
          </a:xfrm>
        </p:spPr>
        <p:txBody>
          <a:bodyPr/>
          <a:lstStyle>
            <a:lvl1pPr>
              <a:lnSpc>
                <a:spcPct val="150000"/>
              </a:lnSpc>
              <a:defRPr b="1" i="0" baseline="0">
                <a:solidFill>
                  <a:schemeClr val="accent6"/>
                </a:solidFill>
                <a:latin typeface="微软雅黑" panose="020B0503020204020204" pitchFamily="34" charset="-122"/>
                <a:ea typeface="微软雅黑" panose="020B0503020204020204" pitchFamily="34" charset="-122"/>
              </a:defRPr>
            </a:lvl1pPr>
            <a:lvl2pPr marL="990575" indent="-380990">
              <a:lnSpc>
                <a:spcPct val="150000"/>
              </a:lnSpc>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2pPr>
            <a:lvl3pPr>
              <a:lnSpc>
                <a:spcPct val="150000"/>
              </a:lnSpc>
              <a:defRPr>
                <a:solidFill>
                  <a:schemeClr val="tx1"/>
                </a:solidFill>
                <a:latin typeface="微软雅黑" panose="020B0503020204020204" pitchFamily="34" charset="-122"/>
                <a:ea typeface="微软雅黑" panose="020B0503020204020204" pitchFamily="34" charset="-122"/>
                <a:cs typeface="Segoe UI" panose="020B0502040204020203" pitchFamily="34" charset="0"/>
              </a:defRPr>
            </a:lvl3pPr>
            <a:lvl4pPr>
              <a:lnSpc>
                <a:spcPct val="150000"/>
              </a:lnSpc>
              <a:defRPr>
                <a:solidFill>
                  <a:schemeClr val="tx1"/>
                </a:solidFill>
                <a:latin typeface="微软雅黑" panose="020B0503020204020204" pitchFamily="34" charset="-122"/>
                <a:ea typeface="微软雅黑" panose="020B0503020204020204" pitchFamily="34" charset="-122"/>
              </a:defRPr>
            </a:lvl4pPr>
            <a:lvl5pPr>
              <a:lnSpc>
                <a:spcPct val="150000"/>
              </a:lnSpc>
              <a:defRPr>
                <a:solidFill>
                  <a:schemeClr val="tx1"/>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open-book_338444"/>
          <p:cNvSpPr>
            <a:spLocks noChangeAspect="1"/>
          </p:cNvSpPr>
          <p:nvPr userDrawn="1"/>
        </p:nvSpPr>
        <p:spPr bwMode="auto">
          <a:xfrm>
            <a:off x="113016" y="146770"/>
            <a:ext cx="419300" cy="383762"/>
          </a:xfrm>
          <a:custGeom>
            <a:avLst/>
            <a:gdLst>
              <a:gd name="connsiteX0" fmla="*/ 169203 w 607639"/>
              <a:gd name="connsiteY0" fmla="*/ 329972 h 556139"/>
              <a:gd name="connsiteX1" fmla="*/ 188501 w 607639"/>
              <a:gd name="connsiteY1" fmla="*/ 331327 h 556139"/>
              <a:gd name="connsiteX2" fmla="*/ 239160 w 607639"/>
              <a:gd name="connsiteY2" fmla="*/ 356649 h 556139"/>
              <a:gd name="connsiteX3" fmla="*/ 250467 w 607639"/>
              <a:gd name="connsiteY3" fmla="*/ 390501 h 556139"/>
              <a:gd name="connsiteX4" fmla="*/ 216546 w 607639"/>
              <a:gd name="connsiteY4" fmla="*/ 401874 h 556139"/>
              <a:gd name="connsiteX5" fmla="*/ 165886 w 607639"/>
              <a:gd name="connsiteY5" fmla="*/ 376552 h 556139"/>
              <a:gd name="connsiteX6" fmla="*/ 154579 w 607639"/>
              <a:gd name="connsiteY6" fmla="*/ 342611 h 556139"/>
              <a:gd name="connsiteX7" fmla="*/ 169203 w 607639"/>
              <a:gd name="connsiteY7" fmla="*/ 329972 h 556139"/>
              <a:gd name="connsiteX8" fmla="*/ 169203 w 607639"/>
              <a:gd name="connsiteY8" fmla="*/ 228797 h 556139"/>
              <a:gd name="connsiteX9" fmla="*/ 188501 w 607639"/>
              <a:gd name="connsiteY9" fmla="*/ 230142 h 556139"/>
              <a:gd name="connsiteX10" fmla="*/ 239160 w 607639"/>
              <a:gd name="connsiteY10" fmla="*/ 255485 h 556139"/>
              <a:gd name="connsiteX11" fmla="*/ 250467 w 607639"/>
              <a:gd name="connsiteY11" fmla="*/ 289455 h 556139"/>
              <a:gd name="connsiteX12" fmla="*/ 216546 w 607639"/>
              <a:gd name="connsiteY12" fmla="*/ 300748 h 556139"/>
              <a:gd name="connsiteX13" fmla="*/ 165886 w 607639"/>
              <a:gd name="connsiteY13" fmla="*/ 275405 h 556139"/>
              <a:gd name="connsiteX14" fmla="*/ 154579 w 607639"/>
              <a:gd name="connsiteY14" fmla="*/ 241524 h 556139"/>
              <a:gd name="connsiteX15" fmla="*/ 169203 w 607639"/>
              <a:gd name="connsiteY15" fmla="*/ 228797 h 556139"/>
              <a:gd name="connsiteX16" fmla="*/ 169203 w 607639"/>
              <a:gd name="connsiteY16" fmla="*/ 127688 h 556139"/>
              <a:gd name="connsiteX17" fmla="*/ 188501 w 607639"/>
              <a:gd name="connsiteY17" fmla="*/ 129111 h 556139"/>
              <a:gd name="connsiteX18" fmla="*/ 239160 w 607639"/>
              <a:gd name="connsiteY18" fmla="*/ 154365 h 556139"/>
              <a:gd name="connsiteX19" fmla="*/ 250467 w 607639"/>
              <a:gd name="connsiteY19" fmla="*/ 188335 h 556139"/>
              <a:gd name="connsiteX20" fmla="*/ 216546 w 607639"/>
              <a:gd name="connsiteY20" fmla="*/ 199628 h 556139"/>
              <a:gd name="connsiteX21" fmla="*/ 165886 w 607639"/>
              <a:gd name="connsiteY21" fmla="*/ 174374 h 556139"/>
              <a:gd name="connsiteX22" fmla="*/ 154579 w 607639"/>
              <a:gd name="connsiteY22" fmla="*/ 140404 h 556139"/>
              <a:gd name="connsiteX23" fmla="*/ 169203 w 607639"/>
              <a:gd name="connsiteY23" fmla="*/ 127688 h 556139"/>
              <a:gd name="connsiteX24" fmla="*/ 356555 w 607639"/>
              <a:gd name="connsiteY24" fmla="*/ 116385 h 556139"/>
              <a:gd name="connsiteX25" fmla="*/ 329142 w 607639"/>
              <a:gd name="connsiteY25" fmla="*/ 121806 h 556139"/>
              <a:gd name="connsiteX26" fmla="*/ 329142 w 607639"/>
              <a:gd name="connsiteY26" fmla="*/ 493571 h 556139"/>
              <a:gd name="connsiteX27" fmla="*/ 385304 w 607639"/>
              <a:gd name="connsiteY27" fmla="*/ 471086 h 556139"/>
              <a:gd name="connsiteX28" fmla="*/ 361896 w 607639"/>
              <a:gd name="connsiteY28" fmla="*/ 447622 h 556139"/>
              <a:gd name="connsiteX29" fmla="*/ 361896 w 607639"/>
              <a:gd name="connsiteY29" fmla="*/ 411895 h 556139"/>
              <a:gd name="connsiteX30" fmla="*/ 394561 w 607639"/>
              <a:gd name="connsiteY30" fmla="*/ 379189 h 556139"/>
              <a:gd name="connsiteX31" fmla="*/ 361896 w 607639"/>
              <a:gd name="connsiteY31" fmla="*/ 346483 h 556139"/>
              <a:gd name="connsiteX32" fmla="*/ 361896 w 607639"/>
              <a:gd name="connsiteY32" fmla="*/ 310755 h 556139"/>
              <a:gd name="connsiteX33" fmla="*/ 394561 w 607639"/>
              <a:gd name="connsiteY33" fmla="*/ 278049 h 556139"/>
              <a:gd name="connsiteX34" fmla="*/ 361896 w 607639"/>
              <a:gd name="connsiteY34" fmla="*/ 245432 h 556139"/>
              <a:gd name="connsiteX35" fmla="*/ 361896 w 607639"/>
              <a:gd name="connsiteY35" fmla="*/ 209615 h 556139"/>
              <a:gd name="connsiteX36" fmla="*/ 394561 w 607639"/>
              <a:gd name="connsiteY36" fmla="*/ 176998 h 556139"/>
              <a:gd name="connsiteX37" fmla="*/ 361896 w 607639"/>
              <a:gd name="connsiteY37" fmla="*/ 144292 h 556139"/>
              <a:gd name="connsiteX38" fmla="*/ 360293 w 607639"/>
              <a:gd name="connsiteY38" fmla="*/ 142514 h 556139"/>
              <a:gd name="connsiteX39" fmla="*/ 359848 w 607639"/>
              <a:gd name="connsiteY39" fmla="*/ 141981 h 556139"/>
              <a:gd name="connsiteX40" fmla="*/ 358869 w 607639"/>
              <a:gd name="connsiteY40" fmla="*/ 140648 h 556139"/>
              <a:gd name="connsiteX41" fmla="*/ 358424 w 607639"/>
              <a:gd name="connsiteY41" fmla="*/ 140026 h 556139"/>
              <a:gd name="connsiteX42" fmla="*/ 357445 w 607639"/>
              <a:gd name="connsiteY42" fmla="*/ 138426 h 556139"/>
              <a:gd name="connsiteX43" fmla="*/ 357356 w 607639"/>
              <a:gd name="connsiteY43" fmla="*/ 138071 h 556139"/>
              <a:gd name="connsiteX44" fmla="*/ 356377 w 607639"/>
              <a:gd name="connsiteY44" fmla="*/ 136115 h 556139"/>
              <a:gd name="connsiteX45" fmla="*/ 356110 w 607639"/>
              <a:gd name="connsiteY45" fmla="*/ 135493 h 556139"/>
              <a:gd name="connsiteX46" fmla="*/ 355576 w 607639"/>
              <a:gd name="connsiteY46" fmla="*/ 133982 h 556139"/>
              <a:gd name="connsiteX47" fmla="*/ 355398 w 607639"/>
              <a:gd name="connsiteY47" fmla="*/ 133271 h 556139"/>
              <a:gd name="connsiteX48" fmla="*/ 355042 w 607639"/>
              <a:gd name="connsiteY48" fmla="*/ 131583 h 556139"/>
              <a:gd name="connsiteX49" fmla="*/ 354864 w 607639"/>
              <a:gd name="connsiteY49" fmla="*/ 131138 h 556139"/>
              <a:gd name="connsiteX50" fmla="*/ 354597 w 607639"/>
              <a:gd name="connsiteY50" fmla="*/ 128916 h 556139"/>
              <a:gd name="connsiteX51" fmla="*/ 354508 w 607639"/>
              <a:gd name="connsiteY51" fmla="*/ 128383 h 556139"/>
              <a:gd name="connsiteX52" fmla="*/ 354419 w 607639"/>
              <a:gd name="connsiteY52" fmla="*/ 126695 h 556139"/>
              <a:gd name="connsiteX53" fmla="*/ 354419 w 607639"/>
              <a:gd name="connsiteY53" fmla="*/ 126072 h 556139"/>
              <a:gd name="connsiteX54" fmla="*/ 354508 w 607639"/>
              <a:gd name="connsiteY54" fmla="*/ 124384 h 556139"/>
              <a:gd name="connsiteX55" fmla="*/ 354597 w 607639"/>
              <a:gd name="connsiteY55" fmla="*/ 123851 h 556139"/>
              <a:gd name="connsiteX56" fmla="*/ 354864 w 607639"/>
              <a:gd name="connsiteY56" fmla="*/ 121629 h 556139"/>
              <a:gd name="connsiteX57" fmla="*/ 354953 w 607639"/>
              <a:gd name="connsiteY57" fmla="*/ 121273 h 556139"/>
              <a:gd name="connsiteX58" fmla="*/ 355398 w 607639"/>
              <a:gd name="connsiteY58" fmla="*/ 119496 h 556139"/>
              <a:gd name="connsiteX59" fmla="*/ 355576 w 607639"/>
              <a:gd name="connsiteY59" fmla="*/ 118785 h 556139"/>
              <a:gd name="connsiteX60" fmla="*/ 356110 w 607639"/>
              <a:gd name="connsiteY60" fmla="*/ 117274 h 556139"/>
              <a:gd name="connsiteX61" fmla="*/ 356377 w 607639"/>
              <a:gd name="connsiteY61" fmla="*/ 116652 h 556139"/>
              <a:gd name="connsiteX62" fmla="*/ 356555 w 607639"/>
              <a:gd name="connsiteY62" fmla="*/ 116385 h 556139"/>
              <a:gd name="connsiteX63" fmla="*/ 50644 w 607639"/>
              <a:gd name="connsiteY63" fmla="*/ 101454 h 556139"/>
              <a:gd name="connsiteX64" fmla="*/ 50644 w 607639"/>
              <a:gd name="connsiteY64" fmla="*/ 505569 h 556139"/>
              <a:gd name="connsiteX65" fmla="*/ 164126 w 607639"/>
              <a:gd name="connsiteY65" fmla="*/ 505569 h 556139"/>
              <a:gd name="connsiteX66" fmla="*/ 93634 w 607639"/>
              <a:gd name="connsiteY66" fmla="*/ 479173 h 556139"/>
              <a:gd name="connsiteX67" fmla="*/ 92388 w 607639"/>
              <a:gd name="connsiteY67" fmla="*/ 478729 h 556139"/>
              <a:gd name="connsiteX68" fmla="*/ 92210 w 607639"/>
              <a:gd name="connsiteY68" fmla="*/ 478640 h 556139"/>
              <a:gd name="connsiteX69" fmla="*/ 90518 w 607639"/>
              <a:gd name="connsiteY69" fmla="*/ 477929 h 556139"/>
              <a:gd name="connsiteX70" fmla="*/ 89539 w 607639"/>
              <a:gd name="connsiteY70" fmla="*/ 477396 h 556139"/>
              <a:gd name="connsiteX71" fmla="*/ 88827 w 607639"/>
              <a:gd name="connsiteY71" fmla="*/ 477040 h 556139"/>
              <a:gd name="connsiteX72" fmla="*/ 75922 w 607639"/>
              <a:gd name="connsiteY72" fmla="*/ 454999 h 556139"/>
              <a:gd name="connsiteX73" fmla="*/ 75922 w 607639"/>
              <a:gd name="connsiteY73" fmla="*/ 101721 h 556139"/>
              <a:gd name="connsiteX74" fmla="*/ 440843 w 607639"/>
              <a:gd name="connsiteY74" fmla="*/ 101098 h 556139"/>
              <a:gd name="connsiteX75" fmla="*/ 415566 w 607639"/>
              <a:gd name="connsiteY75" fmla="*/ 126428 h 556139"/>
              <a:gd name="connsiteX76" fmla="*/ 448320 w 607639"/>
              <a:gd name="connsiteY76" fmla="*/ 159045 h 556139"/>
              <a:gd name="connsiteX77" fmla="*/ 448320 w 607639"/>
              <a:gd name="connsiteY77" fmla="*/ 194862 h 556139"/>
              <a:gd name="connsiteX78" fmla="*/ 415566 w 607639"/>
              <a:gd name="connsiteY78" fmla="*/ 227479 h 556139"/>
              <a:gd name="connsiteX79" fmla="*/ 448320 w 607639"/>
              <a:gd name="connsiteY79" fmla="*/ 260185 h 556139"/>
              <a:gd name="connsiteX80" fmla="*/ 448320 w 607639"/>
              <a:gd name="connsiteY80" fmla="*/ 295913 h 556139"/>
              <a:gd name="connsiteX81" fmla="*/ 415566 w 607639"/>
              <a:gd name="connsiteY81" fmla="*/ 328619 h 556139"/>
              <a:gd name="connsiteX82" fmla="*/ 448320 w 607639"/>
              <a:gd name="connsiteY82" fmla="*/ 361325 h 556139"/>
              <a:gd name="connsiteX83" fmla="*/ 448320 w 607639"/>
              <a:gd name="connsiteY83" fmla="*/ 397053 h 556139"/>
              <a:gd name="connsiteX84" fmla="*/ 415566 w 607639"/>
              <a:gd name="connsiteY84" fmla="*/ 429759 h 556139"/>
              <a:gd name="connsiteX85" fmla="*/ 448320 w 607639"/>
              <a:gd name="connsiteY85" fmla="*/ 462465 h 556139"/>
              <a:gd name="connsiteX86" fmla="*/ 450100 w 607639"/>
              <a:gd name="connsiteY86" fmla="*/ 464420 h 556139"/>
              <a:gd name="connsiteX87" fmla="*/ 451435 w 607639"/>
              <a:gd name="connsiteY87" fmla="*/ 466286 h 556139"/>
              <a:gd name="connsiteX88" fmla="*/ 452859 w 607639"/>
              <a:gd name="connsiteY88" fmla="*/ 468597 h 556139"/>
              <a:gd name="connsiteX89" fmla="*/ 453037 w 607639"/>
              <a:gd name="connsiteY89" fmla="*/ 469041 h 556139"/>
              <a:gd name="connsiteX90" fmla="*/ 453304 w 607639"/>
              <a:gd name="connsiteY90" fmla="*/ 469486 h 556139"/>
              <a:gd name="connsiteX91" fmla="*/ 453749 w 607639"/>
              <a:gd name="connsiteY91" fmla="*/ 470463 h 556139"/>
              <a:gd name="connsiteX92" fmla="*/ 453838 w 607639"/>
              <a:gd name="connsiteY92" fmla="*/ 470641 h 556139"/>
              <a:gd name="connsiteX93" fmla="*/ 454283 w 607639"/>
              <a:gd name="connsiteY93" fmla="*/ 471885 h 556139"/>
              <a:gd name="connsiteX94" fmla="*/ 455529 w 607639"/>
              <a:gd name="connsiteY94" fmla="*/ 477040 h 556139"/>
              <a:gd name="connsiteX95" fmla="*/ 455707 w 607639"/>
              <a:gd name="connsiteY95" fmla="*/ 480862 h 556139"/>
              <a:gd name="connsiteX96" fmla="*/ 455618 w 607639"/>
              <a:gd name="connsiteY96" fmla="*/ 481839 h 556139"/>
              <a:gd name="connsiteX97" fmla="*/ 455618 w 607639"/>
              <a:gd name="connsiteY97" fmla="*/ 482373 h 556139"/>
              <a:gd name="connsiteX98" fmla="*/ 454639 w 607639"/>
              <a:gd name="connsiteY98" fmla="*/ 487527 h 556139"/>
              <a:gd name="connsiteX99" fmla="*/ 453304 w 607639"/>
              <a:gd name="connsiteY99" fmla="*/ 491171 h 556139"/>
              <a:gd name="connsiteX100" fmla="*/ 452058 w 607639"/>
              <a:gd name="connsiteY100" fmla="*/ 493393 h 556139"/>
              <a:gd name="connsiteX101" fmla="*/ 451880 w 607639"/>
              <a:gd name="connsiteY101" fmla="*/ 493838 h 556139"/>
              <a:gd name="connsiteX102" fmla="*/ 450189 w 607639"/>
              <a:gd name="connsiteY102" fmla="*/ 496059 h 556139"/>
              <a:gd name="connsiteX103" fmla="*/ 450011 w 607639"/>
              <a:gd name="connsiteY103" fmla="*/ 496326 h 556139"/>
              <a:gd name="connsiteX104" fmla="*/ 439775 w 607639"/>
              <a:gd name="connsiteY104" fmla="*/ 503792 h 556139"/>
              <a:gd name="connsiteX105" fmla="*/ 438707 w 607639"/>
              <a:gd name="connsiteY105" fmla="*/ 504236 h 556139"/>
              <a:gd name="connsiteX106" fmla="*/ 435236 w 607639"/>
              <a:gd name="connsiteY106" fmla="*/ 505569 h 556139"/>
              <a:gd name="connsiteX107" fmla="*/ 556995 w 607639"/>
              <a:gd name="connsiteY107" fmla="*/ 505569 h 556139"/>
              <a:gd name="connsiteX108" fmla="*/ 556995 w 607639"/>
              <a:gd name="connsiteY108" fmla="*/ 101098 h 556139"/>
              <a:gd name="connsiteX109" fmla="*/ 126566 w 607639"/>
              <a:gd name="connsiteY109" fmla="*/ 61727 h 556139"/>
              <a:gd name="connsiteX110" fmla="*/ 126566 w 607639"/>
              <a:gd name="connsiteY110" fmla="*/ 437491 h 556139"/>
              <a:gd name="connsiteX111" fmla="*/ 278498 w 607639"/>
              <a:gd name="connsiteY111" fmla="*/ 494371 h 556139"/>
              <a:gd name="connsiteX112" fmla="*/ 278498 w 607639"/>
              <a:gd name="connsiteY112" fmla="*/ 118607 h 556139"/>
              <a:gd name="connsiteX113" fmla="*/ 110189 w 607639"/>
              <a:gd name="connsiteY113" fmla="*/ 1647 h 556139"/>
              <a:gd name="connsiteX114" fmla="*/ 305911 w 607639"/>
              <a:gd name="connsiteY114" fmla="*/ 74880 h 556139"/>
              <a:gd name="connsiteX115" fmla="*/ 425445 w 607639"/>
              <a:gd name="connsiteY115" fmla="*/ 51062 h 556139"/>
              <a:gd name="connsiteX116" fmla="*/ 432210 w 607639"/>
              <a:gd name="connsiteY116" fmla="*/ 50529 h 556139"/>
              <a:gd name="connsiteX117" fmla="*/ 582273 w 607639"/>
              <a:gd name="connsiteY117" fmla="*/ 50529 h 556139"/>
              <a:gd name="connsiteX118" fmla="*/ 607639 w 607639"/>
              <a:gd name="connsiteY118" fmla="*/ 75858 h 556139"/>
              <a:gd name="connsiteX119" fmla="*/ 607639 w 607639"/>
              <a:gd name="connsiteY119" fmla="*/ 530898 h 556139"/>
              <a:gd name="connsiteX120" fmla="*/ 582273 w 607639"/>
              <a:gd name="connsiteY120" fmla="*/ 556139 h 556139"/>
              <a:gd name="connsiteX121" fmla="*/ 304665 w 607639"/>
              <a:gd name="connsiteY121" fmla="*/ 556139 h 556139"/>
              <a:gd name="connsiteX122" fmla="*/ 304042 w 607639"/>
              <a:gd name="connsiteY122" fmla="*/ 556139 h 556139"/>
              <a:gd name="connsiteX123" fmla="*/ 303063 w 607639"/>
              <a:gd name="connsiteY123" fmla="*/ 556139 h 556139"/>
              <a:gd name="connsiteX124" fmla="*/ 302796 w 607639"/>
              <a:gd name="connsiteY124" fmla="*/ 556139 h 556139"/>
              <a:gd name="connsiteX125" fmla="*/ 25278 w 607639"/>
              <a:gd name="connsiteY125" fmla="*/ 556139 h 556139"/>
              <a:gd name="connsiteX126" fmla="*/ 0 w 607639"/>
              <a:gd name="connsiteY126" fmla="*/ 530898 h 556139"/>
              <a:gd name="connsiteX127" fmla="*/ 0 w 607639"/>
              <a:gd name="connsiteY127" fmla="*/ 75858 h 556139"/>
              <a:gd name="connsiteX128" fmla="*/ 25634 w 607639"/>
              <a:gd name="connsiteY128" fmla="*/ 50529 h 556139"/>
              <a:gd name="connsiteX129" fmla="*/ 75922 w 607639"/>
              <a:gd name="connsiteY129" fmla="*/ 51151 h 556139"/>
              <a:gd name="connsiteX130" fmla="*/ 75922 w 607639"/>
              <a:gd name="connsiteY130" fmla="*/ 25288 h 556139"/>
              <a:gd name="connsiteX131" fmla="*/ 110189 w 607639"/>
              <a:gd name="connsiteY131" fmla="*/ 1647 h 5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607639" h="556139">
                <a:moveTo>
                  <a:pt x="169203" y="329972"/>
                </a:moveTo>
                <a:cubicBezTo>
                  <a:pt x="175346" y="327929"/>
                  <a:pt x="182268" y="328217"/>
                  <a:pt x="188501" y="331327"/>
                </a:cubicBezTo>
                <a:lnTo>
                  <a:pt x="239160" y="356649"/>
                </a:lnTo>
                <a:cubicBezTo>
                  <a:pt x="251713" y="362869"/>
                  <a:pt x="256788" y="378062"/>
                  <a:pt x="250467" y="390501"/>
                </a:cubicBezTo>
                <a:cubicBezTo>
                  <a:pt x="244235" y="403029"/>
                  <a:pt x="229010" y="408093"/>
                  <a:pt x="216546" y="401874"/>
                </a:cubicBezTo>
                <a:lnTo>
                  <a:pt x="165886" y="376552"/>
                </a:lnTo>
                <a:cubicBezTo>
                  <a:pt x="153333" y="370332"/>
                  <a:pt x="148258" y="355139"/>
                  <a:pt x="154579" y="342611"/>
                </a:cubicBezTo>
                <a:cubicBezTo>
                  <a:pt x="157696" y="336391"/>
                  <a:pt x="163060" y="332016"/>
                  <a:pt x="169203" y="329972"/>
                </a:cubicBezTo>
                <a:close/>
                <a:moveTo>
                  <a:pt x="169203" y="228797"/>
                </a:moveTo>
                <a:cubicBezTo>
                  <a:pt x="175346" y="226741"/>
                  <a:pt x="182268" y="227030"/>
                  <a:pt x="188501" y="230142"/>
                </a:cubicBezTo>
                <a:lnTo>
                  <a:pt x="239160" y="255485"/>
                </a:lnTo>
                <a:cubicBezTo>
                  <a:pt x="251713" y="261710"/>
                  <a:pt x="256788" y="276916"/>
                  <a:pt x="250467" y="289455"/>
                </a:cubicBezTo>
                <a:cubicBezTo>
                  <a:pt x="244235" y="301904"/>
                  <a:pt x="229010" y="306973"/>
                  <a:pt x="216546" y="300748"/>
                </a:cubicBezTo>
                <a:lnTo>
                  <a:pt x="165886" y="275405"/>
                </a:lnTo>
                <a:cubicBezTo>
                  <a:pt x="153333" y="269180"/>
                  <a:pt x="148258" y="253974"/>
                  <a:pt x="154579" y="241524"/>
                </a:cubicBezTo>
                <a:cubicBezTo>
                  <a:pt x="157696" y="235255"/>
                  <a:pt x="163060" y="230853"/>
                  <a:pt x="169203" y="228797"/>
                </a:cubicBezTo>
                <a:close/>
                <a:moveTo>
                  <a:pt x="169203" y="127688"/>
                </a:moveTo>
                <a:cubicBezTo>
                  <a:pt x="175346" y="125643"/>
                  <a:pt x="182268" y="125954"/>
                  <a:pt x="188501" y="129111"/>
                </a:cubicBezTo>
                <a:lnTo>
                  <a:pt x="239160" y="154365"/>
                </a:lnTo>
                <a:cubicBezTo>
                  <a:pt x="251713" y="160590"/>
                  <a:pt x="256788" y="175796"/>
                  <a:pt x="250467" y="188335"/>
                </a:cubicBezTo>
                <a:cubicBezTo>
                  <a:pt x="244235" y="200784"/>
                  <a:pt x="229010" y="205853"/>
                  <a:pt x="216546" y="199628"/>
                </a:cubicBezTo>
                <a:lnTo>
                  <a:pt x="165886" y="174374"/>
                </a:lnTo>
                <a:cubicBezTo>
                  <a:pt x="153333" y="168060"/>
                  <a:pt x="148258" y="152854"/>
                  <a:pt x="154579" y="140404"/>
                </a:cubicBezTo>
                <a:cubicBezTo>
                  <a:pt x="157696" y="134135"/>
                  <a:pt x="163060" y="129733"/>
                  <a:pt x="169203" y="127688"/>
                </a:cubicBezTo>
                <a:close/>
                <a:moveTo>
                  <a:pt x="356555" y="116385"/>
                </a:moveTo>
                <a:lnTo>
                  <a:pt x="329142" y="121806"/>
                </a:lnTo>
                <a:lnTo>
                  <a:pt x="329142" y="493571"/>
                </a:lnTo>
                <a:lnTo>
                  <a:pt x="385304" y="471086"/>
                </a:lnTo>
                <a:lnTo>
                  <a:pt x="361896" y="447622"/>
                </a:lnTo>
                <a:cubicBezTo>
                  <a:pt x="352016" y="437757"/>
                  <a:pt x="352016" y="421760"/>
                  <a:pt x="361896" y="411895"/>
                </a:cubicBezTo>
                <a:lnTo>
                  <a:pt x="394561" y="379189"/>
                </a:lnTo>
                <a:lnTo>
                  <a:pt x="361896" y="346483"/>
                </a:lnTo>
                <a:cubicBezTo>
                  <a:pt x="352016" y="336618"/>
                  <a:pt x="352016" y="320620"/>
                  <a:pt x="361896" y="310755"/>
                </a:cubicBezTo>
                <a:lnTo>
                  <a:pt x="394561" y="278049"/>
                </a:lnTo>
                <a:lnTo>
                  <a:pt x="361896" y="245432"/>
                </a:lnTo>
                <a:cubicBezTo>
                  <a:pt x="352016" y="235567"/>
                  <a:pt x="352016" y="219480"/>
                  <a:pt x="361896" y="209615"/>
                </a:cubicBezTo>
                <a:lnTo>
                  <a:pt x="394561" y="176998"/>
                </a:lnTo>
                <a:lnTo>
                  <a:pt x="361896" y="144292"/>
                </a:lnTo>
                <a:cubicBezTo>
                  <a:pt x="361273" y="143759"/>
                  <a:pt x="360739" y="143136"/>
                  <a:pt x="360293" y="142514"/>
                </a:cubicBezTo>
                <a:cubicBezTo>
                  <a:pt x="360115" y="142337"/>
                  <a:pt x="360026" y="142159"/>
                  <a:pt x="359848" y="141981"/>
                </a:cubicBezTo>
                <a:cubicBezTo>
                  <a:pt x="359492" y="141537"/>
                  <a:pt x="359136" y="141092"/>
                  <a:pt x="358869" y="140648"/>
                </a:cubicBezTo>
                <a:cubicBezTo>
                  <a:pt x="358691" y="140470"/>
                  <a:pt x="358602" y="140292"/>
                  <a:pt x="358424" y="140026"/>
                </a:cubicBezTo>
                <a:cubicBezTo>
                  <a:pt x="358157" y="139493"/>
                  <a:pt x="357801" y="138959"/>
                  <a:pt x="357445" y="138426"/>
                </a:cubicBezTo>
                <a:cubicBezTo>
                  <a:pt x="357445" y="138337"/>
                  <a:pt x="357356" y="138159"/>
                  <a:pt x="357356" y="138071"/>
                </a:cubicBezTo>
                <a:cubicBezTo>
                  <a:pt x="357000" y="137448"/>
                  <a:pt x="356644" y="136737"/>
                  <a:pt x="356377" y="136115"/>
                </a:cubicBezTo>
                <a:cubicBezTo>
                  <a:pt x="356288" y="135849"/>
                  <a:pt x="356199" y="135671"/>
                  <a:pt x="356110" y="135493"/>
                </a:cubicBezTo>
                <a:cubicBezTo>
                  <a:pt x="355932" y="134960"/>
                  <a:pt x="355754" y="134516"/>
                  <a:pt x="355576" y="133982"/>
                </a:cubicBezTo>
                <a:cubicBezTo>
                  <a:pt x="355576" y="133716"/>
                  <a:pt x="355487" y="133538"/>
                  <a:pt x="355398" y="133271"/>
                </a:cubicBezTo>
                <a:cubicBezTo>
                  <a:pt x="355220" y="132738"/>
                  <a:pt x="355131" y="132205"/>
                  <a:pt x="355042" y="131583"/>
                </a:cubicBezTo>
                <a:cubicBezTo>
                  <a:pt x="354953" y="131405"/>
                  <a:pt x="354953" y="131316"/>
                  <a:pt x="354864" y="131138"/>
                </a:cubicBezTo>
                <a:cubicBezTo>
                  <a:pt x="354775" y="130427"/>
                  <a:pt x="354686" y="129716"/>
                  <a:pt x="354597" y="128916"/>
                </a:cubicBezTo>
                <a:cubicBezTo>
                  <a:pt x="354597" y="128739"/>
                  <a:pt x="354597" y="128561"/>
                  <a:pt x="354508" y="128383"/>
                </a:cubicBezTo>
                <a:cubicBezTo>
                  <a:pt x="354508" y="127850"/>
                  <a:pt x="354508" y="127317"/>
                  <a:pt x="354419" y="126695"/>
                </a:cubicBezTo>
                <a:cubicBezTo>
                  <a:pt x="354419" y="126517"/>
                  <a:pt x="354419" y="126250"/>
                  <a:pt x="354419" y="126072"/>
                </a:cubicBezTo>
                <a:cubicBezTo>
                  <a:pt x="354508" y="125450"/>
                  <a:pt x="354508" y="124917"/>
                  <a:pt x="354508" y="124384"/>
                </a:cubicBezTo>
                <a:cubicBezTo>
                  <a:pt x="354597" y="124206"/>
                  <a:pt x="354597" y="124028"/>
                  <a:pt x="354597" y="123851"/>
                </a:cubicBezTo>
                <a:cubicBezTo>
                  <a:pt x="354686" y="123051"/>
                  <a:pt x="354775" y="122340"/>
                  <a:pt x="354864" y="121629"/>
                </a:cubicBezTo>
                <a:cubicBezTo>
                  <a:pt x="354953" y="121540"/>
                  <a:pt x="354953" y="121362"/>
                  <a:pt x="354953" y="121273"/>
                </a:cubicBezTo>
                <a:cubicBezTo>
                  <a:pt x="355131" y="120651"/>
                  <a:pt x="355220" y="120118"/>
                  <a:pt x="355398" y="119496"/>
                </a:cubicBezTo>
                <a:cubicBezTo>
                  <a:pt x="355487" y="119229"/>
                  <a:pt x="355576" y="119051"/>
                  <a:pt x="355576" y="118785"/>
                </a:cubicBezTo>
                <a:cubicBezTo>
                  <a:pt x="355754" y="118340"/>
                  <a:pt x="355932" y="117807"/>
                  <a:pt x="356110" y="117274"/>
                </a:cubicBezTo>
                <a:cubicBezTo>
                  <a:pt x="356199" y="117096"/>
                  <a:pt x="356288" y="116918"/>
                  <a:pt x="356377" y="116652"/>
                </a:cubicBezTo>
                <a:cubicBezTo>
                  <a:pt x="356466" y="116563"/>
                  <a:pt x="356466" y="116474"/>
                  <a:pt x="356555" y="116385"/>
                </a:cubicBezTo>
                <a:close/>
                <a:moveTo>
                  <a:pt x="50644" y="101454"/>
                </a:moveTo>
                <a:lnTo>
                  <a:pt x="50644" y="505569"/>
                </a:lnTo>
                <a:lnTo>
                  <a:pt x="164126" y="505569"/>
                </a:lnTo>
                <a:lnTo>
                  <a:pt x="93634" y="479173"/>
                </a:lnTo>
                <a:lnTo>
                  <a:pt x="92388" y="478729"/>
                </a:lnTo>
                <a:cubicBezTo>
                  <a:pt x="92299" y="478640"/>
                  <a:pt x="92299" y="478640"/>
                  <a:pt x="92210" y="478640"/>
                </a:cubicBezTo>
                <a:cubicBezTo>
                  <a:pt x="91676" y="478462"/>
                  <a:pt x="91142" y="478196"/>
                  <a:pt x="90518" y="477929"/>
                </a:cubicBezTo>
                <a:cubicBezTo>
                  <a:pt x="90251" y="477751"/>
                  <a:pt x="89895" y="477573"/>
                  <a:pt x="89539" y="477396"/>
                </a:cubicBezTo>
                <a:cubicBezTo>
                  <a:pt x="89361" y="477307"/>
                  <a:pt x="89094" y="477218"/>
                  <a:pt x="88827" y="477040"/>
                </a:cubicBezTo>
                <a:cubicBezTo>
                  <a:pt x="80995" y="472596"/>
                  <a:pt x="75922" y="464242"/>
                  <a:pt x="75922" y="454999"/>
                </a:cubicBezTo>
                <a:lnTo>
                  <a:pt x="75922" y="101721"/>
                </a:lnTo>
                <a:close/>
                <a:moveTo>
                  <a:pt x="440843" y="101098"/>
                </a:moveTo>
                <a:lnTo>
                  <a:pt x="415566" y="126428"/>
                </a:lnTo>
                <a:lnTo>
                  <a:pt x="448320" y="159045"/>
                </a:lnTo>
                <a:cubicBezTo>
                  <a:pt x="458199" y="168910"/>
                  <a:pt x="458199" y="184997"/>
                  <a:pt x="448320" y="194862"/>
                </a:cubicBezTo>
                <a:lnTo>
                  <a:pt x="415566" y="227479"/>
                </a:lnTo>
                <a:lnTo>
                  <a:pt x="448320" y="260185"/>
                </a:lnTo>
                <a:cubicBezTo>
                  <a:pt x="458199" y="270050"/>
                  <a:pt x="458199" y="286048"/>
                  <a:pt x="448320" y="295913"/>
                </a:cubicBezTo>
                <a:lnTo>
                  <a:pt x="415566" y="328619"/>
                </a:lnTo>
                <a:lnTo>
                  <a:pt x="448320" y="361325"/>
                </a:lnTo>
                <a:cubicBezTo>
                  <a:pt x="458199" y="371190"/>
                  <a:pt x="458199" y="387187"/>
                  <a:pt x="448320" y="397053"/>
                </a:cubicBezTo>
                <a:lnTo>
                  <a:pt x="415566" y="429759"/>
                </a:lnTo>
                <a:lnTo>
                  <a:pt x="448320" y="462465"/>
                </a:lnTo>
                <a:cubicBezTo>
                  <a:pt x="448943" y="463087"/>
                  <a:pt x="449566" y="463798"/>
                  <a:pt x="450100" y="464420"/>
                </a:cubicBezTo>
                <a:cubicBezTo>
                  <a:pt x="450545" y="465042"/>
                  <a:pt x="451079" y="465664"/>
                  <a:pt x="451435" y="466286"/>
                </a:cubicBezTo>
                <a:cubicBezTo>
                  <a:pt x="451969" y="466997"/>
                  <a:pt x="452414" y="467797"/>
                  <a:pt x="452859" y="468597"/>
                </a:cubicBezTo>
                <a:cubicBezTo>
                  <a:pt x="452948" y="468775"/>
                  <a:pt x="453037" y="468864"/>
                  <a:pt x="453037" y="469041"/>
                </a:cubicBezTo>
                <a:cubicBezTo>
                  <a:pt x="453126" y="469130"/>
                  <a:pt x="453215" y="469308"/>
                  <a:pt x="453304" y="469486"/>
                </a:cubicBezTo>
                <a:cubicBezTo>
                  <a:pt x="453482" y="469841"/>
                  <a:pt x="453571" y="470108"/>
                  <a:pt x="453749" y="470463"/>
                </a:cubicBezTo>
                <a:cubicBezTo>
                  <a:pt x="453749" y="470552"/>
                  <a:pt x="453749" y="470552"/>
                  <a:pt x="453838" y="470641"/>
                </a:cubicBezTo>
                <a:cubicBezTo>
                  <a:pt x="454016" y="471086"/>
                  <a:pt x="454194" y="471441"/>
                  <a:pt x="454283" y="471885"/>
                </a:cubicBezTo>
                <a:cubicBezTo>
                  <a:pt x="454906" y="473574"/>
                  <a:pt x="455262" y="475352"/>
                  <a:pt x="455529" y="477040"/>
                </a:cubicBezTo>
                <a:cubicBezTo>
                  <a:pt x="455707" y="478373"/>
                  <a:pt x="455707" y="479618"/>
                  <a:pt x="455707" y="480862"/>
                </a:cubicBezTo>
                <a:cubicBezTo>
                  <a:pt x="455707" y="481217"/>
                  <a:pt x="455707" y="481484"/>
                  <a:pt x="455618" y="481839"/>
                </a:cubicBezTo>
                <a:cubicBezTo>
                  <a:pt x="455618" y="482017"/>
                  <a:pt x="455618" y="482195"/>
                  <a:pt x="455618" y="482373"/>
                </a:cubicBezTo>
                <a:cubicBezTo>
                  <a:pt x="455440" y="484150"/>
                  <a:pt x="455173" y="485839"/>
                  <a:pt x="454639" y="487527"/>
                </a:cubicBezTo>
                <a:cubicBezTo>
                  <a:pt x="454283" y="488772"/>
                  <a:pt x="453838" y="489927"/>
                  <a:pt x="453304" y="491171"/>
                </a:cubicBezTo>
                <a:cubicBezTo>
                  <a:pt x="452948" y="491882"/>
                  <a:pt x="452503" y="492682"/>
                  <a:pt x="452058" y="493393"/>
                </a:cubicBezTo>
                <a:cubicBezTo>
                  <a:pt x="451969" y="493482"/>
                  <a:pt x="451880" y="493660"/>
                  <a:pt x="451880" y="493838"/>
                </a:cubicBezTo>
                <a:cubicBezTo>
                  <a:pt x="451346" y="494549"/>
                  <a:pt x="450812" y="495348"/>
                  <a:pt x="450189" y="496059"/>
                </a:cubicBezTo>
                <a:cubicBezTo>
                  <a:pt x="450189" y="496148"/>
                  <a:pt x="450100" y="496237"/>
                  <a:pt x="450011" y="496326"/>
                </a:cubicBezTo>
                <a:cubicBezTo>
                  <a:pt x="447430" y="499526"/>
                  <a:pt x="444047" y="502103"/>
                  <a:pt x="439775" y="503792"/>
                </a:cubicBezTo>
                <a:lnTo>
                  <a:pt x="438707" y="504236"/>
                </a:lnTo>
                <a:lnTo>
                  <a:pt x="435236" y="505569"/>
                </a:lnTo>
                <a:lnTo>
                  <a:pt x="556995" y="505569"/>
                </a:lnTo>
                <a:lnTo>
                  <a:pt x="556995" y="101098"/>
                </a:lnTo>
                <a:close/>
                <a:moveTo>
                  <a:pt x="126566" y="61727"/>
                </a:moveTo>
                <a:lnTo>
                  <a:pt x="126566" y="437491"/>
                </a:lnTo>
                <a:lnTo>
                  <a:pt x="278498" y="494371"/>
                </a:lnTo>
                <a:lnTo>
                  <a:pt x="278498" y="118607"/>
                </a:lnTo>
                <a:close/>
                <a:moveTo>
                  <a:pt x="110189" y="1647"/>
                </a:moveTo>
                <a:lnTo>
                  <a:pt x="305911" y="74880"/>
                </a:lnTo>
                <a:lnTo>
                  <a:pt x="425445" y="51062"/>
                </a:lnTo>
                <a:cubicBezTo>
                  <a:pt x="427759" y="50617"/>
                  <a:pt x="430074" y="50440"/>
                  <a:pt x="432210" y="50529"/>
                </a:cubicBezTo>
                <a:lnTo>
                  <a:pt x="582273" y="50529"/>
                </a:lnTo>
                <a:cubicBezTo>
                  <a:pt x="596246" y="50529"/>
                  <a:pt x="607639" y="61905"/>
                  <a:pt x="607639" y="75858"/>
                </a:cubicBezTo>
                <a:lnTo>
                  <a:pt x="607639" y="530898"/>
                </a:lnTo>
                <a:cubicBezTo>
                  <a:pt x="607639" y="544852"/>
                  <a:pt x="596246" y="556139"/>
                  <a:pt x="582273" y="556139"/>
                </a:cubicBezTo>
                <a:lnTo>
                  <a:pt x="304665" y="556139"/>
                </a:lnTo>
                <a:cubicBezTo>
                  <a:pt x="304487" y="556139"/>
                  <a:pt x="304220" y="556139"/>
                  <a:pt x="304042" y="556139"/>
                </a:cubicBezTo>
                <a:cubicBezTo>
                  <a:pt x="303686" y="556139"/>
                  <a:pt x="303330" y="556139"/>
                  <a:pt x="303063" y="556139"/>
                </a:cubicBezTo>
                <a:cubicBezTo>
                  <a:pt x="302974" y="556139"/>
                  <a:pt x="302885" y="556139"/>
                  <a:pt x="302796" y="556139"/>
                </a:cubicBezTo>
                <a:lnTo>
                  <a:pt x="25278" y="556139"/>
                </a:lnTo>
                <a:cubicBezTo>
                  <a:pt x="11304" y="556139"/>
                  <a:pt x="0" y="544852"/>
                  <a:pt x="0" y="530898"/>
                </a:cubicBezTo>
                <a:lnTo>
                  <a:pt x="0" y="75858"/>
                </a:lnTo>
                <a:cubicBezTo>
                  <a:pt x="0" y="61727"/>
                  <a:pt x="11482" y="50351"/>
                  <a:pt x="25634" y="50529"/>
                </a:cubicBezTo>
                <a:lnTo>
                  <a:pt x="75922" y="51151"/>
                </a:lnTo>
                <a:lnTo>
                  <a:pt x="75922" y="25288"/>
                </a:lnTo>
                <a:cubicBezTo>
                  <a:pt x="75922" y="7602"/>
                  <a:pt x="93634" y="-4574"/>
                  <a:pt x="110189" y="1647"/>
                </a:cubicBezTo>
                <a:close/>
              </a:path>
            </a:pathLst>
          </a:custGeom>
          <a:solidFill>
            <a:schemeClr val="accent6">
              <a:lumMod val="50000"/>
            </a:schemeClr>
          </a:solidFill>
          <a:ln>
            <a:noFill/>
          </a:ln>
        </p:spPr>
        <p:txBody>
          <a:bodyPr/>
          <a:lstStyle/>
          <a:p>
            <a:endParaRPr lang="zh-CN" altLang="en-US"/>
          </a:p>
        </p:txBody>
      </p:sp>
    </p:spTree>
    <p:extLst>
      <p:ext uri="{BB962C8B-B14F-4D97-AF65-F5344CB8AC3E}">
        <p14:creationId xmlns:p14="http://schemas.microsoft.com/office/powerpoint/2010/main" val="2035228403"/>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例子内容页">
    <p:spTree>
      <p:nvGrpSpPr>
        <p:cNvPr id="1" name=""/>
        <p:cNvGrpSpPr/>
        <p:nvPr/>
      </p:nvGrpSpPr>
      <p:grpSpPr>
        <a:xfrm>
          <a:off x="0" y="0"/>
          <a:ext cx="0" cy="0"/>
          <a:chOff x="0" y="0"/>
          <a:chExt cx="0" cy="0"/>
        </a:xfrm>
      </p:grpSpPr>
      <p:sp>
        <p:nvSpPr>
          <p:cNvPr id="11" name="文本占位符 2"/>
          <p:cNvSpPr>
            <a:spLocks noGrp="1"/>
          </p:cNvSpPr>
          <p:nvPr>
            <p:ph type="body" sz="quarter" idx="10"/>
          </p:nvPr>
        </p:nvSpPr>
        <p:spPr>
          <a:xfrm>
            <a:off x="609600" y="816002"/>
            <a:ext cx="10972800" cy="5657629"/>
          </a:xfrm>
          <a:solidFill>
            <a:schemeClr val="accent1">
              <a:lumMod val="40000"/>
              <a:lumOff val="60000"/>
              <a:alpha val="50196"/>
            </a:schemeClr>
          </a:solidFill>
        </p:spPr>
        <p:txBody>
          <a:bodyPr/>
          <a:lstStyle>
            <a:lvl1pPr>
              <a:defRPr baseline="0">
                <a:solidFill>
                  <a:schemeClr val="accent6"/>
                </a:solidFill>
                <a:latin typeface="微软雅黑" panose="020B0503020204020204" pitchFamily="34" charset="-122"/>
                <a:ea typeface="微软雅黑" panose="020B0503020204020204" pitchFamily="34" charset="-122"/>
              </a:defRPr>
            </a:lvl1pPr>
            <a:lvl2pPr>
              <a:defRPr>
                <a:solidFill>
                  <a:srgbClr val="002060"/>
                </a:solidFill>
                <a:latin typeface="微软雅黑" panose="020B0503020204020204" pitchFamily="34" charset="-122"/>
                <a:ea typeface="微软雅黑" panose="020B0503020204020204" pitchFamily="34" charset="-122"/>
              </a:defRPr>
            </a:lvl2pPr>
            <a:lvl3pPr>
              <a:defRPr>
                <a:solidFill>
                  <a:srgbClr val="002060"/>
                </a:solidFill>
                <a:latin typeface="微软雅黑" panose="020B0503020204020204" pitchFamily="34" charset="-122"/>
                <a:ea typeface="微软雅黑" panose="020B0503020204020204" pitchFamily="34" charset="-122"/>
              </a:defRPr>
            </a:lvl3pPr>
            <a:lvl4pPr>
              <a:defRPr>
                <a:solidFill>
                  <a:srgbClr val="002060"/>
                </a:solidFill>
                <a:latin typeface="微软雅黑" panose="020B0503020204020204" pitchFamily="34" charset="-122"/>
                <a:ea typeface="微软雅黑" panose="020B0503020204020204" pitchFamily="34" charset="-122"/>
              </a:defRPr>
            </a:lvl4pPr>
            <a:lvl5pPr>
              <a:defRPr>
                <a:solidFill>
                  <a:srgbClr val="002060"/>
                </a:solidFill>
                <a:latin typeface="微软雅黑" panose="020B0503020204020204" pitchFamily="34" charset="-122"/>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6" name="直接连接符 15"/>
          <p:cNvCxnSpPr/>
          <p:nvPr userDrawn="1"/>
        </p:nvCxnSpPr>
        <p:spPr>
          <a:xfrm>
            <a:off x="0" y="672000"/>
            <a:ext cx="12192000" cy="0"/>
          </a:xfrm>
          <a:prstGeom prst="line">
            <a:avLst/>
          </a:prstGeom>
          <a:ln>
            <a:solidFill>
              <a:schemeClr val="bg1"/>
            </a:solidFill>
          </a:ln>
          <a:effectLst>
            <a:outerShdw blurRad="12700" dist="38100" dir="5400000" algn="t" rotWithShape="0">
              <a:srgbClr val="BCB4C4"/>
            </a:outerShdw>
          </a:effectLst>
        </p:spPr>
        <p:style>
          <a:lnRef idx="1">
            <a:schemeClr val="accent1"/>
          </a:lnRef>
          <a:fillRef idx="0">
            <a:schemeClr val="accent1"/>
          </a:fillRef>
          <a:effectRef idx="0">
            <a:schemeClr val="accent1"/>
          </a:effectRef>
          <a:fontRef idx="minor">
            <a:schemeClr val="tx1"/>
          </a:fontRef>
        </p:style>
      </p:cxnSp>
      <p:sp>
        <p:nvSpPr>
          <p:cNvPr id="17" name="标题 14"/>
          <p:cNvSpPr>
            <a:spLocks noGrp="1"/>
          </p:cNvSpPr>
          <p:nvPr>
            <p:ph type="title"/>
          </p:nvPr>
        </p:nvSpPr>
        <p:spPr>
          <a:xfrm>
            <a:off x="609600" y="62400"/>
            <a:ext cx="6734539" cy="576064"/>
          </a:xfrm>
        </p:spPr>
        <p:txBody>
          <a:bodyPr>
            <a:normAutofit/>
          </a:bodyPr>
          <a:lstStyle>
            <a:lvl1pPr algn="l">
              <a:defRPr sz="2667" b="1" baseline="0">
                <a:solidFill>
                  <a:schemeClr val="accent6">
                    <a:lumMod val="50000"/>
                  </a:schemeClr>
                </a:solidFill>
                <a:latin typeface="Roboto" panose="02000000000000000000" pitchFamily="2" charset="0"/>
              </a:defRPr>
            </a:lvl1pPr>
          </a:lstStyle>
          <a:p>
            <a:r>
              <a:rPr lang="zh-CN" altLang="en-US" dirty="0"/>
              <a:t>单击此处编辑母版标题样式</a:t>
            </a:r>
          </a:p>
        </p:txBody>
      </p:sp>
      <p:sp>
        <p:nvSpPr>
          <p:cNvPr id="7" name="graduation-hat-filled-hand-drawn-tool_57183"/>
          <p:cNvSpPr>
            <a:spLocks noChangeAspect="1"/>
          </p:cNvSpPr>
          <p:nvPr userDrawn="1"/>
        </p:nvSpPr>
        <p:spPr bwMode="auto">
          <a:xfrm>
            <a:off x="0" y="139624"/>
            <a:ext cx="609685" cy="460375"/>
          </a:xfrm>
          <a:custGeom>
            <a:avLst/>
            <a:gdLst>
              <a:gd name="connsiteX0" fmla="*/ 332354 w 599637"/>
              <a:gd name="connsiteY0" fmla="*/ 225843 h 452788"/>
              <a:gd name="connsiteX1" fmla="*/ 328896 w 599637"/>
              <a:gd name="connsiteY1" fmla="*/ 226993 h 452788"/>
              <a:gd name="connsiteX2" fmla="*/ 321982 w 599637"/>
              <a:gd name="connsiteY2" fmla="*/ 231596 h 452788"/>
              <a:gd name="connsiteX3" fmla="*/ 321982 w 599637"/>
              <a:gd name="connsiteY3" fmla="*/ 232516 h 452788"/>
              <a:gd name="connsiteX4" fmla="*/ 332354 w 599637"/>
              <a:gd name="connsiteY4" fmla="*/ 225843 h 452788"/>
              <a:gd name="connsiteX5" fmla="*/ 437426 w 599637"/>
              <a:gd name="connsiteY5" fmla="*/ 220794 h 452788"/>
              <a:gd name="connsiteX6" fmla="*/ 442957 w 599637"/>
              <a:gd name="connsiteY6" fmla="*/ 223785 h 452788"/>
              <a:gd name="connsiteX7" fmla="*/ 447106 w 599637"/>
              <a:gd name="connsiteY7" fmla="*/ 263365 h 452788"/>
              <a:gd name="connsiteX8" fmla="*/ 449411 w 599637"/>
              <a:gd name="connsiteY8" fmla="*/ 314910 h 452788"/>
              <a:gd name="connsiteX9" fmla="*/ 448489 w 599637"/>
              <a:gd name="connsiteY9" fmla="*/ 399591 h 452788"/>
              <a:gd name="connsiteX10" fmla="*/ 443879 w 599637"/>
              <a:gd name="connsiteY10" fmla="*/ 406495 h 452788"/>
              <a:gd name="connsiteX11" fmla="*/ 434429 w 599637"/>
              <a:gd name="connsiteY11" fmla="*/ 406495 h 452788"/>
              <a:gd name="connsiteX12" fmla="*/ 360673 w 599637"/>
              <a:gd name="connsiteY12" fmla="*/ 401432 h 452788"/>
              <a:gd name="connsiteX13" fmla="*/ 271934 w 599637"/>
              <a:gd name="connsiteY13" fmla="*/ 406265 h 452788"/>
              <a:gd name="connsiteX14" fmla="*/ 179508 w 599637"/>
              <a:gd name="connsiteY14" fmla="*/ 410637 h 452788"/>
              <a:gd name="connsiteX15" fmla="*/ 122116 w 599637"/>
              <a:gd name="connsiteY15" fmla="*/ 404194 h 452788"/>
              <a:gd name="connsiteX16" fmla="*/ 117736 w 599637"/>
              <a:gd name="connsiteY16" fmla="*/ 402353 h 452788"/>
              <a:gd name="connsiteX17" fmla="*/ 112666 w 599637"/>
              <a:gd name="connsiteY17" fmla="*/ 331938 h 452788"/>
              <a:gd name="connsiteX18" fmla="*/ 111052 w 599637"/>
              <a:gd name="connsiteY18" fmla="*/ 227007 h 452788"/>
              <a:gd name="connsiteX19" fmla="*/ 115432 w 599637"/>
              <a:gd name="connsiteY19" fmla="*/ 221714 h 452788"/>
              <a:gd name="connsiteX20" fmla="*/ 122116 w 599637"/>
              <a:gd name="connsiteY20" fmla="*/ 221254 h 452788"/>
              <a:gd name="connsiteX21" fmla="*/ 213390 w 599637"/>
              <a:gd name="connsiteY21" fmla="*/ 260833 h 452788"/>
              <a:gd name="connsiteX22" fmla="*/ 296366 w 599637"/>
              <a:gd name="connsiteY22" fmla="*/ 281083 h 452788"/>
              <a:gd name="connsiteX23" fmla="*/ 429589 w 599637"/>
              <a:gd name="connsiteY23" fmla="*/ 221254 h 452788"/>
              <a:gd name="connsiteX24" fmla="*/ 437426 w 599637"/>
              <a:gd name="connsiteY24" fmla="*/ 220794 h 452788"/>
              <a:gd name="connsiteX25" fmla="*/ 367618 w 599637"/>
              <a:gd name="connsiteY25" fmla="*/ 52332 h 452788"/>
              <a:gd name="connsiteX26" fmla="*/ 373150 w 599637"/>
              <a:gd name="connsiteY26" fmla="*/ 54634 h 452788"/>
              <a:gd name="connsiteX27" fmla="*/ 398273 w 599637"/>
              <a:gd name="connsiteY27" fmla="*/ 63838 h 452788"/>
              <a:gd name="connsiteX28" fmla="*/ 367618 w 599637"/>
              <a:gd name="connsiteY28" fmla="*/ 52332 h 452788"/>
              <a:gd name="connsiteX29" fmla="*/ 282569 w 599637"/>
              <a:gd name="connsiteY29" fmla="*/ 95 h 452788"/>
              <a:gd name="connsiteX30" fmla="*/ 369232 w 599637"/>
              <a:gd name="connsiteY30" fmla="*/ 28860 h 452788"/>
              <a:gd name="connsiteX31" fmla="*/ 462809 w 599637"/>
              <a:gd name="connsiteY31" fmla="*/ 61307 h 452788"/>
              <a:gd name="connsiteX32" fmla="*/ 545784 w 599637"/>
              <a:gd name="connsiteY32" fmla="*/ 83168 h 452788"/>
              <a:gd name="connsiteX33" fmla="*/ 598566 w 599637"/>
              <a:gd name="connsiteY33" fmla="*/ 111473 h 452788"/>
              <a:gd name="connsiteX34" fmla="*/ 596952 w 599637"/>
              <a:gd name="connsiteY34" fmla="*/ 120218 h 452788"/>
              <a:gd name="connsiteX35" fmla="*/ 591190 w 599637"/>
              <a:gd name="connsiteY35" fmla="*/ 128732 h 452788"/>
              <a:gd name="connsiteX36" fmla="*/ 514208 w 599637"/>
              <a:gd name="connsiteY36" fmla="*/ 162560 h 452788"/>
              <a:gd name="connsiteX37" fmla="*/ 524349 w 599637"/>
              <a:gd name="connsiteY37" fmla="*/ 358622 h 452788"/>
              <a:gd name="connsiteX38" fmla="*/ 524349 w 599637"/>
              <a:gd name="connsiteY38" fmla="*/ 358852 h 452788"/>
              <a:gd name="connsiteX39" fmla="*/ 525041 w 599637"/>
              <a:gd name="connsiteY39" fmla="*/ 359542 h 452788"/>
              <a:gd name="connsiteX40" fmla="*/ 497152 w 599637"/>
              <a:gd name="connsiteY40" fmla="*/ 448599 h 452788"/>
              <a:gd name="connsiteX41" fmla="*/ 507524 w 599637"/>
              <a:gd name="connsiteY41" fmla="*/ 351488 h 452788"/>
              <a:gd name="connsiteX42" fmla="*/ 499918 w 599637"/>
              <a:gd name="connsiteY42" fmla="*/ 169233 h 452788"/>
              <a:gd name="connsiteX43" fmla="*/ 431232 w 599637"/>
              <a:gd name="connsiteY43" fmla="*/ 200529 h 452788"/>
              <a:gd name="connsiteX44" fmla="*/ 343417 w 599637"/>
              <a:gd name="connsiteY44" fmla="*/ 238729 h 452788"/>
              <a:gd name="connsiteX45" fmla="*/ 300316 w 599637"/>
              <a:gd name="connsiteY45" fmla="*/ 254608 h 452788"/>
              <a:gd name="connsiteX46" fmla="*/ 289253 w 599637"/>
              <a:gd name="connsiteY46" fmla="*/ 258750 h 452788"/>
              <a:gd name="connsiteX47" fmla="*/ 112700 w 599637"/>
              <a:gd name="connsiteY47" fmla="*/ 181199 h 452788"/>
              <a:gd name="connsiteX48" fmla="*/ 50007 w 599637"/>
              <a:gd name="connsiteY48" fmla="*/ 146221 h 452788"/>
              <a:gd name="connsiteX49" fmla="*/ 2527 w 599637"/>
              <a:gd name="connsiteY49" fmla="*/ 125971 h 452788"/>
              <a:gd name="connsiteX50" fmla="*/ 914 w 599637"/>
              <a:gd name="connsiteY50" fmla="*/ 118607 h 452788"/>
              <a:gd name="connsiteX51" fmla="*/ 3449 w 599637"/>
              <a:gd name="connsiteY51" fmla="*/ 111473 h 452788"/>
              <a:gd name="connsiteX52" fmla="*/ 162024 w 599637"/>
              <a:gd name="connsiteY52" fmla="*/ 50261 h 452788"/>
              <a:gd name="connsiteX53" fmla="*/ 279803 w 599637"/>
              <a:gd name="connsiteY53" fmla="*/ 325 h 452788"/>
              <a:gd name="connsiteX54" fmla="*/ 282569 w 599637"/>
              <a:gd name="connsiteY54" fmla="*/ 95 h 45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99637" h="452788">
                <a:moveTo>
                  <a:pt x="332354" y="225843"/>
                </a:moveTo>
                <a:cubicBezTo>
                  <a:pt x="331201" y="226303"/>
                  <a:pt x="330049" y="226533"/>
                  <a:pt x="328896" y="226993"/>
                </a:cubicBezTo>
                <a:cubicBezTo>
                  <a:pt x="326592" y="228604"/>
                  <a:pt x="324287" y="230215"/>
                  <a:pt x="321982" y="231596"/>
                </a:cubicBezTo>
                <a:cubicBezTo>
                  <a:pt x="321982" y="231826"/>
                  <a:pt x="321982" y="232286"/>
                  <a:pt x="321982" y="232516"/>
                </a:cubicBezTo>
                <a:cubicBezTo>
                  <a:pt x="325439" y="230215"/>
                  <a:pt x="328896" y="227914"/>
                  <a:pt x="332354" y="225843"/>
                </a:cubicBezTo>
                <a:close/>
                <a:moveTo>
                  <a:pt x="437426" y="220794"/>
                </a:moveTo>
                <a:cubicBezTo>
                  <a:pt x="439500" y="220794"/>
                  <a:pt x="441805" y="221944"/>
                  <a:pt x="442957" y="223785"/>
                </a:cubicBezTo>
                <a:cubicBezTo>
                  <a:pt x="449411" y="234831"/>
                  <a:pt x="446415" y="250939"/>
                  <a:pt x="447106" y="263365"/>
                </a:cubicBezTo>
                <a:cubicBezTo>
                  <a:pt x="447798" y="280623"/>
                  <a:pt x="448489" y="297651"/>
                  <a:pt x="449411" y="314910"/>
                </a:cubicBezTo>
                <a:cubicBezTo>
                  <a:pt x="451255" y="341833"/>
                  <a:pt x="461627" y="374279"/>
                  <a:pt x="448489" y="399591"/>
                </a:cubicBezTo>
                <a:cubicBezTo>
                  <a:pt x="448259" y="402583"/>
                  <a:pt x="446645" y="405574"/>
                  <a:pt x="443879" y="406495"/>
                </a:cubicBezTo>
                <a:cubicBezTo>
                  <a:pt x="441114" y="409486"/>
                  <a:pt x="436504" y="409026"/>
                  <a:pt x="434429" y="406495"/>
                </a:cubicBezTo>
                <a:cubicBezTo>
                  <a:pt x="409767" y="404654"/>
                  <a:pt x="385796" y="400742"/>
                  <a:pt x="360673" y="401432"/>
                </a:cubicBezTo>
                <a:cubicBezTo>
                  <a:pt x="330939" y="402353"/>
                  <a:pt x="301437" y="404884"/>
                  <a:pt x="271934" y="406265"/>
                </a:cubicBezTo>
                <a:cubicBezTo>
                  <a:pt x="241048" y="407645"/>
                  <a:pt x="210163" y="410407"/>
                  <a:pt x="179508" y="410637"/>
                </a:cubicBezTo>
                <a:cubicBezTo>
                  <a:pt x="163143" y="410637"/>
                  <a:pt x="138020" y="413168"/>
                  <a:pt x="122116" y="404194"/>
                </a:cubicBezTo>
                <a:cubicBezTo>
                  <a:pt x="120733" y="404194"/>
                  <a:pt x="119119" y="403733"/>
                  <a:pt x="117736" y="402353"/>
                </a:cubicBezTo>
                <a:cubicBezTo>
                  <a:pt x="101602" y="387165"/>
                  <a:pt x="111052" y="351268"/>
                  <a:pt x="112666" y="331938"/>
                </a:cubicBezTo>
                <a:cubicBezTo>
                  <a:pt x="115432" y="296961"/>
                  <a:pt x="109439" y="261984"/>
                  <a:pt x="111052" y="227007"/>
                </a:cubicBezTo>
                <a:cubicBezTo>
                  <a:pt x="111283" y="224245"/>
                  <a:pt x="113127" y="222405"/>
                  <a:pt x="115432" y="221714"/>
                </a:cubicBezTo>
                <a:cubicBezTo>
                  <a:pt x="117045" y="220564"/>
                  <a:pt x="119580" y="220103"/>
                  <a:pt x="122116" y="221254"/>
                </a:cubicBezTo>
                <a:cubicBezTo>
                  <a:pt x="152310" y="235061"/>
                  <a:pt x="182043" y="249788"/>
                  <a:pt x="213390" y="260833"/>
                </a:cubicBezTo>
                <a:cubicBezTo>
                  <a:pt x="238052" y="269578"/>
                  <a:pt x="269860" y="283615"/>
                  <a:pt x="296366" y="281083"/>
                </a:cubicBezTo>
                <a:cubicBezTo>
                  <a:pt x="342694" y="276481"/>
                  <a:pt x="392711" y="248868"/>
                  <a:pt x="429589" y="221254"/>
                </a:cubicBezTo>
                <a:cubicBezTo>
                  <a:pt x="432124" y="219183"/>
                  <a:pt x="435121" y="219413"/>
                  <a:pt x="437426" y="220794"/>
                </a:cubicBezTo>
                <a:close/>
                <a:moveTo>
                  <a:pt x="367618" y="52332"/>
                </a:moveTo>
                <a:cubicBezTo>
                  <a:pt x="369462" y="53023"/>
                  <a:pt x="371306" y="53943"/>
                  <a:pt x="373150" y="54634"/>
                </a:cubicBezTo>
                <a:cubicBezTo>
                  <a:pt x="381447" y="57625"/>
                  <a:pt x="389975" y="60847"/>
                  <a:pt x="398273" y="63838"/>
                </a:cubicBezTo>
                <a:cubicBezTo>
                  <a:pt x="388362" y="59466"/>
                  <a:pt x="377990" y="55324"/>
                  <a:pt x="367618" y="52332"/>
                </a:cubicBezTo>
                <a:close/>
                <a:moveTo>
                  <a:pt x="282569" y="95"/>
                </a:moveTo>
                <a:cubicBezTo>
                  <a:pt x="312762" y="3087"/>
                  <a:pt x="341573" y="16894"/>
                  <a:pt x="369232" y="28860"/>
                </a:cubicBezTo>
                <a:cubicBezTo>
                  <a:pt x="399886" y="41977"/>
                  <a:pt x="430311" y="53483"/>
                  <a:pt x="462809" y="61307"/>
                </a:cubicBezTo>
                <a:cubicBezTo>
                  <a:pt x="490468" y="68211"/>
                  <a:pt x="518817" y="73964"/>
                  <a:pt x="545784" y="83168"/>
                </a:cubicBezTo>
                <a:cubicBezTo>
                  <a:pt x="563301" y="89151"/>
                  <a:pt x="587733" y="95365"/>
                  <a:pt x="598566" y="111473"/>
                </a:cubicBezTo>
                <a:cubicBezTo>
                  <a:pt x="600640" y="114465"/>
                  <a:pt x="599488" y="118147"/>
                  <a:pt x="596952" y="120218"/>
                </a:cubicBezTo>
                <a:cubicBezTo>
                  <a:pt x="596952" y="123669"/>
                  <a:pt x="595108" y="127121"/>
                  <a:pt x="591190" y="128732"/>
                </a:cubicBezTo>
                <a:cubicBezTo>
                  <a:pt x="564915" y="138627"/>
                  <a:pt x="539561" y="150363"/>
                  <a:pt x="514208" y="162560"/>
                </a:cubicBezTo>
                <a:cubicBezTo>
                  <a:pt x="538178" y="195697"/>
                  <a:pt x="525502" y="336300"/>
                  <a:pt x="524349" y="358622"/>
                </a:cubicBezTo>
                <a:cubicBezTo>
                  <a:pt x="524349" y="358622"/>
                  <a:pt x="524349" y="358852"/>
                  <a:pt x="524349" y="358852"/>
                </a:cubicBezTo>
                <a:cubicBezTo>
                  <a:pt x="524580" y="359082"/>
                  <a:pt x="524810" y="359312"/>
                  <a:pt x="525041" y="359542"/>
                </a:cubicBezTo>
                <a:cubicBezTo>
                  <a:pt x="543940" y="388998"/>
                  <a:pt x="558922" y="472301"/>
                  <a:pt x="497152" y="448599"/>
                </a:cubicBezTo>
                <a:cubicBezTo>
                  <a:pt x="454512" y="432260"/>
                  <a:pt x="468571" y="362764"/>
                  <a:pt x="507524" y="351488"/>
                </a:cubicBezTo>
                <a:cubicBezTo>
                  <a:pt x="510750" y="290736"/>
                  <a:pt x="514899" y="228374"/>
                  <a:pt x="499918" y="169233"/>
                </a:cubicBezTo>
                <a:cubicBezTo>
                  <a:pt x="477330" y="180049"/>
                  <a:pt x="454512" y="190864"/>
                  <a:pt x="431232" y="200529"/>
                </a:cubicBezTo>
                <a:cubicBezTo>
                  <a:pt x="402191" y="212496"/>
                  <a:pt x="369923" y="221931"/>
                  <a:pt x="343417" y="238729"/>
                </a:cubicBezTo>
                <a:cubicBezTo>
                  <a:pt x="328896" y="247704"/>
                  <a:pt x="316681" y="256218"/>
                  <a:pt x="300316" y="254608"/>
                </a:cubicBezTo>
                <a:cubicBezTo>
                  <a:pt x="298703" y="258750"/>
                  <a:pt x="294323" y="261741"/>
                  <a:pt x="289253" y="258750"/>
                </a:cubicBezTo>
                <a:cubicBezTo>
                  <a:pt x="233936" y="224692"/>
                  <a:pt x="169630" y="211575"/>
                  <a:pt x="112700" y="181199"/>
                </a:cubicBezTo>
                <a:cubicBezTo>
                  <a:pt x="91495" y="169924"/>
                  <a:pt x="71212" y="157497"/>
                  <a:pt x="50007" y="146221"/>
                </a:cubicBezTo>
                <a:cubicBezTo>
                  <a:pt x="35487" y="138627"/>
                  <a:pt x="15895" y="134715"/>
                  <a:pt x="2527" y="125971"/>
                </a:cubicBezTo>
                <a:cubicBezTo>
                  <a:pt x="222" y="124590"/>
                  <a:pt x="-930" y="120908"/>
                  <a:pt x="914" y="118607"/>
                </a:cubicBezTo>
                <a:cubicBezTo>
                  <a:pt x="-239" y="116076"/>
                  <a:pt x="222" y="112854"/>
                  <a:pt x="3449" y="111473"/>
                </a:cubicBezTo>
                <a:cubicBezTo>
                  <a:pt x="55309" y="88921"/>
                  <a:pt x="111317" y="75574"/>
                  <a:pt x="162024" y="50261"/>
                </a:cubicBezTo>
                <a:cubicBezTo>
                  <a:pt x="199824" y="31391"/>
                  <a:pt x="237624" y="7229"/>
                  <a:pt x="279803" y="325"/>
                </a:cubicBezTo>
                <a:cubicBezTo>
                  <a:pt x="280725" y="95"/>
                  <a:pt x="281647" y="-135"/>
                  <a:pt x="282569" y="95"/>
                </a:cubicBezTo>
                <a:close/>
              </a:path>
            </a:pathLst>
          </a:custGeom>
          <a:solidFill>
            <a:schemeClr val="accent6">
              <a:lumMod val="50000"/>
            </a:schemeClr>
          </a:solidFill>
          <a:ln>
            <a:noFill/>
          </a:ln>
        </p:spPr>
      </p:sp>
    </p:spTree>
    <p:extLst>
      <p:ext uri="{BB962C8B-B14F-4D97-AF65-F5344CB8AC3E}">
        <p14:creationId xmlns:p14="http://schemas.microsoft.com/office/powerpoint/2010/main" val="4139999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cxnSp>
        <p:nvCxnSpPr>
          <p:cNvPr id="6" name="直接连接符 8"/>
          <p:cNvCxnSpPr>
            <a:cxnSpLocks noChangeShapeType="1"/>
          </p:cNvCxnSpPr>
          <p:nvPr userDrawn="1"/>
        </p:nvCxnSpPr>
        <p:spPr bwMode="auto">
          <a:xfrm>
            <a:off x="2927648" y="836712"/>
            <a:ext cx="9264352" cy="0"/>
          </a:xfrm>
          <a:prstGeom prst="line">
            <a:avLst/>
          </a:prstGeom>
          <a:noFill/>
          <a:ln w="38100">
            <a:solidFill>
              <a:schemeClr val="accent2"/>
            </a:solidFill>
            <a:round/>
            <a:headEnd type="oval" w="med" len="med"/>
            <a:tailEnd/>
          </a:ln>
          <a:effectLst>
            <a:outerShdw blurRad="25400" dist="25400" dir="5400000" algn="t" rotWithShape="0">
              <a:prstClr val="black">
                <a:alpha val="40000"/>
              </a:prstClr>
            </a:outerShdw>
          </a:effectLst>
          <a:extLst>
            <a:ext uri="{909E8E84-426E-40DD-AFC4-6F175D3DCCD1}">
              <a14:hiddenFill xmlns:a14="http://schemas.microsoft.com/office/drawing/2010/main">
                <a:noFill/>
              </a14:hiddenFill>
            </a:ext>
          </a:extLst>
        </p:spPr>
      </p:cxnSp>
      <p:sp>
        <p:nvSpPr>
          <p:cNvPr id="14" name="文本占位符 13"/>
          <p:cNvSpPr>
            <a:spLocks noGrp="1"/>
          </p:cNvSpPr>
          <p:nvPr>
            <p:ph type="body" sz="quarter" idx="12"/>
          </p:nvPr>
        </p:nvSpPr>
        <p:spPr>
          <a:xfrm>
            <a:off x="431800" y="1796820"/>
            <a:ext cx="11328000" cy="4696056"/>
          </a:xfrm>
        </p:spPr>
        <p:txBody>
          <a:bodyPr/>
          <a:lstStyle>
            <a:lvl1pPr>
              <a:lnSpc>
                <a:spcPct val="120000"/>
              </a:lnSpc>
              <a:spcBef>
                <a:spcPts val="0"/>
              </a:spcBef>
              <a:defRPr b="1">
                <a:latin typeface="微软雅黑" panose="020B0503020204020204" pitchFamily="34" charset="-122"/>
                <a:ea typeface="微软雅黑" panose="020B0503020204020204" pitchFamily="34" charset="-122"/>
              </a:defRPr>
            </a:lvl1pPr>
            <a:lvl2pPr>
              <a:lnSpc>
                <a:spcPct val="120000"/>
              </a:lnSpc>
              <a:spcBef>
                <a:spcPts val="0"/>
              </a:spcBef>
              <a:defRPr>
                <a:latin typeface="微软雅黑" panose="020B0503020204020204" pitchFamily="34" charset="-122"/>
                <a:ea typeface="微软雅黑" panose="020B0503020204020204" pitchFamily="34" charset="-122"/>
              </a:defRPr>
            </a:lvl2pPr>
          </a:lstStyle>
          <a:p>
            <a:pPr lvl="0"/>
            <a:r>
              <a:rPr lang="zh-CN" altLang="en-US" dirty="0"/>
              <a:t>编辑母版文本样式</a:t>
            </a:r>
          </a:p>
          <a:p>
            <a:pPr lvl="1"/>
            <a:r>
              <a:rPr lang="zh-CN" altLang="en-US" dirty="0"/>
              <a:t>第二级</a:t>
            </a:r>
          </a:p>
        </p:txBody>
      </p:sp>
      <p:sp>
        <p:nvSpPr>
          <p:cNvPr id="3" name="矩形 2"/>
          <p:cNvSpPr/>
          <p:nvPr userDrawn="1"/>
        </p:nvSpPr>
        <p:spPr>
          <a:xfrm>
            <a:off x="0" y="-1"/>
            <a:ext cx="1583499" cy="1892300"/>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14933" b="1" i="0" u="none" strike="noStrike" kern="1200" cap="none" spc="0" normalizeH="0" baseline="0" noProof="0" dirty="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T</a:t>
            </a:r>
            <a:endParaRPr kumimoji="0" lang="zh-CN" altLang="en-US" sz="14933"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
        <p:nvSpPr>
          <p:cNvPr id="8" name="矩形 7"/>
          <p:cNvSpPr/>
          <p:nvPr userDrawn="1"/>
        </p:nvSpPr>
        <p:spPr>
          <a:xfrm>
            <a:off x="1103445" y="899839"/>
            <a:ext cx="3840427" cy="896981"/>
          </a:xfrm>
          <a:prstGeom prst="rect">
            <a:avLst/>
          </a:prstGeom>
          <a:noFill/>
          <a:ln>
            <a:noFill/>
          </a:ln>
          <a:effectLst>
            <a:outerShdw blurRad="254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chemeClr val="accent2"/>
                </a:solidFill>
                <a:effectLst/>
                <a:uLnTx/>
                <a:uFillTx/>
                <a:latin typeface="Roboto" panose="02000000000000000000" pitchFamily="2" charset="0"/>
                <a:ea typeface="Roboto" panose="02000000000000000000" pitchFamily="2" charset="0"/>
                <a:cs typeface="Roboto" panose="02000000000000000000" pitchFamily="2" charset="0"/>
              </a:rPr>
              <a:t>hank You! </a:t>
            </a:r>
            <a:endParaRPr kumimoji="0" lang="zh-CN" altLang="en-US" sz="6000" b="1" i="0" u="none" strike="noStrike" kern="1200" cap="none" spc="0" normalizeH="0" baseline="0" noProof="0" dirty="0">
              <a:ln>
                <a:noFill/>
              </a:ln>
              <a:solidFill>
                <a:schemeClr val="accent2"/>
              </a:solidFill>
              <a:effectLst/>
              <a:uLnTx/>
              <a:uFillTx/>
              <a:latin typeface="Roboto" panose="02000000000000000000" pitchFamily="2" charset="0"/>
              <a:ea typeface="宋体" panose="02010600030101010101" pitchFamily="2" charset="-122"/>
              <a:cs typeface="Roboto" panose="02000000000000000000" pitchFamily="2" charset="0"/>
            </a:endParaRPr>
          </a:p>
        </p:txBody>
      </p:sp>
    </p:spTree>
    <p:extLst>
      <p:ext uri="{BB962C8B-B14F-4D97-AF65-F5344CB8AC3E}">
        <p14:creationId xmlns:p14="http://schemas.microsoft.com/office/powerpoint/2010/main" val="474053110"/>
      </p:ext>
    </p:extLst>
  </p:cSld>
  <p:clrMapOvr>
    <a:masterClrMapping/>
  </p:clrMapOvr>
  <p:extLst mod="1">
    <p:ext uri="{DCECCB84-F9BA-43D5-87BE-67443E8EF086}">
      <p15:sldGuideLst xmlns:p15="http://schemas.microsoft.com/office/powerpoint/2012/main">
        <p15:guide id="1" orient="horz" pos="894">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2.xml"/><Relationship Id="rId7"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2510069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80" r:id="rId9"/>
  </p:sldLayoutIdLst>
  <p:hf sldNum="0" hdr="0" ft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50000"/>
        </a:lnSpc>
        <a:spcBef>
          <a:spcPts val="0"/>
        </a:spcBef>
        <a:buFont typeface="Wingdings" panose="05000000000000000000" pitchFamily="2" charset="2"/>
        <a:buChar char="Ø"/>
        <a:defRPr sz="2400" b="1" i="1" kern="1200" baseline="0">
          <a:solidFill>
            <a:schemeClr val="accent6">
              <a:lumMod val="50000"/>
            </a:schemeClr>
          </a:solidFill>
          <a:latin typeface="微软雅黑" panose="020B0503020204020204" pitchFamily="34" charset="-122"/>
          <a:ea typeface="微软雅黑" panose="020B0503020204020204" pitchFamily="34" charset="-122"/>
          <a:cs typeface="+mn-cs"/>
        </a:defRPr>
      </a:lvl1pPr>
      <a:lvl2pPr marL="990575" indent="-380990" algn="l" defTabSz="1219170" rtl="0" eaLnBrk="1" latinLnBrk="0" hangingPunct="1">
        <a:lnSpc>
          <a:spcPct val="150000"/>
        </a:lnSpc>
        <a:spcBef>
          <a:spcPts val="0"/>
        </a:spcBef>
        <a:buFont typeface="Arial" panose="020B0604020202020204" pitchFamily="34" charset="0"/>
        <a:buChar char="•"/>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2pPr>
      <a:lvl3pPr marL="1523962" indent="-304792" algn="l" defTabSz="1219170" rtl="0" eaLnBrk="1" latinLnBrk="0" hangingPunct="1">
        <a:lnSpc>
          <a:spcPct val="150000"/>
        </a:lnSpc>
        <a:spcBef>
          <a:spcPts val="0"/>
        </a:spcBef>
        <a:buFont typeface="Wingdings" panose="05000000000000000000" pitchFamily="2" charset="2"/>
        <a:buChar char="ü"/>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3pPr>
      <a:lvl4pPr marL="2133547" indent="-304792" algn="l" defTabSz="1219170" rtl="0" eaLnBrk="1" latinLnBrk="0" hangingPunct="1">
        <a:lnSpc>
          <a:spcPct val="150000"/>
        </a:lnSpc>
        <a:spcBef>
          <a:spcPts val="0"/>
        </a:spcBef>
        <a:buFont typeface="Wingdings" panose="05000000000000000000" pitchFamily="2" charset="2"/>
        <a:buChar char="n"/>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4pPr>
      <a:lvl5pPr marL="2743131" indent="-304792" algn="l" defTabSz="1219170" rtl="0" eaLnBrk="1" latinLnBrk="0" hangingPunct="1">
        <a:lnSpc>
          <a:spcPct val="150000"/>
        </a:lnSpc>
        <a:spcBef>
          <a:spcPts val="0"/>
        </a:spcBef>
        <a:buFont typeface="Wingdings" panose="05000000000000000000" pitchFamily="2" charset="2"/>
        <a:buChar char="p"/>
        <a:defRPr sz="2400" kern="1200" baseline="0">
          <a:solidFill>
            <a:srgbClr val="7030A0"/>
          </a:solidFill>
          <a:latin typeface="微软雅黑" panose="020B0503020204020204" pitchFamily="34" charset="-122"/>
          <a:ea typeface="微软雅黑" panose="020B0503020204020204" pitchFamily="34" charset="-122"/>
          <a:cs typeface="Segoe UI" panose="020B0502040204020203"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3392" y="1700808"/>
            <a:ext cx="109728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416480" y="135493"/>
            <a:ext cx="1536171" cy="524185"/>
          </a:xfrm>
          <a:prstGeom prst="rect">
            <a:avLst/>
          </a:prstGeom>
        </p:spPr>
      </p:pic>
    </p:spTree>
    <p:extLst>
      <p:ext uri="{BB962C8B-B14F-4D97-AF65-F5344CB8AC3E}">
        <p14:creationId xmlns:p14="http://schemas.microsoft.com/office/powerpoint/2010/main" val="93145379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7" r:id="rId4"/>
    <p:sldLayoutId id="2147483678" r:id="rId5"/>
    <p:sldLayoutId id="2147483679" r:id="rId6"/>
  </p:sldLayoutIdLst>
  <p:hf sldNum="0" hdr="0" ftr="0" dt="0"/>
  <p:txStyles>
    <p:titleStyle>
      <a:lvl1pPr algn="ctr" defTabSz="1219170" rtl="0" eaLnBrk="1" latinLnBrk="0" hangingPunct="1">
        <a:spcBef>
          <a:spcPct val="0"/>
        </a:spcBef>
        <a:buNone/>
        <a:defRPr sz="5867" kern="1200">
          <a:solidFill>
            <a:srgbClr val="263238"/>
          </a:solidFill>
          <a:latin typeface="微软雅黑" panose="020B0503020204020204" pitchFamily="34" charset="-122"/>
          <a:ea typeface="微软雅黑" panose="020B0503020204020204" pitchFamily="34" charset="-122"/>
          <a:cs typeface="+mj-cs"/>
        </a:defRPr>
      </a:lvl1pPr>
    </p:titleStyle>
    <p:bodyStyle>
      <a:lvl1pPr marL="457189" indent="-457189" algn="l" defTabSz="1219170" rtl="0" eaLnBrk="1" latinLnBrk="0" hangingPunct="1">
        <a:lnSpc>
          <a:spcPct val="120000"/>
        </a:lnSpc>
        <a:spcBef>
          <a:spcPts val="0"/>
        </a:spcBef>
        <a:buFont typeface="Wingdings" panose="05000000000000000000" pitchFamily="2" charset="2"/>
        <a:buChar char="Ø"/>
        <a:defRPr sz="2400" kern="1200" baseline="0">
          <a:solidFill>
            <a:srgbClr val="263238"/>
          </a:solidFill>
          <a:latin typeface="Roboto" panose="02000000000000000000" pitchFamily="2" charset="0"/>
          <a:ea typeface="微软雅黑" panose="020B0503020204020204" pitchFamily="34" charset="-122"/>
          <a:cs typeface="+mn-cs"/>
        </a:defRPr>
      </a:lvl1pPr>
      <a:lvl2pPr marL="990575" indent="-380990" algn="l" defTabSz="1219170" rtl="0" eaLnBrk="1" latinLnBrk="0" hangingPunct="1">
        <a:lnSpc>
          <a:spcPct val="120000"/>
        </a:lnSpc>
        <a:spcBef>
          <a:spcPts val="0"/>
        </a:spcBef>
        <a:buFont typeface="Arial" panose="020B0604020202020204" pitchFamily="34" charset="0"/>
        <a:buChar char="•"/>
        <a:defRPr sz="2400" kern="1200" baseline="0">
          <a:solidFill>
            <a:schemeClr val="accent2"/>
          </a:solidFill>
          <a:latin typeface="Roboto" panose="02000000000000000000" pitchFamily="2" charset="0"/>
          <a:ea typeface="微软雅黑" panose="020B0503020204020204" pitchFamily="34" charset="-122"/>
          <a:cs typeface="+mn-cs"/>
        </a:defRPr>
      </a:lvl2pPr>
      <a:lvl3pPr marL="1523962" indent="-304792" algn="l" defTabSz="1219170" rtl="0" eaLnBrk="1" latinLnBrk="0" hangingPunct="1">
        <a:lnSpc>
          <a:spcPct val="120000"/>
        </a:lnSpc>
        <a:spcBef>
          <a:spcPts val="0"/>
        </a:spcBef>
        <a:buFont typeface="Wingdings" panose="05000000000000000000" pitchFamily="2" charset="2"/>
        <a:buChar char="ü"/>
        <a:defRPr sz="2400" kern="1200" baseline="0">
          <a:solidFill>
            <a:schemeClr val="accent2"/>
          </a:solidFill>
          <a:latin typeface="Roboto" panose="02000000000000000000" pitchFamily="2" charset="0"/>
          <a:ea typeface="微软雅黑" panose="020B0503020204020204" pitchFamily="34" charset="-122"/>
          <a:cs typeface="+mn-cs"/>
        </a:defRPr>
      </a:lvl3pPr>
      <a:lvl4pPr marL="2133547" indent="-304792" algn="l" defTabSz="1219170" rtl="0" eaLnBrk="1" latinLnBrk="0" hangingPunct="1">
        <a:lnSpc>
          <a:spcPct val="120000"/>
        </a:lnSpc>
        <a:spcBef>
          <a:spcPts val="0"/>
        </a:spcBef>
        <a:buFont typeface="Wingdings" panose="05000000000000000000" pitchFamily="2" charset="2"/>
        <a:buChar char="n"/>
        <a:defRPr sz="2400" kern="1200" baseline="0">
          <a:solidFill>
            <a:schemeClr val="accent2"/>
          </a:solidFill>
          <a:latin typeface="Roboto" panose="02000000000000000000" pitchFamily="2" charset="0"/>
          <a:ea typeface="微软雅黑" panose="020B0503020204020204" pitchFamily="34" charset="-122"/>
          <a:cs typeface="+mn-cs"/>
        </a:defRPr>
      </a:lvl4pPr>
      <a:lvl5pPr marL="2743131" indent="-304792" algn="l" defTabSz="1219170" rtl="0" eaLnBrk="1" latinLnBrk="0" hangingPunct="1">
        <a:lnSpc>
          <a:spcPct val="120000"/>
        </a:lnSpc>
        <a:spcBef>
          <a:spcPts val="0"/>
        </a:spcBef>
        <a:buFont typeface="Wingdings" panose="05000000000000000000" pitchFamily="2" charset="2"/>
        <a:buChar char="p"/>
        <a:defRPr sz="2400" kern="1200" baseline="0">
          <a:solidFill>
            <a:schemeClr val="accent2"/>
          </a:solidFill>
          <a:latin typeface="Roboto" panose="02000000000000000000" pitchFamily="2" charset="0"/>
          <a:ea typeface="微软雅黑" panose="020B0503020204020204" pitchFamily="34" charset="-122"/>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405746" y="2175164"/>
            <a:ext cx="5432317" cy="1528893"/>
          </a:xfrm>
          <a:ln>
            <a:noFill/>
          </a:ln>
        </p:spPr>
        <p:txBody>
          <a:bodyPr>
            <a:normAutofit/>
          </a:bodyPr>
          <a:lstStyle/>
          <a:p>
            <a:r>
              <a:rPr lang="en-US" altLang="zh-CN" sz="440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Valuation and Risk Models</a:t>
            </a:r>
            <a:endParaRPr lang="zh-CN" altLang="en-US" sz="440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副标题 2"/>
          <p:cNvSpPr>
            <a:spLocks noGrp="1"/>
          </p:cNvSpPr>
          <p:nvPr>
            <p:ph type="subTitle" idx="1"/>
          </p:nvPr>
        </p:nvSpPr>
        <p:spPr>
          <a:xfrm>
            <a:off x="4405746" y="3410176"/>
            <a:ext cx="4187410" cy="1269870"/>
          </a:xfrm>
          <a:ln>
            <a:noFill/>
          </a:ln>
        </p:spPr>
        <p:txBody>
          <a:bodyPr>
            <a:normAutofit/>
          </a:bodyPr>
          <a:lstStyle/>
          <a:p>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FRM</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altLang="zh-CN" sz="2600"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Part</a:t>
            </a:r>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I </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培训讲义</a:t>
            </a:r>
            <a:r>
              <a:rPr lang="en-US" altLang="zh-CN"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r>
              <a:rPr lang="zh-CN" altLang="en-US" i="0" dirty="0">
                <a:solidFill>
                  <a:schemeClr val="accent6">
                    <a:lumMod val="5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强化班</a:t>
            </a:r>
          </a:p>
        </p:txBody>
      </p:sp>
      <p:sp>
        <p:nvSpPr>
          <p:cNvPr id="4" name="文本占位符 3"/>
          <p:cNvSpPr>
            <a:spLocks noGrp="1"/>
          </p:cNvSpPr>
          <p:nvPr>
            <p:ph type="body" sz="quarter" idx="10"/>
          </p:nvPr>
        </p:nvSpPr>
        <p:spPr>
          <a:xfrm>
            <a:off x="4405746" y="4677656"/>
            <a:ext cx="6886543" cy="296271"/>
          </a:xfrm>
          <a:ln>
            <a:noFill/>
          </a:ln>
        </p:spPr>
        <p:txBody>
          <a:bodyPr/>
          <a:lstStyle/>
          <a:p>
            <a:pPr algn="just"/>
            <a:r>
              <a:rPr lang="zh-CN" altLang="en-US" sz="1600" b="1" i="0" dirty="0"/>
              <a:t>                                                                       </a:t>
            </a:r>
            <a:r>
              <a:rPr lang="zh-CN" altLang="en-US" sz="1600" b="1" i="0" dirty="0">
                <a:solidFill>
                  <a:schemeClr val="accent6">
                    <a:lumMod val="50000"/>
                  </a:schemeClr>
                </a:solidFill>
              </a:rPr>
              <a:t>讲师：王天宇</a:t>
            </a:r>
          </a:p>
        </p:txBody>
      </p:sp>
    </p:spTree>
    <p:extLst>
      <p:ext uri="{BB962C8B-B14F-4D97-AF65-F5344CB8AC3E}">
        <p14:creationId xmlns:p14="http://schemas.microsoft.com/office/powerpoint/2010/main" val="3429462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3667" y="293755"/>
            <a:ext cx="6734539" cy="576064"/>
          </a:xfrm>
        </p:spPr>
        <p:txBody>
          <a:bodyPr>
            <a:normAutofit fontScale="90000"/>
          </a:bodyPr>
          <a:lstStyle/>
          <a:p>
            <a:r>
              <a:rPr lang="en-US" altLang="zh-CN" sz="3600" dirty="0">
                <a:latin typeface="+mn-lt"/>
                <a:ea typeface="+mn-ea"/>
                <a:cs typeface="+mn-ea"/>
                <a:sym typeface="+mn-lt"/>
              </a:rPr>
              <a:t>Topic Weightings in FRM Part I</a:t>
            </a:r>
            <a:br>
              <a:rPr lang="en-US" altLang="zh-CN" dirty="0">
                <a:latin typeface="+mn-lt"/>
                <a:ea typeface="+mn-ea"/>
                <a:cs typeface="+mn-ea"/>
                <a:sym typeface="+mn-lt"/>
              </a:rPr>
            </a:br>
            <a:endParaRPr lang="zh-CN" altLang="en-US" dirty="0">
              <a:latin typeface="+mn-lt"/>
              <a:ea typeface="+mn-ea"/>
              <a:cs typeface="+mn-ea"/>
              <a:sym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441566597"/>
              </p:ext>
            </p:extLst>
          </p:nvPr>
        </p:nvGraphicFramePr>
        <p:xfrm>
          <a:off x="653667" y="1410161"/>
          <a:ext cx="10040880" cy="4323335"/>
        </p:xfrm>
        <a:graphic>
          <a:graphicData uri="http://schemas.openxmlformats.org/drawingml/2006/table">
            <a:tbl>
              <a:tblPr/>
              <a:tblGrid>
                <a:gridCol w="2652229">
                  <a:extLst>
                    <a:ext uri="{9D8B030D-6E8A-4147-A177-3AD203B41FA5}">
                      <a16:colId xmlns:a16="http://schemas.microsoft.com/office/drawing/2014/main" val="20000"/>
                    </a:ext>
                  </a:extLst>
                </a:gridCol>
                <a:gridCol w="5210482">
                  <a:extLst>
                    <a:ext uri="{9D8B030D-6E8A-4147-A177-3AD203B41FA5}">
                      <a16:colId xmlns:a16="http://schemas.microsoft.com/office/drawing/2014/main" val="20001"/>
                    </a:ext>
                  </a:extLst>
                </a:gridCol>
                <a:gridCol w="2178169">
                  <a:extLst>
                    <a:ext uri="{9D8B030D-6E8A-4147-A177-3AD203B41FA5}">
                      <a16:colId xmlns:a16="http://schemas.microsoft.com/office/drawing/2014/main" val="20002"/>
                    </a:ext>
                  </a:extLst>
                </a:gridCol>
              </a:tblGrid>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Session NO.</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Content</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Weights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accent4">
                        <a:lumMod val="60000"/>
                        <a:lumOff val="40000"/>
                      </a:schemeClr>
                    </a:solidFill>
                  </a:tcPr>
                </a:tc>
                <a:extLst>
                  <a:ext uri="{0D108BD9-81ED-4DB2-BD59-A6C34878D82A}">
                    <a16:rowId xmlns:a16="http://schemas.microsoft.com/office/drawing/2014/main" val="10000"/>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1 </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Foundations of Risk Management</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20</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2 </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Quantitative Analysis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20</a:t>
                      </a:r>
                      <a:endParaRPr kumimoji="1" lang="zh-CN" altLang="en-US" sz="2400" b="0" i="0" u="none" strike="noStrike" kern="1200" cap="none" normalizeH="0" baseline="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3</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bg1"/>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Financial Markets and Products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bg1"/>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864667">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Study Session 4 </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Valuation and Risk Models</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tc>
                  <a:txBody>
                    <a:bodyPr/>
                    <a:lstStyle>
                      <a:lvl1pPr>
                        <a:spcBef>
                          <a:spcPct val="20000"/>
                        </a:spcBef>
                        <a:buFont typeface="Arial" pitchFamily="34" charset="0"/>
                        <a:defRPr sz="2800">
                          <a:solidFill>
                            <a:schemeClr val="tx1"/>
                          </a:solidFill>
                          <a:latin typeface="Calibri" pitchFamily="34" charset="0"/>
                          <a:ea typeface="宋体" pitchFamily="2" charset="-122"/>
                        </a:defRPr>
                      </a:lvl1pPr>
                      <a:lvl2pPr marL="742950" indent="-285750">
                        <a:spcBef>
                          <a:spcPct val="20000"/>
                        </a:spcBef>
                        <a:buFont typeface="Arial" pitchFamily="34" charset="0"/>
                        <a:defRPr sz="2400">
                          <a:solidFill>
                            <a:schemeClr val="tx1"/>
                          </a:solidFill>
                          <a:latin typeface="Calibri" pitchFamily="34" charset="0"/>
                          <a:ea typeface="宋体" pitchFamily="2" charset="-122"/>
                        </a:defRPr>
                      </a:lvl2pPr>
                      <a:lvl3pPr marL="1143000" indent="-228600">
                        <a:spcBef>
                          <a:spcPct val="20000"/>
                        </a:spcBef>
                        <a:buFont typeface="Arial" pitchFamily="34" charset="0"/>
                        <a:defRPr sz="2000">
                          <a:solidFill>
                            <a:schemeClr val="tx1"/>
                          </a:solidFill>
                          <a:latin typeface="Calibri" pitchFamily="34" charset="0"/>
                          <a:ea typeface="宋体" pitchFamily="2" charset="-122"/>
                        </a:defRPr>
                      </a:lvl3pPr>
                      <a:lvl4pPr marL="1600200" indent="-228600">
                        <a:spcBef>
                          <a:spcPct val="20000"/>
                        </a:spcBef>
                        <a:buFont typeface="Arial" pitchFamily="34" charset="0"/>
                        <a:defRPr>
                          <a:solidFill>
                            <a:schemeClr val="tx1"/>
                          </a:solidFill>
                          <a:latin typeface="Calibri" pitchFamily="34" charset="0"/>
                          <a:ea typeface="宋体" pitchFamily="2" charset="-122"/>
                        </a:defRPr>
                      </a:lvl4pPr>
                      <a:lvl5pPr marL="2057400" indent="-228600">
                        <a:spcBef>
                          <a:spcPct val="20000"/>
                        </a:spcBef>
                        <a:buFont typeface="Arial" pitchFamily="34" charset="0"/>
                        <a:defRPr>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pitchFamily="34" charset="0"/>
                        <a:defRPr>
                          <a:solidFill>
                            <a:schemeClr val="tx1"/>
                          </a:solidFill>
                          <a:latin typeface="Calibri" pitchFamily="34" charset="0"/>
                          <a:ea typeface="宋体" pitchFamily="2" charset="-122"/>
                        </a:defRPr>
                      </a:lvl9pPr>
                    </a:lstStyle>
                    <a:p>
                      <a:pPr marL="342900" marR="0" lvl="0" indent="-342900" algn="ctr" defTabSz="914400" rtl="0" eaLnBrk="1" fontAlgn="base" latinLnBrk="0" hangingPunct="1">
                        <a:lnSpc>
                          <a:spcPct val="100000"/>
                        </a:lnSpc>
                        <a:spcBef>
                          <a:spcPct val="20000"/>
                        </a:spcBef>
                        <a:spcAft>
                          <a:spcPct val="0"/>
                        </a:spcAft>
                        <a:buClr>
                          <a:srgbClr val="990000"/>
                        </a:buClr>
                        <a:buSzTx/>
                        <a:buFont typeface="Wingdings" pitchFamily="2" charset="2"/>
                        <a:buNone/>
                        <a:tabLst/>
                      </a:pPr>
                      <a:r>
                        <a:rPr kumimoji="1" lang="en-US" altLang="zh-CN" sz="2400" b="0" i="0" u="none" strike="noStrike" kern="1200" cap="none" normalizeH="0" baseline="0" dirty="0">
                          <a:ln>
                            <a:noFill/>
                          </a:ln>
                          <a:solidFill>
                            <a:srgbClr val="263238"/>
                          </a:solidFill>
                          <a:effectLst/>
                          <a:latin typeface="+mn-lt"/>
                          <a:ea typeface="+mn-ea"/>
                          <a:cs typeface="+mn-ea"/>
                          <a:sym typeface="+mn-lt"/>
                        </a:rPr>
                        <a:t>30</a:t>
                      </a:r>
                      <a:endParaRPr kumimoji="1" lang="zh-CN" altLang="en-US" sz="2400" b="0" i="0" u="none" strike="noStrike" kern="1200" cap="none" normalizeH="0" baseline="0" dirty="0">
                        <a:ln>
                          <a:noFill/>
                        </a:ln>
                        <a:solidFill>
                          <a:srgbClr val="263238"/>
                        </a:solidFill>
                        <a:effectLst/>
                        <a:latin typeface="+mn-lt"/>
                        <a:ea typeface="+mn-ea"/>
                        <a:cs typeface="+mn-ea"/>
                        <a:sym typeface="+mn-lt"/>
                      </a:endParaRPr>
                    </a:p>
                  </a:txBody>
                  <a:tcPr anchor="ctr" horzOverflow="overflow">
                    <a:lnL>
                      <a:noFill/>
                    </a:lnL>
                    <a:lnR>
                      <a:noFill/>
                    </a:lnR>
                    <a:lnT>
                      <a:noFill/>
                    </a:lnT>
                    <a:lnB>
                      <a:noFill/>
                    </a:lnB>
                    <a:lnTlToBr>
                      <a:noFill/>
                    </a:lnTlToBr>
                    <a:lnBlToTr>
                      <a:noFill/>
                    </a:lnBlToTr>
                    <a:solidFill>
                      <a:srgbClr val="FDEAD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83205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a:xfrm>
            <a:off x="431800" y="1796820"/>
            <a:ext cx="11112500" cy="4696056"/>
          </a:xfrm>
        </p:spPr>
        <p:txBody>
          <a:bodyPr>
            <a:normAutofit lnSpcReduction="10000"/>
          </a:bodyPr>
          <a:lstStyle/>
          <a:p>
            <a:pPr marL="179388" indent="-179388">
              <a:lnSpc>
                <a:spcPct val="100000"/>
              </a:lnSpc>
              <a:buFont typeface="Calibri" panose="020F0502020204030204" pitchFamily="34" charset="0"/>
              <a:buAutoNum type="arabicPeriod"/>
            </a:pPr>
            <a:r>
              <a:rPr lang="en-US" altLang="zh-CN" sz="2800" dirty="0">
                <a:ea typeface="宋体" panose="02010600030101010101" pitchFamily="2" charset="-122"/>
              </a:rPr>
              <a:t>Fixed-Income</a:t>
            </a:r>
          </a:p>
          <a:p>
            <a:pPr marL="358775" lvl="1" indent="-173038" algn="just">
              <a:lnSpc>
                <a:spcPct val="100000"/>
              </a:lnSpc>
            </a:pPr>
            <a:r>
              <a:rPr lang="en-US" altLang="zh-CN" sz="2800" dirty="0">
                <a:ea typeface="宋体" panose="02010600030101010101" pitchFamily="2" charset="-122"/>
              </a:rPr>
              <a:t>Valuation</a:t>
            </a:r>
          </a:p>
          <a:p>
            <a:pPr marL="358775" lvl="1" indent="-173038" algn="just">
              <a:lnSpc>
                <a:spcPct val="100000"/>
              </a:lnSpc>
            </a:pPr>
            <a:r>
              <a:rPr lang="en-US" altLang="zh-CN" sz="2800" dirty="0">
                <a:ea typeface="宋体" panose="02010600030101010101" pitchFamily="2" charset="-122"/>
              </a:rPr>
              <a:t>Risk Metrics</a:t>
            </a:r>
          </a:p>
          <a:p>
            <a:pPr marL="179388" indent="-179388" algn="just">
              <a:lnSpc>
                <a:spcPct val="100000"/>
              </a:lnSpc>
              <a:buFont typeface="Calibri" panose="020F0502020204030204" pitchFamily="34" charset="0"/>
              <a:buAutoNum type="arabicPeriod"/>
            </a:pPr>
            <a:r>
              <a:rPr lang="en-US" altLang="zh-CN" sz="2800" dirty="0">
                <a:ea typeface="宋体" panose="02010600030101010101" pitchFamily="2" charset="-122"/>
              </a:rPr>
              <a:t>Options</a:t>
            </a:r>
          </a:p>
          <a:p>
            <a:pPr marL="358775" lvl="1" indent="-173038" algn="just">
              <a:lnSpc>
                <a:spcPct val="100000"/>
              </a:lnSpc>
            </a:pPr>
            <a:r>
              <a:rPr lang="en-US" altLang="zh-CN" sz="2800" dirty="0">
                <a:ea typeface="宋体" panose="02010600030101010101" pitchFamily="2" charset="-122"/>
              </a:rPr>
              <a:t>Valuation</a:t>
            </a:r>
          </a:p>
          <a:p>
            <a:pPr marL="358775" lvl="1" indent="-173038" algn="just">
              <a:lnSpc>
                <a:spcPct val="100000"/>
              </a:lnSpc>
            </a:pPr>
            <a:r>
              <a:rPr lang="en-US" altLang="zh-CN" sz="2800" dirty="0">
                <a:ea typeface="宋体" panose="02010600030101010101" pitchFamily="2" charset="-122"/>
              </a:rPr>
              <a:t>Greek Letters</a:t>
            </a:r>
          </a:p>
          <a:p>
            <a:pPr marL="0" indent="0" algn="just">
              <a:lnSpc>
                <a:spcPct val="100000"/>
              </a:lnSpc>
              <a:buNone/>
            </a:pPr>
            <a:r>
              <a:rPr lang="en-US" altLang="zh-CN" sz="2800" dirty="0">
                <a:ea typeface="宋体" panose="02010600030101010101" pitchFamily="2" charset="-122"/>
              </a:rPr>
              <a:t>3.Risk Measurement and Management</a:t>
            </a:r>
          </a:p>
          <a:p>
            <a:pPr marL="358775" lvl="1" indent="-173038" algn="just">
              <a:lnSpc>
                <a:spcPct val="100000"/>
              </a:lnSpc>
            </a:pPr>
            <a:r>
              <a:rPr lang="en-US" altLang="zh-CN" sz="2800" dirty="0">
                <a:ea typeface="宋体" panose="02010600030101010101" pitchFamily="2" charset="-122"/>
              </a:rPr>
              <a:t>Market Risk</a:t>
            </a:r>
          </a:p>
          <a:p>
            <a:pPr marL="358775" lvl="1" indent="-173038" algn="just">
              <a:lnSpc>
                <a:spcPct val="100000"/>
              </a:lnSpc>
            </a:pPr>
            <a:r>
              <a:rPr lang="en-US" altLang="zh-CN" sz="2800" dirty="0">
                <a:ea typeface="宋体" panose="02010600030101010101" pitchFamily="2" charset="-122"/>
              </a:rPr>
              <a:t>Credit Risk</a:t>
            </a:r>
          </a:p>
          <a:p>
            <a:pPr marL="358775" lvl="1" indent="-173038" algn="just">
              <a:lnSpc>
                <a:spcPct val="100000"/>
              </a:lnSpc>
            </a:pPr>
            <a:r>
              <a:rPr lang="en-US" altLang="zh-CN" sz="2800" dirty="0">
                <a:ea typeface="宋体" panose="02010600030101010101" pitchFamily="2" charset="-122"/>
              </a:rPr>
              <a:t>Operational Risk</a:t>
            </a:r>
          </a:p>
          <a:p>
            <a:pPr marL="358775" lvl="1" indent="-173038" algn="just">
              <a:lnSpc>
                <a:spcPct val="100000"/>
              </a:lnSpc>
            </a:pPr>
            <a:r>
              <a:rPr lang="en-US" altLang="zh-CN" sz="2800" dirty="0">
                <a:ea typeface="宋体" panose="02010600030101010101" pitchFamily="2" charset="-122"/>
              </a:rPr>
              <a:t>Stress Testing</a:t>
            </a:r>
            <a:endParaRPr lang="en-US" altLang="zh-CN" sz="2800" dirty="0"/>
          </a:p>
          <a:p>
            <a:pPr lvl="1"/>
            <a:endParaRPr lang="en-US" altLang="zh-CN" sz="2800" dirty="0">
              <a:latin typeface="+mn-lt"/>
              <a:ea typeface="+mn-ea"/>
              <a:cs typeface="+mn-ea"/>
              <a:sym typeface="+mn-lt"/>
            </a:endParaRPr>
          </a:p>
          <a:p>
            <a:endParaRPr lang="zh-CN" altLang="en-US" b="0" dirty="0">
              <a:latin typeface="+mn-lt"/>
              <a:ea typeface="+mn-ea"/>
              <a:cs typeface="+mn-ea"/>
              <a:sym typeface="+mn-lt"/>
            </a:endParaRPr>
          </a:p>
        </p:txBody>
      </p:sp>
    </p:spTree>
    <p:extLst>
      <p:ext uri="{BB962C8B-B14F-4D97-AF65-F5344CB8AC3E}">
        <p14:creationId xmlns:p14="http://schemas.microsoft.com/office/powerpoint/2010/main" val="3661900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754798"/>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Fixed Income: Valuation</a:t>
              </a:r>
            </a:p>
          </p:txBody>
        </p:sp>
      </p:grpSp>
    </p:spTree>
    <p:extLst>
      <p:ext uri="{BB962C8B-B14F-4D97-AF65-F5344CB8AC3E}">
        <p14:creationId xmlns:p14="http://schemas.microsoft.com/office/powerpoint/2010/main" val="2812986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Compounding Interest</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Spot and Forward Rate</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Spread and Yield</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Relationship between Rates</a:t>
            </a:r>
          </a:p>
          <a:p>
            <a:pPr marL="0" indent="0">
              <a:lnSpc>
                <a:spcPct val="120000"/>
              </a:lnSpc>
              <a:buNone/>
            </a:pPr>
            <a:r>
              <a:rPr lang="en-US" altLang="zh-CN" b="0" dirty="0">
                <a:solidFill>
                  <a:srgbClr val="2C3E50"/>
                </a:solidFill>
                <a:latin typeface="Segoe UI" panose="020B0502040204020203" pitchFamily="34" charset="0"/>
                <a:cs typeface="Segoe UI" panose="020B0502040204020203" pitchFamily="34" charset="0"/>
              </a:rPr>
              <a:t>5. Discount Factor</a:t>
            </a:r>
          </a:p>
          <a:p>
            <a:pPr marL="0" indent="0">
              <a:lnSpc>
                <a:spcPct val="120000"/>
              </a:lnSpc>
              <a:buNone/>
            </a:pPr>
            <a:r>
              <a:rPr lang="en-US" altLang="zh-CN" b="0" dirty="0">
                <a:solidFill>
                  <a:srgbClr val="2C3E50"/>
                </a:solidFill>
                <a:latin typeface="Segoe UI" panose="020B0502040204020203" pitchFamily="34" charset="0"/>
                <a:cs typeface="Segoe UI" panose="020B0502040204020203" pitchFamily="34" charset="0"/>
              </a:rPr>
              <a:t>6. Basic Valuation Approach</a:t>
            </a:r>
          </a:p>
          <a:p>
            <a:pPr marL="0" indent="0">
              <a:lnSpc>
                <a:spcPct val="120000"/>
              </a:lnSpc>
              <a:buNone/>
            </a:pPr>
            <a:r>
              <a:rPr lang="en-US" altLang="zh-CN" b="0" dirty="0">
                <a:solidFill>
                  <a:srgbClr val="2C3E50"/>
                </a:solidFill>
                <a:latin typeface="Segoe UI" panose="020B0502040204020203" pitchFamily="34" charset="0"/>
                <a:cs typeface="Segoe UI" panose="020B0502040204020203" pitchFamily="34" charset="0"/>
              </a:rPr>
              <a:t>7. Bond Replication</a:t>
            </a:r>
          </a:p>
          <a:p>
            <a:pPr marL="0" indent="0">
              <a:lnSpc>
                <a:spcPct val="120000"/>
              </a:lnSpc>
              <a:buNone/>
            </a:pPr>
            <a:r>
              <a:rPr lang="en-US" altLang="zh-CN" b="0" dirty="0">
                <a:solidFill>
                  <a:srgbClr val="2C3E50"/>
                </a:solidFill>
                <a:latin typeface="Segoe UI" panose="020B0502040204020203" pitchFamily="34" charset="0"/>
                <a:cs typeface="Segoe UI" panose="020B0502040204020203" pitchFamily="34" charset="0"/>
              </a:rPr>
              <a:t>8. Decomposition of P&amp;L</a:t>
            </a: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3598555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Compounding Interest</a:t>
            </a:r>
          </a:p>
        </p:txBody>
      </p:sp>
      <p:sp>
        <p:nvSpPr>
          <p:cNvPr id="3" name="文本占位符 2"/>
          <p:cNvSpPr>
            <a:spLocks noGrp="1"/>
          </p:cNvSpPr>
          <p:nvPr>
            <p:ph type="body" sz="quarter" idx="10"/>
          </p:nvPr>
        </p:nvSpPr>
        <p:spPr>
          <a:xfrm>
            <a:off x="393599" y="813470"/>
            <a:ext cx="11404800" cy="4215730"/>
          </a:xfrm>
        </p:spPr>
        <p:txBody>
          <a:bodyPr>
            <a:normAutofit lnSpcReduction="10000"/>
          </a:bodyPr>
          <a:lstStyle/>
          <a:p>
            <a:pPr>
              <a:spcBef>
                <a:spcPct val="0"/>
              </a:spcBef>
            </a:pPr>
            <a:r>
              <a:rPr lang="en-US" altLang="zh-CN" dirty="0"/>
              <a:t>Compounding Interest</a:t>
            </a:r>
          </a:p>
          <a:p>
            <a:pPr lvl="1">
              <a:spcBef>
                <a:spcPct val="0"/>
              </a:spcBef>
            </a:pPr>
            <a:r>
              <a:rPr lang="en-US" altLang="zh-CN" dirty="0"/>
              <a:t>Suppose we have an account where the </a:t>
            </a:r>
            <a:r>
              <a:rPr lang="en-US" altLang="zh-CN" u="sng" dirty="0"/>
              <a:t>simple interest is added in each year and then that money also earns interest</a:t>
            </a:r>
            <a:r>
              <a:rPr lang="en-US" altLang="zh-CN" dirty="0"/>
              <a:t>.</a:t>
            </a:r>
          </a:p>
          <a:p>
            <a:pPr lvl="1">
              <a:spcBef>
                <a:spcPct val="0"/>
              </a:spcBef>
            </a:pPr>
            <a:r>
              <a:rPr lang="en-US" altLang="zh-CN" dirty="0"/>
              <a:t>Assuming</a:t>
            </a:r>
          </a:p>
          <a:p>
            <a:pPr lvl="2">
              <a:spcBef>
                <a:spcPct val="0"/>
              </a:spcBef>
            </a:pPr>
            <a:r>
              <a:rPr lang="en-US" altLang="zh-CN" dirty="0" err="1"/>
              <a:t>R</a:t>
            </a:r>
            <a:r>
              <a:rPr lang="en-US" altLang="zh-CN" baseline="-25000" dirty="0" err="1"/>
              <a:t>c</a:t>
            </a:r>
            <a:r>
              <a:rPr lang="en-US" altLang="zh-CN" dirty="0"/>
              <a:t> is the rate of interest with continuous compounding.</a:t>
            </a:r>
          </a:p>
          <a:p>
            <a:pPr lvl="2">
              <a:spcBef>
                <a:spcPct val="0"/>
              </a:spcBef>
            </a:pPr>
            <a:r>
              <a:rPr lang="en-US" altLang="zh-CN" dirty="0"/>
              <a:t>R</a:t>
            </a:r>
            <a:r>
              <a:rPr lang="en-US" altLang="zh-CN" baseline="-25000" dirty="0"/>
              <a:t>m</a:t>
            </a:r>
            <a:r>
              <a:rPr lang="en-US" altLang="zh-CN" dirty="0"/>
              <a:t> is the rate of interest with discrete compounding (m per annum)</a:t>
            </a:r>
          </a:p>
          <a:p>
            <a:pPr lvl="2">
              <a:spcBef>
                <a:spcPct val="0"/>
              </a:spcBef>
            </a:pPr>
            <a:r>
              <a:rPr lang="en-US" altLang="zh-CN" dirty="0"/>
              <a:t>n is the number of years. </a:t>
            </a:r>
          </a:p>
          <a:p>
            <a:endParaRPr lang="zh-CN" altLang="en-US"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49B2DB9B-8389-4182-8D57-A23E7B6F40B6}"/>
                  </a:ext>
                </a:extLst>
              </p:cNvPr>
              <p:cNvSpPr txBox="1"/>
              <p:nvPr/>
            </p:nvSpPr>
            <p:spPr>
              <a:xfrm>
                <a:off x="4889865" y="5120911"/>
                <a:ext cx="2412268" cy="1527726"/>
              </a:xfrm>
              <a:prstGeom prst="rect">
                <a:avLst/>
              </a:prstGeom>
              <a:noFill/>
              <a:ln w="19050">
                <a:solidFill>
                  <a:srgbClr val="FF0000"/>
                </a:solidFill>
              </a:ln>
            </p:spPr>
            <p:txBody>
              <a:bodyPr wrap="square" rtlCol="0">
                <a:spAutoFit/>
              </a:bodyPr>
              <a:lstStyle/>
              <a:p>
                <a:pPr>
                  <a:lnSpc>
                    <a:spcPct val="120000"/>
                  </a:lnSpc>
                </a:pPr>
                <a14:m>
                  <m:oMathPara xmlns:m="http://schemas.openxmlformats.org/officeDocument/2006/math">
                    <m:oMathParaPr>
                      <m:jc m:val="left"/>
                    </m:oMathParaPr>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FV</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sub>
                          </m:sSub>
                        </m:num>
                        <m:den>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den>
                      </m:f>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mn</m:t>
                          </m:r>
                        </m:sup>
                      </m:sSup>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lnSpc>
                    <a:spcPct val="120000"/>
                  </a:lnSpc>
                </a:pPr>
                <a14:m>
                  <m:oMathPara xmlns:m="http://schemas.openxmlformats.org/officeDocument/2006/math">
                    <m:oMathParaPr>
                      <m:jc m:val="left"/>
                    </m:oMathParaPr>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FV</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sSup>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lnSpc>
                    <a:spcPct val="120000"/>
                  </a:lnSpc>
                </a:pPr>
                <a14:m>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sub>
                        </m:s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sSup>
                  </m:oMath>
                </a14:m>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a:t>
                </a:r>
                <a:r>
                  <a:rPr lang="en-US" altLang="zh-CN" sz="1800" b="0" dirty="0">
                    <a:solidFill>
                      <a:srgbClr val="2C3E50"/>
                    </a:solidFill>
                    <a:ea typeface="微软雅黑" panose="020B0503020204020204" pitchFamily="34" charset="-122"/>
                    <a:cs typeface="Segoe UI" panose="020B0502040204020203" pitchFamily="34" charset="0"/>
                  </a:rPr>
                  <a:t> </a:t>
                </a:r>
                <a14:m>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PV</m:t>
                    </m:r>
                  </m:oMath>
                </a14:m>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(1+</a:t>
                </a:r>
                <a14:m>
                  <m:oMath xmlns:m="http://schemas.openxmlformats.org/officeDocument/2006/math">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sub>
                        </m:sSub>
                      </m:num>
                      <m:den>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den>
                    </m:f>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mn</m:t>
                        </m:r>
                      </m:sup>
                    </m:sSup>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6" name="文本框 5">
                <a:extLst>
                  <a:ext uri="{FF2B5EF4-FFF2-40B4-BE49-F238E27FC236}">
                    <a16:creationId xmlns:a16="http://schemas.microsoft.com/office/drawing/2014/main" id="{49B2DB9B-8389-4182-8D57-A23E7B6F40B6}"/>
                  </a:ext>
                </a:extLst>
              </p:cNvPr>
              <p:cNvSpPr txBox="1">
                <a:spLocks noRot="1" noChangeAspect="1" noMove="1" noResize="1" noEditPoints="1" noAdjustHandles="1" noChangeArrowheads="1" noChangeShapeType="1" noTextEdit="1"/>
              </p:cNvSpPr>
              <p:nvPr/>
            </p:nvSpPr>
            <p:spPr>
              <a:xfrm>
                <a:off x="4889865" y="5120911"/>
                <a:ext cx="2412268" cy="1527726"/>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959083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Spot, Forward and Par Rates</a:t>
            </a:r>
          </a:p>
        </p:txBody>
      </p:sp>
      <p:sp>
        <p:nvSpPr>
          <p:cNvPr id="3" name="文本占位符 2"/>
          <p:cNvSpPr>
            <a:spLocks noGrp="1"/>
          </p:cNvSpPr>
          <p:nvPr>
            <p:ph type="body" sz="quarter" idx="10"/>
          </p:nvPr>
        </p:nvSpPr>
        <p:spPr/>
        <p:txBody>
          <a:bodyPr>
            <a:normAutofit fontScale="85000" lnSpcReduction="20000"/>
          </a:bodyPr>
          <a:lstStyle/>
          <a:p>
            <a:pPr>
              <a:defRPr/>
            </a:pPr>
            <a:r>
              <a:rPr lang="en-US" altLang="zh-CN" dirty="0"/>
              <a:t>Spot Rate: </a:t>
            </a:r>
            <a:r>
              <a:rPr lang="en-US" altLang="zh-CN" b="0" dirty="0"/>
              <a:t>A spot rate is the rate on a </a:t>
            </a:r>
            <a:r>
              <a:rPr lang="en-US" altLang="zh-CN" b="0" u="sng" dirty="0"/>
              <a:t>spot loan</a:t>
            </a:r>
            <a:r>
              <a:rPr lang="en-US" altLang="zh-CN" b="0" dirty="0"/>
              <a:t>, an agreement in which a lender gives money to the borrower at the time of the agreement to be repaid at some single, specified time in the future.</a:t>
            </a:r>
          </a:p>
          <a:p>
            <a:pPr>
              <a:lnSpc>
                <a:spcPct val="130000"/>
              </a:lnSpc>
              <a:defRPr/>
            </a:pPr>
            <a:r>
              <a:rPr lang="en-US" altLang="zh-CN" dirty="0"/>
              <a:t>Forward Rate: </a:t>
            </a:r>
            <a:r>
              <a:rPr lang="en-US" altLang="zh-CN" b="0" dirty="0"/>
              <a:t>Interest rates corresponding to a future period implied by spot curve.</a:t>
            </a:r>
          </a:p>
          <a:p>
            <a:pPr>
              <a:lnSpc>
                <a:spcPct val="130000"/>
              </a:lnSpc>
              <a:defRPr/>
            </a:pPr>
            <a:endParaRPr lang="en-US" altLang="zh-CN" b="0" dirty="0"/>
          </a:p>
          <a:p>
            <a:pPr>
              <a:lnSpc>
                <a:spcPct val="130000"/>
              </a:lnSpc>
              <a:defRPr/>
            </a:pPr>
            <a:endParaRPr lang="en-US" altLang="zh-CN" b="0" dirty="0"/>
          </a:p>
          <a:p>
            <a:pPr>
              <a:lnSpc>
                <a:spcPct val="130000"/>
              </a:lnSpc>
              <a:defRPr/>
            </a:pPr>
            <a:endParaRPr lang="en-US" altLang="zh-CN" b="0" dirty="0"/>
          </a:p>
          <a:p>
            <a:pPr>
              <a:lnSpc>
                <a:spcPct val="130000"/>
              </a:lnSpc>
              <a:defRPr/>
            </a:pPr>
            <a:endParaRPr lang="en-US" altLang="zh-CN" b="0" dirty="0"/>
          </a:p>
          <a:p>
            <a:pPr>
              <a:lnSpc>
                <a:spcPct val="130000"/>
              </a:lnSpc>
              <a:defRPr/>
            </a:pPr>
            <a:endParaRPr lang="en-US" altLang="zh-CN" b="0" dirty="0"/>
          </a:p>
          <a:p>
            <a:pPr>
              <a:lnSpc>
                <a:spcPct val="130000"/>
              </a:lnSpc>
              <a:defRPr/>
            </a:pPr>
            <a:endParaRPr lang="en-US" altLang="zh-CN" b="0" dirty="0"/>
          </a:p>
          <a:p>
            <a:pPr>
              <a:lnSpc>
                <a:spcPct val="130000"/>
              </a:lnSpc>
              <a:defRPr/>
            </a:pPr>
            <a:endParaRPr lang="en-US" altLang="zh-CN" b="0" dirty="0"/>
          </a:p>
          <a:p>
            <a:pPr>
              <a:lnSpc>
                <a:spcPct val="130000"/>
              </a:lnSpc>
              <a:defRPr/>
            </a:pPr>
            <a:endParaRPr lang="en-US" altLang="zh-CN" dirty="0"/>
          </a:p>
          <a:p>
            <a:pPr>
              <a:lnSpc>
                <a:spcPct val="130000"/>
              </a:lnSpc>
              <a:defRPr/>
            </a:pPr>
            <a:endParaRPr lang="en-US" altLang="zh-CN" dirty="0"/>
          </a:p>
          <a:p>
            <a:pPr>
              <a:lnSpc>
                <a:spcPct val="130000"/>
              </a:lnSpc>
              <a:defRPr/>
            </a:pPr>
            <a:r>
              <a:rPr lang="en-US" altLang="zh-CN" dirty="0"/>
              <a:t>Par Rate: </a:t>
            </a:r>
            <a:r>
              <a:rPr lang="en-US" altLang="zh-CN" b="0" dirty="0"/>
              <a:t>The T-year, semiannual par rate is the rate, C(T), such that </a:t>
            </a:r>
            <a:r>
              <a:rPr lang="en-US" altLang="zh-CN" b="0" u="sng" dirty="0"/>
              <a:t>a fixed-rate asset with par value of $100 that makes regular semi-annual coupon payments of C(T)/2×$100 discounts to a present value equal to the par value of $100</a:t>
            </a:r>
            <a:r>
              <a:rPr lang="en-US" altLang="zh-CN" b="0" dirty="0"/>
              <a:t>.</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823D0354-66BB-49EA-83FC-32C97577BDD9}"/>
                  </a:ext>
                </a:extLst>
              </p:cNvPr>
              <p:cNvSpPr txBox="1"/>
              <p:nvPr/>
            </p:nvSpPr>
            <p:spPr>
              <a:xfrm>
                <a:off x="1055458" y="2704478"/>
                <a:ext cx="2751534" cy="1878143"/>
              </a:xfrm>
              <a:prstGeom prst="rect">
                <a:avLst/>
              </a:prstGeom>
              <a:noFill/>
              <a:ln w="19050">
                <a:solidFill>
                  <a:srgbClr val="FF0000"/>
                </a:solidFill>
              </a:ln>
            </p:spPr>
            <p:txBody>
              <a:bodyPr wrap="square" rtlCol="0">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sSup>
                        <m:sSup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sup>
                      </m:sSup>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sub>
                      </m:sSub>
                      <m:sSup>
                        <m:sSup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d>
                            <m:d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e>
                          </m:d>
                        </m:sup>
                      </m:sSup>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sSup>
                        <m:sSup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sup>
                      </m:sSup>
                    </m:oMath>
                  </m:oMathPara>
                </a14:m>
                <a:endParaRPr lang="en-US" altLang="zh-CN" sz="17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lnSpc>
                    <a:spcPct val="150000"/>
                  </a:lnSpc>
                </a:pPr>
                <a14:m>
                  <m:oMathPara xmlns:m="http://schemas.openxmlformats.org/officeDocument/2006/math">
                    <m:oMathParaPr>
                      <m:jc m:val="left"/>
                    </m:oMathParaPr>
                    <m:oMath xmlns:m="http://schemas.openxmlformats.org/officeDocument/2006/math">
                      <m:sSup>
                        <m:sSup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sup>
                      </m:sSup>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p>
                      </m:sSup>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sup>
                      </m:sSup>
                    </m:oMath>
                  </m:oMathPara>
                </a14:m>
                <a:endParaRPr lang="en-US" altLang="zh-CN" sz="17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left"/>
                    </m:oMathParaPr>
                    <m:oMath xmlns:m="http://schemas.openxmlformats.org/officeDocument/2006/math">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num>
                        <m:den>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7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a:rPr lang="en-US" altLang="zh-CN" sz="17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den>
                      </m:f>
                    </m:oMath>
                  </m:oMathPara>
                </a14:m>
                <a:endParaRPr lang="zh-CN" altLang="en-US" sz="17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14" name="文本框 13">
                <a:extLst>
                  <a:ext uri="{FF2B5EF4-FFF2-40B4-BE49-F238E27FC236}">
                    <a16:creationId xmlns:a16="http://schemas.microsoft.com/office/drawing/2014/main" id="{823D0354-66BB-49EA-83FC-32C97577BDD9}"/>
                  </a:ext>
                </a:extLst>
              </p:cNvPr>
              <p:cNvSpPr txBox="1">
                <a:spLocks noRot="1" noChangeAspect="1" noMove="1" noResize="1" noEditPoints="1" noAdjustHandles="1" noChangeArrowheads="1" noChangeShapeType="1" noTextEdit="1"/>
              </p:cNvSpPr>
              <p:nvPr/>
            </p:nvSpPr>
            <p:spPr>
              <a:xfrm>
                <a:off x="1055458" y="2704478"/>
                <a:ext cx="2751534" cy="1878143"/>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id="{1ABCC8F2-9EDE-4B3D-8BA0-29AC0058A61F}"/>
              </a:ext>
            </a:extLst>
          </p:cNvPr>
          <p:cNvPicPr>
            <a:picLocks noChangeAspect="1"/>
          </p:cNvPicPr>
          <p:nvPr/>
        </p:nvPicPr>
        <p:blipFill>
          <a:blip r:embed="rId3"/>
          <a:stretch>
            <a:fillRect/>
          </a:stretch>
        </p:blipFill>
        <p:spPr>
          <a:xfrm>
            <a:off x="6910456" y="2478548"/>
            <a:ext cx="3737172" cy="2719052"/>
          </a:xfrm>
          <a:prstGeom prst="rect">
            <a:avLst/>
          </a:prstGeom>
        </p:spPr>
      </p:pic>
    </p:spTree>
    <p:extLst>
      <p:ext uri="{BB962C8B-B14F-4D97-AF65-F5344CB8AC3E}">
        <p14:creationId xmlns:p14="http://schemas.microsoft.com/office/powerpoint/2010/main" val="323066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Spread and Yield</a:t>
            </a:r>
          </a:p>
        </p:txBody>
      </p:sp>
      <p:sp>
        <p:nvSpPr>
          <p:cNvPr id="3" name="文本占位符 2"/>
          <p:cNvSpPr>
            <a:spLocks noGrp="1"/>
          </p:cNvSpPr>
          <p:nvPr>
            <p:ph type="body" sz="quarter" idx="10"/>
          </p:nvPr>
        </p:nvSpPr>
        <p:spPr>
          <a:xfrm>
            <a:off x="393599" y="813470"/>
            <a:ext cx="11404800" cy="3655292"/>
          </a:xfrm>
        </p:spPr>
        <p:txBody>
          <a:bodyPr>
            <a:normAutofit fontScale="77500" lnSpcReduction="20000"/>
          </a:bodyPr>
          <a:lstStyle/>
          <a:p>
            <a:pPr>
              <a:spcBef>
                <a:spcPct val="0"/>
              </a:spcBef>
            </a:pPr>
            <a:r>
              <a:rPr lang="en-US" altLang="zh-CN" dirty="0"/>
              <a:t>Spread</a:t>
            </a:r>
          </a:p>
          <a:p>
            <a:pPr lvl="1">
              <a:spcBef>
                <a:spcPct val="0"/>
              </a:spcBef>
            </a:pPr>
            <a:r>
              <a:rPr lang="en-US" altLang="zh-CN" u="sng" dirty="0"/>
              <a:t>Important measures of relative value.</a:t>
            </a:r>
            <a:r>
              <a:rPr lang="en-US" altLang="zh-CN" dirty="0"/>
              <a:t> Assume we define the term structure as a set of forward rates, then we can </a:t>
            </a:r>
            <a:r>
              <a:rPr lang="en-US" altLang="zh-CN" u="sng" dirty="0"/>
              <a:t>find a spread, s, that equates the discounted cash flows to the price of the bond</a:t>
            </a:r>
            <a:r>
              <a:rPr lang="en-US" altLang="zh-CN" dirty="0"/>
              <a:t>.</a:t>
            </a:r>
          </a:p>
          <a:p>
            <a:pPr>
              <a:spcBef>
                <a:spcPct val="0"/>
              </a:spcBef>
            </a:pPr>
            <a:r>
              <a:rPr lang="en-US" altLang="zh-CN" dirty="0"/>
              <a:t>YTM</a:t>
            </a:r>
          </a:p>
          <a:p>
            <a:pPr lvl="1">
              <a:spcBef>
                <a:spcPct val="0"/>
              </a:spcBef>
            </a:pPr>
            <a:r>
              <a:rPr lang="en-US" altLang="zh-CN" u="sng" dirty="0"/>
              <a:t>Single rate, when used to discount a bond’s cash flow, produces the bond’s market price.</a:t>
            </a:r>
          </a:p>
          <a:p>
            <a:pPr lvl="1">
              <a:spcBef>
                <a:spcPct val="0"/>
              </a:spcBef>
            </a:pPr>
            <a:r>
              <a:rPr lang="en-US" altLang="zh-CN" u="sng" dirty="0"/>
              <a:t>It can be viewed as the realized return on the bond assuming all cash flows are reinvested at the YTM and the bond is held to maturity.</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EA621529-3B11-4859-BC51-5E8B9A8D33AB}"/>
                  </a:ext>
                </a:extLst>
              </p:cNvPr>
              <p:cNvSpPr txBox="1"/>
              <p:nvPr/>
            </p:nvSpPr>
            <p:spPr>
              <a:xfrm>
                <a:off x="2560933" y="4643768"/>
                <a:ext cx="8004198" cy="11394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den>
                      </m:f>
                    </m:oMath>
                  </m:oMathPara>
                </a14:m>
                <a:endPar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a:p>
                <a:pP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num>
                        <m:den>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e>
                          </m:d>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b>
                          </m:sSub>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EA621529-3B11-4859-BC51-5E8B9A8D33AB}"/>
                  </a:ext>
                </a:extLst>
              </p:cNvPr>
              <p:cNvSpPr txBox="1">
                <a:spLocks noRot="1" noChangeAspect="1" noMove="1" noResize="1" noEditPoints="1" noAdjustHandles="1" noChangeArrowheads="1" noChangeShapeType="1" noTextEdit="1"/>
              </p:cNvSpPr>
              <p:nvPr/>
            </p:nvSpPr>
            <p:spPr>
              <a:xfrm>
                <a:off x="2560933" y="4643768"/>
                <a:ext cx="8004198" cy="1139414"/>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548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Spread and Yield</a:t>
            </a:r>
          </a:p>
        </p:txBody>
      </p:sp>
      <p:sp>
        <p:nvSpPr>
          <p:cNvPr id="3" name="文本占位符 2"/>
          <p:cNvSpPr>
            <a:spLocks noGrp="1"/>
          </p:cNvSpPr>
          <p:nvPr>
            <p:ph type="body" sz="quarter" idx="10"/>
          </p:nvPr>
        </p:nvSpPr>
        <p:spPr>
          <a:xfrm>
            <a:off x="393599" y="813469"/>
            <a:ext cx="11404800" cy="1103821"/>
          </a:xfrm>
        </p:spPr>
        <p:txBody>
          <a:bodyPr>
            <a:normAutofit fontScale="70000" lnSpcReduction="20000"/>
          </a:bodyPr>
          <a:lstStyle/>
          <a:p>
            <a:pPr>
              <a:spcBef>
                <a:spcPct val="0"/>
              </a:spcBef>
            </a:pPr>
            <a:r>
              <a:rPr lang="en-US" altLang="zh-CN" dirty="0"/>
              <a:t>Example</a:t>
            </a:r>
          </a:p>
          <a:p>
            <a:pPr lvl="1">
              <a:spcBef>
                <a:spcPct val="0"/>
              </a:spcBef>
            </a:pPr>
            <a:r>
              <a:rPr lang="en-US" altLang="zh-CN" dirty="0"/>
              <a:t>Consider a bond with $100 face value, 2-year maturity and 4% semiannual coupon. Given annualized spot rate as follow:</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105FF139-CBA2-4608-9950-CE7BB1BC1B48}"/>
              </a:ext>
            </a:extLst>
          </p:cNvPr>
          <p:cNvPicPr>
            <a:picLocks noChangeAspect="1"/>
          </p:cNvPicPr>
          <p:nvPr/>
        </p:nvPicPr>
        <p:blipFill>
          <a:blip r:embed="rId2"/>
          <a:stretch>
            <a:fillRect/>
          </a:stretch>
        </p:blipFill>
        <p:spPr>
          <a:xfrm>
            <a:off x="4203028" y="2441362"/>
            <a:ext cx="3785944" cy="1975275"/>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993ECF6D-DC37-4171-89A3-9993FCE2A3B1}"/>
                  </a:ext>
                </a:extLst>
              </p:cNvPr>
              <p:cNvSpPr txBox="1"/>
              <p:nvPr/>
            </p:nvSpPr>
            <p:spPr>
              <a:xfrm>
                <a:off x="1950569" y="4522912"/>
                <a:ext cx="8290861" cy="1747017"/>
              </a:xfrm>
              <a:prstGeom prst="rect">
                <a:avLst/>
              </a:prstGeom>
              <a:noFill/>
            </p:spPr>
            <p:txBody>
              <a:bodyPr wrap="squar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type m:val="lin"/>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0.025</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type m:val="lin"/>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0.026</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den>
                          </m:f>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type m:val="lin"/>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0.027</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3</m:t>
                                  </m:r>
                                </m:sup>
                              </m:sSup>
                            </m:den>
                          </m:f>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102</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type m:val="lin"/>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0.029</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4</m:t>
                                  </m:r>
                                </m:sup>
                              </m:sSup>
                            </m:den>
                          </m:f>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=$102.14</m:t>
                      </m:r>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lnSpc>
                    <a:spcPct val="150000"/>
                  </a:lnSpc>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N=4;PV=-102.14;PMT=2;FV=100,CPT→I/Y=1.4455</a:t>
                </a:r>
              </a:p>
              <a:p>
                <a:pPr>
                  <a:lnSpc>
                    <a:spcPct val="150000"/>
                  </a:lnSpc>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Yield=2.89%</a:t>
                </a:r>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6" name="文本框 5">
                <a:extLst>
                  <a:ext uri="{FF2B5EF4-FFF2-40B4-BE49-F238E27FC236}">
                    <a16:creationId xmlns:a16="http://schemas.microsoft.com/office/drawing/2014/main" id="{993ECF6D-DC37-4171-89A3-9993FCE2A3B1}"/>
                  </a:ext>
                </a:extLst>
              </p:cNvPr>
              <p:cNvSpPr txBox="1">
                <a:spLocks noRot="1" noChangeAspect="1" noMove="1" noResize="1" noEditPoints="1" noAdjustHandles="1" noChangeArrowheads="1" noChangeShapeType="1" noTextEdit="1"/>
              </p:cNvSpPr>
              <p:nvPr/>
            </p:nvSpPr>
            <p:spPr>
              <a:xfrm>
                <a:off x="1950569" y="4522912"/>
                <a:ext cx="8290861" cy="1747017"/>
              </a:xfrm>
              <a:prstGeom prst="rect">
                <a:avLst/>
              </a:prstGeom>
              <a:blipFill>
                <a:blip r:embed="rId3"/>
                <a:stretch>
                  <a:fillRect l="-1765" b="-6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30810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Relationship between Rates</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Relationship between spot rates and YTM</a:t>
            </a:r>
          </a:p>
          <a:p>
            <a:pPr lvl="1">
              <a:spcBef>
                <a:spcPct val="0"/>
              </a:spcBef>
            </a:pPr>
            <a:r>
              <a:rPr lang="en-US" altLang="zh-CN" dirty="0"/>
              <a:t>There are several spot rates and a single yield (YTM). </a:t>
            </a:r>
            <a:r>
              <a:rPr lang="en-US" altLang="zh-CN" u="sng" dirty="0"/>
              <a:t>YTM is a summary of all the spot rates</a:t>
            </a:r>
            <a:r>
              <a:rPr lang="en-US" altLang="zh-CN" dirty="0"/>
              <a:t> that enter into the bond pricing equation.</a:t>
            </a:r>
          </a:p>
          <a:p>
            <a:pPr lvl="2">
              <a:spcBef>
                <a:spcPct val="0"/>
              </a:spcBef>
            </a:pPr>
            <a:r>
              <a:rPr lang="en-US" altLang="zh-CN" u="sng" dirty="0"/>
              <a:t>A flat term structure of sport rates: the yield must equal the one-year spot rate level as well</a:t>
            </a:r>
            <a:r>
              <a:rPr lang="en-US" altLang="zh-CN" dirty="0"/>
              <a:t>.</a:t>
            </a:r>
          </a:p>
          <a:p>
            <a:pPr lvl="2">
              <a:spcBef>
                <a:spcPct val="0"/>
              </a:spcBef>
            </a:pPr>
            <a:r>
              <a:rPr lang="en-US" altLang="zh-CN" u="sng" dirty="0"/>
              <a:t>A term structure where spot rates are upward sloping over a two-year period: the two-year bond yield is below the two-year spot rate</a:t>
            </a:r>
            <a:r>
              <a:rPr lang="en-US" altLang="zh-CN" dirty="0"/>
              <a:t>.</a:t>
            </a:r>
          </a:p>
          <a:p>
            <a:pPr lvl="2">
              <a:spcBef>
                <a:spcPct val="0"/>
              </a:spcBef>
            </a:pPr>
            <a:r>
              <a:rPr lang="en-US" altLang="zh-CN" u="sng" dirty="0"/>
              <a:t>A term structure where spot rates are downward sloping over a two-year period: the two-year yield is above the two-year spot rate</a:t>
            </a:r>
            <a:r>
              <a:rPr lang="en-US" altLang="zh-CN" dirty="0"/>
              <a:t>.</a:t>
            </a:r>
          </a:p>
          <a:p>
            <a:pPr>
              <a:spcBef>
                <a:spcPct val="0"/>
              </a:spcBef>
            </a:pPr>
            <a:r>
              <a:rPr lang="en-US" altLang="zh-CN" dirty="0"/>
              <a:t>Relationship between spot rates and forward rates</a:t>
            </a:r>
          </a:p>
          <a:p>
            <a:pPr lvl="1">
              <a:spcBef>
                <a:spcPct val="0"/>
              </a:spcBef>
            </a:pPr>
            <a:r>
              <a:rPr lang="en-US" altLang="zh-CN" u="sng" dirty="0"/>
              <a:t>Spot rates are an average of forward rates.</a:t>
            </a:r>
          </a:p>
          <a:p>
            <a:pPr lvl="1">
              <a:spcBef>
                <a:spcPct val="0"/>
              </a:spcBef>
            </a:pPr>
            <a:r>
              <a:rPr lang="en-US" altLang="zh-CN" u="sng" dirty="0"/>
              <a:t>If spot rates are increasing with term while forward rates are greater than spot rates </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36529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Discount Factor</a:t>
            </a:r>
          </a:p>
        </p:txBody>
      </p:sp>
      <p:sp>
        <p:nvSpPr>
          <p:cNvPr id="3" name="文本占位符 2"/>
          <p:cNvSpPr>
            <a:spLocks noGrp="1"/>
          </p:cNvSpPr>
          <p:nvPr>
            <p:ph type="body" sz="quarter" idx="10"/>
          </p:nvPr>
        </p:nvSpPr>
        <p:spPr>
          <a:xfrm>
            <a:off x="393599" y="813470"/>
            <a:ext cx="11404800" cy="5012144"/>
          </a:xfrm>
        </p:spPr>
        <p:txBody>
          <a:bodyPr>
            <a:normAutofit fontScale="92500" lnSpcReduction="20000"/>
          </a:bodyPr>
          <a:lstStyle/>
          <a:p>
            <a:pPr>
              <a:spcBef>
                <a:spcPct val="0"/>
              </a:spcBef>
            </a:pPr>
            <a:r>
              <a:rPr lang="en-US" altLang="zh-CN" dirty="0"/>
              <a:t>Discount Factor</a:t>
            </a:r>
          </a:p>
          <a:p>
            <a:pPr lvl="1">
              <a:spcBef>
                <a:spcPct val="0"/>
              </a:spcBef>
            </a:pPr>
            <a:r>
              <a:rPr lang="en-US" altLang="zh-CN" dirty="0"/>
              <a:t>For a term of t years, gives </a:t>
            </a:r>
            <a:r>
              <a:rPr lang="en-US" altLang="zh-CN" u="sng" dirty="0"/>
              <a:t>the present value of one unit of currency to be received at the end of that term</a:t>
            </a:r>
            <a:r>
              <a:rPr lang="en-US" altLang="zh-CN" dirty="0"/>
              <a:t>.</a:t>
            </a:r>
          </a:p>
          <a:p>
            <a:pPr marL="0" indent="0">
              <a:spcBef>
                <a:spcPct val="0"/>
              </a:spcBef>
              <a:buNone/>
            </a:pPr>
            <a:endParaRPr lang="en-US" altLang="zh-CN" b="0" dirty="0"/>
          </a:p>
          <a:p>
            <a:pPr marL="0" indent="0">
              <a:spcBef>
                <a:spcPct val="0"/>
              </a:spcBef>
              <a:buNone/>
            </a:pPr>
            <a:endParaRPr lang="en-US" altLang="zh-CN" b="0" dirty="0"/>
          </a:p>
          <a:p>
            <a:pPr>
              <a:spcBef>
                <a:spcPct val="0"/>
              </a:spcBef>
            </a:pPr>
            <a:endParaRPr lang="en-US" altLang="zh-CN" b="0" dirty="0"/>
          </a:p>
          <a:p>
            <a:pPr>
              <a:spcBef>
                <a:spcPct val="0"/>
              </a:spcBef>
            </a:pPr>
            <a:endParaRPr lang="en-US" altLang="zh-CN" b="0" dirty="0"/>
          </a:p>
          <a:p>
            <a:pPr marL="0" indent="0">
              <a:spcBef>
                <a:spcPct val="0"/>
              </a:spcBef>
              <a:buNone/>
            </a:pPr>
            <a:endParaRPr lang="en-US" altLang="zh-CN" b="0" dirty="0"/>
          </a:p>
          <a:p>
            <a:pPr marL="0" indent="0">
              <a:spcBef>
                <a:spcPct val="0"/>
              </a:spcBef>
              <a:buNone/>
            </a:pPr>
            <a:endParaRPr lang="en-US" altLang="zh-CN" b="0" dirty="0"/>
          </a:p>
          <a:p>
            <a:pPr lvl="1">
              <a:spcBef>
                <a:spcPct val="0"/>
              </a:spcBef>
            </a:pPr>
            <a:r>
              <a:rPr lang="en-US" altLang="zh-CN" b="1" dirty="0"/>
              <a:t>Example: </a:t>
            </a:r>
            <a:r>
              <a:rPr lang="en-US" altLang="zh-CN" dirty="0"/>
              <a:t>consider a 7.875% bond due in 6 months with a market price of 101.40. We can extract the d(0.5) and the implied spot rate: </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F69D6DF9-74CE-4AA8-AB54-90CEAFF06D74}"/>
                  </a:ext>
                </a:extLst>
              </p:cNvPr>
              <p:cNvSpPr txBox="1"/>
              <p:nvPr/>
            </p:nvSpPr>
            <p:spPr>
              <a:xfrm>
                <a:off x="2094855" y="3220644"/>
                <a:ext cx="2078581" cy="8458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d>
                        <m:d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d>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num>
                            <m:den>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F69D6DF9-74CE-4AA8-AB54-90CEAFF06D74}"/>
                  </a:ext>
                </a:extLst>
              </p:cNvPr>
              <p:cNvSpPr txBox="1">
                <a:spLocks noRot="1" noChangeAspect="1" noMove="1" noResize="1" noEditPoints="1" noAdjustHandles="1" noChangeArrowheads="1" noChangeShapeType="1" noTextEdit="1"/>
              </p:cNvSpPr>
              <p:nvPr/>
            </p:nvSpPr>
            <p:spPr>
              <a:xfrm>
                <a:off x="2094855" y="3220644"/>
                <a:ext cx="2078581" cy="845809"/>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5" name="表格 4">
            <a:extLst>
              <a:ext uri="{FF2B5EF4-FFF2-40B4-BE49-F238E27FC236}">
                <a16:creationId xmlns:a16="http://schemas.microsoft.com/office/drawing/2014/main" id="{BD5268C2-F8BF-487A-8F7E-2C1D41FB896C}"/>
              </a:ext>
            </a:extLst>
          </p:cNvPr>
          <p:cNvGraphicFramePr>
            <a:graphicFrameLocks noGrp="1"/>
          </p:cNvGraphicFramePr>
          <p:nvPr>
            <p:extLst>
              <p:ext uri="{D42A27DB-BD31-4B8C-83A1-F6EECF244321}">
                <p14:modId xmlns:p14="http://schemas.microsoft.com/office/powerpoint/2010/main" val="3968362581"/>
              </p:ext>
            </p:extLst>
          </p:nvPr>
        </p:nvGraphicFramePr>
        <p:xfrm>
          <a:off x="6095999" y="2111375"/>
          <a:ext cx="3779837" cy="2635249"/>
        </p:xfrm>
        <a:graphic>
          <a:graphicData uri="http://schemas.openxmlformats.org/drawingml/2006/table">
            <a:tbl>
              <a:tblPr>
                <a:tableStyleId>{5940675A-B579-460E-94D1-54222C63F5DA}</a:tableStyleId>
              </a:tblPr>
              <a:tblGrid>
                <a:gridCol w="879539">
                  <a:extLst>
                    <a:ext uri="{9D8B030D-6E8A-4147-A177-3AD203B41FA5}">
                      <a16:colId xmlns:a16="http://schemas.microsoft.com/office/drawing/2014/main" val="20000"/>
                    </a:ext>
                  </a:extLst>
                </a:gridCol>
                <a:gridCol w="966766">
                  <a:extLst>
                    <a:ext uri="{9D8B030D-6E8A-4147-A177-3AD203B41FA5}">
                      <a16:colId xmlns:a16="http://schemas.microsoft.com/office/drawing/2014/main" val="20001"/>
                    </a:ext>
                  </a:extLst>
                </a:gridCol>
                <a:gridCol w="966766">
                  <a:extLst>
                    <a:ext uri="{9D8B030D-6E8A-4147-A177-3AD203B41FA5}">
                      <a16:colId xmlns:a16="http://schemas.microsoft.com/office/drawing/2014/main" val="20002"/>
                    </a:ext>
                  </a:extLst>
                </a:gridCol>
                <a:gridCol w="966766">
                  <a:extLst>
                    <a:ext uri="{9D8B030D-6E8A-4147-A177-3AD203B41FA5}">
                      <a16:colId xmlns:a16="http://schemas.microsoft.com/office/drawing/2014/main" val="20003"/>
                    </a:ext>
                  </a:extLst>
                </a:gridCol>
              </a:tblGrid>
              <a:tr h="305427">
                <a:tc gridSpan="4">
                  <a:txBody>
                    <a:bodyPr/>
                    <a:lstStyle/>
                    <a:p>
                      <a:pPr algn="ctr" fontAlgn="b"/>
                      <a:r>
                        <a:rPr lang="en-US" sz="1600" b="1" i="0" u="none" strike="noStrike" dirty="0">
                          <a:solidFill>
                            <a:srgbClr val="2C3E50"/>
                          </a:solidFill>
                          <a:effectLst/>
                          <a:latin typeface="Segoe UI" pitchFamily="34" charset="0"/>
                          <a:ea typeface="Segoe UI" pitchFamily="34" charset="0"/>
                          <a:cs typeface="Segoe UI" pitchFamily="34" charset="0"/>
                        </a:rPr>
                        <a:t>STRIPS Prices and Discount Factors</a:t>
                      </a: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97260">
                <a:tc>
                  <a:txBody>
                    <a:bodyPr/>
                    <a:lstStyle/>
                    <a:p>
                      <a:pPr algn="ctr" fontAlgn="b"/>
                      <a:r>
                        <a:rPr lang="en-US" sz="1600" b="1" i="0" u="none" strike="noStrike" dirty="0">
                          <a:solidFill>
                            <a:srgbClr val="2C3E50"/>
                          </a:solidFill>
                          <a:effectLst/>
                          <a:latin typeface="Segoe UI" pitchFamily="34" charset="0"/>
                          <a:ea typeface="Segoe UI" pitchFamily="34" charset="0"/>
                          <a:cs typeface="Segoe UI" pitchFamily="34" charset="0"/>
                        </a:rPr>
                        <a:t>Maturity</a:t>
                      </a: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sz="1600" b="1" i="0" u="none" strike="noStrike">
                          <a:solidFill>
                            <a:srgbClr val="2C3E50"/>
                          </a:solidFill>
                          <a:effectLst/>
                          <a:latin typeface="Segoe UI" pitchFamily="34" charset="0"/>
                          <a:ea typeface="Segoe UI" pitchFamily="34" charset="0"/>
                          <a:cs typeface="Segoe UI" pitchFamily="34" charset="0"/>
                        </a:rPr>
                        <a:t>STRIPS Price</a:t>
                      </a: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sz="1600" b="1" i="0" u="none" strike="noStrike" dirty="0">
                          <a:solidFill>
                            <a:srgbClr val="2C3E50"/>
                          </a:solidFill>
                          <a:effectLst/>
                          <a:latin typeface="Segoe UI" pitchFamily="34" charset="0"/>
                          <a:ea typeface="Segoe UI" pitchFamily="34" charset="0"/>
                          <a:cs typeface="Segoe UI" pitchFamily="34" charset="0"/>
                        </a:rPr>
                        <a:t>Discount Factor</a:t>
                      </a: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sz="1600" b="1" i="0" u="none" strike="noStrike" dirty="0">
                          <a:solidFill>
                            <a:srgbClr val="2C3E50"/>
                          </a:solidFill>
                          <a:effectLst/>
                          <a:latin typeface="Segoe UI" pitchFamily="34" charset="0"/>
                          <a:ea typeface="Segoe UI" pitchFamily="34" charset="0"/>
                          <a:cs typeface="Segoe UI" pitchFamily="34" charset="0"/>
                        </a:rPr>
                        <a:t>Spot Rate</a:t>
                      </a: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1"/>
                  </a:ext>
                </a:extLst>
              </a:tr>
              <a:tr h="305427">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0.5</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99.5322</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0.995322</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0.94%</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2"/>
                  </a:ext>
                </a:extLst>
              </a:tr>
              <a:tr h="305427">
                <a:tc>
                  <a:txBody>
                    <a:bodyPr/>
                    <a:lstStyle/>
                    <a:p>
                      <a:pPr algn="ctr" fontAlgn="b"/>
                      <a:r>
                        <a:rPr lang="en-US" altLang="zh-CN" sz="1600" u="none" strike="noStrike">
                          <a:solidFill>
                            <a:srgbClr val="2C3E50"/>
                          </a:solidFill>
                          <a:effectLst/>
                          <a:latin typeface="Segoe UI" pitchFamily="34" charset="0"/>
                          <a:ea typeface="Segoe UI" pitchFamily="34" charset="0"/>
                          <a:cs typeface="Segoe UI" pitchFamily="34" charset="0"/>
                        </a:rPr>
                        <a:t>1</a:t>
                      </a:r>
                      <a:endParaRPr lang="en-US" altLang="zh-CN" sz="1600" b="0" i="0" u="none" strike="noStrike">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98.64</a:t>
                      </a:r>
                      <a:r>
                        <a:rPr lang="en-US" altLang="zh-CN" sz="1600" b="0" i="0" u="none" strike="noStrike" dirty="0">
                          <a:solidFill>
                            <a:srgbClr val="2C3E50"/>
                          </a:solidFill>
                          <a:effectLst/>
                          <a:latin typeface="Segoe UI" pitchFamily="34" charset="0"/>
                          <a:ea typeface="Segoe UI" pitchFamily="34" charset="0"/>
                          <a:cs typeface="Segoe UI" pitchFamily="34" charset="0"/>
                        </a:rPr>
                        <a:t>39</a:t>
                      </a:r>
                      <a:endParaRPr lang="en-US" altLang="zh-CN" sz="160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0.986439</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1.37%</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3"/>
                  </a:ext>
                </a:extLst>
              </a:tr>
              <a:tr h="305427">
                <a:tc>
                  <a:txBody>
                    <a:bodyPr/>
                    <a:lstStyle/>
                    <a:p>
                      <a:pPr algn="ctr" fontAlgn="b"/>
                      <a:r>
                        <a:rPr lang="en-US" altLang="zh-CN" sz="1600" u="none" strike="noStrike">
                          <a:solidFill>
                            <a:srgbClr val="2C3E50"/>
                          </a:solidFill>
                          <a:effectLst/>
                          <a:latin typeface="Segoe UI" pitchFamily="34" charset="0"/>
                          <a:ea typeface="Segoe UI" pitchFamily="34" charset="0"/>
                          <a:cs typeface="Segoe UI" pitchFamily="34" charset="0"/>
                        </a:rPr>
                        <a:t>1.5</a:t>
                      </a:r>
                      <a:endParaRPr lang="en-US" altLang="zh-CN" sz="1600" b="0" i="0" u="none" strike="noStrike">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97.3189</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0.973189</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1.82%</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4"/>
                  </a:ext>
                </a:extLst>
              </a:tr>
              <a:tr h="305427">
                <a:tc>
                  <a:txBody>
                    <a:bodyPr/>
                    <a:lstStyle/>
                    <a:p>
                      <a:pPr algn="ctr" fontAlgn="b"/>
                      <a:r>
                        <a:rPr lang="en-US" altLang="zh-CN" sz="1600" u="none" strike="noStrike">
                          <a:solidFill>
                            <a:srgbClr val="2C3E50"/>
                          </a:solidFill>
                          <a:effectLst/>
                          <a:latin typeface="Segoe UI" pitchFamily="34" charset="0"/>
                          <a:ea typeface="Segoe UI" pitchFamily="34" charset="0"/>
                          <a:cs typeface="Segoe UI" pitchFamily="34" charset="0"/>
                        </a:rPr>
                        <a:t>2</a:t>
                      </a:r>
                      <a:endParaRPr lang="en-US" altLang="zh-CN" sz="1600" b="0" i="0" u="none" strike="noStrike">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95.1336</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0.951336</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2.51%</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5"/>
                  </a:ext>
                </a:extLst>
              </a:tr>
              <a:tr h="305427">
                <a:tc>
                  <a:txBody>
                    <a:bodyPr/>
                    <a:lstStyle/>
                    <a:p>
                      <a:pPr algn="ctr" fontAlgn="b"/>
                      <a:r>
                        <a:rPr lang="en-US" altLang="zh-CN" sz="1600" u="none" strike="noStrike">
                          <a:solidFill>
                            <a:srgbClr val="2C3E50"/>
                          </a:solidFill>
                          <a:effectLst/>
                          <a:latin typeface="Segoe UI" pitchFamily="34" charset="0"/>
                          <a:ea typeface="Segoe UI" pitchFamily="34" charset="0"/>
                          <a:cs typeface="Segoe UI" pitchFamily="34" charset="0"/>
                        </a:rPr>
                        <a:t>2.5</a:t>
                      </a:r>
                      <a:endParaRPr lang="en-US" altLang="zh-CN" sz="1600" b="0" i="0" u="none" strike="noStrike">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92.6433</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0.926433</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3.08%</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6"/>
                  </a:ext>
                </a:extLst>
              </a:tr>
              <a:tr h="305427">
                <a:tc>
                  <a:txBody>
                    <a:bodyPr/>
                    <a:lstStyle/>
                    <a:p>
                      <a:pPr algn="ctr" fontAlgn="b"/>
                      <a:r>
                        <a:rPr lang="en-US" altLang="zh-CN" sz="1600" u="none" strike="noStrike">
                          <a:solidFill>
                            <a:srgbClr val="2C3E50"/>
                          </a:solidFill>
                          <a:effectLst/>
                          <a:latin typeface="Segoe UI" pitchFamily="34" charset="0"/>
                          <a:ea typeface="Segoe UI" pitchFamily="34" charset="0"/>
                          <a:cs typeface="Segoe UI" pitchFamily="34" charset="0"/>
                        </a:rPr>
                        <a:t>3</a:t>
                      </a:r>
                      <a:endParaRPr lang="en-US" altLang="zh-CN" sz="1600" b="0" i="0" u="none" strike="noStrike">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89.1374</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0.891374</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b"/>
                      <a:r>
                        <a:rPr lang="en-US" altLang="zh-CN" sz="1600" u="none" strike="noStrike" dirty="0">
                          <a:solidFill>
                            <a:srgbClr val="2C3E50"/>
                          </a:solidFill>
                          <a:effectLst/>
                          <a:latin typeface="Segoe UI" pitchFamily="34" charset="0"/>
                          <a:ea typeface="Segoe UI" pitchFamily="34" charset="0"/>
                          <a:cs typeface="Segoe UI" pitchFamily="34" charset="0"/>
                        </a:rPr>
                        <a:t>3.87%</a:t>
                      </a:r>
                      <a:endParaRPr lang="en-US" altLang="zh-CN" sz="1600" b="0" i="0" u="none" strike="noStrike" dirty="0">
                        <a:solidFill>
                          <a:srgbClr val="2C3E50"/>
                        </a:solidFill>
                        <a:effectLst/>
                        <a:latin typeface="Segoe UI" pitchFamily="34" charset="0"/>
                        <a:ea typeface="Segoe UI" pitchFamily="34" charset="0"/>
                        <a:cs typeface="Segoe UI" pitchFamily="34" charset="0"/>
                      </a:endParaRPr>
                    </a:p>
                  </a:txBody>
                  <a:tcPr marL="9525" marR="9525" marT="9525" marB="0" anchor="ctr">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3D8A8258-AA33-4723-839B-455D3DB79BE2}"/>
                  </a:ext>
                </a:extLst>
              </p:cNvPr>
              <p:cNvSpPr txBox="1"/>
              <p:nvPr/>
            </p:nvSpPr>
            <p:spPr>
              <a:xfrm>
                <a:off x="2567607" y="5888502"/>
                <a:ext cx="7056784" cy="369332"/>
              </a:xfrm>
              <a:prstGeom prst="rect">
                <a:avLst/>
              </a:prstGeom>
              <a:noFill/>
            </p:spPr>
            <p:txBody>
              <a:bodyPr wrap="square" rtlCol="0">
                <a:spAutoFit/>
              </a:bodyPr>
              <a:lstStyle/>
              <a:p>
                <a14:m>
                  <m:oMath xmlns:m="http://schemas.openxmlformats.org/officeDocument/2006/math">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101.4=(100+100×7.875%/2</m:t>
                    </m:r>
                  </m:oMath>
                </a14:m>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)d(0.5)        </a:t>
                </a:r>
                <a14:m>
                  <m:oMath xmlns:m="http://schemas.openxmlformats.org/officeDocument/2006/math">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0.5</m:t>
                        </m:r>
                      </m:sub>
                    </m:s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
                      <m:dPr>
                        <m:begChr m:val="["/>
                        <m:endChr m:val="]"/>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(0.5))−1</m:t>
                        </m:r>
                      </m:e>
                    </m:d>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6" name="文本框 5">
                <a:extLst>
                  <a:ext uri="{FF2B5EF4-FFF2-40B4-BE49-F238E27FC236}">
                    <a16:creationId xmlns:a16="http://schemas.microsoft.com/office/drawing/2014/main" id="{3D8A8258-AA33-4723-839B-455D3DB79BE2}"/>
                  </a:ext>
                </a:extLst>
              </p:cNvPr>
              <p:cNvSpPr txBox="1">
                <a:spLocks noRot="1" noChangeAspect="1" noMove="1" noResize="1" noEditPoints="1" noAdjustHandles="1" noChangeArrowheads="1" noChangeShapeType="1" noTextEdit="1"/>
              </p:cNvSpPr>
              <p:nvPr/>
            </p:nvSpPr>
            <p:spPr>
              <a:xfrm>
                <a:off x="2567607" y="5888502"/>
                <a:ext cx="7056784" cy="369332"/>
              </a:xfrm>
              <a:prstGeom prst="rect">
                <a:avLst/>
              </a:prstGeom>
              <a:blipFill>
                <a:blip r:embed="rId3"/>
                <a:stretch>
                  <a:fillRect t="-8197" b="-262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387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Basic Valuation Approach</a:t>
            </a:r>
          </a:p>
        </p:txBody>
      </p:sp>
      <p:sp>
        <p:nvSpPr>
          <p:cNvPr id="3" name="文本占位符 2"/>
          <p:cNvSpPr>
            <a:spLocks noGrp="1"/>
          </p:cNvSpPr>
          <p:nvPr>
            <p:ph type="body" sz="quarter" idx="10"/>
          </p:nvPr>
        </p:nvSpPr>
        <p:spPr>
          <a:xfrm>
            <a:off x="393599" y="813470"/>
            <a:ext cx="11404800" cy="5056388"/>
          </a:xfrm>
        </p:spPr>
        <p:txBody>
          <a:bodyPr>
            <a:normAutofit fontScale="92500" lnSpcReduction="10000"/>
          </a:bodyPr>
          <a:lstStyle/>
          <a:p>
            <a:pPr>
              <a:defRPr/>
            </a:pPr>
            <a:r>
              <a:rPr lang="en-US" altLang="zh-CN" dirty="0"/>
              <a:t>Characteristics of Bonds</a:t>
            </a:r>
          </a:p>
          <a:p>
            <a:pPr>
              <a:defRPr/>
            </a:pPr>
            <a:endParaRPr lang="en-US" altLang="zh-CN" dirty="0"/>
          </a:p>
          <a:p>
            <a:pPr>
              <a:defRPr/>
            </a:pPr>
            <a:r>
              <a:rPr lang="en-US" altLang="zh-CN" dirty="0"/>
              <a:t>Pricing  Bond using Discount Factors, Spot Rates, or Forward Rates</a:t>
            </a:r>
          </a:p>
          <a:p>
            <a:pPr lvl="1">
              <a:defRPr/>
            </a:pPr>
            <a:r>
              <a:rPr lang="en-US" altLang="zh-CN" dirty="0"/>
              <a:t>Given a 1-year treasury bond that pays a 8% semi-annual coupon</a:t>
            </a:r>
          </a:p>
          <a:p>
            <a:pPr lvl="1">
              <a:lnSpc>
                <a:spcPct val="180000"/>
              </a:lnSpc>
              <a:defRPr/>
            </a:pPr>
            <a:endParaRPr lang="en-US" altLang="zh-CN" dirty="0"/>
          </a:p>
          <a:p>
            <a:pPr lvl="1">
              <a:lnSpc>
                <a:spcPct val="180000"/>
              </a:lnSpc>
              <a:defRPr/>
            </a:pPr>
            <a:endParaRPr lang="en-US" altLang="zh-CN" dirty="0">
              <a:solidFill>
                <a:srgbClr val="7030A0"/>
              </a:solidFill>
            </a:endParaRPr>
          </a:p>
          <a:p>
            <a:pPr lvl="1">
              <a:lnSpc>
                <a:spcPct val="180000"/>
              </a:lnSpc>
              <a:defRPr/>
            </a:pPr>
            <a:endParaRPr lang="en-US" altLang="zh-CN" dirty="0">
              <a:solidFill>
                <a:srgbClr val="7030A0"/>
              </a:solidFill>
            </a:endParaRPr>
          </a:p>
          <a:p>
            <a:pPr lvl="1">
              <a:lnSpc>
                <a:spcPct val="180000"/>
              </a:lnSpc>
              <a:defRPr/>
            </a:pPr>
            <a:endParaRPr lang="en-US" altLang="zh-CN" dirty="0">
              <a:solidFill>
                <a:srgbClr val="7030A0"/>
              </a:solidFill>
            </a:endParaRPr>
          </a:p>
          <a:p>
            <a:pPr marL="722313" lvl="1" indent="0">
              <a:lnSpc>
                <a:spcPct val="100000"/>
              </a:lnSpc>
              <a:buNone/>
              <a:defRPr/>
            </a:pPr>
            <a:endParaRPr lang="en-US" altLang="zh-CN" dirty="0">
              <a:solidFill>
                <a:srgbClr val="7030A0"/>
              </a:solidFill>
            </a:endParaRPr>
          </a:p>
          <a:p>
            <a:pPr marL="0" lvl="1" indent="0" algn="ctr">
              <a:lnSpc>
                <a:spcPct val="100000"/>
              </a:lnSpc>
              <a:buNone/>
              <a:defRPr/>
            </a:pPr>
            <a:r>
              <a:rPr lang="en-US" altLang="zh-CN" dirty="0"/>
              <a:t>Price = ($4×</a:t>
            </a:r>
            <a:r>
              <a:rPr lang="en-US" altLang="zh-CN" dirty="0">
                <a:ea typeface="Segoe UI" pitchFamily="34" charset="0"/>
              </a:rPr>
              <a:t>0.995322</a:t>
            </a:r>
            <a:r>
              <a:rPr lang="en-US" altLang="zh-CN" dirty="0"/>
              <a:t>) + ($104×</a:t>
            </a:r>
            <a:r>
              <a:rPr lang="en-US" altLang="zh-CN" dirty="0">
                <a:ea typeface="Segoe UI" pitchFamily="34" charset="0"/>
              </a:rPr>
              <a:t>0.986439</a:t>
            </a:r>
            <a:r>
              <a:rPr lang="en-US" altLang="zh-CN" dirty="0"/>
              <a:t>) = $106.57</a:t>
            </a:r>
          </a:p>
          <a:p>
            <a:pPr marL="363538" lvl="1" indent="0">
              <a:lnSpc>
                <a:spcPct val="100000"/>
              </a:lnSpc>
              <a:buNone/>
              <a:defRPr/>
            </a:pPr>
            <a:endParaRPr lang="en-US" altLang="zh-CN" dirty="0"/>
          </a:p>
          <a:p>
            <a:pPr>
              <a:spcBef>
                <a:spcPct val="0"/>
              </a:spcBef>
              <a:defRPr/>
            </a:pPr>
            <a:endParaRPr lang="en-US" altLang="zh-CN" dirty="0"/>
          </a:p>
          <a:p>
            <a:endParaRPr lang="en-US" altLang="zh-CN" dirty="0">
              <a:latin typeface="+mn-lt"/>
              <a:ea typeface="+mn-ea"/>
              <a:cs typeface="+mn-ea"/>
              <a:sym typeface="+mn-lt"/>
            </a:endParaRPr>
          </a:p>
        </p:txBody>
      </p:sp>
      <p:sp>
        <p:nvSpPr>
          <p:cNvPr id="4" name="矩形 4">
            <a:extLst>
              <a:ext uri="{FF2B5EF4-FFF2-40B4-BE49-F238E27FC236}">
                <a16:creationId xmlns:a16="http://schemas.microsoft.com/office/drawing/2014/main" id="{50281F1C-1400-4FA0-881C-8E92871A44F9}"/>
              </a:ext>
            </a:extLst>
          </p:cNvPr>
          <p:cNvSpPr>
            <a:spLocks noChangeArrowheads="1"/>
          </p:cNvSpPr>
          <p:nvPr/>
        </p:nvSpPr>
        <p:spPr bwMode="auto">
          <a:xfrm>
            <a:off x="6320726" y="1236869"/>
            <a:ext cx="4572000" cy="549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12788" indent="-3492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lvl="1" algn="just">
              <a:lnSpc>
                <a:spcPct val="140000"/>
              </a:lnSpc>
              <a:buFont typeface="Wingdings" panose="05000000000000000000" pitchFamily="2" charset="2"/>
              <a:buChar char="l"/>
            </a:pPr>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Maturity</a:t>
            </a:r>
          </a:p>
        </p:txBody>
      </p:sp>
      <p:sp>
        <p:nvSpPr>
          <p:cNvPr id="5" name="矩形 8">
            <a:extLst>
              <a:ext uri="{FF2B5EF4-FFF2-40B4-BE49-F238E27FC236}">
                <a16:creationId xmlns:a16="http://schemas.microsoft.com/office/drawing/2014/main" id="{D70877BD-75BD-4E77-991C-708A05E6A6A6}"/>
              </a:ext>
            </a:extLst>
          </p:cNvPr>
          <p:cNvSpPr>
            <a:spLocks noChangeArrowheads="1"/>
          </p:cNvSpPr>
          <p:nvPr/>
        </p:nvSpPr>
        <p:spPr bwMode="auto">
          <a:xfrm>
            <a:off x="3887395" y="1236869"/>
            <a:ext cx="2325124" cy="549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12788" indent="-3492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lvl="1" algn="just">
              <a:lnSpc>
                <a:spcPct val="140000"/>
              </a:lnSpc>
              <a:buFont typeface="Wingdings" panose="05000000000000000000" pitchFamily="2" charset="2"/>
              <a:buChar char="l"/>
            </a:pPr>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Face Value</a:t>
            </a:r>
          </a:p>
        </p:txBody>
      </p:sp>
      <p:sp>
        <p:nvSpPr>
          <p:cNvPr id="6" name="矩形 9">
            <a:extLst>
              <a:ext uri="{FF2B5EF4-FFF2-40B4-BE49-F238E27FC236}">
                <a16:creationId xmlns:a16="http://schemas.microsoft.com/office/drawing/2014/main" id="{D5F8E2C5-D13B-46FB-ADB8-EF24B705CD63}"/>
              </a:ext>
            </a:extLst>
          </p:cNvPr>
          <p:cNvSpPr>
            <a:spLocks noChangeArrowheads="1"/>
          </p:cNvSpPr>
          <p:nvPr/>
        </p:nvSpPr>
        <p:spPr bwMode="auto">
          <a:xfrm>
            <a:off x="8480202" y="1227036"/>
            <a:ext cx="2609432" cy="549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12788" indent="-3492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lvl="1" algn="just">
              <a:lnSpc>
                <a:spcPct val="140000"/>
              </a:lnSpc>
              <a:buFont typeface="Wingdings" panose="05000000000000000000" pitchFamily="2" charset="2"/>
              <a:buChar char="l"/>
            </a:pPr>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Interest Rate</a:t>
            </a:r>
          </a:p>
        </p:txBody>
      </p:sp>
      <p:sp>
        <p:nvSpPr>
          <p:cNvPr id="7" name="矩形 1">
            <a:extLst>
              <a:ext uri="{FF2B5EF4-FFF2-40B4-BE49-F238E27FC236}">
                <a16:creationId xmlns:a16="http://schemas.microsoft.com/office/drawing/2014/main" id="{BC02B818-D1BB-4BD7-AFF5-354932A0D316}"/>
              </a:ext>
            </a:extLst>
          </p:cNvPr>
          <p:cNvSpPr>
            <a:spLocks noChangeArrowheads="1"/>
          </p:cNvSpPr>
          <p:nvPr/>
        </p:nvSpPr>
        <p:spPr bwMode="auto">
          <a:xfrm>
            <a:off x="1102366" y="1236869"/>
            <a:ext cx="2676823" cy="549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12788" indent="-3492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lvl="1" algn="just">
              <a:lnSpc>
                <a:spcPct val="140000"/>
              </a:lnSpc>
              <a:buFont typeface="Wingdings" panose="05000000000000000000" pitchFamily="2" charset="2"/>
              <a:buChar char="l"/>
            </a:pPr>
            <a:r>
              <a:rPr lang="en-US" altLang="zh-CN" sz="24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Coupon Rate</a:t>
            </a:r>
          </a:p>
        </p:txBody>
      </p:sp>
      <p:pic>
        <p:nvPicPr>
          <p:cNvPr id="8" name="图片 7">
            <a:extLst>
              <a:ext uri="{FF2B5EF4-FFF2-40B4-BE49-F238E27FC236}">
                <a16:creationId xmlns:a16="http://schemas.microsoft.com/office/drawing/2014/main" id="{41721198-776B-4220-BCC5-F493AF85ECF8}"/>
              </a:ext>
            </a:extLst>
          </p:cNvPr>
          <p:cNvPicPr>
            <a:picLocks noChangeAspect="1"/>
          </p:cNvPicPr>
          <p:nvPr/>
        </p:nvPicPr>
        <p:blipFill>
          <a:blip r:embed="rId2"/>
          <a:stretch>
            <a:fillRect/>
          </a:stretch>
        </p:blipFill>
        <p:spPr>
          <a:xfrm>
            <a:off x="2461534" y="3131555"/>
            <a:ext cx="6626926" cy="2231329"/>
          </a:xfrm>
          <a:prstGeom prst="rect">
            <a:avLst/>
          </a:prstGeom>
        </p:spPr>
      </p:pic>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6E6231F4-D973-4A02-8DC0-78FF4563F670}"/>
                  </a:ext>
                </a:extLst>
              </p:cNvPr>
              <p:cNvSpPr txBox="1"/>
              <p:nvPr/>
            </p:nvSpPr>
            <p:spPr>
              <a:xfrm>
                <a:off x="1461132" y="5628530"/>
                <a:ext cx="9719188" cy="98963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Price</m:t>
                      </m:r>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$4</m:t>
                          </m:r>
                        </m:num>
                        <m:den>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0.94%</m:t>
                              </m:r>
                            </m:num>
                            <m:den>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en>
                      </m:f>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$104</m:t>
                          </m:r>
                        </m:num>
                        <m:den>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1.37%</m:t>
                              </m:r>
                            </m:num>
                            <m:den>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sSup>
                            <m:sSupPr>
                              <m:ctrlPr>
                                <a:rPr lang="en-US" altLang="zh-CN"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den>
                      </m:f>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m:t>
                      </m:r>
                      <m:f>
                        <m:fPr>
                          <m:ctrlPr>
                            <a:rPr lang="en-US" altLang="zh-CN" b="0" i="1" dirty="0">
                              <a:solidFill>
                                <a:srgbClr val="2C3E50"/>
                              </a:solidFill>
                              <a:latin typeface="Cambria Math" panose="02040503050406030204" pitchFamily="18" charset="0"/>
                              <a:ea typeface="Segoe UI" pitchFamily="34" charset="0"/>
                              <a:cs typeface="Segoe UI" panose="020B0502040204020203" pitchFamily="34" charset="0"/>
                            </a:rPr>
                          </m:ctrlPr>
                        </m:fPr>
                        <m:num>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$4</m:t>
                          </m:r>
                        </m:num>
                        <m:den>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(1+</m:t>
                          </m:r>
                          <m:f>
                            <m:fPr>
                              <m:ctrlPr>
                                <a:rPr lang="en-US" altLang="zh-CN" b="0" i="1" dirty="0">
                                  <a:solidFill>
                                    <a:srgbClr val="2C3E50"/>
                                  </a:solidFill>
                                  <a:latin typeface="Cambria Math" panose="02040503050406030204" pitchFamily="18" charset="0"/>
                                  <a:ea typeface="Segoe UI" pitchFamily="34" charset="0"/>
                                  <a:cs typeface="Segoe UI" panose="020B0502040204020203" pitchFamily="34" charset="0"/>
                                </a:rPr>
                              </m:ctrlPr>
                            </m:fPr>
                            <m:num>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0.94%</m:t>
                              </m:r>
                            </m:num>
                            <m:den>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2</m:t>
                              </m:r>
                            </m:den>
                          </m:f>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m:t>
                          </m:r>
                        </m:den>
                      </m:f>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m:t>
                      </m:r>
                      <m:f>
                        <m:fPr>
                          <m:ctrlPr>
                            <a:rPr lang="en-US" altLang="zh-CN" b="0" i="1" dirty="0">
                              <a:solidFill>
                                <a:srgbClr val="2C3E50"/>
                              </a:solidFill>
                              <a:latin typeface="Cambria Math" panose="02040503050406030204" pitchFamily="18" charset="0"/>
                              <a:ea typeface="Segoe UI" pitchFamily="34" charset="0"/>
                              <a:cs typeface="Segoe UI" panose="020B0502040204020203" pitchFamily="34" charset="0"/>
                            </a:rPr>
                          </m:ctrlPr>
                        </m:fPr>
                        <m:num>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$104</m:t>
                          </m:r>
                        </m:num>
                        <m:den>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(1+</m:t>
                          </m:r>
                          <m:f>
                            <m:fPr>
                              <m:ctrlPr>
                                <a:rPr lang="en-US" altLang="zh-CN" b="0" i="1" dirty="0">
                                  <a:solidFill>
                                    <a:srgbClr val="2C3E50"/>
                                  </a:solidFill>
                                  <a:latin typeface="Cambria Math" panose="02040503050406030204" pitchFamily="18" charset="0"/>
                                  <a:ea typeface="Segoe UI" pitchFamily="34" charset="0"/>
                                  <a:cs typeface="Segoe UI" panose="020B0502040204020203" pitchFamily="34" charset="0"/>
                                </a:rPr>
                              </m:ctrlPr>
                            </m:fPr>
                            <m:num>
                              <m:r>
                                <a:rPr lang="en-US" altLang="zh-CN" b="0">
                                  <a:solidFill>
                                    <a:srgbClr val="2C3E50"/>
                                  </a:solidFill>
                                  <a:latin typeface="Cambria Math" panose="02040503050406030204" pitchFamily="18" charset="0"/>
                                  <a:ea typeface="Segoe UI" pitchFamily="34" charset="0"/>
                                  <a:cs typeface="Segoe UI" panose="020B0502040204020203" pitchFamily="34" charset="0"/>
                                </a:rPr>
                                <m:t>0.94%</m:t>
                              </m:r>
                            </m:num>
                            <m:den>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2</m:t>
                              </m:r>
                            </m:den>
                          </m:f>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)×(1+</m:t>
                          </m:r>
                          <m:f>
                            <m:fPr>
                              <m:ctrlPr>
                                <a:rPr lang="en-US" altLang="zh-CN" b="0" i="1" dirty="0">
                                  <a:solidFill>
                                    <a:srgbClr val="2C3E50"/>
                                  </a:solidFill>
                                  <a:latin typeface="Cambria Math" panose="02040503050406030204" pitchFamily="18" charset="0"/>
                                  <a:ea typeface="Segoe UI" pitchFamily="34" charset="0"/>
                                  <a:cs typeface="Segoe UI" panose="020B0502040204020203" pitchFamily="34" charset="0"/>
                                </a:rPr>
                              </m:ctrlPr>
                            </m:fPr>
                            <m:num>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1.80%</m:t>
                              </m:r>
                            </m:num>
                            <m:den>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2</m:t>
                              </m:r>
                            </m:den>
                          </m:f>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m:t>
                          </m:r>
                        </m:den>
                      </m:f>
                      <m:r>
                        <a:rPr lang="en-US" altLang="zh-CN" b="0" dirty="0">
                          <a:solidFill>
                            <a:srgbClr val="2C3E50"/>
                          </a:solidFill>
                          <a:latin typeface="Cambria Math" panose="02040503050406030204" pitchFamily="18" charset="0"/>
                          <a:ea typeface="Segoe UI" pitchFamily="34" charset="0"/>
                          <a:cs typeface="Segoe UI" panose="020B0502040204020203" pitchFamily="34" charset="0"/>
                        </a:rPr>
                        <m:t>=$106.57</m:t>
                      </m:r>
                    </m:oMath>
                  </m:oMathPara>
                </a14:m>
                <a:endParaRPr lang="zh-CN" altLang="en-US" b="0" dirty="0">
                  <a:solidFill>
                    <a:srgbClr val="2C3E50"/>
                  </a:solidFill>
                  <a:latin typeface="Segoe UI" panose="020B0502040204020203" pitchFamily="34" charset="0"/>
                  <a:ea typeface="Segoe UI" pitchFamily="34" charset="0"/>
                  <a:cs typeface="Segoe UI" panose="020B0502040204020203" pitchFamily="34" charset="0"/>
                </a:endParaRPr>
              </a:p>
              <a:p>
                <a:endParaRPr lang="zh-CN" altLang="en-US" sz="15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9" name="文本框 8">
                <a:extLst>
                  <a:ext uri="{FF2B5EF4-FFF2-40B4-BE49-F238E27FC236}">
                    <a16:creationId xmlns:a16="http://schemas.microsoft.com/office/drawing/2014/main" id="{6E6231F4-D973-4A02-8DC0-78FF4563F670}"/>
                  </a:ext>
                </a:extLst>
              </p:cNvPr>
              <p:cNvSpPr txBox="1">
                <a:spLocks noRot="1" noChangeAspect="1" noMove="1" noResize="1" noEditPoints="1" noAdjustHandles="1" noChangeArrowheads="1" noChangeShapeType="1" noTextEdit="1"/>
              </p:cNvSpPr>
              <p:nvPr/>
            </p:nvSpPr>
            <p:spPr>
              <a:xfrm>
                <a:off x="1461132" y="5628530"/>
                <a:ext cx="9719188" cy="989630"/>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83142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Basic Valuation Approach</a:t>
            </a:r>
          </a:p>
        </p:txBody>
      </p:sp>
      <p:sp>
        <p:nvSpPr>
          <p:cNvPr id="3" name="文本占位符 2"/>
          <p:cNvSpPr>
            <a:spLocks noGrp="1"/>
          </p:cNvSpPr>
          <p:nvPr>
            <p:ph type="body" sz="quarter" idx="10"/>
          </p:nvPr>
        </p:nvSpPr>
        <p:spPr>
          <a:xfrm>
            <a:off x="393599" y="813470"/>
            <a:ext cx="11404800" cy="4643434"/>
          </a:xfrm>
        </p:spPr>
        <p:txBody>
          <a:bodyPr>
            <a:normAutofit fontScale="85000" lnSpcReduction="20000"/>
          </a:bodyPr>
          <a:lstStyle/>
          <a:p>
            <a:pPr>
              <a:spcBef>
                <a:spcPct val="0"/>
              </a:spcBef>
            </a:pPr>
            <a:r>
              <a:rPr lang="en-US" altLang="zh-CN" dirty="0"/>
              <a:t>Price of an Annuity and a Perpetuity</a:t>
            </a:r>
          </a:p>
          <a:p>
            <a:pPr lvl="1">
              <a:spcBef>
                <a:spcPct val="0"/>
              </a:spcBef>
            </a:pPr>
            <a:r>
              <a:rPr lang="en-US" altLang="zh-CN" b="1" dirty="0"/>
              <a:t>Annuity</a:t>
            </a:r>
          </a:p>
          <a:p>
            <a:pPr lvl="2">
              <a:spcBef>
                <a:spcPct val="0"/>
              </a:spcBef>
            </a:pPr>
            <a:r>
              <a:rPr lang="en-US" altLang="zh-CN" dirty="0"/>
              <a:t>An annuity with semiannual payments is a security that makes a payment c/2 every six months for T years but </a:t>
            </a:r>
            <a:r>
              <a:rPr lang="en-US" altLang="zh-CN" u="sng" dirty="0"/>
              <a:t>never makes a final “principal” payment</a:t>
            </a:r>
            <a:r>
              <a:rPr lang="en-US" altLang="zh-CN" dirty="0"/>
              <a:t> (i.e., FV=0). The price of an annuity, A(T), is given by:</a:t>
            </a:r>
          </a:p>
          <a:p>
            <a:pPr lvl="1">
              <a:spcBef>
                <a:spcPct val="0"/>
              </a:spcBef>
            </a:pPr>
            <a:endParaRPr lang="en-US" altLang="zh-CN" dirty="0"/>
          </a:p>
          <a:p>
            <a:pPr marL="363538" lvl="1" indent="0">
              <a:spcBef>
                <a:spcPct val="0"/>
              </a:spcBef>
              <a:buNone/>
            </a:pPr>
            <a:endParaRPr lang="en-US" altLang="zh-CN" dirty="0"/>
          </a:p>
          <a:p>
            <a:pPr lvl="1">
              <a:spcBef>
                <a:spcPct val="0"/>
              </a:spcBef>
            </a:pPr>
            <a:endParaRPr lang="en-US" altLang="zh-CN" dirty="0"/>
          </a:p>
          <a:p>
            <a:pPr lvl="1">
              <a:spcBef>
                <a:spcPct val="0"/>
              </a:spcBef>
            </a:pPr>
            <a:r>
              <a:rPr lang="en-US" altLang="zh-CN" b="1" dirty="0"/>
              <a:t>Perpetuity</a:t>
            </a:r>
          </a:p>
          <a:p>
            <a:pPr lvl="2">
              <a:spcBef>
                <a:spcPct val="0"/>
              </a:spcBef>
            </a:pPr>
            <a:r>
              <a:rPr lang="en-US" altLang="zh-CN" dirty="0"/>
              <a:t>A perpetuity bond is a bond that </a:t>
            </a:r>
            <a:r>
              <a:rPr lang="en-US" altLang="zh-CN" u="sng" dirty="0"/>
              <a:t>pays coupons forever</a:t>
            </a:r>
            <a:r>
              <a:rPr lang="en-US" altLang="zh-CN" dirty="0"/>
              <a:t>. The price of a perpetuity is simply the coupon divided by the yield.</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B1483A96-48DB-44F2-92D7-1FE24ECFD241}"/>
                  </a:ext>
                </a:extLst>
              </p:cNvPr>
              <p:cNvSpPr txBox="1"/>
              <p:nvPr/>
            </p:nvSpPr>
            <p:spPr>
              <a:xfrm>
                <a:off x="4680026" y="3135187"/>
                <a:ext cx="2831946" cy="984052"/>
              </a:xfrm>
              <a:prstGeom prst="rect">
                <a:avLst/>
              </a:prstGeom>
              <a:noFill/>
              <a:ln w="19050">
                <a:noFill/>
              </a:ln>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A</m:t>
                      </m:r>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CF</m:t>
                          </m:r>
                        </m:num>
                        <m:den>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den>
                      </m:f>
                      <m:d>
                        <m:d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p>
                            <m:sSup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d>
                                <m:d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f>
                                    <m:f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f>
                                        <m:f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num>
                                        <m:den>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den>
                                  </m:f>
                                </m:e>
                              </m:d>
                            </m:e>
                            <m:sup>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sup>
                          </m:sSup>
                        </m:e>
                      </m:d>
                    </m:oMath>
                  </m:oMathPara>
                </a14:m>
                <a:endPar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B1483A96-48DB-44F2-92D7-1FE24ECFD241}"/>
                  </a:ext>
                </a:extLst>
              </p:cNvPr>
              <p:cNvSpPr txBox="1">
                <a:spLocks noRot="1" noChangeAspect="1" noMove="1" noResize="1" noEditPoints="1" noAdjustHandles="1" noChangeArrowheads="1" noChangeShapeType="1" noTextEdit="1"/>
              </p:cNvSpPr>
              <p:nvPr/>
            </p:nvSpPr>
            <p:spPr>
              <a:xfrm>
                <a:off x="4680026" y="3135187"/>
                <a:ext cx="2831946" cy="984052"/>
              </a:xfrm>
              <a:prstGeom prst="rect">
                <a:avLst/>
              </a:prstGeom>
              <a:blipFill>
                <a:blip r:embed="rId3"/>
                <a:stretch>
                  <a:fillRect/>
                </a:stretch>
              </a:blipFill>
              <a:ln w="1905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53AB6538-A2AB-4E3E-90B8-0539EC8C746B}"/>
                  </a:ext>
                </a:extLst>
              </p:cNvPr>
              <p:cNvSpPr txBox="1"/>
              <p:nvPr/>
            </p:nvSpPr>
            <p:spPr>
              <a:xfrm>
                <a:off x="5118707" y="5469679"/>
                <a:ext cx="1954583" cy="660052"/>
              </a:xfrm>
              <a:prstGeom prst="rect">
                <a:avLst/>
              </a:prstGeom>
              <a:noFill/>
              <a:ln w="1905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Perpetuity</m:t>
                      </m:r>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CF</m:t>
                          </m:r>
                        </m:num>
                        <m:den>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den>
                      </m:f>
                    </m:oMath>
                  </m:oMathPara>
                </a14:m>
                <a:endPar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7" name="文本框 6">
                <a:extLst>
                  <a:ext uri="{FF2B5EF4-FFF2-40B4-BE49-F238E27FC236}">
                    <a16:creationId xmlns:a16="http://schemas.microsoft.com/office/drawing/2014/main" id="{53AB6538-A2AB-4E3E-90B8-0539EC8C746B}"/>
                  </a:ext>
                </a:extLst>
              </p:cNvPr>
              <p:cNvSpPr txBox="1">
                <a:spLocks noRot="1" noChangeAspect="1" noMove="1" noResize="1" noEditPoints="1" noAdjustHandles="1" noChangeArrowheads="1" noChangeShapeType="1" noTextEdit="1"/>
              </p:cNvSpPr>
              <p:nvPr/>
            </p:nvSpPr>
            <p:spPr>
              <a:xfrm>
                <a:off x="5118707" y="5469679"/>
                <a:ext cx="1954583" cy="660052"/>
              </a:xfrm>
              <a:prstGeom prst="rect">
                <a:avLst/>
              </a:prstGeom>
              <a:blipFill>
                <a:blip r:embed="rId4"/>
                <a:stretch>
                  <a:fillRect/>
                </a:stretch>
              </a:blipFill>
              <a:ln w="19050">
                <a:noFill/>
              </a:ln>
            </p:spPr>
            <p:txBody>
              <a:bodyPr/>
              <a:lstStyle/>
              <a:p>
                <a:r>
                  <a:rPr lang="zh-CN" altLang="en-US">
                    <a:noFill/>
                  </a:rPr>
                  <a:t> </a:t>
                </a:r>
              </a:p>
            </p:txBody>
          </p:sp>
        </mc:Fallback>
      </mc:AlternateContent>
    </p:spTree>
    <p:extLst>
      <p:ext uri="{BB962C8B-B14F-4D97-AF65-F5344CB8AC3E}">
        <p14:creationId xmlns:p14="http://schemas.microsoft.com/office/powerpoint/2010/main" val="1432407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Bond Replication</a:t>
            </a:r>
          </a:p>
        </p:txBody>
      </p:sp>
      <p:sp>
        <p:nvSpPr>
          <p:cNvPr id="3" name="文本占位符 2"/>
          <p:cNvSpPr>
            <a:spLocks noGrp="1"/>
          </p:cNvSpPr>
          <p:nvPr>
            <p:ph type="body" sz="quarter" idx="10"/>
          </p:nvPr>
        </p:nvSpPr>
        <p:spPr/>
        <p:txBody>
          <a:bodyPr>
            <a:normAutofit fontScale="92500"/>
          </a:bodyPr>
          <a:lstStyle/>
          <a:p>
            <a:pPr>
              <a:spcBef>
                <a:spcPct val="0"/>
              </a:spcBef>
            </a:pPr>
            <a:r>
              <a:rPr lang="en-US" altLang="zh-CN" dirty="0"/>
              <a:t>Replication Approach</a:t>
            </a:r>
          </a:p>
          <a:p>
            <a:pPr lvl="1">
              <a:spcBef>
                <a:spcPct val="0"/>
              </a:spcBef>
            </a:pPr>
            <a:r>
              <a:rPr lang="en-US" altLang="zh-CN" b="1" dirty="0"/>
              <a:t>Law of One Price:</a:t>
            </a:r>
            <a:r>
              <a:rPr lang="en-US" altLang="zh-CN" dirty="0"/>
              <a:t> </a:t>
            </a:r>
            <a:r>
              <a:rPr lang="en-US" altLang="zh-CN" u="sng" dirty="0"/>
              <a:t>Absent confounding factors (e.g., liquidity, financing, taxes, credit risk), identical sets of cash flows should sell for same price</a:t>
            </a:r>
            <a:r>
              <a:rPr lang="en-US" altLang="zh-CN" dirty="0"/>
              <a:t>. </a:t>
            </a:r>
          </a:p>
          <a:p>
            <a:pPr lvl="1">
              <a:spcBef>
                <a:spcPct val="0"/>
              </a:spcBef>
            </a:pPr>
            <a:r>
              <a:rPr lang="en-US" altLang="zh-CN" dirty="0"/>
              <a:t>Example: three bond yields and prices are shown below.</a:t>
            </a:r>
          </a:p>
          <a:p>
            <a:pPr lvl="1">
              <a:spcBef>
                <a:spcPct val="0"/>
              </a:spcBef>
            </a:pPr>
            <a:endParaRPr lang="en-US" altLang="zh-CN" dirty="0"/>
          </a:p>
          <a:p>
            <a:pPr lvl="1">
              <a:spcBef>
                <a:spcPct val="0"/>
              </a:spcBef>
            </a:pPr>
            <a:endParaRPr lang="en-US" altLang="zh-CN" dirty="0"/>
          </a:p>
          <a:p>
            <a:pPr lvl="1">
              <a:spcBef>
                <a:spcPct val="0"/>
              </a:spcBef>
            </a:pPr>
            <a:endParaRPr lang="en-US" altLang="zh-CN" dirty="0"/>
          </a:p>
          <a:p>
            <a:pPr lvl="1">
              <a:spcBef>
                <a:spcPct val="0"/>
              </a:spcBef>
            </a:pPr>
            <a:endParaRPr lang="en-US" altLang="zh-CN" dirty="0"/>
          </a:p>
          <a:p>
            <a:pPr lvl="1">
              <a:spcBef>
                <a:spcPct val="0"/>
              </a:spcBef>
            </a:pPr>
            <a:r>
              <a:rPr lang="en-US" altLang="zh-CN" dirty="0"/>
              <a:t>The 2-year spot rate is 6.03%. Is there an arbitrage opportunity using these three bonds? If so, describe the trades necessary to exploit the arbitrage opportunity?</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D96AE85F-7769-4C77-B80B-5BA9B7962BCC}"/>
              </a:ext>
            </a:extLst>
          </p:cNvPr>
          <p:cNvPicPr>
            <a:picLocks noChangeAspect="1"/>
          </p:cNvPicPr>
          <p:nvPr/>
        </p:nvPicPr>
        <p:blipFill>
          <a:blip r:embed="rId2"/>
          <a:stretch>
            <a:fillRect/>
          </a:stretch>
        </p:blipFill>
        <p:spPr>
          <a:xfrm>
            <a:off x="3151376" y="3255793"/>
            <a:ext cx="5889246" cy="1408298"/>
          </a:xfrm>
          <a:prstGeom prst="rect">
            <a:avLst/>
          </a:prstGeom>
        </p:spPr>
      </p:pic>
    </p:spTree>
    <p:extLst>
      <p:ext uri="{BB962C8B-B14F-4D97-AF65-F5344CB8AC3E}">
        <p14:creationId xmlns:p14="http://schemas.microsoft.com/office/powerpoint/2010/main" val="3383386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Bond Replication</a:t>
            </a:r>
          </a:p>
        </p:txBody>
      </p:sp>
      <p:sp>
        <p:nvSpPr>
          <p:cNvPr id="3" name="文本占位符 2"/>
          <p:cNvSpPr>
            <a:spLocks noGrp="1"/>
          </p:cNvSpPr>
          <p:nvPr>
            <p:ph type="body" sz="quarter" idx="10"/>
          </p:nvPr>
        </p:nvSpPr>
        <p:spPr>
          <a:xfrm>
            <a:off x="393600" y="872463"/>
            <a:ext cx="11404800" cy="5660163"/>
          </a:xfrm>
        </p:spPr>
        <p:txBody>
          <a:bodyPr>
            <a:normAutofit/>
          </a:bodyPr>
          <a:lstStyle/>
          <a:p>
            <a:r>
              <a:rPr lang="en-US" altLang="zh-CN" dirty="0"/>
              <a:t>Replication Approach (cont’d)</a:t>
            </a:r>
          </a:p>
          <a:p>
            <a:pPr marL="0" indent="0">
              <a:buNone/>
            </a:pPr>
            <a:endParaRPr lang="en-US" altLang="zh-CN" dirty="0">
              <a:latin typeface="+mn-lt"/>
              <a:ea typeface="+mn-ea"/>
              <a:cs typeface="+mn-ea"/>
              <a:sym typeface="+mn-lt"/>
            </a:endParaRPr>
          </a:p>
        </p:txBody>
      </p:sp>
      <p:graphicFrame>
        <p:nvGraphicFramePr>
          <p:cNvPr id="4" name="Group 48">
            <a:extLst>
              <a:ext uri="{FF2B5EF4-FFF2-40B4-BE49-F238E27FC236}">
                <a16:creationId xmlns:a16="http://schemas.microsoft.com/office/drawing/2014/main" id="{4C19AAD7-AE4D-4FF7-AE92-D78FE520FF63}"/>
              </a:ext>
            </a:extLst>
          </p:cNvPr>
          <p:cNvGraphicFramePr>
            <a:graphicFrameLocks/>
          </p:cNvGraphicFramePr>
          <p:nvPr>
            <p:extLst>
              <p:ext uri="{D42A27DB-BD31-4B8C-83A1-F6EECF244321}">
                <p14:modId xmlns:p14="http://schemas.microsoft.com/office/powerpoint/2010/main" val="2828977232"/>
              </p:ext>
            </p:extLst>
          </p:nvPr>
        </p:nvGraphicFramePr>
        <p:xfrm>
          <a:off x="1937545" y="2205700"/>
          <a:ext cx="8316910" cy="3779837"/>
        </p:xfrm>
        <a:graphic>
          <a:graphicData uri="http://schemas.openxmlformats.org/drawingml/2006/table">
            <a:tbl>
              <a:tblPr/>
              <a:tblGrid>
                <a:gridCol w="1800197">
                  <a:extLst>
                    <a:ext uri="{9D8B030D-6E8A-4147-A177-3AD203B41FA5}">
                      <a16:colId xmlns:a16="http://schemas.microsoft.com/office/drawing/2014/main" val="20000"/>
                    </a:ext>
                  </a:extLst>
                </a:gridCol>
                <a:gridCol w="1944629">
                  <a:extLst>
                    <a:ext uri="{9D8B030D-6E8A-4147-A177-3AD203B41FA5}">
                      <a16:colId xmlns:a16="http://schemas.microsoft.com/office/drawing/2014/main" val="20001"/>
                    </a:ext>
                  </a:extLst>
                </a:gridCol>
                <a:gridCol w="1043698">
                  <a:extLst>
                    <a:ext uri="{9D8B030D-6E8A-4147-A177-3AD203B41FA5}">
                      <a16:colId xmlns:a16="http://schemas.microsoft.com/office/drawing/2014/main" val="20002"/>
                    </a:ext>
                  </a:extLst>
                </a:gridCol>
                <a:gridCol w="1116122">
                  <a:extLst>
                    <a:ext uri="{9D8B030D-6E8A-4147-A177-3AD203B41FA5}">
                      <a16:colId xmlns:a16="http://schemas.microsoft.com/office/drawing/2014/main" val="20003"/>
                    </a:ext>
                  </a:extLst>
                </a:gridCol>
                <a:gridCol w="1296142">
                  <a:extLst>
                    <a:ext uri="{9D8B030D-6E8A-4147-A177-3AD203B41FA5}">
                      <a16:colId xmlns:a16="http://schemas.microsoft.com/office/drawing/2014/main" val="20004"/>
                    </a:ext>
                  </a:extLst>
                </a:gridCol>
                <a:gridCol w="1116122">
                  <a:extLst>
                    <a:ext uri="{9D8B030D-6E8A-4147-A177-3AD203B41FA5}">
                      <a16:colId xmlns:a16="http://schemas.microsoft.com/office/drawing/2014/main" val="20005"/>
                    </a:ext>
                  </a:extLst>
                </a:gridCol>
              </a:tblGrid>
              <a:tr h="539977">
                <a:tc grid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Time = 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 year</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1"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2 years</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899961">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-1,000,000.00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(cost of 2-year, 6% coupon bonds)</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+60,000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+1,060,000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(coupon)</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99961">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+57,142.86</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(proceeds 1-year, 0% coupon bonds)</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-60,000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99961">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+943,396.20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(proceed 2-year, 0% coupon bonds)</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-1,060,000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9977">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+539.06</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Net </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endParaRPr kumimoji="0" lang="zh-CN"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0</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30000"/>
                        </a:spcBef>
                        <a:spcAft>
                          <a:spcPct val="0"/>
                        </a:spcAft>
                        <a:buClr>
                          <a:srgbClr val="800000"/>
                        </a:buClr>
                        <a:buSzTx/>
                        <a:buFont typeface="Wingdings" pitchFamily="2" charset="2"/>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Segoe UI" panose="020B0502040204020203" pitchFamily="34" charset="0"/>
                          <a:cs typeface="Segoe UI" panose="020B0502040204020203" pitchFamily="34" charset="0"/>
                        </a:rPr>
                        <a:t>(maturity)</a:t>
                      </a:r>
                    </a:p>
                  </a:txBody>
                  <a:tcPr marL="36004" marR="36004" marT="35998" marB="35998"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71089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Decomposition of P&amp;L</a:t>
            </a:r>
          </a:p>
        </p:txBody>
      </p:sp>
      <p:pic>
        <p:nvPicPr>
          <p:cNvPr id="4" name="图片 3">
            <a:extLst>
              <a:ext uri="{FF2B5EF4-FFF2-40B4-BE49-F238E27FC236}">
                <a16:creationId xmlns:a16="http://schemas.microsoft.com/office/drawing/2014/main" id="{D00034E5-C0CA-4F8C-9A81-32BD7965CFC8}"/>
              </a:ext>
            </a:extLst>
          </p:cNvPr>
          <p:cNvPicPr>
            <a:picLocks noChangeAspect="1"/>
          </p:cNvPicPr>
          <p:nvPr/>
        </p:nvPicPr>
        <p:blipFill>
          <a:blip r:embed="rId2"/>
          <a:stretch>
            <a:fillRect/>
          </a:stretch>
        </p:blipFill>
        <p:spPr>
          <a:xfrm>
            <a:off x="1819284" y="1573778"/>
            <a:ext cx="8553429" cy="4139543"/>
          </a:xfrm>
          <a:prstGeom prst="rect">
            <a:avLst/>
          </a:prstGeom>
        </p:spPr>
      </p:pic>
      <p:sp>
        <p:nvSpPr>
          <p:cNvPr id="3" name="文本占位符 2"/>
          <p:cNvSpPr>
            <a:spLocks noGrp="1"/>
          </p:cNvSpPr>
          <p:nvPr>
            <p:ph type="body" sz="quarter" idx="10"/>
          </p:nvPr>
        </p:nvSpPr>
        <p:spPr/>
        <p:txBody>
          <a:bodyPr>
            <a:normAutofit/>
          </a:bodyPr>
          <a:lstStyle/>
          <a:p>
            <a:endParaRPr lang="en-US" altLang="zh-CN" dirty="0">
              <a:latin typeface="+mn-lt"/>
              <a:ea typeface="+mn-ea"/>
              <a:cs typeface="+mn-ea"/>
              <a:sym typeface="+mn-lt"/>
            </a:endParaRPr>
          </a:p>
        </p:txBody>
      </p:sp>
    </p:spTree>
    <p:extLst>
      <p:ext uri="{BB962C8B-B14F-4D97-AF65-F5344CB8AC3E}">
        <p14:creationId xmlns:p14="http://schemas.microsoft.com/office/powerpoint/2010/main" val="2331551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1</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The following discount function contains semi-annual discount factors out to two years: d(0.5) = 0.9970, d(1.0) = 0.9911, d(1.5) = 0.9809, d(2.0) = 0.9706. What is the implied 1.5 year zero rate?</a:t>
            </a:r>
          </a:p>
          <a:p>
            <a:pPr lvl="1">
              <a:lnSpc>
                <a:spcPct val="140000"/>
              </a:lnSpc>
              <a:spcBef>
                <a:spcPct val="0"/>
              </a:spcBef>
              <a:buFont typeface="Calibri" panose="020F0502020204030204" pitchFamily="34" charset="0"/>
              <a:buAutoNum type="alphaUcPeriod"/>
            </a:pPr>
            <a:r>
              <a:rPr lang="en-US" altLang="zh-CN" dirty="0"/>
              <a:t>0.600%</a:t>
            </a:r>
          </a:p>
          <a:p>
            <a:pPr lvl="1">
              <a:lnSpc>
                <a:spcPct val="140000"/>
              </a:lnSpc>
              <a:spcBef>
                <a:spcPct val="0"/>
              </a:spcBef>
              <a:buFont typeface="Calibri" panose="020F0502020204030204" pitchFamily="34" charset="0"/>
              <a:buAutoNum type="alphaUcPeriod"/>
            </a:pPr>
            <a:r>
              <a:rPr lang="en-US" altLang="zh-CN" dirty="0"/>
              <a:t>1.176%</a:t>
            </a:r>
          </a:p>
          <a:p>
            <a:pPr lvl="1">
              <a:lnSpc>
                <a:spcPct val="140000"/>
              </a:lnSpc>
              <a:spcBef>
                <a:spcPct val="0"/>
              </a:spcBef>
              <a:buFont typeface="Calibri" panose="020F0502020204030204" pitchFamily="34" charset="0"/>
              <a:buAutoNum type="alphaUcPeriod"/>
            </a:pPr>
            <a:r>
              <a:rPr lang="en-US" altLang="zh-CN" dirty="0"/>
              <a:t>1.290%</a:t>
            </a:r>
          </a:p>
          <a:p>
            <a:pPr lvl="1">
              <a:lnSpc>
                <a:spcPct val="140000"/>
              </a:lnSpc>
              <a:spcBef>
                <a:spcPct val="0"/>
              </a:spcBef>
              <a:buFont typeface="Calibri" panose="020F0502020204030204" pitchFamily="34" charset="0"/>
              <a:buAutoNum type="alphaUcPeriod"/>
            </a:pPr>
            <a:r>
              <a:rPr lang="en-US" altLang="zh-CN" dirty="0"/>
              <a:t>1.505%</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54417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2</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The price of a six-month zero-coupon bond is $99.90 and the price of a one-year zero-coupon bond is $98.56. What is the implied six-month forward rate, under semi-annual compounding?</a:t>
            </a:r>
          </a:p>
          <a:p>
            <a:pPr lvl="1">
              <a:lnSpc>
                <a:spcPct val="140000"/>
              </a:lnSpc>
              <a:spcBef>
                <a:spcPct val="0"/>
              </a:spcBef>
              <a:buFont typeface="Calibri" panose="020F0502020204030204" pitchFamily="34" charset="0"/>
              <a:buAutoNum type="alphaUcPeriod"/>
            </a:pPr>
            <a:r>
              <a:rPr lang="en-US" altLang="zh-CN" dirty="0"/>
              <a:t>1.30%</a:t>
            </a:r>
          </a:p>
          <a:p>
            <a:pPr lvl="1">
              <a:lnSpc>
                <a:spcPct val="140000"/>
              </a:lnSpc>
              <a:spcBef>
                <a:spcPct val="0"/>
              </a:spcBef>
              <a:buFont typeface="Calibri" panose="020F0502020204030204" pitchFamily="34" charset="0"/>
              <a:buAutoNum type="alphaUcPeriod"/>
            </a:pPr>
            <a:r>
              <a:rPr lang="en-US" altLang="zh-CN" dirty="0"/>
              <a:t>2.95%</a:t>
            </a:r>
          </a:p>
          <a:p>
            <a:pPr lvl="1">
              <a:lnSpc>
                <a:spcPct val="140000"/>
              </a:lnSpc>
              <a:spcBef>
                <a:spcPct val="0"/>
              </a:spcBef>
              <a:buFont typeface="Calibri" panose="020F0502020204030204" pitchFamily="34" charset="0"/>
              <a:buAutoNum type="alphaUcPeriod"/>
            </a:pPr>
            <a:r>
              <a:rPr lang="en-US" altLang="zh-CN" dirty="0"/>
              <a:t>2.73%</a:t>
            </a:r>
          </a:p>
          <a:p>
            <a:pPr lvl="1">
              <a:lnSpc>
                <a:spcPct val="140000"/>
              </a:lnSpc>
              <a:spcBef>
                <a:spcPct val="0"/>
              </a:spcBef>
              <a:buFont typeface="Calibri" panose="020F0502020204030204" pitchFamily="34" charset="0"/>
              <a:buAutoNum type="alphaUcPeriod"/>
            </a:pPr>
            <a:r>
              <a:rPr lang="en-US" altLang="zh-CN" dirty="0"/>
              <a:t>3.08%</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745448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3</a:t>
            </a:r>
          </a:p>
        </p:txBody>
      </p:sp>
      <p:sp>
        <p:nvSpPr>
          <p:cNvPr id="3" name="文本占位符 2"/>
          <p:cNvSpPr>
            <a:spLocks noGrp="1"/>
          </p:cNvSpPr>
          <p:nvPr>
            <p:ph type="body" sz="quarter" idx="10"/>
          </p:nvPr>
        </p:nvSpPr>
        <p:spPr/>
        <p:txBody>
          <a:bodyPr>
            <a:normAutofit fontScale="77500" lnSpcReduction="20000"/>
          </a:bodyPr>
          <a:lstStyle/>
          <a:p>
            <a:pPr>
              <a:defRPr/>
            </a:pPr>
            <a:r>
              <a:rPr lang="en-US" altLang="zh-CN" dirty="0"/>
              <a:t>Given the following information:</a:t>
            </a:r>
          </a:p>
          <a:p>
            <a:pPr>
              <a:defRPr/>
            </a:pPr>
            <a:endParaRPr lang="en-US" altLang="zh-CN" dirty="0"/>
          </a:p>
          <a:p>
            <a:pPr>
              <a:defRPr/>
            </a:pPr>
            <a:endParaRPr lang="en-US" altLang="zh-CN" dirty="0"/>
          </a:p>
          <a:p>
            <a:pPr>
              <a:defRPr/>
            </a:pPr>
            <a:endParaRPr lang="en-US" altLang="zh-CN" dirty="0"/>
          </a:p>
          <a:p>
            <a:pPr>
              <a:defRPr/>
            </a:pPr>
            <a:endParaRPr lang="en-US" altLang="zh-CN" dirty="0"/>
          </a:p>
          <a:p>
            <a:pPr>
              <a:defRPr/>
            </a:pPr>
            <a:endParaRPr lang="en-US" altLang="zh-CN" dirty="0"/>
          </a:p>
          <a:p>
            <a:pPr marL="638175" lvl="1" indent="-285750">
              <a:defRPr/>
            </a:pPr>
            <a:r>
              <a:rPr lang="en-US" altLang="zh-CN" dirty="0"/>
              <a:t>1-year forward rate one year from today = 9.7%</a:t>
            </a:r>
          </a:p>
          <a:p>
            <a:pPr marL="638175" lvl="1" indent="-285750">
              <a:defRPr/>
            </a:pPr>
            <a:r>
              <a:rPr lang="en-US" altLang="zh-CN" dirty="0"/>
              <a:t>1-year forward rate two years from today = 11.3%</a:t>
            </a:r>
          </a:p>
          <a:p>
            <a:pPr marL="638175" lvl="1" indent="-285750">
              <a:defRPr/>
            </a:pPr>
            <a:r>
              <a:rPr lang="en-US" altLang="zh-CN" dirty="0"/>
              <a:t>2-year forward rate one year from today = 12.27%</a:t>
            </a:r>
          </a:p>
          <a:p>
            <a:pPr marL="352425" lvl="1" indent="0">
              <a:buFont typeface="+mj-lt"/>
              <a:buNone/>
              <a:defRPr/>
            </a:pPr>
            <a:r>
              <a:rPr lang="en-US" altLang="zh-CN" dirty="0"/>
              <a:t>Which of the following statements about the forward rates, based on the bond prices, is true?</a:t>
            </a:r>
          </a:p>
          <a:p>
            <a:pPr marL="609585" lvl="1" indent="0">
              <a:buNone/>
              <a:defRPr/>
            </a:pPr>
            <a:r>
              <a:rPr lang="en-US" altLang="zh-CN" dirty="0"/>
              <a:t>A. The 1-year forward rate one year from today is too low.</a:t>
            </a:r>
          </a:p>
          <a:p>
            <a:pPr marL="609585" lvl="1" indent="0">
              <a:buNone/>
              <a:defRPr/>
            </a:pPr>
            <a:r>
              <a:rPr lang="en-US" altLang="zh-CN" dirty="0"/>
              <a:t>B. The 2-year forward rate one year from today is too high.</a:t>
            </a:r>
          </a:p>
          <a:p>
            <a:pPr marL="609585" lvl="1" indent="0">
              <a:buNone/>
              <a:defRPr/>
            </a:pPr>
            <a:r>
              <a:rPr lang="en-US" altLang="zh-CN" dirty="0"/>
              <a:t>C. The 1-year forward rate two years from today is too low.</a:t>
            </a:r>
          </a:p>
          <a:p>
            <a:pPr marL="609585" lvl="1" indent="0">
              <a:buNone/>
              <a:defRPr/>
            </a:pPr>
            <a:r>
              <a:rPr lang="en-US" altLang="zh-CN" dirty="0"/>
              <a:t>D. There’s no opportunities for arbitrage.</a:t>
            </a:r>
            <a:endParaRPr lang="en-US" altLang="zh-CN" dirty="0">
              <a:latin typeface="+mn-lt"/>
              <a:ea typeface="+mn-ea"/>
              <a:cs typeface="+mn-ea"/>
              <a:sym typeface="+mn-lt"/>
            </a:endParaRPr>
          </a:p>
        </p:txBody>
      </p:sp>
      <p:sp>
        <p:nvSpPr>
          <p:cNvPr id="4" name="矩形 4">
            <a:extLst>
              <a:ext uri="{FF2B5EF4-FFF2-40B4-BE49-F238E27FC236}">
                <a16:creationId xmlns:a16="http://schemas.microsoft.com/office/drawing/2014/main" id="{5E8B26D5-E5DD-4D62-B4F0-1628A9512506}"/>
              </a:ext>
            </a:extLst>
          </p:cNvPr>
          <p:cNvSpPr>
            <a:spLocks noChangeArrowheads="1"/>
          </p:cNvSpPr>
          <p:nvPr/>
        </p:nvSpPr>
        <p:spPr bwMode="auto">
          <a:xfrm>
            <a:off x="9112814" y="5847681"/>
            <a:ext cx="1536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just">
              <a:lnSpc>
                <a:spcPct val="120000"/>
              </a:lnSpc>
              <a:buFont typeface="Wingdings" panose="05000000000000000000" pitchFamily="2" charset="2"/>
              <a:buChar char="Ø"/>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Answer: C</a:t>
            </a:r>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p:pic>
        <p:nvPicPr>
          <p:cNvPr id="5" name="图片 4">
            <a:extLst>
              <a:ext uri="{FF2B5EF4-FFF2-40B4-BE49-F238E27FC236}">
                <a16:creationId xmlns:a16="http://schemas.microsoft.com/office/drawing/2014/main" id="{8833AE5D-43CD-4501-A295-42B09E6791EA}"/>
              </a:ext>
            </a:extLst>
          </p:cNvPr>
          <p:cNvPicPr>
            <a:picLocks noChangeAspect="1"/>
          </p:cNvPicPr>
          <p:nvPr/>
        </p:nvPicPr>
        <p:blipFill>
          <a:blip r:embed="rId2"/>
          <a:stretch>
            <a:fillRect/>
          </a:stretch>
        </p:blipFill>
        <p:spPr>
          <a:xfrm>
            <a:off x="3035542" y="1414891"/>
            <a:ext cx="6120914" cy="1609483"/>
          </a:xfrm>
          <a:prstGeom prst="rect">
            <a:avLst/>
          </a:prstGeom>
        </p:spPr>
      </p:pic>
    </p:spTree>
    <p:extLst>
      <p:ext uri="{BB962C8B-B14F-4D97-AF65-F5344CB8AC3E}">
        <p14:creationId xmlns:p14="http://schemas.microsoft.com/office/powerpoint/2010/main" val="550188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4</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A 3-year bond with a current price of $105.91 pays a semi-annual coupon with a coupon rate of 5%. What is the bond’s YTM?</a:t>
            </a:r>
          </a:p>
          <a:p>
            <a:pPr lvl="1">
              <a:lnSpc>
                <a:spcPct val="140000"/>
              </a:lnSpc>
              <a:spcBef>
                <a:spcPct val="0"/>
              </a:spcBef>
              <a:buFont typeface="Calibri" panose="020F0502020204030204" pitchFamily="34" charset="0"/>
              <a:buAutoNum type="alphaUcPeriod"/>
            </a:pPr>
            <a:r>
              <a:rPr lang="en-US" altLang="zh-CN" dirty="0"/>
              <a:t>1.97%</a:t>
            </a:r>
          </a:p>
          <a:p>
            <a:pPr lvl="1">
              <a:lnSpc>
                <a:spcPct val="140000"/>
              </a:lnSpc>
              <a:spcBef>
                <a:spcPct val="0"/>
              </a:spcBef>
              <a:buFont typeface="Calibri" panose="020F0502020204030204" pitchFamily="34" charset="0"/>
              <a:buAutoNum type="alphaUcPeriod"/>
            </a:pPr>
            <a:r>
              <a:rPr lang="en-US" altLang="zh-CN" dirty="0"/>
              <a:t>2.25%</a:t>
            </a:r>
          </a:p>
          <a:p>
            <a:pPr lvl="1">
              <a:lnSpc>
                <a:spcPct val="140000"/>
              </a:lnSpc>
              <a:spcBef>
                <a:spcPct val="0"/>
              </a:spcBef>
              <a:buFont typeface="Calibri" panose="020F0502020204030204" pitchFamily="34" charset="0"/>
              <a:buAutoNum type="alphaUcPeriod"/>
            </a:pPr>
            <a:r>
              <a:rPr lang="en-US" altLang="zh-CN" dirty="0"/>
              <a:t>2.93%</a:t>
            </a:r>
          </a:p>
          <a:p>
            <a:pPr lvl="1">
              <a:lnSpc>
                <a:spcPct val="140000"/>
              </a:lnSpc>
              <a:spcBef>
                <a:spcPct val="0"/>
              </a:spcBef>
              <a:buFont typeface="Calibri" panose="020F0502020204030204" pitchFamily="34" charset="0"/>
              <a:buAutoNum type="alphaUcPeriod"/>
            </a:pPr>
            <a:r>
              <a:rPr lang="en-US" altLang="zh-CN" dirty="0"/>
              <a:t>3.56%</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77978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5</a:t>
            </a:r>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There are two U.S. Treasury bond. The first has a price of 99.98, matures in six months, and pays a semi-annual coupon at a rate of 3%. The second has a price of 101.11, matures in one year, and pays a semi-annual coupon at a rate of 4%. What are, respectively, the six-month and one-year discount factor?</a:t>
            </a:r>
          </a:p>
          <a:p>
            <a:pPr lvl="1">
              <a:lnSpc>
                <a:spcPct val="140000"/>
              </a:lnSpc>
              <a:spcBef>
                <a:spcPct val="0"/>
              </a:spcBef>
              <a:buFont typeface="Calibri" panose="020F0502020204030204" pitchFamily="34" charset="0"/>
              <a:buAutoNum type="alphaUcPeriod"/>
            </a:pPr>
            <a:r>
              <a:rPr lang="en-US" altLang="zh-CN" dirty="0"/>
              <a:t>d(0.5) = 0.9790, d(1.0) = 0.9830</a:t>
            </a:r>
          </a:p>
          <a:p>
            <a:pPr lvl="1">
              <a:lnSpc>
                <a:spcPct val="140000"/>
              </a:lnSpc>
              <a:spcBef>
                <a:spcPct val="0"/>
              </a:spcBef>
              <a:buFont typeface="Calibri" panose="020F0502020204030204" pitchFamily="34" charset="0"/>
              <a:buAutoNum type="alphaUcPeriod"/>
            </a:pPr>
            <a:r>
              <a:rPr lang="en-US" altLang="zh-CN" dirty="0"/>
              <a:t>d(0.5) = 0.9850, d(1.0) = 0.9720</a:t>
            </a:r>
          </a:p>
          <a:p>
            <a:pPr lvl="1">
              <a:lnSpc>
                <a:spcPct val="140000"/>
              </a:lnSpc>
              <a:spcBef>
                <a:spcPct val="0"/>
              </a:spcBef>
              <a:buFont typeface="Calibri" panose="020F0502020204030204" pitchFamily="34" charset="0"/>
              <a:buAutoNum type="alphaUcPeriod"/>
            </a:pPr>
            <a:r>
              <a:rPr lang="en-US" altLang="zh-CN" dirty="0"/>
              <a:t>d(0.5) = 1.0020, d(1.0) = 0.9830</a:t>
            </a:r>
          </a:p>
          <a:p>
            <a:pPr lvl="1">
              <a:lnSpc>
                <a:spcPct val="140000"/>
              </a:lnSpc>
              <a:spcBef>
                <a:spcPct val="0"/>
              </a:spcBef>
              <a:buFont typeface="Calibri" panose="020F0502020204030204" pitchFamily="34" charset="0"/>
              <a:buAutoNum type="alphaUcPeriod"/>
            </a:pPr>
            <a:r>
              <a:rPr lang="en-US" altLang="zh-CN" dirty="0"/>
              <a:t>d(0.5) = 0.9650, d(1.0) = 1.0340</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654639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6</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Three different U.S. Treasury notes pay semi-annual coupons and mature in exactly one year; i.e., each pays the next coupon in six months and matures six months subsequently. The price of Bond A with a coupon rate of 2.0% per annum is $99.02 and the price of Bond C with a coupon rate of 7.0% per annum is $103.91. If Bond B has a coupon rate of 4.0% per annum, what is the price of Bond B?</a:t>
            </a:r>
          </a:p>
          <a:p>
            <a:pPr lvl="1">
              <a:lnSpc>
                <a:spcPct val="140000"/>
              </a:lnSpc>
              <a:spcBef>
                <a:spcPct val="0"/>
              </a:spcBef>
              <a:buFont typeface="Calibri" panose="020F0502020204030204" pitchFamily="34" charset="0"/>
              <a:buAutoNum type="alphaUcPeriod"/>
            </a:pPr>
            <a:r>
              <a:rPr lang="en-US" altLang="zh-CN" dirty="0"/>
              <a:t>$99.12</a:t>
            </a:r>
          </a:p>
          <a:p>
            <a:pPr lvl="1">
              <a:lnSpc>
                <a:spcPct val="140000"/>
              </a:lnSpc>
              <a:spcBef>
                <a:spcPct val="0"/>
              </a:spcBef>
              <a:buFont typeface="Calibri" panose="020F0502020204030204" pitchFamily="34" charset="0"/>
              <a:buAutoNum type="alphaUcPeriod"/>
            </a:pPr>
            <a:r>
              <a:rPr lang="en-US" altLang="zh-CN" dirty="0"/>
              <a:t>$100.56</a:t>
            </a:r>
          </a:p>
          <a:p>
            <a:pPr lvl="1">
              <a:lnSpc>
                <a:spcPct val="140000"/>
              </a:lnSpc>
              <a:spcBef>
                <a:spcPct val="0"/>
              </a:spcBef>
              <a:buFont typeface="Calibri" panose="020F0502020204030204" pitchFamily="34" charset="0"/>
              <a:buAutoNum type="alphaUcPeriod"/>
            </a:pPr>
            <a:r>
              <a:rPr lang="en-US" altLang="zh-CN" dirty="0"/>
              <a:t>$100.98</a:t>
            </a:r>
          </a:p>
          <a:p>
            <a:pPr lvl="1">
              <a:lnSpc>
                <a:spcPct val="140000"/>
              </a:lnSpc>
              <a:spcBef>
                <a:spcPct val="0"/>
              </a:spcBef>
              <a:buFont typeface="Calibri" panose="020F0502020204030204" pitchFamily="34" charset="0"/>
              <a:buAutoNum type="alphaUcPeriod"/>
            </a:pPr>
            <a:r>
              <a:rPr lang="en-US" altLang="zh-CN" dirty="0"/>
              <a:t>$101.12</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122750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754798"/>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Fixed Income:</a:t>
              </a:r>
              <a:r>
                <a:rPr lang="en-US" altLang="zh-CN" sz="2400" dirty="0">
                  <a:ea typeface="宋体" panose="02010600030101010101" pitchFamily="2" charset="-122"/>
                </a:rPr>
                <a:t> </a:t>
              </a:r>
            </a:p>
            <a:p>
              <a:pPr lvl="0" algn="ctr">
                <a:defRPr/>
              </a:pPr>
              <a:r>
                <a:rPr lang="en-US" altLang="zh-CN" sz="2400" b="1" dirty="0">
                  <a:ea typeface="宋体" panose="02010600030101010101" pitchFamily="2" charset="-122"/>
                </a:rPr>
                <a:t>Risk Metrics</a:t>
              </a:r>
              <a:r>
                <a:rPr lang="en-US" altLang="zh-CN" sz="2400" b="1" dirty="0">
                  <a:solidFill>
                    <a:schemeClr val="tx1">
                      <a:lumMod val="75000"/>
                      <a:lumOff val="25000"/>
                    </a:schemeClr>
                  </a:solidFill>
                </a:rPr>
                <a:t> </a:t>
              </a:r>
            </a:p>
          </p:txBody>
        </p:sp>
      </p:grpSp>
    </p:spTree>
    <p:extLst>
      <p:ext uri="{BB962C8B-B14F-4D97-AF65-F5344CB8AC3E}">
        <p14:creationId xmlns:p14="http://schemas.microsoft.com/office/powerpoint/2010/main" val="4252306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One-Factor Risk Metrics</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Multi-Factor Risk Metrics</a:t>
            </a: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780355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One-Factor Risk Metrics</a:t>
            </a:r>
          </a:p>
        </p:txBody>
      </p:sp>
      <p:sp>
        <p:nvSpPr>
          <p:cNvPr id="3" name="文本占位符 2"/>
          <p:cNvSpPr>
            <a:spLocks noGrp="1"/>
          </p:cNvSpPr>
          <p:nvPr>
            <p:ph type="body" sz="quarter" idx="10"/>
          </p:nvPr>
        </p:nvSpPr>
        <p:spPr>
          <a:xfrm>
            <a:off x="393599" y="813469"/>
            <a:ext cx="7246066" cy="3979757"/>
          </a:xfrm>
        </p:spPr>
        <p:txBody>
          <a:bodyPr>
            <a:normAutofit fontScale="77500" lnSpcReduction="20000"/>
          </a:bodyPr>
          <a:lstStyle/>
          <a:p>
            <a:pPr>
              <a:spcBef>
                <a:spcPct val="0"/>
              </a:spcBef>
            </a:pPr>
            <a:r>
              <a:rPr lang="en-US" altLang="zh-CN" dirty="0"/>
              <a:t>Duration</a:t>
            </a:r>
          </a:p>
          <a:p>
            <a:pPr lvl="1">
              <a:spcBef>
                <a:spcPct val="0"/>
              </a:spcBef>
            </a:pPr>
            <a:r>
              <a:rPr lang="en-US" altLang="zh-CN" b="1" dirty="0"/>
              <a:t>Macaulay Duration</a:t>
            </a:r>
          </a:p>
          <a:p>
            <a:pPr lvl="2">
              <a:spcBef>
                <a:spcPct val="0"/>
              </a:spcBef>
            </a:pPr>
            <a:r>
              <a:rPr lang="en-US" altLang="zh-CN" u="sng" dirty="0"/>
              <a:t>For a zero coupon bond, the Macaulay duration equals to its maturity.</a:t>
            </a:r>
          </a:p>
          <a:p>
            <a:pPr lvl="2">
              <a:spcBef>
                <a:spcPct val="0"/>
              </a:spcBef>
            </a:pPr>
            <a:r>
              <a:rPr lang="en-US" altLang="zh-CN" u="sng" dirty="0"/>
              <a:t>For a plain bond, the Macaulay duration is less than or equal to its maturity.</a:t>
            </a:r>
          </a:p>
          <a:p>
            <a:pPr lvl="1">
              <a:spcBef>
                <a:spcPct val="0"/>
              </a:spcBef>
            </a:pPr>
            <a:r>
              <a:rPr lang="en-US" altLang="zh-CN" b="1" dirty="0"/>
              <a:t>Modified Duration and Dollar Duration</a:t>
            </a:r>
          </a:p>
          <a:p>
            <a:pPr lvl="2">
              <a:spcBef>
                <a:spcPct val="0"/>
              </a:spcBef>
            </a:pPr>
            <a:r>
              <a:rPr lang="en-US" altLang="zh-CN" u="sng" dirty="0"/>
              <a:t>All else being equal, duration increase for longer maturities, lower coupons, and lower the yields.</a:t>
            </a:r>
            <a:endParaRPr lang="en-US" altLang="en-US" u="sng" dirty="0"/>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E86A6430-714C-451D-A9DF-628DBE725F77}"/>
              </a:ext>
            </a:extLst>
          </p:cNvPr>
          <p:cNvPicPr>
            <a:picLocks noChangeAspect="1"/>
          </p:cNvPicPr>
          <p:nvPr/>
        </p:nvPicPr>
        <p:blipFill>
          <a:blip r:embed="rId2"/>
          <a:stretch>
            <a:fillRect/>
          </a:stretch>
        </p:blipFill>
        <p:spPr>
          <a:xfrm>
            <a:off x="9341642" y="1569559"/>
            <a:ext cx="1944793" cy="1859441"/>
          </a:xfrm>
          <a:prstGeom prst="rect">
            <a:avLst/>
          </a:prstGeom>
        </p:spPr>
      </p:pic>
      <p:pic>
        <p:nvPicPr>
          <p:cNvPr id="6" name="图片 5">
            <a:extLst>
              <a:ext uri="{FF2B5EF4-FFF2-40B4-BE49-F238E27FC236}">
                <a16:creationId xmlns:a16="http://schemas.microsoft.com/office/drawing/2014/main" id="{DCC287FD-42D5-4099-85EC-A02E72461706}"/>
              </a:ext>
            </a:extLst>
          </p:cNvPr>
          <p:cNvPicPr>
            <a:picLocks noChangeAspect="1"/>
          </p:cNvPicPr>
          <p:nvPr/>
        </p:nvPicPr>
        <p:blipFill>
          <a:blip r:embed="rId3"/>
          <a:stretch>
            <a:fillRect/>
          </a:stretch>
        </p:blipFill>
        <p:spPr>
          <a:xfrm>
            <a:off x="3062977" y="5233693"/>
            <a:ext cx="6066046" cy="810838"/>
          </a:xfrm>
          <a:prstGeom prst="rect">
            <a:avLst/>
          </a:prstGeom>
        </p:spPr>
      </p:pic>
    </p:spTree>
    <p:extLst>
      <p:ext uri="{BB962C8B-B14F-4D97-AF65-F5344CB8AC3E}">
        <p14:creationId xmlns:p14="http://schemas.microsoft.com/office/powerpoint/2010/main" val="3271091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One-Factor Risk Metrics</a:t>
            </a:r>
          </a:p>
        </p:txBody>
      </p:sp>
      <p:sp>
        <p:nvSpPr>
          <p:cNvPr id="3" name="文本占位符 2"/>
          <p:cNvSpPr>
            <a:spLocks noGrp="1"/>
          </p:cNvSpPr>
          <p:nvPr>
            <p:ph type="body" sz="quarter" idx="10"/>
          </p:nvPr>
        </p:nvSpPr>
        <p:spPr>
          <a:xfrm>
            <a:off x="393599" y="813469"/>
            <a:ext cx="11404800" cy="4152721"/>
          </a:xfrm>
        </p:spPr>
        <p:txBody>
          <a:bodyPr>
            <a:normAutofit fontScale="92500" lnSpcReduction="20000"/>
          </a:bodyPr>
          <a:lstStyle/>
          <a:p>
            <a:pPr>
              <a:defRPr/>
            </a:pPr>
            <a:r>
              <a:rPr lang="en-US" altLang="zh-CN" dirty="0"/>
              <a:t>Duration (cont’d)</a:t>
            </a:r>
          </a:p>
          <a:p>
            <a:pPr lvl="1">
              <a:defRPr/>
            </a:pPr>
            <a:r>
              <a:rPr lang="en-US" altLang="zh-CN" b="1" dirty="0"/>
              <a:t>DV01</a:t>
            </a:r>
          </a:p>
          <a:p>
            <a:pPr lvl="1">
              <a:defRPr/>
            </a:pPr>
            <a:r>
              <a:rPr lang="en-US" altLang="zh-CN" b="1" dirty="0"/>
              <a:t>Effective Duration</a:t>
            </a:r>
          </a:p>
          <a:p>
            <a:pPr marL="0" indent="0">
              <a:buNone/>
              <a:defRPr/>
            </a:pPr>
            <a:endParaRPr lang="en-US" altLang="zh-CN" dirty="0"/>
          </a:p>
          <a:p>
            <a:pPr>
              <a:defRPr/>
            </a:pPr>
            <a:r>
              <a:rPr lang="en-US" altLang="zh-CN" dirty="0"/>
              <a:t>Convexity</a:t>
            </a:r>
          </a:p>
          <a:p>
            <a:pPr lvl="1">
              <a:defRPr/>
            </a:pPr>
            <a:r>
              <a:rPr lang="en-US" altLang="zh-CN" u="sng" dirty="0"/>
              <a:t>Non-linear relationship</a:t>
            </a:r>
          </a:p>
          <a:p>
            <a:pPr lvl="1">
              <a:defRPr/>
            </a:pPr>
            <a:r>
              <a:rPr lang="en-US" altLang="zh-CN" u="sng" dirty="0"/>
              <a:t>All else being equal, convexity increase for longer maturities, lower coupons, and lower the yields</a:t>
            </a:r>
            <a:r>
              <a:rPr lang="en-US" altLang="zh-CN" dirty="0"/>
              <a:t>.</a:t>
            </a:r>
          </a:p>
          <a:p>
            <a:pPr lvl="1">
              <a:defRPr/>
            </a:pPr>
            <a:r>
              <a:rPr lang="en-US" altLang="zh-CN" b="1" dirty="0"/>
              <a:t>Effective Convexity</a:t>
            </a:r>
          </a:p>
          <a:p>
            <a:pPr lvl="1">
              <a:defRPr/>
            </a:pPr>
            <a:endParaRPr lang="en-US" altLang="zh-CN" b="1" dirty="0"/>
          </a:p>
          <a:p>
            <a:pPr marL="363538" lvl="1" indent="0">
              <a:buNone/>
              <a:defRPr/>
            </a:pPr>
            <a:endParaRPr lang="en-US" altLang="zh-CN" b="1" dirty="0"/>
          </a:p>
          <a:p>
            <a:pPr lvl="1">
              <a:defRPr/>
            </a:pPr>
            <a:endParaRPr lang="en-US" altLang="zh-CN" b="1" dirty="0"/>
          </a:p>
          <a:p>
            <a:pPr marL="363538" lvl="1" indent="0">
              <a:buNone/>
              <a:defRPr/>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CB2543F8-3D5C-4C72-83B2-E97BFC7D0302}"/>
                  </a:ext>
                </a:extLst>
              </p:cNvPr>
              <p:cNvSpPr txBox="1"/>
              <p:nvPr/>
            </p:nvSpPr>
            <p:spPr>
              <a:xfrm>
                <a:off x="4533184" y="1362643"/>
                <a:ext cx="2604880" cy="415498"/>
              </a:xfrm>
              <a:prstGeom prst="rect">
                <a:avLst/>
              </a:prstGeom>
              <a:noFill/>
              <a:ln w="19050">
                <a:solidFill>
                  <a:srgbClr val="FF0000"/>
                </a:solidFill>
              </a:ln>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DV</m:t>
                      </m:r>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01=</m:t>
                      </m:r>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MD</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×0.0001</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CB2543F8-3D5C-4C72-83B2-E97BFC7D0302}"/>
                  </a:ext>
                </a:extLst>
              </p:cNvPr>
              <p:cNvSpPr txBox="1">
                <a:spLocks noRot="1" noChangeAspect="1" noMove="1" noResize="1" noEditPoints="1" noAdjustHandles="1" noChangeArrowheads="1" noChangeShapeType="1" noTextEdit="1"/>
              </p:cNvSpPr>
              <p:nvPr/>
            </p:nvSpPr>
            <p:spPr>
              <a:xfrm>
                <a:off x="4533184" y="1362643"/>
                <a:ext cx="2604880" cy="415498"/>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98B1ED20-4267-43A6-A22C-21979228F3E6}"/>
                  </a:ext>
                </a:extLst>
              </p:cNvPr>
              <p:cNvSpPr txBox="1"/>
              <p:nvPr/>
            </p:nvSpPr>
            <p:spPr>
              <a:xfrm>
                <a:off x="5043536" y="2327315"/>
                <a:ext cx="1584176" cy="658450"/>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p>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sup>
                      </m:sSup>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num>
                        <m:den>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5" name="文本框 4">
                <a:extLst>
                  <a:ext uri="{FF2B5EF4-FFF2-40B4-BE49-F238E27FC236}">
                    <a16:creationId xmlns:a16="http://schemas.microsoft.com/office/drawing/2014/main" id="{98B1ED20-4267-43A6-A22C-21979228F3E6}"/>
                  </a:ext>
                </a:extLst>
              </p:cNvPr>
              <p:cNvSpPr txBox="1">
                <a:spLocks noRot="1" noChangeAspect="1" noMove="1" noResize="1" noEditPoints="1" noAdjustHandles="1" noChangeArrowheads="1" noChangeShapeType="1" noTextEdit="1"/>
              </p:cNvSpPr>
              <p:nvPr/>
            </p:nvSpPr>
            <p:spPr>
              <a:xfrm>
                <a:off x="5043536" y="2327315"/>
                <a:ext cx="1584176" cy="658450"/>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1ED12CB5-E36C-40B4-B5E5-F34CD064126A}"/>
                  </a:ext>
                </a:extLst>
              </p:cNvPr>
              <p:cNvSpPr txBox="1"/>
              <p:nvPr/>
            </p:nvSpPr>
            <p:spPr>
              <a:xfrm>
                <a:off x="3799206" y="4884832"/>
                <a:ext cx="3417795" cy="567976"/>
              </a:xfrm>
              <a:prstGeom prst="rect">
                <a:avLst/>
              </a:prstGeom>
              <a:noFill/>
              <a:ln w="19050">
                <a:solidFill>
                  <a:srgbClr val="FF0000"/>
                </a:solidFill>
              </a:ln>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sSup>
                        <m:sSup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p>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sup>
                      </m:s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num>
                        <m:den>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num>
                        <m:den>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Δ</m:t>
                          </m:r>
                          <m:sSup>
                            <m:sSup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e>
                            <m:sup>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7" name="文本框 6">
                <a:extLst>
                  <a:ext uri="{FF2B5EF4-FFF2-40B4-BE49-F238E27FC236}">
                    <a16:creationId xmlns:a16="http://schemas.microsoft.com/office/drawing/2014/main" id="{1ED12CB5-E36C-40B4-B5E5-F34CD064126A}"/>
                  </a:ext>
                </a:extLst>
              </p:cNvPr>
              <p:cNvSpPr txBox="1">
                <a:spLocks noRot="1" noChangeAspect="1" noMove="1" noResize="1" noEditPoints="1" noAdjustHandles="1" noChangeArrowheads="1" noChangeShapeType="1" noTextEdit="1"/>
              </p:cNvSpPr>
              <p:nvPr/>
            </p:nvSpPr>
            <p:spPr>
              <a:xfrm>
                <a:off x="3799206" y="4884832"/>
                <a:ext cx="3417795" cy="567976"/>
              </a:xfrm>
              <a:prstGeom prst="rect">
                <a:avLst/>
              </a:prstGeom>
              <a:blipFill>
                <a:blip r:embed="rId4"/>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363359AE-0E0A-4DEC-9EF7-09D463A7515A}"/>
                  </a:ext>
                </a:extLst>
              </p:cNvPr>
              <p:cNvSpPr txBox="1"/>
              <p:nvPr/>
            </p:nvSpPr>
            <p:spPr>
              <a:xfrm>
                <a:off x="4212862" y="5791283"/>
                <a:ext cx="2590482" cy="537840"/>
              </a:xfrm>
              <a:prstGeom prst="rect">
                <a:avLst/>
              </a:prstGeom>
              <a:noFill/>
              <a:ln w="19050">
                <a:solidFill>
                  <a:srgbClr val="FF0000"/>
                </a:solidFill>
              </a:ln>
            </p:spPr>
            <p:txBody>
              <a:bodyPr wrap="square" lIns="0" tIns="0" rIns="0" bIns="0" rtlCol="0">
                <a:spAutoFit/>
              </a:bodyPr>
              <a:lstStyle/>
              <a:p>
                <a:pPr algn="ctr">
                  <a:lnSpc>
                    <a:spcPct val="150000"/>
                  </a:lnSpc>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ΔP=</a:t>
                </a:r>
                <a14:m>
                  <m:oMath xmlns:m="http://schemas.openxmlformats.org/officeDocument/2006/math">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9" name="文本框 8">
                <a:extLst>
                  <a:ext uri="{FF2B5EF4-FFF2-40B4-BE49-F238E27FC236}">
                    <a16:creationId xmlns:a16="http://schemas.microsoft.com/office/drawing/2014/main" id="{363359AE-0E0A-4DEC-9EF7-09D463A7515A}"/>
                  </a:ext>
                </a:extLst>
              </p:cNvPr>
              <p:cNvSpPr txBox="1">
                <a:spLocks noRot="1" noChangeAspect="1" noMove="1" noResize="1" noEditPoints="1" noAdjustHandles="1" noChangeArrowheads="1" noChangeShapeType="1" noTextEdit="1"/>
              </p:cNvSpPr>
              <p:nvPr/>
            </p:nvSpPr>
            <p:spPr>
              <a:xfrm>
                <a:off x="4212862" y="5791283"/>
                <a:ext cx="2590482" cy="537840"/>
              </a:xfrm>
              <a:prstGeom prst="rect">
                <a:avLst/>
              </a:prstGeom>
              <a:blipFill>
                <a:blip r:embed="rId5"/>
                <a:stretch>
                  <a:fillRect l="-3738" b="-13187"/>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841589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One-Factor Risk Metrics</a:t>
            </a:r>
          </a:p>
        </p:txBody>
      </p:sp>
      <p:sp>
        <p:nvSpPr>
          <p:cNvPr id="3" name="文本占位符 2"/>
          <p:cNvSpPr>
            <a:spLocks noGrp="1"/>
          </p:cNvSpPr>
          <p:nvPr>
            <p:ph type="body" sz="quarter" idx="10"/>
          </p:nvPr>
        </p:nvSpPr>
        <p:spPr>
          <a:xfrm>
            <a:off x="393599" y="813470"/>
            <a:ext cx="11404800" cy="4333718"/>
          </a:xfrm>
        </p:spPr>
        <p:txBody>
          <a:bodyPr>
            <a:normAutofit fontScale="85000" lnSpcReduction="20000"/>
          </a:bodyPr>
          <a:lstStyle/>
          <a:p>
            <a:pPr>
              <a:spcBef>
                <a:spcPct val="0"/>
              </a:spcBef>
            </a:pPr>
            <a:r>
              <a:rPr lang="en-US" altLang="zh-CN" dirty="0"/>
              <a:t>Convexity (cont’d)</a:t>
            </a:r>
          </a:p>
          <a:p>
            <a:pPr lvl="1">
              <a:spcBef>
                <a:spcPct val="0"/>
              </a:spcBef>
            </a:pPr>
            <a:r>
              <a:rPr lang="en-US" altLang="zh-CN" b="1" dirty="0"/>
              <a:t>Example: </a:t>
            </a:r>
            <a:r>
              <a:rPr lang="en-US" altLang="zh-CN" dirty="0"/>
              <a:t>Suppose there is a 10-year option-free noncallable bond with an annual coupon of 7% trading at par. If interest rates rise by 30 bps, estimated price is 97.922. If interest rates fall by 30 bps, estimated price is 102.137. Calculate the convexity of this bond.</a:t>
            </a:r>
          </a:p>
          <a:p>
            <a:pPr lvl="1">
              <a:spcBef>
                <a:spcPct val="0"/>
              </a:spcBef>
            </a:pPr>
            <a:endParaRPr lang="en-US" altLang="zh-CN" dirty="0"/>
          </a:p>
          <a:p>
            <a:pPr marL="363538" lvl="1" indent="0">
              <a:spcBef>
                <a:spcPct val="0"/>
              </a:spcBef>
              <a:buNone/>
            </a:pPr>
            <a:endParaRPr lang="en-US" altLang="zh-CN" dirty="0"/>
          </a:p>
          <a:p>
            <a:pPr lvl="1">
              <a:spcBef>
                <a:spcPct val="0"/>
              </a:spcBef>
            </a:pPr>
            <a:r>
              <a:rPr lang="en-US" altLang="zh-CN" b="1" dirty="0"/>
              <a:t>Example: </a:t>
            </a:r>
            <a:r>
              <a:rPr lang="en-US" altLang="zh-CN" dirty="0"/>
              <a:t>Estimate the effect of a 100 bps increase and decrease on a 10-year, 5%, option-free bond currently trading at par, using the duration/convexity approach with a duration of 7 and a convexity of 90.</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68175253-3040-42A4-A300-B795435E5B15}"/>
                  </a:ext>
                </a:extLst>
              </p:cNvPr>
              <p:cNvSpPr txBox="1"/>
              <p:nvPr/>
            </p:nvSpPr>
            <p:spPr>
              <a:xfrm>
                <a:off x="3537605" y="2980329"/>
                <a:ext cx="5116785" cy="610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Convexity</m:t>
                      </m:r>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102.137+97.922−2×100</m:t>
                          </m:r>
                        </m:num>
                        <m:den>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100×(0.003</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sup>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den>
                      </m:f>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=65.56</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68175253-3040-42A4-A300-B795435E5B15}"/>
                  </a:ext>
                </a:extLst>
              </p:cNvPr>
              <p:cNvSpPr txBox="1">
                <a:spLocks noRot="1" noChangeAspect="1" noMove="1" noResize="1" noEditPoints="1" noAdjustHandles="1" noChangeArrowheads="1" noChangeShapeType="1" noTextEdit="1"/>
              </p:cNvSpPr>
              <p:nvPr/>
            </p:nvSpPr>
            <p:spPr>
              <a:xfrm>
                <a:off x="3537605" y="2980329"/>
                <a:ext cx="5116785" cy="61068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79E2CF6B-0EC9-4C25-8A76-9D80C94F24F5}"/>
                  </a:ext>
                </a:extLst>
              </p:cNvPr>
              <p:cNvSpPr txBox="1"/>
              <p:nvPr/>
            </p:nvSpPr>
            <p:spPr>
              <a:xfrm>
                <a:off x="2567605" y="5322194"/>
                <a:ext cx="7056784" cy="95269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percentage</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bond</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price</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change</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duration</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effect</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convexity</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effect</m:t>
                      </m:r>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left"/>
                    </m:oMathParaPr>
                    <m:oMath xmlns:m="http://schemas.openxmlformats.org/officeDocument/2006/math">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B</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−7×100×0.01</m:t>
                          </m:r>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f>
                                <m:fPr>
                                  <m:type m:val="lin"/>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×90×100×</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0.01</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=−6.55</m:t>
                      </m:r>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left"/>
                    </m:oMathParaPr>
                    <m:oMath xmlns:m="http://schemas.openxmlformats.org/officeDocument/2006/math">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B</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y</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−7×100×</m:t>
                          </m:r>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−0.01</m:t>
                              </m:r>
                            </m:e>
                          </m:d>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f>
                                <m:fPr>
                                  <m:type m:val="lin"/>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×90×100×</m:t>
                          </m:r>
                          <m:sSup>
                            <m:sSup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(−0.01)</m:t>
                              </m:r>
                            </m:e>
                            <m: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=7.45</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6" name="文本框 5">
                <a:extLst>
                  <a:ext uri="{FF2B5EF4-FFF2-40B4-BE49-F238E27FC236}">
                    <a16:creationId xmlns:a16="http://schemas.microsoft.com/office/drawing/2014/main" id="{79E2CF6B-0EC9-4C25-8A76-9D80C94F24F5}"/>
                  </a:ext>
                </a:extLst>
              </p:cNvPr>
              <p:cNvSpPr txBox="1">
                <a:spLocks noRot="1" noChangeAspect="1" noMove="1" noResize="1" noEditPoints="1" noAdjustHandles="1" noChangeArrowheads="1" noChangeShapeType="1" noTextEdit="1"/>
              </p:cNvSpPr>
              <p:nvPr/>
            </p:nvSpPr>
            <p:spPr>
              <a:xfrm>
                <a:off x="2567605" y="5322194"/>
                <a:ext cx="7056784" cy="952697"/>
              </a:xfrm>
              <a:prstGeom prst="rect">
                <a:avLst/>
              </a:prstGeom>
              <a:blipFill>
                <a:blip r:embed="rId3"/>
                <a:stretch>
                  <a:fillRect l="-1382" t="-19872" r="-1209" b="-65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47343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One-Factor Risk Metrics</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Negative Convexity</a:t>
            </a:r>
          </a:p>
          <a:p>
            <a:pPr lvl="1">
              <a:spcBef>
                <a:spcPct val="0"/>
              </a:spcBef>
            </a:pPr>
            <a:r>
              <a:rPr lang="en-US" altLang="zh-CN" dirty="0"/>
              <a:t>Most </a:t>
            </a:r>
            <a:r>
              <a:rPr lang="en-US" altLang="zh-CN" u="sng" dirty="0"/>
              <a:t>mortgage bonds</a:t>
            </a:r>
            <a:r>
              <a:rPr lang="en-US" altLang="zh-CN" dirty="0"/>
              <a:t> are negatively convex, and </a:t>
            </a:r>
            <a:r>
              <a:rPr lang="en-US" altLang="zh-CN" u="sng" dirty="0"/>
              <a:t>callable bonds</a:t>
            </a:r>
            <a:r>
              <a:rPr lang="en-US" altLang="zh-CN" dirty="0"/>
              <a:t> usually </a:t>
            </a:r>
            <a:r>
              <a:rPr lang="en-US" altLang="zh-CN" u="sng" dirty="0"/>
              <a:t>exhibit negative convexity at lower yields</a:t>
            </a:r>
            <a:r>
              <a:rPr lang="en-US" altLang="zh-CN" dirty="0"/>
              <a:t>.</a:t>
            </a:r>
          </a:p>
          <a:p>
            <a:pPr lvl="1">
              <a:spcBef>
                <a:spcPct val="0"/>
              </a:spcBef>
            </a:pPr>
            <a:r>
              <a:rPr lang="en-US" altLang="zh-CN" dirty="0"/>
              <a:t>For example, with a callable bond, as interest rate fall, the incentive for the issuer to call the bond at par increases; therefore, its price will not rise as quickly as the price of a non-callable bond. This is why the shape of callable bond’s curve of price with respect to yield is concave or negatively convex.</a:t>
            </a:r>
          </a:p>
          <a:p>
            <a:pPr>
              <a:spcBef>
                <a:spcPct val="0"/>
              </a:spcBef>
            </a:pPr>
            <a:r>
              <a:rPr lang="en-US" altLang="zh-CN" dirty="0"/>
              <a:t>Portfolio Duration and Convexity</a:t>
            </a:r>
          </a:p>
          <a:p>
            <a:pPr lvl="1">
              <a:spcBef>
                <a:spcPct val="0"/>
              </a:spcBef>
            </a:pPr>
            <a:r>
              <a:rPr lang="en-US" altLang="zh-CN" dirty="0"/>
              <a:t>In regard to both modified (effective) duration and convexity, portfolio duration and convexity equal the </a:t>
            </a:r>
            <a:r>
              <a:rPr lang="en-US" altLang="zh-CN" u="sng" dirty="0"/>
              <a:t>weighted sum</a:t>
            </a:r>
            <a:r>
              <a:rPr lang="en-US" altLang="zh-CN" dirty="0"/>
              <a:t> of individual, respectively, durations and convexities where each component’s weight is its value as a percentage of portfolio value.</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778101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Multi-Factor Risk Metrics</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Key Rate Shifts</a:t>
            </a:r>
          </a:p>
          <a:p>
            <a:pPr lvl="1">
              <a:spcBef>
                <a:spcPct val="0"/>
              </a:spcBef>
            </a:pPr>
            <a:r>
              <a:rPr lang="en-US" altLang="zh-CN" dirty="0"/>
              <a:t>An approach take </a:t>
            </a:r>
            <a:r>
              <a:rPr lang="en-US" altLang="zh-CN" u="sng" dirty="0"/>
              <a:t>nonparallel shifts</a:t>
            </a:r>
            <a:r>
              <a:rPr lang="en-US" altLang="zh-CN" dirty="0"/>
              <a:t> into account.</a:t>
            </a:r>
          </a:p>
          <a:p>
            <a:pPr lvl="1">
              <a:spcBef>
                <a:spcPct val="0"/>
              </a:spcBef>
            </a:pPr>
            <a:r>
              <a:rPr lang="en-US" altLang="zh-CN" dirty="0"/>
              <a:t>Allowing that </a:t>
            </a:r>
            <a:r>
              <a:rPr lang="en-US" altLang="zh-CN" u="sng" dirty="0"/>
              <a:t>changes in all rates can be determined by changes from selected key rates</a:t>
            </a:r>
            <a:r>
              <a:rPr lang="en-US" altLang="zh-CN" dirty="0"/>
              <a:t>.</a:t>
            </a:r>
          </a:p>
          <a:p>
            <a:pPr lvl="1">
              <a:spcBef>
                <a:spcPct val="0"/>
              </a:spcBef>
            </a:pPr>
            <a:r>
              <a:rPr lang="en-US" altLang="zh-CN" dirty="0"/>
              <a:t> </a:t>
            </a:r>
            <a:r>
              <a:rPr lang="en-US" altLang="zh-CN" u="sng" dirty="0"/>
              <a:t>A few rates along the term-structure are picked which are representative of the curve</a:t>
            </a:r>
            <a:r>
              <a:rPr lang="en-US" altLang="zh-CN" dirty="0"/>
              <a:t>.</a:t>
            </a:r>
          </a:p>
          <a:p>
            <a:pPr lvl="1">
              <a:spcBef>
                <a:spcPct val="0"/>
              </a:spcBef>
            </a:pPr>
            <a:r>
              <a:rPr lang="en-US" altLang="zh-CN" u="sng" dirty="0"/>
              <a:t>Shifts in the key-rates are decline linearly</a:t>
            </a:r>
            <a:r>
              <a:rPr lang="en-US" altLang="zh-CN" dirty="0"/>
              <a:t>.</a:t>
            </a:r>
          </a:p>
          <a:p>
            <a:pPr lvl="1">
              <a:spcBef>
                <a:spcPct val="0"/>
              </a:spcBef>
            </a:pPr>
            <a:r>
              <a:rPr lang="en-US" altLang="zh-CN" u="sng" dirty="0"/>
              <a:t>The rate of a given maturity is affected solely by its closest key-rate</a:t>
            </a:r>
            <a:r>
              <a:rPr lang="en-US" altLang="zh-CN" dirty="0"/>
              <a:t>. </a:t>
            </a:r>
          </a:p>
          <a:p>
            <a:pPr>
              <a:spcBef>
                <a:spcPct val="0"/>
              </a:spcBef>
            </a:pPr>
            <a:r>
              <a:rPr lang="en-US" altLang="zh-CN" dirty="0"/>
              <a:t>Key Rate Duration</a:t>
            </a:r>
          </a:p>
          <a:p>
            <a:pPr lvl="1">
              <a:spcBef>
                <a:spcPct val="0"/>
              </a:spcBef>
            </a:pPr>
            <a:r>
              <a:rPr lang="en-US" altLang="zh-CN" dirty="0"/>
              <a:t>Which is the key rate equivalent of </a:t>
            </a:r>
            <a:r>
              <a:rPr lang="en-US" altLang="zh-CN" u="sng" dirty="0"/>
              <a:t>durations</a:t>
            </a:r>
            <a:r>
              <a:rPr lang="en-US" altLang="zh-CN" dirty="0"/>
              <a:t>.</a:t>
            </a:r>
          </a:p>
          <a:p>
            <a:pPr>
              <a:spcBef>
                <a:spcPct val="0"/>
              </a:spcBef>
            </a:pPr>
            <a:r>
              <a:rPr lang="en-US" altLang="zh-CN" dirty="0"/>
              <a:t>Key Rate 01s</a:t>
            </a:r>
          </a:p>
          <a:p>
            <a:pPr lvl="1">
              <a:spcBef>
                <a:spcPct val="0"/>
              </a:spcBef>
            </a:pPr>
            <a:r>
              <a:rPr lang="en-US" altLang="zh-CN" dirty="0"/>
              <a:t>Which is the key rate equivalent of </a:t>
            </a:r>
            <a:r>
              <a:rPr lang="en-US" altLang="zh-CN" u="sng" dirty="0"/>
              <a:t>DV01</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5608070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1</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MTGE4. MTGE7. MTGE10 are mortgage-backed securities (MBS) that pay 4%. 7%. and 10% coupons, respectively prevailing mortgage rates are 10% Assuming these securities have the same maturity and coupon frequency, which of the following is correct?</a:t>
            </a:r>
          </a:p>
          <a:p>
            <a:pPr lvl="1">
              <a:spcBef>
                <a:spcPct val="0"/>
              </a:spcBef>
              <a:buFont typeface="Calibri" panose="020F0502020204030204" pitchFamily="34" charset="0"/>
              <a:buAutoNum type="alphaUcPeriod"/>
            </a:pPr>
            <a:r>
              <a:rPr lang="en-US" altLang="zh-CN" dirty="0"/>
              <a:t>In most cases, convexity is sufficient to approximate MBS price changes resulting from yield changes for purpose of estimating </a:t>
            </a:r>
            <a:r>
              <a:rPr lang="en-US" altLang="zh-CN" dirty="0" err="1"/>
              <a:t>VaR.</a:t>
            </a:r>
            <a:endParaRPr lang="en-US" altLang="zh-CN" dirty="0"/>
          </a:p>
          <a:p>
            <a:pPr lvl="1">
              <a:spcBef>
                <a:spcPct val="0"/>
              </a:spcBef>
              <a:buFont typeface="Calibri" panose="020F0502020204030204" pitchFamily="34" charset="0"/>
              <a:buAutoNum type="alphaUcPeriod"/>
            </a:pPr>
            <a:r>
              <a:rPr lang="en-US" altLang="zh-CN" dirty="0"/>
              <a:t>In most cases, duration is sufficient to approximate MBS price changes resulting from yield changes for purpose of estimating </a:t>
            </a:r>
            <a:r>
              <a:rPr lang="en-US" altLang="zh-CN" dirty="0" err="1"/>
              <a:t>VaR.</a:t>
            </a:r>
            <a:endParaRPr lang="en-US" altLang="zh-CN" dirty="0"/>
          </a:p>
          <a:p>
            <a:pPr lvl="1">
              <a:spcBef>
                <a:spcPct val="0"/>
              </a:spcBef>
              <a:buFont typeface="Calibri" panose="020F0502020204030204" pitchFamily="34" charset="0"/>
              <a:buAutoNum type="alphaUcPeriod"/>
            </a:pPr>
            <a:r>
              <a:rPr lang="en-US" altLang="zh-CN" dirty="0"/>
              <a:t>The Optionality embedded in a MBS makes the implementation of the duration-convexity method less appropriate the purpose of estimating </a:t>
            </a:r>
            <a:r>
              <a:rPr lang="en-US" altLang="zh-CN" dirty="0" err="1"/>
              <a:t>VaR.</a:t>
            </a:r>
            <a:endParaRPr lang="en-US" altLang="zh-CN" dirty="0"/>
          </a:p>
          <a:p>
            <a:pPr lvl="1">
              <a:spcBef>
                <a:spcPct val="0"/>
              </a:spcBef>
              <a:buFont typeface="Calibri" panose="020F0502020204030204" pitchFamily="34" charset="0"/>
              <a:buAutoNum type="alphaUcPeriod"/>
            </a:pPr>
            <a:r>
              <a:rPr lang="en-US" altLang="zh-CN" dirty="0"/>
              <a:t>As rates fall, MTGE10 price change approximations using the duration-convexity method are likely to be better than MTGE4 price change approximations.</a:t>
            </a:r>
          </a:p>
          <a:p>
            <a:pPr>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483110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2</a:t>
            </a:r>
          </a:p>
        </p:txBody>
      </p:sp>
      <p:sp>
        <p:nvSpPr>
          <p:cNvPr id="3" name="文本占位符 2"/>
          <p:cNvSpPr>
            <a:spLocks noGrp="1"/>
          </p:cNvSpPr>
          <p:nvPr>
            <p:ph type="body" sz="quarter" idx="10"/>
          </p:nvPr>
        </p:nvSpPr>
        <p:spPr/>
        <p:txBody>
          <a:bodyPr>
            <a:normAutofit fontScale="92500" lnSpcReduction="10000"/>
          </a:bodyPr>
          <a:lstStyle/>
          <a:p>
            <a:pPr>
              <a:lnSpc>
                <a:spcPct val="140000"/>
              </a:lnSpc>
              <a:defRPr/>
            </a:pPr>
            <a:r>
              <a:rPr lang="en-US" altLang="zh-CN" dirty="0"/>
              <a:t>The following table provides the initial price of a C-STRIP and its present value after application of a one basis shift in three key rates.</a:t>
            </a:r>
          </a:p>
          <a:p>
            <a:pPr>
              <a:lnSpc>
                <a:spcPct val="140000"/>
              </a:lnSpc>
              <a:defRPr/>
            </a:pPr>
            <a:endParaRPr lang="en-US" altLang="zh-CN" dirty="0"/>
          </a:p>
          <a:p>
            <a:pPr>
              <a:lnSpc>
                <a:spcPct val="140000"/>
              </a:lnSpc>
              <a:defRPr/>
            </a:pPr>
            <a:endParaRPr lang="en-US" altLang="zh-CN" dirty="0"/>
          </a:p>
          <a:p>
            <a:pPr>
              <a:lnSpc>
                <a:spcPct val="140000"/>
              </a:lnSpc>
              <a:defRPr/>
            </a:pPr>
            <a:endParaRPr lang="en-US" altLang="zh-CN" dirty="0"/>
          </a:p>
          <a:p>
            <a:pPr>
              <a:lnSpc>
                <a:spcPct val="140000"/>
              </a:lnSpc>
              <a:defRPr/>
            </a:pPr>
            <a:endParaRPr lang="en-US" altLang="zh-CN" dirty="0"/>
          </a:p>
          <a:p>
            <a:pPr>
              <a:lnSpc>
                <a:spcPct val="140000"/>
              </a:lnSpc>
              <a:defRPr/>
            </a:pPr>
            <a:endParaRPr lang="en-US" altLang="zh-CN" dirty="0"/>
          </a:p>
          <a:p>
            <a:pPr marL="857250" lvl="1" indent="-457200">
              <a:lnSpc>
                <a:spcPct val="140000"/>
              </a:lnSpc>
              <a:buFont typeface="+mj-ea"/>
              <a:buAutoNum type="circleNumDbPlain"/>
              <a:defRPr/>
            </a:pPr>
            <a:r>
              <a:rPr lang="en-US" altLang="zh-CN" dirty="0"/>
              <a:t>What is the key rate ’01 for a 10-year shift? </a:t>
            </a:r>
          </a:p>
          <a:p>
            <a:pPr marL="857250" lvl="2" indent="0">
              <a:lnSpc>
                <a:spcPct val="140000"/>
              </a:lnSpc>
              <a:buNone/>
              <a:defRPr/>
            </a:pPr>
            <a:r>
              <a:rPr lang="en-US" altLang="zh-CN" dirty="0"/>
              <a:t>A. 0.014	 B. 0.016	       C. 0.303	D. 0.049</a:t>
            </a:r>
          </a:p>
          <a:p>
            <a:pPr marL="857250" lvl="1" indent="-457200">
              <a:lnSpc>
                <a:spcPct val="140000"/>
              </a:lnSpc>
              <a:buFont typeface="+mj-ea"/>
              <a:buAutoNum type="circleNumDbPlain"/>
              <a:defRPr/>
            </a:pPr>
            <a:r>
              <a:rPr lang="en-US" altLang="zh-CN" dirty="0"/>
              <a:t>What is the key-rate duration for a 10-year shift?</a:t>
            </a:r>
          </a:p>
          <a:p>
            <a:pPr marL="857250" lvl="2" indent="0">
              <a:lnSpc>
                <a:spcPct val="140000"/>
              </a:lnSpc>
              <a:buNone/>
              <a:defRPr/>
            </a:pPr>
            <a:r>
              <a:rPr lang="en-US" altLang="zh-CN" dirty="0"/>
              <a:t>A. 20.31    B. 23.450	        C. 19.60	D. 36.14</a:t>
            </a:r>
          </a:p>
          <a:p>
            <a:pPr marL="400050">
              <a:lnSpc>
                <a:spcPct val="140000"/>
              </a:lnSpc>
              <a:defRPr/>
            </a:pPr>
            <a:r>
              <a:rPr lang="en-US" altLang="zh-CN" dirty="0"/>
              <a:t>Correct Answer</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877CA1AE-A5EE-4AC8-8218-A50DF99F1891}"/>
              </a:ext>
            </a:extLst>
          </p:cNvPr>
          <p:cNvPicPr>
            <a:picLocks noChangeAspect="1"/>
          </p:cNvPicPr>
          <p:nvPr/>
        </p:nvPicPr>
        <p:blipFill>
          <a:blip r:embed="rId2"/>
          <a:stretch>
            <a:fillRect/>
          </a:stretch>
        </p:blipFill>
        <p:spPr>
          <a:xfrm>
            <a:off x="3581181" y="2015137"/>
            <a:ext cx="5029636" cy="1883827"/>
          </a:xfrm>
          <a:prstGeom prst="rect">
            <a:avLst/>
          </a:prstGeom>
        </p:spPr>
      </p:pic>
    </p:spTree>
    <p:extLst>
      <p:ext uri="{BB962C8B-B14F-4D97-AF65-F5344CB8AC3E}">
        <p14:creationId xmlns:p14="http://schemas.microsoft.com/office/powerpoint/2010/main" val="864350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3</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An underlying exposure has a 5-year key-rate ’01 of +$23,970. If this key rate exposure can be hedged by trading five-year bond that itself has a 5-year key rate ’01 of $0.048 per 100 face amount, what is the hedge trade?</a:t>
            </a:r>
          </a:p>
          <a:p>
            <a:pPr lvl="1">
              <a:lnSpc>
                <a:spcPct val="140000"/>
              </a:lnSpc>
              <a:spcBef>
                <a:spcPct val="0"/>
              </a:spcBef>
              <a:buFont typeface="Calibri" panose="020F0502020204030204" pitchFamily="34" charset="0"/>
              <a:buAutoNum type="alphaUcPeriod"/>
            </a:pPr>
            <a:r>
              <a:rPr lang="en-US" altLang="zh-CN" dirty="0"/>
              <a:t>Buy $499.375 in face amount</a:t>
            </a:r>
          </a:p>
          <a:p>
            <a:pPr lvl="1">
              <a:lnSpc>
                <a:spcPct val="140000"/>
              </a:lnSpc>
              <a:spcBef>
                <a:spcPct val="0"/>
              </a:spcBef>
              <a:buFont typeface="Calibri" panose="020F0502020204030204" pitchFamily="34" charset="0"/>
              <a:buAutoNum type="alphaUcPeriod"/>
            </a:pPr>
            <a:r>
              <a:rPr lang="en-US" altLang="zh-CN" dirty="0"/>
              <a:t>But $49.94 million in face amount</a:t>
            </a:r>
          </a:p>
          <a:p>
            <a:pPr lvl="1">
              <a:lnSpc>
                <a:spcPct val="140000"/>
              </a:lnSpc>
              <a:spcBef>
                <a:spcPct val="0"/>
              </a:spcBef>
              <a:buFont typeface="Calibri" panose="020F0502020204030204" pitchFamily="34" charset="0"/>
              <a:buAutoNum type="alphaUcPeriod"/>
            </a:pPr>
            <a:r>
              <a:rPr lang="en-US" altLang="zh-CN" dirty="0"/>
              <a:t>Sell $499.375 in face amount</a:t>
            </a:r>
          </a:p>
          <a:p>
            <a:pPr lvl="1">
              <a:lnSpc>
                <a:spcPct val="140000"/>
              </a:lnSpc>
              <a:spcBef>
                <a:spcPct val="0"/>
              </a:spcBef>
              <a:buFont typeface="Calibri" panose="020F0502020204030204" pitchFamily="34" charset="0"/>
              <a:buAutoNum type="alphaUcPeriod"/>
            </a:pPr>
            <a:r>
              <a:rPr lang="en-US" altLang="zh-CN" dirty="0"/>
              <a:t>Sell $49.94 million in face amount</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D</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174765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754798"/>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Options</a:t>
              </a:r>
              <a:r>
                <a:rPr lang="zh-CN" altLang="en-US" sz="2400" b="1" dirty="0">
                  <a:solidFill>
                    <a:schemeClr val="tx1">
                      <a:lumMod val="75000"/>
                      <a:lumOff val="25000"/>
                    </a:schemeClr>
                  </a:solidFill>
                </a:rPr>
                <a:t>：</a:t>
              </a:r>
              <a:endParaRPr lang="en-US" altLang="zh-CN" sz="2400" b="1" dirty="0">
                <a:solidFill>
                  <a:schemeClr val="tx1">
                    <a:lumMod val="75000"/>
                    <a:lumOff val="25000"/>
                  </a:schemeClr>
                </a:solidFill>
              </a:endParaRPr>
            </a:p>
            <a:p>
              <a:pPr lvl="0" algn="ctr">
                <a:defRPr/>
              </a:pPr>
              <a:r>
                <a:rPr lang="en-US" altLang="zh-CN" sz="2400" b="1" dirty="0">
                  <a:solidFill>
                    <a:schemeClr val="tx1">
                      <a:lumMod val="75000"/>
                      <a:lumOff val="25000"/>
                    </a:schemeClr>
                  </a:solidFill>
                </a:rPr>
                <a:t>Valuation</a:t>
              </a:r>
            </a:p>
          </p:txBody>
        </p:sp>
      </p:grpSp>
    </p:spTree>
    <p:extLst>
      <p:ext uri="{BB962C8B-B14F-4D97-AF65-F5344CB8AC3E}">
        <p14:creationId xmlns:p14="http://schemas.microsoft.com/office/powerpoint/2010/main" val="1284881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Binomial Trees</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Black-Scholes-Merton Model</a:t>
            </a: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2046105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Binomial Trees</a:t>
            </a:r>
          </a:p>
        </p:txBody>
      </p:sp>
      <p:sp>
        <p:nvSpPr>
          <p:cNvPr id="3" name="文本占位符 2"/>
          <p:cNvSpPr>
            <a:spLocks noGrp="1"/>
          </p:cNvSpPr>
          <p:nvPr>
            <p:ph type="body" sz="quarter" idx="10"/>
          </p:nvPr>
        </p:nvSpPr>
        <p:spPr>
          <a:xfrm>
            <a:off x="393599" y="813469"/>
            <a:ext cx="11404800" cy="2615531"/>
          </a:xfrm>
        </p:spPr>
        <p:txBody>
          <a:bodyPr>
            <a:normAutofit fontScale="85000" lnSpcReduction="20000"/>
          </a:bodyPr>
          <a:lstStyle/>
          <a:p>
            <a:pPr>
              <a:spcBef>
                <a:spcPct val="0"/>
              </a:spcBef>
            </a:pPr>
            <a:r>
              <a:rPr lang="en-US" altLang="zh-CN" dirty="0"/>
              <a:t>Binomial Trees</a:t>
            </a:r>
          </a:p>
          <a:p>
            <a:pPr lvl="1">
              <a:spcBef>
                <a:spcPct val="0"/>
              </a:spcBef>
            </a:pPr>
            <a:r>
              <a:rPr lang="en-US" altLang="zh-CN" b="1" dirty="0"/>
              <a:t>Assumption</a:t>
            </a:r>
          </a:p>
          <a:p>
            <a:pPr lvl="2">
              <a:spcBef>
                <a:spcPct val="0"/>
              </a:spcBef>
            </a:pPr>
            <a:r>
              <a:rPr lang="en-US" altLang="zh-CN" u="sng" dirty="0"/>
              <a:t>The stock price follows geometric Brownian motion </a:t>
            </a:r>
          </a:p>
          <a:p>
            <a:pPr lvl="2">
              <a:spcBef>
                <a:spcPct val="0"/>
              </a:spcBef>
            </a:pPr>
            <a:r>
              <a:rPr lang="en-US" altLang="zh-CN" u="sng" dirty="0"/>
              <a:t>Risk neutral; </a:t>
            </a:r>
          </a:p>
          <a:p>
            <a:pPr lvl="2">
              <a:spcBef>
                <a:spcPct val="0"/>
              </a:spcBef>
            </a:pPr>
            <a:r>
              <a:rPr lang="en-US" altLang="zh-CN" u="sng" dirty="0"/>
              <a:t>u=1/d; </a:t>
            </a:r>
          </a:p>
          <a:p>
            <a:pPr lvl="1">
              <a:spcBef>
                <a:spcPct val="0"/>
              </a:spcBef>
            </a:pPr>
            <a:r>
              <a:rPr lang="en-US" altLang="zh-CN" b="1" dirty="0"/>
              <a:t>One-Step Binomial Model</a:t>
            </a:r>
          </a:p>
          <a:p>
            <a:pPr>
              <a:spcBef>
                <a:spcPct val="0"/>
              </a:spcBef>
            </a:pPr>
            <a:endParaRPr lang="en-US" altLang="zh-CN" dirty="0"/>
          </a:p>
          <a:p>
            <a:endParaRPr lang="en-US" altLang="zh-CN" dirty="0">
              <a:latin typeface="+mn-lt"/>
              <a:ea typeface="+mn-ea"/>
              <a:cs typeface="+mn-ea"/>
              <a:sym typeface="+mn-lt"/>
            </a:endParaRPr>
          </a:p>
        </p:txBody>
      </p:sp>
      <p:grpSp>
        <p:nvGrpSpPr>
          <p:cNvPr id="4" name="组合 3">
            <a:extLst>
              <a:ext uri="{FF2B5EF4-FFF2-40B4-BE49-F238E27FC236}">
                <a16:creationId xmlns:a16="http://schemas.microsoft.com/office/drawing/2014/main" id="{F438CDDA-FA1A-4B03-B56F-D28AD9AE840D}"/>
              </a:ext>
            </a:extLst>
          </p:cNvPr>
          <p:cNvGrpSpPr>
            <a:grpSpLocks/>
          </p:cNvGrpSpPr>
          <p:nvPr/>
        </p:nvGrpSpPr>
        <p:grpSpPr bwMode="auto">
          <a:xfrm>
            <a:off x="2676525" y="3429000"/>
            <a:ext cx="6838950" cy="2384425"/>
            <a:chOff x="288067" y="0"/>
            <a:chExt cx="6839759" cy="2385753"/>
          </a:xfrm>
        </p:grpSpPr>
        <p:sp>
          <p:nvSpPr>
            <p:cNvPr id="5" name="文本框 4">
              <a:extLst>
                <a:ext uri="{FF2B5EF4-FFF2-40B4-BE49-F238E27FC236}">
                  <a16:creationId xmlns:a16="http://schemas.microsoft.com/office/drawing/2014/main" id="{236ABA73-742E-4859-9A8D-F1A0636CD39A}"/>
                </a:ext>
              </a:extLst>
            </p:cNvPr>
            <p:cNvSpPr txBox="1">
              <a:spLocks noChangeArrowheads="1"/>
            </p:cNvSpPr>
            <p:nvPr/>
          </p:nvSpPr>
          <p:spPr bwMode="auto">
            <a:xfrm>
              <a:off x="288067" y="744701"/>
              <a:ext cx="1781850" cy="729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Stock Price = S</a:t>
              </a:r>
              <a:r>
                <a:rPr lang="en-US" altLang="zh-CN" sz="1800" b="0" baseline="-25000" dirty="0">
                  <a:solidFill>
                    <a:srgbClr val="2C3E50"/>
                  </a:solidFill>
                  <a:latin typeface="Segoe UI" panose="020B0502040204020203" pitchFamily="34" charset="0"/>
                  <a:cs typeface="Segoe UI" panose="020B0502040204020203" pitchFamily="34" charset="0"/>
                </a:rPr>
                <a:t>0</a:t>
              </a:r>
            </a:p>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Option Price f</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6" name="椭圆 5">
              <a:extLst>
                <a:ext uri="{FF2B5EF4-FFF2-40B4-BE49-F238E27FC236}">
                  <a16:creationId xmlns:a16="http://schemas.microsoft.com/office/drawing/2014/main" id="{6F1BEF50-4842-4C8A-869E-13EB1F86F6DC}"/>
                </a:ext>
              </a:extLst>
            </p:cNvPr>
            <p:cNvSpPr>
              <a:spLocks noChangeArrowheads="1"/>
            </p:cNvSpPr>
            <p:nvPr/>
          </p:nvSpPr>
          <p:spPr bwMode="auto">
            <a:xfrm>
              <a:off x="2375177" y="1055971"/>
              <a:ext cx="176233" cy="176260"/>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7" name="椭圆 6">
              <a:extLst>
                <a:ext uri="{FF2B5EF4-FFF2-40B4-BE49-F238E27FC236}">
                  <a16:creationId xmlns:a16="http://schemas.microsoft.com/office/drawing/2014/main" id="{02689BA6-ECE7-4DD8-B239-A4872B9F2A1E}"/>
                </a:ext>
              </a:extLst>
            </p:cNvPr>
            <p:cNvSpPr>
              <a:spLocks noChangeArrowheads="1"/>
            </p:cNvSpPr>
            <p:nvPr/>
          </p:nvSpPr>
          <p:spPr bwMode="auto">
            <a:xfrm>
              <a:off x="4536016" y="312821"/>
              <a:ext cx="176234" cy="17467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8" name="椭圆 7">
              <a:extLst>
                <a:ext uri="{FF2B5EF4-FFF2-40B4-BE49-F238E27FC236}">
                  <a16:creationId xmlns:a16="http://schemas.microsoft.com/office/drawing/2014/main" id="{31F4EFA3-6084-4C02-B556-0CF676DE7CBB}"/>
                </a:ext>
              </a:extLst>
            </p:cNvPr>
            <p:cNvSpPr>
              <a:spLocks noChangeArrowheads="1"/>
            </p:cNvSpPr>
            <p:nvPr/>
          </p:nvSpPr>
          <p:spPr bwMode="auto">
            <a:xfrm>
              <a:off x="4536016" y="1969029"/>
              <a:ext cx="176234" cy="17467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cxnSp>
          <p:nvCxnSpPr>
            <p:cNvPr id="9" name="直接箭头连接符 8">
              <a:extLst>
                <a:ext uri="{FF2B5EF4-FFF2-40B4-BE49-F238E27FC236}">
                  <a16:creationId xmlns:a16="http://schemas.microsoft.com/office/drawing/2014/main" id="{DB18FE65-85E8-44DE-B049-E618D1D3C406}"/>
                </a:ext>
              </a:extLst>
            </p:cNvPr>
            <p:cNvCxnSpPr>
              <a:cxnSpLocks noChangeShapeType="1"/>
              <a:stCxn id="6" idx="6"/>
              <a:endCxn id="7" idx="3"/>
            </p:cNvCxnSpPr>
            <p:nvPr/>
          </p:nvCxnSpPr>
          <p:spPr bwMode="auto">
            <a:xfrm flipV="1">
              <a:off x="2552110" y="462220"/>
              <a:ext cx="2011601" cy="683005"/>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10" name="直接箭头连接符 9">
              <a:extLst>
                <a:ext uri="{FF2B5EF4-FFF2-40B4-BE49-F238E27FC236}">
                  <a16:creationId xmlns:a16="http://schemas.microsoft.com/office/drawing/2014/main" id="{CFA57085-8CB6-40AA-B74E-3B24D42C7420}"/>
                </a:ext>
              </a:extLst>
            </p:cNvPr>
            <p:cNvCxnSpPr>
              <a:cxnSpLocks noChangeShapeType="1"/>
              <a:stCxn id="6" idx="6"/>
              <a:endCxn id="8" idx="1"/>
            </p:cNvCxnSpPr>
            <p:nvPr/>
          </p:nvCxnSpPr>
          <p:spPr bwMode="auto">
            <a:xfrm>
              <a:off x="2552110" y="1145225"/>
              <a:ext cx="2011601" cy="849785"/>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11" name="文本框 10">
              <a:extLst>
                <a:ext uri="{FF2B5EF4-FFF2-40B4-BE49-F238E27FC236}">
                  <a16:creationId xmlns:a16="http://schemas.microsoft.com/office/drawing/2014/main" id="{3888CA01-F205-477B-AB75-8C4AD73B6A70}"/>
                </a:ext>
              </a:extLst>
            </p:cNvPr>
            <p:cNvSpPr txBox="1">
              <a:spLocks noChangeArrowheads="1"/>
            </p:cNvSpPr>
            <p:nvPr/>
          </p:nvSpPr>
          <p:spPr bwMode="auto">
            <a:xfrm>
              <a:off x="4913885" y="0"/>
              <a:ext cx="2140195" cy="729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u</a:t>
              </a:r>
            </a:p>
            <a:p>
              <a:pPr>
                <a:spcBef>
                  <a:spcPct val="30000"/>
                </a:spcBef>
                <a:buClr>
                  <a:srgbClr val="800000"/>
                </a:buClr>
                <a:buSzPct val="80000"/>
                <a:buFont typeface="Wingdings" panose="05000000000000000000" pitchFamily="2" charset="2"/>
                <a:buNone/>
              </a:pPr>
              <a:r>
                <a:rPr lang="en-US" altLang="zh-CN" sz="1800" b="0" dirty="0" err="1">
                  <a:solidFill>
                    <a:srgbClr val="2C3E50"/>
                  </a:solidFill>
                  <a:latin typeface="Segoe UI" panose="020B0502040204020203" pitchFamily="34" charset="0"/>
                  <a:cs typeface="Segoe UI" panose="020B0502040204020203" pitchFamily="34" charset="0"/>
                </a:rPr>
                <a:t>f</a:t>
              </a:r>
              <a:r>
                <a:rPr lang="en-US" altLang="zh-CN" sz="1800" b="0" baseline="-25000" dirty="0" err="1">
                  <a:solidFill>
                    <a:srgbClr val="2C3E50"/>
                  </a:solidFill>
                  <a:latin typeface="Segoe UI" panose="020B0502040204020203" pitchFamily="34" charset="0"/>
                  <a:cs typeface="Segoe UI" panose="020B0502040204020203" pitchFamily="34" charset="0"/>
                </a:rPr>
                <a:t>u</a:t>
              </a:r>
              <a:r>
                <a:rPr lang="en-US" altLang="zh-CN" sz="1800" b="0" dirty="0">
                  <a:solidFill>
                    <a:srgbClr val="2C3E50"/>
                  </a:solidFill>
                  <a:latin typeface="Segoe UI" panose="020B0502040204020203" pitchFamily="34" charset="0"/>
                  <a:cs typeface="Segoe UI" panose="020B0502040204020203" pitchFamily="34" charset="0"/>
                </a:rPr>
                <a:t> = max(S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u – K, 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2" name="文本框 11">
              <a:extLst>
                <a:ext uri="{FF2B5EF4-FFF2-40B4-BE49-F238E27FC236}">
                  <a16:creationId xmlns:a16="http://schemas.microsoft.com/office/drawing/2014/main" id="{07C0B45B-53D7-40A6-9048-074BC9E51F3F}"/>
                </a:ext>
              </a:extLst>
            </p:cNvPr>
            <p:cNvSpPr txBox="1">
              <a:spLocks noChangeArrowheads="1"/>
            </p:cNvSpPr>
            <p:nvPr/>
          </p:nvSpPr>
          <p:spPr bwMode="auto">
            <a:xfrm>
              <a:off x="4913885" y="1656127"/>
              <a:ext cx="2213941" cy="729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d</a:t>
              </a:r>
            </a:p>
            <a:p>
              <a:pPr>
                <a:spcBef>
                  <a:spcPct val="30000"/>
                </a:spcBef>
                <a:buClr>
                  <a:srgbClr val="800000"/>
                </a:buClr>
                <a:buSzPct val="80000"/>
                <a:buFont typeface="Wingdings" panose="05000000000000000000" pitchFamily="2" charset="2"/>
                <a:buNone/>
              </a:pPr>
              <a:r>
                <a:rPr lang="en-US" altLang="zh-CN" sz="1800" b="0" dirty="0" err="1">
                  <a:solidFill>
                    <a:srgbClr val="2C3E50"/>
                  </a:solidFill>
                  <a:latin typeface="Segoe UI" panose="020B0502040204020203" pitchFamily="34" charset="0"/>
                  <a:cs typeface="Segoe UI" panose="020B0502040204020203" pitchFamily="34" charset="0"/>
                </a:rPr>
                <a:t>f</a:t>
              </a:r>
              <a:r>
                <a:rPr lang="en-US" altLang="zh-CN" sz="1800" b="0" baseline="-25000" dirty="0" err="1">
                  <a:solidFill>
                    <a:srgbClr val="2C3E50"/>
                  </a:solidFill>
                  <a:latin typeface="Segoe UI" panose="020B0502040204020203" pitchFamily="34" charset="0"/>
                  <a:cs typeface="Segoe UI" panose="020B0502040204020203" pitchFamily="34" charset="0"/>
                </a:rPr>
                <a:t>d</a:t>
              </a:r>
              <a:r>
                <a:rPr lang="en-US" altLang="zh-CN" sz="1800" b="0" dirty="0">
                  <a:solidFill>
                    <a:srgbClr val="2C3E50"/>
                  </a:solidFill>
                  <a:latin typeface="Segoe UI" panose="020B0502040204020203" pitchFamily="34" charset="0"/>
                  <a:cs typeface="Segoe UI" panose="020B0502040204020203" pitchFamily="34" charset="0"/>
                </a:rPr>
                <a:t> = max(S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d – K, 0) </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3" name="文本框 12">
              <a:extLst>
                <a:ext uri="{FF2B5EF4-FFF2-40B4-BE49-F238E27FC236}">
                  <a16:creationId xmlns:a16="http://schemas.microsoft.com/office/drawing/2014/main" id="{D3779325-0A0B-4DEB-A336-865F421CEC11}"/>
                </a:ext>
              </a:extLst>
            </p:cNvPr>
            <p:cNvSpPr txBox="1">
              <a:spLocks noChangeArrowheads="1"/>
            </p:cNvSpPr>
            <p:nvPr/>
          </p:nvSpPr>
          <p:spPr bwMode="auto">
            <a:xfrm>
              <a:off x="3327788" y="392198"/>
              <a:ext cx="320959" cy="369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p</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文本框 13">
              <a:extLst>
                <a:ext uri="{FF2B5EF4-FFF2-40B4-BE49-F238E27FC236}">
                  <a16:creationId xmlns:a16="http://schemas.microsoft.com/office/drawing/2014/main" id="{6B8542D7-3553-40FE-87CB-530EE144BEE0}"/>
                </a:ext>
              </a:extLst>
            </p:cNvPr>
            <p:cNvSpPr txBox="1">
              <a:spLocks noChangeArrowheads="1"/>
            </p:cNvSpPr>
            <p:nvPr/>
          </p:nvSpPr>
          <p:spPr bwMode="auto">
            <a:xfrm>
              <a:off x="3115038" y="1568796"/>
              <a:ext cx="686486" cy="369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1 – p</a:t>
              </a:r>
              <a:endParaRPr lang="zh-CN" altLang="en-US" sz="1800" b="0">
                <a:solidFill>
                  <a:srgbClr val="2C3E50"/>
                </a:solidFill>
                <a:latin typeface="Segoe UI" panose="020B0502040204020203" pitchFamily="34" charset="0"/>
                <a:cs typeface="Segoe UI" panose="020B0502040204020203" pitchFamily="34" charset="0"/>
              </a:endParaRPr>
            </a:p>
          </p:txBody>
        </p:sp>
      </p:grpSp>
      <mc:AlternateContent xmlns:mc="http://schemas.openxmlformats.org/markup-compatibility/2006">
        <mc:Choice xmlns:a14="http://schemas.microsoft.com/office/drawing/2010/main" Requires="a14">
          <p:sp>
            <p:nvSpPr>
              <p:cNvPr id="15" name="矩形 14">
                <a:extLst>
                  <a:ext uri="{FF2B5EF4-FFF2-40B4-BE49-F238E27FC236}">
                    <a16:creationId xmlns:a16="http://schemas.microsoft.com/office/drawing/2014/main" id="{0943D79C-5DA8-4C78-9E83-65EEE8E1E0B2}"/>
                  </a:ext>
                </a:extLst>
              </p:cNvPr>
              <p:cNvSpPr/>
              <p:nvPr/>
            </p:nvSpPr>
            <p:spPr>
              <a:xfrm>
                <a:off x="2300216" y="5844137"/>
                <a:ext cx="7900240" cy="544123"/>
              </a:xfrm>
              <a:prstGeom prst="rect">
                <a:avLst/>
              </a:prstGeom>
              <a:ln w="19050">
                <a:solidFill>
                  <a:srgbClr val="FF0000"/>
                </a:solidFill>
              </a:ln>
            </p:spPr>
            <p:txBody>
              <a:bodyPr wrap="square">
                <a:spAutoFit/>
              </a:bodyPr>
              <a:lstStyle/>
              <a:p>
                <a14:m>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rΔt</m:t>
                            </m:r>
                          </m:sup>
                        </m:s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num>
                      <m:den>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den>
                    </m:f>
                  </m:oMath>
                </a14:m>
                <a: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 </a:t>
                </a: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or </a:t>
                </a:r>
                <a14:m>
                  <m:oMath xmlns:m="http://schemas.openxmlformats.org/officeDocument/2006/math">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p>
                          <m:sSup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d>
                              <m:d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q</m:t>
                                </m:r>
                              </m:e>
                            </m:d>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Δt</m:t>
                            </m:r>
                          </m:sup>
                        </m:sSup>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num>
                      <m:den>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den>
                    </m:f>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Sub>
                          <m:sSub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sub>
                        </m:sSub>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d>
                        <m:sSub>
                          <m:sSub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sub>
                        </m:sSub>
                      </m:e>
                    </m:d>
                    <m:sSup>
                      <m:sSup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rΔt</m:t>
                        </m:r>
                      </m:sup>
                    </m:sSup>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rad>
                          <m:radPr>
                            <m:degHide m:val="on"/>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Δt</m:t>
                            </m:r>
                          </m:e>
                        </m:rad>
                      </m:sup>
                    </m:sSup>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rad>
                          <m:radPr>
                            <m:degHide m:val="on"/>
                            <m:ctrlPr>
                              <a:rPr lang="zh-CN" altLang="en-US"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Δt</m:t>
                            </m:r>
                          </m:e>
                        </m:rad>
                      </m:sup>
                    </m:sSup>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15" name="矩形 14">
                <a:extLst>
                  <a:ext uri="{FF2B5EF4-FFF2-40B4-BE49-F238E27FC236}">
                    <a16:creationId xmlns:a16="http://schemas.microsoft.com/office/drawing/2014/main" id="{0943D79C-5DA8-4C78-9E83-65EEE8E1E0B2}"/>
                  </a:ext>
                </a:extLst>
              </p:cNvPr>
              <p:cNvSpPr>
                <a:spLocks noRot="1" noChangeAspect="1" noMove="1" noResize="1" noEditPoints="1" noAdjustHandles="1" noChangeArrowheads="1" noChangeShapeType="1" noTextEdit="1"/>
              </p:cNvSpPr>
              <p:nvPr/>
            </p:nvSpPr>
            <p:spPr>
              <a:xfrm>
                <a:off x="2300216" y="5844137"/>
                <a:ext cx="7900240" cy="544123"/>
              </a:xfrm>
              <a:prstGeom prst="rect">
                <a:avLst/>
              </a:prstGeom>
              <a:blipFill>
                <a:blip r:embed="rId2"/>
                <a:stretch>
                  <a:fillRect b="-3261"/>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340018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Binomial Trees </a:t>
            </a:r>
          </a:p>
        </p:txBody>
      </p:sp>
      <p:sp>
        <p:nvSpPr>
          <p:cNvPr id="3" name="文本占位符 2"/>
          <p:cNvSpPr>
            <a:spLocks noGrp="1"/>
          </p:cNvSpPr>
          <p:nvPr>
            <p:ph type="body" sz="quarter" idx="10"/>
          </p:nvPr>
        </p:nvSpPr>
        <p:spPr>
          <a:xfrm>
            <a:off x="393599" y="813469"/>
            <a:ext cx="11404800" cy="1091531"/>
          </a:xfrm>
        </p:spPr>
        <p:txBody>
          <a:bodyPr>
            <a:normAutofit fontScale="92500" lnSpcReduction="10000"/>
          </a:bodyPr>
          <a:lstStyle/>
          <a:p>
            <a:pPr>
              <a:spcBef>
                <a:spcPct val="0"/>
              </a:spcBef>
            </a:pPr>
            <a:r>
              <a:rPr lang="en-US" altLang="zh-CN" dirty="0"/>
              <a:t>Binomial Trees (cont’d)</a:t>
            </a:r>
          </a:p>
          <a:p>
            <a:pPr lvl="1">
              <a:spcBef>
                <a:spcPct val="0"/>
              </a:spcBef>
            </a:pPr>
            <a:r>
              <a:rPr lang="en-US" altLang="zh-CN" b="1" dirty="0"/>
              <a:t>Two-Step Binomial Model</a:t>
            </a:r>
          </a:p>
          <a:p>
            <a:endParaRPr lang="en-US" altLang="zh-CN" dirty="0">
              <a:latin typeface="+mn-lt"/>
              <a:ea typeface="+mn-ea"/>
              <a:cs typeface="+mn-ea"/>
              <a:sym typeface="+mn-lt"/>
            </a:endParaRPr>
          </a:p>
        </p:txBody>
      </p:sp>
      <p:grpSp>
        <p:nvGrpSpPr>
          <p:cNvPr id="4" name="组合 29">
            <a:extLst>
              <a:ext uri="{FF2B5EF4-FFF2-40B4-BE49-F238E27FC236}">
                <a16:creationId xmlns:a16="http://schemas.microsoft.com/office/drawing/2014/main" id="{DE1EA63B-5D4F-49AE-8837-7ECA5FC77444}"/>
              </a:ext>
            </a:extLst>
          </p:cNvPr>
          <p:cNvGrpSpPr>
            <a:grpSpLocks/>
          </p:cNvGrpSpPr>
          <p:nvPr/>
        </p:nvGrpSpPr>
        <p:grpSpPr bwMode="auto">
          <a:xfrm>
            <a:off x="3888580" y="1905000"/>
            <a:ext cx="4414838" cy="2320925"/>
            <a:chOff x="29695" y="0"/>
            <a:chExt cx="4413621" cy="2321851"/>
          </a:xfrm>
        </p:grpSpPr>
        <p:sp>
          <p:nvSpPr>
            <p:cNvPr id="5" name="文本框 3">
              <a:extLst>
                <a:ext uri="{FF2B5EF4-FFF2-40B4-BE49-F238E27FC236}">
                  <a16:creationId xmlns:a16="http://schemas.microsoft.com/office/drawing/2014/main" id="{27E54DE2-0870-4944-8986-1DB95578D336}"/>
                </a:ext>
              </a:extLst>
            </p:cNvPr>
            <p:cNvSpPr txBox="1">
              <a:spLocks noChangeArrowheads="1"/>
            </p:cNvSpPr>
            <p:nvPr/>
          </p:nvSpPr>
          <p:spPr bwMode="auto">
            <a:xfrm>
              <a:off x="29695" y="620755"/>
              <a:ext cx="391422" cy="100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p>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6" name="文本框 4">
              <a:extLst>
                <a:ext uri="{FF2B5EF4-FFF2-40B4-BE49-F238E27FC236}">
                  <a16:creationId xmlns:a16="http://schemas.microsoft.com/office/drawing/2014/main" id="{83E02256-4FFE-446B-B334-9058CB58D0AC}"/>
                </a:ext>
              </a:extLst>
            </p:cNvPr>
            <p:cNvSpPr txBox="1">
              <a:spLocks noChangeArrowheads="1"/>
            </p:cNvSpPr>
            <p:nvPr/>
          </p:nvSpPr>
          <p:spPr bwMode="auto">
            <a:xfrm>
              <a:off x="1705331" y="180987"/>
              <a:ext cx="521255" cy="100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r>
                <a:rPr lang="en-US" altLang="zh-CN" sz="1800" b="0">
                  <a:solidFill>
                    <a:srgbClr val="2C3E50"/>
                  </a:solidFill>
                  <a:latin typeface="Segoe UI" panose="020B0502040204020203" pitchFamily="34" charset="0"/>
                  <a:cs typeface="Segoe UI" panose="020B0502040204020203" pitchFamily="34" charset="0"/>
                </a:rPr>
                <a:t>u</a:t>
              </a:r>
            </a:p>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r>
                <a:rPr lang="en-US" altLang="zh-CN" sz="1800" b="0" baseline="-25000">
                  <a:solidFill>
                    <a:srgbClr val="2C3E50"/>
                  </a:solidFill>
                  <a:latin typeface="Segoe UI" panose="020B0502040204020203" pitchFamily="34" charset="0"/>
                  <a:cs typeface="Segoe UI" panose="020B0502040204020203" pitchFamily="34" charset="0"/>
                </a:rPr>
                <a:t>u</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7" name="文本框 5">
              <a:extLst>
                <a:ext uri="{FF2B5EF4-FFF2-40B4-BE49-F238E27FC236}">
                  <a16:creationId xmlns:a16="http://schemas.microsoft.com/office/drawing/2014/main" id="{F21D9E73-6578-4239-B042-C0C3881B9B6B}"/>
                </a:ext>
              </a:extLst>
            </p:cNvPr>
            <p:cNvSpPr txBox="1">
              <a:spLocks noChangeArrowheads="1"/>
            </p:cNvSpPr>
            <p:nvPr/>
          </p:nvSpPr>
          <p:spPr bwMode="auto">
            <a:xfrm>
              <a:off x="1693394" y="1016070"/>
              <a:ext cx="527666" cy="100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d</a:t>
              </a:r>
            </a:p>
            <a:p>
              <a:pPr algn="ctr">
                <a:lnSpc>
                  <a:spcPct val="150000"/>
                </a:lnSpc>
                <a:spcBef>
                  <a:spcPct val="30000"/>
                </a:spcBef>
                <a:buClr>
                  <a:srgbClr val="800000"/>
                </a:buClr>
                <a:buSzPct val="80000"/>
                <a:buFont typeface="Wingdings" panose="05000000000000000000" pitchFamily="2" charset="2"/>
                <a:buNone/>
              </a:pPr>
              <a:r>
                <a:rPr lang="en-US" altLang="zh-CN" sz="1800" b="0" dirty="0" err="1">
                  <a:solidFill>
                    <a:srgbClr val="2C3E50"/>
                  </a:solidFill>
                  <a:latin typeface="Segoe UI" panose="020B0502040204020203" pitchFamily="34" charset="0"/>
                  <a:cs typeface="Segoe UI" panose="020B0502040204020203" pitchFamily="34" charset="0"/>
                </a:rPr>
                <a:t>f</a:t>
              </a:r>
              <a:r>
                <a:rPr lang="en-US" altLang="zh-CN" sz="1800" b="0" baseline="-25000" dirty="0" err="1">
                  <a:solidFill>
                    <a:srgbClr val="2C3E50"/>
                  </a:solidFill>
                  <a:latin typeface="Segoe UI" panose="020B0502040204020203" pitchFamily="34" charset="0"/>
                  <a:cs typeface="Segoe UI" panose="020B0502040204020203" pitchFamily="34" charset="0"/>
                </a:rPr>
                <a:t>d</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8" name="文本框 6">
              <a:extLst>
                <a:ext uri="{FF2B5EF4-FFF2-40B4-BE49-F238E27FC236}">
                  <a16:creationId xmlns:a16="http://schemas.microsoft.com/office/drawing/2014/main" id="{C250F5FA-7F1D-4980-91C7-2A9F009CC25A}"/>
                </a:ext>
              </a:extLst>
            </p:cNvPr>
            <p:cNvSpPr txBox="1">
              <a:spLocks noChangeArrowheads="1"/>
            </p:cNvSpPr>
            <p:nvPr/>
          </p:nvSpPr>
          <p:spPr bwMode="auto">
            <a:xfrm>
              <a:off x="3792229" y="0"/>
              <a:ext cx="651087" cy="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r>
                <a:rPr lang="en-US" altLang="zh-CN" sz="1800" b="0">
                  <a:solidFill>
                    <a:srgbClr val="2C3E50"/>
                  </a:solidFill>
                  <a:latin typeface="Segoe UI" panose="020B0502040204020203" pitchFamily="34" charset="0"/>
                  <a:cs typeface="Segoe UI" panose="020B0502040204020203" pitchFamily="34" charset="0"/>
                </a:rPr>
                <a:t>uu</a:t>
              </a:r>
            </a:p>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r>
                <a:rPr lang="en-US" altLang="zh-CN" sz="1800" b="0" baseline="-25000">
                  <a:solidFill>
                    <a:srgbClr val="2C3E50"/>
                  </a:solidFill>
                  <a:latin typeface="Segoe UI" panose="020B0502040204020203" pitchFamily="34" charset="0"/>
                  <a:cs typeface="Segoe UI" panose="020B0502040204020203" pitchFamily="34" charset="0"/>
                </a:rPr>
                <a:t>uu</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9" name="文本框 7">
              <a:extLst>
                <a:ext uri="{FF2B5EF4-FFF2-40B4-BE49-F238E27FC236}">
                  <a16:creationId xmlns:a16="http://schemas.microsoft.com/office/drawing/2014/main" id="{3405B862-E1D2-463E-B4F8-30AA5657D8BE}"/>
                </a:ext>
              </a:extLst>
            </p:cNvPr>
            <p:cNvSpPr txBox="1">
              <a:spLocks noChangeArrowheads="1"/>
            </p:cNvSpPr>
            <p:nvPr/>
          </p:nvSpPr>
          <p:spPr bwMode="auto">
            <a:xfrm>
              <a:off x="3746196" y="800155"/>
              <a:ext cx="657499" cy="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r>
                <a:rPr lang="en-US" altLang="zh-CN" sz="1800" b="0">
                  <a:solidFill>
                    <a:srgbClr val="2C3E50"/>
                  </a:solidFill>
                  <a:latin typeface="Segoe UI" panose="020B0502040204020203" pitchFamily="34" charset="0"/>
                  <a:cs typeface="Segoe UI" panose="020B0502040204020203" pitchFamily="34" charset="0"/>
                </a:rPr>
                <a:t>ud</a:t>
              </a:r>
            </a:p>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r>
                <a:rPr lang="en-US" altLang="zh-CN" sz="1800" b="0" baseline="-25000">
                  <a:solidFill>
                    <a:srgbClr val="2C3E50"/>
                  </a:solidFill>
                  <a:latin typeface="Segoe UI" panose="020B0502040204020203" pitchFamily="34" charset="0"/>
                  <a:cs typeface="Segoe UI" panose="020B0502040204020203" pitchFamily="34" charset="0"/>
                </a:rPr>
                <a:t>ud</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0" name="文本框 8">
              <a:extLst>
                <a:ext uri="{FF2B5EF4-FFF2-40B4-BE49-F238E27FC236}">
                  <a16:creationId xmlns:a16="http://schemas.microsoft.com/office/drawing/2014/main" id="{CD80A92E-4ADE-44E6-BDE5-63DDE3DFD3F4}"/>
                </a:ext>
              </a:extLst>
            </p:cNvPr>
            <p:cNvSpPr txBox="1">
              <a:spLocks noChangeArrowheads="1"/>
            </p:cNvSpPr>
            <p:nvPr/>
          </p:nvSpPr>
          <p:spPr bwMode="auto">
            <a:xfrm>
              <a:off x="3746196" y="1592371"/>
              <a:ext cx="663910" cy="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r>
                <a:rPr lang="en-US" altLang="zh-CN" sz="1800" b="0">
                  <a:solidFill>
                    <a:srgbClr val="2C3E50"/>
                  </a:solidFill>
                  <a:latin typeface="Segoe UI" panose="020B0502040204020203" pitchFamily="34" charset="0"/>
                  <a:cs typeface="Segoe UI" panose="020B0502040204020203" pitchFamily="34" charset="0"/>
                </a:rPr>
                <a:t>dd</a:t>
              </a:r>
            </a:p>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r>
                <a:rPr lang="en-US" altLang="zh-CN" sz="1800" b="0" baseline="-25000">
                  <a:solidFill>
                    <a:srgbClr val="2C3E50"/>
                  </a:solidFill>
                  <a:latin typeface="Segoe UI" panose="020B0502040204020203" pitchFamily="34" charset="0"/>
                  <a:cs typeface="Segoe UI" panose="020B0502040204020203" pitchFamily="34" charset="0"/>
                </a:rPr>
                <a:t>dd</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1" name="椭圆 9">
              <a:extLst>
                <a:ext uri="{FF2B5EF4-FFF2-40B4-BE49-F238E27FC236}">
                  <a16:creationId xmlns:a16="http://schemas.microsoft.com/office/drawing/2014/main" id="{FE7117DC-A253-41FC-BB67-0298CECC8AC9}"/>
                </a:ext>
              </a:extLst>
            </p:cNvPr>
            <p:cNvSpPr>
              <a:spLocks noChangeArrowheads="1"/>
            </p:cNvSpPr>
            <p:nvPr/>
          </p:nvSpPr>
          <p:spPr bwMode="auto">
            <a:xfrm>
              <a:off x="166673" y="1138315"/>
              <a:ext cx="125403" cy="12542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2" name="椭圆 10">
              <a:extLst>
                <a:ext uri="{FF2B5EF4-FFF2-40B4-BE49-F238E27FC236}">
                  <a16:creationId xmlns:a16="http://schemas.microsoft.com/office/drawing/2014/main" id="{BB5E8730-C491-416D-85DA-30F2C5A9A06F}"/>
                </a:ext>
              </a:extLst>
            </p:cNvPr>
            <p:cNvSpPr>
              <a:spLocks noChangeArrowheads="1"/>
            </p:cNvSpPr>
            <p:nvPr/>
          </p:nvSpPr>
          <p:spPr bwMode="auto">
            <a:xfrm>
              <a:off x="1895321" y="728712"/>
              <a:ext cx="125402" cy="12542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3" name="椭圆 11">
              <a:extLst>
                <a:ext uri="{FF2B5EF4-FFF2-40B4-BE49-F238E27FC236}">
                  <a16:creationId xmlns:a16="http://schemas.microsoft.com/office/drawing/2014/main" id="{95185EFF-DA8A-4534-AE62-8E4A73450AE0}"/>
                </a:ext>
              </a:extLst>
            </p:cNvPr>
            <p:cNvSpPr>
              <a:spLocks noChangeArrowheads="1"/>
            </p:cNvSpPr>
            <p:nvPr/>
          </p:nvSpPr>
          <p:spPr bwMode="auto">
            <a:xfrm>
              <a:off x="1887384" y="1538392"/>
              <a:ext cx="125403" cy="12542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4" name="椭圆 12">
              <a:extLst>
                <a:ext uri="{FF2B5EF4-FFF2-40B4-BE49-F238E27FC236}">
                  <a16:creationId xmlns:a16="http://schemas.microsoft.com/office/drawing/2014/main" id="{84B7F530-FEAE-4F62-A377-71772628708C}"/>
                </a:ext>
              </a:extLst>
            </p:cNvPr>
            <p:cNvSpPr>
              <a:spLocks noChangeArrowheads="1"/>
            </p:cNvSpPr>
            <p:nvPr/>
          </p:nvSpPr>
          <p:spPr bwMode="auto">
            <a:xfrm>
              <a:off x="3684288" y="385788"/>
              <a:ext cx="125403" cy="12542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5" name="椭圆 13">
              <a:extLst>
                <a:ext uri="{FF2B5EF4-FFF2-40B4-BE49-F238E27FC236}">
                  <a16:creationId xmlns:a16="http://schemas.microsoft.com/office/drawing/2014/main" id="{45C46F1A-4C13-4267-BBEC-0C620792ECA4}"/>
                </a:ext>
              </a:extLst>
            </p:cNvPr>
            <p:cNvSpPr>
              <a:spLocks noChangeArrowheads="1"/>
            </p:cNvSpPr>
            <p:nvPr/>
          </p:nvSpPr>
          <p:spPr bwMode="auto">
            <a:xfrm>
              <a:off x="3684288" y="1136728"/>
              <a:ext cx="125403" cy="125421"/>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16" name="椭圆 14">
              <a:extLst>
                <a:ext uri="{FF2B5EF4-FFF2-40B4-BE49-F238E27FC236}">
                  <a16:creationId xmlns:a16="http://schemas.microsoft.com/office/drawing/2014/main" id="{98EB3070-E879-4FF1-992A-8D71B727AE02}"/>
                </a:ext>
              </a:extLst>
            </p:cNvPr>
            <p:cNvSpPr>
              <a:spLocks noChangeArrowheads="1"/>
            </p:cNvSpPr>
            <p:nvPr/>
          </p:nvSpPr>
          <p:spPr bwMode="auto">
            <a:xfrm>
              <a:off x="3681113" y="1924182"/>
              <a:ext cx="125403" cy="125421"/>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cxnSp>
          <p:nvCxnSpPr>
            <p:cNvPr id="17" name="直接箭头连接符 16">
              <a:extLst>
                <a:ext uri="{FF2B5EF4-FFF2-40B4-BE49-F238E27FC236}">
                  <a16:creationId xmlns:a16="http://schemas.microsoft.com/office/drawing/2014/main" id="{075CEF5F-B5D7-4D19-9246-4F7BB450B346}"/>
                </a:ext>
              </a:extLst>
            </p:cNvPr>
            <p:cNvCxnSpPr>
              <a:cxnSpLocks noChangeShapeType="1"/>
              <a:stCxn id="11" idx="6"/>
              <a:endCxn id="12" idx="2"/>
            </p:cNvCxnSpPr>
            <p:nvPr/>
          </p:nvCxnSpPr>
          <p:spPr bwMode="auto">
            <a:xfrm flipV="1">
              <a:off x="291561" y="790890"/>
              <a:ext cx="1604520" cy="409738"/>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18" name="直接箭头连接符 20">
              <a:extLst>
                <a:ext uri="{FF2B5EF4-FFF2-40B4-BE49-F238E27FC236}">
                  <a16:creationId xmlns:a16="http://schemas.microsoft.com/office/drawing/2014/main" id="{5FADE901-695B-4982-A6F8-3664CFF94660}"/>
                </a:ext>
              </a:extLst>
            </p:cNvPr>
            <p:cNvCxnSpPr>
              <a:cxnSpLocks noChangeShapeType="1"/>
              <a:stCxn id="11" idx="6"/>
              <a:endCxn id="13" idx="2"/>
            </p:cNvCxnSpPr>
            <p:nvPr/>
          </p:nvCxnSpPr>
          <p:spPr bwMode="auto">
            <a:xfrm>
              <a:off x="291561" y="1200629"/>
              <a:ext cx="1596585" cy="40179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19" name="直接箭头连接符 22">
              <a:extLst>
                <a:ext uri="{FF2B5EF4-FFF2-40B4-BE49-F238E27FC236}">
                  <a16:creationId xmlns:a16="http://schemas.microsoft.com/office/drawing/2014/main" id="{37A829E7-1BA7-4F8A-AB8D-15A16A8C69AC}"/>
                </a:ext>
              </a:extLst>
            </p:cNvPr>
            <p:cNvCxnSpPr>
              <a:cxnSpLocks noChangeShapeType="1"/>
              <a:stCxn id="12" idx="6"/>
              <a:endCxn id="14" idx="2"/>
            </p:cNvCxnSpPr>
            <p:nvPr/>
          </p:nvCxnSpPr>
          <p:spPr bwMode="auto">
            <a:xfrm flipV="1">
              <a:off x="2021459" y="449441"/>
              <a:ext cx="1663241" cy="341449"/>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0" name="直接箭头连接符 24">
              <a:extLst>
                <a:ext uri="{FF2B5EF4-FFF2-40B4-BE49-F238E27FC236}">
                  <a16:creationId xmlns:a16="http://schemas.microsoft.com/office/drawing/2014/main" id="{AB91FD01-1821-489F-B550-3A9CEC65DE22}"/>
                </a:ext>
              </a:extLst>
            </p:cNvPr>
            <p:cNvCxnSpPr>
              <a:cxnSpLocks noChangeShapeType="1"/>
              <a:stCxn id="12" idx="6"/>
              <a:endCxn id="15" idx="2"/>
            </p:cNvCxnSpPr>
            <p:nvPr/>
          </p:nvCxnSpPr>
          <p:spPr bwMode="auto">
            <a:xfrm>
              <a:off x="2021459" y="790890"/>
              <a:ext cx="1663241" cy="409738"/>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1" name="直接箭头连接符 26">
              <a:extLst>
                <a:ext uri="{FF2B5EF4-FFF2-40B4-BE49-F238E27FC236}">
                  <a16:creationId xmlns:a16="http://schemas.microsoft.com/office/drawing/2014/main" id="{7B6F3BFE-7744-4C92-B1DE-BD2F9B0B73E4}"/>
                </a:ext>
              </a:extLst>
            </p:cNvPr>
            <p:cNvCxnSpPr>
              <a:cxnSpLocks noChangeShapeType="1"/>
              <a:stCxn id="13" idx="6"/>
              <a:endCxn id="15" idx="2"/>
            </p:cNvCxnSpPr>
            <p:nvPr/>
          </p:nvCxnSpPr>
          <p:spPr bwMode="auto">
            <a:xfrm flipV="1">
              <a:off x="2013523" y="1200629"/>
              <a:ext cx="1671177" cy="40179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2" name="直接箭头连接符 28">
              <a:extLst>
                <a:ext uri="{FF2B5EF4-FFF2-40B4-BE49-F238E27FC236}">
                  <a16:creationId xmlns:a16="http://schemas.microsoft.com/office/drawing/2014/main" id="{FCA6BB67-40E6-4E12-8395-DA0D48594C69}"/>
                </a:ext>
              </a:extLst>
            </p:cNvPr>
            <p:cNvCxnSpPr>
              <a:cxnSpLocks noChangeShapeType="1"/>
              <a:stCxn id="13" idx="6"/>
              <a:endCxn id="16" idx="2"/>
            </p:cNvCxnSpPr>
            <p:nvPr/>
          </p:nvCxnSpPr>
          <p:spPr bwMode="auto">
            <a:xfrm>
              <a:off x="2013523" y="1602426"/>
              <a:ext cx="1668003" cy="38591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grpSp>
      <mc:AlternateContent xmlns:mc="http://schemas.openxmlformats.org/markup-compatibility/2006">
        <mc:Choice xmlns:a14="http://schemas.microsoft.com/office/drawing/2010/main" Requires="a14">
          <p:sp>
            <p:nvSpPr>
              <p:cNvPr id="23" name="矩形 22">
                <a:extLst>
                  <a:ext uri="{FF2B5EF4-FFF2-40B4-BE49-F238E27FC236}">
                    <a16:creationId xmlns:a16="http://schemas.microsoft.com/office/drawing/2014/main" id="{6811BFA1-D6FF-4DAC-9BD4-2698EB474094}"/>
                  </a:ext>
                </a:extLst>
              </p:cNvPr>
              <p:cNvSpPr/>
              <p:nvPr/>
            </p:nvSpPr>
            <p:spPr>
              <a:xfrm>
                <a:off x="5367306" y="4336337"/>
                <a:ext cx="1457386" cy="655179"/>
              </a:xfrm>
              <a:prstGeom prst="rect">
                <a:avLst/>
              </a:prstGeom>
              <a:ln w="1905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rΔt</m:t>
                              </m:r>
                            </m:sup>
                          </m:s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num>
                        <m:den>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23" name="矩形 22">
                <a:extLst>
                  <a:ext uri="{FF2B5EF4-FFF2-40B4-BE49-F238E27FC236}">
                    <a16:creationId xmlns:a16="http://schemas.microsoft.com/office/drawing/2014/main" id="{6811BFA1-D6FF-4DAC-9BD4-2698EB474094}"/>
                  </a:ext>
                </a:extLst>
              </p:cNvPr>
              <p:cNvSpPr>
                <a:spLocks noRot="1" noChangeAspect="1" noMove="1" noResize="1" noEditPoints="1" noAdjustHandles="1" noChangeArrowheads="1" noChangeShapeType="1" noTextEdit="1"/>
              </p:cNvSpPr>
              <p:nvPr/>
            </p:nvSpPr>
            <p:spPr>
              <a:xfrm>
                <a:off x="5367306" y="4336337"/>
                <a:ext cx="1457386" cy="655179"/>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矩形 23">
                <a:extLst>
                  <a:ext uri="{FF2B5EF4-FFF2-40B4-BE49-F238E27FC236}">
                    <a16:creationId xmlns:a16="http://schemas.microsoft.com/office/drawing/2014/main" id="{D4A6644F-11B0-4C25-A6CE-57569D417A3C}"/>
                  </a:ext>
                </a:extLst>
              </p:cNvPr>
              <p:cNvSpPr/>
              <p:nvPr/>
            </p:nvSpPr>
            <p:spPr>
              <a:xfrm>
                <a:off x="3616666" y="5302526"/>
                <a:ext cx="4958666" cy="518540"/>
              </a:xfrm>
              <a:prstGeom prst="rect">
                <a:avLst/>
              </a:prstGeom>
              <a:ln w="19050">
                <a:solidFill>
                  <a:srgbClr val="FF0000"/>
                </a:solidFill>
              </a:ln>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rΔt</m:t>
                          </m:r>
                        </m:sup>
                      </m:sSup>
                      <m:d>
                        <m:dPr>
                          <m:begChr m:val="["/>
                          <m:endChr m:val="]"/>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uu</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ud</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d>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f</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dd</m:t>
                              </m:r>
                            </m:sub>
                          </m:sSub>
                        </m:e>
                      </m:d>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24" name="矩形 23">
                <a:extLst>
                  <a:ext uri="{FF2B5EF4-FFF2-40B4-BE49-F238E27FC236}">
                    <a16:creationId xmlns:a16="http://schemas.microsoft.com/office/drawing/2014/main" id="{D4A6644F-11B0-4C25-A6CE-57569D417A3C}"/>
                  </a:ext>
                </a:extLst>
              </p:cNvPr>
              <p:cNvSpPr>
                <a:spLocks noRot="1" noChangeAspect="1" noMove="1" noResize="1" noEditPoints="1" noAdjustHandles="1" noChangeArrowheads="1" noChangeShapeType="1" noTextEdit="1"/>
              </p:cNvSpPr>
              <p:nvPr/>
            </p:nvSpPr>
            <p:spPr>
              <a:xfrm>
                <a:off x="3616666" y="5302526"/>
                <a:ext cx="4958666" cy="518540"/>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876853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a:xfrm>
            <a:off x="393599" y="813469"/>
            <a:ext cx="11404800" cy="1320131"/>
          </a:xfrm>
        </p:spPr>
        <p:txBody>
          <a:bodyPr>
            <a:normAutofit fontScale="92500"/>
          </a:bodyPr>
          <a:lstStyle/>
          <a:p>
            <a:pPr>
              <a:spcBef>
                <a:spcPct val="0"/>
              </a:spcBef>
            </a:pPr>
            <a:r>
              <a:rPr lang="en-US" altLang="zh-CN" dirty="0"/>
              <a:t>Binomial Trees (cont’d)</a:t>
            </a:r>
          </a:p>
          <a:p>
            <a:pPr lvl="1">
              <a:spcBef>
                <a:spcPct val="0"/>
              </a:spcBef>
            </a:pPr>
            <a:r>
              <a:rPr lang="en-US" altLang="zh-CN" b="1" dirty="0"/>
              <a:t>Example: 2-step European Call, Up and Down Informed by Volatility</a:t>
            </a:r>
          </a:p>
          <a:p>
            <a:pPr lvl="1">
              <a:spcBef>
                <a:spcPct val="0"/>
              </a:spcBef>
            </a:pPr>
            <a:endParaRPr lang="en-US" altLang="zh-CN" dirty="0"/>
          </a:p>
          <a:p>
            <a:endParaRPr lang="en-US" altLang="zh-CN"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239D6FDB-EE26-4E5F-9EEB-46EF77E10104}"/>
              </a:ext>
            </a:extLst>
          </p:cNvPr>
          <p:cNvGraphicFramePr>
            <a:graphicFrameLocks noGrp="1"/>
          </p:cNvGraphicFramePr>
          <p:nvPr>
            <p:extLst>
              <p:ext uri="{D42A27DB-BD31-4B8C-83A1-F6EECF244321}">
                <p14:modId xmlns:p14="http://schemas.microsoft.com/office/powerpoint/2010/main" val="1742496742"/>
              </p:ext>
            </p:extLst>
          </p:nvPr>
        </p:nvGraphicFramePr>
        <p:xfrm>
          <a:off x="3032125" y="2308605"/>
          <a:ext cx="6127750" cy="741362"/>
        </p:xfrm>
        <a:graphic>
          <a:graphicData uri="http://schemas.openxmlformats.org/drawingml/2006/table">
            <a:tbl>
              <a:tblPr firstRow="1" bandRow="1">
                <a:tableStyleId>{5C22544A-7EE6-4342-B048-85BDC9FD1C3A}</a:tableStyleId>
              </a:tblPr>
              <a:tblGrid>
                <a:gridCol w="868842">
                  <a:extLst>
                    <a:ext uri="{9D8B030D-6E8A-4147-A177-3AD203B41FA5}">
                      <a16:colId xmlns:a16="http://schemas.microsoft.com/office/drawing/2014/main" val="20000"/>
                    </a:ext>
                  </a:extLst>
                </a:gridCol>
                <a:gridCol w="881544">
                  <a:extLst>
                    <a:ext uri="{9D8B030D-6E8A-4147-A177-3AD203B41FA5}">
                      <a16:colId xmlns:a16="http://schemas.microsoft.com/office/drawing/2014/main" val="20001"/>
                    </a:ext>
                  </a:extLst>
                </a:gridCol>
                <a:gridCol w="775798">
                  <a:extLst>
                    <a:ext uri="{9D8B030D-6E8A-4147-A177-3AD203B41FA5}">
                      <a16:colId xmlns:a16="http://schemas.microsoft.com/office/drawing/2014/main" val="20002"/>
                    </a:ext>
                  </a:extLst>
                </a:gridCol>
                <a:gridCol w="1182146">
                  <a:extLst>
                    <a:ext uri="{9D8B030D-6E8A-4147-A177-3AD203B41FA5}">
                      <a16:colId xmlns:a16="http://schemas.microsoft.com/office/drawing/2014/main" val="20003"/>
                    </a:ext>
                  </a:extLst>
                </a:gridCol>
                <a:gridCol w="1173699">
                  <a:extLst>
                    <a:ext uri="{9D8B030D-6E8A-4147-A177-3AD203B41FA5}">
                      <a16:colId xmlns:a16="http://schemas.microsoft.com/office/drawing/2014/main" val="20004"/>
                    </a:ext>
                  </a:extLst>
                </a:gridCol>
                <a:gridCol w="1245721">
                  <a:extLst>
                    <a:ext uri="{9D8B030D-6E8A-4147-A177-3AD203B41FA5}">
                      <a16:colId xmlns:a16="http://schemas.microsoft.com/office/drawing/2014/main" val="20005"/>
                    </a:ext>
                  </a:extLst>
                </a:gridCol>
              </a:tblGrid>
              <a:tr h="370681">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Asset</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Strike</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Time</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Volatility</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Riskless</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Div. Yield</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0"/>
                  </a:ext>
                </a:extLst>
              </a:tr>
              <a:tr h="370681">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$810</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$800</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0.5</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20%</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sz="1800" dirty="0">
                        <a:solidFill>
                          <a:srgbClr val="2C3E50"/>
                        </a:solidFill>
                        <a:latin typeface="Segoe UI" panose="020B0502040204020203" pitchFamily="34" charset="0"/>
                        <a:cs typeface="Segoe UI" panose="020B0502040204020203" pitchFamily="34" charset="0"/>
                      </a:endParaRPr>
                    </a:p>
                  </a:txBody>
                  <a:tcPr marL="91457" marR="91457"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5" name="表格 4">
            <a:extLst>
              <a:ext uri="{FF2B5EF4-FFF2-40B4-BE49-F238E27FC236}">
                <a16:creationId xmlns:a16="http://schemas.microsoft.com/office/drawing/2014/main" id="{1E34F0D0-F4C5-4336-A991-F0FD9C0C525D}"/>
              </a:ext>
            </a:extLst>
          </p:cNvPr>
          <p:cNvGraphicFramePr>
            <a:graphicFrameLocks noGrp="1"/>
          </p:cNvGraphicFramePr>
          <p:nvPr>
            <p:extLst>
              <p:ext uri="{D42A27DB-BD31-4B8C-83A1-F6EECF244321}">
                <p14:modId xmlns:p14="http://schemas.microsoft.com/office/powerpoint/2010/main" val="2459921788"/>
              </p:ext>
            </p:extLst>
          </p:nvPr>
        </p:nvGraphicFramePr>
        <p:xfrm>
          <a:off x="4678363" y="3605592"/>
          <a:ext cx="2835276" cy="741364"/>
        </p:xfrm>
        <a:graphic>
          <a:graphicData uri="http://schemas.openxmlformats.org/drawingml/2006/table">
            <a:tbl>
              <a:tblPr firstRow="1" bandRow="1">
                <a:tableStyleId>{5C22544A-7EE6-4342-B048-85BDC9FD1C3A}</a:tableStyleId>
              </a:tblPr>
              <a:tblGrid>
                <a:gridCol w="945092">
                  <a:extLst>
                    <a:ext uri="{9D8B030D-6E8A-4147-A177-3AD203B41FA5}">
                      <a16:colId xmlns:a16="http://schemas.microsoft.com/office/drawing/2014/main" val="20000"/>
                    </a:ext>
                  </a:extLst>
                </a:gridCol>
                <a:gridCol w="945092">
                  <a:extLst>
                    <a:ext uri="{9D8B030D-6E8A-4147-A177-3AD203B41FA5}">
                      <a16:colId xmlns:a16="http://schemas.microsoft.com/office/drawing/2014/main" val="20001"/>
                    </a:ext>
                  </a:extLst>
                </a:gridCol>
                <a:gridCol w="945092">
                  <a:extLst>
                    <a:ext uri="{9D8B030D-6E8A-4147-A177-3AD203B41FA5}">
                      <a16:colId xmlns:a16="http://schemas.microsoft.com/office/drawing/2014/main" val="20002"/>
                    </a:ext>
                  </a:extLst>
                </a:gridCol>
              </a:tblGrid>
              <a:tr h="370682">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u</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p</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0"/>
                  </a:ext>
                </a:extLst>
              </a:tr>
              <a:tr h="370682">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1.1052</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0.9048</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0.5126</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6" name="组合 23">
            <a:extLst>
              <a:ext uri="{FF2B5EF4-FFF2-40B4-BE49-F238E27FC236}">
                <a16:creationId xmlns:a16="http://schemas.microsoft.com/office/drawing/2014/main" id="{2F3BB6DB-372D-4181-A25D-85076D478654}"/>
              </a:ext>
            </a:extLst>
          </p:cNvPr>
          <p:cNvGrpSpPr>
            <a:grpSpLocks/>
          </p:cNvGrpSpPr>
          <p:nvPr/>
        </p:nvGrpSpPr>
        <p:grpSpPr bwMode="auto">
          <a:xfrm>
            <a:off x="2135188" y="4491417"/>
            <a:ext cx="4176712" cy="1846263"/>
            <a:chOff x="827584" y="4274512"/>
            <a:chExt cx="4176464" cy="1846660"/>
          </a:xfrm>
        </p:grpSpPr>
        <p:sp>
          <p:nvSpPr>
            <p:cNvPr id="7" name="文本框 6">
              <a:extLst>
                <a:ext uri="{FF2B5EF4-FFF2-40B4-BE49-F238E27FC236}">
                  <a16:creationId xmlns:a16="http://schemas.microsoft.com/office/drawing/2014/main" id="{50E8F84D-3DED-4D47-A4E3-F4C72B088D13}"/>
                </a:ext>
              </a:extLst>
            </p:cNvPr>
            <p:cNvSpPr txBox="1">
              <a:spLocks noChangeArrowheads="1"/>
            </p:cNvSpPr>
            <p:nvPr/>
          </p:nvSpPr>
          <p:spPr bwMode="auto">
            <a:xfrm>
              <a:off x="827584" y="5012859"/>
              <a:ext cx="720682" cy="36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$810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7">
              <a:extLst>
                <a:ext uri="{FF2B5EF4-FFF2-40B4-BE49-F238E27FC236}">
                  <a16:creationId xmlns:a16="http://schemas.microsoft.com/office/drawing/2014/main" id="{2F5DD096-A8A2-4C4A-961A-FE7E619A607C}"/>
                </a:ext>
              </a:extLst>
            </p:cNvPr>
            <p:cNvSpPr txBox="1">
              <a:spLocks noChangeArrowheads="1"/>
            </p:cNvSpPr>
            <p:nvPr/>
          </p:nvSpPr>
          <p:spPr bwMode="auto">
            <a:xfrm>
              <a:off x="2195928" y="4644480"/>
              <a:ext cx="1079436"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$895.19</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9" name="文本框 8">
              <a:extLst>
                <a:ext uri="{FF2B5EF4-FFF2-40B4-BE49-F238E27FC236}">
                  <a16:creationId xmlns:a16="http://schemas.microsoft.com/office/drawing/2014/main" id="{89430B2B-88AD-4803-97C2-363059797798}"/>
                </a:ext>
              </a:extLst>
            </p:cNvPr>
            <p:cNvSpPr txBox="1">
              <a:spLocks noChangeArrowheads="1"/>
            </p:cNvSpPr>
            <p:nvPr/>
          </p:nvSpPr>
          <p:spPr bwMode="auto">
            <a:xfrm>
              <a:off x="3908738" y="4274512"/>
              <a:ext cx="1081024" cy="36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$989.34</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0" name="文本框 9">
              <a:extLst>
                <a:ext uri="{FF2B5EF4-FFF2-40B4-BE49-F238E27FC236}">
                  <a16:creationId xmlns:a16="http://schemas.microsoft.com/office/drawing/2014/main" id="{1D7709AB-0B65-4EF7-BDE2-ACA320E15FC8}"/>
                </a:ext>
              </a:extLst>
            </p:cNvPr>
            <p:cNvSpPr txBox="1">
              <a:spLocks noChangeArrowheads="1"/>
            </p:cNvSpPr>
            <p:nvPr/>
          </p:nvSpPr>
          <p:spPr bwMode="auto">
            <a:xfrm>
              <a:off x="2191165" y="5382825"/>
              <a:ext cx="1079436"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$732.92</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7641C2C4-76F1-49F5-851F-BD863A367165}"/>
                </a:ext>
              </a:extLst>
            </p:cNvPr>
            <p:cNvSpPr txBox="1">
              <a:spLocks noChangeArrowheads="1"/>
            </p:cNvSpPr>
            <p:nvPr/>
          </p:nvSpPr>
          <p:spPr bwMode="auto">
            <a:xfrm>
              <a:off x="3924612" y="5003332"/>
              <a:ext cx="1079436"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dirty="0">
                  <a:solidFill>
                    <a:srgbClr val="2C3E50"/>
                  </a:solidFill>
                  <a:latin typeface="Segoe UI" panose="020B0502040204020203" pitchFamily="34" charset="0"/>
                  <a:cs typeface="Segoe UI" panose="020B0502040204020203" pitchFamily="34" charset="0"/>
                </a:rPr>
                <a:t>$810</a:t>
              </a:r>
              <a:endParaRPr lang="zh-CN" altLang="en-US" sz="1800" b="0" dirty="0">
                <a:solidFill>
                  <a:srgbClr val="2C3E50"/>
                </a:solidFill>
                <a:latin typeface="Segoe UI" panose="020B0502040204020203" pitchFamily="34" charset="0"/>
                <a:cs typeface="Segoe UI" panose="020B0502040204020203" pitchFamily="34" charset="0"/>
              </a:endParaRPr>
            </a:p>
          </p:txBody>
        </p:sp>
        <p:sp>
          <p:nvSpPr>
            <p:cNvPr id="12" name="文本框 11">
              <a:extLst>
                <a:ext uri="{FF2B5EF4-FFF2-40B4-BE49-F238E27FC236}">
                  <a16:creationId xmlns:a16="http://schemas.microsoft.com/office/drawing/2014/main" id="{FB86BBB6-CD19-4F48-88D3-8FB7D6F5B4CB}"/>
                </a:ext>
              </a:extLst>
            </p:cNvPr>
            <p:cNvSpPr txBox="1">
              <a:spLocks noChangeArrowheads="1"/>
            </p:cNvSpPr>
            <p:nvPr/>
          </p:nvSpPr>
          <p:spPr bwMode="auto">
            <a:xfrm>
              <a:off x="3924612" y="5751204"/>
              <a:ext cx="1079436" cy="36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dirty="0">
                  <a:solidFill>
                    <a:srgbClr val="2C3E50"/>
                  </a:solidFill>
                  <a:latin typeface="Segoe UI" panose="020B0502040204020203" pitchFamily="34" charset="0"/>
                  <a:cs typeface="Segoe UI" panose="020B0502040204020203" pitchFamily="34" charset="0"/>
                </a:rPr>
                <a:t>$663.17</a:t>
              </a:r>
              <a:endParaRPr lang="zh-CN" altLang="en-US" sz="1800" b="0" dirty="0">
                <a:solidFill>
                  <a:srgbClr val="2C3E50"/>
                </a:solidFill>
                <a:latin typeface="Segoe UI" panose="020B0502040204020203" pitchFamily="34" charset="0"/>
                <a:cs typeface="Segoe UI" panose="020B0502040204020203" pitchFamily="34" charset="0"/>
              </a:endParaRPr>
            </a:p>
          </p:txBody>
        </p:sp>
        <p:cxnSp>
          <p:nvCxnSpPr>
            <p:cNvPr id="13" name="直接箭头连接符 12">
              <a:extLst>
                <a:ext uri="{FF2B5EF4-FFF2-40B4-BE49-F238E27FC236}">
                  <a16:creationId xmlns:a16="http://schemas.microsoft.com/office/drawing/2014/main" id="{8AA428A4-6D8A-49CA-8E23-838C2997FF03}"/>
                </a:ext>
              </a:extLst>
            </p:cNvPr>
            <p:cNvCxnSpPr>
              <a:cxnSpLocks noChangeShapeType="1"/>
              <a:endCxn id="8" idx="1"/>
            </p:cNvCxnSpPr>
            <p:nvPr/>
          </p:nvCxnSpPr>
          <p:spPr bwMode="auto">
            <a:xfrm flipV="1">
              <a:off x="1547664" y="4828510"/>
              <a:ext cx="648072" cy="359225"/>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4" name="直接箭头连接符 14">
              <a:extLst>
                <a:ext uri="{FF2B5EF4-FFF2-40B4-BE49-F238E27FC236}">
                  <a16:creationId xmlns:a16="http://schemas.microsoft.com/office/drawing/2014/main" id="{A8DB4DA4-C680-47F8-9F18-F6F8DEFF78F1}"/>
                </a:ext>
              </a:extLst>
            </p:cNvPr>
            <p:cNvCxnSpPr>
              <a:cxnSpLocks noChangeShapeType="1"/>
              <a:stCxn id="7" idx="3"/>
              <a:endCxn id="10" idx="1"/>
            </p:cNvCxnSpPr>
            <p:nvPr/>
          </p:nvCxnSpPr>
          <p:spPr bwMode="auto">
            <a:xfrm>
              <a:off x="1547664" y="5197842"/>
              <a:ext cx="643434" cy="369332"/>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5" name="直接箭头连接符 16">
              <a:extLst>
                <a:ext uri="{FF2B5EF4-FFF2-40B4-BE49-F238E27FC236}">
                  <a16:creationId xmlns:a16="http://schemas.microsoft.com/office/drawing/2014/main" id="{9957F219-E481-49DF-A8DA-EF2EA1D4F4FD}"/>
                </a:ext>
              </a:extLst>
            </p:cNvPr>
            <p:cNvCxnSpPr>
              <a:cxnSpLocks noChangeShapeType="1"/>
              <a:stCxn id="8" idx="3"/>
              <a:endCxn id="9" idx="1"/>
            </p:cNvCxnSpPr>
            <p:nvPr/>
          </p:nvCxnSpPr>
          <p:spPr bwMode="auto">
            <a:xfrm flipV="1">
              <a:off x="3275856" y="4459178"/>
              <a:ext cx="633119" cy="369332"/>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6" name="直接箭头连接符 18">
              <a:extLst>
                <a:ext uri="{FF2B5EF4-FFF2-40B4-BE49-F238E27FC236}">
                  <a16:creationId xmlns:a16="http://schemas.microsoft.com/office/drawing/2014/main" id="{ECB8633B-A184-40B0-926C-CEF936A8F10B}"/>
                </a:ext>
              </a:extLst>
            </p:cNvPr>
            <p:cNvCxnSpPr>
              <a:cxnSpLocks noChangeShapeType="1"/>
              <a:endCxn id="11" idx="1"/>
            </p:cNvCxnSpPr>
            <p:nvPr/>
          </p:nvCxnSpPr>
          <p:spPr bwMode="auto">
            <a:xfrm>
              <a:off x="3283332" y="4786719"/>
              <a:ext cx="640596" cy="401016"/>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7" name="直接箭头连接符 20">
              <a:extLst>
                <a:ext uri="{FF2B5EF4-FFF2-40B4-BE49-F238E27FC236}">
                  <a16:creationId xmlns:a16="http://schemas.microsoft.com/office/drawing/2014/main" id="{5E17373B-E96E-4DE1-BC8D-B1FC2EB6BBB0}"/>
                </a:ext>
              </a:extLst>
            </p:cNvPr>
            <p:cNvCxnSpPr>
              <a:cxnSpLocks noChangeShapeType="1"/>
              <a:stCxn id="10" idx="3"/>
            </p:cNvCxnSpPr>
            <p:nvPr/>
          </p:nvCxnSpPr>
          <p:spPr bwMode="auto">
            <a:xfrm flipV="1">
              <a:off x="3271218" y="5156051"/>
              <a:ext cx="637757" cy="411123"/>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8" name="直接箭头连接符 22">
              <a:extLst>
                <a:ext uri="{FF2B5EF4-FFF2-40B4-BE49-F238E27FC236}">
                  <a16:creationId xmlns:a16="http://schemas.microsoft.com/office/drawing/2014/main" id="{7F5C49F6-8DA1-4137-BAB3-1902655B6B02}"/>
                </a:ext>
              </a:extLst>
            </p:cNvPr>
            <p:cNvCxnSpPr>
              <a:cxnSpLocks noChangeShapeType="1"/>
              <a:endCxn id="12" idx="1"/>
            </p:cNvCxnSpPr>
            <p:nvPr/>
          </p:nvCxnSpPr>
          <p:spPr bwMode="auto">
            <a:xfrm>
              <a:off x="3283332" y="5567174"/>
              <a:ext cx="640596" cy="369332"/>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grpSp>
      <p:sp>
        <p:nvSpPr>
          <p:cNvPr id="19" name="下箭头 18">
            <a:extLst>
              <a:ext uri="{FF2B5EF4-FFF2-40B4-BE49-F238E27FC236}">
                <a16:creationId xmlns:a16="http://schemas.microsoft.com/office/drawing/2014/main" id="{4DE3EF04-CECB-41B8-A085-6ACEA79130AA}"/>
              </a:ext>
            </a:extLst>
          </p:cNvPr>
          <p:cNvSpPr/>
          <p:nvPr/>
        </p:nvSpPr>
        <p:spPr bwMode="auto">
          <a:xfrm>
            <a:off x="5934075" y="3230942"/>
            <a:ext cx="323850" cy="179388"/>
          </a:xfrm>
          <a:prstGeom prst="downArrow">
            <a:avLst/>
          </a:prstGeom>
          <a:noFill/>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defRPr/>
            </a:pPr>
            <a:endParaRPr lang="zh-CN" altLang="en-US">
              <a:solidFill>
                <a:schemeClr val="tx1"/>
              </a:solidFill>
              <a:latin typeface="Times New Roman" panose="02020603050405020304" pitchFamily="18" charset="0"/>
            </a:endParaRPr>
          </a:p>
        </p:txBody>
      </p:sp>
      <p:sp>
        <p:nvSpPr>
          <p:cNvPr id="20" name="右箭头 19">
            <a:extLst>
              <a:ext uri="{FF2B5EF4-FFF2-40B4-BE49-F238E27FC236}">
                <a16:creationId xmlns:a16="http://schemas.microsoft.com/office/drawing/2014/main" id="{7FC0A858-33BD-4DE3-BAC3-97FB32555E54}"/>
              </a:ext>
            </a:extLst>
          </p:cNvPr>
          <p:cNvSpPr/>
          <p:nvPr/>
        </p:nvSpPr>
        <p:spPr bwMode="auto">
          <a:xfrm>
            <a:off x="6527800" y="5220080"/>
            <a:ext cx="288925" cy="368300"/>
          </a:xfrm>
          <a:prstGeom prst="rightArrow">
            <a:avLst/>
          </a:prstGeom>
          <a:noFill/>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defRPr/>
            </a:pPr>
            <a:endParaRPr lang="zh-CN" altLang="en-US">
              <a:solidFill>
                <a:schemeClr val="tx1"/>
              </a:solidFill>
              <a:latin typeface="Times New Roman" panose="02020603050405020304" pitchFamily="18" charset="0"/>
            </a:endParaRPr>
          </a:p>
        </p:txBody>
      </p:sp>
      <p:sp>
        <p:nvSpPr>
          <p:cNvPr id="21" name="文本框 20">
            <a:extLst>
              <a:ext uri="{FF2B5EF4-FFF2-40B4-BE49-F238E27FC236}">
                <a16:creationId xmlns:a16="http://schemas.microsoft.com/office/drawing/2014/main" id="{FE5FE5C6-3E98-4DC7-8C29-0CD42F2C8A06}"/>
              </a:ext>
            </a:extLst>
          </p:cNvPr>
          <p:cNvSpPr txBox="1">
            <a:spLocks noChangeArrowheads="1"/>
          </p:cNvSpPr>
          <p:nvPr/>
        </p:nvSpPr>
        <p:spPr bwMode="auto">
          <a:xfrm>
            <a:off x="7119938" y="5199442"/>
            <a:ext cx="2339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dirty="0">
                <a:solidFill>
                  <a:srgbClr val="2C3E50"/>
                </a:solidFill>
                <a:latin typeface="Segoe UI" panose="020B0502040204020203" pitchFamily="34" charset="0"/>
                <a:cs typeface="Segoe UI" panose="020B0502040204020203" pitchFamily="34" charset="0"/>
              </a:rPr>
              <a:t>Option Value = 53.40</a:t>
            </a:r>
            <a:endParaRPr lang="zh-CN" altLang="en-US" sz="1800" b="0" dirty="0">
              <a:solidFill>
                <a:srgbClr val="2C3E5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71538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a:xfrm>
            <a:off x="393599" y="813469"/>
            <a:ext cx="11404800" cy="893411"/>
          </a:xfrm>
        </p:spPr>
        <p:txBody>
          <a:bodyPr>
            <a:normAutofit fontScale="85000" lnSpcReduction="20000"/>
          </a:bodyPr>
          <a:lstStyle/>
          <a:p>
            <a:pPr>
              <a:spcBef>
                <a:spcPct val="0"/>
              </a:spcBef>
            </a:pPr>
            <a:r>
              <a:rPr lang="en-US" altLang="zh-CN" dirty="0"/>
              <a:t>Binomial Trees (cont’d)</a:t>
            </a:r>
          </a:p>
          <a:p>
            <a:pPr lvl="1">
              <a:spcBef>
                <a:spcPct val="0"/>
              </a:spcBef>
            </a:pPr>
            <a:r>
              <a:rPr lang="en-US" altLang="zh-CN" b="1" dirty="0"/>
              <a:t>American Options</a:t>
            </a:r>
          </a:p>
          <a:p>
            <a:endParaRPr lang="en-US" altLang="zh-CN" dirty="0">
              <a:latin typeface="+mn-lt"/>
              <a:ea typeface="+mn-ea"/>
              <a:cs typeface="+mn-ea"/>
              <a:sym typeface="+mn-lt"/>
            </a:endParaRPr>
          </a:p>
        </p:txBody>
      </p:sp>
      <p:grpSp>
        <p:nvGrpSpPr>
          <p:cNvPr id="4" name="组合 3">
            <a:extLst>
              <a:ext uri="{FF2B5EF4-FFF2-40B4-BE49-F238E27FC236}">
                <a16:creationId xmlns:a16="http://schemas.microsoft.com/office/drawing/2014/main" id="{4A49AE57-312D-42C4-8454-CDF298912E5A}"/>
              </a:ext>
            </a:extLst>
          </p:cNvPr>
          <p:cNvGrpSpPr>
            <a:grpSpLocks/>
          </p:cNvGrpSpPr>
          <p:nvPr/>
        </p:nvGrpSpPr>
        <p:grpSpPr bwMode="auto">
          <a:xfrm>
            <a:off x="2473325" y="1881885"/>
            <a:ext cx="4413250" cy="4187825"/>
            <a:chOff x="353548" y="1339850"/>
            <a:chExt cx="4413980" cy="4188044"/>
          </a:xfrm>
        </p:grpSpPr>
        <p:sp>
          <p:nvSpPr>
            <p:cNvPr id="5" name="椭圆 31">
              <a:extLst>
                <a:ext uri="{FF2B5EF4-FFF2-40B4-BE49-F238E27FC236}">
                  <a16:creationId xmlns:a16="http://schemas.microsoft.com/office/drawing/2014/main" id="{BFA4CF61-6CE4-43F1-9539-524753DA7BF2}"/>
                </a:ext>
              </a:extLst>
            </p:cNvPr>
            <p:cNvSpPr>
              <a:spLocks noChangeArrowheads="1"/>
            </p:cNvSpPr>
            <p:nvPr/>
          </p:nvSpPr>
          <p:spPr bwMode="auto">
            <a:xfrm>
              <a:off x="1979417" y="3562466"/>
              <a:ext cx="601763" cy="1019228"/>
            </a:xfrm>
            <a:prstGeom prst="ellipse">
              <a:avLst/>
            </a:prstGeom>
            <a:noFill/>
            <a:ln w="9525">
              <a:solidFill>
                <a:srgbClr val="2C3E50"/>
              </a:solidFill>
              <a:round/>
              <a:headEnd/>
              <a:tailEnd/>
            </a:ln>
            <a:effectLst>
              <a:outerShdw blurRad="63500" dist="20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p>
              <a:pPr algn="ctr">
                <a:spcBef>
                  <a:spcPct val="30000"/>
                </a:spcBef>
                <a:buClr>
                  <a:srgbClr val="800000"/>
                </a:buClr>
                <a:buSzPct val="80000"/>
                <a:buFont typeface="Wingdings" charset="0"/>
                <a:buChar char="l"/>
                <a:defRPr/>
              </a:pPr>
              <a:endParaRPr lang="zh-CN" altLang="en-US" sz="1800">
                <a:solidFill>
                  <a:srgbClr val="2C3E50"/>
                </a:solidFill>
                <a:latin typeface="Segoe UI" panose="020B0502040204020203" pitchFamily="34" charset="0"/>
                <a:ea typeface="宋体" charset="0"/>
                <a:cs typeface="Segoe UI" panose="020B0502040204020203" pitchFamily="34" charset="0"/>
              </a:endParaRPr>
            </a:p>
          </p:txBody>
        </p:sp>
        <p:sp>
          <p:nvSpPr>
            <p:cNvPr id="6" name="椭圆 30">
              <a:extLst>
                <a:ext uri="{FF2B5EF4-FFF2-40B4-BE49-F238E27FC236}">
                  <a16:creationId xmlns:a16="http://schemas.microsoft.com/office/drawing/2014/main" id="{09B5538E-783A-4B82-8F2D-C2556D7350A3}"/>
                </a:ext>
              </a:extLst>
            </p:cNvPr>
            <p:cNvSpPr>
              <a:spLocks noChangeArrowheads="1"/>
            </p:cNvSpPr>
            <p:nvPr/>
          </p:nvSpPr>
          <p:spPr bwMode="auto">
            <a:xfrm>
              <a:off x="1984181" y="2492435"/>
              <a:ext cx="601762" cy="1020816"/>
            </a:xfrm>
            <a:prstGeom prst="ellipse">
              <a:avLst/>
            </a:prstGeom>
            <a:noFill/>
            <a:ln w="9525">
              <a:solidFill>
                <a:srgbClr val="2C3E50"/>
              </a:solidFill>
              <a:round/>
              <a:headEnd/>
              <a:tailEnd/>
            </a:ln>
            <a:effectLst>
              <a:outerShdw blurRad="63500" dist="20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p>
              <a:pPr algn="ctr">
                <a:spcBef>
                  <a:spcPct val="30000"/>
                </a:spcBef>
                <a:buClr>
                  <a:srgbClr val="800000"/>
                </a:buClr>
                <a:buSzPct val="80000"/>
                <a:buFont typeface="Wingdings" charset="0"/>
                <a:buChar char="l"/>
                <a:defRPr/>
              </a:pPr>
              <a:endParaRPr lang="zh-CN" altLang="en-US" sz="1800">
                <a:solidFill>
                  <a:srgbClr val="2C3E50"/>
                </a:solidFill>
                <a:latin typeface="Segoe UI" panose="020B0502040204020203" pitchFamily="34" charset="0"/>
                <a:ea typeface="宋体" charset="0"/>
                <a:cs typeface="Segoe UI" panose="020B0502040204020203" pitchFamily="34" charset="0"/>
              </a:endParaRPr>
            </a:p>
          </p:txBody>
        </p:sp>
        <p:grpSp>
          <p:nvGrpSpPr>
            <p:cNvPr id="7" name="组合 3">
              <a:extLst>
                <a:ext uri="{FF2B5EF4-FFF2-40B4-BE49-F238E27FC236}">
                  <a16:creationId xmlns:a16="http://schemas.microsoft.com/office/drawing/2014/main" id="{4F1442AE-DDB6-4220-BE2D-618097CA5694}"/>
                </a:ext>
              </a:extLst>
            </p:cNvPr>
            <p:cNvGrpSpPr>
              <a:grpSpLocks/>
            </p:cNvGrpSpPr>
            <p:nvPr/>
          </p:nvGrpSpPr>
          <p:grpSpPr bwMode="auto">
            <a:xfrm>
              <a:off x="353548" y="2349500"/>
              <a:ext cx="4413980" cy="2321693"/>
              <a:chOff x="29695" y="0"/>
              <a:chExt cx="4413621" cy="2321851"/>
            </a:xfrm>
          </p:grpSpPr>
          <p:sp>
            <p:nvSpPr>
              <p:cNvPr id="12" name="文本框 6">
                <a:extLst>
                  <a:ext uri="{FF2B5EF4-FFF2-40B4-BE49-F238E27FC236}">
                    <a16:creationId xmlns:a16="http://schemas.microsoft.com/office/drawing/2014/main" id="{BDE647BC-B9EF-4177-BB58-98F42835FF91}"/>
                  </a:ext>
                </a:extLst>
              </p:cNvPr>
              <p:cNvSpPr txBox="1">
                <a:spLocks noChangeArrowheads="1"/>
              </p:cNvSpPr>
              <p:nvPr/>
            </p:nvSpPr>
            <p:spPr bwMode="auto">
              <a:xfrm>
                <a:off x="1691089" y="1158954"/>
                <a:ext cx="527666" cy="100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r>
                  <a:rPr lang="en-US" altLang="zh-CN" sz="1800" b="0">
                    <a:solidFill>
                      <a:srgbClr val="2C3E50"/>
                    </a:solidFill>
                    <a:latin typeface="Segoe UI" panose="020B0502040204020203" pitchFamily="34" charset="0"/>
                    <a:cs typeface="Segoe UI" panose="020B0502040204020203" pitchFamily="34" charset="0"/>
                  </a:rPr>
                  <a:t>d</a:t>
                </a:r>
              </a:p>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r>
                  <a:rPr lang="en-US" altLang="zh-CN" sz="1800" b="0" baseline="-25000">
                    <a:solidFill>
                      <a:srgbClr val="2C3E50"/>
                    </a:solidFill>
                    <a:latin typeface="Segoe UI" panose="020B0502040204020203" pitchFamily="34" charset="0"/>
                    <a:cs typeface="Segoe UI" panose="020B0502040204020203" pitchFamily="34" charset="0"/>
                  </a:rPr>
                  <a:t>d</a:t>
                </a:r>
                <a:endParaRPr lang="zh-CN" altLang="en-US" sz="1800" b="0" baseline="-25000">
                  <a:solidFill>
                    <a:srgbClr val="2C3E50"/>
                  </a:solidFill>
                  <a:latin typeface="Segoe UI" panose="020B0502040204020203" pitchFamily="34" charset="0"/>
                  <a:cs typeface="Segoe UI" panose="020B0502040204020203" pitchFamily="34" charset="0"/>
                </a:endParaRPr>
              </a:p>
            </p:txBody>
          </p:sp>
          <p:sp>
            <p:nvSpPr>
              <p:cNvPr id="13" name="文本框 5">
                <a:extLst>
                  <a:ext uri="{FF2B5EF4-FFF2-40B4-BE49-F238E27FC236}">
                    <a16:creationId xmlns:a16="http://schemas.microsoft.com/office/drawing/2014/main" id="{8D0F986D-B117-4FE5-9ABE-491F03B1B5D5}"/>
                  </a:ext>
                </a:extLst>
              </p:cNvPr>
              <p:cNvSpPr txBox="1">
                <a:spLocks noChangeArrowheads="1"/>
              </p:cNvSpPr>
              <p:nvPr/>
            </p:nvSpPr>
            <p:spPr bwMode="auto">
              <a:xfrm>
                <a:off x="1694219" y="94835"/>
                <a:ext cx="521255" cy="100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r>
                  <a:rPr lang="en-US" altLang="zh-CN" sz="1800" b="0">
                    <a:solidFill>
                      <a:srgbClr val="2C3E50"/>
                    </a:solidFill>
                    <a:latin typeface="Segoe UI" panose="020B0502040204020203" pitchFamily="34" charset="0"/>
                    <a:cs typeface="Segoe UI" panose="020B0502040204020203" pitchFamily="34" charset="0"/>
                  </a:rPr>
                  <a:t>u</a:t>
                </a:r>
              </a:p>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r>
                  <a:rPr lang="en-US" altLang="zh-CN" sz="1800" b="0" baseline="-25000">
                    <a:solidFill>
                      <a:srgbClr val="2C3E50"/>
                    </a:solidFill>
                    <a:latin typeface="Segoe UI" panose="020B0502040204020203" pitchFamily="34" charset="0"/>
                    <a:cs typeface="Segoe UI" panose="020B0502040204020203" pitchFamily="34" charset="0"/>
                  </a:rPr>
                  <a:t>u</a:t>
                </a:r>
                <a:endParaRPr lang="zh-CN" altLang="en-US" sz="1800" b="0" baseline="-25000">
                  <a:solidFill>
                    <a:srgbClr val="2C3E50"/>
                  </a:solidFill>
                  <a:latin typeface="Segoe UI" panose="020B0502040204020203" pitchFamily="34" charset="0"/>
                  <a:cs typeface="Segoe UI" panose="020B0502040204020203" pitchFamily="34" charset="0"/>
                </a:endParaRPr>
              </a:p>
            </p:txBody>
          </p:sp>
          <p:cxnSp>
            <p:nvCxnSpPr>
              <p:cNvPr id="14" name="直接箭头连接符 19">
                <a:extLst>
                  <a:ext uri="{FF2B5EF4-FFF2-40B4-BE49-F238E27FC236}">
                    <a16:creationId xmlns:a16="http://schemas.microsoft.com/office/drawing/2014/main" id="{2050003C-E658-463C-8BE9-5B8F84F9A49B}"/>
                  </a:ext>
                </a:extLst>
              </p:cNvPr>
              <p:cNvCxnSpPr>
                <a:cxnSpLocks noChangeShapeType="1"/>
                <a:stCxn id="20" idx="6"/>
                <a:endCxn id="23" idx="2"/>
              </p:cNvCxnSpPr>
              <p:nvPr/>
            </p:nvCxnSpPr>
            <p:spPr bwMode="auto">
              <a:xfrm>
                <a:off x="2020587" y="711338"/>
                <a:ext cx="1663840" cy="522351"/>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15" name="文本框 4">
                <a:extLst>
                  <a:ext uri="{FF2B5EF4-FFF2-40B4-BE49-F238E27FC236}">
                    <a16:creationId xmlns:a16="http://schemas.microsoft.com/office/drawing/2014/main" id="{1C32D2D8-3093-43BF-A651-CFEB55CE1C7B}"/>
                  </a:ext>
                </a:extLst>
              </p:cNvPr>
              <p:cNvSpPr txBox="1">
                <a:spLocks noChangeArrowheads="1"/>
              </p:cNvSpPr>
              <p:nvPr/>
            </p:nvSpPr>
            <p:spPr bwMode="auto">
              <a:xfrm>
                <a:off x="29695" y="620755"/>
                <a:ext cx="391422" cy="100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S</a:t>
                </a:r>
                <a:r>
                  <a:rPr lang="en-US" altLang="zh-CN" sz="1800" b="0" baseline="-25000">
                    <a:solidFill>
                      <a:srgbClr val="2C3E50"/>
                    </a:solidFill>
                    <a:latin typeface="Segoe UI" panose="020B0502040204020203" pitchFamily="34" charset="0"/>
                    <a:cs typeface="Segoe UI" panose="020B0502040204020203" pitchFamily="34" charset="0"/>
                  </a:rPr>
                  <a:t>0</a:t>
                </a:r>
              </a:p>
              <a:p>
                <a:pPr algn="ctr">
                  <a:lnSpc>
                    <a:spcPct val="150000"/>
                  </a:lnSpc>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f</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6" name="文本框 7">
                <a:extLst>
                  <a:ext uri="{FF2B5EF4-FFF2-40B4-BE49-F238E27FC236}">
                    <a16:creationId xmlns:a16="http://schemas.microsoft.com/office/drawing/2014/main" id="{9743456E-ABAE-4A13-8C19-07A09C7B6B78}"/>
                  </a:ext>
                </a:extLst>
              </p:cNvPr>
              <p:cNvSpPr txBox="1">
                <a:spLocks noChangeArrowheads="1"/>
              </p:cNvSpPr>
              <p:nvPr/>
            </p:nvSpPr>
            <p:spPr bwMode="auto">
              <a:xfrm>
                <a:off x="3792229" y="0"/>
                <a:ext cx="651087" cy="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uu</a:t>
                </a:r>
              </a:p>
              <a:p>
                <a:pPr>
                  <a:spcBef>
                    <a:spcPct val="30000"/>
                  </a:spcBef>
                  <a:buClr>
                    <a:srgbClr val="800000"/>
                  </a:buClr>
                  <a:buSzPct val="80000"/>
                  <a:buFont typeface="Wingdings" panose="05000000000000000000" pitchFamily="2" charset="2"/>
                  <a:buNone/>
                </a:pPr>
                <a:r>
                  <a:rPr lang="en-US" altLang="zh-CN" sz="1800" b="0" dirty="0" err="1">
                    <a:solidFill>
                      <a:srgbClr val="2C3E50"/>
                    </a:solidFill>
                    <a:latin typeface="Segoe UI" panose="020B0502040204020203" pitchFamily="34" charset="0"/>
                    <a:cs typeface="Segoe UI" panose="020B0502040204020203" pitchFamily="34" charset="0"/>
                  </a:rPr>
                  <a:t>f</a:t>
                </a:r>
                <a:r>
                  <a:rPr lang="en-US" altLang="zh-CN" sz="1800" b="0" baseline="-25000" dirty="0" err="1">
                    <a:solidFill>
                      <a:srgbClr val="2C3E50"/>
                    </a:solidFill>
                    <a:latin typeface="Segoe UI" panose="020B0502040204020203" pitchFamily="34" charset="0"/>
                    <a:cs typeface="Segoe UI" panose="020B0502040204020203" pitchFamily="34" charset="0"/>
                  </a:rPr>
                  <a:t>uu</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17" name="文本框 8">
                <a:extLst>
                  <a:ext uri="{FF2B5EF4-FFF2-40B4-BE49-F238E27FC236}">
                    <a16:creationId xmlns:a16="http://schemas.microsoft.com/office/drawing/2014/main" id="{E8F79C40-7DA9-495C-BBC3-D311D4EA6DD3}"/>
                  </a:ext>
                </a:extLst>
              </p:cNvPr>
              <p:cNvSpPr txBox="1">
                <a:spLocks noChangeArrowheads="1"/>
              </p:cNvSpPr>
              <p:nvPr/>
            </p:nvSpPr>
            <p:spPr bwMode="auto">
              <a:xfrm>
                <a:off x="3746195" y="800155"/>
                <a:ext cx="657499" cy="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ud</a:t>
                </a:r>
              </a:p>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f</a:t>
                </a:r>
                <a:r>
                  <a:rPr lang="en-US" altLang="zh-CN" sz="1800" b="0" baseline="-25000" dirty="0">
                    <a:solidFill>
                      <a:srgbClr val="2C3E50"/>
                    </a:solidFill>
                    <a:latin typeface="Segoe UI" panose="020B0502040204020203" pitchFamily="34" charset="0"/>
                    <a:cs typeface="Segoe UI" panose="020B0502040204020203" pitchFamily="34" charset="0"/>
                  </a:rPr>
                  <a:t>ud</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18" name="文本框 9">
                <a:extLst>
                  <a:ext uri="{FF2B5EF4-FFF2-40B4-BE49-F238E27FC236}">
                    <a16:creationId xmlns:a16="http://schemas.microsoft.com/office/drawing/2014/main" id="{0C7641E5-0836-4D2B-9053-3D8D97A7BB41}"/>
                  </a:ext>
                </a:extLst>
              </p:cNvPr>
              <p:cNvSpPr txBox="1">
                <a:spLocks noChangeArrowheads="1"/>
              </p:cNvSpPr>
              <p:nvPr/>
            </p:nvSpPr>
            <p:spPr bwMode="auto">
              <a:xfrm>
                <a:off x="3746195" y="1592371"/>
                <a:ext cx="663910" cy="72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dirty="0">
                    <a:solidFill>
                      <a:srgbClr val="2C3E50"/>
                    </a:solidFill>
                    <a:latin typeface="Segoe UI" panose="020B0502040204020203" pitchFamily="34" charset="0"/>
                    <a:cs typeface="Segoe UI" panose="020B0502040204020203" pitchFamily="34" charset="0"/>
                  </a:rPr>
                  <a:t>S</a:t>
                </a:r>
                <a:r>
                  <a:rPr lang="en-US" altLang="zh-CN" sz="1800" b="0" baseline="-25000" dirty="0">
                    <a:solidFill>
                      <a:srgbClr val="2C3E50"/>
                    </a:solidFill>
                    <a:latin typeface="Segoe UI" panose="020B0502040204020203" pitchFamily="34" charset="0"/>
                    <a:cs typeface="Segoe UI" panose="020B0502040204020203" pitchFamily="34" charset="0"/>
                  </a:rPr>
                  <a:t>0</a:t>
                </a:r>
                <a:r>
                  <a:rPr lang="en-US" altLang="zh-CN" sz="1800" b="0" dirty="0">
                    <a:solidFill>
                      <a:srgbClr val="2C3E50"/>
                    </a:solidFill>
                    <a:latin typeface="Segoe UI" panose="020B0502040204020203" pitchFamily="34" charset="0"/>
                    <a:cs typeface="Segoe UI" panose="020B0502040204020203" pitchFamily="34" charset="0"/>
                  </a:rPr>
                  <a:t>dd</a:t>
                </a:r>
              </a:p>
              <a:p>
                <a:pPr>
                  <a:spcBef>
                    <a:spcPct val="30000"/>
                  </a:spcBef>
                  <a:buClr>
                    <a:srgbClr val="800000"/>
                  </a:buClr>
                  <a:buSzPct val="80000"/>
                  <a:buFont typeface="Wingdings" panose="05000000000000000000" pitchFamily="2" charset="2"/>
                  <a:buNone/>
                </a:pPr>
                <a:r>
                  <a:rPr lang="en-US" altLang="zh-CN" sz="1800" b="0" dirty="0" err="1">
                    <a:solidFill>
                      <a:srgbClr val="2C3E50"/>
                    </a:solidFill>
                    <a:latin typeface="Segoe UI" panose="020B0502040204020203" pitchFamily="34" charset="0"/>
                    <a:cs typeface="Segoe UI" panose="020B0502040204020203" pitchFamily="34" charset="0"/>
                  </a:rPr>
                  <a:t>f</a:t>
                </a:r>
                <a:r>
                  <a:rPr lang="en-US" altLang="zh-CN" sz="1800" b="0" baseline="-25000" dirty="0" err="1">
                    <a:solidFill>
                      <a:srgbClr val="2C3E50"/>
                    </a:solidFill>
                    <a:latin typeface="Segoe UI" panose="020B0502040204020203" pitchFamily="34" charset="0"/>
                    <a:cs typeface="Segoe UI" panose="020B0502040204020203" pitchFamily="34" charset="0"/>
                  </a:rPr>
                  <a:t>dd</a:t>
                </a:r>
                <a:endParaRPr lang="zh-CN" altLang="en-US" sz="1800" b="0" baseline="-25000" dirty="0">
                  <a:solidFill>
                    <a:srgbClr val="2C3E50"/>
                  </a:solidFill>
                  <a:latin typeface="Segoe UI" panose="020B0502040204020203" pitchFamily="34" charset="0"/>
                  <a:cs typeface="Segoe UI" panose="020B0502040204020203" pitchFamily="34" charset="0"/>
                </a:endParaRPr>
              </a:p>
            </p:txBody>
          </p:sp>
          <p:sp>
            <p:nvSpPr>
              <p:cNvPr id="19" name="椭圆 10">
                <a:extLst>
                  <a:ext uri="{FF2B5EF4-FFF2-40B4-BE49-F238E27FC236}">
                    <a16:creationId xmlns:a16="http://schemas.microsoft.com/office/drawing/2014/main" id="{322A01C9-1149-466D-866E-39F3E2C76832}"/>
                  </a:ext>
                </a:extLst>
              </p:cNvPr>
              <p:cNvSpPr>
                <a:spLocks noChangeArrowheads="1"/>
              </p:cNvSpPr>
              <p:nvPr/>
            </p:nvSpPr>
            <p:spPr bwMode="auto">
              <a:xfrm>
                <a:off x="166674" y="1138316"/>
                <a:ext cx="125402" cy="125421"/>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0" name="椭圆 11">
                <a:extLst>
                  <a:ext uri="{FF2B5EF4-FFF2-40B4-BE49-F238E27FC236}">
                    <a16:creationId xmlns:a16="http://schemas.microsoft.com/office/drawing/2014/main" id="{71490B4F-C3E5-4D57-910F-80B8DC1221D9}"/>
                  </a:ext>
                </a:extLst>
              </p:cNvPr>
              <p:cNvSpPr>
                <a:spLocks noChangeArrowheads="1"/>
              </p:cNvSpPr>
              <p:nvPr/>
            </p:nvSpPr>
            <p:spPr bwMode="auto">
              <a:xfrm>
                <a:off x="1895321" y="647744"/>
                <a:ext cx="125403" cy="12542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1" name="椭圆 12">
                <a:extLst>
                  <a:ext uri="{FF2B5EF4-FFF2-40B4-BE49-F238E27FC236}">
                    <a16:creationId xmlns:a16="http://schemas.microsoft.com/office/drawing/2014/main" id="{01CF8718-D9B3-4E67-9F80-3EED7CFA3483}"/>
                  </a:ext>
                </a:extLst>
              </p:cNvPr>
              <p:cNvSpPr>
                <a:spLocks noChangeArrowheads="1"/>
              </p:cNvSpPr>
              <p:nvPr/>
            </p:nvSpPr>
            <p:spPr bwMode="auto">
              <a:xfrm>
                <a:off x="1903258" y="1655876"/>
                <a:ext cx="125402" cy="125421"/>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2" name="椭圆 13">
                <a:extLst>
                  <a:ext uri="{FF2B5EF4-FFF2-40B4-BE49-F238E27FC236}">
                    <a16:creationId xmlns:a16="http://schemas.microsoft.com/office/drawing/2014/main" id="{D213D66C-7225-432F-A4C0-5B90D8415450}"/>
                  </a:ext>
                </a:extLst>
              </p:cNvPr>
              <p:cNvSpPr>
                <a:spLocks noChangeArrowheads="1"/>
              </p:cNvSpPr>
              <p:nvPr/>
            </p:nvSpPr>
            <p:spPr bwMode="auto">
              <a:xfrm>
                <a:off x="3684288" y="215915"/>
                <a:ext cx="125402" cy="125422"/>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3" name="椭圆 14">
                <a:extLst>
                  <a:ext uri="{FF2B5EF4-FFF2-40B4-BE49-F238E27FC236}">
                    <a16:creationId xmlns:a16="http://schemas.microsoft.com/office/drawing/2014/main" id="{2F5E1DDD-4BB4-4C6F-9B42-2A199D3BCC33}"/>
                  </a:ext>
                </a:extLst>
              </p:cNvPr>
              <p:cNvSpPr>
                <a:spLocks noChangeArrowheads="1"/>
              </p:cNvSpPr>
              <p:nvPr/>
            </p:nvSpPr>
            <p:spPr bwMode="auto">
              <a:xfrm>
                <a:off x="3684288" y="1170068"/>
                <a:ext cx="125402" cy="125421"/>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sp>
            <p:nvSpPr>
              <p:cNvPr id="24" name="椭圆 15">
                <a:extLst>
                  <a:ext uri="{FF2B5EF4-FFF2-40B4-BE49-F238E27FC236}">
                    <a16:creationId xmlns:a16="http://schemas.microsoft.com/office/drawing/2014/main" id="{B17D4377-793F-4DCC-8C3A-1545725A1E53}"/>
                  </a:ext>
                </a:extLst>
              </p:cNvPr>
              <p:cNvSpPr>
                <a:spLocks noChangeArrowheads="1"/>
              </p:cNvSpPr>
              <p:nvPr/>
            </p:nvSpPr>
            <p:spPr bwMode="auto">
              <a:xfrm>
                <a:off x="3681113" y="2160735"/>
                <a:ext cx="125402" cy="125421"/>
              </a:xfrm>
              <a:prstGeom prst="ellipse">
                <a:avLst/>
              </a:prstGeom>
              <a:solidFill>
                <a:srgbClr val="2C3E50"/>
              </a:solidFill>
              <a:ln w="25400">
                <a:solidFill>
                  <a:srgbClr val="2C3E50"/>
                </a:solidFill>
                <a:round/>
                <a:headEnd/>
                <a:tailEnd/>
              </a:ln>
            </p:spPr>
            <p:txBody>
              <a:bodyPr anchor="ct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ctr">
                  <a:spcBef>
                    <a:spcPct val="30000"/>
                  </a:spcBef>
                  <a:buClr>
                    <a:srgbClr val="800000"/>
                  </a:buClr>
                  <a:buSzPct val="80000"/>
                  <a:buFont typeface="Wingdings" panose="05000000000000000000" pitchFamily="2" charset="2"/>
                  <a:buChar char="l"/>
                </a:pPr>
                <a:endParaRPr lang="zh-CN" altLang="en-US" sz="1800">
                  <a:solidFill>
                    <a:srgbClr val="2C3E50"/>
                  </a:solidFill>
                  <a:latin typeface="Segoe UI" panose="020B0502040204020203" pitchFamily="34" charset="0"/>
                  <a:cs typeface="Segoe UI" panose="020B0502040204020203" pitchFamily="34" charset="0"/>
                </a:endParaRPr>
              </a:p>
            </p:txBody>
          </p:sp>
          <p:cxnSp>
            <p:nvCxnSpPr>
              <p:cNvPr id="25" name="直接箭头连接符 16">
                <a:extLst>
                  <a:ext uri="{FF2B5EF4-FFF2-40B4-BE49-F238E27FC236}">
                    <a16:creationId xmlns:a16="http://schemas.microsoft.com/office/drawing/2014/main" id="{8E07CC8E-D59D-4B56-A2D2-E7604D3A533D}"/>
                  </a:ext>
                </a:extLst>
              </p:cNvPr>
              <p:cNvCxnSpPr>
                <a:cxnSpLocks noChangeShapeType="1"/>
                <a:stCxn id="19" idx="6"/>
                <a:endCxn id="20" idx="2"/>
              </p:cNvCxnSpPr>
              <p:nvPr/>
            </p:nvCxnSpPr>
            <p:spPr bwMode="auto">
              <a:xfrm flipV="1">
                <a:off x="291655" y="711338"/>
                <a:ext cx="1603510" cy="489009"/>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6" name="直接箭头连接符 17">
                <a:extLst>
                  <a:ext uri="{FF2B5EF4-FFF2-40B4-BE49-F238E27FC236}">
                    <a16:creationId xmlns:a16="http://schemas.microsoft.com/office/drawing/2014/main" id="{8A344B0C-2597-4E0E-872B-07FD82D516A2}"/>
                  </a:ext>
                </a:extLst>
              </p:cNvPr>
              <p:cNvCxnSpPr>
                <a:cxnSpLocks noChangeShapeType="1"/>
                <a:stCxn id="19" idx="6"/>
                <a:endCxn id="21" idx="2"/>
              </p:cNvCxnSpPr>
              <p:nvPr/>
            </p:nvCxnSpPr>
            <p:spPr bwMode="auto">
              <a:xfrm>
                <a:off x="291655" y="1200347"/>
                <a:ext cx="1611447" cy="519175"/>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7" name="直接箭头连接符 18">
                <a:extLst>
                  <a:ext uri="{FF2B5EF4-FFF2-40B4-BE49-F238E27FC236}">
                    <a16:creationId xmlns:a16="http://schemas.microsoft.com/office/drawing/2014/main" id="{E3796A35-FB2C-4DEC-9491-B8C5114E05B0}"/>
                  </a:ext>
                </a:extLst>
              </p:cNvPr>
              <p:cNvCxnSpPr>
                <a:cxnSpLocks noChangeShapeType="1"/>
                <a:stCxn id="20" idx="6"/>
                <a:endCxn id="22" idx="2"/>
              </p:cNvCxnSpPr>
              <p:nvPr/>
            </p:nvCxnSpPr>
            <p:spPr bwMode="auto">
              <a:xfrm flipV="1">
                <a:off x="2020587" y="279487"/>
                <a:ext cx="1663840" cy="431852"/>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8" name="直接箭头连接符 20">
                <a:extLst>
                  <a:ext uri="{FF2B5EF4-FFF2-40B4-BE49-F238E27FC236}">
                    <a16:creationId xmlns:a16="http://schemas.microsoft.com/office/drawing/2014/main" id="{7CD5C15A-523A-4752-8509-A49EC010292C}"/>
                  </a:ext>
                </a:extLst>
              </p:cNvPr>
              <p:cNvCxnSpPr>
                <a:cxnSpLocks noChangeShapeType="1"/>
                <a:stCxn id="21" idx="6"/>
                <a:endCxn id="23" idx="2"/>
              </p:cNvCxnSpPr>
              <p:nvPr/>
            </p:nvCxnSpPr>
            <p:spPr bwMode="auto">
              <a:xfrm flipV="1">
                <a:off x="2028526" y="1233689"/>
                <a:ext cx="1655901" cy="485833"/>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9" name="直接箭头连接符 21">
                <a:extLst>
                  <a:ext uri="{FF2B5EF4-FFF2-40B4-BE49-F238E27FC236}">
                    <a16:creationId xmlns:a16="http://schemas.microsoft.com/office/drawing/2014/main" id="{E4DB2580-891F-42DF-AFF8-D2839B6BE0E3}"/>
                  </a:ext>
                </a:extLst>
              </p:cNvPr>
              <p:cNvCxnSpPr>
                <a:cxnSpLocks noChangeShapeType="1"/>
                <a:stCxn id="21" idx="6"/>
                <a:endCxn id="24" idx="2"/>
              </p:cNvCxnSpPr>
              <p:nvPr/>
            </p:nvCxnSpPr>
            <p:spPr bwMode="auto">
              <a:xfrm>
                <a:off x="2028526" y="1719523"/>
                <a:ext cx="1652726" cy="503297"/>
              </a:xfrm>
              <a:prstGeom prst="straightConnector1">
                <a:avLst/>
              </a:prstGeom>
              <a:noFill/>
              <a:ln w="25400">
                <a:solidFill>
                  <a:srgbClr val="2C3E50"/>
                </a:solidFill>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grpSp>
        <p:sp>
          <p:nvSpPr>
            <p:cNvPr id="8" name="文本框 22">
              <a:extLst>
                <a:ext uri="{FF2B5EF4-FFF2-40B4-BE49-F238E27FC236}">
                  <a16:creationId xmlns:a16="http://schemas.microsoft.com/office/drawing/2014/main" id="{5AE25DED-FF79-42B5-A31F-ED49F0707759}"/>
                </a:ext>
              </a:extLst>
            </p:cNvPr>
            <p:cNvSpPr txBox="1">
              <a:spLocks noChangeArrowheads="1"/>
            </p:cNvSpPr>
            <p:nvPr/>
          </p:nvSpPr>
          <p:spPr bwMode="auto">
            <a:xfrm>
              <a:off x="1663700" y="1339850"/>
              <a:ext cx="16129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zh-CN" altLang="en-US" sz="1800" b="0" u="sng">
                  <a:solidFill>
                    <a:srgbClr val="2C3E50"/>
                  </a:solidFill>
                  <a:latin typeface="Segoe UI" panose="020B0502040204020203" pitchFamily="34" charset="0"/>
                  <a:ea typeface="微软雅黑" panose="020B0503020204020204" pitchFamily="34" charset="-122"/>
                  <a:cs typeface="Segoe UI" panose="020B0502040204020203" pitchFamily="34" charset="0"/>
                </a:rPr>
                <a:t>判断是否提前执行</a:t>
              </a:r>
            </a:p>
          </p:txBody>
        </p:sp>
        <p:sp>
          <p:nvSpPr>
            <p:cNvPr id="9" name="文本框 23">
              <a:extLst>
                <a:ext uri="{FF2B5EF4-FFF2-40B4-BE49-F238E27FC236}">
                  <a16:creationId xmlns:a16="http://schemas.microsoft.com/office/drawing/2014/main" id="{2E793F68-120E-4599-9197-21E2C8D662A0}"/>
                </a:ext>
              </a:extLst>
            </p:cNvPr>
            <p:cNvSpPr txBox="1">
              <a:spLocks noChangeArrowheads="1"/>
            </p:cNvSpPr>
            <p:nvPr/>
          </p:nvSpPr>
          <p:spPr bwMode="auto">
            <a:xfrm>
              <a:off x="1663700" y="4881563"/>
              <a:ext cx="16129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判断是否提前执行</a:t>
              </a:r>
            </a:p>
          </p:txBody>
        </p:sp>
        <p:cxnSp>
          <p:nvCxnSpPr>
            <p:cNvPr id="10" name="直接箭头连接符 33">
              <a:extLst>
                <a:ext uri="{FF2B5EF4-FFF2-40B4-BE49-F238E27FC236}">
                  <a16:creationId xmlns:a16="http://schemas.microsoft.com/office/drawing/2014/main" id="{6F609252-7BC2-40B5-9FB5-9D450551037A}"/>
                </a:ext>
              </a:extLst>
            </p:cNvPr>
            <p:cNvCxnSpPr>
              <a:cxnSpLocks noChangeShapeType="1"/>
              <a:stCxn id="13" idx="0"/>
            </p:cNvCxnSpPr>
            <p:nvPr/>
          </p:nvCxnSpPr>
          <p:spPr bwMode="auto">
            <a:xfrm flipV="1">
              <a:off x="2279505" y="2114591"/>
              <a:ext cx="125433" cy="330217"/>
            </a:xfrm>
            <a:prstGeom prst="straightConnector1">
              <a:avLst/>
            </a:prstGeom>
            <a:noFill/>
            <a:ln w="25400">
              <a:solidFill>
                <a:srgbClr val="2C3E50"/>
              </a:solidFill>
              <a:prstDash val="lgDash"/>
              <a:round/>
              <a:headEnd/>
              <a:tailEnd type="triangle" w="med" len="med"/>
            </a:ln>
            <a:effectLst>
              <a:outerShdw blurRad="63500" dist="20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11" name="直接箭头连接符 35">
              <a:extLst>
                <a:ext uri="{FF2B5EF4-FFF2-40B4-BE49-F238E27FC236}">
                  <a16:creationId xmlns:a16="http://schemas.microsoft.com/office/drawing/2014/main" id="{91FECF4C-E307-464A-94CD-0DC24FB9740E}"/>
                </a:ext>
              </a:extLst>
            </p:cNvPr>
            <p:cNvCxnSpPr>
              <a:cxnSpLocks noChangeShapeType="1"/>
              <a:stCxn id="5" idx="4"/>
              <a:endCxn id="9" idx="0"/>
            </p:cNvCxnSpPr>
            <p:nvPr/>
          </p:nvCxnSpPr>
          <p:spPr bwMode="auto">
            <a:xfrm>
              <a:off x="2280444" y="4581525"/>
              <a:ext cx="189706" cy="300038"/>
            </a:xfrm>
            <a:prstGeom prst="straightConnector1">
              <a:avLst/>
            </a:prstGeom>
            <a:noFill/>
            <a:ln w="9525">
              <a:solidFill>
                <a:srgbClr val="2C3E50"/>
              </a:solidFill>
              <a:prstDash val="lgDash"/>
              <a:round/>
              <a:headEnd/>
              <a:tailEnd type="triangle" w="med" len="med"/>
            </a:ln>
            <a:extLst>
              <a:ext uri="{909E8E84-426E-40DD-AFC4-6F175D3DCCD1}">
                <a14:hiddenFill xmlns:a14="http://schemas.microsoft.com/office/drawing/2010/main">
                  <a:noFill/>
                </a14:hiddenFill>
              </a:ext>
            </a:extLst>
          </p:spPr>
        </p:cxnSp>
      </p:grpSp>
      <p:sp>
        <p:nvSpPr>
          <p:cNvPr id="30" name="文本框 36">
            <a:extLst>
              <a:ext uri="{FF2B5EF4-FFF2-40B4-BE49-F238E27FC236}">
                <a16:creationId xmlns:a16="http://schemas.microsoft.com/office/drawing/2014/main" id="{350A03CE-9A7F-4108-9138-E07E16A2FE4C}"/>
              </a:ext>
            </a:extLst>
          </p:cNvPr>
          <p:cNvSpPr txBox="1">
            <a:spLocks noChangeArrowheads="1"/>
          </p:cNvSpPr>
          <p:nvPr/>
        </p:nvSpPr>
        <p:spPr bwMode="auto">
          <a:xfrm>
            <a:off x="7312025" y="3401123"/>
            <a:ext cx="30305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lgn="just">
              <a:spcBef>
                <a:spcPct val="30000"/>
              </a:spcBef>
              <a:buClr>
                <a:srgbClr val="800000"/>
              </a:buClr>
              <a:buSzPct val="80000"/>
              <a:buFont typeface="Wingdings" panose="05000000000000000000" pitchFamily="2" charset="2"/>
              <a:buNone/>
            </a:pPr>
            <a:r>
              <a:rPr lang="en-US" altLang="zh-CN" sz="1800" b="0" u="sng" dirty="0">
                <a:solidFill>
                  <a:srgbClr val="2C3E50"/>
                </a:solidFill>
                <a:latin typeface="Segoe UI" panose="020B0502040204020203" pitchFamily="34" charset="0"/>
                <a:cs typeface="Segoe UI" panose="020B0502040204020203" pitchFamily="34" charset="0"/>
              </a:rPr>
              <a:t>Make sure that the option value at each node is no less than the intrinsic value.</a:t>
            </a:r>
          </a:p>
        </p:txBody>
      </p:sp>
    </p:spTree>
    <p:extLst>
      <p:ext uri="{BB962C8B-B14F-4D97-AF65-F5344CB8AC3E}">
        <p14:creationId xmlns:p14="http://schemas.microsoft.com/office/powerpoint/2010/main" val="19804291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Binomial Trees</a:t>
            </a:r>
          </a:p>
        </p:txBody>
      </p:sp>
      <p:sp>
        <p:nvSpPr>
          <p:cNvPr id="3" name="文本占位符 2"/>
          <p:cNvSpPr>
            <a:spLocks noGrp="1"/>
          </p:cNvSpPr>
          <p:nvPr>
            <p:ph type="body" sz="quarter" idx="10"/>
          </p:nvPr>
        </p:nvSpPr>
        <p:spPr>
          <a:xfrm>
            <a:off x="393599" y="813470"/>
            <a:ext cx="11404800" cy="832450"/>
          </a:xfrm>
        </p:spPr>
        <p:txBody>
          <a:bodyPr>
            <a:normAutofit fontScale="70000" lnSpcReduction="20000"/>
          </a:bodyPr>
          <a:lstStyle/>
          <a:p>
            <a:pPr>
              <a:spcBef>
                <a:spcPct val="0"/>
              </a:spcBef>
            </a:pPr>
            <a:r>
              <a:rPr lang="en-US" altLang="zh-CN" dirty="0"/>
              <a:t>Binomial Trees (cont’d)</a:t>
            </a:r>
          </a:p>
          <a:p>
            <a:pPr lvl="1">
              <a:spcBef>
                <a:spcPct val="0"/>
              </a:spcBef>
            </a:pPr>
            <a:r>
              <a:rPr lang="en-US" altLang="zh-CN" b="1" dirty="0"/>
              <a:t>Example: American Put Option with Price Jump of +/-20%</a:t>
            </a:r>
            <a:endParaRPr lang="en-US" altLang="zh-CN" dirty="0"/>
          </a:p>
          <a:p>
            <a:endParaRPr lang="en-US" altLang="zh-CN"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6498636F-AE1C-4AFB-9C81-1753E2B339C5}"/>
              </a:ext>
            </a:extLst>
          </p:cNvPr>
          <p:cNvGraphicFramePr>
            <a:graphicFrameLocks noGrp="1"/>
          </p:cNvGraphicFramePr>
          <p:nvPr>
            <p:extLst>
              <p:ext uri="{D42A27DB-BD31-4B8C-83A1-F6EECF244321}">
                <p14:modId xmlns:p14="http://schemas.microsoft.com/office/powerpoint/2010/main" val="2025125023"/>
              </p:ext>
            </p:extLst>
          </p:nvPr>
        </p:nvGraphicFramePr>
        <p:xfrm>
          <a:off x="3929063" y="2027836"/>
          <a:ext cx="4943476" cy="741364"/>
        </p:xfrm>
        <a:graphic>
          <a:graphicData uri="http://schemas.openxmlformats.org/drawingml/2006/table">
            <a:tbl>
              <a:tblPr firstRow="1" bandRow="1">
                <a:tableStyleId>{5C22544A-7EE6-4342-B048-85BDC9FD1C3A}</a:tableStyleId>
              </a:tblPr>
              <a:tblGrid>
                <a:gridCol w="868468">
                  <a:extLst>
                    <a:ext uri="{9D8B030D-6E8A-4147-A177-3AD203B41FA5}">
                      <a16:colId xmlns:a16="http://schemas.microsoft.com/office/drawing/2014/main" val="20000"/>
                    </a:ext>
                  </a:extLst>
                </a:gridCol>
                <a:gridCol w="881165">
                  <a:extLst>
                    <a:ext uri="{9D8B030D-6E8A-4147-A177-3AD203B41FA5}">
                      <a16:colId xmlns:a16="http://schemas.microsoft.com/office/drawing/2014/main" val="20001"/>
                    </a:ext>
                  </a:extLst>
                </a:gridCol>
                <a:gridCol w="775464">
                  <a:extLst>
                    <a:ext uri="{9D8B030D-6E8A-4147-A177-3AD203B41FA5}">
                      <a16:colId xmlns:a16="http://schemas.microsoft.com/office/drawing/2014/main" val="20002"/>
                    </a:ext>
                  </a:extLst>
                </a:gridCol>
                <a:gridCol w="1173194">
                  <a:extLst>
                    <a:ext uri="{9D8B030D-6E8A-4147-A177-3AD203B41FA5}">
                      <a16:colId xmlns:a16="http://schemas.microsoft.com/office/drawing/2014/main" val="20003"/>
                    </a:ext>
                  </a:extLst>
                </a:gridCol>
                <a:gridCol w="1245185">
                  <a:extLst>
                    <a:ext uri="{9D8B030D-6E8A-4147-A177-3AD203B41FA5}">
                      <a16:colId xmlns:a16="http://schemas.microsoft.com/office/drawing/2014/main" val="20004"/>
                    </a:ext>
                  </a:extLst>
                </a:gridCol>
              </a:tblGrid>
              <a:tr h="370682">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Asset</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Strike</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Time</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Riskless</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Div. Yield</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0"/>
                  </a:ext>
                </a:extLst>
              </a:tr>
              <a:tr h="370682">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$50</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$52</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2</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5%</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a:t>
                      </a:r>
                      <a:endParaRPr lang="zh-CN" altLang="en-US" sz="1800" dirty="0">
                        <a:solidFill>
                          <a:srgbClr val="2C3E50"/>
                        </a:solidFill>
                        <a:latin typeface="Segoe UI" panose="020B0502040204020203" pitchFamily="34" charset="0"/>
                        <a:cs typeface="Segoe UI" panose="020B0502040204020203" pitchFamily="34" charset="0"/>
                      </a:endParaRPr>
                    </a:p>
                  </a:txBody>
                  <a:tcPr marL="91418" marR="91418"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5" name="下箭头 22">
            <a:extLst>
              <a:ext uri="{FF2B5EF4-FFF2-40B4-BE49-F238E27FC236}">
                <a16:creationId xmlns:a16="http://schemas.microsoft.com/office/drawing/2014/main" id="{59FF9307-EAA8-4617-A9C7-A759C6ED2B8C}"/>
              </a:ext>
            </a:extLst>
          </p:cNvPr>
          <p:cNvSpPr/>
          <p:nvPr/>
        </p:nvSpPr>
        <p:spPr bwMode="auto">
          <a:xfrm>
            <a:off x="6238875" y="2950174"/>
            <a:ext cx="323850" cy="179387"/>
          </a:xfrm>
          <a:prstGeom prst="downArrow">
            <a:avLst/>
          </a:prstGeom>
          <a:noFill/>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defRPr/>
            </a:pPr>
            <a:endParaRPr lang="zh-CN" altLang="en-US">
              <a:solidFill>
                <a:schemeClr val="tx1"/>
              </a:solidFill>
              <a:latin typeface="Times New Roman" panose="02020603050405020304" pitchFamily="18" charset="0"/>
            </a:endParaRPr>
          </a:p>
        </p:txBody>
      </p:sp>
      <p:graphicFrame>
        <p:nvGraphicFramePr>
          <p:cNvPr id="6" name="表格 5">
            <a:extLst>
              <a:ext uri="{FF2B5EF4-FFF2-40B4-BE49-F238E27FC236}">
                <a16:creationId xmlns:a16="http://schemas.microsoft.com/office/drawing/2014/main" id="{296DE006-D334-4832-A751-29E0564FB4B3}"/>
              </a:ext>
            </a:extLst>
          </p:cNvPr>
          <p:cNvGraphicFramePr>
            <a:graphicFrameLocks noGrp="1"/>
          </p:cNvGraphicFramePr>
          <p:nvPr>
            <p:extLst>
              <p:ext uri="{D42A27DB-BD31-4B8C-83A1-F6EECF244321}">
                <p14:modId xmlns:p14="http://schemas.microsoft.com/office/powerpoint/2010/main" val="4097457333"/>
              </p:ext>
            </p:extLst>
          </p:nvPr>
        </p:nvGraphicFramePr>
        <p:xfrm>
          <a:off x="4983163" y="3283549"/>
          <a:ext cx="2835276" cy="741362"/>
        </p:xfrm>
        <a:graphic>
          <a:graphicData uri="http://schemas.openxmlformats.org/drawingml/2006/table">
            <a:tbl>
              <a:tblPr firstRow="1" bandRow="1">
                <a:tableStyleId>{5C22544A-7EE6-4342-B048-85BDC9FD1C3A}</a:tableStyleId>
              </a:tblPr>
              <a:tblGrid>
                <a:gridCol w="945092">
                  <a:extLst>
                    <a:ext uri="{9D8B030D-6E8A-4147-A177-3AD203B41FA5}">
                      <a16:colId xmlns:a16="http://schemas.microsoft.com/office/drawing/2014/main" val="20000"/>
                    </a:ext>
                  </a:extLst>
                </a:gridCol>
                <a:gridCol w="945092">
                  <a:extLst>
                    <a:ext uri="{9D8B030D-6E8A-4147-A177-3AD203B41FA5}">
                      <a16:colId xmlns:a16="http://schemas.microsoft.com/office/drawing/2014/main" val="20001"/>
                    </a:ext>
                  </a:extLst>
                </a:gridCol>
                <a:gridCol w="945092">
                  <a:extLst>
                    <a:ext uri="{9D8B030D-6E8A-4147-A177-3AD203B41FA5}">
                      <a16:colId xmlns:a16="http://schemas.microsoft.com/office/drawing/2014/main" val="20002"/>
                    </a:ext>
                  </a:extLst>
                </a:gridCol>
              </a:tblGrid>
              <a:tr h="370681">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u</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d</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p</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0"/>
                  </a:ext>
                </a:extLst>
              </a:tr>
              <a:tr h="370681">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1.2</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0.8</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tc>
                  <a:txBody>
                    <a:bodyPr/>
                    <a:lstStyle/>
                    <a:p>
                      <a:pPr algn="ctr"/>
                      <a:r>
                        <a:rPr lang="en-US" altLang="zh-CN" sz="1800" dirty="0">
                          <a:solidFill>
                            <a:srgbClr val="2C3E50"/>
                          </a:solidFill>
                          <a:latin typeface="Segoe UI" panose="020B0502040204020203" pitchFamily="34" charset="0"/>
                          <a:ea typeface="Segoe UI" panose="020B0502040204020203" pitchFamily="34" charset="0"/>
                          <a:cs typeface="Segoe UI" panose="020B0502040204020203" pitchFamily="34" charset="0"/>
                        </a:rPr>
                        <a:t>0.6282</a:t>
                      </a:r>
                      <a:endParaRPr lang="zh-CN" altLang="en-US" sz="1800" dirty="0">
                        <a:solidFill>
                          <a:srgbClr val="2C3E50"/>
                        </a:solidFill>
                        <a:latin typeface="Segoe UI" panose="020B0502040204020203" pitchFamily="34" charset="0"/>
                        <a:cs typeface="Segoe UI" panose="020B0502040204020203" pitchFamily="34" charset="0"/>
                      </a:endParaRPr>
                    </a:p>
                  </a:txBody>
                  <a:tcPr marL="91460" marR="91460" marT="45700" marB="4570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7" name="组合 6">
            <a:extLst>
              <a:ext uri="{FF2B5EF4-FFF2-40B4-BE49-F238E27FC236}">
                <a16:creationId xmlns:a16="http://schemas.microsoft.com/office/drawing/2014/main" id="{D8024A16-1EB3-46C0-9A39-E9175AAF6CE1}"/>
              </a:ext>
            </a:extLst>
          </p:cNvPr>
          <p:cNvGrpSpPr>
            <a:grpSpLocks/>
          </p:cNvGrpSpPr>
          <p:nvPr/>
        </p:nvGrpSpPr>
        <p:grpSpPr bwMode="auto">
          <a:xfrm>
            <a:off x="2620963" y="4312249"/>
            <a:ext cx="4176712" cy="1846262"/>
            <a:chOff x="827584" y="4274512"/>
            <a:chExt cx="4176464" cy="1846660"/>
          </a:xfrm>
        </p:grpSpPr>
        <p:sp>
          <p:nvSpPr>
            <p:cNvPr id="8" name="文本框 25">
              <a:extLst>
                <a:ext uri="{FF2B5EF4-FFF2-40B4-BE49-F238E27FC236}">
                  <a16:creationId xmlns:a16="http://schemas.microsoft.com/office/drawing/2014/main" id="{517E1970-7957-4D37-9B1E-D855E8F95884}"/>
                </a:ext>
              </a:extLst>
            </p:cNvPr>
            <p:cNvSpPr txBox="1">
              <a:spLocks noChangeArrowheads="1"/>
            </p:cNvSpPr>
            <p:nvPr/>
          </p:nvSpPr>
          <p:spPr bwMode="auto">
            <a:xfrm>
              <a:off x="827584" y="5012858"/>
              <a:ext cx="720682" cy="36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$50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9" name="文本框 26">
              <a:extLst>
                <a:ext uri="{FF2B5EF4-FFF2-40B4-BE49-F238E27FC236}">
                  <a16:creationId xmlns:a16="http://schemas.microsoft.com/office/drawing/2014/main" id="{97777D09-EBC1-40AA-BCA5-9974E49F01C3}"/>
                </a:ext>
              </a:extLst>
            </p:cNvPr>
            <p:cNvSpPr txBox="1">
              <a:spLocks noChangeArrowheads="1"/>
            </p:cNvSpPr>
            <p:nvPr/>
          </p:nvSpPr>
          <p:spPr bwMode="auto">
            <a:xfrm>
              <a:off x="2195928" y="4644479"/>
              <a:ext cx="1079436"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$60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0" name="文本框 27">
              <a:extLst>
                <a:ext uri="{FF2B5EF4-FFF2-40B4-BE49-F238E27FC236}">
                  <a16:creationId xmlns:a16="http://schemas.microsoft.com/office/drawing/2014/main" id="{C33C5CD4-145F-4915-A2BF-9ECA311FE299}"/>
                </a:ext>
              </a:extLst>
            </p:cNvPr>
            <p:cNvSpPr txBox="1">
              <a:spLocks noChangeArrowheads="1"/>
            </p:cNvSpPr>
            <p:nvPr/>
          </p:nvSpPr>
          <p:spPr bwMode="auto">
            <a:xfrm>
              <a:off x="3908738" y="4274512"/>
              <a:ext cx="1081024" cy="36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$72</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1" name="文本框 28">
              <a:extLst>
                <a:ext uri="{FF2B5EF4-FFF2-40B4-BE49-F238E27FC236}">
                  <a16:creationId xmlns:a16="http://schemas.microsoft.com/office/drawing/2014/main" id="{4AA18279-F71C-43BD-A020-E539022AECB7}"/>
                </a:ext>
              </a:extLst>
            </p:cNvPr>
            <p:cNvSpPr txBox="1">
              <a:spLocks noChangeArrowheads="1"/>
            </p:cNvSpPr>
            <p:nvPr/>
          </p:nvSpPr>
          <p:spPr bwMode="auto">
            <a:xfrm>
              <a:off x="2191165" y="5382826"/>
              <a:ext cx="1079436"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a:solidFill>
                    <a:srgbClr val="2C3E50"/>
                  </a:solidFill>
                  <a:latin typeface="Segoe UI" panose="020B0502040204020203" pitchFamily="34" charset="0"/>
                  <a:cs typeface="Segoe UI" panose="020B0502040204020203" pitchFamily="34" charset="0"/>
                </a:rPr>
                <a:t>$40</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12" name="文本框 29">
              <a:extLst>
                <a:ext uri="{FF2B5EF4-FFF2-40B4-BE49-F238E27FC236}">
                  <a16:creationId xmlns:a16="http://schemas.microsoft.com/office/drawing/2014/main" id="{B5E8825E-E0C7-48EC-A6D8-043E4F04D712}"/>
                </a:ext>
              </a:extLst>
            </p:cNvPr>
            <p:cNvSpPr txBox="1">
              <a:spLocks noChangeArrowheads="1"/>
            </p:cNvSpPr>
            <p:nvPr/>
          </p:nvSpPr>
          <p:spPr bwMode="auto">
            <a:xfrm>
              <a:off x="3924612" y="5003331"/>
              <a:ext cx="1079436" cy="36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$48</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3" name="文本框 30">
              <a:extLst>
                <a:ext uri="{FF2B5EF4-FFF2-40B4-BE49-F238E27FC236}">
                  <a16:creationId xmlns:a16="http://schemas.microsoft.com/office/drawing/2014/main" id="{A3AF8493-8456-42A9-BEED-13EEF3FD6E2C}"/>
                </a:ext>
              </a:extLst>
            </p:cNvPr>
            <p:cNvSpPr txBox="1">
              <a:spLocks noChangeArrowheads="1"/>
            </p:cNvSpPr>
            <p:nvPr/>
          </p:nvSpPr>
          <p:spPr bwMode="auto">
            <a:xfrm>
              <a:off x="3924612" y="5751205"/>
              <a:ext cx="1079436" cy="36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$32</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4" name="直接箭头连接符 13">
              <a:extLst>
                <a:ext uri="{FF2B5EF4-FFF2-40B4-BE49-F238E27FC236}">
                  <a16:creationId xmlns:a16="http://schemas.microsoft.com/office/drawing/2014/main" id="{770EB4A7-C19E-4C92-A2D5-A656DF02DFC7}"/>
                </a:ext>
              </a:extLst>
            </p:cNvPr>
            <p:cNvCxnSpPr>
              <a:cxnSpLocks noChangeShapeType="1"/>
              <a:endCxn id="9" idx="1"/>
            </p:cNvCxnSpPr>
            <p:nvPr/>
          </p:nvCxnSpPr>
          <p:spPr bwMode="auto">
            <a:xfrm flipV="1">
              <a:off x="1547664" y="4828510"/>
              <a:ext cx="648072" cy="359225"/>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5" name="直接箭头连接符 14">
              <a:extLst>
                <a:ext uri="{FF2B5EF4-FFF2-40B4-BE49-F238E27FC236}">
                  <a16:creationId xmlns:a16="http://schemas.microsoft.com/office/drawing/2014/main" id="{6CCE3DCC-9676-42B1-AC0A-815EC0BFE752}"/>
                </a:ext>
              </a:extLst>
            </p:cNvPr>
            <p:cNvCxnSpPr>
              <a:cxnSpLocks noChangeShapeType="1"/>
              <a:stCxn id="8" idx="3"/>
              <a:endCxn id="11" idx="1"/>
            </p:cNvCxnSpPr>
            <p:nvPr/>
          </p:nvCxnSpPr>
          <p:spPr bwMode="auto">
            <a:xfrm>
              <a:off x="1547664" y="5197842"/>
              <a:ext cx="643434" cy="369332"/>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6" name="直接箭头连接符 15">
              <a:extLst>
                <a:ext uri="{FF2B5EF4-FFF2-40B4-BE49-F238E27FC236}">
                  <a16:creationId xmlns:a16="http://schemas.microsoft.com/office/drawing/2014/main" id="{05752B15-25AF-495D-BD58-F154030BC9CE}"/>
                </a:ext>
              </a:extLst>
            </p:cNvPr>
            <p:cNvCxnSpPr>
              <a:cxnSpLocks noChangeShapeType="1"/>
              <a:stCxn id="9" idx="3"/>
              <a:endCxn id="10" idx="1"/>
            </p:cNvCxnSpPr>
            <p:nvPr/>
          </p:nvCxnSpPr>
          <p:spPr bwMode="auto">
            <a:xfrm flipV="1">
              <a:off x="3275856" y="4459178"/>
              <a:ext cx="633119" cy="369332"/>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7" name="直接箭头连接符 16">
              <a:extLst>
                <a:ext uri="{FF2B5EF4-FFF2-40B4-BE49-F238E27FC236}">
                  <a16:creationId xmlns:a16="http://schemas.microsoft.com/office/drawing/2014/main" id="{02EED5B6-D0B3-4548-9E15-4B0CB37A47AA}"/>
                </a:ext>
              </a:extLst>
            </p:cNvPr>
            <p:cNvCxnSpPr>
              <a:cxnSpLocks noChangeShapeType="1"/>
              <a:endCxn id="12" idx="1"/>
            </p:cNvCxnSpPr>
            <p:nvPr/>
          </p:nvCxnSpPr>
          <p:spPr bwMode="auto">
            <a:xfrm>
              <a:off x="3283332" y="4786719"/>
              <a:ext cx="640596" cy="401016"/>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8" name="直接箭头连接符 17">
              <a:extLst>
                <a:ext uri="{FF2B5EF4-FFF2-40B4-BE49-F238E27FC236}">
                  <a16:creationId xmlns:a16="http://schemas.microsoft.com/office/drawing/2014/main" id="{CA433A49-748C-4733-B606-BE0274F854C1}"/>
                </a:ext>
              </a:extLst>
            </p:cNvPr>
            <p:cNvCxnSpPr>
              <a:cxnSpLocks noChangeShapeType="1"/>
              <a:stCxn id="11" idx="3"/>
            </p:cNvCxnSpPr>
            <p:nvPr/>
          </p:nvCxnSpPr>
          <p:spPr bwMode="auto">
            <a:xfrm flipV="1">
              <a:off x="3271218" y="5156051"/>
              <a:ext cx="637757" cy="411123"/>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cxnSp>
          <p:nvCxnSpPr>
            <p:cNvPr id="19" name="直接箭头连接符 18">
              <a:extLst>
                <a:ext uri="{FF2B5EF4-FFF2-40B4-BE49-F238E27FC236}">
                  <a16:creationId xmlns:a16="http://schemas.microsoft.com/office/drawing/2014/main" id="{0B8A2542-7E9B-4453-81CF-C709606ECDB3}"/>
                </a:ext>
              </a:extLst>
            </p:cNvPr>
            <p:cNvCxnSpPr>
              <a:cxnSpLocks noChangeShapeType="1"/>
              <a:endCxn id="13" idx="1"/>
            </p:cNvCxnSpPr>
            <p:nvPr/>
          </p:nvCxnSpPr>
          <p:spPr bwMode="auto">
            <a:xfrm>
              <a:off x="3283332" y="5567174"/>
              <a:ext cx="640596" cy="369332"/>
            </a:xfrm>
            <a:prstGeom prst="straightConnector1">
              <a:avLst/>
            </a:prstGeom>
            <a:noFill/>
            <a:ln w="9525">
              <a:solidFill>
                <a:srgbClr val="2C3E50"/>
              </a:solidFill>
              <a:round/>
              <a:headEnd/>
              <a:tailEnd type="triangle" w="med" len="med"/>
            </a:ln>
            <a:extLst>
              <a:ext uri="{909E8E84-426E-40DD-AFC4-6F175D3DCCD1}">
                <a14:hiddenFill xmlns:a14="http://schemas.microsoft.com/office/drawing/2010/main">
                  <a:noFill/>
                </a14:hiddenFill>
              </a:ext>
            </a:extLst>
          </p:spPr>
        </p:cxnSp>
      </p:grpSp>
      <p:sp>
        <p:nvSpPr>
          <p:cNvPr id="20" name="右箭头 37">
            <a:extLst>
              <a:ext uri="{FF2B5EF4-FFF2-40B4-BE49-F238E27FC236}">
                <a16:creationId xmlns:a16="http://schemas.microsoft.com/office/drawing/2014/main" id="{89524673-DB82-4A15-B954-6E611EC0571F}"/>
              </a:ext>
            </a:extLst>
          </p:cNvPr>
          <p:cNvSpPr/>
          <p:nvPr/>
        </p:nvSpPr>
        <p:spPr bwMode="auto">
          <a:xfrm>
            <a:off x="7108825" y="5032974"/>
            <a:ext cx="287338" cy="369887"/>
          </a:xfrm>
          <a:prstGeom prst="rightArrow">
            <a:avLst/>
          </a:prstGeom>
          <a:noFill/>
          <a:ln>
            <a:solidFill>
              <a:srgbClr val="2C3E50"/>
            </a:solidFill>
            <a:headEnd type="none" w="med" len="med"/>
            <a:tailEnd type="none" w="med" len="med"/>
          </a:ln>
          <a:extLst/>
        </p:spPr>
        <p:style>
          <a:lnRef idx="2">
            <a:schemeClr val="dk1"/>
          </a:lnRef>
          <a:fillRef idx="1">
            <a:schemeClr val="lt1"/>
          </a:fillRef>
          <a:effectRef idx="0">
            <a:schemeClr val="dk1"/>
          </a:effectRef>
          <a:fontRef idx="minor">
            <a:schemeClr val="dk1"/>
          </a:fontRef>
        </p:style>
        <p:txBody>
          <a:bodyPr/>
          <a:lstStyle/>
          <a:p>
            <a:pPr>
              <a:defRPr/>
            </a:pPr>
            <a:endParaRPr lang="zh-CN" altLang="en-US">
              <a:solidFill>
                <a:schemeClr val="tx1"/>
              </a:solidFill>
              <a:latin typeface="Times New Roman" panose="02020603050405020304" pitchFamily="18" charset="0"/>
            </a:endParaRPr>
          </a:p>
        </p:txBody>
      </p:sp>
      <p:sp>
        <p:nvSpPr>
          <p:cNvPr id="21" name="文本框 38">
            <a:extLst>
              <a:ext uri="{FF2B5EF4-FFF2-40B4-BE49-F238E27FC236}">
                <a16:creationId xmlns:a16="http://schemas.microsoft.com/office/drawing/2014/main" id="{FF52901A-CA7D-495B-B998-9A4934E5664E}"/>
              </a:ext>
            </a:extLst>
          </p:cNvPr>
          <p:cNvSpPr txBox="1">
            <a:spLocks noChangeArrowheads="1"/>
          </p:cNvSpPr>
          <p:nvPr/>
        </p:nvSpPr>
        <p:spPr bwMode="auto">
          <a:xfrm>
            <a:off x="7708900" y="5032974"/>
            <a:ext cx="2214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dirty="0">
                <a:solidFill>
                  <a:srgbClr val="2C3E50"/>
                </a:solidFill>
                <a:latin typeface="Segoe UI" panose="020B0502040204020203" pitchFamily="34" charset="0"/>
                <a:cs typeface="Segoe UI" panose="020B0502040204020203" pitchFamily="34" charset="0"/>
              </a:rPr>
              <a:t>Option Value = 5.09</a:t>
            </a:r>
            <a:endParaRPr lang="zh-CN" altLang="en-US" sz="1800" b="0" dirty="0">
              <a:solidFill>
                <a:srgbClr val="2C3E5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19778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Black-Scholes-Merton Model</a:t>
            </a:r>
          </a:p>
          <a:p>
            <a:pPr lvl="1">
              <a:spcBef>
                <a:spcPct val="0"/>
              </a:spcBef>
            </a:pPr>
            <a:r>
              <a:rPr lang="en-US" altLang="zh-CN" b="1" dirty="0"/>
              <a:t>Assumptions</a:t>
            </a:r>
          </a:p>
          <a:p>
            <a:pPr lvl="2">
              <a:spcBef>
                <a:spcPct val="0"/>
              </a:spcBef>
            </a:pPr>
            <a:r>
              <a:rPr lang="en-US" altLang="zh-CN" dirty="0"/>
              <a:t>The stock price follows a </a:t>
            </a:r>
            <a:r>
              <a:rPr lang="en-US" altLang="zh-CN" u="sng" dirty="0"/>
              <a:t>lognormal distribution</a:t>
            </a:r>
            <a:r>
              <a:rPr lang="en-US" altLang="zh-CN" dirty="0"/>
              <a:t> and is continuous. Jump is not considered.</a:t>
            </a:r>
          </a:p>
          <a:p>
            <a:pPr lvl="2">
              <a:spcBef>
                <a:spcPct val="0"/>
              </a:spcBef>
            </a:pPr>
            <a:r>
              <a:rPr lang="en-US" altLang="zh-CN" dirty="0"/>
              <a:t>The </a:t>
            </a:r>
            <a:r>
              <a:rPr lang="en-US" altLang="zh-CN" u="sng" dirty="0"/>
              <a:t>risk-free rate and volatility of the stock is known and constant</a:t>
            </a:r>
            <a:r>
              <a:rPr lang="en-US" altLang="zh-CN" dirty="0"/>
              <a:t>.</a:t>
            </a:r>
            <a:endParaRPr lang="en-US" altLang="zh-CN" u="sng" dirty="0"/>
          </a:p>
          <a:p>
            <a:pPr lvl="2">
              <a:spcBef>
                <a:spcPct val="0"/>
              </a:spcBef>
            </a:pPr>
            <a:r>
              <a:rPr lang="en-US" altLang="zh-CN" dirty="0"/>
              <a:t>There are no transaction costs or taxes.</a:t>
            </a:r>
          </a:p>
          <a:p>
            <a:pPr lvl="2">
              <a:spcBef>
                <a:spcPct val="0"/>
              </a:spcBef>
            </a:pPr>
            <a:r>
              <a:rPr lang="en-US" altLang="zh-CN" dirty="0"/>
              <a:t>There are </a:t>
            </a:r>
            <a:r>
              <a:rPr lang="en-US" altLang="zh-CN" u="sng" dirty="0"/>
              <a:t>no cash flows on the stock</a:t>
            </a:r>
            <a:r>
              <a:rPr lang="en-US" altLang="zh-CN" dirty="0"/>
              <a:t>.</a:t>
            </a:r>
          </a:p>
          <a:p>
            <a:pPr lvl="2">
              <a:spcBef>
                <a:spcPct val="0"/>
              </a:spcBef>
            </a:pPr>
            <a:r>
              <a:rPr lang="en-US" altLang="zh-CN" u="sng" dirty="0"/>
              <a:t>European options</a:t>
            </a:r>
          </a:p>
          <a:p>
            <a:pPr lvl="1">
              <a:spcBef>
                <a:spcPct val="0"/>
              </a:spcBef>
            </a:pPr>
            <a:r>
              <a:rPr lang="en-US" altLang="zh-CN" b="1" dirty="0"/>
              <a:t>Valuation</a:t>
            </a:r>
          </a:p>
          <a:p>
            <a:pPr marL="363538" lvl="1" indent="0">
              <a:spcBef>
                <a:spcPct val="0"/>
              </a:spcBef>
              <a:buNone/>
            </a:pPr>
            <a:endParaRPr lang="en-US" altLang="zh-CN" dirty="0"/>
          </a:p>
          <a:p>
            <a:pPr marL="363538" lvl="1" indent="0">
              <a:spcBef>
                <a:spcPct val="0"/>
              </a:spcBef>
              <a:buNone/>
            </a:pPr>
            <a:endParaRPr lang="en-US" altLang="zh-CN" b="1" dirty="0"/>
          </a:p>
          <a:p>
            <a:pPr lvl="1">
              <a:spcBef>
                <a:spcPct val="0"/>
              </a:spcBef>
            </a:pPr>
            <a:r>
              <a:rPr lang="en-US" altLang="zh-CN" b="1" dirty="0"/>
              <a:t>The early exercise of American options</a:t>
            </a:r>
          </a:p>
          <a:p>
            <a:pPr lvl="1">
              <a:spcBef>
                <a:spcPct val="0"/>
              </a:spcBef>
            </a:pPr>
            <a:endParaRPr lang="en-US" altLang="zh-CN" b="1" dirty="0"/>
          </a:p>
          <a:p>
            <a:pPr lvl="2">
              <a:spcBef>
                <a:spcPct val="0"/>
              </a:spcBef>
            </a:pPr>
            <a:endParaRPr lang="en-US" altLang="zh-CN" dirty="0"/>
          </a:p>
          <a:p>
            <a:endParaRPr lang="en-US" altLang="zh-CN" dirty="0">
              <a:latin typeface="+mn-lt"/>
              <a:ea typeface="+mn-ea"/>
              <a:cs typeface="+mn-ea"/>
              <a:sym typeface="+mn-lt"/>
            </a:endParaRPr>
          </a:p>
        </p:txBody>
      </p:sp>
      <p:grpSp>
        <p:nvGrpSpPr>
          <p:cNvPr id="4" name="组合 3">
            <a:extLst>
              <a:ext uri="{FF2B5EF4-FFF2-40B4-BE49-F238E27FC236}">
                <a16:creationId xmlns:a16="http://schemas.microsoft.com/office/drawing/2014/main" id="{B9D6E68C-D1C6-4C40-9EF7-5079A2D9F09C}"/>
              </a:ext>
            </a:extLst>
          </p:cNvPr>
          <p:cNvGrpSpPr/>
          <p:nvPr/>
        </p:nvGrpSpPr>
        <p:grpSpPr>
          <a:xfrm>
            <a:off x="2694836" y="4882606"/>
            <a:ext cx="7016804" cy="726930"/>
            <a:chOff x="1155596" y="4646286"/>
            <a:chExt cx="7016804" cy="72693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D8C5D48-E07E-46AF-B10F-B90CC52FA873}"/>
                    </a:ext>
                  </a:extLst>
                </p:cNvPr>
                <p:cNvSpPr/>
                <p:nvPr/>
              </p:nvSpPr>
              <p:spPr>
                <a:xfrm>
                  <a:off x="1155596" y="4681649"/>
                  <a:ext cx="3376822" cy="656205"/>
                </a:xfrm>
                <a:prstGeom prst="rect">
                  <a:avLst/>
                </a:prstGeom>
                <a:ln w="19050">
                  <a:solidFill>
                    <a:srgbClr val="FF0000"/>
                  </a:solidFill>
                </a:ln>
              </p:spPr>
              <p:txBody>
                <a:bodyPr wrap="none">
                  <a:spAutoFit/>
                </a:bodyPr>
                <a:lstStyle/>
                <a:p>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c=</a:t>
                  </a:r>
                  <a14:m>
                    <m:oMath xmlns:m="http://schemas.openxmlformats.org/officeDocument/2006/math">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qT</m:t>
                          </m:r>
                        </m:sup>
                      </m:sSup>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d>
                        <m:d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e>
                      </m:d>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d>
                        <m:d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e>
                      </m:d>
                    </m:oMath>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p=</a:t>
                  </a:r>
                  <a14:m>
                    <m:oMath xmlns:m="http://schemas.openxmlformats.org/officeDocument/2006/math">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d>
                        <m:d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e>
                      </m:d>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qT</m:t>
                          </m:r>
                        </m:sup>
                      </m:sSup>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oMath>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1155596" y="4681649"/>
                  <a:ext cx="3376822" cy="656205"/>
                </a:xfrm>
                <a:prstGeom prst="rect">
                  <a:avLst/>
                </a:prstGeom>
                <a:blipFill rotWithShape="0">
                  <a:blip r:embed="rId3"/>
                  <a:stretch>
                    <a:fillRect l="-1436" t="-3604" r="-539" b="-11712"/>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EFE36B5-EA6F-431C-8E9A-38BB19ADBD62}"/>
                    </a:ext>
                  </a:extLst>
                </p:cNvPr>
                <p:cNvSpPr txBox="1"/>
                <p:nvPr/>
              </p:nvSpPr>
              <p:spPr>
                <a:xfrm>
                  <a:off x="4911725" y="4646286"/>
                  <a:ext cx="3260675" cy="726930"/>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1,2</m:t>
                            </m:r>
                          </m:sub>
                        </m:sSub>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ln</m:t>
                            </m:r>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type m:val="lin"/>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en-US" altLang="zh-CN" sz="18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qT</m:t>
                                    </m:r>
                                  </m:sup>
                                </m:sSup>
                              </m:num>
                              <m:den>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sSup>
                                  <m:sSup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rT</m:t>
                                    </m:r>
                                  </m:sup>
                                </m:sSup>
                              </m:den>
                            </m:f>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num>
                          <m:den>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rad>
                              <m:radPr>
                                <m:degHide m:val="o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rad>
                          </m:den>
                        </m:f>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rad>
                              <m:radPr>
                                <m:degHide m:val="o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rad>
                          </m:num>
                          <m:den>
                            <m: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4911725" y="4646286"/>
                  <a:ext cx="3260675" cy="726930"/>
                </a:xfrm>
                <a:prstGeom prst="rect">
                  <a:avLst/>
                </a:prstGeom>
                <a:blipFill rotWithShape="0">
                  <a:blip r:embed="rId4"/>
                  <a:stretch>
                    <a:fillRect/>
                  </a:stretch>
                </a:blipFill>
                <a:ln w="19050">
                  <a:solidFill>
                    <a:srgbClr val="FF0000"/>
                  </a:solidFill>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9EED35E4-DD12-4291-B323-57FB20EFD70C}"/>
                  </a:ext>
                </a:extLst>
              </p:cNvPr>
              <p:cNvSpPr/>
              <p:nvPr/>
            </p:nvSpPr>
            <p:spPr>
              <a:xfrm>
                <a:off x="2424224" y="6063455"/>
                <a:ext cx="7873254" cy="410177"/>
              </a:xfrm>
              <a:prstGeom prst="rect">
                <a:avLst/>
              </a:prstGeom>
              <a:ln w="1905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American</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call</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&gt;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e>
                              </m:d>
                            </m:sup>
                          </m:sSup>
                        </m:e>
                      </m:d>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American</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put</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t</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e>
                              </m:d>
                            </m:sup>
                          </m:sSup>
                        </m:e>
                      </m:d>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7" name="矩形 6">
                <a:extLst>
                  <a:ext uri="{FF2B5EF4-FFF2-40B4-BE49-F238E27FC236}">
                    <a16:creationId xmlns:a16="http://schemas.microsoft.com/office/drawing/2014/main" id="{9EED35E4-DD12-4291-B323-57FB20EFD70C}"/>
                  </a:ext>
                </a:extLst>
              </p:cNvPr>
              <p:cNvSpPr>
                <a:spLocks noRot="1" noChangeAspect="1" noMove="1" noResize="1" noEditPoints="1" noAdjustHandles="1" noChangeArrowheads="1" noChangeShapeType="1" noTextEdit="1"/>
              </p:cNvSpPr>
              <p:nvPr/>
            </p:nvSpPr>
            <p:spPr>
              <a:xfrm>
                <a:off x="2424224" y="6063455"/>
                <a:ext cx="7873254" cy="410177"/>
              </a:xfrm>
              <a:prstGeom prst="rect">
                <a:avLst/>
              </a:prstGeom>
              <a:blipFill>
                <a:blip r:embed="rId5"/>
                <a:stretch>
                  <a:fillRect b="-4286"/>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638563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Black-Scholes-Merton Model</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b="0" dirty="0"/>
              <a:t>Warrants and employee stock options are different from regular call options in that </a:t>
            </a:r>
            <a:r>
              <a:rPr lang="en-US" altLang="zh-CN" b="0" u="sng" dirty="0"/>
              <a:t>exercise leads to the company issuing more shares and then selling them to the option holder for the strike price.</a:t>
            </a:r>
          </a:p>
          <a:p>
            <a:pPr>
              <a:spcBef>
                <a:spcPct val="0"/>
              </a:spcBef>
            </a:pPr>
            <a:r>
              <a:rPr lang="en-US" altLang="zh-CN" b="0" dirty="0"/>
              <a:t>As the strike price is less than the market price, this dilutes the interest of the existing shareholders.</a:t>
            </a:r>
          </a:p>
          <a:p>
            <a:pPr>
              <a:spcBef>
                <a:spcPct val="0"/>
              </a:spcBef>
            </a:pPr>
            <a:r>
              <a:rPr lang="en-US" altLang="zh-CN" b="0" u="sng" dirty="0"/>
              <a:t>Suppose the company has N shares worth S</a:t>
            </a:r>
            <a:r>
              <a:rPr lang="en-US" altLang="zh-CN" b="0" u="sng" baseline="-25000" dirty="0"/>
              <a:t>0</a:t>
            </a:r>
            <a:r>
              <a:rPr lang="en-US" altLang="zh-CN" b="0" u="sng" dirty="0"/>
              <a:t> each and the number of new options contemplated! is M, with each option giving the holder the right to buy one share for K. The value of each option is the value of</a:t>
            </a:r>
          </a:p>
          <a:p>
            <a:pPr>
              <a:spcBef>
                <a:spcPct val="0"/>
              </a:spcBef>
            </a:pPr>
            <a:endParaRPr lang="en-US" altLang="zh-CN" b="0" dirty="0"/>
          </a:p>
          <a:p>
            <a:pPr>
              <a:spcBef>
                <a:spcPct val="0"/>
              </a:spcBef>
            </a:pPr>
            <a:endParaRPr lang="en-US" altLang="zh-CN" dirty="0"/>
          </a:p>
          <a:p>
            <a:pPr>
              <a:spcBef>
                <a:spcPct val="0"/>
              </a:spcBef>
            </a:pPr>
            <a:r>
              <a:rPr lang="en-US" altLang="zh-CN" b="0" u="sng" dirty="0"/>
              <a:t>Regular call options on the company’s stock</a:t>
            </a:r>
            <a:r>
              <a:rPr lang="en-US" altLang="zh-CN" b="0" dirty="0"/>
              <a:t>. Therefore the total cost of the options is M times this.</a:t>
            </a:r>
          </a:p>
          <a:p>
            <a:pPr marL="0" indent="0">
              <a:spcBef>
                <a:spcPct val="0"/>
              </a:spcBef>
              <a:buNone/>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790A4B85-8E7A-462C-A2C8-3EA4BF7471AB}"/>
                  </a:ext>
                </a:extLst>
              </p:cNvPr>
              <p:cNvSpPr/>
              <p:nvPr/>
            </p:nvSpPr>
            <p:spPr>
              <a:xfrm>
                <a:off x="5662226" y="4529070"/>
                <a:ext cx="867545"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num>
                        <m:den>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den>
                      </m:f>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790A4B85-8E7A-462C-A2C8-3EA4BF7471AB}"/>
                  </a:ext>
                </a:extLst>
              </p:cNvPr>
              <p:cNvSpPr>
                <a:spLocks noRot="1" noChangeAspect="1" noMove="1" noResize="1" noEditPoints="1" noAdjustHandles="1" noChangeArrowheads="1" noChangeShapeType="1" noTextEdit="1"/>
              </p:cNvSpPr>
              <p:nvPr/>
            </p:nvSpPr>
            <p:spPr>
              <a:xfrm>
                <a:off x="5662226" y="4529070"/>
                <a:ext cx="867545" cy="615490"/>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23636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281611"/>
            <a:chOff x="1262052" y="1623553"/>
            <a:chExt cx="9992772" cy="3281611"/>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754798"/>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Options</a:t>
              </a:r>
              <a:r>
                <a:rPr lang="zh-CN" altLang="en-US" sz="2400" b="1" dirty="0">
                  <a:solidFill>
                    <a:schemeClr val="tx1">
                      <a:lumMod val="75000"/>
                      <a:lumOff val="25000"/>
                    </a:schemeClr>
                  </a:solidFill>
                </a:rPr>
                <a:t>：</a:t>
              </a:r>
              <a:endParaRPr lang="en-US" altLang="zh-CN" sz="2400" b="1" dirty="0">
                <a:solidFill>
                  <a:schemeClr val="tx1">
                    <a:lumMod val="75000"/>
                    <a:lumOff val="25000"/>
                  </a:schemeClr>
                </a:solidFill>
              </a:endParaRPr>
            </a:p>
            <a:p>
              <a:pPr lvl="0" algn="ctr">
                <a:defRPr/>
              </a:pPr>
              <a:r>
                <a:rPr lang="en-US" altLang="zh-CN" sz="2400" b="1" dirty="0">
                  <a:solidFill>
                    <a:schemeClr val="tx1">
                      <a:lumMod val="75000"/>
                      <a:lumOff val="25000"/>
                    </a:schemeClr>
                  </a:solidFill>
                </a:rPr>
                <a:t>Greek Letters</a:t>
              </a:r>
            </a:p>
          </p:txBody>
        </p:sp>
      </p:grpSp>
    </p:spTree>
    <p:extLst>
      <p:ext uri="{BB962C8B-B14F-4D97-AF65-F5344CB8AC3E}">
        <p14:creationId xmlns:p14="http://schemas.microsoft.com/office/powerpoint/2010/main" val="2465636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Greek Letters</a:t>
            </a:r>
          </a:p>
        </p:txBody>
      </p:sp>
      <p:sp>
        <p:nvSpPr>
          <p:cNvPr id="3" name="文本占位符 2"/>
          <p:cNvSpPr>
            <a:spLocks noGrp="1"/>
          </p:cNvSpPr>
          <p:nvPr>
            <p:ph type="body" sz="quarter" idx="10"/>
          </p:nvPr>
        </p:nvSpPr>
        <p:spPr>
          <a:xfrm>
            <a:off x="393599" y="813469"/>
            <a:ext cx="11404800" cy="2844131"/>
          </a:xfrm>
        </p:spPr>
        <p:txBody>
          <a:bodyPr>
            <a:normAutofit fontScale="92500" lnSpcReduction="20000"/>
          </a:bodyPr>
          <a:lstStyle/>
          <a:p>
            <a:pPr>
              <a:spcBef>
                <a:spcPct val="0"/>
              </a:spcBef>
            </a:pPr>
            <a:r>
              <a:rPr lang="en-US" altLang="zh-CN" dirty="0"/>
              <a:t>Impact of Underlying Asset Price – Delta</a:t>
            </a:r>
          </a:p>
          <a:p>
            <a:pPr lvl="1">
              <a:spcBef>
                <a:spcPct val="0"/>
              </a:spcBef>
            </a:pPr>
            <a:r>
              <a:rPr lang="en-US" altLang="zh-CN" dirty="0"/>
              <a:t>The delta of an option, Δ, </a:t>
            </a:r>
            <a:r>
              <a:rPr lang="en-US" altLang="zh-CN" u="sng" dirty="0"/>
              <a:t>is defined as the ratio of change in option price to change in underlying asset price.</a:t>
            </a:r>
          </a:p>
          <a:p>
            <a:pPr lvl="1">
              <a:spcBef>
                <a:spcPct val="0"/>
              </a:spcBef>
            </a:pPr>
            <a:r>
              <a:rPr lang="en-US" altLang="zh-CN" u="sng" dirty="0"/>
              <a:t>Call option Δ range from 0 to 1</a:t>
            </a:r>
          </a:p>
          <a:p>
            <a:pPr lvl="1">
              <a:spcBef>
                <a:spcPct val="0"/>
              </a:spcBef>
            </a:pPr>
            <a:r>
              <a:rPr lang="en-US" altLang="zh-CN" u="sng" dirty="0"/>
              <a:t>Put option Δ range from -1 to 0</a:t>
            </a:r>
          </a:p>
          <a:p>
            <a:pPr lvl="1">
              <a:spcBef>
                <a:spcPct val="0"/>
              </a:spcBef>
            </a:pPr>
            <a:r>
              <a:rPr lang="en-US" altLang="zh-CN" u="sng" dirty="0"/>
              <a:t>When </a:t>
            </a:r>
            <a:r>
              <a:rPr lang="en-US" altLang="zh-CN" u="sng" dirty="0" err="1"/>
              <a:t>t→T</a:t>
            </a:r>
            <a:r>
              <a:rPr lang="en-US" altLang="zh-CN" u="sng" dirty="0"/>
              <a:t>, delta is unstable</a:t>
            </a:r>
          </a:p>
          <a:p>
            <a:pPr lvl="1">
              <a:spcBef>
                <a:spcPct val="0"/>
              </a:spcBef>
            </a:pPr>
            <a:endParaRPr lang="en-US" altLang="zh-CN" dirty="0"/>
          </a:p>
          <a:p>
            <a:endParaRPr lang="en-US" altLang="zh-CN" dirty="0">
              <a:latin typeface="+mn-lt"/>
              <a:ea typeface="+mn-ea"/>
              <a:cs typeface="+mn-ea"/>
              <a:sym typeface="+mn-lt"/>
            </a:endParaRPr>
          </a:p>
        </p:txBody>
      </p:sp>
      <p:grpSp>
        <p:nvGrpSpPr>
          <p:cNvPr id="4" name="组合 29">
            <a:extLst>
              <a:ext uri="{FF2B5EF4-FFF2-40B4-BE49-F238E27FC236}">
                <a16:creationId xmlns:a16="http://schemas.microsoft.com/office/drawing/2014/main" id="{85228C4A-9C30-47A7-ACFF-BF5228FFD600}"/>
              </a:ext>
            </a:extLst>
          </p:cNvPr>
          <p:cNvGrpSpPr>
            <a:grpSpLocks/>
          </p:cNvGrpSpPr>
          <p:nvPr/>
        </p:nvGrpSpPr>
        <p:grpSpPr bwMode="auto">
          <a:xfrm>
            <a:off x="2185066" y="3657600"/>
            <a:ext cx="4279900" cy="2879725"/>
            <a:chOff x="0" y="-100647"/>
            <a:chExt cx="4973767" cy="4340824"/>
          </a:xfrm>
        </p:grpSpPr>
        <p:sp>
          <p:nvSpPr>
            <p:cNvPr id="5" name="文本框 25">
              <a:extLst>
                <a:ext uri="{FF2B5EF4-FFF2-40B4-BE49-F238E27FC236}">
                  <a16:creationId xmlns:a16="http://schemas.microsoft.com/office/drawing/2014/main" id="{C6F3BBDE-AF12-4C49-806A-0E095D0F9302}"/>
                </a:ext>
              </a:extLst>
            </p:cNvPr>
            <p:cNvSpPr txBox="1">
              <a:spLocks noChangeArrowheads="1"/>
            </p:cNvSpPr>
            <p:nvPr/>
          </p:nvSpPr>
          <p:spPr bwMode="auto">
            <a:xfrm>
              <a:off x="957840" y="3723953"/>
              <a:ext cx="3420630" cy="5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a:solidFill>
                    <a:srgbClr val="2C3E50"/>
                  </a:solidFill>
                  <a:latin typeface="Segoe UI" panose="020B0502040204020203" pitchFamily="34" charset="0"/>
                  <a:cs typeface="Segoe UI" panose="020B0502040204020203" pitchFamily="34" charset="0"/>
                </a:rPr>
                <a:t>Call and Put Option Delta</a:t>
              </a:r>
              <a:endParaRPr lang="zh-CN" altLang="en-US" sz="1800">
                <a:solidFill>
                  <a:srgbClr val="2C3E50"/>
                </a:solidFill>
                <a:latin typeface="Segoe UI" panose="020B0502040204020203" pitchFamily="34" charset="0"/>
                <a:cs typeface="Segoe UI" panose="020B0502040204020203" pitchFamily="34" charset="0"/>
              </a:endParaRPr>
            </a:p>
          </p:txBody>
        </p:sp>
        <p:grpSp>
          <p:nvGrpSpPr>
            <p:cNvPr id="6" name="组合 28">
              <a:extLst>
                <a:ext uri="{FF2B5EF4-FFF2-40B4-BE49-F238E27FC236}">
                  <a16:creationId xmlns:a16="http://schemas.microsoft.com/office/drawing/2014/main" id="{A5382E51-8C4F-4388-9128-1F1EFB90DBD7}"/>
                </a:ext>
              </a:extLst>
            </p:cNvPr>
            <p:cNvGrpSpPr>
              <a:grpSpLocks/>
            </p:cNvGrpSpPr>
            <p:nvPr/>
          </p:nvGrpSpPr>
          <p:grpSpPr bwMode="auto">
            <a:xfrm>
              <a:off x="0" y="-100647"/>
              <a:ext cx="4973767" cy="4054294"/>
              <a:chOff x="0" y="-100647"/>
              <a:chExt cx="4973767" cy="4054294"/>
            </a:xfrm>
          </p:grpSpPr>
          <p:cxnSp>
            <p:nvCxnSpPr>
              <p:cNvPr id="7" name="直接连接符 4">
                <a:extLst>
                  <a:ext uri="{FF2B5EF4-FFF2-40B4-BE49-F238E27FC236}">
                    <a16:creationId xmlns:a16="http://schemas.microsoft.com/office/drawing/2014/main" id="{76087C30-3B4F-4CB3-A478-88749597A395}"/>
                  </a:ext>
                </a:extLst>
              </p:cNvPr>
              <p:cNvCxnSpPr>
                <a:cxnSpLocks noChangeShapeType="1"/>
              </p:cNvCxnSpPr>
              <p:nvPr/>
            </p:nvCxnSpPr>
            <p:spPr bwMode="auto">
              <a:xfrm>
                <a:off x="581041" y="352352"/>
                <a:ext cx="0" cy="3601295"/>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cxnSp>
            <p:nvCxnSpPr>
              <p:cNvPr id="8" name="直接连接符 6">
                <a:extLst>
                  <a:ext uri="{FF2B5EF4-FFF2-40B4-BE49-F238E27FC236}">
                    <a16:creationId xmlns:a16="http://schemas.microsoft.com/office/drawing/2014/main" id="{EC5E39F8-4C2F-4544-8F35-B2CB6853CB04}"/>
                  </a:ext>
                </a:extLst>
              </p:cNvPr>
              <p:cNvCxnSpPr>
                <a:cxnSpLocks noChangeShapeType="1"/>
              </p:cNvCxnSpPr>
              <p:nvPr/>
            </p:nvCxnSpPr>
            <p:spPr bwMode="auto">
              <a:xfrm>
                <a:off x="581041" y="2031582"/>
                <a:ext cx="4392726"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cxnSp>
          <p:sp>
            <p:nvSpPr>
              <p:cNvPr id="9" name="文本框 7">
                <a:extLst>
                  <a:ext uri="{FF2B5EF4-FFF2-40B4-BE49-F238E27FC236}">
                    <a16:creationId xmlns:a16="http://schemas.microsoft.com/office/drawing/2014/main" id="{41458D59-3A3A-4B4E-A4AB-9FE59123AC24}"/>
                  </a:ext>
                </a:extLst>
              </p:cNvPr>
              <p:cNvSpPr txBox="1">
                <a:spLocks noChangeArrowheads="1"/>
              </p:cNvSpPr>
              <p:nvPr/>
            </p:nvSpPr>
            <p:spPr bwMode="auto">
              <a:xfrm>
                <a:off x="2590305" y="2031582"/>
                <a:ext cx="371087"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K</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0" name="直接连接符 9">
                <a:extLst>
                  <a:ext uri="{FF2B5EF4-FFF2-40B4-BE49-F238E27FC236}">
                    <a16:creationId xmlns:a16="http://schemas.microsoft.com/office/drawing/2014/main" id="{0E538B6B-0141-46F0-8CDF-3CB3907B74C2}"/>
                  </a:ext>
                </a:extLst>
              </p:cNvPr>
              <p:cNvCxnSpPr>
                <a:cxnSpLocks noChangeShapeType="1"/>
              </p:cNvCxnSpPr>
              <p:nvPr/>
            </p:nvCxnSpPr>
            <p:spPr bwMode="auto">
              <a:xfrm>
                <a:off x="2770260" y="771366"/>
                <a:ext cx="0" cy="2520431"/>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1" name="直接连接符 11">
                <a:extLst>
                  <a:ext uri="{FF2B5EF4-FFF2-40B4-BE49-F238E27FC236}">
                    <a16:creationId xmlns:a16="http://schemas.microsoft.com/office/drawing/2014/main" id="{EF2B1DBA-F8DE-49DF-9188-E014BBAE821E}"/>
                  </a:ext>
                </a:extLst>
              </p:cNvPr>
              <p:cNvCxnSpPr>
                <a:cxnSpLocks noChangeShapeType="1"/>
              </p:cNvCxnSpPr>
              <p:nvPr/>
            </p:nvCxnSpPr>
            <p:spPr bwMode="auto">
              <a:xfrm>
                <a:off x="581041" y="519005"/>
                <a:ext cx="4392726"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2" name="直接连接符 12">
                <a:extLst>
                  <a:ext uri="{FF2B5EF4-FFF2-40B4-BE49-F238E27FC236}">
                    <a16:creationId xmlns:a16="http://schemas.microsoft.com/office/drawing/2014/main" id="{94C64FEA-B0D8-405E-AF28-40871A52087E}"/>
                  </a:ext>
                </a:extLst>
              </p:cNvPr>
              <p:cNvCxnSpPr>
                <a:cxnSpLocks noChangeShapeType="1"/>
              </p:cNvCxnSpPr>
              <p:nvPr/>
            </p:nvCxnSpPr>
            <p:spPr bwMode="auto">
              <a:xfrm>
                <a:off x="581041" y="1274500"/>
                <a:ext cx="4392726"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3" name="直接连接符 13">
                <a:extLst>
                  <a:ext uri="{FF2B5EF4-FFF2-40B4-BE49-F238E27FC236}">
                    <a16:creationId xmlns:a16="http://schemas.microsoft.com/office/drawing/2014/main" id="{7CF5B139-05F7-43B6-8CE7-B0DCA5633F98}"/>
                  </a:ext>
                </a:extLst>
              </p:cNvPr>
              <p:cNvCxnSpPr>
                <a:cxnSpLocks noChangeShapeType="1"/>
              </p:cNvCxnSpPr>
              <p:nvPr/>
            </p:nvCxnSpPr>
            <p:spPr bwMode="auto">
              <a:xfrm>
                <a:off x="581041" y="2787076"/>
                <a:ext cx="4392726"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cxnSp>
            <p:nvCxnSpPr>
              <p:cNvPr id="14" name="直接连接符 14">
                <a:extLst>
                  <a:ext uri="{FF2B5EF4-FFF2-40B4-BE49-F238E27FC236}">
                    <a16:creationId xmlns:a16="http://schemas.microsoft.com/office/drawing/2014/main" id="{82CD62DB-04E5-4326-96BC-57765FEF974A}"/>
                  </a:ext>
                </a:extLst>
              </p:cNvPr>
              <p:cNvCxnSpPr>
                <a:cxnSpLocks noChangeShapeType="1"/>
              </p:cNvCxnSpPr>
              <p:nvPr/>
            </p:nvCxnSpPr>
            <p:spPr bwMode="auto">
              <a:xfrm>
                <a:off x="581041" y="3544157"/>
                <a:ext cx="4392726" cy="0"/>
              </a:xfrm>
              <a:prstGeom prst="line">
                <a:avLst/>
              </a:prstGeom>
              <a:noFill/>
              <a:ln w="9525">
                <a:solidFill>
                  <a:srgbClr val="2C3E50"/>
                </a:solidFill>
                <a:prstDash val="lgDash"/>
                <a:round/>
                <a:headEnd/>
                <a:tailEnd/>
              </a:ln>
              <a:extLst>
                <a:ext uri="{909E8E84-426E-40DD-AFC4-6F175D3DCCD1}">
                  <a14:hiddenFill xmlns:a14="http://schemas.microsoft.com/office/drawing/2010/main">
                    <a:noFill/>
                  </a14:hiddenFill>
                </a:ext>
              </a:extLst>
            </p:spPr>
          </p:cxnSp>
          <p:sp>
            <p:nvSpPr>
              <p:cNvPr id="15" name="任意多边形 17">
                <a:extLst>
                  <a:ext uri="{FF2B5EF4-FFF2-40B4-BE49-F238E27FC236}">
                    <a16:creationId xmlns:a16="http://schemas.microsoft.com/office/drawing/2014/main" id="{C6D3F64E-D9EF-47F1-A95D-19CC208B56B7}"/>
                  </a:ext>
                </a:extLst>
              </p:cNvPr>
              <p:cNvSpPr>
                <a:spLocks/>
              </p:cNvSpPr>
              <p:nvPr/>
            </p:nvSpPr>
            <p:spPr bwMode="auto">
              <a:xfrm>
                <a:off x="712119" y="590224"/>
                <a:ext cx="4180473" cy="1369053"/>
              </a:xfrm>
              <a:custGeom>
                <a:avLst/>
                <a:gdLst>
                  <a:gd name="T0" fmla="*/ 0 w 4180114"/>
                  <a:gd name="T1" fmla="*/ 1407872 h 1367444"/>
                  <a:gd name="T2" fmla="*/ 1141079 w 4180114"/>
                  <a:gd name="T3" fmla="*/ 1311440 h 1367444"/>
                  <a:gd name="T4" fmla="*/ 2076380 w 4180114"/>
                  <a:gd name="T5" fmla="*/ 713579 h 1367444"/>
                  <a:gd name="T6" fmla="*/ 2918156 w 4180114"/>
                  <a:gd name="T7" fmla="*/ 135001 h 1367444"/>
                  <a:gd name="T8" fmla="*/ 4190177 w 4180114"/>
                  <a:gd name="T9" fmla="*/ 0 h 13674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80114" h="1367444">
                    <a:moveTo>
                      <a:pt x="0" y="1362269"/>
                    </a:moveTo>
                    <a:cubicBezTo>
                      <a:pt x="396551" y="1371599"/>
                      <a:pt x="793102" y="1380930"/>
                      <a:pt x="1138335" y="1268963"/>
                    </a:cubicBezTo>
                    <a:cubicBezTo>
                      <a:pt x="1483568" y="1156996"/>
                      <a:pt x="1775927" y="880187"/>
                      <a:pt x="2071396" y="690465"/>
                    </a:cubicBezTo>
                    <a:cubicBezTo>
                      <a:pt x="2366865" y="500742"/>
                      <a:pt x="2559698" y="245705"/>
                      <a:pt x="2911151" y="130628"/>
                    </a:cubicBezTo>
                    <a:cubicBezTo>
                      <a:pt x="3262604" y="15551"/>
                      <a:pt x="3721359" y="7775"/>
                      <a:pt x="4180114" y="0"/>
                    </a:cubicBezTo>
                  </a:path>
                </a:pathLst>
              </a:custGeom>
              <a:noFill/>
              <a:ln w="9525" cap="flat"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6" name="任意多边形 18">
                <a:extLst>
                  <a:ext uri="{FF2B5EF4-FFF2-40B4-BE49-F238E27FC236}">
                    <a16:creationId xmlns:a16="http://schemas.microsoft.com/office/drawing/2014/main" id="{9DE26869-BEBF-4B85-B1A0-9181FBE9A498}"/>
                  </a:ext>
                </a:extLst>
              </p:cNvPr>
              <p:cNvSpPr>
                <a:spLocks/>
              </p:cNvSpPr>
              <p:nvPr/>
            </p:nvSpPr>
            <p:spPr bwMode="auto">
              <a:xfrm>
                <a:off x="678912" y="2101287"/>
                <a:ext cx="4180473" cy="1369055"/>
              </a:xfrm>
              <a:custGeom>
                <a:avLst/>
                <a:gdLst>
                  <a:gd name="T0" fmla="*/ 0 w 4180114"/>
                  <a:gd name="T1" fmla="*/ 1407929 h 1367444"/>
                  <a:gd name="T2" fmla="*/ 1141079 w 4180114"/>
                  <a:gd name="T3" fmla="*/ 1311495 h 1367444"/>
                  <a:gd name="T4" fmla="*/ 2076380 w 4180114"/>
                  <a:gd name="T5" fmla="*/ 713607 h 1367444"/>
                  <a:gd name="T6" fmla="*/ 2918156 w 4180114"/>
                  <a:gd name="T7" fmla="*/ 135006 h 1367444"/>
                  <a:gd name="T8" fmla="*/ 4190177 w 4180114"/>
                  <a:gd name="T9" fmla="*/ 0 h 13674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80114" h="1367444">
                    <a:moveTo>
                      <a:pt x="0" y="1362269"/>
                    </a:moveTo>
                    <a:cubicBezTo>
                      <a:pt x="396551" y="1371599"/>
                      <a:pt x="793102" y="1380930"/>
                      <a:pt x="1138335" y="1268963"/>
                    </a:cubicBezTo>
                    <a:cubicBezTo>
                      <a:pt x="1483568" y="1156996"/>
                      <a:pt x="1775927" y="880187"/>
                      <a:pt x="2071396" y="690465"/>
                    </a:cubicBezTo>
                    <a:cubicBezTo>
                      <a:pt x="2366865" y="500742"/>
                      <a:pt x="2559698" y="245705"/>
                      <a:pt x="2911151" y="130628"/>
                    </a:cubicBezTo>
                    <a:cubicBezTo>
                      <a:pt x="3262604" y="15551"/>
                      <a:pt x="3721359" y="7775"/>
                      <a:pt x="4180114" y="0"/>
                    </a:cubicBezTo>
                  </a:path>
                </a:pathLst>
              </a:custGeom>
              <a:noFill/>
              <a:ln w="9525" cap="flat"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17" name="文本框 19">
                <a:extLst>
                  <a:ext uri="{FF2B5EF4-FFF2-40B4-BE49-F238E27FC236}">
                    <a16:creationId xmlns:a16="http://schemas.microsoft.com/office/drawing/2014/main" id="{16C3BD7F-23A6-4B67-AC81-0D52B2F57300}"/>
                  </a:ext>
                </a:extLst>
              </p:cNvPr>
              <p:cNvSpPr txBox="1">
                <a:spLocks noChangeArrowheads="1"/>
              </p:cNvSpPr>
              <p:nvPr/>
            </p:nvSpPr>
            <p:spPr bwMode="auto">
              <a:xfrm>
                <a:off x="180615" y="-100647"/>
                <a:ext cx="834945" cy="5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Delta</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8" name="文本框 20">
                <a:extLst>
                  <a:ext uri="{FF2B5EF4-FFF2-40B4-BE49-F238E27FC236}">
                    <a16:creationId xmlns:a16="http://schemas.microsoft.com/office/drawing/2014/main" id="{29DF8BC6-DF0F-41CA-8217-8A000E462254}"/>
                  </a:ext>
                </a:extLst>
              </p:cNvPr>
              <p:cNvSpPr txBox="1">
                <a:spLocks noChangeArrowheads="1"/>
              </p:cNvSpPr>
              <p:nvPr/>
            </p:nvSpPr>
            <p:spPr bwMode="auto">
              <a:xfrm>
                <a:off x="245029" y="314260"/>
                <a:ext cx="359909"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1</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9" name="文本框 21">
                <a:extLst>
                  <a:ext uri="{FF2B5EF4-FFF2-40B4-BE49-F238E27FC236}">
                    <a16:creationId xmlns:a16="http://schemas.microsoft.com/office/drawing/2014/main" id="{D1EDCAE4-B2F7-4286-80B5-4702C91E5846}"/>
                  </a:ext>
                </a:extLst>
              </p:cNvPr>
              <p:cNvSpPr txBox="1">
                <a:spLocks noChangeArrowheads="1"/>
              </p:cNvSpPr>
              <p:nvPr/>
            </p:nvSpPr>
            <p:spPr bwMode="auto">
              <a:xfrm>
                <a:off x="25457" y="1052295"/>
                <a:ext cx="562965"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0.5</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0" name="文本框 22">
                <a:extLst>
                  <a:ext uri="{FF2B5EF4-FFF2-40B4-BE49-F238E27FC236}">
                    <a16:creationId xmlns:a16="http://schemas.microsoft.com/office/drawing/2014/main" id="{DFC59FA2-4824-4E3E-9B96-56859A4F738D}"/>
                  </a:ext>
                </a:extLst>
              </p:cNvPr>
              <p:cNvSpPr txBox="1">
                <a:spLocks noChangeArrowheads="1"/>
              </p:cNvSpPr>
              <p:nvPr/>
            </p:nvSpPr>
            <p:spPr bwMode="auto">
              <a:xfrm>
                <a:off x="245029" y="1866516"/>
                <a:ext cx="359909"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1" name="文本框 23">
                <a:extLst>
                  <a:ext uri="{FF2B5EF4-FFF2-40B4-BE49-F238E27FC236}">
                    <a16:creationId xmlns:a16="http://schemas.microsoft.com/office/drawing/2014/main" id="{EDBB6DED-5C60-4EA2-98A0-CF4EDB4487CA}"/>
                  </a:ext>
                </a:extLst>
              </p:cNvPr>
              <p:cNvSpPr txBox="1">
                <a:spLocks noChangeArrowheads="1"/>
              </p:cNvSpPr>
              <p:nvPr/>
            </p:nvSpPr>
            <p:spPr bwMode="auto">
              <a:xfrm>
                <a:off x="0" y="2606138"/>
                <a:ext cx="671012"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-0.5</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2" name="文本框 24">
                <a:extLst>
                  <a:ext uri="{FF2B5EF4-FFF2-40B4-BE49-F238E27FC236}">
                    <a16:creationId xmlns:a16="http://schemas.microsoft.com/office/drawing/2014/main" id="{47B3C927-6890-405C-BA9B-F66C2AFA26B5}"/>
                  </a:ext>
                </a:extLst>
              </p:cNvPr>
              <p:cNvSpPr txBox="1">
                <a:spLocks noChangeArrowheads="1"/>
              </p:cNvSpPr>
              <p:nvPr/>
            </p:nvSpPr>
            <p:spPr bwMode="auto">
              <a:xfrm>
                <a:off x="182977" y="3344175"/>
                <a:ext cx="467956"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-1</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3" name="文本框 26">
                <a:extLst>
                  <a:ext uri="{FF2B5EF4-FFF2-40B4-BE49-F238E27FC236}">
                    <a16:creationId xmlns:a16="http://schemas.microsoft.com/office/drawing/2014/main" id="{F2D00E60-DC8E-44ED-B571-99B7DA82726F}"/>
                  </a:ext>
                </a:extLst>
              </p:cNvPr>
              <p:cNvSpPr txBox="1">
                <a:spLocks noChangeArrowheads="1"/>
              </p:cNvSpPr>
              <p:nvPr/>
            </p:nvSpPr>
            <p:spPr bwMode="auto">
              <a:xfrm>
                <a:off x="2948302" y="1393537"/>
                <a:ext cx="1658341"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Call Options</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24" name="文本框 27">
                <a:extLst>
                  <a:ext uri="{FF2B5EF4-FFF2-40B4-BE49-F238E27FC236}">
                    <a16:creationId xmlns:a16="http://schemas.microsoft.com/office/drawing/2014/main" id="{2B661239-8EBB-4AC1-88DA-5C6A77987F2D}"/>
                  </a:ext>
                </a:extLst>
              </p:cNvPr>
              <p:cNvSpPr txBox="1">
                <a:spLocks noChangeArrowheads="1"/>
              </p:cNvSpPr>
              <p:nvPr/>
            </p:nvSpPr>
            <p:spPr bwMode="auto">
              <a:xfrm>
                <a:off x="2948302" y="2904527"/>
                <a:ext cx="1619220" cy="5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a:spcBef>
                    <a:spcPct val="30000"/>
                  </a:spcBef>
                  <a:buClr>
                    <a:srgbClr val="800000"/>
                  </a:buClr>
                  <a:buSzPct val="80000"/>
                  <a:buFont typeface="Wingdings" panose="05000000000000000000" pitchFamily="2" charset="2"/>
                  <a:buNone/>
                </a:pPr>
                <a:r>
                  <a:rPr lang="en-US" altLang="zh-CN" sz="1800" b="0">
                    <a:solidFill>
                      <a:srgbClr val="2C3E50"/>
                    </a:solidFill>
                    <a:latin typeface="Segoe UI" panose="020B0502040204020203" pitchFamily="34" charset="0"/>
                    <a:cs typeface="Segoe UI" panose="020B0502040204020203" pitchFamily="34" charset="0"/>
                  </a:rPr>
                  <a:t>Put Options</a:t>
                </a:r>
                <a:endParaRPr lang="zh-CN" altLang="en-US" sz="1800" b="0">
                  <a:solidFill>
                    <a:srgbClr val="2C3E50"/>
                  </a:solidFill>
                  <a:latin typeface="Segoe UI" panose="020B0502040204020203" pitchFamily="34" charset="0"/>
                  <a:cs typeface="Segoe UI" panose="020B0502040204020203" pitchFamily="34" charset="0"/>
                </a:endParaRPr>
              </a:p>
            </p:txBody>
          </p:sp>
        </p:grpSp>
      </p:grpSp>
      <p:graphicFrame>
        <p:nvGraphicFramePr>
          <p:cNvPr id="25" name="Group 25">
            <a:extLst>
              <a:ext uri="{FF2B5EF4-FFF2-40B4-BE49-F238E27FC236}">
                <a16:creationId xmlns:a16="http://schemas.microsoft.com/office/drawing/2014/main" id="{804EA4E5-64D2-4935-9FBD-533336A3F9BC}"/>
              </a:ext>
            </a:extLst>
          </p:cNvPr>
          <p:cNvGraphicFramePr>
            <a:graphicFrameLocks noGrp="1"/>
          </p:cNvGraphicFramePr>
          <p:nvPr>
            <p:extLst>
              <p:ext uri="{D42A27DB-BD31-4B8C-83A1-F6EECF244321}">
                <p14:modId xmlns:p14="http://schemas.microsoft.com/office/powerpoint/2010/main" val="998312946"/>
              </p:ext>
            </p:extLst>
          </p:nvPr>
        </p:nvGraphicFramePr>
        <p:xfrm>
          <a:off x="6969791" y="4162425"/>
          <a:ext cx="2125662" cy="2012952"/>
        </p:xfrm>
        <a:graphic>
          <a:graphicData uri="http://schemas.openxmlformats.org/drawingml/2006/table">
            <a:tbl>
              <a:tblPr/>
              <a:tblGrid>
                <a:gridCol w="1327150">
                  <a:extLst>
                    <a:ext uri="{9D8B030D-6E8A-4147-A177-3AD203B41FA5}">
                      <a16:colId xmlns:a16="http://schemas.microsoft.com/office/drawing/2014/main" val="20000"/>
                    </a:ext>
                  </a:extLst>
                </a:gridCol>
                <a:gridCol w="798512">
                  <a:extLst>
                    <a:ext uri="{9D8B030D-6E8A-4147-A177-3AD203B41FA5}">
                      <a16:colId xmlns:a16="http://schemas.microsoft.com/office/drawing/2014/main" val="20001"/>
                    </a:ext>
                  </a:extLst>
                </a:gridCol>
              </a:tblGrid>
              <a:tr h="50323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Long Call</a:t>
                      </a:r>
                      <a:endParaRPr kumimoji="0" lang="zh-CN" altLang="en-US"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endParaRP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Δ &gt; 0</a:t>
                      </a:r>
                      <a:endParaRPr kumimoji="0" lang="zh-CN" altLang="en-US" sz="18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endParaRP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Short Call</a:t>
                      </a:r>
                      <a:endParaRPr kumimoji="0" lang="zh-CN" altLang="en-US"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endParaRP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Δ &lt; 0</a:t>
                      </a: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23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Long Put</a:t>
                      </a:r>
                      <a:endParaRPr kumimoji="0" lang="zh-CN" altLang="en-US" sz="1800" b="0" i="0" u="none" strike="noStrike" cap="none" normalizeH="0" baseline="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endParaRP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Δ &lt; 0</a:t>
                      </a:r>
                      <a:endParaRPr kumimoji="0" lang="zh-CN" altLang="en-US"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endParaRP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Short Put</a:t>
                      </a:r>
                      <a:endParaRPr kumimoji="0" lang="zh-CN" altLang="en-US"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endParaRP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anose="02010600030101010101" pitchFamily="2" charset="-122"/>
                          <a:cs typeface="Segoe UI" panose="020B0502040204020203" pitchFamily="34" charset="0"/>
                        </a:rPr>
                        <a:t>Δ &gt; 0</a:t>
                      </a:r>
                    </a:p>
                  </a:txBody>
                  <a:tcPr marL="91481" marR="91481" marT="45713" marB="4571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70486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Greek Letters</a:t>
            </a:r>
          </a:p>
        </p:txBody>
      </p:sp>
      <p:sp>
        <p:nvSpPr>
          <p:cNvPr id="3" name="文本占位符 2"/>
          <p:cNvSpPr>
            <a:spLocks noGrp="1"/>
          </p:cNvSpPr>
          <p:nvPr>
            <p:ph type="body" sz="quarter" idx="10"/>
          </p:nvPr>
        </p:nvSpPr>
        <p:spPr/>
        <p:txBody>
          <a:bodyPr>
            <a:normAutofit fontScale="85000" lnSpcReduction="10000"/>
          </a:bodyPr>
          <a:lstStyle/>
          <a:p>
            <a:pPr>
              <a:spcBef>
                <a:spcPct val="0"/>
              </a:spcBef>
              <a:defRPr/>
            </a:pPr>
            <a:r>
              <a:rPr lang="en-US" altLang="zh-CN" dirty="0"/>
              <a:t>Impact of Underlying Asset Price – Delta (cont’d)</a:t>
            </a:r>
          </a:p>
          <a:p>
            <a:pPr lvl="1">
              <a:spcBef>
                <a:spcPct val="0"/>
              </a:spcBef>
              <a:defRPr/>
            </a:pPr>
            <a:r>
              <a:rPr lang="en-US" altLang="zh-CN" b="1" dirty="0"/>
              <a:t>According to the BSM Model, option delta</a:t>
            </a:r>
            <a:r>
              <a:rPr lang="en-US" altLang="zh-CN" dirty="0"/>
              <a:t> </a:t>
            </a:r>
            <a:r>
              <a:rPr lang="en-US" altLang="zh-CN" b="1" dirty="0"/>
              <a:t>is as follow</a:t>
            </a:r>
          </a:p>
          <a:p>
            <a:pPr lvl="1">
              <a:spcBef>
                <a:spcPct val="0"/>
              </a:spcBef>
              <a:defRPr/>
            </a:pPr>
            <a:endParaRPr lang="en-US" altLang="zh-CN" dirty="0"/>
          </a:p>
          <a:p>
            <a:pPr lvl="1">
              <a:spcBef>
                <a:spcPct val="0"/>
              </a:spcBef>
              <a:defRPr/>
            </a:pPr>
            <a:endParaRPr lang="en-US" altLang="zh-CN" dirty="0"/>
          </a:p>
          <a:p>
            <a:pPr lvl="1">
              <a:spcBef>
                <a:spcPct val="0"/>
              </a:spcBef>
              <a:defRPr/>
            </a:pPr>
            <a:r>
              <a:rPr lang="en-US" altLang="zh-CN" b="1" dirty="0"/>
              <a:t>Portfolio Delta:</a:t>
            </a:r>
            <a:r>
              <a:rPr lang="en-US" altLang="zh-CN" dirty="0"/>
              <a:t> </a:t>
            </a:r>
            <a:r>
              <a:rPr lang="en-US" altLang="zh-CN" u="sng" dirty="0"/>
              <a:t>summation of product of each position and its delta.</a:t>
            </a:r>
          </a:p>
          <a:p>
            <a:pPr>
              <a:spcBef>
                <a:spcPct val="0"/>
              </a:spcBef>
              <a:defRPr/>
            </a:pPr>
            <a:r>
              <a:rPr lang="en-US" altLang="zh-CN" dirty="0"/>
              <a:t>Delta Hedge</a:t>
            </a:r>
          </a:p>
          <a:p>
            <a:pPr lvl="1">
              <a:spcBef>
                <a:spcPct val="0"/>
              </a:spcBef>
              <a:defRPr/>
            </a:pPr>
            <a:r>
              <a:rPr lang="en-US" altLang="zh-CN" dirty="0"/>
              <a:t>A position with a </a:t>
            </a:r>
            <a:r>
              <a:rPr lang="en-US" altLang="zh-CN" u="sng" dirty="0"/>
              <a:t>delta of zero</a:t>
            </a:r>
            <a:r>
              <a:rPr lang="en-US" altLang="zh-CN" dirty="0"/>
              <a:t> is called a </a:t>
            </a:r>
            <a:r>
              <a:rPr lang="en-US" altLang="zh-CN" u="sng" dirty="0"/>
              <a:t>delta neutral</a:t>
            </a:r>
            <a:r>
              <a:rPr lang="en-US" altLang="zh-CN" dirty="0"/>
              <a:t> position.</a:t>
            </a:r>
          </a:p>
          <a:p>
            <a:pPr lvl="1">
              <a:spcBef>
                <a:spcPct val="0"/>
              </a:spcBef>
              <a:defRPr/>
            </a:pPr>
            <a:r>
              <a:rPr lang="en-US" altLang="zh-CN" dirty="0"/>
              <a:t>To maintain a delta neutral position, trader must re-balance the portfolio. </a:t>
            </a:r>
            <a:r>
              <a:rPr lang="en-US" altLang="zh-CN" u="sng" dirty="0"/>
              <a:t>If gamma is higher (such as the case when options are at-the-money), rebalancing more frequently is required. On the other hand, when gamma is lower (such is the case when options are deeply in the money/deeply out of the money), rebalancing is required less frequently.</a:t>
            </a:r>
          </a:p>
          <a:p>
            <a:pPr lvl="1">
              <a:spcBef>
                <a:spcPct val="0"/>
              </a:spcBef>
              <a:defRPr/>
            </a:pPr>
            <a:r>
              <a:rPr lang="en-US" altLang="zh-CN" dirty="0"/>
              <a:t>Hedge against </a:t>
            </a:r>
            <a:r>
              <a:rPr lang="en-US" altLang="zh-CN" u="sng" dirty="0"/>
              <a:t>small changes</a:t>
            </a:r>
            <a:r>
              <a:rPr lang="en-US" altLang="zh-CN" dirty="0"/>
              <a:t> in asset price.</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038434F4-D97A-48AD-A518-C678B8B0C964}"/>
                  </a:ext>
                </a:extLst>
              </p:cNvPr>
              <p:cNvSpPr/>
              <p:nvPr/>
            </p:nvSpPr>
            <p:spPr>
              <a:xfrm>
                <a:off x="3539715" y="1811419"/>
                <a:ext cx="5112568" cy="619016"/>
              </a:xfrm>
              <a:prstGeom prst="rect">
                <a:avLst/>
              </a:prstGeom>
              <a:ln w="1905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Δ</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den>
                      </m:f>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qT</m:t>
                          </m:r>
                        </m:sup>
                      </m:s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Δ</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S</m:t>
                          </m:r>
                        </m:den>
                      </m:f>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e>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qT</m:t>
                          </m:r>
                        </m:sup>
                      </m:sSup>
                      <m:d>
                        <m:dPr>
                          <m:begChr m:val="["/>
                          <m:endChr m:val="]"/>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e>
                      </m:d>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038434F4-D97A-48AD-A518-C678B8B0C964}"/>
                  </a:ext>
                </a:extLst>
              </p:cNvPr>
              <p:cNvSpPr>
                <a:spLocks noRot="1" noChangeAspect="1" noMove="1" noResize="1" noEditPoints="1" noAdjustHandles="1" noChangeArrowheads="1" noChangeShapeType="1" noTextEdit="1"/>
              </p:cNvSpPr>
              <p:nvPr/>
            </p:nvSpPr>
            <p:spPr>
              <a:xfrm>
                <a:off x="3539715" y="1811419"/>
                <a:ext cx="5112568" cy="619016"/>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692147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Greek Letters</a:t>
            </a:r>
          </a:p>
        </p:txBody>
      </p:sp>
      <p:sp>
        <p:nvSpPr>
          <p:cNvPr id="3" name="文本占位符 2"/>
          <p:cNvSpPr>
            <a:spLocks noGrp="1"/>
          </p:cNvSpPr>
          <p:nvPr>
            <p:ph type="body" sz="quarter" idx="10"/>
          </p:nvPr>
        </p:nvSpPr>
        <p:spPr>
          <a:xfrm>
            <a:off x="393599" y="813469"/>
            <a:ext cx="11404800" cy="4127241"/>
          </a:xfrm>
        </p:spPr>
        <p:txBody>
          <a:bodyPr>
            <a:normAutofit fontScale="92500" lnSpcReduction="20000"/>
          </a:bodyPr>
          <a:lstStyle/>
          <a:p>
            <a:pPr>
              <a:spcBef>
                <a:spcPct val="0"/>
              </a:spcBef>
            </a:pPr>
            <a:r>
              <a:rPr lang="en-US" altLang="zh-CN" dirty="0"/>
              <a:t>Impact of Underlying Asset Price – Gamma</a:t>
            </a:r>
          </a:p>
          <a:p>
            <a:pPr lvl="1">
              <a:spcBef>
                <a:spcPct val="0"/>
              </a:spcBef>
            </a:pPr>
            <a:r>
              <a:rPr lang="en-US" altLang="zh-CN" u="sng" dirty="0"/>
              <a:t>Rate of delta change with respect to price change of underlying asset. </a:t>
            </a:r>
          </a:p>
          <a:p>
            <a:pPr lvl="1">
              <a:spcBef>
                <a:spcPct val="0"/>
              </a:spcBef>
            </a:pPr>
            <a:r>
              <a:rPr lang="en-US" altLang="zh-CN" u="sng" dirty="0"/>
              <a:t>Providing added protection against large movements</a:t>
            </a:r>
            <a:r>
              <a:rPr lang="en-US" altLang="zh-CN" dirty="0"/>
              <a:t>.</a:t>
            </a:r>
            <a:endParaRPr lang="en-US" altLang="zh-CN" u="sng" dirty="0"/>
          </a:p>
          <a:p>
            <a:pPr lvl="1">
              <a:spcBef>
                <a:spcPct val="0"/>
              </a:spcBef>
            </a:pPr>
            <a:r>
              <a:rPr lang="en-US" altLang="zh-CN" u="sng" dirty="0"/>
              <a:t>If gamma is large, delta is very sensitive to the price change of the underlying asset. </a:t>
            </a:r>
          </a:p>
          <a:p>
            <a:pPr lvl="1">
              <a:spcBef>
                <a:spcPct val="0"/>
              </a:spcBef>
            </a:pPr>
            <a:r>
              <a:rPr lang="en-US" altLang="zh-CN" u="sng" dirty="0"/>
              <a:t>Largest when is at-the-money.</a:t>
            </a:r>
          </a:p>
          <a:p>
            <a:pPr lvl="1">
              <a:spcBef>
                <a:spcPct val="0"/>
              </a:spcBef>
            </a:pPr>
            <a:r>
              <a:rPr lang="en-US" altLang="zh-CN" u="sng" dirty="0"/>
              <a:t>Same for call and put options.</a:t>
            </a:r>
          </a:p>
          <a:p>
            <a:pPr>
              <a:spcBef>
                <a:spcPct val="0"/>
              </a:spcBef>
            </a:pPr>
            <a:r>
              <a:rPr lang="en-US" altLang="zh-CN" dirty="0"/>
              <a:t>Gamma Hedge</a:t>
            </a:r>
          </a:p>
          <a:p>
            <a:pPr lvl="1">
              <a:spcBef>
                <a:spcPct val="0"/>
              </a:spcBef>
            </a:pPr>
            <a:r>
              <a:rPr lang="en-US" altLang="zh-CN" u="sng" dirty="0"/>
              <a:t>Hedge against larger changes</a:t>
            </a:r>
            <a:endParaRPr lang="en-US" altLang="zh-CN" u="sng" dirty="0">
              <a:sym typeface="+mn-lt"/>
            </a:endParaRPr>
          </a:p>
        </p:txBody>
      </p:sp>
      <p:pic>
        <p:nvPicPr>
          <p:cNvPr id="4" name="图片 3">
            <a:extLst>
              <a:ext uri="{FF2B5EF4-FFF2-40B4-BE49-F238E27FC236}">
                <a16:creationId xmlns:a16="http://schemas.microsoft.com/office/drawing/2014/main" id="{B3171721-49DA-4F70-8A99-329F808B36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44139" y="2571751"/>
            <a:ext cx="4087812"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Group 5">
            <a:extLst>
              <a:ext uri="{FF2B5EF4-FFF2-40B4-BE49-F238E27FC236}">
                <a16:creationId xmlns:a16="http://schemas.microsoft.com/office/drawing/2014/main" id="{47550F81-BACE-4B18-9358-ECFD92EA03F5}"/>
              </a:ext>
            </a:extLst>
          </p:cNvPr>
          <p:cNvGraphicFramePr>
            <a:graphicFrameLocks noGrp="1"/>
          </p:cNvGraphicFramePr>
          <p:nvPr>
            <p:extLst>
              <p:ext uri="{D42A27DB-BD31-4B8C-83A1-F6EECF244321}">
                <p14:modId xmlns:p14="http://schemas.microsoft.com/office/powerpoint/2010/main" val="3239799068"/>
              </p:ext>
            </p:extLst>
          </p:nvPr>
        </p:nvGraphicFramePr>
        <p:xfrm>
          <a:off x="2022607" y="5034880"/>
          <a:ext cx="3692525" cy="1009651"/>
        </p:xfrm>
        <a:graphic>
          <a:graphicData uri="http://schemas.openxmlformats.org/drawingml/2006/table">
            <a:tbl>
              <a:tblPr/>
              <a:tblGrid>
                <a:gridCol w="956037">
                  <a:extLst>
                    <a:ext uri="{9D8B030D-6E8A-4147-A177-3AD203B41FA5}">
                      <a16:colId xmlns:a16="http://schemas.microsoft.com/office/drawing/2014/main" val="20000"/>
                    </a:ext>
                  </a:extLst>
                </a:gridCol>
                <a:gridCol w="936167">
                  <a:extLst>
                    <a:ext uri="{9D8B030D-6E8A-4147-A177-3AD203B41FA5}">
                      <a16:colId xmlns:a16="http://schemas.microsoft.com/office/drawing/2014/main" val="20001"/>
                    </a:ext>
                  </a:extLst>
                </a:gridCol>
                <a:gridCol w="864154">
                  <a:extLst>
                    <a:ext uri="{9D8B030D-6E8A-4147-A177-3AD203B41FA5}">
                      <a16:colId xmlns:a16="http://schemas.microsoft.com/office/drawing/2014/main" val="20002"/>
                    </a:ext>
                  </a:extLst>
                </a:gridCol>
                <a:gridCol w="936167">
                  <a:extLst>
                    <a:ext uri="{9D8B030D-6E8A-4147-A177-3AD203B41FA5}">
                      <a16:colId xmlns:a16="http://schemas.microsoft.com/office/drawing/2014/main" val="20003"/>
                    </a:ext>
                  </a:extLst>
                </a:gridCol>
              </a:tblGrid>
              <a:tr h="639965">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Long Call</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Short Call</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Long Put</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Short Put</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9685">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γ &gt; 0</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γ &lt; 0</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γ &gt; 0</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tc>
                  <a:txBody>
                    <a:bodyPr/>
                    <a:lstStyle>
                      <a:lvl1pPr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1pPr>
                      <a:lvl2pPr marL="742950" indent="-285750" algn="just">
                        <a:lnSpc>
                          <a:spcPct val="120000"/>
                        </a:lnSpc>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2pPr>
                      <a:lvl3pPr marL="1143000" indent="-228600" algn="just">
                        <a:lnSpc>
                          <a:spcPct val="120000"/>
                        </a:lnSpc>
                        <a:buClr>
                          <a:srgbClr val="800000"/>
                        </a:buClr>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3pPr>
                      <a:lvl4pPr marL="1600200" indent="-228600">
                        <a:spcBef>
                          <a:spcPct val="30000"/>
                        </a:spcBef>
                        <a:buClr>
                          <a:srgbClr val="800000"/>
                        </a:buClr>
                        <a:buSzPct val="7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4pPr>
                      <a:lvl5pPr marL="2057400" indent="-228600">
                        <a:spcBef>
                          <a:spcPct val="30000"/>
                        </a:spcBef>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30000"/>
                        </a:spcBef>
                        <a:spcAft>
                          <a:spcPct val="0"/>
                        </a:spcAft>
                        <a:buClr>
                          <a:srgbClr val="800000"/>
                        </a:buClr>
                        <a:buSzPct val="80000"/>
                        <a:buFont typeface="Wingdings" panose="05000000000000000000" pitchFamily="2" charset="2"/>
                        <a:defRPr kumimoji="1">
                          <a:solidFill>
                            <a:schemeClr val="tx1"/>
                          </a:solidFill>
                          <a:latin typeface="Arial" panose="020B060402020202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微软雅黑" panose="020B0503020204020204" pitchFamily="34" charset="-122"/>
                          <a:cs typeface="Segoe UI" panose="020B0502040204020203" pitchFamily="34" charset="0"/>
                        </a:rPr>
                        <a:t>γ &lt; 0</a:t>
                      </a:r>
                    </a:p>
                  </a:txBody>
                  <a:tcPr marL="91469" marR="91469" marT="45663" marB="45663"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28416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Greek Letters</a:t>
            </a:r>
          </a:p>
        </p:txBody>
      </p:sp>
      <p:sp>
        <p:nvSpPr>
          <p:cNvPr id="3" name="文本占位符 2"/>
          <p:cNvSpPr>
            <a:spLocks noGrp="1"/>
          </p:cNvSpPr>
          <p:nvPr>
            <p:ph type="body" sz="quarter" idx="10"/>
          </p:nvPr>
        </p:nvSpPr>
        <p:spPr>
          <a:xfrm>
            <a:off x="393599" y="813469"/>
            <a:ext cx="8101472" cy="5690570"/>
          </a:xfrm>
        </p:spPr>
        <p:txBody>
          <a:bodyPr>
            <a:normAutofit fontScale="85000" lnSpcReduction="20000"/>
          </a:bodyPr>
          <a:lstStyle/>
          <a:p>
            <a:pPr>
              <a:spcBef>
                <a:spcPct val="0"/>
              </a:spcBef>
            </a:pPr>
            <a:r>
              <a:rPr lang="en-US" altLang="zh-CN" dirty="0"/>
              <a:t>Delta and Gamma Hedge</a:t>
            </a:r>
          </a:p>
          <a:p>
            <a:pPr lvl="1">
              <a:spcBef>
                <a:spcPct val="0"/>
              </a:spcBef>
            </a:pPr>
            <a:r>
              <a:rPr lang="en-US" altLang="zh-CN" b="1" dirty="0"/>
              <a:t>Example:</a:t>
            </a:r>
            <a:r>
              <a:rPr lang="en-US" altLang="zh-CN" dirty="0"/>
              <a:t> Suppose that a portfolio is delta neutral and has a gamma of -3,000. The delta and gamma of a particular traded call option are 0.62 and 1.50, respectively. Create a gamma-neutral position.</a:t>
            </a:r>
          </a:p>
          <a:p>
            <a:pPr lvl="2">
              <a:spcBef>
                <a:spcPct val="0"/>
              </a:spcBef>
            </a:pPr>
            <a:r>
              <a:rPr lang="en-US" altLang="zh-CN" dirty="0"/>
              <a:t>Buy 3,000/1.5 = 2,000 options</a:t>
            </a:r>
          </a:p>
          <a:p>
            <a:pPr lvl="2">
              <a:spcBef>
                <a:spcPct val="0"/>
              </a:spcBef>
            </a:pPr>
            <a:r>
              <a:rPr lang="en-US" altLang="zh-CN" dirty="0"/>
              <a:t>Sold 2,000 ×0.62 = 1,240 shares of the underlying position</a:t>
            </a:r>
          </a:p>
          <a:p>
            <a:pPr lvl="1">
              <a:spcBef>
                <a:spcPct val="0"/>
              </a:spcBef>
            </a:pPr>
            <a:r>
              <a:rPr lang="en-US" altLang="zh-CN" dirty="0"/>
              <a:t>You can also create a gamma needed position, e.g., gamma of -6,000.</a:t>
            </a:r>
          </a:p>
          <a:p>
            <a:pPr>
              <a:spcBef>
                <a:spcPct val="0"/>
              </a:spcBef>
            </a:pPr>
            <a:r>
              <a:rPr lang="en-US" altLang="zh-CN" dirty="0"/>
              <a:t>Impact of Volatility – Vega</a:t>
            </a:r>
          </a:p>
          <a:p>
            <a:pPr lvl="1" algn="just">
              <a:lnSpc>
                <a:spcPct val="120000"/>
              </a:lnSpc>
            </a:pPr>
            <a:r>
              <a:rPr lang="en-US" altLang="zh-CN" dirty="0">
                <a:solidFill>
                  <a:srgbClr val="2C3E50"/>
                </a:solidFill>
                <a:latin typeface="Segoe UI" panose="020B0502040204020203" pitchFamily="34" charset="0"/>
              </a:rPr>
              <a:t>Rate of change of the value of the option with respect to the </a:t>
            </a:r>
            <a:r>
              <a:rPr lang="en-US" altLang="zh-CN" u="sng" dirty="0">
                <a:solidFill>
                  <a:srgbClr val="2C3E50"/>
                </a:solidFill>
                <a:latin typeface="Segoe UI" panose="020B0502040204020203" pitchFamily="34" charset="0"/>
              </a:rPr>
              <a:t>volatility</a:t>
            </a:r>
            <a:r>
              <a:rPr lang="en-US" altLang="zh-CN" dirty="0">
                <a:solidFill>
                  <a:srgbClr val="2C3E50"/>
                </a:solidFill>
                <a:latin typeface="Segoe UI" panose="020B0502040204020203" pitchFamily="34" charset="0"/>
              </a:rPr>
              <a:t> of the underlying asset.</a:t>
            </a:r>
          </a:p>
          <a:p>
            <a:pPr lvl="1" algn="just">
              <a:lnSpc>
                <a:spcPct val="120000"/>
              </a:lnSpc>
            </a:pPr>
            <a:r>
              <a:rPr lang="en-US" altLang="zh-CN" u="sng" dirty="0">
                <a:solidFill>
                  <a:srgbClr val="2C3E50"/>
                </a:solidFill>
                <a:latin typeface="Segoe UI" panose="020B0502040204020203" pitchFamily="34" charset="0"/>
              </a:rPr>
              <a:t>Largest when is at-the-money.</a:t>
            </a:r>
          </a:p>
          <a:p>
            <a:pPr lvl="1" algn="just">
              <a:lnSpc>
                <a:spcPct val="120000"/>
              </a:lnSpc>
            </a:pPr>
            <a:r>
              <a:rPr lang="en-US" altLang="zh-CN" u="sng" dirty="0">
                <a:solidFill>
                  <a:srgbClr val="2C3E50"/>
                </a:solidFill>
                <a:latin typeface="Segoe UI" panose="020B0502040204020203" pitchFamily="34" charset="0"/>
              </a:rPr>
              <a:t>Same for call and put options.</a:t>
            </a:r>
          </a:p>
          <a:p>
            <a:pPr lvl="1">
              <a:spcBef>
                <a:spcPct val="0"/>
              </a:spcBef>
            </a:pPr>
            <a:endParaRPr lang="en-US" altLang="zh-CN" dirty="0"/>
          </a:p>
          <a:p>
            <a:pPr lvl="1">
              <a:spcBef>
                <a:spcPct val="0"/>
              </a:spcBef>
            </a:pPr>
            <a:endParaRPr lang="en-US" altLang="zh-CN" dirty="0"/>
          </a:p>
          <a:p>
            <a:endParaRPr lang="en-US" altLang="zh-CN" dirty="0">
              <a:latin typeface="+mn-lt"/>
              <a:ea typeface="+mn-ea"/>
              <a:cs typeface="+mn-ea"/>
              <a:sym typeface="+mn-lt"/>
            </a:endParaRPr>
          </a:p>
        </p:txBody>
      </p:sp>
      <p:pic>
        <p:nvPicPr>
          <p:cNvPr id="4" name="Picture 17">
            <a:extLst>
              <a:ext uri="{FF2B5EF4-FFF2-40B4-BE49-F238E27FC236}">
                <a16:creationId xmlns:a16="http://schemas.microsoft.com/office/drawing/2014/main" id="{1FCD9E36-BA9C-4299-9026-384BD2BD6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625" y="3768675"/>
            <a:ext cx="363537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52121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Greek Letters</a:t>
            </a:r>
          </a:p>
        </p:txBody>
      </p:sp>
      <p:sp>
        <p:nvSpPr>
          <p:cNvPr id="3" name="文本占位符 2"/>
          <p:cNvSpPr>
            <a:spLocks noGrp="1"/>
          </p:cNvSpPr>
          <p:nvPr>
            <p:ph type="body" sz="quarter" idx="10"/>
          </p:nvPr>
        </p:nvSpPr>
        <p:spPr>
          <a:xfrm>
            <a:off x="393599" y="813469"/>
            <a:ext cx="6734539" cy="5660163"/>
          </a:xfrm>
        </p:spPr>
        <p:txBody>
          <a:bodyPr>
            <a:normAutofit fontScale="77500" lnSpcReduction="20000"/>
          </a:bodyPr>
          <a:lstStyle/>
          <a:p>
            <a:pPr>
              <a:lnSpc>
                <a:spcPct val="160000"/>
              </a:lnSpc>
              <a:spcBef>
                <a:spcPct val="0"/>
              </a:spcBef>
              <a:defRPr/>
            </a:pPr>
            <a:r>
              <a:rPr lang="en-US" altLang="zh-CN" dirty="0"/>
              <a:t>Impact of Maturity – Theta</a:t>
            </a:r>
          </a:p>
          <a:p>
            <a:pPr lvl="1">
              <a:spcBef>
                <a:spcPct val="0"/>
              </a:spcBef>
              <a:defRPr/>
            </a:pPr>
            <a:r>
              <a:rPr lang="en-US" altLang="zh-CN" dirty="0"/>
              <a:t>Rate of change of the value of option with respect to the passage of time.</a:t>
            </a:r>
          </a:p>
          <a:p>
            <a:pPr lvl="1">
              <a:spcBef>
                <a:spcPct val="0"/>
              </a:spcBef>
              <a:defRPr/>
            </a:pPr>
            <a:r>
              <a:rPr lang="en-US" altLang="zh-CN" dirty="0"/>
              <a:t>Time decay. As time to maturity decreases, option tends to become less valuable, so theta is usually negative for an long position, means option lose value as time goes by.</a:t>
            </a:r>
          </a:p>
          <a:p>
            <a:pPr lvl="1">
              <a:spcBef>
                <a:spcPct val="0"/>
              </a:spcBef>
              <a:defRPr/>
            </a:pPr>
            <a:r>
              <a:rPr lang="en-US" altLang="zh-CN" dirty="0"/>
              <a:t>Short-term at the money option has a greatest negative theta.</a:t>
            </a:r>
          </a:p>
          <a:p>
            <a:pPr>
              <a:spcBef>
                <a:spcPct val="0"/>
              </a:spcBef>
              <a:defRPr/>
            </a:pPr>
            <a:r>
              <a:rPr lang="en-US" altLang="zh-CN" dirty="0"/>
              <a:t>Impact of Interest Rate – Rho</a:t>
            </a:r>
          </a:p>
          <a:p>
            <a:pPr lvl="1">
              <a:spcBef>
                <a:spcPct val="0"/>
              </a:spcBef>
              <a:defRPr/>
            </a:pPr>
            <a:r>
              <a:rPr lang="en-US" altLang="zh-CN" dirty="0"/>
              <a:t>Sensitivity to the </a:t>
            </a:r>
            <a:r>
              <a:rPr lang="en-US" altLang="zh-CN" u="sng" dirty="0"/>
              <a:t>interest rate</a:t>
            </a:r>
          </a:p>
          <a:p>
            <a:pPr lvl="1">
              <a:spcBef>
                <a:spcPct val="0"/>
              </a:spcBef>
              <a:defRPr/>
            </a:pPr>
            <a:r>
              <a:rPr lang="en-US" altLang="zh-CN" u="sng" dirty="0"/>
              <a:t>In the money calls and puts are more sensitive to changes in rates than out-of-the-money options</a:t>
            </a:r>
            <a:r>
              <a:rPr lang="en-US" altLang="zh-CN" dirty="0"/>
              <a:t>.</a:t>
            </a:r>
          </a:p>
          <a:p>
            <a:endParaRPr lang="en-US" altLang="zh-CN" dirty="0">
              <a:latin typeface="+mn-lt"/>
              <a:ea typeface="+mn-ea"/>
              <a:cs typeface="+mn-ea"/>
              <a:sym typeface="+mn-lt"/>
            </a:endParaRPr>
          </a:p>
        </p:txBody>
      </p:sp>
      <p:pic>
        <p:nvPicPr>
          <p:cNvPr id="4" name="Picture 2">
            <a:extLst>
              <a:ext uri="{FF2B5EF4-FFF2-40B4-BE49-F238E27FC236}">
                <a16:creationId xmlns:a16="http://schemas.microsoft.com/office/drawing/2014/main" id="{2184F2CC-869F-448E-BBE5-260B4089C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5378" y="2379900"/>
            <a:ext cx="3467100"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06436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1</a:t>
            </a:r>
          </a:p>
        </p:txBody>
      </p:sp>
      <p:sp>
        <p:nvSpPr>
          <p:cNvPr id="3" name="文本占位符 2"/>
          <p:cNvSpPr>
            <a:spLocks noGrp="1"/>
          </p:cNvSpPr>
          <p:nvPr>
            <p:ph type="body" sz="quarter" idx="10"/>
          </p:nvPr>
        </p:nvSpPr>
        <p:spPr/>
        <p:txBody>
          <a:bodyPr>
            <a:normAutofit fontScale="92500"/>
          </a:bodyPr>
          <a:lstStyle/>
          <a:p>
            <a:pPr>
              <a:lnSpc>
                <a:spcPct val="140000"/>
              </a:lnSpc>
              <a:spcBef>
                <a:spcPct val="0"/>
              </a:spcBef>
            </a:pPr>
            <a:r>
              <a:rPr lang="en-US" altLang="zh-CN" dirty="0"/>
              <a:t>Vega is the sensitivity of an option’s price to changes in volatility. Increases in an underlying instrument’s volatility will usual increase the value of options since increases in volatility produce a greater probability that an option will find its way into the money. Of the four options listed below, which investment has the potential to produce a negative Vega measure?</a:t>
            </a:r>
          </a:p>
          <a:p>
            <a:pPr lvl="1">
              <a:lnSpc>
                <a:spcPct val="140000"/>
              </a:lnSpc>
              <a:spcBef>
                <a:spcPct val="0"/>
              </a:spcBef>
              <a:buFont typeface="Calibri" panose="020F0502020204030204" pitchFamily="34" charset="0"/>
              <a:buAutoNum type="alphaUcPeriod"/>
            </a:pPr>
            <a:r>
              <a:rPr lang="en-US" altLang="zh-CN" dirty="0"/>
              <a:t>Shout Option</a:t>
            </a:r>
          </a:p>
          <a:p>
            <a:pPr lvl="1">
              <a:lnSpc>
                <a:spcPct val="140000"/>
              </a:lnSpc>
              <a:spcBef>
                <a:spcPct val="0"/>
              </a:spcBef>
              <a:buFont typeface="Calibri" panose="020F0502020204030204" pitchFamily="34" charset="0"/>
              <a:buAutoNum type="alphaUcPeriod"/>
            </a:pPr>
            <a:r>
              <a:rPr lang="en-US" altLang="zh-CN" dirty="0"/>
              <a:t>Call Option</a:t>
            </a:r>
          </a:p>
          <a:p>
            <a:pPr lvl="1">
              <a:lnSpc>
                <a:spcPct val="140000"/>
              </a:lnSpc>
              <a:spcBef>
                <a:spcPct val="0"/>
              </a:spcBef>
              <a:buFont typeface="Calibri" panose="020F0502020204030204" pitchFamily="34" charset="0"/>
              <a:buAutoNum type="alphaUcPeriod"/>
            </a:pPr>
            <a:r>
              <a:rPr lang="en-US" altLang="zh-CN" dirty="0"/>
              <a:t>Put Option</a:t>
            </a:r>
          </a:p>
          <a:p>
            <a:pPr lvl="1">
              <a:lnSpc>
                <a:spcPct val="140000"/>
              </a:lnSpc>
              <a:spcBef>
                <a:spcPct val="0"/>
              </a:spcBef>
              <a:buFont typeface="Calibri" panose="020F0502020204030204" pitchFamily="34" charset="0"/>
              <a:buAutoNum type="alphaUcPeriod"/>
            </a:pPr>
            <a:r>
              <a:rPr lang="en-US" altLang="zh-CN" dirty="0"/>
              <a:t>Barrier Option</a:t>
            </a:r>
          </a:p>
          <a:p>
            <a:pPr>
              <a:lnSpc>
                <a:spcPct val="140000"/>
              </a:lnSpc>
              <a:spcBef>
                <a:spcPct val="0"/>
              </a:spcBef>
            </a:pPr>
            <a:endParaRPr lang="en-US" altLang="zh-CN" dirty="0"/>
          </a:p>
          <a:p>
            <a:pPr>
              <a:lnSpc>
                <a:spcPct val="140000"/>
              </a:lnSpc>
              <a:spcBef>
                <a:spcPct val="0"/>
              </a:spcBef>
            </a:pPr>
            <a:r>
              <a:rPr lang="en-US" altLang="zh-CN" dirty="0"/>
              <a:t>Answer: D</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95463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2</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A cash-or-nothing call (also known as a digital call) pays a fixed amount to the buyer if the asset finishes above the strike price. Assume that at the end of a 1-year investment horizon, the stock is equal to $50, the fixed payment amount is equal to $45, and N(d</a:t>
            </a:r>
            <a:r>
              <a:rPr lang="en-US" altLang="zh-CN" baseline="-25000" dirty="0"/>
              <a:t>1</a:t>
            </a:r>
            <a:r>
              <a:rPr lang="en-US" altLang="zh-CN" dirty="0"/>
              <a:t>) and N(d</a:t>
            </a:r>
            <a:r>
              <a:rPr lang="en-US" altLang="zh-CN" baseline="-25000" dirty="0"/>
              <a:t>2</a:t>
            </a:r>
            <a:r>
              <a:rPr lang="en-US" altLang="zh-CN" dirty="0"/>
              <a:t>) from the Black-Scholes-Merton model are equal to 0.9767 and 0.9732, respectively. The value of this cash-or-nothing call when the risk-free rate equals 3% is closest to:</a:t>
            </a:r>
          </a:p>
          <a:p>
            <a:pPr lvl="1">
              <a:lnSpc>
                <a:spcPct val="140000"/>
              </a:lnSpc>
              <a:spcBef>
                <a:spcPct val="0"/>
              </a:spcBef>
              <a:buFont typeface="Calibri" panose="020F0502020204030204" pitchFamily="34" charset="0"/>
              <a:buAutoNum type="alphaUcPeriod"/>
            </a:pPr>
            <a:r>
              <a:rPr lang="en-US" altLang="zh-CN" dirty="0"/>
              <a:t>$5</a:t>
            </a:r>
          </a:p>
          <a:p>
            <a:pPr lvl="1">
              <a:lnSpc>
                <a:spcPct val="140000"/>
              </a:lnSpc>
              <a:spcBef>
                <a:spcPct val="0"/>
              </a:spcBef>
              <a:buFont typeface="Calibri" panose="020F0502020204030204" pitchFamily="34" charset="0"/>
              <a:buAutoNum type="alphaUcPeriod"/>
            </a:pPr>
            <a:r>
              <a:rPr lang="en-US" altLang="zh-CN" dirty="0"/>
              <a:t>$42</a:t>
            </a:r>
          </a:p>
          <a:p>
            <a:pPr lvl="1">
              <a:lnSpc>
                <a:spcPct val="140000"/>
              </a:lnSpc>
              <a:spcBef>
                <a:spcPct val="0"/>
              </a:spcBef>
              <a:buFont typeface="Calibri" panose="020F0502020204030204" pitchFamily="34" charset="0"/>
              <a:buAutoNum type="alphaUcPeriod"/>
            </a:pPr>
            <a:r>
              <a:rPr lang="en-US" altLang="zh-CN" dirty="0"/>
              <a:t>$44</a:t>
            </a:r>
          </a:p>
          <a:p>
            <a:pPr lvl="1">
              <a:lnSpc>
                <a:spcPct val="140000"/>
              </a:lnSpc>
              <a:spcBef>
                <a:spcPct val="0"/>
              </a:spcBef>
              <a:buFont typeface="Calibri" panose="020F0502020204030204" pitchFamily="34" charset="0"/>
              <a:buAutoNum type="alphaUcPeriod"/>
            </a:pPr>
            <a:r>
              <a:rPr lang="en-US" altLang="zh-CN" dirty="0"/>
              <a:t>$47</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4606678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3</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A stock is currently trading at USD 45, and its annual price volatility is 30%. The risk-tree rate is 1.5% per year. A risk manager is developing a 1-step binomial tree for a 2-year horizon. What is the risk-neutral probability that the stock will move down?</a:t>
            </a:r>
          </a:p>
          <a:p>
            <a:pPr lvl="1">
              <a:lnSpc>
                <a:spcPct val="140000"/>
              </a:lnSpc>
              <a:spcBef>
                <a:spcPct val="0"/>
              </a:spcBef>
              <a:buFont typeface="Calibri" panose="020F0502020204030204" pitchFamily="34" charset="0"/>
              <a:buAutoNum type="alphaUcPeriod"/>
            </a:pPr>
            <a:r>
              <a:rPr lang="en-US" altLang="zh-CN" dirty="0"/>
              <a:t>30% </a:t>
            </a:r>
          </a:p>
          <a:p>
            <a:pPr lvl="1">
              <a:lnSpc>
                <a:spcPct val="140000"/>
              </a:lnSpc>
              <a:spcBef>
                <a:spcPct val="0"/>
              </a:spcBef>
              <a:buFont typeface="Calibri" panose="020F0502020204030204" pitchFamily="34" charset="0"/>
              <a:buAutoNum type="alphaUcPeriod"/>
            </a:pPr>
            <a:r>
              <a:rPr lang="en-US" altLang="zh-CN" dirty="0"/>
              <a:t>43%</a:t>
            </a:r>
          </a:p>
          <a:p>
            <a:pPr lvl="1">
              <a:lnSpc>
                <a:spcPct val="140000"/>
              </a:lnSpc>
              <a:spcBef>
                <a:spcPct val="0"/>
              </a:spcBef>
              <a:buFont typeface="Calibri" panose="020F0502020204030204" pitchFamily="34" charset="0"/>
              <a:buAutoNum type="alphaUcPeriod"/>
            </a:pPr>
            <a:r>
              <a:rPr lang="en-US" altLang="zh-CN" dirty="0"/>
              <a:t>57%</a:t>
            </a:r>
          </a:p>
          <a:p>
            <a:pPr lvl="1">
              <a:lnSpc>
                <a:spcPct val="140000"/>
              </a:lnSpc>
              <a:spcBef>
                <a:spcPct val="0"/>
              </a:spcBef>
              <a:buFont typeface="Calibri" panose="020F0502020204030204" pitchFamily="34" charset="0"/>
              <a:buAutoNum type="alphaUcPeriod"/>
            </a:pPr>
            <a:r>
              <a:rPr lang="en-US" altLang="zh-CN" dirty="0"/>
              <a:t>70%</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811519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4</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GF Corporation is a non-dividend-paying stock that is currently priced at $48. An analyst has determined that the annual standard deviation of returns on GF stock is 8% and that the annual risk-free interest rate on a continuously compounded basis is 6%. Calculate the value of a 12-month American call option on GF stock with a strike price of $50 using a two-period binomial model.</a:t>
            </a:r>
          </a:p>
          <a:p>
            <a:pPr lvl="1">
              <a:lnSpc>
                <a:spcPct val="140000"/>
              </a:lnSpc>
              <a:spcBef>
                <a:spcPct val="0"/>
              </a:spcBef>
              <a:buFont typeface="Calibri" panose="020F0502020204030204" pitchFamily="34" charset="0"/>
              <a:buAutoNum type="alphaUcPeriod"/>
            </a:pPr>
            <a:r>
              <a:rPr lang="en-US" altLang="zh-CN" dirty="0"/>
              <a:t>$1.25</a:t>
            </a:r>
          </a:p>
          <a:p>
            <a:pPr lvl="1">
              <a:lnSpc>
                <a:spcPct val="140000"/>
              </a:lnSpc>
              <a:spcBef>
                <a:spcPct val="0"/>
              </a:spcBef>
              <a:buFont typeface="Calibri" panose="020F0502020204030204" pitchFamily="34" charset="0"/>
              <a:buAutoNum type="alphaUcPeriod"/>
            </a:pPr>
            <a:r>
              <a:rPr lang="en-US" altLang="zh-CN" dirty="0"/>
              <a:t>$2.01</a:t>
            </a:r>
          </a:p>
          <a:p>
            <a:pPr lvl="1">
              <a:lnSpc>
                <a:spcPct val="140000"/>
              </a:lnSpc>
              <a:spcBef>
                <a:spcPct val="0"/>
              </a:spcBef>
              <a:buFont typeface="Calibri" panose="020F0502020204030204" pitchFamily="34" charset="0"/>
              <a:buAutoNum type="alphaUcPeriod"/>
            </a:pPr>
            <a:r>
              <a:rPr lang="en-US" altLang="zh-CN" dirty="0"/>
              <a:t>$2</a:t>
            </a:r>
          </a:p>
          <a:p>
            <a:pPr lvl="1">
              <a:lnSpc>
                <a:spcPct val="140000"/>
              </a:lnSpc>
              <a:spcBef>
                <a:spcPct val="0"/>
              </a:spcBef>
              <a:buFont typeface="Calibri" panose="020F0502020204030204" pitchFamily="34" charset="0"/>
              <a:buAutoNum type="alphaUcPeriod"/>
            </a:pPr>
            <a:r>
              <a:rPr lang="en-US" altLang="zh-CN" dirty="0"/>
              <a:t>$2.21</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749424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5</a:t>
            </a:r>
          </a:p>
        </p:txBody>
      </p:sp>
      <p:sp>
        <p:nvSpPr>
          <p:cNvPr id="3" name="文本占位符 2"/>
          <p:cNvSpPr>
            <a:spLocks noGrp="1"/>
          </p:cNvSpPr>
          <p:nvPr>
            <p:ph type="body" sz="quarter" idx="10"/>
          </p:nvPr>
        </p:nvSpPr>
        <p:spPr/>
        <p:txBody>
          <a:bodyPr>
            <a:normAutofit fontScale="92500"/>
          </a:bodyPr>
          <a:lstStyle/>
          <a:p>
            <a:pPr>
              <a:lnSpc>
                <a:spcPct val="160000"/>
              </a:lnSpc>
              <a:defRPr/>
            </a:pPr>
            <a:r>
              <a:rPr lang="en-US" altLang="zh-CN" dirty="0"/>
              <a:t>Stock XYZ trades for $50 and has 1-year call and put options written on it with an exercise price of $50. The annual standard deviation estimate is 10%, and the continuously compounded risk-free rate is 5%. The value of both the call and put using the BSM option pricing model are closest to:</a:t>
            </a:r>
          </a:p>
          <a:p>
            <a:pPr marL="0" indent="0">
              <a:lnSpc>
                <a:spcPct val="160000"/>
              </a:lnSpc>
              <a:buNone/>
              <a:defRPr/>
            </a:pPr>
            <a:r>
              <a:rPr lang="en-US" altLang="zh-CN" dirty="0"/>
              <a:t>            Call	Put</a:t>
            </a:r>
          </a:p>
          <a:p>
            <a:pPr lvl="1">
              <a:lnSpc>
                <a:spcPct val="160000"/>
              </a:lnSpc>
              <a:defRPr/>
            </a:pPr>
            <a:r>
              <a:rPr lang="en-US" altLang="zh-CN" dirty="0"/>
              <a:t>$4.12	$1.11</a:t>
            </a:r>
          </a:p>
          <a:p>
            <a:pPr lvl="1">
              <a:lnSpc>
                <a:spcPct val="160000"/>
              </a:lnSpc>
              <a:defRPr/>
            </a:pPr>
            <a:r>
              <a:rPr lang="en-US" altLang="zh-CN" dirty="0"/>
              <a:t>$3.4	$0.96</a:t>
            </a:r>
          </a:p>
          <a:p>
            <a:pPr lvl="1">
              <a:lnSpc>
                <a:spcPct val="160000"/>
              </a:lnSpc>
              <a:defRPr/>
            </a:pPr>
            <a:r>
              <a:rPr lang="en-US" altLang="zh-CN" dirty="0"/>
              <a:t>$3.4	$1.11</a:t>
            </a:r>
          </a:p>
          <a:p>
            <a:pPr lvl="1">
              <a:lnSpc>
                <a:spcPct val="160000"/>
              </a:lnSpc>
              <a:defRPr/>
            </a:pPr>
            <a:r>
              <a:rPr lang="en-US" altLang="zh-CN" dirty="0"/>
              <a:t>$4.12	$0.96</a:t>
            </a:r>
          </a:p>
          <a:p>
            <a:pPr>
              <a:lnSpc>
                <a:spcPct val="160000"/>
              </a:lnSpc>
              <a:defRPr/>
            </a:pPr>
            <a:r>
              <a:rPr lang="en-US" altLang="zh-CN" dirty="0"/>
              <a:t>Answer: B	</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79ACE022-56B9-4881-8F90-AEC13BBFA3AD}"/>
              </a:ext>
            </a:extLst>
          </p:cNvPr>
          <p:cNvPicPr>
            <a:picLocks noChangeAspect="1"/>
          </p:cNvPicPr>
          <p:nvPr/>
        </p:nvPicPr>
        <p:blipFill>
          <a:blip r:embed="rId2"/>
          <a:stretch>
            <a:fillRect/>
          </a:stretch>
        </p:blipFill>
        <p:spPr>
          <a:xfrm>
            <a:off x="6877233" y="4025666"/>
            <a:ext cx="3127519" cy="1225402"/>
          </a:xfrm>
          <a:prstGeom prst="rect">
            <a:avLst/>
          </a:prstGeom>
        </p:spPr>
      </p:pic>
    </p:spTree>
    <p:extLst>
      <p:ext uri="{BB962C8B-B14F-4D97-AF65-F5344CB8AC3E}">
        <p14:creationId xmlns:p14="http://schemas.microsoft.com/office/powerpoint/2010/main" val="12728908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6</a:t>
            </a:r>
          </a:p>
        </p:txBody>
      </p:sp>
      <p:sp>
        <p:nvSpPr>
          <p:cNvPr id="3" name="文本占位符 2"/>
          <p:cNvSpPr>
            <a:spLocks noGrp="1"/>
          </p:cNvSpPr>
          <p:nvPr>
            <p:ph type="body" sz="quarter" idx="10"/>
          </p:nvPr>
        </p:nvSpPr>
        <p:spPr/>
        <p:txBody>
          <a:bodyPr>
            <a:normAutofit fontScale="85000" lnSpcReduction="20000"/>
          </a:bodyPr>
          <a:lstStyle/>
          <a:p>
            <a:pPr>
              <a:defRPr/>
            </a:pPr>
            <a:r>
              <a:rPr lang="en-US" altLang="zh-CN" dirty="0"/>
              <a:t>An investor holds an American call option on a dividend paying stock with the following characteristics </a:t>
            </a:r>
          </a:p>
          <a:p>
            <a:pPr marL="638175" lvl="1" indent="-285750">
              <a:defRPr/>
            </a:pPr>
            <a:r>
              <a:rPr lang="en-US" altLang="zh-CN" dirty="0"/>
              <a:t>Current stock price ,S=USD 50</a:t>
            </a:r>
          </a:p>
          <a:p>
            <a:pPr marL="638175" lvl="1" indent="-285750">
              <a:defRPr/>
            </a:pPr>
            <a:r>
              <a:rPr lang="en-US" altLang="zh-CN" dirty="0"/>
              <a:t>Strike price, K=USD 50</a:t>
            </a:r>
          </a:p>
          <a:p>
            <a:pPr marL="638175" lvl="1" indent="-285750">
              <a:defRPr/>
            </a:pPr>
            <a:r>
              <a:rPr lang="en-US" altLang="zh-CN" dirty="0"/>
              <a:t>Time to expiration ,T=2 months </a:t>
            </a:r>
          </a:p>
          <a:p>
            <a:pPr marL="352425" lvl="1" indent="0">
              <a:buFont typeface="+mj-lt"/>
              <a:buNone/>
              <a:defRPr/>
            </a:pPr>
            <a:r>
              <a:rPr lang="en-US" altLang="zh-CN" dirty="0"/>
              <a:t>A divided, D, of USD 1 per share has just been announced ,with an ex-dividend date, t, of one month from now, Assuming the risk-free rate, r, is 1.5% and the option stays at-the-money, is it optimal to exercise the option right before the ex-dividend date?</a:t>
            </a:r>
          </a:p>
          <a:p>
            <a:pPr lvl="1">
              <a:defRPr/>
            </a:pPr>
            <a:r>
              <a:rPr lang="en-US" altLang="zh-CN" dirty="0"/>
              <a:t>Yes, because S &lt; K*e </a:t>
            </a:r>
            <a:r>
              <a:rPr lang="en-US" altLang="zh-CN" baseline="30000" dirty="0"/>
              <a:t>(-r(T-t)) </a:t>
            </a:r>
            <a:r>
              <a:rPr lang="en-US" altLang="zh-CN" dirty="0"/>
              <a:t>+ D</a:t>
            </a:r>
          </a:p>
          <a:p>
            <a:pPr lvl="1">
              <a:defRPr/>
            </a:pPr>
            <a:r>
              <a:rPr lang="en-US" altLang="zh-CN" dirty="0"/>
              <a:t>Yes, because D &gt; K*(1-e</a:t>
            </a:r>
            <a:r>
              <a:rPr lang="en-US" altLang="zh-CN" baseline="30000" dirty="0"/>
              <a:t>(-r(T-t))</a:t>
            </a:r>
            <a:r>
              <a:rPr lang="en-US" altLang="zh-CN" dirty="0"/>
              <a:t>)</a:t>
            </a:r>
          </a:p>
          <a:p>
            <a:pPr lvl="1">
              <a:defRPr/>
            </a:pPr>
            <a:r>
              <a:rPr lang="en-US" altLang="zh-CN" dirty="0"/>
              <a:t>No, because the call option is at-the-money ,and early exercise is only optimal when it is deep in-the-money</a:t>
            </a:r>
          </a:p>
          <a:p>
            <a:pPr lvl="1">
              <a:defRPr/>
            </a:pPr>
            <a:r>
              <a:rPr lang="en-US" altLang="zh-CN" dirty="0"/>
              <a:t>No, because unlike an American put option, it is never optimal to exercise an American call option early.</a:t>
            </a:r>
          </a:p>
          <a:p>
            <a:pPr lvl="1">
              <a:defRPr/>
            </a:pPr>
            <a:endParaRPr lang="en-US" altLang="zh-CN" dirty="0"/>
          </a:p>
          <a:p>
            <a:endParaRPr lang="en-US" altLang="zh-CN" dirty="0">
              <a:latin typeface="+mn-lt"/>
              <a:ea typeface="+mn-ea"/>
              <a:cs typeface="+mn-ea"/>
              <a:sym typeface="+mn-lt"/>
            </a:endParaRPr>
          </a:p>
        </p:txBody>
      </p:sp>
    </p:spTree>
    <p:extLst>
      <p:ext uri="{BB962C8B-B14F-4D97-AF65-F5344CB8AC3E}">
        <p14:creationId xmlns:p14="http://schemas.microsoft.com/office/powerpoint/2010/main" val="809854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7-8</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Which of the following is true regarding options’ Greeks?</a:t>
            </a:r>
          </a:p>
          <a:p>
            <a:pPr lvl="1">
              <a:spcBef>
                <a:spcPct val="0"/>
              </a:spcBef>
              <a:buFont typeface="Calibri" panose="020F0502020204030204" pitchFamily="34" charset="0"/>
              <a:buAutoNum type="alphaUcPeriod"/>
            </a:pPr>
            <a:r>
              <a:rPr lang="en-US" altLang="zh-CN" dirty="0"/>
              <a:t>Theta tends to be large and positive when buying at-the-money options.</a:t>
            </a:r>
          </a:p>
          <a:p>
            <a:pPr lvl="1">
              <a:spcBef>
                <a:spcPct val="0"/>
              </a:spcBef>
              <a:buFont typeface="Calibri" panose="020F0502020204030204" pitchFamily="34" charset="0"/>
              <a:buAutoNum type="alphaUcPeriod"/>
            </a:pPr>
            <a:r>
              <a:rPr lang="en-US" altLang="zh-CN" dirty="0"/>
              <a:t>Gamma is greatest for in-the-money options with long maturities.</a:t>
            </a:r>
          </a:p>
          <a:p>
            <a:pPr lvl="1">
              <a:spcBef>
                <a:spcPct val="0"/>
              </a:spcBef>
              <a:buFont typeface="Calibri" panose="020F0502020204030204" pitchFamily="34" charset="0"/>
              <a:buAutoNum type="alphaUcPeriod"/>
            </a:pPr>
            <a:r>
              <a:rPr lang="en-US" altLang="zh-CN" dirty="0"/>
              <a:t>Vega is greatest for at-the-money options with long maturities.</a:t>
            </a:r>
          </a:p>
          <a:p>
            <a:pPr lvl="1">
              <a:spcBef>
                <a:spcPct val="0"/>
              </a:spcBef>
              <a:buFont typeface="Calibri" panose="020F0502020204030204" pitchFamily="34" charset="0"/>
              <a:buAutoNum type="alphaUcPeriod"/>
            </a:pPr>
            <a:r>
              <a:rPr lang="en-US" altLang="zh-CN" dirty="0"/>
              <a:t>Delta of deep in-the-money put options tends towards +1</a:t>
            </a:r>
          </a:p>
          <a:p>
            <a:pPr>
              <a:spcBef>
                <a:spcPct val="0"/>
              </a:spcBef>
            </a:pPr>
            <a:r>
              <a:rPr lang="en-US" altLang="zh-CN" dirty="0"/>
              <a:t>Answer: C</a:t>
            </a:r>
          </a:p>
          <a:p>
            <a:pPr>
              <a:spcBef>
                <a:spcPct val="0"/>
              </a:spcBef>
            </a:pPr>
            <a:endParaRPr lang="en-US" altLang="zh-CN" dirty="0"/>
          </a:p>
          <a:p>
            <a:pPr>
              <a:spcBef>
                <a:spcPct val="0"/>
              </a:spcBef>
            </a:pPr>
            <a:r>
              <a:rPr lang="en-US" altLang="zh-CN" dirty="0"/>
              <a:t>How can a trader produce a short Vega, long gamma position?</a:t>
            </a:r>
          </a:p>
          <a:p>
            <a:pPr lvl="1">
              <a:spcBef>
                <a:spcPct val="0"/>
              </a:spcBef>
              <a:buFont typeface="Calibri" panose="020F0502020204030204" pitchFamily="34" charset="0"/>
              <a:buAutoNum type="alphaUcPeriod"/>
            </a:pPr>
            <a:r>
              <a:rPr lang="en-US" altLang="zh-CN" dirty="0"/>
              <a:t>Buy short-maturity options, sell long-maturity options.</a:t>
            </a:r>
          </a:p>
          <a:p>
            <a:pPr lvl="1">
              <a:spcBef>
                <a:spcPct val="0"/>
              </a:spcBef>
              <a:buFont typeface="Calibri" panose="020F0502020204030204" pitchFamily="34" charset="0"/>
              <a:buAutoNum type="alphaUcPeriod"/>
            </a:pPr>
            <a:r>
              <a:rPr lang="en-US" altLang="zh-CN" dirty="0"/>
              <a:t>Buy long-maturity options, sell short-maturity options.</a:t>
            </a:r>
          </a:p>
          <a:p>
            <a:pPr lvl="1">
              <a:spcBef>
                <a:spcPct val="0"/>
              </a:spcBef>
              <a:buFont typeface="Calibri" panose="020F0502020204030204" pitchFamily="34" charset="0"/>
              <a:buAutoNum type="alphaUcPeriod"/>
            </a:pPr>
            <a:r>
              <a:rPr lang="en-US" altLang="zh-CN" dirty="0"/>
              <a:t>Buy and sell options of long maturity.</a:t>
            </a:r>
          </a:p>
          <a:p>
            <a:pPr lvl="1">
              <a:spcBef>
                <a:spcPct val="0"/>
              </a:spcBef>
              <a:buFont typeface="Calibri" panose="020F0502020204030204" pitchFamily="34" charset="0"/>
              <a:buAutoNum type="alphaUcPeriod"/>
            </a:pPr>
            <a:r>
              <a:rPr lang="en-US" altLang="zh-CN" dirty="0"/>
              <a:t>Buy and sell options of short maturity.</a:t>
            </a:r>
          </a:p>
          <a:p>
            <a:pPr>
              <a:spcBef>
                <a:spcPct val="0"/>
              </a:spcBef>
            </a:pPr>
            <a:r>
              <a:rPr lang="en-US" altLang="zh-CN" dirty="0"/>
              <a:t>Answer: A</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4149186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9</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A delta-neutral position exhibits a gamma of -5000. An existing option with a delta equal to 0.6 exhibits a gamma of 1.5. Which of the following will generate a gamma-neutral position for the existing portfolio?</a:t>
            </a:r>
          </a:p>
          <a:p>
            <a:pPr lvl="1">
              <a:lnSpc>
                <a:spcPct val="140000"/>
              </a:lnSpc>
              <a:spcBef>
                <a:spcPct val="0"/>
              </a:spcBef>
              <a:buFont typeface="Calibri" panose="020F0502020204030204" pitchFamily="34" charset="0"/>
              <a:buAutoNum type="alphaUcPeriod"/>
            </a:pPr>
            <a:r>
              <a:rPr lang="en-US" altLang="zh-CN" dirty="0"/>
              <a:t>Buy 3,333 of the available options.</a:t>
            </a:r>
          </a:p>
          <a:p>
            <a:pPr lvl="1">
              <a:lnSpc>
                <a:spcPct val="140000"/>
              </a:lnSpc>
              <a:spcBef>
                <a:spcPct val="0"/>
              </a:spcBef>
              <a:buFont typeface="Calibri" panose="020F0502020204030204" pitchFamily="34" charset="0"/>
              <a:buAutoNum type="alphaUcPeriod"/>
            </a:pPr>
            <a:r>
              <a:rPr lang="en-US" altLang="zh-CN" dirty="0"/>
              <a:t>Sell 3,333 of the available options.</a:t>
            </a:r>
          </a:p>
          <a:p>
            <a:pPr lvl="1">
              <a:lnSpc>
                <a:spcPct val="140000"/>
              </a:lnSpc>
              <a:spcBef>
                <a:spcPct val="0"/>
              </a:spcBef>
              <a:buFont typeface="Calibri" panose="020F0502020204030204" pitchFamily="34" charset="0"/>
              <a:buAutoNum type="alphaUcPeriod"/>
            </a:pPr>
            <a:r>
              <a:rPr lang="en-US" altLang="zh-CN" dirty="0"/>
              <a:t>Buy 3,014 of the available options.</a:t>
            </a:r>
          </a:p>
          <a:p>
            <a:pPr lvl="1">
              <a:lnSpc>
                <a:spcPct val="140000"/>
              </a:lnSpc>
              <a:spcBef>
                <a:spcPct val="0"/>
              </a:spcBef>
              <a:buFont typeface="Calibri" panose="020F0502020204030204" pitchFamily="34" charset="0"/>
              <a:buAutoNum type="alphaUcPeriod"/>
            </a:pPr>
            <a:r>
              <a:rPr lang="en-US" altLang="zh-CN" dirty="0"/>
              <a:t>Sell 3,014 of the available options.</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A</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454086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30dcd307-9ca5-411e-aa47-63bb535c667f" descr="BA8AAB+LCAAAAAAABADdVU2P2jAQ/S9ue6Mo8Ra1yo10lRb1Cy2o3VXFwU0G4jZxkGNW7CL++9oQBzsJEPayBXEh4zf2mzdjvxV6LR7mgDw0SgkX15TMOEkHAlLUQYMIeWyRJB3kUxZRNvvEs8U8R97vVZlmrvyiIv5JkgWoXEYFJcn206vhNewbZTRdpAXM6ToyRJZGyHW2QRpFCZiwARPA78sTXBXb/B8JLg8IMp4SIQ9cOes3qFhCXu+q66xVcgRLmdRB4y0tzaegpwRorFMtqDKHWS5oxnYZQyJ1A0mpodhK0g4qaQEXNCRJP6EzlgJTjGUBIMJYrn7OOH3MmLDXb+gsFnL1C8C80G9EH+V5U5LkoFWIyRy+y3N0cZuAK9NuICGC3lsIK+aidVlWCVJqVGEda+dJKeZOHFmq5GxpvO7s1WcMS3GaoirDlLOp9/uK2dBRG5jUCwqn8dayPGsoKslmNT+m0xzE7RB4KNn4D5b8xTWoYnYdQd5bt4s14m7/Lr06xtrFQNxap94VX80Dt5W2ed7MuTnYH3vSqt2qC9/UuElD68r36mOWZPz4e6VhtXWpBA1hHEMKGjOmTPRZJKlHuks+V3eWQZ5rAf/8hVAYaV5PoRZ5LPd8FQRXwQccvEO6Umfd9GjpA9s+WhV8m+ncpNRnsh+qOSmYGxNRq1PTb99jn4T/zB5r0lZnt8EDV/LFSsUnPTeHijs4tv+7zfZMm8VnabNfYfpMl8VtXBa3c1lsuSw+X5fFZ+qy7jGXdV7aZPeNmzk2xx9gbJosvlCTfW+ZbOD7147baLL4Ik0WmyaLL9lk2xY3kb8nrhbizAQPAAA=">
            <a:extLst>
              <a:ext uri="{FF2B5EF4-FFF2-40B4-BE49-F238E27FC236}">
                <a16:creationId xmlns:a16="http://schemas.microsoft.com/office/drawing/2014/main" id="{1493A4F0-9A06-4464-AD29-020579B7968E}"/>
              </a:ext>
            </a:extLst>
          </p:cNvPr>
          <p:cNvGrpSpPr>
            <a:grpSpLocks noChangeAspect="1"/>
          </p:cNvGrpSpPr>
          <p:nvPr/>
        </p:nvGrpSpPr>
        <p:grpSpPr>
          <a:xfrm>
            <a:off x="1099614" y="1788195"/>
            <a:ext cx="9992772" cy="3763519"/>
            <a:chOff x="1262052" y="1623553"/>
            <a:chExt cx="9992772" cy="3763519"/>
          </a:xfrm>
        </p:grpSpPr>
        <p:sp>
          <p:nvSpPr>
            <p:cNvPr id="3" name="AreaShape">
              <a:extLst>
                <a:ext uri="{FF2B5EF4-FFF2-40B4-BE49-F238E27FC236}">
                  <a16:creationId xmlns:a16="http://schemas.microsoft.com/office/drawing/2014/main" id="{0801B548-BC6D-4D7A-82C0-DE4BE113F0FD}"/>
                </a:ext>
              </a:extLst>
            </p:cNvPr>
            <p:cNvSpPr/>
            <p:nvPr/>
          </p:nvSpPr>
          <p:spPr bwMode="auto">
            <a:xfrm>
              <a:off x="1262052" y="1623553"/>
              <a:ext cx="9992772" cy="3281611"/>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4" name="ValueBack1">
              <a:extLst>
                <a:ext uri="{FF2B5EF4-FFF2-40B4-BE49-F238E27FC236}">
                  <a16:creationId xmlns:a16="http://schemas.microsoft.com/office/drawing/2014/main" id="{0A0BE5B9-BB5E-4CC4-8E7A-0375A904DFDC}"/>
                </a:ext>
              </a:extLst>
            </p:cNvPr>
            <p:cNvSpPr/>
            <p:nvPr/>
          </p:nvSpPr>
          <p:spPr>
            <a:xfrm>
              <a:off x="5255344" y="2583639"/>
              <a:ext cx="933168" cy="1436347"/>
            </a:xfrm>
            <a:custGeom>
              <a:avLst/>
              <a:gdLst>
                <a:gd name="connsiteX0" fmla="*/ 0 w 783762"/>
                <a:gd name="connsiteY0" fmla="*/ 97330 h 1206379"/>
                <a:gd name="connsiteX1" fmla="*/ 783761 w 783762"/>
                <a:gd name="connsiteY1" fmla="*/ 563490 h 1206379"/>
                <a:gd name="connsiteX2" fmla="*/ 783761 w 783762"/>
                <a:gd name="connsiteY2" fmla="*/ 1206379 h 1206379"/>
                <a:gd name="connsiteX3" fmla="*/ 0 w 783762"/>
                <a:gd name="connsiteY3" fmla="*/ 742781 h 1206379"/>
                <a:gd name="connsiteX4" fmla="*/ 71718 w 783762"/>
                <a:gd name="connsiteY4" fmla="*/ 35858 h 1206379"/>
                <a:gd name="connsiteX5" fmla="*/ 345779 w 783762"/>
                <a:gd name="connsiteY5" fmla="*/ 215150 h 1206379"/>
                <a:gd name="connsiteX6" fmla="*/ 770957 w 783762"/>
                <a:gd name="connsiteY6" fmla="*/ 514824 h 1206379"/>
                <a:gd name="connsiteX7" fmla="*/ 527632 w 783762"/>
                <a:gd name="connsiteY7" fmla="*/ 366268 h 1206379"/>
                <a:gd name="connsiteX8" fmla="*/ 71718 w 783762"/>
                <a:gd name="connsiteY8" fmla="*/ 97330 h 1206379"/>
                <a:gd name="connsiteX9" fmla="*/ 163925 w 783762"/>
                <a:gd name="connsiteY9" fmla="*/ 0 h 1206379"/>
                <a:gd name="connsiteX10" fmla="*/ 420055 w 783762"/>
                <a:gd name="connsiteY10" fmla="*/ 179292 h 1206379"/>
                <a:gd name="connsiteX11" fmla="*/ 783762 w 783762"/>
                <a:gd name="connsiteY11" fmla="*/ 499456 h 1206379"/>
                <a:gd name="connsiteX12" fmla="*/ 494334 w 783762"/>
                <a:gd name="connsiteY12" fmla="*/ 253571 h 1206379"/>
                <a:gd name="connsiteX13" fmla="*/ 163925 w 783762"/>
                <a:gd name="connsiteY13" fmla="*/ 87085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3762" h="1206379">
                  <a:moveTo>
                    <a:pt x="0" y="97330"/>
                  </a:moveTo>
                  <a:lnTo>
                    <a:pt x="783761" y="563490"/>
                  </a:lnTo>
                  <a:lnTo>
                    <a:pt x="783761" y="1206379"/>
                  </a:lnTo>
                  <a:lnTo>
                    <a:pt x="0" y="742781"/>
                  </a:lnTo>
                  <a:close/>
                  <a:moveTo>
                    <a:pt x="71718" y="35858"/>
                  </a:moveTo>
                  <a:cubicBezTo>
                    <a:pt x="89648" y="92207"/>
                    <a:pt x="345779" y="217712"/>
                    <a:pt x="345779" y="215150"/>
                  </a:cubicBezTo>
                  <a:cubicBezTo>
                    <a:pt x="673626" y="353462"/>
                    <a:pt x="770957" y="514824"/>
                    <a:pt x="770957" y="514824"/>
                  </a:cubicBezTo>
                  <a:cubicBezTo>
                    <a:pt x="719731" y="471282"/>
                    <a:pt x="527632" y="366268"/>
                    <a:pt x="527632" y="366268"/>
                  </a:cubicBezTo>
                  <a:cubicBezTo>
                    <a:pt x="437986" y="320164"/>
                    <a:pt x="71718" y="97330"/>
                    <a:pt x="71718" y="97330"/>
                  </a:cubicBezTo>
                  <a:close/>
                  <a:moveTo>
                    <a:pt x="163925" y="0"/>
                  </a:moveTo>
                  <a:cubicBezTo>
                    <a:pt x="189538" y="79402"/>
                    <a:pt x="420055" y="179292"/>
                    <a:pt x="420055" y="179292"/>
                  </a:cubicBezTo>
                  <a:cubicBezTo>
                    <a:pt x="776078" y="368830"/>
                    <a:pt x="783762" y="499456"/>
                    <a:pt x="783762" y="499456"/>
                  </a:cubicBezTo>
                  <a:cubicBezTo>
                    <a:pt x="714606" y="371391"/>
                    <a:pt x="494334" y="253571"/>
                    <a:pt x="494334" y="253571"/>
                  </a:cubicBezTo>
                  <a:cubicBezTo>
                    <a:pt x="356023" y="207467"/>
                    <a:pt x="163925" y="87085"/>
                    <a:pt x="163925" y="87085"/>
                  </a:cubicBezTo>
                  <a:close/>
                </a:path>
              </a:pathLst>
            </a:custGeom>
            <a:solidFill>
              <a:schemeClr val="accent1">
                <a:lumMod val="100000"/>
              </a:schemeClr>
            </a:solidFill>
            <a:ln w="20534" cap="flat">
              <a:noFill/>
              <a:prstDash val="solid"/>
              <a:miter/>
            </a:ln>
          </p:spPr>
          <p:txBody>
            <a:bodyPr rtlCol="0" anchor="ctr"/>
            <a:lstStyle/>
            <a:p>
              <a:endParaRPr lang="zh-CN" altLang="en-US"/>
            </a:p>
          </p:txBody>
        </p:sp>
        <p:sp>
          <p:nvSpPr>
            <p:cNvPr id="5" name="ValueBack2">
              <a:extLst>
                <a:ext uri="{FF2B5EF4-FFF2-40B4-BE49-F238E27FC236}">
                  <a16:creationId xmlns:a16="http://schemas.microsoft.com/office/drawing/2014/main" id="{3EF3DEE4-FD95-4FF7-8A3C-0CA049379F52}"/>
                </a:ext>
              </a:extLst>
            </p:cNvPr>
            <p:cNvSpPr/>
            <p:nvPr/>
          </p:nvSpPr>
          <p:spPr>
            <a:xfrm>
              <a:off x="6374534" y="2583639"/>
              <a:ext cx="933165" cy="1436347"/>
            </a:xfrm>
            <a:custGeom>
              <a:avLst/>
              <a:gdLst>
                <a:gd name="connsiteX0" fmla="*/ 783760 w 783760"/>
                <a:gd name="connsiteY0" fmla="*/ 97330 h 1206379"/>
                <a:gd name="connsiteX1" fmla="*/ 783760 w 783760"/>
                <a:gd name="connsiteY1" fmla="*/ 742781 h 1206379"/>
                <a:gd name="connsiteX2" fmla="*/ 0 w 783760"/>
                <a:gd name="connsiteY2" fmla="*/ 1206379 h 1206379"/>
                <a:gd name="connsiteX3" fmla="*/ 0 w 783760"/>
                <a:gd name="connsiteY3" fmla="*/ 563490 h 1206379"/>
                <a:gd name="connsiteX4" fmla="*/ 712044 w 783760"/>
                <a:gd name="connsiteY4" fmla="*/ 35858 h 1206379"/>
                <a:gd name="connsiteX5" fmla="*/ 712044 w 783760"/>
                <a:gd name="connsiteY5" fmla="*/ 97330 h 1206379"/>
                <a:gd name="connsiteX6" fmla="*/ 256131 w 783760"/>
                <a:gd name="connsiteY6" fmla="*/ 366268 h 1206379"/>
                <a:gd name="connsiteX7" fmla="*/ 12807 w 783760"/>
                <a:gd name="connsiteY7" fmla="*/ 514824 h 1206379"/>
                <a:gd name="connsiteX8" fmla="*/ 437985 w 783760"/>
                <a:gd name="connsiteY8" fmla="*/ 215150 h 1206379"/>
                <a:gd name="connsiteX9" fmla="*/ 712044 w 783760"/>
                <a:gd name="connsiteY9" fmla="*/ 35858 h 1206379"/>
                <a:gd name="connsiteX10" fmla="*/ 619837 w 783760"/>
                <a:gd name="connsiteY10" fmla="*/ 0 h 1206379"/>
                <a:gd name="connsiteX11" fmla="*/ 619837 w 783760"/>
                <a:gd name="connsiteY11" fmla="*/ 87085 h 1206379"/>
                <a:gd name="connsiteX12" fmla="*/ 289428 w 783760"/>
                <a:gd name="connsiteY12" fmla="*/ 253571 h 1206379"/>
                <a:gd name="connsiteX13" fmla="*/ 0 w 783760"/>
                <a:gd name="connsiteY13" fmla="*/ 499456 h 1206379"/>
                <a:gd name="connsiteX14" fmla="*/ 363706 w 783760"/>
                <a:gd name="connsiteY14" fmla="*/ 179292 h 1206379"/>
                <a:gd name="connsiteX15" fmla="*/ 619837 w 783760"/>
                <a:gd name="connsiteY15" fmla="*/ 0 h 12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83760" h="1206379">
                  <a:moveTo>
                    <a:pt x="783760" y="97330"/>
                  </a:moveTo>
                  <a:lnTo>
                    <a:pt x="783760" y="742781"/>
                  </a:lnTo>
                  <a:lnTo>
                    <a:pt x="0" y="1206379"/>
                  </a:lnTo>
                  <a:lnTo>
                    <a:pt x="0" y="563490"/>
                  </a:lnTo>
                  <a:close/>
                  <a:moveTo>
                    <a:pt x="712044" y="35858"/>
                  </a:moveTo>
                  <a:lnTo>
                    <a:pt x="712044" y="97330"/>
                  </a:lnTo>
                  <a:cubicBezTo>
                    <a:pt x="712044" y="97330"/>
                    <a:pt x="345776" y="320164"/>
                    <a:pt x="256131" y="366268"/>
                  </a:cubicBezTo>
                  <a:cubicBezTo>
                    <a:pt x="256131" y="366268"/>
                    <a:pt x="64033" y="471282"/>
                    <a:pt x="12807" y="514824"/>
                  </a:cubicBezTo>
                  <a:cubicBezTo>
                    <a:pt x="12807" y="514824"/>
                    <a:pt x="110136" y="353462"/>
                    <a:pt x="437985" y="215150"/>
                  </a:cubicBezTo>
                  <a:cubicBezTo>
                    <a:pt x="437985" y="217712"/>
                    <a:pt x="691553" y="92207"/>
                    <a:pt x="712044" y="35858"/>
                  </a:cubicBezTo>
                  <a:close/>
                  <a:moveTo>
                    <a:pt x="619837" y="0"/>
                  </a:moveTo>
                  <a:lnTo>
                    <a:pt x="619837" y="87085"/>
                  </a:lnTo>
                  <a:cubicBezTo>
                    <a:pt x="619837" y="87085"/>
                    <a:pt x="427739" y="207467"/>
                    <a:pt x="289428" y="253571"/>
                  </a:cubicBezTo>
                  <a:cubicBezTo>
                    <a:pt x="289428" y="253571"/>
                    <a:pt x="69155" y="371391"/>
                    <a:pt x="0" y="499456"/>
                  </a:cubicBezTo>
                  <a:cubicBezTo>
                    <a:pt x="0" y="499456"/>
                    <a:pt x="7684" y="368830"/>
                    <a:pt x="363706" y="179292"/>
                  </a:cubicBezTo>
                  <a:cubicBezTo>
                    <a:pt x="363706" y="179292"/>
                    <a:pt x="594224" y="79402"/>
                    <a:pt x="619837" y="0"/>
                  </a:cubicBezTo>
                  <a:close/>
                </a:path>
              </a:pathLst>
            </a:custGeom>
            <a:solidFill>
              <a:schemeClr val="accent3">
                <a:lumMod val="100000"/>
              </a:schemeClr>
            </a:solidFill>
            <a:ln w="20534" cap="flat">
              <a:noFill/>
              <a:prstDash val="solid"/>
              <a:miter/>
            </a:ln>
          </p:spPr>
          <p:txBody>
            <a:bodyPr rtlCol="0" anchor="ctr"/>
            <a:lstStyle/>
            <a:p>
              <a:endParaRPr lang="zh-CN" altLang="en-US"/>
            </a:p>
          </p:txBody>
        </p:sp>
        <p:sp>
          <p:nvSpPr>
            <p:cNvPr id="6" name="RelativeShape1">
              <a:extLst>
                <a:ext uri="{FF2B5EF4-FFF2-40B4-BE49-F238E27FC236}">
                  <a16:creationId xmlns:a16="http://schemas.microsoft.com/office/drawing/2014/main" id="{93746CF1-0B19-410A-A38E-CE512D993243}"/>
                </a:ext>
              </a:extLst>
            </p:cNvPr>
            <p:cNvSpPr/>
            <p:nvPr/>
          </p:nvSpPr>
          <p:spPr bwMode="auto">
            <a:xfrm>
              <a:off x="2135559"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7" name="RelativeShape2">
              <a:extLst>
                <a:ext uri="{FF2B5EF4-FFF2-40B4-BE49-F238E27FC236}">
                  <a16:creationId xmlns:a16="http://schemas.microsoft.com/office/drawing/2014/main" id="{D66CF947-5A01-4839-B102-747EFDD7281A}"/>
                </a:ext>
              </a:extLst>
            </p:cNvPr>
            <p:cNvSpPr/>
            <p:nvPr/>
          </p:nvSpPr>
          <p:spPr bwMode="auto">
            <a:xfrm>
              <a:off x="7364516" y="2723405"/>
              <a:ext cx="3070479" cy="754798"/>
            </a:xfrm>
            <a:prstGeom prst="rect">
              <a:avLst/>
            </a:prstGeom>
            <a:no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8" name="ValueShape1">
              <a:extLst>
                <a:ext uri="{FF2B5EF4-FFF2-40B4-BE49-F238E27FC236}">
                  <a16:creationId xmlns:a16="http://schemas.microsoft.com/office/drawing/2014/main" id="{FB26877B-79B9-4CD8-8BC2-839063D1BB76}"/>
                </a:ext>
              </a:extLst>
            </p:cNvPr>
            <p:cNvSpPr/>
            <p:nvPr/>
          </p:nvSpPr>
          <p:spPr bwMode="auto">
            <a:xfrm>
              <a:off x="3578684" y="2723405"/>
              <a:ext cx="1627354" cy="754798"/>
            </a:xfrm>
            <a:prstGeom prst="rect">
              <a:avLst/>
            </a:prstGeom>
            <a:solidFill>
              <a:schemeClr val="accent1">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9" name="ValueShape2">
              <a:extLst>
                <a:ext uri="{FF2B5EF4-FFF2-40B4-BE49-F238E27FC236}">
                  <a16:creationId xmlns:a16="http://schemas.microsoft.com/office/drawing/2014/main" id="{8BE80031-FBBD-47D1-B814-D039F3BF91FC}"/>
                </a:ext>
              </a:extLst>
            </p:cNvPr>
            <p:cNvSpPr/>
            <p:nvPr/>
          </p:nvSpPr>
          <p:spPr bwMode="auto">
            <a:xfrm>
              <a:off x="7364516" y="2723405"/>
              <a:ext cx="1688763" cy="754798"/>
            </a:xfrm>
            <a:prstGeom prst="rect">
              <a:avLst/>
            </a:prstGeom>
            <a:solidFill>
              <a:schemeClr val="accent3">
                <a:lumMod val="100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10" name="ExtraShape">
              <a:extLst>
                <a:ext uri="{FF2B5EF4-FFF2-40B4-BE49-F238E27FC236}">
                  <a16:creationId xmlns:a16="http://schemas.microsoft.com/office/drawing/2014/main" id="{4DE28724-19BC-419C-BCCD-CC6E2D97C58F}"/>
                </a:ext>
              </a:extLst>
            </p:cNvPr>
            <p:cNvSpPr/>
            <p:nvPr/>
          </p:nvSpPr>
          <p:spPr bwMode="auto">
            <a:xfrm rot="7966385">
              <a:off x="5372123" y="1998499"/>
              <a:ext cx="1772631" cy="1717988"/>
            </a:xfrm>
            <a:custGeom>
              <a:avLst/>
              <a:gdLst>
                <a:gd name="connsiteX0" fmla="*/ 1009389 w 1488822"/>
                <a:gd name="connsiteY0" fmla="*/ 531908 h 1442928"/>
                <a:gd name="connsiteX1" fmla="*/ 927638 w 1488822"/>
                <a:gd name="connsiteY1" fmla="*/ 443542 h 1442928"/>
                <a:gd name="connsiteX2" fmla="*/ 1407071 w 1488822"/>
                <a:gd name="connsiteY2" fmla="*/ 0 h 1442928"/>
                <a:gd name="connsiteX3" fmla="*/ 1488822 w 1488822"/>
                <a:gd name="connsiteY3" fmla="*/ 88366 h 1442928"/>
                <a:gd name="connsiteX4" fmla="*/ 175265 w 1488822"/>
                <a:gd name="connsiteY4" fmla="*/ 1240780 h 1442928"/>
                <a:gd name="connsiteX5" fmla="*/ 0 w 1488822"/>
                <a:gd name="connsiteY5" fmla="*/ 900466 h 1442928"/>
                <a:gd name="connsiteX6" fmla="*/ 1 w 1488822"/>
                <a:gd name="connsiteY6" fmla="*/ 900467 h 1442928"/>
                <a:gd name="connsiteX7" fmla="*/ 1 w 1488822"/>
                <a:gd name="connsiteY7" fmla="*/ 900466 h 1442928"/>
                <a:gd name="connsiteX8" fmla="*/ 109696 w 1488822"/>
                <a:gd name="connsiteY8" fmla="*/ 798983 h 1442928"/>
                <a:gd name="connsiteX9" fmla="*/ 103102 w 1488822"/>
                <a:gd name="connsiteY9" fmla="*/ 783064 h 1442928"/>
                <a:gd name="connsiteX10" fmla="*/ 130693 w 1488822"/>
                <a:gd name="connsiteY10" fmla="*/ 755473 h 1442928"/>
                <a:gd name="connsiteX11" fmla="*/ 158284 w 1488822"/>
                <a:gd name="connsiteY11" fmla="*/ 755473 h 1442928"/>
                <a:gd name="connsiteX12" fmla="*/ 158284 w 1488822"/>
                <a:gd name="connsiteY12" fmla="*/ 783064 h 1442928"/>
                <a:gd name="connsiteX13" fmla="*/ 130693 w 1488822"/>
                <a:gd name="connsiteY13" fmla="*/ 810655 h 1442928"/>
                <a:gd name="connsiteX14" fmla="*/ 117896 w 1488822"/>
                <a:gd name="connsiteY14" fmla="*/ 805354 h 1442928"/>
                <a:gd name="connsiteX15" fmla="*/ 9205 w 1488822"/>
                <a:gd name="connsiteY15" fmla="*/ 905909 h 1442928"/>
                <a:gd name="connsiteX16" fmla="*/ 195140 w 1488822"/>
                <a:gd name="connsiteY16" fmla="*/ 1015874 h 1442928"/>
                <a:gd name="connsiteX17" fmla="*/ 194925 w 1488822"/>
                <a:gd name="connsiteY17" fmla="*/ 1014140 h 1442928"/>
                <a:gd name="connsiteX18" fmla="*/ 263892 w 1488822"/>
                <a:gd name="connsiteY18" fmla="*/ 872665 h 1442928"/>
                <a:gd name="connsiteX19" fmla="*/ 410296 w 1488822"/>
                <a:gd name="connsiteY19" fmla="*/ 814892 h 1442928"/>
                <a:gd name="connsiteX20" fmla="*/ 457989 w 1488822"/>
                <a:gd name="connsiteY20" fmla="*/ 824618 h 1442928"/>
                <a:gd name="connsiteX21" fmla="*/ 418631 w 1488822"/>
                <a:gd name="connsiteY21" fmla="*/ 775714 h 1442928"/>
                <a:gd name="connsiteX22" fmla="*/ 288313 w 1488822"/>
                <a:gd name="connsiteY22" fmla="*/ 570929 h 1442928"/>
                <a:gd name="connsiteX23" fmla="*/ 297512 w 1488822"/>
                <a:gd name="connsiteY23" fmla="*/ 380976 h 1442928"/>
                <a:gd name="connsiteX24" fmla="*/ 639727 w 1488822"/>
                <a:gd name="connsiteY24" fmla="*/ 483096 h 1442928"/>
                <a:gd name="connsiteX25" fmla="*/ 715184 w 1488822"/>
                <a:gd name="connsiteY25" fmla="*/ 640092 h 1442928"/>
                <a:gd name="connsiteX26" fmla="*/ 703903 w 1488822"/>
                <a:gd name="connsiteY26" fmla="*/ 650528 h 1442928"/>
                <a:gd name="connsiteX27" fmla="*/ 628648 w 1488822"/>
                <a:gd name="connsiteY27" fmla="*/ 674788 h 1442928"/>
                <a:gd name="connsiteX28" fmla="*/ 625067 w 1488822"/>
                <a:gd name="connsiteY28" fmla="*/ 786543 h 1442928"/>
                <a:gd name="connsiteX29" fmla="*/ 632189 w 1488822"/>
                <a:gd name="connsiteY29" fmla="*/ 795409 h 1442928"/>
                <a:gd name="connsiteX30" fmla="*/ 640720 w 1488822"/>
                <a:gd name="connsiteY30" fmla="*/ 803463 h 1442928"/>
                <a:gd name="connsiteX31" fmla="*/ 753882 w 1488822"/>
                <a:gd name="connsiteY31" fmla="*/ 810157 h 1442928"/>
                <a:gd name="connsiteX32" fmla="*/ 783914 w 1488822"/>
                <a:gd name="connsiteY32" fmla="*/ 737014 h 1442928"/>
                <a:gd name="connsiteX33" fmla="*/ 795195 w 1488822"/>
                <a:gd name="connsiteY33" fmla="*/ 726577 h 1442928"/>
                <a:gd name="connsiteX34" fmla="*/ 945856 w 1488822"/>
                <a:gd name="connsiteY34" fmla="*/ 813997 h 1442928"/>
                <a:gd name="connsiteX35" fmla="*/ 1021093 w 1488822"/>
                <a:gd name="connsiteY35" fmla="*/ 1163109 h 1442928"/>
                <a:gd name="connsiteX36" fmla="*/ 830999 w 1488822"/>
                <a:gd name="connsiteY36" fmla="*/ 1157529 h 1442928"/>
                <a:gd name="connsiteX37" fmla="*/ 635921 w 1488822"/>
                <a:gd name="connsiteY37" fmla="*/ 1010587 h 1442928"/>
                <a:gd name="connsiteX38" fmla="*/ 591226 w 1488822"/>
                <a:gd name="connsiteY38" fmla="*/ 968448 h 1442928"/>
                <a:gd name="connsiteX39" fmla="*/ 597245 w 1488822"/>
                <a:gd name="connsiteY39" fmla="*/ 1016969 h 1442928"/>
                <a:gd name="connsiteX40" fmla="*/ 528278 w 1488822"/>
                <a:gd name="connsiteY40" fmla="*/ 1158444 h 1442928"/>
                <a:gd name="connsiteX41" fmla="*/ 458611 w 1488822"/>
                <a:gd name="connsiteY41" fmla="*/ 1202056 h 1442928"/>
                <a:gd name="connsiteX42" fmla="*/ 397138 w 1488822"/>
                <a:gd name="connsiteY42" fmla="*/ 1213400 h 1442928"/>
                <a:gd name="connsiteX43" fmla="*/ 526279 w 1488822"/>
                <a:gd name="connsiteY43" fmla="*/ 1442928 h 144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88822" h="1442928">
                  <a:moveTo>
                    <a:pt x="1009389" y="531908"/>
                  </a:moveTo>
                  <a:lnTo>
                    <a:pt x="927638" y="443542"/>
                  </a:lnTo>
                  <a:lnTo>
                    <a:pt x="1407071" y="0"/>
                  </a:lnTo>
                  <a:lnTo>
                    <a:pt x="1488822" y="88366"/>
                  </a:lnTo>
                  <a:close/>
                  <a:moveTo>
                    <a:pt x="175265" y="1240780"/>
                  </a:moveTo>
                  <a:lnTo>
                    <a:pt x="0" y="900466"/>
                  </a:lnTo>
                  <a:lnTo>
                    <a:pt x="1" y="900467"/>
                  </a:lnTo>
                  <a:lnTo>
                    <a:pt x="1" y="900466"/>
                  </a:lnTo>
                  <a:lnTo>
                    <a:pt x="109696" y="798983"/>
                  </a:lnTo>
                  <a:lnTo>
                    <a:pt x="103102" y="783064"/>
                  </a:lnTo>
                  <a:cubicBezTo>
                    <a:pt x="103102" y="767826"/>
                    <a:pt x="115455" y="755473"/>
                    <a:pt x="130693" y="755473"/>
                  </a:cubicBezTo>
                  <a:lnTo>
                    <a:pt x="158284" y="755473"/>
                  </a:lnTo>
                  <a:lnTo>
                    <a:pt x="158284" y="783064"/>
                  </a:lnTo>
                  <a:cubicBezTo>
                    <a:pt x="158284" y="798302"/>
                    <a:pt x="145931" y="810655"/>
                    <a:pt x="130693" y="810655"/>
                  </a:cubicBezTo>
                  <a:lnTo>
                    <a:pt x="117896" y="805354"/>
                  </a:lnTo>
                  <a:lnTo>
                    <a:pt x="9205" y="905909"/>
                  </a:lnTo>
                  <a:lnTo>
                    <a:pt x="195140" y="1015874"/>
                  </a:lnTo>
                  <a:lnTo>
                    <a:pt x="194925" y="1014140"/>
                  </a:lnTo>
                  <a:cubicBezTo>
                    <a:pt x="198561" y="962786"/>
                    <a:pt x="221838" y="911570"/>
                    <a:pt x="263892" y="872665"/>
                  </a:cubicBezTo>
                  <a:cubicBezTo>
                    <a:pt x="305945" y="833759"/>
                    <a:pt x="358815" y="814530"/>
                    <a:pt x="410296" y="814892"/>
                  </a:cubicBezTo>
                  <a:lnTo>
                    <a:pt x="457989" y="824618"/>
                  </a:lnTo>
                  <a:lnTo>
                    <a:pt x="418631" y="775714"/>
                  </a:lnTo>
                  <a:cubicBezTo>
                    <a:pt x="370542" y="712719"/>
                    <a:pt x="322348" y="639541"/>
                    <a:pt x="288313" y="570929"/>
                  </a:cubicBezTo>
                  <a:cubicBezTo>
                    <a:pt x="227807" y="448953"/>
                    <a:pt x="297512" y="380976"/>
                    <a:pt x="297512" y="380976"/>
                  </a:cubicBezTo>
                  <a:lnTo>
                    <a:pt x="639727" y="483096"/>
                  </a:lnTo>
                  <a:cubicBezTo>
                    <a:pt x="617778" y="534804"/>
                    <a:pt x="715184" y="640092"/>
                    <a:pt x="715184" y="640092"/>
                  </a:cubicBezTo>
                  <a:lnTo>
                    <a:pt x="703903" y="650528"/>
                  </a:lnTo>
                  <a:cubicBezTo>
                    <a:pt x="667708" y="649120"/>
                    <a:pt x="628648" y="674788"/>
                    <a:pt x="628648" y="674788"/>
                  </a:cubicBezTo>
                  <a:cubicBezTo>
                    <a:pt x="590047" y="723584"/>
                    <a:pt x="611785" y="767589"/>
                    <a:pt x="625067" y="786543"/>
                  </a:cubicBezTo>
                  <a:lnTo>
                    <a:pt x="632189" y="795409"/>
                  </a:lnTo>
                  <a:lnTo>
                    <a:pt x="640720" y="803463"/>
                  </a:lnTo>
                  <a:cubicBezTo>
                    <a:pt x="659074" y="818705"/>
                    <a:pt x="702237" y="844852"/>
                    <a:pt x="753882" y="810157"/>
                  </a:cubicBezTo>
                  <a:cubicBezTo>
                    <a:pt x="753882" y="810157"/>
                    <a:pt x="782507" y="773209"/>
                    <a:pt x="783914" y="737014"/>
                  </a:cubicBezTo>
                  <a:lnTo>
                    <a:pt x="795195" y="726577"/>
                  </a:lnTo>
                  <a:cubicBezTo>
                    <a:pt x="795195" y="726577"/>
                    <a:pt x="892600" y="831864"/>
                    <a:pt x="945856" y="813997"/>
                  </a:cubicBezTo>
                  <a:lnTo>
                    <a:pt x="1021093" y="1163109"/>
                  </a:lnTo>
                  <a:cubicBezTo>
                    <a:pt x="1021093" y="1163109"/>
                    <a:pt x="947908" y="1227325"/>
                    <a:pt x="830999" y="1157529"/>
                  </a:cubicBezTo>
                  <a:cubicBezTo>
                    <a:pt x="765237" y="1118269"/>
                    <a:pt x="695473" y="1063943"/>
                    <a:pt x="635921" y="1010587"/>
                  </a:cubicBezTo>
                  <a:lnTo>
                    <a:pt x="591226" y="968448"/>
                  </a:lnTo>
                  <a:lnTo>
                    <a:pt x="597245" y="1016969"/>
                  </a:lnTo>
                  <a:cubicBezTo>
                    <a:pt x="593608" y="1068323"/>
                    <a:pt x="570331" y="1119539"/>
                    <a:pt x="528278" y="1158444"/>
                  </a:cubicBezTo>
                  <a:cubicBezTo>
                    <a:pt x="507251" y="1177897"/>
                    <a:pt x="483520" y="1192431"/>
                    <a:pt x="458611" y="1202056"/>
                  </a:cubicBezTo>
                  <a:lnTo>
                    <a:pt x="397138" y="1213400"/>
                  </a:lnTo>
                  <a:lnTo>
                    <a:pt x="526279" y="1442928"/>
                  </a:lnTo>
                  <a:close/>
                </a:path>
              </a:pathLst>
            </a:custGeom>
            <a:solidFill>
              <a:schemeClr val="accent1"/>
            </a:solidFill>
            <a:ln w="19050">
              <a:noFill/>
              <a:round/>
              <a:headEnd/>
              <a:tailEnd/>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endParaRPr lang="zh-CN" altLang="en-US" sz="1200" b="1" dirty="0">
                <a:solidFill>
                  <a:schemeClr val="tx1">
                    <a:lumMod val="75000"/>
                    <a:lumOff val="25000"/>
                  </a:schemeClr>
                </a:solidFill>
              </a:endParaRPr>
            </a:p>
          </p:txBody>
        </p:sp>
        <p:sp>
          <p:nvSpPr>
            <p:cNvPr id="11" name="ValueText1">
              <a:extLst>
                <a:ext uri="{FF2B5EF4-FFF2-40B4-BE49-F238E27FC236}">
                  <a16:creationId xmlns:a16="http://schemas.microsoft.com/office/drawing/2014/main" id="{EDBDD775-3579-4CA8-974B-1036888707D0}"/>
                </a:ext>
              </a:extLst>
            </p:cNvPr>
            <p:cNvSpPr txBox="1"/>
            <p:nvPr/>
          </p:nvSpPr>
          <p:spPr>
            <a:xfrm>
              <a:off x="2910028"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a:solidFill>
                    <a:schemeClr val="accent1">
                      <a:lumMod val="100000"/>
                    </a:schemeClr>
                  </a:solidFill>
                  <a:latin typeface="Impact" panose="020B0806030902050204" pitchFamily="34" charset="0"/>
                </a:rPr>
                <a:t>53%</a:t>
              </a:r>
              <a:endParaRPr lang="en-US" altLang="zh-CN" sz="3600" b="1" dirty="0">
                <a:solidFill>
                  <a:schemeClr val="accent1">
                    <a:lumMod val="100000"/>
                  </a:schemeClr>
                </a:solidFill>
                <a:latin typeface="Impact" panose="020B0806030902050204" pitchFamily="34" charset="0"/>
              </a:endParaRPr>
            </a:p>
          </p:txBody>
        </p:sp>
        <p:sp>
          <p:nvSpPr>
            <p:cNvPr id="12" name="ValueText2">
              <a:extLst>
                <a:ext uri="{FF2B5EF4-FFF2-40B4-BE49-F238E27FC236}">
                  <a16:creationId xmlns:a16="http://schemas.microsoft.com/office/drawing/2014/main" id="{3A46D92B-9B9E-4C45-9D21-0E83583F0B0C}"/>
                </a:ext>
              </a:extLst>
            </p:cNvPr>
            <p:cNvSpPr txBox="1"/>
            <p:nvPr/>
          </p:nvSpPr>
          <p:spPr>
            <a:xfrm>
              <a:off x="9164722" y="2923071"/>
              <a:ext cx="557213" cy="355466"/>
            </a:xfrm>
            <a:prstGeom prst="rect">
              <a:avLst/>
            </a:prstGeom>
            <a:noFill/>
          </p:spPr>
          <p:txBody>
            <a:bodyPr wrap="square" lIns="0" tIns="0" rIns="0" bIns="0" numCol="1" anchor="ctr" anchorCtr="1">
              <a:prstTxWarp prst="textPlain">
                <a:avLst/>
              </a:prstTxWarp>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3600" b="1" dirty="0">
                  <a:solidFill>
                    <a:schemeClr val="accent3">
                      <a:lumMod val="100000"/>
                    </a:schemeClr>
                  </a:solidFill>
                  <a:latin typeface="Impact" panose="020B0806030902050204" pitchFamily="34" charset="0"/>
                </a:rPr>
                <a:t>55%</a:t>
              </a:r>
            </a:p>
          </p:txBody>
        </p:sp>
        <p:sp>
          <p:nvSpPr>
            <p:cNvPr id="15" name="CustomText">
              <a:extLst>
                <a:ext uri="{FF2B5EF4-FFF2-40B4-BE49-F238E27FC236}">
                  <a16:creationId xmlns:a16="http://schemas.microsoft.com/office/drawing/2014/main" id="{D579BF51-77EB-4085-9DCF-88AD3E5322E0}"/>
                </a:ext>
              </a:extLst>
            </p:cNvPr>
            <p:cNvSpPr/>
            <p:nvPr/>
          </p:nvSpPr>
          <p:spPr>
            <a:xfrm>
              <a:off x="4636728" y="4100308"/>
              <a:ext cx="3438697" cy="1286764"/>
            </a:xfrm>
            <a:prstGeom prst="rect">
              <a:avLst/>
            </a:prstGeom>
            <a:noFill/>
          </p:spPr>
          <p:txBody>
            <a:bodyPr wrap="square" lIns="90000" tIns="46800" rIns="90000" bIns="46800" anchor="ctr">
              <a:noAutofit/>
            </a:bodyPr>
            <a:lstStyle/>
            <a:p>
              <a:pPr lvl="0" algn="ctr">
                <a:defRPr/>
              </a:pPr>
              <a:r>
                <a:rPr lang="en-US" altLang="zh-CN" sz="2400" b="1" dirty="0">
                  <a:solidFill>
                    <a:schemeClr val="tx1">
                      <a:lumMod val="75000"/>
                      <a:lumOff val="25000"/>
                    </a:schemeClr>
                  </a:solidFill>
                </a:rPr>
                <a:t>Risk Measurement and </a:t>
              </a:r>
            </a:p>
            <a:p>
              <a:pPr lvl="0" algn="ctr">
                <a:defRPr/>
              </a:pPr>
              <a:r>
                <a:rPr lang="en-US" altLang="zh-CN" sz="2400" b="1" dirty="0">
                  <a:solidFill>
                    <a:schemeClr val="tx1">
                      <a:lumMod val="75000"/>
                      <a:lumOff val="25000"/>
                    </a:schemeClr>
                  </a:solidFill>
                </a:rPr>
                <a:t>Management</a:t>
              </a:r>
            </a:p>
          </p:txBody>
        </p:sp>
      </p:grpSp>
    </p:spTree>
    <p:extLst>
      <p:ext uri="{BB962C8B-B14F-4D97-AF65-F5344CB8AC3E}">
        <p14:creationId xmlns:p14="http://schemas.microsoft.com/office/powerpoint/2010/main" val="3623542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Market Risk</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Credit Risk</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Operational Risk</a:t>
            </a:r>
          </a:p>
          <a:p>
            <a:pPr marL="342900" lvl="0" indent="-342900" defTabSz="914400" fontAlgn="base">
              <a:lnSpc>
                <a:spcPct val="120000"/>
              </a:lnSpc>
              <a:spcBef>
                <a:spcPct val="0"/>
              </a:spcBef>
              <a:spcAft>
                <a:spcPct val="0"/>
              </a:spcAft>
              <a:buFont typeface="Calibri" panose="020F0502020204030204" pitchFamily="34" charset="0"/>
              <a:buAutoNum type="arabicPeriod"/>
              <a:defRPr/>
            </a:pPr>
            <a:r>
              <a:rPr lang="en-US" altLang="zh-CN" b="0" dirty="0">
                <a:solidFill>
                  <a:srgbClr val="2C3E50"/>
                </a:solidFill>
                <a:latin typeface="Segoe UI" panose="020B0502040204020203" pitchFamily="34" charset="0"/>
                <a:cs typeface="Segoe UI" panose="020B0502040204020203" pitchFamily="34" charset="0"/>
              </a:rPr>
              <a:t>Stress Testing</a:t>
            </a:r>
          </a:p>
          <a:p>
            <a:endParaRPr lang="zh-CN" altLang="en-US" b="0" dirty="0">
              <a:solidFill>
                <a:srgbClr val="002060"/>
              </a:solidFill>
              <a:latin typeface="+mn-lt"/>
              <a:ea typeface="+mn-ea"/>
              <a:cs typeface="+mn-ea"/>
              <a:sym typeface="+mn-lt"/>
            </a:endParaRPr>
          </a:p>
        </p:txBody>
      </p:sp>
      <p:sp>
        <p:nvSpPr>
          <p:cNvPr id="5" name="student-reading_73705"/>
          <p:cNvSpPr>
            <a:spLocks noChangeAspect="1"/>
          </p:cNvSpPr>
          <p:nvPr/>
        </p:nvSpPr>
        <p:spPr bwMode="auto">
          <a:xfrm>
            <a:off x="10771889" y="1685891"/>
            <a:ext cx="1181412" cy="1386940"/>
          </a:xfrm>
          <a:custGeom>
            <a:avLst/>
            <a:gdLst>
              <a:gd name="T0" fmla="*/ 2311 w 2389"/>
              <a:gd name="T1" fmla="*/ 1022 h 2809"/>
              <a:gd name="T2" fmla="*/ 1628 w 2389"/>
              <a:gd name="T3" fmla="*/ 1143 h 2809"/>
              <a:gd name="T4" fmla="*/ 1793 w 2389"/>
              <a:gd name="T5" fmla="*/ 746 h 2809"/>
              <a:gd name="T6" fmla="*/ 1740 w 2389"/>
              <a:gd name="T7" fmla="*/ 597 h 2809"/>
              <a:gd name="T8" fmla="*/ 1228 w 2389"/>
              <a:gd name="T9" fmla="*/ 0 h 2809"/>
              <a:gd name="T10" fmla="*/ 844 w 2389"/>
              <a:gd name="T11" fmla="*/ 207 h 2809"/>
              <a:gd name="T12" fmla="*/ 641 w 2389"/>
              <a:gd name="T13" fmla="*/ 650 h 2809"/>
              <a:gd name="T14" fmla="*/ 593 w 2389"/>
              <a:gd name="T15" fmla="*/ 746 h 2809"/>
              <a:gd name="T16" fmla="*/ 750 w 2389"/>
              <a:gd name="T17" fmla="*/ 1141 h 2809"/>
              <a:gd name="T18" fmla="*/ 24 w 2389"/>
              <a:gd name="T19" fmla="*/ 1036 h 2809"/>
              <a:gd name="T20" fmla="*/ 0 w 2389"/>
              <a:gd name="T21" fmla="*/ 2491 h 2809"/>
              <a:gd name="T22" fmla="*/ 983 w 2389"/>
              <a:gd name="T23" fmla="*/ 2722 h 2809"/>
              <a:gd name="T24" fmla="*/ 1049 w 2389"/>
              <a:gd name="T25" fmla="*/ 2809 h 2809"/>
              <a:gd name="T26" fmla="*/ 1407 w 2389"/>
              <a:gd name="T27" fmla="*/ 2742 h 2809"/>
              <a:gd name="T28" fmla="*/ 2334 w 2389"/>
              <a:gd name="T29" fmla="*/ 2557 h 2809"/>
              <a:gd name="T30" fmla="*/ 2389 w 2389"/>
              <a:gd name="T31" fmla="*/ 1087 h 2809"/>
              <a:gd name="T32" fmla="*/ 1274 w 2389"/>
              <a:gd name="T33" fmla="*/ 2676 h 2809"/>
              <a:gd name="T34" fmla="*/ 1116 w 2389"/>
              <a:gd name="T35" fmla="*/ 1362 h 2809"/>
              <a:gd name="T36" fmla="*/ 1274 w 2389"/>
              <a:gd name="T37" fmla="*/ 2676 h 2809"/>
              <a:gd name="T38" fmla="*/ 926 w 2389"/>
              <a:gd name="T39" fmla="*/ 1172 h 2809"/>
              <a:gd name="T40" fmla="*/ 804 w 2389"/>
              <a:gd name="T41" fmla="*/ 1009 h 2809"/>
              <a:gd name="T42" fmla="*/ 786 w 2389"/>
              <a:gd name="T43" fmla="*/ 1012 h 2809"/>
              <a:gd name="T44" fmla="*/ 718 w 2389"/>
              <a:gd name="T45" fmla="*/ 808 h 2809"/>
              <a:gd name="T46" fmla="*/ 772 w 2389"/>
              <a:gd name="T47" fmla="*/ 736 h 2809"/>
              <a:gd name="T48" fmla="*/ 927 w 2389"/>
              <a:gd name="T49" fmla="*/ 567 h 2809"/>
              <a:gd name="T50" fmla="*/ 1142 w 2389"/>
              <a:gd name="T51" fmla="*/ 571 h 2809"/>
              <a:gd name="T52" fmla="*/ 1614 w 2389"/>
              <a:gd name="T53" fmla="*/ 736 h 2809"/>
              <a:gd name="T54" fmla="*/ 1681 w 2389"/>
              <a:gd name="T55" fmla="*/ 819 h 2809"/>
              <a:gd name="T56" fmla="*/ 1600 w 2389"/>
              <a:gd name="T57" fmla="*/ 1012 h 2809"/>
              <a:gd name="T58" fmla="*/ 1525 w 2389"/>
              <a:gd name="T59" fmla="*/ 1049 h 2809"/>
              <a:gd name="T60" fmla="*/ 1194 w 2389"/>
              <a:gd name="T61" fmla="*/ 1220 h 2809"/>
              <a:gd name="T62" fmla="*/ 1528 w 2389"/>
              <a:gd name="T63" fmla="*/ 1974 h 2809"/>
              <a:gd name="T64" fmla="*/ 1450 w 2389"/>
              <a:gd name="T65" fmla="*/ 1922 h 2809"/>
              <a:gd name="T66" fmla="*/ 2155 w 2389"/>
              <a:gd name="T67" fmla="*/ 1715 h 2809"/>
              <a:gd name="T68" fmla="*/ 2181 w 2389"/>
              <a:gd name="T69" fmla="*/ 1845 h 2809"/>
              <a:gd name="T70" fmla="*/ 1528 w 2389"/>
              <a:gd name="T71" fmla="*/ 1628 h 2809"/>
              <a:gd name="T72" fmla="*/ 1450 w 2389"/>
              <a:gd name="T73" fmla="*/ 1576 h 2809"/>
              <a:gd name="T74" fmla="*/ 2155 w 2389"/>
              <a:gd name="T75" fmla="*/ 1368 h 2809"/>
              <a:gd name="T76" fmla="*/ 2181 w 2389"/>
              <a:gd name="T77" fmla="*/ 1499 h 2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89" h="2809">
                <a:moveTo>
                  <a:pt x="2365" y="1036"/>
                </a:moveTo>
                <a:cubicBezTo>
                  <a:pt x="2350" y="1023"/>
                  <a:pt x="2330" y="1018"/>
                  <a:pt x="2311" y="1022"/>
                </a:cubicBezTo>
                <a:lnTo>
                  <a:pt x="1628" y="1143"/>
                </a:lnTo>
                <a:cubicBezTo>
                  <a:pt x="1628" y="1143"/>
                  <a:pt x="1628" y="1143"/>
                  <a:pt x="1628" y="1143"/>
                </a:cubicBezTo>
                <a:cubicBezTo>
                  <a:pt x="1680" y="1134"/>
                  <a:pt x="1771" y="1097"/>
                  <a:pt x="1810" y="947"/>
                </a:cubicBezTo>
                <a:cubicBezTo>
                  <a:pt x="1832" y="865"/>
                  <a:pt x="1826" y="797"/>
                  <a:pt x="1793" y="746"/>
                </a:cubicBezTo>
                <a:cubicBezTo>
                  <a:pt x="1779" y="725"/>
                  <a:pt x="1763" y="710"/>
                  <a:pt x="1748" y="700"/>
                </a:cubicBezTo>
                <a:cubicBezTo>
                  <a:pt x="1748" y="674"/>
                  <a:pt x="1746" y="638"/>
                  <a:pt x="1740" y="597"/>
                </a:cubicBezTo>
                <a:cubicBezTo>
                  <a:pt x="1744" y="541"/>
                  <a:pt x="1758" y="254"/>
                  <a:pt x="1580" y="123"/>
                </a:cubicBezTo>
                <a:cubicBezTo>
                  <a:pt x="1471" y="43"/>
                  <a:pt x="1349" y="0"/>
                  <a:pt x="1228" y="0"/>
                </a:cubicBezTo>
                <a:cubicBezTo>
                  <a:pt x="1129" y="0"/>
                  <a:pt x="1034" y="28"/>
                  <a:pt x="962" y="79"/>
                </a:cubicBezTo>
                <a:cubicBezTo>
                  <a:pt x="900" y="123"/>
                  <a:pt x="864" y="171"/>
                  <a:pt x="844" y="207"/>
                </a:cubicBezTo>
                <a:cubicBezTo>
                  <a:pt x="786" y="210"/>
                  <a:pt x="673" y="236"/>
                  <a:pt x="622" y="382"/>
                </a:cubicBezTo>
                <a:cubicBezTo>
                  <a:pt x="578" y="510"/>
                  <a:pt x="606" y="601"/>
                  <a:pt x="641" y="650"/>
                </a:cubicBezTo>
                <a:cubicBezTo>
                  <a:pt x="639" y="669"/>
                  <a:pt x="638" y="686"/>
                  <a:pt x="638" y="700"/>
                </a:cubicBezTo>
                <a:cubicBezTo>
                  <a:pt x="623" y="710"/>
                  <a:pt x="607" y="725"/>
                  <a:pt x="593" y="746"/>
                </a:cubicBezTo>
                <a:cubicBezTo>
                  <a:pt x="560" y="797"/>
                  <a:pt x="554" y="865"/>
                  <a:pt x="576" y="947"/>
                </a:cubicBezTo>
                <a:cubicBezTo>
                  <a:pt x="613" y="1090"/>
                  <a:pt x="697" y="1130"/>
                  <a:pt x="750" y="1141"/>
                </a:cubicBezTo>
                <a:lnTo>
                  <a:pt x="78" y="1022"/>
                </a:lnTo>
                <a:cubicBezTo>
                  <a:pt x="59" y="1018"/>
                  <a:pt x="39" y="1023"/>
                  <a:pt x="24" y="1036"/>
                </a:cubicBezTo>
                <a:cubicBezTo>
                  <a:pt x="9" y="1049"/>
                  <a:pt x="0" y="1067"/>
                  <a:pt x="0" y="1087"/>
                </a:cubicBezTo>
                <a:lnTo>
                  <a:pt x="0" y="2491"/>
                </a:lnTo>
                <a:cubicBezTo>
                  <a:pt x="0" y="2524"/>
                  <a:pt x="23" y="2551"/>
                  <a:pt x="55" y="2557"/>
                </a:cubicBezTo>
                <a:lnTo>
                  <a:pt x="983" y="2722"/>
                </a:lnTo>
                <a:lnTo>
                  <a:pt x="983" y="2742"/>
                </a:lnTo>
                <a:cubicBezTo>
                  <a:pt x="983" y="2779"/>
                  <a:pt x="1012" y="2809"/>
                  <a:pt x="1049" y="2809"/>
                </a:cubicBezTo>
                <a:lnTo>
                  <a:pt x="1341" y="2809"/>
                </a:lnTo>
                <a:cubicBezTo>
                  <a:pt x="1378" y="2809"/>
                  <a:pt x="1407" y="2779"/>
                  <a:pt x="1407" y="2742"/>
                </a:cubicBezTo>
                <a:lnTo>
                  <a:pt x="1407" y="2722"/>
                </a:lnTo>
                <a:lnTo>
                  <a:pt x="2334" y="2557"/>
                </a:lnTo>
                <a:cubicBezTo>
                  <a:pt x="2366" y="2551"/>
                  <a:pt x="2389" y="2524"/>
                  <a:pt x="2389" y="2491"/>
                </a:cubicBezTo>
                <a:lnTo>
                  <a:pt x="2389" y="1087"/>
                </a:lnTo>
                <a:cubicBezTo>
                  <a:pt x="2389" y="1067"/>
                  <a:pt x="2380" y="1049"/>
                  <a:pt x="2365" y="1036"/>
                </a:cubicBezTo>
                <a:close/>
                <a:moveTo>
                  <a:pt x="1274" y="2676"/>
                </a:moveTo>
                <a:lnTo>
                  <a:pt x="1116" y="2676"/>
                </a:lnTo>
                <a:lnTo>
                  <a:pt x="1116" y="1362"/>
                </a:lnTo>
                <a:lnTo>
                  <a:pt x="1274" y="1362"/>
                </a:lnTo>
                <a:lnTo>
                  <a:pt x="1274" y="2676"/>
                </a:lnTo>
                <a:close/>
                <a:moveTo>
                  <a:pt x="1194" y="1220"/>
                </a:moveTo>
                <a:lnTo>
                  <a:pt x="926" y="1172"/>
                </a:lnTo>
                <a:cubicBezTo>
                  <a:pt x="897" y="1124"/>
                  <a:pt x="872" y="1074"/>
                  <a:pt x="861" y="1049"/>
                </a:cubicBezTo>
                <a:cubicBezTo>
                  <a:pt x="849" y="1025"/>
                  <a:pt x="828" y="1009"/>
                  <a:pt x="804" y="1009"/>
                </a:cubicBezTo>
                <a:cubicBezTo>
                  <a:pt x="799" y="1009"/>
                  <a:pt x="793" y="1010"/>
                  <a:pt x="788" y="1012"/>
                </a:cubicBezTo>
                <a:cubicBezTo>
                  <a:pt x="787" y="1012"/>
                  <a:pt x="787" y="1012"/>
                  <a:pt x="786" y="1012"/>
                </a:cubicBezTo>
                <a:cubicBezTo>
                  <a:pt x="751" y="1012"/>
                  <a:pt x="721" y="976"/>
                  <a:pt x="705" y="914"/>
                </a:cubicBezTo>
                <a:cubicBezTo>
                  <a:pt x="690" y="857"/>
                  <a:pt x="695" y="815"/>
                  <a:pt x="718" y="808"/>
                </a:cubicBezTo>
                <a:cubicBezTo>
                  <a:pt x="735" y="806"/>
                  <a:pt x="748" y="798"/>
                  <a:pt x="760" y="785"/>
                </a:cubicBezTo>
                <a:cubicBezTo>
                  <a:pt x="771" y="771"/>
                  <a:pt x="774" y="754"/>
                  <a:pt x="772" y="736"/>
                </a:cubicBezTo>
                <a:cubicBezTo>
                  <a:pt x="772" y="736"/>
                  <a:pt x="771" y="712"/>
                  <a:pt x="773" y="675"/>
                </a:cubicBezTo>
                <a:cubicBezTo>
                  <a:pt x="813" y="657"/>
                  <a:pt x="875" y="623"/>
                  <a:pt x="927" y="567"/>
                </a:cubicBezTo>
                <a:cubicBezTo>
                  <a:pt x="951" y="540"/>
                  <a:pt x="970" y="508"/>
                  <a:pt x="984" y="477"/>
                </a:cubicBezTo>
                <a:cubicBezTo>
                  <a:pt x="1023" y="507"/>
                  <a:pt x="1075" y="542"/>
                  <a:pt x="1142" y="571"/>
                </a:cubicBezTo>
                <a:cubicBezTo>
                  <a:pt x="1264" y="625"/>
                  <a:pt x="1504" y="652"/>
                  <a:pt x="1613" y="661"/>
                </a:cubicBezTo>
                <a:cubicBezTo>
                  <a:pt x="1616" y="706"/>
                  <a:pt x="1614" y="735"/>
                  <a:pt x="1614" y="736"/>
                </a:cubicBezTo>
                <a:cubicBezTo>
                  <a:pt x="1611" y="771"/>
                  <a:pt x="1635" y="802"/>
                  <a:pt x="1669" y="808"/>
                </a:cubicBezTo>
                <a:cubicBezTo>
                  <a:pt x="1669" y="808"/>
                  <a:pt x="1676" y="811"/>
                  <a:pt x="1681" y="819"/>
                </a:cubicBezTo>
                <a:cubicBezTo>
                  <a:pt x="1692" y="836"/>
                  <a:pt x="1692" y="871"/>
                  <a:pt x="1681" y="914"/>
                </a:cubicBezTo>
                <a:cubicBezTo>
                  <a:pt x="1665" y="976"/>
                  <a:pt x="1635" y="1012"/>
                  <a:pt x="1600" y="1012"/>
                </a:cubicBezTo>
                <a:cubicBezTo>
                  <a:pt x="1599" y="1012"/>
                  <a:pt x="1599" y="1012"/>
                  <a:pt x="1598" y="1012"/>
                </a:cubicBezTo>
                <a:cubicBezTo>
                  <a:pt x="1567" y="1003"/>
                  <a:pt x="1539" y="1020"/>
                  <a:pt x="1525" y="1049"/>
                </a:cubicBezTo>
                <a:cubicBezTo>
                  <a:pt x="1514" y="1074"/>
                  <a:pt x="1489" y="1124"/>
                  <a:pt x="1459" y="1173"/>
                </a:cubicBezTo>
                <a:lnTo>
                  <a:pt x="1194" y="1220"/>
                </a:lnTo>
                <a:close/>
                <a:moveTo>
                  <a:pt x="2181" y="1845"/>
                </a:moveTo>
                <a:lnTo>
                  <a:pt x="1528" y="1974"/>
                </a:lnTo>
                <a:cubicBezTo>
                  <a:pt x="1524" y="1975"/>
                  <a:pt x="1519" y="1976"/>
                  <a:pt x="1515" y="1976"/>
                </a:cubicBezTo>
                <a:cubicBezTo>
                  <a:pt x="1484" y="1976"/>
                  <a:pt x="1456" y="1954"/>
                  <a:pt x="1450" y="1922"/>
                </a:cubicBezTo>
                <a:cubicBezTo>
                  <a:pt x="1442" y="1886"/>
                  <a:pt x="1466" y="1851"/>
                  <a:pt x="1502" y="1844"/>
                </a:cubicBezTo>
                <a:lnTo>
                  <a:pt x="2155" y="1715"/>
                </a:lnTo>
                <a:cubicBezTo>
                  <a:pt x="2191" y="1707"/>
                  <a:pt x="2227" y="1731"/>
                  <a:pt x="2234" y="1767"/>
                </a:cubicBezTo>
                <a:cubicBezTo>
                  <a:pt x="2241" y="1803"/>
                  <a:pt x="2217" y="1838"/>
                  <a:pt x="2181" y="1845"/>
                </a:cubicBezTo>
                <a:close/>
                <a:moveTo>
                  <a:pt x="2181" y="1499"/>
                </a:moveTo>
                <a:lnTo>
                  <a:pt x="1528" y="1628"/>
                </a:lnTo>
                <a:cubicBezTo>
                  <a:pt x="1524" y="1629"/>
                  <a:pt x="1519" y="1629"/>
                  <a:pt x="1515" y="1629"/>
                </a:cubicBezTo>
                <a:cubicBezTo>
                  <a:pt x="1484" y="1629"/>
                  <a:pt x="1456" y="1607"/>
                  <a:pt x="1450" y="1576"/>
                </a:cubicBezTo>
                <a:cubicBezTo>
                  <a:pt x="1442" y="1540"/>
                  <a:pt x="1466" y="1504"/>
                  <a:pt x="1502" y="1497"/>
                </a:cubicBezTo>
                <a:lnTo>
                  <a:pt x="2155" y="1368"/>
                </a:lnTo>
                <a:cubicBezTo>
                  <a:pt x="2191" y="1361"/>
                  <a:pt x="2227" y="1385"/>
                  <a:pt x="2234" y="1421"/>
                </a:cubicBezTo>
                <a:cubicBezTo>
                  <a:pt x="2241" y="1457"/>
                  <a:pt x="2217" y="1492"/>
                  <a:pt x="2181" y="1499"/>
                </a:cubicBezTo>
                <a:close/>
              </a:path>
            </a:pathLst>
          </a:custGeom>
          <a:solidFill>
            <a:schemeClr val="accent1"/>
          </a:solidFill>
          <a:ln>
            <a:noFill/>
          </a:ln>
        </p:spPr>
        <p:txBody>
          <a:bodyPr/>
          <a:lstStyle/>
          <a:p>
            <a:endParaRPr lang="zh-CN" altLang="en-US"/>
          </a:p>
        </p:txBody>
      </p:sp>
    </p:spTree>
    <p:extLst>
      <p:ext uri="{BB962C8B-B14F-4D97-AF65-F5344CB8AC3E}">
        <p14:creationId xmlns:p14="http://schemas.microsoft.com/office/powerpoint/2010/main" val="23276918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Coherent Risk Measure</a:t>
            </a:r>
          </a:p>
          <a:p>
            <a:pPr lvl="1">
              <a:spcBef>
                <a:spcPct val="0"/>
              </a:spcBef>
            </a:pPr>
            <a:r>
              <a:rPr lang="en-US" altLang="zh-CN" b="1" dirty="0"/>
              <a:t>Monotonicity</a:t>
            </a:r>
          </a:p>
          <a:p>
            <a:pPr lvl="2">
              <a:spcBef>
                <a:spcPct val="0"/>
              </a:spcBef>
            </a:pPr>
            <a:r>
              <a:rPr lang="en-US" altLang="zh-CN" u="sng" dirty="0"/>
              <a:t>A random cash flow or future value R</a:t>
            </a:r>
            <a:r>
              <a:rPr lang="en-US" altLang="zh-CN" u="sng" baseline="-25000" dirty="0"/>
              <a:t>1</a:t>
            </a:r>
            <a:r>
              <a:rPr lang="en-US" altLang="zh-CN" u="sng" dirty="0"/>
              <a:t> that is always greater than R</a:t>
            </a:r>
            <a:r>
              <a:rPr lang="en-US" altLang="zh-CN" u="sng" baseline="-25000" dirty="0"/>
              <a:t>2</a:t>
            </a:r>
            <a:r>
              <a:rPr lang="en-US" altLang="zh-CN" u="sng" dirty="0"/>
              <a:t> should have a lower risk.</a:t>
            </a:r>
          </a:p>
          <a:p>
            <a:pPr>
              <a:spcBef>
                <a:spcPct val="0"/>
              </a:spcBef>
            </a:pPr>
            <a:endParaRPr lang="en-US" altLang="zh-CN" dirty="0"/>
          </a:p>
          <a:p>
            <a:pPr lvl="1">
              <a:spcBef>
                <a:spcPct val="0"/>
              </a:spcBef>
            </a:pPr>
            <a:r>
              <a:rPr lang="en-US" altLang="zh-CN" b="1" dirty="0"/>
              <a:t>Subadditivity</a:t>
            </a:r>
          </a:p>
          <a:p>
            <a:pPr lvl="2">
              <a:spcBef>
                <a:spcPct val="0"/>
              </a:spcBef>
            </a:pPr>
            <a:r>
              <a:rPr lang="en-US" altLang="zh-CN" u="sng" dirty="0"/>
              <a:t>The portfolio’s risk should not be greater than the sum of its parts.</a:t>
            </a:r>
          </a:p>
          <a:p>
            <a:pPr>
              <a:spcBef>
                <a:spcPct val="0"/>
              </a:spcBef>
            </a:pPr>
            <a:endParaRPr lang="en-US" altLang="zh-CN" dirty="0"/>
          </a:p>
          <a:p>
            <a:pPr lvl="1">
              <a:spcBef>
                <a:spcPct val="0"/>
              </a:spcBef>
            </a:pPr>
            <a:r>
              <a:rPr lang="en-US" altLang="zh-CN" b="1" dirty="0"/>
              <a:t>Positive Homogeneity</a:t>
            </a:r>
          </a:p>
          <a:p>
            <a:pPr lvl="2">
              <a:spcBef>
                <a:spcPct val="0"/>
              </a:spcBef>
            </a:pPr>
            <a:r>
              <a:rPr lang="en-US" altLang="zh-CN" u="sng" dirty="0"/>
              <a:t>The risk of a position is proportional to its scale or size.</a:t>
            </a:r>
          </a:p>
          <a:p>
            <a:pPr>
              <a:spcBef>
                <a:spcPct val="0"/>
              </a:spcBef>
            </a:pPr>
            <a:endParaRPr lang="en-US" altLang="zh-CN" dirty="0"/>
          </a:p>
          <a:p>
            <a:pPr lvl="1">
              <a:spcBef>
                <a:spcPct val="0"/>
              </a:spcBef>
            </a:pPr>
            <a:r>
              <a:rPr lang="en-US" altLang="zh-CN" b="1" dirty="0"/>
              <a:t>Translation Invariance</a:t>
            </a:r>
          </a:p>
          <a:p>
            <a:pPr lvl="2">
              <a:spcBef>
                <a:spcPct val="0"/>
              </a:spcBef>
            </a:pPr>
            <a:r>
              <a:rPr lang="en-US" altLang="zh-CN" u="sng" dirty="0"/>
              <a:t>Like adding cash</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BC376933-D6B2-413A-84ED-2FAA8F96FE06}"/>
                  </a:ext>
                </a:extLst>
              </p:cNvPr>
              <p:cNvSpPr txBox="1"/>
              <p:nvPr/>
            </p:nvSpPr>
            <p:spPr>
              <a:xfrm>
                <a:off x="4907728" y="2715614"/>
                <a:ext cx="31002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then</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BC376933-D6B2-413A-84ED-2FAA8F96FE06}"/>
                  </a:ext>
                </a:extLst>
              </p:cNvPr>
              <p:cNvSpPr txBox="1">
                <a:spLocks noRot="1" noChangeAspect="1" noMove="1" noResize="1" noEditPoints="1" noAdjustHandles="1" noChangeArrowheads="1" noChangeShapeType="1" noTextEdit="1"/>
              </p:cNvSpPr>
              <p:nvPr/>
            </p:nvSpPr>
            <p:spPr>
              <a:xfrm>
                <a:off x="4907728" y="2715614"/>
                <a:ext cx="3100271" cy="369332"/>
              </a:xfrm>
              <a:prstGeom prst="rect">
                <a:avLst/>
              </a:prstGeom>
              <a:blipFill>
                <a:blip r:embed="rId2"/>
                <a:stretch>
                  <a:fillRect b="-163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0A05F2F7-F2A0-4A7D-995D-312509371F28}"/>
                  </a:ext>
                </a:extLst>
              </p:cNvPr>
              <p:cNvSpPr txBox="1"/>
              <p:nvPr/>
            </p:nvSpPr>
            <p:spPr>
              <a:xfrm>
                <a:off x="4984158" y="3944483"/>
                <a:ext cx="2895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d>
                        <m:d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e>
                      </m:d>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d>
                        <m:d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Sub>
                        </m:e>
                      </m:d>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b>
                      </m:s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5" name="文本框 4">
                <a:extLst>
                  <a:ext uri="{FF2B5EF4-FFF2-40B4-BE49-F238E27FC236}">
                    <a16:creationId xmlns:a16="http://schemas.microsoft.com/office/drawing/2014/main" id="{0A05F2F7-F2A0-4A7D-995D-312509371F28}"/>
                  </a:ext>
                </a:extLst>
              </p:cNvPr>
              <p:cNvSpPr txBox="1">
                <a:spLocks noRot="1" noChangeAspect="1" noMove="1" noResize="1" noEditPoints="1" noAdjustHandles="1" noChangeArrowheads="1" noChangeShapeType="1" noTextEdit="1"/>
              </p:cNvSpPr>
              <p:nvPr/>
            </p:nvSpPr>
            <p:spPr>
              <a:xfrm>
                <a:off x="4984158" y="3944483"/>
                <a:ext cx="2895473" cy="276999"/>
              </a:xfrm>
              <a:prstGeom prst="rect">
                <a:avLst/>
              </a:prstGeom>
              <a:blipFill>
                <a:blip r:embed="rId3"/>
                <a:stretch>
                  <a:fillRect l="-1263" r="-2316" b="-369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647049C5-B06A-4C2F-98F0-82DE05E87473}"/>
                  </a:ext>
                </a:extLst>
              </p:cNvPr>
              <p:cNvSpPr txBox="1"/>
              <p:nvPr/>
            </p:nvSpPr>
            <p:spPr>
              <a:xfrm>
                <a:off x="5240995" y="5274002"/>
                <a:ext cx="24232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&gt;0,</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βρ</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6" name="文本框 5">
                <a:extLst>
                  <a:ext uri="{FF2B5EF4-FFF2-40B4-BE49-F238E27FC236}">
                    <a16:creationId xmlns:a16="http://schemas.microsoft.com/office/drawing/2014/main" id="{647049C5-B06A-4C2F-98F0-82DE05E87473}"/>
                  </a:ext>
                </a:extLst>
              </p:cNvPr>
              <p:cNvSpPr txBox="1">
                <a:spLocks noRot="1" noChangeAspect="1" noMove="1" noResize="1" noEditPoints="1" noAdjustHandles="1" noChangeArrowheads="1" noChangeShapeType="1" noTextEdit="1"/>
              </p:cNvSpPr>
              <p:nvPr/>
            </p:nvSpPr>
            <p:spPr>
              <a:xfrm>
                <a:off x="5240995" y="5274002"/>
                <a:ext cx="2423292" cy="369332"/>
              </a:xfrm>
              <a:prstGeom prst="rect">
                <a:avLst/>
              </a:prstGeom>
              <a:blipFill>
                <a:blip r:embed="rId4"/>
                <a:stretch>
                  <a:fillRect b="-163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9A142093-8DFE-4067-9932-37C855AE6D4D}"/>
                  </a:ext>
                </a:extLst>
              </p:cNvPr>
              <p:cNvSpPr txBox="1"/>
              <p:nvPr/>
            </p:nvSpPr>
            <p:spPr>
              <a:xfrm>
                <a:off x="4630636" y="6274836"/>
                <a:ext cx="36440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for</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constant</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d>
                        <m:d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d>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7" name="文本框 6">
                <a:extLst>
                  <a:ext uri="{FF2B5EF4-FFF2-40B4-BE49-F238E27FC236}">
                    <a16:creationId xmlns:a16="http://schemas.microsoft.com/office/drawing/2014/main" id="{9A142093-8DFE-4067-9932-37C855AE6D4D}"/>
                  </a:ext>
                </a:extLst>
              </p:cNvPr>
              <p:cNvSpPr txBox="1">
                <a:spLocks noRot="1" noChangeAspect="1" noMove="1" noResize="1" noEditPoints="1" noAdjustHandles="1" noChangeArrowheads="1" noChangeShapeType="1" noTextEdit="1"/>
              </p:cNvSpPr>
              <p:nvPr/>
            </p:nvSpPr>
            <p:spPr>
              <a:xfrm>
                <a:off x="4630636" y="6274836"/>
                <a:ext cx="3644010" cy="369332"/>
              </a:xfrm>
              <a:prstGeom prst="rect">
                <a:avLst/>
              </a:prstGeom>
              <a:blipFill>
                <a:blip r:embed="rId5"/>
                <a:stretch>
                  <a:fillRect b="-98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27076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85000" lnSpcReduction="20000"/>
          </a:bodyPr>
          <a:lstStyle/>
          <a:p>
            <a:pPr>
              <a:spcBef>
                <a:spcPct val="0"/>
              </a:spcBef>
              <a:defRPr/>
            </a:pPr>
            <a:r>
              <a:rPr lang="en-US" altLang="zh-CN" dirty="0"/>
              <a:t>Mean-Variance Framework</a:t>
            </a:r>
          </a:p>
          <a:p>
            <a:pPr>
              <a:spcBef>
                <a:spcPct val="0"/>
              </a:spcBef>
              <a:defRPr/>
            </a:pPr>
            <a:r>
              <a:rPr lang="en-US" altLang="zh-CN" dirty="0"/>
              <a:t>Value at Risk</a:t>
            </a:r>
          </a:p>
          <a:p>
            <a:pPr lvl="1">
              <a:spcBef>
                <a:spcPct val="0"/>
              </a:spcBef>
              <a:defRPr/>
            </a:pPr>
            <a:r>
              <a:rPr lang="en-US" altLang="zh-CN" u="sng" dirty="0" err="1"/>
              <a:t>VaR</a:t>
            </a:r>
            <a:r>
              <a:rPr lang="en-US" altLang="zh-CN" u="sng" dirty="0"/>
              <a:t> is the maximum loss over a target horizon and for a given confidence level. </a:t>
            </a:r>
          </a:p>
          <a:p>
            <a:pPr>
              <a:spcBef>
                <a:spcPct val="0"/>
              </a:spcBef>
              <a:defRPr/>
            </a:pPr>
            <a:endParaRPr lang="en-US" altLang="zh-CN" dirty="0"/>
          </a:p>
          <a:p>
            <a:pPr>
              <a:spcBef>
                <a:spcPct val="0"/>
              </a:spcBef>
              <a:defRPr/>
            </a:pPr>
            <a:endParaRPr lang="en-US" altLang="zh-CN" dirty="0"/>
          </a:p>
          <a:p>
            <a:pPr>
              <a:spcBef>
                <a:spcPct val="0"/>
              </a:spcBef>
              <a:defRPr/>
            </a:pPr>
            <a:endParaRPr lang="en-US" altLang="zh-CN" dirty="0"/>
          </a:p>
          <a:p>
            <a:pPr>
              <a:spcBef>
                <a:spcPct val="0"/>
              </a:spcBef>
              <a:defRPr/>
            </a:pPr>
            <a:endParaRPr lang="en-US" altLang="zh-CN" dirty="0"/>
          </a:p>
          <a:p>
            <a:pPr>
              <a:spcBef>
                <a:spcPct val="0"/>
              </a:spcBef>
              <a:defRPr/>
            </a:pPr>
            <a:endParaRPr lang="en-US" altLang="zh-CN" dirty="0"/>
          </a:p>
          <a:p>
            <a:pPr>
              <a:spcBef>
                <a:spcPct val="0"/>
              </a:spcBef>
              <a:defRPr/>
            </a:pPr>
            <a:endParaRPr lang="en-US" altLang="zh-CN" dirty="0"/>
          </a:p>
          <a:p>
            <a:pPr>
              <a:spcBef>
                <a:spcPct val="0"/>
              </a:spcBef>
              <a:defRPr/>
            </a:pPr>
            <a:endParaRPr lang="en-US" altLang="zh-CN" dirty="0"/>
          </a:p>
          <a:p>
            <a:pPr lvl="1">
              <a:spcBef>
                <a:spcPct val="0"/>
              </a:spcBef>
              <a:defRPr/>
            </a:pPr>
            <a:endParaRPr lang="en-US" altLang="zh-CN" b="1" dirty="0"/>
          </a:p>
          <a:p>
            <a:pPr lvl="1">
              <a:spcBef>
                <a:spcPct val="0"/>
              </a:spcBef>
              <a:defRPr/>
            </a:pPr>
            <a:r>
              <a:rPr lang="en-US" altLang="zh-CN" b="1" dirty="0"/>
              <a:t>Disadvantages of </a:t>
            </a:r>
            <a:r>
              <a:rPr lang="en-US" altLang="zh-CN" b="1" dirty="0" err="1"/>
              <a:t>VaR</a:t>
            </a:r>
            <a:endParaRPr lang="en-US" altLang="zh-CN" b="1" dirty="0"/>
          </a:p>
          <a:p>
            <a:pPr lvl="2">
              <a:spcBef>
                <a:spcPct val="0"/>
              </a:spcBef>
              <a:defRPr/>
            </a:pPr>
            <a:r>
              <a:rPr lang="en-US" altLang="zh-CN" dirty="0"/>
              <a:t>Did </a:t>
            </a:r>
            <a:r>
              <a:rPr lang="en-US" altLang="zh-CN" u="sng" dirty="0"/>
              <a:t>not contain worst conditions</a:t>
            </a:r>
            <a:r>
              <a:rPr lang="en-US" altLang="zh-CN" dirty="0"/>
              <a:t>, did not describe tail loss.</a:t>
            </a:r>
          </a:p>
          <a:p>
            <a:pPr lvl="2">
              <a:spcBef>
                <a:spcPct val="0"/>
              </a:spcBef>
              <a:defRPr/>
            </a:pPr>
            <a:r>
              <a:rPr lang="en-US" altLang="zh-CN" u="sng" dirty="0"/>
              <a:t>Not sub-additive</a:t>
            </a:r>
            <a:r>
              <a:rPr lang="en-US" altLang="zh-CN" dirty="0"/>
              <a:t>.</a:t>
            </a:r>
          </a:p>
          <a:p>
            <a:pPr>
              <a:spcBef>
                <a:spcPct val="0"/>
              </a:spcBef>
              <a:defRPr/>
            </a:pPr>
            <a:endParaRPr lang="en-US" altLang="zh-CN" dirty="0"/>
          </a:p>
          <a:p>
            <a:endParaRPr lang="en-US" altLang="zh-CN" dirty="0">
              <a:latin typeface="+mn-lt"/>
              <a:ea typeface="+mn-ea"/>
              <a:cs typeface="+mn-ea"/>
              <a:sym typeface="+mn-lt"/>
            </a:endParaRPr>
          </a:p>
        </p:txBody>
      </p:sp>
      <p:grpSp>
        <p:nvGrpSpPr>
          <p:cNvPr id="4" name="组合 1">
            <a:extLst>
              <a:ext uri="{FF2B5EF4-FFF2-40B4-BE49-F238E27FC236}">
                <a16:creationId xmlns:a16="http://schemas.microsoft.com/office/drawing/2014/main" id="{4DA774F7-0D2F-45F5-9365-09D8E809DEFC}"/>
              </a:ext>
            </a:extLst>
          </p:cNvPr>
          <p:cNvGrpSpPr>
            <a:grpSpLocks/>
          </p:cNvGrpSpPr>
          <p:nvPr/>
        </p:nvGrpSpPr>
        <p:grpSpPr bwMode="auto">
          <a:xfrm>
            <a:off x="1684336" y="2310843"/>
            <a:ext cx="8823325" cy="2665413"/>
            <a:chOff x="313644" y="2420888"/>
            <a:chExt cx="8824912" cy="3095749"/>
          </a:xfrm>
        </p:grpSpPr>
        <p:pic>
          <p:nvPicPr>
            <p:cNvPr id="5" name="Picture 5">
              <a:extLst>
                <a:ext uri="{FF2B5EF4-FFF2-40B4-BE49-F238E27FC236}">
                  <a16:creationId xmlns:a16="http://schemas.microsoft.com/office/drawing/2014/main" id="{5EB0C638-382F-41C3-AC89-55E0882B6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0356" y="2420888"/>
              <a:ext cx="4648200" cy="3095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49C24BF4-1200-4247-8A90-CDD316688C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644" y="2678790"/>
              <a:ext cx="4114800" cy="271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100658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a:xfrm>
            <a:off x="393599" y="638464"/>
            <a:ext cx="11404800" cy="5660163"/>
          </a:xfrm>
        </p:spPr>
        <p:txBody>
          <a:bodyPr>
            <a:normAutofit fontScale="85000" lnSpcReduction="10000"/>
          </a:bodyPr>
          <a:lstStyle/>
          <a:p>
            <a:pPr>
              <a:spcBef>
                <a:spcPct val="0"/>
              </a:spcBef>
              <a:defRPr/>
            </a:pPr>
            <a:r>
              <a:rPr lang="en-US" altLang="zh-CN" dirty="0"/>
              <a:t>Value at Risk (cont’d)</a:t>
            </a:r>
          </a:p>
          <a:p>
            <a:pPr lvl="1">
              <a:spcBef>
                <a:spcPct val="0"/>
              </a:spcBef>
              <a:defRPr/>
            </a:pPr>
            <a:r>
              <a:rPr lang="en-US" altLang="zh-CN" dirty="0"/>
              <a:t>If an expected return other than zero:</a:t>
            </a:r>
          </a:p>
          <a:p>
            <a:pPr marL="363538" lvl="1" indent="0">
              <a:spcBef>
                <a:spcPct val="0"/>
              </a:spcBef>
              <a:buNone/>
              <a:defRPr/>
            </a:pPr>
            <a:endParaRPr lang="en-US" altLang="zh-CN" dirty="0"/>
          </a:p>
          <a:p>
            <a:pPr lvl="1">
              <a:spcBef>
                <a:spcPct val="0"/>
              </a:spcBef>
              <a:defRPr/>
            </a:pPr>
            <a:r>
              <a:rPr lang="en-US" altLang="zh-CN" b="1" dirty="0"/>
              <a:t>Example: </a:t>
            </a:r>
            <a:r>
              <a:rPr lang="en-US" altLang="zh-CN" dirty="0"/>
              <a:t>Given that for a $1,000,000 portfolio, the expected 1-year portfolio return and standard deviation are 0.00124 and 0.0321. Calculate the 1-year </a:t>
            </a:r>
            <a:r>
              <a:rPr lang="en-US" altLang="zh-CN" dirty="0" err="1"/>
              <a:t>VaR</a:t>
            </a:r>
            <a:r>
              <a:rPr lang="en-US" altLang="zh-CN" dirty="0"/>
              <a:t> at 1% significance level.</a:t>
            </a:r>
          </a:p>
          <a:p>
            <a:pPr lvl="1">
              <a:spcBef>
                <a:spcPct val="0"/>
              </a:spcBef>
              <a:defRPr/>
            </a:pPr>
            <a:r>
              <a:rPr lang="en-US" altLang="zh-CN" b="1" dirty="0"/>
              <a:t>Square Root Rule</a:t>
            </a:r>
          </a:p>
          <a:p>
            <a:pPr lvl="2">
              <a:spcBef>
                <a:spcPct val="0"/>
              </a:spcBef>
              <a:defRPr/>
            </a:pPr>
            <a:r>
              <a:rPr lang="en-US" altLang="zh-CN" u="sng" dirty="0"/>
              <a:t>If there are no serial correlations or other dependencies, volatility increases with the square root of the unit of time.</a:t>
            </a:r>
          </a:p>
          <a:p>
            <a:pPr lvl="2">
              <a:spcBef>
                <a:spcPct val="0"/>
              </a:spcBef>
              <a:defRPr/>
            </a:pPr>
            <a:endParaRPr lang="en-US" altLang="zh-CN" dirty="0"/>
          </a:p>
          <a:p>
            <a:pPr lvl="2">
              <a:spcBef>
                <a:spcPct val="0"/>
              </a:spcBef>
              <a:defRPr/>
            </a:pPr>
            <a:endParaRPr lang="en-US" altLang="zh-CN" dirty="0"/>
          </a:p>
          <a:p>
            <a:pPr lvl="2">
              <a:spcBef>
                <a:spcPct val="0"/>
              </a:spcBef>
              <a:defRPr/>
            </a:pPr>
            <a:r>
              <a:rPr lang="en-US" altLang="zh-CN" dirty="0"/>
              <a:t>With </a:t>
            </a:r>
            <a:r>
              <a:rPr lang="en-US" altLang="zh-CN" dirty="0" err="1"/>
              <a:t>trends→positive</a:t>
            </a:r>
            <a:r>
              <a:rPr lang="en-US" altLang="zh-CN" dirty="0"/>
              <a:t> </a:t>
            </a:r>
            <a:r>
              <a:rPr lang="en-US" altLang="zh-CN" dirty="0" err="1"/>
              <a:t>correlation→VaR</a:t>
            </a:r>
            <a:r>
              <a:rPr lang="en-US" altLang="zh-CN" dirty="0"/>
              <a:t> increase</a:t>
            </a:r>
          </a:p>
          <a:p>
            <a:pPr lvl="2">
              <a:spcBef>
                <a:spcPct val="0"/>
              </a:spcBef>
              <a:defRPr/>
            </a:pPr>
            <a:r>
              <a:rPr lang="en-US" altLang="zh-CN" dirty="0"/>
              <a:t>With mean </a:t>
            </a:r>
            <a:r>
              <a:rPr lang="en-US" altLang="zh-CN" dirty="0" err="1"/>
              <a:t>reversion→negative</a:t>
            </a:r>
            <a:r>
              <a:rPr lang="en-US" altLang="zh-CN" dirty="0"/>
              <a:t> </a:t>
            </a:r>
            <a:r>
              <a:rPr lang="en-US" altLang="zh-CN" dirty="0" err="1"/>
              <a:t>correlation→VaR</a:t>
            </a:r>
            <a:r>
              <a:rPr lang="en-US" altLang="zh-CN" dirty="0"/>
              <a:t> decrease</a:t>
            </a:r>
          </a:p>
          <a:p>
            <a:pPr>
              <a:defRPr/>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0D72E278-EF63-4AF7-B12E-55024D407AC5}"/>
                  </a:ext>
                </a:extLst>
              </p:cNvPr>
              <p:cNvSpPr/>
              <p:nvPr/>
            </p:nvSpPr>
            <p:spPr>
              <a:xfrm>
                <a:off x="4671987" y="1629612"/>
                <a:ext cx="2848023" cy="369332"/>
              </a:xfrm>
              <a:prstGeom prst="rect">
                <a:avLst/>
              </a:prstGeom>
              <a:ln w="1905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d>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μ</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z</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0D72E278-EF63-4AF7-B12E-55024D407AC5}"/>
                  </a:ext>
                </a:extLst>
              </p:cNvPr>
              <p:cNvSpPr>
                <a:spLocks noRot="1" noChangeAspect="1" noMove="1" noResize="1" noEditPoints="1" noAdjustHandles="1" noChangeArrowheads="1" noChangeShapeType="1" noTextEdit="1"/>
              </p:cNvSpPr>
              <p:nvPr/>
            </p:nvSpPr>
            <p:spPr>
              <a:xfrm>
                <a:off x="4671987" y="1629612"/>
                <a:ext cx="2848023" cy="369332"/>
              </a:xfrm>
              <a:prstGeom prst="rect">
                <a:avLst/>
              </a:prstGeom>
              <a:blipFill>
                <a:blip r:embed="rId2"/>
                <a:stretch>
                  <a:fillRect b="-10938"/>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3041576E-F763-4240-B2E8-8FF5516FBDE4}"/>
                  </a:ext>
                </a:extLst>
              </p:cNvPr>
              <p:cNvSpPr/>
              <p:nvPr/>
            </p:nvSpPr>
            <p:spPr>
              <a:xfrm>
                <a:off x="4069847" y="4695772"/>
                <a:ext cx="4052304" cy="437556"/>
              </a:xfrm>
              <a:prstGeom prst="rect">
                <a:avLst/>
              </a:prstGeom>
              <a:ln w="1905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d>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J</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days</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X</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e>
                          </m:d>
                        </m:e>
                        <m: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days</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ad>
                        <m:radPr>
                          <m:degHide m:val="o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J</m:t>
                          </m:r>
                        </m:e>
                      </m:rad>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5" name="矩形 4">
                <a:extLst>
                  <a:ext uri="{FF2B5EF4-FFF2-40B4-BE49-F238E27FC236}">
                    <a16:creationId xmlns:a16="http://schemas.microsoft.com/office/drawing/2014/main" id="{3041576E-F763-4240-B2E8-8FF5516FBDE4}"/>
                  </a:ext>
                </a:extLst>
              </p:cNvPr>
              <p:cNvSpPr>
                <a:spLocks noRot="1" noChangeAspect="1" noMove="1" noResize="1" noEditPoints="1" noAdjustHandles="1" noChangeArrowheads="1" noChangeShapeType="1" noTextEdit="1"/>
              </p:cNvSpPr>
              <p:nvPr/>
            </p:nvSpPr>
            <p:spPr>
              <a:xfrm>
                <a:off x="4069847" y="4695772"/>
                <a:ext cx="4052304" cy="437556"/>
              </a:xfrm>
              <a:prstGeom prst="rect">
                <a:avLst/>
              </a:prstGeom>
              <a:blipFill>
                <a:blip r:embed="rId3"/>
                <a:stretch>
                  <a:fillRect b="-5333"/>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42608233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Value at Risk (cont’d)</a:t>
            </a:r>
          </a:p>
          <a:p>
            <a:pPr lvl="1">
              <a:spcBef>
                <a:spcPct val="0"/>
              </a:spcBef>
            </a:pPr>
            <a:r>
              <a:rPr lang="en-US" altLang="zh-CN" b="1" dirty="0"/>
              <a:t>Delta-Normal Approach</a:t>
            </a:r>
          </a:p>
          <a:p>
            <a:pPr lvl="2">
              <a:spcBef>
                <a:spcPct val="0"/>
              </a:spcBef>
            </a:pPr>
            <a:r>
              <a:rPr lang="en-US" altLang="zh-CN" u="sng" dirty="0"/>
              <a:t>Linear approximation</a:t>
            </a:r>
          </a:p>
          <a:p>
            <a:pPr lvl="2">
              <a:spcBef>
                <a:spcPct val="0"/>
              </a:spcBef>
            </a:pPr>
            <a:r>
              <a:rPr lang="en-US" altLang="zh-CN" u="sng" dirty="0"/>
              <a:t>Underlying factor is assumed to follow a normal distribution</a:t>
            </a:r>
          </a:p>
          <a:p>
            <a:pPr lvl="2">
              <a:spcBef>
                <a:spcPct val="0"/>
              </a:spcBef>
            </a:pPr>
            <a:r>
              <a:rPr lang="en-US" altLang="zh-CN" u="sng" dirty="0"/>
              <a:t>Not good for derivatives with extreme nonlinearities (MBS, Fixed-income securities with embedded option).</a:t>
            </a:r>
          </a:p>
          <a:p>
            <a:pPr lvl="2">
              <a:spcBef>
                <a:spcPct val="0"/>
              </a:spcBef>
            </a:pPr>
            <a:endParaRPr lang="en-US" altLang="zh-CN" dirty="0"/>
          </a:p>
          <a:p>
            <a:pPr lvl="2">
              <a:spcBef>
                <a:spcPct val="0"/>
              </a:spcBef>
            </a:pPr>
            <a:endParaRPr lang="en-US" altLang="zh-CN" dirty="0"/>
          </a:p>
          <a:p>
            <a:pPr marL="349250" lvl="2" indent="0">
              <a:spcBef>
                <a:spcPct val="0"/>
              </a:spcBef>
              <a:buNone/>
            </a:pPr>
            <a:endParaRPr lang="en-US" altLang="zh-CN" dirty="0"/>
          </a:p>
          <a:p>
            <a:pPr lvl="2">
              <a:spcBef>
                <a:spcPct val="0"/>
              </a:spcBef>
            </a:pPr>
            <a:r>
              <a:rPr lang="en-US" altLang="zh-CN" b="1" dirty="0"/>
              <a:t>Example: </a:t>
            </a:r>
            <a:r>
              <a:rPr lang="en-US" altLang="zh-CN" dirty="0"/>
              <a:t>The Big Pharma Inc’s stock is trading at USD 23 and the stock has a daily volatility of 1.5%. Using the delta-normal method, what is the </a:t>
            </a:r>
            <a:r>
              <a:rPr lang="en-US" altLang="zh-CN" dirty="0" err="1"/>
              <a:t>VaR</a:t>
            </a:r>
            <a:r>
              <a:rPr lang="en-US" altLang="zh-CN" dirty="0"/>
              <a:t> at the 95% confidence level of a long position in an at-the-money put on this stock with a delta of -0.5 over a 1-day holding period?</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419122A7-16EB-4CC7-8F0C-967B3524F7FA}"/>
                  </a:ext>
                </a:extLst>
              </p:cNvPr>
              <p:cNvSpPr txBox="1"/>
              <p:nvPr/>
            </p:nvSpPr>
            <p:spPr>
              <a:xfrm>
                <a:off x="4388512" y="3643550"/>
                <a:ext cx="3414974" cy="867930"/>
              </a:xfrm>
              <a:prstGeom prst="rect">
                <a:avLst/>
              </a:prstGeom>
              <a:noFill/>
              <a:ln w="19050">
                <a:solidFill>
                  <a:srgbClr val="FF0000"/>
                </a:solidFill>
              </a:ln>
            </p:spPr>
            <p:txBody>
              <a:bodyPr wrap="none" rtlCol="0">
                <a:spAutoFit/>
              </a:bodyPr>
              <a:lstStyle/>
              <a:p>
                <a:pPr algn="ctr">
                  <a:lnSpc>
                    <a:spcPct val="140000"/>
                  </a:lnSpc>
                </a:pPr>
                <a14:m>
                  <m:oMathPara xmlns:m="http://schemas.openxmlformats.org/officeDocument/2006/math">
                    <m:oMathParaPr>
                      <m:jc m:val="left"/>
                    </m:oMathParaPr>
                    <m:oMath xmlns:m="http://schemas.openxmlformats.org/officeDocument/2006/math">
                      <m:r>
                        <m:rPr>
                          <m:sty m:val="p"/>
                        </m:rPr>
                        <a:rPr lang="zh-CN" altLang="en-US" sz="1800" b="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dP</m:t>
                          </m:r>
                        </m:e>
                      </m:d>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en-US" altLang="zh-CN" sz="18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en-US" altLang="zh-CN" sz="18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MD</m:t>
                          </m:r>
                          <m: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e>
                      </m:d>
                      <m:r>
                        <a:rPr lang="en-US" altLang="zh-CN" sz="18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dy</m:t>
                          </m:r>
                        </m:e>
                      </m:d>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lgn="ctr">
                  <a:lnSpc>
                    <a:spcPct val="140000"/>
                  </a:lnSpc>
                </a:pPr>
                <a14:m>
                  <m:oMathPara xmlns:m="http://schemas.openxmlformats.org/officeDocument/2006/math">
                    <m:oMathParaPr>
                      <m:jc m:val="left"/>
                    </m:oMathParaPr>
                    <m:oMath xmlns:m="http://schemas.openxmlformats.org/officeDocument/2006/math">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df</m:t>
                          </m:r>
                        </m:e>
                      </m:d>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Δ</m:t>
                          </m:r>
                        </m:e>
                      </m:d>
                      <m:r>
                        <a:rPr lang="en-US" altLang="zh-CN" sz="18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dS</m:t>
                          </m:r>
                        </m:e>
                      </m:d>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419122A7-16EB-4CC7-8F0C-967B3524F7FA}"/>
                  </a:ext>
                </a:extLst>
              </p:cNvPr>
              <p:cNvSpPr txBox="1">
                <a:spLocks noRot="1" noChangeAspect="1" noMove="1" noResize="1" noEditPoints="1" noAdjustHandles="1" noChangeArrowheads="1" noChangeShapeType="1" noTextEdit="1"/>
              </p:cNvSpPr>
              <p:nvPr/>
            </p:nvSpPr>
            <p:spPr>
              <a:xfrm>
                <a:off x="4388512" y="3643550"/>
                <a:ext cx="3414974" cy="867930"/>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431396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85000" lnSpcReduction="10000"/>
          </a:bodyPr>
          <a:lstStyle/>
          <a:p>
            <a:pPr>
              <a:spcBef>
                <a:spcPct val="0"/>
              </a:spcBef>
              <a:defRPr/>
            </a:pPr>
            <a:r>
              <a:rPr lang="en-US" altLang="zh-CN" dirty="0"/>
              <a:t>Value at Risk (cont’d)</a:t>
            </a:r>
          </a:p>
          <a:p>
            <a:pPr lvl="1">
              <a:spcBef>
                <a:spcPct val="0"/>
              </a:spcBef>
              <a:defRPr/>
            </a:pPr>
            <a:r>
              <a:rPr lang="en-US" altLang="zh-CN" b="1" dirty="0"/>
              <a:t>Delta-Gamma Approach</a:t>
            </a:r>
          </a:p>
          <a:p>
            <a:pPr lvl="2">
              <a:spcBef>
                <a:spcPct val="0"/>
              </a:spcBef>
              <a:defRPr/>
            </a:pPr>
            <a:r>
              <a:rPr lang="en-US" altLang="zh-CN" u="sng" dirty="0"/>
              <a:t>Nonlinear approximation</a:t>
            </a:r>
          </a:p>
          <a:p>
            <a:pPr lvl="2">
              <a:spcBef>
                <a:spcPct val="0"/>
              </a:spcBef>
              <a:defRPr/>
            </a:pPr>
            <a:endParaRPr lang="en-US" altLang="zh-CN" dirty="0"/>
          </a:p>
          <a:p>
            <a:pPr lvl="2">
              <a:spcBef>
                <a:spcPct val="0"/>
              </a:spcBef>
              <a:defRPr/>
            </a:pPr>
            <a:endParaRPr lang="en-US" altLang="zh-CN" dirty="0"/>
          </a:p>
          <a:p>
            <a:pPr lvl="2">
              <a:spcBef>
                <a:spcPct val="0"/>
              </a:spcBef>
              <a:defRPr/>
            </a:pPr>
            <a:endParaRPr lang="en-US" altLang="zh-CN" dirty="0"/>
          </a:p>
          <a:p>
            <a:pPr lvl="2">
              <a:spcBef>
                <a:spcPct val="0"/>
              </a:spcBef>
              <a:defRPr/>
            </a:pPr>
            <a:endParaRPr lang="en-US" altLang="zh-CN" dirty="0"/>
          </a:p>
          <a:p>
            <a:pPr lvl="1">
              <a:spcBef>
                <a:spcPct val="0"/>
              </a:spcBef>
              <a:defRPr/>
            </a:pPr>
            <a:r>
              <a:rPr lang="en-US" altLang="zh-CN" b="1" dirty="0"/>
              <a:t>Full Revaluation Method</a:t>
            </a:r>
          </a:p>
          <a:p>
            <a:pPr lvl="2">
              <a:spcBef>
                <a:spcPct val="0"/>
              </a:spcBef>
              <a:defRPr/>
            </a:pPr>
            <a:r>
              <a:rPr lang="en-US" altLang="zh-CN" u="sng" dirty="0"/>
              <a:t>Full re-pricing under the assumption that the underlying risk factor(s) are shocked to experience a loss. i.e., what is the worst expected change in the risk factor, given some confidence and time horizon. Then, full revaluation prices the portfolio under changed risk factors.</a:t>
            </a:r>
          </a:p>
          <a:p>
            <a:pPr lvl="2">
              <a:spcBef>
                <a:spcPct val="0"/>
              </a:spcBef>
              <a:defRPr/>
            </a:pPr>
            <a:r>
              <a:rPr lang="en-US" altLang="zh-CN" u="sng" dirty="0"/>
              <a:t>Accurate but computationally burdensome.</a:t>
            </a:r>
          </a:p>
          <a:p>
            <a:pPr>
              <a:defRPr/>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9D950215-7FEB-436A-8AE3-A3D2DBB9A9E4}"/>
                  </a:ext>
                </a:extLst>
              </p:cNvPr>
              <p:cNvSpPr txBox="1"/>
              <p:nvPr/>
            </p:nvSpPr>
            <p:spPr>
              <a:xfrm>
                <a:off x="3775941" y="2382948"/>
                <a:ext cx="4640116" cy="1260602"/>
              </a:xfrm>
              <a:prstGeom prst="rect">
                <a:avLst/>
              </a:prstGeom>
              <a:noFill/>
              <a:ln w="19050">
                <a:solidFill>
                  <a:srgbClr val="FF0000"/>
                </a:solidFill>
              </a:ln>
            </p:spPr>
            <p:txBody>
              <a:bodyPr wrap="none" rtlCol="0">
                <a:spAutoFit/>
              </a:bodyPr>
              <a:lstStyle/>
              <a:p>
                <a:r>
                  <a:rPr lang="en-US" altLang="zh-CN" sz="1600" b="0" dirty="0">
                    <a:solidFill>
                      <a:srgbClr val="2C3E50"/>
                    </a:solidFill>
                    <a:latin typeface="Segoe UI" panose="020B0502040204020203" pitchFamily="34" charset="0"/>
                    <a:ea typeface="Segoe UI" panose="020B0502040204020203" pitchFamily="34" charset="0"/>
                    <a:cs typeface="Segoe UI" panose="020B0502040204020203" pitchFamily="34" charset="0"/>
                  </a:rPr>
                  <a:t>VaR of Long Position: </a:t>
                </a:r>
              </a:p>
              <a:p>
                <a:endParaRPr lang="en-US" altLang="zh-CN" sz="16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a:p>
                <a:pPr/>
                <a14:m>
                  <m:oMathPara xmlns:m="http://schemas.openxmlformats.org/officeDocument/2006/math">
                    <m:oMathParaPr>
                      <m:jc m:val="left"/>
                    </m:oMathParaPr>
                    <m:oMath xmlns:m="http://schemas.openxmlformats.org/officeDocument/2006/math">
                      <m:r>
                        <m:rPr>
                          <m:sty m:val="p"/>
                        </m:rPr>
                        <a:rPr lang="zh-CN" altLang="en-US"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6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df</m:t>
                          </m:r>
                        </m:e>
                      </m:d>
                      <m:r>
                        <a:rPr lang="zh-CN" altLang="en-US"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begChr m:val="|"/>
                          <m:endChr m:val="|"/>
                          <m:ctrlPr>
                            <a:rPr lang="zh-CN" altLang="en-US" sz="16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Δ</m:t>
                          </m:r>
                        </m:e>
                      </m:d>
                      <m:r>
                        <a:rPr lang="en-US" altLang="zh-CN"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d>
                        <m:dPr>
                          <m:ctrlPr>
                            <a:rPr lang="zh-CN" altLang="en-US" sz="16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6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dS</m:t>
                          </m:r>
                        </m:e>
                      </m:d>
                      <m: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en-US" altLang="zh-CN" sz="16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den>
                      </m:f>
                      <m: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Γ</m:t>
                      </m:r>
                      <m: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VaR</m:t>
                      </m:r>
                      <m:sSup>
                        <m:sSupPr>
                          <m:ctrlPr>
                            <a:rPr lang="en-US" altLang="zh-CN" sz="16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d>
                            <m:dPr>
                              <m:ctrlPr>
                                <a:rPr lang="en-US" altLang="zh-CN" sz="16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dS</m:t>
                              </m:r>
                            </m:e>
                          </m:d>
                        </m:e>
                        <m:sup>
                          <m:r>
                            <a:rPr lang="en-US" altLang="zh-CN" sz="16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oMath>
                  </m:oMathPara>
                </a14:m>
                <a:endParaRPr lang="zh-CN" altLang="en-US" sz="17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9D950215-7FEB-436A-8AE3-A3D2DBB9A9E4}"/>
                  </a:ext>
                </a:extLst>
              </p:cNvPr>
              <p:cNvSpPr txBox="1">
                <a:spLocks noRot="1" noChangeAspect="1" noMove="1" noResize="1" noEditPoints="1" noAdjustHandles="1" noChangeArrowheads="1" noChangeShapeType="1" noTextEdit="1"/>
              </p:cNvSpPr>
              <p:nvPr/>
            </p:nvSpPr>
            <p:spPr>
              <a:xfrm>
                <a:off x="3775941" y="2382948"/>
                <a:ext cx="4640116" cy="1260602"/>
              </a:xfrm>
              <a:prstGeom prst="rect">
                <a:avLst/>
              </a:prstGeom>
              <a:blipFill>
                <a:blip r:embed="rId2"/>
                <a:stretch>
                  <a:fillRect l="-523" t="-1429"/>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1886171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Measures of Financial Risk</a:t>
            </a:r>
          </a:p>
        </p:txBody>
      </p:sp>
      <p:sp>
        <p:nvSpPr>
          <p:cNvPr id="3" name="文本占位符 2"/>
          <p:cNvSpPr>
            <a:spLocks noGrp="1"/>
          </p:cNvSpPr>
          <p:nvPr>
            <p:ph type="body" sz="quarter" idx="10"/>
          </p:nvPr>
        </p:nvSpPr>
        <p:spPr/>
        <p:txBody>
          <a:bodyPr>
            <a:normAutofit fontScale="85000" lnSpcReduction="10000"/>
          </a:bodyPr>
          <a:lstStyle/>
          <a:p>
            <a:pPr>
              <a:spcBef>
                <a:spcPct val="0"/>
              </a:spcBef>
              <a:defRPr/>
            </a:pPr>
            <a:r>
              <a:rPr lang="en-US" altLang="zh-CN" dirty="0"/>
              <a:t>Expected Shortfall/Conditional </a:t>
            </a:r>
            <a:r>
              <a:rPr lang="en-US" altLang="zh-CN" dirty="0" err="1"/>
              <a:t>VaR</a:t>
            </a:r>
            <a:endParaRPr lang="en-US" altLang="zh-CN" dirty="0"/>
          </a:p>
          <a:p>
            <a:pPr lvl="1">
              <a:spcBef>
                <a:spcPct val="0"/>
              </a:spcBef>
              <a:defRPr/>
            </a:pPr>
            <a:r>
              <a:rPr lang="en-US" altLang="zh-CN" dirty="0"/>
              <a:t>Average of the worst 100×(1-α)% of losses.</a:t>
            </a:r>
          </a:p>
          <a:p>
            <a:pPr lvl="1">
              <a:spcBef>
                <a:spcPct val="0"/>
              </a:spcBef>
              <a:defRPr/>
            </a:pPr>
            <a:endParaRPr lang="en-US" altLang="zh-CN" dirty="0"/>
          </a:p>
          <a:p>
            <a:pPr lvl="1">
              <a:spcBef>
                <a:spcPct val="0"/>
              </a:spcBef>
              <a:defRPr/>
            </a:pPr>
            <a:endParaRPr lang="en-US" altLang="zh-CN" dirty="0"/>
          </a:p>
          <a:p>
            <a:pPr lvl="1">
              <a:spcBef>
                <a:spcPct val="0"/>
              </a:spcBef>
              <a:defRPr/>
            </a:pPr>
            <a:endParaRPr lang="en-US" altLang="zh-CN" dirty="0"/>
          </a:p>
          <a:p>
            <a:pPr lvl="1">
              <a:spcBef>
                <a:spcPct val="0"/>
              </a:spcBef>
              <a:defRPr/>
            </a:pPr>
            <a:endParaRPr lang="en-US" altLang="zh-CN" dirty="0"/>
          </a:p>
          <a:p>
            <a:pPr lvl="1">
              <a:spcBef>
                <a:spcPct val="0"/>
              </a:spcBef>
              <a:defRPr/>
            </a:pPr>
            <a:endParaRPr lang="en-US" altLang="zh-CN" dirty="0"/>
          </a:p>
          <a:p>
            <a:pPr lvl="1">
              <a:spcBef>
                <a:spcPct val="0"/>
              </a:spcBef>
              <a:defRPr/>
            </a:pPr>
            <a:endParaRPr lang="en-US" altLang="zh-CN" dirty="0"/>
          </a:p>
          <a:p>
            <a:pPr lvl="1">
              <a:spcBef>
                <a:spcPct val="0"/>
              </a:spcBef>
              <a:defRPr/>
            </a:pPr>
            <a:endParaRPr lang="en-US" altLang="zh-CN" dirty="0"/>
          </a:p>
          <a:p>
            <a:pPr lvl="1">
              <a:spcBef>
                <a:spcPct val="0"/>
              </a:spcBef>
              <a:defRPr/>
            </a:pPr>
            <a:r>
              <a:rPr lang="en-US" altLang="zh-CN" b="1" dirty="0"/>
              <a:t>Example:</a:t>
            </a:r>
            <a:r>
              <a:rPr lang="en-US" altLang="zh-CN" dirty="0"/>
              <a:t> Given the following 30 ordered percentage returns of an asset, calculate the </a:t>
            </a:r>
            <a:r>
              <a:rPr lang="en-US" altLang="zh-CN" dirty="0" err="1"/>
              <a:t>VaR</a:t>
            </a:r>
            <a:r>
              <a:rPr lang="en-US" altLang="zh-CN" dirty="0"/>
              <a:t> and expected shortfall at a 90% confidence level: -16, -14, -10, -7, -7, -5, -4, -4, -3, -1, -1, 0, 0, 0, 1, 2, 2, 4, 6, 7, 8, 9, 11, 12, 12, 14, 18, 21, 23.</a:t>
            </a:r>
          </a:p>
          <a:p>
            <a:pPr>
              <a:spcBef>
                <a:spcPct val="0"/>
              </a:spcBef>
              <a:defRPr/>
            </a:pPr>
            <a:r>
              <a:rPr lang="en-US" altLang="zh-CN" dirty="0"/>
              <a:t>Spectral Risk Measures</a:t>
            </a:r>
          </a:p>
          <a:p>
            <a:endParaRPr lang="en-US" altLang="zh-CN" dirty="0">
              <a:latin typeface="+mn-lt"/>
              <a:ea typeface="+mn-ea"/>
              <a:cs typeface="+mn-ea"/>
              <a:sym typeface="+mn-lt"/>
            </a:endParaRPr>
          </a:p>
        </p:txBody>
      </p:sp>
      <p:grpSp>
        <p:nvGrpSpPr>
          <p:cNvPr id="4" name="组合 1">
            <a:extLst>
              <a:ext uri="{FF2B5EF4-FFF2-40B4-BE49-F238E27FC236}">
                <a16:creationId xmlns:a16="http://schemas.microsoft.com/office/drawing/2014/main" id="{79A33603-39B1-4567-A541-C154CACA6D75}"/>
              </a:ext>
            </a:extLst>
          </p:cNvPr>
          <p:cNvGrpSpPr>
            <a:grpSpLocks/>
          </p:cNvGrpSpPr>
          <p:nvPr/>
        </p:nvGrpSpPr>
        <p:grpSpPr bwMode="auto">
          <a:xfrm>
            <a:off x="2568348" y="2530712"/>
            <a:ext cx="8358187" cy="2225675"/>
            <a:chOff x="461963" y="2284413"/>
            <a:chExt cx="8358187" cy="2226707"/>
          </a:xfrm>
        </p:grpSpPr>
        <p:sp>
          <p:nvSpPr>
            <p:cNvPr id="5" name="Line 4">
              <a:extLst>
                <a:ext uri="{FF2B5EF4-FFF2-40B4-BE49-F238E27FC236}">
                  <a16:creationId xmlns:a16="http://schemas.microsoft.com/office/drawing/2014/main" id="{86FAD207-2FF7-498E-909A-F9BE8F6F42FE}"/>
                </a:ext>
              </a:extLst>
            </p:cNvPr>
            <p:cNvSpPr>
              <a:spLocks noChangeShapeType="1"/>
            </p:cNvSpPr>
            <p:nvPr/>
          </p:nvSpPr>
          <p:spPr bwMode="auto">
            <a:xfrm>
              <a:off x="4748213" y="4070350"/>
              <a:ext cx="4071937"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 name="Line 5">
              <a:extLst>
                <a:ext uri="{FF2B5EF4-FFF2-40B4-BE49-F238E27FC236}">
                  <a16:creationId xmlns:a16="http://schemas.microsoft.com/office/drawing/2014/main" id="{0888EEDA-5807-4406-97F9-7E2398B464A6}"/>
                </a:ext>
              </a:extLst>
            </p:cNvPr>
            <p:cNvSpPr>
              <a:spLocks noChangeShapeType="1"/>
            </p:cNvSpPr>
            <p:nvPr/>
          </p:nvSpPr>
          <p:spPr bwMode="auto">
            <a:xfrm>
              <a:off x="461963" y="4070350"/>
              <a:ext cx="3929062" cy="0"/>
            </a:xfrm>
            <a:prstGeom prst="line">
              <a:avLst/>
            </a:prstGeom>
            <a:noFill/>
            <a:ln w="9525">
              <a:solidFill>
                <a:srgbClr val="2C3E5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 name="任意多边形 17">
              <a:extLst>
                <a:ext uri="{FF2B5EF4-FFF2-40B4-BE49-F238E27FC236}">
                  <a16:creationId xmlns:a16="http://schemas.microsoft.com/office/drawing/2014/main" id="{77E7EAA0-D095-45BD-85BF-A6569CE815ED}"/>
                </a:ext>
              </a:extLst>
            </p:cNvPr>
            <p:cNvSpPr>
              <a:spLocks noChangeArrowheads="1"/>
            </p:cNvSpPr>
            <p:nvPr/>
          </p:nvSpPr>
          <p:spPr bwMode="auto">
            <a:xfrm>
              <a:off x="666750" y="2342951"/>
              <a:ext cx="3509963" cy="1662113"/>
            </a:xfrm>
            <a:custGeom>
              <a:avLst/>
              <a:gdLst>
                <a:gd name="T0" fmla="*/ 0 w 3510116"/>
                <a:gd name="T1" fmla="*/ 1684793 h 1661652"/>
                <a:gd name="T2" fmla="*/ 440893 w 3510116"/>
                <a:gd name="T3" fmla="*/ 1624444 h 1661652"/>
                <a:gd name="T4" fmla="*/ 896453 w 3510116"/>
                <a:gd name="T5" fmla="*/ 1247251 h 1661652"/>
                <a:gd name="T6" fmla="*/ 1322599 w 3510116"/>
                <a:gd name="T7" fmla="*/ 477777 h 1661652"/>
                <a:gd name="T8" fmla="*/ 1587167 w 3510116"/>
                <a:gd name="T9" fmla="*/ 100589 h 1661652"/>
                <a:gd name="T10" fmla="*/ 1792907 w 3510116"/>
                <a:gd name="T11" fmla="*/ 10078 h 1661652"/>
                <a:gd name="T12" fmla="*/ 2013313 w 3510116"/>
                <a:gd name="T13" fmla="*/ 70389 h 1661652"/>
                <a:gd name="T14" fmla="*/ 2248466 w 3510116"/>
                <a:gd name="T15" fmla="*/ 432515 h 1661652"/>
                <a:gd name="T16" fmla="*/ 2439497 w 3510116"/>
                <a:gd name="T17" fmla="*/ 945496 h 1661652"/>
                <a:gd name="T18" fmla="*/ 2659946 w 3510116"/>
                <a:gd name="T19" fmla="*/ 1352864 h 1661652"/>
                <a:gd name="T20" fmla="*/ 2953844 w 3510116"/>
                <a:gd name="T21" fmla="*/ 1624444 h 1661652"/>
                <a:gd name="T22" fmla="*/ 3497575 w 3510116"/>
                <a:gd name="T23" fmla="*/ 1699881 h 16616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0116"/>
                <a:gd name="T37" fmla="*/ 0 h 1661652"/>
                <a:gd name="T38" fmla="*/ 3510116 w 3510116"/>
                <a:gd name="T39" fmla="*/ 1661652 h 16616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0116" h="1661652">
                  <a:moveTo>
                    <a:pt x="0" y="1646903"/>
                  </a:moveTo>
                  <a:cubicBezTo>
                    <a:pt x="146254" y="1653048"/>
                    <a:pt x="292509" y="1659194"/>
                    <a:pt x="442451" y="1587910"/>
                  </a:cubicBezTo>
                  <a:cubicBezTo>
                    <a:pt x="592393" y="1516626"/>
                    <a:pt x="752167" y="1406013"/>
                    <a:pt x="899651" y="1219200"/>
                  </a:cubicBezTo>
                  <a:cubicBezTo>
                    <a:pt x="1047135" y="1032387"/>
                    <a:pt x="1211826" y="653845"/>
                    <a:pt x="1327355" y="467032"/>
                  </a:cubicBezTo>
                  <a:cubicBezTo>
                    <a:pt x="1442884" y="280219"/>
                    <a:pt x="1514167" y="174523"/>
                    <a:pt x="1592825" y="98323"/>
                  </a:cubicBezTo>
                  <a:cubicBezTo>
                    <a:pt x="1671483" y="22123"/>
                    <a:pt x="1728019" y="14748"/>
                    <a:pt x="1799303" y="9832"/>
                  </a:cubicBezTo>
                  <a:cubicBezTo>
                    <a:pt x="1870587" y="4916"/>
                    <a:pt x="1944329" y="0"/>
                    <a:pt x="2020529" y="68826"/>
                  </a:cubicBezTo>
                  <a:cubicBezTo>
                    <a:pt x="2096729" y="137652"/>
                    <a:pt x="2185219" y="280219"/>
                    <a:pt x="2256503" y="422787"/>
                  </a:cubicBezTo>
                  <a:cubicBezTo>
                    <a:pt x="2327787" y="565355"/>
                    <a:pt x="2379406" y="774290"/>
                    <a:pt x="2448232" y="924232"/>
                  </a:cubicBezTo>
                  <a:cubicBezTo>
                    <a:pt x="2517058" y="1074174"/>
                    <a:pt x="2583426" y="1211826"/>
                    <a:pt x="2669458" y="1322439"/>
                  </a:cubicBezTo>
                  <a:cubicBezTo>
                    <a:pt x="2755490" y="1433052"/>
                    <a:pt x="2824315" y="1531375"/>
                    <a:pt x="2964425" y="1587910"/>
                  </a:cubicBezTo>
                  <a:cubicBezTo>
                    <a:pt x="3104535" y="1644445"/>
                    <a:pt x="3307325" y="1653048"/>
                    <a:pt x="3510116" y="1661652"/>
                  </a:cubicBezTo>
                </a:path>
              </a:pathLst>
            </a:cu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 name="任意多边形 19">
              <a:extLst>
                <a:ext uri="{FF2B5EF4-FFF2-40B4-BE49-F238E27FC236}">
                  <a16:creationId xmlns:a16="http://schemas.microsoft.com/office/drawing/2014/main" id="{03F43AC2-ACE7-4269-A625-B06BB5602E72}"/>
                </a:ext>
              </a:extLst>
            </p:cNvPr>
            <p:cNvSpPr>
              <a:spLocks noChangeArrowheads="1"/>
            </p:cNvSpPr>
            <p:nvPr/>
          </p:nvSpPr>
          <p:spPr bwMode="auto">
            <a:xfrm>
              <a:off x="4765675" y="2284413"/>
              <a:ext cx="3995738" cy="1725612"/>
            </a:xfrm>
            <a:custGeom>
              <a:avLst/>
              <a:gdLst>
                <a:gd name="T0" fmla="*/ 0 w 3996813"/>
                <a:gd name="T1" fmla="*/ 1729662 h 1725562"/>
                <a:gd name="T2" fmla="*/ 158696 w 3996813"/>
                <a:gd name="T3" fmla="*/ 1700083 h 1725562"/>
                <a:gd name="T4" fmla="*/ 259683 w 3996813"/>
                <a:gd name="T5" fmla="*/ 1567019 h 1725562"/>
                <a:gd name="T6" fmla="*/ 317385 w 3996813"/>
                <a:gd name="T7" fmla="*/ 1448786 h 1725562"/>
                <a:gd name="T8" fmla="*/ 389519 w 3996813"/>
                <a:gd name="T9" fmla="*/ 1374880 h 1725562"/>
                <a:gd name="T10" fmla="*/ 476080 w 3996813"/>
                <a:gd name="T11" fmla="*/ 1640959 h 1725562"/>
                <a:gd name="T12" fmla="*/ 663625 w 3996813"/>
                <a:gd name="T13" fmla="*/ 1700083 h 1725562"/>
                <a:gd name="T14" fmla="*/ 937731 w 3996813"/>
                <a:gd name="T15" fmla="*/ 1626177 h 1725562"/>
                <a:gd name="T16" fmla="*/ 1269545 w 3996813"/>
                <a:gd name="T17" fmla="*/ 1079175 h 1725562"/>
                <a:gd name="T18" fmla="*/ 1471520 w 3996813"/>
                <a:gd name="T19" fmla="*/ 384360 h 1725562"/>
                <a:gd name="T20" fmla="*/ 1774478 w 3996813"/>
                <a:gd name="T21" fmla="*/ 0 h 1725562"/>
                <a:gd name="T22" fmla="*/ 2236129 w 3996813"/>
                <a:gd name="T23" fmla="*/ 384360 h 1725562"/>
                <a:gd name="T24" fmla="*/ 2596795 w 3996813"/>
                <a:gd name="T25" fmla="*/ 975690 h 1725562"/>
                <a:gd name="T26" fmla="*/ 2971887 w 3996813"/>
                <a:gd name="T27" fmla="*/ 1552271 h 1725562"/>
                <a:gd name="T28" fmla="*/ 3318125 w 3996813"/>
                <a:gd name="T29" fmla="*/ 1685335 h 1725562"/>
                <a:gd name="T30" fmla="*/ 3909617 w 3996813"/>
                <a:gd name="T31" fmla="*/ 1685335 h 172556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96813"/>
                <a:gd name="T49" fmla="*/ 0 h 1725562"/>
                <a:gd name="T50" fmla="*/ 3996813 w 3996813"/>
                <a:gd name="T51" fmla="*/ 1725562 h 172556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96813" h="1725562">
                  <a:moveTo>
                    <a:pt x="0" y="1725562"/>
                  </a:moveTo>
                  <a:cubicBezTo>
                    <a:pt x="58994" y="1724333"/>
                    <a:pt x="117988" y="1723104"/>
                    <a:pt x="162233" y="1696065"/>
                  </a:cubicBezTo>
                  <a:cubicBezTo>
                    <a:pt x="206478" y="1669026"/>
                    <a:pt x="238432" y="1605116"/>
                    <a:pt x="265471" y="1563329"/>
                  </a:cubicBezTo>
                  <a:cubicBezTo>
                    <a:pt x="292510" y="1521542"/>
                    <a:pt x="302342" y="1477297"/>
                    <a:pt x="324465" y="1445342"/>
                  </a:cubicBezTo>
                  <a:cubicBezTo>
                    <a:pt x="346588" y="1413387"/>
                    <a:pt x="371168" y="1339645"/>
                    <a:pt x="398207" y="1371600"/>
                  </a:cubicBezTo>
                  <a:cubicBezTo>
                    <a:pt x="425246" y="1403555"/>
                    <a:pt x="439994" y="1582994"/>
                    <a:pt x="486697" y="1637071"/>
                  </a:cubicBezTo>
                  <a:cubicBezTo>
                    <a:pt x="533400" y="1691148"/>
                    <a:pt x="599768" y="1698523"/>
                    <a:pt x="678426" y="1696065"/>
                  </a:cubicBezTo>
                  <a:cubicBezTo>
                    <a:pt x="757084" y="1693607"/>
                    <a:pt x="855406" y="1725562"/>
                    <a:pt x="958645" y="1622323"/>
                  </a:cubicBezTo>
                  <a:cubicBezTo>
                    <a:pt x="1061884" y="1519084"/>
                    <a:pt x="1206910" y="1283111"/>
                    <a:pt x="1297858" y="1076633"/>
                  </a:cubicBezTo>
                  <a:cubicBezTo>
                    <a:pt x="1388807" y="870156"/>
                    <a:pt x="1418304" y="562897"/>
                    <a:pt x="1504336" y="383458"/>
                  </a:cubicBezTo>
                  <a:cubicBezTo>
                    <a:pt x="1590368" y="204019"/>
                    <a:pt x="1683775" y="0"/>
                    <a:pt x="1814052" y="0"/>
                  </a:cubicBezTo>
                  <a:cubicBezTo>
                    <a:pt x="1944329" y="0"/>
                    <a:pt x="2145890" y="221226"/>
                    <a:pt x="2286000" y="383458"/>
                  </a:cubicBezTo>
                  <a:cubicBezTo>
                    <a:pt x="2426110" y="545690"/>
                    <a:pt x="2529349" y="779207"/>
                    <a:pt x="2654710" y="973394"/>
                  </a:cubicBezTo>
                  <a:cubicBezTo>
                    <a:pt x="2780071" y="1167581"/>
                    <a:pt x="2915265" y="1430594"/>
                    <a:pt x="3038168" y="1548581"/>
                  </a:cubicBezTo>
                  <a:cubicBezTo>
                    <a:pt x="3161071" y="1666568"/>
                    <a:pt x="3232355" y="1659194"/>
                    <a:pt x="3392129" y="1681317"/>
                  </a:cubicBezTo>
                  <a:cubicBezTo>
                    <a:pt x="3551903" y="1703440"/>
                    <a:pt x="3774358" y="1692378"/>
                    <a:pt x="3996813" y="1681317"/>
                  </a:cubicBezTo>
                </a:path>
              </a:pathLst>
            </a:custGeom>
            <a:noFill/>
            <a:ln w="9525">
              <a:solidFill>
                <a:srgbClr val="2C3E5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cxnSp>
          <p:nvCxnSpPr>
            <p:cNvPr id="9" name="直接连接符 21">
              <a:extLst>
                <a:ext uri="{FF2B5EF4-FFF2-40B4-BE49-F238E27FC236}">
                  <a16:creationId xmlns:a16="http://schemas.microsoft.com/office/drawing/2014/main" id="{C1195D61-9080-4F17-A10B-28FDBDDA9E98}"/>
                </a:ext>
              </a:extLst>
            </p:cNvPr>
            <p:cNvCxnSpPr>
              <a:cxnSpLocks noChangeShapeType="1"/>
            </p:cNvCxnSpPr>
            <p:nvPr/>
          </p:nvCxnSpPr>
          <p:spPr bwMode="auto">
            <a:xfrm flipH="1">
              <a:off x="1460500" y="3713163"/>
              <a:ext cx="1588" cy="357187"/>
            </a:xfrm>
            <a:prstGeom prst="line">
              <a:avLst/>
            </a:prstGeom>
            <a:noFill/>
            <a:ln w="9525">
              <a:solidFill>
                <a:srgbClr val="FF0000"/>
              </a:solidFill>
              <a:prstDash val="lgDash"/>
              <a:round/>
              <a:headEnd/>
              <a:tailEnd/>
            </a:ln>
            <a:extLst>
              <a:ext uri="{909E8E84-426E-40DD-AFC4-6F175D3DCCD1}">
                <a14:hiddenFill xmlns:a14="http://schemas.microsoft.com/office/drawing/2010/main">
                  <a:noFill/>
                </a14:hiddenFill>
              </a:ext>
            </a:extLst>
          </p:spPr>
        </p:cxnSp>
        <p:cxnSp>
          <p:nvCxnSpPr>
            <p:cNvPr id="10" name="直接连接符 22">
              <a:extLst>
                <a:ext uri="{FF2B5EF4-FFF2-40B4-BE49-F238E27FC236}">
                  <a16:creationId xmlns:a16="http://schemas.microsoft.com/office/drawing/2014/main" id="{D0F5011D-749B-4862-BC19-C58999519C6A}"/>
                </a:ext>
              </a:extLst>
            </p:cNvPr>
            <p:cNvCxnSpPr>
              <a:cxnSpLocks noChangeShapeType="1"/>
            </p:cNvCxnSpPr>
            <p:nvPr/>
          </p:nvCxnSpPr>
          <p:spPr bwMode="auto">
            <a:xfrm flipH="1">
              <a:off x="5891213" y="3713163"/>
              <a:ext cx="1587" cy="357187"/>
            </a:xfrm>
            <a:prstGeom prst="line">
              <a:avLst/>
            </a:prstGeom>
            <a:noFill/>
            <a:ln w="9525">
              <a:solidFill>
                <a:srgbClr val="FF0000"/>
              </a:solidFill>
              <a:prstDash val="lgDash"/>
              <a:round/>
              <a:headEnd/>
              <a:tailEnd/>
            </a:ln>
            <a:extLst>
              <a:ext uri="{909E8E84-426E-40DD-AFC4-6F175D3DCCD1}">
                <a14:hiddenFill xmlns:a14="http://schemas.microsoft.com/office/drawing/2010/main">
                  <a:noFill/>
                </a14:hiddenFill>
              </a:ext>
            </a:extLst>
          </p:spPr>
        </p:cxnSp>
        <p:sp>
          <p:nvSpPr>
            <p:cNvPr id="11" name="矩形 23">
              <a:extLst>
                <a:ext uri="{FF2B5EF4-FFF2-40B4-BE49-F238E27FC236}">
                  <a16:creationId xmlns:a16="http://schemas.microsoft.com/office/drawing/2014/main" id="{94E85BEE-CB1C-4B3C-B68B-19524580C024}"/>
                </a:ext>
              </a:extLst>
            </p:cNvPr>
            <p:cNvSpPr>
              <a:spLocks noChangeArrowheads="1"/>
            </p:cNvSpPr>
            <p:nvPr/>
          </p:nvSpPr>
          <p:spPr bwMode="auto">
            <a:xfrm>
              <a:off x="1176338" y="4141788"/>
              <a:ext cx="5656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0">
                  <a:solidFill>
                    <a:srgbClr val="2C3E50"/>
                  </a:solidFill>
                  <a:latin typeface="Segoe UI" panose="020B0502040204020203" pitchFamily="34" charset="0"/>
                  <a:cs typeface="Segoe UI" panose="020B0502040204020203" pitchFamily="34" charset="0"/>
                </a:rPr>
                <a:t>VaR</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2" name="矩形 24">
              <a:extLst>
                <a:ext uri="{FF2B5EF4-FFF2-40B4-BE49-F238E27FC236}">
                  <a16:creationId xmlns:a16="http://schemas.microsoft.com/office/drawing/2014/main" id="{4A9271CF-1094-4B57-94FC-C20972206CE6}"/>
                </a:ext>
              </a:extLst>
            </p:cNvPr>
            <p:cNvSpPr>
              <a:spLocks noChangeArrowheads="1"/>
            </p:cNvSpPr>
            <p:nvPr/>
          </p:nvSpPr>
          <p:spPr bwMode="auto">
            <a:xfrm>
              <a:off x="5605463" y="4141788"/>
              <a:ext cx="5656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0">
                  <a:solidFill>
                    <a:srgbClr val="2C3E50"/>
                  </a:solidFill>
                  <a:latin typeface="Segoe UI" panose="020B0502040204020203" pitchFamily="34" charset="0"/>
                  <a:cs typeface="Segoe UI" panose="020B0502040204020203" pitchFamily="34" charset="0"/>
                </a:rPr>
                <a:t>VaR</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3" name="矩形 25">
              <a:extLst>
                <a:ext uri="{FF2B5EF4-FFF2-40B4-BE49-F238E27FC236}">
                  <a16:creationId xmlns:a16="http://schemas.microsoft.com/office/drawing/2014/main" id="{97EFEF8F-F8D6-40C8-970C-7C92C2B63C0F}"/>
                </a:ext>
              </a:extLst>
            </p:cNvPr>
            <p:cNvSpPr>
              <a:spLocks noChangeArrowheads="1"/>
            </p:cNvSpPr>
            <p:nvPr/>
          </p:nvSpPr>
          <p:spPr bwMode="auto">
            <a:xfrm>
              <a:off x="747713" y="2925763"/>
              <a:ext cx="498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0">
                  <a:solidFill>
                    <a:srgbClr val="2C3E50"/>
                  </a:solidFill>
                  <a:latin typeface="Segoe UI" panose="020B0502040204020203" pitchFamily="34" charset="0"/>
                  <a:cs typeface="Segoe UI" panose="020B0502040204020203" pitchFamily="34" charset="0"/>
                </a:rPr>
                <a:t>5%</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矩形 26">
              <a:extLst>
                <a:ext uri="{FF2B5EF4-FFF2-40B4-BE49-F238E27FC236}">
                  <a16:creationId xmlns:a16="http://schemas.microsoft.com/office/drawing/2014/main" id="{498358BA-F4E9-47EB-B34A-980BF9C5D7E7}"/>
                </a:ext>
              </a:extLst>
            </p:cNvPr>
            <p:cNvSpPr>
              <a:spLocks noChangeArrowheads="1"/>
            </p:cNvSpPr>
            <p:nvPr/>
          </p:nvSpPr>
          <p:spPr bwMode="auto">
            <a:xfrm>
              <a:off x="4533900" y="2927350"/>
              <a:ext cx="498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b="0">
                  <a:solidFill>
                    <a:srgbClr val="2C3E50"/>
                  </a:solidFill>
                  <a:latin typeface="Segoe UI" panose="020B0502040204020203" pitchFamily="34" charset="0"/>
                  <a:cs typeface="Segoe UI" panose="020B0502040204020203" pitchFamily="34" charset="0"/>
                </a:rPr>
                <a:t>5%</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5" name="直接箭头连接符 28">
              <a:extLst>
                <a:ext uri="{FF2B5EF4-FFF2-40B4-BE49-F238E27FC236}">
                  <a16:creationId xmlns:a16="http://schemas.microsoft.com/office/drawing/2014/main" id="{305C059D-B248-4318-97BA-CB41F79CDFE3}"/>
                </a:ext>
              </a:extLst>
            </p:cNvPr>
            <p:cNvCxnSpPr>
              <a:cxnSpLocks noChangeShapeType="1"/>
            </p:cNvCxnSpPr>
            <p:nvPr/>
          </p:nvCxnSpPr>
          <p:spPr bwMode="auto">
            <a:xfrm rot="16200000" flipH="1">
              <a:off x="849313" y="3448050"/>
              <a:ext cx="630238" cy="306387"/>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6" name="直接箭头连接符 29">
              <a:extLst>
                <a:ext uri="{FF2B5EF4-FFF2-40B4-BE49-F238E27FC236}">
                  <a16:creationId xmlns:a16="http://schemas.microsoft.com/office/drawing/2014/main" id="{72642390-F3EC-4D0F-8B65-E8906F914705}"/>
                </a:ext>
              </a:extLst>
            </p:cNvPr>
            <p:cNvCxnSpPr>
              <a:cxnSpLocks noChangeShapeType="1"/>
            </p:cNvCxnSpPr>
            <p:nvPr/>
          </p:nvCxnSpPr>
          <p:spPr bwMode="auto">
            <a:xfrm>
              <a:off x="4819650" y="3284538"/>
              <a:ext cx="306388" cy="630237"/>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9881863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a:xfrm>
            <a:off x="393599" y="813469"/>
            <a:ext cx="11404800" cy="3366645"/>
          </a:xfrm>
        </p:spPr>
        <p:txBody>
          <a:bodyPr>
            <a:normAutofit fontScale="85000" lnSpcReduction="20000"/>
          </a:bodyPr>
          <a:lstStyle/>
          <a:p>
            <a:pPr>
              <a:lnSpc>
                <a:spcPct val="120000"/>
              </a:lnSpc>
              <a:spcBef>
                <a:spcPct val="0"/>
              </a:spcBef>
            </a:pPr>
            <a:r>
              <a:rPr lang="en-US" altLang="zh-CN" dirty="0"/>
              <a:t>Potential Reasons for the Existence of Fat Tails</a:t>
            </a:r>
          </a:p>
          <a:p>
            <a:pPr lvl="1">
              <a:lnSpc>
                <a:spcPct val="120000"/>
              </a:lnSpc>
              <a:spcBef>
                <a:spcPct val="0"/>
              </a:spcBef>
            </a:pPr>
            <a:r>
              <a:rPr lang="en-US" altLang="zh-CN" dirty="0"/>
              <a:t>When an assets returns are </a:t>
            </a:r>
            <a:r>
              <a:rPr lang="en-US" altLang="zh-CN" u="sng" dirty="0"/>
              <a:t>normally distributed</a:t>
            </a:r>
            <a:r>
              <a:rPr lang="en-US" altLang="zh-CN" dirty="0"/>
              <a:t>, they are then defined by </a:t>
            </a:r>
            <a:r>
              <a:rPr lang="en-US" altLang="zh-CN" u="sng" dirty="0"/>
              <a:t>constant mean and volatility parameters</a:t>
            </a:r>
            <a:r>
              <a:rPr lang="en-US" altLang="zh-CN" dirty="0"/>
              <a:t>. </a:t>
            </a:r>
            <a:r>
              <a:rPr lang="en-US" altLang="zh-CN" u="sng" dirty="0"/>
              <a:t>One of the possible explanation for fat tails is that the volatility is time-varying</a:t>
            </a:r>
            <a:r>
              <a:rPr lang="en-US" altLang="zh-CN" dirty="0"/>
              <a:t>.</a:t>
            </a:r>
          </a:p>
          <a:p>
            <a:pPr lvl="1">
              <a:lnSpc>
                <a:spcPct val="120000"/>
              </a:lnSpc>
              <a:spcBef>
                <a:spcPct val="0"/>
              </a:spcBef>
            </a:pPr>
            <a:r>
              <a:rPr lang="en-US" altLang="zh-CN" dirty="0"/>
              <a:t>Different market or economic conditions may cause the mean and variance of the return distribution to change over time. In such cases, the return distribution is referred to as a </a:t>
            </a:r>
            <a:r>
              <a:rPr lang="en-US" altLang="zh-CN" u="sng" dirty="0"/>
              <a:t>conditional distribution</a:t>
            </a:r>
            <a:r>
              <a:rPr lang="en-US" altLang="zh-CN" dirty="0"/>
              <a:t>.</a:t>
            </a:r>
          </a:p>
          <a:p>
            <a:pPr lvl="1">
              <a:lnSpc>
                <a:spcPct val="120000"/>
              </a:lnSpc>
              <a:spcBef>
                <a:spcPct val="0"/>
              </a:spcBef>
            </a:pPr>
            <a:r>
              <a:rPr lang="en-US" altLang="zh-CN" dirty="0"/>
              <a:t>A </a:t>
            </a:r>
            <a:r>
              <a:rPr lang="en-US" altLang="zh-CN" b="1" dirty="0"/>
              <a:t>regime-switching volatility model</a:t>
            </a:r>
            <a:r>
              <a:rPr lang="en-US" altLang="zh-CN" dirty="0"/>
              <a:t> </a:t>
            </a:r>
            <a:r>
              <a:rPr lang="en-US" altLang="zh-CN" u="sng" dirty="0"/>
              <a:t>assumes different market regimes exist with high or low volatility. The model captures conditional normality and may resolve the fat-tail problem. </a:t>
            </a:r>
          </a:p>
          <a:p>
            <a:pPr lvl="1">
              <a:lnSpc>
                <a:spcPct val="120000"/>
              </a:lnSpc>
              <a:spcBef>
                <a:spcPct val="0"/>
              </a:spcBef>
            </a:pPr>
            <a:endParaRPr lang="en-US" altLang="zh-CN" dirty="0"/>
          </a:p>
          <a:p>
            <a:pPr lvl="1">
              <a:lnSpc>
                <a:spcPct val="120000"/>
              </a:lnSpc>
              <a:spcBef>
                <a:spcPct val="0"/>
              </a:spcBef>
            </a:pPr>
            <a:endParaRPr lang="en-US" altLang="zh-CN" dirty="0"/>
          </a:p>
          <a:p>
            <a:pPr lvl="1">
              <a:lnSpc>
                <a:spcPct val="120000"/>
              </a:lnSpc>
              <a:spcBef>
                <a:spcPct val="0"/>
              </a:spcBef>
            </a:pPr>
            <a:endParaRPr lang="en-US" altLang="zh-CN" dirty="0"/>
          </a:p>
          <a:p>
            <a:pPr lvl="1">
              <a:lnSpc>
                <a:spcPct val="120000"/>
              </a:lnSpc>
              <a:spcBef>
                <a:spcPct val="0"/>
              </a:spcBef>
            </a:pPr>
            <a:endParaRPr lang="en-US" altLang="zh-CN" dirty="0"/>
          </a:p>
          <a:p>
            <a:endParaRPr lang="en-US" altLang="zh-CN" dirty="0">
              <a:latin typeface="+mn-lt"/>
              <a:ea typeface="+mn-ea"/>
              <a:cs typeface="+mn-ea"/>
              <a:sym typeface="+mn-lt"/>
            </a:endParaRPr>
          </a:p>
        </p:txBody>
      </p:sp>
      <p:pic>
        <p:nvPicPr>
          <p:cNvPr id="4" name="图片 4">
            <a:extLst>
              <a:ext uri="{FF2B5EF4-FFF2-40B4-BE49-F238E27FC236}">
                <a16:creationId xmlns:a16="http://schemas.microsoft.com/office/drawing/2014/main" id="{E99BC56D-4F03-4C81-A741-A3E2C5BCE2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81362" y="4355119"/>
            <a:ext cx="5629275"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36968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p:txBody>
          <a:bodyPr>
            <a:normAutofit fontScale="92500" lnSpcReduction="20000"/>
          </a:bodyPr>
          <a:lstStyle/>
          <a:p>
            <a:pPr>
              <a:lnSpc>
                <a:spcPct val="120000"/>
              </a:lnSpc>
              <a:spcBef>
                <a:spcPct val="0"/>
              </a:spcBef>
            </a:pPr>
            <a:r>
              <a:rPr lang="en-US" altLang="zh-CN" dirty="0"/>
              <a:t>Various Approaches for Estimating </a:t>
            </a:r>
            <a:r>
              <a:rPr lang="en-US" altLang="zh-CN" dirty="0" err="1"/>
              <a:t>VaR</a:t>
            </a:r>
            <a:endParaRPr lang="en-US" altLang="zh-CN" dirty="0"/>
          </a:p>
          <a:p>
            <a:pPr lvl="1">
              <a:lnSpc>
                <a:spcPct val="120000"/>
              </a:lnSpc>
              <a:spcBef>
                <a:spcPct val="0"/>
              </a:spcBef>
            </a:pPr>
            <a:r>
              <a:rPr lang="en-US" altLang="zh-CN" b="1" dirty="0"/>
              <a:t>Historical-Based Approach: </a:t>
            </a:r>
            <a:r>
              <a:rPr lang="en-US" altLang="zh-CN" dirty="0"/>
              <a:t>use historical time series data</a:t>
            </a:r>
          </a:p>
          <a:p>
            <a:pPr lvl="2">
              <a:lnSpc>
                <a:spcPct val="120000"/>
              </a:lnSpc>
              <a:spcBef>
                <a:spcPct val="0"/>
              </a:spcBef>
            </a:pPr>
            <a:r>
              <a:rPr lang="en-US" altLang="zh-CN" b="1" dirty="0"/>
              <a:t>Parametric Approach</a:t>
            </a:r>
          </a:p>
          <a:p>
            <a:pPr lvl="3">
              <a:lnSpc>
                <a:spcPct val="120000"/>
              </a:lnSpc>
              <a:spcBef>
                <a:spcPct val="0"/>
              </a:spcBef>
              <a:tabLst/>
            </a:pPr>
            <a:r>
              <a:rPr lang="en-US" altLang="zh-CN" dirty="0"/>
              <a:t>Imposes a </a:t>
            </a:r>
            <a:r>
              <a:rPr lang="en-US" altLang="zh-CN" u="sng" dirty="0"/>
              <a:t>specific distribution assumption</a:t>
            </a:r>
            <a:r>
              <a:rPr lang="en-US" altLang="zh-CN" dirty="0"/>
              <a:t> on asset returns</a:t>
            </a:r>
          </a:p>
          <a:p>
            <a:pPr lvl="2">
              <a:lnSpc>
                <a:spcPct val="120000"/>
              </a:lnSpc>
              <a:spcBef>
                <a:spcPct val="0"/>
              </a:spcBef>
            </a:pPr>
            <a:r>
              <a:rPr lang="en-US" altLang="zh-CN" b="1" dirty="0"/>
              <a:t>Nonparametric Approach</a:t>
            </a:r>
          </a:p>
          <a:p>
            <a:pPr lvl="3">
              <a:lnSpc>
                <a:spcPct val="120000"/>
              </a:lnSpc>
              <a:spcBef>
                <a:spcPct val="0"/>
              </a:spcBef>
              <a:tabLst/>
            </a:pPr>
            <a:r>
              <a:rPr lang="en-US" altLang="zh-CN" dirty="0"/>
              <a:t>No specific distribution assumptions. </a:t>
            </a:r>
          </a:p>
          <a:p>
            <a:pPr lvl="3">
              <a:lnSpc>
                <a:spcPct val="120000"/>
              </a:lnSpc>
              <a:spcBef>
                <a:spcPct val="0"/>
              </a:spcBef>
              <a:tabLst/>
            </a:pPr>
            <a:r>
              <a:rPr lang="en-US" altLang="zh-CN" u="sng" dirty="0"/>
              <a:t>Historical simulation is the simplest and most prominent representative </a:t>
            </a:r>
          </a:p>
          <a:p>
            <a:pPr lvl="2">
              <a:lnSpc>
                <a:spcPct val="120000"/>
              </a:lnSpc>
              <a:spcBef>
                <a:spcPct val="0"/>
              </a:spcBef>
            </a:pPr>
            <a:r>
              <a:rPr lang="en-US" altLang="zh-CN" b="1" dirty="0"/>
              <a:t>Hybrid Approach</a:t>
            </a:r>
          </a:p>
          <a:p>
            <a:pPr lvl="3">
              <a:lnSpc>
                <a:spcPct val="120000"/>
              </a:lnSpc>
              <a:spcBef>
                <a:spcPct val="0"/>
              </a:spcBef>
              <a:tabLst/>
            </a:pPr>
            <a:r>
              <a:rPr lang="en-US" altLang="zh-CN" dirty="0"/>
              <a:t>Combined approach. For example, Filtered historical simulation updates the volatility by fitting a model such as GARCH to the time-series.</a:t>
            </a:r>
          </a:p>
          <a:p>
            <a:pPr lvl="1">
              <a:lnSpc>
                <a:spcPct val="120000"/>
              </a:lnSpc>
              <a:spcBef>
                <a:spcPct val="0"/>
              </a:spcBef>
            </a:pPr>
            <a:r>
              <a:rPr lang="en-US" altLang="zh-CN" b="1" dirty="0"/>
              <a:t>Implied Volatility Based Approach: </a:t>
            </a:r>
            <a:r>
              <a:rPr lang="en-US" altLang="zh-CN" u="sng" dirty="0"/>
              <a:t>uses derivative pricing models and current derivative prices in order to impute an implied volatility without having to resort to historical data</a:t>
            </a:r>
            <a:r>
              <a:rPr lang="en-US" altLang="zh-CN" dirty="0"/>
              <a:t>. The use of implied volatility obtained from BSM option pricing model is the most prominent example.</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40685531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a:xfrm>
            <a:off x="393599" y="813469"/>
            <a:ext cx="11404800" cy="1864417"/>
          </a:xfrm>
        </p:spPr>
        <p:txBody>
          <a:bodyPr>
            <a:normAutofit fontScale="92500" lnSpcReduction="20000"/>
          </a:bodyPr>
          <a:lstStyle/>
          <a:p>
            <a:pPr>
              <a:spcBef>
                <a:spcPct val="0"/>
              </a:spcBef>
            </a:pPr>
            <a:r>
              <a:rPr lang="en-US" altLang="zh-CN" dirty="0"/>
              <a:t>Parametric Approach</a:t>
            </a:r>
          </a:p>
          <a:p>
            <a:pPr lvl="1">
              <a:spcBef>
                <a:spcPct val="0"/>
              </a:spcBef>
            </a:pPr>
            <a:r>
              <a:rPr lang="en-US" altLang="zh-CN" b="1" dirty="0"/>
              <a:t>Historical Standard Deviation</a:t>
            </a:r>
          </a:p>
          <a:p>
            <a:pPr lvl="1">
              <a:spcBef>
                <a:spcPct val="0"/>
              </a:spcBef>
            </a:pPr>
            <a:r>
              <a:rPr lang="en-US" altLang="zh-CN" b="1" dirty="0"/>
              <a:t>EWMA</a:t>
            </a:r>
          </a:p>
          <a:p>
            <a:pPr lvl="1">
              <a:spcBef>
                <a:spcPct val="0"/>
              </a:spcBef>
            </a:pPr>
            <a:r>
              <a:rPr lang="en-US" altLang="zh-CN" b="1" dirty="0"/>
              <a:t>GARCH</a:t>
            </a:r>
          </a:p>
          <a:p>
            <a:endParaRPr lang="en-US" altLang="zh-CN" dirty="0">
              <a:latin typeface="+mn-lt"/>
              <a:ea typeface="+mn-ea"/>
              <a:cs typeface="+mn-ea"/>
              <a:sym typeface="+mn-lt"/>
            </a:endParaRPr>
          </a:p>
        </p:txBody>
      </p:sp>
      <p:grpSp>
        <p:nvGrpSpPr>
          <p:cNvPr id="4" name="组合 1">
            <a:extLst>
              <a:ext uri="{FF2B5EF4-FFF2-40B4-BE49-F238E27FC236}">
                <a16:creationId xmlns:a16="http://schemas.microsoft.com/office/drawing/2014/main" id="{F27B3A2C-85EC-457A-8988-60F4FD53EE51}"/>
              </a:ext>
            </a:extLst>
          </p:cNvPr>
          <p:cNvGrpSpPr>
            <a:grpSpLocks/>
          </p:cNvGrpSpPr>
          <p:nvPr/>
        </p:nvGrpSpPr>
        <p:grpSpPr bwMode="auto">
          <a:xfrm>
            <a:off x="2365375" y="3207442"/>
            <a:ext cx="7461250" cy="3022600"/>
            <a:chOff x="998538" y="2854672"/>
            <a:chExt cx="7461250" cy="3022600"/>
          </a:xfrm>
        </p:grpSpPr>
        <p:sp>
          <p:nvSpPr>
            <p:cNvPr id="5" name="圆角矩形 3">
              <a:extLst>
                <a:ext uri="{FF2B5EF4-FFF2-40B4-BE49-F238E27FC236}">
                  <a16:creationId xmlns:a16="http://schemas.microsoft.com/office/drawing/2014/main" id="{BD9DE409-A476-4A87-91FF-C11EF3300F44}"/>
                </a:ext>
              </a:extLst>
            </p:cNvPr>
            <p:cNvSpPr/>
            <p:nvPr/>
          </p:nvSpPr>
          <p:spPr>
            <a:xfrm>
              <a:off x="998538" y="2854672"/>
              <a:ext cx="2579687" cy="492125"/>
            </a:xfrm>
            <a:prstGeom prst="roundRect">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dirty="0">
                  <a:solidFill>
                    <a:schemeClr val="bg1"/>
                  </a:solidFill>
                  <a:latin typeface="Segoe UI" panose="020B0502040204020203" pitchFamily="34" charset="0"/>
                  <a:cs typeface="Segoe UI" panose="020B0502040204020203" pitchFamily="34" charset="0"/>
                </a:rPr>
                <a:t>Parametric Volatility</a:t>
              </a:r>
              <a:endParaRPr lang="zh-CN" altLang="en-US" sz="1800" dirty="0">
                <a:solidFill>
                  <a:schemeClr val="bg1"/>
                </a:solidFill>
                <a:latin typeface="Segoe UI" panose="020B0502040204020203" pitchFamily="34" charset="0"/>
                <a:cs typeface="Segoe UI" panose="020B0502040204020203" pitchFamily="34" charset="0"/>
              </a:endParaRPr>
            </a:p>
          </p:txBody>
        </p:sp>
        <p:sp>
          <p:nvSpPr>
            <p:cNvPr id="6" name="菱形 5">
              <a:extLst>
                <a:ext uri="{FF2B5EF4-FFF2-40B4-BE49-F238E27FC236}">
                  <a16:creationId xmlns:a16="http://schemas.microsoft.com/office/drawing/2014/main" id="{ED116131-5CC1-4CF6-8DD2-210513F97AA9}"/>
                </a:ext>
              </a:extLst>
            </p:cNvPr>
            <p:cNvSpPr/>
            <p:nvPr/>
          </p:nvSpPr>
          <p:spPr>
            <a:xfrm>
              <a:off x="3786188" y="3275360"/>
              <a:ext cx="2589212" cy="1150937"/>
            </a:xfrm>
            <a:prstGeom prst="diamond">
              <a:avLst/>
            </a:prstGeom>
            <a:solidFill>
              <a:srgbClr val="FDEAD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dirty="0">
                  <a:solidFill>
                    <a:srgbClr val="2C3E50"/>
                  </a:solidFill>
                  <a:latin typeface="Segoe UI" panose="020B0502040204020203" pitchFamily="34" charset="0"/>
                  <a:cs typeface="Segoe UI" panose="020B0502040204020203" pitchFamily="34" charset="0"/>
                </a:rPr>
                <a:t>Historical Returns</a:t>
              </a:r>
              <a:endParaRPr lang="zh-CN" altLang="en-US" sz="1800" dirty="0">
                <a:solidFill>
                  <a:srgbClr val="2C3E50"/>
                </a:solidFill>
                <a:latin typeface="Segoe UI" panose="020B0502040204020203" pitchFamily="34" charset="0"/>
                <a:cs typeface="Segoe UI" panose="020B0502040204020203" pitchFamily="34" charset="0"/>
              </a:endParaRPr>
            </a:p>
          </p:txBody>
        </p:sp>
        <p:sp>
          <p:nvSpPr>
            <p:cNvPr id="7" name="矩形 6">
              <a:extLst>
                <a:ext uri="{FF2B5EF4-FFF2-40B4-BE49-F238E27FC236}">
                  <a16:creationId xmlns:a16="http://schemas.microsoft.com/office/drawing/2014/main" id="{1CF37308-B262-4799-B79A-ADF23434758F}"/>
                </a:ext>
              </a:extLst>
            </p:cNvPr>
            <p:cNvSpPr/>
            <p:nvPr/>
          </p:nvSpPr>
          <p:spPr>
            <a:xfrm>
              <a:off x="7308850" y="3526185"/>
              <a:ext cx="1150938" cy="649287"/>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dirty="0">
                  <a:solidFill>
                    <a:srgbClr val="2C3E50"/>
                  </a:solidFill>
                  <a:latin typeface="Segoe UI" panose="020B0502040204020203" pitchFamily="34" charset="0"/>
                  <a:cs typeface="Segoe UI" panose="020B0502040204020203" pitchFamily="34" charset="0"/>
                </a:rPr>
                <a:t>Implied Volatility</a:t>
              </a:r>
              <a:endParaRPr lang="zh-CN" altLang="en-US" sz="1800" dirty="0">
                <a:solidFill>
                  <a:srgbClr val="2C3E50"/>
                </a:solidFill>
                <a:latin typeface="Segoe UI" panose="020B0502040204020203" pitchFamily="34" charset="0"/>
                <a:cs typeface="Segoe UI" panose="020B0502040204020203" pitchFamily="34" charset="0"/>
              </a:endParaRPr>
            </a:p>
          </p:txBody>
        </p:sp>
        <p:sp>
          <p:nvSpPr>
            <p:cNvPr id="8" name="矩形 7">
              <a:extLst>
                <a:ext uri="{FF2B5EF4-FFF2-40B4-BE49-F238E27FC236}">
                  <a16:creationId xmlns:a16="http://schemas.microsoft.com/office/drawing/2014/main" id="{590CA373-7210-44C3-A2E4-9AD2469B063F}"/>
                </a:ext>
              </a:extLst>
            </p:cNvPr>
            <p:cNvSpPr/>
            <p:nvPr/>
          </p:nvSpPr>
          <p:spPr>
            <a:xfrm>
              <a:off x="1052513" y="4875560"/>
              <a:ext cx="1908175" cy="574675"/>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dirty="0">
                  <a:solidFill>
                    <a:srgbClr val="2C3E50"/>
                  </a:solidFill>
                  <a:latin typeface="Segoe UI" panose="020B0502040204020203" pitchFamily="34" charset="0"/>
                  <a:cs typeface="Segoe UI" panose="020B0502040204020203" pitchFamily="34" charset="0"/>
                </a:rPr>
                <a:t>How do we weight the data</a:t>
              </a:r>
              <a:endParaRPr lang="zh-CN" altLang="en-US" sz="1800" dirty="0">
                <a:solidFill>
                  <a:srgbClr val="2C3E50"/>
                </a:solidFill>
                <a:latin typeface="Segoe UI" panose="020B0502040204020203" pitchFamily="34" charset="0"/>
                <a:cs typeface="Segoe UI" panose="020B0502040204020203" pitchFamily="34" charset="0"/>
              </a:endParaRPr>
            </a:p>
          </p:txBody>
        </p:sp>
        <p:sp>
          <p:nvSpPr>
            <p:cNvPr id="9" name="矩形 8">
              <a:extLst>
                <a:ext uri="{FF2B5EF4-FFF2-40B4-BE49-F238E27FC236}">
                  <a16:creationId xmlns:a16="http://schemas.microsoft.com/office/drawing/2014/main" id="{B68C688C-0DBB-4D1A-B811-1875F4ED830C}"/>
                </a:ext>
              </a:extLst>
            </p:cNvPr>
            <p:cNvSpPr/>
            <p:nvPr/>
          </p:nvSpPr>
          <p:spPr>
            <a:xfrm>
              <a:off x="6084888" y="4485035"/>
              <a:ext cx="2374900" cy="6477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dirty="0">
                  <a:solidFill>
                    <a:srgbClr val="2C3E50"/>
                  </a:solidFill>
                  <a:latin typeface="Segoe UI" panose="020B0502040204020203" pitchFamily="34" charset="0"/>
                  <a:cs typeface="Segoe UI" panose="020B0502040204020203" pitchFamily="34" charset="0"/>
                </a:rPr>
                <a:t>Historical Standard Deviation</a:t>
              </a:r>
              <a:endParaRPr lang="zh-CN" altLang="en-US" sz="1800" dirty="0">
                <a:solidFill>
                  <a:srgbClr val="2C3E50"/>
                </a:solidFill>
                <a:latin typeface="Segoe UI" panose="020B0502040204020203" pitchFamily="34" charset="0"/>
                <a:cs typeface="Segoe UI" panose="020B0502040204020203" pitchFamily="34" charset="0"/>
              </a:endParaRPr>
            </a:p>
          </p:txBody>
        </p:sp>
        <p:sp>
          <p:nvSpPr>
            <p:cNvPr id="10" name="矩形 9">
              <a:extLst>
                <a:ext uri="{FF2B5EF4-FFF2-40B4-BE49-F238E27FC236}">
                  <a16:creationId xmlns:a16="http://schemas.microsoft.com/office/drawing/2014/main" id="{DAC6FC26-8F91-4862-A657-DA500247400E}"/>
                </a:ext>
              </a:extLst>
            </p:cNvPr>
            <p:cNvSpPr/>
            <p:nvPr/>
          </p:nvSpPr>
          <p:spPr>
            <a:xfrm>
              <a:off x="6086475" y="5227985"/>
              <a:ext cx="2371725" cy="5715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dirty="0">
                  <a:solidFill>
                    <a:srgbClr val="2C3E50"/>
                  </a:solidFill>
                  <a:latin typeface="Segoe UI" panose="020B0502040204020203" pitchFamily="34" charset="0"/>
                  <a:cs typeface="Segoe UI" panose="020B0502040204020203" pitchFamily="34" charset="0"/>
                </a:rPr>
                <a:t>EWMA</a:t>
              </a:r>
            </a:p>
            <a:p>
              <a:pPr algn="ctr">
                <a:defRPr/>
              </a:pPr>
              <a:r>
                <a:rPr lang="en-US" altLang="zh-CN" sz="1800" dirty="0">
                  <a:solidFill>
                    <a:srgbClr val="2C3E50"/>
                  </a:solidFill>
                  <a:latin typeface="Segoe UI" panose="020B0502040204020203" pitchFamily="34" charset="0"/>
                  <a:cs typeface="Segoe UI" panose="020B0502040204020203" pitchFamily="34" charset="0"/>
                </a:rPr>
                <a:t>GARCH</a:t>
              </a:r>
              <a:endParaRPr lang="zh-CN" altLang="en-US" sz="1800" dirty="0">
                <a:solidFill>
                  <a:srgbClr val="2C3E50"/>
                </a:solidFill>
                <a:latin typeface="Segoe UI" panose="020B0502040204020203" pitchFamily="34" charset="0"/>
                <a:cs typeface="Segoe UI" panose="020B0502040204020203" pitchFamily="34" charset="0"/>
              </a:endParaRPr>
            </a:p>
          </p:txBody>
        </p:sp>
        <p:cxnSp>
          <p:nvCxnSpPr>
            <p:cNvPr id="11" name="肘形连接符 11">
              <a:extLst>
                <a:ext uri="{FF2B5EF4-FFF2-40B4-BE49-F238E27FC236}">
                  <a16:creationId xmlns:a16="http://schemas.microsoft.com/office/drawing/2014/main" id="{13C3B089-202C-4590-82C1-3F151ABC0C85}"/>
                </a:ext>
              </a:extLst>
            </p:cNvPr>
            <p:cNvCxnSpPr>
              <a:stCxn id="5" idx="3"/>
              <a:endCxn id="6" idx="0"/>
            </p:cNvCxnSpPr>
            <p:nvPr/>
          </p:nvCxnSpPr>
          <p:spPr>
            <a:xfrm>
              <a:off x="3578225" y="3100735"/>
              <a:ext cx="1503363" cy="174625"/>
            </a:xfrm>
            <a:prstGeom prst="bentConnector2">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1F5BBF31-D5A0-4CA4-8EE5-5E36A5D3CC54}"/>
                </a:ext>
              </a:extLst>
            </p:cNvPr>
            <p:cNvCxnSpPr>
              <a:stCxn id="6" idx="3"/>
              <a:endCxn id="7" idx="1"/>
            </p:cNvCxnSpPr>
            <p:nvPr/>
          </p:nvCxnSpPr>
          <p:spPr>
            <a:xfrm flipV="1">
              <a:off x="6375400" y="3851622"/>
              <a:ext cx="933450" cy="0"/>
            </a:xfrm>
            <a:prstGeom prst="straightConnector1">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肘形连接符 15">
              <a:extLst>
                <a:ext uri="{FF2B5EF4-FFF2-40B4-BE49-F238E27FC236}">
                  <a16:creationId xmlns:a16="http://schemas.microsoft.com/office/drawing/2014/main" id="{1BF09761-9F1B-4111-BC55-AE68765189B5}"/>
                </a:ext>
              </a:extLst>
            </p:cNvPr>
            <p:cNvCxnSpPr>
              <a:stCxn id="6" idx="1"/>
              <a:endCxn id="8" idx="0"/>
            </p:cNvCxnSpPr>
            <p:nvPr/>
          </p:nvCxnSpPr>
          <p:spPr>
            <a:xfrm rot="10800000" flipV="1">
              <a:off x="2006600" y="3851622"/>
              <a:ext cx="1779588" cy="1023938"/>
            </a:xfrm>
            <a:prstGeom prst="bentConnector2">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7">
              <a:extLst>
                <a:ext uri="{FF2B5EF4-FFF2-40B4-BE49-F238E27FC236}">
                  <a16:creationId xmlns:a16="http://schemas.microsoft.com/office/drawing/2014/main" id="{C2ABA309-3AC8-4003-AA64-5AAF19A4ABFE}"/>
                </a:ext>
              </a:extLst>
            </p:cNvPr>
            <p:cNvCxnSpPr>
              <a:stCxn id="8" idx="3"/>
              <a:endCxn id="9" idx="1"/>
            </p:cNvCxnSpPr>
            <p:nvPr/>
          </p:nvCxnSpPr>
          <p:spPr>
            <a:xfrm flipV="1">
              <a:off x="2960688" y="4808885"/>
              <a:ext cx="3124200" cy="354012"/>
            </a:xfrm>
            <a:prstGeom prst="bentConnector3">
              <a:avLst>
                <a:gd name="adj1" fmla="val 11585"/>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肘形连接符 19">
              <a:extLst>
                <a:ext uri="{FF2B5EF4-FFF2-40B4-BE49-F238E27FC236}">
                  <a16:creationId xmlns:a16="http://schemas.microsoft.com/office/drawing/2014/main" id="{3BD60C62-9130-46DA-9A20-FCFE7249058B}"/>
                </a:ext>
              </a:extLst>
            </p:cNvPr>
            <p:cNvCxnSpPr>
              <a:stCxn id="8" idx="3"/>
              <a:endCxn id="10" idx="1"/>
            </p:cNvCxnSpPr>
            <p:nvPr/>
          </p:nvCxnSpPr>
          <p:spPr>
            <a:xfrm>
              <a:off x="2960688" y="5162897"/>
              <a:ext cx="3125787" cy="350838"/>
            </a:xfrm>
            <a:prstGeom prst="bentConnector3">
              <a:avLst>
                <a:gd name="adj1" fmla="val 11613"/>
              </a:avLst>
            </a:prstGeom>
            <a:ln>
              <a:solidFill>
                <a:srgbClr val="2C3E5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22">
              <a:extLst>
                <a:ext uri="{FF2B5EF4-FFF2-40B4-BE49-F238E27FC236}">
                  <a16:creationId xmlns:a16="http://schemas.microsoft.com/office/drawing/2014/main" id="{BBAFB8F9-5EF7-4EFB-B21A-0769EE5A78CD}"/>
                </a:ext>
              </a:extLst>
            </p:cNvPr>
            <p:cNvSpPr txBox="1">
              <a:spLocks noChangeArrowheads="1"/>
            </p:cNvSpPr>
            <p:nvPr/>
          </p:nvSpPr>
          <p:spPr bwMode="auto">
            <a:xfrm>
              <a:off x="6583363" y="3459510"/>
              <a:ext cx="5095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a:solidFill>
                    <a:srgbClr val="2C3E50"/>
                  </a:solidFill>
                  <a:latin typeface="Segoe UI" panose="020B0502040204020203" pitchFamily="34" charset="0"/>
                  <a:cs typeface="Segoe UI" panose="020B0502040204020203" pitchFamily="34" charset="0"/>
                </a:rPr>
                <a:t>No</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17" name="文本框 23">
              <a:extLst>
                <a:ext uri="{FF2B5EF4-FFF2-40B4-BE49-F238E27FC236}">
                  <a16:creationId xmlns:a16="http://schemas.microsoft.com/office/drawing/2014/main" id="{E8E101B1-074A-4840-9A59-EA0CBA28AD4F}"/>
                </a:ext>
              </a:extLst>
            </p:cNvPr>
            <p:cNvSpPr txBox="1">
              <a:spLocks noChangeArrowheads="1"/>
            </p:cNvSpPr>
            <p:nvPr/>
          </p:nvSpPr>
          <p:spPr bwMode="auto">
            <a:xfrm>
              <a:off x="2705100" y="3459510"/>
              <a:ext cx="5286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a:solidFill>
                    <a:srgbClr val="2C3E50"/>
                  </a:solidFill>
                  <a:latin typeface="Segoe UI" panose="020B0502040204020203" pitchFamily="34" charset="0"/>
                  <a:cs typeface="Segoe UI" panose="020B0502040204020203" pitchFamily="34" charset="0"/>
                </a:rPr>
                <a:t>Yes</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18" name="文本框 25">
              <a:extLst>
                <a:ext uri="{FF2B5EF4-FFF2-40B4-BE49-F238E27FC236}">
                  <a16:creationId xmlns:a16="http://schemas.microsoft.com/office/drawing/2014/main" id="{19ADB032-C25A-4C4C-ACA4-12E984AA30A1}"/>
                </a:ext>
              </a:extLst>
            </p:cNvPr>
            <p:cNvSpPr txBox="1">
              <a:spLocks noChangeArrowheads="1"/>
            </p:cNvSpPr>
            <p:nvPr/>
          </p:nvSpPr>
          <p:spPr bwMode="auto">
            <a:xfrm>
              <a:off x="4111625" y="4438997"/>
              <a:ext cx="969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a:solidFill>
                    <a:srgbClr val="2C3E50"/>
                  </a:solidFill>
                  <a:latin typeface="Segoe UI" panose="020B0502040204020203" pitchFamily="34" charset="0"/>
                  <a:cs typeface="Segoe UI" panose="020B0502040204020203" pitchFamily="34" charset="0"/>
                </a:rPr>
                <a:t>Equally</a:t>
              </a:r>
              <a:endParaRPr lang="zh-CN" altLang="en-US" sz="1800">
                <a:solidFill>
                  <a:srgbClr val="2C3E50"/>
                </a:solidFill>
                <a:latin typeface="Segoe UI" panose="020B0502040204020203" pitchFamily="34" charset="0"/>
                <a:cs typeface="Segoe UI" panose="020B0502040204020203" pitchFamily="34" charset="0"/>
              </a:endParaRPr>
            </a:p>
          </p:txBody>
        </p:sp>
        <p:sp>
          <p:nvSpPr>
            <p:cNvPr id="19" name="文本框 26">
              <a:extLst>
                <a:ext uri="{FF2B5EF4-FFF2-40B4-BE49-F238E27FC236}">
                  <a16:creationId xmlns:a16="http://schemas.microsoft.com/office/drawing/2014/main" id="{ADB2437F-A103-4FB4-AC87-83D4A42D87B0}"/>
                </a:ext>
              </a:extLst>
            </p:cNvPr>
            <p:cNvSpPr txBox="1">
              <a:spLocks noChangeArrowheads="1"/>
            </p:cNvSpPr>
            <p:nvPr/>
          </p:nvSpPr>
          <p:spPr bwMode="auto">
            <a:xfrm>
              <a:off x="2865438" y="5507385"/>
              <a:ext cx="3313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a:solidFill>
                    <a:srgbClr val="2C3E50"/>
                  </a:solidFill>
                  <a:latin typeface="Segoe UI" panose="020B0502040204020203" pitchFamily="34" charset="0"/>
                  <a:cs typeface="Segoe UI" panose="020B0502040204020203" pitchFamily="34" charset="0"/>
                </a:rPr>
                <a:t>More Weight to more Recent</a:t>
              </a:r>
              <a:endParaRPr lang="zh-CN" altLang="en-US" sz="1800">
                <a:solidFill>
                  <a:srgbClr val="2C3E50"/>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36357838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p:txBody>
          <a:bodyPr>
            <a:normAutofit fontScale="70000" lnSpcReduction="20000"/>
          </a:bodyPr>
          <a:lstStyle/>
          <a:p>
            <a:pPr>
              <a:spcBef>
                <a:spcPct val="0"/>
              </a:spcBef>
              <a:defRPr/>
            </a:pPr>
            <a:r>
              <a:rPr lang="en-US" altLang="zh-CN" dirty="0"/>
              <a:t>Parametric Approach (cont’d)</a:t>
            </a:r>
          </a:p>
          <a:p>
            <a:pPr lvl="1">
              <a:spcBef>
                <a:spcPct val="0"/>
              </a:spcBef>
              <a:defRPr/>
            </a:pPr>
            <a:r>
              <a:rPr lang="en-US" altLang="zh-CN" b="1" dirty="0"/>
              <a:t>Historical Standard Deviation Approach</a:t>
            </a:r>
          </a:p>
          <a:p>
            <a:pPr lvl="2">
              <a:defRPr/>
            </a:pPr>
            <a:r>
              <a:rPr lang="en-US" altLang="zh-CN" dirty="0"/>
              <a:t>Assuming equally weighted</a:t>
            </a:r>
          </a:p>
          <a:p>
            <a:pPr lvl="2">
              <a:spcBef>
                <a:spcPct val="0"/>
              </a:spcBef>
              <a:defRPr/>
            </a:pPr>
            <a:r>
              <a:rPr lang="en-US" altLang="zh-CN" u="sng" dirty="0"/>
              <a:t>Each day, the forecast is updated by adding the most recent day and dropping the furthest day</a:t>
            </a:r>
            <a:r>
              <a:rPr lang="en-US" altLang="zh-CN" dirty="0"/>
              <a:t>. </a:t>
            </a:r>
          </a:p>
          <a:p>
            <a:pPr lvl="2">
              <a:spcBef>
                <a:spcPct val="0"/>
              </a:spcBef>
              <a:defRPr/>
            </a:pPr>
            <a:r>
              <a:rPr lang="en-US" altLang="zh-CN" dirty="0"/>
              <a:t>Raw returns are used instead of returns around the mean (i.e., the </a:t>
            </a:r>
            <a:r>
              <a:rPr lang="en-US" altLang="zh-CN" u="sng" dirty="0"/>
              <a:t>expected mean is assumed zero</a:t>
            </a:r>
            <a:r>
              <a:rPr lang="en-US" altLang="zh-CN" dirty="0"/>
              <a:t>).</a:t>
            </a:r>
          </a:p>
          <a:p>
            <a:pPr lvl="2">
              <a:spcBef>
                <a:spcPct val="0"/>
              </a:spcBef>
              <a:defRPr/>
            </a:pPr>
            <a:endParaRPr lang="en-US" altLang="zh-CN" dirty="0"/>
          </a:p>
          <a:p>
            <a:pPr lvl="2">
              <a:spcBef>
                <a:spcPct val="0"/>
              </a:spcBef>
              <a:defRPr/>
            </a:pPr>
            <a:endParaRPr lang="en-US" altLang="zh-CN" dirty="0"/>
          </a:p>
          <a:p>
            <a:pPr lvl="1">
              <a:spcBef>
                <a:spcPct val="0"/>
              </a:spcBef>
              <a:defRPr/>
            </a:pPr>
            <a:endParaRPr lang="en-US" altLang="zh-CN" b="1" dirty="0"/>
          </a:p>
          <a:p>
            <a:pPr lvl="1">
              <a:spcBef>
                <a:spcPct val="0"/>
              </a:spcBef>
              <a:defRPr/>
            </a:pPr>
            <a:r>
              <a:rPr lang="en-US" altLang="zh-CN" b="1" dirty="0"/>
              <a:t>Exponential Smoothing Method</a:t>
            </a:r>
          </a:p>
          <a:p>
            <a:pPr lvl="2">
              <a:spcBef>
                <a:spcPct val="0"/>
              </a:spcBef>
              <a:defRPr/>
            </a:pPr>
            <a:r>
              <a:rPr lang="en-US" altLang="zh-CN" dirty="0"/>
              <a:t>Exponential smoothing places </a:t>
            </a:r>
            <a:r>
              <a:rPr lang="en-US" altLang="zh-CN" u="sng" dirty="0"/>
              <a:t>exponentially declining weights</a:t>
            </a:r>
            <a:r>
              <a:rPr lang="en-US" altLang="zh-CN" dirty="0"/>
              <a:t> on historical data, </a:t>
            </a:r>
            <a:r>
              <a:rPr lang="en-US" altLang="zh-CN" u="sng" dirty="0"/>
              <a:t>placing more weight on more recent information and less weight on past information</a:t>
            </a:r>
            <a:r>
              <a:rPr lang="en-US" altLang="zh-CN" dirty="0"/>
              <a:t>.</a:t>
            </a:r>
          </a:p>
          <a:p>
            <a:pPr lvl="2">
              <a:spcBef>
                <a:spcPct val="0"/>
              </a:spcBef>
              <a:defRPr/>
            </a:pPr>
            <a:r>
              <a:rPr lang="en-US" altLang="zh-CN" dirty="0"/>
              <a:t>Two models, </a:t>
            </a:r>
            <a:r>
              <a:rPr lang="en-US" altLang="zh-CN" b="1" dirty="0"/>
              <a:t>EWMA</a:t>
            </a:r>
            <a:r>
              <a:rPr lang="en-US" altLang="zh-CN" dirty="0"/>
              <a:t> and </a:t>
            </a:r>
            <a:r>
              <a:rPr lang="en-US" altLang="zh-CN" b="1" dirty="0"/>
              <a:t>GARCH</a:t>
            </a:r>
            <a:r>
              <a:rPr lang="en-US" altLang="zh-CN" dirty="0"/>
              <a:t> employ exponential smoothing.</a:t>
            </a:r>
          </a:p>
          <a:p>
            <a:pPr>
              <a:defRPr/>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62CB1BF1-3465-4C09-BE39-1FA25B3948DC}"/>
                  </a:ext>
                </a:extLst>
              </p:cNvPr>
              <p:cNvSpPr/>
              <p:nvPr/>
            </p:nvSpPr>
            <p:spPr>
              <a:xfrm>
                <a:off x="5109991" y="3205866"/>
                <a:ext cx="1972015" cy="875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sz="1800" b="0" i="1"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num>
                            <m:den>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den>
                          </m:f>
                        </m:e>
                      </m:d>
                      <m:nary>
                        <m:naryPr>
                          <m:chr m:val="∑"/>
                          <m:limLoc m:val="undOvr"/>
                          <m:grow m:val="o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naryPr>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m:t>
                          </m:r>
                        </m:sup>
                        <m:e>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en-US" altLang="zh-CN" sz="18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e>
                      </m:nary>
                    </m:oMath>
                  </m:oMathPara>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62CB1BF1-3465-4C09-BE39-1FA25B3948DC}"/>
                  </a:ext>
                </a:extLst>
              </p:cNvPr>
              <p:cNvSpPr>
                <a:spLocks noRot="1" noChangeAspect="1" noMove="1" noResize="1" noEditPoints="1" noAdjustHandles="1" noChangeArrowheads="1" noChangeShapeType="1" noTextEdit="1"/>
              </p:cNvSpPr>
              <p:nvPr/>
            </p:nvSpPr>
            <p:spPr>
              <a:xfrm>
                <a:off x="5109991" y="3205866"/>
                <a:ext cx="1972015" cy="875368"/>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495361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p:txBody>
          <a:bodyPr>
            <a:normAutofit fontScale="92500" lnSpcReduction="20000"/>
          </a:bodyPr>
          <a:lstStyle/>
          <a:p>
            <a:pPr>
              <a:lnSpc>
                <a:spcPct val="130000"/>
              </a:lnSpc>
              <a:defRPr/>
            </a:pPr>
            <a:r>
              <a:rPr lang="en-US" altLang="zh-CN" dirty="0"/>
              <a:t>Parametric Approach (cont’d)</a:t>
            </a:r>
          </a:p>
          <a:p>
            <a:pPr lvl="1">
              <a:lnSpc>
                <a:spcPct val="130000"/>
              </a:lnSpc>
              <a:defRPr/>
            </a:pPr>
            <a:r>
              <a:rPr lang="en-US" altLang="zh-CN" b="1" dirty="0"/>
              <a:t>EWMA</a:t>
            </a:r>
          </a:p>
          <a:p>
            <a:pPr lvl="2">
              <a:lnSpc>
                <a:spcPct val="130000"/>
              </a:lnSpc>
              <a:defRPr/>
            </a:pPr>
            <a:endParaRPr lang="en-US" altLang="zh-CN" b="1" dirty="0"/>
          </a:p>
          <a:p>
            <a:pPr lvl="2">
              <a:lnSpc>
                <a:spcPct val="130000"/>
              </a:lnSpc>
              <a:defRPr/>
            </a:pPr>
            <a:endParaRPr lang="en-US" altLang="zh-CN" b="1" dirty="0"/>
          </a:p>
          <a:p>
            <a:pPr lvl="1">
              <a:lnSpc>
                <a:spcPct val="130000"/>
              </a:lnSpc>
              <a:defRPr/>
            </a:pPr>
            <a:r>
              <a:rPr lang="en-US" altLang="zh-CN" b="1" dirty="0"/>
              <a:t>GARCH</a:t>
            </a:r>
          </a:p>
          <a:p>
            <a:pPr marL="0" indent="0">
              <a:lnSpc>
                <a:spcPct val="130000"/>
              </a:lnSpc>
              <a:buNone/>
              <a:defRPr/>
            </a:pPr>
            <a:endParaRPr lang="en-US" altLang="zh-CN" dirty="0"/>
          </a:p>
          <a:p>
            <a:pPr marL="0" indent="0">
              <a:lnSpc>
                <a:spcPct val="130000"/>
              </a:lnSpc>
              <a:buNone/>
              <a:defRPr/>
            </a:pPr>
            <a:endParaRPr lang="en-US" altLang="zh-CN" dirty="0"/>
          </a:p>
          <a:p>
            <a:pPr lvl="1">
              <a:lnSpc>
                <a:spcPct val="130000"/>
              </a:lnSpc>
              <a:defRPr/>
            </a:pPr>
            <a:endParaRPr lang="en-US" altLang="zh-CN" dirty="0"/>
          </a:p>
          <a:p>
            <a:pPr lvl="2">
              <a:lnSpc>
                <a:spcPct val="130000"/>
              </a:lnSpc>
              <a:defRPr/>
            </a:pPr>
            <a:r>
              <a:rPr lang="en-US" altLang="zh-CN" dirty="0"/>
              <a:t>In GARCH (1,1), the </a:t>
            </a:r>
            <a:r>
              <a:rPr lang="en-US" altLang="zh-CN" u="sng" dirty="0"/>
              <a:t>sum of the alpha (α) and beta (β) parameters is called persistence</a:t>
            </a:r>
            <a:r>
              <a:rPr lang="en-US" altLang="zh-CN" dirty="0"/>
              <a:t>.</a:t>
            </a:r>
          </a:p>
          <a:p>
            <a:pPr lvl="2">
              <a:lnSpc>
                <a:spcPct val="130000"/>
              </a:lnSpc>
              <a:defRPr/>
            </a:pPr>
            <a:r>
              <a:rPr lang="en-US" altLang="zh-CN" dirty="0"/>
              <a:t>GARCH (1, 1) is </a:t>
            </a:r>
            <a:r>
              <a:rPr lang="en-US" altLang="zh-CN" u="sng" dirty="0"/>
              <a:t>unstable if the persistence &gt; 1</a:t>
            </a:r>
            <a:r>
              <a:rPr lang="en-US" altLang="zh-CN" dirty="0"/>
              <a:t>. </a:t>
            </a:r>
            <a:r>
              <a:rPr lang="en-US" altLang="zh-CN" u="sng" dirty="0"/>
              <a:t>A persistence of 1.0 implies no mean reversion</a:t>
            </a:r>
            <a:r>
              <a:rPr lang="en-US" altLang="zh-CN" dirty="0"/>
              <a:t>. </a:t>
            </a:r>
            <a:r>
              <a:rPr lang="en-US" altLang="zh-CN" u="sng" dirty="0"/>
              <a:t>A persistence of less than 1.0 implies “reversion to the mean,” where a lower persistence implies greater reversion to the mean.</a:t>
            </a:r>
          </a:p>
          <a:p>
            <a:pPr lvl="2">
              <a:lnSpc>
                <a:spcPct val="130000"/>
              </a:lnSpc>
              <a:defRPr/>
            </a:pPr>
            <a:r>
              <a:rPr lang="en-US" altLang="zh-CN" u="sng" dirty="0"/>
              <a:t>EWMA is a special case of GARCH. </a:t>
            </a:r>
          </a:p>
          <a:p>
            <a:pPr>
              <a:defRPr/>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06E42654-AFC8-4815-9D8E-00DF18C870D6}"/>
                  </a:ext>
                </a:extLst>
              </p:cNvPr>
              <p:cNvSpPr/>
              <p:nvPr/>
            </p:nvSpPr>
            <p:spPr>
              <a:xfrm>
                <a:off x="4534716" y="1616302"/>
                <a:ext cx="2809423" cy="372538"/>
              </a:xfrm>
              <a:prstGeom prst="rect">
                <a:avLst/>
              </a:prstGeom>
              <a:ln w="19050">
                <a:solidFill>
                  <a:srgbClr val="FF0000"/>
                </a:solidFill>
              </a:ln>
            </p:spPr>
            <p:txBody>
              <a:bodyPr wrap="none">
                <a:spAutoFit/>
              </a:bodyPr>
              <a:lstStyle/>
              <a:p>
                <a:pPr/>
                <a14:m>
                  <m:oMathPara xmlns:m="http://schemas.openxmlformats.org/officeDocument/2006/math">
                    <m:oMathParaPr>
                      <m:jc m:val="center"/>
                    </m:oMathParaPr>
                    <m:oMath xmlns:m="http://schemas.openxmlformats.org/officeDocument/2006/math">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e>
                      </m:d>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oMath>
                  </m:oMathPara>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06E42654-AFC8-4815-9D8E-00DF18C870D6}"/>
                  </a:ext>
                </a:extLst>
              </p:cNvPr>
              <p:cNvSpPr>
                <a:spLocks noRot="1" noChangeAspect="1" noMove="1" noResize="1" noEditPoints="1" noAdjustHandles="1" noChangeArrowheads="1" noChangeShapeType="1" noTextEdit="1"/>
              </p:cNvSpPr>
              <p:nvPr/>
            </p:nvSpPr>
            <p:spPr>
              <a:xfrm>
                <a:off x="4534716" y="1616302"/>
                <a:ext cx="2809423" cy="372538"/>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71500DCD-CE56-48A4-9D63-60ABAB8BCA03}"/>
                  </a:ext>
                </a:extLst>
              </p:cNvPr>
              <p:cNvSpPr/>
              <p:nvPr/>
            </p:nvSpPr>
            <p:spPr>
              <a:xfrm>
                <a:off x="4569340" y="2479701"/>
                <a:ext cx="2702791" cy="949299"/>
              </a:xfrm>
              <a:prstGeom prst="rect">
                <a:avLst/>
              </a:prstGeom>
              <a:ln w="19050">
                <a:solidFill>
                  <a:srgbClr val="FF0000"/>
                </a:solidFill>
              </a:ln>
            </p:spPr>
            <p:txBody>
              <a:bodyPr wrap="none">
                <a:spAutoFit/>
              </a:bodyPr>
              <a:lstStyle/>
              <a:p>
                <a:pPr/>
                <a14:m>
                  <m:oMathPara xmlns:m="http://schemas.openxmlformats.org/officeDocument/2006/math">
                    <m:oMathParaPr>
                      <m:jc m:val="left"/>
                    </m:oMathParaPr>
                    <m:oMath xmlns:m="http://schemas.openxmlformats.org/officeDocument/2006/math">
                      <m:m>
                        <m:mPr>
                          <m:mcs>
                            <m:mc>
                              <m:mcPr>
                                <m:count m:val="1"/>
                                <m:mcJc m:val="center"/>
                              </m:mcPr>
                            </m:mc>
                          </m:mcs>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mPr>
                        <m:mr>
                          <m:e>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ω</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α</m:t>
                            </m:r>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e>
                        </m:mr>
                        <m:mr>
                          <m:e>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V</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ω</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α</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β</m:t>
                                </m:r>
                              </m:den>
                            </m:f>
                          </m:e>
                        </m:mr>
                      </m:m>
                    </m:oMath>
                  </m:oMathPara>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5" name="矩形 4">
                <a:extLst>
                  <a:ext uri="{FF2B5EF4-FFF2-40B4-BE49-F238E27FC236}">
                    <a16:creationId xmlns:a16="http://schemas.microsoft.com/office/drawing/2014/main" id="{71500DCD-CE56-48A4-9D63-60ABAB8BCA03}"/>
                  </a:ext>
                </a:extLst>
              </p:cNvPr>
              <p:cNvSpPr>
                <a:spLocks noRot="1" noChangeAspect="1" noMove="1" noResize="1" noEditPoints="1" noAdjustHandles="1" noChangeArrowheads="1" noChangeShapeType="1" noTextEdit="1"/>
              </p:cNvSpPr>
              <p:nvPr/>
            </p:nvSpPr>
            <p:spPr>
              <a:xfrm>
                <a:off x="4569340" y="2479701"/>
                <a:ext cx="2702791" cy="949299"/>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5574528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p:txBody>
          <a:bodyPr>
            <a:normAutofit fontScale="92500" lnSpcReduction="10000"/>
          </a:bodyPr>
          <a:lstStyle/>
          <a:p>
            <a:pPr>
              <a:lnSpc>
                <a:spcPct val="120000"/>
              </a:lnSpc>
              <a:spcBef>
                <a:spcPct val="0"/>
              </a:spcBef>
            </a:pPr>
            <a:r>
              <a:rPr lang="en-US" altLang="zh-CN" dirty="0"/>
              <a:t>Nonparametric Methods</a:t>
            </a:r>
          </a:p>
          <a:p>
            <a:pPr lvl="1">
              <a:lnSpc>
                <a:spcPct val="120000"/>
              </a:lnSpc>
              <a:spcBef>
                <a:spcPct val="0"/>
              </a:spcBef>
            </a:pPr>
            <a:r>
              <a:rPr lang="en-US" altLang="zh-CN" b="1" dirty="0"/>
              <a:t>Historical Simulation</a:t>
            </a:r>
          </a:p>
          <a:p>
            <a:pPr lvl="2">
              <a:lnSpc>
                <a:spcPct val="120000"/>
              </a:lnSpc>
              <a:spcBef>
                <a:spcPct val="0"/>
              </a:spcBef>
            </a:pPr>
            <a:r>
              <a:rPr lang="en-US" altLang="zh-CN" u="sng" dirty="0"/>
              <a:t>No parameter estimates are required</a:t>
            </a:r>
          </a:p>
          <a:p>
            <a:pPr lvl="2">
              <a:lnSpc>
                <a:spcPct val="120000"/>
              </a:lnSpc>
              <a:spcBef>
                <a:spcPct val="0"/>
              </a:spcBef>
            </a:pPr>
            <a:r>
              <a:rPr lang="en-US" altLang="zh-CN" u="sng" dirty="0"/>
              <a:t>Once the window length is determined, we order returns in descending order, and go directly to the tail of this ordered vector</a:t>
            </a:r>
            <a:r>
              <a:rPr lang="en-US" altLang="zh-CN" dirty="0"/>
              <a:t>.</a:t>
            </a:r>
          </a:p>
          <a:p>
            <a:pPr lvl="2">
              <a:lnSpc>
                <a:spcPct val="120000"/>
              </a:lnSpc>
              <a:spcBef>
                <a:spcPct val="0"/>
              </a:spcBef>
            </a:pPr>
            <a:r>
              <a:rPr lang="en-US" altLang="zh-CN" u="sng" dirty="0"/>
              <a:t>The model is not subject to estimation error related to correlations and the problem of higher correlations in downward markets</a:t>
            </a:r>
            <a:r>
              <a:rPr lang="en-US" altLang="zh-CN" dirty="0"/>
              <a:t>.</a:t>
            </a:r>
          </a:p>
          <a:p>
            <a:pPr lvl="1">
              <a:lnSpc>
                <a:spcPct val="120000"/>
              </a:lnSpc>
              <a:spcBef>
                <a:spcPct val="0"/>
              </a:spcBef>
            </a:pPr>
            <a:r>
              <a:rPr lang="en-US" altLang="zh-CN" b="1" dirty="0"/>
              <a:t>Multivariate Density Estimation</a:t>
            </a:r>
          </a:p>
          <a:p>
            <a:pPr lvl="2">
              <a:lnSpc>
                <a:spcPct val="120000"/>
              </a:lnSpc>
              <a:spcBef>
                <a:spcPct val="0"/>
              </a:spcBef>
            </a:pPr>
            <a:r>
              <a:rPr lang="en-US" altLang="zh-CN" u="sng" dirty="0"/>
              <a:t>The weights are not a constant function of time</a:t>
            </a:r>
            <a:r>
              <a:rPr lang="en-US" altLang="zh-CN" dirty="0"/>
              <a:t>.</a:t>
            </a:r>
          </a:p>
          <a:p>
            <a:pPr lvl="2">
              <a:lnSpc>
                <a:spcPct val="120000"/>
              </a:lnSpc>
              <a:spcBef>
                <a:spcPct val="0"/>
              </a:spcBef>
            </a:pPr>
            <a:r>
              <a:rPr lang="en-US" altLang="zh-CN" u="sng" dirty="0"/>
              <a:t>Allows for weights to vary based on how relevant the data is to the current market environment</a:t>
            </a:r>
            <a:r>
              <a:rPr lang="en-US" altLang="zh-CN" dirty="0"/>
              <a:t>.</a:t>
            </a:r>
          </a:p>
          <a:p>
            <a:pPr lvl="2">
              <a:lnSpc>
                <a:spcPct val="120000"/>
              </a:lnSpc>
              <a:spcBef>
                <a:spcPct val="0"/>
              </a:spcBef>
            </a:pPr>
            <a:r>
              <a:rPr lang="en-US" altLang="zh-CN" dirty="0"/>
              <a:t>The current state – as parameterized by a state vector – is compared to the historical state: </a:t>
            </a:r>
            <a:r>
              <a:rPr lang="en-US" altLang="zh-CN" u="sng" dirty="0"/>
              <a:t>the more similar the states (current versus historical period), the greater the assigned weight.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541953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Hybrid Approach</a:t>
            </a:r>
          </a:p>
          <a:p>
            <a:pPr lvl="1">
              <a:spcBef>
                <a:spcPct val="0"/>
              </a:spcBef>
            </a:pPr>
            <a:r>
              <a:rPr lang="en-US" altLang="zh-CN" dirty="0"/>
              <a:t>It </a:t>
            </a:r>
            <a:r>
              <a:rPr lang="en-US" altLang="zh-CN" u="sng" dirty="0"/>
              <a:t>combines historical simulation</a:t>
            </a:r>
            <a:r>
              <a:rPr lang="en-US" altLang="zh-CN" dirty="0"/>
              <a:t> (by estimating the percentiles of returns directly) </a:t>
            </a:r>
            <a:r>
              <a:rPr lang="en-US" altLang="zh-CN" u="sng" dirty="0"/>
              <a:t>and EWMA</a:t>
            </a:r>
            <a:r>
              <a:rPr lang="en-US" altLang="zh-CN" dirty="0"/>
              <a:t> (by using exponentially declining weights on past data). The following three steps are required to implement the hybrid approach.</a:t>
            </a:r>
          </a:p>
          <a:p>
            <a:pPr lvl="2">
              <a:spcBef>
                <a:spcPct val="0"/>
              </a:spcBef>
            </a:pPr>
            <a:r>
              <a:rPr lang="en-US" altLang="zh-CN" dirty="0"/>
              <a:t>Denote by u</a:t>
            </a:r>
            <a:r>
              <a:rPr lang="en-US" altLang="zh-CN" baseline="-25000" dirty="0"/>
              <a:t>t-1,1</a:t>
            </a:r>
            <a:r>
              <a:rPr lang="en-US" altLang="zh-CN" dirty="0"/>
              <a:t> the realized return from t - 1 to t. To each of the most recent K returns u</a:t>
            </a:r>
            <a:r>
              <a:rPr lang="en-US" altLang="zh-CN" baseline="-25000" dirty="0"/>
              <a:t>t-1,1</a:t>
            </a:r>
            <a:r>
              <a:rPr lang="en-US" altLang="zh-CN" dirty="0"/>
              <a:t>, u</a:t>
            </a:r>
            <a:r>
              <a:rPr lang="en-US" altLang="zh-CN" baseline="-25000" dirty="0"/>
              <a:t>t-2,t-1</a:t>
            </a:r>
            <a:r>
              <a:rPr lang="en-US" altLang="zh-CN" dirty="0"/>
              <a:t>,… u</a:t>
            </a:r>
            <a:r>
              <a:rPr lang="en-US" altLang="zh-CN" baseline="-25000" dirty="0"/>
              <a:t>t-k,t-k-1 </a:t>
            </a:r>
            <a:r>
              <a:rPr lang="en-US" altLang="zh-CN" dirty="0"/>
              <a:t>assign a </a:t>
            </a:r>
            <a:r>
              <a:rPr lang="en-US" altLang="zh-CN" u="sng" dirty="0"/>
              <a:t>weight</a:t>
            </a:r>
            <a:r>
              <a:rPr lang="en-US" altLang="zh-CN" dirty="0"/>
              <a:t>:</a:t>
            </a:r>
          </a:p>
          <a:p>
            <a:pPr lvl="2">
              <a:spcBef>
                <a:spcPct val="0"/>
              </a:spcBef>
            </a:pPr>
            <a:endParaRPr lang="en-US" altLang="zh-CN" dirty="0"/>
          </a:p>
          <a:p>
            <a:pPr lvl="2">
              <a:spcBef>
                <a:spcPct val="0"/>
              </a:spcBef>
            </a:pPr>
            <a:endParaRPr lang="en-US" altLang="zh-CN" dirty="0"/>
          </a:p>
          <a:p>
            <a:pPr lvl="2">
              <a:spcBef>
                <a:spcPct val="0"/>
              </a:spcBef>
            </a:pPr>
            <a:r>
              <a:rPr lang="en-US" altLang="zh-CN" u="sng" dirty="0"/>
              <a:t>Order the returns</a:t>
            </a:r>
            <a:r>
              <a:rPr lang="en-US" altLang="zh-CN" dirty="0"/>
              <a:t> in ascending order.</a:t>
            </a:r>
          </a:p>
          <a:p>
            <a:pPr lvl="2">
              <a:spcBef>
                <a:spcPct val="0"/>
              </a:spcBef>
            </a:pPr>
            <a:r>
              <a:rPr lang="en-US" altLang="zh-CN" dirty="0"/>
              <a:t>In order to obtain the x percent </a:t>
            </a:r>
            <a:r>
              <a:rPr lang="en-US" altLang="zh-CN" dirty="0" err="1"/>
              <a:t>VaR</a:t>
            </a:r>
            <a:r>
              <a:rPr lang="en-US" altLang="zh-CN" dirty="0"/>
              <a:t> of the portfolio, </a:t>
            </a:r>
            <a:r>
              <a:rPr lang="en-US" altLang="zh-CN" u="sng" dirty="0"/>
              <a:t>start from the lowest return and keep accumulating the weights until x percent is reached. </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CBB20928-0FA9-4333-9C47-D132A2A36D3C}"/>
                  </a:ext>
                </a:extLst>
              </p:cNvPr>
              <p:cNvSpPr/>
              <p:nvPr/>
            </p:nvSpPr>
            <p:spPr>
              <a:xfrm>
                <a:off x="4303810" y="3643550"/>
                <a:ext cx="3584378" cy="661912"/>
              </a:xfrm>
              <a:prstGeom prst="rect">
                <a:avLst/>
              </a:prstGeom>
              <a:ln w="1905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sup>
                          </m:sSup>
                        </m:den>
                      </m:f>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sup>
                          </m:sSup>
                        </m:den>
                      </m:f>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f>
                        <m:f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num>
                        <m:den>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sup>
                          </m:sSup>
                        </m:den>
                      </m:f>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λ</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k</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p>
                      </m:sSup>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CBB20928-0FA9-4333-9C47-D132A2A36D3C}"/>
                  </a:ext>
                </a:extLst>
              </p:cNvPr>
              <p:cNvSpPr>
                <a:spLocks noRot="1" noChangeAspect="1" noMove="1" noResize="1" noEditPoints="1" noAdjustHandles="1" noChangeArrowheads="1" noChangeShapeType="1" noTextEdit="1"/>
              </p:cNvSpPr>
              <p:nvPr/>
            </p:nvSpPr>
            <p:spPr>
              <a:xfrm>
                <a:off x="4303810" y="3643550"/>
                <a:ext cx="3584378" cy="661912"/>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9898550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Quantifying Volatility in </a:t>
            </a:r>
            <a:r>
              <a:rPr lang="en-US" altLang="zh-CN" sz="2800" dirty="0" err="1"/>
              <a:t>VaR</a:t>
            </a:r>
            <a:r>
              <a:rPr lang="en-US" altLang="zh-CN" sz="2800" dirty="0"/>
              <a:t> Models</a:t>
            </a:r>
          </a:p>
        </p:txBody>
      </p:sp>
      <p:sp>
        <p:nvSpPr>
          <p:cNvPr id="3" name="文本占位符 2"/>
          <p:cNvSpPr>
            <a:spLocks noGrp="1"/>
          </p:cNvSpPr>
          <p:nvPr>
            <p:ph type="body" sz="quarter" idx="10"/>
          </p:nvPr>
        </p:nvSpPr>
        <p:spPr>
          <a:xfrm>
            <a:off x="393599" y="813470"/>
            <a:ext cx="11404800" cy="1488860"/>
          </a:xfrm>
        </p:spPr>
        <p:txBody>
          <a:bodyPr>
            <a:normAutofit fontScale="92500" lnSpcReduction="20000"/>
          </a:bodyPr>
          <a:lstStyle/>
          <a:p>
            <a:pPr>
              <a:spcBef>
                <a:spcPct val="0"/>
              </a:spcBef>
            </a:pPr>
            <a:r>
              <a:rPr lang="en-US" altLang="zh-CN" dirty="0"/>
              <a:t>Hybrid Approach</a:t>
            </a:r>
          </a:p>
          <a:p>
            <a:pPr lvl="1">
              <a:spcBef>
                <a:spcPct val="0"/>
              </a:spcBef>
            </a:pPr>
            <a:r>
              <a:rPr lang="en-US" altLang="zh-CN" b="1" dirty="0"/>
              <a:t>Example: </a:t>
            </a:r>
            <a:r>
              <a:rPr lang="en-US" altLang="zh-CN" dirty="0"/>
              <a:t>calculating 5% </a:t>
            </a:r>
            <a:r>
              <a:rPr lang="en-US" altLang="zh-CN" dirty="0" err="1"/>
              <a:t>VaR</a:t>
            </a:r>
            <a:r>
              <a:rPr lang="en-US" altLang="zh-CN" dirty="0"/>
              <a:t> using hybrid approach. The most recent observations is K = 100, and λ = 0.98.</a:t>
            </a:r>
          </a:p>
          <a:p>
            <a:endParaRPr lang="en-US" altLang="zh-CN" dirty="0">
              <a:latin typeface="+mn-lt"/>
              <a:ea typeface="+mn-ea"/>
              <a:cs typeface="+mn-ea"/>
              <a:sym typeface="+mn-lt"/>
            </a:endParaRPr>
          </a:p>
        </p:txBody>
      </p:sp>
      <p:graphicFrame>
        <p:nvGraphicFramePr>
          <p:cNvPr id="4" name="Group 6">
            <a:extLst>
              <a:ext uri="{FF2B5EF4-FFF2-40B4-BE49-F238E27FC236}">
                <a16:creationId xmlns:a16="http://schemas.microsoft.com/office/drawing/2014/main" id="{ECEFCEF7-9E8B-4AA3-BA70-40E9E01F33D4}"/>
              </a:ext>
            </a:extLst>
          </p:cNvPr>
          <p:cNvGraphicFramePr>
            <a:graphicFrameLocks noGrp="1"/>
          </p:cNvGraphicFramePr>
          <p:nvPr>
            <p:extLst>
              <p:ext uri="{D42A27DB-BD31-4B8C-83A1-F6EECF244321}">
                <p14:modId xmlns:p14="http://schemas.microsoft.com/office/powerpoint/2010/main" val="2778819520"/>
              </p:ext>
            </p:extLst>
          </p:nvPr>
        </p:nvGraphicFramePr>
        <p:xfrm>
          <a:off x="2586037" y="2477336"/>
          <a:ext cx="7019925" cy="3816351"/>
        </p:xfrm>
        <a:graphic>
          <a:graphicData uri="http://schemas.openxmlformats.org/drawingml/2006/table">
            <a:tbl>
              <a:tblPr/>
              <a:tblGrid>
                <a:gridCol w="827087">
                  <a:extLst>
                    <a:ext uri="{9D8B030D-6E8A-4147-A177-3AD203B41FA5}">
                      <a16:colId xmlns:a16="http://schemas.microsoft.com/office/drawing/2014/main" val="20000"/>
                    </a:ext>
                  </a:extLst>
                </a:gridCol>
                <a:gridCol w="1331913">
                  <a:extLst>
                    <a:ext uri="{9D8B030D-6E8A-4147-A177-3AD203B41FA5}">
                      <a16:colId xmlns:a16="http://schemas.microsoft.com/office/drawing/2014/main" val="20001"/>
                    </a:ext>
                  </a:extLst>
                </a:gridCol>
                <a:gridCol w="1260475">
                  <a:extLst>
                    <a:ext uri="{9D8B030D-6E8A-4147-A177-3AD203B41FA5}">
                      <a16:colId xmlns:a16="http://schemas.microsoft.com/office/drawing/2014/main" val="20002"/>
                    </a:ext>
                  </a:extLst>
                </a:gridCol>
                <a:gridCol w="1260475">
                  <a:extLst>
                    <a:ext uri="{9D8B030D-6E8A-4147-A177-3AD203B41FA5}">
                      <a16:colId xmlns:a16="http://schemas.microsoft.com/office/drawing/2014/main" val="20003"/>
                    </a:ext>
                  </a:extLst>
                </a:gridCol>
                <a:gridCol w="2339975">
                  <a:extLst>
                    <a:ext uri="{9D8B030D-6E8A-4147-A177-3AD203B41FA5}">
                      <a16:colId xmlns:a16="http://schemas.microsoft.com/office/drawing/2014/main" val="20004"/>
                    </a:ext>
                  </a:extLst>
                </a:gridCol>
              </a:tblGrid>
              <a:tr h="100647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Order</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Return</a:t>
                      </a:r>
                      <a:endPar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P</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eriods </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Ago</a:t>
                      </a:r>
                      <a:endPar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hybrid weight</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hybrid cumulative weight</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1</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3.30</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3</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0.</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0221</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0.0221</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2</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2.90</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2</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0.0226</a:t>
                      </a:r>
                      <a:endPar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0.0447</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3</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2</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.70</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65</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0.0063</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0.0510</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4</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2</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5</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0</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45</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0.0095</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0.0605</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5</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2</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.40</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5</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0.0213</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0.0818</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6</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2</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a:t>
                      </a: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3</a:t>
                      </a:r>
                      <a:r>
                        <a:rPr kumimoji="0" lang="zh-CN" altLang="en-US" sz="1800" b="0" i="0" u="none" strike="noStrike" cap="none" normalizeH="0" baseline="0">
                          <a:ln>
                            <a:noFill/>
                          </a:ln>
                          <a:solidFill>
                            <a:srgbClr val="2C3E50"/>
                          </a:solidFill>
                          <a:effectLst/>
                          <a:latin typeface="Segoe UI" pitchFamily="34" charset="0"/>
                          <a:ea typeface="宋体" pitchFamily="2" charset="-122"/>
                          <a:cs typeface="Segoe UI" pitchFamily="34" charset="0"/>
                        </a:rPr>
                        <a:t>0%</a:t>
                      </a:r>
                      <a:endPar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endParaRP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itchFamily="34" charset="0"/>
                          <a:ea typeface="宋体" pitchFamily="2" charset="-122"/>
                          <a:cs typeface="Segoe UI" pitchFamily="34" charset="0"/>
                        </a:rPr>
                        <a:t>30</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itchFamily="34" charset="0"/>
                          <a:ea typeface="宋体" pitchFamily="2" charset="-122"/>
                          <a:cs typeface="Segoe UI" pitchFamily="34" charset="0"/>
                        </a:rPr>
                        <a:t>0.0128</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itchFamily="34" charset="0"/>
                          <a:ea typeface="宋体" pitchFamily="2" charset="-122"/>
                          <a:cs typeface="Segoe UI" pitchFamily="34" charset="0"/>
                        </a:rPr>
                        <a:t>0.0946</a:t>
                      </a:r>
                    </a:p>
                  </a:txBody>
                  <a:tcPr marL="36000" marR="36000" marT="36000" marB="36000" anchor="ctr"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700471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Foreign Exchange Risk</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Foreign Exchange Risk</a:t>
            </a:r>
          </a:p>
          <a:p>
            <a:pPr lvl="1">
              <a:spcBef>
                <a:spcPct val="0"/>
              </a:spcBef>
            </a:pPr>
            <a:r>
              <a:rPr lang="en-US" altLang="zh-CN" dirty="0"/>
              <a:t>The risk that an investor will have to close out a long or short position in a foreign currency at a loss due to an adverse movement in exchange rates. Also known as "currency risk" or "exchange-rate risk".</a:t>
            </a:r>
          </a:p>
          <a:p>
            <a:pPr lvl="1">
              <a:spcBef>
                <a:spcPct val="0"/>
              </a:spcBef>
            </a:pPr>
            <a:r>
              <a:rPr lang="en-US" altLang="zh-CN" dirty="0"/>
              <a:t>A </a:t>
            </a:r>
            <a:r>
              <a:rPr lang="en-US" altLang="zh-CN" b="1" dirty="0"/>
              <a:t>positive net exposure position </a:t>
            </a:r>
            <a:r>
              <a:rPr lang="en-US" altLang="zh-CN" u="sng" dirty="0"/>
              <a:t>means that we are net long in a currency</a:t>
            </a:r>
            <a:r>
              <a:rPr lang="en-US" altLang="zh-CN" dirty="0"/>
              <a:t>; A </a:t>
            </a:r>
            <a:r>
              <a:rPr lang="en-US" altLang="zh-CN" b="1" dirty="0"/>
              <a:t>negative net exposure position</a:t>
            </a:r>
            <a:r>
              <a:rPr lang="en-US" altLang="zh-CN" dirty="0"/>
              <a:t> </a:t>
            </a:r>
            <a:r>
              <a:rPr lang="en-US" altLang="zh-CN" u="sng" dirty="0"/>
              <a:t>means that we are net short in a currency.</a:t>
            </a:r>
          </a:p>
          <a:p>
            <a:pPr lvl="1">
              <a:spcBef>
                <a:spcPct val="0"/>
              </a:spcBef>
            </a:pPr>
            <a:r>
              <a:rPr lang="en-US" altLang="zh-CN" b="1" dirty="0"/>
              <a:t>On-Balance-Sheet Hedging</a:t>
            </a:r>
            <a:r>
              <a:rPr lang="en-US" altLang="zh-CN" dirty="0"/>
              <a:t> is achieved when a financial institution has a </a:t>
            </a:r>
            <a:r>
              <a:rPr lang="en-US" altLang="zh-CN" u="sng" dirty="0"/>
              <a:t>matched maturity and currency</a:t>
            </a:r>
            <a:r>
              <a:rPr lang="en-US" altLang="zh-CN" dirty="0"/>
              <a:t> foreign asset-liability book. Rather than matching foreign assets with foreign liabilities, we may choose to remain un-hedged on the balance sheet, and </a:t>
            </a:r>
            <a:r>
              <a:rPr lang="en-US" altLang="zh-CN" u="sng" dirty="0"/>
              <a:t>hedge off-balance-sheet</a:t>
            </a:r>
            <a:r>
              <a:rPr lang="en-US" altLang="zh-CN" dirty="0"/>
              <a:t> by </a:t>
            </a:r>
            <a:r>
              <a:rPr lang="en-US" altLang="zh-CN" u="sng" dirty="0"/>
              <a:t>taking a position in the forward market</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5421449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Foreign Exchange Risk</a:t>
            </a:r>
          </a:p>
        </p:txBody>
      </p:sp>
      <p:sp>
        <p:nvSpPr>
          <p:cNvPr id="3" name="文本占位符 2"/>
          <p:cNvSpPr>
            <a:spLocks noGrp="1"/>
          </p:cNvSpPr>
          <p:nvPr>
            <p:ph type="body" sz="quarter" idx="10"/>
          </p:nvPr>
        </p:nvSpPr>
        <p:spPr/>
        <p:txBody>
          <a:bodyPr>
            <a:normAutofit/>
          </a:bodyPr>
          <a:lstStyle/>
          <a:p>
            <a:pPr>
              <a:spcBef>
                <a:spcPct val="0"/>
              </a:spcBef>
            </a:pPr>
            <a:r>
              <a:rPr lang="en-US" altLang="zh-CN" dirty="0"/>
              <a:t>The effect of an appreciation/depreciation of a currency relative to a foreign currency.</a:t>
            </a:r>
          </a:p>
          <a:p>
            <a:pPr lvl="1">
              <a:spcBef>
                <a:spcPct val="0"/>
              </a:spcBef>
            </a:pPr>
            <a:r>
              <a:rPr lang="en-US" altLang="zh-CN" dirty="0"/>
              <a:t>The appreciation of a country's currency means that the country’s goods are more expensive for foreign buyers and that foreign goods are cheaper for foreign sellers. Thus, when a country's currency appreciates, domestic manufacturers find it harder to sell their goods abroad and foreign manufacturers find it easier to sell their goods to domestic purchasers. Otherwise, the reverse.</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6639502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Foreign Exchange Risk</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 The effect of an appreciation/depreciation of a currency relative to a foreign currency</a:t>
            </a:r>
          </a:p>
          <a:p>
            <a:pPr lvl="1">
              <a:spcBef>
                <a:spcPct val="0"/>
              </a:spcBef>
            </a:pPr>
            <a:r>
              <a:rPr lang="en-US" altLang="zh-CN" b="1" dirty="0"/>
              <a:t>Example:</a:t>
            </a:r>
            <a:r>
              <a:rPr lang="en-US" altLang="zh-CN" dirty="0"/>
              <a:t> On May 15</a:t>
            </a:r>
            <a:r>
              <a:rPr lang="zh-CN" altLang="en-US" dirty="0"/>
              <a:t>，</a:t>
            </a:r>
            <a:r>
              <a:rPr lang="en-US" altLang="zh-CN" dirty="0"/>
              <a:t>2015, the exchange rate of the U.S. dollar for the British pound was 1.5528. It is now June 15, 2015,the exchange rate is 1.5602. A U.S.-made Buick Enclave costs $55,000 over the entire period. Has the U.S. dollar appreciated or depredated in value relative to the pound? What is the British citizen's £ gain or loss on the purchase of the car if he waits to buy on June 15?</a:t>
            </a:r>
          </a:p>
          <a:p>
            <a:pPr lvl="1">
              <a:spcBef>
                <a:spcPct val="0"/>
              </a:spcBef>
            </a:pPr>
            <a:r>
              <a:rPr lang="en-US" altLang="zh-CN" dirty="0"/>
              <a:t>The U.S. dollar has depreciated in value relative to the pound.</a:t>
            </a:r>
          </a:p>
          <a:p>
            <a:pPr lvl="1">
              <a:spcBef>
                <a:spcPct val="0"/>
              </a:spcBef>
            </a:pPr>
            <a:r>
              <a:rPr lang="en-US" altLang="zh-CN" dirty="0"/>
              <a:t>On May 15: The British citizen needs $55,000/1.5528 = £35,420.</a:t>
            </a:r>
          </a:p>
          <a:p>
            <a:pPr lvl="1">
              <a:spcBef>
                <a:spcPct val="0"/>
              </a:spcBef>
            </a:pPr>
            <a:r>
              <a:rPr lang="en-US" altLang="zh-CN" dirty="0"/>
              <a:t>On June 15: The British citizen needs $55,000/1.5602 = £35,252.</a:t>
            </a:r>
          </a:p>
          <a:p>
            <a:pPr lvl="1">
              <a:spcBef>
                <a:spcPct val="0"/>
              </a:spcBef>
            </a:pPr>
            <a:r>
              <a:rPr lang="en-US" altLang="zh-CN" dirty="0"/>
              <a:t>The gain from waiting is £35,420 - £35,252 = £168.</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6208763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Foreign Exchange Risk</a:t>
            </a:r>
          </a:p>
        </p:txBody>
      </p:sp>
      <mc:AlternateContent xmlns:mc="http://schemas.openxmlformats.org/markup-compatibility/2006">
        <mc:Choice xmlns:a14="http://schemas.microsoft.com/office/drawing/2010/main" Requires="a14">
          <p:sp>
            <p:nvSpPr>
              <p:cNvPr id="3" name="文本占位符 2"/>
              <p:cNvSpPr>
                <a:spLocks noGrp="1"/>
              </p:cNvSpPr>
              <p:nvPr>
                <p:ph type="body" sz="quarter" idx="10"/>
              </p:nvPr>
            </p:nvSpPr>
            <p:spPr/>
            <p:txBody>
              <a:bodyPr>
                <a:normAutofit fontScale="92500" lnSpcReduction="10000"/>
              </a:bodyPr>
              <a:lstStyle/>
              <a:p>
                <a:pPr>
                  <a:spcBef>
                    <a:spcPct val="60000"/>
                  </a:spcBef>
                  <a:buClr>
                    <a:srgbClr val="2C3E50"/>
                  </a:buClr>
                </a:pPr>
                <a:r>
                  <a:rPr kumimoji="1" lang="en-US" altLang="zh-CN" dirty="0">
                    <a:ea typeface="Segoe UI" panose="020B0502040204020203" pitchFamily="34" charset="0"/>
                  </a:rPr>
                  <a:t>Purchasing power parity</a:t>
                </a:r>
              </a:p>
              <a:p>
                <a:pPr lvl="1">
                  <a:spcBef>
                    <a:spcPct val="0"/>
                  </a:spcBef>
                  <a:buClr>
                    <a:srgbClr val="2C3E50"/>
                  </a:buClr>
                </a:pPr>
                <a:r>
                  <a:rPr lang="en-US" altLang="zh-CN" dirty="0">
                    <a:ea typeface="Segoe UI" panose="020B0502040204020203" pitchFamily="34" charset="0"/>
                  </a:rPr>
                  <a:t>PPP: Foreign currency exchange rates between two countries reflect changes in each country's price levels (or inflation rates and, implicitly, interest rates). Specifically, the PPP theorem states that the change in the exchange rate between two countries‘ currencies is proportional to the difference in the inflation rates in the two countries.</a:t>
                </a:r>
              </a:p>
              <a:p>
                <a:pPr lvl="1">
                  <a:spcBef>
                    <a:spcPct val="0"/>
                  </a:spcBef>
                  <a:buClr>
                    <a:srgbClr val="2C3E50"/>
                  </a:buClr>
                </a:pPr>
                <a:r>
                  <a:rPr lang="en-US" altLang="zh-CN" dirty="0">
                    <a:ea typeface="Segoe UI" panose="020B0502040204020203" pitchFamily="34" charset="0"/>
                  </a:rPr>
                  <a:t>The formal equation for PPP is as follows: S (X/Y)</a:t>
                </a:r>
              </a:p>
              <a:p>
                <a:pPr marL="363538" lvl="1" indent="0">
                  <a:spcBef>
                    <a:spcPct val="0"/>
                  </a:spcBef>
                  <a:buClr>
                    <a:srgbClr val="2C3E50"/>
                  </a:buClr>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ea typeface="Cambria Math" panose="02040503050406030204" pitchFamily="18" charset="0"/>
                            </a:rPr>
                            <m:t>S</m:t>
                          </m:r>
                        </m:e>
                        <m:sub>
                          <m:r>
                            <m:rPr>
                              <m:sty m:val="p"/>
                            </m:rPr>
                            <a:rPr lang="en-US" altLang="zh-CN">
                              <a:latin typeface="Cambria Math" panose="02040503050406030204" pitchFamily="18" charset="0"/>
                              <a:ea typeface="Cambria Math" panose="02040503050406030204" pitchFamily="18" charset="0"/>
                            </a:rPr>
                            <m:t>X</m:t>
                          </m:r>
                          <m:r>
                            <a:rPr lang="en-US" altLang="zh-CN">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Cambria Math" panose="02040503050406030204" pitchFamily="18" charset="0"/>
                            </a:rPr>
                            <m:t>Y</m:t>
                          </m:r>
                        </m:sub>
                      </m:sSub>
                      <m:r>
                        <a:rPr lang="en-US" altLang="zh-CN">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ea typeface="Cambria Math" panose="02040503050406030204" pitchFamily="18" charset="0"/>
                            </a:rPr>
                            <m:t>S</m:t>
                          </m:r>
                        </m:e>
                        <m:sub>
                          <m:r>
                            <m:rPr>
                              <m:sty m:val="p"/>
                            </m:rPr>
                            <a:rPr lang="en-US" altLang="zh-CN">
                              <a:latin typeface="Cambria Math" panose="02040503050406030204" pitchFamily="18" charset="0"/>
                              <a:ea typeface="Cambria Math" panose="02040503050406030204" pitchFamily="18" charset="0"/>
                            </a:rPr>
                            <m:t>X</m:t>
                          </m:r>
                          <m:r>
                            <a:rPr lang="en-US" altLang="zh-CN">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Cambria Math" panose="02040503050406030204" pitchFamily="18" charset="0"/>
                            </a:rPr>
                            <m:t>Y</m:t>
                          </m:r>
                        </m:sub>
                      </m:sSub>
                      <m:r>
                        <a:rPr lang="en-US" altLang="zh-CN"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m:rPr>
                              <m:sty m:val="p"/>
                            </m:rPr>
                            <a:rPr lang="en-US" altLang="zh-CN" dirty="0">
                              <a:latin typeface="Cambria Math" panose="02040503050406030204" pitchFamily="18" charset="0"/>
                              <a:ea typeface="Cambria Math" panose="02040503050406030204" pitchFamily="18" charset="0"/>
                            </a:rPr>
                            <m:t>i</m:t>
                          </m:r>
                        </m:e>
                        <m:sub>
                          <m:r>
                            <m:rPr>
                              <m:sty m:val="p"/>
                            </m:rPr>
                            <a:rPr lang="en-US" altLang="zh-CN" dirty="0">
                              <a:latin typeface="Cambria Math" panose="02040503050406030204" pitchFamily="18" charset="0"/>
                              <a:ea typeface="Cambria Math" panose="02040503050406030204" pitchFamily="18" charset="0"/>
                            </a:rPr>
                            <m:t>X</m:t>
                          </m:r>
                          <m:r>
                            <a:rPr lang="en-US" altLang="zh-CN" dirty="0">
                              <a:latin typeface="Cambria Math" panose="02040503050406030204" pitchFamily="18" charset="0"/>
                              <a:ea typeface="Cambria Math" panose="02040503050406030204" pitchFamily="18" charset="0"/>
                            </a:rPr>
                            <m:t>−</m:t>
                          </m:r>
                        </m:sub>
                      </m:sSub>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i</m:t>
                          </m:r>
                        </m:e>
                        <m:sub>
                          <m:r>
                            <m:rPr>
                              <m:sty m:val="p"/>
                            </m:rPr>
                            <a:rPr lang="en-US" altLang="zh-CN">
                              <a:latin typeface="Cambria Math" panose="02040503050406030204" pitchFamily="18" charset="0"/>
                            </a:rPr>
                            <m:t>Y</m:t>
                          </m:r>
                        </m:sub>
                      </m:sSub>
                    </m:oMath>
                  </m:oMathPara>
                </a14:m>
                <a:endParaRPr lang="en-US" altLang="zh-CN" dirty="0">
                  <a:ea typeface="Segoe UI" panose="020B0502040204020203" pitchFamily="34" charset="0"/>
                </a:endParaRPr>
              </a:p>
              <a:p>
                <a:pPr marL="374650" lvl="3" indent="0">
                  <a:spcBef>
                    <a:spcPct val="0"/>
                  </a:spcBef>
                  <a:buClr>
                    <a:srgbClr val="2C3E50"/>
                  </a:buClr>
                  <a:buNone/>
                </a:pPr>
                <a:r>
                  <a:rPr lang="en-US" altLang="zh-CN" dirty="0">
                    <a:ea typeface="Segoe UI" panose="020B0502040204020203" pitchFamily="34" charset="0"/>
                  </a:rPr>
                  <a:t>      where</a:t>
                </a:r>
              </a:p>
              <a:p>
                <a:pPr marL="374650" lvl="3" indent="0">
                  <a:spcBef>
                    <a:spcPct val="0"/>
                  </a:spcBef>
                  <a:buClr>
                    <a:srgbClr val="2C3E50"/>
                  </a:buClr>
                  <a:buNone/>
                </a:pPr>
                <a:r>
                  <a:rPr lang="en-US" altLang="zh-CN" dirty="0">
                    <a:ea typeface="Segoe UI" panose="020B0502040204020203" pitchFamily="34" charset="0"/>
                  </a:rPr>
                  <a:t>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ea typeface="Cambria Math" panose="02040503050406030204" pitchFamily="18" charset="0"/>
                          </a:rPr>
                          <m:t>S</m:t>
                        </m:r>
                      </m:e>
                      <m:sub>
                        <m:r>
                          <m:rPr>
                            <m:sty m:val="p"/>
                          </m:rPr>
                          <a:rPr lang="en-US" altLang="zh-CN">
                            <a:latin typeface="Cambria Math" panose="02040503050406030204" pitchFamily="18" charset="0"/>
                            <a:ea typeface="Cambria Math" panose="02040503050406030204" pitchFamily="18" charset="0"/>
                          </a:rPr>
                          <m:t>X</m:t>
                        </m:r>
                        <m:r>
                          <a:rPr lang="en-US" altLang="zh-CN">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Cambria Math" panose="02040503050406030204" pitchFamily="18" charset="0"/>
                          </a:rPr>
                          <m:t>Y</m:t>
                        </m:r>
                      </m:sub>
                    </m:sSub>
                  </m:oMath>
                </a14:m>
                <a:r>
                  <a:rPr lang="en-US" altLang="zh-CN" dirty="0">
                    <a:ea typeface="Segoe UI" panose="020B0502040204020203" pitchFamily="34" charset="0"/>
                  </a:rPr>
                  <a:t> = Spot exchange rate of X for Y</a:t>
                </a:r>
              </a:p>
              <a:p>
                <a:pPr marL="374650" lvl="3" indent="0">
                  <a:spcBef>
                    <a:spcPct val="0"/>
                  </a:spcBef>
                  <a:buClr>
                    <a:srgbClr val="2C3E50"/>
                  </a:buClr>
                  <a:buNone/>
                </a:pPr>
                <a:r>
                  <a:rPr lang="en-US" altLang="zh-CN" dirty="0">
                    <a:ea typeface="Segoe UI" panose="020B0502040204020203" pitchFamily="34" charset="0"/>
                  </a:rPr>
                  <a:t>	</a:t>
                </a:r>
                <a14:m>
                  <m:oMath xmlns:m="http://schemas.openxmlformats.org/officeDocument/2006/math">
                    <m:r>
                      <a:rPr lang="en-US" altLang="zh-CN">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ea typeface="Cambria Math" panose="02040503050406030204" pitchFamily="18" charset="0"/>
                          </a:rPr>
                          <m:t>S</m:t>
                        </m:r>
                      </m:e>
                      <m:sub>
                        <m:r>
                          <m:rPr>
                            <m:sty m:val="p"/>
                          </m:rPr>
                          <a:rPr lang="en-US" altLang="zh-CN">
                            <a:latin typeface="Cambria Math" panose="02040503050406030204" pitchFamily="18" charset="0"/>
                            <a:ea typeface="Cambria Math" panose="02040503050406030204" pitchFamily="18" charset="0"/>
                          </a:rPr>
                          <m:t>X</m:t>
                        </m:r>
                        <m:r>
                          <a:rPr lang="en-US" altLang="zh-CN">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ea typeface="Cambria Math" panose="02040503050406030204" pitchFamily="18" charset="0"/>
                          </a:rPr>
                          <m:t>Y</m:t>
                        </m:r>
                      </m:sub>
                    </m:sSub>
                  </m:oMath>
                </a14:m>
                <a:r>
                  <a:rPr lang="en-US" altLang="zh-CN" dirty="0">
                    <a:ea typeface="Segoe UI" panose="020B0502040204020203" pitchFamily="34" charset="0"/>
                  </a:rPr>
                  <a:t>= Change in the one-period spot foreign exchange rate</a:t>
                </a:r>
              </a:p>
              <a:p>
                <a:endParaRPr lang="en-US" altLang="zh-CN" dirty="0">
                  <a:latin typeface="+mn-lt"/>
                  <a:ea typeface="+mn-ea"/>
                  <a:cs typeface="+mn-ea"/>
                  <a:sym typeface="+mn-lt"/>
                </a:endParaRPr>
              </a:p>
            </p:txBody>
          </p:sp>
        </mc:Choice>
        <mc:Fallback>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588" r="-13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26162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Foreign Exchange Risk</a:t>
            </a:r>
          </a:p>
        </p:txBody>
      </p:sp>
      <mc:AlternateContent xmlns:mc="http://schemas.openxmlformats.org/markup-compatibility/2006">
        <mc:Choice xmlns:a14="http://schemas.microsoft.com/office/drawing/2010/main" Requires="a14">
          <p:sp>
            <p:nvSpPr>
              <p:cNvPr id="3" name="文本占位符 2"/>
              <p:cNvSpPr>
                <a:spLocks noGrp="1"/>
              </p:cNvSpPr>
              <p:nvPr>
                <p:ph type="body" sz="quarter" idx="10"/>
              </p:nvPr>
            </p:nvSpPr>
            <p:spPr/>
            <p:txBody>
              <a:bodyPr>
                <a:normAutofit fontScale="85000" lnSpcReduction="10000"/>
              </a:bodyPr>
              <a:lstStyle/>
              <a:p>
                <a:r>
                  <a:rPr kumimoji="1" lang="en-US" altLang="zh-CN" dirty="0">
                    <a:cs typeface="Arial" panose="020B0604020202020204" pitchFamily="34" charset="0"/>
                  </a:rPr>
                  <a:t>Purchasing power parity</a:t>
                </a:r>
              </a:p>
              <a:p>
                <a:pPr lvl="1"/>
                <a:r>
                  <a:rPr lang="en-US" altLang="zh-CN" dirty="0"/>
                  <a:t>Example:</a:t>
                </a:r>
                <a:r>
                  <a:rPr lang="zh-CN" altLang="en-US" dirty="0"/>
                  <a:t> </a:t>
                </a:r>
                <a:r>
                  <a:rPr lang="en-US" altLang="zh-CN" dirty="0"/>
                  <a:t>Suppose that the current spot exchange rate of U.S. dollars for Russian rubles,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S</m:t>
                        </m:r>
                      </m:e>
                      <m:sub>
                        <m:f>
                          <m:fPr>
                            <m:type m:val="lin"/>
                            <m:ctrlPr>
                              <a:rPr lang="en-US" altLang="zh-CN" i="1">
                                <a:latin typeface="Cambria Math" panose="02040503050406030204" pitchFamily="18" charset="0"/>
                              </a:rPr>
                            </m:ctrlPr>
                          </m:fPr>
                          <m:num>
                            <m:r>
                              <m:rPr>
                                <m:sty m:val="p"/>
                              </m:rPr>
                              <a:rPr lang="en-US" altLang="zh-CN">
                                <a:latin typeface="Cambria Math" panose="02040503050406030204" pitchFamily="18" charset="0"/>
                              </a:rPr>
                              <m:t>RUB</m:t>
                            </m:r>
                          </m:num>
                          <m:den>
                            <m:r>
                              <m:rPr>
                                <m:sty m:val="p"/>
                              </m:rPr>
                              <a:rPr lang="en-US" altLang="zh-CN">
                                <a:latin typeface="Cambria Math" panose="02040503050406030204" pitchFamily="18" charset="0"/>
                              </a:rPr>
                              <m:t>USD</m:t>
                            </m:r>
                          </m:den>
                        </m:f>
                      </m:sub>
                    </m:sSub>
                  </m:oMath>
                </a14:m>
                <a:r>
                  <a:rPr lang="en-US" altLang="zh-CN" dirty="0"/>
                  <a:t>, is 0.17 (i.e., 0.17 dollar, or 17 cents, can be received for 1 ruble). The price of Russian-produced good increases by 10 percent (i.e., inflation in Russia, </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i</m:t>
                        </m:r>
                      </m:e>
                      <m:sub>
                        <m:r>
                          <m:rPr>
                            <m:sty m:val="p"/>
                          </m:rPr>
                          <a:rPr lang="en-US" altLang="zh-CN">
                            <a:latin typeface="Cambria Math" panose="02040503050406030204" pitchFamily="18" charset="0"/>
                          </a:rPr>
                          <m:t>R</m:t>
                        </m:r>
                      </m:sub>
                    </m:sSub>
                  </m:oMath>
                </a14:m>
                <a:r>
                  <a:rPr lang="en-US" altLang="zh-CN" dirty="0"/>
                  <a:t>, is 10 percent), and the U.S. price index increases by 4 percent (i.e., inflation in the United States,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𝑈𝑆</m:t>
                        </m:r>
                      </m:sub>
                    </m:sSub>
                  </m:oMath>
                </a14:m>
                <a:r>
                  <a:rPr lang="en-US" altLang="zh-CN" dirty="0"/>
                  <a:t>, is 4 percent). According to PPP, the 10 percent rise in the price of Russian goods relative to the 4 percent rise in the price of U.S. goods results in a depreciation of the Russian ruble (by 6 percent). Specifically, the exchange rate of Russian rubles to U.S. dollars should fall, so that:</a:t>
                </a:r>
              </a:p>
              <a:p>
                <a:pPr marL="0" lvl="1" indent="0" algn="ctr">
                  <a:buNone/>
                </a:pP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i</m:t>
                        </m:r>
                      </m:e>
                      <m:sub>
                        <m:r>
                          <m:rPr>
                            <m:sty m:val="p"/>
                          </m:rPr>
                          <a:rPr lang="en-US" altLang="zh-CN">
                            <a:latin typeface="Cambria Math" panose="02040503050406030204" pitchFamily="18" charset="0"/>
                          </a:rPr>
                          <m:t>US</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i</m:t>
                        </m:r>
                      </m:e>
                      <m:sub>
                        <m:r>
                          <m:rPr>
                            <m:sty m:val="p"/>
                          </m:rPr>
                          <a:rPr lang="en-US" altLang="zh-CN">
                            <a:latin typeface="Cambria Math" panose="02040503050406030204" pitchFamily="18" charset="0"/>
                          </a:rPr>
                          <m:t>R</m:t>
                        </m:r>
                      </m:sub>
                    </m:sSub>
                    <m:r>
                      <a:rPr lang="en-US" altLang="zh-CN">
                        <a:latin typeface="Cambria Math" panose="02040503050406030204" pitchFamily="18" charset="0"/>
                      </a:rPr>
                      <m:t>=</m:t>
                    </m:r>
                    <m:r>
                      <m:rPr>
                        <m:sty m:val="p"/>
                      </m:rPr>
                      <a:rPr lang="en-US" altLang="zh-CN">
                        <a:latin typeface="Cambria Math" panose="02040503050406030204" pitchFamily="18" charset="0"/>
                      </a:rPr>
                      <m:t>Δ</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S</m:t>
                        </m:r>
                      </m:e>
                      <m:sub>
                        <m:f>
                          <m:fPr>
                            <m:type m:val="lin"/>
                            <m:ctrlPr>
                              <a:rPr lang="en-US" altLang="zh-CN" i="1">
                                <a:latin typeface="Cambria Math" panose="02040503050406030204" pitchFamily="18" charset="0"/>
                              </a:rPr>
                            </m:ctrlPr>
                          </m:fPr>
                          <m:num>
                            <m:r>
                              <m:rPr>
                                <m:sty m:val="p"/>
                              </m:rPr>
                              <a:rPr lang="en-US" altLang="zh-CN">
                                <a:latin typeface="Cambria Math" panose="02040503050406030204" pitchFamily="18" charset="0"/>
                              </a:rPr>
                              <m:t>RUB</m:t>
                            </m:r>
                          </m:num>
                          <m:den>
                            <m:r>
                              <m:rPr>
                                <m:sty m:val="p"/>
                              </m:rPr>
                              <a:rPr lang="en-US" altLang="zh-CN">
                                <a:latin typeface="Cambria Math" panose="02040503050406030204" pitchFamily="18" charset="0"/>
                              </a:rPr>
                              <m:t>USD</m:t>
                            </m:r>
                          </m:den>
                        </m:f>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S</m:t>
                        </m:r>
                      </m:e>
                      <m:sub>
                        <m:f>
                          <m:fPr>
                            <m:type m:val="lin"/>
                            <m:ctrlPr>
                              <a:rPr lang="en-US" altLang="zh-CN" i="1">
                                <a:latin typeface="Cambria Math" panose="02040503050406030204" pitchFamily="18" charset="0"/>
                              </a:rPr>
                            </m:ctrlPr>
                          </m:fPr>
                          <m:num>
                            <m:r>
                              <m:rPr>
                                <m:sty m:val="p"/>
                              </m:rPr>
                              <a:rPr lang="en-US" altLang="zh-CN">
                                <a:latin typeface="Cambria Math" panose="02040503050406030204" pitchFamily="18" charset="0"/>
                              </a:rPr>
                              <m:t>RUB</m:t>
                            </m:r>
                          </m:num>
                          <m:den>
                            <m:r>
                              <m:rPr>
                                <m:sty m:val="p"/>
                              </m:rPr>
                              <a:rPr lang="en-US" altLang="zh-CN">
                                <a:latin typeface="Cambria Math" panose="02040503050406030204" pitchFamily="18" charset="0"/>
                              </a:rPr>
                              <m:t>USD</m:t>
                            </m:r>
                          </m:den>
                        </m:f>
                      </m:sub>
                    </m:sSub>
                  </m:oMath>
                </a14:m>
                <a:r>
                  <a:rPr lang="en-US" altLang="zh-CN" dirty="0"/>
                  <a:t>     </a:t>
                </a:r>
                <a14:m>
                  <m:oMath xmlns:m="http://schemas.openxmlformats.org/officeDocument/2006/math">
                    <m:r>
                      <a:rPr lang="en-US" altLang="zh-CN">
                        <a:latin typeface="Cambria Math" panose="02040503050406030204" pitchFamily="18" charset="0"/>
                      </a:rPr>
                      <m:t>  0.04−0.1=</m:t>
                    </m:r>
                    <m:r>
                      <m:rPr>
                        <m:sty m:val="p"/>
                      </m:rPr>
                      <a:rPr lang="en-US" altLang="zh-CN">
                        <a:latin typeface="Cambria Math" panose="02040503050406030204" pitchFamily="18" charset="0"/>
                      </a:rPr>
                      <m:t>Δ</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S</m:t>
                        </m:r>
                      </m:e>
                      <m:sub>
                        <m:f>
                          <m:fPr>
                            <m:type m:val="lin"/>
                            <m:ctrlPr>
                              <a:rPr lang="en-US" altLang="zh-CN" i="1">
                                <a:latin typeface="Cambria Math" panose="02040503050406030204" pitchFamily="18" charset="0"/>
                              </a:rPr>
                            </m:ctrlPr>
                          </m:fPr>
                          <m:num>
                            <m:r>
                              <m:rPr>
                                <m:sty m:val="p"/>
                              </m:rPr>
                              <a:rPr lang="en-US" altLang="zh-CN">
                                <a:latin typeface="Cambria Math" panose="02040503050406030204" pitchFamily="18" charset="0"/>
                              </a:rPr>
                              <m:t>RUB</m:t>
                            </m:r>
                          </m:num>
                          <m:den>
                            <m:r>
                              <m:rPr>
                                <m:sty m:val="p"/>
                              </m:rPr>
                              <a:rPr lang="en-US" altLang="zh-CN">
                                <a:latin typeface="Cambria Math" panose="02040503050406030204" pitchFamily="18" charset="0"/>
                              </a:rPr>
                              <m:t>USD</m:t>
                            </m:r>
                          </m:den>
                        </m:f>
                      </m:sub>
                    </m:sSub>
                    <m:r>
                      <a:rPr lang="en-US" altLang="zh-CN">
                        <a:latin typeface="Cambria Math" panose="02040503050406030204" pitchFamily="18" charset="0"/>
                      </a:rPr>
                      <m:t>/0.17</m:t>
                    </m:r>
                  </m:oMath>
                </a14:m>
                <a:endParaRPr lang="en-US" altLang="zh-CN" dirty="0"/>
              </a:p>
              <a:p>
                <a:pPr marL="0" lvl="1" indent="0">
                  <a:buNone/>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Δ</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S</m:t>
                          </m:r>
                        </m:e>
                        <m:sub>
                          <m:f>
                            <m:fPr>
                              <m:type m:val="lin"/>
                              <m:ctrlPr>
                                <a:rPr lang="en-US" altLang="zh-CN" i="1">
                                  <a:latin typeface="Cambria Math" panose="02040503050406030204" pitchFamily="18" charset="0"/>
                                </a:rPr>
                              </m:ctrlPr>
                            </m:fPr>
                            <m:num>
                              <m:r>
                                <m:rPr>
                                  <m:sty m:val="p"/>
                                </m:rPr>
                                <a:rPr lang="en-US" altLang="zh-CN">
                                  <a:latin typeface="Cambria Math" panose="02040503050406030204" pitchFamily="18" charset="0"/>
                                </a:rPr>
                                <m:t>RUB</m:t>
                              </m:r>
                            </m:num>
                            <m:den>
                              <m:r>
                                <m:rPr>
                                  <m:sty m:val="p"/>
                                </m:rPr>
                                <a:rPr lang="en-US" altLang="zh-CN">
                                  <a:latin typeface="Cambria Math" panose="02040503050406030204" pitchFamily="18" charset="0"/>
                                </a:rPr>
                                <m:t>USD</m:t>
                              </m:r>
                            </m:den>
                          </m:f>
                        </m:sub>
                      </m:sSub>
                      <m:r>
                        <a:rPr lang="en-US" altLang="zh-CN" i="1">
                          <a:latin typeface="Cambria Math" panose="02040503050406030204" pitchFamily="18" charset="0"/>
                        </a:rPr>
                        <m:t>=−0.0102</m:t>
                      </m:r>
                    </m:oMath>
                  </m:oMathPara>
                </a14:m>
                <a:endParaRPr lang="en-US" altLang="zh-CN" dirty="0"/>
              </a:p>
              <a:p>
                <a:pPr marL="725488" lvl="1" indent="0">
                  <a:buNone/>
                </a:pPr>
                <a:r>
                  <a:rPr lang="en-US" altLang="zh-CN" dirty="0"/>
                  <a:t>Thus, 0.1598 of $1 can be received for 1 ruble.</a:t>
                </a:r>
              </a:p>
              <a:p>
                <a:endParaRPr lang="en-US" altLang="zh-CN" dirty="0">
                  <a:latin typeface="+mn-lt"/>
                  <a:ea typeface="+mn-ea"/>
                  <a:cs typeface="+mn-ea"/>
                  <a:sym typeface="+mn-lt"/>
                </a:endParaRPr>
              </a:p>
            </p:txBody>
          </p:sp>
        </mc:Choice>
        <mc:Fallback>
          <p:sp>
            <p:nvSpPr>
              <p:cNvPr id="3" name="文本占位符 2"/>
              <p:cNvSpPr>
                <a:spLocks noGrp="1" noRot="1" noChangeAspect="1" noMove="1" noResize="1" noEditPoints="1" noAdjustHandles="1" noChangeArrowheads="1" noChangeShapeType="1" noTextEdit="1"/>
              </p:cNvSpPr>
              <p:nvPr>
                <p:ph type="body" sz="quarter" idx="10"/>
              </p:nvPr>
            </p:nvSpPr>
            <p:spPr>
              <a:blipFill>
                <a:blip r:embed="rId2"/>
                <a:stretch>
                  <a:fillRect l="-481" r="-11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54964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1</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Your colleague reports a 95.0% one-day value-at-risk (</a:t>
            </a:r>
            <a:r>
              <a:rPr lang="en-US" altLang="zh-CN" dirty="0" err="1"/>
              <a:t>VaR</a:t>
            </a:r>
            <a:r>
              <a:rPr lang="en-US" altLang="zh-CN" dirty="0"/>
              <a:t>) of $1.4 million for a equities portfolio. If we assume 250 trading days in a year, each of the following is a valid conclusion except which of the following is false (cannot be concluded from the statement)?</a:t>
            </a:r>
          </a:p>
          <a:p>
            <a:pPr lvl="1">
              <a:spcBef>
                <a:spcPct val="0"/>
              </a:spcBef>
              <a:buFont typeface="Calibri" panose="020F0502020204030204" pitchFamily="34" charset="0"/>
              <a:buAutoNum type="alphaUcPeriod"/>
            </a:pPr>
            <a:r>
              <a:rPr lang="en-US" altLang="zh-CN" dirty="0"/>
              <a:t>If the </a:t>
            </a:r>
            <a:r>
              <a:rPr lang="en-US" altLang="zh-CN" dirty="0" err="1"/>
              <a:t>VaR</a:t>
            </a:r>
            <a:r>
              <a:rPr lang="en-US" altLang="zh-CN" dirty="0"/>
              <a:t> is accurate, we expect a daily loss in excess of $1.4 million to occur on about 12 or 13 days (12.5) during year</a:t>
            </a:r>
          </a:p>
          <a:p>
            <a:pPr lvl="1">
              <a:spcBef>
                <a:spcPct val="0"/>
              </a:spcBef>
              <a:buFont typeface="Calibri" panose="020F0502020204030204" pitchFamily="34" charset="0"/>
              <a:buAutoNum type="alphaUcPeriod"/>
            </a:pPr>
            <a:r>
              <a:rPr lang="en-US" altLang="zh-CN" dirty="0"/>
              <a:t>If the return distribution is normal, then we can assume the </a:t>
            </a:r>
            <a:r>
              <a:rPr lang="en-US" altLang="zh-CN" dirty="0" err="1"/>
              <a:t>VaR</a:t>
            </a:r>
            <a:r>
              <a:rPr lang="en-US" altLang="zh-CN" dirty="0"/>
              <a:t> is sub-additive</a:t>
            </a:r>
          </a:p>
          <a:p>
            <a:pPr lvl="1">
              <a:spcBef>
                <a:spcPct val="0"/>
              </a:spcBef>
              <a:buFont typeface="Calibri" panose="020F0502020204030204" pitchFamily="34" charset="0"/>
              <a:buAutoNum type="alphaUcPeriod"/>
            </a:pPr>
            <a:r>
              <a:rPr lang="en-US" altLang="zh-CN" dirty="0"/>
              <a:t>This is a parametric </a:t>
            </a:r>
            <a:r>
              <a:rPr lang="en-US" altLang="zh-CN" dirty="0" err="1"/>
              <a:t>VaR</a:t>
            </a:r>
            <a:r>
              <a:rPr lang="en-US" altLang="zh-CN" dirty="0"/>
              <a:t> and therefore cannot characterize a heavy-tailed distribution</a:t>
            </a:r>
          </a:p>
          <a:p>
            <a:pPr lvl="1">
              <a:spcBef>
                <a:spcPct val="0"/>
              </a:spcBef>
              <a:buFont typeface="Calibri" panose="020F0502020204030204" pitchFamily="34" charset="0"/>
              <a:buAutoNum type="alphaUcPeriod"/>
            </a:pPr>
            <a:r>
              <a:rPr lang="en-US" altLang="zh-CN" dirty="0"/>
              <a:t>If the returns are </a:t>
            </a:r>
            <a:r>
              <a:rPr lang="en-US" altLang="zh-CN" dirty="0" err="1"/>
              <a:t>i.i.d</a:t>
            </a:r>
            <a:r>
              <a:rPr lang="en-US" altLang="zh-CN" dirty="0"/>
              <a:t>. normal, we can scale to a 10-day </a:t>
            </a:r>
            <a:r>
              <a:rPr lang="en-US" altLang="zh-CN" dirty="0" err="1"/>
              <a:t>VaR</a:t>
            </a:r>
            <a:r>
              <a:rPr lang="en-US" altLang="zh-CN" dirty="0"/>
              <a:t> with $1.4*SQRT(10) = $4.3 million 95% 10-day </a:t>
            </a:r>
            <a:r>
              <a:rPr lang="en-US" altLang="zh-CN" dirty="0" err="1"/>
              <a:t>VaR</a:t>
            </a:r>
            <a:endParaRPr lang="en-US" altLang="zh-CN" dirty="0"/>
          </a:p>
          <a:p>
            <a:pPr>
              <a:spcBef>
                <a:spcPct val="0"/>
              </a:spcBef>
            </a:pPr>
            <a:endParaRPr lang="en-US" altLang="zh-CN" dirty="0"/>
          </a:p>
          <a:p>
            <a:pPr>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42707820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2</a:t>
            </a:r>
          </a:p>
        </p:txBody>
      </p:sp>
      <p:sp>
        <p:nvSpPr>
          <p:cNvPr id="3" name="文本占位符 2"/>
          <p:cNvSpPr>
            <a:spLocks noGrp="1"/>
          </p:cNvSpPr>
          <p:nvPr>
            <p:ph type="body" sz="quarter" idx="10"/>
          </p:nvPr>
        </p:nvSpPr>
        <p:spPr/>
        <p:txBody>
          <a:bodyPr>
            <a:normAutofit/>
          </a:bodyPr>
          <a:lstStyle/>
          <a:p>
            <a:pPr>
              <a:lnSpc>
                <a:spcPct val="140000"/>
              </a:lnSpc>
              <a:spcBef>
                <a:spcPct val="0"/>
              </a:spcBef>
            </a:pPr>
            <a:r>
              <a:rPr lang="en-US" altLang="zh-CN" dirty="0"/>
              <a:t>A bond with a face value of $10.0 million has a one-year probability of default (PD) of 1.0% and an expected recovery rate of 35.0%. What is the bond's one-year 99.0% expected shortfall (ES; aka, </a:t>
            </a:r>
            <a:r>
              <a:rPr lang="en-US" altLang="zh-CN" dirty="0" err="1"/>
              <a:t>CVaR</a:t>
            </a:r>
            <a:r>
              <a:rPr lang="en-US" altLang="zh-CN" dirty="0"/>
              <a:t>)?</a:t>
            </a:r>
          </a:p>
          <a:p>
            <a:pPr lvl="1">
              <a:lnSpc>
                <a:spcPct val="140000"/>
              </a:lnSpc>
              <a:spcBef>
                <a:spcPct val="0"/>
              </a:spcBef>
              <a:buFont typeface="Calibri" panose="020F0502020204030204" pitchFamily="34" charset="0"/>
              <a:buAutoNum type="alphaUcPeriod"/>
            </a:pPr>
            <a:r>
              <a:rPr lang="en-US" altLang="zh-CN" dirty="0"/>
              <a:t>$3.25 million</a:t>
            </a:r>
          </a:p>
          <a:p>
            <a:pPr lvl="1">
              <a:lnSpc>
                <a:spcPct val="140000"/>
              </a:lnSpc>
              <a:spcBef>
                <a:spcPct val="0"/>
              </a:spcBef>
              <a:buFont typeface="Calibri" panose="020F0502020204030204" pitchFamily="34" charset="0"/>
              <a:buAutoNum type="alphaUcPeriod"/>
            </a:pPr>
            <a:r>
              <a:rPr lang="en-US" altLang="zh-CN" dirty="0"/>
              <a:t>$6.5 million</a:t>
            </a:r>
          </a:p>
          <a:p>
            <a:pPr lvl="1">
              <a:lnSpc>
                <a:spcPct val="140000"/>
              </a:lnSpc>
              <a:spcBef>
                <a:spcPct val="0"/>
              </a:spcBef>
              <a:buFont typeface="Calibri" panose="020F0502020204030204" pitchFamily="34" charset="0"/>
              <a:buAutoNum type="alphaUcPeriod"/>
            </a:pPr>
            <a:r>
              <a:rPr lang="en-US" altLang="zh-CN" dirty="0"/>
              <a:t>$9.1 million</a:t>
            </a:r>
          </a:p>
          <a:p>
            <a:pPr lvl="1">
              <a:lnSpc>
                <a:spcPct val="140000"/>
              </a:lnSpc>
              <a:spcBef>
                <a:spcPct val="0"/>
              </a:spcBef>
              <a:buFont typeface="Calibri" panose="020F0502020204030204" pitchFamily="34" charset="0"/>
              <a:buAutoNum type="alphaUcPeriod"/>
            </a:pPr>
            <a:r>
              <a:rPr lang="en-US" altLang="zh-CN" dirty="0"/>
              <a:t>Not enough information: need the tail distribution</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5363431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3</a:t>
            </a:r>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An investor has a short position in put option (i.e., has written a put) on an underlying asset with value of $100,000. The delta of the put option is -0.40. The 95.0% value at risk (</a:t>
            </a:r>
            <a:r>
              <a:rPr lang="en-US" altLang="zh-CN" dirty="0" err="1"/>
              <a:t>VaR</a:t>
            </a:r>
            <a:r>
              <a:rPr lang="en-US" altLang="zh-CN" dirty="0"/>
              <a:t>) of the underlying asset is 12.0%. Which of the following statements is correct when second-order terms (quadratic </a:t>
            </a:r>
            <a:r>
              <a:rPr lang="en-US" altLang="zh-CN" dirty="0" err="1"/>
              <a:t>VaR</a:t>
            </a:r>
            <a:r>
              <a:rPr lang="en-US" altLang="zh-CN" dirty="0"/>
              <a:t>) are considered? </a:t>
            </a:r>
          </a:p>
          <a:p>
            <a:pPr lvl="1">
              <a:lnSpc>
                <a:spcPct val="140000"/>
              </a:lnSpc>
              <a:spcBef>
                <a:spcPct val="0"/>
              </a:spcBef>
              <a:buFont typeface="Calibri" panose="020F0502020204030204" pitchFamily="34" charset="0"/>
              <a:buAutoNum type="alphaUcPeriod"/>
            </a:pPr>
            <a:r>
              <a:rPr lang="en-US" altLang="zh-CN" dirty="0" err="1"/>
              <a:t>VaR</a:t>
            </a:r>
            <a:r>
              <a:rPr lang="en-US" altLang="zh-CN" dirty="0"/>
              <a:t> of the short option position is slightly less than $4,800</a:t>
            </a:r>
          </a:p>
          <a:p>
            <a:pPr lvl="1">
              <a:lnSpc>
                <a:spcPct val="140000"/>
              </a:lnSpc>
              <a:spcBef>
                <a:spcPct val="0"/>
              </a:spcBef>
              <a:buFont typeface="Calibri" panose="020F0502020204030204" pitchFamily="34" charset="0"/>
              <a:buAutoNum type="alphaUcPeriod"/>
            </a:pPr>
            <a:r>
              <a:rPr lang="en-US" altLang="zh-CN" dirty="0" err="1"/>
              <a:t>VaR</a:t>
            </a:r>
            <a:r>
              <a:rPr lang="en-US" altLang="zh-CN" dirty="0"/>
              <a:t> of the short option position is slightly more than $4,800</a:t>
            </a:r>
          </a:p>
          <a:p>
            <a:pPr lvl="1">
              <a:lnSpc>
                <a:spcPct val="140000"/>
              </a:lnSpc>
              <a:spcBef>
                <a:spcPct val="0"/>
              </a:spcBef>
              <a:buFont typeface="Calibri" panose="020F0502020204030204" pitchFamily="34" charset="0"/>
              <a:buAutoNum type="alphaUcPeriod"/>
            </a:pPr>
            <a:r>
              <a:rPr lang="en-US" altLang="zh-CN" dirty="0" err="1"/>
              <a:t>VaR</a:t>
            </a:r>
            <a:r>
              <a:rPr lang="en-US" altLang="zh-CN" dirty="0"/>
              <a:t> of the short option position is slightly less than $12,000</a:t>
            </a:r>
          </a:p>
          <a:p>
            <a:pPr lvl="1">
              <a:lnSpc>
                <a:spcPct val="140000"/>
              </a:lnSpc>
              <a:spcBef>
                <a:spcPct val="0"/>
              </a:spcBef>
              <a:buFont typeface="Calibri" panose="020F0502020204030204" pitchFamily="34" charset="0"/>
              <a:buAutoNum type="alphaUcPeriod"/>
            </a:pPr>
            <a:r>
              <a:rPr lang="en-US" altLang="zh-CN" dirty="0" err="1"/>
              <a:t>VaR</a:t>
            </a:r>
            <a:r>
              <a:rPr lang="en-US" altLang="zh-CN" dirty="0"/>
              <a:t> of the short option position is slightly more than $12,000</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6002669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4</a:t>
            </a:r>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A stock with a current price of $200.00 has an annual volatility of 30.0%. An at-the-money (ATM) call option has a delta, N(d</a:t>
            </a:r>
            <a:r>
              <a:rPr lang="en-US" altLang="zh-CN" baseline="-25000" dirty="0"/>
              <a:t>1</a:t>
            </a:r>
            <a:r>
              <a:rPr lang="en-US" altLang="zh-CN" dirty="0"/>
              <a:t>), of 0.6180 and gamma of 0.00950. If we assume 250 trading days, what is the one-day 95.0% confident delta-gamma value at risk (</a:t>
            </a:r>
            <a:r>
              <a:rPr lang="en-US" altLang="zh-CN" dirty="0" err="1"/>
              <a:t>VaR</a:t>
            </a:r>
            <a:r>
              <a:rPr lang="en-US" altLang="zh-CN" dirty="0"/>
              <a:t>) of a long position in the call option?</a:t>
            </a:r>
          </a:p>
          <a:p>
            <a:pPr lvl="1">
              <a:lnSpc>
                <a:spcPct val="140000"/>
              </a:lnSpc>
              <a:spcBef>
                <a:spcPct val="0"/>
              </a:spcBef>
              <a:buFont typeface="Calibri" panose="020F0502020204030204" pitchFamily="34" charset="0"/>
              <a:buAutoNum type="alphaUcPeriod"/>
            </a:pPr>
            <a:r>
              <a:rPr lang="en-US" altLang="zh-CN" dirty="0"/>
              <a:t>$1.99</a:t>
            </a:r>
          </a:p>
          <a:p>
            <a:pPr lvl="1">
              <a:lnSpc>
                <a:spcPct val="140000"/>
              </a:lnSpc>
              <a:spcBef>
                <a:spcPct val="0"/>
              </a:spcBef>
              <a:buFont typeface="Calibri" panose="020F0502020204030204" pitchFamily="34" charset="0"/>
              <a:buAutoNum type="alphaUcPeriod"/>
            </a:pPr>
            <a:r>
              <a:rPr lang="en-US" altLang="zh-CN" dirty="0"/>
              <a:t>$3.67</a:t>
            </a:r>
          </a:p>
          <a:p>
            <a:pPr lvl="1">
              <a:lnSpc>
                <a:spcPct val="140000"/>
              </a:lnSpc>
              <a:spcBef>
                <a:spcPct val="0"/>
              </a:spcBef>
              <a:buFont typeface="Calibri" panose="020F0502020204030204" pitchFamily="34" charset="0"/>
              <a:buAutoNum type="alphaUcPeriod"/>
            </a:pPr>
            <a:r>
              <a:rPr lang="en-US" altLang="zh-CN" dirty="0"/>
              <a:t>$3.85</a:t>
            </a:r>
          </a:p>
          <a:p>
            <a:pPr lvl="1">
              <a:lnSpc>
                <a:spcPct val="140000"/>
              </a:lnSpc>
              <a:spcBef>
                <a:spcPct val="0"/>
              </a:spcBef>
              <a:buFont typeface="Calibri" panose="020F0502020204030204" pitchFamily="34" charset="0"/>
              <a:buAutoNum type="alphaUcPeriod"/>
            </a:pPr>
            <a:r>
              <a:rPr lang="en-US" altLang="zh-CN" dirty="0"/>
              <a:t>$14.72</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3295397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5</a:t>
            </a:r>
          </a:p>
        </p:txBody>
      </p:sp>
      <p:sp>
        <p:nvSpPr>
          <p:cNvPr id="3" name="文本占位符 2"/>
          <p:cNvSpPr>
            <a:spLocks noGrp="1"/>
          </p:cNvSpPr>
          <p:nvPr>
            <p:ph type="body" sz="quarter" idx="10"/>
          </p:nvPr>
        </p:nvSpPr>
        <p:spPr/>
        <p:txBody>
          <a:bodyPr>
            <a:normAutofit lnSpcReduction="10000"/>
          </a:bodyPr>
          <a:lstStyle/>
          <a:p>
            <a:pPr>
              <a:lnSpc>
                <a:spcPct val="140000"/>
              </a:lnSpc>
              <a:spcBef>
                <a:spcPct val="0"/>
              </a:spcBef>
            </a:pPr>
            <a:r>
              <a:rPr lang="en-US" altLang="zh-CN" dirty="0"/>
              <a:t>Which of the following best summarizes the key difference(s) between these two approaches to </a:t>
            </a:r>
            <a:r>
              <a:rPr lang="en-US" altLang="zh-CN" dirty="0" err="1"/>
              <a:t>VaR</a:t>
            </a:r>
            <a:r>
              <a:rPr lang="en-US" altLang="zh-CN" dirty="0"/>
              <a:t> estimation: exponentially weighted moving average (EWMA; aka, </a:t>
            </a:r>
            <a:r>
              <a:rPr lang="en-US" altLang="zh-CN" dirty="0" err="1"/>
              <a:t>RiskMetrics</a:t>
            </a:r>
            <a:r>
              <a:rPr lang="en-US" altLang="zh-CN" dirty="0"/>
              <a:t>) versus the hybrid approach?</a:t>
            </a:r>
          </a:p>
          <a:p>
            <a:pPr lvl="1">
              <a:lnSpc>
                <a:spcPct val="140000"/>
              </a:lnSpc>
              <a:spcBef>
                <a:spcPct val="0"/>
              </a:spcBef>
              <a:buFont typeface="Calibri" panose="020F0502020204030204" pitchFamily="34" charset="0"/>
              <a:buAutoNum type="alphaUcPeriod"/>
            </a:pPr>
            <a:r>
              <a:rPr lang="en-US" altLang="zh-CN" dirty="0"/>
              <a:t>Hybrid approach does not utilize exponentially declining weights</a:t>
            </a:r>
          </a:p>
          <a:p>
            <a:pPr lvl="1">
              <a:lnSpc>
                <a:spcPct val="140000"/>
              </a:lnSpc>
              <a:spcBef>
                <a:spcPct val="0"/>
              </a:spcBef>
              <a:buFont typeface="Calibri" panose="020F0502020204030204" pitchFamily="34" charset="0"/>
              <a:buAutoNum type="alphaUcPeriod"/>
            </a:pPr>
            <a:r>
              <a:rPr lang="en-US" altLang="zh-CN" dirty="0"/>
              <a:t>Hybrid is parametric and EWMA is non-parametric</a:t>
            </a:r>
          </a:p>
          <a:p>
            <a:pPr lvl="1">
              <a:lnSpc>
                <a:spcPct val="140000"/>
              </a:lnSpc>
              <a:spcBef>
                <a:spcPct val="0"/>
              </a:spcBef>
              <a:buFont typeface="Calibri" panose="020F0502020204030204" pitchFamily="34" charset="0"/>
              <a:buAutoNum type="alphaUcPeriod"/>
            </a:pPr>
            <a:r>
              <a:rPr lang="en-US" altLang="zh-CN" dirty="0"/>
              <a:t>Hybrid estimates the </a:t>
            </a:r>
            <a:r>
              <a:rPr lang="en-US" altLang="zh-CN" dirty="0" err="1"/>
              <a:t>VaR</a:t>
            </a:r>
            <a:r>
              <a:rPr lang="en-US" altLang="zh-CN" dirty="0"/>
              <a:t> as a quantile (percentile) of ordered (but weighted) historical returns, but EWMA does not sort returns</a:t>
            </a:r>
          </a:p>
          <a:p>
            <a:pPr lvl="1">
              <a:lnSpc>
                <a:spcPct val="140000"/>
              </a:lnSpc>
              <a:spcBef>
                <a:spcPct val="0"/>
              </a:spcBef>
              <a:buFont typeface="Calibri" panose="020F0502020204030204" pitchFamily="34" charset="0"/>
              <a:buAutoNum type="alphaUcPeriod"/>
            </a:pPr>
            <a:r>
              <a:rPr lang="en-US" altLang="zh-CN" dirty="0"/>
              <a:t>There is no difference: EWMA is the hybrid approach</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C</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7157066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6</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 A risk manager is considering switching from using historical volatility to using implied volatility in </a:t>
            </a:r>
            <a:r>
              <a:rPr lang="en-US" altLang="zh-CN" dirty="0" err="1"/>
              <a:t>VaR</a:t>
            </a:r>
            <a:r>
              <a:rPr lang="en-US" altLang="zh-CN" dirty="0"/>
              <a:t> calculations. Which of the following statements about implied volatility are correct?</a:t>
            </a:r>
          </a:p>
          <a:p>
            <a:pPr lvl="1">
              <a:lnSpc>
                <a:spcPct val="140000"/>
              </a:lnSpc>
              <a:spcBef>
                <a:spcPct val="0"/>
              </a:spcBef>
              <a:buFont typeface="Calibri" panose="020F0502020204030204" pitchFamily="34" charset="0"/>
              <a:buAutoNum type="alphaUcPeriod"/>
            </a:pPr>
            <a:r>
              <a:rPr lang="en-US" altLang="zh-CN" dirty="0"/>
              <a:t>Implied volatility estimates are model dependent and a mis-specified model can result in erroneous forecasts.</a:t>
            </a:r>
          </a:p>
          <a:p>
            <a:pPr lvl="1">
              <a:lnSpc>
                <a:spcPct val="140000"/>
              </a:lnSpc>
              <a:spcBef>
                <a:spcPct val="0"/>
              </a:spcBef>
              <a:buFont typeface="Calibri" panose="020F0502020204030204" pitchFamily="34" charset="0"/>
              <a:buAutoNum type="alphaUcPeriod"/>
            </a:pPr>
            <a:r>
              <a:rPr lang="en-US" altLang="zh-CN" dirty="0"/>
              <a:t>Implied volatility estimates require that historical returns are indicative of future returns.</a:t>
            </a:r>
          </a:p>
          <a:p>
            <a:pPr lvl="1">
              <a:lnSpc>
                <a:spcPct val="140000"/>
              </a:lnSpc>
              <a:spcBef>
                <a:spcPct val="0"/>
              </a:spcBef>
              <a:buFont typeface="Calibri" panose="020F0502020204030204" pitchFamily="34" charset="0"/>
              <a:buAutoNum type="alphaUcPeriod"/>
            </a:pPr>
            <a:r>
              <a:rPr lang="en-US" altLang="zh-CN" dirty="0"/>
              <a:t>Implied volatility estimates tend to underestimate future volatility as a result of mean reversion</a:t>
            </a:r>
          </a:p>
          <a:p>
            <a:pPr lvl="1">
              <a:lnSpc>
                <a:spcPct val="140000"/>
              </a:lnSpc>
              <a:spcBef>
                <a:spcPct val="0"/>
              </a:spcBef>
              <a:buFont typeface="Calibri" panose="020F0502020204030204" pitchFamily="34" charset="0"/>
              <a:buAutoNum type="alphaUcPeriod"/>
            </a:pPr>
            <a:r>
              <a:rPr lang="en-US" altLang="zh-CN" dirty="0"/>
              <a:t>Implied volatility estimates are generally accurate even if there is only one trade in the option used to calculate an estimate.</a:t>
            </a:r>
          </a:p>
          <a:p>
            <a:pPr>
              <a:lnSpc>
                <a:spcPct val="140000"/>
              </a:lnSpc>
              <a:spcBef>
                <a:spcPct val="0"/>
              </a:spcBef>
            </a:pPr>
            <a:r>
              <a:rPr lang="en-US" altLang="zh-CN" dirty="0"/>
              <a:t>Answer: A</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3498432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Expected and Unexpected Loss</a:t>
            </a:r>
          </a:p>
        </p:txBody>
      </p:sp>
      <p:sp>
        <p:nvSpPr>
          <p:cNvPr id="3" name="文本占位符 2"/>
          <p:cNvSpPr>
            <a:spLocks noGrp="1"/>
          </p:cNvSpPr>
          <p:nvPr>
            <p:ph type="body" sz="quarter" idx="10"/>
          </p:nvPr>
        </p:nvSpPr>
        <p:spPr/>
        <p:txBody>
          <a:bodyPr>
            <a:normAutofit fontScale="85000" lnSpcReduction="10000"/>
          </a:bodyPr>
          <a:lstStyle/>
          <a:p>
            <a:pPr>
              <a:spcBef>
                <a:spcPct val="0"/>
              </a:spcBef>
              <a:defRPr/>
            </a:pPr>
            <a:r>
              <a:rPr lang="en-US" altLang="zh-CN" dirty="0"/>
              <a:t>Credit Risk</a:t>
            </a:r>
          </a:p>
          <a:p>
            <a:pPr lvl="1">
              <a:spcBef>
                <a:spcPct val="0"/>
              </a:spcBef>
              <a:defRPr/>
            </a:pPr>
            <a:r>
              <a:rPr lang="en-US" altLang="zh-CN" dirty="0"/>
              <a:t>Credit risk is the risk that arises from any nonpayment or rescheduling of any promised payments (i.e., default-related events) or from (unexpected) credit migrations (i.e., events that are related to changes in the credit quality of a borrower) of a loan and that gives rise to an economic loss to the bank.</a:t>
            </a:r>
          </a:p>
          <a:p>
            <a:pPr>
              <a:spcBef>
                <a:spcPct val="0"/>
              </a:spcBef>
              <a:defRPr/>
            </a:pPr>
            <a:r>
              <a:rPr lang="en-US" altLang="zh-CN" dirty="0"/>
              <a:t>Three Drivers</a:t>
            </a:r>
          </a:p>
          <a:p>
            <a:pPr lvl="1">
              <a:spcBef>
                <a:spcPct val="0"/>
              </a:spcBef>
              <a:defRPr/>
            </a:pPr>
            <a:r>
              <a:rPr lang="en-US" altLang="zh-CN" b="1" dirty="0"/>
              <a:t>Probability of Default</a:t>
            </a:r>
            <a:r>
              <a:rPr lang="en-US" altLang="zh-CN" dirty="0"/>
              <a:t>: Probability that a borrower will default before the end of a predetermined period of time or at any time before the maturity of the loan.</a:t>
            </a:r>
          </a:p>
          <a:p>
            <a:pPr lvl="1">
              <a:spcBef>
                <a:spcPct val="0"/>
              </a:spcBef>
              <a:defRPr/>
            </a:pPr>
            <a:r>
              <a:rPr lang="en-US" altLang="zh-CN" dirty="0"/>
              <a:t>The </a:t>
            </a:r>
            <a:r>
              <a:rPr lang="en-US" altLang="zh-CN" b="1" dirty="0"/>
              <a:t>exposure amount </a:t>
            </a:r>
            <a:r>
              <a:rPr lang="en-US" altLang="zh-CN" dirty="0"/>
              <a:t>of the loan at the time of default.</a:t>
            </a:r>
          </a:p>
          <a:p>
            <a:pPr lvl="1">
              <a:spcBef>
                <a:spcPct val="0"/>
              </a:spcBef>
              <a:defRPr/>
            </a:pPr>
            <a:r>
              <a:rPr lang="en-US" altLang="zh-CN" dirty="0"/>
              <a:t>The </a:t>
            </a:r>
            <a:r>
              <a:rPr lang="en-US" altLang="zh-CN" b="1" dirty="0"/>
              <a:t>loss rate</a:t>
            </a:r>
            <a:r>
              <a:rPr lang="en-US" altLang="zh-CN" dirty="0"/>
              <a:t>, that is, the fraction of the exposure amount that is lost in the event of default, meaning the amount that is not recovered after the sale of the collateral.</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0515703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Expected and Unexpected Loss</a:t>
            </a:r>
          </a:p>
        </p:txBody>
      </p:sp>
      <p:sp>
        <p:nvSpPr>
          <p:cNvPr id="3" name="文本占位符 2"/>
          <p:cNvSpPr>
            <a:spLocks noGrp="1"/>
          </p:cNvSpPr>
          <p:nvPr>
            <p:ph type="body" sz="quarter" idx="10"/>
          </p:nvPr>
        </p:nvSpPr>
        <p:spPr>
          <a:xfrm>
            <a:off x="393599" y="813470"/>
            <a:ext cx="11404800" cy="3219688"/>
          </a:xfrm>
        </p:spPr>
        <p:txBody>
          <a:bodyPr>
            <a:normAutofit fontScale="92500"/>
          </a:bodyPr>
          <a:lstStyle/>
          <a:p>
            <a:pPr>
              <a:spcBef>
                <a:spcPct val="0"/>
              </a:spcBef>
            </a:pPr>
            <a:r>
              <a:rPr lang="en-US" altLang="zh-CN" dirty="0"/>
              <a:t>Expected Losses</a:t>
            </a:r>
          </a:p>
          <a:p>
            <a:pPr lvl="1">
              <a:spcBef>
                <a:spcPct val="0"/>
              </a:spcBef>
            </a:pPr>
            <a:r>
              <a:rPr lang="en-US" altLang="zh-CN" dirty="0"/>
              <a:t>A bank can </a:t>
            </a:r>
            <a:r>
              <a:rPr lang="en-US" altLang="zh-CN" u="sng" dirty="0"/>
              <a:t>expect to lose, on average</a:t>
            </a:r>
            <a:r>
              <a:rPr lang="en-US" altLang="zh-CN" dirty="0"/>
              <a:t>, a certain amount of money over a predetermined period of time when extending credits to its customers.</a:t>
            </a:r>
          </a:p>
          <a:p>
            <a:pPr lvl="1">
              <a:spcBef>
                <a:spcPct val="0"/>
              </a:spcBef>
            </a:pPr>
            <a:r>
              <a:rPr lang="en-US" altLang="zh-CN" dirty="0"/>
              <a:t>A prudent bank should set aside a certain amount of money (often called </a:t>
            </a:r>
            <a:r>
              <a:rPr lang="en-US" altLang="zh-CN" u="sng" dirty="0"/>
              <a:t>loan loss reserves</a:t>
            </a:r>
            <a:r>
              <a:rPr lang="en-US" altLang="zh-CN" dirty="0"/>
              <a:t>) to cover these losses that occur during the normal course of their credit business.</a:t>
            </a:r>
          </a:p>
          <a:p>
            <a:pPr>
              <a:spcBef>
                <a:spcPct val="0"/>
              </a:spcBef>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ECABCE55-EA10-4DD5-8AF2-108FD91D6A42}"/>
                  </a:ext>
                </a:extLst>
              </p:cNvPr>
              <p:cNvSpPr txBox="1"/>
              <p:nvPr/>
            </p:nvSpPr>
            <p:spPr>
              <a:xfrm>
                <a:off x="3474385" y="4208164"/>
                <a:ext cx="5243230" cy="1213281"/>
              </a:xfrm>
              <a:prstGeom prst="rect">
                <a:avLst/>
              </a:prstGeom>
              <a:noFill/>
              <a:ln w="19050">
                <a:solidFill>
                  <a:srgbClr val="FF0000"/>
                </a:solidFill>
              </a:ln>
            </p:spPr>
            <p:txBody>
              <a:bodyPr wrap="none" lIns="0" tIns="0" rIns="0" bIns="0" rtlCol="0">
                <a:spAutoFit/>
              </a:bodyPr>
              <a:lstStyle/>
              <a:p>
                <a:pPr marL="90488">
                  <a:lnSpc>
                    <a:spcPct val="140000"/>
                  </a:lnSpc>
                </a:pPr>
                <a14:m>
                  <m:oMathPara xmlns:m="http://schemas.openxmlformats.org/officeDocument/2006/math">
                    <m:oMathParaPr>
                      <m:jc m:val="left"/>
                    </m:oMathParaPr>
                    <m:oMath xmlns:m="http://schemas.openxmlformats.org/officeDocument/2006/math">
                      <m:r>
                        <m:rPr>
                          <m:sty m:val="p"/>
                        </m:rPr>
                        <a:rPr lang="en-US" altLang="zh-CN" sz="1800" b="0" i="0" smtClean="0">
                          <a:solidFill>
                            <a:srgbClr val="2C3E50"/>
                          </a:solidFill>
                          <a:latin typeface="Cambria Math" panose="02040503050406030204" pitchFamily="18" charset="0"/>
                          <a:ea typeface="Cambria Math" panose="02040503050406030204" pitchFamily="18" charset="0"/>
                          <a:cs typeface="Segoe UI" panose="020B0502040204020203" pitchFamily="34" charset="0"/>
                        </a:rPr>
                        <m:t>EL</m:t>
                      </m:r>
                      <m:r>
                        <a:rPr lang="en-US" altLang="zh-CN" sz="1800" b="0" i="0" smtClean="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smtClean="0">
                          <a:solidFill>
                            <a:srgbClr val="2C3E50"/>
                          </a:solidFill>
                          <a:latin typeface="Cambria Math" panose="02040503050406030204" pitchFamily="18" charset="0"/>
                          <a:ea typeface="Cambria Math" panose="02040503050406030204" pitchFamily="18" charset="0"/>
                          <a:cs typeface="Segoe UI" panose="020B0502040204020203" pitchFamily="34" charset="0"/>
                        </a:rPr>
                        <m:t>EA</m:t>
                      </m:r>
                      <m:r>
                        <a:rPr lang="en-US" altLang="zh-CN" sz="1800" b="0" i="0" smtClean="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smtClean="0">
                          <a:solidFill>
                            <a:srgbClr val="2C3E50"/>
                          </a:solidFill>
                          <a:latin typeface="Cambria Math" panose="02040503050406030204" pitchFamily="18" charset="0"/>
                          <a:ea typeface="Cambria Math" panose="02040503050406030204" pitchFamily="18" charset="0"/>
                          <a:cs typeface="Segoe UI" panose="020B0502040204020203" pitchFamily="34" charset="0"/>
                        </a:rPr>
                        <m:t>E</m:t>
                      </m:r>
                      <m:d>
                        <m:dPr>
                          <m:ctrlPr>
                            <a:rPr lang="en-US" altLang="zh-CN" sz="1800" b="0" i="1">
                              <a:solidFill>
                                <a:srgbClr val="2C3E50"/>
                              </a:solidFill>
                              <a:latin typeface="Cambria Math" panose="02040503050406030204" pitchFamily="18" charset="0"/>
                              <a:ea typeface="Cambria Math" panose="02040503050406030204" pitchFamily="18" charset="0"/>
                              <a:cs typeface="Segoe UI" panose="020B0502040204020203" pitchFamily="34" charset="0"/>
                            </a:rPr>
                          </m:ctrlPr>
                        </m:dPr>
                        <m:e>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EA</m:t>
                          </m:r>
                        </m:e>
                      </m:d>
                    </m:oMath>
                  </m:oMathPara>
                </a14:m>
                <a:endParaRPr lang="en-US" altLang="zh-CN" sz="1800" b="0" i="1" dirty="0">
                  <a:solidFill>
                    <a:srgbClr val="2C3E50"/>
                  </a:solidFill>
                  <a:latin typeface="Cambria Math" panose="02040503050406030204" pitchFamily="18" charset="0"/>
                  <a:ea typeface="Cambria Math" panose="02040503050406030204" pitchFamily="18" charset="0"/>
                  <a:cs typeface="Segoe UI" panose="020B0502040204020203" pitchFamily="34" charset="0"/>
                </a:endParaRPr>
              </a:p>
              <a:p>
                <a:pPr marL="361950">
                  <a:lnSpc>
                    <a:spcPct val="140000"/>
                  </a:lnSpc>
                </a:pPr>
                <a:r>
                  <a:rPr lang="en-US" altLang="zh-CN" sz="1800" b="0" dirty="0">
                    <a:solidFill>
                      <a:srgbClr val="2C3E50"/>
                    </a:solidFill>
                    <a:latin typeface="Cambria Math" panose="02040503050406030204" pitchFamily="18" charset="0"/>
                    <a:ea typeface="Cambria Math" panose="02040503050406030204" pitchFamily="18" charset="0"/>
                    <a:cs typeface="Segoe UI" panose="020B0502040204020203" pitchFamily="34" charset="0"/>
                  </a:rPr>
                  <a:t> </a:t>
                </a:r>
                <a14:m>
                  <m:oMath xmlns:m="http://schemas.openxmlformats.org/officeDocument/2006/math">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EA</m:t>
                    </m:r>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d>
                      <m:dPr>
                        <m:begChr m:val="["/>
                        <m:endChr m:val="]"/>
                        <m:ctrlPr>
                          <a:rPr lang="en-US" altLang="zh-CN" sz="1800" b="0" i="1">
                            <a:solidFill>
                              <a:srgbClr val="2C3E50"/>
                            </a:solidFill>
                            <a:latin typeface="Cambria Math" panose="02040503050406030204" pitchFamily="18" charset="0"/>
                            <a:ea typeface="Cambria Math" panose="02040503050406030204" pitchFamily="18" charset="0"/>
                            <a:cs typeface="Segoe UI" panose="020B0502040204020203" pitchFamily="34" charset="0"/>
                          </a:rPr>
                        </m:ctrlPr>
                      </m:dPr>
                      <m:e>
                        <m:d>
                          <m:dPr>
                            <m:ctrlPr>
                              <a:rPr lang="en-US" altLang="zh-CN" sz="1800" b="0" i="1">
                                <a:solidFill>
                                  <a:srgbClr val="2C3E50"/>
                                </a:solidFill>
                                <a:latin typeface="Cambria Math" panose="02040503050406030204" pitchFamily="18" charset="0"/>
                                <a:ea typeface="Cambria Math" panose="02040503050406030204" pitchFamily="18" charset="0"/>
                                <a:cs typeface="Segoe UI" panose="020B0502040204020203" pitchFamily="34" charset="0"/>
                              </a:rPr>
                            </m:ctrlPr>
                          </m:dPr>
                          <m:e>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1−</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PD</m:t>
                            </m:r>
                          </m:e>
                        </m:d>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EA</m:t>
                        </m:r>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PD</m:t>
                        </m:r>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d>
                          <m:dPr>
                            <m:ctrlPr>
                              <a:rPr lang="en-US" altLang="zh-CN" sz="1800" b="0" i="1">
                                <a:solidFill>
                                  <a:srgbClr val="2C3E50"/>
                                </a:solidFill>
                                <a:latin typeface="Cambria Math" panose="02040503050406030204" pitchFamily="18" charset="0"/>
                                <a:ea typeface="Cambria Math" panose="02040503050406030204" pitchFamily="18" charset="0"/>
                                <a:cs typeface="Segoe UI" panose="020B0502040204020203" pitchFamily="34" charset="0"/>
                              </a:rPr>
                            </m:ctrlPr>
                          </m:dPr>
                          <m:e>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EA</m:t>
                            </m:r>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d>
                              <m:dPr>
                                <m:ctrlPr>
                                  <a:rPr lang="en-US" altLang="zh-CN" sz="1800" b="0" i="1">
                                    <a:solidFill>
                                      <a:srgbClr val="2C3E50"/>
                                    </a:solidFill>
                                    <a:latin typeface="Cambria Math" panose="02040503050406030204" pitchFamily="18" charset="0"/>
                                    <a:ea typeface="Cambria Math" panose="02040503050406030204" pitchFamily="18" charset="0"/>
                                    <a:cs typeface="Segoe UI" panose="020B0502040204020203" pitchFamily="34" charset="0"/>
                                  </a:rPr>
                                </m:ctrlPr>
                              </m:dPr>
                              <m:e>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1−</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LR</m:t>
                                </m:r>
                              </m:e>
                            </m:d>
                          </m:e>
                        </m:d>
                      </m:e>
                    </m:d>
                  </m:oMath>
                </a14:m>
                <a:endParaRPr lang="en-US" altLang="zh-CN" sz="1800" b="0" i="1" dirty="0">
                  <a:solidFill>
                    <a:srgbClr val="2C3E50"/>
                  </a:solidFill>
                  <a:latin typeface="Cambria Math" panose="02040503050406030204" pitchFamily="18" charset="0"/>
                  <a:ea typeface="Cambria Math" panose="02040503050406030204" pitchFamily="18" charset="0"/>
                  <a:cs typeface="Segoe UI" panose="020B0502040204020203" pitchFamily="34" charset="0"/>
                </a:endParaRPr>
              </a:p>
              <a:p>
                <a:pPr marL="361950">
                  <a:lnSpc>
                    <a:spcPct val="140000"/>
                  </a:lnSpc>
                </a:pPr>
                <a:r>
                  <a:rPr lang="en-US" altLang="zh-CN" sz="1800" b="0" dirty="0">
                    <a:solidFill>
                      <a:srgbClr val="2C3E50"/>
                    </a:solidFill>
                    <a:latin typeface="Cambria Math" panose="02040503050406030204" pitchFamily="18" charset="0"/>
                    <a:ea typeface="Cambria Math" panose="02040503050406030204" pitchFamily="18" charset="0"/>
                    <a:cs typeface="Segoe UI" panose="020B0502040204020203" pitchFamily="34" charset="0"/>
                  </a:rPr>
                  <a:t> </a:t>
                </a:r>
                <a14:m>
                  <m:oMath xmlns:m="http://schemas.openxmlformats.org/officeDocument/2006/math">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PD</m:t>
                    </m:r>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EA</m:t>
                    </m:r>
                    <m: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m:t>
                    </m:r>
                    <m:r>
                      <m:rPr>
                        <m:sty m:val="p"/>
                      </m:rPr>
                      <a:rPr lang="en-US" altLang="zh-CN" sz="1800" b="0" i="0">
                        <a:solidFill>
                          <a:srgbClr val="2C3E50"/>
                        </a:solidFill>
                        <a:latin typeface="Cambria Math" panose="02040503050406030204" pitchFamily="18" charset="0"/>
                        <a:ea typeface="Cambria Math" panose="02040503050406030204" pitchFamily="18" charset="0"/>
                        <a:cs typeface="Segoe UI" panose="020B0502040204020203" pitchFamily="34" charset="0"/>
                      </a:rPr>
                      <m:t>LR</m:t>
                    </m:r>
                  </m:oMath>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ECABCE55-EA10-4DD5-8AF2-108FD91D6A42}"/>
                  </a:ext>
                </a:extLst>
              </p:cNvPr>
              <p:cNvSpPr txBox="1">
                <a:spLocks noRot="1" noChangeAspect="1" noMove="1" noResize="1" noEditPoints="1" noAdjustHandles="1" noChangeArrowheads="1" noChangeShapeType="1" noTextEdit="1"/>
              </p:cNvSpPr>
              <p:nvPr/>
            </p:nvSpPr>
            <p:spPr>
              <a:xfrm>
                <a:off x="3474385" y="4208164"/>
                <a:ext cx="5243230" cy="1213281"/>
              </a:xfrm>
              <a:prstGeom prst="rect">
                <a:avLst/>
              </a:prstGeom>
              <a:blipFill>
                <a:blip r:embed="rId2"/>
                <a:stretch>
                  <a:fillRect/>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ABBA0D38-1BAA-43A9-8221-BE99AFAF7892}"/>
                  </a:ext>
                </a:extLst>
              </p:cNvPr>
              <p:cNvSpPr/>
              <p:nvPr/>
            </p:nvSpPr>
            <p:spPr>
              <a:xfrm>
                <a:off x="4052738" y="5665173"/>
                <a:ext cx="3857145" cy="369332"/>
              </a:xfrm>
              <a:prstGeom prst="rect">
                <a:avLst/>
              </a:prstGeom>
              <a:ln w="19050">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adjusted</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exposure</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OS</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α</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COM</m:t>
                      </m:r>
                    </m:oMath>
                  </m:oMathPara>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5" name="矩形 4">
                <a:extLst>
                  <a:ext uri="{FF2B5EF4-FFF2-40B4-BE49-F238E27FC236}">
                    <a16:creationId xmlns:a16="http://schemas.microsoft.com/office/drawing/2014/main" id="{ABBA0D38-1BAA-43A9-8221-BE99AFAF7892}"/>
                  </a:ext>
                </a:extLst>
              </p:cNvPr>
              <p:cNvSpPr>
                <a:spLocks noRot="1" noChangeAspect="1" noMove="1" noResize="1" noEditPoints="1" noAdjustHandles="1" noChangeArrowheads="1" noChangeShapeType="1" noTextEdit="1"/>
              </p:cNvSpPr>
              <p:nvPr/>
            </p:nvSpPr>
            <p:spPr>
              <a:xfrm>
                <a:off x="4052738" y="5665173"/>
                <a:ext cx="3857145" cy="369332"/>
              </a:xfrm>
              <a:prstGeom prst="rect">
                <a:avLst/>
              </a:prstGeom>
              <a:blipFill>
                <a:blip r:embed="rId3"/>
                <a:stretch>
                  <a:fillRect b="-10938"/>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4992106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Expected and Unexpected Loss</a:t>
            </a:r>
          </a:p>
        </p:txBody>
      </p:sp>
      <p:sp>
        <p:nvSpPr>
          <p:cNvPr id="3" name="文本占位符 2"/>
          <p:cNvSpPr>
            <a:spLocks noGrp="1"/>
          </p:cNvSpPr>
          <p:nvPr>
            <p:ph type="body" sz="quarter" idx="10"/>
          </p:nvPr>
        </p:nvSpPr>
        <p:spPr>
          <a:xfrm>
            <a:off x="393599" y="813469"/>
            <a:ext cx="11404800" cy="4117760"/>
          </a:xfrm>
        </p:spPr>
        <p:txBody>
          <a:bodyPr>
            <a:normAutofit fontScale="92500"/>
          </a:bodyPr>
          <a:lstStyle/>
          <a:p>
            <a:pPr>
              <a:spcBef>
                <a:spcPct val="0"/>
              </a:spcBef>
            </a:pPr>
            <a:r>
              <a:rPr lang="en-US" altLang="zh-CN" dirty="0"/>
              <a:t>Unexpected Loss</a:t>
            </a:r>
          </a:p>
          <a:p>
            <a:pPr lvl="1">
              <a:spcBef>
                <a:spcPct val="0"/>
              </a:spcBef>
            </a:pPr>
            <a:r>
              <a:rPr lang="en-US" altLang="zh-CN" dirty="0"/>
              <a:t>By definition, EL does not itself constitute risk. If losses always equaled their expected levels, there would be no uncertainty, and there would be no economic rationale to hold capital against credit risk. Risk arises from the variation in loss levels – which for credit risk is due to unexpected losses (UL).</a:t>
            </a:r>
          </a:p>
          <a:p>
            <a:pPr lvl="1">
              <a:spcBef>
                <a:spcPct val="0"/>
              </a:spcBef>
            </a:pPr>
            <a:r>
              <a:rPr lang="en-US" altLang="zh-CN" u="sng" dirty="0"/>
              <a:t>Unexpected loss is the standard deviation of credit losses</a:t>
            </a:r>
            <a:r>
              <a:rPr lang="en-US" altLang="zh-CN" dirty="0"/>
              <a:t>.</a:t>
            </a:r>
          </a:p>
          <a:p>
            <a:pPr lvl="1">
              <a:spcBef>
                <a:spcPct val="0"/>
              </a:spcBef>
            </a:pPr>
            <a:r>
              <a:rPr lang="en-US" altLang="zh-CN" dirty="0"/>
              <a:t>ULs cannot be anticipated and hence cannot be adequately priced for in a loan’s interest rate. </a:t>
            </a:r>
            <a:r>
              <a:rPr lang="en-US" altLang="zh-CN" u="sng" dirty="0"/>
              <a:t>They require a cushion of economic capital</a:t>
            </a:r>
            <a:r>
              <a:rPr lang="en-US" altLang="zh-CN" dirty="0"/>
              <a:t>.</a:t>
            </a:r>
          </a:p>
          <a:p>
            <a:pPr>
              <a:spcBef>
                <a:spcPct val="0"/>
              </a:spcBef>
            </a:pP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42508746-48D9-4CB1-8CD5-3C79BED28D91}"/>
                  </a:ext>
                </a:extLst>
              </p:cNvPr>
              <p:cNvSpPr txBox="1"/>
              <p:nvPr/>
            </p:nvSpPr>
            <p:spPr>
              <a:xfrm>
                <a:off x="3422518" y="5022101"/>
                <a:ext cx="5346961" cy="1773499"/>
              </a:xfrm>
              <a:prstGeom prst="rect">
                <a:avLst/>
              </a:prstGeom>
              <a:noFill/>
              <a:ln w="19050">
                <a:solidFill>
                  <a:srgbClr val="FF0000"/>
                </a:solidFill>
              </a:ln>
            </p:spPr>
            <p:txBody>
              <a:bodyPr wrap="square" rtlCol="0">
                <a:spAutoFit/>
              </a:bodyPr>
              <a:lstStyle/>
              <a:p>
                <a:pPr/>
                <a14:m>
                  <m:oMathPara xmlns:m="http://schemas.openxmlformats.org/officeDocument/2006/math">
                    <m:oMathParaPr>
                      <m:jc m:val="left"/>
                    </m:oMathParaPr>
                    <m:oMath xmlns:m="http://schemas.openxmlformats.org/officeDocument/2006/math">
                      <m:r>
                        <m:rPr>
                          <m:nor/>
                        </m:rPr>
                        <a:rPr lang="zh-CN" altLang="en-US" sz="1800" b="0" dirty="0" smtClean="0">
                          <a:solidFill>
                            <a:srgbClr val="2C3E50"/>
                          </a:solidFill>
                          <a:latin typeface="Segoe UI" panose="020B0502040204020203" pitchFamily="34" charset="0"/>
                          <a:ea typeface="微软雅黑" panose="020B0503020204020204" pitchFamily="34" charset="-122"/>
                          <a:cs typeface="Segoe UI" panose="020B0502040204020203" pitchFamily="34" charset="0"/>
                        </a:rPr>
                        <m:t>UL</m:t>
                      </m:r>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EA</m:t>
                      </m:r>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ad>
                        <m:radPr>
                          <m:degHide m:val="o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LR</m:t>
                              </m:r>
                            </m:sub>
                            <m: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sub>
                            <m: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e>
                      </m:rad>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Where</a:t>
                </a:r>
              </a:p>
              <a:p>
                <a:pPr/>
                <a14:m>
                  <m:oMathPara xmlns:m="http://schemas.openxmlformats.org/officeDocument/2006/math">
                    <m:oMathParaPr>
                      <m:jc m:val="left"/>
                    </m:oMathParaPr>
                    <m:oMath xmlns:m="http://schemas.openxmlformats.org/officeDocument/2006/math">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LR</m:t>
                          </m:r>
                        </m:sub>
                      </m:sSub>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standard</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deviation</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of</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the</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loss</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rate</m:t>
                      </m:r>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left"/>
                    </m:oMathParaPr>
                    <m:oMath xmlns:m="http://schemas.openxmlformats.org/officeDocument/2006/math">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sz="1800" b="0" i="0" dirty="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sub>
                      </m:sSub>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standard</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deviation</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of</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the</m:t>
                      </m:r>
                      <m:r>
                        <m:rPr>
                          <m:nor/>
                        </m:rPr>
                        <a:rPr lang="en-US" altLang="zh-CN" sz="1800" b="0" i="0" dirty="0" smtClean="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en-US" altLang="zh-CN" sz="1800" b="0" i="0" dirty="0" smtClean="0">
                          <a:solidFill>
                            <a:srgbClr val="2C3E50"/>
                          </a:solidFill>
                          <a:latin typeface="Segoe UI" panose="020B0502040204020203" pitchFamily="34" charset="0"/>
                          <a:ea typeface="微软雅黑" panose="020B0503020204020204" pitchFamily="34" charset="-122"/>
                          <a:cs typeface="Segoe UI" panose="020B0502040204020203" pitchFamily="34" charset="0"/>
                        </a:rPr>
                        <m:t>default</m:t>
                      </m:r>
                      <m:r>
                        <m:rPr>
                          <m:nor/>
                        </m:rPr>
                        <a:rPr lang="en-US" altLang="zh-CN" sz="1800" b="0" i="0" dirty="0" smtClean="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en-US" altLang="zh-CN" sz="1800" b="0" i="0" dirty="0" smtClean="0">
                          <a:solidFill>
                            <a:srgbClr val="2C3E50"/>
                          </a:solidFill>
                          <a:latin typeface="Segoe UI" panose="020B0502040204020203" pitchFamily="34" charset="0"/>
                          <a:ea typeface="微软雅黑" panose="020B0503020204020204" pitchFamily="34" charset="-122"/>
                          <a:cs typeface="Segoe UI" panose="020B0502040204020203" pitchFamily="34" charset="0"/>
                        </a:rPr>
                        <m:t>probability</m:t>
                      </m:r>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pPr/>
                <a14:m>
                  <m:oMathPara xmlns:m="http://schemas.openxmlformats.org/officeDocument/2006/math">
                    <m:oMathParaPr>
                      <m:jc m:val="left"/>
                    </m:oMathParaPr>
                    <m:oMath xmlns:m="http://schemas.openxmlformats.org/officeDocument/2006/math">
                      <m:sSubSup>
                        <m:sSub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sub>
                        <m: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2</m:t>
                          </m:r>
                        </m:sup>
                      </m:sSubSup>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PD</m:t>
                          </m:r>
                        </m:e>
                      </m:d>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文本框 3">
                <a:extLst>
                  <a:ext uri="{FF2B5EF4-FFF2-40B4-BE49-F238E27FC236}">
                    <a16:creationId xmlns:a16="http://schemas.microsoft.com/office/drawing/2014/main" id="{42508746-48D9-4CB1-8CD5-3C79BED28D91}"/>
                  </a:ext>
                </a:extLst>
              </p:cNvPr>
              <p:cNvSpPr txBox="1">
                <a:spLocks noRot="1" noChangeAspect="1" noMove="1" noResize="1" noEditPoints="1" noAdjustHandles="1" noChangeArrowheads="1" noChangeShapeType="1" noTextEdit="1"/>
              </p:cNvSpPr>
              <p:nvPr/>
            </p:nvSpPr>
            <p:spPr>
              <a:xfrm>
                <a:off x="3422518" y="5022101"/>
                <a:ext cx="5346961" cy="1773499"/>
              </a:xfrm>
              <a:prstGeom prst="rect">
                <a:avLst/>
              </a:prstGeom>
              <a:blipFill>
                <a:blip r:embed="rId2"/>
                <a:stretch>
                  <a:fillRect l="-795"/>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8758605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Expected and Unexpected Loss</a:t>
            </a:r>
          </a:p>
        </p:txBody>
      </p:sp>
      <p:sp>
        <p:nvSpPr>
          <p:cNvPr id="3" name="文本占位符 2"/>
          <p:cNvSpPr>
            <a:spLocks noGrp="1"/>
          </p:cNvSpPr>
          <p:nvPr>
            <p:ph type="body" sz="quarter" idx="10"/>
          </p:nvPr>
        </p:nvSpPr>
        <p:spPr>
          <a:xfrm>
            <a:off x="393599" y="813469"/>
            <a:ext cx="11404800" cy="4738245"/>
          </a:xfrm>
        </p:spPr>
        <p:txBody>
          <a:bodyPr>
            <a:normAutofit fontScale="85000" lnSpcReduction="10000"/>
          </a:bodyPr>
          <a:lstStyle/>
          <a:p>
            <a:pPr>
              <a:spcBef>
                <a:spcPct val="0"/>
              </a:spcBef>
            </a:pPr>
            <a:r>
              <a:rPr lang="en-US" altLang="zh-CN" dirty="0"/>
              <a:t>Portfolio Credit Risk</a:t>
            </a:r>
          </a:p>
          <a:p>
            <a:pPr lvl="1">
              <a:spcBef>
                <a:spcPct val="0"/>
              </a:spcBef>
            </a:pPr>
            <a:r>
              <a:rPr lang="en-US" altLang="zh-CN" dirty="0"/>
              <a:t>The expected loss of a portfolio of credits is straightforward to calculate because </a:t>
            </a:r>
            <a:r>
              <a:rPr lang="en-US" altLang="zh-CN" u="sng" dirty="0"/>
              <a:t>EL is linear and additive</a:t>
            </a:r>
            <a:r>
              <a:rPr lang="en-US" altLang="zh-CN" dirty="0"/>
              <a:t>.</a:t>
            </a:r>
          </a:p>
          <a:p>
            <a:pPr lvl="1">
              <a:spcBef>
                <a:spcPct val="0"/>
              </a:spcBef>
            </a:pPr>
            <a:endParaRPr lang="en-US" altLang="zh-CN" dirty="0"/>
          </a:p>
          <a:p>
            <a:pPr lvl="1">
              <a:spcBef>
                <a:spcPct val="0"/>
              </a:spcBef>
            </a:pPr>
            <a:endParaRPr lang="en-US" altLang="zh-CN" dirty="0"/>
          </a:p>
          <a:p>
            <a:pPr lvl="1">
              <a:spcBef>
                <a:spcPct val="0"/>
              </a:spcBef>
            </a:pPr>
            <a:endParaRPr lang="en-US" altLang="zh-CN" dirty="0"/>
          </a:p>
          <a:p>
            <a:pPr lvl="1">
              <a:spcBef>
                <a:spcPct val="0"/>
              </a:spcBef>
            </a:pPr>
            <a:endParaRPr lang="en-US" altLang="zh-CN" dirty="0"/>
          </a:p>
          <a:p>
            <a:pPr lvl="1">
              <a:spcBef>
                <a:spcPct val="0"/>
              </a:spcBef>
            </a:pPr>
            <a:r>
              <a:rPr lang="en-US" altLang="zh-CN" u="sng" dirty="0"/>
              <a:t>When measuring unexpected loss at the portfolio level, we need to consider the effects of diversification because – as always in portfolio theory – only the contribution of an asset to the overall portfolio risk matters in a </a:t>
            </a:r>
            <a:r>
              <a:rPr lang="en-US" altLang="zh-CN" dirty="0"/>
              <a:t>portfolio context.</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AC219F5D-2609-4965-B959-519D456A589F}"/>
                  </a:ext>
                </a:extLst>
              </p:cNvPr>
              <p:cNvSpPr/>
              <p:nvPr/>
            </p:nvSpPr>
            <p:spPr>
              <a:xfrm>
                <a:off x="3683731" y="2292003"/>
                <a:ext cx="4824535" cy="1398396"/>
              </a:xfrm>
              <a:prstGeom prst="rect">
                <a:avLst/>
              </a:prstGeom>
              <a:ln w="19050">
                <a:solidFill>
                  <a:srgbClr val="FF0000"/>
                </a:solidFill>
              </a:ln>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EL</m:t>
                          </m:r>
                        </m:e>
                        <m: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ub>
                      </m:sSub>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nary>
                        <m:naryPr>
                          <m:chr m:val="∑"/>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naryPr>
                        <m:sub>
                          <m:r>
                            <m:rPr>
                              <m:sty m:val="p"/>
                              <m:brk m:alnAt="23"/>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e>
                          <m:sSub>
                            <m:sSubPr>
                              <m:ctrlPr>
                                <a:rPr lang="en-US" altLang="zh-CN"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EL</m:t>
                              </m:r>
                            </m:e>
                            <m:sub>
                              <m:r>
                                <m:rPr>
                                  <m:sty m:val="p"/>
                                </m:rP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e>
                      </m:nary>
                      <m:r>
                        <a:rPr lang="en-US" altLang="zh-CN"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nary>
                        <m:naryPr>
                          <m:chr m:val="∑"/>
                          <m:limLoc m:val="undOvr"/>
                          <m:grow m:val="o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naryPr>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D</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R</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e>
                      </m:nary>
                    </m:oMath>
                  </m:oMathPara>
                </a14:m>
                <a:endPar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a:p>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where</a:t>
                </a:r>
              </a:p>
              <a:p>
                <a:pPr/>
                <a14:m>
                  <m:oMathPara xmlns:m="http://schemas.openxmlformats.org/officeDocument/2006/math">
                    <m:oMathParaPr>
                      <m:jc m:val="left"/>
                    </m:oMathParaPr>
                    <m:oMath xmlns:m="http://schemas.openxmlformats.org/officeDocument/2006/math">
                      <m:sSub>
                        <m:sSubPr>
                          <m:ctrlPr>
                            <a:rPr lang="en-US" altLang="zh-CN" sz="1800" b="0" i="1">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EL</m:t>
                          </m:r>
                        </m:e>
                        <m:sub>
                          <m:r>
                            <m:rPr>
                              <m:sty m:val="p"/>
                            </m:rP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ub>
                      </m:sSub>
                      <m:r>
                        <a:rPr lang="en-US" altLang="zh-CN" sz="1800" b="0" i="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Expected</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loss</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of</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a</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portfolio</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of</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n</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a:solidFill>
                            <a:srgbClr val="2C3E50"/>
                          </a:solidFill>
                          <a:latin typeface="Segoe UI" panose="020B0502040204020203" pitchFamily="34" charset="0"/>
                          <a:ea typeface="微软雅黑" panose="020B0503020204020204" pitchFamily="34" charset="-122"/>
                          <a:cs typeface="Segoe UI" panose="020B0502040204020203" pitchFamily="34" charset="0"/>
                        </a:rPr>
                        <m:t>credits</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AC219F5D-2609-4965-B959-519D456A589F}"/>
                  </a:ext>
                </a:extLst>
              </p:cNvPr>
              <p:cNvSpPr>
                <a:spLocks noRot="1" noChangeAspect="1" noMove="1" noResize="1" noEditPoints="1" noAdjustHandles="1" noChangeArrowheads="1" noChangeShapeType="1" noTextEdit="1"/>
              </p:cNvSpPr>
              <p:nvPr/>
            </p:nvSpPr>
            <p:spPr>
              <a:xfrm>
                <a:off x="3683731" y="2292003"/>
                <a:ext cx="4824535" cy="1398396"/>
              </a:xfrm>
              <a:prstGeom prst="rect">
                <a:avLst/>
              </a:prstGeom>
              <a:blipFill>
                <a:blip r:embed="rId2"/>
                <a:stretch>
                  <a:fillRect l="-881" b="-3879"/>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DA5CE0BC-7F6D-436E-9C20-5E86F6B85139}"/>
                  </a:ext>
                </a:extLst>
              </p:cNvPr>
              <p:cNvSpPr/>
              <p:nvPr/>
            </p:nvSpPr>
            <p:spPr>
              <a:xfrm>
                <a:off x="4388636" y="5498352"/>
                <a:ext cx="3414724" cy="65601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ub>
                      </m:sSub>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ad>
                        <m:radPr>
                          <m:degHide m:val="on"/>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radPr>
                        <m:deg/>
                        <m:e>
                          <m:sSubSup>
                            <m:sSubSup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sSubSup>
                          <m:sSubSup>
                            <m:sSubSup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Sup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Σ</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j</m:t>
                              </m:r>
                              <m: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sub>
                            <m:sup>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p>
                          </m:sSubSup>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ω</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ω</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j</m:t>
                              </m:r>
                            </m:sub>
                          </m:sSub>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ρ</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ij</m:t>
                              </m:r>
                            </m:sub>
                          </m:s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sSub>
                            <m:sSubPr>
                              <m:ctrlPr>
                                <a:rPr lang="en-US" altLang="zh-CN" sz="1800" b="0" i="1"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e>
                            <m:sub>
                              <m:r>
                                <m:rPr>
                                  <m:sty m:val="p"/>
                                </m:rPr>
                                <a:rPr lang="en-US" altLang="zh-CN" sz="1800" b="0" i="0" smtClean="0">
                                  <a:solidFill>
                                    <a:srgbClr val="2C3E50"/>
                                  </a:solidFill>
                                  <a:latin typeface="Cambria Math" panose="02040503050406030204" pitchFamily="18" charset="0"/>
                                  <a:ea typeface="微软雅黑" panose="020B0503020204020204" pitchFamily="34" charset="-122"/>
                                  <a:cs typeface="Segoe UI" panose="020B0502040204020203" pitchFamily="34" charset="0"/>
                                </a:rPr>
                                <m:t>j</m:t>
                              </m:r>
                            </m:sub>
                          </m:sSub>
                        </m:e>
                      </m:rad>
                    </m:oMath>
                  </m:oMathPara>
                </a14:m>
                <a:endParaRPr lang="en-US" altLang="zh-CN"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6" name="矩形 5">
                <a:extLst>
                  <a:ext uri="{FF2B5EF4-FFF2-40B4-BE49-F238E27FC236}">
                    <a16:creationId xmlns:a16="http://schemas.microsoft.com/office/drawing/2014/main" id="{DA5CE0BC-7F6D-436E-9C20-5E86F6B85139}"/>
                  </a:ext>
                </a:extLst>
              </p:cNvPr>
              <p:cNvSpPr>
                <a:spLocks noRot="1" noChangeAspect="1" noMove="1" noResize="1" noEditPoints="1" noAdjustHandles="1" noChangeArrowheads="1" noChangeShapeType="1" noTextEdit="1"/>
              </p:cNvSpPr>
              <p:nvPr/>
            </p:nvSpPr>
            <p:spPr>
              <a:xfrm>
                <a:off x="4388636" y="5498352"/>
                <a:ext cx="3414724" cy="65601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237805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Expected and Unexpected Loss</a:t>
            </a:r>
          </a:p>
        </p:txBody>
      </p:sp>
      <p:sp>
        <p:nvSpPr>
          <p:cNvPr id="3" name="文本占位符 2"/>
          <p:cNvSpPr>
            <a:spLocks noGrp="1"/>
          </p:cNvSpPr>
          <p:nvPr>
            <p:ph type="body" sz="quarter" idx="10"/>
          </p:nvPr>
        </p:nvSpPr>
        <p:spPr>
          <a:xfrm>
            <a:off x="393599" y="813470"/>
            <a:ext cx="11404800" cy="3921816"/>
          </a:xfrm>
        </p:spPr>
        <p:txBody>
          <a:bodyPr>
            <a:normAutofit fontScale="85000" lnSpcReduction="20000"/>
          </a:bodyPr>
          <a:lstStyle/>
          <a:p>
            <a:pPr>
              <a:spcBef>
                <a:spcPct val="0"/>
              </a:spcBef>
            </a:pPr>
            <a:r>
              <a:rPr lang="en-US" altLang="zh-CN" dirty="0"/>
              <a:t>Portfolio Credit Risk (cont’d)</a:t>
            </a:r>
          </a:p>
          <a:p>
            <a:pPr lvl="1">
              <a:spcBef>
                <a:spcPct val="0"/>
              </a:spcBef>
            </a:pPr>
            <a:r>
              <a:rPr lang="en-US" altLang="zh-CN" b="1" dirty="0"/>
              <a:t>Unexpected Loss Contribution</a:t>
            </a:r>
          </a:p>
          <a:p>
            <a:pPr lvl="1">
              <a:spcBef>
                <a:spcPct val="0"/>
              </a:spcBef>
            </a:pPr>
            <a:endParaRPr lang="en-US" altLang="zh-CN" dirty="0"/>
          </a:p>
          <a:p>
            <a:pPr lvl="1">
              <a:spcBef>
                <a:spcPct val="0"/>
              </a:spcBef>
            </a:pPr>
            <a:endParaRPr lang="en-US" altLang="zh-CN" dirty="0"/>
          </a:p>
          <a:p>
            <a:pPr lvl="1">
              <a:spcBef>
                <a:spcPct val="0"/>
              </a:spcBef>
            </a:pPr>
            <a:endParaRPr lang="en-US" altLang="zh-CN" dirty="0"/>
          </a:p>
          <a:p>
            <a:pPr lvl="1">
              <a:spcBef>
                <a:spcPct val="0"/>
              </a:spcBef>
            </a:pPr>
            <a:endParaRPr lang="en-US" altLang="zh-CN" b="1" dirty="0"/>
          </a:p>
          <a:p>
            <a:pPr lvl="1">
              <a:spcBef>
                <a:spcPct val="0"/>
              </a:spcBef>
            </a:pPr>
            <a:endParaRPr lang="en-US" altLang="zh-CN" b="1" dirty="0"/>
          </a:p>
          <a:p>
            <a:pPr marL="363538" lvl="1" indent="0">
              <a:spcBef>
                <a:spcPct val="0"/>
              </a:spcBef>
              <a:buNone/>
            </a:pPr>
            <a:endParaRPr lang="en-US" altLang="zh-CN" b="1" dirty="0"/>
          </a:p>
          <a:p>
            <a:pPr lvl="1">
              <a:spcBef>
                <a:spcPct val="0"/>
              </a:spcBef>
            </a:pPr>
            <a:r>
              <a:rPr lang="en-US" altLang="zh-CN" b="1" dirty="0"/>
              <a:t>Total Contribution to the Portfolio’s UL</a:t>
            </a:r>
            <a:endParaRPr lang="en-US" altLang="zh-CN" dirty="0"/>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DD77A185-62B5-4BAB-B7E5-7C3C88800212}"/>
                  </a:ext>
                </a:extLst>
              </p:cNvPr>
              <p:cNvSpPr txBox="1"/>
              <p:nvPr/>
            </p:nvSpPr>
            <p:spPr>
              <a:xfrm>
                <a:off x="4691843" y="1838519"/>
                <a:ext cx="2808312" cy="21146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rPr>
                        <m:t>ULM</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C</m:t>
                          </m:r>
                        </m:e>
                        <m:sub>
                          <m:r>
                            <m:rPr>
                              <m:sty m:val="p"/>
                            </m:rPr>
                            <a:rPr lang="en-US" altLang="zh-CN" sz="1800" b="0" i="0" smtClean="0">
                              <a:solidFill>
                                <a:srgbClr val="2C3E50"/>
                              </a:solidFill>
                              <a:latin typeface="Cambria Math" panose="02040503050406030204" pitchFamily="18" charset="0"/>
                            </a:rPr>
                            <m:t>i</m:t>
                          </m:r>
                        </m:sub>
                      </m:sSub>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Sub>
                        </m:num>
                        <m:den>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i</m:t>
                              </m:r>
                            </m:sub>
                          </m:sSub>
                        </m:den>
                      </m:f>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r>
                            <a:rPr lang="en-US" altLang="zh-CN" sz="1800" b="0" i="0" smtClean="0">
                              <a:solidFill>
                                <a:srgbClr val="2C3E50"/>
                              </a:solidFill>
                              <a:latin typeface="Cambria Math" panose="02040503050406030204" pitchFamily="18" charset="0"/>
                            </a:rPr>
                            <m:t>𝜕</m:t>
                          </m:r>
                          <m:sSup>
                            <m:sSupPr>
                              <m:ctrlPr>
                                <a:rPr lang="en-US" altLang="zh-CN" sz="1800" b="0" i="1" smtClean="0">
                                  <a:solidFill>
                                    <a:srgbClr val="2C3E50"/>
                                  </a:solidFill>
                                  <a:latin typeface="Cambria Math" panose="02040503050406030204" pitchFamily="18" charset="0"/>
                                </a:rPr>
                              </m:ctrlPr>
                            </m:sSupPr>
                            <m:e>
                              <m:d>
                                <m:dPr>
                                  <m:ctrlPr>
                                    <a:rPr lang="en-US" altLang="zh-CN" sz="1800" b="0" i="1" smtClean="0">
                                      <a:solidFill>
                                        <a:srgbClr val="2C3E50"/>
                                      </a:solidFill>
                                      <a:latin typeface="Cambria Math" panose="02040503050406030204" pitchFamily="18" charset="0"/>
                                    </a:rPr>
                                  </m:ctrlPr>
                                </m:dPr>
                                <m:e>
                                  <m:r>
                                    <m:rPr>
                                      <m:sty m:val="p"/>
                                    </m:rPr>
                                    <a:rPr lang="en-US" altLang="zh-CN" sz="1800" b="0" i="0" smtClean="0">
                                      <a:solidFill>
                                        <a:srgbClr val="2C3E50"/>
                                      </a:solidFill>
                                      <a:latin typeface="Cambria Math" panose="02040503050406030204" pitchFamily="18" charset="0"/>
                                    </a:rPr>
                                    <m:t>U</m:t>
                                  </m:r>
                                  <m:sSubSup>
                                    <m:sSubSupPr>
                                      <m:ctrlPr>
                                        <a:rPr lang="en-US" altLang="zh-CN" sz="1800" b="0" i="1" smtClean="0">
                                          <a:solidFill>
                                            <a:srgbClr val="2C3E50"/>
                                          </a:solidFill>
                                          <a:latin typeface="Cambria Math" panose="02040503050406030204" pitchFamily="18" charset="0"/>
                                        </a:rPr>
                                      </m:ctrlPr>
                                    </m:sSubSup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up>
                                      <m:r>
                                        <a:rPr lang="en-US" altLang="zh-CN" sz="1800" b="0" i="0" smtClean="0">
                                          <a:solidFill>
                                            <a:srgbClr val="2C3E50"/>
                                          </a:solidFill>
                                          <a:latin typeface="Cambria Math" panose="02040503050406030204" pitchFamily="18" charset="0"/>
                                        </a:rPr>
                                        <m:t>2</m:t>
                                      </m:r>
                                    </m:sup>
                                  </m:sSubSup>
                                </m:e>
                              </m:d>
                            </m:e>
                            <m:sup>
                              <m:f>
                                <m:fPr>
                                  <m:ctrlPr>
                                    <a:rPr lang="en-US" altLang="zh-CN" sz="1800" b="0" i="1" smtClean="0">
                                      <a:solidFill>
                                        <a:srgbClr val="2C3E50"/>
                                      </a:solidFill>
                                      <a:latin typeface="Cambria Math" panose="02040503050406030204" pitchFamily="18" charset="0"/>
                                    </a:rPr>
                                  </m:ctrlPr>
                                </m:fPr>
                                <m:num>
                                  <m:r>
                                    <a:rPr lang="en-US" altLang="zh-CN" sz="1800" b="0" i="0" smtClean="0">
                                      <a:solidFill>
                                        <a:srgbClr val="2C3E50"/>
                                      </a:solidFill>
                                      <a:latin typeface="Cambria Math" panose="02040503050406030204" pitchFamily="18" charset="0"/>
                                    </a:rPr>
                                    <m:t>1</m:t>
                                  </m:r>
                                </m:num>
                                <m:den>
                                  <m:r>
                                    <a:rPr lang="en-US" altLang="zh-CN" sz="1800" b="0" i="0" smtClean="0">
                                      <a:solidFill>
                                        <a:srgbClr val="2C3E50"/>
                                      </a:solidFill>
                                      <a:latin typeface="Cambria Math" panose="02040503050406030204" pitchFamily="18" charset="0"/>
                                    </a:rPr>
                                    <m:t>2</m:t>
                                  </m:r>
                                </m:den>
                              </m:f>
                            </m:sup>
                          </m:sSup>
                        </m:num>
                        <m:den>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i</m:t>
                              </m:r>
                            </m:sub>
                          </m:sSub>
                        </m:den>
                      </m:f>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r>
                            <a:rPr lang="en-US" altLang="zh-CN" sz="1800" b="0" i="0" smtClean="0">
                              <a:solidFill>
                                <a:srgbClr val="2C3E50"/>
                              </a:solidFill>
                              <a:latin typeface="Cambria Math" panose="02040503050406030204" pitchFamily="18" charset="0"/>
                            </a:rPr>
                            <m:t>1</m:t>
                          </m:r>
                        </m:num>
                        <m:den>
                          <m:r>
                            <a:rPr lang="en-US" altLang="zh-CN" sz="1800" b="0" i="0" smtClean="0">
                              <a:solidFill>
                                <a:srgbClr val="2C3E50"/>
                              </a:solidFill>
                              <a:latin typeface="Cambria Math" panose="02040503050406030204" pitchFamily="18" charset="0"/>
                            </a:rPr>
                            <m:t>2</m:t>
                          </m:r>
                        </m:den>
                      </m:f>
                      <m:sSup>
                        <m:sSupPr>
                          <m:ctrlPr>
                            <a:rPr lang="en-US" altLang="zh-CN" sz="1800" b="0" i="1" smtClean="0">
                              <a:solidFill>
                                <a:srgbClr val="2C3E50"/>
                              </a:solidFill>
                              <a:latin typeface="Cambria Math" panose="02040503050406030204" pitchFamily="18" charset="0"/>
                            </a:rPr>
                          </m:ctrlPr>
                        </m:sSupPr>
                        <m:e>
                          <m:d>
                            <m:dPr>
                              <m:ctrlPr>
                                <a:rPr lang="en-US" altLang="zh-CN" sz="1800" b="0" i="1" smtClean="0">
                                  <a:solidFill>
                                    <a:srgbClr val="2C3E50"/>
                                  </a:solidFill>
                                  <a:latin typeface="Cambria Math" panose="02040503050406030204" pitchFamily="18" charset="0"/>
                                </a:rPr>
                              </m:ctrlPr>
                            </m:dPr>
                            <m:e>
                              <m:r>
                                <m:rPr>
                                  <m:sty m:val="p"/>
                                </m:rPr>
                                <a:rPr lang="en-US" altLang="zh-CN" sz="1800" b="0" i="0" smtClean="0">
                                  <a:solidFill>
                                    <a:srgbClr val="2C3E50"/>
                                  </a:solidFill>
                                  <a:latin typeface="Cambria Math" panose="02040503050406030204" pitchFamily="18" charset="0"/>
                                </a:rPr>
                                <m:t>U</m:t>
                              </m:r>
                              <m:sSubSup>
                                <m:sSubSupPr>
                                  <m:ctrlPr>
                                    <a:rPr lang="en-US" altLang="zh-CN" sz="1800" b="0" i="1" smtClean="0">
                                      <a:solidFill>
                                        <a:srgbClr val="2C3E50"/>
                                      </a:solidFill>
                                      <a:latin typeface="Cambria Math" panose="02040503050406030204" pitchFamily="18" charset="0"/>
                                    </a:rPr>
                                  </m:ctrlPr>
                                </m:sSubSup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up>
                                  <m:r>
                                    <a:rPr lang="en-US" altLang="zh-CN" sz="1800" b="0" i="0" smtClean="0">
                                      <a:solidFill>
                                        <a:srgbClr val="2C3E50"/>
                                      </a:solidFill>
                                      <a:latin typeface="Cambria Math" panose="02040503050406030204" pitchFamily="18" charset="0"/>
                                    </a:rPr>
                                    <m:t>2</m:t>
                                  </m:r>
                                </m:sup>
                              </m:sSubSup>
                            </m:e>
                          </m:d>
                        </m:e>
                        <m:sup>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r>
                                <a:rPr lang="en-US" altLang="zh-CN" sz="1800" b="0" i="0" smtClean="0">
                                  <a:solidFill>
                                    <a:srgbClr val="2C3E50"/>
                                  </a:solidFill>
                                  <a:latin typeface="Cambria Math" panose="02040503050406030204" pitchFamily="18" charset="0"/>
                                </a:rPr>
                                <m:t>1</m:t>
                              </m:r>
                            </m:num>
                            <m:den>
                              <m:r>
                                <a:rPr lang="en-US" altLang="zh-CN" sz="1800" b="0" i="0" smtClean="0">
                                  <a:solidFill>
                                    <a:srgbClr val="2C3E50"/>
                                  </a:solidFill>
                                  <a:latin typeface="Cambria Math" panose="02040503050406030204" pitchFamily="18" charset="0"/>
                                </a:rPr>
                                <m:t>2</m:t>
                              </m:r>
                            </m:den>
                          </m:f>
                        </m:sup>
                      </m:sSup>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r>
                            <a:rPr lang="en-US" altLang="zh-CN" sz="1800" b="0" i="0" smtClean="0">
                              <a:solidFill>
                                <a:srgbClr val="2C3E50"/>
                              </a:solidFill>
                              <a:latin typeface="Cambria Math" panose="02040503050406030204" pitchFamily="18" charset="0"/>
                            </a:rPr>
                            <m:t>𝜕</m:t>
                          </m:r>
                          <m:d>
                            <m:dPr>
                              <m:ctrlPr>
                                <a:rPr lang="en-US" altLang="zh-CN" sz="1800" b="0" i="1" smtClean="0">
                                  <a:solidFill>
                                    <a:srgbClr val="2C3E50"/>
                                  </a:solidFill>
                                  <a:latin typeface="Cambria Math" panose="02040503050406030204" pitchFamily="18" charset="0"/>
                                </a:rPr>
                              </m:ctrlPr>
                            </m:dPr>
                            <m:e>
                              <m:r>
                                <m:rPr>
                                  <m:sty m:val="p"/>
                                </m:rPr>
                                <a:rPr lang="en-US" altLang="zh-CN" sz="1800" b="0" i="0" smtClean="0">
                                  <a:solidFill>
                                    <a:srgbClr val="2C3E50"/>
                                  </a:solidFill>
                                  <a:latin typeface="Cambria Math" panose="02040503050406030204" pitchFamily="18" charset="0"/>
                                </a:rPr>
                                <m:t>U</m:t>
                              </m:r>
                              <m:sSubSup>
                                <m:sSubSupPr>
                                  <m:ctrlPr>
                                    <a:rPr lang="en-US" altLang="zh-CN" sz="1800" b="0" i="1" smtClean="0">
                                      <a:solidFill>
                                        <a:srgbClr val="2C3E50"/>
                                      </a:solidFill>
                                      <a:latin typeface="Cambria Math" panose="02040503050406030204" pitchFamily="18" charset="0"/>
                                    </a:rPr>
                                  </m:ctrlPr>
                                </m:sSubSup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up>
                                  <m:r>
                                    <a:rPr lang="en-US" altLang="zh-CN" sz="1800" b="0" i="0" smtClean="0">
                                      <a:solidFill>
                                        <a:srgbClr val="2C3E50"/>
                                      </a:solidFill>
                                      <a:latin typeface="Cambria Math" panose="02040503050406030204" pitchFamily="18" charset="0"/>
                                    </a:rPr>
                                    <m:t>2</m:t>
                                  </m:r>
                                </m:sup>
                              </m:sSubSup>
                            </m:e>
                          </m:d>
                        </m:num>
                        <m:den>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i</m:t>
                              </m:r>
                            </m:sub>
                          </m:sSub>
                        </m:den>
                      </m:f>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d>
                            <m:dPr>
                              <m:ctrlPr>
                                <a:rPr lang="en-US" altLang="zh-CN" sz="1800" b="0" i="1" smtClean="0">
                                  <a:solidFill>
                                    <a:srgbClr val="2C3E50"/>
                                  </a:solidFill>
                                  <a:latin typeface="Cambria Math" panose="02040503050406030204" pitchFamily="18" charset="0"/>
                                </a:rPr>
                              </m:ctrlPr>
                            </m:dPr>
                            <m:e>
                              <m:sSubSup>
                                <m:sSubSupPr>
                                  <m:ctrlPr>
                                    <a:rPr lang="en-US" altLang="zh-CN" sz="1800" b="0" i="1" smtClean="0">
                                      <a:solidFill>
                                        <a:srgbClr val="2C3E50"/>
                                      </a:solidFill>
                                      <a:latin typeface="Cambria Math" panose="02040503050406030204" pitchFamily="18" charset="0"/>
                                    </a:rPr>
                                  </m:ctrlPr>
                                </m:sSubSupPr>
                                <m:e>
                                  <m:r>
                                    <m:rPr>
                                      <m:sty m:val="p"/>
                                    </m:rPr>
                                    <a:rPr lang="en-US" altLang="zh-CN" sz="1800" b="0" i="0" smtClean="0">
                                      <a:solidFill>
                                        <a:srgbClr val="2C3E50"/>
                                      </a:solidFill>
                                      <a:latin typeface="Cambria Math" panose="02040503050406030204" pitchFamily="18" charset="0"/>
                                    </a:rPr>
                                    <m:t>Σ</m:t>
                                  </m:r>
                                </m:e>
                                <m:sub>
                                  <m:r>
                                    <m:rPr>
                                      <m:sty m:val="p"/>
                                    </m:rPr>
                                    <a:rPr lang="en-US" altLang="zh-CN" sz="1800" b="0" i="0" smtClean="0">
                                      <a:solidFill>
                                        <a:srgbClr val="2C3E50"/>
                                      </a:solidFill>
                                      <a:latin typeface="Cambria Math" panose="02040503050406030204" pitchFamily="18" charset="0"/>
                                    </a:rPr>
                                    <m:t>j</m:t>
                                  </m:r>
                                  <m:r>
                                    <a:rPr lang="en-US" altLang="zh-CN" sz="1800" b="0" i="0" smtClean="0">
                                      <a:solidFill>
                                        <a:srgbClr val="2C3E50"/>
                                      </a:solidFill>
                                      <a:latin typeface="Cambria Math" panose="02040503050406030204" pitchFamily="18" charset="0"/>
                                    </a:rPr>
                                    <m:t>=1</m:t>
                                  </m:r>
                                </m:sub>
                                <m:sup>
                                  <m:r>
                                    <m:rPr>
                                      <m:sty m:val="p"/>
                                    </m:rPr>
                                    <a:rPr lang="en-US" altLang="zh-CN" sz="1800" b="0" i="0" smtClean="0">
                                      <a:solidFill>
                                        <a:srgbClr val="2C3E50"/>
                                      </a:solidFill>
                                      <a:latin typeface="Cambria Math" panose="02040503050406030204" pitchFamily="18" charset="0"/>
                                    </a:rPr>
                                    <m:t>n</m:t>
                                  </m:r>
                                </m:sup>
                              </m:sSubSup>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j</m:t>
                                  </m:r>
                                </m:sub>
                              </m:sSub>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ρ</m:t>
                                  </m:r>
                                </m:e>
                                <m:sub>
                                  <m:r>
                                    <m:rPr>
                                      <m:sty m:val="p"/>
                                    </m:rPr>
                                    <a:rPr lang="en-US" altLang="zh-CN" sz="1800" b="0" i="0" smtClean="0">
                                      <a:solidFill>
                                        <a:srgbClr val="2C3E50"/>
                                      </a:solidFill>
                                      <a:latin typeface="Cambria Math" panose="02040503050406030204" pitchFamily="18" charset="0"/>
                                    </a:rPr>
                                    <m:t>ij</m:t>
                                  </m:r>
                                </m:sub>
                              </m:sSub>
                            </m:e>
                          </m:d>
                        </m:num>
                        <m:den>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Sub>
                        </m:den>
                      </m:f>
                    </m:oMath>
                  </m:oMathPara>
                </a14:m>
                <a:endParaRPr lang="zh-CN" altLang="en-US" sz="1800" b="0" dirty="0">
                  <a:solidFill>
                    <a:srgbClr val="2C3E50"/>
                  </a:solidFill>
                  <a:latin typeface="Cambria Math" panose="02040503050406030204" pitchFamily="18" charset="0"/>
                </a:endParaRPr>
              </a:p>
            </p:txBody>
          </p:sp>
        </mc:Choice>
        <mc:Fallback>
          <p:sp>
            <p:nvSpPr>
              <p:cNvPr id="4" name="文本框 3">
                <a:extLst>
                  <a:ext uri="{FF2B5EF4-FFF2-40B4-BE49-F238E27FC236}">
                    <a16:creationId xmlns:a16="http://schemas.microsoft.com/office/drawing/2014/main" id="{DD77A185-62B5-4BAB-B7E5-7C3C88800212}"/>
                  </a:ext>
                </a:extLst>
              </p:cNvPr>
              <p:cNvSpPr txBox="1">
                <a:spLocks noRot="1" noChangeAspect="1" noMove="1" noResize="1" noEditPoints="1" noAdjustHandles="1" noChangeArrowheads="1" noChangeShapeType="1" noTextEdit="1"/>
              </p:cNvSpPr>
              <p:nvPr/>
            </p:nvSpPr>
            <p:spPr>
              <a:xfrm>
                <a:off x="4691843" y="1838519"/>
                <a:ext cx="2808312" cy="211461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B9B317FC-87AD-4B7C-A81C-0C96830B1205}"/>
                  </a:ext>
                </a:extLst>
              </p:cNvPr>
              <p:cNvSpPr txBox="1"/>
              <p:nvPr/>
            </p:nvSpPr>
            <p:spPr>
              <a:xfrm>
                <a:off x="4019372" y="5059732"/>
                <a:ext cx="4153253" cy="96847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rPr>
                        <m:t>UL</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C</m:t>
                          </m:r>
                        </m:e>
                        <m:sub>
                          <m:r>
                            <m:rPr>
                              <m:sty m:val="p"/>
                            </m:rPr>
                            <a:rPr lang="en-US" altLang="zh-CN" sz="1800" b="0" i="0" smtClean="0">
                              <a:solidFill>
                                <a:srgbClr val="2C3E50"/>
                              </a:solidFill>
                              <a:latin typeface="Cambria Math" panose="02040503050406030204" pitchFamily="18" charset="0"/>
                            </a:rPr>
                            <m:t>i</m:t>
                          </m:r>
                        </m:sub>
                      </m:sSub>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ULM</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C</m:t>
                          </m:r>
                        </m:e>
                        <m:sub>
                          <m:r>
                            <m:rPr>
                              <m:sty m:val="p"/>
                            </m:rPr>
                            <a:rPr lang="en-US" altLang="zh-CN" sz="1800" b="0" i="0" smtClean="0">
                              <a:solidFill>
                                <a:srgbClr val="2C3E50"/>
                              </a:solidFill>
                              <a:latin typeface="Cambria Math" panose="02040503050406030204" pitchFamily="18" charset="0"/>
                            </a:rPr>
                            <m:t>i</m:t>
                          </m:r>
                        </m:sub>
                      </m:sSub>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i</m:t>
                          </m:r>
                        </m:sub>
                      </m:sSub>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sSubSup>
                            <m:sSubSupPr>
                              <m:ctrlPr>
                                <a:rPr lang="en-US" altLang="zh-CN" sz="1800" b="0" i="1" smtClean="0">
                                  <a:solidFill>
                                    <a:srgbClr val="2C3E50"/>
                                  </a:solidFill>
                                  <a:latin typeface="Cambria Math" panose="02040503050406030204" pitchFamily="18" charset="0"/>
                                </a:rPr>
                              </m:ctrlPr>
                            </m:sSubSupPr>
                            <m:e>
                              <m:r>
                                <m:rPr>
                                  <m:sty m:val="p"/>
                                </m:rPr>
                                <a:rPr lang="en-US" altLang="zh-CN" sz="1800" b="0" i="0" smtClean="0">
                                  <a:solidFill>
                                    <a:srgbClr val="2C3E50"/>
                                  </a:solidFill>
                                  <a:latin typeface="Cambria Math" panose="02040503050406030204" pitchFamily="18" charset="0"/>
                                </a:rPr>
                                <m:t>Σ</m:t>
                              </m:r>
                            </m:e>
                            <m:sub>
                              <m:r>
                                <m:rPr>
                                  <m:sty m:val="p"/>
                                </m:rPr>
                                <a:rPr lang="en-US" altLang="zh-CN" sz="1800" b="0" i="0" smtClean="0">
                                  <a:solidFill>
                                    <a:srgbClr val="2C3E50"/>
                                  </a:solidFill>
                                  <a:latin typeface="Cambria Math" panose="02040503050406030204" pitchFamily="18" charset="0"/>
                                </a:rPr>
                                <m:t>i</m:t>
                              </m:r>
                              <m:r>
                                <a:rPr lang="en-US" altLang="zh-CN" sz="1800" b="0" i="0" smtClean="0">
                                  <a:solidFill>
                                    <a:srgbClr val="2C3E50"/>
                                  </a:solidFill>
                                  <a:latin typeface="Cambria Math" panose="02040503050406030204" pitchFamily="18" charset="0"/>
                                </a:rPr>
                                <m:t>−1</m:t>
                              </m:r>
                            </m:sub>
                            <m:sup>
                              <m:r>
                                <m:rPr>
                                  <m:sty m:val="p"/>
                                </m:rPr>
                                <a:rPr lang="en-US" altLang="zh-CN" sz="1800" b="0" i="0" smtClean="0">
                                  <a:solidFill>
                                    <a:srgbClr val="2C3E50"/>
                                  </a:solidFill>
                                  <a:latin typeface="Cambria Math" panose="02040503050406030204" pitchFamily="18" charset="0"/>
                                </a:rPr>
                                <m:t>n</m:t>
                              </m:r>
                            </m:sup>
                          </m:sSubSup>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j</m:t>
                              </m:r>
                            </m:sub>
                          </m:sSub>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ρ</m:t>
                              </m:r>
                            </m:e>
                            <m:sub>
                              <m:r>
                                <m:rPr>
                                  <m:sty m:val="p"/>
                                </m:rPr>
                                <a:rPr lang="en-US" altLang="zh-CN" sz="1800" b="0" i="0" smtClean="0">
                                  <a:solidFill>
                                    <a:srgbClr val="2C3E50"/>
                                  </a:solidFill>
                                  <a:latin typeface="Cambria Math" panose="02040503050406030204" pitchFamily="18" charset="0"/>
                                </a:rPr>
                                <m:t>ij</m:t>
                              </m:r>
                            </m:sub>
                          </m:sSub>
                        </m:num>
                        <m:den>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Sub>
                        </m:den>
                      </m:f>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i</m:t>
                          </m:r>
                        </m:sub>
                      </m:sSub>
                    </m:oMath>
                  </m:oMathPara>
                </a14:m>
                <a:endParaRPr lang="en-US" altLang="zh-CN" sz="1800" b="0" dirty="0">
                  <a:solidFill>
                    <a:srgbClr val="2C3E50"/>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P</m:t>
                          </m:r>
                        </m:sub>
                      </m:sSub>
                      <m:r>
                        <a:rPr lang="en-US" altLang="zh-CN" sz="1800" b="0" i="0" smtClean="0">
                          <a:solidFill>
                            <a:srgbClr val="2C3E50"/>
                          </a:solidFill>
                          <a:latin typeface="Cambria Math" panose="02040503050406030204" pitchFamily="18" charset="0"/>
                        </a:rPr>
                        <m:t>=</m:t>
                      </m:r>
                      <m:sSubSup>
                        <m:sSubSupPr>
                          <m:ctrlPr>
                            <a:rPr lang="en-US" altLang="zh-CN" sz="1800" b="0" i="1" smtClean="0">
                              <a:solidFill>
                                <a:srgbClr val="2C3E50"/>
                              </a:solidFill>
                              <a:latin typeface="Cambria Math" panose="02040503050406030204" pitchFamily="18" charset="0"/>
                            </a:rPr>
                          </m:ctrlPr>
                        </m:sSubSupPr>
                        <m:e>
                          <m:r>
                            <m:rPr>
                              <m:sty m:val="p"/>
                            </m:rPr>
                            <a:rPr lang="en-US" altLang="zh-CN" sz="1800" b="0" i="0" smtClean="0">
                              <a:solidFill>
                                <a:srgbClr val="2C3E50"/>
                              </a:solidFill>
                              <a:latin typeface="Cambria Math" panose="02040503050406030204" pitchFamily="18" charset="0"/>
                            </a:rPr>
                            <m:t>Σ</m:t>
                          </m:r>
                        </m:e>
                        <m:sub>
                          <m:r>
                            <m:rPr>
                              <m:sty m:val="p"/>
                            </m:rPr>
                            <a:rPr lang="en-US" altLang="zh-CN" sz="1800" b="0" i="0" smtClean="0">
                              <a:solidFill>
                                <a:srgbClr val="2C3E50"/>
                              </a:solidFill>
                              <a:latin typeface="Cambria Math" panose="02040503050406030204" pitchFamily="18" charset="0"/>
                            </a:rPr>
                            <m:t>i</m:t>
                          </m:r>
                          <m:r>
                            <a:rPr lang="en-US" altLang="zh-CN" sz="1800" b="0" i="0" smtClean="0">
                              <a:solidFill>
                                <a:srgbClr val="2C3E50"/>
                              </a:solidFill>
                              <a:latin typeface="Cambria Math" panose="02040503050406030204" pitchFamily="18" charset="0"/>
                            </a:rPr>
                            <m:t>=1</m:t>
                          </m:r>
                        </m:sub>
                        <m:sup>
                          <m:r>
                            <m:rPr>
                              <m:sty m:val="p"/>
                            </m:rPr>
                            <a:rPr lang="en-US" altLang="zh-CN" sz="1800" b="0" i="0" smtClean="0">
                              <a:solidFill>
                                <a:srgbClr val="2C3E50"/>
                              </a:solidFill>
                              <a:latin typeface="Cambria Math" panose="02040503050406030204" pitchFamily="18" charset="0"/>
                            </a:rPr>
                            <m:t>n</m:t>
                          </m:r>
                        </m:sup>
                      </m:sSubSup>
                      <m:r>
                        <m:rPr>
                          <m:sty m:val="p"/>
                        </m:rPr>
                        <a:rPr lang="en-US" altLang="zh-CN" sz="1800" b="0" i="0" smtClean="0">
                          <a:solidFill>
                            <a:srgbClr val="2C3E50"/>
                          </a:solidFill>
                          <a:latin typeface="Cambria Math" panose="02040503050406030204" pitchFamily="18" charset="0"/>
                        </a:rPr>
                        <m:t>ULM</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C</m:t>
                          </m:r>
                        </m:e>
                        <m:sub>
                          <m:r>
                            <m:rPr>
                              <m:sty m:val="p"/>
                            </m:rPr>
                            <a:rPr lang="en-US" altLang="zh-CN" sz="1800" b="0" i="0" smtClean="0">
                              <a:solidFill>
                                <a:srgbClr val="2C3E50"/>
                              </a:solidFill>
                              <a:latin typeface="Cambria Math" panose="02040503050406030204" pitchFamily="18" charset="0"/>
                            </a:rPr>
                            <m:t>i</m:t>
                          </m:r>
                        </m:sub>
                      </m:sSub>
                      <m:r>
                        <a:rPr lang="en-US" altLang="zh-CN" sz="1800" b="0" i="0" smtClean="0">
                          <a:solidFill>
                            <a:srgbClr val="2C3E50"/>
                          </a:solidFill>
                          <a:latin typeface="Cambria Math" panose="02040503050406030204" pitchFamily="18" charset="0"/>
                        </a:rPr>
                        <m:t>×</m:t>
                      </m:r>
                      <m:r>
                        <m:rPr>
                          <m:sty m:val="p"/>
                        </m:rPr>
                        <a:rPr lang="en-US" altLang="zh-CN" sz="1800" b="0" i="0" smtClean="0">
                          <a:solidFill>
                            <a:srgbClr val="2C3E50"/>
                          </a:solidFill>
                          <a:latin typeface="Cambria Math" panose="02040503050406030204" pitchFamily="18" charset="0"/>
                        </a:rPr>
                        <m:t>U</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L</m:t>
                          </m:r>
                        </m:e>
                        <m:sub>
                          <m:r>
                            <m:rPr>
                              <m:sty m:val="p"/>
                            </m:rPr>
                            <a:rPr lang="en-US" altLang="zh-CN" sz="1800" b="0" i="0" smtClean="0">
                              <a:solidFill>
                                <a:srgbClr val="2C3E50"/>
                              </a:solidFill>
                              <a:latin typeface="Cambria Math" panose="02040503050406030204" pitchFamily="18" charset="0"/>
                            </a:rPr>
                            <m:t>i</m:t>
                          </m:r>
                        </m:sub>
                      </m:sSub>
                    </m:oMath>
                  </m:oMathPara>
                </a14:m>
                <a:endParaRPr lang="zh-CN" altLang="en-US" sz="1800" b="0" dirty="0">
                  <a:solidFill>
                    <a:srgbClr val="2C3E50"/>
                  </a:solidFill>
                  <a:latin typeface="Cambria Math" panose="02040503050406030204" pitchFamily="18" charset="0"/>
                </a:endParaRPr>
              </a:p>
            </p:txBody>
          </p:sp>
        </mc:Choice>
        <mc:Fallback>
          <p:sp>
            <p:nvSpPr>
              <p:cNvPr id="5" name="文本框 4">
                <a:extLst>
                  <a:ext uri="{FF2B5EF4-FFF2-40B4-BE49-F238E27FC236}">
                    <a16:creationId xmlns:a16="http://schemas.microsoft.com/office/drawing/2014/main" id="{B9B317FC-87AD-4B7C-A81C-0C96830B1205}"/>
                  </a:ext>
                </a:extLst>
              </p:cNvPr>
              <p:cNvSpPr txBox="1">
                <a:spLocks noRot="1" noChangeAspect="1" noMove="1" noResize="1" noEditPoints="1" noAdjustHandles="1" noChangeArrowheads="1" noChangeShapeType="1" noTextEdit="1"/>
              </p:cNvSpPr>
              <p:nvPr/>
            </p:nvSpPr>
            <p:spPr>
              <a:xfrm>
                <a:off x="4019372" y="5059732"/>
                <a:ext cx="4153253" cy="968470"/>
              </a:xfrm>
              <a:prstGeom prst="rect">
                <a:avLst/>
              </a:prstGeom>
              <a:blipFill>
                <a:blip r:embed="rId3"/>
                <a:stretch>
                  <a:fillRect b="-12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106497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Expected and Unexpected Loss</a:t>
            </a:r>
          </a:p>
        </p:txBody>
      </p:sp>
      <p:sp>
        <p:nvSpPr>
          <p:cNvPr id="3" name="文本占位符 2"/>
          <p:cNvSpPr>
            <a:spLocks noGrp="1"/>
          </p:cNvSpPr>
          <p:nvPr>
            <p:ph type="body" sz="quarter" idx="10"/>
          </p:nvPr>
        </p:nvSpPr>
        <p:spPr/>
        <p:txBody>
          <a:bodyPr>
            <a:normAutofit/>
          </a:bodyPr>
          <a:lstStyle/>
          <a:p>
            <a:r>
              <a:rPr lang="en-US" altLang="zh-CN" dirty="0"/>
              <a:t>Economic Capital</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88A4B448-282C-4F5B-BED2-1FD12E1952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00374" y="1368199"/>
            <a:ext cx="6191250" cy="385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F1CEFAC0-C643-4EAD-A16B-9E48D545179D}"/>
                  </a:ext>
                </a:extLst>
              </p:cNvPr>
              <p:cNvSpPr/>
              <p:nvPr/>
            </p:nvSpPr>
            <p:spPr>
              <a:xfrm>
                <a:off x="2615066" y="5595449"/>
                <a:ext cx="6961866" cy="4021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Eco</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nomic</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Capital</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L</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P</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Economic</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m:t>Capital</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UL</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t>
                          </m:r>
                        </m:e>
                        <m:sub>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CM</m:t>
                      </m:r>
                    </m:oMath>
                  </m:oMathPara>
                </a14:m>
                <a:endParaRPr lang="zh-CN" altLang="en-US"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endParaRPr>
              </a:p>
            </p:txBody>
          </p:sp>
        </mc:Choice>
        <mc:Fallback>
          <p:sp>
            <p:nvSpPr>
              <p:cNvPr id="5" name="矩形 4">
                <a:extLst>
                  <a:ext uri="{FF2B5EF4-FFF2-40B4-BE49-F238E27FC236}">
                    <a16:creationId xmlns:a16="http://schemas.microsoft.com/office/drawing/2014/main" id="{F1CEFAC0-C643-4EAD-A16B-9E48D545179D}"/>
                  </a:ext>
                </a:extLst>
              </p:cNvPr>
              <p:cNvSpPr>
                <a:spLocks noRot="1" noChangeAspect="1" noMove="1" noResize="1" noEditPoints="1" noAdjustHandles="1" noChangeArrowheads="1" noChangeShapeType="1" noTextEdit="1"/>
              </p:cNvSpPr>
              <p:nvPr/>
            </p:nvSpPr>
            <p:spPr>
              <a:xfrm>
                <a:off x="2615066" y="5595449"/>
                <a:ext cx="6961866" cy="402161"/>
              </a:xfrm>
              <a:prstGeom prst="rect">
                <a:avLst/>
              </a:prstGeom>
              <a:blipFill>
                <a:blip r:embed="rId3"/>
                <a:stretch>
                  <a:fillRect b="-90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51996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External and Internal Ratings</a:t>
            </a:r>
          </a:p>
        </p:txBody>
      </p:sp>
      <p:sp>
        <p:nvSpPr>
          <p:cNvPr id="3" name="文本占位符 2"/>
          <p:cNvSpPr>
            <a:spLocks noGrp="1"/>
          </p:cNvSpPr>
          <p:nvPr>
            <p:ph type="body" sz="quarter" idx="10"/>
          </p:nvPr>
        </p:nvSpPr>
        <p:spPr/>
        <p:txBody>
          <a:bodyPr>
            <a:normAutofit/>
          </a:bodyPr>
          <a:lstStyle/>
          <a:p>
            <a:endParaRPr lang="en-US" altLang="zh-CN" dirty="0">
              <a:latin typeface="+mn-lt"/>
              <a:ea typeface="+mn-ea"/>
              <a:cs typeface="+mn-ea"/>
              <a:sym typeface="+mn-lt"/>
            </a:endParaRPr>
          </a:p>
        </p:txBody>
      </p:sp>
      <p:pic>
        <p:nvPicPr>
          <p:cNvPr id="4" name="图片 4">
            <a:extLst>
              <a:ext uri="{FF2B5EF4-FFF2-40B4-BE49-F238E27FC236}">
                <a16:creationId xmlns:a16="http://schemas.microsoft.com/office/drawing/2014/main" id="{1C4F5453-D012-4188-A2D1-62FD1CC780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14524" y="1196975"/>
            <a:ext cx="8362950"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98202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External and Internal Ratings</a:t>
            </a:r>
          </a:p>
        </p:txBody>
      </p:sp>
      <p:sp>
        <p:nvSpPr>
          <p:cNvPr id="3" name="文本占位符 2"/>
          <p:cNvSpPr>
            <a:spLocks noGrp="1"/>
          </p:cNvSpPr>
          <p:nvPr>
            <p:ph type="body" sz="quarter" idx="10"/>
          </p:nvPr>
        </p:nvSpPr>
        <p:spPr/>
        <p:txBody>
          <a:bodyPr>
            <a:normAutofit/>
          </a:bodyPr>
          <a:lstStyle/>
          <a:p>
            <a:endParaRPr lang="en-US" altLang="zh-CN" dirty="0">
              <a:latin typeface="+mn-lt"/>
              <a:ea typeface="+mn-ea"/>
              <a:cs typeface="+mn-ea"/>
              <a:sym typeface="+mn-lt"/>
            </a:endParaRPr>
          </a:p>
        </p:txBody>
      </p:sp>
      <p:pic>
        <p:nvPicPr>
          <p:cNvPr id="4" name="图片 2">
            <a:extLst>
              <a:ext uri="{FF2B5EF4-FFF2-40B4-BE49-F238E27FC236}">
                <a16:creationId xmlns:a16="http://schemas.microsoft.com/office/drawing/2014/main" id="{729122D5-034F-4939-8B08-C70C1201F4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9980" y="1433320"/>
            <a:ext cx="7412037"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92064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External and Internal Ratings</a:t>
            </a:r>
          </a:p>
        </p:txBody>
      </p:sp>
      <p:sp>
        <p:nvSpPr>
          <p:cNvPr id="3" name="文本占位符 2"/>
          <p:cNvSpPr>
            <a:spLocks noGrp="1"/>
          </p:cNvSpPr>
          <p:nvPr>
            <p:ph type="body" sz="quarter" idx="10"/>
          </p:nvPr>
        </p:nvSpPr>
        <p:spPr/>
        <p:txBody>
          <a:bodyPr>
            <a:normAutofit fontScale="85000" lnSpcReduction="20000"/>
          </a:bodyPr>
          <a:lstStyle/>
          <a:p>
            <a:pPr>
              <a:spcBef>
                <a:spcPct val="0"/>
              </a:spcBef>
              <a:defRPr/>
            </a:pPr>
            <a:r>
              <a:rPr lang="en-US" altLang="zh-CN" dirty="0"/>
              <a:t>The rating process will differ according to the type of instrument being rated. The rating process for industrial bonds (following the example of S&amp;P) focuses on the following areas: </a:t>
            </a:r>
          </a:p>
          <a:p>
            <a:pPr lvl="1">
              <a:spcBef>
                <a:spcPct val="0"/>
              </a:spcBef>
              <a:defRPr/>
            </a:pPr>
            <a:r>
              <a:rPr lang="en-US" altLang="zh-CN" dirty="0"/>
              <a:t>Business Risk</a:t>
            </a:r>
          </a:p>
          <a:p>
            <a:pPr lvl="1">
              <a:spcBef>
                <a:spcPct val="0"/>
              </a:spcBef>
              <a:defRPr/>
            </a:pPr>
            <a:r>
              <a:rPr lang="en-US" altLang="zh-CN" dirty="0"/>
              <a:t>Competitive Positioning</a:t>
            </a:r>
          </a:p>
          <a:p>
            <a:pPr lvl="1">
              <a:spcBef>
                <a:spcPct val="0"/>
              </a:spcBef>
              <a:defRPr/>
            </a:pPr>
            <a:r>
              <a:rPr lang="en-US" altLang="zh-CN" dirty="0"/>
              <a:t>Financial Risk</a:t>
            </a:r>
          </a:p>
          <a:p>
            <a:pPr lvl="1">
              <a:spcBef>
                <a:spcPct val="0"/>
              </a:spcBef>
              <a:defRPr/>
            </a:pPr>
            <a:r>
              <a:rPr lang="en-US" altLang="zh-CN" dirty="0"/>
              <a:t>Financial Policies</a:t>
            </a:r>
          </a:p>
          <a:p>
            <a:pPr lvl="1">
              <a:spcBef>
                <a:spcPct val="0"/>
              </a:spcBef>
              <a:defRPr/>
            </a:pPr>
            <a:r>
              <a:rPr lang="en-US" altLang="zh-CN" dirty="0"/>
              <a:t>Capitalization</a:t>
            </a:r>
          </a:p>
          <a:p>
            <a:pPr lvl="1">
              <a:spcBef>
                <a:spcPct val="0"/>
              </a:spcBef>
              <a:defRPr/>
            </a:pPr>
            <a:r>
              <a:rPr lang="en-US" altLang="zh-CN" dirty="0"/>
              <a:t>Financial Flexibility</a:t>
            </a:r>
          </a:p>
          <a:p>
            <a:pPr>
              <a:spcBef>
                <a:spcPct val="0"/>
              </a:spcBef>
              <a:defRPr/>
            </a:pPr>
            <a:r>
              <a:rPr lang="en-US" altLang="zh-CN" dirty="0"/>
              <a:t>Internationally, the sovereign rating will be the ceiling for the rating of an issuer within that country. For sovereigns, there are additional factors to consider such as:</a:t>
            </a:r>
          </a:p>
          <a:p>
            <a:pPr lvl="1">
              <a:spcBef>
                <a:spcPct val="0"/>
              </a:spcBef>
              <a:defRPr/>
            </a:pPr>
            <a:r>
              <a:rPr lang="en-US" altLang="zh-CN" dirty="0"/>
              <a:t>Political stability</a:t>
            </a:r>
          </a:p>
          <a:p>
            <a:pPr lvl="1">
              <a:spcBef>
                <a:spcPct val="0"/>
              </a:spcBef>
              <a:defRPr/>
            </a:pPr>
            <a:r>
              <a:rPr lang="en-US" altLang="zh-CN" dirty="0"/>
              <a:t>Social and economic coherence.</a:t>
            </a:r>
          </a:p>
          <a:p>
            <a:pPr lvl="1">
              <a:spcBef>
                <a:spcPct val="0"/>
              </a:spcBef>
              <a:defRPr/>
            </a:pPr>
            <a:r>
              <a:rPr lang="en-US" altLang="zh-CN" dirty="0"/>
              <a:t>Integration into global economic system. </a:t>
            </a:r>
          </a:p>
          <a:p>
            <a:endParaRPr lang="en-US" altLang="zh-CN" dirty="0">
              <a:latin typeface="+mn-lt"/>
              <a:ea typeface="+mn-ea"/>
              <a:cs typeface="+mn-ea"/>
              <a:sym typeface="+mn-lt"/>
            </a:endParaRPr>
          </a:p>
        </p:txBody>
      </p:sp>
      <p:sp>
        <p:nvSpPr>
          <p:cNvPr id="4" name="矩形 3">
            <a:extLst>
              <a:ext uri="{FF2B5EF4-FFF2-40B4-BE49-F238E27FC236}">
                <a16:creationId xmlns:a16="http://schemas.microsoft.com/office/drawing/2014/main" id="{2B8E065C-BF22-4FBA-B5D2-DBBB91432AE7}"/>
              </a:ext>
            </a:extLst>
          </p:cNvPr>
          <p:cNvSpPr>
            <a:spLocks noChangeArrowheads="1"/>
          </p:cNvSpPr>
          <p:nvPr/>
        </p:nvSpPr>
        <p:spPr bwMode="auto">
          <a:xfrm>
            <a:off x="5058139" y="2153104"/>
            <a:ext cx="45720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12788" indent="-3492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lvl="1" algn="just">
              <a:lnSpc>
                <a:spcPct val="120000"/>
              </a:lnSpc>
              <a:buFont typeface="Wingdings" panose="05000000000000000000" pitchFamily="2" charset="2"/>
              <a:buChar char="l"/>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Industry Characteristics</a:t>
            </a:r>
          </a:p>
          <a:p>
            <a:pPr lvl="1" algn="just">
              <a:lnSpc>
                <a:spcPct val="120000"/>
              </a:lnSpc>
              <a:buFont typeface="Wingdings" panose="05000000000000000000" pitchFamily="2" charset="2"/>
              <a:buChar char="l"/>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Management</a:t>
            </a:r>
          </a:p>
          <a:p>
            <a:pPr lvl="1" algn="just">
              <a:lnSpc>
                <a:spcPct val="120000"/>
              </a:lnSpc>
              <a:buFont typeface="Wingdings" panose="05000000000000000000" pitchFamily="2" charset="2"/>
              <a:buChar char="l"/>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Financial Characteristics</a:t>
            </a:r>
          </a:p>
          <a:p>
            <a:pPr lvl="1" algn="just">
              <a:lnSpc>
                <a:spcPct val="120000"/>
              </a:lnSpc>
              <a:buFont typeface="Wingdings" panose="05000000000000000000" pitchFamily="2" charset="2"/>
              <a:buChar char="l"/>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Profitability</a:t>
            </a:r>
          </a:p>
          <a:p>
            <a:pPr lvl="1" algn="just">
              <a:lnSpc>
                <a:spcPct val="120000"/>
              </a:lnSpc>
              <a:buFont typeface="Wingdings" panose="05000000000000000000" pitchFamily="2" charset="2"/>
              <a:buChar char="l"/>
            </a:pPr>
            <a:r>
              <a:rPr lang="en-US" altLang="zh-CN" sz="1800" b="0" dirty="0">
                <a:solidFill>
                  <a:srgbClr val="2C3E50"/>
                </a:solidFill>
                <a:latin typeface="Segoe UI" panose="020B0502040204020203" pitchFamily="34" charset="0"/>
                <a:ea typeface="微软雅黑" panose="020B0503020204020204" pitchFamily="34" charset="-122"/>
                <a:cs typeface="Segoe UI" panose="020B0502040204020203" pitchFamily="34" charset="0"/>
              </a:rPr>
              <a:t>Cash flow protection</a:t>
            </a:r>
          </a:p>
        </p:txBody>
      </p:sp>
    </p:spTree>
    <p:extLst>
      <p:ext uri="{BB962C8B-B14F-4D97-AF65-F5344CB8AC3E}">
        <p14:creationId xmlns:p14="http://schemas.microsoft.com/office/powerpoint/2010/main" val="846814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External and Internal Ratings</a:t>
            </a:r>
          </a:p>
        </p:txBody>
      </p:sp>
      <p:sp>
        <p:nvSpPr>
          <p:cNvPr id="3" name="文本占位符 2"/>
          <p:cNvSpPr>
            <a:spLocks noGrp="1"/>
          </p:cNvSpPr>
          <p:nvPr>
            <p:ph type="body" sz="quarter" idx="10"/>
          </p:nvPr>
        </p:nvSpPr>
        <p:spPr/>
        <p:txBody>
          <a:bodyPr>
            <a:normAutofit fontScale="92500" lnSpcReduction="20000"/>
          </a:bodyPr>
          <a:lstStyle/>
          <a:p>
            <a:pPr>
              <a:spcBef>
                <a:spcPct val="0"/>
              </a:spcBef>
            </a:pPr>
            <a:r>
              <a:rPr lang="en-US" altLang="zh-CN" dirty="0"/>
              <a:t>Rating and Default</a:t>
            </a:r>
          </a:p>
          <a:p>
            <a:pPr lvl="1">
              <a:spcBef>
                <a:spcPct val="0"/>
              </a:spcBef>
            </a:pPr>
            <a:r>
              <a:rPr lang="en-US" altLang="zh-CN" dirty="0"/>
              <a:t>Ratings communicate an opinion about the creditworthiness of an issuer or an obligation. They should indicate the likelihood and severity of default. Characteristics of ratings performance for </a:t>
            </a:r>
            <a:r>
              <a:rPr lang="en-US" altLang="zh-CN" u="sng" dirty="0"/>
              <a:t>corporate bonds</a:t>
            </a:r>
            <a:r>
              <a:rPr lang="en-US" altLang="zh-CN" dirty="0"/>
              <a:t>:</a:t>
            </a:r>
          </a:p>
          <a:p>
            <a:pPr lvl="2">
              <a:spcBef>
                <a:spcPct val="0"/>
              </a:spcBef>
            </a:pPr>
            <a:r>
              <a:rPr lang="en-US" altLang="zh-CN" u="sng" dirty="0"/>
              <a:t>Ratings and corporate default rates are inversely related</a:t>
            </a:r>
            <a:r>
              <a:rPr lang="en-US" altLang="zh-CN" dirty="0"/>
              <a:t>. This inverse relationship holds for all time periods following the ratings, such as one year, five years, ten years, etc.</a:t>
            </a:r>
          </a:p>
          <a:p>
            <a:pPr lvl="2">
              <a:spcBef>
                <a:spcPct val="0"/>
              </a:spcBef>
            </a:pPr>
            <a:r>
              <a:rPr lang="en-US" altLang="zh-CN" dirty="0"/>
              <a:t>Yield spreads over treasury bonds correlate highly with ratings (i.e., </a:t>
            </a:r>
            <a:r>
              <a:rPr lang="en-US" altLang="zh-CN" u="sng" dirty="0"/>
              <a:t>the greater the spread, the lower the credit rating</a:t>
            </a:r>
            <a:r>
              <a:rPr lang="en-US" altLang="zh-CN" dirty="0"/>
              <a:t>).</a:t>
            </a:r>
          </a:p>
          <a:p>
            <a:pPr lvl="2">
              <a:spcBef>
                <a:spcPct val="0"/>
              </a:spcBef>
            </a:pPr>
            <a:r>
              <a:rPr lang="en-US" altLang="zh-CN" u="sng" dirty="0"/>
              <a:t>Default rates for investment grade issues (Baa or better) are substantially lower than default rates for speculative grade issues (Ba or worse)</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7200407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External and Internal Ratings</a:t>
            </a:r>
          </a:p>
        </p:txBody>
      </p:sp>
      <p:sp>
        <p:nvSpPr>
          <p:cNvPr id="3" name="文本占位符 2"/>
          <p:cNvSpPr>
            <a:spLocks noGrp="1"/>
          </p:cNvSpPr>
          <p:nvPr>
            <p:ph type="body" sz="quarter" idx="10"/>
          </p:nvPr>
        </p:nvSpPr>
        <p:spPr>
          <a:xfrm>
            <a:off x="393599" y="813469"/>
            <a:ext cx="11404800" cy="1880745"/>
          </a:xfrm>
        </p:spPr>
        <p:txBody>
          <a:bodyPr>
            <a:normAutofit fontScale="92500" lnSpcReduction="20000"/>
          </a:bodyPr>
          <a:lstStyle/>
          <a:p>
            <a:pPr>
              <a:spcBef>
                <a:spcPct val="0"/>
              </a:spcBef>
            </a:pPr>
            <a:r>
              <a:rPr lang="en-US" altLang="zh-CN" dirty="0"/>
              <a:t>Rating and Default (cont’d)</a:t>
            </a:r>
          </a:p>
          <a:p>
            <a:pPr lvl="1">
              <a:spcBef>
                <a:spcPct val="0"/>
              </a:spcBef>
            </a:pPr>
            <a:r>
              <a:rPr lang="en-US" altLang="zh-CN" dirty="0"/>
              <a:t>Agencies publish </a:t>
            </a:r>
            <a:r>
              <a:rPr lang="en-US" altLang="zh-CN" u="sng" dirty="0"/>
              <a:t>cumulative default rates</a:t>
            </a:r>
            <a:r>
              <a:rPr lang="en-US" altLang="zh-CN" dirty="0"/>
              <a:t> categorized by rating (i.e., the cumulative default rate per rating category) and </a:t>
            </a:r>
            <a:r>
              <a:rPr lang="en-US" altLang="zh-CN" u="sng" dirty="0"/>
              <a:t>transition matrices</a:t>
            </a:r>
            <a:r>
              <a:rPr lang="en-US" altLang="zh-CN" dirty="0"/>
              <a:t>. Transition matrices plot the frequency of rating migrations over time;</a:t>
            </a:r>
          </a:p>
          <a:p>
            <a:pPr>
              <a:spcBef>
                <a:spcPct val="0"/>
              </a:spcBef>
            </a:pPr>
            <a:endParaRPr lang="en-US" altLang="zh-CN" dirty="0"/>
          </a:p>
          <a:p>
            <a:endParaRPr lang="en-US" altLang="zh-CN" dirty="0">
              <a:latin typeface="+mn-lt"/>
              <a:ea typeface="+mn-ea"/>
              <a:cs typeface="+mn-ea"/>
              <a:sym typeface="+mn-lt"/>
            </a:endParaRPr>
          </a:p>
        </p:txBody>
      </p:sp>
      <p:graphicFrame>
        <p:nvGraphicFramePr>
          <p:cNvPr id="4" name="Group 6">
            <a:extLst>
              <a:ext uri="{FF2B5EF4-FFF2-40B4-BE49-F238E27FC236}">
                <a16:creationId xmlns:a16="http://schemas.microsoft.com/office/drawing/2014/main" id="{54788AD8-0FD0-40C5-A4EA-F4A4AE32CD41}"/>
              </a:ext>
            </a:extLst>
          </p:cNvPr>
          <p:cNvGraphicFramePr>
            <a:graphicFrameLocks noGrp="1"/>
          </p:cNvGraphicFramePr>
          <p:nvPr>
            <p:extLst>
              <p:ext uri="{D42A27DB-BD31-4B8C-83A1-F6EECF244321}">
                <p14:modId xmlns:p14="http://schemas.microsoft.com/office/powerpoint/2010/main" val="3345275275"/>
              </p:ext>
            </p:extLst>
          </p:nvPr>
        </p:nvGraphicFramePr>
        <p:xfrm>
          <a:off x="2806927" y="3429000"/>
          <a:ext cx="3706813" cy="2193924"/>
        </p:xfrm>
        <a:graphic>
          <a:graphicData uri="http://schemas.openxmlformats.org/drawingml/2006/table">
            <a:tbl>
              <a:tblPr/>
              <a:tblGrid>
                <a:gridCol w="863708">
                  <a:extLst>
                    <a:ext uri="{9D8B030D-6E8A-4147-A177-3AD203B41FA5}">
                      <a16:colId xmlns:a16="http://schemas.microsoft.com/office/drawing/2014/main" val="20000"/>
                    </a:ext>
                  </a:extLst>
                </a:gridCol>
                <a:gridCol w="679816">
                  <a:extLst>
                    <a:ext uri="{9D8B030D-6E8A-4147-A177-3AD203B41FA5}">
                      <a16:colId xmlns:a16="http://schemas.microsoft.com/office/drawing/2014/main" val="20001"/>
                    </a:ext>
                  </a:extLst>
                </a:gridCol>
                <a:gridCol w="679816">
                  <a:extLst>
                    <a:ext uri="{9D8B030D-6E8A-4147-A177-3AD203B41FA5}">
                      <a16:colId xmlns:a16="http://schemas.microsoft.com/office/drawing/2014/main" val="20002"/>
                    </a:ext>
                  </a:extLst>
                </a:gridCol>
                <a:gridCol w="679816">
                  <a:extLst>
                    <a:ext uri="{9D8B030D-6E8A-4147-A177-3AD203B41FA5}">
                      <a16:colId xmlns:a16="http://schemas.microsoft.com/office/drawing/2014/main" val="20003"/>
                    </a:ext>
                  </a:extLst>
                </a:gridCol>
                <a:gridCol w="803657">
                  <a:extLst>
                    <a:ext uri="{9D8B030D-6E8A-4147-A177-3AD203B41FA5}">
                      <a16:colId xmlns:a16="http://schemas.microsoft.com/office/drawing/2014/main" val="20004"/>
                    </a:ext>
                  </a:extLst>
                </a:gridCol>
              </a:tblGrid>
              <a:tr h="365654">
                <a:tc rowSpan="2">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Rating From</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gridSpan="4">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Rating To</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65654">
                <a:tc vMerge="1">
                  <a:txBody>
                    <a:bodyPr/>
                    <a:lstStyle/>
                    <a:p>
                      <a:endParaRPr lang="zh-CN" altLang="en-US"/>
                    </a:p>
                  </a:txBody>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A</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B</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C</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D</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9</a:t>
                      </a:r>
                      <a:r>
                        <a:rPr kumimoji="0" lang="zh-CN" altLang="en-US"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7</a:t>
                      </a: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3</a:t>
                      </a: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0</a:t>
                      </a: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0%</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B</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2</a:t>
                      </a: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93</a:t>
                      </a: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2</a:t>
                      </a: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3</a:t>
                      </a: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C</a:t>
                      </a:r>
                      <a:endPar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1</a:t>
                      </a: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12</a:t>
                      </a: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64</a:t>
                      </a: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23</a:t>
                      </a: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D</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0%</a:t>
                      </a:r>
                      <a:endPar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endParaRP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0%</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a:ln>
                            <a:noFill/>
                          </a:ln>
                          <a:solidFill>
                            <a:srgbClr val="2C3E50"/>
                          </a:solidFill>
                          <a:effectLst/>
                          <a:latin typeface="Segoe UI" panose="020B0502040204020203" pitchFamily="34" charset="0"/>
                          <a:ea typeface="宋体" pitchFamily="2" charset="-122"/>
                          <a:cs typeface="Segoe UI" panose="020B0502040204020203" pitchFamily="34" charset="0"/>
                        </a:rPr>
                        <a:t>0%</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tc>
                  <a:txBody>
                    <a:bodyPr/>
                    <a:lstStyle>
                      <a:lvl1pPr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1pPr>
                      <a:lvl2pPr marL="742950" indent="-285750" algn="just">
                        <a:lnSpc>
                          <a:spcPct val="120000"/>
                        </a:lnSpc>
                        <a:buClr>
                          <a:srgbClr val="800000"/>
                        </a:buClr>
                        <a:buSzPct val="80000"/>
                        <a:buFont typeface="Wingdings" pitchFamily="2" charset="2"/>
                        <a:defRPr kumimoji="1">
                          <a:solidFill>
                            <a:schemeClr val="tx1"/>
                          </a:solidFill>
                          <a:latin typeface="Arial" pitchFamily="34" charset="0"/>
                          <a:ea typeface="微软雅黑" pitchFamily="34" charset="-122"/>
                        </a:defRPr>
                      </a:lvl2pPr>
                      <a:lvl3pPr marL="1143000" indent="-228600" algn="just">
                        <a:lnSpc>
                          <a:spcPct val="120000"/>
                        </a:lnSpc>
                        <a:buClr>
                          <a:srgbClr val="800000"/>
                        </a:buClr>
                        <a:buFont typeface="Wingdings" pitchFamily="2" charset="2"/>
                        <a:defRPr kumimoji="1">
                          <a:solidFill>
                            <a:schemeClr val="tx1"/>
                          </a:solidFill>
                          <a:latin typeface="Arial" pitchFamily="34" charset="0"/>
                          <a:ea typeface="微软雅黑" pitchFamily="34" charset="-122"/>
                        </a:defRPr>
                      </a:lvl3pPr>
                      <a:lvl4pPr marL="1600200" indent="-228600">
                        <a:spcBef>
                          <a:spcPct val="30000"/>
                        </a:spcBef>
                        <a:buClr>
                          <a:srgbClr val="800000"/>
                        </a:buClr>
                        <a:buSzPct val="70000"/>
                        <a:buFont typeface="Wingdings" pitchFamily="2" charset="2"/>
                        <a:defRPr kumimoji="1">
                          <a:solidFill>
                            <a:schemeClr val="tx1"/>
                          </a:solidFill>
                          <a:latin typeface="Arial" pitchFamily="34" charset="0"/>
                          <a:ea typeface="微软雅黑" pitchFamily="34" charset="-122"/>
                        </a:defRPr>
                      </a:lvl4pPr>
                      <a:lvl5pPr marL="2057400" indent="-228600">
                        <a:spcBef>
                          <a:spcPct val="30000"/>
                        </a:spcBef>
                        <a:buClr>
                          <a:srgbClr val="800000"/>
                        </a:buClr>
                        <a:buSzPct val="80000"/>
                        <a:buFont typeface="Wingdings" pitchFamily="2" charset="2"/>
                        <a:defRPr kumimoji="1">
                          <a:solidFill>
                            <a:schemeClr val="tx1"/>
                          </a:solidFill>
                          <a:latin typeface="Arial" pitchFamily="34" charset="0"/>
                          <a:ea typeface="微软雅黑" pitchFamily="34" charset="-122"/>
                        </a:defRPr>
                      </a:lvl5pPr>
                      <a:lvl6pPr marL="25146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6pPr>
                      <a:lvl7pPr marL="29718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7pPr>
                      <a:lvl8pPr marL="34290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8pPr>
                      <a:lvl9pPr marL="3886200" indent="-228600" eaLnBrk="0" fontAlgn="base" hangingPunct="0">
                        <a:spcBef>
                          <a:spcPct val="30000"/>
                        </a:spcBef>
                        <a:spcAft>
                          <a:spcPct val="0"/>
                        </a:spcAft>
                        <a:buClr>
                          <a:srgbClr val="800000"/>
                        </a:buClr>
                        <a:buSzPct val="80000"/>
                        <a:buFont typeface="Wingdings" pitchFamily="2" charset="2"/>
                        <a:defRPr kumimoji="1">
                          <a:solidFill>
                            <a:schemeClr val="tx1"/>
                          </a:solidFill>
                          <a:latin typeface="Arial" pitchFamily="34" charset="0"/>
                          <a:ea typeface="微软雅黑" pitchFamily="34" charset="-122"/>
                        </a:defRPr>
                      </a:lvl9pPr>
                    </a:lstStyle>
                    <a:p>
                      <a:pPr marL="0" marR="0" lvl="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a:ln>
                            <a:noFill/>
                          </a:ln>
                          <a:solidFill>
                            <a:srgbClr val="2C3E50"/>
                          </a:solidFill>
                          <a:effectLst/>
                          <a:latin typeface="Segoe UI" panose="020B0502040204020203" pitchFamily="34" charset="0"/>
                          <a:ea typeface="宋体" pitchFamily="2" charset="-122"/>
                          <a:cs typeface="Segoe UI" panose="020B0502040204020203" pitchFamily="34" charset="0"/>
                        </a:rPr>
                        <a:t>100%</a:t>
                      </a:r>
                    </a:p>
                  </a:txBody>
                  <a:tcPr marL="91433" marR="91433" marT="45636" marB="45636" horzOverflow="overflow">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5" name="组合 4">
            <a:extLst>
              <a:ext uri="{FF2B5EF4-FFF2-40B4-BE49-F238E27FC236}">
                <a16:creationId xmlns:a16="http://schemas.microsoft.com/office/drawing/2014/main" id="{34F35A86-2352-4111-A0DB-FC4B7B58AA66}"/>
              </a:ext>
            </a:extLst>
          </p:cNvPr>
          <p:cNvGrpSpPr>
            <a:grpSpLocks/>
          </p:cNvGrpSpPr>
          <p:nvPr/>
        </p:nvGrpSpPr>
        <p:grpSpPr bwMode="auto">
          <a:xfrm>
            <a:off x="6555014" y="3697288"/>
            <a:ext cx="3475038" cy="1700212"/>
            <a:chOff x="971600" y="3356992"/>
            <a:chExt cx="4277397" cy="1931175"/>
          </a:xfrm>
        </p:grpSpPr>
        <p:sp>
          <p:nvSpPr>
            <p:cNvPr id="6" name="文本框 5">
              <a:extLst>
                <a:ext uri="{FF2B5EF4-FFF2-40B4-BE49-F238E27FC236}">
                  <a16:creationId xmlns:a16="http://schemas.microsoft.com/office/drawing/2014/main" id="{121C5767-E4B4-41DF-A795-8B94FB6B2400}"/>
                </a:ext>
              </a:extLst>
            </p:cNvPr>
            <p:cNvSpPr txBox="1">
              <a:spLocks noChangeArrowheads="1"/>
            </p:cNvSpPr>
            <p:nvPr/>
          </p:nvSpPr>
          <p:spPr bwMode="auto">
            <a:xfrm>
              <a:off x="971600" y="3356992"/>
              <a:ext cx="867525"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Time 0</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7" name="文本框 6">
              <a:extLst>
                <a:ext uri="{FF2B5EF4-FFF2-40B4-BE49-F238E27FC236}">
                  <a16:creationId xmlns:a16="http://schemas.microsoft.com/office/drawing/2014/main" id="{7A02A0A8-6C21-41ED-94FD-21F1FA42AB73}"/>
                </a:ext>
              </a:extLst>
            </p:cNvPr>
            <p:cNvSpPr txBox="1">
              <a:spLocks noChangeArrowheads="1"/>
            </p:cNvSpPr>
            <p:nvPr/>
          </p:nvSpPr>
          <p:spPr bwMode="auto">
            <a:xfrm>
              <a:off x="2676536" y="3356992"/>
              <a:ext cx="867525"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Time 1</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8" name="文本框 7">
              <a:extLst>
                <a:ext uri="{FF2B5EF4-FFF2-40B4-BE49-F238E27FC236}">
                  <a16:creationId xmlns:a16="http://schemas.microsoft.com/office/drawing/2014/main" id="{EF4451C5-D2BA-4BB6-8AC1-E0B8758FB27F}"/>
                </a:ext>
              </a:extLst>
            </p:cNvPr>
            <p:cNvSpPr txBox="1">
              <a:spLocks noChangeArrowheads="1"/>
            </p:cNvSpPr>
            <p:nvPr/>
          </p:nvSpPr>
          <p:spPr bwMode="auto">
            <a:xfrm>
              <a:off x="4381472" y="3383987"/>
              <a:ext cx="867525"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Time 2</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9" name="文本框 8">
              <a:extLst>
                <a:ext uri="{FF2B5EF4-FFF2-40B4-BE49-F238E27FC236}">
                  <a16:creationId xmlns:a16="http://schemas.microsoft.com/office/drawing/2014/main" id="{1E222F75-8A3F-44FC-9F90-F8603E5EC4A8}"/>
                </a:ext>
              </a:extLst>
            </p:cNvPr>
            <p:cNvSpPr txBox="1">
              <a:spLocks noChangeArrowheads="1"/>
            </p:cNvSpPr>
            <p:nvPr/>
          </p:nvSpPr>
          <p:spPr bwMode="auto">
            <a:xfrm>
              <a:off x="1227182" y="4108063"/>
              <a:ext cx="317709"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B</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0" name="文本框 9">
              <a:extLst>
                <a:ext uri="{FF2B5EF4-FFF2-40B4-BE49-F238E27FC236}">
                  <a16:creationId xmlns:a16="http://schemas.microsoft.com/office/drawing/2014/main" id="{C7CA26B5-89FE-454E-A1EB-C28A2404A7DE}"/>
                </a:ext>
              </a:extLst>
            </p:cNvPr>
            <p:cNvSpPr txBox="1">
              <a:spLocks noChangeArrowheads="1"/>
            </p:cNvSpPr>
            <p:nvPr/>
          </p:nvSpPr>
          <p:spPr bwMode="auto">
            <a:xfrm>
              <a:off x="2955930" y="3699977"/>
              <a:ext cx="333738"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A</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31E6F1A8-9556-4AE6-9F15-0A82FD39B2F0}"/>
                </a:ext>
              </a:extLst>
            </p:cNvPr>
            <p:cNvSpPr txBox="1">
              <a:spLocks noChangeArrowheads="1"/>
            </p:cNvSpPr>
            <p:nvPr/>
          </p:nvSpPr>
          <p:spPr bwMode="auto">
            <a:xfrm>
              <a:off x="2955930" y="4089009"/>
              <a:ext cx="317709"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B</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2" name="文本框 11">
              <a:extLst>
                <a:ext uri="{FF2B5EF4-FFF2-40B4-BE49-F238E27FC236}">
                  <a16:creationId xmlns:a16="http://schemas.microsoft.com/office/drawing/2014/main" id="{6F2F3C24-AC95-424B-A064-0DE7F8737E75}"/>
                </a:ext>
              </a:extLst>
            </p:cNvPr>
            <p:cNvSpPr txBox="1">
              <a:spLocks noChangeArrowheads="1"/>
            </p:cNvSpPr>
            <p:nvPr/>
          </p:nvSpPr>
          <p:spPr bwMode="auto">
            <a:xfrm>
              <a:off x="2955930" y="4479630"/>
              <a:ext cx="327327"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C</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3" name="文本框 12">
              <a:extLst>
                <a:ext uri="{FF2B5EF4-FFF2-40B4-BE49-F238E27FC236}">
                  <a16:creationId xmlns:a16="http://schemas.microsoft.com/office/drawing/2014/main" id="{ACD21A13-657C-4B21-A01F-F20706CC7D47}"/>
                </a:ext>
              </a:extLst>
            </p:cNvPr>
            <p:cNvSpPr txBox="1">
              <a:spLocks noChangeArrowheads="1"/>
            </p:cNvSpPr>
            <p:nvPr/>
          </p:nvSpPr>
          <p:spPr bwMode="auto">
            <a:xfrm>
              <a:off x="2955930" y="4868663"/>
              <a:ext cx="346562"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D</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4" name="文本框 13">
              <a:extLst>
                <a:ext uri="{FF2B5EF4-FFF2-40B4-BE49-F238E27FC236}">
                  <a16:creationId xmlns:a16="http://schemas.microsoft.com/office/drawing/2014/main" id="{0286ED37-0DC2-4DD2-94A1-784E42D4DDB4}"/>
                </a:ext>
              </a:extLst>
            </p:cNvPr>
            <p:cNvSpPr txBox="1">
              <a:spLocks noChangeArrowheads="1"/>
            </p:cNvSpPr>
            <p:nvPr/>
          </p:nvSpPr>
          <p:spPr bwMode="auto">
            <a:xfrm>
              <a:off x="4660865" y="3699976"/>
              <a:ext cx="333738"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A</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5" name="文本框 14">
              <a:extLst>
                <a:ext uri="{FF2B5EF4-FFF2-40B4-BE49-F238E27FC236}">
                  <a16:creationId xmlns:a16="http://schemas.microsoft.com/office/drawing/2014/main" id="{C8B96476-D1D9-45F3-B6DE-5DDCD2414072}"/>
                </a:ext>
              </a:extLst>
            </p:cNvPr>
            <p:cNvSpPr txBox="1">
              <a:spLocks noChangeArrowheads="1"/>
            </p:cNvSpPr>
            <p:nvPr/>
          </p:nvSpPr>
          <p:spPr bwMode="auto">
            <a:xfrm>
              <a:off x="4660865" y="4089009"/>
              <a:ext cx="317709"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B</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6" name="文本框 15">
              <a:extLst>
                <a:ext uri="{FF2B5EF4-FFF2-40B4-BE49-F238E27FC236}">
                  <a16:creationId xmlns:a16="http://schemas.microsoft.com/office/drawing/2014/main" id="{F6D40DBD-C9D8-444B-A8B3-30529750D7EC}"/>
                </a:ext>
              </a:extLst>
            </p:cNvPr>
            <p:cNvSpPr txBox="1">
              <a:spLocks noChangeArrowheads="1"/>
            </p:cNvSpPr>
            <p:nvPr/>
          </p:nvSpPr>
          <p:spPr bwMode="auto">
            <a:xfrm>
              <a:off x="4660865" y="4479630"/>
              <a:ext cx="327327"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C</a:t>
              </a:r>
              <a:endParaRPr lang="zh-CN" altLang="en-US" sz="1800" b="0">
                <a:solidFill>
                  <a:srgbClr val="2C3E50"/>
                </a:solidFill>
                <a:latin typeface="Segoe UI" panose="020B0502040204020203" pitchFamily="34" charset="0"/>
                <a:cs typeface="Segoe UI" panose="020B0502040204020203" pitchFamily="34" charset="0"/>
              </a:endParaRPr>
            </a:p>
          </p:txBody>
        </p:sp>
        <p:sp>
          <p:nvSpPr>
            <p:cNvPr id="17" name="文本框 16">
              <a:extLst>
                <a:ext uri="{FF2B5EF4-FFF2-40B4-BE49-F238E27FC236}">
                  <a16:creationId xmlns:a16="http://schemas.microsoft.com/office/drawing/2014/main" id="{B90A6885-80B0-43B7-9F7F-A8752F6CF257}"/>
                </a:ext>
              </a:extLst>
            </p:cNvPr>
            <p:cNvSpPr txBox="1">
              <a:spLocks noChangeArrowheads="1"/>
            </p:cNvSpPr>
            <p:nvPr/>
          </p:nvSpPr>
          <p:spPr bwMode="auto">
            <a:xfrm>
              <a:off x="4660865" y="4868663"/>
              <a:ext cx="346562" cy="419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200" b="1">
                  <a:solidFill>
                    <a:schemeClr val="tx1"/>
                  </a:solidFill>
                  <a:latin typeface="Times New Roman" panose="02020603050405020304" pitchFamily="18" charset="0"/>
                  <a:ea typeface="宋体" panose="02010600030101010101" pitchFamily="2" charset="-122"/>
                </a:defRPr>
              </a:lvl1pPr>
              <a:lvl2pPr marL="742950" indent="-2857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r>
                <a:rPr lang="en-US" altLang="zh-CN" sz="1800" b="0">
                  <a:solidFill>
                    <a:srgbClr val="2C3E50"/>
                  </a:solidFill>
                  <a:latin typeface="Segoe UI" panose="020B0502040204020203" pitchFamily="34" charset="0"/>
                  <a:cs typeface="Segoe UI" panose="020B0502040204020203" pitchFamily="34" charset="0"/>
                </a:rPr>
                <a:t>D</a:t>
              </a:r>
              <a:endParaRPr lang="zh-CN" altLang="en-US" sz="1800" b="0">
                <a:solidFill>
                  <a:srgbClr val="2C3E50"/>
                </a:solidFill>
                <a:latin typeface="Segoe UI" panose="020B0502040204020203" pitchFamily="34" charset="0"/>
                <a:cs typeface="Segoe UI" panose="020B0502040204020203" pitchFamily="34" charset="0"/>
              </a:endParaRPr>
            </a:p>
          </p:txBody>
        </p:sp>
        <p:cxnSp>
          <p:nvCxnSpPr>
            <p:cNvPr id="18" name="直接箭头连接符 17">
              <a:extLst>
                <a:ext uri="{FF2B5EF4-FFF2-40B4-BE49-F238E27FC236}">
                  <a16:creationId xmlns:a16="http://schemas.microsoft.com/office/drawing/2014/main" id="{6C2E9754-C869-4580-B37E-F854B8A57446}"/>
                </a:ext>
              </a:extLst>
            </p:cNvPr>
            <p:cNvCxnSpPr>
              <a:stCxn id="9" idx="3"/>
              <a:endCxn id="13" idx="1"/>
            </p:cNvCxnSpPr>
            <p:nvPr/>
          </p:nvCxnSpPr>
          <p:spPr>
            <a:xfrm>
              <a:off x="1544135" y="4318071"/>
              <a:ext cx="1412771" cy="760930"/>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a:extLst>
                <a:ext uri="{FF2B5EF4-FFF2-40B4-BE49-F238E27FC236}">
                  <a16:creationId xmlns:a16="http://schemas.microsoft.com/office/drawing/2014/main" id="{9CE23EF9-899D-4E28-8D6D-256F1C816967}"/>
                </a:ext>
              </a:extLst>
            </p:cNvPr>
            <p:cNvCxnSpPr>
              <a:stCxn id="9" idx="3"/>
              <a:endCxn id="10" idx="1"/>
            </p:cNvCxnSpPr>
            <p:nvPr/>
          </p:nvCxnSpPr>
          <p:spPr>
            <a:xfrm flipV="1">
              <a:off x="1544135" y="3910559"/>
              <a:ext cx="1412771" cy="407512"/>
            </a:xfrm>
            <a:prstGeom prst="straightConnector1">
              <a:avLst/>
            </a:prstGeom>
            <a:ln>
              <a:solidFill>
                <a:srgbClr val="2C3E50"/>
              </a:solidFill>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2F9E72A2-4824-4534-A460-9D4549092AED}"/>
                </a:ext>
              </a:extLst>
            </p:cNvPr>
            <p:cNvCxnSpPr>
              <a:stCxn id="9" idx="3"/>
              <a:endCxn id="11" idx="1"/>
            </p:cNvCxnSpPr>
            <p:nvPr/>
          </p:nvCxnSpPr>
          <p:spPr>
            <a:xfrm flipV="1">
              <a:off x="1544135" y="4298237"/>
              <a:ext cx="1412771" cy="19834"/>
            </a:xfrm>
            <a:prstGeom prst="straightConnector1">
              <a:avLst/>
            </a:prstGeom>
            <a:ln>
              <a:solidFill>
                <a:srgbClr val="2C3E50"/>
              </a:solidFill>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8E738429-8ECB-41C0-8E41-C264D109F519}"/>
                </a:ext>
              </a:extLst>
            </p:cNvPr>
            <p:cNvCxnSpPr>
              <a:stCxn id="9" idx="3"/>
              <a:endCxn id="12" idx="1"/>
            </p:cNvCxnSpPr>
            <p:nvPr/>
          </p:nvCxnSpPr>
          <p:spPr>
            <a:xfrm>
              <a:off x="1544135" y="4318071"/>
              <a:ext cx="1412771" cy="371449"/>
            </a:xfrm>
            <a:prstGeom prst="straightConnector1">
              <a:avLst/>
            </a:prstGeom>
            <a:ln>
              <a:solidFill>
                <a:srgbClr val="2C3E50"/>
              </a:solidFill>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8C15F575-2183-4813-A19D-6784A3F64842}"/>
                </a:ext>
              </a:extLst>
            </p:cNvPr>
            <p:cNvCxnSpPr>
              <a:stCxn id="10" idx="3"/>
              <a:endCxn id="17" idx="1"/>
            </p:cNvCxnSpPr>
            <p:nvPr/>
          </p:nvCxnSpPr>
          <p:spPr>
            <a:xfrm>
              <a:off x="3289093" y="3910559"/>
              <a:ext cx="1371737" cy="1168442"/>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C225DDEB-9A48-4AB6-90AC-9BF73FBD830E}"/>
                </a:ext>
              </a:extLst>
            </p:cNvPr>
            <p:cNvCxnSpPr>
              <a:stCxn id="11" idx="3"/>
              <a:endCxn id="17" idx="1"/>
            </p:cNvCxnSpPr>
            <p:nvPr/>
          </p:nvCxnSpPr>
          <p:spPr>
            <a:xfrm>
              <a:off x="3273461" y="4298237"/>
              <a:ext cx="1387369" cy="7807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E8A3A23-20E6-4CE0-A77E-4ABEF2AA18C3}"/>
                </a:ext>
              </a:extLst>
            </p:cNvPr>
            <p:cNvCxnSpPr>
              <a:stCxn id="12" idx="3"/>
              <a:endCxn id="17" idx="1"/>
            </p:cNvCxnSpPr>
            <p:nvPr/>
          </p:nvCxnSpPr>
          <p:spPr>
            <a:xfrm>
              <a:off x="3283231" y="4689521"/>
              <a:ext cx="1377598" cy="389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513435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External and Internal Ratings</a:t>
            </a:r>
          </a:p>
        </p:txBody>
      </p:sp>
      <p:sp>
        <p:nvSpPr>
          <p:cNvPr id="3" name="文本占位符 2"/>
          <p:cNvSpPr>
            <a:spLocks noGrp="1"/>
          </p:cNvSpPr>
          <p:nvPr>
            <p:ph type="body" sz="quarter" idx="10"/>
          </p:nvPr>
        </p:nvSpPr>
        <p:spPr/>
        <p:txBody>
          <a:bodyPr>
            <a:normAutofit fontScale="92500" lnSpcReduction="20000"/>
          </a:bodyPr>
          <a:lstStyle/>
          <a:p>
            <a:pPr>
              <a:lnSpc>
                <a:spcPct val="130000"/>
              </a:lnSpc>
              <a:spcBef>
                <a:spcPct val="0"/>
              </a:spcBef>
              <a:defRPr/>
            </a:pPr>
            <a:r>
              <a:rPr lang="en-US" altLang="zh-CN" dirty="0"/>
              <a:t>At-the-Point Approach and Through-the-Cycle</a:t>
            </a:r>
          </a:p>
          <a:p>
            <a:pPr lvl="1">
              <a:lnSpc>
                <a:spcPct val="130000"/>
              </a:lnSpc>
              <a:spcBef>
                <a:spcPct val="0"/>
              </a:spcBef>
              <a:defRPr/>
            </a:pPr>
            <a:r>
              <a:rPr lang="en-US" altLang="zh-CN" b="1" dirty="0"/>
              <a:t>At-the-Point-in-Time</a:t>
            </a:r>
            <a:r>
              <a:rPr lang="en-US" altLang="zh-CN" dirty="0"/>
              <a:t>: assesses credit quality </a:t>
            </a:r>
            <a:r>
              <a:rPr lang="en-US" altLang="zh-CN" u="sng" dirty="0"/>
              <a:t>over the near term</a:t>
            </a:r>
            <a:r>
              <a:rPr lang="en-US" altLang="zh-CN" dirty="0"/>
              <a:t>; i.e., a few months or one year.</a:t>
            </a:r>
          </a:p>
          <a:p>
            <a:pPr lvl="1">
              <a:lnSpc>
                <a:spcPct val="130000"/>
              </a:lnSpc>
              <a:spcBef>
                <a:spcPct val="0"/>
              </a:spcBef>
              <a:defRPr/>
            </a:pPr>
            <a:r>
              <a:rPr lang="en-US" altLang="zh-CN" b="1" dirty="0"/>
              <a:t>Through-the-Cycle</a:t>
            </a:r>
            <a:r>
              <a:rPr lang="en-US" altLang="zh-CN" dirty="0"/>
              <a:t>: rating agencies try to </a:t>
            </a:r>
            <a:r>
              <a:rPr lang="en-US" altLang="zh-CN" u="sng" dirty="0"/>
              <a:t>incorporate business cycles</a:t>
            </a:r>
            <a:r>
              <a:rPr lang="en-US" altLang="zh-CN" dirty="0"/>
              <a:t>. Ratings are therefore typically considered “through-the-cycle”. Through-the-cycle ratings try to “filter out” cycle fluctuations. Because </a:t>
            </a:r>
            <a:r>
              <a:rPr lang="en-US" altLang="zh-CN" u="sng" dirty="0"/>
              <a:t>they incorporate an average, when economic conditions vary from the average, through-the-cycle may over- and under-estimate credit quality.</a:t>
            </a:r>
          </a:p>
          <a:p>
            <a:pPr>
              <a:lnSpc>
                <a:spcPct val="130000"/>
              </a:lnSpc>
              <a:spcBef>
                <a:spcPct val="0"/>
              </a:spcBef>
              <a:defRPr/>
            </a:pPr>
            <a:r>
              <a:rPr lang="en-US" altLang="zh-CN" dirty="0"/>
              <a:t>Impact of Rating Changes on Corporate Security Price</a:t>
            </a:r>
          </a:p>
          <a:p>
            <a:pPr lvl="1">
              <a:lnSpc>
                <a:spcPct val="130000"/>
              </a:lnSpc>
              <a:spcBef>
                <a:spcPct val="0"/>
              </a:spcBef>
              <a:defRPr/>
            </a:pPr>
            <a:r>
              <a:rPr lang="en-US" altLang="zh-CN" dirty="0"/>
              <a:t>If ratings bring information about the credit quality of firms, a change in rating should lead to changes in the prices of corporate securities such as bonds issued by firm. </a:t>
            </a:r>
          </a:p>
          <a:p>
            <a:pPr lvl="2">
              <a:lnSpc>
                <a:spcPct val="130000"/>
              </a:lnSpc>
              <a:spcBef>
                <a:spcPct val="0"/>
              </a:spcBef>
              <a:defRPr/>
            </a:pPr>
            <a:r>
              <a:rPr lang="en-US" altLang="zh-CN" u="sng" dirty="0"/>
              <a:t>An upgrade is likely to have a positive impact on bond prices while a downgrade is likely to have a negative impact on bond price.</a:t>
            </a:r>
          </a:p>
          <a:p>
            <a:pPr lvl="2">
              <a:lnSpc>
                <a:spcPct val="130000"/>
              </a:lnSpc>
              <a:spcBef>
                <a:spcPct val="0"/>
              </a:spcBef>
              <a:defRPr/>
            </a:pPr>
            <a:r>
              <a:rPr lang="en-US" altLang="zh-CN" u="sng" dirty="0"/>
              <a:t>The result is statistically stronger for downgrades.</a:t>
            </a:r>
            <a:endParaRPr lang="en-US" altLang="zh-CN" b="1" u="sng" dirty="0"/>
          </a:p>
          <a:p>
            <a:endParaRPr lang="en-US" altLang="zh-CN" dirty="0">
              <a:latin typeface="+mn-lt"/>
              <a:ea typeface="+mn-ea"/>
              <a:cs typeface="+mn-ea"/>
              <a:sym typeface="+mn-lt"/>
            </a:endParaRPr>
          </a:p>
        </p:txBody>
      </p:sp>
    </p:spTree>
    <p:extLst>
      <p:ext uri="{BB962C8B-B14F-4D97-AF65-F5344CB8AC3E}">
        <p14:creationId xmlns:p14="http://schemas.microsoft.com/office/powerpoint/2010/main" val="27103612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Country Risk</a:t>
            </a:r>
          </a:p>
        </p:txBody>
      </p:sp>
      <p:sp>
        <p:nvSpPr>
          <p:cNvPr id="3" name="文本占位符 2"/>
          <p:cNvSpPr>
            <a:spLocks noGrp="1"/>
          </p:cNvSpPr>
          <p:nvPr>
            <p:ph type="body" sz="quarter" idx="10"/>
          </p:nvPr>
        </p:nvSpPr>
        <p:spPr/>
        <p:txBody>
          <a:bodyPr>
            <a:normAutofit/>
          </a:bodyPr>
          <a:lstStyle/>
          <a:p>
            <a:r>
              <a:rPr lang="en-US" altLang="zh-CN" dirty="0"/>
              <a:t>Sources of Country Risk</a:t>
            </a:r>
          </a:p>
          <a:p>
            <a:pPr lvl="1"/>
            <a:r>
              <a:rPr lang="en-US" altLang="zh-CN" dirty="0"/>
              <a:t>Economic growth life cycle</a:t>
            </a:r>
          </a:p>
          <a:p>
            <a:pPr lvl="1"/>
            <a:r>
              <a:rPr lang="en-US" altLang="zh-CN" dirty="0"/>
              <a:t>Political risk</a:t>
            </a:r>
          </a:p>
          <a:p>
            <a:pPr lvl="1"/>
            <a:r>
              <a:rPr lang="en-US" altLang="zh-CN" dirty="0"/>
              <a:t>Legal system in a country</a:t>
            </a:r>
          </a:p>
          <a:p>
            <a:pPr lvl="1"/>
            <a:r>
              <a:rPr lang="en-US" altLang="zh-CN" dirty="0"/>
              <a:t>Disproportionate dependence on a particular product or service</a:t>
            </a:r>
          </a:p>
          <a:p>
            <a:r>
              <a:rPr lang="en-US" altLang="zh-CN" dirty="0"/>
              <a:t>Composite Measures of Country Risk</a:t>
            </a:r>
          </a:p>
          <a:p>
            <a:pPr lvl="1"/>
            <a:r>
              <a:rPr lang="en-US" altLang="zh-CN" dirty="0"/>
              <a:t>Political Risk Services (PRS)</a:t>
            </a:r>
          </a:p>
          <a:p>
            <a:pPr lvl="1"/>
            <a:r>
              <a:rPr lang="en-US" altLang="zh-CN" dirty="0"/>
              <a:t>Euromoney</a:t>
            </a:r>
          </a:p>
          <a:p>
            <a:pPr lvl="1"/>
            <a:r>
              <a:rPr lang="en-US" altLang="zh-CN" dirty="0"/>
              <a:t>The Economist</a:t>
            </a:r>
          </a:p>
          <a:p>
            <a:pPr lvl="1"/>
            <a:r>
              <a:rPr lang="en-US" altLang="zh-CN" dirty="0"/>
              <a:t>The World Bank</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3538016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Country Risk</a:t>
            </a:r>
          </a:p>
        </p:txBody>
      </p:sp>
      <p:sp>
        <p:nvSpPr>
          <p:cNvPr id="3" name="文本占位符 2"/>
          <p:cNvSpPr>
            <a:spLocks noGrp="1"/>
          </p:cNvSpPr>
          <p:nvPr>
            <p:ph type="body" sz="quarter" idx="10"/>
          </p:nvPr>
        </p:nvSpPr>
        <p:spPr/>
        <p:txBody>
          <a:bodyPr>
            <a:normAutofit fontScale="92500" lnSpcReduction="10000"/>
          </a:bodyPr>
          <a:lstStyle/>
          <a:p>
            <a:pPr>
              <a:lnSpc>
                <a:spcPct val="120000"/>
              </a:lnSpc>
              <a:spcBef>
                <a:spcPct val="0"/>
              </a:spcBef>
            </a:pPr>
            <a:r>
              <a:rPr lang="en-US" altLang="zh-CN" dirty="0"/>
              <a:t>Sovereign Default</a:t>
            </a:r>
          </a:p>
          <a:p>
            <a:pPr lvl="1">
              <a:lnSpc>
                <a:spcPct val="120000"/>
              </a:lnSpc>
              <a:spcBef>
                <a:spcPct val="0"/>
              </a:spcBef>
            </a:pPr>
            <a:r>
              <a:rPr lang="en-US" altLang="zh-CN" b="1" dirty="0"/>
              <a:t>Foreign Currency Defaults</a:t>
            </a:r>
          </a:p>
          <a:p>
            <a:pPr lvl="2">
              <a:lnSpc>
                <a:spcPct val="120000"/>
              </a:lnSpc>
              <a:spcBef>
                <a:spcPct val="0"/>
              </a:spcBef>
            </a:pPr>
            <a:r>
              <a:rPr lang="en-US" altLang="zh-CN" dirty="0"/>
              <a:t>Many governments have been dependent on </a:t>
            </a:r>
            <a:r>
              <a:rPr lang="en-US" altLang="zh-CN" u="sng" dirty="0"/>
              <a:t>debt borrowed from other countries, usually denominated in a foreign currency</a:t>
            </a:r>
            <a:r>
              <a:rPr lang="en-US" altLang="zh-CN" dirty="0"/>
              <a:t>. A large proportion of sovereign defaults have occurred with this type of sovereign borrowing, </a:t>
            </a:r>
            <a:r>
              <a:rPr lang="en-US" altLang="zh-CN" u="sng" dirty="0"/>
              <a:t>as the borrowing country finds it’s short of the foreign currency to meet its obligations, without the option of being able to print money in that currency</a:t>
            </a:r>
            <a:r>
              <a:rPr lang="en-US" altLang="zh-CN" dirty="0"/>
              <a:t>.</a:t>
            </a:r>
          </a:p>
          <a:p>
            <a:pPr lvl="1">
              <a:lnSpc>
                <a:spcPct val="120000"/>
              </a:lnSpc>
              <a:spcBef>
                <a:spcPct val="0"/>
              </a:spcBef>
            </a:pPr>
            <a:r>
              <a:rPr lang="en-US" altLang="zh-CN" b="1" dirty="0"/>
              <a:t>Local Currency Defaults</a:t>
            </a:r>
          </a:p>
          <a:p>
            <a:pPr lvl="2">
              <a:lnSpc>
                <a:spcPct val="120000"/>
              </a:lnSpc>
              <a:spcBef>
                <a:spcPct val="0"/>
              </a:spcBef>
            </a:pPr>
            <a:r>
              <a:rPr lang="en-US" altLang="zh-CN" dirty="0"/>
              <a:t>Countries should be able to print more of the local currency to meet their obligations and should never default. </a:t>
            </a:r>
            <a:r>
              <a:rPr lang="en-US" altLang="zh-CN" u="sng" dirty="0"/>
              <a:t>There are three reasons why local currency default occurs. Gold Standard; Shared Currency; The Alternative of Printing more Currency to Pay Debt Obligations has Costs</a:t>
            </a:r>
            <a:r>
              <a:rPr lang="en-US" altLang="zh-CN" dirty="0"/>
              <a:t>.</a:t>
            </a:r>
          </a:p>
          <a:p>
            <a:pPr lvl="2">
              <a:lnSpc>
                <a:spcPct val="120000"/>
              </a:lnSpc>
              <a:spcBef>
                <a:spcPct val="0"/>
              </a:spcBef>
            </a:pPr>
            <a:r>
              <a:rPr lang="en-US" altLang="zh-CN" u="sng" dirty="0"/>
              <a:t>Some countries may choose to default in local currency debt because they have foreign currency debt funding local currency assets</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0114615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Country Risk</a:t>
            </a:r>
          </a:p>
        </p:txBody>
      </p:sp>
      <p:sp>
        <p:nvSpPr>
          <p:cNvPr id="3" name="文本占位符 2"/>
          <p:cNvSpPr>
            <a:spLocks noGrp="1"/>
          </p:cNvSpPr>
          <p:nvPr>
            <p:ph type="body" sz="quarter" idx="10"/>
          </p:nvPr>
        </p:nvSpPr>
        <p:spPr/>
        <p:txBody>
          <a:bodyPr>
            <a:normAutofit fontScale="92500" lnSpcReduction="10000"/>
          </a:bodyPr>
          <a:lstStyle/>
          <a:p>
            <a:pPr>
              <a:lnSpc>
                <a:spcPct val="120000"/>
              </a:lnSpc>
              <a:spcBef>
                <a:spcPct val="0"/>
              </a:spcBef>
            </a:pPr>
            <a:r>
              <a:rPr lang="en-US" altLang="zh-CN" dirty="0"/>
              <a:t>Sovereign Default (cont’d)</a:t>
            </a:r>
          </a:p>
          <a:p>
            <a:pPr lvl="1">
              <a:lnSpc>
                <a:spcPct val="120000"/>
              </a:lnSpc>
              <a:spcBef>
                <a:spcPct val="0"/>
              </a:spcBef>
            </a:pPr>
            <a:r>
              <a:rPr lang="en-US" altLang="zh-CN" b="1" dirty="0"/>
              <a:t>Factors Determining Sovereign Default Risk</a:t>
            </a:r>
          </a:p>
          <a:p>
            <a:pPr lvl="2">
              <a:lnSpc>
                <a:spcPct val="120000"/>
              </a:lnSpc>
              <a:spcBef>
                <a:spcPct val="0"/>
              </a:spcBef>
            </a:pPr>
            <a:r>
              <a:rPr lang="en-US" altLang="zh-CN" dirty="0"/>
              <a:t>Degree of Indebtedness</a:t>
            </a:r>
          </a:p>
          <a:p>
            <a:pPr lvl="2">
              <a:lnSpc>
                <a:spcPct val="120000"/>
              </a:lnSpc>
              <a:spcBef>
                <a:spcPct val="0"/>
              </a:spcBef>
            </a:pPr>
            <a:r>
              <a:rPr lang="en-US" altLang="zh-CN" dirty="0"/>
              <a:t>Pensions/Social Service Commitments</a:t>
            </a:r>
          </a:p>
          <a:p>
            <a:pPr lvl="2">
              <a:lnSpc>
                <a:spcPct val="120000"/>
              </a:lnSpc>
              <a:spcBef>
                <a:spcPct val="0"/>
              </a:spcBef>
            </a:pPr>
            <a:r>
              <a:rPr lang="en-US" altLang="zh-CN" dirty="0"/>
              <a:t>Revenues/Inflows to Government</a:t>
            </a:r>
          </a:p>
          <a:p>
            <a:pPr lvl="2">
              <a:lnSpc>
                <a:spcPct val="120000"/>
              </a:lnSpc>
              <a:spcBef>
                <a:spcPct val="0"/>
              </a:spcBef>
            </a:pPr>
            <a:r>
              <a:rPr lang="en-US" altLang="zh-CN" dirty="0"/>
              <a:t>Stability of Revenues</a:t>
            </a:r>
          </a:p>
          <a:p>
            <a:pPr lvl="2">
              <a:lnSpc>
                <a:spcPct val="120000"/>
              </a:lnSpc>
              <a:spcBef>
                <a:spcPct val="0"/>
              </a:spcBef>
            </a:pPr>
            <a:r>
              <a:rPr lang="en-US" altLang="zh-CN" dirty="0"/>
              <a:t>Political Risk</a:t>
            </a:r>
          </a:p>
          <a:p>
            <a:pPr lvl="2">
              <a:lnSpc>
                <a:spcPct val="120000"/>
              </a:lnSpc>
              <a:spcBef>
                <a:spcPct val="0"/>
              </a:spcBef>
            </a:pPr>
            <a:r>
              <a:rPr lang="en-US" altLang="zh-CN" dirty="0"/>
              <a:t>Implicit Backing from other Entities</a:t>
            </a:r>
          </a:p>
          <a:p>
            <a:pPr lvl="1">
              <a:lnSpc>
                <a:spcPct val="120000"/>
              </a:lnSpc>
              <a:spcBef>
                <a:spcPct val="0"/>
              </a:spcBef>
            </a:pPr>
            <a:r>
              <a:rPr lang="en-US" altLang="zh-CN" b="1" dirty="0"/>
              <a:t>Problems with Sovereign Default Measurement by Rating Agencies</a:t>
            </a:r>
          </a:p>
          <a:p>
            <a:pPr lvl="2">
              <a:lnSpc>
                <a:spcPct val="120000"/>
              </a:lnSpc>
              <a:spcBef>
                <a:spcPct val="0"/>
              </a:spcBef>
            </a:pPr>
            <a:r>
              <a:rPr lang="en-US" altLang="zh-CN" dirty="0"/>
              <a:t>Ratings are upward biased</a:t>
            </a:r>
          </a:p>
          <a:p>
            <a:pPr lvl="2">
              <a:lnSpc>
                <a:spcPct val="120000"/>
              </a:lnSpc>
              <a:spcBef>
                <a:spcPct val="0"/>
              </a:spcBef>
            </a:pPr>
            <a:r>
              <a:rPr lang="en-US" altLang="zh-CN" dirty="0"/>
              <a:t>There is herd behavior</a:t>
            </a:r>
          </a:p>
          <a:p>
            <a:pPr lvl="2">
              <a:lnSpc>
                <a:spcPct val="120000"/>
              </a:lnSpc>
              <a:spcBef>
                <a:spcPct val="0"/>
              </a:spcBef>
            </a:pPr>
            <a:r>
              <a:rPr lang="en-US" altLang="zh-CN" dirty="0"/>
              <a:t>Too little, too late</a:t>
            </a:r>
          </a:p>
          <a:p>
            <a:pPr lvl="2">
              <a:lnSpc>
                <a:spcPct val="120000"/>
              </a:lnSpc>
              <a:spcBef>
                <a:spcPct val="0"/>
              </a:spcBef>
            </a:pPr>
            <a:r>
              <a:rPr lang="en-US" altLang="zh-CN" dirty="0"/>
              <a:t>Vicious Cycle</a:t>
            </a:r>
          </a:p>
          <a:p>
            <a:pPr lvl="2">
              <a:lnSpc>
                <a:spcPct val="120000"/>
              </a:lnSpc>
              <a:spcBef>
                <a:spcPct val="0"/>
              </a:spcBef>
            </a:pPr>
            <a:r>
              <a:rPr lang="en-US" altLang="zh-CN" dirty="0"/>
              <a:t>Ratings Failures</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2491660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Country Risk</a:t>
            </a:r>
          </a:p>
        </p:txBody>
      </p:sp>
      <p:sp>
        <p:nvSpPr>
          <p:cNvPr id="3" name="文本占位符 2"/>
          <p:cNvSpPr>
            <a:spLocks noGrp="1"/>
          </p:cNvSpPr>
          <p:nvPr>
            <p:ph type="body" sz="quarter" idx="10"/>
          </p:nvPr>
        </p:nvSpPr>
        <p:spPr/>
        <p:txBody>
          <a:bodyPr>
            <a:normAutofit fontScale="92500" lnSpcReduction="20000"/>
          </a:bodyPr>
          <a:lstStyle/>
          <a:p>
            <a:pPr>
              <a:lnSpc>
                <a:spcPct val="130000"/>
              </a:lnSpc>
              <a:spcBef>
                <a:spcPct val="0"/>
              </a:spcBef>
              <a:defRPr/>
            </a:pPr>
            <a:r>
              <a:rPr lang="en-US" altLang="zh-CN" dirty="0"/>
              <a:t>Sovereign Default (cont’d)</a:t>
            </a:r>
          </a:p>
          <a:p>
            <a:pPr lvl="1">
              <a:lnSpc>
                <a:spcPct val="130000"/>
              </a:lnSpc>
              <a:spcBef>
                <a:spcPct val="0"/>
              </a:spcBef>
              <a:defRPr/>
            </a:pPr>
            <a:r>
              <a:rPr lang="en-US" altLang="zh-CN" b="1" dirty="0"/>
              <a:t>Using Sovereign Default Spread as a Predictor of Defaults</a:t>
            </a:r>
          </a:p>
          <a:p>
            <a:pPr lvl="2">
              <a:lnSpc>
                <a:spcPct val="130000"/>
              </a:lnSpc>
              <a:spcBef>
                <a:spcPct val="0"/>
              </a:spcBef>
              <a:defRPr/>
            </a:pPr>
            <a:r>
              <a:rPr lang="en-US" altLang="zh-CN" b="1" dirty="0"/>
              <a:t>Sovereign Default Spread</a:t>
            </a:r>
          </a:p>
          <a:p>
            <a:pPr lvl="3">
              <a:lnSpc>
                <a:spcPct val="130000"/>
              </a:lnSpc>
              <a:spcBef>
                <a:spcPct val="0"/>
              </a:spcBef>
              <a:defRPr/>
            </a:pPr>
            <a:r>
              <a:rPr lang="en-US" altLang="zh-CN" dirty="0"/>
              <a:t>When a government issues bonds, </a:t>
            </a:r>
            <a:r>
              <a:rPr lang="en-US" altLang="zh-CN" u="sng" dirty="0"/>
              <a:t>denominated in a foreign currency, the interest rate on the bond can be compared to a rate on a riskless investment in that currency.</a:t>
            </a:r>
          </a:p>
          <a:p>
            <a:pPr lvl="2">
              <a:lnSpc>
                <a:spcPct val="130000"/>
              </a:lnSpc>
              <a:spcBef>
                <a:spcPct val="0"/>
              </a:spcBef>
              <a:defRPr/>
            </a:pPr>
            <a:r>
              <a:rPr lang="en-US" altLang="zh-CN" b="1" dirty="0"/>
              <a:t>Advantage</a:t>
            </a:r>
          </a:p>
          <a:p>
            <a:pPr lvl="3">
              <a:lnSpc>
                <a:spcPct val="130000"/>
              </a:lnSpc>
              <a:spcBef>
                <a:spcPct val="0"/>
              </a:spcBef>
              <a:tabLst/>
              <a:defRPr/>
            </a:pPr>
            <a:r>
              <a:rPr lang="en-US" altLang="zh-CN" u="sng" dirty="0"/>
              <a:t>Market differentiation for risk is more granular than the ratings agencies</a:t>
            </a:r>
          </a:p>
          <a:p>
            <a:pPr lvl="3">
              <a:lnSpc>
                <a:spcPct val="130000"/>
              </a:lnSpc>
              <a:spcBef>
                <a:spcPct val="0"/>
              </a:spcBef>
              <a:tabLst/>
              <a:defRPr/>
            </a:pPr>
            <a:r>
              <a:rPr lang="en-US" altLang="zh-CN" u="sng" dirty="0"/>
              <a:t>Market-based spreads are more dynamic than ratings</a:t>
            </a:r>
          </a:p>
          <a:p>
            <a:pPr lvl="2">
              <a:lnSpc>
                <a:spcPct val="130000"/>
              </a:lnSpc>
              <a:spcBef>
                <a:spcPct val="0"/>
              </a:spcBef>
              <a:defRPr/>
            </a:pPr>
            <a:r>
              <a:rPr lang="en-US" altLang="zh-CN" b="1" dirty="0"/>
              <a:t>Disadvantages</a:t>
            </a:r>
          </a:p>
          <a:p>
            <a:pPr lvl="3">
              <a:lnSpc>
                <a:spcPct val="130000"/>
              </a:lnSpc>
              <a:spcBef>
                <a:spcPct val="0"/>
              </a:spcBef>
              <a:tabLst/>
              <a:defRPr/>
            </a:pPr>
            <a:r>
              <a:rPr lang="en-US" altLang="zh-CN" u="sng" dirty="0"/>
              <a:t>Tend to be more volatile than ratings</a:t>
            </a:r>
          </a:p>
          <a:p>
            <a:pPr lvl="3">
              <a:lnSpc>
                <a:spcPct val="130000"/>
              </a:lnSpc>
              <a:spcBef>
                <a:spcPct val="0"/>
              </a:spcBef>
              <a:tabLst/>
              <a:defRPr/>
            </a:pPr>
            <a:r>
              <a:rPr lang="en-US" altLang="zh-CN" u="sng" dirty="0"/>
              <a:t>Can be affected by variables that have nothing to do with default. Liquidity and investor demand can cause shifts in spreads that have little or nothing to do with default risk</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0038800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1</a:t>
            </a:r>
          </a:p>
        </p:txBody>
      </p:sp>
      <p:sp>
        <p:nvSpPr>
          <p:cNvPr id="3" name="文本占位符 2"/>
          <p:cNvSpPr>
            <a:spLocks noGrp="1"/>
          </p:cNvSpPr>
          <p:nvPr>
            <p:ph type="body" sz="quarter" idx="10"/>
          </p:nvPr>
        </p:nvSpPr>
        <p:spPr/>
        <p:txBody>
          <a:bodyPr>
            <a:normAutofit fontScale="77500" lnSpcReduction="20000"/>
          </a:bodyPr>
          <a:lstStyle/>
          <a:p>
            <a:pPr>
              <a:spcBef>
                <a:spcPct val="0"/>
              </a:spcBef>
            </a:pPr>
            <a:r>
              <a:rPr lang="en-US" altLang="zh-CN" dirty="0"/>
              <a:t>A bank uses a 4-grade scale for its internal credit model. The 1-year rating transition probabilities for this model are given. If a newly issued bond is rated “A” by this model, what is the probability that it will be rated “B” or lower two years from now?</a:t>
            </a:r>
          </a:p>
          <a:p>
            <a:pPr>
              <a:spcBef>
                <a:spcPct val="0"/>
              </a:spcBef>
            </a:pPr>
            <a:endParaRPr lang="en-US" altLang="zh-CN" dirty="0"/>
          </a:p>
          <a:p>
            <a:pPr>
              <a:spcBef>
                <a:spcPct val="0"/>
              </a:spcBef>
            </a:pPr>
            <a:endParaRPr lang="en-US" altLang="zh-CN" dirty="0"/>
          </a:p>
          <a:p>
            <a:pPr>
              <a:spcBef>
                <a:spcPct val="0"/>
              </a:spcBef>
            </a:pPr>
            <a:endParaRPr lang="en-US" altLang="zh-CN" dirty="0"/>
          </a:p>
          <a:p>
            <a:pPr>
              <a:spcBef>
                <a:spcPct val="0"/>
              </a:spcBef>
            </a:pPr>
            <a:endParaRPr lang="en-US" altLang="zh-CN" dirty="0"/>
          </a:p>
          <a:p>
            <a:pPr>
              <a:spcBef>
                <a:spcPct val="0"/>
              </a:spcBef>
            </a:pPr>
            <a:endParaRPr lang="en-US" altLang="zh-CN" dirty="0"/>
          </a:p>
          <a:p>
            <a:pPr lvl="1">
              <a:spcBef>
                <a:spcPct val="0"/>
              </a:spcBef>
              <a:buFont typeface="Calibri" panose="020F0502020204030204" pitchFamily="34" charset="0"/>
              <a:buAutoNum type="alphaUcPeriod"/>
            </a:pPr>
            <a:r>
              <a:rPr lang="en-US" altLang="zh-CN" dirty="0"/>
              <a:t>9%</a:t>
            </a:r>
          </a:p>
          <a:p>
            <a:pPr lvl="1">
              <a:spcBef>
                <a:spcPct val="0"/>
              </a:spcBef>
              <a:buFont typeface="Calibri" panose="020F0502020204030204" pitchFamily="34" charset="0"/>
              <a:buAutoNum type="alphaUcPeriod"/>
            </a:pPr>
            <a:r>
              <a:rPr lang="en-US" altLang="zh-CN" dirty="0"/>
              <a:t>10%</a:t>
            </a:r>
          </a:p>
          <a:p>
            <a:pPr lvl="1">
              <a:spcBef>
                <a:spcPct val="0"/>
              </a:spcBef>
              <a:buFont typeface="Calibri" panose="020F0502020204030204" pitchFamily="34" charset="0"/>
              <a:buAutoNum type="alphaUcPeriod"/>
            </a:pPr>
            <a:r>
              <a:rPr lang="en-US" altLang="zh-CN" dirty="0"/>
              <a:t>18%</a:t>
            </a:r>
          </a:p>
          <a:p>
            <a:pPr lvl="1">
              <a:spcBef>
                <a:spcPct val="0"/>
              </a:spcBef>
              <a:buFont typeface="Calibri" panose="020F0502020204030204" pitchFamily="34" charset="0"/>
              <a:buAutoNum type="alphaUcPeriod"/>
            </a:pPr>
            <a:r>
              <a:rPr lang="en-US" altLang="zh-CN" dirty="0"/>
              <a:t>19%</a:t>
            </a:r>
          </a:p>
          <a:p>
            <a:pPr lvl="1">
              <a:spcBef>
                <a:spcPct val="0"/>
              </a:spcBef>
              <a:buFont typeface="Calibri" panose="020F0502020204030204" pitchFamily="34" charset="0"/>
              <a:buAutoNum type="alphaUcPeriod"/>
            </a:pPr>
            <a:endParaRPr lang="en-US" altLang="zh-CN" dirty="0"/>
          </a:p>
          <a:p>
            <a:pPr>
              <a:spcBef>
                <a:spcPct val="0"/>
              </a:spcBef>
            </a:pPr>
            <a:r>
              <a:rPr lang="en-US" altLang="zh-CN" dirty="0"/>
              <a:t>Answer: C</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25998590-58CB-4096-B7F6-8D25CF508CAE}"/>
              </a:ext>
            </a:extLst>
          </p:cNvPr>
          <p:cNvPicPr>
            <a:picLocks noChangeAspect="1"/>
          </p:cNvPicPr>
          <p:nvPr/>
        </p:nvPicPr>
        <p:blipFill>
          <a:blip r:embed="rId2"/>
          <a:stretch>
            <a:fillRect/>
          </a:stretch>
        </p:blipFill>
        <p:spPr>
          <a:xfrm>
            <a:off x="3956117" y="2182940"/>
            <a:ext cx="4279763" cy="1871634"/>
          </a:xfrm>
          <a:prstGeom prst="rect">
            <a:avLst/>
          </a:prstGeom>
        </p:spPr>
      </p:pic>
    </p:spTree>
    <p:extLst>
      <p:ext uri="{BB962C8B-B14F-4D97-AF65-F5344CB8AC3E}">
        <p14:creationId xmlns:p14="http://schemas.microsoft.com/office/powerpoint/2010/main" val="186316977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2</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GF Bank has contractually agreed to a $50,000,000 credit facility with ABC Corp., of which $32,000,000 is currently outstanding. ABC has very little collateral, so GF Bank estimates a one-year probability of default of 3%. The collateral is unique to its industry with limited resale opportunities, so GF Bank assigns an 90% loss rate. The expected loss (EL) for GF Bank is closest to:</a:t>
            </a:r>
          </a:p>
          <a:p>
            <a:pPr lvl="1">
              <a:lnSpc>
                <a:spcPct val="140000"/>
              </a:lnSpc>
              <a:spcBef>
                <a:spcPct val="0"/>
              </a:spcBef>
              <a:buFont typeface="Calibri" panose="020F0502020204030204" pitchFamily="34" charset="0"/>
              <a:buAutoNum type="alphaUcPeriod"/>
            </a:pPr>
            <a:r>
              <a:rPr lang="en-US" altLang="zh-CN" dirty="0"/>
              <a:t>$78,000</a:t>
            </a:r>
          </a:p>
          <a:p>
            <a:pPr lvl="1">
              <a:lnSpc>
                <a:spcPct val="140000"/>
              </a:lnSpc>
              <a:spcBef>
                <a:spcPct val="0"/>
              </a:spcBef>
              <a:buFont typeface="Calibri" panose="020F0502020204030204" pitchFamily="34" charset="0"/>
              <a:buAutoNum type="alphaUcPeriod"/>
            </a:pPr>
            <a:r>
              <a:rPr lang="en-US" altLang="zh-CN" dirty="0"/>
              <a:t>$96,000</a:t>
            </a:r>
          </a:p>
          <a:p>
            <a:pPr lvl="1">
              <a:lnSpc>
                <a:spcPct val="140000"/>
              </a:lnSpc>
              <a:spcBef>
                <a:spcPct val="0"/>
              </a:spcBef>
              <a:buFont typeface="Calibri" panose="020F0502020204030204" pitchFamily="34" charset="0"/>
              <a:buAutoNum type="alphaUcPeriod"/>
            </a:pPr>
            <a:r>
              <a:rPr lang="en-US" altLang="zh-CN" dirty="0"/>
              <a:t>$788,000</a:t>
            </a:r>
          </a:p>
          <a:p>
            <a:pPr lvl="1">
              <a:lnSpc>
                <a:spcPct val="140000"/>
              </a:lnSpc>
              <a:spcBef>
                <a:spcPct val="0"/>
              </a:spcBef>
              <a:buFont typeface="Calibri" panose="020F0502020204030204" pitchFamily="34" charset="0"/>
              <a:buAutoNum type="alphaUcPeriod"/>
            </a:pPr>
            <a:r>
              <a:rPr lang="en-US" altLang="zh-CN" dirty="0"/>
              <a:t>$864,000</a:t>
            </a:r>
          </a:p>
          <a:p>
            <a:pPr lvl="1">
              <a:lnSpc>
                <a:spcPct val="140000"/>
              </a:lnSpc>
              <a:spcBef>
                <a:spcPct val="0"/>
              </a:spcBef>
              <a:buFont typeface="Calibri" panose="020F0502020204030204" pitchFamily="34" charset="0"/>
              <a:buAutoNum type="alphaUcPeriod"/>
            </a:pPr>
            <a:endParaRPr lang="en-US" altLang="zh-CN" dirty="0"/>
          </a:p>
          <a:p>
            <a:pPr>
              <a:lnSpc>
                <a:spcPct val="140000"/>
              </a:lnSpc>
              <a:spcBef>
                <a:spcPct val="0"/>
              </a:spcBef>
            </a:pPr>
            <a:r>
              <a:rPr lang="en-US" altLang="zh-CN" dirty="0"/>
              <a:t>Answer: D</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2156173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3</a:t>
            </a:r>
          </a:p>
        </p:txBody>
      </p:sp>
      <p:sp>
        <p:nvSpPr>
          <p:cNvPr id="3" name="文本占位符 2"/>
          <p:cNvSpPr>
            <a:spLocks noGrp="1"/>
          </p:cNvSpPr>
          <p:nvPr>
            <p:ph type="body" sz="quarter" idx="10"/>
          </p:nvPr>
        </p:nvSpPr>
        <p:spPr/>
        <p:txBody>
          <a:bodyPr>
            <a:normAutofit fontScale="85000" lnSpcReduction="20000"/>
          </a:bodyPr>
          <a:lstStyle/>
          <a:p>
            <a:pPr>
              <a:spcBef>
                <a:spcPct val="0"/>
              </a:spcBef>
            </a:pPr>
            <a:r>
              <a:rPr lang="en-US" altLang="zh-CN" dirty="0"/>
              <a:t>GF Bank has two assets outstanding. The features of the loans are summarized in the following table. Assuming a correlation of 0.3 between the assets, what is the value of the unexpected loss of the portfolio (ULP)?</a:t>
            </a:r>
          </a:p>
          <a:p>
            <a:pPr>
              <a:spcBef>
                <a:spcPct val="0"/>
              </a:spcBef>
            </a:pPr>
            <a:endParaRPr lang="en-US" altLang="zh-CN" dirty="0"/>
          </a:p>
          <a:p>
            <a:pPr>
              <a:spcBef>
                <a:spcPct val="0"/>
              </a:spcBef>
            </a:pPr>
            <a:endParaRPr lang="en-US" altLang="zh-CN" dirty="0"/>
          </a:p>
          <a:p>
            <a:pPr>
              <a:spcBef>
                <a:spcPct val="0"/>
              </a:spcBef>
            </a:pPr>
            <a:endParaRPr lang="en-US" altLang="zh-CN" dirty="0"/>
          </a:p>
          <a:p>
            <a:pPr>
              <a:spcBef>
                <a:spcPct val="0"/>
              </a:spcBef>
            </a:pPr>
            <a:endParaRPr lang="en-US" altLang="zh-CN" dirty="0"/>
          </a:p>
          <a:p>
            <a:pPr>
              <a:spcBef>
                <a:spcPct val="0"/>
              </a:spcBef>
            </a:pPr>
            <a:endParaRPr lang="en-US" altLang="zh-CN" dirty="0"/>
          </a:p>
          <a:p>
            <a:pPr>
              <a:spcBef>
                <a:spcPct val="0"/>
              </a:spcBef>
            </a:pPr>
            <a:endParaRPr lang="en-US" altLang="zh-CN" dirty="0"/>
          </a:p>
          <a:p>
            <a:pPr lvl="1">
              <a:spcBef>
                <a:spcPct val="0"/>
              </a:spcBef>
              <a:buFont typeface="Calibri" panose="020F0502020204030204" pitchFamily="34" charset="0"/>
              <a:buAutoNum type="alphaUcPeriod"/>
            </a:pPr>
            <a:r>
              <a:rPr lang="en-US" altLang="zh-CN" dirty="0"/>
              <a:t>Less than $500,000</a:t>
            </a:r>
          </a:p>
          <a:p>
            <a:pPr lvl="1">
              <a:spcBef>
                <a:spcPct val="0"/>
              </a:spcBef>
              <a:buFont typeface="Calibri" panose="020F0502020204030204" pitchFamily="34" charset="0"/>
              <a:buAutoNum type="alphaUcPeriod"/>
            </a:pPr>
            <a:r>
              <a:rPr lang="en-US" altLang="zh-CN" dirty="0"/>
              <a:t>Between $500,000 and $2,000,000</a:t>
            </a:r>
          </a:p>
          <a:p>
            <a:pPr lvl="1">
              <a:spcBef>
                <a:spcPct val="0"/>
              </a:spcBef>
              <a:buFont typeface="Calibri" panose="020F0502020204030204" pitchFamily="34" charset="0"/>
              <a:buAutoNum type="alphaUcPeriod"/>
            </a:pPr>
            <a:r>
              <a:rPr lang="en-US" altLang="zh-CN" dirty="0"/>
              <a:t>Between $2,000,000 and $3,000,000</a:t>
            </a:r>
          </a:p>
          <a:p>
            <a:pPr lvl="1">
              <a:spcBef>
                <a:spcPct val="0"/>
              </a:spcBef>
              <a:buFont typeface="Calibri" panose="020F0502020204030204" pitchFamily="34" charset="0"/>
              <a:buAutoNum type="alphaUcPeriod"/>
            </a:pPr>
            <a:r>
              <a:rPr lang="en-US" altLang="zh-CN" dirty="0"/>
              <a:t>Greater than $3,000,000</a:t>
            </a:r>
          </a:p>
          <a:p>
            <a:pPr>
              <a:spcBef>
                <a:spcPct val="0"/>
              </a:spcBef>
            </a:pPr>
            <a:r>
              <a:rPr lang="en-US" altLang="zh-CN" dirty="0"/>
              <a:t>Answer: A</a:t>
            </a:r>
          </a:p>
          <a:p>
            <a:endParaRPr lang="en-US" altLang="zh-CN" dirty="0">
              <a:latin typeface="+mn-lt"/>
              <a:ea typeface="+mn-ea"/>
              <a:cs typeface="+mn-ea"/>
              <a:sym typeface="+mn-lt"/>
            </a:endParaRPr>
          </a:p>
        </p:txBody>
      </p:sp>
      <p:pic>
        <p:nvPicPr>
          <p:cNvPr id="4" name="图片 3">
            <a:extLst>
              <a:ext uri="{FF2B5EF4-FFF2-40B4-BE49-F238E27FC236}">
                <a16:creationId xmlns:a16="http://schemas.microsoft.com/office/drawing/2014/main" id="{148DCC64-C009-493C-82DF-BEF452F71162}"/>
              </a:ext>
            </a:extLst>
          </p:cNvPr>
          <p:cNvPicPr>
            <a:picLocks noChangeAspect="1"/>
          </p:cNvPicPr>
          <p:nvPr/>
        </p:nvPicPr>
        <p:blipFill>
          <a:blip r:embed="rId2"/>
          <a:stretch>
            <a:fillRect/>
          </a:stretch>
        </p:blipFill>
        <p:spPr>
          <a:xfrm>
            <a:off x="4087194" y="2334673"/>
            <a:ext cx="4017612" cy="2188654"/>
          </a:xfrm>
          <a:prstGeom prst="rect">
            <a:avLst/>
          </a:prstGeom>
        </p:spPr>
      </p:pic>
    </p:spTree>
    <p:extLst>
      <p:ext uri="{BB962C8B-B14F-4D97-AF65-F5344CB8AC3E}">
        <p14:creationId xmlns:p14="http://schemas.microsoft.com/office/powerpoint/2010/main" val="38358354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4</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 A bank has extended two loans to customers in the same industry. Both loans are have an exposure amount (EA) of $50.0 million, default probability (PD) of 2.0%, loss rate (LR) of 50.0%, and standard deviation of loss rate of 60.0% such that each loan has an expected loss of $500,000 and an unexpected loss of $5.5 million. In this way, the bank's credit portfolio consists of these two credit assets; and the default correlation between the two loans is 0.28. Which is nearest to the risk contribution of each asset to the portfolio's unexpected loss?</a:t>
            </a:r>
          </a:p>
          <a:p>
            <a:pPr lvl="1">
              <a:spcBef>
                <a:spcPct val="0"/>
              </a:spcBef>
              <a:buFont typeface="Calibri" panose="020F0502020204030204" pitchFamily="34" charset="0"/>
              <a:buAutoNum type="alphaUcPeriod"/>
            </a:pPr>
            <a:r>
              <a:rPr lang="en-US" altLang="zh-CN" dirty="0"/>
              <a:t>$3.33 million</a:t>
            </a:r>
          </a:p>
          <a:p>
            <a:pPr lvl="1">
              <a:spcBef>
                <a:spcPct val="0"/>
              </a:spcBef>
              <a:buFont typeface="Calibri" panose="020F0502020204030204" pitchFamily="34" charset="0"/>
              <a:buAutoNum type="alphaUcPeriod"/>
            </a:pPr>
            <a:r>
              <a:rPr lang="en-US" altLang="zh-CN" dirty="0"/>
              <a:t>$4.40 million</a:t>
            </a:r>
          </a:p>
          <a:p>
            <a:pPr lvl="1">
              <a:spcBef>
                <a:spcPct val="0"/>
              </a:spcBef>
              <a:buFont typeface="Calibri" panose="020F0502020204030204" pitchFamily="34" charset="0"/>
              <a:buAutoNum type="alphaUcPeriod"/>
            </a:pPr>
            <a:r>
              <a:rPr lang="en-US" altLang="zh-CN" dirty="0"/>
              <a:t>$5.37 million</a:t>
            </a:r>
          </a:p>
          <a:p>
            <a:pPr lvl="1">
              <a:spcBef>
                <a:spcPct val="0"/>
              </a:spcBef>
              <a:buFont typeface="Calibri" panose="020F0502020204030204" pitchFamily="34" charset="0"/>
              <a:buAutoNum type="alphaUcPeriod"/>
            </a:pPr>
            <a:r>
              <a:rPr lang="en-US" altLang="zh-CN" dirty="0"/>
              <a:t>$5.50 million</a:t>
            </a:r>
          </a:p>
          <a:p>
            <a:pPr lvl="1">
              <a:spcBef>
                <a:spcPct val="0"/>
              </a:spcBef>
              <a:buFont typeface="Calibri" panose="020F0502020204030204" pitchFamily="34" charset="0"/>
              <a:buAutoNum type="alphaUcPeriod"/>
            </a:pPr>
            <a:endParaRPr lang="en-US" altLang="zh-CN" dirty="0"/>
          </a:p>
          <a:p>
            <a:pPr>
              <a:spcBef>
                <a:spcPct val="0"/>
              </a:spcBef>
            </a:pPr>
            <a:r>
              <a:rPr lang="en-US" altLang="zh-CN" dirty="0"/>
              <a:t>Answer: B</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4095177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Operational Risk</a:t>
            </a:r>
          </a:p>
        </p:txBody>
      </p:sp>
      <p:sp>
        <p:nvSpPr>
          <p:cNvPr id="3" name="文本占位符 2"/>
          <p:cNvSpPr>
            <a:spLocks noGrp="1"/>
          </p:cNvSpPr>
          <p:nvPr>
            <p:ph type="body" sz="quarter" idx="10"/>
          </p:nvPr>
        </p:nvSpPr>
        <p:spPr/>
        <p:txBody>
          <a:bodyPr>
            <a:normAutofit fontScale="92500"/>
          </a:bodyPr>
          <a:lstStyle/>
          <a:p>
            <a:pPr>
              <a:spcBef>
                <a:spcPct val="0"/>
              </a:spcBef>
            </a:pPr>
            <a:r>
              <a:rPr lang="en-US" altLang="zh-CN" dirty="0"/>
              <a:t>Operational Risk</a:t>
            </a:r>
          </a:p>
          <a:p>
            <a:pPr lvl="1">
              <a:spcBef>
                <a:spcPct val="0"/>
              </a:spcBef>
            </a:pPr>
            <a:r>
              <a:rPr lang="en-US" altLang="zh-CN" dirty="0"/>
              <a:t>The risk of loss resulting from </a:t>
            </a:r>
            <a:r>
              <a:rPr lang="en-US" altLang="zh-CN" u="sng" dirty="0"/>
              <a:t>inadequate or failed internal processes, people, and systems or from external events</a:t>
            </a:r>
            <a:r>
              <a:rPr lang="en-US" altLang="zh-CN" dirty="0"/>
              <a:t>.</a:t>
            </a:r>
          </a:p>
          <a:p>
            <a:pPr>
              <a:spcBef>
                <a:spcPct val="0"/>
              </a:spcBef>
            </a:pPr>
            <a:r>
              <a:rPr lang="en-US" altLang="zh-CN" dirty="0"/>
              <a:t>Basel’s Seven Categories of Operational Risk</a:t>
            </a:r>
          </a:p>
          <a:p>
            <a:pPr lvl="1">
              <a:spcBef>
                <a:spcPct val="0"/>
              </a:spcBef>
            </a:pPr>
            <a:r>
              <a:rPr lang="en-US" altLang="zh-CN" dirty="0"/>
              <a:t>Internal Fraud</a:t>
            </a:r>
          </a:p>
          <a:p>
            <a:pPr lvl="1">
              <a:spcBef>
                <a:spcPct val="0"/>
              </a:spcBef>
            </a:pPr>
            <a:r>
              <a:rPr lang="en-US" altLang="zh-CN" dirty="0"/>
              <a:t>External Fraud</a:t>
            </a:r>
          </a:p>
          <a:p>
            <a:pPr lvl="1">
              <a:spcBef>
                <a:spcPct val="0"/>
              </a:spcBef>
            </a:pPr>
            <a:r>
              <a:rPr lang="en-US" altLang="zh-CN" dirty="0"/>
              <a:t>Employment Practices and Workplace Safety</a:t>
            </a:r>
          </a:p>
          <a:p>
            <a:pPr lvl="1">
              <a:spcBef>
                <a:spcPct val="0"/>
              </a:spcBef>
            </a:pPr>
            <a:r>
              <a:rPr lang="en-US" altLang="zh-CN" dirty="0"/>
              <a:t>Clients, Products, and Business Practices</a:t>
            </a:r>
          </a:p>
          <a:p>
            <a:pPr lvl="1">
              <a:spcBef>
                <a:spcPct val="0"/>
              </a:spcBef>
            </a:pPr>
            <a:r>
              <a:rPr lang="en-US" altLang="zh-CN" dirty="0"/>
              <a:t>Damage to Physical Assets</a:t>
            </a:r>
          </a:p>
          <a:p>
            <a:pPr lvl="1">
              <a:spcBef>
                <a:spcPct val="0"/>
              </a:spcBef>
            </a:pPr>
            <a:r>
              <a:rPr lang="en-US" altLang="zh-CN" dirty="0"/>
              <a:t>Business Disruption and System Failures</a:t>
            </a:r>
          </a:p>
          <a:p>
            <a:pPr lvl="1">
              <a:spcBef>
                <a:spcPct val="0"/>
              </a:spcBef>
            </a:pPr>
            <a:r>
              <a:rPr lang="en-US" altLang="zh-CN" dirty="0"/>
              <a:t>Execution, Delivery, and Process Management</a:t>
            </a:r>
          </a:p>
          <a:p>
            <a:pPr>
              <a:spcBef>
                <a:spcPct val="0"/>
              </a:spcBef>
            </a:pPr>
            <a:endParaRPr lang="en-US" altLang="zh-CN" dirty="0"/>
          </a:p>
          <a:p>
            <a:endParaRPr lang="en-US" altLang="zh-CN" dirty="0">
              <a:latin typeface="+mn-lt"/>
              <a:ea typeface="+mn-ea"/>
              <a:cs typeface="+mn-ea"/>
              <a:sym typeface="+mn-lt"/>
            </a:endParaRPr>
          </a:p>
        </p:txBody>
      </p:sp>
    </p:spTree>
    <p:extLst>
      <p:ext uri="{BB962C8B-B14F-4D97-AF65-F5344CB8AC3E}">
        <p14:creationId xmlns:p14="http://schemas.microsoft.com/office/powerpoint/2010/main" val="37512528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Loss Distribution Approach</a:t>
            </a:r>
          </a:p>
        </p:txBody>
      </p:sp>
      <p:sp>
        <p:nvSpPr>
          <p:cNvPr id="3" name="文本占位符 2"/>
          <p:cNvSpPr>
            <a:spLocks noGrp="1"/>
          </p:cNvSpPr>
          <p:nvPr>
            <p:ph type="body" sz="quarter" idx="10"/>
          </p:nvPr>
        </p:nvSpPr>
        <p:spPr/>
        <p:txBody>
          <a:bodyPr>
            <a:normAutofit fontScale="85000" lnSpcReduction="20000"/>
          </a:bodyPr>
          <a:lstStyle/>
          <a:p>
            <a:pPr>
              <a:spcBef>
                <a:spcPct val="0"/>
              </a:spcBef>
              <a:defRPr/>
            </a:pPr>
            <a:r>
              <a:rPr lang="en-US" altLang="zh-CN" dirty="0"/>
              <a:t>Loss Frequency Distribution</a:t>
            </a:r>
          </a:p>
          <a:p>
            <a:pPr lvl="1">
              <a:spcBef>
                <a:spcPct val="0"/>
              </a:spcBef>
              <a:defRPr/>
            </a:pPr>
            <a:r>
              <a:rPr lang="en-US" altLang="zh-CN" dirty="0"/>
              <a:t>Models </a:t>
            </a:r>
            <a:r>
              <a:rPr lang="en-US" altLang="zh-CN" u="sng" dirty="0"/>
              <a:t>number of losses</a:t>
            </a:r>
          </a:p>
          <a:p>
            <a:pPr lvl="1">
              <a:spcBef>
                <a:spcPct val="0"/>
              </a:spcBef>
              <a:defRPr/>
            </a:pPr>
            <a:r>
              <a:rPr lang="en-US" altLang="zh-CN" dirty="0"/>
              <a:t>Common probability distribution: </a:t>
            </a:r>
            <a:r>
              <a:rPr lang="en-US" altLang="zh-CN" u="sng" dirty="0"/>
              <a:t>Poisson Distribution</a:t>
            </a:r>
          </a:p>
          <a:p>
            <a:pPr>
              <a:spcBef>
                <a:spcPct val="0"/>
              </a:spcBef>
              <a:defRPr/>
            </a:pPr>
            <a:r>
              <a:rPr lang="en-US" altLang="zh-CN" dirty="0"/>
              <a:t>Loss Severity Distribution</a:t>
            </a:r>
          </a:p>
          <a:p>
            <a:pPr lvl="1">
              <a:spcBef>
                <a:spcPct val="0"/>
              </a:spcBef>
              <a:defRPr/>
            </a:pPr>
            <a:r>
              <a:rPr lang="en-US" altLang="zh-CN" dirty="0"/>
              <a:t>Models </a:t>
            </a:r>
            <a:r>
              <a:rPr lang="en-US" altLang="zh-CN" u="sng" dirty="0"/>
              <a:t>size of a loss</a:t>
            </a:r>
          </a:p>
          <a:p>
            <a:pPr lvl="1">
              <a:spcBef>
                <a:spcPct val="0"/>
              </a:spcBef>
              <a:defRPr/>
            </a:pPr>
            <a:r>
              <a:rPr lang="en-US" altLang="zh-CN" dirty="0"/>
              <a:t>Common probability distribution: </a:t>
            </a:r>
            <a:r>
              <a:rPr lang="en-US" altLang="zh-CN" u="sng" dirty="0"/>
              <a:t>Lognormal Distribution</a:t>
            </a:r>
          </a:p>
          <a:p>
            <a:pPr>
              <a:spcBef>
                <a:spcPct val="0"/>
              </a:spcBef>
              <a:defRPr/>
            </a:pPr>
            <a:r>
              <a:rPr lang="en-US" altLang="zh-CN" dirty="0"/>
              <a:t>Loss Distribution</a:t>
            </a:r>
          </a:p>
          <a:p>
            <a:pPr lvl="1">
              <a:spcBef>
                <a:spcPct val="0"/>
              </a:spcBef>
              <a:defRPr/>
            </a:pPr>
            <a:r>
              <a:rPr lang="en-US" altLang="zh-CN" u="sng" dirty="0"/>
              <a:t>Assume that loss severity and loss frequency are independent</a:t>
            </a:r>
          </a:p>
          <a:p>
            <a:pPr lvl="1">
              <a:spcBef>
                <a:spcPct val="0"/>
              </a:spcBef>
              <a:defRPr/>
            </a:pPr>
            <a:r>
              <a:rPr lang="en-US" altLang="zh-CN" dirty="0"/>
              <a:t>The frequency and severity distributions must be combined; </a:t>
            </a:r>
            <a:r>
              <a:rPr lang="en-US" altLang="zh-CN" u="sng" dirty="0"/>
              <a:t>Monte Carlo simulation</a:t>
            </a:r>
            <a:r>
              <a:rPr lang="en-US" altLang="zh-CN" dirty="0"/>
              <a:t> can be used for this purpose. </a:t>
            </a:r>
          </a:p>
          <a:p>
            <a:pPr lvl="2">
              <a:spcBef>
                <a:spcPct val="0"/>
              </a:spcBef>
              <a:defRPr/>
            </a:pPr>
            <a:r>
              <a:rPr lang="en-US" altLang="zh-CN" u="sng" dirty="0"/>
              <a:t>Sample from frequency distribution to determine number of losses</a:t>
            </a:r>
          </a:p>
          <a:p>
            <a:pPr lvl="2">
              <a:spcBef>
                <a:spcPct val="0"/>
              </a:spcBef>
              <a:defRPr/>
            </a:pPr>
            <a:r>
              <a:rPr lang="en-US" altLang="zh-CN" u="sng" dirty="0"/>
              <a:t>Sample n times from the loss severity distribution to determine the loss experienced for each loss events</a:t>
            </a:r>
          </a:p>
          <a:p>
            <a:pPr lvl="2">
              <a:spcBef>
                <a:spcPct val="0"/>
              </a:spcBef>
              <a:defRPr/>
            </a:pPr>
            <a:r>
              <a:rPr lang="en-US" altLang="zh-CN" u="sng" dirty="0"/>
              <a:t>Determine the total loss experienced</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14485255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Loss Distribution Approach</a:t>
            </a:r>
          </a:p>
        </p:txBody>
      </p:sp>
      <p:sp>
        <p:nvSpPr>
          <p:cNvPr id="3" name="文本占位符 2"/>
          <p:cNvSpPr>
            <a:spLocks noGrp="1"/>
          </p:cNvSpPr>
          <p:nvPr>
            <p:ph type="body" sz="quarter" idx="10"/>
          </p:nvPr>
        </p:nvSpPr>
        <p:spPr/>
        <p:txBody>
          <a:bodyPr>
            <a:normAutofit fontScale="92500"/>
          </a:bodyPr>
          <a:lstStyle/>
          <a:p>
            <a:pPr>
              <a:spcBef>
                <a:spcPct val="0"/>
              </a:spcBef>
            </a:pPr>
            <a:r>
              <a:rPr lang="en-US" altLang="zh-CN" dirty="0"/>
              <a:t>Data Issues</a:t>
            </a:r>
          </a:p>
          <a:p>
            <a:pPr lvl="1">
              <a:spcBef>
                <a:spcPct val="0"/>
              </a:spcBef>
            </a:pPr>
            <a:r>
              <a:rPr lang="en-US" altLang="zh-CN" b="1" dirty="0"/>
              <a:t>Loss frequency distribution:</a:t>
            </a:r>
            <a:r>
              <a:rPr lang="en-US" altLang="zh-CN" dirty="0"/>
              <a:t> </a:t>
            </a:r>
            <a:r>
              <a:rPr lang="en-US" altLang="zh-CN" u="sng" dirty="0"/>
              <a:t>bank’s own data as far as possible</a:t>
            </a:r>
            <a:r>
              <a:rPr lang="en-US" altLang="zh-CN" dirty="0"/>
              <a:t>.</a:t>
            </a:r>
          </a:p>
          <a:p>
            <a:pPr lvl="1">
              <a:spcBef>
                <a:spcPct val="0"/>
              </a:spcBef>
            </a:pPr>
            <a:r>
              <a:rPr lang="en-US" altLang="zh-CN" dirty="0"/>
              <a:t>In regard to the </a:t>
            </a:r>
            <a:r>
              <a:rPr lang="en-US" altLang="zh-CN" b="1" dirty="0"/>
              <a:t>loss severity data</a:t>
            </a:r>
            <a:r>
              <a:rPr lang="en-US" altLang="zh-CN" dirty="0"/>
              <a:t>, regulators encourage banks to </a:t>
            </a:r>
            <a:r>
              <a:rPr lang="en-US" altLang="zh-CN" u="sng" dirty="0"/>
              <a:t>use their own data in conjunction with external data</a:t>
            </a:r>
            <a:r>
              <a:rPr lang="en-US" altLang="zh-CN" dirty="0"/>
              <a:t>. There are two sources of external data: data obtained through sharing arrangements between banks; and publicly available data collected by third-party vendors.</a:t>
            </a:r>
          </a:p>
          <a:p>
            <a:pPr lvl="1">
              <a:spcBef>
                <a:spcPct val="0"/>
              </a:spcBef>
            </a:pPr>
            <a:r>
              <a:rPr lang="en-US" altLang="zh-CN" dirty="0"/>
              <a:t>Relevant historical data is difficult to obtain, so regulators encourage banks to use </a:t>
            </a:r>
            <a:r>
              <a:rPr lang="en-US" altLang="zh-CN" u="sng" dirty="0"/>
              <a:t>scenario analysis</a:t>
            </a:r>
            <a:r>
              <a:rPr lang="en-US" altLang="zh-CN" dirty="0"/>
              <a:t>, in addition to internal and external loss data. This involves managerial judgment to generate scenarios where large losses occur.</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8650638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Regulatory Capital Requirement</a:t>
            </a:r>
          </a:p>
        </p:txBody>
      </p:sp>
      <p:sp>
        <p:nvSpPr>
          <p:cNvPr id="3" name="文本占位符 2"/>
          <p:cNvSpPr>
            <a:spLocks noGrp="1"/>
          </p:cNvSpPr>
          <p:nvPr>
            <p:ph type="body" sz="quarter" idx="10"/>
          </p:nvPr>
        </p:nvSpPr>
        <p:spPr>
          <a:xfrm>
            <a:off x="393599" y="813470"/>
            <a:ext cx="11404800" cy="3513602"/>
          </a:xfrm>
        </p:spPr>
        <p:txBody>
          <a:bodyPr>
            <a:normAutofit fontScale="92500" lnSpcReduction="10000"/>
          </a:bodyPr>
          <a:lstStyle/>
          <a:p>
            <a:pPr>
              <a:spcBef>
                <a:spcPct val="0"/>
              </a:spcBef>
            </a:pPr>
            <a:r>
              <a:rPr lang="en-US" altLang="zh-CN" dirty="0"/>
              <a:t>Basic Indicator Approach: </a:t>
            </a:r>
            <a:r>
              <a:rPr lang="en-US" altLang="zh-CN" b="0" dirty="0"/>
              <a:t>through a simple calculation of the average gross revenue for the past 3 years, multiplied by 15%. </a:t>
            </a:r>
          </a:p>
          <a:p>
            <a:pPr>
              <a:spcBef>
                <a:spcPct val="0"/>
              </a:spcBef>
            </a:pPr>
            <a:endParaRPr lang="en-US" altLang="zh-CN" dirty="0"/>
          </a:p>
          <a:p>
            <a:pPr lvl="1">
              <a:spcBef>
                <a:spcPct val="0"/>
              </a:spcBef>
            </a:pPr>
            <a:endParaRPr lang="en-US" altLang="zh-CN" dirty="0"/>
          </a:p>
          <a:p>
            <a:pPr>
              <a:spcBef>
                <a:spcPct val="0"/>
              </a:spcBef>
            </a:pPr>
            <a:r>
              <a:rPr lang="en-US" altLang="zh-CN" dirty="0"/>
              <a:t>Standardized Approach: </a:t>
            </a:r>
            <a:r>
              <a:rPr lang="en-US" altLang="zh-CN" b="0" dirty="0"/>
              <a:t>The total capital charge is calculated as the three-year average of the simple summation of the regulatory capital charges across each of the business lines in each year.</a:t>
            </a:r>
          </a:p>
          <a:p>
            <a:endParaRPr lang="en-US" altLang="zh-CN"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36FBF53A-33B3-40F2-BDBA-B536720E593C}"/>
              </a:ext>
            </a:extLst>
          </p:cNvPr>
          <p:cNvGraphicFramePr>
            <a:graphicFrameLocks noGrp="1"/>
          </p:cNvGraphicFramePr>
          <p:nvPr>
            <p:extLst>
              <p:ext uri="{D42A27DB-BD31-4B8C-83A1-F6EECF244321}">
                <p14:modId xmlns:p14="http://schemas.microsoft.com/office/powerpoint/2010/main" val="3281233987"/>
              </p:ext>
            </p:extLst>
          </p:nvPr>
        </p:nvGraphicFramePr>
        <p:xfrm>
          <a:off x="2516641" y="5089370"/>
          <a:ext cx="7624762" cy="1355724"/>
        </p:xfrm>
        <a:graphic>
          <a:graphicData uri="http://schemas.openxmlformats.org/drawingml/2006/table">
            <a:tbl>
              <a:tblPr/>
              <a:tblGrid>
                <a:gridCol w="3491276">
                  <a:extLst>
                    <a:ext uri="{9D8B030D-6E8A-4147-A177-3AD203B41FA5}">
                      <a16:colId xmlns:a16="http://schemas.microsoft.com/office/drawing/2014/main" val="20000"/>
                    </a:ext>
                  </a:extLst>
                </a:gridCol>
                <a:gridCol w="515964">
                  <a:extLst>
                    <a:ext uri="{9D8B030D-6E8A-4147-A177-3AD203B41FA5}">
                      <a16:colId xmlns:a16="http://schemas.microsoft.com/office/drawing/2014/main" val="20001"/>
                    </a:ext>
                  </a:extLst>
                </a:gridCol>
                <a:gridCol w="3101558">
                  <a:extLst>
                    <a:ext uri="{9D8B030D-6E8A-4147-A177-3AD203B41FA5}">
                      <a16:colId xmlns:a16="http://schemas.microsoft.com/office/drawing/2014/main" val="20002"/>
                    </a:ext>
                  </a:extLst>
                </a:gridCol>
                <a:gridCol w="515964">
                  <a:extLst>
                    <a:ext uri="{9D8B030D-6E8A-4147-A177-3AD203B41FA5}">
                      <a16:colId xmlns:a16="http://schemas.microsoft.com/office/drawing/2014/main" val="20003"/>
                    </a:ext>
                  </a:extLst>
                </a:gridCol>
              </a:tblGrid>
              <a:tr h="338931">
                <a:tc>
                  <a:txBody>
                    <a:bodyPr/>
                    <a:lstStyle/>
                    <a:p>
                      <a:pPr algn="ctr" fontAlgn="ctr">
                        <a:lnSpc>
                          <a:spcPct val="120000"/>
                        </a:lnSpc>
                      </a:pPr>
                      <a:r>
                        <a:rPr lang="en-US" sz="1800" b="0" i="0" u="none" strike="noStrike" dirty="0">
                          <a:solidFill>
                            <a:srgbClr val="2C3E50"/>
                          </a:solidFill>
                          <a:effectLst/>
                          <a:latin typeface="Segoe UI" panose="020B0502040204020203" pitchFamily="34" charset="0"/>
                          <a:ea typeface="宋体" panose="02010600030101010101" pitchFamily="2" charset="-122"/>
                        </a:rPr>
                        <a:t>Corporate Finance</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a:solidFill>
                            <a:srgbClr val="2C3E50"/>
                          </a:solidFill>
                          <a:effectLst/>
                          <a:latin typeface="Segoe UI" panose="020B0502040204020203" pitchFamily="34" charset="0"/>
                          <a:ea typeface="宋体" panose="02010600030101010101" pitchFamily="2" charset="-122"/>
                        </a:rPr>
                        <a:t>18%</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sz="1800" b="0" i="0" u="none" strike="noStrike">
                          <a:solidFill>
                            <a:srgbClr val="2C3E50"/>
                          </a:solidFill>
                          <a:effectLst/>
                          <a:latin typeface="Segoe UI" panose="020B0502040204020203" pitchFamily="34" charset="0"/>
                          <a:ea typeface="宋体" panose="02010600030101010101" pitchFamily="2" charset="-122"/>
                        </a:rPr>
                        <a:t>Angency and custody services</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a:solidFill>
                            <a:srgbClr val="2C3E50"/>
                          </a:solidFill>
                          <a:effectLst/>
                          <a:latin typeface="Segoe UI" panose="020B0502040204020203" pitchFamily="34" charset="0"/>
                          <a:ea typeface="宋体" panose="02010600030101010101" pitchFamily="2" charset="-122"/>
                        </a:rPr>
                        <a:t>15%</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0"/>
                  </a:ext>
                </a:extLst>
              </a:tr>
              <a:tr h="338931">
                <a:tc>
                  <a:txBody>
                    <a:bodyPr/>
                    <a:lstStyle/>
                    <a:p>
                      <a:pPr algn="ctr" fontAlgn="ctr">
                        <a:lnSpc>
                          <a:spcPct val="120000"/>
                        </a:lnSpc>
                      </a:pPr>
                      <a:r>
                        <a:rPr lang="en-US" sz="1800" b="0" i="0" u="none" strike="noStrike">
                          <a:solidFill>
                            <a:srgbClr val="2C3E50"/>
                          </a:solidFill>
                          <a:effectLst/>
                          <a:latin typeface="Segoe UI" panose="020B0502040204020203" pitchFamily="34" charset="0"/>
                          <a:ea typeface="宋体" panose="02010600030101010101" pitchFamily="2" charset="-122"/>
                        </a:rPr>
                        <a:t>Trading and sales</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dirty="0">
                          <a:solidFill>
                            <a:srgbClr val="2C3E50"/>
                          </a:solidFill>
                          <a:effectLst/>
                          <a:latin typeface="Segoe UI" panose="020B0502040204020203" pitchFamily="34" charset="0"/>
                          <a:ea typeface="宋体" panose="02010600030101010101" pitchFamily="2" charset="-122"/>
                        </a:rPr>
                        <a:t>18%</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sz="1800" b="0" i="0" u="none" strike="noStrike" dirty="0">
                          <a:solidFill>
                            <a:srgbClr val="2C3E50"/>
                          </a:solidFill>
                          <a:effectLst/>
                          <a:latin typeface="Segoe UI" panose="020B0502040204020203" pitchFamily="34" charset="0"/>
                          <a:ea typeface="宋体" panose="02010600030101010101" pitchFamily="2" charset="-122"/>
                        </a:rPr>
                        <a:t>Asset management</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dirty="0">
                          <a:solidFill>
                            <a:srgbClr val="2C3E50"/>
                          </a:solidFill>
                          <a:effectLst/>
                          <a:latin typeface="Segoe UI" panose="020B0502040204020203" pitchFamily="34" charset="0"/>
                          <a:ea typeface="宋体" panose="02010600030101010101" pitchFamily="2" charset="-122"/>
                        </a:rPr>
                        <a:t>12%</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1"/>
                  </a:ext>
                </a:extLst>
              </a:tr>
              <a:tr h="338931">
                <a:tc>
                  <a:txBody>
                    <a:bodyPr/>
                    <a:lstStyle/>
                    <a:p>
                      <a:pPr algn="ctr" fontAlgn="ctr">
                        <a:lnSpc>
                          <a:spcPct val="120000"/>
                        </a:lnSpc>
                      </a:pPr>
                      <a:r>
                        <a:rPr lang="en-US" sz="1800" b="0" i="0" u="none" strike="noStrike" dirty="0">
                          <a:solidFill>
                            <a:srgbClr val="2C3E50"/>
                          </a:solidFill>
                          <a:effectLst/>
                          <a:latin typeface="Segoe UI" panose="020B0502040204020203" pitchFamily="34" charset="0"/>
                          <a:ea typeface="宋体" panose="02010600030101010101" pitchFamily="2" charset="-122"/>
                        </a:rPr>
                        <a:t>Settlement and payment activities</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a:solidFill>
                            <a:srgbClr val="2C3E50"/>
                          </a:solidFill>
                          <a:effectLst/>
                          <a:latin typeface="Segoe UI" panose="020B0502040204020203" pitchFamily="34" charset="0"/>
                          <a:ea typeface="宋体" panose="02010600030101010101" pitchFamily="2" charset="-122"/>
                        </a:rPr>
                        <a:t>18%</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sz="1800" b="0" i="0" u="none" strike="noStrike" dirty="0">
                          <a:solidFill>
                            <a:srgbClr val="2C3E50"/>
                          </a:solidFill>
                          <a:effectLst/>
                          <a:latin typeface="Segoe UI" panose="020B0502040204020203" pitchFamily="34" charset="0"/>
                          <a:ea typeface="宋体" panose="02010600030101010101" pitchFamily="2" charset="-122"/>
                        </a:rPr>
                        <a:t>Retail brokerage</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a:solidFill>
                            <a:srgbClr val="2C3E50"/>
                          </a:solidFill>
                          <a:effectLst/>
                          <a:latin typeface="Segoe UI" panose="020B0502040204020203" pitchFamily="34" charset="0"/>
                          <a:ea typeface="宋体" panose="02010600030101010101" pitchFamily="2" charset="-122"/>
                        </a:rPr>
                        <a:t>12%</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2"/>
                  </a:ext>
                </a:extLst>
              </a:tr>
              <a:tr h="338931">
                <a:tc>
                  <a:txBody>
                    <a:bodyPr/>
                    <a:lstStyle/>
                    <a:p>
                      <a:pPr algn="ctr" fontAlgn="ctr">
                        <a:lnSpc>
                          <a:spcPct val="120000"/>
                        </a:lnSpc>
                      </a:pPr>
                      <a:r>
                        <a:rPr lang="en-US" sz="1800" b="0" i="0" u="none" strike="noStrike" dirty="0">
                          <a:solidFill>
                            <a:srgbClr val="2C3E50"/>
                          </a:solidFill>
                          <a:effectLst/>
                          <a:latin typeface="Segoe UI" panose="020B0502040204020203" pitchFamily="34" charset="0"/>
                          <a:ea typeface="宋体" panose="02010600030101010101" pitchFamily="2" charset="-122"/>
                        </a:rPr>
                        <a:t>Commercial banking</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dirty="0">
                          <a:solidFill>
                            <a:srgbClr val="2C3E50"/>
                          </a:solidFill>
                          <a:effectLst/>
                          <a:latin typeface="Segoe UI" panose="020B0502040204020203" pitchFamily="34" charset="0"/>
                          <a:ea typeface="宋体" panose="02010600030101010101" pitchFamily="2" charset="-122"/>
                        </a:rPr>
                        <a:t>15%</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sz="1800" b="0" i="0" u="none" strike="noStrike" dirty="0">
                          <a:solidFill>
                            <a:srgbClr val="2C3E50"/>
                          </a:solidFill>
                          <a:effectLst/>
                          <a:latin typeface="Segoe UI" panose="020B0502040204020203" pitchFamily="34" charset="0"/>
                          <a:ea typeface="宋体" panose="02010600030101010101" pitchFamily="2" charset="-122"/>
                        </a:rPr>
                        <a:t>Retail banking</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tc>
                  <a:txBody>
                    <a:bodyPr/>
                    <a:lstStyle/>
                    <a:p>
                      <a:pPr algn="ctr" fontAlgn="ctr">
                        <a:lnSpc>
                          <a:spcPct val="120000"/>
                        </a:lnSpc>
                      </a:pPr>
                      <a:r>
                        <a:rPr lang="en-US" altLang="zh-CN" sz="1800" b="0" i="0" u="none" strike="noStrike" dirty="0">
                          <a:solidFill>
                            <a:srgbClr val="2C3E50"/>
                          </a:solidFill>
                          <a:effectLst/>
                          <a:latin typeface="Segoe UI" panose="020B0502040204020203" pitchFamily="34" charset="0"/>
                          <a:ea typeface="宋体" panose="02010600030101010101" pitchFamily="2" charset="-122"/>
                        </a:rPr>
                        <a:t>12%</a:t>
                      </a:r>
                    </a:p>
                  </a:txBody>
                  <a:tcPr marL="9525" marR="9525" marT="9531" marB="0">
                    <a:lnL w="12700" cap="flat" cmpd="sng" algn="ctr">
                      <a:solidFill>
                        <a:srgbClr val="2C3E50"/>
                      </a:solidFill>
                      <a:prstDash val="solid"/>
                      <a:round/>
                      <a:headEnd type="none" w="med" len="med"/>
                      <a:tailEnd type="none" w="med" len="med"/>
                    </a:lnL>
                    <a:lnR w="12700" cap="flat" cmpd="sng" algn="ctr">
                      <a:solidFill>
                        <a:srgbClr val="2C3E50"/>
                      </a:solidFill>
                      <a:prstDash val="solid"/>
                      <a:round/>
                      <a:headEnd type="none" w="med" len="med"/>
                      <a:tailEnd type="none" w="med" len="med"/>
                    </a:lnR>
                    <a:lnT w="12700" cap="flat" cmpd="sng" algn="ctr">
                      <a:solidFill>
                        <a:srgbClr val="2C3E50"/>
                      </a:solidFill>
                      <a:prstDash val="solid"/>
                      <a:round/>
                      <a:headEnd type="none" w="med" len="med"/>
                      <a:tailEnd type="none" w="med" len="med"/>
                    </a:lnT>
                    <a:lnB w="12700" cap="flat" cmpd="sng" algn="ctr">
                      <a:solidFill>
                        <a:srgbClr val="2C3E5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DBFEE6A0-708D-4A98-8BF6-E279AA95183A}"/>
                  </a:ext>
                </a:extLst>
              </p:cNvPr>
              <p:cNvSpPr/>
              <p:nvPr/>
            </p:nvSpPr>
            <p:spPr>
              <a:xfrm>
                <a:off x="4244312" y="2053032"/>
                <a:ext cx="4104456" cy="439864"/>
              </a:xfrm>
              <a:prstGeom prst="rect">
                <a:avLst/>
              </a:prstGeom>
              <a:ln w="1905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ORC</m:t>
                          </m:r>
                        </m:e>
                        <m:sup>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BIA</m:t>
                          </m:r>
                        </m:sup>
                      </m:sSup>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f>
                        <m:fPr>
                          <m:type m:val="lin"/>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fPr>
                        <m:num>
                          <m:d>
                            <m:dPr>
                              <m:begChr m:val="["/>
                              <m:endChr m:val="]"/>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d>
                                <m:d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d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G</m:t>
                                  </m:r>
                                  <m:sSub>
                                    <m:sSub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bPr>
                                    <m:e>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I</m:t>
                                      </m:r>
                                    </m:e>
                                    <m: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sub>
                                  </m:sSub>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α</m:t>
                                  </m:r>
                                </m:e>
                              </m:d>
                            </m:e>
                          </m:d>
                        </m:num>
                        <m:den>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n</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den>
                      </m:f>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α</m:t>
                      </m:r>
                      <m: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=15%</m:t>
                      </m:r>
                    </m:oMath>
                  </m:oMathPara>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5" name="矩形 4">
                <a:extLst>
                  <a:ext uri="{FF2B5EF4-FFF2-40B4-BE49-F238E27FC236}">
                    <a16:creationId xmlns:a16="http://schemas.microsoft.com/office/drawing/2014/main" id="{DBFEE6A0-708D-4A98-8BF6-E279AA95183A}"/>
                  </a:ext>
                </a:extLst>
              </p:cNvPr>
              <p:cNvSpPr>
                <a:spLocks noRot="1" noChangeAspect="1" noMove="1" noResize="1" noEditPoints="1" noAdjustHandles="1" noChangeArrowheads="1" noChangeShapeType="1" noTextEdit="1"/>
              </p:cNvSpPr>
              <p:nvPr/>
            </p:nvSpPr>
            <p:spPr>
              <a:xfrm>
                <a:off x="4244312" y="2053032"/>
                <a:ext cx="4104456" cy="439864"/>
              </a:xfrm>
              <a:prstGeom prst="rect">
                <a:avLst/>
              </a:prstGeom>
              <a:blipFill>
                <a:blip r:embed="rId2"/>
                <a:stretch>
                  <a:fillRect t="-80000" b="-138667"/>
                </a:stretch>
              </a:blipFill>
              <a:ln w="19050">
                <a:solidFill>
                  <a:srgbClr val="FF0000"/>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20AE98E9-9F75-41CA-B0A6-AF6AB1862D20}"/>
                  </a:ext>
                </a:extLst>
              </p:cNvPr>
              <p:cNvSpPr txBox="1"/>
              <p:nvPr/>
            </p:nvSpPr>
            <p:spPr>
              <a:xfrm>
                <a:off x="4001333" y="4183368"/>
                <a:ext cx="4655377" cy="637419"/>
              </a:xfrm>
              <a:prstGeom prst="rect">
                <a:avLst/>
              </a:prstGeom>
              <a:noFill/>
              <a:ln w="19050">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800" b="0" i="0" smtClean="0">
                          <a:solidFill>
                            <a:srgbClr val="2C3E50"/>
                          </a:solidFill>
                          <a:latin typeface="Cambria Math" panose="02040503050406030204" pitchFamily="18" charset="0"/>
                        </a:rPr>
                        <m:t>OR</m:t>
                      </m:r>
                      <m:sSup>
                        <m:sSupPr>
                          <m:ctrlPr>
                            <a:rPr lang="en-US" altLang="zh-CN" sz="1800" b="0" i="1" smtClean="0">
                              <a:solidFill>
                                <a:srgbClr val="2C3E50"/>
                              </a:solidFill>
                              <a:latin typeface="Cambria Math" panose="02040503050406030204" pitchFamily="18" charset="0"/>
                            </a:rPr>
                          </m:ctrlPr>
                        </m:sSupPr>
                        <m:e>
                          <m:r>
                            <m:rPr>
                              <m:sty m:val="p"/>
                            </m:rPr>
                            <a:rPr lang="en-US" altLang="zh-CN" sz="1800" b="0" i="0" smtClean="0">
                              <a:solidFill>
                                <a:srgbClr val="2C3E50"/>
                              </a:solidFill>
                              <a:latin typeface="Cambria Math" panose="02040503050406030204" pitchFamily="18" charset="0"/>
                            </a:rPr>
                            <m:t>C</m:t>
                          </m:r>
                        </m:e>
                        <m:sup>
                          <m:r>
                            <m:rPr>
                              <m:sty m:val="p"/>
                            </m:rPr>
                            <a:rPr lang="en-US" altLang="zh-CN" sz="1800" b="0" i="0" smtClean="0">
                              <a:solidFill>
                                <a:srgbClr val="2C3E50"/>
                              </a:solidFill>
                              <a:latin typeface="Cambria Math" panose="02040503050406030204" pitchFamily="18" charset="0"/>
                            </a:rPr>
                            <m:t>TSA</m:t>
                          </m:r>
                        </m:sup>
                      </m:sSup>
                      <m:r>
                        <a:rPr lang="en-US" altLang="zh-CN" sz="1800" b="0" i="0" smtClean="0">
                          <a:solidFill>
                            <a:srgbClr val="2C3E50"/>
                          </a:solidFill>
                          <a:latin typeface="Cambria Math" panose="02040503050406030204" pitchFamily="18" charset="0"/>
                        </a:rPr>
                        <m:t>=</m:t>
                      </m:r>
                      <m:f>
                        <m:fPr>
                          <m:ctrlPr>
                            <a:rPr lang="en-US" altLang="zh-CN" sz="1800" b="0" i="1" smtClean="0">
                              <a:solidFill>
                                <a:srgbClr val="2C3E50"/>
                              </a:solidFill>
                              <a:latin typeface="Cambria Math" panose="02040503050406030204" pitchFamily="18" charset="0"/>
                            </a:rPr>
                          </m:ctrlPr>
                        </m:fPr>
                        <m:num>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Σ</m:t>
                              </m:r>
                            </m:e>
                            <m:sub>
                              <m:r>
                                <m:rPr>
                                  <m:sty m:val="p"/>
                                </m:rPr>
                                <a:rPr lang="en-US" altLang="zh-CN" sz="1800" b="0" i="0" smtClean="0">
                                  <a:solidFill>
                                    <a:srgbClr val="2C3E50"/>
                                  </a:solidFill>
                                  <a:latin typeface="Cambria Math" panose="02040503050406030204" pitchFamily="18" charset="0"/>
                                </a:rPr>
                                <m:t>year</m:t>
                              </m:r>
                              <m:r>
                                <a:rPr lang="en-US" altLang="zh-CN" sz="1800" b="0" i="0" smtClean="0">
                                  <a:solidFill>
                                    <a:srgbClr val="2C3E50"/>
                                  </a:solidFill>
                                  <a:latin typeface="Cambria Math" panose="02040503050406030204" pitchFamily="18" charset="0"/>
                                </a:rPr>
                                <m:t> 1−3</m:t>
                              </m:r>
                            </m:sub>
                          </m:sSub>
                          <m:func>
                            <m:funcPr>
                              <m:ctrlPr>
                                <a:rPr lang="en-US" altLang="zh-CN" sz="1800" b="0" i="1" smtClean="0">
                                  <a:solidFill>
                                    <a:srgbClr val="2C3E50"/>
                                  </a:solidFill>
                                  <a:latin typeface="Cambria Math" panose="02040503050406030204" pitchFamily="18" charset="0"/>
                                </a:rPr>
                              </m:ctrlPr>
                            </m:funcPr>
                            <m:fName>
                              <m:r>
                                <m:rPr>
                                  <m:sty m:val="p"/>
                                </m:rPr>
                                <a:rPr lang="en-US" altLang="zh-CN" sz="1800" b="0" i="0" smtClean="0">
                                  <a:solidFill>
                                    <a:srgbClr val="2C3E50"/>
                                  </a:solidFill>
                                  <a:latin typeface="Cambria Math" panose="02040503050406030204" pitchFamily="18" charset="0"/>
                                </a:rPr>
                                <m:t>max</m:t>
                              </m:r>
                            </m:fName>
                            <m:e>
                              <m:d>
                                <m:dPr>
                                  <m:ctrlPr>
                                    <a:rPr lang="en-US" altLang="zh-CN" sz="1800" b="0" i="1" smtClean="0">
                                      <a:solidFill>
                                        <a:srgbClr val="2C3E50"/>
                                      </a:solidFill>
                                      <a:latin typeface="Cambria Math" panose="02040503050406030204" pitchFamily="18" charset="0"/>
                                    </a:rPr>
                                  </m:ctrlPr>
                                </m:dPr>
                                <m:e>
                                  <m:r>
                                    <m:rPr>
                                      <m:sty m:val="p"/>
                                    </m:rPr>
                                    <a:rPr lang="en-US" altLang="zh-CN" sz="1800" b="0" i="0" smtClean="0">
                                      <a:solidFill>
                                        <a:srgbClr val="2C3E50"/>
                                      </a:solidFill>
                                      <a:latin typeface="Cambria Math" panose="02040503050406030204" pitchFamily="18" charset="0"/>
                                    </a:rPr>
                                    <m:t>Σ</m:t>
                                  </m:r>
                                  <m:d>
                                    <m:dPr>
                                      <m:ctrlPr>
                                        <a:rPr lang="en-US" altLang="zh-CN" sz="1800" b="0" i="1" smtClean="0">
                                          <a:solidFill>
                                            <a:srgbClr val="2C3E50"/>
                                          </a:solidFill>
                                          <a:latin typeface="Cambria Math" panose="02040503050406030204" pitchFamily="18" charset="0"/>
                                        </a:rPr>
                                      </m:ctrlPr>
                                    </m:dPr>
                                    <m:e>
                                      <m:r>
                                        <m:rPr>
                                          <m:sty m:val="p"/>
                                        </m:rPr>
                                        <a:rPr lang="en-US" altLang="zh-CN" sz="1800" b="0" i="0" smtClean="0">
                                          <a:solidFill>
                                            <a:srgbClr val="2C3E50"/>
                                          </a:solidFill>
                                          <a:latin typeface="Cambria Math" panose="02040503050406030204" pitchFamily="18" charset="0"/>
                                        </a:rPr>
                                        <m:t>G</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I</m:t>
                                          </m:r>
                                        </m:e>
                                        <m:sub>
                                          <m:r>
                                            <a:rPr lang="en-US" altLang="zh-CN" sz="1800" b="0" i="0" smtClean="0">
                                              <a:solidFill>
                                                <a:srgbClr val="2C3E50"/>
                                              </a:solidFill>
                                              <a:latin typeface="Cambria Math" panose="02040503050406030204" pitchFamily="18" charset="0"/>
                                            </a:rPr>
                                            <m:t>1−8</m:t>
                                          </m:r>
                                        </m:sub>
                                      </m:sSub>
                                      <m:r>
                                        <a:rPr lang="en-US" altLang="zh-CN" sz="1800" b="0" i="0" smtClean="0">
                                          <a:solidFill>
                                            <a:srgbClr val="2C3E50"/>
                                          </a:solidFill>
                                          <a:latin typeface="Cambria Math" panose="02040503050406030204" pitchFamily="18" charset="0"/>
                                        </a:rPr>
                                        <m:t>×</m:t>
                                      </m:r>
                                      <m:sSub>
                                        <m:sSubPr>
                                          <m:ctrlPr>
                                            <a:rPr lang="en-US" altLang="zh-CN" sz="1800" b="0" i="1" smtClean="0">
                                              <a:solidFill>
                                                <a:srgbClr val="2C3E50"/>
                                              </a:solidFill>
                                              <a:latin typeface="Cambria Math" panose="02040503050406030204" pitchFamily="18" charset="0"/>
                                            </a:rPr>
                                          </m:ctrlPr>
                                        </m:sSubPr>
                                        <m:e>
                                          <m:r>
                                            <m:rPr>
                                              <m:sty m:val="p"/>
                                            </m:rPr>
                                            <a:rPr lang="en-US" altLang="zh-CN" sz="1800" b="0" i="0" smtClean="0">
                                              <a:solidFill>
                                                <a:srgbClr val="2C3E50"/>
                                              </a:solidFill>
                                              <a:latin typeface="Cambria Math" panose="02040503050406030204" pitchFamily="18" charset="0"/>
                                            </a:rPr>
                                            <m:t>β</m:t>
                                          </m:r>
                                        </m:e>
                                        <m:sub>
                                          <m:r>
                                            <a:rPr lang="en-US" altLang="zh-CN" sz="1800" b="0" i="0" smtClean="0">
                                              <a:solidFill>
                                                <a:srgbClr val="2C3E50"/>
                                              </a:solidFill>
                                              <a:latin typeface="Cambria Math" panose="02040503050406030204" pitchFamily="18" charset="0"/>
                                            </a:rPr>
                                            <m:t>1−8</m:t>
                                          </m:r>
                                        </m:sub>
                                      </m:sSub>
                                    </m:e>
                                  </m:d>
                                  <m:r>
                                    <a:rPr lang="en-US" altLang="zh-CN" sz="1800" b="0" i="0" smtClean="0">
                                      <a:solidFill>
                                        <a:srgbClr val="2C3E50"/>
                                      </a:solidFill>
                                      <a:latin typeface="Cambria Math" panose="02040503050406030204" pitchFamily="18" charset="0"/>
                                    </a:rPr>
                                    <m:t>,0</m:t>
                                  </m:r>
                                </m:e>
                              </m:d>
                            </m:e>
                          </m:func>
                        </m:num>
                        <m:den>
                          <m:r>
                            <a:rPr lang="en-US" altLang="zh-CN" sz="1800" b="0" i="0" smtClean="0">
                              <a:solidFill>
                                <a:srgbClr val="2C3E50"/>
                              </a:solidFill>
                              <a:latin typeface="Cambria Math" panose="02040503050406030204" pitchFamily="18" charset="0"/>
                            </a:rPr>
                            <m:t>3</m:t>
                          </m:r>
                        </m:den>
                      </m:f>
                    </m:oMath>
                  </m:oMathPara>
                </a14:m>
                <a:endParaRPr lang="zh-CN" altLang="en-US" sz="1800" b="0" dirty="0">
                  <a:solidFill>
                    <a:srgbClr val="2C3E50"/>
                  </a:solidFill>
                  <a:latin typeface="Cambria Math" panose="02040503050406030204" pitchFamily="18" charset="0"/>
                </a:endParaRPr>
              </a:p>
            </p:txBody>
          </p:sp>
        </mc:Choice>
        <mc:Fallback>
          <p:sp>
            <p:nvSpPr>
              <p:cNvPr id="6" name="文本框 5">
                <a:extLst>
                  <a:ext uri="{FF2B5EF4-FFF2-40B4-BE49-F238E27FC236}">
                    <a16:creationId xmlns:a16="http://schemas.microsoft.com/office/drawing/2014/main" id="{20AE98E9-9F75-41CA-B0A6-AF6AB1862D20}"/>
                  </a:ext>
                </a:extLst>
              </p:cNvPr>
              <p:cNvSpPr txBox="1">
                <a:spLocks noRot="1" noChangeAspect="1" noMove="1" noResize="1" noEditPoints="1" noAdjustHandles="1" noChangeArrowheads="1" noChangeShapeType="1" noTextEdit="1"/>
              </p:cNvSpPr>
              <p:nvPr/>
            </p:nvSpPr>
            <p:spPr>
              <a:xfrm>
                <a:off x="4001333" y="4183368"/>
                <a:ext cx="4655377" cy="637419"/>
              </a:xfrm>
              <a:prstGeom prst="rect">
                <a:avLst/>
              </a:prstGeom>
              <a:blipFill>
                <a:blip r:embed="rId3"/>
                <a:stretch>
                  <a:fillRect/>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5214755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Regulatory Capital Requirement</a:t>
            </a:r>
          </a:p>
        </p:txBody>
      </p:sp>
      <p:sp>
        <p:nvSpPr>
          <p:cNvPr id="3" name="文本占位符 2"/>
          <p:cNvSpPr>
            <a:spLocks noGrp="1"/>
          </p:cNvSpPr>
          <p:nvPr>
            <p:ph type="body" sz="quarter" idx="10"/>
          </p:nvPr>
        </p:nvSpPr>
        <p:spPr/>
        <p:txBody>
          <a:bodyPr>
            <a:normAutofit fontScale="92500"/>
          </a:bodyPr>
          <a:lstStyle/>
          <a:p>
            <a:pPr>
              <a:spcBef>
                <a:spcPct val="0"/>
              </a:spcBef>
            </a:pPr>
            <a:r>
              <a:rPr lang="en-US" altLang="zh-CN" dirty="0"/>
              <a:t>Advanced Measurement Approach (AMA)</a:t>
            </a:r>
          </a:p>
          <a:p>
            <a:pPr lvl="1">
              <a:spcBef>
                <a:spcPct val="0"/>
              </a:spcBef>
            </a:pPr>
            <a:r>
              <a:rPr lang="en-US" altLang="zh-CN" dirty="0"/>
              <a:t>Allows a bank to design its </a:t>
            </a:r>
            <a:r>
              <a:rPr lang="en-US" altLang="zh-CN" u="sng" dirty="0"/>
              <a:t>own model</a:t>
            </a:r>
            <a:r>
              <a:rPr lang="en-US" altLang="zh-CN" dirty="0"/>
              <a:t> for calculating operational risk capital. Three main requirements: </a:t>
            </a:r>
          </a:p>
          <a:p>
            <a:pPr lvl="2">
              <a:spcBef>
                <a:spcPct val="0"/>
              </a:spcBef>
            </a:pPr>
            <a:r>
              <a:rPr lang="en-US" altLang="zh-CN" dirty="0"/>
              <a:t>Must hold capital for a </a:t>
            </a:r>
            <a:r>
              <a:rPr lang="en-US" altLang="zh-CN" u="sng" dirty="0"/>
              <a:t>1-year horizon</a:t>
            </a:r>
            <a:r>
              <a:rPr lang="en-US" altLang="zh-CN" dirty="0"/>
              <a:t> at </a:t>
            </a:r>
            <a:r>
              <a:rPr lang="en-US" altLang="zh-CN" u="sng" dirty="0"/>
              <a:t>99.9%</a:t>
            </a:r>
            <a:r>
              <a:rPr lang="en-US" altLang="zh-CN" dirty="0"/>
              <a:t> confidence level.</a:t>
            </a:r>
          </a:p>
          <a:p>
            <a:pPr lvl="2">
              <a:spcBef>
                <a:spcPct val="0"/>
              </a:spcBef>
            </a:pPr>
            <a:endParaRPr lang="en-US" altLang="zh-CN" dirty="0"/>
          </a:p>
          <a:p>
            <a:pPr lvl="2">
              <a:spcBef>
                <a:spcPct val="0"/>
              </a:spcBef>
            </a:pPr>
            <a:endParaRPr lang="en-US" altLang="zh-CN" dirty="0"/>
          </a:p>
          <a:p>
            <a:pPr lvl="2">
              <a:spcBef>
                <a:spcPct val="0"/>
              </a:spcBef>
            </a:pPr>
            <a:r>
              <a:rPr lang="en-US" altLang="zh-CN" dirty="0"/>
              <a:t>All four elements of the framework must be included in the model: </a:t>
            </a:r>
            <a:r>
              <a:rPr lang="en-US" altLang="zh-CN" u="sng" dirty="0"/>
              <a:t>internal loss data, external loss data, scenario analysis, and business environment internal control factors</a:t>
            </a:r>
            <a:r>
              <a:rPr lang="en-US" altLang="zh-CN" dirty="0"/>
              <a:t>.</a:t>
            </a:r>
          </a:p>
          <a:p>
            <a:pPr lvl="2">
              <a:spcBef>
                <a:spcPct val="0"/>
              </a:spcBef>
            </a:pPr>
            <a:r>
              <a:rPr lang="en-US" altLang="zh-CN" dirty="0"/>
              <a:t>There must be an appropriate method for allocating the capital to the businesses to incent good behavior.</a:t>
            </a:r>
          </a:p>
          <a:p>
            <a:endParaRPr lang="en-US" altLang="zh-CN" dirty="0">
              <a:latin typeface="+mn-lt"/>
              <a:ea typeface="+mn-ea"/>
              <a:cs typeface="+mn-ea"/>
              <a:sym typeface="+mn-lt"/>
            </a:endParaRP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D46610AB-F4DF-490F-8130-6318BB48AF88}"/>
                  </a:ext>
                </a:extLst>
              </p:cNvPr>
              <p:cNvSpPr/>
              <p:nvPr/>
            </p:nvSpPr>
            <p:spPr>
              <a:xfrm>
                <a:off x="3935759" y="3267998"/>
                <a:ext cx="4320480" cy="375552"/>
              </a:xfrm>
              <a:prstGeom prst="rect">
                <a:avLst/>
              </a:prstGeom>
              <a:ln w="1905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800" b="0" i="1"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ctrlPr>
                        </m:sSupPr>
                        <m:e>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ORC</m:t>
                          </m:r>
                        </m:e>
                        <m:sup>
                          <m:r>
                            <m:rPr>
                              <m:sty m:val="p"/>
                            </m:rPr>
                            <a:rPr lang="zh-CN" altLang="en-US" sz="1800" b="0" i="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AMA</m:t>
                          </m:r>
                        </m:sup>
                      </m:sSup>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UL</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(1−</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year</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 99.9% </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confidence</m:t>
                      </m:r>
                      <m:r>
                        <m:rPr>
                          <m:nor/>
                        </m:rPr>
                        <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rPr>
                        <m:t>)</m:t>
                      </m:r>
                    </m:oMath>
                  </m:oMathPara>
                </a14:m>
                <a:endParaRPr lang="zh-CN" altLang="en-US" sz="1800" b="0" dirty="0">
                  <a:solidFill>
                    <a:srgbClr val="2C3E50"/>
                  </a:solidFill>
                  <a:latin typeface="Cambria Math" panose="02040503050406030204" pitchFamily="18" charset="0"/>
                  <a:ea typeface="微软雅黑" panose="020B0503020204020204" pitchFamily="34" charset="-122"/>
                  <a:cs typeface="Segoe UI" panose="020B0502040204020203" pitchFamily="34" charset="0"/>
                </a:endParaRPr>
              </a:p>
            </p:txBody>
          </p:sp>
        </mc:Choice>
        <mc:Fallback>
          <p:sp>
            <p:nvSpPr>
              <p:cNvPr id="4" name="矩形 3">
                <a:extLst>
                  <a:ext uri="{FF2B5EF4-FFF2-40B4-BE49-F238E27FC236}">
                    <a16:creationId xmlns:a16="http://schemas.microsoft.com/office/drawing/2014/main" id="{D46610AB-F4DF-490F-8130-6318BB48AF88}"/>
                  </a:ext>
                </a:extLst>
              </p:cNvPr>
              <p:cNvSpPr>
                <a:spLocks noRot="1" noChangeAspect="1" noMove="1" noResize="1" noEditPoints="1" noAdjustHandles="1" noChangeArrowheads="1" noChangeShapeType="1" noTextEdit="1"/>
              </p:cNvSpPr>
              <p:nvPr/>
            </p:nvSpPr>
            <p:spPr>
              <a:xfrm>
                <a:off x="3935759" y="3267998"/>
                <a:ext cx="4320480" cy="375552"/>
              </a:xfrm>
              <a:prstGeom prst="rect">
                <a:avLst/>
              </a:prstGeom>
              <a:blipFill>
                <a:blip r:embed="rId2"/>
                <a:stretch>
                  <a:fillRect b="-12308"/>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1528690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Risk Control Self-Assessment</a:t>
            </a:r>
          </a:p>
        </p:txBody>
      </p:sp>
      <p:sp>
        <p:nvSpPr>
          <p:cNvPr id="3" name="文本占位符 2"/>
          <p:cNvSpPr>
            <a:spLocks noGrp="1"/>
          </p:cNvSpPr>
          <p:nvPr>
            <p:ph type="body" sz="quarter" idx="10"/>
          </p:nvPr>
        </p:nvSpPr>
        <p:spPr/>
        <p:txBody>
          <a:bodyPr>
            <a:normAutofit fontScale="85000" lnSpcReduction="10000"/>
          </a:bodyPr>
          <a:lstStyle/>
          <a:p>
            <a:pPr>
              <a:defRPr/>
            </a:pPr>
            <a:r>
              <a:rPr lang="en-US" altLang="zh-CN" dirty="0"/>
              <a:t>RCSA</a:t>
            </a:r>
          </a:p>
          <a:p>
            <a:pPr lvl="1">
              <a:defRPr/>
            </a:pPr>
            <a:r>
              <a:rPr lang="en-US" altLang="zh-CN" dirty="0"/>
              <a:t>Involves </a:t>
            </a:r>
            <a:r>
              <a:rPr lang="en-US" altLang="zh-CN" u="sng" dirty="0"/>
              <a:t>asking business unit managers to identify their operational risks. Sometimes questionnaires designed by senior managers are used.</a:t>
            </a:r>
          </a:p>
          <a:p>
            <a:pPr lvl="1">
              <a:defRPr/>
            </a:pPr>
            <a:r>
              <a:rPr lang="en-US" altLang="zh-CN" dirty="0"/>
              <a:t>First </a:t>
            </a:r>
            <a:r>
              <a:rPr lang="en-US" altLang="zh-CN" u="sng" dirty="0"/>
              <a:t>identify and assess inherent risks by making no inferences about controls</a:t>
            </a:r>
            <a:r>
              <a:rPr lang="en-US" altLang="zh-CN" dirty="0"/>
              <a:t> embedded in the process: controls are assumed to be absent.</a:t>
            </a:r>
          </a:p>
          <a:p>
            <a:pPr lvl="1">
              <a:defRPr/>
            </a:pPr>
            <a:r>
              <a:rPr lang="en-US" altLang="zh-CN" dirty="0"/>
              <a:t>Once these inherent risks are understood, </a:t>
            </a:r>
            <a:r>
              <a:rPr lang="en-US" altLang="zh-CN" u="sng" dirty="0"/>
              <a:t>controls will be added in the RCSA framework. The effectiveness of these controls are then assessed</a:t>
            </a:r>
            <a:r>
              <a:rPr lang="en-US" altLang="zh-CN" dirty="0"/>
              <a:t>. The residual risk is also calculated, which is the risk that is left after inherent risks are controlled.</a:t>
            </a:r>
          </a:p>
          <a:p>
            <a:pPr lvl="1">
              <a:defRPr/>
            </a:pPr>
            <a:r>
              <a:rPr lang="en-US" altLang="zh-CN" u="sng" dirty="0"/>
              <a:t>Risk metrics</a:t>
            </a:r>
            <a:r>
              <a:rPr lang="en-US" altLang="zh-CN" dirty="0"/>
              <a:t> such as </a:t>
            </a:r>
            <a:r>
              <a:rPr lang="en-US" altLang="zh-CN" b="1" dirty="0"/>
              <a:t>key risk indicators (KRIs) </a:t>
            </a:r>
            <a:r>
              <a:rPr lang="en-US" altLang="zh-CN" dirty="0"/>
              <a:t>would </a:t>
            </a:r>
            <a:r>
              <a:rPr lang="en-US" altLang="zh-CN" u="sng" dirty="0"/>
              <a:t>contribute to the risk identification process</a:t>
            </a:r>
            <a:r>
              <a:rPr lang="en-US" altLang="zh-CN" dirty="0"/>
              <a:t>. These indicators/factors are mostly quantitative and are used as a proxy for the quality of the control environment of a business. Examples of key risk indicators are staff turnover and number of failed transactions.</a:t>
            </a:r>
          </a:p>
          <a:p>
            <a:pPr marL="0" indent="0">
              <a:buNone/>
              <a:defRPr/>
            </a:pPr>
            <a:endParaRPr lang="en-US" altLang="zh-CN" dirty="0"/>
          </a:p>
          <a:p>
            <a:endParaRPr lang="en-US" altLang="zh-CN" dirty="0">
              <a:latin typeface="+mn-lt"/>
              <a:ea typeface="+mn-ea"/>
              <a:cs typeface="+mn-ea"/>
              <a:sym typeface="+mn-lt"/>
            </a:endParaRPr>
          </a:p>
        </p:txBody>
      </p:sp>
    </p:spTree>
    <p:extLst>
      <p:ext uri="{BB962C8B-B14F-4D97-AF65-F5344CB8AC3E}">
        <p14:creationId xmlns:p14="http://schemas.microsoft.com/office/powerpoint/2010/main" val="32564867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1</a:t>
            </a:r>
          </a:p>
        </p:txBody>
      </p:sp>
      <p:sp>
        <p:nvSpPr>
          <p:cNvPr id="3" name="文本占位符 2"/>
          <p:cNvSpPr>
            <a:spLocks noGrp="1"/>
          </p:cNvSpPr>
          <p:nvPr>
            <p:ph type="body" sz="quarter" idx="10"/>
          </p:nvPr>
        </p:nvSpPr>
        <p:spPr/>
        <p:txBody>
          <a:bodyPr>
            <a:normAutofit fontScale="92500" lnSpcReduction="10000"/>
          </a:bodyPr>
          <a:lstStyle/>
          <a:p>
            <a:pPr>
              <a:lnSpc>
                <a:spcPct val="140000"/>
              </a:lnSpc>
              <a:spcBef>
                <a:spcPct val="0"/>
              </a:spcBef>
            </a:pPr>
            <a:r>
              <a:rPr lang="en-US" altLang="zh-CN" dirty="0"/>
              <a:t>Which of the following statements concerning the measurement of operational risk is correct?</a:t>
            </a:r>
          </a:p>
          <a:p>
            <a:pPr lvl="1">
              <a:lnSpc>
                <a:spcPct val="140000"/>
              </a:lnSpc>
              <a:spcBef>
                <a:spcPct val="0"/>
              </a:spcBef>
              <a:buFont typeface="Calibri" panose="020F0502020204030204" pitchFamily="34" charset="0"/>
              <a:buAutoNum type="alphaUcPeriod"/>
            </a:pPr>
            <a:r>
              <a:rPr lang="en-US" altLang="zh-CN" dirty="0"/>
              <a:t>Economic capital should be sufficient to cover both expected and worst-case operational risk losses.</a:t>
            </a:r>
          </a:p>
          <a:p>
            <a:pPr lvl="1">
              <a:lnSpc>
                <a:spcPct val="140000"/>
              </a:lnSpc>
              <a:spcBef>
                <a:spcPct val="0"/>
              </a:spcBef>
              <a:buFont typeface="Calibri" panose="020F0502020204030204" pitchFamily="34" charset="0"/>
              <a:buAutoNum type="alphaUcPeriod"/>
            </a:pPr>
            <a:r>
              <a:rPr lang="en-US" altLang="zh-CN" dirty="0"/>
              <a:t>Loss severity and loss frequency tend to be modeled with lognormal distributions.</a:t>
            </a:r>
          </a:p>
          <a:p>
            <a:pPr lvl="1">
              <a:lnSpc>
                <a:spcPct val="140000"/>
              </a:lnSpc>
              <a:spcBef>
                <a:spcPct val="0"/>
              </a:spcBef>
              <a:buFont typeface="Calibri" panose="020F0502020204030204" pitchFamily="34" charset="0"/>
              <a:buAutoNum type="alphaUcPeriod"/>
            </a:pPr>
            <a:r>
              <a:rPr lang="en-US" altLang="zh-CN" dirty="0"/>
              <a:t>Operational loss data available from data vendors tend to be biased towards small losses.</a:t>
            </a:r>
          </a:p>
          <a:p>
            <a:pPr lvl="1">
              <a:lnSpc>
                <a:spcPct val="140000"/>
              </a:lnSpc>
              <a:spcBef>
                <a:spcPct val="0"/>
              </a:spcBef>
              <a:buFont typeface="Calibri" panose="020F0502020204030204" pitchFamily="34" charset="0"/>
              <a:buAutoNum type="alphaUcPeriod"/>
            </a:pPr>
            <a:r>
              <a:rPr lang="en-US" altLang="zh-CN" dirty="0"/>
              <a:t>The standardized approach used by banks in calculating operational risk capital allows for different beta factors to be assigned to different business lines.</a:t>
            </a:r>
          </a:p>
          <a:p>
            <a:pPr>
              <a:lnSpc>
                <a:spcPct val="140000"/>
              </a:lnSpc>
              <a:spcBef>
                <a:spcPct val="0"/>
              </a:spcBef>
            </a:pPr>
            <a:r>
              <a:rPr lang="en-US" altLang="zh-CN" dirty="0"/>
              <a:t>Answer: D</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4209679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Exercise 2</a:t>
            </a:r>
          </a:p>
        </p:txBody>
      </p:sp>
      <p:sp>
        <p:nvSpPr>
          <p:cNvPr id="3" name="文本占位符 2"/>
          <p:cNvSpPr>
            <a:spLocks noGrp="1"/>
          </p:cNvSpPr>
          <p:nvPr>
            <p:ph type="body" sz="quarter" idx="10"/>
          </p:nvPr>
        </p:nvSpPr>
        <p:spPr/>
        <p:txBody>
          <a:bodyPr>
            <a:normAutofit fontScale="92500"/>
          </a:bodyPr>
          <a:lstStyle/>
          <a:p>
            <a:pPr>
              <a:spcBef>
                <a:spcPct val="0"/>
              </a:spcBef>
            </a:pPr>
            <a:r>
              <a:rPr lang="en-US" altLang="zh-CN" dirty="0"/>
              <a:t>In the Basel II Standardized Approach for operational risk, the beta factor serves as a proxy for the industry-wide relationship between the operational risk loss experience for a given business line and the aggregate level of gross income for that business line. Which of the following lines has the highest beta factor?</a:t>
            </a:r>
          </a:p>
          <a:p>
            <a:pPr lvl="1">
              <a:spcBef>
                <a:spcPct val="0"/>
              </a:spcBef>
              <a:buFont typeface="Calibri" panose="020F0502020204030204" pitchFamily="34" charset="0"/>
              <a:buAutoNum type="alphaUcPeriod"/>
            </a:pPr>
            <a:r>
              <a:rPr lang="en-US" altLang="zh-CN" dirty="0"/>
              <a:t>Corporate finance</a:t>
            </a:r>
          </a:p>
          <a:p>
            <a:pPr lvl="1">
              <a:spcBef>
                <a:spcPct val="0"/>
              </a:spcBef>
              <a:buFont typeface="Calibri" panose="020F0502020204030204" pitchFamily="34" charset="0"/>
              <a:buAutoNum type="alphaUcPeriod"/>
            </a:pPr>
            <a:r>
              <a:rPr lang="en-US" altLang="zh-CN" dirty="0"/>
              <a:t>Retail banking</a:t>
            </a:r>
          </a:p>
          <a:p>
            <a:pPr lvl="1">
              <a:spcBef>
                <a:spcPct val="0"/>
              </a:spcBef>
              <a:buFont typeface="Calibri" panose="020F0502020204030204" pitchFamily="34" charset="0"/>
              <a:buAutoNum type="alphaUcPeriod"/>
            </a:pPr>
            <a:r>
              <a:rPr lang="en-US" altLang="zh-CN" dirty="0"/>
              <a:t>Commercial banking </a:t>
            </a:r>
          </a:p>
          <a:p>
            <a:pPr lvl="1">
              <a:spcBef>
                <a:spcPct val="0"/>
              </a:spcBef>
              <a:buFont typeface="Calibri" panose="020F0502020204030204" pitchFamily="34" charset="0"/>
              <a:buAutoNum type="alphaUcPeriod"/>
            </a:pPr>
            <a:r>
              <a:rPr lang="en-US" altLang="zh-CN" dirty="0"/>
              <a:t>Asset management.</a:t>
            </a:r>
          </a:p>
          <a:p>
            <a:pPr lvl="1">
              <a:spcBef>
                <a:spcPct val="0"/>
              </a:spcBef>
              <a:buFont typeface="Calibri" panose="020F0502020204030204" pitchFamily="34" charset="0"/>
              <a:buAutoNum type="alphaUcPeriod"/>
            </a:pPr>
            <a:endParaRPr lang="en-US" altLang="zh-CN" dirty="0"/>
          </a:p>
          <a:p>
            <a:pPr>
              <a:spcBef>
                <a:spcPct val="0"/>
              </a:spcBef>
            </a:pPr>
            <a:r>
              <a:rPr lang="en-US" altLang="zh-CN" dirty="0"/>
              <a:t>Answer: A</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8625552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fontScale="92500" lnSpcReduction="20000"/>
          </a:bodyPr>
          <a:lstStyle/>
          <a:p>
            <a:pPr>
              <a:lnSpc>
                <a:spcPct val="130000"/>
              </a:lnSpc>
              <a:spcBef>
                <a:spcPct val="0"/>
              </a:spcBef>
              <a:defRPr/>
            </a:pPr>
            <a:r>
              <a:rPr lang="en-US" altLang="zh-CN" dirty="0"/>
              <a:t>Key Elements of Effective Governance over Stress Testing</a:t>
            </a:r>
          </a:p>
          <a:p>
            <a:pPr lvl="1">
              <a:lnSpc>
                <a:spcPct val="130000"/>
              </a:lnSpc>
              <a:spcBef>
                <a:spcPct val="0"/>
              </a:spcBef>
              <a:defRPr/>
            </a:pPr>
            <a:r>
              <a:rPr lang="en-US" altLang="zh-CN" dirty="0"/>
              <a:t>Governance Structure</a:t>
            </a:r>
          </a:p>
          <a:p>
            <a:pPr lvl="1">
              <a:lnSpc>
                <a:spcPct val="130000"/>
              </a:lnSpc>
              <a:spcBef>
                <a:spcPct val="0"/>
              </a:spcBef>
              <a:defRPr/>
            </a:pPr>
            <a:r>
              <a:rPr lang="en-US" altLang="zh-CN" dirty="0"/>
              <a:t>Internal Audit</a:t>
            </a:r>
          </a:p>
          <a:p>
            <a:r>
              <a:rPr lang="en-US" altLang="zh-CN" dirty="0"/>
              <a:t>Governance Structure</a:t>
            </a:r>
          </a:p>
          <a:p>
            <a:pPr lvl="1"/>
            <a:r>
              <a:rPr lang="en-US" altLang="zh-CN" b="1" dirty="0"/>
              <a:t>Board of Directors</a:t>
            </a:r>
          </a:p>
          <a:p>
            <a:pPr lvl="2"/>
            <a:r>
              <a:rPr lang="en-US" altLang="zh-CN" dirty="0"/>
              <a:t>The board should evaluate and discuss information received from senior management about stress testing to </a:t>
            </a:r>
            <a:r>
              <a:rPr lang="en-US" altLang="zh-CN" u="sng" dirty="0"/>
              <a:t>ensure that the stress testing activities are in line with the institution’s risk appetite.</a:t>
            </a:r>
          </a:p>
          <a:p>
            <a:pPr lvl="2"/>
            <a:r>
              <a:rPr lang="en-US" altLang="zh-CN" dirty="0"/>
              <a:t>Need to </a:t>
            </a:r>
            <a:r>
              <a:rPr lang="en-US" altLang="zh-CN" u="sng" dirty="0"/>
              <a:t>review with a critical eye, challenging key assumption.</a:t>
            </a:r>
          </a:p>
          <a:p>
            <a:pPr lvl="2"/>
            <a:r>
              <a:rPr lang="en-US" altLang="zh-CN" dirty="0"/>
              <a:t>The board </a:t>
            </a:r>
            <a:r>
              <a:rPr lang="en-US" altLang="zh-CN" u="sng" dirty="0"/>
              <a:t>should be able to take action based on its review of stress test results including changing capital levels, altering strategies or withdrawing from certain activities. Stress-testing activities can serve as a useful “early-warning” mechanism for the board.</a:t>
            </a:r>
          </a:p>
          <a:p>
            <a:pPr lvl="1">
              <a:lnSpc>
                <a:spcPct val="130000"/>
              </a:lnSpc>
              <a:spcBef>
                <a:spcPct val="0"/>
              </a:spcBef>
              <a:defRPr/>
            </a:pPr>
            <a:endParaRPr lang="en-US" altLang="zh-CN" b="1" dirty="0"/>
          </a:p>
          <a:p>
            <a:endParaRPr lang="en-US" altLang="zh-CN" dirty="0">
              <a:latin typeface="+mn-lt"/>
              <a:ea typeface="+mn-ea"/>
              <a:cs typeface="+mn-ea"/>
              <a:sym typeface="+mn-lt"/>
            </a:endParaRPr>
          </a:p>
        </p:txBody>
      </p:sp>
      <p:sp>
        <p:nvSpPr>
          <p:cNvPr id="4" name="矩形 3">
            <a:extLst>
              <a:ext uri="{FF2B5EF4-FFF2-40B4-BE49-F238E27FC236}">
                <a16:creationId xmlns:a16="http://schemas.microsoft.com/office/drawing/2014/main" id="{D82CD341-8F24-45F7-B242-CA1BAE3813B8}"/>
              </a:ext>
            </a:extLst>
          </p:cNvPr>
          <p:cNvSpPr>
            <a:spLocks noChangeArrowheads="1"/>
          </p:cNvSpPr>
          <p:nvPr/>
        </p:nvSpPr>
        <p:spPr bwMode="auto">
          <a:xfrm>
            <a:off x="4581170" y="1272512"/>
            <a:ext cx="7217229" cy="811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200" b="1">
                <a:solidFill>
                  <a:schemeClr val="tx1"/>
                </a:solidFill>
                <a:latin typeface="Times New Roman" panose="02020603050405020304" pitchFamily="18" charset="0"/>
                <a:ea typeface="宋体" panose="02010600030101010101" pitchFamily="2" charset="-122"/>
              </a:defRPr>
            </a:lvl1pPr>
            <a:lvl2pPr marL="712788" indent="-349250">
              <a:defRPr sz="2200" b="1">
                <a:solidFill>
                  <a:schemeClr val="tx1"/>
                </a:solidFill>
                <a:latin typeface="Times New Roman" panose="02020603050405020304" pitchFamily="18" charset="0"/>
                <a:ea typeface="宋体" panose="02010600030101010101" pitchFamily="2" charset="-122"/>
              </a:defRPr>
            </a:lvl2pPr>
            <a:lvl3pPr marL="1143000" indent="-228600">
              <a:defRPr sz="2200" b="1">
                <a:solidFill>
                  <a:schemeClr val="tx1"/>
                </a:solidFill>
                <a:latin typeface="Times New Roman" panose="02020603050405020304" pitchFamily="18" charset="0"/>
                <a:ea typeface="宋体" panose="02010600030101010101" pitchFamily="2" charset="-122"/>
              </a:defRPr>
            </a:lvl3pPr>
            <a:lvl4pPr marL="1600200" indent="-228600">
              <a:defRPr sz="2200" b="1">
                <a:solidFill>
                  <a:schemeClr val="tx1"/>
                </a:solidFill>
                <a:latin typeface="Times New Roman" panose="02020603050405020304" pitchFamily="18" charset="0"/>
                <a:ea typeface="宋体" panose="02010600030101010101" pitchFamily="2" charset="-122"/>
              </a:defRPr>
            </a:lvl4pPr>
            <a:lvl5pPr marL="2057400" indent="-228600">
              <a:defRPr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200" b="1">
                <a:solidFill>
                  <a:schemeClr val="tx1"/>
                </a:solidFill>
                <a:latin typeface="Times New Roman" panose="02020603050405020304" pitchFamily="18" charset="0"/>
                <a:ea typeface="宋体" panose="02010600030101010101" pitchFamily="2" charset="-122"/>
              </a:defRPr>
            </a:lvl9pPr>
          </a:lstStyle>
          <a:p>
            <a:pPr marL="990575" lvl="1" indent="-380990" defTabSz="1219170">
              <a:lnSpc>
                <a:spcPct val="110000"/>
              </a:lnSpc>
              <a:spcBef>
                <a:spcPct val="0"/>
              </a:spcBef>
              <a:buFont typeface="Wingdings" panose="05000000000000000000" pitchFamily="2" charset="2"/>
              <a:buChar char="l"/>
              <a:defRPr/>
            </a:pPr>
            <a:r>
              <a:rPr lang="en-US" altLang="zh-CN" b="0" dirty="0">
                <a:latin typeface="微软雅黑" panose="020B0503020204020204" pitchFamily="34" charset="-122"/>
                <a:ea typeface="微软雅黑" panose="020B0503020204020204" pitchFamily="34" charset="-122"/>
                <a:cs typeface="Segoe UI" panose="020B0502040204020203" pitchFamily="34" charset="0"/>
              </a:rPr>
              <a:t>Policies, Procedures and Documentation</a:t>
            </a:r>
          </a:p>
          <a:p>
            <a:pPr marL="990575" lvl="1" indent="-380990" defTabSz="1219170">
              <a:lnSpc>
                <a:spcPct val="110000"/>
              </a:lnSpc>
              <a:spcBef>
                <a:spcPct val="0"/>
              </a:spcBef>
              <a:buFont typeface="Wingdings" panose="05000000000000000000" pitchFamily="2" charset="2"/>
              <a:buChar char="l"/>
              <a:defRPr/>
            </a:pPr>
            <a:r>
              <a:rPr lang="en-US" altLang="zh-CN" b="0" dirty="0">
                <a:latin typeface="微软雅黑" panose="020B0503020204020204" pitchFamily="34" charset="-122"/>
                <a:ea typeface="微软雅黑" panose="020B0503020204020204" pitchFamily="34" charset="-122"/>
                <a:cs typeface="Segoe UI" panose="020B0502040204020203" pitchFamily="34" charset="0"/>
              </a:rPr>
              <a:t>Validation and Independent Review</a:t>
            </a:r>
          </a:p>
        </p:txBody>
      </p:sp>
    </p:spTree>
    <p:extLst>
      <p:ext uri="{BB962C8B-B14F-4D97-AF65-F5344CB8AC3E}">
        <p14:creationId xmlns:p14="http://schemas.microsoft.com/office/powerpoint/2010/main" val="7942241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fontScale="92500"/>
          </a:bodyPr>
          <a:lstStyle/>
          <a:p>
            <a:r>
              <a:rPr lang="en-US" altLang="zh-CN" dirty="0"/>
              <a:t>Governance Structure (cont’d)</a:t>
            </a:r>
          </a:p>
          <a:p>
            <a:pPr lvl="1"/>
            <a:r>
              <a:rPr lang="en-US" altLang="zh-CN" b="1" dirty="0"/>
              <a:t>Senior Management</a:t>
            </a:r>
          </a:p>
          <a:p>
            <a:pPr lvl="2"/>
            <a:r>
              <a:rPr lang="en-US" altLang="zh-CN" dirty="0"/>
              <a:t>Duties:</a:t>
            </a:r>
            <a:r>
              <a:rPr lang="en-US" altLang="zh-CN" b="1" dirty="0"/>
              <a:t> </a:t>
            </a:r>
            <a:r>
              <a:rPr lang="en-US" altLang="zh-CN" u="sng" dirty="0"/>
              <a:t>Establishing policies and procedures</a:t>
            </a:r>
            <a:r>
              <a:rPr lang="en-US" altLang="zh-CN" dirty="0"/>
              <a:t> and ensuring their compliance. </a:t>
            </a:r>
            <a:r>
              <a:rPr lang="en-US" altLang="zh-CN" u="sng" dirty="0"/>
              <a:t>Allocating resources and assigning skilled staff</a:t>
            </a:r>
            <a:r>
              <a:rPr lang="en-US" altLang="zh-CN" dirty="0"/>
              <a:t>. </a:t>
            </a:r>
            <a:r>
              <a:rPr lang="en-US" altLang="zh-CN" u="sng" dirty="0"/>
              <a:t>Overseeing</a:t>
            </a:r>
            <a:r>
              <a:rPr lang="en-US" altLang="zh-CN" dirty="0"/>
              <a:t> stress-test development and implementation. </a:t>
            </a:r>
            <a:r>
              <a:rPr lang="en-US" altLang="zh-CN" u="sng" dirty="0"/>
              <a:t>Evaluating stress-test results</a:t>
            </a:r>
            <a:r>
              <a:rPr lang="en-US" altLang="zh-CN" dirty="0"/>
              <a:t>. Reviewing findings related to the functioning of stress test processes and </a:t>
            </a:r>
            <a:r>
              <a:rPr lang="en-US" altLang="zh-CN" u="sng" dirty="0"/>
              <a:t>taking necessary remedial action</a:t>
            </a:r>
            <a:r>
              <a:rPr lang="en-US" altLang="zh-CN" dirty="0"/>
              <a:t>.</a:t>
            </a:r>
          </a:p>
          <a:p>
            <a:pPr lvl="2"/>
            <a:r>
              <a:rPr lang="en-US" altLang="zh-CN" dirty="0"/>
              <a:t>Responsible for </a:t>
            </a:r>
            <a:r>
              <a:rPr lang="en-US" altLang="zh-CN" u="sng" dirty="0"/>
              <a:t>reporting to the board</a:t>
            </a:r>
            <a:r>
              <a:rPr lang="en-US" altLang="zh-CN" dirty="0"/>
              <a:t>.</a:t>
            </a:r>
          </a:p>
          <a:p>
            <a:pPr lvl="2"/>
            <a:r>
              <a:rPr lang="en-US" altLang="zh-CN" dirty="0"/>
              <a:t>Ensure </a:t>
            </a:r>
            <a:r>
              <a:rPr lang="en-US" altLang="zh-CN" u="sng" dirty="0"/>
              <a:t>there is appropriate buy-in at different levels of the institution</a:t>
            </a:r>
            <a:r>
              <a:rPr lang="en-US" altLang="zh-CN" dirty="0"/>
              <a:t>.</a:t>
            </a:r>
          </a:p>
          <a:p>
            <a:pPr lvl="2"/>
            <a:r>
              <a:rPr lang="en-US" altLang="zh-CN" u="sng" dirty="0"/>
              <a:t>Benchmarking or other comparative analysis should be used to evaluate the stress-testing results.</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5111164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fontScale="85000" lnSpcReduction="10000"/>
          </a:bodyPr>
          <a:lstStyle/>
          <a:p>
            <a:r>
              <a:rPr lang="en-US" altLang="zh-CN" dirty="0"/>
              <a:t>Governance Structure (cont’d)</a:t>
            </a:r>
          </a:p>
          <a:p>
            <a:pPr lvl="1"/>
            <a:r>
              <a:rPr lang="en-US" altLang="zh-CN" b="1" dirty="0"/>
              <a:t>Senior Management (cont’d)</a:t>
            </a:r>
          </a:p>
          <a:p>
            <a:pPr lvl="2"/>
            <a:r>
              <a:rPr lang="en-US" altLang="zh-CN" dirty="0"/>
              <a:t>Should </a:t>
            </a:r>
            <a:r>
              <a:rPr lang="en-US" altLang="zh-CN" u="sng" dirty="0"/>
              <a:t>use stress testing to supplement other information it develops and provides to the board, such as other risk metrics or measures of capital and liquidity adequacy.</a:t>
            </a:r>
            <a:endParaRPr lang="zh-CN" altLang="en-US" u="sng" dirty="0"/>
          </a:p>
          <a:p>
            <a:pPr lvl="2"/>
            <a:r>
              <a:rPr lang="en-US" altLang="zh-CN" dirty="0"/>
              <a:t>Should </a:t>
            </a:r>
            <a:r>
              <a:rPr lang="en-US" altLang="zh-CN" u="sng" dirty="0"/>
              <a:t>ensure that staff involved in stress testing operate under the proper incentives.</a:t>
            </a:r>
          </a:p>
          <a:p>
            <a:pPr lvl="2"/>
            <a:r>
              <a:rPr lang="en-US" altLang="zh-CN" dirty="0"/>
              <a:t>Should </a:t>
            </a:r>
            <a:r>
              <a:rPr lang="en-US" altLang="zh-CN" u="sng" dirty="0"/>
              <a:t>ensure that there is a regular assessment of stress testing activities across the institution by an independent, unbiased party.</a:t>
            </a:r>
          </a:p>
          <a:p>
            <a:pPr lvl="2"/>
            <a:r>
              <a:rPr lang="en-US" altLang="zh-CN" u="sng" dirty="0"/>
              <a:t>Ensures that stress-testing activities are updated</a:t>
            </a:r>
            <a:r>
              <a:rPr lang="en-US" altLang="zh-CN" dirty="0"/>
              <a:t> in light of new risks, better understanding of the institution’s exposures and activities, new stress-testing techniques, updated data sources and changes in its operating structure and its internal and external environment.</a:t>
            </a:r>
            <a:endParaRPr lang="zh-CN" altLang="en-US" dirty="0"/>
          </a:p>
          <a:p>
            <a:endParaRPr lang="en-US" altLang="zh-CN" dirty="0">
              <a:latin typeface="+mn-lt"/>
              <a:ea typeface="+mn-ea"/>
              <a:cs typeface="+mn-ea"/>
              <a:sym typeface="+mn-lt"/>
            </a:endParaRPr>
          </a:p>
        </p:txBody>
      </p:sp>
    </p:spTree>
    <p:extLst>
      <p:ext uri="{BB962C8B-B14F-4D97-AF65-F5344CB8AC3E}">
        <p14:creationId xmlns:p14="http://schemas.microsoft.com/office/powerpoint/2010/main" val="25737961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a:bodyPr>
          <a:lstStyle/>
          <a:p>
            <a:pPr>
              <a:spcBef>
                <a:spcPct val="0"/>
              </a:spcBef>
            </a:pPr>
            <a:r>
              <a:rPr lang="en-US" altLang="zh-CN" dirty="0"/>
              <a:t>Internal Audit</a:t>
            </a:r>
          </a:p>
          <a:p>
            <a:pPr lvl="1">
              <a:spcBef>
                <a:spcPct val="0"/>
              </a:spcBef>
            </a:pPr>
            <a:r>
              <a:rPr lang="en-US" altLang="zh-CN" dirty="0"/>
              <a:t>Provides </a:t>
            </a:r>
            <a:r>
              <a:rPr lang="en-US" altLang="zh-CN" u="sng" dirty="0"/>
              <a:t>independent evaluation</a:t>
            </a:r>
            <a:r>
              <a:rPr lang="en-US" altLang="zh-CN" dirty="0"/>
              <a:t> of the </a:t>
            </a:r>
            <a:r>
              <a:rPr lang="en-US" altLang="zh-CN" u="sng" dirty="0"/>
              <a:t>ongoing performance, integrity and reliability of stress-testing activities</a:t>
            </a:r>
            <a:r>
              <a:rPr lang="en-US" altLang="zh-CN" dirty="0"/>
              <a:t>. It is not expected that internal audit will have knowledge of all stress-test details, or will have to independently assess each stress test used.</a:t>
            </a:r>
          </a:p>
          <a:p>
            <a:pPr lvl="1">
              <a:spcBef>
                <a:spcPct val="0"/>
              </a:spcBef>
            </a:pPr>
            <a:r>
              <a:rPr lang="en-US" altLang="zh-CN" dirty="0"/>
              <a:t>Serves the valuable task of assessing the full suite of stress-testing activities across the institution </a:t>
            </a:r>
            <a:r>
              <a:rPr lang="en-US" altLang="zh-CN" u="sng" dirty="0"/>
              <a:t>on a regular basis to evaluate whether, as a whole, such activities are functioning as intended, in adherence with policies and procedures and serving the institution properly.</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5290339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fontScale="92500" lnSpcReduction="10000"/>
          </a:bodyPr>
          <a:lstStyle/>
          <a:p>
            <a:pPr>
              <a:lnSpc>
                <a:spcPct val="120000"/>
              </a:lnSpc>
              <a:spcBef>
                <a:spcPct val="0"/>
              </a:spcBef>
            </a:pPr>
            <a:r>
              <a:rPr lang="en-US" altLang="zh-CN" dirty="0"/>
              <a:t>Policies, Procedures and Documentation</a:t>
            </a:r>
          </a:p>
          <a:p>
            <a:pPr lvl="1">
              <a:lnSpc>
                <a:spcPct val="120000"/>
              </a:lnSpc>
              <a:spcBef>
                <a:spcPct val="0"/>
              </a:spcBef>
            </a:pPr>
            <a:r>
              <a:rPr lang="en-US" altLang="zh-CN" b="1" dirty="0"/>
              <a:t>Stress Testing Policies</a:t>
            </a:r>
            <a:r>
              <a:rPr lang="en-US" altLang="zh-CN" dirty="0"/>
              <a:t> </a:t>
            </a:r>
            <a:r>
              <a:rPr lang="en-US" altLang="zh-CN" b="1" dirty="0"/>
              <a:t>should:</a:t>
            </a:r>
          </a:p>
          <a:p>
            <a:pPr lvl="2">
              <a:lnSpc>
                <a:spcPct val="120000"/>
              </a:lnSpc>
              <a:spcBef>
                <a:spcPct val="0"/>
              </a:spcBef>
            </a:pPr>
            <a:r>
              <a:rPr lang="en-US" altLang="zh-CN" u="sng" dirty="0"/>
              <a:t>Describe the overall purpose</a:t>
            </a:r>
            <a:r>
              <a:rPr lang="en-US" altLang="zh-CN" dirty="0"/>
              <a:t> of stress-testing activities.</a:t>
            </a:r>
          </a:p>
          <a:p>
            <a:pPr lvl="2">
              <a:lnSpc>
                <a:spcPct val="120000"/>
              </a:lnSpc>
              <a:spcBef>
                <a:spcPct val="0"/>
              </a:spcBef>
            </a:pPr>
            <a:r>
              <a:rPr lang="en-US" altLang="zh-CN" u="sng" dirty="0"/>
              <a:t>Indicate stress-testing roles and responsibilities</a:t>
            </a:r>
            <a:r>
              <a:rPr lang="en-US" altLang="zh-CN" dirty="0"/>
              <a:t>.</a:t>
            </a:r>
          </a:p>
          <a:p>
            <a:pPr lvl="2">
              <a:lnSpc>
                <a:spcPct val="120000"/>
              </a:lnSpc>
              <a:spcBef>
                <a:spcPct val="0"/>
              </a:spcBef>
            </a:pPr>
            <a:r>
              <a:rPr lang="en-US" altLang="zh-CN" u="sng" dirty="0"/>
              <a:t>Outline the process for choosing stressful conditions for tests</a:t>
            </a:r>
            <a:r>
              <a:rPr lang="en-US" altLang="zh-CN" dirty="0"/>
              <a:t>.</a:t>
            </a:r>
          </a:p>
          <a:p>
            <a:pPr lvl="2">
              <a:lnSpc>
                <a:spcPct val="120000"/>
              </a:lnSpc>
              <a:spcBef>
                <a:spcPct val="0"/>
              </a:spcBef>
            </a:pPr>
            <a:r>
              <a:rPr lang="en-US" altLang="zh-CN" u="sng" dirty="0"/>
              <a:t>Include information about validation and independent review</a:t>
            </a:r>
            <a:r>
              <a:rPr lang="en-US" altLang="zh-CN" dirty="0"/>
              <a:t>.</a:t>
            </a:r>
          </a:p>
          <a:p>
            <a:pPr lvl="2">
              <a:lnSpc>
                <a:spcPct val="120000"/>
              </a:lnSpc>
              <a:spcBef>
                <a:spcPct val="0"/>
              </a:spcBef>
            </a:pPr>
            <a:r>
              <a:rPr lang="en-US" altLang="zh-CN" u="sng" dirty="0"/>
              <a:t>Provide transparency to third parties for their understanding of an institution’s stress testing activities</a:t>
            </a:r>
            <a:r>
              <a:rPr lang="en-US" altLang="zh-CN" dirty="0"/>
              <a:t>.</a:t>
            </a:r>
          </a:p>
          <a:p>
            <a:pPr lvl="2">
              <a:lnSpc>
                <a:spcPct val="120000"/>
              </a:lnSpc>
              <a:spcBef>
                <a:spcPct val="0"/>
              </a:spcBef>
            </a:pPr>
            <a:r>
              <a:rPr lang="en-US" altLang="zh-CN" u="sng" dirty="0"/>
              <a:t>Be reviewed and updated as necessary to ensure that stress testing practices remain appropriate and keep up to date with changes.</a:t>
            </a:r>
          </a:p>
          <a:p>
            <a:pPr lvl="1">
              <a:lnSpc>
                <a:spcPct val="120000"/>
              </a:lnSpc>
              <a:spcBef>
                <a:spcPct val="0"/>
              </a:spcBef>
            </a:pPr>
            <a:r>
              <a:rPr lang="en-US" altLang="zh-CN" dirty="0"/>
              <a:t>An institution should ensure that its stress tests are </a:t>
            </a:r>
            <a:r>
              <a:rPr lang="en-US" altLang="zh-CN" b="1" dirty="0"/>
              <a:t>documented properly</a:t>
            </a:r>
            <a:r>
              <a:rPr lang="en-US" altLang="zh-CN" u="sng" dirty="0"/>
              <a:t>, including a description of the types of stress tests and methodologies used, test results, key assumptions, limitations and uncertainties, and suggested actions</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41630342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Validation and Independent Review</a:t>
            </a:r>
          </a:p>
          <a:p>
            <a:pPr lvl="1">
              <a:spcBef>
                <a:spcPct val="0"/>
              </a:spcBef>
            </a:pPr>
            <a:r>
              <a:rPr lang="en-US" altLang="zh-CN" dirty="0"/>
              <a:t>Ensuring that there is appropriate independence and effective challenge in the validation and review process;</a:t>
            </a:r>
          </a:p>
          <a:p>
            <a:pPr lvl="1">
              <a:spcBef>
                <a:spcPct val="0"/>
              </a:spcBef>
            </a:pPr>
            <a:r>
              <a:rPr lang="en-US" altLang="zh-CN" u="sng" dirty="0"/>
              <a:t>Including validation and independent review of the qualitative or judgmental aspects of a stress test – such aspects can be an integral component of a stress test and should be reviewed, even if they cannot be tested in a quantitative/statistical sense;</a:t>
            </a:r>
          </a:p>
          <a:p>
            <a:pPr lvl="1">
              <a:spcBef>
                <a:spcPct val="0"/>
              </a:spcBef>
            </a:pPr>
            <a:r>
              <a:rPr lang="en-US" altLang="zh-CN" u="sng" dirty="0"/>
              <a:t>Ensuring that stress tests are subject to development standards, including a clear statement of purpose, proper theory and design, sound methodologies and processing components, and developmental testing (including testing of assumptions)</a:t>
            </a:r>
            <a:r>
              <a:rPr lang="en-US" altLang="zh-CN" dirty="0"/>
              <a:t>;</a:t>
            </a:r>
          </a:p>
          <a:p>
            <a:pPr lvl="1">
              <a:spcBef>
                <a:spcPct val="0"/>
              </a:spcBef>
            </a:pPr>
            <a:r>
              <a:rPr lang="en-US" altLang="zh-CN" u="sng" dirty="0"/>
              <a:t>Acknowledging limitations in stress-testing methodologies</a:t>
            </a:r>
            <a:r>
              <a:rPr lang="en-US" altLang="zh-CN" dirty="0"/>
              <a:t>, even if they represent best practices;</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8021655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Governance over Stress Testing</a:t>
            </a:r>
          </a:p>
        </p:txBody>
      </p:sp>
      <p:sp>
        <p:nvSpPr>
          <p:cNvPr id="3" name="文本占位符 2"/>
          <p:cNvSpPr>
            <a:spLocks noGrp="1"/>
          </p:cNvSpPr>
          <p:nvPr>
            <p:ph type="body" sz="quarter" idx="10"/>
          </p:nvPr>
        </p:nvSpPr>
        <p:spPr/>
        <p:txBody>
          <a:bodyPr>
            <a:normAutofit fontScale="85000" lnSpcReduction="10000"/>
          </a:bodyPr>
          <a:lstStyle/>
          <a:p>
            <a:pPr>
              <a:spcBef>
                <a:spcPct val="0"/>
              </a:spcBef>
            </a:pPr>
            <a:r>
              <a:rPr lang="en-US" altLang="zh-CN" dirty="0"/>
              <a:t>Validation and Independent Review (cont’d)</a:t>
            </a:r>
          </a:p>
          <a:p>
            <a:pPr lvl="1">
              <a:spcBef>
                <a:spcPct val="0"/>
              </a:spcBef>
            </a:pPr>
            <a:r>
              <a:rPr lang="en-US" altLang="zh-CN" u="sng" dirty="0"/>
              <a:t>Recognizing any data limitations or weaknesses in data quality</a:t>
            </a:r>
            <a:r>
              <a:rPr lang="en-US" altLang="zh-CN" dirty="0"/>
              <a:t>;</a:t>
            </a:r>
          </a:p>
          <a:p>
            <a:pPr lvl="1">
              <a:spcBef>
                <a:spcPct val="0"/>
              </a:spcBef>
            </a:pPr>
            <a:r>
              <a:rPr lang="en-US" altLang="zh-CN" u="sng" dirty="0"/>
              <a:t>Ensuring that stress tests are implemented in a rigorous manner</a:t>
            </a:r>
            <a:r>
              <a:rPr lang="en-US" altLang="zh-CN" dirty="0"/>
              <a:t> that is appropriate for the stated use, </a:t>
            </a:r>
            <a:r>
              <a:rPr lang="en-US" altLang="zh-CN" u="sng" dirty="0"/>
              <a:t>and accounting for any changes to the developed stress test that occur during implementation</a:t>
            </a:r>
            <a:r>
              <a:rPr lang="en-US" altLang="zh-CN" dirty="0"/>
              <a:t>;</a:t>
            </a:r>
          </a:p>
          <a:p>
            <a:pPr lvl="1">
              <a:spcBef>
                <a:spcPct val="0"/>
              </a:spcBef>
            </a:pPr>
            <a:r>
              <a:rPr lang="en-US" altLang="zh-CN" u="sng" dirty="0"/>
              <a:t>Monitoring performance on an ongoing basis and assessing any degradation in performance (where possible)</a:t>
            </a:r>
            <a:r>
              <a:rPr lang="en-US" altLang="zh-CN" dirty="0"/>
              <a:t>;</a:t>
            </a:r>
          </a:p>
          <a:p>
            <a:pPr lvl="1">
              <a:spcBef>
                <a:spcPct val="0"/>
              </a:spcBef>
            </a:pPr>
            <a:r>
              <a:rPr lang="en-US" altLang="zh-CN" u="sng" dirty="0"/>
              <a:t>Expressing stress-test uncertainty and inaccuracy, including in the form of confidence bands around estimates and/or factors not observable or not fully incorporated;</a:t>
            </a:r>
          </a:p>
          <a:p>
            <a:pPr lvl="1">
              <a:spcBef>
                <a:spcPct val="0"/>
              </a:spcBef>
            </a:pPr>
            <a:r>
              <a:rPr lang="en-US" altLang="zh-CN" u="sng" dirty="0"/>
              <a:t>Ensuring that vendor or other third-party models are sufficiently validated</a:t>
            </a:r>
            <a:r>
              <a:rPr lang="en-US" altLang="zh-CN" dirty="0"/>
              <a:t>, including their implementation, to ensure they function as intended and are appropriate for the institution’s use.</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29416351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9563100" cy="576064"/>
          </a:xfrm>
        </p:spPr>
        <p:txBody>
          <a:bodyPr>
            <a:normAutofit/>
          </a:bodyPr>
          <a:lstStyle/>
          <a:p>
            <a:r>
              <a:rPr lang="en-US" altLang="zh-CN" sz="2800" dirty="0"/>
              <a:t>Stress Testing and Other Risk Management Tools</a:t>
            </a:r>
          </a:p>
        </p:txBody>
      </p:sp>
      <p:sp>
        <p:nvSpPr>
          <p:cNvPr id="3" name="文本占位符 2"/>
          <p:cNvSpPr>
            <a:spLocks noGrp="1"/>
          </p:cNvSpPr>
          <p:nvPr>
            <p:ph type="body" sz="quarter" idx="10"/>
          </p:nvPr>
        </p:nvSpPr>
        <p:spPr/>
        <p:txBody>
          <a:bodyPr>
            <a:normAutofit fontScale="92500" lnSpcReduction="10000"/>
          </a:bodyPr>
          <a:lstStyle/>
          <a:p>
            <a:pPr>
              <a:lnSpc>
                <a:spcPct val="120000"/>
              </a:lnSpc>
              <a:spcBef>
                <a:spcPct val="0"/>
              </a:spcBef>
            </a:pPr>
            <a:r>
              <a:rPr lang="en-US" altLang="zh-CN" dirty="0"/>
              <a:t>Relationship between Stress Testing and Other Risk Measure</a:t>
            </a:r>
          </a:p>
          <a:p>
            <a:pPr lvl="1">
              <a:lnSpc>
                <a:spcPct val="120000"/>
              </a:lnSpc>
              <a:spcBef>
                <a:spcPct val="0"/>
              </a:spcBef>
            </a:pPr>
            <a:r>
              <a:rPr lang="en-US" altLang="zh-CN" dirty="0"/>
              <a:t>In practice, </a:t>
            </a:r>
            <a:r>
              <a:rPr lang="en-US" altLang="zh-CN" b="1" dirty="0"/>
              <a:t>stress tests </a:t>
            </a:r>
            <a:r>
              <a:rPr lang="en-US" altLang="zh-CN" dirty="0"/>
              <a:t>usually </a:t>
            </a:r>
            <a:r>
              <a:rPr lang="en-US" altLang="zh-CN" u="sng" dirty="0"/>
              <a:t>focus on a few scenarios</a:t>
            </a:r>
            <a:r>
              <a:rPr lang="en-US" altLang="zh-CN" dirty="0"/>
              <a:t>, whereas </a:t>
            </a:r>
            <a:r>
              <a:rPr lang="en-US" altLang="zh-CN" b="1" dirty="0" err="1"/>
              <a:t>VaR</a:t>
            </a:r>
            <a:r>
              <a:rPr lang="en-US" altLang="zh-CN" b="1" dirty="0"/>
              <a:t> measures</a:t>
            </a:r>
            <a:r>
              <a:rPr lang="en-US" altLang="zh-CN" dirty="0"/>
              <a:t> commonly utilize </a:t>
            </a:r>
            <a:r>
              <a:rPr lang="en-US" altLang="zh-CN" u="sng" dirty="0"/>
              <a:t>a very large number of scenarios</a:t>
            </a:r>
            <a:r>
              <a:rPr lang="en-US" altLang="zh-CN" dirty="0"/>
              <a:t>.</a:t>
            </a:r>
          </a:p>
          <a:p>
            <a:pPr lvl="1">
              <a:lnSpc>
                <a:spcPct val="120000"/>
              </a:lnSpc>
              <a:spcBef>
                <a:spcPct val="0"/>
              </a:spcBef>
            </a:pPr>
            <a:r>
              <a:rPr lang="en-US" altLang="zh-CN" dirty="0"/>
              <a:t>In practice, the </a:t>
            </a:r>
            <a:r>
              <a:rPr lang="en-US" altLang="zh-CN" u="sng" dirty="0"/>
              <a:t>loss estimates are often defined differently between stress tests and economic capital/</a:t>
            </a:r>
            <a:r>
              <a:rPr lang="en-US" altLang="zh-CN" u="sng" dirty="0" err="1"/>
              <a:t>VaR</a:t>
            </a:r>
            <a:r>
              <a:rPr lang="en-US" altLang="zh-CN" u="sng" dirty="0"/>
              <a:t> method</a:t>
            </a:r>
            <a:r>
              <a:rPr lang="en-US" altLang="zh-CN" dirty="0"/>
              <a:t>:</a:t>
            </a:r>
          </a:p>
          <a:p>
            <a:pPr lvl="2">
              <a:lnSpc>
                <a:spcPct val="120000"/>
              </a:lnSpc>
              <a:spcBef>
                <a:spcPct val="0"/>
              </a:spcBef>
            </a:pPr>
            <a:r>
              <a:rPr lang="en-US" altLang="zh-CN" b="1" dirty="0"/>
              <a:t>Measurement units (accounting vs. market): </a:t>
            </a:r>
            <a:r>
              <a:rPr lang="en-US" altLang="zh-CN" u="sng" dirty="0"/>
              <a:t>Stress test losses measure accounting-based implications</a:t>
            </a:r>
            <a:r>
              <a:rPr lang="en-US" altLang="zh-CN" dirty="0"/>
              <a:t>.</a:t>
            </a:r>
          </a:p>
          <a:p>
            <a:pPr lvl="2">
              <a:lnSpc>
                <a:spcPct val="120000"/>
              </a:lnSpc>
              <a:spcBef>
                <a:spcPct val="0"/>
              </a:spcBef>
            </a:pPr>
            <a:r>
              <a:rPr lang="en-US" altLang="zh-CN" b="1" dirty="0"/>
              <a:t>Time horizon: </a:t>
            </a:r>
            <a:r>
              <a:rPr lang="en-US" altLang="zh-CN" u="sng" dirty="0"/>
              <a:t>Enterprise-wide stress tests often examine a long period</a:t>
            </a:r>
            <a:r>
              <a:rPr lang="en-US" altLang="zh-CN" dirty="0"/>
              <a:t> such as losses over 9 quarters in the Dodd–Frank stress tests in the US.</a:t>
            </a:r>
          </a:p>
          <a:p>
            <a:pPr lvl="2">
              <a:lnSpc>
                <a:spcPct val="120000"/>
              </a:lnSpc>
              <a:spcBef>
                <a:spcPct val="0"/>
              </a:spcBef>
            </a:pPr>
            <a:r>
              <a:rPr lang="en-US" altLang="zh-CN" b="1" dirty="0"/>
              <a:t>Role of Probabilities:</a:t>
            </a:r>
            <a:r>
              <a:rPr lang="en-US" altLang="zh-CN" dirty="0"/>
              <a:t> </a:t>
            </a:r>
            <a:r>
              <a:rPr lang="en-US" altLang="zh-CN" u="sng" dirty="0"/>
              <a:t>usually assign ordinal rank assignments</a:t>
            </a:r>
          </a:p>
          <a:p>
            <a:pPr lvl="2">
              <a:lnSpc>
                <a:spcPct val="120000"/>
              </a:lnSpc>
              <a:spcBef>
                <a:spcPct val="0"/>
              </a:spcBef>
            </a:pPr>
            <a:r>
              <a:rPr lang="en-US" altLang="zh-CN" b="1" dirty="0"/>
              <a:t>Approach: </a:t>
            </a:r>
            <a:r>
              <a:rPr lang="en-US" altLang="zh-CN" dirty="0"/>
              <a:t>rather than unconditional scenarios typically generated in </a:t>
            </a:r>
            <a:r>
              <a:rPr lang="en-US" altLang="zh-CN" dirty="0" err="1"/>
              <a:t>VaR</a:t>
            </a:r>
            <a:r>
              <a:rPr lang="en-US" altLang="zh-CN" dirty="0"/>
              <a:t>-type metrics. Especially in the case of regulatory stress tests, the </a:t>
            </a:r>
            <a:r>
              <a:rPr lang="en-US" altLang="zh-CN" u="sng" dirty="0"/>
              <a:t>scenario-generation process looks at the present period as the starting point and generates two or three hypothetical scenarios from that point</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4729136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2400"/>
            <a:ext cx="7407729" cy="576064"/>
          </a:xfrm>
        </p:spPr>
        <p:txBody>
          <a:bodyPr>
            <a:normAutofit/>
          </a:bodyPr>
          <a:lstStyle/>
          <a:p>
            <a:r>
              <a:rPr lang="en-US" altLang="zh-CN" sz="2800" dirty="0"/>
              <a:t>Principles for Sound Stress Testing</a:t>
            </a:r>
          </a:p>
        </p:txBody>
      </p:sp>
      <p:sp>
        <p:nvSpPr>
          <p:cNvPr id="3" name="文本占位符 2"/>
          <p:cNvSpPr>
            <a:spLocks noGrp="1"/>
          </p:cNvSpPr>
          <p:nvPr>
            <p:ph type="body" sz="quarter" idx="10"/>
          </p:nvPr>
        </p:nvSpPr>
        <p:spPr/>
        <p:txBody>
          <a:bodyPr>
            <a:normAutofit fontScale="92500" lnSpcReduction="20000"/>
          </a:bodyPr>
          <a:lstStyle/>
          <a:p>
            <a:pPr>
              <a:lnSpc>
                <a:spcPct val="130000"/>
              </a:lnSpc>
              <a:spcBef>
                <a:spcPct val="0"/>
              </a:spcBef>
              <a:defRPr/>
            </a:pPr>
            <a:r>
              <a:rPr lang="en-US" altLang="zh-CN" dirty="0"/>
              <a:t>Stress Testing Principles for Banks</a:t>
            </a:r>
          </a:p>
          <a:p>
            <a:pPr lvl="1">
              <a:lnSpc>
                <a:spcPct val="130000"/>
              </a:lnSpc>
              <a:spcBef>
                <a:spcPct val="0"/>
              </a:spcBef>
              <a:defRPr/>
            </a:pPr>
            <a:r>
              <a:rPr lang="en-US" altLang="zh-CN" dirty="0"/>
              <a:t>Stress testing should </a:t>
            </a:r>
            <a:r>
              <a:rPr lang="en-US" altLang="zh-CN" u="sng" dirty="0"/>
              <a:t>form an integral part of the overall governance and risk management culture</a:t>
            </a:r>
            <a:r>
              <a:rPr lang="en-US" altLang="zh-CN" dirty="0"/>
              <a:t> of the bank.</a:t>
            </a:r>
          </a:p>
          <a:p>
            <a:pPr lvl="1">
              <a:lnSpc>
                <a:spcPct val="130000"/>
              </a:lnSpc>
              <a:spcBef>
                <a:spcPct val="0"/>
              </a:spcBef>
              <a:defRPr/>
            </a:pPr>
            <a:r>
              <a:rPr lang="en-US" altLang="zh-CN" dirty="0"/>
              <a:t>Should </a:t>
            </a:r>
            <a:r>
              <a:rPr lang="en-US" altLang="zh-CN" u="sng" dirty="0"/>
              <a:t>operate a stress testing program that promotes risk identification and control; provides a complementary risk perspective to other risk management tools; improves capital and liquidity management; and enhances internal and external communication</a:t>
            </a:r>
            <a:r>
              <a:rPr lang="en-US" altLang="zh-CN" dirty="0"/>
              <a:t>.</a:t>
            </a:r>
          </a:p>
          <a:p>
            <a:pPr lvl="1">
              <a:lnSpc>
                <a:spcPct val="130000"/>
              </a:lnSpc>
              <a:spcBef>
                <a:spcPct val="0"/>
              </a:spcBef>
              <a:defRPr/>
            </a:pPr>
            <a:r>
              <a:rPr lang="en-US" altLang="zh-CN" u="sng" dirty="0"/>
              <a:t>Should take account of views from across the organization and should cover a range of perspectives and techniques</a:t>
            </a:r>
            <a:r>
              <a:rPr lang="en-US" altLang="zh-CN" dirty="0"/>
              <a:t>.</a:t>
            </a:r>
          </a:p>
          <a:p>
            <a:pPr lvl="1">
              <a:lnSpc>
                <a:spcPct val="130000"/>
              </a:lnSpc>
              <a:spcBef>
                <a:spcPct val="0"/>
              </a:spcBef>
              <a:defRPr/>
            </a:pPr>
            <a:r>
              <a:rPr lang="en-US" altLang="zh-CN" dirty="0"/>
              <a:t>Should </a:t>
            </a:r>
            <a:r>
              <a:rPr lang="en-US" altLang="zh-CN" u="sng" dirty="0"/>
              <a:t>have written policies and procedures governing the stress testing program</a:t>
            </a:r>
            <a:r>
              <a:rPr lang="en-US" altLang="zh-CN" dirty="0"/>
              <a:t>.</a:t>
            </a:r>
          </a:p>
          <a:p>
            <a:pPr lvl="1">
              <a:lnSpc>
                <a:spcPct val="130000"/>
              </a:lnSpc>
              <a:spcBef>
                <a:spcPct val="0"/>
              </a:spcBef>
              <a:defRPr/>
            </a:pPr>
            <a:r>
              <a:rPr lang="en-US" altLang="zh-CN" dirty="0"/>
              <a:t>Should </a:t>
            </a:r>
            <a:r>
              <a:rPr lang="en-US" altLang="zh-CN" u="sng" dirty="0"/>
              <a:t>have a suitably robust infrastructure in place, which is sufficiently flexible to accommodate different and possibly changing stress tests at an appropriate level of granularity</a:t>
            </a:r>
            <a:r>
              <a:rPr lang="en-US" altLang="zh-CN" dirty="0"/>
              <a:t>.</a:t>
            </a:r>
          </a:p>
          <a:p>
            <a:pPr lvl="1">
              <a:lnSpc>
                <a:spcPct val="130000"/>
              </a:lnSpc>
              <a:spcBef>
                <a:spcPct val="0"/>
              </a:spcBef>
              <a:defRPr/>
            </a:pPr>
            <a:r>
              <a:rPr lang="en-US" altLang="zh-CN" dirty="0"/>
              <a:t>Should </a:t>
            </a:r>
            <a:r>
              <a:rPr lang="en-US" altLang="zh-CN" u="sng" dirty="0"/>
              <a:t>regularly maintain and update its stress testing framework</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0708710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Principles for Sound Stress Testing</a:t>
            </a:r>
          </a:p>
        </p:txBody>
      </p:sp>
      <p:sp>
        <p:nvSpPr>
          <p:cNvPr id="3" name="文本占位符 2"/>
          <p:cNvSpPr>
            <a:spLocks noGrp="1"/>
          </p:cNvSpPr>
          <p:nvPr>
            <p:ph type="body" sz="quarter" idx="10"/>
          </p:nvPr>
        </p:nvSpPr>
        <p:spPr/>
        <p:txBody>
          <a:bodyPr>
            <a:normAutofit fontScale="92500" lnSpcReduction="20000"/>
          </a:bodyPr>
          <a:lstStyle/>
          <a:p>
            <a:pPr>
              <a:lnSpc>
                <a:spcPct val="130000"/>
              </a:lnSpc>
              <a:spcBef>
                <a:spcPct val="0"/>
              </a:spcBef>
              <a:defRPr/>
            </a:pPr>
            <a:r>
              <a:rPr lang="en-US" altLang="zh-CN" dirty="0"/>
              <a:t>Stress Testing and Scenario Selection</a:t>
            </a:r>
          </a:p>
          <a:p>
            <a:pPr lvl="1">
              <a:lnSpc>
                <a:spcPct val="130000"/>
              </a:lnSpc>
              <a:spcBef>
                <a:spcPct val="0"/>
              </a:spcBef>
              <a:defRPr/>
            </a:pPr>
            <a:r>
              <a:rPr lang="en-US" altLang="zh-CN" dirty="0"/>
              <a:t>Stress tests should </a:t>
            </a:r>
            <a:r>
              <a:rPr lang="en-US" altLang="zh-CN" u="sng" dirty="0"/>
              <a:t>cover a range of risks and business areas, including at the firm-wide level</a:t>
            </a:r>
            <a:r>
              <a:rPr lang="en-US" altLang="zh-CN" dirty="0"/>
              <a:t>.</a:t>
            </a:r>
          </a:p>
          <a:p>
            <a:pPr lvl="1">
              <a:lnSpc>
                <a:spcPct val="130000"/>
              </a:lnSpc>
              <a:spcBef>
                <a:spcPct val="0"/>
              </a:spcBef>
              <a:defRPr/>
            </a:pPr>
            <a:r>
              <a:rPr lang="en-US" altLang="zh-CN" dirty="0"/>
              <a:t>Stress testing programs should </a:t>
            </a:r>
            <a:r>
              <a:rPr lang="en-US" altLang="zh-CN" u="sng" dirty="0"/>
              <a:t>cover a range of scenarios, including forward-looking scenarios, and aim to take into account system-wide interactions and feedback effects</a:t>
            </a:r>
            <a:r>
              <a:rPr lang="en-US" altLang="zh-CN" dirty="0"/>
              <a:t>.</a:t>
            </a:r>
          </a:p>
          <a:p>
            <a:pPr lvl="1">
              <a:lnSpc>
                <a:spcPct val="130000"/>
              </a:lnSpc>
              <a:spcBef>
                <a:spcPct val="0"/>
              </a:spcBef>
              <a:defRPr/>
            </a:pPr>
            <a:r>
              <a:rPr lang="en-US" altLang="zh-CN" dirty="0"/>
              <a:t>Stress tests should </a:t>
            </a:r>
            <a:r>
              <a:rPr lang="en-US" altLang="zh-CN" u="sng" dirty="0"/>
              <a:t>feature a range of severities, including events capable of generating the most damage whether through size of loss or through loss of reputation</a:t>
            </a:r>
            <a:r>
              <a:rPr lang="en-US" altLang="zh-CN" dirty="0"/>
              <a:t>.</a:t>
            </a:r>
          </a:p>
          <a:p>
            <a:pPr lvl="1">
              <a:lnSpc>
                <a:spcPct val="130000"/>
              </a:lnSpc>
              <a:spcBef>
                <a:spcPct val="0"/>
              </a:spcBef>
              <a:defRPr/>
            </a:pPr>
            <a:r>
              <a:rPr lang="en-US" altLang="zh-CN" u="sng" dirty="0"/>
              <a:t>Reverse stress tests start from a known stress test outcome (such as breaching regulatory capital ratios, illiquidity or insolvency) and then asking what events could lead to such an outcome for the bank.</a:t>
            </a:r>
          </a:p>
          <a:p>
            <a:pPr lvl="1">
              <a:lnSpc>
                <a:spcPct val="130000"/>
              </a:lnSpc>
              <a:spcBef>
                <a:spcPct val="0"/>
              </a:spcBef>
              <a:defRPr/>
            </a:pPr>
            <a:r>
              <a:rPr lang="en-US" altLang="zh-CN" dirty="0"/>
              <a:t>As part of an overall stress testing program, a bank should </a:t>
            </a:r>
            <a:r>
              <a:rPr lang="en-US" altLang="zh-CN" u="sng" dirty="0"/>
              <a:t>aim to take account of simultaneous pressures in funding and asset markets, and the impact of a reduction in market liquidity on exposure valuation</a:t>
            </a:r>
            <a:r>
              <a:rPr lang="en-US" altLang="zh-CN" dirty="0"/>
              <a:t>.</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885671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a:t>Principles for Sound Stress Testing</a:t>
            </a:r>
          </a:p>
        </p:txBody>
      </p:sp>
      <p:sp>
        <p:nvSpPr>
          <p:cNvPr id="3" name="文本占位符 2"/>
          <p:cNvSpPr>
            <a:spLocks noGrp="1"/>
          </p:cNvSpPr>
          <p:nvPr>
            <p:ph type="body" sz="quarter" idx="10"/>
          </p:nvPr>
        </p:nvSpPr>
        <p:spPr>
          <a:xfrm>
            <a:off x="393599" y="813469"/>
            <a:ext cx="11404800" cy="5660163"/>
          </a:xfrm>
        </p:spPr>
        <p:txBody>
          <a:bodyPr>
            <a:normAutofit fontScale="92500" lnSpcReduction="10000"/>
          </a:bodyPr>
          <a:lstStyle/>
          <a:p>
            <a:pPr>
              <a:lnSpc>
                <a:spcPct val="120000"/>
              </a:lnSpc>
              <a:spcBef>
                <a:spcPct val="0"/>
              </a:spcBef>
            </a:pPr>
            <a:r>
              <a:rPr lang="en-US" altLang="zh-CN" dirty="0"/>
              <a:t>Stress Testing and Scenario Selection (cont’d)</a:t>
            </a:r>
          </a:p>
          <a:p>
            <a:pPr lvl="1">
              <a:lnSpc>
                <a:spcPct val="120000"/>
              </a:lnSpc>
              <a:spcBef>
                <a:spcPct val="0"/>
              </a:spcBef>
            </a:pPr>
            <a:r>
              <a:rPr lang="en-US" altLang="zh-CN" dirty="0"/>
              <a:t>A bank should enhance its stress testing practices by </a:t>
            </a:r>
            <a:r>
              <a:rPr lang="en-US" altLang="zh-CN" u="sng" dirty="0"/>
              <a:t>considering important interrelations between various factors</a:t>
            </a:r>
            <a:r>
              <a:rPr lang="en-US" altLang="zh-CN" dirty="0"/>
              <a:t>.</a:t>
            </a:r>
          </a:p>
          <a:p>
            <a:pPr lvl="1">
              <a:lnSpc>
                <a:spcPct val="120000"/>
              </a:lnSpc>
              <a:spcBef>
                <a:spcPct val="0"/>
              </a:spcBef>
            </a:pPr>
            <a:r>
              <a:rPr lang="en-US" altLang="zh-CN" u="sng" dirty="0"/>
              <a:t>Effectiveness of risk mitigation techniques should be systematically challenged</a:t>
            </a:r>
            <a:r>
              <a:rPr lang="en-US" altLang="zh-CN" dirty="0"/>
              <a:t>.</a:t>
            </a:r>
          </a:p>
          <a:p>
            <a:pPr lvl="1">
              <a:lnSpc>
                <a:spcPct val="120000"/>
              </a:lnSpc>
              <a:spcBef>
                <a:spcPct val="0"/>
              </a:spcBef>
            </a:pPr>
            <a:r>
              <a:rPr lang="en-US" altLang="zh-CN" dirty="0"/>
              <a:t>The stress testing program should </a:t>
            </a:r>
            <a:r>
              <a:rPr lang="en-US" altLang="zh-CN" u="sng" dirty="0"/>
              <a:t>explicitly cover complex and bespoke products such as securitized exposures</a:t>
            </a:r>
            <a:r>
              <a:rPr lang="en-US" altLang="zh-CN" dirty="0"/>
              <a:t>.</a:t>
            </a:r>
          </a:p>
          <a:p>
            <a:pPr lvl="1">
              <a:lnSpc>
                <a:spcPct val="120000"/>
              </a:lnSpc>
              <a:spcBef>
                <a:spcPct val="0"/>
              </a:spcBef>
            </a:pPr>
            <a:r>
              <a:rPr lang="en-US" altLang="zh-CN" dirty="0"/>
              <a:t>The stress testing program should </a:t>
            </a:r>
            <a:r>
              <a:rPr lang="en-US" altLang="zh-CN" u="sng" dirty="0"/>
              <a:t>cover pipeline and warehousing risks</a:t>
            </a:r>
            <a:r>
              <a:rPr lang="en-US" altLang="zh-CN" dirty="0"/>
              <a:t>. A bank should include such exposures in its stress tests regardless of their probability of being securitized.</a:t>
            </a:r>
          </a:p>
          <a:p>
            <a:pPr lvl="1">
              <a:lnSpc>
                <a:spcPct val="120000"/>
              </a:lnSpc>
              <a:spcBef>
                <a:spcPct val="0"/>
              </a:spcBef>
            </a:pPr>
            <a:r>
              <a:rPr lang="en-US" altLang="zh-CN" dirty="0"/>
              <a:t>A bank should </a:t>
            </a:r>
            <a:r>
              <a:rPr lang="en-US" altLang="zh-CN" u="sng" dirty="0"/>
              <a:t>enhance its stress testing methodologies to capture the effect of reputational risk</a:t>
            </a:r>
            <a:r>
              <a:rPr lang="en-US" altLang="zh-CN" dirty="0"/>
              <a:t>.</a:t>
            </a:r>
          </a:p>
          <a:p>
            <a:pPr lvl="1">
              <a:lnSpc>
                <a:spcPct val="120000"/>
              </a:lnSpc>
              <a:spcBef>
                <a:spcPct val="0"/>
              </a:spcBef>
            </a:pPr>
            <a:r>
              <a:rPr lang="en-US" altLang="zh-CN" dirty="0"/>
              <a:t>A bank should </a:t>
            </a:r>
            <a:r>
              <a:rPr lang="en-US" altLang="zh-CN" u="sng" dirty="0"/>
              <a:t>enhance its stress testing approaches for highly leveraged counterparties and in assessing potential wrong-way risk related to risk mitigating techniques.</a:t>
            </a:r>
          </a:p>
          <a:p>
            <a:endParaRPr lang="en-US" altLang="zh-CN" dirty="0">
              <a:latin typeface="+mn-lt"/>
              <a:ea typeface="+mn-ea"/>
              <a:cs typeface="+mn-ea"/>
              <a:sym typeface="+mn-lt"/>
            </a:endParaRPr>
          </a:p>
        </p:txBody>
      </p:sp>
    </p:spTree>
    <p:extLst>
      <p:ext uri="{BB962C8B-B14F-4D97-AF65-F5344CB8AC3E}">
        <p14:creationId xmlns:p14="http://schemas.microsoft.com/office/powerpoint/2010/main" val="335039571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C915B3DB-23F0-4C0F-847F-90F8A2B7726B}"/>
              </a:ext>
            </a:extLst>
          </p:cNvPr>
          <p:cNvSpPr>
            <a:spLocks noGrp="1"/>
          </p:cNvSpPr>
          <p:nvPr>
            <p:ph type="body" sz="quarter" idx="12"/>
          </p:nvPr>
        </p:nvSpPr>
        <p:spPr/>
        <p:txBody>
          <a:bodyPr/>
          <a:lstStyle/>
          <a:p>
            <a:r>
              <a:rPr lang="en-US" altLang="zh-CN" b="0" dirty="0"/>
              <a:t>It's easier to give up, but you won't get anything in the end. It's harder to keep going, but you would get something in the end.</a:t>
            </a:r>
          </a:p>
          <a:p>
            <a:endParaRPr lang="en-US" altLang="zh-CN" b="0" dirty="0"/>
          </a:p>
          <a:p>
            <a:endParaRPr lang="en-US" altLang="zh-CN" b="0" dirty="0"/>
          </a:p>
          <a:p>
            <a:r>
              <a:rPr lang="zh-CN" altLang="en-US" b="0" dirty="0"/>
              <a:t>放弃当然很容易，但你最终什么也得不到。继续当然很难，但你总会得到一些东西。</a:t>
            </a:r>
            <a:endParaRPr lang="zh-CN" altLang="en-US" dirty="0"/>
          </a:p>
        </p:txBody>
      </p:sp>
    </p:spTree>
    <p:extLst>
      <p:ext uri="{BB962C8B-B14F-4D97-AF65-F5344CB8AC3E}">
        <p14:creationId xmlns:p14="http://schemas.microsoft.com/office/powerpoint/2010/main" val="37860178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ne&quot;,&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1_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4_20190114_金融产品与市场_肖东昊.potx" id="{6D8F0C1A-2176-4CC4-BAF9-AE92C5C368AD}" vid="{DF885EF5-BA1F-4197-B122-81E04FB85622}"/>
    </a:ext>
  </a:extLst>
</a:theme>
</file>

<file path=ppt/theme/theme2.xml><?xml version="1.0" encoding="utf-8"?>
<a:theme xmlns:a="http://schemas.openxmlformats.org/drawingml/2006/main" name="Office 主题">
  <a:themeElements>
    <a:clrScheme name="黄绿色">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zv2psjci">
      <a:majorFont>
        <a:latin typeface="Segoe UI"/>
        <a:ea typeface="Microsoft YaHei"/>
        <a:cs typeface=""/>
      </a:majorFont>
      <a:minorFont>
        <a:latin typeface="Segoe U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4_20190114_金融产品与市场_肖东昊.potx" id="{6D8F0C1A-2176-4CC4-BAF9-AE92C5C368AD}" vid="{3FDA8FE5-C95C-42E4-A76D-788D8D9DAF3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14438</TotalTime>
  <Words>10928</Words>
  <Application>Microsoft Office PowerPoint</Application>
  <PresentationFormat>宽屏</PresentationFormat>
  <Paragraphs>1312</Paragraphs>
  <Slides>122</Slides>
  <Notes>16</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122</vt:i4>
      </vt:variant>
    </vt:vector>
  </HeadingPairs>
  <TitlesOfParts>
    <vt:vector size="135" baseType="lpstr">
      <vt:lpstr>Gill Sans</vt:lpstr>
      <vt:lpstr>Roboto</vt:lpstr>
      <vt:lpstr>等线</vt:lpstr>
      <vt:lpstr>微软雅黑</vt:lpstr>
      <vt:lpstr>Arial</vt:lpstr>
      <vt:lpstr>Calibri</vt:lpstr>
      <vt:lpstr>Cambria Math</vt:lpstr>
      <vt:lpstr>Impact</vt:lpstr>
      <vt:lpstr>Segoe UI</vt:lpstr>
      <vt:lpstr>Times New Roman</vt:lpstr>
      <vt:lpstr>Wingdings</vt:lpstr>
      <vt:lpstr>1_Office 主题</vt:lpstr>
      <vt:lpstr>Office 主题</vt:lpstr>
      <vt:lpstr>Valuation and Risk Models</vt:lpstr>
      <vt:lpstr>Topic Weightings in FRM Part I </vt:lpstr>
      <vt:lpstr>PowerPoint 演示文稿</vt:lpstr>
      <vt:lpstr>PowerPoint 演示文稿</vt:lpstr>
      <vt:lpstr>PowerPoint 演示文稿</vt:lpstr>
      <vt:lpstr>Compounding Interest</vt:lpstr>
      <vt:lpstr>Spot, Forward and Par Rates</vt:lpstr>
      <vt:lpstr>Spread and Yield</vt:lpstr>
      <vt:lpstr>Spread and Yield</vt:lpstr>
      <vt:lpstr>Relationship between Rates</vt:lpstr>
      <vt:lpstr>Discount Factor</vt:lpstr>
      <vt:lpstr>Basic Valuation Approach</vt:lpstr>
      <vt:lpstr>Basic Valuation Approach</vt:lpstr>
      <vt:lpstr>Bond Replication</vt:lpstr>
      <vt:lpstr>Bond Replication</vt:lpstr>
      <vt:lpstr>Decomposition of P&amp;L</vt:lpstr>
      <vt:lpstr>Exercise 1</vt:lpstr>
      <vt:lpstr>Exercise 2</vt:lpstr>
      <vt:lpstr>Exercise 3</vt:lpstr>
      <vt:lpstr>Exercise 4</vt:lpstr>
      <vt:lpstr>Exercise 5</vt:lpstr>
      <vt:lpstr>Exercise 6</vt:lpstr>
      <vt:lpstr>PowerPoint 演示文稿</vt:lpstr>
      <vt:lpstr>PowerPoint 演示文稿</vt:lpstr>
      <vt:lpstr>One-Factor Risk Metrics</vt:lpstr>
      <vt:lpstr>One-Factor Risk Metrics</vt:lpstr>
      <vt:lpstr>One-Factor Risk Metrics</vt:lpstr>
      <vt:lpstr>One-Factor Risk Metrics</vt:lpstr>
      <vt:lpstr>Multi-Factor Risk Metrics</vt:lpstr>
      <vt:lpstr>Exercise 1</vt:lpstr>
      <vt:lpstr>Exercise 2</vt:lpstr>
      <vt:lpstr>Exercise 3</vt:lpstr>
      <vt:lpstr>PowerPoint 演示文稿</vt:lpstr>
      <vt:lpstr>PowerPoint 演示文稿</vt:lpstr>
      <vt:lpstr>Binomial Trees</vt:lpstr>
      <vt:lpstr>Binomial Trees </vt:lpstr>
      <vt:lpstr>Binomial Trees</vt:lpstr>
      <vt:lpstr>Binomial Trees</vt:lpstr>
      <vt:lpstr>Binomial Trees</vt:lpstr>
      <vt:lpstr>Black-Scholes-Merton Model</vt:lpstr>
      <vt:lpstr>Black-Scholes-Merton Model</vt:lpstr>
      <vt:lpstr>PowerPoint 演示文稿</vt:lpstr>
      <vt:lpstr>Greek Letters</vt:lpstr>
      <vt:lpstr>Greek Letters</vt:lpstr>
      <vt:lpstr>Greek Letters</vt:lpstr>
      <vt:lpstr>Greek Letters</vt:lpstr>
      <vt:lpstr>Greek Letters</vt:lpstr>
      <vt:lpstr>Exercise 1</vt:lpstr>
      <vt:lpstr>Exercise 2</vt:lpstr>
      <vt:lpstr>Exercise 3</vt:lpstr>
      <vt:lpstr>Exercise 4</vt:lpstr>
      <vt:lpstr>Exercise 5</vt:lpstr>
      <vt:lpstr>Exercise 6</vt:lpstr>
      <vt:lpstr>Exercise 7-8</vt:lpstr>
      <vt:lpstr>Exercise 9</vt:lpstr>
      <vt:lpstr>PowerPoint 演示文稿</vt:lpstr>
      <vt:lpstr>PowerPoint 演示文稿</vt:lpstr>
      <vt:lpstr>Measures of Financial Risk</vt:lpstr>
      <vt:lpstr>Measures of Financial Risk</vt:lpstr>
      <vt:lpstr>Measures of Financial Risk</vt:lpstr>
      <vt:lpstr>Measures of Financial Risk</vt:lpstr>
      <vt:lpstr>Measures of Financial Risk</vt:lpstr>
      <vt:lpstr>Measures of Financial Risk</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Quantifying Volatility in VaR Models</vt:lpstr>
      <vt:lpstr>Foreign Exchange Risk</vt:lpstr>
      <vt:lpstr>Foreign Exchange Risk</vt:lpstr>
      <vt:lpstr>Foreign Exchange Risk</vt:lpstr>
      <vt:lpstr>Foreign Exchange Risk</vt:lpstr>
      <vt:lpstr>Foreign Exchange Risk</vt:lpstr>
      <vt:lpstr>Exercise 1</vt:lpstr>
      <vt:lpstr>Exercise 2</vt:lpstr>
      <vt:lpstr>Exercise 3</vt:lpstr>
      <vt:lpstr>Exercise 4</vt:lpstr>
      <vt:lpstr>Exercise 5</vt:lpstr>
      <vt:lpstr>Exercise 6</vt:lpstr>
      <vt:lpstr>Expected and Unexpected Loss</vt:lpstr>
      <vt:lpstr>Expected and Unexpected Loss</vt:lpstr>
      <vt:lpstr>Expected and Unexpected Loss</vt:lpstr>
      <vt:lpstr>Expected and Unexpected Loss</vt:lpstr>
      <vt:lpstr>Expected and Unexpected Loss</vt:lpstr>
      <vt:lpstr>Expected and Unexpected Loss</vt:lpstr>
      <vt:lpstr>External and Internal Ratings</vt:lpstr>
      <vt:lpstr>External and Internal Ratings</vt:lpstr>
      <vt:lpstr>External and Internal Ratings</vt:lpstr>
      <vt:lpstr>External and Internal Ratings</vt:lpstr>
      <vt:lpstr>External and Internal Ratings</vt:lpstr>
      <vt:lpstr>External and Internal Ratings</vt:lpstr>
      <vt:lpstr>Country Risk</vt:lpstr>
      <vt:lpstr>Country Risk</vt:lpstr>
      <vt:lpstr>Country Risk</vt:lpstr>
      <vt:lpstr>Country Risk</vt:lpstr>
      <vt:lpstr>Exercise 1</vt:lpstr>
      <vt:lpstr>Exercise 2</vt:lpstr>
      <vt:lpstr>Exercise 3</vt:lpstr>
      <vt:lpstr>Exercise 4</vt:lpstr>
      <vt:lpstr>Operational Risk</vt:lpstr>
      <vt:lpstr>Loss Distribution Approach</vt:lpstr>
      <vt:lpstr>Loss Distribution Approach</vt:lpstr>
      <vt:lpstr>Regulatory Capital Requirement</vt:lpstr>
      <vt:lpstr>Regulatory Capital Requirement</vt:lpstr>
      <vt:lpstr>Risk Control Self-Assessment</vt:lpstr>
      <vt:lpstr>Exercise 1</vt:lpstr>
      <vt:lpstr>Exercise 2</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Governance over Stress Testing</vt:lpstr>
      <vt:lpstr>Stress Testing and Other Risk Management Tools</vt:lpstr>
      <vt:lpstr>Principles for Sound Stress Testing</vt:lpstr>
      <vt:lpstr>Principles for Sound Stress Testing</vt:lpstr>
      <vt:lpstr>Principles for Sound Stress Testing</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Market and Product</dc:title>
  <dc:creator>金程教育</dc:creator>
  <cp:lastModifiedBy>翟宏荣</cp:lastModifiedBy>
  <cp:revision>474</cp:revision>
  <dcterms:created xsi:type="dcterms:W3CDTF">2019-01-09T02:03:23Z</dcterms:created>
  <dcterms:modified xsi:type="dcterms:W3CDTF">2019-04-15T13:52:15Z</dcterms:modified>
</cp:coreProperties>
</file>