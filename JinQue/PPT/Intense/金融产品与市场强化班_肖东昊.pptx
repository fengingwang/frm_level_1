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83"/>
  </p:notesMasterIdLst>
  <p:handoutMasterIdLst>
    <p:handoutMasterId r:id="rId284"/>
  </p:handoutMasterIdLst>
  <p:sldIdLst>
    <p:sldId id="351" r:id="rId3"/>
    <p:sldId id="258" r:id="rId4"/>
    <p:sldId id="259" r:id="rId5"/>
    <p:sldId id="285" r:id="rId6"/>
    <p:sldId id="264" r:id="rId7"/>
    <p:sldId id="263" r:id="rId8"/>
    <p:sldId id="269" r:id="rId9"/>
    <p:sldId id="270" r:id="rId10"/>
    <p:sldId id="265" r:id="rId11"/>
    <p:sldId id="273" r:id="rId12"/>
    <p:sldId id="275" r:id="rId13"/>
    <p:sldId id="276" r:id="rId14"/>
    <p:sldId id="277" r:id="rId15"/>
    <p:sldId id="282" r:id="rId16"/>
    <p:sldId id="348" r:id="rId17"/>
    <p:sldId id="287" r:id="rId18"/>
    <p:sldId id="294" r:id="rId19"/>
    <p:sldId id="293" r:id="rId20"/>
    <p:sldId id="292" r:id="rId21"/>
    <p:sldId id="295" r:id="rId22"/>
    <p:sldId id="296" r:id="rId23"/>
    <p:sldId id="291" r:id="rId24"/>
    <p:sldId id="297" r:id="rId25"/>
    <p:sldId id="298" r:id="rId26"/>
    <p:sldId id="302" r:id="rId27"/>
    <p:sldId id="303" r:id="rId28"/>
    <p:sldId id="299" r:id="rId29"/>
    <p:sldId id="300" r:id="rId30"/>
    <p:sldId id="305" r:id="rId31"/>
    <p:sldId id="306" r:id="rId32"/>
    <p:sldId id="308" r:id="rId33"/>
    <p:sldId id="309" r:id="rId34"/>
    <p:sldId id="311" r:id="rId35"/>
    <p:sldId id="288" r:id="rId36"/>
    <p:sldId id="349" r:id="rId37"/>
    <p:sldId id="318" r:id="rId38"/>
    <p:sldId id="323" r:id="rId39"/>
    <p:sldId id="320" r:id="rId40"/>
    <p:sldId id="321" r:id="rId41"/>
    <p:sldId id="326" r:id="rId42"/>
    <p:sldId id="328" r:id="rId43"/>
    <p:sldId id="329" r:id="rId44"/>
    <p:sldId id="330" r:id="rId45"/>
    <p:sldId id="331" r:id="rId46"/>
    <p:sldId id="332" r:id="rId47"/>
    <p:sldId id="334" r:id="rId48"/>
    <p:sldId id="335" r:id="rId49"/>
    <p:sldId id="336" r:id="rId50"/>
    <p:sldId id="337" r:id="rId51"/>
    <p:sldId id="338" r:id="rId52"/>
    <p:sldId id="339" r:id="rId53"/>
    <p:sldId id="340" r:id="rId54"/>
    <p:sldId id="341" r:id="rId55"/>
    <p:sldId id="316" r:id="rId56"/>
    <p:sldId id="354" r:id="rId57"/>
    <p:sldId id="372" r:id="rId58"/>
    <p:sldId id="356" r:id="rId59"/>
    <p:sldId id="359" r:id="rId60"/>
    <p:sldId id="366" r:id="rId61"/>
    <p:sldId id="363" r:id="rId62"/>
    <p:sldId id="364" r:id="rId63"/>
    <p:sldId id="365" r:id="rId64"/>
    <p:sldId id="367" r:id="rId65"/>
    <p:sldId id="368" r:id="rId66"/>
    <p:sldId id="369" r:id="rId67"/>
    <p:sldId id="370" r:id="rId68"/>
    <p:sldId id="355" r:id="rId69"/>
    <p:sldId id="378" r:id="rId70"/>
    <p:sldId id="384" r:id="rId71"/>
    <p:sldId id="385" r:id="rId72"/>
    <p:sldId id="387" r:id="rId73"/>
    <p:sldId id="388" r:id="rId74"/>
    <p:sldId id="389" r:id="rId75"/>
    <p:sldId id="390" r:id="rId76"/>
    <p:sldId id="391" r:id="rId77"/>
    <p:sldId id="392" r:id="rId78"/>
    <p:sldId id="393" r:id="rId79"/>
    <p:sldId id="394" r:id="rId80"/>
    <p:sldId id="395" r:id="rId81"/>
    <p:sldId id="396" r:id="rId82"/>
    <p:sldId id="397" r:id="rId83"/>
    <p:sldId id="398" r:id="rId84"/>
    <p:sldId id="399" r:id="rId85"/>
    <p:sldId id="383" r:id="rId86"/>
    <p:sldId id="403" r:id="rId87"/>
    <p:sldId id="406" r:id="rId88"/>
    <p:sldId id="414" r:id="rId89"/>
    <p:sldId id="410" r:id="rId90"/>
    <p:sldId id="411" r:id="rId91"/>
    <p:sldId id="412" r:id="rId92"/>
    <p:sldId id="416" r:id="rId93"/>
    <p:sldId id="417" r:id="rId94"/>
    <p:sldId id="418" r:id="rId95"/>
    <p:sldId id="419" r:id="rId96"/>
    <p:sldId id="420" r:id="rId97"/>
    <p:sldId id="423" r:id="rId98"/>
    <p:sldId id="424" r:id="rId99"/>
    <p:sldId id="425" r:id="rId100"/>
    <p:sldId id="428" r:id="rId101"/>
    <p:sldId id="422" r:id="rId102"/>
    <p:sldId id="427" r:id="rId103"/>
    <p:sldId id="426" r:id="rId104"/>
    <p:sldId id="405" r:id="rId105"/>
    <p:sldId id="433" r:id="rId106"/>
    <p:sldId id="437" r:id="rId107"/>
    <p:sldId id="438" r:id="rId108"/>
    <p:sldId id="440" r:id="rId109"/>
    <p:sldId id="441" r:id="rId110"/>
    <p:sldId id="442" r:id="rId111"/>
    <p:sldId id="444" r:id="rId112"/>
    <p:sldId id="448" r:id="rId113"/>
    <p:sldId id="443" r:id="rId114"/>
    <p:sldId id="445" r:id="rId115"/>
    <p:sldId id="446" r:id="rId116"/>
    <p:sldId id="449" r:id="rId117"/>
    <p:sldId id="450" r:id="rId118"/>
    <p:sldId id="451" r:id="rId119"/>
    <p:sldId id="452" r:id="rId120"/>
    <p:sldId id="453" r:id="rId121"/>
    <p:sldId id="455" r:id="rId122"/>
    <p:sldId id="435" r:id="rId123"/>
    <p:sldId id="462" r:id="rId124"/>
    <p:sldId id="468" r:id="rId125"/>
    <p:sldId id="469" r:id="rId126"/>
    <p:sldId id="470" r:id="rId127"/>
    <p:sldId id="471" r:id="rId128"/>
    <p:sldId id="472" r:id="rId129"/>
    <p:sldId id="477" r:id="rId130"/>
    <p:sldId id="464" r:id="rId131"/>
    <p:sldId id="478" r:id="rId132"/>
    <p:sldId id="481" r:id="rId133"/>
    <p:sldId id="482" r:id="rId134"/>
    <p:sldId id="483" r:id="rId135"/>
    <p:sldId id="484" r:id="rId136"/>
    <p:sldId id="485" r:id="rId137"/>
    <p:sldId id="486" r:id="rId138"/>
    <p:sldId id="487" r:id="rId139"/>
    <p:sldId id="488" r:id="rId140"/>
    <p:sldId id="489" r:id="rId141"/>
    <p:sldId id="490" r:id="rId142"/>
    <p:sldId id="491" r:id="rId143"/>
    <p:sldId id="493" r:id="rId144"/>
    <p:sldId id="494" r:id="rId145"/>
    <p:sldId id="495" r:id="rId146"/>
    <p:sldId id="480" r:id="rId147"/>
    <p:sldId id="500" r:id="rId148"/>
    <p:sldId id="503" r:id="rId149"/>
    <p:sldId id="504" r:id="rId150"/>
    <p:sldId id="505" r:id="rId151"/>
    <p:sldId id="511" r:id="rId152"/>
    <p:sldId id="506" r:id="rId153"/>
    <p:sldId id="507" r:id="rId154"/>
    <p:sldId id="508" r:id="rId155"/>
    <p:sldId id="509" r:id="rId156"/>
    <p:sldId id="510" r:id="rId157"/>
    <p:sldId id="513" r:id="rId158"/>
    <p:sldId id="512" r:id="rId159"/>
    <p:sldId id="514" r:id="rId160"/>
    <p:sldId id="515" r:id="rId161"/>
    <p:sldId id="516" r:id="rId162"/>
    <p:sldId id="517" r:id="rId163"/>
    <p:sldId id="520" r:id="rId164"/>
    <p:sldId id="521" r:id="rId165"/>
    <p:sldId id="502" r:id="rId166"/>
    <p:sldId id="535" r:id="rId167"/>
    <p:sldId id="536" r:id="rId168"/>
    <p:sldId id="537" r:id="rId169"/>
    <p:sldId id="538" r:id="rId170"/>
    <p:sldId id="539" r:id="rId171"/>
    <p:sldId id="543" r:id="rId172"/>
    <p:sldId id="544" r:id="rId173"/>
    <p:sldId id="545" r:id="rId174"/>
    <p:sldId id="546" r:id="rId175"/>
    <p:sldId id="528" r:id="rId176"/>
    <p:sldId id="550" r:id="rId177"/>
    <p:sldId id="552" r:id="rId178"/>
    <p:sldId id="553" r:id="rId179"/>
    <p:sldId id="554" r:id="rId180"/>
    <p:sldId id="555" r:id="rId181"/>
    <p:sldId id="556" r:id="rId182"/>
    <p:sldId id="557" r:id="rId183"/>
    <p:sldId id="558" r:id="rId184"/>
    <p:sldId id="559" r:id="rId185"/>
    <p:sldId id="560" r:id="rId186"/>
    <p:sldId id="561" r:id="rId187"/>
    <p:sldId id="562" r:id="rId188"/>
    <p:sldId id="563" r:id="rId189"/>
    <p:sldId id="564" r:id="rId190"/>
    <p:sldId id="565" r:id="rId191"/>
    <p:sldId id="529" r:id="rId192"/>
    <p:sldId id="570" r:id="rId193"/>
    <p:sldId id="576" r:id="rId194"/>
    <p:sldId id="577" r:id="rId195"/>
    <p:sldId id="578" r:id="rId196"/>
    <p:sldId id="579" r:id="rId197"/>
    <p:sldId id="580" r:id="rId198"/>
    <p:sldId id="581" r:id="rId199"/>
    <p:sldId id="582" r:id="rId200"/>
    <p:sldId id="583" r:id="rId201"/>
    <p:sldId id="569" r:id="rId202"/>
    <p:sldId id="590" r:id="rId203"/>
    <p:sldId id="595" r:id="rId204"/>
    <p:sldId id="596" r:id="rId205"/>
    <p:sldId id="597" r:id="rId206"/>
    <p:sldId id="598" r:id="rId207"/>
    <p:sldId id="599" r:id="rId208"/>
    <p:sldId id="601" r:id="rId209"/>
    <p:sldId id="606" r:id="rId210"/>
    <p:sldId id="607" r:id="rId211"/>
    <p:sldId id="592" r:id="rId212"/>
    <p:sldId id="611" r:id="rId213"/>
    <p:sldId id="616" r:id="rId214"/>
    <p:sldId id="617" r:id="rId215"/>
    <p:sldId id="618" r:id="rId216"/>
    <p:sldId id="619" r:id="rId217"/>
    <p:sldId id="620" r:id="rId218"/>
    <p:sldId id="621" r:id="rId219"/>
    <p:sldId id="625" r:id="rId220"/>
    <p:sldId id="626" r:id="rId221"/>
    <p:sldId id="613" r:id="rId222"/>
    <p:sldId id="627" r:id="rId223"/>
    <p:sldId id="629" r:id="rId224"/>
    <p:sldId id="630" r:id="rId225"/>
    <p:sldId id="631" r:id="rId226"/>
    <p:sldId id="632" r:id="rId227"/>
    <p:sldId id="633" r:id="rId228"/>
    <p:sldId id="634" r:id="rId229"/>
    <p:sldId id="635" r:id="rId230"/>
    <p:sldId id="637" r:id="rId231"/>
    <p:sldId id="636" r:id="rId232"/>
    <p:sldId id="614" r:id="rId233"/>
    <p:sldId id="638" r:id="rId234"/>
    <p:sldId id="645" r:id="rId235"/>
    <p:sldId id="646" r:id="rId236"/>
    <p:sldId id="647" r:id="rId237"/>
    <p:sldId id="650" r:id="rId238"/>
    <p:sldId id="651" r:id="rId239"/>
    <p:sldId id="640" r:id="rId240"/>
    <p:sldId id="654" r:id="rId241"/>
    <p:sldId id="656" r:id="rId242"/>
    <p:sldId id="657" r:id="rId243"/>
    <p:sldId id="658" r:id="rId244"/>
    <p:sldId id="659" r:id="rId245"/>
    <p:sldId id="660" r:id="rId246"/>
    <p:sldId id="661" r:id="rId247"/>
    <p:sldId id="662" r:id="rId248"/>
    <p:sldId id="663" r:id="rId249"/>
    <p:sldId id="664" r:id="rId250"/>
    <p:sldId id="665" r:id="rId251"/>
    <p:sldId id="666" r:id="rId252"/>
    <p:sldId id="667" r:id="rId253"/>
    <p:sldId id="668" r:id="rId254"/>
    <p:sldId id="669" r:id="rId255"/>
    <p:sldId id="670" r:id="rId256"/>
    <p:sldId id="671" r:id="rId257"/>
    <p:sldId id="672" r:id="rId258"/>
    <p:sldId id="643" r:id="rId259"/>
    <p:sldId id="673" r:id="rId260"/>
    <p:sldId id="675" r:id="rId261"/>
    <p:sldId id="676" r:id="rId262"/>
    <p:sldId id="677" r:id="rId263"/>
    <p:sldId id="678" r:id="rId264"/>
    <p:sldId id="679" r:id="rId265"/>
    <p:sldId id="680" r:id="rId266"/>
    <p:sldId id="681" r:id="rId267"/>
    <p:sldId id="682" r:id="rId268"/>
    <p:sldId id="683" r:id="rId269"/>
    <p:sldId id="684" r:id="rId270"/>
    <p:sldId id="685" r:id="rId271"/>
    <p:sldId id="686" r:id="rId272"/>
    <p:sldId id="687" r:id="rId273"/>
    <p:sldId id="688" r:id="rId274"/>
    <p:sldId id="689" r:id="rId275"/>
    <p:sldId id="690" r:id="rId276"/>
    <p:sldId id="696" r:id="rId277"/>
    <p:sldId id="697" r:id="rId278"/>
    <p:sldId id="698" r:id="rId279"/>
    <p:sldId id="691" r:id="rId280"/>
    <p:sldId id="692" r:id="rId281"/>
    <p:sldId id="644" r:id="rId282"/>
  </p:sldIdLst>
  <p:sldSz cx="12192000" cy="6858000"/>
  <p:notesSz cx="6858000" cy="9144000"/>
  <p:custDataLst>
    <p:tags r:id="rId28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94331" autoAdjust="0"/>
  </p:normalViewPr>
  <p:slideViewPr>
    <p:cSldViewPr snapToGrid="0">
      <p:cViewPr varScale="1">
        <p:scale>
          <a:sx n="82" d="100"/>
          <a:sy n="82" d="100"/>
        </p:scale>
        <p:origin x="-667" y="-82"/>
      </p:cViewPr>
      <p:guideLst>
        <p:guide orient="horz" pos="2160"/>
        <p:guide pos="3840"/>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268" Type="http://schemas.openxmlformats.org/officeDocument/2006/relationships/slide" Target="slides/slide266.xml"/><Relationship Id="rId289" Type="http://schemas.openxmlformats.org/officeDocument/2006/relationships/tableStyles" Target="tableStyles.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79" Type="http://schemas.openxmlformats.org/officeDocument/2006/relationships/slide" Target="slides/slide277.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slide" Target="slides/slide267.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280" Type="http://schemas.openxmlformats.org/officeDocument/2006/relationships/slide" Target="slides/slide278.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slide" Target="slides/slide268.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281" Type="http://schemas.openxmlformats.org/officeDocument/2006/relationships/slide" Target="slides/slide279.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34" Type="http://schemas.openxmlformats.org/officeDocument/2006/relationships/slide" Target="slides/slide232.xml"/><Relationship Id="rId239" Type="http://schemas.openxmlformats.org/officeDocument/2006/relationships/slide" Target="slides/slide237.xml"/><Relationship Id="rId2" Type="http://schemas.openxmlformats.org/officeDocument/2006/relationships/slideMaster" Target="slideMasters/slideMaster2.xml"/><Relationship Id="rId29" Type="http://schemas.openxmlformats.org/officeDocument/2006/relationships/slide" Target="slides/slide27.xml"/><Relationship Id="rId250" Type="http://schemas.openxmlformats.org/officeDocument/2006/relationships/slide" Target="slides/slide248.xml"/><Relationship Id="rId255" Type="http://schemas.openxmlformats.org/officeDocument/2006/relationships/slide" Target="slides/slide253.xml"/><Relationship Id="rId271" Type="http://schemas.openxmlformats.org/officeDocument/2006/relationships/slide" Target="slides/slide269.xml"/><Relationship Id="rId276" Type="http://schemas.openxmlformats.org/officeDocument/2006/relationships/slide" Target="slides/slide274.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229" Type="http://schemas.openxmlformats.org/officeDocument/2006/relationships/slide" Target="slides/slide227.xml"/><Relationship Id="rId19" Type="http://schemas.openxmlformats.org/officeDocument/2006/relationships/slide" Target="slides/slide17.xml"/><Relationship Id="rId224" Type="http://schemas.openxmlformats.org/officeDocument/2006/relationships/slide" Target="slides/slide222.xml"/><Relationship Id="rId240" Type="http://schemas.openxmlformats.org/officeDocument/2006/relationships/slide" Target="slides/slide238.xml"/><Relationship Id="rId245" Type="http://schemas.openxmlformats.org/officeDocument/2006/relationships/slide" Target="slides/slide243.xml"/><Relationship Id="rId261" Type="http://schemas.openxmlformats.org/officeDocument/2006/relationships/slide" Target="slides/slide259.xml"/><Relationship Id="rId266" Type="http://schemas.openxmlformats.org/officeDocument/2006/relationships/slide" Target="slides/slide264.xml"/><Relationship Id="rId287" Type="http://schemas.openxmlformats.org/officeDocument/2006/relationships/viewProps" Target="viewProps.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282" Type="http://schemas.openxmlformats.org/officeDocument/2006/relationships/slide" Target="slides/slide280.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slide" Target="slides/slide228.xml"/><Relationship Id="rId235" Type="http://schemas.openxmlformats.org/officeDocument/2006/relationships/slide" Target="slides/slide233.xml"/><Relationship Id="rId251" Type="http://schemas.openxmlformats.org/officeDocument/2006/relationships/slide" Target="slides/slide249.xml"/><Relationship Id="rId256" Type="http://schemas.openxmlformats.org/officeDocument/2006/relationships/slide" Target="slides/slide254.xml"/><Relationship Id="rId277" Type="http://schemas.openxmlformats.org/officeDocument/2006/relationships/slide" Target="slides/slide275.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72" Type="http://schemas.openxmlformats.org/officeDocument/2006/relationships/slide" Target="slides/slide270.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241" Type="http://schemas.openxmlformats.org/officeDocument/2006/relationships/slide" Target="slides/slide239.xml"/><Relationship Id="rId246" Type="http://schemas.openxmlformats.org/officeDocument/2006/relationships/slide" Target="slides/slide244.xml"/><Relationship Id="rId267" Type="http://schemas.openxmlformats.org/officeDocument/2006/relationships/slide" Target="slides/slide265.xml"/><Relationship Id="rId288"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262" Type="http://schemas.openxmlformats.org/officeDocument/2006/relationships/slide" Target="slides/slide260.xml"/><Relationship Id="rId283"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78" Type="http://schemas.openxmlformats.org/officeDocument/2006/relationships/slide" Target="slides/slide276.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slide" Target="slides/slide27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284" Type="http://schemas.openxmlformats.org/officeDocument/2006/relationships/handoutMaster" Target="handoutMasters/handoutMaster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slide" Target="slides/slide272.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285" Type="http://schemas.openxmlformats.org/officeDocument/2006/relationships/tags" Target="tags/tag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275" Type="http://schemas.openxmlformats.org/officeDocument/2006/relationships/slide" Target="slides/slide273.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2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FD298-C7A3-43C5-8990-873731D226A5}" type="datetimeFigureOut">
              <a:rPr lang="zh-CN" altLang="en-US" smtClean="0"/>
              <a:t>2019/5/6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8DA305-A548-4FB6-A4B0-337B2B9E8DDB}" type="slidenum">
              <a:rPr lang="zh-CN" altLang="en-US" smtClean="0"/>
              <a:t>‹#›</a:t>
            </a:fld>
            <a:endParaRPr lang="zh-CN" altLang="en-US"/>
          </a:p>
        </p:txBody>
      </p:sp>
    </p:spTree>
    <p:extLst>
      <p:ext uri="{BB962C8B-B14F-4D97-AF65-F5344CB8AC3E}">
        <p14:creationId xmlns:p14="http://schemas.microsoft.com/office/powerpoint/2010/main" val="11402469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B3421-B99B-4B5C-82C9-A3B0C4AC91F7}" type="datetimeFigureOut">
              <a:rPr lang="zh-CN" altLang="en-US" smtClean="0"/>
              <a:t>2019/5/6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81161-460F-4A2D-B57E-C43B8FD67BE1}" type="slidenum">
              <a:rPr lang="zh-CN" altLang="en-US" smtClean="0"/>
              <a:t>‹#›</a:t>
            </a:fld>
            <a:endParaRPr lang="zh-CN" altLang="en-US"/>
          </a:p>
        </p:txBody>
      </p:sp>
    </p:spTree>
    <p:extLst>
      <p:ext uri="{BB962C8B-B14F-4D97-AF65-F5344CB8AC3E}">
        <p14:creationId xmlns:p14="http://schemas.microsoft.com/office/powerpoint/2010/main" val="4598156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3</a:t>
            </a:fld>
            <a:endParaRPr lang="zh-CN" altLang="en-US"/>
          </a:p>
        </p:txBody>
      </p:sp>
    </p:spTree>
    <p:extLst>
      <p:ext uri="{BB962C8B-B14F-4D97-AF65-F5344CB8AC3E}">
        <p14:creationId xmlns:p14="http://schemas.microsoft.com/office/powerpoint/2010/main" val="1758656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31</a:t>
            </a:fld>
            <a:endParaRPr lang="zh-CN" altLang="en-US"/>
          </a:p>
        </p:txBody>
      </p:sp>
    </p:spTree>
    <p:extLst>
      <p:ext uri="{BB962C8B-B14F-4D97-AF65-F5344CB8AC3E}">
        <p14:creationId xmlns:p14="http://schemas.microsoft.com/office/powerpoint/2010/main" val="23464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54</a:t>
            </a:fld>
            <a:endParaRPr lang="zh-CN" altLang="en-US"/>
          </a:p>
        </p:txBody>
      </p:sp>
    </p:spTree>
    <p:extLst>
      <p:ext uri="{BB962C8B-B14F-4D97-AF65-F5344CB8AC3E}">
        <p14:creationId xmlns:p14="http://schemas.microsoft.com/office/powerpoint/2010/main" val="3754920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129</a:t>
            </a:fld>
            <a:endParaRPr lang="zh-CN" altLang="en-US"/>
          </a:p>
        </p:txBody>
      </p:sp>
    </p:spTree>
    <p:extLst>
      <p:ext uri="{BB962C8B-B14F-4D97-AF65-F5344CB8AC3E}">
        <p14:creationId xmlns:p14="http://schemas.microsoft.com/office/powerpoint/2010/main" val="13377315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科目">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grpSp>
        <p:nvGrpSpPr>
          <p:cNvPr id="9" name="组合 8">
            <a:extLst>
              <a:ext uri="{FF2B5EF4-FFF2-40B4-BE49-F238E27FC236}">
                <a16:creationId xmlns="" xmlns:a16="http://schemas.microsoft.com/office/drawing/2014/main" id="{0412969C-5F90-4E96-B585-14A6E1954127}"/>
              </a:ext>
            </a:extLst>
          </p:cNvPr>
          <p:cNvGrpSpPr/>
          <p:nvPr userDrawn="1"/>
        </p:nvGrpSpPr>
        <p:grpSpPr>
          <a:xfrm>
            <a:off x="0" y="2388291"/>
            <a:ext cx="4433455" cy="4559212"/>
            <a:chOff x="0" y="1814946"/>
            <a:chExt cx="4990985" cy="5132557"/>
          </a:xfrm>
        </p:grpSpPr>
        <p:grpSp>
          <p:nvGrpSpPr>
            <p:cNvPr id="10" name="组合 9">
              <a:extLst>
                <a:ext uri="{FF2B5EF4-FFF2-40B4-BE49-F238E27FC236}">
                  <a16:creationId xmlns="" xmlns:a16="http://schemas.microsoft.com/office/drawing/2014/main" id="{36904DEF-A29B-4827-B6E3-FFD7CF540525}"/>
                </a:ext>
              </a:extLst>
            </p:cNvPr>
            <p:cNvGrpSpPr/>
            <p:nvPr userDrawn="1"/>
          </p:nvGrpSpPr>
          <p:grpSpPr>
            <a:xfrm>
              <a:off x="0" y="1814946"/>
              <a:ext cx="3698628" cy="3693247"/>
              <a:chOff x="-33357" y="2313710"/>
              <a:chExt cx="3375724" cy="3370813"/>
            </a:xfrm>
          </p:grpSpPr>
          <p:sp>
            <p:nvSpPr>
              <p:cNvPr id="34" name="Freeform 5">
                <a:extLst>
                  <a:ext uri="{FF2B5EF4-FFF2-40B4-BE49-F238E27FC236}">
                    <a16:creationId xmlns="" xmlns:a16="http://schemas.microsoft.com/office/drawing/2014/main" id="{05BF9A91-9553-4FEE-9DD0-D84C357EBDCE}"/>
                  </a:ext>
                </a:extLst>
              </p:cNvPr>
              <p:cNvSpPr>
                <a:spLocks/>
              </p:cNvSpPr>
              <p:nvPr userDrawn="1"/>
            </p:nvSpPr>
            <p:spPr bwMode="auto">
              <a:xfrm>
                <a:off x="-33357" y="2313710"/>
                <a:ext cx="3375724" cy="3370813"/>
              </a:xfrm>
              <a:custGeom>
                <a:avLst/>
                <a:gdLst>
                  <a:gd name="T0" fmla="*/ 0 w 2062"/>
                  <a:gd name="T1" fmla="*/ 555 h 2059"/>
                  <a:gd name="T2" fmla="*/ 2062 w 2062"/>
                  <a:gd name="T3" fmla="*/ 0 h 2059"/>
                  <a:gd name="T4" fmla="*/ 1512 w 2062"/>
                  <a:gd name="T5" fmla="*/ 2059 h 2059"/>
                  <a:gd name="T6" fmla="*/ 0 w 2062"/>
                  <a:gd name="T7" fmla="*/ 555 h 2059"/>
                </a:gdLst>
                <a:ahLst/>
                <a:cxnLst>
                  <a:cxn ang="0">
                    <a:pos x="T0" y="T1"/>
                  </a:cxn>
                  <a:cxn ang="0">
                    <a:pos x="T2" y="T3"/>
                  </a:cxn>
                  <a:cxn ang="0">
                    <a:pos x="T4" y="T5"/>
                  </a:cxn>
                  <a:cxn ang="0">
                    <a:pos x="T6" y="T7"/>
                  </a:cxn>
                </a:cxnLst>
                <a:rect l="0" t="0" r="r" b="b"/>
                <a:pathLst>
                  <a:path w="2062" h="2059">
                    <a:moveTo>
                      <a:pt x="0" y="555"/>
                    </a:moveTo>
                    <a:lnTo>
                      <a:pt x="2062" y="0"/>
                    </a:lnTo>
                    <a:lnTo>
                      <a:pt x="1512" y="2059"/>
                    </a:lnTo>
                    <a:lnTo>
                      <a:pt x="0" y="5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 xmlns:a16="http://schemas.microsoft.com/office/drawing/2014/main" id="{4F494B81-3C15-4C71-9A0A-29EB5AF5C755}"/>
                  </a:ext>
                </a:extLst>
              </p:cNvPr>
              <p:cNvSpPr>
                <a:spLocks/>
              </p:cNvSpPr>
              <p:nvPr userDrawn="1"/>
            </p:nvSpPr>
            <p:spPr bwMode="auto">
              <a:xfrm>
                <a:off x="-33357" y="3222306"/>
                <a:ext cx="2475313" cy="2462216"/>
              </a:xfrm>
              <a:custGeom>
                <a:avLst/>
                <a:gdLst>
                  <a:gd name="T0" fmla="*/ 0 w 1512"/>
                  <a:gd name="T1" fmla="*/ 0 h 1504"/>
                  <a:gd name="T2" fmla="*/ 1512 w 1512"/>
                  <a:gd name="T3" fmla="*/ 1504 h 1504"/>
                  <a:gd name="T4" fmla="*/ 1120 w 1512"/>
                  <a:gd name="T5" fmla="*/ 193 h 1504"/>
                  <a:gd name="T6" fmla="*/ 0 w 1512"/>
                  <a:gd name="T7" fmla="*/ 0 h 1504"/>
                </a:gdLst>
                <a:ahLst/>
                <a:cxnLst>
                  <a:cxn ang="0">
                    <a:pos x="T0" y="T1"/>
                  </a:cxn>
                  <a:cxn ang="0">
                    <a:pos x="T2" y="T3"/>
                  </a:cxn>
                  <a:cxn ang="0">
                    <a:pos x="T4" y="T5"/>
                  </a:cxn>
                  <a:cxn ang="0">
                    <a:pos x="T6" y="T7"/>
                  </a:cxn>
                </a:cxnLst>
                <a:rect l="0" t="0" r="r" b="b"/>
                <a:pathLst>
                  <a:path w="1512" h="1504">
                    <a:moveTo>
                      <a:pt x="0" y="0"/>
                    </a:moveTo>
                    <a:lnTo>
                      <a:pt x="1512" y="1504"/>
                    </a:lnTo>
                    <a:lnTo>
                      <a:pt x="1120" y="193"/>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8">
                <a:extLst>
                  <a:ext uri="{FF2B5EF4-FFF2-40B4-BE49-F238E27FC236}">
                    <a16:creationId xmlns="" xmlns:a16="http://schemas.microsoft.com/office/drawing/2014/main" id="{D8A2DB86-82B3-43BA-A913-246C7D7D372C}"/>
                  </a:ext>
                </a:extLst>
              </p:cNvPr>
              <p:cNvSpPr>
                <a:spLocks/>
              </p:cNvSpPr>
              <p:nvPr userDrawn="1"/>
            </p:nvSpPr>
            <p:spPr bwMode="auto">
              <a:xfrm>
                <a:off x="1800208" y="2313710"/>
                <a:ext cx="1542159" cy="3370813"/>
              </a:xfrm>
              <a:custGeom>
                <a:avLst/>
                <a:gdLst>
                  <a:gd name="T0" fmla="*/ 392 w 942"/>
                  <a:gd name="T1" fmla="*/ 2059 h 2059"/>
                  <a:gd name="T2" fmla="*/ 942 w 942"/>
                  <a:gd name="T3" fmla="*/ 0 h 2059"/>
                  <a:gd name="T4" fmla="*/ 0 w 942"/>
                  <a:gd name="T5" fmla="*/ 748 h 2059"/>
                  <a:gd name="T6" fmla="*/ 392 w 942"/>
                  <a:gd name="T7" fmla="*/ 2059 h 2059"/>
                </a:gdLst>
                <a:ahLst/>
                <a:cxnLst>
                  <a:cxn ang="0">
                    <a:pos x="T0" y="T1"/>
                  </a:cxn>
                  <a:cxn ang="0">
                    <a:pos x="T2" y="T3"/>
                  </a:cxn>
                  <a:cxn ang="0">
                    <a:pos x="T4" y="T5"/>
                  </a:cxn>
                  <a:cxn ang="0">
                    <a:pos x="T6" y="T7"/>
                  </a:cxn>
                </a:cxnLst>
                <a:rect l="0" t="0" r="r" b="b"/>
                <a:pathLst>
                  <a:path w="942" h="2059">
                    <a:moveTo>
                      <a:pt x="392" y="2059"/>
                    </a:moveTo>
                    <a:lnTo>
                      <a:pt x="942" y="0"/>
                    </a:lnTo>
                    <a:lnTo>
                      <a:pt x="0" y="748"/>
                    </a:lnTo>
                    <a:lnTo>
                      <a:pt x="392" y="2059"/>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 name="任意多边形: 形状 81">
              <a:extLst>
                <a:ext uri="{FF2B5EF4-FFF2-40B4-BE49-F238E27FC236}">
                  <a16:creationId xmlns="" xmlns:a16="http://schemas.microsoft.com/office/drawing/2014/main" id="{B1776A3A-8500-4A9A-A690-7CEA1816428C}"/>
                </a:ext>
              </a:extLst>
            </p:cNvPr>
            <p:cNvSpPr>
              <a:spLocks/>
            </p:cNvSpPr>
            <p:nvPr userDrawn="1"/>
          </p:nvSpPr>
          <p:spPr bwMode="auto">
            <a:xfrm>
              <a:off x="0" y="3884886"/>
              <a:ext cx="1746891" cy="2817918"/>
            </a:xfrm>
            <a:custGeom>
              <a:avLst/>
              <a:gdLst>
                <a:gd name="connsiteX0" fmla="*/ 1746891 w 1746891"/>
                <a:gd name="connsiteY0" fmla="*/ 0 h 2817918"/>
                <a:gd name="connsiteX1" fmla="*/ 1007883 w 1746891"/>
                <a:gd name="connsiteY1" fmla="*/ 2817918 h 2817918"/>
                <a:gd name="connsiteX2" fmla="*/ 0 w 1746891"/>
                <a:gd name="connsiteY2" fmla="*/ 1825729 h 2817918"/>
                <a:gd name="connsiteX3" fmla="*/ 0 w 1746891"/>
                <a:gd name="connsiteY3" fmla="*/ 482401 h 2817918"/>
              </a:gdLst>
              <a:ahLst/>
              <a:cxnLst>
                <a:cxn ang="0">
                  <a:pos x="connsiteX0" y="connsiteY0"/>
                </a:cxn>
                <a:cxn ang="0">
                  <a:pos x="connsiteX1" y="connsiteY1"/>
                </a:cxn>
                <a:cxn ang="0">
                  <a:pos x="connsiteX2" y="connsiteY2"/>
                </a:cxn>
                <a:cxn ang="0">
                  <a:pos x="connsiteX3" y="connsiteY3"/>
                </a:cxn>
              </a:cxnLst>
              <a:rect l="l" t="t" r="r" b="b"/>
              <a:pathLst>
                <a:path w="1746891" h="2817918">
                  <a:moveTo>
                    <a:pt x="1746891" y="0"/>
                  </a:moveTo>
                  <a:lnTo>
                    <a:pt x="1007883" y="2817918"/>
                  </a:lnTo>
                  <a:lnTo>
                    <a:pt x="0" y="1825729"/>
                  </a:lnTo>
                  <a:lnTo>
                    <a:pt x="0" y="482401"/>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4" name="任意多边形: 形状 83">
              <a:extLst>
                <a:ext uri="{FF2B5EF4-FFF2-40B4-BE49-F238E27FC236}">
                  <a16:creationId xmlns="" xmlns:a16="http://schemas.microsoft.com/office/drawing/2014/main" id="{B31F9719-A6E2-4A68-9E26-007E829B2EE6}"/>
                </a:ext>
              </a:extLst>
            </p:cNvPr>
            <p:cNvSpPr>
              <a:spLocks/>
            </p:cNvSpPr>
            <p:nvPr userDrawn="1"/>
          </p:nvSpPr>
          <p:spPr bwMode="auto">
            <a:xfrm>
              <a:off x="0" y="5072864"/>
              <a:ext cx="1007883" cy="1629939"/>
            </a:xfrm>
            <a:custGeom>
              <a:avLst/>
              <a:gdLst>
                <a:gd name="connsiteX0" fmla="*/ 0 w 1007883"/>
                <a:gd name="connsiteY0" fmla="*/ 0 h 1629939"/>
                <a:gd name="connsiteX1" fmla="*/ 467976 w 1007883"/>
                <a:gd name="connsiteY1" fmla="*/ 180622 h 1629939"/>
                <a:gd name="connsiteX2" fmla="*/ 1007883 w 1007883"/>
                <a:gd name="connsiteY2" fmla="*/ 1629939 h 1629939"/>
                <a:gd name="connsiteX3" fmla="*/ 0 w 1007883"/>
                <a:gd name="connsiteY3" fmla="*/ 637750 h 1629939"/>
              </a:gdLst>
              <a:ahLst/>
              <a:cxnLst>
                <a:cxn ang="0">
                  <a:pos x="connsiteX0" y="connsiteY0"/>
                </a:cxn>
                <a:cxn ang="0">
                  <a:pos x="connsiteX1" y="connsiteY1"/>
                </a:cxn>
                <a:cxn ang="0">
                  <a:pos x="connsiteX2" y="connsiteY2"/>
                </a:cxn>
                <a:cxn ang="0">
                  <a:pos x="connsiteX3" y="connsiteY3"/>
                </a:cxn>
              </a:cxnLst>
              <a:rect l="l" t="t" r="r" b="b"/>
              <a:pathLst>
                <a:path w="1007883" h="1629939">
                  <a:moveTo>
                    <a:pt x="0" y="0"/>
                  </a:moveTo>
                  <a:lnTo>
                    <a:pt x="467976" y="180622"/>
                  </a:lnTo>
                  <a:lnTo>
                    <a:pt x="1007883" y="1629939"/>
                  </a:lnTo>
                  <a:lnTo>
                    <a:pt x="0" y="637750"/>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7" name="Freeform 31">
              <a:extLst>
                <a:ext uri="{FF2B5EF4-FFF2-40B4-BE49-F238E27FC236}">
                  <a16:creationId xmlns="" xmlns:a16="http://schemas.microsoft.com/office/drawing/2014/main" id="{0858C27D-3B61-40EB-BB3F-3FAA0118294B}"/>
                </a:ext>
              </a:extLst>
            </p:cNvPr>
            <p:cNvSpPr>
              <a:spLocks/>
            </p:cNvSpPr>
            <p:nvPr userDrawn="1"/>
          </p:nvSpPr>
          <p:spPr bwMode="auto">
            <a:xfrm>
              <a:off x="467976" y="3884886"/>
              <a:ext cx="1278914" cy="2817918"/>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 xmlns:a16="http://schemas.microsoft.com/office/drawing/2014/main" id="{A2EC3842-A5D0-4936-A7C3-E5418585DDD2}"/>
                </a:ext>
              </a:extLst>
            </p:cNvPr>
            <p:cNvGrpSpPr/>
            <p:nvPr userDrawn="1"/>
          </p:nvGrpSpPr>
          <p:grpSpPr>
            <a:xfrm>
              <a:off x="1515683" y="4961112"/>
              <a:ext cx="1562320" cy="1569496"/>
              <a:chOff x="1350001" y="5185204"/>
              <a:chExt cx="1425924" cy="1432473"/>
            </a:xfrm>
          </p:grpSpPr>
          <p:sp>
            <p:nvSpPr>
              <p:cNvPr id="31" name="Freeform 33">
                <a:extLst>
                  <a:ext uri="{FF2B5EF4-FFF2-40B4-BE49-F238E27FC236}">
                    <a16:creationId xmlns="" xmlns:a16="http://schemas.microsoft.com/office/drawing/2014/main" id="{D5B1E0F4-3C85-41ED-BCC8-21997E7E4C3E}"/>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4">
                <a:extLst>
                  <a:ext uri="{FF2B5EF4-FFF2-40B4-BE49-F238E27FC236}">
                    <a16:creationId xmlns="" xmlns:a16="http://schemas.microsoft.com/office/drawing/2014/main" id="{2B881A2C-6EF7-4367-BB1D-A766EBA4061D}"/>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5">
                <a:extLst>
                  <a:ext uri="{FF2B5EF4-FFF2-40B4-BE49-F238E27FC236}">
                    <a16:creationId xmlns="" xmlns:a16="http://schemas.microsoft.com/office/drawing/2014/main" id="{A5EFA1AF-B367-49CB-B4EC-93319EB9C1EE}"/>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 xmlns:a16="http://schemas.microsoft.com/office/drawing/2014/main" id="{459B8FC3-40F8-4320-8261-E04D3F1B857F}"/>
                </a:ext>
              </a:extLst>
            </p:cNvPr>
            <p:cNvGrpSpPr/>
            <p:nvPr userDrawn="1"/>
          </p:nvGrpSpPr>
          <p:grpSpPr>
            <a:xfrm rot="19800000">
              <a:off x="2689563" y="3277532"/>
              <a:ext cx="2301422" cy="2305825"/>
              <a:chOff x="-899390" y="4202937"/>
              <a:chExt cx="2566991" cy="2571903"/>
            </a:xfrm>
          </p:grpSpPr>
          <p:sp>
            <p:nvSpPr>
              <p:cNvPr id="28" name="Freeform 29">
                <a:extLst>
                  <a:ext uri="{FF2B5EF4-FFF2-40B4-BE49-F238E27FC236}">
                    <a16:creationId xmlns="" xmlns:a16="http://schemas.microsoft.com/office/drawing/2014/main" id="{0ADA7518-6DF5-4584-B719-DD59E8DA3F32}"/>
                  </a:ext>
                </a:extLst>
              </p:cNvPr>
              <p:cNvSpPr>
                <a:spLocks/>
              </p:cNvSpPr>
              <p:nvPr userDrawn="1"/>
            </p:nvSpPr>
            <p:spPr bwMode="auto">
              <a:xfrm>
                <a:off x="-899390" y="4202937"/>
                <a:ext cx="2566991" cy="2571903"/>
              </a:xfrm>
              <a:custGeom>
                <a:avLst/>
                <a:gdLst>
                  <a:gd name="T0" fmla="*/ 1156 w 1568"/>
                  <a:gd name="T1" fmla="*/ 1571 h 1571"/>
                  <a:gd name="T2" fmla="*/ 0 w 1568"/>
                  <a:gd name="T3" fmla="*/ 433 h 1571"/>
                  <a:gd name="T4" fmla="*/ 1568 w 1568"/>
                  <a:gd name="T5" fmla="*/ 0 h 1571"/>
                  <a:gd name="T6" fmla="*/ 1156 w 1568"/>
                  <a:gd name="T7" fmla="*/ 1571 h 1571"/>
                </a:gdLst>
                <a:ahLst/>
                <a:cxnLst>
                  <a:cxn ang="0">
                    <a:pos x="T0" y="T1"/>
                  </a:cxn>
                  <a:cxn ang="0">
                    <a:pos x="T2" y="T3"/>
                  </a:cxn>
                  <a:cxn ang="0">
                    <a:pos x="T4" y="T5"/>
                  </a:cxn>
                  <a:cxn ang="0">
                    <a:pos x="T6" y="T7"/>
                  </a:cxn>
                </a:cxnLst>
                <a:rect l="0" t="0" r="r" b="b"/>
                <a:pathLst>
                  <a:path w="1568" h="1571">
                    <a:moveTo>
                      <a:pt x="1156" y="1571"/>
                    </a:moveTo>
                    <a:lnTo>
                      <a:pt x="0" y="433"/>
                    </a:lnTo>
                    <a:lnTo>
                      <a:pt x="1568" y="0"/>
                    </a:lnTo>
                    <a:lnTo>
                      <a:pt x="1156" y="157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0">
                <a:extLst>
                  <a:ext uri="{FF2B5EF4-FFF2-40B4-BE49-F238E27FC236}">
                    <a16:creationId xmlns="" xmlns:a16="http://schemas.microsoft.com/office/drawing/2014/main" id="{D6B3F8B0-55AA-411D-89D4-850079304F2B}"/>
                  </a:ext>
                </a:extLst>
              </p:cNvPr>
              <p:cNvSpPr>
                <a:spLocks/>
              </p:cNvSpPr>
              <p:nvPr userDrawn="1"/>
            </p:nvSpPr>
            <p:spPr bwMode="auto">
              <a:xfrm>
                <a:off x="-899390" y="4911806"/>
                <a:ext cx="1892501" cy="1863033"/>
              </a:xfrm>
              <a:custGeom>
                <a:avLst/>
                <a:gdLst>
                  <a:gd name="T0" fmla="*/ 1156 w 1156"/>
                  <a:gd name="T1" fmla="*/ 1138 h 1138"/>
                  <a:gd name="T2" fmla="*/ 0 w 1156"/>
                  <a:gd name="T3" fmla="*/ 0 h 1138"/>
                  <a:gd name="T4" fmla="*/ 855 w 1156"/>
                  <a:gd name="T5" fmla="*/ 330 h 1138"/>
                  <a:gd name="T6" fmla="*/ 1156 w 1156"/>
                  <a:gd name="T7" fmla="*/ 1138 h 1138"/>
                </a:gdLst>
                <a:ahLst/>
                <a:cxnLst>
                  <a:cxn ang="0">
                    <a:pos x="T0" y="T1"/>
                  </a:cxn>
                  <a:cxn ang="0">
                    <a:pos x="T2" y="T3"/>
                  </a:cxn>
                  <a:cxn ang="0">
                    <a:pos x="T4" y="T5"/>
                  </a:cxn>
                  <a:cxn ang="0">
                    <a:pos x="T6" y="T7"/>
                  </a:cxn>
                </a:cxnLst>
                <a:rect l="0" t="0" r="r" b="b"/>
                <a:pathLst>
                  <a:path w="1156" h="1138">
                    <a:moveTo>
                      <a:pt x="1156" y="1138"/>
                    </a:moveTo>
                    <a:lnTo>
                      <a:pt x="0" y="0"/>
                    </a:lnTo>
                    <a:lnTo>
                      <a:pt x="855" y="330"/>
                    </a:lnTo>
                    <a:lnTo>
                      <a:pt x="1156" y="1138"/>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31">
                <a:extLst>
                  <a:ext uri="{FF2B5EF4-FFF2-40B4-BE49-F238E27FC236}">
                    <a16:creationId xmlns="" xmlns:a16="http://schemas.microsoft.com/office/drawing/2014/main" id="{CA25763A-E27B-4181-B8ED-004BFC30B31D}"/>
                  </a:ext>
                </a:extLst>
              </p:cNvPr>
              <p:cNvSpPr>
                <a:spLocks/>
              </p:cNvSpPr>
              <p:nvPr userDrawn="1"/>
            </p:nvSpPr>
            <p:spPr bwMode="auto">
              <a:xfrm>
                <a:off x="500341" y="4202937"/>
                <a:ext cx="1167260" cy="2571903"/>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 xmlns:a16="http://schemas.microsoft.com/office/drawing/2014/main" id="{F79B4DE5-AEA4-4F1F-9A62-A0C87B3B6029}"/>
                </a:ext>
              </a:extLst>
            </p:cNvPr>
            <p:cNvGrpSpPr/>
            <p:nvPr userDrawn="1"/>
          </p:nvGrpSpPr>
          <p:grpSpPr>
            <a:xfrm rot="12600000">
              <a:off x="2990757" y="4894091"/>
              <a:ext cx="1689356" cy="1697115"/>
              <a:chOff x="1350001" y="5185204"/>
              <a:chExt cx="1425924" cy="1432473"/>
            </a:xfrm>
          </p:grpSpPr>
          <p:sp>
            <p:nvSpPr>
              <p:cNvPr id="25" name="Freeform 33">
                <a:extLst>
                  <a:ext uri="{FF2B5EF4-FFF2-40B4-BE49-F238E27FC236}">
                    <a16:creationId xmlns="" xmlns:a16="http://schemas.microsoft.com/office/drawing/2014/main" id="{003A2DFE-93DF-4FD0-923E-F322930F074C}"/>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4">
                <a:extLst>
                  <a:ext uri="{FF2B5EF4-FFF2-40B4-BE49-F238E27FC236}">
                    <a16:creationId xmlns="" xmlns:a16="http://schemas.microsoft.com/office/drawing/2014/main" id="{975BD6D9-5ED6-4E6F-BA2E-E15B943C7E49}"/>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5">
                <a:extLst>
                  <a:ext uri="{FF2B5EF4-FFF2-40B4-BE49-F238E27FC236}">
                    <a16:creationId xmlns="" xmlns:a16="http://schemas.microsoft.com/office/drawing/2014/main" id="{BBB0879C-3085-4593-B820-B612A7B98472}"/>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 name="任意多边形: 形状 94">
              <a:extLst>
                <a:ext uri="{FF2B5EF4-FFF2-40B4-BE49-F238E27FC236}">
                  <a16:creationId xmlns="" xmlns:a16="http://schemas.microsoft.com/office/drawing/2014/main" id="{0845FCBA-925F-42B0-8644-32E743140555}"/>
                </a:ext>
              </a:extLst>
            </p:cNvPr>
            <p:cNvSpPr>
              <a:spLocks/>
            </p:cNvSpPr>
            <p:nvPr userDrawn="1"/>
          </p:nvSpPr>
          <p:spPr bwMode="auto">
            <a:xfrm rot="5189261">
              <a:off x="2860960" y="6190506"/>
              <a:ext cx="631486" cy="750679"/>
            </a:xfrm>
            <a:custGeom>
              <a:avLst/>
              <a:gdLst>
                <a:gd name="connsiteX0" fmla="*/ 0 w 631486"/>
                <a:gd name="connsiteY0" fmla="*/ 174384 h 750679"/>
                <a:gd name="connsiteX1" fmla="*/ 631486 w 631486"/>
                <a:gd name="connsiteY1" fmla="*/ 0 h 750679"/>
                <a:gd name="connsiteX2" fmla="*/ 585410 w 631486"/>
                <a:gd name="connsiteY2" fmla="*/ 750679 h 750679"/>
              </a:gdLst>
              <a:ahLst/>
              <a:cxnLst>
                <a:cxn ang="0">
                  <a:pos x="connsiteX0" y="connsiteY0"/>
                </a:cxn>
                <a:cxn ang="0">
                  <a:pos x="connsiteX1" y="connsiteY1"/>
                </a:cxn>
                <a:cxn ang="0">
                  <a:pos x="connsiteX2" y="connsiteY2"/>
                </a:cxn>
              </a:cxnLst>
              <a:rect l="l" t="t" r="r" b="b"/>
              <a:pathLst>
                <a:path w="631486" h="750679">
                  <a:moveTo>
                    <a:pt x="0" y="174384"/>
                  </a:moveTo>
                  <a:lnTo>
                    <a:pt x="631486" y="0"/>
                  </a:lnTo>
                  <a:lnTo>
                    <a:pt x="585410" y="750679"/>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2" name="任意多边形: 形状 91">
              <a:extLst>
                <a:ext uri="{FF2B5EF4-FFF2-40B4-BE49-F238E27FC236}">
                  <a16:creationId xmlns="" xmlns:a16="http://schemas.microsoft.com/office/drawing/2014/main" id="{C4B29FC2-D183-470F-AAFE-76EA9D0BF6BE}"/>
                </a:ext>
              </a:extLst>
            </p:cNvPr>
            <p:cNvSpPr>
              <a:spLocks/>
            </p:cNvSpPr>
            <p:nvPr userDrawn="1"/>
          </p:nvSpPr>
          <p:spPr bwMode="auto">
            <a:xfrm rot="5189261">
              <a:off x="2785699" y="6270528"/>
              <a:ext cx="606416" cy="576295"/>
            </a:xfrm>
            <a:custGeom>
              <a:avLst/>
              <a:gdLst>
                <a:gd name="connsiteX0" fmla="*/ 0 w 606416"/>
                <a:gd name="connsiteY0" fmla="*/ 0 h 576295"/>
                <a:gd name="connsiteX1" fmla="*/ 606416 w 606416"/>
                <a:gd name="connsiteY1" fmla="*/ 234055 h 576295"/>
                <a:gd name="connsiteX2" fmla="*/ 585410 w 606416"/>
                <a:gd name="connsiteY2" fmla="*/ 576295 h 576295"/>
              </a:gdLst>
              <a:ahLst/>
              <a:cxnLst>
                <a:cxn ang="0">
                  <a:pos x="connsiteX0" y="connsiteY0"/>
                </a:cxn>
                <a:cxn ang="0">
                  <a:pos x="connsiteX1" y="connsiteY1"/>
                </a:cxn>
                <a:cxn ang="0">
                  <a:pos x="connsiteX2" y="connsiteY2"/>
                </a:cxn>
              </a:cxnLst>
              <a:rect l="l" t="t" r="r" b="b"/>
              <a:pathLst>
                <a:path w="606416" h="576295">
                  <a:moveTo>
                    <a:pt x="0" y="0"/>
                  </a:moveTo>
                  <a:lnTo>
                    <a:pt x="606416" y="234055"/>
                  </a:lnTo>
                  <a:lnTo>
                    <a:pt x="585410" y="57629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 name="任意多边形: 形状 90">
              <a:extLst>
                <a:ext uri="{FF2B5EF4-FFF2-40B4-BE49-F238E27FC236}">
                  <a16:creationId xmlns="" xmlns:a16="http://schemas.microsoft.com/office/drawing/2014/main" id="{B8325B1A-E382-4FD1-AEF6-5A10C1B01511}"/>
                </a:ext>
              </a:extLst>
            </p:cNvPr>
            <p:cNvSpPr>
              <a:spLocks/>
            </p:cNvSpPr>
            <p:nvPr userDrawn="1"/>
          </p:nvSpPr>
          <p:spPr bwMode="auto">
            <a:xfrm rot="14413077">
              <a:off x="2085024" y="6535142"/>
              <a:ext cx="233740" cy="420980"/>
            </a:xfrm>
            <a:custGeom>
              <a:avLst/>
              <a:gdLst>
                <a:gd name="connsiteX0" fmla="*/ 233740 w 233740"/>
                <a:gd name="connsiteY0" fmla="*/ 420980 h 420980"/>
                <a:gd name="connsiteX1" fmla="*/ 0 w 233740"/>
                <a:gd name="connsiteY1" fmla="*/ 188477 h 420980"/>
                <a:gd name="connsiteX2" fmla="*/ 107863 w 233740"/>
                <a:gd name="connsiteY2" fmla="*/ 0 h 420980"/>
              </a:gdLst>
              <a:ahLst/>
              <a:cxnLst>
                <a:cxn ang="0">
                  <a:pos x="connsiteX0" y="connsiteY0"/>
                </a:cxn>
                <a:cxn ang="0">
                  <a:pos x="connsiteX1" y="connsiteY1"/>
                </a:cxn>
                <a:cxn ang="0">
                  <a:pos x="connsiteX2" y="connsiteY2"/>
                </a:cxn>
              </a:cxnLst>
              <a:rect l="l" t="t" r="r" b="b"/>
              <a:pathLst>
                <a:path w="233740" h="420980">
                  <a:moveTo>
                    <a:pt x="233740" y="420980"/>
                  </a:moveTo>
                  <a:lnTo>
                    <a:pt x="0" y="188477"/>
                  </a:lnTo>
                  <a:lnTo>
                    <a:pt x="107863" y="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 name="任意多边形: 形状 88">
              <a:extLst>
                <a:ext uri="{FF2B5EF4-FFF2-40B4-BE49-F238E27FC236}">
                  <a16:creationId xmlns="" xmlns:a16="http://schemas.microsoft.com/office/drawing/2014/main" id="{7AA8B293-6946-40C9-8DC5-F1CED6F06F6E}"/>
                </a:ext>
              </a:extLst>
            </p:cNvPr>
            <p:cNvSpPr>
              <a:spLocks/>
            </p:cNvSpPr>
            <p:nvPr userDrawn="1"/>
          </p:nvSpPr>
          <p:spPr bwMode="auto">
            <a:xfrm rot="14413077">
              <a:off x="1603089" y="6193125"/>
              <a:ext cx="417400" cy="1091355"/>
            </a:xfrm>
            <a:custGeom>
              <a:avLst/>
              <a:gdLst>
                <a:gd name="connsiteX0" fmla="*/ 125877 w 417400"/>
                <a:gd name="connsiteY0" fmla="*/ 1091355 h 1091355"/>
                <a:gd name="connsiteX1" fmla="*/ 0 w 417400"/>
                <a:gd name="connsiteY1" fmla="*/ 670375 h 1091355"/>
                <a:gd name="connsiteX2" fmla="*/ 355536 w 417400"/>
                <a:gd name="connsiteY2" fmla="*/ 49124 h 1091355"/>
                <a:gd name="connsiteX3" fmla="*/ 417400 w 417400"/>
                <a:gd name="connsiteY3" fmla="*/ 0 h 1091355"/>
              </a:gdLst>
              <a:ahLst/>
              <a:cxnLst>
                <a:cxn ang="0">
                  <a:pos x="connsiteX0" y="connsiteY0"/>
                </a:cxn>
                <a:cxn ang="0">
                  <a:pos x="connsiteX1" y="connsiteY1"/>
                </a:cxn>
                <a:cxn ang="0">
                  <a:pos x="connsiteX2" y="connsiteY2"/>
                </a:cxn>
                <a:cxn ang="0">
                  <a:pos x="connsiteX3" y="connsiteY3"/>
                </a:cxn>
              </a:cxnLst>
              <a:rect l="l" t="t" r="r" b="b"/>
              <a:pathLst>
                <a:path w="417400" h="1091355">
                  <a:moveTo>
                    <a:pt x="125877" y="1091355"/>
                  </a:moveTo>
                  <a:lnTo>
                    <a:pt x="0" y="670375"/>
                  </a:lnTo>
                  <a:lnTo>
                    <a:pt x="355536" y="49124"/>
                  </a:lnTo>
                  <a:lnTo>
                    <a:pt x="41740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7" name="组合 36">
            <a:extLst>
              <a:ext uri="{FF2B5EF4-FFF2-40B4-BE49-F238E27FC236}">
                <a16:creationId xmlns="" xmlns:a16="http://schemas.microsoft.com/office/drawing/2014/main" id="{C9A282B9-3374-41E6-AC2D-7784354EFF5A}"/>
              </a:ext>
            </a:extLst>
          </p:cNvPr>
          <p:cNvGrpSpPr/>
          <p:nvPr userDrawn="1"/>
        </p:nvGrpSpPr>
        <p:grpSpPr>
          <a:xfrm>
            <a:off x="9774834" y="941392"/>
            <a:ext cx="2417166" cy="3285611"/>
            <a:chOff x="9774834" y="0"/>
            <a:chExt cx="2417166" cy="3285611"/>
          </a:xfrm>
        </p:grpSpPr>
        <p:sp>
          <p:nvSpPr>
            <p:cNvPr id="38" name="任意多边形: 形状 138">
              <a:extLst>
                <a:ext uri="{FF2B5EF4-FFF2-40B4-BE49-F238E27FC236}">
                  <a16:creationId xmlns="" xmlns:a16="http://schemas.microsoft.com/office/drawing/2014/main" id="{50261AD0-962D-480B-B039-48A3CF72EF02}"/>
                </a:ext>
              </a:extLst>
            </p:cNvPr>
            <p:cNvSpPr/>
            <p:nvPr/>
          </p:nvSpPr>
          <p:spPr>
            <a:xfrm>
              <a:off x="10569108" y="287512"/>
              <a:ext cx="1622892" cy="2444653"/>
            </a:xfrm>
            <a:custGeom>
              <a:avLst/>
              <a:gdLst>
                <a:gd name="connsiteX0" fmla="*/ 652542 w 1622892"/>
                <a:gd name="connsiteY0" fmla="*/ 0 h 2444653"/>
                <a:gd name="connsiteX1" fmla="*/ 1622892 w 1622892"/>
                <a:gd name="connsiteY1" fmla="*/ 968289 h 2444653"/>
                <a:gd name="connsiteX2" fmla="*/ 1622892 w 1622892"/>
                <a:gd name="connsiteY2" fmla="*/ 2008935 h 2444653"/>
                <a:gd name="connsiteX3" fmla="*/ 0 w 1622892"/>
                <a:gd name="connsiteY3" fmla="*/ 2444653 h 2444653"/>
              </a:gdLst>
              <a:ahLst/>
              <a:cxnLst>
                <a:cxn ang="0">
                  <a:pos x="connsiteX0" y="connsiteY0"/>
                </a:cxn>
                <a:cxn ang="0">
                  <a:pos x="connsiteX1" y="connsiteY1"/>
                </a:cxn>
                <a:cxn ang="0">
                  <a:pos x="connsiteX2" y="connsiteY2"/>
                </a:cxn>
                <a:cxn ang="0">
                  <a:pos x="connsiteX3" y="connsiteY3"/>
                </a:cxn>
              </a:cxnLst>
              <a:rect l="l" t="t" r="r" b="b"/>
              <a:pathLst>
                <a:path w="1622892" h="2444653">
                  <a:moveTo>
                    <a:pt x="652542" y="0"/>
                  </a:moveTo>
                  <a:lnTo>
                    <a:pt x="1622892" y="968289"/>
                  </a:lnTo>
                  <a:lnTo>
                    <a:pt x="1622892" y="2008935"/>
                  </a:lnTo>
                  <a:lnTo>
                    <a:pt x="0" y="2444653"/>
                  </a:lnTo>
                  <a:close/>
                </a:path>
              </a:pathLst>
            </a:custGeom>
            <a:solidFill>
              <a:srgbClr val="B4B4B4"/>
            </a:solidFill>
            <a:ln w="9525" cap="flat">
              <a:noFill/>
              <a:prstDash val="solid"/>
              <a:miter/>
            </a:ln>
          </p:spPr>
          <p:txBody>
            <a:bodyPr rtlCol="0" anchor="ctr"/>
            <a:lstStyle/>
            <a:p>
              <a:endParaRPr lang="zh-CN" altLang="en-US"/>
            </a:p>
          </p:txBody>
        </p:sp>
        <p:sp>
          <p:nvSpPr>
            <p:cNvPr id="39" name="任意多边形: 形状 139">
              <a:extLst>
                <a:ext uri="{FF2B5EF4-FFF2-40B4-BE49-F238E27FC236}">
                  <a16:creationId xmlns="" xmlns:a16="http://schemas.microsoft.com/office/drawing/2014/main" id="{DF9E2CDB-F747-4283-B9FD-0DA2015F4517}"/>
                </a:ext>
              </a:extLst>
            </p:cNvPr>
            <p:cNvSpPr/>
            <p:nvPr/>
          </p:nvSpPr>
          <p:spPr>
            <a:xfrm>
              <a:off x="10569108" y="1843720"/>
              <a:ext cx="1622892" cy="888447"/>
            </a:xfrm>
            <a:custGeom>
              <a:avLst/>
              <a:gdLst>
                <a:gd name="connsiteX0" fmla="*/ 1114838 w 1622892"/>
                <a:gd name="connsiteY0" fmla="*/ 0 h 888447"/>
                <a:gd name="connsiteX1" fmla="*/ 1622892 w 1622892"/>
                <a:gd name="connsiteY1" fmla="*/ 88674 h 888447"/>
                <a:gd name="connsiteX2" fmla="*/ 1622892 w 1622892"/>
                <a:gd name="connsiteY2" fmla="*/ 452729 h 888447"/>
                <a:gd name="connsiteX3" fmla="*/ 0 w 1622892"/>
                <a:gd name="connsiteY3" fmla="*/ 888447 h 888447"/>
              </a:gdLst>
              <a:ahLst/>
              <a:cxnLst>
                <a:cxn ang="0">
                  <a:pos x="connsiteX0" y="connsiteY0"/>
                </a:cxn>
                <a:cxn ang="0">
                  <a:pos x="connsiteX1" y="connsiteY1"/>
                </a:cxn>
                <a:cxn ang="0">
                  <a:pos x="connsiteX2" y="connsiteY2"/>
                </a:cxn>
                <a:cxn ang="0">
                  <a:pos x="connsiteX3" y="connsiteY3"/>
                </a:cxn>
              </a:cxnLst>
              <a:rect l="l" t="t" r="r" b="b"/>
              <a:pathLst>
                <a:path w="1622892" h="888447">
                  <a:moveTo>
                    <a:pt x="1114838" y="0"/>
                  </a:moveTo>
                  <a:lnTo>
                    <a:pt x="1622892" y="88674"/>
                  </a:lnTo>
                  <a:lnTo>
                    <a:pt x="1622892" y="452729"/>
                  </a:lnTo>
                  <a:lnTo>
                    <a:pt x="0" y="888447"/>
                  </a:lnTo>
                  <a:close/>
                </a:path>
              </a:pathLst>
            </a:custGeom>
            <a:solidFill>
              <a:srgbClr val="D8D8D8"/>
            </a:solidFill>
            <a:ln w="9525" cap="flat">
              <a:noFill/>
              <a:prstDash val="solid"/>
              <a:miter/>
            </a:ln>
          </p:spPr>
          <p:txBody>
            <a:bodyPr rtlCol="0" anchor="ctr"/>
            <a:lstStyle/>
            <a:p>
              <a:endParaRPr lang="zh-CN" altLang="en-US"/>
            </a:p>
          </p:txBody>
        </p:sp>
        <p:sp>
          <p:nvSpPr>
            <p:cNvPr id="40" name="任意多边形: 形状 137">
              <a:extLst>
                <a:ext uri="{FF2B5EF4-FFF2-40B4-BE49-F238E27FC236}">
                  <a16:creationId xmlns="" xmlns:a16="http://schemas.microsoft.com/office/drawing/2014/main" id="{FBE8ED51-4463-4D5A-93B0-85FA65C21F09}"/>
                </a:ext>
              </a:extLst>
            </p:cNvPr>
            <p:cNvSpPr/>
            <p:nvPr/>
          </p:nvSpPr>
          <p:spPr>
            <a:xfrm>
              <a:off x="11221649" y="287512"/>
              <a:ext cx="970351" cy="1644881"/>
            </a:xfrm>
            <a:custGeom>
              <a:avLst/>
              <a:gdLst>
                <a:gd name="connsiteX0" fmla="*/ 0 w 970351"/>
                <a:gd name="connsiteY0" fmla="*/ 0 h 1644881"/>
                <a:gd name="connsiteX1" fmla="*/ 970351 w 970351"/>
                <a:gd name="connsiteY1" fmla="*/ 968290 h 1644881"/>
                <a:gd name="connsiteX2" fmla="*/ 970351 w 970351"/>
                <a:gd name="connsiteY2" fmla="*/ 1644881 h 1644881"/>
                <a:gd name="connsiteX3" fmla="*/ 462297 w 970351"/>
                <a:gd name="connsiteY3" fmla="*/ 1556208 h 1644881"/>
              </a:gdLst>
              <a:ahLst/>
              <a:cxnLst>
                <a:cxn ang="0">
                  <a:pos x="connsiteX0" y="connsiteY0"/>
                </a:cxn>
                <a:cxn ang="0">
                  <a:pos x="connsiteX1" y="connsiteY1"/>
                </a:cxn>
                <a:cxn ang="0">
                  <a:pos x="connsiteX2" y="connsiteY2"/>
                </a:cxn>
                <a:cxn ang="0">
                  <a:pos x="connsiteX3" y="connsiteY3"/>
                </a:cxn>
              </a:cxnLst>
              <a:rect l="l" t="t" r="r" b="b"/>
              <a:pathLst>
                <a:path w="970351" h="1644881">
                  <a:moveTo>
                    <a:pt x="0" y="0"/>
                  </a:moveTo>
                  <a:lnTo>
                    <a:pt x="970351" y="968290"/>
                  </a:lnTo>
                  <a:lnTo>
                    <a:pt x="970351" y="1644881"/>
                  </a:lnTo>
                  <a:lnTo>
                    <a:pt x="462297" y="1556208"/>
                  </a:lnTo>
                  <a:close/>
                </a:path>
              </a:pathLst>
            </a:custGeom>
            <a:solidFill>
              <a:srgbClr val="F0F0F0"/>
            </a:solidFill>
            <a:ln w="9525" cap="flat">
              <a:noFill/>
              <a:prstDash val="solid"/>
              <a:miter/>
            </a:ln>
          </p:spPr>
          <p:txBody>
            <a:bodyPr rtlCol="0" anchor="ctr"/>
            <a:lstStyle/>
            <a:p>
              <a:endParaRPr lang="zh-CN" altLang="en-US"/>
            </a:p>
          </p:txBody>
        </p:sp>
        <p:sp>
          <p:nvSpPr>
            <p:cNvPr id="41" name="任意多边形: 形状 9819">
              <a:extLst>
                <a:ext uri="{FF2B5EF4-FFF2-40B4-BE49-F238E27FC236}">
                  <a16:creationId xmlns="" xmlns:a16="http://schemas.microsoft.com/office/drawing/2014/main" id="{F341B9C7-FEFA-463D-82DE-D1042A71D192}"/>
                </a:ext>
              </a:extLst>
            </p:cNvPr>
            <p:cNvSpPr/>
            <p:nvPr/>
          </p:nvSpPr>
          <p:spPr>
            <a:xfrm>
              <a:off x="9774834" y="22121"/>
              <a:ext cx="1483914" cy="1483913"/>
            </a:xfrm>
            <a:custGeom>
              <a:avLst/>
              <a:gdLst>
                <a:gd name="connsiteX0" fmla="*/ 14268 w 1483913"/>
                <a:gd name="connsiteY0" fmla="*/ 398564 h 1483913"/>
                <a:gd name="connsiteX1" fmla="*/ 1479158 w 1483913"/>
                <a:gd name="connsiteY1" fmla="*/ 14268 h 1483913"/>
                <a:gd name="connsiteX2" fmla="*/ 1079642 w 1483913"/>
                <a:gd name="connsiteY2" fmla="*/ 1475353 h 1483913"/>
              </a:gdLst>
              <a:ahLst/>
              <a:cxnLst>
                <a:cxn ang="0">
                  <a:pos x="connsiteX0" y="connsiteY0"/>
                </a:cxn>
                <a:cxn ang="0">
                  <a:pos x="connsiteX1" y="connsiteY1"/>
                </a:cxn>
                <a:cxn ang="0">
                  <a:pos x="connsiteX2" y="connsiteY2"/>
                </a:cxn>
              </a:cxnLst>
              <a:rect l="l" t="t" r="r" b="b"/>
              <a:pathLst>
                <a:path w="1483913" h="1483913">
                  <a:moveTo>
                    <a:pt x="14268" y="398564"/>
                  </a:moveTo>
                  <a:lnTo>
                    <a:pt x="1479158" y="14268"/>
                  </a:lnTo>
                  <a:lnTo>
                    <a:pt x="1079642" y="1475353"/>
                  </a:lnTo>
                  <a:close/>
                </a:path>
              </a:pathLst>
            </a:custGeom>
            <a:solidFill>
              <a:srgbClr val="B4B4B4"/>
            </a:solidFill>
            <a:ln w="9525" cap="flat">
              <a:noFill/>
              <a:prstDash val="solid"/>
              <a:miter/>
            </a:ln>
          </p:spPr>
          <p:txBody>
            <a:bodyPr rtlCol="0" anchor="ctr"/>
            <a:lstStyle/>
            <a:p>
              <a:endParaRPr lang="zh-CN" altLang="en-US"/>
            </a:p>
          </p:txBody>
        </p:sp>
        <p:sp>
          <p:nvSpPr>
            <p:cNvPr id="42" name="任意多边形: 形状 9820">
              <a:extLst>
                <a:ext uri="{FF2B5EF4-FFF2-40B4-BE49-F238E27FC236}">
                  <a16:creationId xmlns="" xmlns:a16="http://schemas.microsoft.com/office/drawing/2014/main" id="{9878DE74-3C47-4F64-BD72-CAD242D68E5F}"/>
                </a:ext>
              </a:extLst>
            </p:cNvPr>
            <p:cNvSpPr/>
            <p:nvPr/>
          </p:nvSpPr>
          <p:spPr>
            <a:xfrm>
              <a:off x="9774834" y="22121"/>
              <a:ext cx="1483914" cy="551711"/>
            </a:xfrm>
            <a:custGeom>
              <a:avLst/>
              <a:gdLst>
                <a:gd name="connsiteX0" fmla="*/ 14268 w 1483913"/>
                <a:gd name="connsiteY0" fmla="*/ 398564 h 551711"/>
                <a:gd name="connsiteX1" fmla="*/ 1479158 w 1483913"/>
                <a:gd name="connsiteY1" fmla="*/ 14268 h 551711"/>
                <a:gd name="connsiteX2" fmla="*/ 809494 w 1483913"/>
                <a:gd name="connsiteY2" fmla="*/ 541248 h 551711"/>
              </a:gdLst>
              <a:ahLst/>
              <a:cxnLst>
                <a:cxn ang="0">
                  <a:pos x="connsiteX0" y="connsiteY0"/>
                </a:cxn>
                <a:cxn ang="0">
                  <a:pos x="connsiteX1" y="connsiteY1"/>
                </a:cxn>
                <a:cxn ang="0">
                  <a:pos x="connsiteX2" y="connsiteY2"/>
                </a:cxn>
              </a:cxnLst>
              <a:rect l="l" t="t" r="r" b="b"/>
              <a:pathLst>
                <a:path w="1483913" h="551711">
                  <a:moveTo>
                    <a:pt x="14268" y="398564"/>
                  </a:moveTo>
                  <a:lnTo>
                    <a:pt x="1479158" y="14268"/>
                  </a:lnTo>
                  <a:lnTo>
                    <a:pt x="809494" y="541248"/>
                  </a:lnTo>
                  <a:close/>
                </a:path>
              </a:pathLst>
            </a:custGeom>
            <a:solidFill>
              <a:srgbClr val="F0F0F0"/>
            </a:solidFill>
            <a:ln w="9525" cap="flat">
              <a:noFill/>
              <a:prstDash val="solid"/>
              <a:miter/>
            </a:ln>
          </p:spPr>
          <p:txBody>
            <a:bodyPr rtlCol="0" anchor="ctr"/>
            <a:lstStyle/>
            <a:p>
              <a:endParaRPr lang="zh-CN" altLang="en-US"/>
            </a:p>
          </p:txBody>
        </p:sp>
        <p:sp>
          <p:nvSpPr>
            <p:cNvPr id="43" name="任意多边形: 形状 9822">
              <a:extLst>
                <a:ext uri="{FF2B5EF4-FFF2-40B4-BE49-F238E27FC236}">
                  <a16:creationId xmlns="" xmlns:a16="http://schemas.microsoft.com/office/drawing/2014/main" id="{B0812A02-7B92-4DEA-9683-82A1B285267D}"/>
                </a:ext>
              </a:extLst>
            </p:cNvPr>
            <p:cNvSpPr/>
            <p:nvPr/>
          </p:nvSpPr>
          <p:spPr>
            <a:xfrm>
              <a:off x="10570059" y="22121"/>
              <a:ext cx="684883" cy="1483913"/>
            </a:xfrm>
            <a:custGeom>
              <a:avLst/>
              <a:gdLst>
                <a:gd name="connsiteX0" fmla="*/ 284417 w 684883"/>
                <a:gd name="connsiteY0" fmla="*/ 1475353 h 1483913"/>
                <a:gd name="connsiteX1" fmla="*/ 683932 w 684883"/>
                <a:gd name="connsiteY1" fmla="*/ 14268 h 1483913"/>
                <a:gd name="connsiteX2" fmla="*/ 14268 w 684883"/>
                <a:gd name="connsiteY2" fmla="*/ 541248 h 1483913"/>
              </a:gdLst>
              <a:ahLst/>
              <a:cxnLst>
                <a:cxn ang="0">
                  <a:pos x="connsiteX0" y="connsiteY0"/>
                </a:cxn>
                <a:cxn ang="0">
                  <a:pos x="connsiteX1" y="connsiteY1"/>
                </a:cxn>
                <a:cxn ang="0">
                  <a:pos x="connsiteX2" y="connsiteY2"/>
                </a:cxn>
              </a:cxnLst>
              <a:rect l="l" t="t" r="r" b="b"/>
              <a:pathLst>
                <a:path w="684883" h="1483913">
                  <a:moveTo>
                    <a:pt x="284417" y="1475353"/>
                  </a:moveTo>
                  <a:lnTo>
                    <a:pt x="683932" y="14268"/>
                  </a:lnTo>
                  <a:lnTo>
                    <a:pt x="14268" y="541248"/>
                  </a:lnTo>
                  <a:close/>
                </a:path>
              </a:pathLst>
            </a:custGeom>
            <a:solidFill>
              <a:srgbClr val="D8D8D8"/>
            </a:solidFill>
            <a:ln w="9525" cap="flat">
              <a:noFill/>
              <a:prstDash val="solid"/>
              <a:miter/>
            </a:ln>
          </p:spPr>
          <p:txBody>
            <a:bodyPr rtlCol="0" anchor="ctr"/>
            <a:lstStyle/>
            <a:p>
              <a:endParaRPr lang="zh-CN" altLang="en-US"/>
            </a:p>
          </p:txBody>
        </p:sp>
        <p:sp>
          <p:nvSpPr>
            <p:cNvPr id="44" name="任意多边形: 形状 31">
              <a:extLst>
                <a:ext uri="{FF2B5EF4-FFF2-40B4-BE49-F238E27FC236}">
                  <a16:creationId xmlns="" xmlns:a16="http://schemas.microsoft.com/office/drawing/2014/main" id="{62213F4B-3D8F-4CE2-9902-6D9838165829}"/>
                </a:ext>
              </a:extLst>
            </p:cNvPr>
            <p:cNvSpPr/>
            <p:nvPr/>
          </p:nvSpPr>
          <p:spPr>
            <a:xfrm>
              <a:off x="11255993" y="2353409"/>
              <a:ext cx="932202" cy="932202"/>
            </a:xfrm>
            <a:custGeom>
              <a:avLst/>
              <a:gdLst>
                <a:gd name="connsiteX0" fmla="*/ 687737 w 932202"/>
                <a:gd name="connsiteY0" fmla="*/ 933153 h 932202"/>
                <a:gd name="connsiteX1" fmla="*/ 14268 w 932202"/>
                <a:gd name="connsiteY1" fmla="*/ 261587 h 932202"/>
                <a:gd name="connsiteX2" fmla="*/ 933154 w 932202"/>
                <a:gd name="connsiteY2" fmla="*/ 14268 h 932202"/>
              </a:gdLst>
              <a:ahLst/>
              <a:cxnLst>
                <a:cxn ang="0">
                  <a:pos x="connsiteX0" y="connsiteY0"/>
                </a:cxn>
                <a:cxn ang="0">
                  <a:pos x="connsiteX1" y="connsiteY1"/>
                </a:cxn>
                <a:cxn ang="0">
                  <a:pos x="connsiteX2" y="connsiteY2"/>
                </a:cxn>
              </a:cxnLst>
              <a:rect l="l" t="t" r="r" b="b"/>
              <a:pathLst>
                <a:path w="932202" h="932202">
                  <a:moveTo>
                    <a:pt x="687737" y="933153"/>
                  </a:moveTo>
                  <a:lnTo>
                    <a:pt x="14268" y="261587"/>
                  </a:lnTo>
                  <a:lnTo>
                    <a:pt x="933154" y="14268"/>
                  </a:lnTo>
                  <a:close/>
                </a:path>
              </a:pathLst>
            </a:custGeom>
            <a:solidFill>
              <a:srgbClr val="B4B4B4"/>
            </a:solidFill>
            <a:ln w="9525" cap="flat">
              <a:noFill/>
              <a:prstDash val="solid"/>
              <a:miter/>
            </a:ln>
          </p:spPr>
          <p:txBody>
            <a:bodyPr rtlCol="0" anchor="ctr"/>
            <a:lstStyle/>
            <a:p>
              <a:endParaRPr lang="zh-CN" altLang="en-US"/>
            </a:p>
          </p:txBody>
        </p:sp>
        <p:sp>
          <p:nvSpPr>
            <p:cNvPr id="45" name="任意多边形: 形状 32">
              <a:extLst>
                <a:ext uri="{FF2B5EF4-FFF2-40B4-BE49-F238E27FC236}">
                  <a16:creationId xmlns="" xmlns:a16="http://schemas.microsoft.com/office/drawing/2014/main" id="{48E3B64C-E8DE-46B2-B215-E9A88A283AEF}"/>
                </a:ext>
              </a:extLst>
            </p:cNvPr>
            <p:cNvSpPr/>
            <p:nvPr/>
          </p:nvSpPr>
          <p:spPr>
            <a:xfrm>
              <a:off x="11255993" y="2600728"/>
              <a:ext cx="684883" cy="684883"/>
            </a:xfrm>
            <a:custGeom>
              <a:avLst/>
              <a:gdLst>
                <a:gd name="connsiteX0" fmla="*/ 687737 w 684883"/>
                <a:gd name="connsiteY0" fmla="*/ 685834 h 684883"/>
                <a:gd name="connsiteX1" fmla="*/ 14268 w 684883"/>
                <a:gd name="connsiteY1" fmla="*/ 14268 h 684883"/>
                <a:gd name="connsiteX2" fmla="*/ 512711 w 684883"/>
                <a:gd name="connsiteY2" fmla="*/ 210221 h 684883"/>
              </a:gdLst>
              <a:ahLst/>
              <a:cxnLst>
                <a:cxn ang="0">
                  <a:pos x="connsiteX0" y="connsiteY0"/>
                </a:cxn>
                <a:cxn ang="0">
                  <a:pos x="connsiteX1" y="connsiteY1"/>
                </a:cxn>
                <a:cxn ang="0">
                  <a:pos x="connsiteX2" y="connsiteY2"/>
                </a:cxn>
              </a:cxnLst>
              <a:rect l="l" t="t" r="r" b="b"/>
              <a:pathLst>
                <a:path w="684883" h="684883">
                  <a:moveTo>
                    <a:pt x="687737" y="685834"/>
                  </a:moveTo>
                  <a:lnTo>
                    <a:pt x="14268" y="14268"/>
                  </a:lnTo>
                  <a:lnTo>
                    <a:pt x="512711" y="210221"/>
                  </a:lnTo>
                  <a:close/>
                </a:path>
              </a:pathLst>
            </a:custGeom>
            <a:solidFill>
              <a:srgbClr val="F0F0F0"/>
            </a:solidFill>
            <a:ln w="9525" cap="flat">
              <a:noFill/>
              <a:prstDash val="solid"/>
              <a:miter/>
            </a:ln>
          </p:spPr>
          <p:txBody>
            <a:bodyPr rtlCol="0" anchor="ctr"/>
            <a:lstStyle/>
            <a:p>
              <a:endParaRPr lang="zh-CN" altLang="en-US"/>
            </a:p>
          </p:txBody>
        </p:sp>
        <p:sp>
          <p:nvSpPr>
            <p:cNvPr id="46" name="任意多边形: 形状 33">
              <a:extLst>
                <a:ext uri="{FF2B5EF4-FFF2-40B4-BE49-F238E27FC236}">
                  <a16:creationId xmlns="" xmlns:a16="http://schemas.microsoft.com/office/drawing/2014/main" id="{927F048F-3C99-4074-9A69-F88460B27E30}"/>
                </a:ext>
              </a:extLst>
            </p:cNvPr>
            <p:cNvSpPr/>
            <p:nvPr/>
          </p:nvSpPr>
          <p:spPr>
            <a:xfrm>
              <a:off x="11754436" y="2353409"/>
              <a:ext cx="437564" cy="932202"/>
            </a:xfrm>
            <a:custGeom>
              <a:avLst/>
              <a:gdLst>
                <a:gd name="connsiteX0" fmla="*/ 189294 w 437564"/>
                <a:gd name="connsiteY0" fmla="*/ 933153 h 932202"/>
                <a:gd name="connsiteX1" fmla="*/ 434711 w 437564"/>
                <a:gd name="connsiteY1" fmla="*/ 14268 h 932202"/>
                <a:gd name="connsiteX2" fmla="*/ 14268 w 437564"/>
                <a:gd name="connsiteY2" fmla="*/ 457540 h 932202"/>
              </a:gdLst>
              <a:ahLst/>
              <a:cxnLst>
                <a:cxn ang="0">
                  <a:pos x="connsiteX0" y="connsiteY0"/>
                </a:cxn>
                <a:cxn ang="0">
                  <a:pos x="connsiteX1" y="connsiteY1"/>
                </a:cxn>
                <a:cxn ang="0">
                  <a:pos x="connsiteX2" y="connsiteY2"/>
                </a:cxn>
              </a:cxnLst>
              <a:rect l="l" t="t" r="r" b="b"/>
              <a:pathLst>
                <a:path w="437564" h="932202">
                  <a:moveTo>
                    <a:pt x="189294" y="933153"/>
                  </a:moveTo>
                  <a:lnTo>
                    <a:pt x="434711" y="14268"/>
                  </a:lnTo>
                  <a:lnTo>
                    <a:pt x="14268" y="457540"/>
                  </a:lnTo>
                  <a:close/>
                </a:path>
              </a:pathLst>
            </a:custGeom>
            <a:solidFill>
              <a:srgbClr val="D8D8D8"/>
            </a:solidFill>
            <a:ln w="9525" cap="flat">
              <a:noFill/>
              <a:prstDash val="solid"/>
              <a:miter/>
            </a:ln>
          </p:spPr>
          <p:txBody>
            <a:bodyPr rtlCol="0" anchor="ctr"/>
            <a:lstStyle/>
            <a:p>
              <a:endParaRPr lang="zh-CN" altLang="en-US"/>
            </a:p>
          </p:txBody>
        </p:sp>
        <p:sp>
          <p:nvSpPr>
            <p:cNvPr id="47" name="任意多边形: 形状 130">
              <a:extLst>
                <a:ext uri="{FF2B5EF4-FFF2-40B4-BE49-F238E27FC236}">
                  <a16:creationId xmlns="" xmlns:a16="http://schemas.microsoft.com/office/drawing/2014/main" id="{74D9498E-2BA6-44E4-B3FB-A6DA8DBFE96D}"/>
                </a:ext>
              </a:extLst>
            </p:cNvPr>
            <p:cNvSpPr/>
            <p:nvPr/>
          </p:nvSpPr>
          <p:spPr>
            <a:xfrm>
              <a:off x="11231161" y="0"/>
              <a:ext cx="236678" cy="251368"/>
            </a:xfrm>
            <a:custGeom>
              <a:avLst/>
              <a:gdLst>
                <a:gd name="connsiteX0" fmla="*/ 65797 w 236678"/>
                <a:gd name="connsiteY0" fmla="*/ 0 h 251368"/>
                <a:gd name="connsiteX1" fmla="*/ 236678 w 236678"/>
                <a:gd name="connsiteY1" fmla="*/ 0 h 251368"/>
                <a:gd name="connsiteX2" fmla="*/ 0 w 236678"/>
                <a:gd name="connsiteY2" fmla="*/ 251368 h 251368"/>
              </a:gdLst>
              <a:ahLst/>
              <a:cxnLst>
                <a:cxn ang="0">
                  <a:pos x="connsiteX0" y="connsiteY0"/>
                </a:cxn>
                <a:cxn ang="0">
                  <a:pos x="connsiteX1" y="connsiteY1"/>
                </a:cxn>
                <a:cxn ang="0">
                  <a:pos x="connsiteX2" y="connsiteY2"/>
                </a:cxn>
              </a:cxnLst>
              <a:rect l="l" t="t" r="r" b="b"/>
              <a:pathLst>
                <a:path w="236678" h="251368">
                  <a:moveTo>
                    <a:pt x="65797" y="0"/>
                  </a:moveTo>
                  <a:lnTo>
                    <a:pt x="236678" y="0"/>
                  </a:lnTo>
                  <a:lnTo>
                    <a:pt x="0" y="251368"/>
                  </a:lnTo>
                  <a:close/>
                </a:path>
              </a:pathLst>
            </a:custGeom>
            <a:solidFill>
              <a:schemeClr val="accent3"/>
            </a:solidFill>
            <a:ln w="9525" cap="flat">
              <a:noFill/>
              <a:prstDash val="solid"/>
              <a:miter/>
            </a:ln>
          </p:spPr>
          <p:txBody>
            <a:bodyPr rtlCol="0" anchor="ctr"/>
            <a:lstStyle/>
            <a:p>
              <a:endParaRPr lang="zh-CN" altLang="en-US"/>
            </a:p>
          </p:txBody>
        </p:sp>
        <p:sp>
          <p:nvSpPr>
            <p:cNvPr id="48" name="任意多边形: 形状 128">
              <a:extLst>
                <a:ext uri="{FF2B5EF4-FFF2-40B4-BE49-F238E27FC236}">
                  <a16:creationId xmlns="" xmlns:a16="http://schemas.microsoft.com/office/drawing/2014/main" id="{EA738A62-D78C-4250-B583-C8A7EC8F6874}"/>
                </a:ext>
              </a:extLst>
            </p:cNvPr>
            <p:cNvSpPr/>
            <p:nvPr/>
          </p:nvSpPr>
          <p:spPr>
            <a:xfrm>
              <a:off x="11231161" y="0"/>
              <a:ext cx="918787" cy="251366"/>
            </a:xfrm>
            <a:custGeom>
              <a:avLst/>
              <a:gdLst>
                <a:gd name="connsiteX0" fmla="*/ 236676 w 918787"/>
                <a:gd name="connsiteY0" fmla="*/ 0 h 251366"/>
                <a:gd name="connsiteX1" fmla="*/ 918787 w 918787"/>
                <a:gd name="connsiteY1" fmla="*/ 0 h 251366"/>
                <a:gd name="connsiteX2" fmla="*/ 0 w 918787"/>
                <a:gd name="connsiteY2" fmla="*/ 251366 h 251366"/>
              </a:gdLst>
              <a:ahLst/>
              <a:cxnLst>
                <a:cxn ang="0">
                  <a:pos x="connsiteX0" y="connsiteY0"/>
                </a:cxn>
                <a:cxn ang="0">
                  <a:pos x="connsiteX1" y="connsiteY1"/>
                </a:cxn>
                <a:cxn ang="0">
                  <a:pos x="connsiteX2" y="connsiteY2"/>
                </a:cxn>
              </a:cxnLst>
              <a:rect l="l" t="t" r="r" b="b"/>
              <a:pathLst>
                <a:path w="918787" h="251366">
                  <a:moveTo>
                    <a:pt x="236676" y="0"/>
                  </a:moveTo>
                  <a:lnTo>
                    <a:pt x="918787" y="0"/>
                  </a:lnTo>
                  <a:lnTo>
                    <a:pt x="0" y="251366"/>
                  </a:lnTo>
                  <a:close/>
                </a:path>
              </a:pathLst>
            </a:custGeom>
            <a:solidFill>
              <a:schemeClr val="accent1"/>
            </a:solidFill>
            <a:ln w="9525" cap="flat">
              <a:noFill/>
              <a:prstDash val="solid"/>
              <a:miter/>
            </a:ln>
          </p:spPr>
          <p:txBody>
            <a:bodyPr rtlCol="0" anchor="ctr"/>
            <a:lstStyle/>
            <a:p>
              <a:endParaRPr lang="zh-CN" altLang="en-US"/>
            </a:p>
          </p:txBody>
        </p:sp>
        <p:sp>
          <p:nvSpPr>
            <p:cNvPr id="49" name="任意多边形: 形状 133">
              <a:extLst>
                <a:ext uri="{FF2B5EF4-FFF2-40B4-BE49-F238E27FC236}">
                  <a16:creationId xmlns="" xmlns:a16="http://schemas.microsoft.com/office/drawing/2014/main" id="{D2A5CA47-5484-4C28-8EE0-85A4E455BDEC}"/>
                </a:ext>
              </a:extLst>
            </p:cNvPr>
            <p:cNvSpPr/>
            <p:nvPr userDrawn="1"/>
          </p:nvSpPr>
          <p:spPr>
            <a:xfrm>
              <a:off x="11253991" y="12283"/>
              <a:ext cx="938009" cy="1013382"/>
            </a:xfrm>
            <a:custGeom>
              <a:avLst/>
              <a:gdLst>
                <a:gd name="connsiteX0" fmla="*/ 938009 w 938009"/>
                <a:gd name="connsiteY0" fmla="*/ 0 h 1013382"/>
                <a:gd name="connsiteX1" fmla="*/ 938009 w 938009"/>
                <a:gd name="connsiteY1" fmla="*/ 351444 h 1013382"/>
                <a:gd name="connsiteX2" fmla="*/ 768592 w 938009"/>
                <a:gd name="connsiteY2" fmla="*/ 1013382 h 1013382"/>
                <a:gd name="connsiteX3" fmla="*/ 0 w 938009"/>
                <a:gd name="connsiteY3" fmla="*/ 263815 h 1013382"/>
              </a:gdLst>
              <a:ahLst/>
              <a:cxnLst>
                <a:cxn ang="0">
                  <a:pos x="connsiteX0" y="connsiteY0"/>
                </a:cxn>
                <a:cxn ang="0">
                  <a:pos x="connsiteX1" y="connsiteY1"/>
                </a:cxn>
                <a:cxn ang="0">
                  <a:pos x="connsiteX2" y="connsiteY2"/>
                </a:cxn>
                <a:cxn ang="0">
                  <a:pos x="connsiteX3" y="connsiteY3"/>
                </a:cxn>
              </a:cxnLst>
              <a:rect l="l" t="t" r="r" b="b"/>
              <a:pathLst>
                <a:path w="938009" h="1013382">
                  <a:moveTo>
                    <a:pt x="938009" y="0"/>
                  </a:moveTo>
                  <a:lnTo>
                    <a:pt x="938009" y="351444"/>
                  </a:lnTo>
                  <a:lnTo>
                    <a:pt x="768592" y="1013382"/>
                  </a:lnTo>
                  <a:lnTo>
                    <a:pt x="0" y="263815"/>
                  </a:lnTo>
                  <a:close/>
                </a:path>
              </a:pathLst>
            </a:custGeom>
            <a:solidFill>
              <a:schemeClr val="accent1"/>
            </a:solidFill>
            <a:ln w="9525" cap="flat">
              <a:noFill/>
              <a:prstDash val="solid"/>
              <a:miter/>
            </a:ln>
          </p:spPr>
          <p:txBody>
            <a:bodyPr rtlCol="0" anchor="ctr"/>
            <a:lstStyle/>
            <a:p>
              <a:endParaRPr lang="zh-CN" altLang="en-US"/>
            </a:p>
          </p:txBody>
        </p:sp>
        <p:sp>
          <p:nvSpPr>
            <p:cNvPr id="50" name="任意多边形: 形状 134">
              <a:extLst>
                <a:ext uri="{FF2B5EF4-FFF2-40B4-BE49-F238E27FC236}">
                  <a16:creationId xmlns="" xmlns:a16="http://schemas.microsoft.com/office/drawing/2014/main" id="{1858AD30-FC4D-4A4A-B365-5F476D5CE41D}"/>
                </a:ext>
              </a:extLst>
            </p:cNvPr>
            <p:cNvSpPr/>
            <p:nvPr/>
          </p:nvSpPr>
          <p:spPr>
            <a:xfrm>
              <a:off x="11253991" y="12283"/>
              <a:ext cx="938009" cy="416012"/>
            </a:xfrm>
            <a:custGeom>
              <a:avLst/>
              <a:gdLst>
                <a:gd name="connsiteX0" fmla="*/ 938009 w 938009"/>
                <a:gd name="connsiteY0" fmla="*/ 0 h 416012"/>
                <a:gd name="connsiteX1" fmla="*/ 938009 w 938009"/>
                <a:gd name="connsiteY1" fmla="*/ 90979 h 416012"/>
                <a:gd name="connsiteX2" fmla="*/ 671567 w 938009"/>
                <a:gd name="connsiteY2" fmla="*/ 416012 h 416012"/>
                <a:gd name="connsiteX3" fmla="*/ 0 w 938009"/>
                <a:gd name="connsiteY3" fmla="*/ 263816 h 416012"/>
              </a:gdLst>
              <a:ahLst/>
              <a:cxnLst>
                <a:cxn ang="0">
                  <a:pos x="connsiteX0" y="connsiteY0"/>
                </a:cxn>
                <a:cxn ang="0">
                  <a:pos x="connsiteX1" y="connsiteY1"/>
                </a:cxn>
                <a:cxn ang="0">
                  <a:pos x="connsiteX2" y="connsiteY2"/>
                </a:cxn>
                <a:cxn ang="0">
                  <a:pos x="connsiteX3" y="connsiteY3"/>
                </a:cxn>
              </a:cxnLst>
              <a:rect l="l" t="t" r="r" b="b"/>
              <a:pathLst>
                <a:path w="938009" h="416012">
                  <a:moveTo>
                    <a:pt x="938009" y="0"/>
                  </a:moveTo>
                  <a:lnTo>
                    <a:pt x="938009" y="90979"/>
                  </a:lnTo>
                  <a:lnTo>
                    <a:pt x="671567" y="416012"/>
                  </a:lnTo>
                  <a:lnTo>
                    <a:pt x="0" y="263816"/>
                  </a:lnTo>
                  <a:close/>
                </a:path>
              </a:pathLst>
            </a:custGeom>
            <a:solidFill>
              <a:schemeClr val="accent3"/>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 xmlns:a16="http://schemas.microsoft.com/office/drawing/2014/main" id="{E372FD86-9F7A-45A6-90F6-B07D7A2080EC}"/>
                </a:ext>
              </a:extLst>
            </p:cNvPr>
            <p:cNvSpPr/>
            <p:nvPr/>
          </p:nvSpPr>
          <p:spPr>
            <a:xfrm>
              <a:off x="11239723" y="261830"/>
              <a:ext cx="780006" cy="760981"/>
            </a:xfrm>
            <a:custGeom>
              <a:avLst/>
              <a:gdLst>
                <a:gd name="connsiteX0" fmla="*/ 14268 w 780005"/>
                <a:gd name="connsiteY0" fmla="*/ 14268 h 760981"/>
                <a:gd name="connsiteX1" fmla="*/ 782860 w 780005"/>
                <a:gd name="connsiteY1" fmla="*/ 763835 h 760981"/>
                <a:gd name="connsiteX2" fmla="*/ 685835 w 780005"/>
                <a:gd name="connsiteY2" fmla="*/ 166465 h 760981"/>
              </a:gdLst>
              <a:ahLst/>
              <a:cxnLst>
                <a:cxn ang="0">
                  <a:pos x="connsiteX0" y="connsiteY0"/>
                </a:cxn>
                <a:cxn ang="0">
                  <a:pos x="connsiteX1" y="connsiteY1"/>
                </a:cxn>
                <a:cxn ang="0">
                  <a:pos x="connsiteX2" y="connsiteY2"/>
                </a:cxn>
              </a:cxnLst>
              <a:rect l="l" t="t" r="r" b="b"/>
              <a:pathLst>
                <a:path w="780005" h="760981">
                  <a:moveTo>
                    <a:pt x="14268" y="14268"/>
                  </a:moveTo>
                  <a:lnTo>
                    <a:pt x="782860" y="763835"/>
                  </a:lnTo>
                  <a:lnTo>
                    <a:pt x="685835" y="166465"/>
                  </a:lnTo>
                  <a:close/>
                </a:path>
              </a:pathLst>
            </a:custGeom>
            <a:solidFill>
              <a:schemeClr val="accent2"/>
            </a:solidFill>
            <a:ln w="9525" cap="flat">
              <a:noFill/>
              <a:prstDash val="solid"/>
              <a:miter/>
            </a:ln>
          </p:spPr>
          <p:txBody>
            <a:bodyPr rtlCol="0" anchor="ctr"/>
            <a:lstStyle/>
            <a:p>
              <a:endParaRPr lang="zh-CN" altLang="en-US"/>
            </a:p>
          </p:txBody>
        </p:sp>
      </p:grpSp>
      <p:sp>
        <p:nvSpPr>
          <p:cNvPr id="52" name="标题 1"/>
          <p:cNvSpPr>
            <a:spLocks noGrp="1"/>
          </p:cNvSpPr>
          <p:nvPr>
            <p:ph type="ctrTitle"/>
          </p:nvPr>
        </p:nvSpPr>
        <p:spPr>
          <a:xfrm>
            <a:off x="4405746" y="2175164"/>
            <a:ext cx="6877626" cy="1528893"/>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53" name="副标题 2"/>
          <p:cNvSpPr>
            <a:spLocks noGrp="1"/>
          </p:cNvSpPr>
          <p:nvPr>
            <p:ph type="subTitle" idx="1" hasCustomPrompt="1"/>
          </p:nvPr>
        </p:nvSpPr>
        <p:spPr>
          <a:xfrm>
            <a:off x="4405746" y="3704057"/>
            <a:ext cx="6877626" cy="558799"/>
          </a:xfrm>
          <a:ln>
            <a:solidFill>
              <a:schemeClr val="accent1"/>
            </a:solidFill>
          </a:ln>
        </p:spPr>
        <p:txBody>
          <a:bodyPr anchor="ctr">
            <a:normAutofit/>
          </a:bodyPr>
          <a:lstStyle>
            <a:lvl1pPr marL="0" indent="0" algn="l">
              <a:buNone/>
              <a:defRPr sz="20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smtClean="0"/>
              <a:t>FRM</a:t>
            </a:r>
            <a:r>
              <a:rPr lang="zh-CN" altLang="en-US" dirty="0" smtClean="0"/>
              <a:t>一级培训讲义</a:t>
            </a:r>
            <a:endParaRPr lang="en-US" dirty="0"/>
          </a:p>
        </p:txBody>
      </p:sp>
      <p:sp>
        <p:nvSpPr>
          <p:cNvPr id="54" name="文本占位符 13"/>
          <p:cNvSpPr>
            <a:spLocks noGrp="1"/>
          </p:cNvSpPr>
          <p:nvPr>
            <p:ph type="body" sz="quarter" idx="10" hasCustomPrompt="1"/>
          </p:nvPr>
        </p:nvSpPr>
        <p:spPr>
          <a:xfrm>
            <a:off x="4405746" y="4677656"/>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5" name="文本占位符 13"/>
          <p:cNvSpPr>
            <a:spLocks noGrp="1"/>
          </p:cNvSpPr>
          <p:nvPr>
            <p:ph type="body" sz="quarter" idx="11" hasCustomPrompt="1"/>
          </p:nvPr>
        </p:nvSpPr>
        <p:spPr>
          <a:xfrm>
            <a:off x="4405746" y="4973927"/>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65935740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1892">
          <p15:clr>
            <a:srgbClr val="FBAE40"/>
          </p15:clr>
        </p15:guide>
        <p15:guide id="2" pos="55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1750364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58917"/>
            <a:ext cx="9264352" cy="0"/>
          </a:xfrm>
          <a:prstGeom prst="line">
            <a:avLst/>
          </a:prstGeom>
          <a:noFill/>
          <a:ln w="38100">
            <a:solidFill>
              <a:schemeClr val="accent3"/>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a:noFill/>
        </p:spPr>
        <p:txBody>
          <a:bodyPr/>
          <a:lstStyle>
            <a:lvl1pPr>
              <a:lnSpc>
                <a:spcPct val="120000"/>
              </a:lnSpc>
              <a:spcBef>
                <a:spcPts val="0"/>
              </a:spcBef>
              <a:defRPr b="1" i="0" baseline="0">
                <a:solidFill>
                  <a:schemeClr val="accent6">
                    <a:lumMod val="50000"/>
                  </a:schemeClr>
                </a:solidFill>
              </a:defRPr>
            </a:lvl1pPr>
            <a:lvl2pPr>
              <a:lnSpc>
                <a:spcPct val="120000"/>
              </a:lnSpc>
              <a:spcBef>
                <a:spcPts val="0"/>
              </a:spcBef>
              <a:defRPr baseline="0">
                <a:solidFill>
                  <a:schemeClr val="accent6"/>
                </a:solidFill>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3071833235"/>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89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知识点页">
    <p:spTree>
      <p:nvGrpSpPr>
        <p:cNvPr id="1" name=""/>
        <p:cNvGrpSpPr/>
        <p:nvPr/>
      </p:nvGrpSpPr>
      <p:grpSpPr>
        <a:xfrm>
          <a:off x="0" y="0"/>
          <a:ext cx="0" cy="0"/>
          <a:chOff x="0" y="0"/>
          <a:chExt cx="0" cy="0"/>
        </a:xfrm>
      </p:grpSpPr>
      <p:sp>
        <p:nvSpPr>
          <p:cNvPr id="7" name="Freeform 5">
            <a:extLst>
              <a:ext uri="{FF2B5EF4-FFF2-40B4-BE49-F238E27FC236}">
                <a16:creationId xmlns=""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18973"/>
            <a:ext cx="4702164"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14" name="文本占位符 2"/>
          <p:cNvSpPr>
            <a:spLocks noGrp="1"/>
          </p:cNvSpPr>
          <p:nvPr>
            <p:ph type="body" idx="1"/>
          </p:nvPr>
        </p:nvSpPr>
        <p:spPr>
          <a:xfrm>
            <a:off x="6586078" y="3314323"/>
            <a:ext cx="4702164"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198014169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2"/>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hasCustomPrompt="1"/>
          </p:nvPr>
        </p:nvSpPr>
        <p:spPr>
          <a:xfrm>
            <a:off x="393600" y="624043"/>
            <a:ext cx="6758517" cy="5838796"/>
          </a:xfrm>
        </p:spPr>
        <p:txBody>
          <a:bodyPr/>
          <a:lstStyle>
            <a:lvl1pPr marL="457189" indent="-457189">
              <a:buFont typeface="+mj-lt"/>
              <a:buAutoNum type="arabicPeriod"/>
              <a:defRPr i="0" baseline="0">
                <a:solidFill>
                  <a:schemeClr val="accent3"/>
                </a:solidFill>
              </a:defRPr>
            </a:lvl1pPr>
          </a:lstStyle>
          <a:p>
            <a:pPr lvl="0"/>
            <a:r>
              <a:rPr lang="zh-CN" altLang="en-US" dirty="0" smtClean="0"/>
              <a:t>一二三</a:t>
            </a:r>
            <a:endParaRPr lang="zh-CN" altLang="en-US" dirty="0"/>
          </a:p>
        </p:txBody>
      </p:sp>
      <p:sp>
        <p:nvSpPr>
          <p:cNvPr id="9" name="圆角右箭头 8"/>
          <p:cNvSpPr/>
          <p:nvPr userDrawn="1"/>
        </p:nvSpPr>
        <p:spPr>
          <a:xfrm rot="5400000">
            <a:off x="974538" y="5526"/>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284464574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sp>
        <p:nvSpPr>
          <p:cNvPr id="3" name="文本占位符 2"/>
          <p:cNvSpPr>
            <a:spLocks noGrp="1"/>
          </p:cNvSpPr>
          <p:nvPr>
            <p:ph type="body" sz="quarter" idx="10"/>
          </p:nvPr>
        </p:nvSpPr>
        <p:spPr>
          <a:xfrm>
            <a:off x="393599" y="813469"/>
            <a:ext cx="11404800" cy="5660163"/>
          </a:xfrm>
        </p:spPr>
        <p:txBody>
          <a:bodyPr/>
          <a:lstStyle>
            <a:lvl1pPr>
              <a:defRPr i="0" baseline="0">
                <a:solidFill>
                  <a:schemeClr val="accent6"/>
                </a:solidFill>
                <a:latin typeface="微软雅黑" panose="020B0503020204020204" pitchFamily="34" charset="-122"/>
                <a:ea typeface="微软雅黑" panose="020B0503020204020204" pitchFamily="34" charset="-122"/>
                <a:cs typeface="Segoe UI" panose="020B0502040204020203" pitchFamily="34" charset="0"/>
              </a:defRPr>
            </a:lvl1pPr>
            <a:lvl2pPr marL="990575" indent="-38099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2pPr>
            <a:lvl3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3pPr>
            <a:lvl4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4pPr>
            <a:lvl5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74837032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599" y="816000"/>
            <a:ext cx="10972800" cy="5657629"/>
          </a:xfrm>
          <a:solidFill>
            <a:srgbClr val="B7C0D7">
              <a:alpha val="50196"/>
            </a:srgbClr>
          </a:solidFill>
        </p:spPr>
        <p:txBody>
          <a:bodyPr/>
          <a:lstStyle>
            <a:lvl1pPr>
              <a:defRPr b="0" i="0">
                <a:solidFill>
                  <a:schemeClr val="accent6"/>
                </a:solidFill>
                <a:latin typeface="微软雅黑" panose="020B0503020204020204" pitchFamily="34" charset="-122"/>
                <a:ea typeface="微软雅黑" panose="020B0503020204020204" pitchFamily="34" charset="-122"/>
              </a:defRPr>
            </a:lvl1pPr>
            <a:lvl2pPr>
              <a:defRPr>
                <a:solidFill>
                  <a:schemeClr val="accent6">
                    <a:lumMod val="75000"/>
                  </a:schemeClr>
                </a:solidFill>
                <a:latin typeface="微软雅黑" panose="020B0503020204020204" pitchFamily="34" charset="-122"/>
                <a:ea typeface="微软雅黑" panose="020B0503020204020204" pitchFamily="34" charset="-122"/>
              </a:defRPr>
            </a:lvl2pPr>
            <a:lvl3pPr>
              <a:defRPr>
                <a:solidFill>
                  <a:schemeClr val="accent6">
                    <a:lumMod val="75000"/>
                  </a:schemeClr>
                </a:solidFill>
                <a:latin typeface="微软雅黑" panose="020B0503020204020204" pitchFamily="34" charset="-122"/>
                <a:ea typeface="微软雅黑" panose="020B0503020204020204" pitchFamily="34" charset="-122"/>
              </a:defRPr>
            </a:lvl3pPr>
            <a:lvl4pPr>
              <a:defRPr>
                <a:solidFill>
                  <a:schemeClr val="accent6">
                    <a:lumMod val="75000"/>
                  </a:schemeClr>
                </a:solidFill>
                <a:latin typeface="微软雅黑" panose="020B0503020204020204" pitchFamily="34" charset="-122"/>
                <a:ea typeface="微软雅黑" panose="020B0503020204020204" pitchFamily="34" charset="-122"/>
              </a:defRPr>
            </a:lvl4pPr>
            <a:lvl5pPr>
              <a:defRPr>
                <a:solidFill>
                  <a:schemeClr val="accent6">
                    <a:lumMod val="75000"/>
                  </a:schemeClr>
                </a:solidFill>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12" name="Freeform 112"/>
          <p:cNvSpPr>
            <a:spLocks noChangeAspect="1" noChangeArrowheads="1"/>
          </p:cNvSpPr>
          <p:nvPr userDrawn="1"/>
        </p:nvSpPr>
        <p:spPr bwMode="auto">
          <a:xfrm>
            <a:off x="143339" y="816003"/>
            <a:ext cx="249600" cy="286156"/>
          </a:xfrm>
          <a:custGeom>
            <a:avLst/>
            <a:gdLst>
              <a:gd name="T0" fmla="*/ 410607 w 390"/>
              <a:gd name="T1" fmla="*/ 0 h 444"/>
              <a:gd name="T2" fmla="*/ 0 w 390"/>
              <a:gd name="T3" fmla="*/ 63592 h 444"/>
              <a:gd name="T4" fmla="*/ 52367 w 390"/>
              <a:gd name="T5" fmla="*/ 531536 h 444"/>
              <a:gd name="T6" fmla="*/ 462974 w 390"/>
              <a:gd name="T7" fmla="*/ 478742 h 444"/>
              <a:gd name="T8" fmla="*/ 410607 w 390"/>
              <a:gd name="T9" fmla="*/ 0 h 444"/>
              <a:gd name="T10" fmla="*/ 410607 w 390"/>
              <a:gd name="T11" fmla="*/ 478742 h 444"/>
              <a:gd name="T12" fmla="*/ 52367 w 390"/>
              <a:gd name="T13" fmla="*/ 63592 h 444"/>
              <a:gd name="T14" fmla="*/ 410607 w 390"/>
              <a:gd name="T15" fmla="*/ 478742 h 444"/>
              <a:gd name="T16" fmla="*/ 263026 w 390"/>
              <a:gd name="T17" fmla="*/ 329960 h 444"/>
              <a:gd name="T18" fmla="*/ 115446 w 390"/>
              <a:gd name="T19" fmla="*/ 362356 h 444"/>
              <a:gd name="T20" fmla="*/ 263026 w 390"/>
              <a:gd name="T21" fmla="*/ 329960 h 444"/>
              <a:gd name="T22" fmla="*/ 347528 w 390"/>
              <a:gd name="T23" fmla="*/ 212374 h 444"/>
              <a:gd name="T24" fmla="*/ 232082 w 390"/>
              <a:gd name="T25" fmla="*/ 235172 h 444"/>
              <a:gd name="T26" fmla="*/ 347528 w 390"/>
              <a:gd name="T27" fmla="*/ 212374 h 444"/>
              <a:gd name="T28" fmla="*/ 232082 w 390"/>
              <a:gd name="T29" fmla="*/ 181178 h 444"/>
              <a:gd name="T30" fmla="*/ 347528 w 390"/>
              <a:gd name="T31" fmla="*/ 117586 h 444"/>
              <a:gd name="T32" fmla="*/ 232082 w 390"/>
              <a:gd name="T33" fmla="*/ 181178 h 444"/>
              <a:gd name="T34" fmla="*/ 199948 w 390"/>
              <a:gd name="T35" fmla="*/ 117586 h 444"/>
              <a:gd name="T36" fmla="*/ 115446 w 390"/>
              <a:gd name="T37" fmla="*/ 235172 h 444"/>
              <a:gd name="T38" fmla="*/ 199948 w 390"/>
              <a:gd name="T39" fmla="*/ 117586 h 444"/>
              <a:gd name="T40" fmla="*/ 167813 w 390"/>
              <a:gd name="T41" fmla="*/ 266368 h 444"/>
              <a:gd name="T42" fmla="*/ 115446 w 390"/>
              <a:gd name="T43" fmla="*/ 298764 h 444"/>
              <a:gd name="T44" fmla="*/ 167813 w 390"/>
              <a:gd name="T45" fmla="*/ 266368 h 444"/>
              <a:gd name="T46" fmla="*/ 199948 w 390"/>
              <a:gd name="T47" fmla="*/ 298764 h 444"/>
              <a:gd name="T48" fmla="*/ 347528 w 390"/>
              <a:gd name="T49" fmla="*/ 266368 h 444"/>
              <a:gd name="T50" fmla="*/ 199948 w 390"/>
              <a:gd name="T51" fmla="*/ 298764 h 444"/>
              <a:gd name="T52" fmla="*/ 347528 w 390"/>
              <a:gd name="T53" fmla="*/ 382754 h 444"/>
              <a:gd name="T54" fmla="*/ 115446 w 390"/>
              <a:gd name="T55" fmla="*/ 415150 h 444"/>
              <a:gd name="T56" fmla="*/ 347528 w 390"/>
              <a:gd name="T57" fmla="*/ 382754 h 444"/>
              <a:gd name="T58" fmla="*/ 295161 w 390"/>
              <a:gd name="T59" fmla="*/ 362356 h 444"/>
              <a:gd name="T60" fmla="*/ 347528 w 390"/>
              <a:gd name="T61" fmla="*/ 329960 h 444"/>
              <a:gd name="T62" fmla="*/ 295161 w 390"/>
              <a:gd name="T63" fmla="*/ 362356 h 4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0" h="444">
                <a:moveTo>
                  <a:pt x="345" y="0"/>
                </a:moveTo>
                <a:lnTo>
                  <a:pt x="345" y="0"/>
                </a:lnTo>
                <a:cubicBezTo>
                  <a:pt x="44" y="0"/>
                  <a:pt x="44" y="0"/>
                  <a:pt x="44" y="0"/>
                </a:cubicBezTo>
                <a:cubicBezTo>
                  <a:pt x="17" y="0"/>
                  <a:pt x="0" y="27"/>
                  <a:pt x="0" y="53"/>
                </a:cubicBezTo>
                <a:cubicBezTo>
                  <a:pt x="0" y="399"/>
                  <a:pt x="0" y="399"/>
                  <a:pt x="0" y="399"/>
                </a:cubicBezTo>
                <a:cubicBezTo>
                  <a:pt x="0" y="425"/>
                  <a:pt x="17" y="443"/>
                  <a:pt x="44" y="443"/>
                </a:cubicBezTo>
                <a:cubicBezTo>
                  <a:pt x="345" y="443"/>
                  <a:pt x="345" y="443"/>
                  <a:pt x="345" y="443"/>
                </a:cubicBezTo>
                <a:cubicBezTo>
                  <a:pt x="372" y="443"/>
                  <a:pt x="389" y="425"/>
                  <a:pt x="389" y="399"/>
                </a:cubicBezTo>
                <a:cubicBezTo>
                  <a:pt x="389" y="53"/>
                  <a:pt x="389" y="53"/>
                  <a:pt x="389" y="53"/>
                </a:cubicBezTo>
                <a:cubicBezTo>
                  <a:pt x="389" y="27"/>
                  <a:pt x="372" y="0"/>
                  <a:pt x="345" y="0"/>
                </a:cubicBezTo>
                <a:close/>
                <a:moveTo>
                  <a:pt x="345" y="399"/>
                </a:moveTo>
                <a:lnTo>
                  <a:pt x="345" y="399"/>
                </a:lnTo>
                <a:cubicBezTo>
                  <a:pt x="44" y="399"/>
                  <a:pt x="44" y="399"/>
                  <a:pt x="44" y="399"/>
                </a:cubicBezTo>
                <a:cubicBezTo>
                  <a:pt x="44" y="53"/>
                  <a:pt x="44" y="53"/>
                  <a:pt x="44" y="53"/>
                </a:cubicBezTo>
                <a:cubicBezTo>
                  <a:pt x="345" y="53"/>
                  <a:pt x="345" y="53"/>
                  <a:pt x="345" y="53"/>
                </a:cubicBezTo>
                <a:lnTo>
                  <a:pt x="345" y="399"/>
                </a:lnTo>
                <a:close/>
                <a:moveTo>
                  <a:pt x="221" y="275"/>
                </a:moveTo>
                <a:lnTo>
                  <a:pt x="221" y="275"/>
                </a:lnTo>
                <a:cubicBezTo>
                  <a:pt x="97" y="275"/>
                  <a:pt x="97" y="275"/>
                  <a:pt x="97" y="275"/>
                </a:cubicBezTo>
                <a:cubicBezTo>
                  <a:pt x="97" y="302"/>
                  <a:pt x="97" y="302"/>
                  <a:pt x="97" y="302"/>
                </a:cubicBezTo>
                <a:cubicBezTo>
                  <a:pt x="221" y="302"/>
                  <a:pt x="221" y="302"/>
                  <a:pt x="221" y="302"/>
                </a:cubicBezTo>
                <a:lnTo>
                  <a:pt x="221" y="275"/>
                </a:lnTo>
                <a:close/>
                <a:moveTo>
                  <a:pt x="292" y="177"/>
                </a:moveTo>
                <a:lnTo>
                  <a:pt x="292" y="177"/>
                </a:lnTo>
                <a:cubicBezTo>
                  <a:pt x="195" y="177"/>
                  <a:pt x="195" y="177"/>
                  <a:pt x="195" y="177"/>
                </a:cubicBezTo>
                <a:cubicBezTo>
                  <a:pt x="195" y="196"/>
                  <a:pt x="195" y="196"/>
                  <a:pt x="195" y="196"/>
                </a:cubicBezTo>
                <a:cubicBezTo>
                  <a:pt x="292" y="196"/>
                  <a:pt x="292" y="196"/>
                  <a:pt x="292" y="196"/>
                </a:cubicBezTo>
                <a:lnTo>
                  <a:pt x="292" y="177"/>
                </a:lnTo>
                <a:close/>
                <a:moveTo>
                  <a:pt x="195" y="151"/>
                </a:moveTo>
                <a:lnTo>
                  <a:pt x="195" y="151"/>
                </a:lnTo>
                <a:cubicBezTo>
                  <a:pt x="292" y="151"/>
                  <a:pt x="292" y="151"/>
                  <a:pt x="292" y="151"/>
                </a:cubicBezTo>
                <a:cubicBezTo>
                  <a:pt x="292" y="98"/>
                  <a:pt x="292" y="98"/>
                  <a:pt x="292" y="98"/>
                </a:cubicBezTo>
                <a:cubicBezTo>
                  <a:pt x="195" y="98"/>
                  <a:pt x="195" y="98"/>
                  <a:pt x="195" y="98"/>
                </a:cubicBezTo>
                <a:lnTo>
                  <a:pt x="195" y="151"/>
                </a:lnTo>
                <a:close/>
                <a:moveTo>
                  <a:pt x="168" y="98"/>
                </a:moveTo>
                <a:lnTo>
                  <a:pt x="168" y="98"/>
                </a:lnTo>
                <a:cubicBezTo>
                  <a:pt x="97" y="98"/>
                  <a:pt x="97" y="98"/>
                  <a:pt x="97" y="98"/>
                </a:cubicBezTo>
                <a:cubicBezTo>
                  <a:pt x="97" y="196"/>
                  <a:pt x="97" y="196"/>
                  <a:pt x="97" y="196"/>
                </a:cubicBezTo>
                <a:cubicBezTo>
                  <a:pt x="168" y="196"/>
                  <a:pt x="168" y="196"/>
                  <a:pt x="168" y="196"/>
                </a:cubicBezTo>
                <a:lnTo>
                  <a:pt x="168" y="98"/>
                </a:lnTo>
                <a:close/>
                <a:moveTo>
                  <a:pt x="141" y="222"/>
                </a:moveTo>
                <a:lnTo>
                  <a:pt x="141" y="222"/>
                </a:lnTo>
                <a:cubicBezTo>
                  <a:pt x="97" y="222"/>
                  <a:pt x="97" y="222"/>
                  <a:pt x="97" y="222"/>
                </a:cubicBezTo>
                <a:cubicBezTo>
                  <a:pt x="97" y="249"/>
                  <a:pt x="97" y="249"/>
                  <a:pt x="97" y="249"/>
                </a:cubicBezTo>
                <a:cubicBezTo>
                  <a:pt x="141" y="249"/>
                  <a:pt x="141" y="249"/>
                  <a:pt x="141" y="249"/>
                </a:cubicBezTo>
                <a:lnTo>
                  <a:pt x="141" y="222"/>
                </a:lnTo>
                <a:close/>
                <a:moveTo>
                  <a:pt x="168" y="249"/>
                </a:moveTo>
                <a:lnTo>
                  <a:pt x="168" y="249"/>
                </a:lnTo>
                <a:cubicBezTo>
                  <a:pt x="292" y="249"/>
                  <a:pt x="292" y="249"/>
                  <a:pt x="292" y="249"/>
                </a:cubicBezTo>
                <a:cubicBezTo>
                  <a:pt x="292" y="222"/>
                  <a:pt x="292" y="222"/>
                  <a:pt x="292" y="222"/>
                </a:cubicBezTo>
                <a:cubicBezTo>
                  <a:pt x="168" y="222"/>
                  <a:pt x="168" y="222"/>
                  <a:pt x="168" y="222"/>
                </a:cubicBezTo>
                <a:lnTo>
                  <a:pt x="168" y="249"/>
                </a:lnTo>
                <a:close/>
                <a:moveTo>
                  <a:pt x="292" y="319"/>
                </a:moveTo>
                <a:lnTo>
                  <a:pt x="292" y="319"/>
                </a:lnTo>
                <a:cubicBezTo>
                  <a:pt x="97" y="319"/>
                  <a:pt x="97" y="319"/>
                  <a:pt x="97" y="319"/>
                </a:cubicBezTo>
                <a:cubicBezTo>
                  <a:pt x="97" y="346"/>
                  <a:pt x="97" y="346"/>
                  <a:pt x="97" y="346"/>
                </a:cubicBezTo>
                <a:cubicBezTo>
                  <a:pt x="292" y="346"/>
                  <a:pt x="292" y="346"/>
                  <a:pt x="292" y="346"/>
                </a:cubicBezTo>
                <a:lnTo>
                  <a:pt x="292" y="319"/>
                </a:lnTo>
                <a:close/>
                <a:moveTo>
                  <a:pt x="248" y="302"/>
                </a:moveTo>
                <a:lnTo>
                  <a:pt x="248" y="302"/>
                </a:lnTo>
                <a:cubicBezTo>
                  <a:pt x="292" y="302"/>
                  <a:pt x="292" y="302"/>
                  <a:pt x="292" y="302"/>
                </a:cubicBezTo>
                <a:cubicBezTo>
                  <a:pt x="292" y="275"/>
                  <a:pt x="292" y="275"/>
                  <a:pt x="292" y="275"/>
                </a:cubicBezTo>
                <a:cubicBezTo>
                  <a:pt x="248" y="275"/>
                  <a:pt x="248" y="275"/>
                  <a:pt x="248" y="275"/>
                </a:cubicBezTo>
                <a:lnTo>
                  <a:pt x="248" y="302"/>
                </a:lnTo>
                <a:close/>
              </a:path>
            </a:pathLst>
          </a:custGeom>
          <a:solidFill>
            <a:srgbClr val="5F4B8B"/>
          </a:solidFill>
          <a:ln>
            <a:noFill/>
          </a:ln>
          <a:effectLst>
            <a:outerShdw blurRad="25400" dist="12700" dir="2700000" algn="tl" rotWithShape="0">
              <a:prstClr val="black">
                <a:alpha val="40000"/>
              </a:prstClr>
            </a:outerShdw>
          </a:effectLst>
          <a:extLst/>
        </p:spPr>
        <p:txBody>
          <a:bodyPr wrap="none" lIns="45720" tIns="22860" rIns="45720" bIns="2286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29947305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i="0">
                <a:latin typeface="微软雅黑" panose="020B0503020204020204" pitchFamily="34" charset="-122"/>
                <a:ea typeface="微软雅黑" panose="020B0503020204020204" pitchFamily="34" charset="-122"/>
              </a:defRPr>
            </a:lvl1pPr>
            <a:lvl2pPr>
              <a:lnSpc>
                <a:spcPct val="120000"/>
              </a:lnSpc>
              <a:spcBef>
                <a:spcPts val="0"/>
              </a:spcBef>
              <a:defRPr baseline="0">
                <a:solidFill>
                  <a:schemeClr val="accent6"/>
                </a:solidFill>
                <a:latin typeface="微软雅黑" panose="020B0503020204020204" pitchFamily="34" charset="-122"/>
                <a:ea typeface="微软雅黑" panose="020B0503020204020204" pitchFamily="34" charset="-122"/>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1513862343"/>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894">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374940001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baseline="0">
                <a:solidFill>
                  <a:schemeClr val="accent6">
                    <a:lumMod val="50000"/>
                  </a:schemeClr>
                </a:solidFill>
              </a:defRPr>
            </a:lvl1pPr>
            <a:lvl2pPr>
              <a:lnSpc>
                <a:spcPct val="120000"/>
              </a:lnSpc>
              <a:spcBef>
                <a:spcPts val="0"/>
              </a:spcBef>
              <a:defRPr i="0"/>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2653987345"/>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89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1"/>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p:nvPr>
        </p:nvSpPr>
        <p:spPr>
          <a:xfrm>
            <a:off x="393600" y="624043"/>
            <a:ext cx="6758517" cy="5838796"/>
          </a:xfrm>
        </p:spPr>
        <p:txBody>
          <a:bodyPr>
            <a:normAutofit/>
          </a:bodyPr>
          <a:lstStyle>
            <a:lvl1pPr marL="457189" indent="-457189">
              <a:buFont typeface="+mj-lt"/>
              <a:buAutoNum type="arabicPeriod"/>
              <a:defRPr lang="zh-CN" altLang="en-US" sz="2400" i="0" kern="1200" baseline="0" dirty="0">
                <a:solidFill>
                  <a:srgbClr val="002060"/>
                </a:solidFill>
                <a:latin typeface="+mn-lt"/>
                <a:ea typeface="+mn-ea"/>
                <a:cs typeface="+mn-ea"/>
              </a:defRPr>
            </a:lvl1pPr>
          </a:lstStyle>
          <a:p>
            <a:pPr lvl="0"/>
            <a:endParaRPr lang="zh-CN" altLang="en-US" dirty="0"/>
          </a:p>
        </p:txBody>
      </p:sp>
      <p:sp>
        <p:nvSpPr>
          <p:cNvPr id="9" name="圆角右箭头 8"/>
          <p:cNvSpPr/>
          <p:nvPr userDrawn="1"/>
        </p:nvSpPr>
        <p:spPr>
          <a:xfrm rot="5400000">
            <a:off x="974533" y="5522"/>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354007795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mj-lt"/>
              </a:defRPr>
            </a:lvl1pPr>
          </a:lstStyle>
          <a:p>
            <a:r>
              <a:rPr lang="zh-CN" altLang="en-US" dirty="0" smtClean="0"/>
              <a:t>单击此处编辑母版标题样式</a:t>
            </a:r>
            <a:endParaRPr lang="zh-CN" altLang="en-US" dirty="0"/>
          </a:p>
        </p:txBody>
      </p:sp>
      <p:sp>
        <p:nvSpPr>
          <p:cNvPr id="3" name="文本占位符 2"/>
          <p:cNvSpPr>
            <a:spLocks noGrp="1"/>
          </p:cNvSpPr>
          <p:nvPr>
            <p:ph type="body" sz="quarter" idx="10"/>
          </p:nvPr>
        </p:nvSpPr>
        <p:spPr>
          <a:xfrm>
            <a:off x="393599" y="813468"/>
            <a:ext cx="11404800" cy="5660163"/>
          </a:xfrm>
        </p:spPr>
        <p:txBody>
          <a:bodyPr/>
          <a:lstStyle>
            <a:lvl1pPr>
              <a:lnSpc>
                <a:spcPct val="150000"/>
              </a:lnSpc>
              <a:defRPr b="1" i="0" baseline="0">
                <a:solidFill>
                  <a:schemeClr val="accent6"/>
                </a:solidFill>
                <a:latin typeface="微软雅黑" panose="020B0503020204020204" pitchFamily="34" charset="-122"/>
                <a:ea typeface="微软雅黑" panose="020B0503020204020204" pitchFamily="34" charset="-122"/>
              </a:defRPr>
            </a:lvl1pPr>
            <a:lvl2pPr marL="990575" indent="-380990">
              <a:lnSpc>
                <a:spcPct val="150000"/>
              </a:lnSpc>
              <a:buFont typeface="Wingdings" panose="05000000000000000000" pitchFamily="2" charset="2"/>
              <a:buChar char="l"/>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2pPr>
            <a:lvl3pPr>
              <a:lnSpc>
                <a:spcPct val="150000"/>
              </a:lnSpc>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3pPr>
            <a:lvl4pPr>
              <a:lnSpc>
                <a:spcPct val="150000"/>
              </a:lnSpc>
              <a:defRPr sz="2200">
                <a:solidFill>
                  <a:schemeClr val="tx1"/>
                </a:solidFill>
                <a:latin typeface="Segoe UI" panose="020B0502040204020203" pitchFamily="34" charset="0"/>
                <a:ea typeface="微软雅黑" panose="020B0503020204020204" pitchFamily="34" charset="-122"/>
              </a:defRPr>
            </a:lvl4pPr>
            <a:lvl5pPr>
              <a:lnSpc>
                <a:spcPct val="150000"/>
              </a:lnSpc>
              <a:defRPr sz="2200">
                <a:solidFill>
                  <a:schemeClr val="tx1"/>
                </a:solidFill>
                <a:latin typeface="Segoe UI" panose="020B0502040204020203" pitchFamily="34" charset="0"/>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035228403"/>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600" y="816002"/>
            <a:ext cx="10972800" cy="5657629"/>
          </a:xfrm>
          <a:solidFill>
            <a:schemeClr val="accent1">
              <a:lumMod val="40000"/>
              <a:lumOff val="60000"/>
              <a:alpha val="50196"/>
            </a:schemeClr>
          </a:solidFill>
        </p:spPr>
        <p:txBody>
          <a:bodyPr/>
          <a:lstStyle>
            <a:lvl1pPr>
              <a:defRPr baseline="0">
                <a:solidFill>
                  <a:schemeClr val="accent6">
                    <a:lumMod val="50000"/>
                  </a:schemeClr>
                </a:solidFill>
                <a:latin typeface="微软雅黑" panose="020B0503020204020204" pitchFamily="34" charset="-122"/>
                <a:ea typeface="微软雅黑" panose="020B0503020204020204" pitchFamily="34" charset="-122"/>
              </a:defRPr>
            </a:lvl1pPr>
            <a:lvl2pPr>
              <a:defRPr sz="2200">
                <a:solidFill>
                  <a:srgbClr val="002060"/>
                </a:solidFill>
                <a:latin typeface="微软雅黑" panose="020B0503020204020204" pitchFamily="34" charset="-122"/>
                <a:ea typeface="微软雅黑" panose="020B0503020204020204" pitchFamily="34" charset="-122"/>
              </a:defRPr>
            </a:lvl2pPr>
            <a:lvl3pPr>
              <a:defRPr sz="2200">
                <a:solidFill>
                  <a:srgbClr val="002060"/>
                </a:solidFill>
                <a:latin typeface="微软雅黑" panose="020B0503020204020204" pitchFamily="34" charset="-122"/>
                <a:ea typeface="微软雅黑" panose="020B0503020204020204" pitchFamily="34" charset="-122"/>
              </a:defRPr>
            </a:lvl3pPr>
            <a:lvl4pPr>
              <a:defRPr sz="2200">
                <a:solidFill>
                  <a:srgbClr val="002060"/>
                </a:solidFill>
                <a:latin typeface="微软雅黑" panose="020B0503020204020204" pitchFamily="34" charset="-122"/>
                <a:ea typeface="微软雅黑" panose="020B0503020204020204" pitchFamily="34" charset="-122"/>
              </a:defRPr>
            </a:lvl4pPr>
            <a:lvl5pPr>
              <a:defRPr sz="2200">
                <a:solidFill>
                  <a:srgbClr val="002060"/>
                </a:solidFill>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hasCustomPrompt="1"/>
          </p:nvPr>
        </p:nvSpPr>
        <p:spPr>
          <a:xfrm>
            <a:off x="609600" y="62400"/>
            <a:ext cx="6734539" cy="576064"/>
          </a:xfrm>
        </p:spPr>
        <p:txBody>
          <a:bodyPr>
            <a:normAutofit/>
          </a:bodyPr>
          <a:lstStyle>
            <a:lvl1pPr algn="l">
              <a:defRPr sz="2667" b="1" baseline="0">
                <a:solidFill>
                  <a:schemeClr val="accent6">
                    <a:lumMod val="50000"/>
                  </a:schemeClr>
                </a:solidFill>
                <a:latin typeface="+mj-lt"/>
              </a:defRPr>
            </a:lvl1pPr>
          </a:lstStyle>
          <a:p>
            <a:r>
              <a:rPr lang="en-US" altLang="zh-CN" dirty="0" smtClean="0"/>
              <a:t>Practice</a:t>
            </a:r>
            <a:endParaRPr lang="zh-CN" altLang="en-US" dirty="0"/>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4139999557"/>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36712"/>
            <a:ext cx="9264352" cy="0"/>
          </a:xfrm>
          <a:prstGeom prst="line">
            <a:avLst/>
          </a:prstGeom>
          <a:noFill/>
          <a:ln w="38100">
            <a:solidFill>
              <a:schemeClr val="accent2"/>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a:latin typeface="+mn-lt"/>
                <a:ea typeface="微软雅黑" panose="020B0503020204020204" pitchFamily="34" charset="-122"/>
              </a:defRPr>
            </a:lvl1pPr>
            <a:lvl2pPr>
              <a:lnSpc>
                <a:spcPct val="120000"/>
              </a:lnSpc>
              <a:spcBef>
                <a:spcPts val="0"/>
              </a:spcBef>
              <a:defRPr>
                <a:latin typeface="微软雅黑" panose="020B0503020204020204" pitchFamily="34" charset="-122"/>
                <a:ea typeface="微软雅黑" panose="020B0503020204020204" pitchFamily="34" charset="-122"/>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474053110"/>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894">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知识点页">
    <p:spTree>
      <p:nvGrpSpPr>
        <p:cNvPr id="1" name=""/>
        <p:cNvGrpSpPr/>
        <p:nvPr/>
      </p:nvGrpSpPr>
      <p:grpSpPr>
        <a:xfrm>
          <a:off x="0" y="0"/>
          <a:ext cx="0" cy="0"/>
          <a:chOff x="0" y="0"/>
          <a:chExt cx="0" cy="0"/>
        </a:xfrm>
      </p:grpSpPr>
      <p:sp>
        <p:nvSpPr>
          <p:cNvPr id="7" name="Freeform 5">
            <a:extLst>
              <a:ext uri="{FF2B5EF4-FFF2-40B4-BE49-F238E27FC236}">
                <a16:creationId xmlns=""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18973"/>
            <a:ext cx="4702164"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14" name="文本占位符 2"/>
          <p:cNvSpPr>
            <a:spLocks noGrp="1"/>
          </p:cNvSpPr>
          <p:nvPr>
            <p:ph type="body" idx="1"/>
          </p:nvPr>
        </p:nvSpPr>
        <p:spPr>
          <a:xfrm>
            <a:off x="6586078" y="3314323"/>
            <a:ext cx="4702164"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348786102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知识点页">
    <p:spTree>
      <p:nvGrpSpPr>
        <p:cNvPr id="1" name=""/>
        <p:cNvGrpSpPr/>
        <p:nvPr/>
      </p:nvGrpSpPr>
      <p:grpSpPr>
        <a:xfrm>
          <a:off x="0" y="0"/>
          <a:ext cx="0" cy="0"/>
          <a:chOff x="0" y="0"/>
          <a:chExt cx="0" cy="0"/>
        </a:xfrm>
      </p:grpSpPr>
      <p:sp>
        <p:nvSpPr>
          <p:cNvPr id="7" name="Freeform 5">
            <a:extLst>
              <a:ext uri="{FF2B5EF4-FFF2-40B4-BE49-F238E27FC236}">
                <a16:creationId xmlns=""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18973"/>
            <a:ext cx="4702164"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14" name="文本占位符 2"/>
          <p:cNvSpPr>
            <a:spLocks noGrp="1"/>
          </p:cNvSpPr>
          <p:nvPr>
            <p:ph type="body" idx="1"/>
          </p:nvPr>
        </p:nvSpPr>
        <p:spPr>
          <a:xfrm>
            <a:off x="6586078" y="3314323"/>
            <a:ext cx="4702164"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312562025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image" Target="../media/image1.png"/><Relationship Id="rId4" Type="http://schemas.openxmlformats.org/officeDocument/2006/relationships/slideLayout" Target="../slideLayouts/slideLayout13.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2510069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80" r:id="rId9"/>
  </p:sldLayoutIdLst>
  <p:timing>
    <p:tnLst>
      <p:par>
        <p:cTn id="1" dur="indefinite" restart="never" nodeType="tmRoot"/>
      </p:par>
    </p:tnLst>
  </p:timing>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50000"/>
        </a:lnSpc>
        <a:spcBef>
          <a:spcPts val="0"/>
        </a:spcBef>
        <a:buFont typeface="Wingdings" panose="05000000000000000000" pitchFamily="2" charset="2"/>
        <a:buChar char="Ø"/>
        <a:defRPr sz="2400" b="1" i="1" kern="1200" baseline="0">
          <a:solidFill>
            <a:schemeClr val="accent6">
              <a:lumMod val="50000"/>
            </a:schemeClr>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5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3392" y="1700808"/>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93145379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8" r:id="rId5"/>
    <p:sldLayoutId id="2147483679" r:id="rId6"/>
    <p:sldLayoutId id="2147483681" r:id="rId7"/>
    <p:sldLayoutId id="2147483682" r:id="rId8"/>
  </p:sldLayoutIdLst>
  <p:timing>
    <p:tnLst>
      <p:par>
        <p:cTn id="1" dur="indefinite" restart="never" nodeType="tmRoot"/>
      </p:par>
    </p:tnLst>
  </p:timing>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20000"/>
        </a:lnSpc>
        <a:spcBef>
          <a:spcPts val="0"/>
        </a:spcBef>
        <a:buFont typeface="Wingdings" panose="05000000000000000000" pitchFamily="2" charset="2"/>
        <a:buChar char="Ø"/>
        <a:defRPr sz="2400" kern="1200" baseline="0">
          <a:solidFill>
            <a:srgbClr val="263238"/>
          </a:solidFill>
          <a:latin typeface="Roboto" panose="02000000000000000000" pitchFamily="2" charset="0"/>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chemeClr val="accent2"/>
          </a:solidFill>
          <a:latin typeface="Roboto" panose="02000000000000000000" pitchFamily="2" charset="0"/>
          <a:ea typeface="微软雅黑" panose="020B0503020204020204" pitchFamily="34" charset="-122"/>
          <a:cs typeface="+mn-cs"/>
        </a:defRPr>
      </a:lvl2pPr>
      <a:lvl3pPr marL="1523962" indent="-304792" algn="l" defTabSz="1219170" rtl="0" eaLnBrk="1" latinLnBrk="0" hangingPunct="1">
        <a:lnSpc>
          <a:spcPct val="120000"/>
        </a:lnSpc>
        <a:spcBef>
          <a:spcPts val="0"/>
        </a:spcBef>
        <a:buFont typeface="Wingdings" panose="05000000000000000000" pitchFamily="2" charset="2"/>
        <a:buChar char="ü"/>
        <a:defRPr sz="2400" kern="1200" baseline="0">
          <a:solidFill>
            <a:schemeClr val="accent2"/>
          </a:solidFill>
          <a:latin typeface="Roboto" panose="02000000000000000000" pitchFamily="2" charset="0"/>
          <a:ea typeface="微软雅黑" panose="020B0503020204020204" pitchFamily="34" charset="-122"/>
          <a:cs typeface="+mn-cs"/>
        </a:defRPr>
      </a:lvl3pPr>
      <a:lvl4pPr marL="2133547" indent="-304792" algn="l" defTabSz="1219170" rtl="0" eaLnBrk="1" latinLnBrk="0" hangingPunct="1">
        <a:lnSpc>
          <a:spcPct val="120000"/>
        </a:lnSpc>
        <a:spcBef>
          <a:spcPts val="0"/>
        </a:spcBef>
        <a:buFont typeface="Wingdings" panose="05000000000000000000" pitchFamily="2" charset="2"/>
        <a:buChar char="n"/>
        <a:defRPr sz="2400" kern="1200" baseline="0">
          <a:solidFill>
            <a:schemeClr val="accent2"/>
          </a:solidFill>
          <a:latin typeface="Roboto" panose="02000000000000000000" pitchFamily="2" charset="0"/>
          <a:ea typeface="微软雅黑" panose="020B0503020204020204" pitchFamily="34" charset="-122"/>
          <a:cs typeface="+mn-cs"/>
        </a:defRPr>
      </a:lvl4pPr>
      <a:lvl5pPr marL="2743131" indent="-304792" algn="l" defTabSz="1219170" rtl="0" eaLnBrk="1" latinLnBrk="0" hangingPunct="1">
        <a:lnSpc>
          <a:spcPct val="120000"/>
        </a:lnSpc>
        <a:spcBef>
          <a:spcPts val="0"/>
        </a:spcBef>
        <a:buFont typeface="Wingdings" panose="05000000000000000000" pitchFamily="2" charset="2"/>
        <a:buChar char="p"/>
        <a:defRPr sz="2400" kern="1200" baseline="0">
          <a:solidFill>
            <a:schemeClr val="accent2"/>
          </a:solidFill>
          <a:latin typeface="Roboto" panose="02000000000000000000" pitchFamily="2" charset="0"/>
          <a:ea typeface="微软雅黑" panose="020B0503020204020204" pitchFamily="34" charset="-122"/>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9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emf"/><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1.png"/></Relationships>
</file>

<file path=ppt/slides/_rels/slide1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26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26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xml"/></Relationships>
</file>

<file path=ppt/slides/_rels/slide26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405746" y="2175164"/>
            <a:ext cx="5432317" cy="1528893"/>
          </a:xfrm>
          <a:ln>
            <a:noFill/>
          </a:ln>
        </p:spPr>
        <p:txBody>
          <a:bodyPr>
            <a:normAutofit/>
          </a:bodyPr>
          <a:lstStyle/>
          <a:p>
            <a:r>
              <a:rPr lang="en-US" altLang="zh-CN" sz="440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Financial Market and Product</a:t>
            </a:r>
            <a:endParaRPr lang="zh-CN" altLang="en-US" sz="440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4405746" y="3410176"/>
            <a:ext cx="4187410" cy="1269870"/>
          </a:xfrm>
          <a:ln>
            <a:noFill/>
          </a:ln>
        </p:spPr>
        <p:txBody>
          <a:bodyPr>
            <a:normAutofit/>
          </a:bodyPr>
          <a:lstStyle/>
          <a:p>
            <a:r>
              <a:rPr lang="en-US" altLang="zh-CN" sz="2600"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FRM</a:t>
            </a:r>
            <a:r>
              <a:rPr lang="zh-CN" altLang="en-US"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t>
            </a:r>
            <a:r>
              <a:rPr lang="en-US" altLang="zh-CN" sz="2600"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art</a:t>
            </a:r>
            <a:r>
              <a:rPr lang="en-US" altLang="zh-CN"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a:t>
            </a:r>
            <a:r>
              <a:rPr lang="en-US" altLang="zh-CN"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zh-CN" altLang="en-US"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强化班 培训讲义</a:t>
            </a:r>
            <a:endPar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文本占位符 3"/>
          <p:cNvSpPr>
            <a:spLocks noGrp="1"/>
          </p:cNvSpPr>
          <p:nvPr>
            <p:ph type="body" sz="quarter" idx="10"/>
          </p:nvPr>
        </p:nvSpPr>
        <p:spPr>
          <a:xfrm>
            <a:off x="4405746" y="4677656"/>
            <a:ext cx="6886543" cy="296271"/>
          </a:xfrm>
          <a:ln>
            <a:noFill/>
          </a:ln>
        </p:spPr>
        <p:txBody>
          <a:bodyPr/>
          <a:lstStyle/>
          <a:p>
            <a:pPr algn="just"/>
            <a:r>
              <a:rPr lang="zh-CN" altLang="en-US" sz="1600" b="1" i="0" dirty="0" smtClean="0"/>
              <a:t>                                                                       </a:t>
            </a:r>
            <a:r>
              <a:rPr lang="zh-CN" altLang="en-US" sz="1600" b="1" i="0" dirty="0" smtClean="0">
                <a:solidFill>
                  <a:schemeClr val="accent6">
                    <a:lumMod val="50000"/>
                  </a:schemeClr>
                </a:solidFill>
              </a:rPr>
              <a:t>讲师：</a:t>
            </a:r>
            <a:r>
              <a:rPr lang="en-US" altLang="zh-CN" sz="1600" b="1" i="0" dirty="0" smtClean="0">
                <a:solidFill>
                  <a:schemeClr val="accent6">
                    <a:lumMod val="50000"/>
                  </a:schemeClr>
                </a:solidFill>
              </a:rPr>
              <a:t>Xiao</a:t>
            </a:r>
            <a:endParaRPr lang="zh-CN" altLang="en-US" sz="1600" b="1" i="0" dirty="0">
              <a:solidFill>
                <a:schemeClr val="accent6">
                  <a:lumMod val="50000"/>
                </a:schemeClr>
              </a:solidFill>
            </a:endParaRPr>
          </a:p>
        </p:txBody>
      </p:sp>
    </p:spTree>
    <p:extLst>
      <p:ext uri="{BB962C8B-B14F-4D97-AF65-F5344CB8AC3E}">
        <p14:creationId xmlns:p14="http://schemas.microsoft.com/office/powerpoint/2010/main" val="34294622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667" y="293755"/>
            <a:ext cx="6734539" cy="576064"/>
          </a:xfrm>
        </p:spPr>
        <p:txBody>
          <a:bodyPr>
            <a:normAutofit fontScale="90000"/>
          </a:bodyPr>
          <a:lstStyle/>
          <a:p>
            <a:r>
              <a:rPr lang="en-US" altLang="zh-CN" sz="3600" dirty="0" smtClean="0">
                <a:latin typeface="+mn-lt"/>
                <a:ea typeface="+mn-ea"/>
                <a:cs typeface="+mn-ea"/>
                <a:sym typeface="+mn-lt"/>
              </a:rPr>
              <a:t>Topic Weightings in FRM Part I</a:t>
            </a:r>
            <a:r>
              <a:rPr lang="en-US" altLang="zh-CN" dirty="0">
                <a:latin typeface="+mn-lt"/>
                <a:ea typeface="+mn-ea"/>
                <a:cs typeface="+mn-ea"/>
                <a:sym typeface="+mn-lt"/>
              </a:rPr>
              <a:t/>
            </a:r>
            <a:br>
              <a:rPr lang="en-US" altLang="zh-CN" dirty="0">
                <a:latin typeface="+mn-lt"/>
                <a:ea typeface="+mn-ea"/>
                <a:cs typeface="+mn-ea"/>
                <a:sym typeface="+mn-lt"/>
              </a:rPr>
            </a:b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3553177233"/>
              </p:ext>
            </p:extLst>
          </p:nvPr>
        </p:nvGraphicFramePr>
        <p:xfrm>
          <a:off x="653667" y="1410161"/>
          <a:ext cx="10040880" cy="4323335"/>
        </p:xfrm>
        <a:graphic>
          <a:graphicData uri="http://schemas.openxmlformats.org/drawingml/2006/table">
            <a:tbl>
              <a:tblPr/>
              <a:tblGrid>
                <a:gridCol w="2652229">
                  <a:extLst>
                    <a:ext uri="{9D8B030D-6E8A-4147-A177-3AD203B41FA5}">
                      <a16:colId xmlns="" xmlns:a16="http://schemas.microsoft.com/office/drawing/2014/main" val="20000"/>
                    </a:ext>
                  </a:extLst>
                </a:gridCol>
                <a:gridCol w="5210482">
                  <a:extLst>
                    <a:ext uri="{9D8B030D-6E8A-4147-A177-3AD203B41FA5}">
                      <a16:colId xmlns="" xmlns:a16="http://schemas.microsoft.com/office/drawing/2014/main" val="20001"/>
                    </a:ext>
                  </a:extLst>
                </a:gridCol>
                <a:gridCol w="2178169">
                  <a:extLst>
                    <a:ext uri="{9D8B030D-6E8A-4147-A177-3AD203B41FA5}">
                      <a16:colId xmlns="" xmlns:a16="http://schemas.microsoft.com/office/drawing/2014/main" val="20002"/>
                    </a:ext>
                  </a:extLst>
                </a:gridCol>
              </a:tblGrid>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Session NO.</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Content</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Weights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extLst>
                  <a:ext uri="{0D108BD9-81ED-4DB2-BD59-A6C34878D82A}">
                    <a16:rowId xmlns="" xmlns:a16="http://schemas.microsoft.com/office/drawing/2014/main" val="10000"/>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1 </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Foundations of Risk Management</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20</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 xmlns:a16="http://schemas.microsoft.com/office/drawing/2014/main" val="10001"/>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2 </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Quantitative Analysis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20</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 xmlns:a16="http://schemas.microsoft.com/office/drawing/2014/main" val="10002"/>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3</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Financial Markets and Products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extLst>
                  <a:ext uri="{0D108BD9-81ED-4DB2-BD59-A6C34878D82A}">
                    <a16:rowId xmlns="" xmlns:a16="http://schemas.microsoft.com/office/drawing/2014/main" val="10003"/>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4 </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Valuation and Risk Models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36832050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a:xfrm>
            <a:off x="431800" y="1796820"/>
            <a:ext cx="5352055" cy="4696056"/>
          </a:xfrm>
        </p:spPr>
        <p:txBody>
          <a:bodyPr>
            <a:normAutofit/>
          </a:bodyPr>
          <a:lstStyle/>
          <a:p>
            <a:r>
              <a:rPr lang="en-US" altLang="zh-CN" dirty="0" smtClean="0">
                <a:solidFill>
                  <a:schemeClr val="accent6">
                    <a:lumMod val="75000"/>
                  </a:schemeClr>
                </a:solidFill>
                <a:latin typeface="+mn-lt"/>
                <a:ea typeface="+mn-ea"/>
                <a:cs typeface="+mn-ea"/>
                <a:sym typeface="+mn-lt"/>
              </a:rPr>
              <a:t>Financial Institutions</a:t>
            </a:r>
          </a:p>
          <a:p>
            <a:pPr lvl="1"/>
            <a:r>
              <a:rPr lang="en-US" altLang="zh-CN" sz="2200" dirty="0" smtClean="0">
                <a:solidFill>
                  <a:schemeClr val="tx1"/>
                </a:solidFill>
                <a:latin typeface="+mn-lt"/>
                <a:ea typeface="+mn-ea"/>
                <a:cs typeface="+mn-ea"/>
                <a:sym typeface="+mn-lt"/>
              </a:rPr>
              <a:t>Banks</a:t>
            </a:r>
          </a:p>
          <a:p>
            <a:pPr lvl="1"/>
            <a:r>
              <a:rPr lang="en-US" altLang="zh-CN" sz="2200" dirty="0" smtClean="0">
                <a:solidFill>
                  <a:schemeClr val="tx1"/>
                </a:solidFill>
                <a:latin typeface="+mn-lt"/>
                <a:ea typeface="+mn-ea"/>
                <a:cs typeface="+mn-ea"/>
                <a:sym typeface="+mn-lt"/>
              </a:rPr>
              <a:t>Insurance Companies and Pension plan</a:t>
            </a:r>
          </a:p>
          <a:p>
            <a:pPr lvl="1"/>
            <a:r>
              <a:rPr lang="en-US" altLang="zh-CN" sz="2200" dirty="0" smtClean="0">
                <a:solidFill>
                  <a:schemeClr val="tx1"/>
                </a:solidFill>
                <a:latin typeface="+mn-lt"/>
                <a:ea typeface="+mn-ea"/>
                <a:cs typeface="+mn-ea"/>
                <a:sym typeface="+mn-lt"/>
              </a:rPr>
              <a:t>Mutual </a:t>
            </a:r>
            <a:r>
              <a:rPr lang="en-US" altLang="zh-CN" sz="2200" dirty="0">
                <a:solidFill>
                  <a:schemeClr val="tx1"/>
                </a:solidFill>
                <a:latin typeface="+mn-lt"/>
                <a:ea typeface="+mn-ea"/>
                <a:cs typeface="+mn-ea"/>
                <a:sym typeface="+mn-lt"/>
              </a:rPr>
              <a:t>Funds and Hedge </a:t>
            </a:r>
            <a:r>
              <a:rPr lang="en-US" altLang="zh-CN" sz="2200" dirty="0" smtClean="0">
                <a:solidFill>
                  <a:schemeClr val="tx1"/>
                </a:solidFill>
                <a:latin typeface="+mn-lt"/>
                <a:ea typeface="+mn-ea"/>
                <a:cs typeface="+mn-ea"/>
                <a:sym typeface="+mn-lt"/>
              </a:rPr>
              <a:t>Funds</a:t>
            </a:r>
            <a:endParaRPr lang="en-US" altLang="zh-CN" sz="2200" dirty="0">
              <a:solidFill>
                <a:schemeClr val="tx1"/>
              </a:solidFill>
              <a:latin typeface="+mn-lt"/>
              <a:ea typeface="+mn-ea"/>
              <a:cs typeface="+mn-ea"/>
              <a:sym typeface="+mn-lt"/>
            </a:endParaRPr>
          </a:p>
          <a:p>
            <a:pPr lvl="1"/>
            <a:endParaRPr lang="en-US" altLang="zh-CN" dirty="0">
              <a:latin typeface="+mn-lt"/>
              <a:ea typeface="+mn-ea"/>
              <a:cs typeface="+mn-ea"/>
              <a:sym typeface="+mn-lt"/>
            </a:endParaRPr>
          </a:p>
          <a:p>
            <a:endParaRPr lang="zh-CN" altLang="en-US" b="0" dirty="0">
              <a:latin typeface="+mn-lt"/>
              <a:ea typeface="+mn-ea"/>
              <a:cs typeface="+mn-ea"/>
              <a:sym typeface="+mn-lt"/>
            </a:endParaRPr>
          </a:p>
        </p:txBody>
      </p:sp>
      <p:sp>
        <p:nvSpPr>
          <p:cNvPr id="3" name="文本占位符 1"/>
          <p:cNvSpPr txBox="1">
            <a:spLocks/>
          </p:cNvSpPr>
          <p:nvPr/>
        </p:nvSpPr>
        <p:spPr>
          <a:xfrm>
            <a:off x="6136701" y="1796820"/>
            <a:ext cx="5352055" cy="4696056"/>
          </a:xfrm>
          <a:prstGeom prst="rect">
            <a:avLst/>
          </a:prstGeom>
        </p:spPr>
        <p:txBody>
          <a:bodyPr vert="horz" lIns="91440" tIns="45720" rIns="91440" bIns="45720" rtlCol="0">
            <a:normAutofit lnSpcReduction="10000"/>
          </a:bodyPr>
          <a:lstStyle>
            <a:lvl1pPr marL="457189" indent="-457189" algn="l" defTabSz="1219170" rtl="0" eaLnBrk="1" latinLnBrk="0" hangingPunct="1">
              <a:lnSpc>
                <a:spcPct val="120000"/>
              </a:lnSpc>
              <a:spcBef>
                <a:spcPts val="0"/>
              </a:spcBef>
              <a:buFont typeface="Wingdings" panose="05000000000000000000" pitchFamily="2" charset="2"/>
              <a:buChar char="Ø"/>
              <a:defRPr sz="2400" b="1" i="0" kern="1200" baseline="0">
                <a:solidFill>
                  <a:srgbClr val="7030A0"/>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1"/>
            <a:r>
              <a:rPr lang="en-US" altLang="zh-CN" sz="2200" dirty="0" smtClean="0">
                <a:solidFill>
                  <a:schemeClr val="tx1"/>
                </a:solidFill>
                <a:latin typeface="+mn-lt"/>
                <a:ea typeface="+mn-ea"/>
                <a:cs typeface="+mn-ea"/>
                <a:sym typeface="+mn-lt"/>
              </a:rPr>
              <a:t>Swaps</a:t>
            </a:r>
          </a:p>
          <a:p>
            <a:pPr lvl="1"/>
            <a:r>
              <a:rPr lang="en-US" altLang="zh-CN" sz="2200" dirty="0" smtClean="0">
                <a:solidFill>
                  <a:schemeClr val="tx1"/>
                </a:solidFill>
                <a:latin typeface="+mn-lt"/>
                <a:ea typeface="+mn-ea"/>
                <a:cs typeface="+mn-ea"/>
                <a:sym typeface="+mn-lt"/>
              </a:rPr>
              <a:t>Options Markets</a:t>
            </a:r>
          </a:p>
          <a:p>
            <a:pPr lvl="1"/>
            <a:r>
              <a:rPr lang="en-US" altLang="zh-CN" sz="2200" dirty="0" smtClean="0">
                <a:solidFill>
                  <a:schemeClr val="tx1"/>
                </a:solidFill>
                <a:latin typeface="+mn-lt"/>
                <a:ea typeface="+mn-ea"/>
                <a:cs typeface="+mn-ea"/>
                <a:sym typeface="+mn-lt"/>
              </a:rPr>
              <a:t>Properties of Stock Options</a:t>
            </a:r>
          </a:p>
          <a:p>
            <a:pPr lvl="1"/>
            <a:r>
              <a:rPr lang="en-US" altLang="zh-CN" sz="2200" dirty="0" smtClean="0">
                <a:solidFill>
                  <a:schemeClr val="tx1"/>
                </a:solidFill>
                <a:latin typeface="+mn-lt"/>
                <a:ea typeface="+mn-ea"/>
                <a:cs typeface="+mn-ea"/>
                <a:sym typeface="+mn-lt"/>
              </a:rPr>
              <a:t>Trading Strategies </a:t>
            </a:r>
          </a:p>
          <a:p>
            <a:pPr lvl="1"/>
            <a:r>
              <a:rPr lang="en-US" altLang="zh-CN" sz="2200" dirty="0" smtClean="0">
                <a:solidFill>
                  <a:schemeClr val="tx1"/>
                </a:solidFill>
                <a:latin typeface="+mn-lt"/>
                <a:ea typeface="+mn-ea"/>
                <a:cs typeface="+mn-ea"/>
                <a:sym typeface="+mn-lt"/>
              </a:rPr>
              <a:t>Exotic Options</a:t>
            </a:r>
          </a:p>
          <a:p>
            <a:pPr lvl="1"/>
            <a:r>
              <a:rPr lang="en-US" altLang="zh-CN" sz="2200" dirty="0" smtClean="0">
                <a:solidFill>
                  <a:schemeClr val="tx1"/>
                </a:solidFill>
                <a:latin typeface="+mn-lt"/>
                <a:ea typeface="+mn-ea"/>
                <a:cs typeface="+mn-ea"/>
                <a:sym typeface="+mn-lt"/>
              </a:rPr>
              <a:t>Commodity Forwards and futures</a:t>
            </a:r>
          </a:p>
          <a:p>
            <a:pPr lvl="1"/>
            <a:r>
              <a:rPr lang="en-US" altLang="zh-CN" sz="2200" dirty="0" smtClean="0">
                <a:solidFill>
                  <a:schemeClr val="tx1"/>
                </a:solidFill>
                <a:latin typeface="+mn-lt"/>
                <a:ea typeface="+mn-ea"/>
                <a:cs typeface="+mn-ea"/>
                <a:sym typeface="+mn-lt"/>
              </a:rPr>
              <a:t>EX,OTC,DPCs and SPVs</a:t>
            </a:r>
          </a:p>
          <a:p>
            <a:pPr lvl="1"/>
            <a:r>
              <a:rPr lang="en-US" altLang="zh-CN" sz="2200" dirty="0">
                <a:solidFill>
                  <a:schemeClr val="tx1"/>
                </a:solidFill>
                <a:latin typeface="+mn-lt"/>
                <a:ea typeface="+mn-ea"/>
                <a:cs typeface="+mn-ea"/>
                <a:sym typeface="+mn-lt"/>
              </a:rPr>
              <a:t>Basic Principles of Central </a:t>
            </a:r>
            <a:r>
              <a:rPr lang="en-US" altLang="zh-CN" sz="2200" dirty="0" smtClean="0">
                <a:solidFill>
                  <a:schemeClr val="tx1"/>
                </a:solidFill>
                <a:latin typeface="+mn-lt"/>
                <a:ea typeface="+mn-ea"/>
                <a:cs typeface="+mn-ea"/>
                <a:sym typeface="+mn-lt"/>
              </a:rPr>
              <a:t>Clearing</a:t>
            </a:r>
          </a:p>
          <a:p>
            <a:pPr lvl="1"/>
            <a:r>
              <a:rPr lang="en-US" altLang="zh-CN" sz="2200" dirty="0" smtClean="0">
                <a:solidFill>
                  <a:schemeClr val="tx1"/>
                </a:solidFill>
                <a:latin typeface="+mn-lt"/>
                <a:ea typeface="+mn-ea"/>
                <a:cs typeface="+mn-ea"/>
                <a:sym typeface="+mn-lt"/>
              </a:rPr>
              <a:t>Foreign Exchange Risk</a:t>
            </a:r>
          </a:p>
          <a:p>
            <a:pPr lvl="1"/>
            <a:r>
              <a:rPr lang="en-US" altLang="zh-CN" sz="2200" dirty="0" smtClean="0">
                <a:solidFill>
                  <a:schemeClr val="tx1"/>
                </a:solidFill>
                <a:latin typeface="+mn-lt"/>
                <a:ea typeface="+mn-ea"/>
                <a:cs typeface="+mn-ea"/>
                <a:sym typeface="+mn-lt"/>
              </a:rPr>
              <a:t>Corporate Bonds</a:t>
            </a:r>
          </a:p>
          <a:p>
            <a:pPr lvl="1"/>
            <a:r>
              <a:rPr lang="en-US" altLang="zh-CN" sz="2200" dirty="0" smtClean="0">
                <a:solidFill>
                  <a:schemeClr val="tx1"/>
                </a:solidFill>
                <a:latin typeface="+mn-lt"/>
                <a:ea typeface="+mn-ea"/>
                <a:cs typeface="+mn-ea"/>
                <a:sym typeface="+mn-lt"/>
              </a:rPr>
              <a:t>MBS</a:t>
            </a:r>
          </a:p>
          <a:p>
            <a:pPr lvl="1"/>
            <a:endParaRPr lang="en-US" altLang="zh-CN" dirty="0" smtClean="0">
              <a:latin typeface="+mn-lt"/>
              <a:ea typeface="+mn-ea"/>
              <a:cs typeface="+mn-ea"/>
              <a:sym typeface="+mn-lt"/>
            </a:endParaRPr>
          </a:p>
          <a:p>
            <a:endParaRPr lang="zh-CN" altLang="en-US" dirty="0">
              <a:latin typeface="+mn-lt"/>
              <a:ea typeface="+mn-ea"/>
              <a:cs typeface="+mn-ea"/>
              <a:sym typeface="+mn-lt"/>
            </a:endParaRPr>
          </a:p>
        </p:txBody>
      </p:sp>
      <p:sp>
        <p:nvSpPr>
          <p:cNvPr id="4" name="文本占位符 1"/>
          <p:cNvSpPr txBox="1">
            <a:spLocks/>
          </p:cNvSpPr>
          <p:nvPr/>
        </p:nvSpPr>
        <p:spPr>
          <a:xfrm>
            <a:off x="431799" y="3848960"/>
            <a:ext cx="5352055" cy="2849295"/>
          </a:xfrm>
          <a:prstGeom prst="rect">
            <a:avLst/>
          </a:prstGeom>
        </p:spPr>
        <p:txBody>
          <a:bodyPr vert="horz" lIns="91440" tIns="45720" rIns="91440" bIns="45720" rtlCol="0">
            <a:normAutofit lnSpcReduction="10000"/>
          </a:bodyPr>
          <a:lstStyle>
            <a:lvl1pPr marL="457189" indent="-457189" algn="l" defTabSz="1219170" rtl="0" eaLnBrk="1" latinLnBrk="0" hangingPunct="1">
              <a:lnSpc>
                <a:spcPct val="120000"/>
              </a:lnSpc>
              <a:spcBef>
                <a:spcPts val="0"/>
              </a:spcBef>
              <a:buFont typeface="Wingdings" panose="05000000000000000000" pitchFamily="2" charset="2"/>
              <a:buChar char="Ø"/>
              <a:defRPr sz="2400" b="1" i="0" kern="1200" baseline="0">
                <a:solidFill>
                  <a:srgbClr val="7030A0"/>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altLang="zh-CN" dirty="0" smtClean="0">
                <a:solidFill>
                  <a:schemeClr val="accent6">
                    <a:lumMod val="75000"/>
                  </a:schemeClr>
                </a:solidFill>
                <a:latin typeface="+mn-lt"/>
                <a:ea typeface="+mn-ea"/>
                <a:cs typeface="+mn-ea"/>
                <a:sym typeface="+mn-lt"/>
              </a:rPr>
              <a:t>Financial Products</a:t>
            </a:r>
          </a:p>
          <a:p>
            <a:pPr lvl="1"/>
            <a:r>
              <a:rPr lang="en-US" altLang="zh-CN" sz="2200" dirty="0" smtClean="0">
                <a:solidFill>
                  <a:schemeClr val="tx1"/>
                </a:solidFill>
                <a:latin typeface="+mn-lt"/>
                <a:ea typeface="+mn-ea"/>
                <a:cs typeface="+mn-ea"/>
                <a:sym typeface="+mn-lt"/>
              </a:rPr>
              <a:t>Introduction </a:t>
            </a:r>
          </a:p>
          <a:p>
            <a:pPr lvl="1"/>
            <a:r>
              <a:rPr lang="en-US" altLang="zh-CN" sz="2200" dirty="0">
                <a:solidFill>
                  <a:schemeClr val="tx1"/>
                </a:solidFill>
                <a:latin typeface="+mn-lt"/>
                <a:ea typeface="+mn-ea"/>
                <a:cs typeface="+mn-ea"/>
                <a:sym typeface="+mn-lt"/>
              </a:rPr>
              <a:t>Mechanics of Futures </a:t>
            </a:r>
            <a:r>
              <a:rPr lang="en-US" altLang="zh-CN" sz="2200" dirty="0" smtClean="0">
                <a:solidFill>
                  <a:schemeClr val="tx1"/>
                </a:solidFill>
                <a:latin typeface="+mn-lt"/>
                <a:ea typeface="+mn-ea"/>
                <a:cs typeface="+mn-ea"/>
                <a:sym typeface="+mn-lt"/>
              </a:rPr>
              <a:t>Markets</a:t>
            </a:r>
          </a:p>
          <a:p>
            <a:pPr lvl="1"/>
            <a:r>
              <a:rPr lang="en-US" altLang="zh-CN" sz="2200" dirty="0">
                <a:solidFill>
                  <a:schemeClr val="tx1"/>
                </a:solidFill>
                <a:latin typeface="+mn-lt"/>
                <a:ea typeface="+mn-ea"/>
                <a:cs typeface="+mn-ea"/>
                <a:sym typeface="+mn-lt"/>
              </a:rPr>
              <a:t>Hedging Strategies </a:t>
            </a:r>
          </a:p>
          <a:p>
            <a:pPr lvl="1"/>
            <a:r>
              <a:rPr lang="en-US" altLang="zh-CN" sz="2200" dirty="0">
                <a:solidFill>
                  <a:schemeClr val="tx1"/>
                </a:solidFill>
                <a:latin typeface="+mn-lt"/>
                <a:ea typeface="+mn-ea"/>
                <a:cs typeface="+mn-ea"/>
                <a:sym typeface="+mn-lt"/>
              </a:rPr>
              <a:t>Interest Rate</a:t>
            </a:r>
          </a:p>
          <a:p>
            <a:pPr lvl="1"/>
            <a:r>
              <a:rPr lang="en-US" altLang="zh-CN" sz="2200" dirty="0" smtClean="0">
                <a:solidFill>
                  <a:schemeClr val="tx1"/>
                </a:solidFill>
                <a:latin typeface="+mn-lt"/>
                <a:ea typeface="+mn-ea"/>
                <a:cs typeface="+mn-ea"/>
                <a:sym typeface="+mn-lt"/>
              </a:rPr>
              <a:t>Forward and Future Prices</a:t>
            </a:r>
          </a:p>
          <a:p>
            <a:pPr lvl="1"/>
            <a:r>
              <a:rPr lang="en-US" altLang="zh-CN" sz="2200" dirty="0" smtClean="0">
                <a:solidFill>
                  <a:schemeClr val="tx1"/>
                </a:solidFill>
                <a:latin typeface="+mn-lt"/>
                <a:ea typeface="+mn-ea"/>
                <a:cs typeface="+mn-ea"/>
                <a:sym typeface="+mn-lt"/>
              </a:rPr>
              <a:t>Interest Rate Futures</a:t>
            </a:r>
          </a:p>
          <a:p>
            <a:pPr lvl="1"/>
            <a:endParaRPr lang="en-US" altLang="zh-CN" dirty="0" smtClean="0">
              <a:solidFill>
                <a:schemeClr val="tx1"/>
              </a:solidFill>
              <a:latin typeface="+mn-lt"/>
              <a:ea typeface="+mn-ea"/>
              <a:cs typeface="+mn-ea"/>
              <a:sym typeface="+mn-lt"/>
            </a:endParaRPr>
          </a:p>
          <a:p>
            <a:pPr lvl="1"/>
            <a:endParaRPr lang="en-US" altLang="zh-CN" dirty="0" smtClean="0">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3661900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dirty="0" smtClean="0">
                <a:solidFill>
                  <a:schemeClr val="tx1"/>
                </a:solidFill>
                <a:latin typeface="+mn-lt"/>
                <a:ea typeface="+mn-ea"/>
                <a:cs typeface="+mn-ea"/>
                <a:sym typeface="+mn-lt"/>
              </a:rPr>
              <a:t>Financial Institutions</a:t>
            </a:r>
            <a:endParaRPr lang="zh-CN" altLang="en-US"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4" y="2688032"/>
            <a:ext cx="2598386" cy="1797085"/>
          </a:xfrm>
        </p:spPr>
        <p:txBody>
          <a:bodyPr/>
          <a:lstStyle/>
          <a:p>
            <a:r>
              <a:rPr lang="en-US" altLang="zh-CN" i="0" dirty="0" smtClean="0">
                <a:solidFill>
                  <a:srgbClr val="002060"/>
                </a:solidFill>
                <a:latin typeface="+mn-lt"/>
                <a:ea typeface="+mn-ea"/>
                <a:cs typeface="+mn-ea"/>
                <a:sym typeface="+mn-lt"/>
              </a:rPr>
              <a:t>Banks</a:t>
            </a:r>
            <a:endParaRPr lang="zh-CN" altLang="en-US" i="0" dirty="0">
              <a:solidFill>
                <a:srgbClr val="002060"/>
              </a:solidFill>
              <a:latin typeface="+mn-lt"/>
              <a:ea typeface="+mn-ea"/>
              <a:cs typeface="+mn-ea"/>
              <a:sym typeface="+mn-lt"/>
            </a:endParaRPr>
          </a:p>
        </p:txBody>
      </p:sp>
    </p:spTree>
    <p:extLst>
      <p:ext uri="{BB962C8B-B14F-4D97-AF65-F5344CB8AC3E}">
        <p14:creationId xmlns:p14="http://schemas.microsoft.com/office/powerpoint/2010/main" val="3781287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The Risks Facing Banks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sz="2600" dirty="0">
                <a:latin typeface="+mn-lt"/>
                <a:ea typeface="+mn-ea"/>
                <a:cs typeface="+mn-ea"/>
                <a:sym typeface="+mn-lt"/>
              </a:rPr>
              <a:t>Credit Risk</a:t>
            </a:r>
          </a:p>
          <a:p>
            <a:pPr lvl="1"/>
            <a:r>
              <a:rPr lang="en-US" altLang="zh-CN" dirty="0">
                <a:solidFill>
                  <a:schemeClr val="tx1"/>
                </a:solidFill>
                <a:latin typeface="+mn-lt"/>
                <a:ea typeface="+mn-ea"/>
                <a:cs typeface="+mn-ea"/>
                <a:sym typeface="+mn-lt"/>
              </a:rPr>
              <a:t>Credit risk is the risk that counterparties in a loan transactions and derivatives transactions </a:t>
            </a:r>
            <a:r>
              <a:rPr lang="en-US" altLang="zh-CN" dirty="0">
                <a:solidFill>
                  <a:srgbClr val="FF0000"/>
                </a:solidFill>
                <a:latin typeface="+mn-lt"/>
                <a:ea typeface="+mn-ea"/>
                <a:cs typeface="+mn-ea"/>
                <a:sym typeface="+mn-lt"/>
              </a:rPr>
              <a:t>will default</a:t>
            </a:r>
            <a:r>
              <a:rPr lang="en-US" altLang="zh-CN" dirty="0">
                <a:solidFill>
                  <a:schemeClr val="tx1"/>
                </a:solidFill>
                <a:latin typeface="+mn-lt"/>
                <a:ea typeface="+mn-ea"/>
                <a:cs typeface="+mn-ea"/>
                <a:sym typeface="+mn-lt"/>
              </a:rPr>
              <a:t>.</a:t>
            </a:r>
          </a:p>
          <a:p>
            <a:pPr lvl="1"/>
            <a:r>
              <a:rPr lang="en-US" altLang="zh-CN" dirty="0">
                <a:solidFill>
                  <a:schemeClr val="tx1"/>
                </a:solidFill>
                <a:latin typeface="+mn-lt"/>
                <a:ea typeface="+mn-ea"/>
                <a:cs typeface="+mn-ea"/>
                <a:sym typeface="+mn-lt"/>
              </a:rPr>
              <a:t>Greatest risk facing a bank and is usually the one for which the most </a:t>
            </a:r>
            <a:r>
              <a:rPr lang="en-US" altLang="zh-CN" dirty="0">
                <a:latin typeface="+mn-lt"/>
                <a:ea typeface="+mn-ea"/>
                <a:cs typeface="+mn-ea"/>
                <a:sym typeface="+mn-lt"/>
              </a:rPr>
              <a:t>regulatory capital is required</a:t>
            </a:r>
            <a:r>
              <a:rPr lang="en-US" altLang="zh-CN" dirty="0" smtClean="0">
                <a:latin typeface="+mn-lt"/>
                <a:ea typeface="+mn-ea"/>
                <a:cs typeface="+mn-ea"/>
                <a:sym typeface="+mn-lt"/>
              </a:rPr>
              <a:t>.</a:t>
            </a:r>
          </a:p>
          <a:p>
            <a:r>
              <a:rPr lang="en-US" altLang="zh-CN" sz="2600" dirty="0">
                <a:latin typeface="+mn-lt"/>
                <a:ea typeface="+mn-ea"/>
                <a:cs typeface="+mn-ea"/>
                <a:sym typeface="+mn-lt"/>
              </a:rPr>
              <a:t>Market Risk</a:t>
            </a:r>
          </a:p>
          <a:p>
            <a:pPr lvl="1"/>
            <a:r>
              <a:rPr lang="en-US" altLang="zh-CN" dirty="0">
                <a:solidFill>
                  <a:schemeClr val="tx1"/>
                </a:solidFill>
                <a:latin typeface="+mn-lt"/>
                <a:ea typeface="+mn-ea"/>
                <a:cs typeface="+mn-ea"/>
                <a:sym typeface="+mn-lt"/>
              </a:rPr>
              <a:t>Market risk arises primarily from the </a:t>
            </a:r>
            <a:r>
              <a:rPr lang="en-US" altLang="zh-CN" u="sng" dirty="0">
                <a:solidFill>
                  <a:schemeClr val="tx1"/>
                </a:solidFill>
                <a:latin typeface="+mn-lt"/>
                <a:ea typeface="+mn-ea"/>
                <a:cs typeface="+mn-ea"/>
                <a:sym typeface="+mn-lt"/>
              </a:rPr>
              <a:t>bank’s trading operations</a:t>
            </a:r>
            <a:r>
              <a:rPr lang="en-US" altLang="zh-CN" dirty="0">
                <a:solidFill>
                  <a:schemeClr val="tx1"/>
                </a:solidFill>
                <a:latin typeface="+mn-lt"/>
                <a:ea typeface="+mn-ea"/>
                <a:cs typeface="+mn-ea"/>
                <a:sym typeface="+mn-lt"/>
              </a:rPr>
              <a:t>.(trading book will decline in value</a:t>
            </a:r>
            <a:r>
              <a:rPr lang="en-US" altLang="zh-CN" dirty="0" smtClean="0">
                <a:solidFill>
                  <a:schemeClr val="tx1"/>
                </a:solidFill>
                <a:latin typeface="+mn-lt"/>
                <a:ea typeface="+mn-ea"/>
                <a:cs typeface="+mn-ea"/>
                <a:sym typeface="+mn-lt"/>
              </a:rPr>
              <a:t>)</a:t>
            </a:r>
          </a:p>
          <a:p>
            <a:r>
              <a:rPr lang="en-US" altLang="zh-CN" sz="2600" dirty="0" smtClean="0">
                <a:latin typeface="+mn-lt"/>
                <a:ea typeface="+mn-ea"/>
                <a:cs typeface="+mn-ea"/>
                <a:sym typeface="+mn-lt"/>
              </a:rPr>
              <a:t>Operational Risk</a:t>
            </a:r>
          </a:p>
          <a:p>
            <a:pPr lvl="1"/>
            <a:r>
              <a:rPr lang="en-US" altLang="zh-CN" dirty="0" smtClean="0">
                <a:solidFill>
                  <a:schemeClr val="tx1"/>
                </a:solidFill>
                <a:latin typeface="+mn-lt"/>
                <a:ea typeface="+mn-ea"/>
                <a:cs typeface="+mn-ea"/>
                <a:sym typeface="+mn-lt"/>
              </a:rPr>
              <a:t>The risk that losses are made because </a:t>
            </a:r>
            <a:r>
              <a:rPr lang="en-US" altLang="zh-CN" u="sng" dirty="0" smtClean="0">
                <a:solidFill>
                  <a:schemeClr val="tx1"/>
                </a:solidFill>
                <a:latin typeface="+mn-lt"/>
                <a:ea typeface="+mn-ea"/>
                <a:cs typeface="+mn-ea"/>
                <a:sym typeface="+mn-lt"/>
              </a:rPr>
              <a:t>internal systems </a:t>
            </a:r>
            <a:r>
              <a:rPr lang="en-US" altLang="zh-CN" dirty="0" smtClean="0">
                <a:solidFill>
                  <a:schemeClr val="tx1"/>
                </a:solidFill>
                <a:latin typeface="+mn-lt"/>
                <a:ea typeface="+mn-ea"/>
                <a:cs typeface="+mn-ea"/>
                <a:sym typeface="+mn-lt"/>
              </a:rPr>
              <a:t>fail to work or because of </a:t>
            </a:r>
            <a:r>
              <a:rPr lang="en-US" altLang="zh-CN" u="sng" dirty="0" smtClean="0">
                <a:solidFill>
                  <a:schemeClr val="tx1"/>
                </a:solidFill>
                <a:latin typeface="+mn-lt"/>
                <a:ea typeface="+mn-ea"/>
                <a:cs typeface="+mn-ea"/>
                <a:sym typeface="+mn-lt"/>
              </a:rPr>
              <a:t>external events</a:t>
            </a:r>
            <a:r>
              <a:rPr lang="en-US" altLang="zh-CN" dirty="0" smtClean="0">
                <a:solidFill>
                  <a:schemeClr val="tx1"/>
                </a:solidFill>
                <a:latin typeface="+mn-lt"/>
                <a:ea typeface="+mn-ea"/>
                <a:cs typeface="+mn-ea"/>
                <a:sym typeface="+mn-lt"/>
              </a:rPr>
              <a:t>.</a:t>
            </a:r>
            <a:endParaRPr lang="en-US" altLang="zh-CN" dirty="0">
              <a:solidFill>
                <a:schemeClr val="tx1"/>
              </a:solidFill>
              <a:latin typeface="+mn-lt"/>
              <a:ea typeface="+mn-ea"/>
              <a:cs typeface="+mn-ea"/>
              <a:sym typeface="+mn-lt"/>
            </a:endParaRPr>
          </a:p>
          <a:p>
            <a:endParaRPr lang="en-US" altLang="zh-CN" dirty="0" smtClean="0">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29590830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Capital Management</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85000" lnSpcReduction="20000"/>
          </a:bodyPr>
          <a:lstStyle/>
          <a:p>
            <a:r>
              <a:rPr lang="en-US" altLang="zh-CN" sz="2800" dirty="0">
                <a:latin typeface="+mn-lt"/>
                <a:ea typeface="+mn-ea"/>
                <a:cs typeface="+mn-ea"/>
                <a:sym typeface="+mn-lt"/>
              </a:rPr>
              <a:t>Economic capital </a:t>
            </a:r>
            <a:endParaRPr lang="en-US" altLang="zh-CN" sz="2800" dirty="0" smtClean="0">
              <a:latin typeface="+mn-lt"/>
              <a:ea typeface="+mn-ea"/>
              <a:cs typeface="+mn-ea"/>
              <a:sym typeface="+mn-lt"/>
            </a:endParaRPr>
          </a:p>
          <a:p>
            <a:pPr lvl="1"/>
            <a:r>
              <a:rPr lang="en-US" altLang="zh-CN" dirty="0" smtClean="0">
                <a:solidFill>
                  <a:schemeClr val="tx1"/>
                </a:solidFill>
                <a:latin typeface="+mn-lt"/>
                <a:ea typeface="+mn-ea"/>
                <a:cs typeface="+mn-ea"/>
                <a:sym typeface="+mn-lt"/>
              </a:rPr>
              <a:t>This </a:t>
            </a:r>
            <a:r>
              <a:rPr lang="en-US" altLang="zh-CN" dirty="0">
                <a:solidFill>
                  <a:schemeClr val="tx1"/>
                </a:solidFill>
                <a:latin typeface="+mn-lt"/>
                <a:ea typeface="+mn-ea"/>
                <a:cs typeface="+mn-ea"/>
                <a:sym typeface="+mn-lt"/>
              </a:rPr>
              <a:t>is the capital that the bank, </a:t>
            </a:r>
            <a:r>
              <a:rPr lang="en-US" altLang="zh-CN" u="sng" dirty="0">
                <a:solidFill>
                  <a:schemeClr val="tx1"/>
                </a:solidFill>
                <a:latin typeface="+mn-lt"/>
                <a:ea typeface="+mn-ea"/>
                <a:cs typeface="+mn-ea"/>
                <a:sym typeface="+mn-lt"/>
              </a:rPr>
              <a:t>using its own models rather than those </a:t>
            </a:r>
            <a:r>
              <a:rPr lang="en-US" altLang="zh-CN" u="sng" dirty="0" smtClean="0">
                <a:solidFill>
                  <a:schemeClr val="tx1"/>
                </a:solidFill>
                <a:latin typeface="+mn-lt"/>
                <a:ea typeface="+mn-ea"/>
                <a:cs typeface="+mn-ea"/>
                <a:sym typeface="+mn-lt"/>
              </a:rPr>
              <a:t>prescribed</a:t>
            </a:r>
            <a:r>
              <a:rPr lang="zh-CN" altLang="en-US" sz="2100" u="sng" dirty="0" smtClean="0">
                <a:solidFill>
                  <a:schemeClr val="tx1"/>
                </a:solidFill>
                <a:latin typeface="+mn-lt"/>
                <a:ea typeface="+mn-ea"/>
                <a:cs typeface="+mn-ea"/>
                <a:sym typeface="+mn-lt"/>
              </a:rPr>
              <a:t>（规定的）</a:t>
            </a:r>
            <a:r>
              <a:rPr lang="en-US" altLang="zh-CN" sz="2100" u="sng" dirty="0" smtClean="0">
                <a:solidFill>
                  <a:schemeClr val="tx1"/>
                </a:solidFill>
                <a:latin typeface="+mn-lt"/>
                <a:ea typeface="+mn-ea"/>
                <a:cs typeface="+mn-ea"/>
                <a:sym typeface="+mn-lt"/>
              </a:rPr>
              <a:t> </a:t>
            </a:r>
            <a:r>
              <a:rPr lang="en-US" altLang="zh-CN" u="sng" dirty="0">
                <a:solidFill>
                  <a:schemeClr val="tx1"/>
                </a:solidFill>
                <a:latin typeface="+mn-lt"/>
                <a:ea typeface="+mn-ea"/>
                <a:cs typeface="+mn-ea"/>
                <a:sym typeface="+mn-lt"/>
              </a:rPr>
              <a:t>by </a:t>
            </a:r>
            <a:r>
              <a:rPr lang="en-US" altLang="zh-CN" u="sng" dirty="0" smtClean="0">
                <a:solidFill>
                  <a:schemeClr val="tx1"/>
                </a:solidFill>
                <a:latin typeface="+mn-lt"/>
                <a:ea typeface="+mn-ea"/>
                <a:cs typeface="+mn-ea"/>
                <a:sym typeface="+mn-lt"/>
              </a:rPr>
              <a:t>regulators</a:t>
            </a:r>
            <a:r>
              <a:rPr lang="en-US" altLang="zh-CN" dirty="0" smtClean="0">
                <a:solidFill>
                  <a:schemeClr val="tx1"/>
                </a:solidFill>
                <a:latin typeface="+mn-lt"/>
                <a:ea typeface="+mn-ea"/>
                <a:cs typeface="+mn-ea"/>
                <a:sym typeface="+mn-lt"/>
              </a:rPr>
              <a:t>,</a:t>
            </a:r>
          </a:p>
          <a:p>
            <a:pPr lvl="1"/>
            <a:r>
              <a:rPr lang="en-US" altLang="zh-CN" dirty="0" smtClean="0">
                <a:solidFill>
                  <a:schemeClr val="tx1"/>
                </a:solidFill>
                <a:latin typeface="+mn-lt"/>
                <a:ea typeface="+mn-ea"/>
                <a:cs typeface="+mn-ea"/>
                <a:sym typeface="+mn-lt"/>
              </a:rPr>
              <a:t>However</a:t>
            </a:r>
            <a:r>
              <a:rPr lang="en-US" altLang="zh-CN" dirty="0">
                <a:solidFill>
                  <a:schemeClr val="tx1"/>
                </a:solidFill>
                <a:latin typeface="+mn-lt"/>
                <a:ea typeface="+mn-ea"/>
                <a:cs typeface="+mn-ea"/>
                <a:sym typeface="+mn-lt"/>
              </a:rPr>
              <a:t>, banks have no choice but to maintain their capital </a:t>
            </a:r>
            <a:r>
              <a:rPr lang="en-US" altLang="zh-CN" u="sng" dirty="0">
                <a:solidFill>
                  <a:schemeClr val="tx1"/>
                </a:solidFill>
                <a:latin typeface="+mn-lt"/>
                <a:ea typeface="+mn-ea"/>
                <a:cs typeface="+mn-ea"/>
                <a:sym typeface="+mn-lt"/>
              </a:rPr>
              <a:t>above the regulatory capital level</a:t>
            </a:r>
            <a:r>
              <a:rPr lang="en-US" altLang="zh-CN" dirty="0" smtClean="0">
                <a:solidFill>
                  <a:schemeClr val="tx1"/>
                </a:solidFill>
                <a:latin typeface="+mn-lt"/>
                <a:ea typeface="+mn-ea"/>
                <a:cs typeface="+mn-ea"/>
                <a:sym typeface="+mn-lt"/>
              </a:rPr>
              <a:t>.</a:t>
            </a:r>
          </a:p>
          <a:p>
            <a:pPr>
              <a:lnSpc>
                <a:spcPct val="140000"/>
              </a:lnSpc>
              <a:defRPr/>
            </a:pPr>
            <a:r>
              <a:rPr lang="en-US" altLang="zh-CN" sz="2800" dirty="0">
                <a:latin typeface="+mn-lt"/>
                <a:ea typeface="+mn-ea"/>
                <a:cs typeface="+mn-ea"/>
                <a:sym typeface="+mn-lt"/>
              </a:rPr>
              <a:t>Regulatory </a:t>
            </a:r>
            <a:r>
              <a:rPr lang="en-US" altLang="zh-CN" sz="2800" dirty="0" smtClean="0">
                <a:latin typeface="+mn-lt"/>
                <a:ea typeface="+mn-ea"/>
                <a:cs typeface="+mn-ea"/>
                <a:sym typeface="+mn-lt"/>
              </a:rPr>
              <a:t>Capital</a:t>
            </a:r>
            <a:endParaRPr lang="en-US" altLang="zh-CN" sz="2800" dirty="0">
              <a:latin typeface="+mn-lt"/>
              <a:ea typeface="+mn-ea"/>
              <a:cs typeface="+mn-ea"/>
              <a:sym typeface="+mn-lt"/>
            </a:endParaRPr>
          </a:p>
          <a:p>
            <a:pPr marL="990576" lvl="2" indent="-457189">
              <a:buFont typeface="Wingdings" panose="05000000000000000000" pitchFamily="2" charset="2"/>
              <a:buChar char="l"/>
            </a:pPr>
            <a:r>
              <a:rPr lang="en-US" altLang="zh-CN" dirty="0">
                <a:latin typeface="+mn-lt"/>
                <a:ea typeface="+mn-ea"/>
                <a:cs typeface="+mn-ea"/>
                <a:sym typeface="+mn-lt"/>
              </a:rPr>
              <a:t>the capital required to be held by banks as a requirement </a:t>
            </a:r>
            <a:r>
              <a:rPr lang="en-US" altLang="zh-CN" dirty="0" smtClean="0">
                <a:latin typeface="+mn-lt"/>
                <a:ea typeface="+mn-ea"/>
                <a:cs typeface="+mn-ea"/>
                <a:sym typeface="+mn-lt"/>
              </a:rPr>
              <a:t>for meeting </a:t>
            </a:r>
            <a:r>
              <a:rPr lang="en-US" altLang="zh-CN" dirty="0">
                <a:latin typeface="+mn-lt"/>
                <a:ea typeface="+mn-ea"/>
                <a:cs typeface="+mn-ea"/>
                <a:sym typeface="+mn-lt"/>
              </a:rPr>
              <a:t>the </a:t>
            </a:r>
            <a:r>
              <a:rPr lang="en-US" altLang="zh-CN" u="sng" dirty="0">
                <a:latin typeface="+mn-lt"/>
                <a:ea typeface="+mn-ea"/>
                <a:cs typeface="+mn-ea"/>
                <a:sym typeface="+mn-lt"/>
              </a:rPr>
              <a:t>central bank regulators</a:t>
            </a:r>
            <a:r>
              <a:rPr lang="en-US" altLang="zh-CN" dirty="0">
                <a:latin typeface="+mn-lt"/>
                <a:ea typeface="+mn-ea"/>
                <a:cs typeface="+mn-ea"/>
                <a:sym typeface="+mn-lt"/>
              </a:rPr>
              <a:t> objective of keeping the total capital of a </a:t>
            </a:r>
            <a:r>
              <a:rPr lang="en-US" altLang="zh-CN" dirty="0" smtClean="0">
                <a:latin typeface="+mn-lt"/>
                <a:ea typeface="+mn-ea"/>
                <a:cs typeface="+mn-ea"/>
                <a:sym typeface="+mn-lt"/>
              </a:rPr>
              <a:t>bank adequately </a:t>
            </a:r>
            <a:r>
              <a:rPr lang="en-US" altLang="zh-CN" dirty="0">
                <a:latin typeface="+mn-lt"/>
                <a:ea typeface="+mn-ea"/>
                <a:cs typeface="+mn-ea"/>
                <a:sym typeface="+mn-lt"/>
              </a:rPr>
              <a:t>high, so that the chance of a bank failure is very </a:t>
            </a:r>
            <a:r>
              <a:rPr lang="en-US" altLang="zh-CN" dirty="0" smtClean="0">
                <a:latin typeface="+mn-lt"/>
                <a:ea typeface="+mn-ea"/>
                <a:cs typeface="+mn-ea"/>
                <a:sym typeface="+mn-lt"/>
              </a:rPr>
              <a:t>low.</a:t>
            </a:r>
          </a:p>
          <a:p>
            <a:pPr marL="990576" lvl="2" indent="-457189">
              <a:buFont typeface="Wingdings" panose="05000000000000000000" pitchFamily="2" charset="2"/>
              <a:buChar char="l"/>
            </a:pPr>
            <a:r>
              <a:rPr lang="en-US" altLang="zh-CN" dirty="0" smtClean="0">
                <a:effectLst>
                  <a:outerShdw blurRad="38100" dist="38100" dir="2700000" algn="tl">
                    <a:srgbClr val="000000">
                      <a:alpha val="43137"/>
                    </a:srgbClr>
                  </a:outerShdw>
                </a:effectLst>
                <a:latin typeface="+mn-lt"/>
                <a:ea typeface="+mn-ea"/>
                <a:cs typeface="+mn-ea"/>
                <a:sym typeface="+mn-lt"/>
              </a:rPr>
              <a:t>Capital </a:t>
            </a:r>
            <a:r>
              <a:rPr lang="en-US" altLang="zh-CN" dirty="0">
                <a:solidFill>
                  <a:schemeClr val="tx1"/>
                </a:solidFill>
                <a:effectLst>
                  <a:outerShdw blurRad="38100" dist="38100" dir="2700000" algn="tl">
                    <a:srgbClr val="000000">
                      <a:alpha val="43137"/>
                    </a:srgbClr>
                  </a:outerShdw>
                </a:effectLst>
                <a:latin typeface="+mn-lt"/>
                <a:ea typeface="+mn-ea"/>
                <a:cs typeface="+mn-ea"/>
                <a:sym typeface="+mn-lt"/>
              </a:rPr>
              <a:t>is required for three types of </a:t>
            </a:r>
            <a:r>
              <a:rPr lang="en-US" altLang="zh-CN" dirty="0" smtClean="0">
                <a:solidFill>
                  <a:schemeClr val="tx1"/>
                </a:solidFill>
                <a:effectLst>
                  <a:outerShdw blurRad="38100" dist="38100" dir="2700000" algn="tl">
                    <a:srgbClr val="000000">
                      <a:alpha val="43137"/>
                    </a:srgbClr>
                  </a:outerShdw>
                </a:effectLst>
                <a:latin typeface="+mn-lt"/>
                <a:ea typeface="+mn-ea"/>
                <a:cs typeface="+mn-ea"/>
                <a:sym typeface="+mn-lt"/>
              </a:rPr>
              <a:t>risk.(Basel)</a:t>
            </a:r>
          </a:p>
          <a:p>
            <a:pPr marL="990576" lvl="2" indent="-457189">
              <a:buFont typeface="Wingdings" panose="05000000000000000000" pitchFamily="2" charset="2"/>
              <a:buChar char="l"/>
            </a:pPr>
            <a:r>
              <a:rPr lang="en-US" altLang="zh-CN" dirty="0" smtClean="0">
                <a:solidFill>
                  <a:schemeClr val="tx1"/>
                </a:solidFill>
                <a:latin typeface="+mn-lt"/>
                <a:ea typeface="+mn-ea"/>
                <a:cs typeface="+mn-ea"/>
                <a:sym typeface="+mn-lt"/>
              </a:rPr>
              <a:t>The </a:t>
            </a:r>
            <a:r>
              <a:rPr lang="en-US" altLang="zh-CN" dirty="0">
                <a:solidFill>
                  <a:schemeClr val="tx1"/>
                </a:solidFill>
                <a:latin typeface="+mn-lt"/>
                <a:ea typeface="+mn-ea"/>
                <a:cs typeface="+mn-ea"/>
                <a:sym typeface="+mn-lt"/>
              </a:rPr>
              <a:t>time horizon used by regulators for considering losses from credit risks and operational risks is 1 year, whereas the time horizon for considering losses from market risks is usually much shorter</a:t>
            </a:r>
            <a:r>
              <a:rPr lang="en-US" altLang="zh-CN" dirty="0" smtClean="0">
                <a:solidFill>
                  <a:schemeClr val="tx1"/>
                </a:solidFill>
                <a:latin typeface="+mn-lt"/>
                <a:ea typeface="+mn-ea"/>
                <a:cs typeface="+mn-ea"/>
                <a:sym typeface="+mn-lt"/>
              </a:rPr>
              <a:t>.</a:t>
            </a:r>
          </a:p>
          <a:p>
            <a:pPr marL="990576" lvl="2" indent="-457189">
              <a:buFont typeface="Arial" panose="020B0604020202020204" pitchFamily="34" charset="0"/>
              <a:buChar char="•"/>
            </a:pPr>
            <a:endParaRPr lang="en-US" altLang="zh-CN" dirty="0">
              <a:solidFill>
                <a:schemeClr val="tx1"/>
              </a:solidFill>
              <a:latin typeface="+mn-lt"/>
              <a:ea typeface="+mn-ea"/>
              <a:cs typeface="+mn-ea"/>
              <a:sym typeface="+mn-lt"/>
            </a:endParaRPr>
          </a:p>
          <a:p>
            <a:pPr marL="457189" lvl="1" indent="-457189">
              <a:buFont typeface="Wingdings" panose="05000000000000000000" pitchFamily="2" charset="2"/>
              <a:buChar char="Ø"/>
            </a:pPr>
            <a:endParaRPr lang="en-US" altLang="zh-CN" dirty="0" smtClean="0">
              <a:latin typeface="+mn-lt"/>
              <a:ea typeface="+mn-ea"/>
              <a:cs typeface="+mn-ea"/>
              <a:sym typeface="+mn-lt"/>
            </a:endParaRPr>
          </a:p>
          <a:p>
            <a:endParaRPr lang="en-US" altLang="zh-CN" dirty="0">
              <a:latin typeface="+mn-lt"/>
              <a:ea typeface="+mn-ea"/>
              <a:cs typeface="+mn-ea"/>
              <a:sym typeface="+mn-lt"/>
            </a:endParaRPr>
          </a:p>
        </p:txBody>
      </p:sp>
    </p:spTree>
    <p:extLst>
      <p:ext uri="{BB962C8B-B14F-4D97-AF65-F5344CB8AC3E}">
        <p14:creationId xmlns:p14="http://schemas.microsoft.com/office/powerpoint/2010/main" val="39657090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Capital Management</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dirty="0">
                <a:effectLst>
                  <a:glow>
                    <a:schemeClr val="bg1"/>
                  </a:glow>
                </a:effectLst>
                <a:latin typeface="+mn-lt"/>
                <a:ea typeface="+mn-ea"/>
                <a:cs typeface="+mn-ea"/>
                <a:sym typeface="+mn-lt"/>
              </a:rPr>
              <a:t>Economic capital is typically (or at least often) less than regulatory capital. </a:t>
            </a:r>
          </a:p>
          <a:p>
            <a:pPr lvl="1"/>
            <a:r>
              <a:rPr lang="en-US" altLang="zh-CN" dirty="0" smtClean="0">
                <a:latin typeface="+mn-lt"/>
                <a:ea typeface="+mn-ea"/>
                <a:cs typeface="+mn-ea"/>
                <a:sym typeface="+mn-lt"/>
              </a:rPr>
              <a:t>Still banks should </a:t>
            </a:r>
            <a:r>
              <a:rPr lang="en-US" altLang="zh-CN" dirty="0">
                <a:latin typeface="+mn-lt"/>
                <a:ea typeface="+mn-ea"/>
                <a:cs typeface="+mn-ea"/>
                <a:sym typeface="+mn-lt"/>
              </a:rPr>
              <a:t>maintain their capital levels adequately above the regulatory minimum so as to </a:t>
            </a:r>
            <a:r>
              <a:rPr lang="en-US" altLang="zh-CN" dirty="0" smtClean="0">
                <a:latin typeface="+mn-lt"/>
                <a:ea typeface="+mn-ea"/>
                <a:cs typeface="+mn-ea"/>
                <a:sym typeface="+mn-lt"/>
              </a:rPr>
              <a:t>avoid having </a:t>
            </a:r>
            <a:r>
              <a:rPr lang="en-US" altLang="zh-CN" dirty="0">
                <a:latin typeface="+mn-lt"/>
                <a:ea typeface="+mn-ea"/>
                <a:cs typeface="+mn-ea"/>
                <a:sym typeface="+mn-lt"/>
              </a:rPr>
              <a:t>to raise capital at short notice when required. </a:t>
            </a:r>
            <a:endParaRPr lang="en-US" altLang="zh-CN" dirty="0" smtClean="0">
              <a:latin typeface="+mn-lt"/>
              <a:ea typeface="+mn-ea"/>
              <a:cs typeface="+mn-ea"/>
              <a:sym typeface="+mn-lt"/>
            </a:endParaRPr>
          </a:p>
        </p:txBody>
      </p:sp>
      <p:sp>
        <p:nvSpPr>
          <p:cNvPr id="4" name="文本框 3"/>
          <p:cNvSpPr txBox="1"/>
          <p:nvPr/>
        </p:nvSpPr>
        <p:spPr>
          <a:xfrm>
            <a:off x="870333" y="813469"/>
            <a:ext cx="10795864" cy="605927"/>
          </a:xfrm>
          <a:prstGeom prst="rect">
            <a:avLst/>
          </a:prstGeom>
          <a:noFill/>
          <a:ln w="31750">
            <a:solidFill>
              <a:srgbClr val="FF0000"/>
            </a:solidFill>
          </a:ln>
        </p:spPr>
        <p:txBody>
          <a:bodyPr wrap="square" rtlCol="0">
            <a:spAutoFit/>
          </a:bodyPr>
          <a:lstStyle/>
          <a:p>
            <a:endParaRPr lang="zh-CN" altLang="en-US" dirty="0">
              <a:cs typeface="+mn-ea"/>
              <a:sym typeface="+mn-lt"/>
            </a:endParaRPr>
          </a:p>
        </p:txBody>
      </p:sp>
    </p:spTree>
    <p:extLst>
      <p:ext uri="{BB962C8B-B14F-4D97-AF65-F5344CB8AC3E}">
        <p14:creationId xmlns:p14="http://schemas.microsoft.com/office/powerpoint/2010/main" val="13434236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Deposit Insurance</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dirty="0">
                <a:latin typeface="+mn-lt"/>
                <a:ea typeface="+mn-ea"/>
                <a:cs typeface="+mn-ea"/>
                <a:sym typeface="+mn-lt"/>
              </a:rPr>
              <a:t>M</a:t>
            </a:r>
            <a:r>
              <a:rPr lang="en-US" altLang="zh-CN" dirty="0" smtClean="0">
                <a:latin typeface="+mn-lt"/>
                <a:ea typeface="+mn-ea"/>
                <a:cs typeface="+mn-ea"/>
                <a:sym typeface="+mn-lt"/>
              </a:rPr>
              <a:t>oral hazard problem.</a:t>
            </a:r>
          </a:p>
          <a:p>
            <a:pPr lvl="1"/>
            <a:r>
              <a:rPr lang="en-US" altLang="zh-CN" dirty="0">
                <a:latin typeface="+mn-lt"/>
                <a:ea typeface="+mn-ea"/>
                <a:cs typeface="+mn-ea"/>
                <a:sym typeface="+mn-lt"/>
              </a:rPr>
              <a:t>As a measure of </a:t>
            </a:r>
            <a:r>
              <a:rPr lang="en-US" altLang="zh-CN" dirty="0" smtClean="0">
                <a:latin typeface="+mn-lt"/>
                <a:ea typeface="+mn-ea"/>
                <a:cs typeface="+mn-ea"/>
                <a:sym typeface="+mn-lt"/>
              </a:rPr>
              <a:t>restoring confidence </a:t>
            </a:r>
            <a:r>
              <a:rPr lang="en-US" altLang="zh-CN" dirty="0">
                <a:latin typeface="+mn-lt"/>
                <a:ea typeface="+mn-ea"/>
                <a:cs typeface="+mn-ea"/>
                <a:sym typeface="+mn-lt"/>
              </a:rPr>
              <a:t>in banks, government regulators in many countries often </a:t>
            </a:r>
            <a:r>
              <a:rPr lang="en-US" altLang="zh-CN" b="1" dirty="0" smtClean="0">
                <a:latin typeface="+mn-lt"/>
                <a:ea typeface="+mn-ea"/>
                <a:cs typeface="+mn-ea"/>
                <a:sym typeface="+mn-lt"/>
              </a:rPr>
              <a:t>insure depositors </a:t>
            </a:r>
            <a:r>
              <a:rPr lang="en-US" altLang="zh-CN" dirty="0">
                <a:latin typeface="+mn-lt"/>
                <a:ea typeface="+mn-ea"/>
                <a:cs typeface="+mn-ea"/>
                <a:sym typeface="+mn-lt"/>
              </a:rPr>
              <a:t>for losses up to a certain level under their guaranty programs</a:t>
            </a:r>
            <a:r>
              <a:rPr lang="en-US" altLang="zh-CN" dirty="0" smtClean="0">
                <a:latin typeface="+mn-lt"/>
                <a:ea typeface="+mn-ea"/>
                <a:cs typeface="+mn-ea"/>
                <a:sym typeface="+mn-lt"/>
              </a:rPr>
              <a:t>.</a:t>
            </a:r>
          </a:p>
          <a:p>
            <a:pPr lvl="1"/>
            <a:r>
              <a:rPr lang="en-US" altLang="zh-CN" dirty="0">
                <a:latin typeface="+mn-lt"/>
                <a:ea typeface="+mn-ea"/>
                <a:cs typeface="+mn-ea"/>
                <a:sym typeface="+mn-lt"/>
              </a:rPr>
              <a:t>Moral </a:t>
            </a:r>
            <a:r>
              <a:rPr lang="en-US" altLang="zh-CN" dirty="0" smtClean="0">
                <a:latin typeface="+mn-lt"/>
                <a:ea typeface="+mn-ea"/>
                <a:cs typeface="+mn-ea"/>
                <a:sym typeface="+mn-lt"/>
              </a:rPr>
              <a:t>hazard can </a:t>
            </a:r>
            <a:r>
              <a:rPr lang="en-US" altLang="zh-CN" dirty="0">
                <a:latin typeface="+mn-lt"/>
                <a:ea typeface="+mn-ea"/>
                <a:cs typeface="+mn-ea"/>
                <a:sym typeface="+mn-lt"/>
              </a:rPr>
              <a:t>be stated as the possibility that the existence of insurance changes the </a:t>
            </a:r>
            <a:r>
              <a:rPr lang="en-US" altLang="zh-CN" dirty="0" smtClean="0">
                <a:latin typeface="+mn-lt"/>
                <a:ea typeface="+mn-ea"/>
                <a:cs typeface="+mn-ea"/>
                <a:sym typeface="+mn-lt"/>
              </a:rPr>
              <a:t>behavior of </a:t>
            </a:r>
            <a:r>
              <a:rPr lang="en-US" altLang="zh-CN" dirty="0">
                <a:latin typeface="+mn-lt"/>
                <a:ea typeface="+mn-ea"/>
                <a:cs typeface="+mn-ea"/>
                <a:sym typeface="+mn-lt"/>
              </a:rPr>
              <a:t>the insured party</a:t>
            </a:r>
            <a:r>
              <a:rPr lang="en-US" altLang="zh-CN" dirty="0" smtClean="0">
                <a:latin typeface="+mn-lt"/>
                <a:ea typeface="+mn-ea"/>
                <a:cs typeface="+mn-ea"/>
                <a:sym typeface="+mn-lt"/>
              </a:rPr>
              <a:t>.</a:t>
            </a:r>
          </a:p>
          <a:p>
            <a:pPr lvl="1"/>
            <a:r>
              <a:rPr lang="en-US" altLang="zh-CN" dirty="0">
                <a:latin typeface="+mn-lt"/>
                <a:ea typeface="+mn-ea"/>
                <a:cs typeface="+mn-ea"/>
                <a:sym typeface="+mn-lt"/>
              </a:rPr>
              <a:t>Federal Deposit Insurance Corporation (FDIC) to protect depositors.</a:t>
            </a:r>
            <a:endParaRPr lang="en-US" altLang="zh-CN" dirty="0" smtClean="0">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2205920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latin typeface="+mn-lt"/>
                <a:ea typeface="+mn-ea"/>
                <a:cs typeface="+mn-ea"/>
                <a:sym typeface="+mn-lt"/>
              </a:rPr>
              <a:t>Investment Banking Financial Arrangement</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sz="2600" dirty="0">
                <a:latin typeface="+mn-lt"/>
                <a:ea typeface="+mn-ea"/>
                <a:cs typeface="+mn-ea"/>
                <a:sym typeface="+mn-lt"/>
              </a:rPr>
              <a:t>Private Placement</a:t>
            </a:r>
          </a:p>
          <a:p>
            <a:pPr lvl="1"/>
            <a:r>
              <a:rPr lang="en-US" altLang="zh-CN" dirty="0">
                <a:latin typeface="+mn-lt"/>
                <a:ea typeface="+mn-ea"/>
                <a:cs typeface="+mn-ea"/>
                <a:sym typeface="+mn-lt"/>
              </a:rPr>
              <a:t>Securities are sold to small number of large institutional investors, such as life insurance companies/pension funds, and investment bank receives a fee.</a:t>
            </a:r>
          </a:p>
          <a:p>
            <a:r>
              <a:rPr lang="en-US" altLang="zh-CN" sz="2600" dirty="0">
                <a:latin typeface="+mn-lt"/>
                <a:ea typeface="+mn-ea"/>
                <a:cs typeface="+mn-ea"/>
                <a:sym typeface="+mn-lt"/>
              </a:rPr>
              <a:t>Public Offering</a:t>
            </a:r>
          </a:p>
          <a:p>
            <a:pPr lvl="1"/>
            <a:r>
              <a:rPr lang="en-US" altLang="zh-CN" dirty="0">
                <a:latin typeface="+mn-lt"/>
                <a:ea typeface="+mn-ea"/>
                <a:cs typeface="+mn-ea"/>
                <a:sym typeface="+mn-lt"/>
              </a:rPr>
              <a:t>Securities are offered to the general public. A public offering may be on a best efforts or firm commitment basis.</a:t>
            </a:r>
          </a:p>
          <a:p>
            <a:pPr lvl="1">
              <a:buFont typeface="Wingdings" panose="05000000000000000000" pitchFamily="2" charset="2"/>
              <a:buChar char="ü"/>
            </a:pPr>
            <a:r>
              <a:rPr lang="en-US" altLang="zh-CN" b="1" dirty="0">
                <a:latin typeface="+mn-lt"/>
                <a:ea typeface="+mn-ea"/>
                <a:cs typeface="+mn-ea"/>
                <a:sym typeface="+mn-lt"/>
              </a:rPr>
              <a:t>Best </a:t>
            </a:r>
            <a:r>
              <a:rPr lang="en-US" altLang="zh-CN" b="1" dirty="0" smtClean="0">
                <a:latin typeface="+mn-lt"/>
                <a:ea typeface="+mn-ea"/>
                <a:cs typeface="+mn-ea"/>
                <a:sym typeface="+mn-lt"/>
              </a:rPr>
              <a:t>Efforts</a:t>
            </a:r>
            <a:r>
              <a:rPr lang="en-US" altLang="zh-CN" dirty="0" smtClean="0">
                <a:latin typeface="+mn-lt"/>
                <a:ea typeface="+mn-ea"/>
                <a:cs typeface="+mn-ea"/>
                <a:sym typeface="+mn-lt"/>
              </a:rPr>
              <a:t>: </a:t>
            </a:r>
            <a:r>
              <a:rPr lang="en-US" altLang="zh-CN" dirty="0">
                <a:latin typeface="+mn-lt"/>
                <a:ea typeface="+mn-ea"/>
                <a:cs typeface="+mn-ea"/>
                <a:sym typeface="+mn-lt"/>
              </a:rPr>
              <a:t>the investment bank does as well as it can to place the securities with investors and is paid a fee that depends, to some extent, on its success. </a:t>
            </a:r>
          </a:p>
          <a:p>
            <a:pPr lvl="1">
              <a:buFont typeface="Wingdings" panose="05000000000000000000" pitchFamily="2" charset="2"/>
              <a:buChar char="ü"/>
            </a:pPr>
            <a:r>
              <a:rPr lang="en-US" altLang="zh-CN" b="1" dirty="0">
                <a:latin typeface="+mn-lt"/>
                <a:ea typeface="+mn-ea"/>
                <a:cs typeface="+mn-ea"/>
                <a:sym typeface="+mn-lt"/>
              </a:rPr>
              <a:t>Firm Commitment</a:t>
            </a:r>
            <a:r>
              <a:rPr lang="en-US" altLang="zh-CN" dirty="0">
                <a:latin typeface="+mn-lt"/>
                <a:ea typeface="+mn-ea"/>
                <a:cs typeface="+mn-ea"/>
                <a:sym typeface="+mn-lt"/>
              </a:rPr>
              <a:t>: the investment bank agrees to buy the securities from the issuer at a particular price and then attempts to sell them in the market for a slightly higher </a:t>
            </a:r>
            <a:r>
              <a:rPr lang="en-US" altLang="zh-CN" dirty="0" smtClean="0">
                <a:latin typeface="+mn-lt"/>
                <a:ea typeface="+mn-ea"/>
                <a:cs typeface="+mn-ea"/>
                <a:sym typeface="+mn-lt"/>
              </a:rPr>
              <a:t>price.</a:t>
            </a:r>
            <a:r>
              <a:rPr lang="en-US" altLang="zh-CN" u="sng" dirty="0" smtClean="0">
                <a:latin typeface="+mn-lt"/>
                <a:ea typeface="+mn-ea"/>
                <a:cs typeface="+mn-ea"/>
                <a:sym typeface="+mn-lt"/>
              </a:rPr>
              <a:t>it ends up owning them itself.</a:t>
            </a:r>
            <a:endParaRPr lang="en-US" altLang="zh-CN" u="sng" dirty="0">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2181773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Potential Conflicts of Interest In Banking</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a:bodyPr>
          <a:lstStyle/>
          <a:p>
            <a:r>
              <a:rPr lang="en-US" altLang="zh-CN" b="0" dirty="0">
                <a:solidFill>
                  <a:schemeClr val="tx1"/>
                </a:solidFill>
                <a:latin typeface="+mn-lt"/>
                <a:ea typeface="+mn-ea"/>
                <a:cs typeface="+mn-ea"/>
                <a:sym typeface="+mn-lt"/>
              </a:rPr>
              <a:t>While selling advisory services to investors, a bank may promote securities that </a:t>
            </a:r>
            <a:r>
              <a:rPr lang="en-US" altLang="zh-CN" b="0" dirty="0" smtClean="0">
                <a:solidFill>
                  <a:schemeClr val="tx1"/>
                </a:solidFill>
                <a:latin typeface="+mn-lt"/>
                <a:ea typeface="+mn-ea"/>
                <a:cs typeface="+mn-ea"/>
                <a:sym typeface="+mn-lt"/>
              </a:rPr>
              <a:t>its investment </a:t>
            </a:r>
            <a:r>
              <a:rPr lang="en-US" altLang="zh-CN" dirty="0">
                <a:solidFill>
                  <a:schemeClr val="tx1"/>
                </a:solidFill>
                <a:latin typeface="+mn-lt"/>
                <a:ea typeface="+mn-ea"/>
                <a:cs typeface="+mn-ea"/>
                <a:sym typeface="+mn-lt"/>
              </a:rPr>
              <a:t>banking division is trying to sell</a:t>
            </a:r>
            <a:r>
              <a:rPr lang="en-US" altLang="zh-CN" b="0" dirty="0">
                <a:solidFill>
                  <a:schemeClr val="tx1"/>
                </a:solidFill>
                <a:latin typeface="+mn-lt"/>
                <a:ea typeface="+mn-ea"/>
                <a:cs typeface="+mn-ea"/>
                <a:sym typeface="+mn-lt"/>
              </a:rPr>
              <a:t>. </a:t>
            </a:r>
            <a:endParaRPr lang="en-US" altLang="zh-CN" b="0" dirty="0" smtClean="0">
              <a:solidFill>
                <a:schemeClr val="tx1"/>
              </a:solidFill>
              <a:latin typeface="+mn-lt"/>
              <a:ea typeface="+mn-ea"/>
              <a:cs typeface="+mn-ea"/>
              <a:sym typeface="+mn-lt"/>
            </a:endParaRPr>
          </a:p>
          <a:p>
            <a:r>
              <a:rPr lang="en-US" altLang="zh-CN" b="0" dirty="0">
                <a:solidFill>
                  <a:schemeClr val="tx1"/>
                </a:solidFill>
                <a:latin typeface="+mn-lt"/>
                <a:ea typeface="+mn-ea"/>
                <a:cs typeface="+mn-ea"/>
                <a:sym typeface="+mn-lt"/>
              </a:rPr>
              <a:t>The </a:t>
            </a:r>
            <a:r>
              <a:rPr lang="en-US" altLang="zh-CN" dirty="0">
                <a:solidFill>
                  <a:schemeClr val="tx1"/>
                </a:solidFill>
                <a:latin typeface="+mn-lt"/>
                <a:ea typeface="+mn-ea"/>
                <a:cs typeface="+mn-ea"/>
                <a:sym typeface="+mn-lt"/>
              </a:rPr>
              <a:t>confidential information </a:t>
            </a:r>
            <a:r>
              <a:rPr lang="en-US" altLang="zh-CN" b="0" dirty="0">
                <a:solidFill>
                  <a:schemeClr val="tx1"/>
                </a:solidFill>
                <a:latin typeface="+mn-lt"/>
                <a:ea typeface="+mn-ea"/>
                <a:cs typeface="+mn-ea"/>
                <a:sym typeface="+mn-lt"/>
              </a:rPr>
              <a:t>obtained about the company to which a bank lends </a:t>
            </a:r>
            <a:r>
              <a:rPr lang="en-US" altLang="zh-CN" b="0" dirty="0" smtClean="0">
                <a:solidFill>
                  <a:schemeClr val="tx1"/>
                </a:solidFill>
                <a:latin typeface="+mn-lt"/>
                <a:ea typeface="+mn-ea"/>
                <a:cs typeface="+mn-ea"/>
                <a:sym typeface="+mn-lt"/>
              </a:rPr>
              <a:t>may be </a:t>
            </a:r>
            <a:r>
              <a:rPr lang="en-US" altLang="zh-CN" b="0" dirty="0">
                <a:solidFill>
                  <a:schemeClr val="tx1"/>
                </a:solidFill>
                <a:latin typeface="+mn-lt"/>
                <a:ea typeface="+mn-ea"/>
                <a:cs typeface="+mn-ea"/>
                <a:sym typeface="+mn-lt"/>
              </a:rPr>
              <a:t>misused. </a:t>
            </a:r>
            <a:endParaRPr lang="en-US" altLang="zh-CN" b="0" dirty="0" smtClean="0">
              <a:solidFill>
                <a:schemeClr val="tx1"/>
              </a:solidFill>
              <a:latin typeface="+mn-lt"/>
              <a:ea typeface="+mn-ea"/>
              <a:cs typeface="+mn-ea"/>
              <a:sym typeface="+mn-lt"/>
            </a:endParaRPr>
          </a:p>
          <a:p>
            <a:r>
              <a:rPr lang="en-US" altLang="zh-CN" b="0" dirty="0">
                <a:solidFill>
                  <a:schemeClr val="tx1"/>
                </a:solidFill>
                <a:latin typeface="+mn-lt"/>
                <a:ea typeface="+mn-ea"/>
                <a:cs typeface="+mn-ea"/>
                <a:sym typeface="+mn-lt"/>
              </a:rPr>
              <a:t>The research side of the securities division might be </a:t>
            </a:r>
            <a:r>
              <a:rPr lang="en-US" altLang="zh-CN" b="0" dirty="0" smtClean="0">
                <a:solidFill>
                  <a:schemeClr val="tx1"/>
                </a:solidFill>
                <a:latin typeface="+mn-lt"/>
                <a:ea typeface="+mn-ea"/>
                <a:cs typeface="+mn-ea"/>
                <a:sym typeface="+mn-lt"/>
              </a:rPr>
              <a:t>enticed(</a:t>
            </a:r>
            <a:r>
              <a:rPr lang="zh-CN" altLang="en-US" sz="2200" b="0" dirty="0" smtClean="0">
                <a:solidFill>
                  <a:schemeClr val="tx1"/>
                </a:solidFill>
                <a:latin typeface="+mn-lt"/>
                <a:ea typeface="+mn-ea"/>
                <a:cs typeface="+mn-ea"/>
                <a:sym typeface="+mn-lt"/>
              </a:rPr>
              <a:t>诱使</a:t>
            </a:r>
            <a:r>
              <a:rPr lang="en-US" altLang="zh-CN" b="0" dirty="0" smtClean="0">
                <a:solidFill>
                  <a:schemeClr val="tx1"/>
                </a:solidFill>
                <a:latin typeface="+mn-lt"/>
                <a:ea typeface="+mn-ea"/>
                <a:cs typeface="+mn-ea"/>
                <a:sym typeface="+mn-lt"/>
              </a:rPr>
              <a:t>) </a:t>
            </a:r>
            <a:r>
              <a:rPr lang="en-US" altLang="zh-CN" b="0" dirty="0">
                <a:solidFill>
                  <a:schemeClr val="tx1"/>
                </a:solidFill>
                <a:latin typeface="+mn-lt"/>
                <a:ea typeface="+mn-ea"/>
                <a:cs typeface="+mn-ea"/>
                <a:sym typeface="+mn-lt"/>
              </a:rPr>
              <a:t>to rate a </a:t>
            </a:r>
            <a:r>
              <a:rPr lang="en-US" altLang="zh-CN" b="0" dirty="0" smtClean="0">
                <a:solidFill>
                  <a:schemeClr val="tx1"/>
                </a:solidFill>
                <a:latin typeface="+mn-lt"/>
                <a:ea typeface="+mn-ea"/>
                <a:cs typeface="+mn-ea"/>
                <a:sym typeface="+mn-lt"/>
              </a:rPr>
              <a:t>company's share </a:t>
            </a:r>
            <a:r>
              <a:rPr lang="en-US" altLang="zh-CN" b="0" dirty="0">
                <a:solidFill>
                  <a:schemeClr val="tx1"/>
                </a:solidFill>
                <a:latin typeface="+mn-lt"/>
                <a:ea typeface="+mn-ea"/>
                <a:cs typeface="+mn-ea"/>
                <a:sym typeface="+mn-lt"/>
              </a:rPr>
              <a:t>as a “buy”, so as to</a:t>
            </a:r>
            <a:r>
              <a:rPr lang="en-US" altLang="zh-CN" dirty="0">
                <a:solidFill>
                  <a:schemeClr val="tx1"/>
                </a:solidFill>
                <a:latin typeface="+mn-lt"/>
                <a:ea typeface="+mn-ea"/>
                <a:cs typeface="+mn-ea"/>
                <a:sym typeface="+mn-lt"/>
              </a:rPr>
              <a:t> please the company's management</a:t>
            </a:r>
            <a:r>
              <a:rPr lang="en-US" altLang="zh-CN" b="0" dirty="0">
                <a:solidFill>
                  <a:schemeClr val="tx1"/>
                </a:solidFill>
                <a:latin typeface="+mn-lt"/>
                <a:ea typeface="+mn-ea"/>
                <a:cs typeface="+mn-ea"/>
                <a:sym typeface="+mn-lt"/>
              </a:rPr>
              <a:t> and get </a:t>
            </a:r>
            <a:r>
              <a:rPr lang="en-US" altLang="zh-CN" b="0" dirty="0" smtClean="0">
                <a:solidFill>
                  <a:schemeClr val="tx1"/>
                </a:solidFill>
                <a:latin typeface="+mn-lt"/>
                <a:ea typeface="+mn-ea"/>
                <a:cs typeface="+mn-ea"/>
                <a:sym typeface="+mn-lt"/>
              </a:rPr>
              <a:t>more investment </a:t>
            </a:r>
            <a:r>
              <a:rPr lang="en-US" altLang="zh-CN" b="0" dirty="0">
                <a:solidFill>
                  <a:schemeClr val="tx1"/>
                </a:solidFill>
                <a:latin typeface="+mn-lt"/>
                <a:ea typeface="+mn-ea"/>
                <a:cs typeface="+mn-ea"/>
                <a:sym typeface="+mn-lt"/>
              </a:rPr>
              <a:t>banking business</a:t>
            </a:r>
            <a:r>
              <a:rPr lang="en-US" altLang="zh-CN" b="0" dirty="0" smtClean="0">
                <a:solidFill>
                  <a:schemeClr val="tx1"/>
                </a:solidFill>
                <a:latin typeface="+mn-lt"/>
                <a:ea typeface="+mn-ea"/>
                <a:cs typeface="+mn-ea"/>
                <a:sym typeface="+mn-lt"/>
              </a:rPr>
              <a:t>.</a:t>
            </a:r>
          </a:p>
          <a:p>
            <a:r>
              <a:rPr lang="en-US" altLang="zh-CN" dirty="0">
                <a:latin typeface="+mn-lt"/>
                <a:cs typeface="+mn-ea"/>
                <a:sym typeface="+mn-lt"/>
              </a:rPr>
              <a:t>Separating the commercial banking division from investment banking.</a:t>
            </a:r>
          </a:p>
          <a:p>
            <a:pPr lvl="1"/>
            <a:r>
              <a:rPr lang="en-US" altLang="zh-CN" dirty="0">
                <a:latin typeface="+mn-lt"/>
                <a:cs typeface="+mn-ea"/>
                <a:sym typeface="+mn-lt"/>
              </a:rPr>
              <a:t>For this, internal barriers known as </a:t>
            </a:r>
            <a:r>
              <a:rPr lang="en-US" altLang="zh-CN" b="1" dirty="0">
                <a:latin typeface="+mn-lt"/>
                <a:cs typeface="+mn-ea"/>
                <a:sym typeface="+mn-lt"/>
              </a:rPr>
              <a:t>Chinese walls </a:t>
            </a:r>
            <a:r>
              <a:rPr lang="en-US" altLang="zh-CN" dirty="0">
                <a:latin typeface="+mn-lt"/>
                <a:cs typeface="+mn-ea"/>
                <a:sym typeface="+mn-lt"/>
              </a:rPr>
              <a:t>can be set up. This prohibits the transfer of information from one part of the bank to another when this is not in the best interests of the bank's customers.</a:t>
            </a:r>
            <a:endParaRPr lang="zh-CN" altLang="en-US" dirty="0">
              <a:latin typeface="+mn-lt"/>
              <a:cs typeface="+mn-ea"/>
              <a:sym typeface="+mn-lt"/>
            </a:endParaRPr>
          </a:p>
          <a:p>
            <a:endParaRPr lang="en-US" altLang="zh-CN" b="0" dirty="0" smtClean="0">
              <a:solidFill>
                <a:schemeClr val="tx1"/>
              </a:solidFill>
              <a:latin typeface="+mn-lt"/>
              <a:ea typeface="+mn-ea"/>
              <a:cs typeface="+mn-ea"/>
              <a:sym typeface="+mn-lt"/>
            </a:endParaRPr>
          </a:p>
          <a:p>
            <a:endParaRPr lang="zh-CN" altLang="en-US" b="0" dirty="0">
              <a:solidFill>
                <a:schemeClr val="tx1"/>
              </a:solidFill>
              <a:latin typeface="+mn-lt"/>
              <a:ea typeface="+mn-ea"/>
              <a:cs typeface="+mn-ea"/>
              <a:sym typeface="+mn-lt"/>
            </a:endParaRPr>
          </a:p>
        </p:txBody>
      </p:sp>
    </p:spTree>
    <p:extLst>
      <p:ext uri="{BB962C8B-B14F-4D97-AF65-F5344CB8AC3E}">
        <p14:creationId xmlns:p14="http://schemas.microsoft.com/office/powerpoint/2010/main" val="39942902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Banking Book and Trading Book</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Autofit/>
          </a:bodyPr>
          <a:lstStyle/>
          <a:p>
            <a:r>
              <a:rPr lang="en-US" altLang="zh-CN" dirty="0" smtClean="0">
                <a:latin typeface="+mn-lt"/>
                <a:ea typeface="+mn-ea"/>
                <a:cs typeface="+mn-ea"/>
                <a:sym typeface="+mn-lt"/>
              </a:rPr>
              <a:t>Trading Book</a:t>
            </a:r>
          </a:p>
          <a:p>
            <a:pPr lvl="1"/>
            <a:r>
              <a:rPr lang="en-US" altLang="zh-CN" b="0" dirty="0">
                <a:latin typeface="+mn-lt"/>
                <a:ea typeface="+mn-ea"/>
                <a:cs typeface="+mn-ea"/>
                <a:sym typeface="+mn-lt"/>
              </a:rPr>
              <a:t>Trading book includes all the </a:t>
            </a:r>
            <a:r>
              <a:rPr lang="en-US" altLang="zh-CN" b="1" dirty="0">
                <a:latin typeface="+mn-lt"/>
                <a:ea typeface="+mn-ea"/>
                <a:cs typeface="+mn-ea"/>
                <a:sym typeface="+mn-lt"/>
              </a:rPr>
              <a:t>assets and liabilities </a:t>
            </a:r>
            <a:r>
              <a:rPr lang="en-US" altLang="zh-CN" b="0" dirty="0">
                <a:latin typeface="+mn-lt"/>
                <a:ea typeface="+mn-ea"/>
                <a:cs typeface="+mn-ea"/>
                <a:sym typeface="+mn-lt"/>
              </a:rPr>
              <a:t>the bank has as a result of </a:t>
            </a:r>
            <a:r>
              <a:rPr lang="en-US" altLang="zh-CN" b="0" dirty="0" smtClean="0">
                <a:latin typeface="+mn-lt"/>
                <a:ea typeface="+mn-ea"/>
                <a:cs typeface="+mn-ea"/>
                <a:sym typeface="+mn-lt"/>
              </a:rPr>
              <a:t>its trading </a:t>
            </a:r>
            <a:r>
              <a:rPr lang="en-US" altLang="zh-CN" b="0" dirty="0">
                <a:latin typeface="+mn-lt"/>
                <a:ea typeface="+mn-ea"/>
                <a:cs typeface="+mn-ea"/>
                <a:sym typeface="+mn-lt"/>
              </a:rPr>
              <a:t>operations; i.e., instruments the bank intends to trade</a:t>
            </a:r>
            <a:r>
              <a:rPr lang="en-US" altLang="zh-CN" b="0" dirty="0" smtClean="0">
                <a:latin typeface="+mn-lt"/>
                <a:ea typeface="+mn-ea"/>
                <a:cs typeface="+mn-ea"/>
                <a:sym typeface="+mn-lt"/>
              </a:rPr>
              <a:t>.</a:t>
            </a:r>
          </a:p>
          <a:p>
            <a:pPr lvl="1"/>
            <a:r>
              <a:rPr lang="en-US" altLang="zh-CN" b="0" i="1" dirty="0" smtClean="0">
                <a:latin typeface="+mn-lt"/>
                <a:ea typeface="+mn-ea"/>
                <a:cs typeface="+mn-ea"/>
                <a:sym typeface="+mn-lt"/>
              </a:rPr>
              <a:t>marked </a:t>
            </a:r>
            <a:r>
              <a:rPr lang="en-US" altLang="zh-CN" b="0" i="1" dirty="0">
                <a:latin typeface="+mn-lt"/>
                <a:ea typeface="+mn-ea"/>
                <a:cs typeface="+mn-ea"/>
                <a:sym typeface="+mn-lt"/>
              </a:rPr>
              <a:t>to market </a:t>
            </a:r>
            <a:r>
              <a:rPr lang="en-US" altLang="zh-CN" b="0" dirty="0" smtClean="0">
                <a:latin typeface="+mn-lt"/>
                <a:ea typeface="+mn-ea"/>
                <a:cs typeface="+mn-ea"/>
                <a:sym typeface="+mn-lt"/>
              </a:rPr>
              <a:t>daily</a:t>
            </a:r>
          </a:p>
          <a:p>
            <a:pPr lvl="2"/>
            <a:r>
              <a:rPr lang="en-US" altLang="zh-CN" b="0" dirty="0">
                <a:latin typeface="+mn-lt"/>
                <a:ea typeface="+mn-ea"/>
                <a:cs typeface="+mn-ea"/>
                <a:sym typeface="+mn-lt"/>
              </a:rPr>
              <a:t>For example, if a bank buys an asset for $100 on one day </a:t>
            </a:r>
            <a:r>
              <a:rPr lang="en-US" altLang="zh-CN" b="0" dirty="0" smtClean="0">
                <a:latin typeface="+mn-lt"/>
                <a:ea typeface="+mn-ea"/>
                <a:cs typeface="+mn-ea"/>
                <a:sym typeface="+mn-lt"/>
              </a:rPr>
              <a:t>and the </a:t>
            </a:r>
            <a:r>
              <a:rPr lang="en-US" altLang="zh-CN" b="0" dirty="0">
                <a:latin typeface="+mn-lt"/>
                <a:ea typeface="+mn-ea"/>
                <a:cs typeface="+mn-ea"/>
                <a:sym typeface="+mn-lt"/>
              </a:rPr>
              <a:t>price falls to $60 the next day, it records an immediate loss of $</a:t>
            </a:r>
            <a:r>
              <a:rPr lang="en-US" altLang="zh-CN" b="0" dirty="0" smtClean="0">
                <a:latin typeface="+mn-lt"/>
                <a:ea typeface="+mn-ea"/>
                <a:cs typeface="+mn-ea"/>
                <a:sym typeface="+mn-lt"/>
              </a:rPr>
              <a:t>40.</a:t>
            </a:r>
          </a:p>
          <a:p>
            <a:pPr lvl="1"/>
            <a:r>
              <a:rPr lang="en-US" altLang="zh-CN" b="0" i="1" dirty="0" smtClean="0">
                <a:latin typeface="+mn-lt"/>
                <a:ea typeface="+mn-ea"/>
                <a:cs typeface="+mn-ea"/>
                <a:sym typeface="+mn-lt"/>
              </a:rPr>
              <a:t>marking to model</a:t>
            </a:r>
            <a:r>
              <a:rPr lang="en-US" altLang="zh-CN" b="0" dirty="0" smtClean="0">
                <a:latin typeface="+mn-lt"/>
                <a:ea typeface="+mn-ea"/>
                <a:cs typeface="+mn-ea"/>
                <a:sym typeface="+mn-lt"/>
              </a:rPr>
              <a:t>.</a:t>
            </a:r>
          </a:p>
          <a:p>
            <a:pPr lvl="2"/>
            <a:r>
              <a:rPr lang="en-US" altLang="zh-CN" dirty="0" smtClean="0">
                <a:latin typeface="+mn-lt"/>
                <a:ea typeface="+mn-ea"/>
                <a:cs typeface="+mn-ea"/>
                <a:sym typeface="+mn-lt"/>
              </a:rPr>
              <a:t>A </a:t>
            </a:r>
            <a:r>
              <a:rPr lang="en-US" altLang="zh-CN" dirty="0">
                <a:latin typeface="+mn-lt"/>
                <a:ea typeface="+mn-ea"/>
                <a:cs typeface="+mn-ea"/>
                <a:sym typeface="+mn-lt"/>
              </a:rPr>
              <a:t>model has to be assumed by the bank</a:t>
            </a:r>
            <a:endParaRPr lang="zh-CN" altLang="en-US" dirty="0">
              <a:latin typeface="+mn-lt"/>
              <a:ea typeface="+mn-ea"/>
              <a:cs typeface="+mn-ea"/>
              <a:sym typeface="+mn-lt"/>
            </a:endParaRPr>
          </a:p>
        </p:txBody>
      </p:sp>
    </p:spTree>
    <p:extLst>
      <p:ext uri="{BB962C8B-B14F-4D97-AF65-F5344CB8AC3E}">
        <p14:creationId xmlns:p14="http://schemas.microsoft.com/office/powerpoint/2010/main" val="5827113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Banking Book and Trading Book</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sz="2600" dirty="0" smtClean="0">
                <a:latin typeface="+mn-lt"/>
                <a:ea typeface="+mn-ea"/>
                <a:cs typeface="+mn-ea"/>
                <a:sym typeface="+mn-lt"/>
              </a:rPr>
              <a:t>Banking Book</a:t>
            </a:r>
          </a:p>
          <a:p>
            <a:pPr lvl="1"/>
            <a:r>
              <a:rPr lang="en-US" altLang="zh-CN" dirty="0">
                <a:latin typeface="+mn-lt"/>
                <a:ea typeface="+mn-ea"/>
                <a:cs typeface="+mn-ea"/>
                <a:sym typeface="+mn-lt"/>
              </a:rPr>
              <a:t>Banking book includes loans made to corporations and individuals</a:t>
            </a:r>
            <a:r>
              <a:rPr lang="en-US" altLang="zh-CN" dirty="0" smtClean="0">
                <a:latin typeface="+mn-lt"/>
                <a:ea typeface="+mn-ea"/>
                <a:cs typeface="+mn-ea"/>
                <a:sym typeface="+mn-lt"/>
              </a:rPr>
              <a:t>.</a:t>
            </a:r>
          </a:p>
          <a:p>
            <a:pPr lvl="1"/>
            <a:r>
              <a:rPr lang="en-US" altLang="zh-CN" b="0" dirty="0" smtClean="0">
                <a:latin typeface="+mn-lt"/>
                <a:ea typeface="+mn-ea"/>
                <a:cs typeface="+mn-ea"/>
                <a:sym typeface="+mn-lt"/>
              </a:rPr>
              <a:t>These loans are </a:t>
            </a:r>
            <a:r>
              <a:rPr lang="en-US" altLang="zh-CN" b="0" i="1" dirty="0" smtClean="0">
                <a:latin typeface="+mn-lt"/>
                <a:ea typeface="+mn-ea"/>
                <a:cs typeface="+mn-ea"/>
                <a:sym typeface="+mn-lt"/>
              </a:rPr>
              <a:t>not marked to market.</a:t>
            </a:r>
          </a:p>
          <a:p>
            <a:pPr lvl="2"/>
            <a:r>
              <a:rPr lang="en-US" altLang="zh-CN" b="0" dirty="0">
                <a:latin typeface="+mn-lt"/>
                <a:ea typeface="+mn-ea"/>
                <a:cs typeface="+mn-ea"/>
                <a:sym typeface="+mn-lt"/>
              </a:rPr>
              <a:t>When a borrower makes principal and interest payments of a loan </a:t>
            </a:r>
            <a:r>
              <a:rPr lang="en-US" altLang="zh-CN" b="1" dirty="0">
                <a:latin typeface="+mn-lt"/>
                <a:ea typeface="+mn-ea"/>
                <a:cs typeface="+mn-ea"/>
                <a:sym typeface="+mn-lt"/>
              </a:rPr>
              <a:t>on </a:t>
            </a:r>
            <a:r>
              <a:rPr lang="en-US" altLang="zh-CN" b="1" dirty="0" smtClean="0">
                <a:latin typeface="+mn-lt"/>
                <a:ea typeface="+mn-ea"/>
                <a:cs typeface="+mn-ea"/>
                <a:sym typeface="+mn-lt"/>
              </a:rPr>
              <a:t>time</a:t>
            </a:r>
            <a:r>
              <a:rPr lang="en-US" altLang="zh-CN" b="0" dirty="0" smtClean="0">
                <a:latin typeface="+mn-lt"/>
                <a:ea typeface="+mn-ea"/>
                <a:cs typeface="+mn-ea"/>
                <a:sym typeface="+mn-lt"/>
              </a:rPr>
              <a:t>, the </a:t>
            </a:r>
            <a:r>
              <a:rPr lang="en-US" altLang="zh-CN" b="0" dirty="0">
                <a:latin typeface="+mn-lt"/>
                <a:ea typeface="+mn-ea"/>
                <a:cs typeface="+mn-ea"/>
                <a:sym typeface="+mn-lt"/>
              </a:rPr>
              <a:t>loan is recorded in the bank's books at the </a:t>
            </a:r>
            <a:r>
              <a:rPr lang="en-US" altLang="zh-CN" b="1" dirty="0">
                <a:latin typeface="+mn-lt"/>
                <a:ea typeface="+mn-ea"/>
                <a:cs typeface="+mn-ea"/>
                <a:sym typeface="+mn-lt"/>
              </a:rPr>
              <a:t>principal</a:t>
            </a:r>
            <a:r>
              <a:rPr lang="en-US" altLang="zh-CN" b="0" dirty="0">
                <a:latin typeface="+mn-lt"/>
                <a:ea typeface="+mn-ea"/>
                <a:cs typeface="+mn-ea"/>
                <a:sym typeface="+mn-lt"/>
              </a:rPr>
              <a:t> amount owed </a:t>
            </a:r>
            <a:r>
              <a:rPr lang="en-US" altLang="zh-CN" b="0" dirty="0" smtClean="0">
                <a:latin typeface="+mn-lt"/>
                <a:ea typeface="+mn-ea"/>
                <a:cs typeface="+mn-ea"/>
                <a:sym typeface="+mn-lt"/>
              </a:rPr>
              <a:t>plus </a:t>
            </a:r>
            <a:r>
              <a:rPr lang="en-US" altLang="zh-CN" b="1" dirty="0" smtClean="0">
                <a:latin typeface="+mn-lt"/>
                <a:ea typeface="+mn-ea"/>
                <a:cs typeface="+mn-ea"/>
                <a:sym typeface="+mn-lt"/>
              </a:rPr>
              <a:t>accrued </a:t>
            </a:r>
            <a:r>
              <a:rPr lang="en-US" altLang="zh-CN" b="1" dirty="0">
                <a:latin typeface="+mn-lt"/>
                <a:ea typeface="+mn-ea"/>
                <a:cs typeface="+mn-ea"/>
                <a:sym typeface="+mn-lt"/>
              </a:rPr>
              <a:t>interest</a:t>
            </a:r>
            <a:r>
              <a:rPr lang="en-US" altLang="zh-CN" b="0" dirty="0" smtClean="0">
                <a:latin typeface="+mn-lt"/>
                <a:ea typeface="+mn-ea"/>
                <a:cs typeface="+mn-ea"/>
                <a:sym typeface="+mn-lt"/>
              </a:rPr>
              <a:t>.</a:t>
            </a:r>
          </a:p>
          <a:p>
            <a:pPr lvl="2"/>
            <a:r>
              <a:rPr lang="en-US" altLang="zh-CN" dirty="0">
                <a:latin typeface="+mn-lt"/>
                <a:ea typeface="+mn-ea"/>
                <a:cs typeface="+mn-ea"/>
                <a:sym typeface="+mn-lt"/>
              </a:rPr>
              <a:t>If payments due from the borrower are more than 90 days past due, the </a:t>
            </a:r>
            <a:r>
              <a:rPr lang="en-US" altLang="zh-CN" dirty="0" smtClean="0">
                <a:latin typeface="+mn-lt"/>
                <a:ea typeface="+mn-ea"/>
                <a:cs typeface="+mn-ea"/>
                <a:sym typeface="+mn-lt"/>
              </a:rPr>
              <a:t>loan is </a:t>
            </a:r>
            <a:r>
              <a:rPr lang="en-US" altLang="zh-CN" dirty="0">
                <a:latin typeface="+mn-lt"/>
                <a:ea typeface="+mn-ea"/>
                <a:cs typeface="+mn-ea"/>
                <a:sym typeface="+mn-lt"/>
              </a:rPr>
              <a:t>usually classified as a </a:t>
            </a:r>
            <a:r>
              <a:rPr lang="en-US" altLang="zh-CN" b="1" dirty="0">
                <a:latin typeface="+mn-lt"/>
                <a:ea typeface="+mn-ea"/>
                <a:cs typeface="+mn-ea"/>
                <a:sym typeface="+mn-lt"/>
              </a:rPr>
              <a:t>non-performing loan</a:t>
            </a:r>
            <a:r>
              <a:rPr lang="en-US" altLang="zh-CN" dirty="0">
                <a:latin typeface="+mn-lt"/>
                <a:ea typeface="+mn-ea"/>
                <a:cs typeface="+mn-ea"/>
                <a:sym typeface="+mn-lt"/>
              </a:rPr>
              <a:t>. In this case the bank does </a:t>
            </a:r>
            <a:r>
              <a:rPr lang="en-US" altLang="zh-CN" dirty="0" smtClean="0">
                <a:latin typeface="+mn-lt"/>
                <a:ea typeface="+mn-ea"/>
                <a:cs typeface="+mn-ea"/>
                <a:sym typeface="+mn-lt"/>
              </a:rPr>
              <a:t>not then </a:t>
            </a:r>
            <a:r>
              <a:rPr lang="en-US" altLang="zh-CN" dirty="0">
                <a:latin typeface="+mn-lt"/>
                <a:ea typeface="+mn-ea"/>
                <a:cs typeface="+mn-ea"/>
                <a:sym typeface="+mn-lt"/>
              </a:rPr>
              <a:t>accrue interest on the loan when calculating its profit</a:t>
            </a:r>
            <a:r>
              <a:rPr lang="en-US" altLang="zh-CN" dirty="0" smtClean="0">
                <a:latin typeface="+mn-lt"/>
                <a:ea typeface="+mn-ea"/>
                <a:cs typeface="+mn-ea"/>
                <a:sym typeface="+mn-lt"/>
              </a:rPr>
              <a:t>.</a:t>
            </a:r>
          </a:p>
          <a:p>
            <a:pPr lvl="2"/>
            <a:r>
              <a:rPr lang="en-US" altLang="zh-CN" b="0" dirty="0">
                <a:latin typeface="+mn-lt"/>
                <a:ea typeface="+mn-ea"/>
                <a:cs typeface="+mn-ea"/>
                <a:sym typeface="+mn-lt"/>
              </a:rPr>
              <a:t>When it becomes likely that principal of the loan will not be repaid, the loan </a:t>
            </a:r>
            <a:r>
              <a:rPr lang="en-US" altLang="zh-CN" b="0" dirty="0" smtClean="0">
                <a:latin typeface="+mn-lt"/>
                <a:ea typeface="+mn-ea"/>
                <a:cs typeface="+mn-ea"/>
                <a:sym typeface="+mn-lt"/>
              </a:rPr>
              <a:t>is classified </a:t>
            </a:r>
            <a:r>
              <a:rPr lang="en-US" altLang="zh-CN" b="0" dirty="0">
                <a:latin typeface="+mn-lt"/>
                <a:ea typeface="+mn-ea"/>
                <a:cs typeface="+mn-ea"/>
                <a:sym typeface="+mn-lt"/>
              </a:rPr>
              <a:t>as a </a:t>
            </a:r>
            <a:r>
              <a:rPr lang="en-US" altLang="zh-CN" b="1" dirty="0">
                <a:latin typeface="+mn-lt"/>
                <a:ea typeface="+mn-ea"/>
                <a:cs typeface="+mn-ea"/>
                <a:sym typeface="+mn-lt"/>
              </a:rPr>
              <a:t>loan loss</a:t>
            </a:r>
            <a:r>
              <a:rPr lang="en-US" altLang="zh-CN" b="1" dirty="0" smtClean="0">
                <a:latin typeface="+mn-lt"/>
                <a:ea typeface="+mn-ea"/>
                <a:cs typeface="+mn-ea"/>
                <a:sym typeface="+mn-lt"/>
              </a:rPr>
              <a:t>.——Reserve</a:t>
            </a:r>
            <a:endParaRPr lang="zh-CN" altLang="en-US" b="1" dirty="0">
              <a:latin typeface="+mn-lt"/>
              <a:ea typeface="+mn-ea"/>
              <a:cs typeface="+mn-ea"/>
              <a:sym typeface="+mn-lt"/>
            </a:endParaRPr>
          </a:p>
        </p:txBody>
      </p:sp>
    </p:spTree>
    <p:extLst>
      <p:ext uri="{BB962C8B-B14F-4D97-AF65-F5344CB8AC3E}">
        <p14:creationId xmlns:p14="http://schemas.microsoft.com/office/powerpoint/2010/main" val="11607965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Originate-to-Distribute Model</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20000"/>
          </a:bodyPr>
          <a:lstStyle/>
          <a:p>
            <a:r>
              <a:rPr lang="en-US" altLang="zh-CN" dirty="0">
                <a:latin typeface="+mn-lt"/>
                <a:ea typeface="+mn-ea"/>
                <a:cs typeface="+mn-ea"/>
                <a:sym typeface="+mn-lt"/>
              </a:rPr>
              <a:t>Characteristic</a:t>
            </a:r>
          </a:p>
          <a:p>
            <a:pPr lvl="1">
              <a:lnSpc>
                <a:spcPct val="140000"/>
              </a:lnSpc>
              <a:spcBef>
                <a:spcPct val="0"/>
              </a:spcBef>
              <a:defRPr/>
            </a:pPr>
            <a:r>
              <a:rPr lang="en-US" altLang="zh-CN" dirty="0">
                <a:latin typeface="+mn-lt"/>
                <a:ea typeface="+mn-ea"/>
                <a:cs typeface="+mn-ea"/>
                <a:sym typeface="+mn-lt"/>
              </a:rPr>
              <a:t>Involves the bank </a:t>
            </a:r>
            <a:r>
              <a:rPr lang="en-US" altLang="zh-CN" u="sng" dirty="0">
                <a:latin typeface="+mn-lt"/>
                <a:ea typeface="+mn-ea"/>
                <a:cs typeface="+mn-ea"/>
                <a:sym typeface="+mn-lt"/>
              </a:rPr>
              <a:t>originating but not keeping loans. Portfolios of loans are packaged into tranches which are then sold to investors.</a:t>
            </a:r>
          </a:p>
          <a:p>
            <a:pPr marL="363538" lvl="1" indent="0">
              <a:lnSpc>
                <a:spcPct val="140000"/>
              </a:lnSpc>
              <a:spcBef>
                <a:spcPct val="0"/>
              </a:spcBef>
              <a:buNone/>
              <a:defRPr/>
            </a:pPr>
            <a:r>
              <a:rPr lang="en-US" altLang="zh-CN" dirty="0">
                <a:latin typeface="+mn-lt"/>
                <a:ea typeface="+mn-ea"/>
                <a:cs typeface="+mn-ea"/>
                <a:sym typeface="+mn-lt"/>
              </a:rPr>
              <a:t>Also termed </a:t>
            </a:r>
            <a:r>
              <a:rPr lang="en-US" altLang="zh-CN" b="1" dirty="0">
                <a:latin typeface="+mn-lt"/>
                <a:ea typeface="+mn-ea"/>
                <a:cs typeface="+mn-ea"/>
                <a:sym typeface="+mn-lt"/>
              </a:rPr>
              <a:t>securitization</a:t>
            </a:r>
            <a:r>
              <a:rPr lang="en-US" altLang="zh-CN" dirty="0">
                <a:latin typeface="+mn-lt"/>
                <a:ea typeface="+mn-ea"/>
                <a:cs typeface="+mn-ea"/>
                <a:sym typeface="+mn-lt"/>
              </a:rPr>
              <a:t>.</a:t>
            </a:r>
          </a:p>
          <a:p>
            <a:pPr>
              <a:lnSpc>
                <a:spcPct val="140000"/>
              </a:lnSpc>
              <a:spcBef>
                <a:spcPct val="0"/>
              </a:spcBef>
              <a:defRPr/>
            </a:pPr>
            <a:r>
              <a:rPr lang="en-US" altLang="zh-CN" dirty="0">
                <a:latin typeface="+mn-lt"/>
                <a:ea typeface="+mn-ea"/>
                <a:cs typeface="+mn-ea"/>
                <a:sym typeface="+mn-lt"/>
              </a:rPr>
              <a:t>Benefits</a:t>
            </a:r>
          </a:p>
          <a:p>
            <a:pPr lvl="1">
              <a:lnSpc>
                <a:spcPct val="140000"/>
              </a:lnSpc>
              <a:spcBef>
                <a:spcPct val="0"/>
              </a:spcBef>
              <a:defRPr/>
            </a:pPr>
            <a:r>
              <a:rPr lang="en-US" altLang="zh-CN" dirty="0">
                <a:latin typeface="+mn-lt"/>
                <a:ea typeface="+mn-ea"/>
                <a:cs typeface="+mn-ea"/>
                <a:sym typeface="+mn-lt"/>
              </a:rPr>
              <a:t>By securitizing the loans it gets them off the balance sheet and frees up funds to enable it to </a:t>
            </a:r>
            <a:r>
              <a:rPr lang="en-US" altLang="zh-CN" u="sng" dirty="0">
                <a:latin typeface="+mn-lt"/>
                <a:ea typeface="+mn-ea"/>
                <a:cs typeface="+mn-ea"/>
                <a:sym typeface="+mn-lt"/>
              </a:rPr>
              <a:t>make more loans.</a:t>
            </a:r>
          </a:p>
          <a:p>
            <a:pPr lvl="1">
              <a:lnSpc>
                <a:spcPct val="140000"/>
              </a:lnSpc>
              <a:spcBef>
                <a:spcPct val="0"/>
              </a:spcBef>
              <a:defRPr/>
            </a:pPr>
            <a:r>
              <a:rPr lang="en-US" altLang="zh-CN" dirty="0">
                <a:latin typeface="+mn-lt"/>
                <a:ea typeface="+mn-ea"/>
                <a:cs typeface="+mn-ea"/>
                <a:sym typeface="+mn-lt"/>
              </a:rPr>
              <a:t>It also </a:t>
            </a:r>
            <a:r>
              <a:rPr lang="en-US" altLang="zh-CN" u="sng" dirty="0">
                <a:latin typeface="+mn-lt"/>
                <a:ea typeface="+mn-ea"/>
                <a:cs typeface="+mn-ea"/>
                <a:sym typeface="+mn-lt"/>
              </a:rPr>
              <a:t>frees up capital</a:t>
            </a:r>
            <a:r>
              <a:rPr lang="en-US" altLang="zh-CN" dirty="0">
                <a:latin typeface="+mn-lt"/>
                <a:ea typeface="+mn-ea"/>
                <a:cs typeface="+mn-ea"/>
                <a:sym typeface="+mn-lt"/>
              </a:rPr>
              <a:t> that can be used to cover risks being take elsewhere in the bank.</a:t>
            </a:r>
          </a:p>
          <a:p>
            <a:pPr lvl="1">
              <a:lnSpc>
                <a:spcPct val="140000"/>
              </a:lnSpc>
              <a:spcBef>
                <a:spcPct val="0"/>
              </a:spcBef>
              <a:defRPr/>
            </a:pPr>
            <a:r>
              <a:rPr lang="en-US" altLang="zh-CN" dirty="0" smtClean="0">
                <a:latin typeface="+mn-lt"/>
                <a:ea typeface="+mn-ea"/>
                <a:cs typeface="+mn-ea"/>
                <a:sym typeface="+mn-lt"/>
              </a:rPr>
              <a:t>A bank can </a:t>
            </a:r>
            <a:r>
              <a:rPr lang="en-US" altLang="zh-CN" u="sng" dirty="0" smtClean="0">
                <a:latin typeface="+mn-lt"/>
                <a:ea typeface="+mn-ea"/>
                <a:cs typeface="+mn-ea"/>
                <a:sym typeface="+mn-lt"/>
              </a:rPr>
              <a:t>earn a further fee if it services the loan after it has been sold</a:t>
            </a:r>
          </a:p>
          <a:p>
            <a:pPr>
              <a:lnSpc>
                <a:spcPct val="140000"/>
              </a:lnSpc>
              <a:spcBef>
                <a:spcPct val="0"/>
              </a:spcBef>
              <a:defRPr/>
            </a:pPr>
            <a:r>
              <a:rPr lang="en-US" altLang="zh-CN" dirty="0">
                <a:latin typeface="+mn-lt"/>
                <a:ea typeface="+mn-ea"/>
                <a:cs typeface="+mn-ea"/>
                <a:sym typeface="+mn-lt"/>
              </a:rPr>
              <a:t>Drawbacks</a:t>
            </a:r>
          </a:p>
          <a:p>
            <a:pPr lvl="1">
              <a:lnSpc>
                <a:spcPct val="140000"/>
              </a:lnSpc>
              <a:spcBef>
                <a:spcPct val="0"/>
              </a:spcBef>
              <a:defRPr/>
            </a:pPr>
            <a:r>
              <a:rPr lang="en-US" altLang="zh-CN" dirty="0">
                <a:latin typeface="+mn-lt"/>
                <a:ea typeface="+mn-ea"/>
                <a:cs typeface="+mn-ea"/>
                <a:sym typeface="+mn-lt"/>
              </a:rPr>
              <a:t>Banks </a:t>
            </a:r>
            <a:r>
              <a:rPr lang="en-US" altLang="zh-CN" u="sng" dirty="0">
                <a:latin typeface="+mn-lt"/>
                <a:ea typeface="+mn-ea"/>
                <a:cs typeface="+mn-ea"/>
                <a:sym typeface="+mn-lt"/>
              </a:rPr>
              <a:t>may relax their mortgage lending standards</a:t>
            </a:r>
            <a:r>
              <a:rPr lang="en-US" altLang="zh-CN" dirty="0">
                <a:latin typeface="+mn-lt"/>
                <a:ea typeface="+mn-ea"/>
                <a:cs typeface="+mn-ea"/>
                <a:sym typeface="+mn-lt"/>
              </a:rPr>
              <a:t> and the </a:t>
            </a:r>
            <a:r>
              <a:rPr lang="en-US" altLang="zh-CN" u="sng" dirty="0">
                <a:latin typeface="+mn-lt"/>
                <a:ea typeface="+mn-ea"/>
                <a:cs typeface="+mn-ea"/>
                <a:sym typeface="+mn-lt"/>
              </a:rPr>
              <a:t>credit quality of the instruments being originated may decline sharply</a:t>
            </a:r>
            <a:r>
              <a:rPr lang="en-US" altLang="zh-CN" dirty="0">
                <a:latin typeface="+mn-lt"/>
                <a:ea typeface="+mn-ea"/>
                <a:cs typeface="+mn-ea"/>
                <a:sym typeface="+mn-lt"/>
              </a:rPr>
              <a:t>.</a:t>
            </a:r>
          </a:p>
          <a:p>
            <a:pPr lvl="1">
              <a:lnSpc>
                <a:spcPct val="140000"/>
              </a:lnSpc>
              <a:spcBef>
                <a:spcPct val="0"/>
              </a:spcBef>
              <a:defRPr/>
            </a:pPr>
            <a:endParaRPr lang="zh-CN" altLang="en-US" dirty="0">
              <a:latin typeface="+mn-lt"/>
              <a:ea typeface="+mn-ea"/>
              <a:cs typeface="+mn-ea"/>
              <a:sym typeface="+mn-lt"/>
            </a:endParaRPr>
          </a:p>
        </p:txBody>
      </p:sp>
    </p:spTree>
    <p:extLst>
      <p:ext uri="{BB962C8B-B14F-4D97-AF65-F5344CB8AC3E}">
        <p14:creationId xmlns:p14="http://schemas.microsoft.com/office/powerpoint/2010/main" val="9574548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Autofit/>
          </a:bodyPr>
          <a:lstStyle/>
          <a:p>
            <a:pPr>
              <a:lnSpc>
                <a:spcPct val="150000"/>
              </a:lnSpc>
            </a:pPr>
            <a:r>
              <a:rPr lang="en-US" altLang="zh-CN" b="0" dirty="0" smtClean="0">
                <a:latin typeface="+mn-lt"/>
                <a:ea typeface="+mn-ea"/>
                <a:cs typeface="+mn-ea"/>
                <a:sym typeface="+mn-lt"/>
              </a:rPr>
              <a:t>Identify the major risks faced by a bank.</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pPr>
              <a:lnSpc>
                <a:spcPct val="150000"/>
              </a:lnSpc>
            </a:pPr>
            <a:r>
              <a:rPr lang="en-US" altLang="zh-CN" b="0" dirty="0" smtClean="0">
                <a:solidFill>
                  <a:srgbClr val="FF0000"/>
                </a:solidFill>
                <a:latin typeface="+mn-lt"/>
                <a:ea typeface="+mn-ea"/>
                <a:cs typeface="+mn-ea"/>
                <a:sym typeface="+mn-lt"/>
              </a:rPr>
              <a:t>Distinguish between economic capital and regulatory capital.</a:t>
            </a:r>
            <a:r>
              <a:rPr lang="zh-CN" altLang="en-US" b="0" dirty="0" smtClean="0">
                <a:solidFill>
                  <a:srgbClr val="FF0000"/>
                </a:solidFill>
                <a:latin typeface="+mn-lt"/>
                <a:ea typeface="+mn-ea"/>
                <a:cs typeface="+mn-ea"/>
                <a:sym typeface="+mn-lt"/>
              </a:rPr>
              <a:t>★★</a:t>
            </a:r>
            <a:endParaRPr lang="en-US" altLang="zh-CN" b="0" dirty="0" smtClean="0">
              <a:solidFill>
                <a:srgbClr val="FF0000"/>
              </a:solidFill>
              <a:latin typeface="+mn-lt"/>
              <a:ea typeface="+mn-ea"/>
              <a:cs typeface="+mn-ea"/>
              <a:sym typeface="+mn-lt"/>
            </a:endParaRPr>
          </a:p>
          <a:p>
            <a:pPr>
              <a:lnSpc>
                <a:spcPct val="150000"/>
              </a:lnSpc>
            </a:pPr>
            <a:r>
              <a:rPr lang="en-US" altLang="zh-CN" b="0" dirty="0" smtClean="0">
                <a:latin typeface="+mn-lt"/>
                <a:ea typeface="+mn-ea"/>
                <a:cs typeface="+mn-ea"/>
                <a:sym typeface="+mn-lt"/>
              </a:rPr>
              <a:t>Explain how deposit insurance gives rise to a moral hazard problem.</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pPr>
              <a:lnSpc>
                <a:spcPct val="150000"/>
              </a:lnSpc>
            </a:pPr>
            <a:r>
              <a:rPr lang="en-US" altLang="zh-CN" b="0" dirty="0" smtClean="0">
                <a:latin typeface="+mn-lt"/>
                <a:ea typeface="+mn-ea"/>
                <a:cs typeface="+mn-ea"/>
                <a:sym typeface="+mn-lt"/>
              </a:rPr>
              <a:t>Describe investment banking financing arrangements.</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pPr>
              <a:lnSpc>
                <a:spcPct val="150000"/>
              </a:lnSpc>
            </a:pPr>
            <a:r>
              <a:rPr lang="en-US" altLang="zh-CN" b="0" dirty="0" smtClean="0">
                <a:latin typeface="+mn-lt"/>
                <a:ea typeface="+mn-ea"/>
                <a:cs typeface="+mn-ea"/>
                <a:sym typeface="+mn-lt"/>
              </a:rPr>
              <a:t>Describe the potential conflicts and recommend solutions.</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pPr>
              <a:lnSpc>
                <a:spcPct val="150000"/>
              </a:lnSpc>
            </a:pPr>
            <a:r>
              <a:rPr lang="en-US" altLang="zh-CN" b="0" dirty="0" smtClean="0">
                <a:latin typeface="+mn-lt"/>
                <a:ea typeface="+mn-ea"/>
                <a:cs typeface="+mn-ea"/>
                <a:sym typeface="+mn-lt"/>
              </a:rPr>
              <a:t>Describe the distinctions between the banking book and the trading book of a bank.</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pPr>
              <a:lnSpc>
                <a:spcPct val="150000"/>
              </a:lnSpc>
            </a:pPr>
            <a:r>
              <a:rPr lang="en-US" altLang="zh-CN" b="0" dirty="0" smtClean="0">
                <a:solidFill>
                  <a:srgbClr val="FF0000"/>
                </a:solidFill>
                <a:latin typeface="+mn-lt"/>
                <a:ea typeface="+mn-ea"/>
                <a:cs typeface="+mn-ea"/>
                <a:sym typeface="+mn-lt"/>
              </a:rPr>
              <a:t>Explain the originate-to-distribute model.</a:t>
            </a:r>
            <a:r>
              <a:rPr lang="zh-CN" altLang="en-US" b="0" dirty="0" smtClean="0">
                <a:solidFill>
                  <a:srgbClr val="FF0000"/>
                </a:solidFill>
                <a:latin typeface="+mn-lt"/>
                <a:ea typeface="+mn-ea"/>
                <a:cs typeface="+mn-ea"/>
                <a:sym typeface="+mn-lt"/>
              </a:rPr>
              <a:t>★</a:t>
            </a:r>
            <a:r>
              <a:rPr lang="zh-CN" altLang="en-US" b="0" dirty="0">
                <a:solidFill>
                  <a:srgbClr val="FF0000"/>
                </a:solidFill>
                <a:latin typeface="+mn-lt"/>
                <a:ea typeface="+mn-ea"/>
                <a:cs typeface="+mn-ea"/>
                <a:sym typeface="+mn-lt"/>
              </a:rPr>
              <a:t>★</a:t>
            </a:r>
            <a:endParaRPr lang="en-US" altLang="zh-CN" b="0" dirty="0">
              <a:solidFill>
                <a:srgbClr val="FF0000"/>
              </a:solidFill>
              <a:latin typeface="+mn-lt"/>
              <a:ea typeface="+mn-ea"/>
              <a:cs typeface="+mn-ea"/>
              <a:sym typeface="+mn-lt"/>
            </a:endParaRPr>
          </a:p>
          <a:p>
            <a:pPr>
              <a:lnSpc>
                <a:spcPct val="150000"/>
              </a:lnSpc>
            </a:pPr>
            <a:endParaRPr lang="en-US" altLang="zh-CN" b="0" dirty="0">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6799473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Institutions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4" y="2688032"/>
            <a:ext cx="4739376" cy="1797085"/>
          </a:xfrm>
        </p:spPr>
        <p:txBody>
          <a:bodyPr>
            <a:normAutofit/>
          </a:bodyPr>
          <a:lstStyle/>
          <a:p>
            <a:r>
              <a:rPr lang="en-US" altLang="zh-CN" b="1" dirty="0">
                <a:solidFill>
                  <a:srgbClr val="002060"/>
                </a:solidFill>
                <a:latin typeface="+mn-lt"/>
                <a:ea typeface="+mn-ea"/>
                <a:cs typeface="+mn-ea"/>
                <a:sym typeface="+mn-lt"/>
              </a:rPr>
              <a:t>Insurance Companies and Pension Plan</a:t>
            </a:r>
          </a:p>
        </p:txBody>
      </p:sp>
    </p:spTree>
    <p:extLst>
      <p:ext uri="{BB962C8B-B14F-4D97-AF65-F5344CB8AC3E}">
        <p14:creationId xmlns:p14="http://schemas.microsoft.com/office/powerpoint/2010/main" val="8916452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latin typeface="+mn-lt"/>
                <a:ea typeface="+mn-ea"/>
                <a:cs typeface="+mn-ea"/>
                <a:sym typeface="+mn-lt"/>
              </a:rPr>
              <a:t>Various Categories of Insurance Companies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Various Categories of Insurance </a:t>
            </a:r>
            <a:r>
              <a:rPr lang="en-US" altLang="zh-CN" b="1" dirty="0" smtClean="0">
                <a:latin typeface="+mn-lt"/>
                <a:ea typeface="+mn-ea"/>
                <a:cs typeface="+mn-ea"/>
                <a:sym typeface="+mn-lt"/>
              </a:rPr>
              <a:t>Companies</a:t>
            </a:r>
          </a:p>
          <a:p>
            <a:pPr lvl="1"/>
            <a:r>
              <a:rPr lang="en-US" altLang="zh-CN" dirty="0">
                <a:latin typeface="+mn-lt"/>
                <a:ea typeface="+mn-ea"/>
                <a:cs typeface="+mn-ea"/>
                <a:sym typeface="+mn-lt"/>
              </a:rPr>
              <a:t>Insurance companies may be classified under two main categories. They are </a:t>
            </a:r>
            <a:r>
              <a:rPr lang="en-US" altLang="zh-CN" u="sng" dirty="0" smtClean="0">
                <a:latin typeface="+mn-lt"/>
                <a:ea typeface="+mn-ea"/>
                <a:cs typeface="+mn-ea"/>
                <a:sym typeface="+mn-lt"/>
              </a:rPr>
              <a:t>life insurance </a:t>
            </a:r>
            <a:r>
              <a:rPr lang="en-US" altLang="zh-CN" u="sng" dirty="0">
                <a:latin typeface="+mn-lt"/>
                <a:ea typeface="+mn-ea"/>
                <a:cs typeface="+mn-ea"/>
                <a:sym typeface="+mn-lt"/>
              </a:rPr>
              <a:t>or </a:t>
            </a:r>
            <a:r>
              <a:rPr lang="en-US" altLang="zh-CN" u="sng" dirty="0" smtClean="0">
                <a:latin typeface="+mn-lt"/>
                <a:ea typeface="+mn-ea"/>
                <a:cs typeface="+mn-ea"/>
                <a:sym typeface="+mn-lt"/>
              </a:rPr>
              <a:t>nonlife insurance </a:t>
            </a:r>
            <a:r>
              <a:rPr lang="en-US" altLang="zh-CN" dirty="0" smtClean="0">
                <a:latin typeface="+mn-lt"/>
                <a:ea typeface="+mn-ea"/>
                <a:cs typeface="+mn-ea"/>
                <a:sym typeface="+mn-lt"/>
              </a:rPr>
              <a:t>(</a:t>
            </a:r>
            <a:r>
              <a:rPr lang="en-US" altLang="zh-CN" dirty="0">
                <a:latin typeface="+mn-lt"/>
                <a:ea typeface="+mn-ea"/>
                <a:cs typeface="+mn-ea"/>
                <a:sym typeface="+mn-lt"/>
              </a:rPr>
              <a:t>also known as </a:t>
            </a:r>
            <a:r>
              <a:rPr lang="en-US" altLang="zh-CN" u="sng" dirty="0">
                <a:latin typeface="+mn-lt"/>
                <a:ea typeface="+mn-ea"/>
                <a:cs typeface="+mn-ea"/>
                <a:sym typeface="+mn-lt"/>
              </a:rPr>
              <a:t>property-casualty insurance</a:t>
            </a:r>
            <a:r>
              <a:rPr lang="en-US" altLang="zh-CN" dirty="0">
                <a:latin typeface="+mn-lt"/>
                <a:ea typeface="+mn-ea"/>
                <a:cs typeface="+mn-ea"/>
                <a:sym typeface="+mn-lt"/>
              </a:rPr>
              <a:t>) </a:t>
            </a:r>
            <a:r>
              <a:rPr lang="en-US" altLang="zh-CN" dirty="0" smtClean="0">
                <a:latin typeface="+mn-lt"/>
                <a:ea typeface="+mn-ea"/>
                <a:cs typeface="+mn-ea"/>
                <a:sym typeface="+mn-lt"/>
              </a:rPr>
              <a:t>firms. </a:t>
            </a:r>
          </a:p>
          <a:p>
            <a:pPr lvl="1"/>
            <a:r>
              <a:rPr lang="en-US" altLang="zh-CN" dirty="0" smtClean="0">
                <a:latin typeface="+mn-lt"/>
                <a:ea typeface="+mn-ea"/>
                <a:cs typeface="+mn-ea"/>
                <a:sym typeface="+mn-lt"/>
              </a:rPr>
              <a:t>A </a:t>
            </a:r>
            <a:r>
              <a:rPr lang="en-US" altLang="zh-CN" dirty="0">
                <a:latin typeface="+mn-lt"/>
                <a:ea typeface="+mn-ea"/>
                <a:cs typeface="+mn-ea"/>
                <a:sym typeface="+mn-lt"/>
              </a:rPr>
              <a:t>pension plan is also a form </a:t>
            </a:r>
            <a:r>
              <a:rPr lang="en-US" altLang="zh-CN" dirty="0" smtClean="0">
                <a:latin typeface="+mn-lt"/>
                <a:ea typeface="+mn-ea"/>
                <a:cs typeface="+mn-ea"/>
                <a:sym typeface="+mn-lt"/>
              </a:rPr>
              <a:t>of insurance </a:t>
            </a:r>
            <a:r>
              <a:rPr lang="en-US" altLang="zh-CN" dirty="0">
                <a:latin typeface="+mn-lt"/>
                <a:ea typeface="+mn-ea"/>
                <a:cs typeface="+mn-ea"/>
                <a:sym typeface="+mn-lt"/>
              </a:rPr>
              <a:t>arranged </a:t>
            </a:r>
            <a:r>
              <a:rPr lang="en-US" altLang="zh-CN" u="sng" dirty="0">
                <a:latin typeface="+mn-lt"/>
                <a:ea typeface="+mn-ea"/>
                <a:cs typeface="+mn-ea"/>
                <a:sym typeface="+mn-lt"/>
              </a:rPr>
              <a:t>by a company for its employees</a:t>
            </a:r>
            <a:r>
              <a:rPr lang="en-US" altLang="zh-CN" u="sng" dirty="0" smtClean="0">
                <a:latin typeface="+mn-lt"/>
                <a:ea typeface="+mn-ea"/>
                <a:cs typeface="+mn-ea"/>
                <a:sym typeface="+mn-lt"/>
              </a:rPr>
              <a:t>.</a:t>
            </a:r>
          </a:p>
          <a:p>
            <a:r>
              <a:rPr lang="en-US" altLang="zh-CN" b="1" dirty="0">
                <a:latin typeface="+mn-lt"/>
                <a:ea typeface="+mn-ea"/>
                <a:cs typeface="+mn-ea"/>
                <a:sym typeface="+mn-lt"/>
              </a:rPr>
              <a:t>M</a:t>
            </a:r>
            <a:r>
              <a:rPr lang="en-US" altLang="zh-CN" b="1" dirty="0" smtClean="0">
                <a:latin typeface="+mn-lt"/>
                <a:ea typeface="+mn-ea"/>
                <a:cs typeface="+mn-ea"/>
                <a:sym typeface="+mn-lt"/>
              </a:rPr>
              <a:t>ain feature</a:t>
            </a:r>
          </a:p>
          <a:p>
            <a:pPr lvl="1"/>
            <a:r>
              <a:rPr lang="en-US" altLang="zh-CN" dirty="0">
                <a:latin typeface="+mn-lt"/>
                <a:ea typeface="+mn-ea"/>
                <a:cs typeface="+mn-ea"/>
                <a:sym typeface="+mn-lt"/>
              </a:rPr>
              <a:t>policy holders makes </a:t>
            </a:r>
            <a:r>
              <a:rPr lang="en-US" altLang="zh-CN" u="sng" dirty="0">
                <a:latin typeface="+mn-lt"/>
                <a:ea typeface="+mn-ea"/>
                <a:cs typeface="+mn-ea"/>
                <a:sym typeface="+mn-lt"/>
              </a:rPr>
              <a:t>regular premium payments </a:t>
            </a:r>
            <a:r>
              <a:rPr lang="en-US" altLang="zh-CN" dirty="0">
                <a:latin typeface="+mn-lt"/>
                <a:ea typeface="+mn-ea"/>
                <a:cs typeface="+mn-ea"/>
                <a:sym typeface="+mn-lt"/>
              </a:rPr>
              <a:t>in exchange for the promise </a:t>
            </a:r>
            <a:r>
              <a:rPr lang="en-US" altLang="zh-CN" dirty="0" smtClean="0">
                <a:latin typeface="+mn-lt"/>
                <a:ea typeface="+mn-ea"/>
                <a:cs typeface="+mn-ea"/>
                <a:sym typeface="+mn-lt"/>
              </a:rPr>
              <a:t>of </a:t>
            </a:r>
            <a:r>
              <a:rPr lang="en-US" altLang="zh-CN" u="sng" dirty="0" smtClean="0">
                <a:latin typeface="+mn-lt"/>
                <a:ea typeface="+mn-ea"/>
                <a:cs typeface="+mn-ea"/>
                <a:sym typeface="+mn-lt"/>
              </a:rPr>
              <a:t>receiving </a:t>
            </a:r>
            <a:r>
              <a:rPr lang="en-US" altLang="zh-CN" u="sng" dirty="0">
                <a:latin typeface="+mn-lt"/>
                <a:ea typeface="+mn-ea"/>
                <a:cs typeface="+mn-ea"/>
                <a:sym typeface="+mn-lt"/>
              </a:rPr>
              <a:t>contingent payout(s) </a:t>
            </a:r>
            <a:r>
              <a:rPr lang="en-US" altLang="zh-CN" dirty="0">
                <a:latin typeface="+mn-lt"/>
                <a:ea typeface="+mn-ea"/>
                <a:cs typeface="+mn-ea"/>
                <a:sym typeface="+mn-lt"/>
              </a:rPr>
              <a:t>which triggered by well-defined (</a:t>
            </a:r>
            <a:r>
              <a:rPr lang="en-US" altLang="zh-CN" dirty="0" smtClean="0">
                <a:latin typeface="+mn-lt"/>
                <a:ea typeface="+mn-ea"/>
                <a:cs typeface="+mn-ea"/>
                <a:sym typeface="+mn-lt"/>
              </a:rPr>
              <a:t>contractual——</a:t>
            </a:r>
            <a:r>
              <a:rPr lang="zh-CN" altLang="en-US" dirty="0" smtClean="0">
                <a:latin typeface="+mn-lt"/>
                <a:ea typeface="+mn-ea"/>
                <a:cs typeface="+mn-ea"/>
                <a:sym typeface="+mn-lt"/>
              </a:rPr>
              <a:t>契约</a:t>
            </a:r>
            <a:r>
              <a:rPr lang="en-US" altLang="zh-CN" dirty="0" smtClean="0">
                <a:latin typeface="+mn-lt"/>
                <a:ea typeface="+mn-ea"/>
                <a:cs typeface="+mn-ea"/>
                <a:sym typeface="+mn-lt"/>
              </a:rPr>
              <a:t>) </a:t>
            </a:r>
            <a:r>
              <a:rPr lang="en-US" altLang="zh-CN" dirty="0">
                <a:latin typeface="+mn-lt"/>
                <a:ea typeface="+mn-ea"/>
                <a:cs typeface="+mn-ea"/>
                <a:sym typeface="+mn-lt"/>
              </a:rPr>
              <a:t>events.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7268701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CA" altLang="en-US" dirty="0">
                <a:latin typeface="+mn-lt"/>
                <a:ea typeface="+mn-ea"/>
                <a:cs typeface="+mn-ea"/>
                <a:sym typeface="+mn-lt"/>
              </a:rPr>
              <a:t>Extract from US Mortality Tables (2013): </a:t>
            </a:r>
            <a:r>
              <a:rPr lang="en-CA" altLang="en-US" dirty="0" smtClean="0">
                <a:latin typeface="+mn-lt"/>
                <a:ea typeface="+mn-ea"/>
                <a:cs typeface="+mn-ea"/>
                <a:sym typeface="+mn-lt"/>
              </a:rPr>
              <a:t>Male</a:t>
            </a:r>
          </a:p>
          <a:p>
            <a:endParaRPr lang="en-CA" altLang="en-US" dirty="0">
              <a:latin typeface="+mn-lt"/>
              <a:ea typeface="+mn-ea"/>
              <a:cs typeface="+mn-ea"/>
              <a:sym typeface="+mn-lt"/>
            </a:endParaRPr>
          </a:p>
          <a:p>
            <a:endParaRPr lang="en-CA" altLang="en-US" dirty="0" smtClean="0">
              <a:latin typeface="+mn-lt"/>
              <a:ea typeface="+mn-ea"/>
              <a:cs typeface="+mn-ea"/>
              <a:sym typeface="+mn-lt"/>
            </a:endParaRPr>
          </a:p>
          <a:p>
            <a:endParaRPr lang="en-CA" altLang="en-US" dirty="0">
              <a:latin typeface="+mn-lt"/>
              <a:ea typeface="+mn-ea"/>
              <a:cs typeface="+mn-ea"/>
              <a:sym typeface="+mn-lt"/>
            </a:endParaRPr>
          </a:p>
          <a:p>
            <a:pPr marL="0" indent="0">
              <a:buNone/>
            </a:pPr>
            <a:endParaRPr lang="en-CA" altLang="en-US" dirty="0">
              <a:latin typeface="+mn-lt"/>
              <a:ea typeface="+mn-ea"/>
              <a:cs typeface="+mn-ea"/>
              <a:sym typeface="+mn-lt"/>
            </a:endParaRPr>
          </a:p>
          <a:p>
            <a:r>
              <a:rPr lang="en-US" altLang="en-US" dirty="0">
                <a:latin typeface="+mn-lt"/>
                <a:ea typeface="+mn-ea"/>
                <a:cs typeface="+mn-ea"/>
                <a:sym typeface="+mn-lt"/>
              </a:rPr>
              <a:t>Extract from US Mortality Tables (2013): Female</a:t>
            </a:r>
            <a:endParaRPr lang="en-CA" altLang="en-US" dirty="0" smtClean="0">
              <a:latin typeface="+mn-lt"/>
              <a:ea typeface="+mn-ea"/>
              <a:cs typeface="+mn-ea"/>
              <a:sym typeface="+mn-lt"/>
            </a:endParaRPr>
          </a:p>
          <a:p>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Mortality Table</a:t>
            </a:r>
            <a:endParaRPr lang="zh-CN" altLang="en-US" dirty="0">
              <a:latin typeface="+mn-lt"/>
              <a:ea typeface="+mn-ea"/>
              <a:cs typeface="+mn-ea"/>
              <a:sym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917489653"/>
              </p:ext>
            </p:extLst>
          </p:nvPr>
        </p:nvGraphicFramePr>
        <p:xfrm>
          <a:off x="987751" y="4224011"/>
          <a:ext cx="6786561" cy="2128837"/>
        </p:xfrm>
        <a:graphic>
          <a:graphicData uri="http://schemas.openxmlformats.org/drawingml/2006/table">
            <a:tbl>
              <a:tblPr firstRow="1" bandRow="1">
                <a:tableStyleId>{D27102A9-8310-4765-A935-A1911B00CA55}</a:tableStyleId>
              </a:tblPr>
              <a:tblGrid>
                <a:gridCol w="937171">
                  <a:extLst>
                    <a:ext uri="{9D8B030D-6E8A-4147-A177-3AD203B41FA5}">
                      <a16:colId xmlns="" xmlns:a16="http://schemas.microsoft.com/office/drawing/2014/main" val="20000"/>
                    </a:ext>
                  </a:extLst>
                </a:gridCol>
                <a:gridCol w="2342928">
                  <a:extLst>
                    <a:ext uri="{9D8B030D-6E8A-4147-A177-3AD203B41FA5}">
                      <a16:colId xmlns="" xmlns:a16="http://schemas.microsoft.com/office/drawing/2014/main" val="20001"/>
                    </a:ext>
                  </a:extLst>
                </a:gridCol>
                <a:gridCol w="1640050">
                  <a:extLst>
                    <a:ext uri="{9D8B030D-6E8A-4147-A177-3AD203B41FA5}">
                      <a16:colId xmlns="" xmlns:a16="http://schemas.microsoft.com/office/drawing/2014/main" val="20002"/>
                    </a:ext>
                  </a:extLst>
                </a:gridCol>
                <a:gridCol w="1866412">
                  <a:extLst>
                    <a:ext uri="{9D8B030D-6E8A-4147-A177-3AD203B41FA5}">
                      <a16:colId xmlns="" xmlns:a16="http://schemas.microsoft.com/office/drawing/2014/main" val="20003"/>
                    </a:ext>
                  </a:extLst>
                </a:gridCol>
              </a:tblGrid>
              <a:tr h="642937">
                <a:tc>
                  <a:txBody>
                    <a:bodyPr/>
                    <a:lstStyle/>
                    <a:p>
                      <a:pPr algn="ctr"/>
                      <a:r>
                        <a:rPr lang="en-CA" sz="1800" dirty="0" smtClean="0">
                          <a:latin typeface="+mn-lt"/>
                          <a:ea typeface="+mn-ea"/>
                          <a:cs typeface="+mn-ea"/>
                          <a:sym typeface="+mn-lt"/>
                        </a:rPr>
                        <a:t>Age</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Prob. death within</a:t>
                      </a:r>
                      <a:r>
                        <a:rPr lang="en-CA" sz="1800" baseline="0" dirty="0" smtClean="0">
                          <a:latin typeface="+mn-lt"/>
                          <a:ea typeface="+mn-ea"/>
                          <a:cs typeface="+mn-ea"/>
                          <a:sym typeface="+mn-lt"/>
                        </a:rPr>
                        <a:t> one year</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Prob. Survival</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Life expectancy (yrs)</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0"/>
                  </a:ext>
                </a:extLst>
              </a:tr>
              <a:tr h="371475">
                <a:tc>
                  <a:txBody>
                    <a:bodyPr/>
                    <a:lstStyle/>
                    <a:p>
                      <a:pPr algn="ctr"/>
                      <a:r>
                        <a:rPr lang="en-CA" sz="1800" dirty="0" smtClean="0">
                          <a:latin typeface="+mn-lt"/>
                          <a:ea typeface="+mn-ea"/>
                          <a:cs typeface="+mn-ea"/>
                          <a:sym typeface="+mn-lt"/>
                        </a:rPr>
                        <a:t>30</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0.000664</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0.98635</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52.01</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1"/>
                  </a:ext>
                </a:extLst>
              </a:tr>
              <a:tr h="371475">
                <a:tc>
                  <a:txBody>
                    <a:bodyPr/>
                    <a:lstStyle/>
                    <a:p>
                      <a:pPr algn="ctr"/>
                      <a:r>
                        <a:rPr lang="en-CA" sz="1800" dirty="0" smtClean="0">
                          <a:latin typeface="+mn-lt"/>
                          <a:ea typeface="+mn-ea"/>
                          <a:cs typeface="+mn-ea"/>
                          <a:sym typeface="+mn-lt"/>
                        </a:rPr>
                        <a:t>31</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0.000705</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0.98569</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51.04</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2"/>
                  </a:ext>
                </a:extLst>
              </a:tr>
              <a:tr h="371475">
                <a:tc>
                  <a:txBody>
                    <a:bodyPr/>
                    <a:lstStyle/>
                    <a:p>
                      <a:pPr algn="ctr"/>
                      <a:r>
                        <a:rPr lang="en-CA" sz="1800" dirty="0" smtClean="0">
                          <a:latin typeface="+mn-lt"/>
                          <a:ea typeface="+mn-ea"/>
                          <a:cs typeface="+mn-ea"/>
                          <a:sym typeface="+mn-lt"/>
                        </a:rPr>
                        <a:t>32</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0.000748</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0.98500</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50.08</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3"/>
                  </a:ext>
                </a:extLst>
              </a:tr>
              <a:tr h="371475">
                <a:tc>
                  <a:txBody>
                    <a:bodyPr/>
                    <a:lstStyle/>
                    <a:p>
                      <a:pPr algn="ctr"/>
                      <a:r>
                        <a:rPr lang="en-CA" sz="1800" dirty="0" smtClean="0">
                          <a:latin typeface="+mn-lt"/>
                          <a:ea typeface="+mn-ea"/>
                          <a:cs typeface="+mn-ea"/>
                          <a:sym typeface="+mn-lt"/>
                        </a:rPr>
                        <a:t>33</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0.000794</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0.98426</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49.11</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4"/>
                  </a:ext>
                </a:extLst>
              </a:tr>
            </a:tbl>
          </a:graphicData>
        </a:graphic>
      </p:graphicFrame>
      <p:graphicFrame>
        <p:nvGraphicFramePr>
          <p:cNvPr id="7" name="Table 5"/>
          <p:cNvGraphicFramePr>
            <a:graphicFrameLocks noGrp="1"/>
          </p:cNvGraphicFramePr>
          <p:nvPr>
            <p:extLst>
              <p:ext uri="{D42A27DB-BD31-4B8C-83A1-F6EECF244321}">
                <p14:modId xmlns:p14="http://schemas.microsoft.com/office/powerpoint/2010/main" val="3176184422"/>
              </p:ext>
            </p:extLst>
          </p:nvPr>
        </p:nvGraphicFramePr>
        <p:xfrm>
          <a:off x="987751" y="1514712"/>
          <a:ext cx="6786561" cy="2128837"/>
        </p:xfrm>
        <a:graphic>
          <a:graphicData uri="http://schemas.openxmlformats.org/drawingml/2006/table">
            <a:tbl>
              <a:tblPr firstRow="1" bandRow="1">
                <a:tableStyleId>{5FD0F851-EC5A-4D38-B0AD-8093EC10F338}</a:tableStyleId>
              </a:tblPr>
              <a:tblGrid>
                <a:gridCol w="937171">
                  <a:extLst>
                    <a:ext uri="{9D8B030D-6E8A-4147-A177-3AD203B41FA5}">
                      <a16:colId xmlns="" xmlns:a16="http://schemas.microsoft.com/office/drawing/2014/main" val="20000"/>
                    </a:ext>
                  </a:extLst>
                </a:gridCol>
                <a:gridCol w="2342928">
                  <a:extLst>
                    <a:ext uri="{9D8B030D-6E8A-4147-A177-3AD203B41FA5}">
                      <a16:colId xmlns="" xmlns:a16="http://schemas.microsoft.com/office/drawing/2014/main" val="20001"/>
                    </a:ext>
                  </a:extLst>
                </a:gridCol>
                <a:gridCol w="1640050">
                  <a:extLst>
                    <a:ext uri="{9D8B030D-6E8A-4147-A177-3AD203B41FA5}">
                      <a16:colId xmlns="" xmlns:a16="http://schemas.microsoft.com/office/drawing/2014/main" val="20002"/>
                    </a:ext>
                  </a:extLst>
                </a:gridCol>
                <a:gridCol w="1866412">
                  <a:extLst>
                    <a:ext uri="{9D8B030D-6E8A-4147-A177-3AD203B41FA5}">
                      <a16:colId xmlns="" xmlns:a16="http://schemas.microsoft.com/office/drawing/2014/main" val="20003"/>
                    </a:ext>
                  </a:extLst>
                </a:gridCol>
              </a:tblGrid>
              <a:tr h="642937">
                <a:tc>
                  <a:txBody>
                    <a:bodyPr/>
                    <a:lstStyle/>
                    <a:p>
                      <a:pPr algn="ctr"/>
                      <a:r>
                        <a:rPr lang="en-CA" sz="1800" dirty="0" smtClean="0">
                          <a:latin typeface="+mn-lt"/>
                          <a:ea typeface="+mn-ea"/>
                          <a:cs typeface="+mn-ea"/>
                          <a:sym typeface="+mn-lt"/>
                        </a:rPr>
                        <a:t>Age</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Prob. death within</a:t>
                      </a:r>
                      <a:r>
                        <a:rPr lang="en-CA" sz="1800" baseline="0" dirty="0" smtClean="0">
                          <a:latin typeface="+mn-lt"/>
                          <a:ea typeface="+mn-ea"/>
                          <a:cs typeface="+mn-ea"/>
                          <a:sym typeface="+mn-lt"/>
                        </a:rPr>
                        <a:t> one year</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Prob. Survival</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Life expectancy (yrs)</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0"/>
                  </a:ext>
                </a:extLst>
              </a:tr>
              <a:tr h="371475">
                <a:tc>
                  <a:txBody>
                    <a:bodyPr/>
                    <a:lstStyle/>
                    <a:p>
                      <a:pPr algn="ctr"/>
                      <a:r>
                        <a:rPr lang="en-CA" sz="1800" dirty="0" smtClean="0">
                          <a:latin typeface="+mn-lt"/>
                          <a:ea typeface="+mn-ea"/>
                          <a:cs typeface="+mn-ea"/>
                          <a:sym typeface="+mn-lt"/>
                        </a:rPr>
                        <a:t>30</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0.001467</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0.97519</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47.82</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1"/>
                  </a:ext>
                </a:extLst>
              </a:tr>
              <a:tr h="371475">
                <a:tc>
                  <a:txBody>
                    <a:bodyPr/>
                    <a:lstStyle/>
                    <a:p>
                      <a:pPr algn="ctr"/>
                      <a:r>
                        <a:rPr lang="en-CA" sz="1800" dirty="0" smtClean="0">
                          <a:latin typeface="+mn-lt"/>
                          <a:ea typeface="+mn-ea"/>
                          <a:cs typeface="+mn-ea"/>
                          <a:sym typeface="+mn-lt"/>
                        </a:rPr>
                        <a:t>31</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0.001505</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0.97376</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46.89</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2"/>
                  </a:ext>
                </a:extLst>
              </a:tr>
              <a:tr h="371475">
                <a:tc>
                  <a:txBody>
                    <a:bodyPr/>
                    <a:lstStyle/>
                    <a:p>
                      <a:pPr algn="ctr"/>
                      <a:r>
                        <a:rPr lang="en-CA" sz="1800" dirty="0" smtClean="0">
                          <a:latin typeface="+mn-lt"/>
                          <a:ea typeface="+mn-ea"/>
                          <a:cs typeface="+mn-ea"/>
                          <a:sym typeface="+mn-lt"/>
                        </a:rPr>
                        <a:t>32</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0.001541</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0.97230</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45.96</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3"/>
                  </a:ext>
                </a:extLst>
              </a:tr>
              <a:tr h="371475">
                <a:tc>
                  <a:txBody>
                    <a:bodyPr/>
                    <a:lstStyle/>
                    <a:p>
                      <a:pPr algn="ctr"/>
                      <a:r>
                        <a:rPr lang="en-CA" sz="1800" dirty="0" smtClean="0">
                          <a:latin typeface="+mn-lt"/>
                          <a:ea typeface="+mn-ea"/>
                          <a:cs typeface="+mn-ea"/>
                          <a:sym typeface="+mn-lt"/>
                        </a:rPr>
                        <a:t>33</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0.001573</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0.97080</a:t>
                      </a:r>
                      <a:endParaRPr lang="en-US" sz="1800" dirty="0">
                        <a:latin typeface="+mn-lt"/>
                        <a:ea typeface="+mn-ea"/>
                        <a:cs typeface="+mn-ea"/>
                        <a:sym typeface="+mn-lt"/>
                      </a:endParaRPr>
                    </a:p>
                  </a:txBody>
                  <a:tcPr marL="91439" marR="91439"/>
                </a:tc>
                <a:tc>
                  <a:txBody>
                    <a:bodyPr/>
                    <a:lstStyle/>
                    <a:p>
                      <a:pPr algn="ctr"/>
                      <a:r>
                        <a:rPr lang="en-CA" sz="1800" dirty="0" smtClean="0">
                          <a:latin typeface="+mn-lt"/>
                          <a:ea typeface="+mn-ea"/>
                          <a:cs typeface="+mn-ea"/>
                          <a:sym typeface="+mn-lt"/>
                        </a:rPr>
                        <a:t>45.03</a:t>
                      </a:r>
                      <a:endParaRPr lang="en-US" sz="1800" dirty="0">
                        <a:latin typeface="+mn-lt"/>
                        <a:ea typeface="+mn-ea"/>
                        <a:cs typeface="+mn-ea"/>
                        <a:sym typeface="+mn-lt"/>
                      </a:endParaRPr>
                    </a:p>
                  </a:txBody>
                  <a:tcPr marL="91439" marR="91439"/>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9161390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latin typeface="+mn-lt"/>
                <a:ea typeface="+mn-ea"/>
                <a:cs typeface="+mn-ea"/>
                <a:sym typeface="+mn-lt"/>
              </a:rPr>
              <a:t>How Tables Are Used In Pricing Life </a:t>
            </a:r>
            <a:r>
              <a:rPr lang="en-US" altLang="zh-CN" dirty="0" smtClean="0">
                <a:latin typeface="+mn-lt"/>
                <a:ea typeface="+mn-ea"/>
                <a:cs typeface="+mn-ea"/>
                <a:sym typeface="+mn-lt"/>
              </a:rPr>
              <a:t>Insurance</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Consider a female aged 30</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Probability of death during first year is 0.000664</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Probability of death during second year is</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	</a:t>
            </a:r>
            <a:r>
              <a:rPr lang="en-CA" altLang="en-US" sz="2000" kern="0" dirty="0" smtClean="0">
                <a:solidFill>
                  <a:srgbClr val="000000"/>
                </a:solidFill>
                <a:latin typeface="+mn-lt"/>
                <a:ea typeface="+mn-ea"/>
                <a:cs typeface="+mn-ea"/>
                <a:sym typeface="+mn-lt"/>
              </a:rPr>
              <a:t>(</a:t>
            </a:r>
            <a:r>
              <a:rPr lang="en-CA" altLang="en-US" sz="2000" kern="0" dirty="0">
                <a:solidFill>
                  <a:srgbClr val="000000"/>
                </a:solidFill>
                <a:latin typeface="+mn-lt"/>
                <a:ea typeface="+mn-ea"/>
                <a:cs typeface="+mn-ea"/>
                <a:sym typeface="+mn-lt"/>
              </a:rPr>
              <a:t>1-0.000664) × 0.000705 </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Probability of death during third year </a:t>
            </a:r>
            <a:r>
              <a:rPr lang="en-CA" altLang="en-US" kern="0" dirty="0" smtClean="0">
                <a:solidFill>
                  <a:srgbClr val="000000"/>
                </a:solidFill>
                <a:latin typeface="+mn-lt"/>
                <a:ea typeface="+mn-ea"/>
                <a:cs typeface="+mn-ea"/>
                <a:sym typeface="+mn-lt"/>
              </a:rPr>
              <a:t>is</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sz="2000" kern="0" dirty="0" smtClean="0">
                <a:solidFill>
                  <a:srgbClr val="000000"/>
                </a:solidFill>
                <a:latin typeface="+mn-lt"/>
                <a:ea typeface="+mn-ea"/>
                <a:cs typeface="+mn-ea"/>
                <a:sym typeface="+mn-lt"/>
              </a:rPr>
              <a:t>(1-0.000664</a:t>
            </a:r>
            <a:r>
              <a:rPr lang="en-CA" altLang="en-US" sz="2000" kern="0" dirty="0">
                <a:solidFill>
                  <a:srgbClr val="000000"/>
                </a:solidFill>
                <a:latin typeface="+mn-lt"/>
                <a:ea typeface="+mn-ea"/>
                <a:cs typeface="+mn-ea"/>
                <a:sym typeface="+mn-lt"/>
              </a:rPr>
              <a:t>) × (1-0.000705) ×0.000748</a:t>
            </a: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smtClean="0">
                <a:solidFill>
                  <a:srgbClr val="000000"/>
                </a:solidFill>
                <a:latin typeface="+mn-lt"/>
                <a:ea typeface="+mn-ea"/>
                <a:cs typeface="+mn-ea"/>
                <a:sym typeface="+mn-lt"/>
              </a:rPr>
              <a:t>Etc…</a:t>
            </a:r>
            <a:endParaRPr lang="en-CA" altLang="en-US" kern="0" dirty="0">
              <a:solidFill>
                <a:srgbClr val="000000"/>
              </a:solidFill>
              <a:latin typeface="+mn-lt"/>
              <a:ea typeface="+mn-ea"/>
              <a:cs typeface="+mn-ea"/>
              <a:sym typeface="+mn-lt"/>
            </a:endParaRPr>
          </a:p>
          <a:p>
            <a:pPr marL="876286" lvl="1" indent="-342900" defTabSz="914400" fontAlgn="base">
              <a:lnSpc>
                <a:spcPct val="100000"/>
              </a:lnSpc>
              <a:spcBef>
                <a:spcPct val="20000"/>
              </a:spcBef>
              <a:spcAft>
                <a:spcPct val="0"/>
              </a:spcAft>
              <a:buClr>
                <a:srgbClr val="7C1302"/>
              </a:buClr>
              <a:buSzPct val="70000"/>
              <a:buFont typeface="Wingdings" panose="05000000000000000000" pitchFamily="2" charset="2"/>
              <a:buChar char="l"/>
            </a:pPr>
            <a:r>
              <a:rPr lang="en-CA" altLang="en-US" kern="0" dirty="0">
                <a:solidFill>
                  <a:srgbClr val="000000"/>
                </a:solidFill>
                <a:latin typeface="+mn-lt"/>
                <a:ea typeface="+mn-ea"/>
                <a:cs typeface="+mn-ea"/>
                <a:sym typeface="+mn-lt"/>
              </a:rPr>
              <a:t>Minimum premium is such that present value of inflows equals present value of outflows.</a:t>
            </a:r>
          </a:p>
          <a:p>
            <a:endParaRPr lang="zh-CN" altLang="en-US" dirty="0">
              <a:latin typeface="+mn-lt"/>
              <a:ea typeface="+mn-ea"/>
              <a:cs typeface="+mn-ea"/>
              <a:sym typeface="+mn-lt"/>
            </a:endParaRPr>
          </a:p>
        </p:txBody>
      </p:sp>
      <p:sp>
        <p:nvSpPr>
          <p:cNvPr id="5" name="标题 1"/>
          <p:cNvSpPr>
            <a:spLocks noGrp="1"/>
          </p:cNvSpPr>
          <p:nvPr>
            <p:ph type="title"/>
          </p:nvPr>
        </p:nvSpPr>
        <p:spPr/>
        <p:txBody>
          <a:bodyPr/>
          <a:lstStyle/>
          <a:p>
            <a:r>
              <a:rPr lang="en-US" altLang="zh-CN" dirty="0" smtClean="0">
                <a:latin typeface="+mn-lt"/>
                <a:ea typeface="+mn-ea"/>
                <a:cs typeface="+mn-ea"/>
                <a:sym typeface="+mn-lt"/>
              </a:rPr>
              <a:t>Mortality Table</a:t>
            </a:r>
            <a:endParaRPr lang="zh-CN" altLang="en-US" dirty="0">
              <a:latin typeface="+mn-lt"/>
              <a:ea typeface="+mn-ea"/>
              <a:cs typeface="+mn-ea"/>
              <a:sym typeface="+mn-lt"/>
            </a:endParaRPr>
          </a:p>
        </p:txBody>
      </p:sp>
    </p:spTree>
    <p:extLst>
      <p:ext uri="{BB962C8B-B14F-4D97-AF65-F5344CB8AC3E}">
        <p14:creationId xmlns:p14="http://schemas.microsoft.com/office/powerpoint/2010/main" val="40540005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Mortality Table</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b="1" dirty="0">
                <a:latin typeface="+mn-lt"/>
                <a:ea typeface="+mn-ea"/>
                <a:cs typeface="+mn-ea"/>
                <a:sym typeface="+mn-lt"/>
              </a:rPr>
              <a:t>Valuation of Life Insurance Contracts</a:t>
            </a:r>
          </a:p>
          <a:p>
            <a:pPr lvl="1"/>
            <a:r>
              <a:rPr lang="en-US" altLang="zh-CN" dirty="0">
                <a:latin typeface="+mn-lt"/>
                <a:ea typeface="+mn-ea"/>
                <a:cs typeface="+mn-ea"/>
                <a:sym typeface="+mn-lt"/>
              </a:rPr>
              <a:t>Mortality tables are the key to valuing life insurance contracts.</a:t>
            </a:r>
          </a:p>
          <a:p>
            <a:endParaRPr lang="zh-CN" altLang="en-US" dirty="0">
              <a:latin typeface="+mn-lt"/>
              <a:ea typeface="+mn-ea"/>
              <a:cs typeface="+mn-ea"/>
              <a:sym typeface="+mn-lt"/>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5470" y="2001838"/>
            <a:ext cx="8208962" cy="295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2498" y="5128470"/>
            <a:ext cx="7974905" cy="1218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882525" y="813468"/>
            <a:ext cx="5497416" cy="605927"/>
          </a:xfrm>
          <a:prstGeom prst="rect">
            <a:avLst/>
          </a:prstGeom>
          <a:noFill/>
          <a:ln w="31750">
            <a:solidFill>
              <a:srgbClr val="FF0000"/>
            </a:solidFill>
          </a:ln>
        </p:spPr>
        <p:txBody>
          <a:bodyPr wrap="square" rtlCol="0">
            <a:spAutoFit/>
          </a:bodyPr>
          <a:lstStyle/>
          <a:p>
            <a:endParaRPr lang="zh-CN" altLang="en-US" dirty="0">
              <a:cs typeface="+mn-ea"/>
              <a:sym typeface="+mn-lt"/>
            </a:endParaRPr>
          </a:p>
        </p:txBody>
      </p:sp>
    </p:spTree>
    <p:extLst>
      <p:ext uri="{BB962C8B-B14F-4D97-AF65-F5344CB8AC3E}">
        <p14:creationId xmlns:p14="http://schemas.microsoft.com/office/powerpoint/2010/main" val="30219799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Valuation of Life Insurance Contracts (cont’d)</a:t>
            </a:r>
          </a:p>
          <a:p>
            <a:pPr lvl="1">
              <a:lnSpc>
                <a:spcPct val="140000"/>
              </a:lnSpc>
              <a:spcBef>
                <a:spcPct val="0"/>
              </a:spcBef>
              <a:buFont typeface="Wingdings" panose="05000000000000000000" pitchFamily="2" charset="2"/>
              <a:buChar char="l"/>
              <a:defRPr/>
            </a:pPr>
            <a:r>
              <a:rPr lang="en-US" altLang="zh-CN" b="1" dirty="0">
                <a:latin typeface="+mn-lt"/>
                <a:ea typeface="+mn-ea"/>
                <a:cs typeface="+mn-ea"/>
                <a:sym typeface="+mn-lt"/>
              </a:rPr>
              <a:t>Example</a:t>
            </a:r>
          </a:p>
          <a:p>
            <a:pPr lvl="1"/>
            <a:r>
              <a:rPr lang="en-US" altLang="zh-CN" dirty="0">
                <a:latin typeface="+mn-lt"/>
                <a:ea typeface="+mn-ea"/>
                <a:cs typeface="+mn-ea"/>
                <a:sym typeface="+mn-lt"/>
              </a:rPr>
              <a:t>Assume interest rates for all maturities are 4% per annum </a:t>
            </a:r>
            <a:r>
              <a:rPr lang="en-US" altLang="zh-CN" dirty="0">
                <a:solidFill>
                  <a:srgbClr val="FF0000"/>
                </a:solidFill>
                <a:latin typeface="+mn-lt"/>
                <a:ea typeface="+mn-ea"/>
                <a:cs typeface="+mn-ea"/>
                <a:sym typeface="+mn-lt"/>
              </a:rPr>
              <a:t>(with semiannual compounding)</a:t>
            </a:r>
            <a:r>
              <a:rPr lang="en-US" altLang="zh-CN" dirty="0">
                <a:latin typeface="+mn-lt"/>
                <a:ea typeface="+mn-ea"/>
                <a:cs typeface="+mn-ea"/>
                <a:sym typeface="+mn-lt"/>
              </a:rPr>
              <a:t>. Premiums are paid once a year at the beginning of the year. Given the above mortality tables, what is an insurance company’s break-even premium for $100,000 of life insurance for a man of average health aged 90? </a:t>
            </a:r>
            <a:endParaRPr lang="en-US" altLang="zh-CN" dirty="0" smtClean="0">
              <a:latin typeface="+mn-lt"/>
              <a:ea typeface="+mn-ea"/>
              <a:cs typeface="+mn-ea"/>
              <a:sym typeface="+mn-lt"/>
            </a:endParaRPr>
          </a:p>
          <a:p>
            <a:pPr lvl="2">
              <a:lnSpc>
                <a:spcPct val="140000"/>
              </a:lnSpc>
              <a:spcBef>
                <a:spcPct val="0"/>
              </a:spcBef>
              <a:defRPr/>
            </a:pPr>
            <a:r>
              <a:rPr lang="en-US" altLang="zh-CN" b="1" dirty="0">
                <a:latin typeface="+mn-lt"/>
                <a:ea typeface="+mn-ea"/>
                <a:cs typeface="+mn-ea"/>
                <a:sym typeface="+mn-lt"/>
              </a:rPr>
              <a:t>Scenario 1: Lasts 1 year. Payout occurs halfway through the year.</a:t>
            </a:r>
          </a:p>
          <a:p>
            <a:pPr marL="1862110" lvl="3" indent="0">
              <a:lnSpc>
                <a:spcPct val="140000"/>
              </a:lnSpc>
              <a:spcBef>
                <a:spcPct val="0"/>
              </a:spcBef>
              <a:buNone/>
              <a:defRPr/>
            </a:pPr>
            <a:r>
              <a:rPr lang="en-US" altLang="zh-CN" dirty="0">
                <a:latin typeface="+mn-lt"/>
                <a:ea typeface="+mn-ea"/>
                <a:cs typeface="+mn-ea"/>
                <a:sym typeface="+mn-lt"/>
              </a:rPr>
              <a:t>Expected payout: 0.168352 × 100,000 = $16,835</a:t>
            </a:r>
          </a:p>
          <a:p>
            <a:pPr marL="1862110" lvl="3" indent="0">
              <a:lnSpc>
                <a:spcPct val="140000"/>
              </a:lnSpc>
              <a:spcBef>
                <a:spcPct val="0"/>
              </a:spcBef>
              <a:buNone/>
              <a:defRPr/>
            </a:pPr>
            <a:r>
              <a:rPr lang="en-US" altLang="zh-CN" dirty="0">
                <a:latin typeface="+mn-lt"/>
                <a:ea typeface="+mn-ea"/>
                <a:cs typeface="+mn-ea"/>
                <a:sym typeface="+mn-lt"/>
              </a:rPr>
              <a:t>Premium: 16,835/1.02 = $16,505</a:t>
            </a:r>
          </a:p>
          <a:p>
            <a:pPr lvl="2"/>
            <a:r>
              <a:rPr lang="en-US" altLang="zh-CN" b="1" dirty="0">
                <a:latin typeface="+mn-lt"/>
                <a:ea typeface="+mn-ea"/>
                <a:cs typeface="+mn-ea"/>
                <a:sym typeface="+mn-lt"/>
              </a:rPr>
              <a:t>Scenario 2: Lasts 2 years. Payout in 1</a:t>
            </a:r>
            <a:r>
              <a:rPr lang="en-US" altLang="zh-CN" b="1" baseline="30000" dirty="0">
                <a:latin typeface="+mn-lt"/>
                <a:ea typeface="+mn-ea"/>
                <a:cs typeface="+mn-ea"/>
                <a:sym typeface="+mn-lt"/>
              </a:rPr>
              <a:t>st</a:t>
            </a:r>
            <a:r>
              <a:rPr lang="en-US" altLang="zh-CN" b="1" dirty="0">
                <a:latin typeface="+mn-lt"/>
                <a:ea typeface="+mn-ea"/>
                <a:cs typeface="+mn-ea"/>
                <a:sym typeface="+mn-lt"/>
              </a:rPr>
              <a:t> year occurs halfway through the year. Payout in the 2</a:t>
            </a:r>
            <a:r>
              <a:rPr lang="en-US" altLang="zh-CN" b="1" baseline="30000" dirty="0">
                <a:latin typeface="+mn-lt"/>
                <a:ea typeface="+mn-ea"/>
                <a:cs typeface="+mn-ea"/>
                <a:sym typeface="+mn-lt"/>
              </a:rPr>
              <a:t>nd</a:t>
            </a:r>
            <a:r>
              <a:rPr lang="en-US" altLang="zh-CN" b="1" dirty="0">
                <a:latin typeface="+mn-lt"/>
                <a:ea typeface="+mn-ea"/>
                <a:cs typeface="+mn-ea"/>
                <a:sym typeface="+mn-lt"/>
              </a:rPr>
              <a:t> year occurs at time 18 months.</a:t>
            </a:r>
          </a:p>
          <a:p>
            <a:pPr lvl="1"/>
            <a:endParaRPr lang="en-US" altLang="zh-CN" dirty="0">
              <a:latin typeface="+mn-lt"/>
              <a:ea typeface="+mn-ea"/>
              <a:cs typeface="+mn-ea"/>
              <a:sym typeface="+mn-lt"/>
            </a:endParaRPr>
          </a:p>
          <a:p>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Mortality Table</a:t>
            </a:r>
            <a:endParaRPr lang="zh-CN" altLang="en-US" dirty="0">
              <a:latin typeface="+mn-lt"/>
              <a:ea typeface="+mn-ea"/>
              <a:cs typeface="+mn-ea"/>
              <a:sym typeface="+mn-lt"/>
            </a:endParaRPr>
          </a:p>
        </p:txBody>
      </p:sp>
    </p:spTree>
    <p:extLst>
      <p:ext uri="{BB962C8B-B14F-4D97-AF65-F5344CB8AC3E}">
        <p14:creationId xmlns:p14="http://schemas.microsoft.com/office/powerpoint/2010/main" val="22422055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Valuation of Life Insurance Contracts (cont’d)</a:t>
            </a:r>
          </a:p>
          <a:p>
            <a:pPr lvl="1">
              <a:buFont typeface="Wingdings" panose="05000000000000000000" pitchFamily="2" charset="2"/>
              <a:buChar char="l"/>
            </a:pPr>
            <a:r>
              <a:rPr lang="en-US" altLang="zh-CN" dirty="0">
                <a:latin typeface="+mn-lt"/>
                <a:ea typeface="+mn-ea"/>
                <a:cs typeface="+mn-ea"/>
                <a:sym typeface="+mn-lt"/>
              </a:rPr>
              <a:t>Example (cont’d</a:t>
            </a:r>
            <a:r>
              <a:rPr lang="en-US" altLang="zh-CN" dirty="0" smtClean="0">
                <a:latin typeface="+mn-lt"/>
                <a:ea typeface="+mn-ea"/>
                <a:cs typeface="+mn-ea"/>
                <a:sym typeface="+mn-lt"/>
              </a:rPr>
              <a:t>)</a:t>
            </a:r>
          </a:p>
          <a:p>
            <a:pPr marL="609585" lvl="1" indent="0">
              <a:buNone/>
            </a:pPr>
            <a:r>
              <a:rPr lang="en-US" altLang="zh-CN" dirty="0">
                <a:latin typeface="+mn-lt"/>
                <a:ea typeface="+mn-ea"/>
                <a:cs typeface="+mn-ea"/>
                <a:sym typeface="+mn-lt"/>
              </a:rPr>
              <a:t>Present value of expected payout in the first year: $16,505</a:t>
            </a:r>
          </a:p>
          <a:p>
            <a:pPr marL="609585" lvl="1" indent="0">
              <a:buNone/>
            </a:pPr>
            <a:r>
              <a:rPr lang="en-US" altLang="zh-CN" dirty="0">
                <a:latin typeface="+mn-lt"/>
                <a:ea typeface="+mn-ea"/>
                <a:cs typeface="+mn-ea"/>
                <a:sym typeface="+mn-lt"/>
              </a:rPr>
              <a:t>Probability that the policyholder dies during the second year is:</a:t>
            </a:r>
          </a:p>
          <a:p>
            <a:pPr marL="609585" lvl="1" indent="0">
              <a:buNone/>
            </a:pPr>
            <a:r>
              <a:rPr lang="en-US" altLang="zh-CN" dirty="0">
                <a:latin typeface="+mn-lt"/>
                <a:ea typeface="+mn-ea"/>
                <a:cs typeface="+mn-ea"/>
                <a:sym typeface="+mn-lt"/>
              </a:rPr>
              <a:t>(1 – 0.168352) × 0.185486 = 0.154259</a:t>
            </a:r>
          </a:p>
          <a:p>
            <a:pPr marL="609585" lvl="1" indent="0">
              <a:buNone/>
            </a:pPr>
            <a:r>
              <a:rPr lang="en-US" altLang="zh-CN" dirty="0">
                <a:latin typeface="+mn-lt"/>
                <a:ea typeface="+mn-ea"/>
                <a:cs typeface="+mn-ea"/>
                <a:sym typeface="+mn-lt"/>
              </a:rPr>
              <a:t>Present value of expected payout in the second year:</a:t>
            </a:r>
          </a:p>
          <a:p>
            <a:pPr marL="609585" lvl="1" indent="0">
              <a:buNone/>
            </a:pPr>
            <a:r>
              <a:rPr lang="en-US" altLang="zh-CN" dirty="0">
                <a:latin typeface="+mn-lt"/>
                <a:ea typeface="+mn-ea"/>
                <a:cs typeface="+mn-ea"/>
                <a:sym typeface="+mn-lt"/>
              </a:rPr>
              <a:t>0.154259 × 100,000/(1.02</a:t>
            </a:r>
            <a:r>
              <a:rPr lang="en-US" altLang="zh-CN" baseline="30000" dirty="0">
                <a:latin typeface="+mn-lt"/>
                <a:ea typeface="+mn-ea"/>
                <a:cs typeface="+mn-ea"/>
                <a:sym typeface="+mn-lt"/>
              </a:rPr>
              <a:t>3</a:t>
            </a:r>
            <a:r>
              <a:rPr lang="en-US" altLang="zh-CN" dirty="0">
                <a:latin typeface="+mn-lt"/>
                <a:ea typeface="+mn-ea"/>
                <a:cs typeface="+mn-ea"/>
                <a:sym typeface="+mn-lt"/>
              </a:rPr>
              <a:t>) = $14,536</a:t>
            </a:r>
          </a:p>
          <a:p>
            <a:pPr marL="609585" lvl="1" indent="0">
              <a:buNone/>
            </a:pPr>
            <a:r>
              <a:rPr lang="en-US" altLang="zh-CN" dirty="0">
                <a:latin typeface="+mn-lt"/>
                <a:ea typeface="+mn-ea"/>
                <a:cs typeface="+mn-ea"/>
                <a:sym typeface="+mn-lt"/>
              </a:rPr>
              <a:t>Total present value of payouts is: $16,505 + $14,536 = $31,041</a:t>
            </a:r>
          </a:p>
          <a:p>
            <a:pPr marL="609585" lvl="1" indent="0">
              <a:buNone/>
            </a:pPr>
            <a:r>
              <a:rPr lang="en-US" altLang="zh-CN" dirty="0">
                <a:latin typeface="+mn-lt"/>
                <a:ea typeface="+mn-ea"/>
                <a:cs typeface="+mn-ea"/>
                <a:sym typeface="+mn-lt"/>
              </a:rPr>
              <a:t>Present value of the premium payments is:</a:t>
            </a:r>
          </a:p>
          <a:p>
            <a:pPr marL="609585" lvl="1" indent="0">
              <a:buNone/>
            </a:pPr>
            <a:r>
              <a:rPr lang="en-US" altLang="zh-CN" dirty="0">
                <a:latin typeface="+mn-lt"/>
                <a:ea typeface="+mn-ea"/>
                <a:cs typeface="+mn-ea"/>
                <a:sym typeface="+mn-lt"/>
              </a:rPr>
              <a:t>X + (1 – 0.168352)X/(1.02</a:t>
            </a:r>
            <a:r>
              <a:rPr lang="en-US" altLang="zh-CN" baseline="30000" dirty="0">
                <a:latin typeface="+mn-lt"/>
                <a:ea typeface="+mn-ea"/>
                <a:cs typeface="+mn-ea"/>
                <a:sym typeface="+mn-lt"/>
              </a:rPr>
              <a:t>2</a:t>
            </a:r>
            <a:r>
              <a:rPr lang="en-US" altLang="zh-CN" dirty="0">
                <a:latin typeface="+mn-lt"/>
                <a:ea typeface="+mn-ea"/>
                <a:cs typeface="+mn-ea"/>
                <a:sym typeface="+mn-lt"/>
              </a:rPr>
              <a:t>) = 1.799354X</a:t>
            </a:r>
          </a:p>
          <a:p>
            <a:pPr marL="609585" lvl="1" indent="0">
              <a:buNone/>
            </a:pPr>
            <a:r>
              <a:rPr lang="en-US" altLang="zh-CN" dirty="0">
                <a:latin typeface="+mn-lt"/>
                <a:ea typeface="+mn-ea"/>
                <a:cs typeface="+mn-ea"/>
                <a:sym typeface="+mn-lt"/>
              </a:rPr>
              <a:t>The break-even annual premium is the value of X that solves:</a:t>
            </a:r>
          </a:p>
          <a:p>
            <a:pPr marL="609585" lvl="1" indent="0">
              <a:buNone/>
            </a:pPr>
            <a:r>
              <a:rPr lang="en-US" altLang="zh-CN" dirty="0">
                <a:latin typeface="+mn-lt"/>
                <a:ea typeface="+mn-ea"/>
                <a:cs typeface="+mn-ea"/>
                <a:sym typeface="+mn-lt"/>
              </a:rPr>
              <a:t>1.799354X = 31,041 → X = $17,251</a:t>
            </a:r>
          </a:p>
          <a:p>
            <a:pPr lvl="1"/>
            <a:endParaRPr lang="en-US" altLang="zh-CN" dirty="0">
              <a:latin typeface="+mn-lt"/>
              <a:ea typeface="+mn-ea"/>
              <a:cs typeface="+mn-ea"/>
              <a:sym typeface="+mn-lt"/>
            </a:endParaRPr>
          </a:p>
          <a:p>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Mortality Table</a:t>
            </a:r>
            <a:endParaRPr lang="zh-CN" altLang="en-US" dirty="0">
              <a:latin typeface="+mn-lt"/>
              <a:ea typeface="+mn-ea"/>
              <a:cs typeface="+mn-ea"/>
              <a:sym typeface="+mn-lt"/>
            </a:endParaRPr>
          </a:p>
        </p:txBody>
      </p:sp>
    </p:spTree>
    <p:extLst>
      <p:ext uri="{BB962C8B-B14F-4D97-AF65-F5344CB8AC3E}">
        <p14:creationId xmlns:p14="http://schemas.microsoft.com/office/powerpoint/2010/main" val="8836286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Property-casualty insurance companies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dirty="0">
                <a:latin typeface="+mn-lt"/>
                <a:ea typeface="+mn-ea"/>
                <a:cs typeface="+mn-ea"/>
                <a:sym typeface="+mn-lt"/>
              </a:rPr>
              <a:t>B</a:t>
            </a:r>
            <a:r>
              <a:rPr lang="en-US" altLang="zh-CN" dirty="0" smtClean="0">
                <a:latin typeface="+mn-lt"/>
                <a:ea typeface="+mn-ea"/>
                <a:cs typeface="+mn-ea"/>
                <a:sym typeface="+mn-lt"/>
              </a:rPr>
              <a:t>ased </a:t>
            </a:r>
            <a:r>
              <a:rPr lang="en-US" altLang="zh-CN" dirty="0">
                <a:latin typeface="+mn-lt"/>
                <a:ea typeface="+mn-ea"/>
                <a:cs typeface="+mn-ea"/>
                <a:sym typeface="+mn-lt"/>
              </a:rPr>
              <a:t>on their concentration </a:t>
            </a:r>
            <a:r>
              <a:rPr lang="en-US" altLang="zh-CN" dirty="0" smtClean="0">
                <a:latin typeface="+mn-lt"/>
                <a:ea typeface="+mn-ea"/>
                <a:cs typeface="+mn-ea"/>
                <a:sym typeface="+mn-lt"/>
              </a:rPr>
              <a:t>of activities </a:t>
            </a:r>
            <a:r>
              <a:rPr lang="en-US" altLang="zh-CN" dirty="0">
                <a:latin typeface="+mn-lt"/>
                <a:ea typeface="+mn-ea"/>
                <a:cs typeface="+mn-ea"/>
                <a:sym typeface="+mn-lt"/>
              </a:rPr>
              <a:t>in either property insurance and casualty insurance</a:t>
            </a:r>
            <a:r>
              <a:rPr lang="en-US" altLang="zh-CN" dirty="0" smtClean="0">
                <a:latin typeface="+mn-lt"/>
                <a:ea typeface="+mn-ea"/>
                <a:cs typeface="+mn-ea"/>
                <a:sym typeface="+mn-lt"/>
              </a:rPr>
              <a:t>.</a:t>
            </a:r>
          </a:p>
          <a:p>
            <a:pPr lvl="1">
              <a:buFont typeface="Wingdings" panose="05000000000000000000" pitchFamily="2" charset="2"/>
              <a:buChar char="l"/>
            </a:pPr>
            <a:r>
              <a:rPr lang="en-US" altLang="zh-CN" dirty="0">
                <a:latin typeface="+mn-lt"/>
                <a:ea typeface="+mn-ea"/>
                <a:cs typeface="+mn-ea"/>
                <a:sym typeface="+mn-lt"/>
              </a:rPr>
              <a:t>Property insurance provide protection against </a:t>
            </a:r>
            <a:r>
              <a:rPr lang="en-US" altLang="zh-CN" u="sng" dirty="0">
                <a:latin typeface="+mn-lt"/>
                <a:ea typeface="+mn-ea"/>
                <a:cs typeface="+mn-ea"/>
                <a:sym typeface="+mn-lt"/>
              </a:rPr>
              <a:t>loss of or damage </a:t>
            </a:r>
            <a:r>
              <a:rPr lang="en-US" altLang="zh-CN" dirty="0">
                <a:latin typeface="+mn-lt"/>
                <a:ea typeface="+mn-ea"/>
                <a:cs typeface="+mn-ea"/>
                <a:sym typeface="+mn-lt"/>
              </a:rPr>
              <a:t>to property </a:t>
            </a:r>
            <a:r>
              <a:rPr lang="en-US" altLang="zh-CN" dirty="0" smtClean="0">
                <a:latin typeface="+mn-lt"/>
                <a:ea typeface="+mn-ea"/>
                <a:cs typeface="+mn-ea"/>
                <a:sym typeface="+mn-lt"/>
              </a:rPr>
              <a:t>from accidents</a:t>
            </a:r>
            <a:r>
              <a:rPr lang="en-US" altLang="zh-CN" dirty="0">
                <a:latin typeface="+mn-lt"/>
                <a:ea typeface="+mn-ea"/>
                <a:cs typeface="+mn-ea"/>
                <a:sym typeface="+mn-lt"/>
              </a:rPr>
              <a:t>, </a:t>
            </a:r>
            <a:r>
              <a:rPr lang="en-US" altLang="zh-CN" i="1" dirty="0">
                <a:latin typeface="+mn-lt"/>
                <a:ea typeface="+mn-ea"/>
                <a:cs typeface="+mn-ea"/>
                <a:sym typeface="+mn-lt"/>
              </a:rPr>
              <a:t>fire, theft, water damage, etc</a:t>
            </a:r>
            <a:r>
              <a:rPr lang="en-US" altLang="zh-CN" dirty="0" smtClean="0">
                <a:latin typeface="+mn-lt"/>
                <a:ea typeface="+mn-ea"/>
                <a:cs typeface="+mn-ea"/>
                <a:sym typeface="+mn-lt"/>
              </a:rPr>
              <a:t>.</a:t>
            </a:r>
          </a:p>
          <a:p>
            <a:pPr lvl="1">
              <a:buFont typeface="Wingdings" panose="05000000000000000000" pitchFamily="2" charset="2"/>
              <a:buChar char="l"/>
            </a:pPr>
            <a:r>
              <a:rPr lang="en-US" altLang="zh-CN" dirty="0">
                <a:latin typeface="+mn-lt"/>
                <a:ea typeface="+mn-ea"/>
                <a:cs typeface="+mn-ea"/>
                <a:sym typeface="+mn-lt"/>
              </a:rPr>
              <a:t>Casualty insurance provides protection to individuals and companies against </a:t>
            </a:r>
            <a:r>
              <a:rPr lang="en-US" altLang="zh-CN" u="sng" dirty="0" smtClean="0">
                <a:latin typeface="+mn-lt"/>
                <a:ea typeface="+mn-ea"/>
                <a:cs typeface="+mn-ea"/>
                <a:sym typeface="+mn-lt"/>
              </a:rPr>
              <a:t>legal liability </a:t>
            </a:r>
            <a:r>
              <a:rPr lang="en-US" altLang="zh-CN" dirty="0">
                <a:latin typeface="+mn-lt"/>
                <a:ea typeface="+mn-ea"/>
                <a:cs typeface="+mn-ea"/>
                <a:sym typeface="+mn-lt"/>
              </a:rPr>
              <a:t>exposures (from, for example, injuries caused to third parties).</a:t>
            </a:r>
            <a:endParaRPr lang="zh-CN" altLang="en-US" dirty="0">
              <a:latin typeface="+mn-lt"/>
              <a:ea typeface="+mn-ea"/>
              <a:cs typeface="+mn-ea"/>
              <a:sym typeface="+mn-lt"/>
            </a:endParaRPr>
          </a:p>
        </p:txBody>
      </p:sp>
    </p:spTree>
    <p:extLst>
      <p:ext uri="{BB962C8B-B14F-4D97-AF65-F5344CB8AC3E}">
        <p14:creationId xmlns:p14="http://schemas.microsoft.com/office/powerpoint/2010/main" val="37501390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Risks F</a:t>
            </a:r>
            <a:r>
              <a:rPr lang="en-US" altLang="zh-CN" dirty="0" smtClean="0">
                <a:latin typeface="+mn-lt"/>
                <a:ea typeface="+mn-ea"/>
                <a:cs typeface="+mn-ea"/>
                <a:sym typeface="+mn-lt"/>
              </a:rPr>
              <a:t>acing </a:t>
            </a:r>
            <a:r>
              <a:rPr lang="en-US" altLang="zh-CN" dirty="0">
                <a:latin typeface="+mn-lt"/>
                <a:ea typeface="+mn-ea"/>
                <a:cs typeface="+mn-ea"/>
                <a:sym typeface="+mn-lt"/>
              </a:rPr>
              <a:t>I</a:t>
            </a:r>
            <a:r>
              <a:rPr lang="en-US" altLang="zh-CN" dirty="0" smtClean="0">
                <a:latin typeface="+mn-lt"/>
                <a:ea typeface="+mn-ea"/>
                <a:cs typeface="+mn-ea"/>
                <a:sym typeface="+mn-lt"/>
              </a:rPr>
              <a:t>nsurance </a:t>
            </a:r>
            <a:r>
              <a:rPr lang="en-US" altLang="zh-CN" dirty="0">
                <a:latin typeface="+mn-lt"/>
                <a:ea typeface="+mn-ea"/>
                <a:cs typeface="+mn-ea"/>
                <a:sym typeface="+mn-lt"/>
              </a:rPr>
              <a:t>C</a:t>
            </a:r>
            <a:r>
              <a:rPr lang="en-US" altLang="zh-CN" dirty="0" smtClean="0">
                <a:latin typeface="+mn-lt"/>
                <a:ea typeface="+mn-ea"/>
                <a:cs typeface="+mn-ea"/>
                <a:sym typeface="+mn-lt"/>
              </a:rPr>
              <a:t>ompanies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85000" lnSpcReduction="10000"/>
          </a:bodyPr>
          <a:lstStyle/>
          <a:p>
            <a:r>
              <a:rPr lang="en-US" altLang="zh-CN" sz="2800" dirty="0">
                <a:latin typeface="+mn-lt"/>
                <a:ea typeface="+mn-ea"/>
                <a:cs typeface="+mn-ea"/>
                <a:sym typeface="+mn-lt"/>
              </a:rPr>
              <a:t>Risks facing insurance </a:t>
            </a:r>
            <a:r>
              <a:rPr lang="en-US" altLang="zh-CN" sz="2800" dirty="0" smtClean="0">
                <a:latin typeface="+mn-lt"/>
                <a:ea typeface="+mn-ea"/>
                <a:cs typeface="+mn-ea"/>
                <a:sym typeface="+mn-lt"/>
              </a:rPr>
              <a:t>companies:</a:t>
            </a:r>
            <a:endParaRPr lang="en-US" altLang="zh-CN" sz="2800" dirty="0">
              <a:latin typeface="+mn-lt"/>
              <a:ea typeface="+mn-ea"/>
              <a:cs typeface="+mn-ea"/>
              <a:sym typeface="+mn-lt"/>
            </a:endParaRPr>
          </a:p>
          <a:p>
            <a:pPr lvl="1">
              <a:buFont typeface="Wingdings" panose="05000000000000000000" pitchFamily="2" charset="2"/>
              <a:buChar char="l"/>
            </a:pPr>
            <a:r>
              <a:rPr lang="en-US" altLang="zh-CN" dirty="0">
                <a:latin typeface="+mn-lt"/>
                <a:ea typeface="+mn-ea"/>
                <a:cs typeface="+mn-ea"/>
                <a:sym typeface="+mn-lt"/>
              </a:rPr>
              <a:t>The reserves held by the insurance companies to meet the payouts as required by </a:t>
            </a:r>
            <a:r>
              <a:rPr lang="en-US" altLang="zh-CN" dirty="0" smtClean="0">
                <a:latin typeface="+mn-lt"/>
                <a:ea typeface="+mn-ea"/>
                <a:cs typeface="+mn-ea"/>
                <a:sym typeface="+mn-lt"/>
              </a:rPr>
              <a:t>the claims </a:t>
            </a:r>
            <a:r>
              <a:rPr lang="en-US" altLang="zh-CN" dirty="0">
                <a:latin typeface="+mn-lt"/>
                <a:ea typeface="+mn-ea"/>
                <a:cs typeface="+mn-ea"/>
                <a:sym typeface="+mn-lt"/>
              </a:rPr>
              <a:t>of policyholders may </a:t>
            </a:r>
            <a:r>
              <a:rPr lang="en-US" altLang="zh-CN" u="sng" dirty="0">
                <a:latin typeface="+mn-lt"/>
                <a:ea typeface="+mn-ea"/>
                <a:cs typeface="+mn-ea"/>
                <a:sym typeface="+mn-lt"/>
              </a:rPr>
              <a:t>fall short of their estimation</a:t>
            </a:r>
            <a:r>
              <a:rPr lang="en-US" altLang="zh-CN" dirty="0">
                <a:latin typeface="+mn-lt"/>
                <a:ea typeface="+mn-ea"/>
                <a:cs typeface="+mn-ea"/>
                <a:sym typeface="+mn-lt"/>
              </a:rPr>
              <a:t>. This is the </a:t>
            </a:r>
            <a:r>
              <a:rPr lang="en-US" altLang="zh-CN" i="1" dirty="0">
                <a:latin typeface="+mn-lt"/>
                <a:ea typeface="+mn-ea"/>
                <a:cs typeface="+mn-ea"/>
                <a:sym typeface="+mn-lt"/>
              </a:rPr>
              <a:t>biggest risk </a:t>
            </a:r>
            <a:r>
              <a:rPr lang="en-US" altLang="zh-CN" dirty="0">
                <a:latin typeface="+mn-lt"/>
                <a:ea typeface="+mn-ea"/>
                <a:cs typeface="+mn-ea"/>
                <a:sym typeface="+mn-lt"/>
              </a:rPr>
              <a:t>faced by </a:t>
            </a:r>
            <a:r>
              <a:rPr lang="en-US" altLang="zh-CN" dirty="0" smtClean="0">
                <a:latin typeface="+mn-lt"/>
                <a:ea typeface="+mn-ea"/>
                <a:cs typeface="+mn-ea"/>
                <a:sym typeface="+mn-lt"/>
              </a:rPr>
              <a:t>the insurance </a:t>
            </a:r>
            <a:r>
              <a:rPr lang="en-US" altLang="zh-CN" dirty="0">
                <a:latin typeface="+mn-lt"/>
                <a:ea typeface="+mn-ea"/>
                <a:cs typeface="+mn-ea"/>
                <a:sym typeface="+mn-lt"/>
              </a:rPr>
              <a:t>companies</a:t>
            </a:r>
            <a:r>
              <a:rPr lang="en-US" altLang="zh-CN" dirty="0" smtClean="0">
                <a:latin typeface="+mn-lt"/>
                <a:ea typeface="+mn-ea"/>
                <a:cs typeface="+mn-ea"/>
                <a:sym typeface="+mn-lt"/>
              </a:rPr>
              <a:t>.</a:t>
            </a:r>
          </a:p>
          <a:p>
            <a:pPr lvl="1">
              <a:buFont typeface="Wingdings" panose="05000000000000000000" pitchFamily="2" charset="2"/>
              <a:buChar char="l"/>
            </a:pPr>
            <a:r>
              <a:rPr lang="en-US" altLang="zh-CN" dirty="0">
                <a:latin typeface="+mn-lt"/>
                <a:ea typeface="+mn-ea"/>
                <a:cs typeface="+mn-ea"/>
                <a:sym typeface="+mn-lt"/>
              </a:rPr>
              <a:t>Another risk faced by insurance companies is that they mostly invest in corporate bonds </a:t>
            </a:r>
            <a:r>
              <a:rPr lang="en-US" altLang="zh-CN" dirty="0" smtClean="0">
                <a:latin typeface="+mn-lt"/>
                <a:ea typeface="+mn-ea"/>
                <a:cs typeface="+mn-ea"/>
                <a:sym typeface="+mn-lt"/>
              </a:rPr>
              <a:t>and when </a:t>
            </a:r>
            <a:r>
              <a:rPr lang="en-US" altLang="zh-CN" i="1" dirty="0">
                <a:solidFill>
                  <a:srgbClr val="FF0000"/>
                </a:solidFill>
                <a:latin typeface="+mn-lt"/>
                <a:ea typeface="+mn-ea"/>
                <a:cs typeface="+mn-ea"/>
                <a:sym typeface="+mn-lt"/>
              </a:rPr>
              <a:t>defaults</a:t>
            </a:r>
            <a:r>
              <a:rPr lang="en-US" altLang="zh-CN" dirty="0">
                <a:latin typeface="+mn-lt"/>
                <a:ea typeface="+mn-ea"/>
                <a:cs typeface="+mn-ea"/>
                <a:sym typeface="+mn-lt"/>
              </a:rPr>
              <a:t> on corporate bonds increase, </a:t>
            </a:r>
            <a:r>
              <a:rPr lang="en-US" altLang="zh-CN" i="1" u="sng" dirty="0">
                <a:latin typeface="+mn-lt"/>
                <a:ea typeface="+mn-ea"/>
                <a:cs typeface="+mn-ea"/>
                <a:sym typeface="+mn-lt"/>
              </a:rPr>
              <a:t>it takes a toll on the profitability</a:t>
            </a:r>
            <a:r>
              <a:rPr lang="en-US" altLang="zh-CN" i="1" dirty="0">
                <a:latin typeface="+mn-lt"/>
                <a:ea typeface="+mn-ea"/>
                <a:cs typeface="+mn-ea"/>
                <a:sym typeface="+mn-lt"/>
              </a:rPr>
              <a:t> </a:t>
            </a:r>
            <a:r>
              <a:rPr lang="en-US" altLang="zh-CN" dirty="0">
                <a:latin typeface="+mn-lt"/>
                <a:ea typeface="+mn-ea"/>
                <a:cs typeface="+mn-ea"/>
                <a:sym typeface="+mn-lt"/>
              </a:rPr>
              <a:t>of the </a:t>
            </a:r>
            <a:r>
              <a:rPr lang="en-US" altLang="zh-CN" dirty="0" smtClean="0">
                <a:latin typeface="+mn-lt"/>
                <a:ea typeface="+mn-ea"/>
                <a:cs typeface="+mn-ea"/>
                <a:sym typeface="+mn-lt"/>
              </a:rPr>
              <a:t>insurance company</a:t>
            </a:r>
            <a:r>
              <a:rPr lang="en-US" altLang="zh-CN" dirty="0">
                <a:latin typeface="+mn-lt"/>
                <a:ea typeface="+mn-ea"/>
                <a:cs typeface="+mn-ea"/>
                <a:sym typeface="+mn-lt"/>
              </a:rPr>
              <a:t>. </a:t>
            </a:r>
            <a:endParaRPr lang="en-US" altLang="zh-CN" dirty="0" smtClean="0">
              <a:latin typeface="+mn-lt"/>
              <a:ea typeface="+mn-ea"/>
              <a:cs typeface="+mn-ea"/>
              <a:sym typeface="+mn-lt"/>
            </a:endParaRPr>
          </a:p>
          <a:p>
            <a:pPr lvl="1">
              <a:buFont typeface="Wingdings" panose="05000000000000000000" pitchFamily="2" charset="2"/>
              <a:buChar char="l"/>
            </a:pPr>
            <a:r>
              <a:rPr lang="en-US" altLang="zh-CN" dirty="0" smtClean="0">
                <a:latin typeface="+mn-lt"/>
                <a:ea typeface="+mn-ea"/>
                <a:cs typeface="+mn-ea"/>
                <a:sym typeface="+mn-lt"/>
              </a:rPr>
              <a:t>They </a:t>
            </a:r>
            <a:r>
              <a:rPr lang="en-US" altLang="zh-CN" dirty="0">
                <a:latin typeface="+mn-lt"/>
                <a:ea typeface="+mn-ea"/>
                <a:cs typeface="+mn-ea"/>
                <a:sym typeface="+mn-lt"/>
              </a:rPr>
              <a:t>face </a:t>
            </a:r>
            <a:r>
              <a:rPr lang="en-US" altLang="zh-CN" dirty="0">
                <a:solidFill>
                  <a:srgbClr val="FF0000"/>
                </a:solidFill>
                <a:latin typeface="+mn-lt"/>
                <a:ea typeface="+mn-ea"/>
                <a:cs typeface="+mn-ea"/>
                <a:sym typeface="+mn-lt"/>
              </a:rPr>
              <a:t>liquidity risks </a:t>
            </a:r>
            <a:r>
              <a:rPr lang="en-US" altLang="zh-CN" dirty="0">
                <a:latin typeface="+mn-lt"/>
                <a:ea typeface="+mn-ea"/>
                <a:cs typeface="+mn-ea"/>
                <a:sym typeface="+mn-lt"/>
              </a:rPr>
              <a:t>associated with their investments. Illiquid bonds </a:t>
            </a:r>
            <a:r>
              <a:rPr lang="en-US" altLang="zh-CN" dirty="0" smtClean="0">
                <a:latin typeface="+mn-lt"/>
                <a:ea typeface="+mn-ea"/>
                <a:cs typeface="+mn-ea"/>
                <a:sym typeface="+mn-lt"/>
              </a:rPr>
              <a:t>give higher </a:t>
            </a:r>
            <a:r>
              <a:rPr lang="en-US" altLang="zh-CN" dirty="0">
                <a:latin typeface="+mn-lt"/>
                <a:ea typeface="+mn-ea"/>
                <a:cs typeface="+mn-ea"/>
                <a:sym typeface="+mn-lt"/>
              </a:rPr>
              <a:t>yields but they cannot be readily </a:t>
            </a:r>
            <a:r>
              <a:rPr lang="en-US" altLang="zh-CN" i="1" u="sng" dirty="0">
                <a:latin typeface="+mn-lt"/>
                <a:ea typeface="+mn-ea"/>
                <a:cs typeface="+mn-ea"/>
                <a:sym typeface="+mn-lt"/>
              </a:rPr>
              <a:t>converted into cash </a:t>
            </a:r>
            <a:r>
              <a:rPr lang="en-US" altLang="zh-CN" dirty="0">
                <a:latin typeface="+mn-lt"/>
                <a:ea typeface="+mn-ea"/>
                <a:cs typeface="+mn-ea"/>
                <a:sym typeface="+mn-lt"/>
              </a:rPr>
              <a:t>to meet high claims when </a:t>
            </a:r>
            <a:r>
              <a:rPr lang="en-US" altLang="zh-CN" dirty="0" smtClean="0">
                <a:latin typeface="+mn-lt"/>
                <a:ea typeface="+mn-ea"/>
                <a:cs typeface="+mn-ea"/>
                <a:sym typeface="+mn-lt"/>
              </a:rPr>
              <a:t>they are </a:t>
            </a:r>
            <a:r>
              <a:rPr lang="en-US" altLang="zh-CN" dirty="0">
                <a:latin typeface="+mn-lt"/>
                <a:ea typeface="+mn-ea"/>
                <a:cs typeface="+mn-ea"/>
                <a:sym typeface="+mn-lt"/>
              </a:rPr>
              <a:t>not anticipated beforehand. </a:t>
            </a:r>
            <a:endParaRPr lang="en-US" altLang="zh-CN" dirty="0" smtClean="0">
              <a:latin typeface="+mn-lt"/>
              <a:ea typeface="+mn-ea"/>
              <a:cs typeface="+mn-ea"/>
              <a:sym typeface="+mn-lt"/>
            </a:endParaRPr>
          </a:p>
          <a:p>
            <a:pPr lvl="1">
              <a:buFont typeface="Wingdings" panose="05000000000000000000" pitchFamily="2" charset="2"/>
              <a:buChar char="l"/>
            </a:pPr>
            <a:r>
              <a:rPr lang="en-US" altLang="zh-CN" dirty="0" smtClean="0">
                <a:latin typeface="+mn-lt"/>
                <a:ea typeface="+mn-ea"/>
                <a:cs typeface="+mn-ea"/>
                <a:sym typeface="+mn-lt"/>
              </a:rPr>
              <a:t>Since </a:t>
            </a:r>
            <a:r>
              <a:rPr lang="en-US" altLang="zh-CN" dirty="0">
                <a:latin typeface="+mn-lt"/>
                <a:ea typeface="+mn-ea"/>
                <a:cs typeface="+mn-ea"/>
                <a:sym typeface="+mn-lt"/>
              </a:rPr>
              <a:t>insurance companies enter into transactions </a:t>
            </a:r>
            <a:r>
              <a:rPr lang="en-US" altLang="zh-CN" dirty="0" smtClean="0">
                <a:latin typeface="+mn-lt"/>
                <a:ea typeface="+mn-ea"/>
                <a:cs typeface="+mn-ea"/>
                <a:sym typeface="+mn-lt"/>
              </a:rPr>
              <a:t>with banks </a:t>
            </a:r>
            <a:r>
              <a:rPr lang="en-US" altLang="zh-CN" dirty="0">
                <a:latin typeface="+mn-lt"/>
                <a:ea typeface="+mn-ea"/>
                <a:cs typeface="+mn-ea"/>
                <a:sym typeface="+mn-lt"/>
              </a:rPr>
              <a:t>and reinsurance companies, they are also exposed to </a:t>
            </a:r>
            <a:r>
              <a:rPr lang="en-US" altLang="zh-CN" i="1" dirty="0">
                <a:latin typeface="+mn-lt"/>
                <a:ea typeface="+mn-ea"/>
                <a:cs typeface="+mn-ea"/>
                <a:sym typeface="+mn-lt"/>
              </a:rPr>
              <a:t>credit risk</a:t>
            </a:r>
            <a:r>
              <a:rPr lang="en-US" altLang="zh-CN" dirty="0">
                <a:latin typeface="+mn-lt"/>
                <a:ea typeface="+mn-ea"/>
                <a:cs typeface="+mn-ea"/>
                <a:sym typeface="+mn-lt"/>
              </a:rPr>
              <a:t>. </a:t>
            </a:r>
            <a:endParaRPr lang="en-US" altLang="zh-CN" dirty="0" smtClean="0">
              <a:latin typeface="+mn-lt"/>
              <a:ea typeface="+mn-ea"/>
              <a:cs typeface="+mn-ea"/>
              <a:sym typeface="+mn-lt"/>
            </a:endParaRPr>
          </a:p>
          <a:p>
            <a:pPr lvl="1">
              <a:buFont typeface="Wingdings" panose="05000000000000000000" pitchFamily="2" charset="2"/>
              <a:buChar char="l"/>
            </a:pPr>
            <a:r>
              <a:rPr lang="en-US" altLang="zh-CN" dirty="0" smtClean="0">
                <a:latin typeface="+mn-lt"/>
                <a:ea typeface="+mn-ea"/>
                <a:cs typeface="+mn-ea"/>
                <a:sym typeface="+mn-lt"/>
              </a:rPr>
              <a:t>Finally</a:t>
            </a:r>
            <a:r>
              <a:rPr lang="en-US" altLang="zh-CN" dirty="0">
                <a:latin typeface="+mn-lt"/>
                <a:ea typeface="+mn-ea"/>
                <a:cs typeface="+mn-ea"/>
                <a:sym typeface="+mn-lt"/>
              </a:rPr>
              <a:t>, like </a:t>
            </a:r>
            <a:r>
              <a:rPr lang="en-US" altLang="zh-CN" dirty="0" smtClean="0">
                <a:latin typeface="+mn-lt"/>
                <a:ea typeface="+mn-ea"/>
                <a:cs typeface="+mn-ea"/>
                <a:sym typeface="+mn-lt"/>
              </a:rPr>
              <a:t>banks, insurance </a:t>
            </a:r>
            <a:r>
              <a:rPr lang="en-US" altLang="zh-CN" dirty="0">
                <a:latin typeface="+mn-lt"/>
                <a:ea typeface="+mn-ea"/>
                <a:cs typeface="+mn-ea"/>
                <a:sym typeface="+mn-lt"/>
              </a:rPr>
              <a:t>companies are also exposed to </a:t>
            </a:r>
            <a:r>
              <a:rPr lang="en-US" altLang="zh-CN" i="1" u="sng" dirty="0">
                <a:latin typeface="+mn-lt"/>
                <a:ea typeface="+mn-ea"/>
                <a:cs typeface="+mn-ea"/>
                <a:sym typeface="+mn-lt"/>
              </a:rPr>
              <a:t>operational risks and business risks.</a:t>
            </a:r>
            <a:endParaRPr lang="zh-CN" altLang="en-US" i="1" u="sng" dirty="0">
              <a:latin typeface="+mn-lt"/>
              <a:ea typeface="+mn-ea"/>
              <a:cs typeface="+mn-ea"/>
              <a:sym typeface="+mn-lt"/>
            </a:endParaRPr>
          </a:p>
        </p:txBody>
      </p:sp>
    </p:spTree>
    <p:extLst>
      <p:ext uri="{BB962C8B-B14F-4D97-AF65-F5344CB8AC3E}">
        <p14:creationId xmlns:p14="http://schemas.microsoft.com/office/powerpoint/2010/main" val="91455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Risks in Life Insurance</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dirty="0">
                <a:latin typeface="+mn-lt"/>
                <a:ea typeface="+mn-ea"/>
                <a:cs typeface="+mn-ea"/>
                <a:sym typeface="+mn-lt"/>
              </a:rPr>
              <a:t>Mortality Risk</a:t>
            </a:r>
          </a:p>
          <a:p>
            <a:pPr lvl="1">
              <a:buFont typeface="Wingdings" panose="05000000000000000000" pitchFamily="2" charset="2"/>
              <a:buChar char="l"/>
            </a:pPr>
            <a:r>
              <a:rPr lang="en-US" altLang="zh-CN" dirty="0">
                <a:latin typeface="+mn-lt"/>
                <a:ea typeface="+mn-ea"/>
                <a:cs typeface="+mn-ea"/>
                <a:sym typeface="+mn-lt"/>
              </a:rPr>
              <a:t>The risk that wars, epidemics such as AIDS, or pandemics such as Spanish flu will lead to people living not as long as expected.</a:t>
            </a:r>
          </a:p>
          <a:p>
            <a:pPr lvl="1">
              <a:buFont typeface="Wingdings" panose="05000000000000000000" pitchFamily="2" charset="2"/>
              <a:buChar char="l"/>
            </a:pPr>
            <a:r>
              <a:rPr lang="en-US" altLang="zh-CN" dirty="0">
                <a:latin typeface="+mn-lt"/>
                <a:ea typeface="+mn-ea"/>
                <a:cs typeface="+mn-ea"/>
                <a:sym typeface="+mn-lt"/>
              </a:rPr>
              <a:t>This adversely affects the payouts on most types of life insurance contracts since the insured amount has to be paid earlier than expected</a:t>
            </a:r>
            <a:r>
              <a:rPr lang="en-US" altLang="zh-CN" dirty="0" smtClean="0">
                <a:latin typeface="+mn-lt"/>
                <a:ea typeface="+mn-ea"/>
                <a:cs typeface="+mn-ea"/>
                <a:sym typeface="+mn-lt"/>
              </a:rPr>
              <a:t>.</a:t>
            </a:r>
          </a:p>
          <a:p>
            <a:r>
              <a:rPr lang="en-US" altLang="zh-CN" dirty="0">
                <a:latin typeface="+mn-lt"/>
                <a:ea typeface="+mn-ea"/>
                <a:cs typeface="+mn-ea"/>
                <a:sym typeface="+mn-lt"/>
              </a:rPr>
              <a:t>Longevity Risk</a:t>
            </a:r>
          </a:p>
          <a:p>
            <a:pPr lvl="1">
              <a:buFont typeface="Wingdings" panose="05000000000000000000" pitchFamily="2" charset="2"/>
              <a:buChar char="l"/>
            </a:pPr>
            <a:r>
              <a:rPr lang="en-US" altLang="zh-CN" dirty="0">
                <a:latin typeface="+mn-lt"/>
                <a:ea typeface="+mn-ea"/>
                <a:cs typeface="+mn-ea"/>
                <a:sym typeface="+mn-lt"/>
              </a:rPr>
              <a:t>The risk that advances in medical sciences and lifestyle changes will lead to people living longer.</a:t>
            </a:r>
          </a:p>
          <a:p>
            <a:pPr lvl="1">
              <a:buFont typeface="Wingdings" panose="05000000000000000000" pitchFamily="2" charset="2"/>
              <a:buChar char="l"/>
            </a:pPr>
            <a:r>
              <a:rPr lang="en-US" altLang="zh-CN" dirty="0">
                <a:latin typeface="+mn-lt"/>
                <a:ea typeface="+mn-ea"/>
                <a:cs typeface="+mn-ea"/>
                <a:sym typeface="+mn-lt"/>
              </a:rPr>
              <a:t>Increases in longevity increases the profitability of most life insurance contracts since final payout is either delayed or less likely to happen</a:t>
            </a:r>
            <a:r>
              <a:rPr lang="en-US" altLang="zh-CN" dirty="0" smtClean="0">
                <a:latin typeface="+mn-lt"/>
                <a:ea typeface="+mn-ea"/>
                <a:cs typeface="+mn-ea"/>
                <a:sym typeface="+mn-lt"/>
              </a:rPr>
              <a:t>.</a:t>
            </a:r>
          </a:p>
          <a:p>
            <a:pPr marL="609585" lvl="1" indent="0">
              <a:buNone/>
            </a:pPr>
            <a:r>
              <a:rPr lang="en-US" altLang="zh-CN" b="1" dirty="0">
                <a:latin typeface="+mn-lt"/>
                <a:ea typeface="+mn-ea"/>
                <a:cs typeface="+mn-ea"/>
                <a:sym typeface="+mn-lt"/>
              </a:rPr>
              <a:t>Hedging: </a:t>
            </a:r>
            <a:r>
              <a:rPr lang="en-US" altLang="zh-CN" dirty="0">
                <a:latin typeface="+mn-lt"/>
                <a:ea typeface="+mn-ea"/>
                <a:cs typeface="+mn-ea"/>
                <a:sym typeface="+mn-lt"/>
              </a:rPr>
              <a:t> If the exposure in the insurance company is unacceptable, they may decide to enter into </a:t>
            </a:r>
            <a:r>
              <a:rPr lang="en-US" altLang="zh-CN" i="1" u="sng" dirty="0">
                <a:latin typeface="+mn-lt"/>
                <a:ea typeface="+mn-ea"/>
                <a:cs typeface="+mn-ea"/>
                <a:sym typeface="+mn-lt"/>
              </a:rPr>
              <a:t>reinsurance</a:t>
            </a:r>
            <a:r>
              <a:rPr lang="en-US" altLang="zh-CN" dirty="0">
                <a:latin typeface="+mn-lt"/>
                <a:ea typeface="+mn-ea"/>
                <a:cs typeface="+mn-ea"/>
                <a:sym typeface="+mn-lt"/>
              </a:rPr>
              <a:t> contracts for some of the risks.</a:t>
            </a:r>
            <a:endParaRPr lang="en-US" altLang="zh-CN" b="1" dirty="0">
              <a:latin typeface="+mn-lt"/>
              <a:ea typeface="+mn-ea"/>
              <a:cs typeface="+mn-ea"/>
              <a:sym typeface="+mn-lt"/>
            </a:endParaRPr>
          </a:p>
          <a:p>
            <a:pPr lvl="1">
              <a:buFont typeface="Wingdings" panose="05000000000000000000" pitchFamily="2" charset="2"/>
              <a:buChar char="l"/>
            </a:pPr>
            <a:endParaRPr lang="en-US" altLang="zh-CN" dirty="0">
              <a:latin typeface="+mn-lt"/>
              <a:ea typeface="+mn-ea"/>
              <a:cs typeface="+mn-ea"/>
              <a:sym typeface="+mn-lt"/>
            </a:endParaRPr>
          </a:p>
          <a:p>
            <a:endParaRPr lang="en-US" altLang="zh-CN" dirty="0">
              <a:latin typeface="+mn-lt"/>
              <a:ea typeface="+mn-ea"/>
              <a:cs typeface="+mn-ea"/>
              <a:sym typeface="+mn-lt"/>
            </a:endParaRPr>
          </a:p>
          <a:p>
            <a:endParaRPr lang="zh-CN" altLang="en-US" dirty="0">
              <a:latin typeface="+mn-lt"/>
              <a:ea typeface="+mn-ea"/>
              <a:cs typeface="+mn-ea"/>
              <a:sym typeface="+mn-lt"/>
            </a:endParaRPr>
          </a:p>
        </p:txBody>
      </p:sp>
      <p:sp>
        <p:nvSpPr>
          <p:cNvPr id="4" name="文本框 3"/>
          <p:cNvSpPr txBox="1"/>
          <p:nvPr/>
        </p:nvSpPr>
        <p:spPr>
          <a:xfrm>
            <a:off x="1024568" y="5288097"/>
            <a:ext cx="10773831" cy="867578"/>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36374311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b="0" dirty="0">
                <a:solidFill>
                  <a:schemeClr val="tx1"/>
                </a:solidFill>
                <a:latin typeface="+mn-lt"/>
                <a:ea typeface="+mn-ea"/>
                <a:cs typeface="+mn-ea"/>
                <a:sym typeface="+mn-lt"/>
              </a:rPr>
              <a:t>By aligning the interest of the policyholders </a:t>
            </a:r>
            <a:r>
              <a:rPr lang="en-US" altLang="zh-CN" b="0" i="1" u="sng" dirty="0">
                <a:solidFill>
                  <a:srgbClr val="FF0000"/>
                </a:solidFill>
                <a:latin typeface="+mn-lt"/>
                <a:ea typeface="+mn-ea"/>
                <a:cs typeface="+mn-ea"/>
                <a:sym typeface="+mn-lt"/>
              </a:rPr>
              <a:t>more closely </a:t>
            </a:r>
            <a:r>
              <a:rPr lang="en-US" altLang="zh-CN" b="0" dirty="0">
                <a:solidFill>
                  <a:schemeClr val="tx1"/>
                </a:solidFill>
                <a:latin typeface="+mn-lt"/>
                <a:ea typeface="+mn-ea"/>
                <a:cs typeface="+mn-ea"/>
                <a:sym typeface="+mn-lt"/>
              </a:rPr>
              <a:t>with those of the </a:t>
            </a:r>
            <a:r>
              <a:rPr lang="en-US" altLang="zh-CN" b="0" dirty="0" smtClean="0">
                <a:solidFill>
                  <a:schemeClr val="tx1"/>
                </a:solidFill>
                <a:latin typeface="+mn-lt"/>
                <a:ea typeface="+mn-ea"/>
                <a:cs typeface="+mn-ea"/>
                <a:sym typeface="+mn-lt"/>
              </a:rPr>
              <a:t>insurance company</a:t>
            </a:r>
            <a:r>
              <a:rPr lang="en-US" altLang="zh-CN" b="0" dirty="0">
                <a:solidFill>
                  <a:schemeClr val="tx1"/>
                </a:solidFill>
                <a:latin typeface="+mn-lt"/>
                <a:ea typeface="+mn-ea"/>
                <a:cs typeface="+mn-ea"/>
                <a:sym typeface="+mn-lt"/>
              </a:rPr>
              <a:t>, moral hazard can be handled better, as explained by using the </a:t>
            </a:r>
            <a:r>
              <a:rPr lang="en-US" altLang="zh-CN" b="0" dirty="0" smtClean="0">
                <a:solidFill>
                  <a:schemeClr val="tx1"/>
                </a:solidFill>
                <a:latin typeface="+mn-lt"/>
                <a:ea typeface="+mn-ea"/>
                <a:cs typeface="+mn-ea"/>
                <a:sym typeface="+mn-lt"/>
              </a:rPr>
              <a:t>following methods:</a:t>
            </a:r>
          </a:p>
          <a:p>
            <a:pPr lvl="1">
              <a:buFont typeface="Wingdings" panose="05000000000000000000" pitchFamily="2" charset="2"/>
              <a:buChar char="l"/>
            </a:pPr>
            <a:r>
              <a:rPr lang="en-US" altLang="zh-CN" b="1" dirty="0" smtClean="0">
                <a:latin typeface="+mn-lt"/>
                <a:ea typeface="+mn-ea"/>
                <a:cs typeface="+mn-ea"/>
                <a:sym typeface="+mn-lt"/>
              </a:rPr>
              <a:t>Deductibles</a:t>
            </a:r>
            <a:r>
              <a:rPr lang="zh-CN" altLang="en-US" sz="2000" b="1" dirty="0" smtClean="0">
                <a:latin typeface="+mn-lt"/>
                <a:ea typeface="+mn-ea"/>
                <a:cs typeface="+mn-ea"/>
                <a:sym typeface="+mn-lt"/>
              </a:rPr>
              <a:t>（免赔额）</a:t>
            </a:r>
            <a:r>
              <a:rPr lang="en-US" altLang="zh-CN" dirty="0" smtClean="0">
                <a:latin typeface="+mn-lt"/>
                <a:ea typeface="+mn-ea"/>
                <a:cs typeface="+mn-ea"/>
                <a:sym typeface="+mn-lt"/>
              </a:rPr>
              <a:t>: </a:t>
            </a:r>
            <a:r>
              <a:rPr lang="en-US" altLang="zh-CN" dirty="0">
                <a:latin typeface="+mn-lt"/>
                <a:ea typeface="+mn-ea"/>
                <a:cs typeface="+mn-ea"/>
                <a:sym typeface="+mn-lt"/>
              </a:rPr>
              <a:t>The policyholder is responsible for bearing the first part of any loss</a:t>
            </a:r>
            <a:r>
              <a:rPr lang="en-US" altLang="zh-CN" dirty="0" smtClean="0">
                <a:latin typeface="+mn-lt"/>
                <a:ea typeface="+mn-ea"/>
                <a:cs typeface="+mn-ea"/>
                <a:sym typeface="+mn-lt"/>
              </a:rPr>
              <a:t>.</a:t>
            </a:r>
          </a:p>
          <a:p>
            <a:pPr lvl="1">
              <a:buFont typeface="Wingdings" panose="05000000000000000000" pitchFamily="2" charset="2"/>
              <a:buChar char="l"/>
            </a:pPr>
            <a:r>
              <a:rPr lang="en-US" altLang="zh-CN" b="1" dirty="0">
                <a:latin typeface="+mn-lt"/>
                <a:ea typeface="+mn-ea"/>
                <a:cs typeface="+mn-ea"/>
                <a:sym typeface="+mn-lt"/>
              </a:rPr>
              <a:t>Co-insurance </a:t>
            </a:r>
            <a:r>
              <a:rPr lang="en-US" altLang="zh-CN" b="1" dirty="0" smtClean="0">
                <a:latin typeface="+mn-lt"/>
                <a:ea typeface="+mn-ea"/>
                <a:cs typeface="+mn-ea"/>
                <a:sym typeface="+mn-lt"/>
              </a:rPr>
              <a:t>provision</a:t>
            </a:r>
            <a:r>
              <a:rPr lang="zh-CN" altLang="en-US" sz="2000" b="1" dirty="0" smtClean="0">
                <a:latin typeface="+mn-lt"/>
                <a:ea typeface="+mn-ea"/>
                <a:cs typeface="+mn-ea"/>
                <a:sym typeface="+mn-lt"/>
              </a:rPr>
              <a:t>（共同保险条款）</a:t>
            </a:r>
            <a:r>
              <a:rPr lang="en-US" altLang="zh-CN" dirty="0" smtClean="0">
                <a:latin typeface="+mn-lt"/>
                <a:ea typeface="+mn-ea"/>
                <a:cs typeface="+mn-ea"/>
                <a:sym typeface="+mn-lt"/>
              </a:rPr>
              <a:t>: </a:t>
            </a:r>
            <a:r>
              <a:rPr lang="en-US" altLang="zh-CN" dirty="0">
                <a:latin typeface="+mn-lt"/>
                <a:ea typeface="+mn-ea"/>
                <a:cs typeface="+mn-ea"/>
                <a:sym typeface="+mn-lt"/>
              </a:rPr>
              <a:t>The insurance company pays </a:t>
            </a:r>
            <a:r>
              <a:rPr lang="en-US" altLang="zh-CN" dirty="0" smtClean="0">
                <a:latin typeface="+mn-lt"/>
                <a:ea typeface="+mn-ea"/>
                <a:cs typeface="+mn-ea"/>
                <a:sym typeface="+mn-lt"/>
              </a:rPr>
              <a:t>a predetermined percentage (less </a:t>
            </a:r>
            <a:r>
              <a:rPr lang="en-US" altLang="zh-CN" dirty="0">
                <a:latin typeface="+mn-lt"/>
                <a:ea typeface="+mn-ea"/>
                <a:cs typeface="+mn-ea"/>
                <a:sym typeface="+mn-lt"/>
              </a:rPr>
              <a:t>than 100%) of losses in excess of the deductible</a:t>
            </a:r>
            <a:r>
              <a:rPr lang="en-US" altLang="zh-CN" dirty="0" smtClean="0">
                <a:latin typeface="+mn-lt"/>
                <a:ea typeface="+mn-ea"/>
                <a:cs typeface="+mn-ea"/>
                <a:sym typeface="+mn-lt"/>
              </a:rPr>
              <a:t>.</a:t>
            </a:r>
          </a:p>
          <a:p>
            <a:pPr lvl="1">
              <a:buFont typeface="Wingdings" panose="05000000000000000000" pitchFamily="2" charset="2"/>
              <a:buChar char="l"/>
            </a:pPr>
            <a:r>
              <a:rPr lang="en-US" altLang="zh-CN" b="1" dirty="0">
                <a:latin typeface="+mn-lt"/>
                <a:ea typeface="+mn-ea"/>
                <a:cs typeface="+mn-ea"/>
                <a:sym typeface="+mn-lt"/>
              </a:rPr>
              <a:t>Policy </a:t>
            </a:r>
            <a:r>
              <a:rPr lang="en-US" altLang="zh-CN" b="1" dirty="0" smtClean="0">
                <a:latin typeface="+mn-lt"/>
                <a:ea typeface="+mn-ea"/>
                <a:cs typeface="+mn-ea"/>
                <a:sym typeface="+mn-lt"/>
              </a:rPr>
              <a:t>limit</a:t>
            </a:r>
            <a:r>
              <a:rPr lang="zh-CN" altLang="en-US" sz="2000" b="1" dirty="0" smtClean="0">
                <a:latin typeface="+mn-lt"/>
                <a:ea typeface="+mn-ea"/>
                <a:cs typeface="+mn-ea"/>
                <a:sym typeface="+mn-lt"/>
              </a:rPr>
              <a:t>（保单限额</a:t>
            </a:r>
            <a:r>
              <a:rPr lang="zh-CN" altLang="en-US" sz="2000" b="1" dirty="0">
                <a:latin typeface="+mn-lt"/>
                <a:ea typeface="+mn-ea"/>
                <a:cs typeface="+mn-ea"/>
                <a:sym typeface="+mn-lt"/>
              </a:rPr>
              <a:t>）</a:t>
            </a:r>
            <a:r>
              <a:rPr lang="en-US" altLang="zh-CN" dirty="0" smtClean="0">
                <a:latin typeface="+mn-lt"/>
                <a:ea typeface="+mn-ea"/>
                <a:cs typeface="+mn-ea"/>
                <a:sym typeface="+mn-lt"/>
              </a:rPr>
              <a:t>: </a:t>
            </a:r>
            <a:r>
              <a:rPr lang="en-US" altLang="zh-CN" dirty="0">
                <a:latin typeface="+mn-lt"/>
                <a:ea typeface="+mn-ea"/>
                <a:cs typeface="+mn-ea"/>
                <a:sym typeface="+mn-lt"/>
              </a:rPr>
              <a:t>An upper limit to the payout is set by the insurance company.</a:t>
            </a:r>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Moral Hazard and Adverse Selection</a:t>
            </a:r>
            <a:endParaRPr lang="zh-CN" altLang="en-US" dirty="0">
              <a:latin typeface="+mn-lt"/>
              <a:ea typeface="+mn-ea"/>
              <a:cs typeface="+mn-ea"/>
              <a:sym typeface="+mn-lt"/>
            </a:endParaRPr>
          </a:p>
        </p:txBody>
      </p:sp>
    </p:spTree>
    <p:extLst>
      <p:ext uri="{BB962C8B-B14F-4D97-AF65-F5344CB8AC3E}">
        <p14:creationId xmlns:p14="http://schemas.microsoft.com/office/powerpoint/2010/main" val="41034388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smtClean="0">
                <a:latin typeface="+mn-lt"/>
                <a:ea typeface="+mn-ea"/>
                <a:cs typeface="+mn-ea"/>
                <a:sym typeface="+mn-lt"/>
              </a:rPr>
              <a:t>Two </a:t>
            </a:r>
            <a:r>
              <a:rPr lang="en-US" altLang="zh-CN" dirty="0">
                <a:latin typeface="+mn-lt"/>
                <a:ea typeface="+mn-ea"/>
                <a:cs typeface="+mn-ea"/>
                <a:sym typeface="+mn-lt"/>
              </a:rPr>
              <a:t>important risks facing insurance companies</a:t>
            </a:r>
          </a:p>
          <a:p>
            <a:pPr lvl="1">
              <a:buFont typeface="Wingdings" panose="05000000000000000000" pitchFamily="2" charset="2"/>
              <a:buChar char="l"/>
            </a:pPr>
            <a:r>
              <a:rPr lang="en-US" altLang="zh-CN" dirty="0">
                <a:latin typeface="+mn-lt"/>
                <a:ea typeface="+mn-ea"/>
                <a:cs typeface="+mn-ea"/>
                <a:sym typeface="+mn-lt"/>
              </a:rPr>
              <a:t>Adverse selection occurs when an insurance company</a:t>
            </a:r>
            <a:r>
              <a:rPr lang="en-US" altLang="zh-CN" u="sng" dirty="0">
                <a:latin typeface="+mn-lt"/>
                <a:ea typeface="+mn-ea"/>
                <a:cs typeface="+mn-ea"/>
                <a:sym typeface="+mn-lt"/>
              </a:rPr>
              <a:t> </a:t>
            </a:r>
            <a:r>
              <a:rPr lang="en-US" altLang="zh-CN" i="1" u="sng" dirty="0">
                <a:solidFill>
                  <a:srgbClr val="FF0000"/>
                </a:solidFill>
                <a:latin typeface="+mn-lt"/>
                <a:ea typeface="+mn-ea"/>
                <a:cs typeface="+mn-ea"/>
                <a:sym typeface="+mn-lt"/>
              </a:rPr>
              <a:t>cannot distinguish between good and bad risks</a:t>
            </a:r>
            <a:r>
              <a:rPr lang="en-US" altLang="zh-CN" u="sng" dirty="0">
                <a:latin typeface="+mn-lt"/>
                <a:ea typeface="+mn-ea"/>
                <a:cs typeface="+mn-ea"/>
                <a:sym typeface="+mn-lt"/>
              </a:rPr>
              <a:t> </a:t>
            </a:r>
            <a:r>
              <a:rPr lang="en-US" altLang="zh-CN" dirty="0">
                <a:latin typeface="+mn-lt"/>
                <a:ea typeface="+mn-ea"/>
                <a:cs typeface="+mn-ea"/>
                <a:sym typeface="+mn-lt"/>
              </a:rPr>
              <a:t>and as a result it offers the same price to everyone, thereby attracting more of the bad risks</a:t>
            </a:r>
            <a:r>
              <a:rPr lang="en-US" altLang="zh-CN" dirty="0" smtClean="0">
                <a:latin typeface="+mn-lt"/>
                <a:ea typeface="+mn-ea"/>
                <a:cs typeface="+mn-ea"/>
                <a:sym typeface="+mn-lt"/>
              </a:rPr>
              <a:t>.</a:t>
            </a: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Moral Hazard and Adverse Selection</a:t>
            </a:r>
            <a:endParaRPr lang="zh-CN" altLang="en-US" dirty="0">
              <a:latin typeface="+mn-lt"/>
              <a:ea typeface="+mn-ea"/>
              <a:cs typeface="+mn-ea"/>
              <a:sym typeface="+mn-lt"/>
            </a:endParaRPr>
          </a:p>
        </p:txBody>
      </p:sp>
    </p:spTree>
    <p:extLst>
      <p:ext uri="{BB962C8B-B14F-4D97-AF65-F5344CB8AC3E}">
        <p14:creationId xmlns:p14="http://schemas.microsoft.com/office/powerpoint/2010/main" val="15744497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Key Indicators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20000"/>
          </a:bodyPr>
          <a:lstStyle/>
          <a:p>
            <a:r>
              <a:rPr lang="en-US" altLang="zh-CN" b="1" dirty="0">
                <a:solidFill>
                  <a:schemeClr val="accent6">
                    <a:lumMod val="75000"/>
                  </a:schemeClr>
                </a:solidFill>
                <a:latin typeface="+mn-lt"/>
                <a:ea typeface="+mn-ea"/>
                <a:cs typeface="+mn-ea"/>
                <a:sym typeface="+mn-lt"/>
              </a:rPr>
              <a:t>Loss Ratio</a:t>
            </a:r>
          </a:p>
          <a:p>
            <a:pPr lvl="1"/>
            <a:r>
              <a:rPr lang="en-US" altLang="zh-CN" dirty="0">
                <a:latin typeface="+mn-lt"/>
                <a:ea typeface="+mn-ea"/>
                <a:cs typeface="+mn-ea"/>
                <a:sym typeface="+mn-lt"/>
              </a:rPr>
              <a:t>Loss ratio is the ratio of </a:t>
            </a:r>
            <a:r>
              <a:rPr lang="en-US" altLang="zh-CN" u="sng" dirty="0">
                <a:latin typeface="+mn-lt"/>
                <a:ea typeface="+mn-ea"/>
                <a:cs typeface="+mn-ea"/>
                <a:sym typeface="+mn-lt"/>
              </a:rPr>
              <a:t>payouts made to premiums </a:t>
            </a:r>
            <a:r>
              <a:rPr lang="en-US" altLang="zh-CN" dirty="0">
                <a:latin typeface="+mn-lt"/>
                <a:ea typeface="+mn-ea"/>
                <a:cs typeface="+mn-ea"/>
                <a:sym typeface="+mn-lt"/>
              </a:rPr>
              <a:t>earned in a year by an </a:t>
            </a:r>
            <a:r>
              <a:rPr lang="en-US" altLang="zh-CN" dirty="0" smtClean="0">
                <a:latin typeface="+mn-lt"/>
                <a:ea typeface="+mn-ea"/>
                <a:cs typeface="+mn-ea"/>
                <a:sym typeface="+mn-lt"/>
              </a:rPr>
              <a:t>insurance company</a:t>
            </a:r>
            <a:r>
              <a:rPr lang="en-US" altLang="zh-CN" dirty="0">
                <a:latin typeface="+mn-lt"/>
                <a:ea typeface="+mn-ea"/>
                <a:cs typeface="+mn-ea"/>
                <a:sym typeface="+mn-lt"/>
              </a:rPr>
              <a:t>. </a:t>
            </a:r>
            <a:endParaRPr lang="en-US" altLang="zh-CN" dirty="0" smtClean="0">
              <a:latin typeface="+mn-lt"/>
              <a:ea typeface="+mn-ea"/>
              <a:cs typeface="+mn-ea"/>
              <a:sym typeface="+mn-lt"/>
            </a:endParaRPr>
          </a:p>
          <a:p>
            <a:r>
              <a:rPr lang="en-US" altLang="zh-CN" b="1" dirty="0">
                <a:solidFill>
                  <a:schemeClr val="accent6">
                    <a:lumMod val="75000"/>
                  </a:schemeClr>
                </a:solidFill>
                <a:latin typeface="+mn-lt"/>
                <a:ea typeface="+mn-ea"/>
                <a:cs typeface="+mn-ea"/>
                <a:sym typeface="+mn-lt"/>
              </a:rPr>
              <a:t>Expense Ratio</a:t>
            </a:r>
          </a:p>
          <a:p>
            <a:pPr lvl="1"/>
            <a:r>
              <a:rPr lang="en-US" altLang="zh-CN" dirty="0">
                <a:latin typeface="+mn-lt"/>
                <a:ea typeface="+mn-ea"/>
                <a:cs typeface="+mn-ea"/>
                <a:sym typeface="+mn-lt"/>
              </a:rPr>
              <a:t>Ratio of </a:t>
            </a:r>
            <a:r>
              <a:rPr lang="en-US" altLang="zh-CN" u="sng" dirty="0">
                <a:latin typeface="+mn-lt"/>
                <a:ea typeface="+mn-ea"/>
                <a:cs typeface="+mn-ea"/>
                <a:sym typeface="+mn-lt"/>
              </a:rPr>
              <a:t>expenses to premiums </a:t>
            </a:r>
            <a:r>
              <a:rPr lang="en-US" altLang="zh-CN" dirty="0">
                <a:latin typeface="+mn-lt"/>
                <a:ea typeface="+mn-ea"/>
                <a:cs typeface="+mn-ea"/>
                <a:sym typeface="+mn-lt"/>
              </a:rPr>
              <a:t>earned in a </a:t>
            </a:r>
            <a:r>
              <a:rPr lang="en-US" altLang="zh-CN" dirty="0" smtClean="0">
                <a:latin typeface="+mn-lt"/>
                <a:ea typeface="+mn-ea"/>
                <a:cs typeface="+mn-ea"/>
                <a:sym typeface="+mn-lt"/>
              </a:rPr>
              <a:t>year.</a:t>
            </a:r>
          </a:p>
          <a:p>
            <a:pPr lvl="1"/>
            <a:r>
              <a:rPr lang="en-US" altLang="zh-CN" dirty="0" smtClean="0">
                <a:latin typeface="+mn-lt"/>
                <a:ea typeface="+mn-ea"/>
                <a:cs typeface="+mn-ea"/>
                <a:sym typeface="+mn-lt"/>
              </a:rPr>
              <a:t>The </a:t>
            </a:r>
            <a:r>
              <a:rPr lang="en-US" altLang="zh-CN" dirty="0">
                <a:latin typeface="+mn-lt"/>
                <a:ea typeface="+mn-ea"/>
                <a:cs typeface="+mn-ea"/>
                <a:sym typeface="+mn-lt"/>
              </a:rPr>
              <a:t>two major sources of expenses are loss adjustment </a:t>
            </a:r>
            <a:r>
              <a:rPr lang="en-US" altLang="zh-CN" dirty="0" smtClean="0">
                <a:latin typeface="+mn-lt"/>
                <a:ea typeface="+mn-ea"/>
                <a:cs typeface="+mn-ea"/>
                <a:sym typeface="+mn-lt"/>
              </a:rPr>
              <a:t>expenses</a:t>
            </a:r>
            <a:r>
              <a:rPr lang="zh-CN" altLang="en-US" dirty="0" smtClean="0">
                <a:latin typeface="+mn-lt"/>
                <a:ea typeface="+mn-ea"/>
                <a:cs typeface="+mn-ea"/>
                <a:sym typeface="+mn-lt"/>
              </a:rPr>
              <a:t>（理赔费用）</a:t>
            </a:r>
            <a:r>
              <a:rPr lang="en-US" altLang="zh-CN" dirty="0" smtClean="0">
                <a:latin typeface="+mn-lt"/>
                <a:ea typeface="+mn-ea"/>
                <a:cs typeface="+mn-ea"/>
                <a:sym typeface="+mn-lt"/>
              </a:rPr>
              <a:t> </a:t>
            </a:r>
            <a:r>
              <a:rPr lang="en-US" altLang="zh-CN" dirty="0">
                <a:latin typeface="+mn-lt"/>
                <a:ea typeface="+mn-ea"/>
                <a:cs typeface="+mn-ea"/>
                <a:sym typeface="+mn-lt"/>
              </a:rPr>
              <a:t>and selling </a:t>
            </a:r>
            <a:r>
              <a:rPr lang="en-US" altLang="zh-CN" dirty="0" smtClean="0">
                <a:latin typeface="+mn-lt"/>
                <a:ea typeface="+mn-ea"/>
                <a:cs typeface="+mn-ea"/>
                <a:sym typeface="+mn-lt"/>
              </a:rPr>
              <a:t>expenses</a:t>
            </a:r>
            <a:r>
              <a:rPr lang="zh-CN" altLang="en-US" dirty="0" smtClean="0">
                <a:latin typeface="+mn-lt"/>
                <a:ea typeface="+mn-ea"/>
                <a:cs typeface="+mn-ea"/>
                <a:sym typeface="+mn-lt"/>
              </a:rPr>
              <a:t>（销售费用）</a:t>
            </a:r>
            <a:r>
              <a:rPr lang="en-US" altLang="zh-CN" dirty="0" smtClean="0">
                <a:latin typeface="+mn-lt"/>
                <a:ea typeface="+mn-ea"/>
                <a:cs typeface="+mn-ea"/>
                <a:sym typeface="+mn-lt"/>
              </a:rPr>
              <a:t>. </a:t>
            </a:r>
          </a:p>
          <a:p>
            <a:r>
              <a:rPr lang="en-US" altLang="zh-CN" b="1" dirty="0">
                <a:solidFill>
                  <a:schemeClr val="accent6">
                    <a:lumMod val="75000"/>
                  </a:schemeClr>
                </a:solidFill>
                <a:latin typeface="+mn-lt"/>
                <a:ea typeface="+mn-ea"/>
                <a:cs typeface="+mn-ea"/>
                <a:sym typeface="+mn-lt"/>
              </a:rPr>
              <a:t>Combined Ratio</a:t>
            </a:r>
          </a:p>
          <a:p>
            <a:pPr lvl="1"/>
            <a:r>
              <a:rPr lang="en-US" altLang="zh-CN" dirty="0">
                <a:latin typeface="+mn-lt"/>
                <a:ea typeface="+mn-ea"/>
                <a:cs typeface="+mn-ea"/>
                <a:sym typeface="+mn-lt"/>
              </a:rPr>
              <a:t>Sum of the loss ratio and the expense.</a:t>
            </a:r>
          </a:p>
          <a:p>
            <a:pPr lvl="1"/>
            <a:r>
              <a:rPr lang="en-US" altLang="zh-CN" dirty="0">
                <a:latin typeface="+mn-lt"/>
                <a:ea typeface="+mn-ea"/>
                <a:cs typeface="+mn-ea"/>
                <a:sym typeface="+mn-lt"/>
              </a:rPr>
              <a:t>Sometimes a small dividend is paid to policyholders. Ratios taking it into account is referred to as the combined ratio after dividends.</a:t>
            </a:r>
          </a:p>
          <a:p>
            <a:r>
              <a:rPr lang="en-US" altLang="zh-CN" b="1" dirty="0">
                <a:solidFill>
                  <a:schemeClr val="accent6">
                    <a:lumMod val="75000"/>
                  </a:schemeClr>
                </a:solidFill>
                <a:latin typeface="+mn-lt"/>
                <a:ea typeface="+mn-ea"/>
                <a:cs typeface="+mn-ea"/>
                <a:sym typeface="+mn-lt"/>
              </a:rPr>
              <a:t>Operating Ratio</a:t>
            </a:r>
          </a:p>
          <a:p>
            <a:pPr lvl="1"/>
            <a:r>
              <a:rPr lang="en-US" altLang="zh-CN" dirty="0">
                <a:latin typeface="+mn-lt"/>
                <a:ea typeface="+mn-ea"/>
                <a:cs typeface="+mn-ea"/>
                <a:sym typeface="+mn-lt"/>
              </a:rPr>
              <a:t>Take investment income into account.</a:t>
            </a:r>
          </a:p>
          <a:p>
            <a:endParaRPr lang="en-US" altLang="zh-CN" dirty="0">
              <a:latin typeface="+mn-lt"/>
              <a:ea typeface="+mn-ea"/>
              <a:cs typeface="+mn-ea"/>
              <a:sym typeface="+mn-lt"/>
            </a:endParaRPr>
          </a:p>
          <a:p>
            <a:endParaRPr lang="zh-CN" altLang="en-US" dirty="0">
              <a:latin typeface="+mn-lt"/>
              <a:ea typeface="+mn-ea"/>
              <a:cs typeface="+mn-ea"/>
              <a:sym typeface="+mn-lt"/>
            </a:endParaRPr>
          </a:p>
        </p:txBody>
      </p:sp>
      <p:sp>
        <p:nvSpPr>
          <p:cNvPr id="4" name="文本框 3"/>
          <p:cNvSpPr txBox="1"/>
          <p:nvPr/>
        </p:nvSpPr>
        <p:spPr>
          <a:xfrm>
            <a:off x="894717" y="889061"/>
            <a:ext cx="1407808" cy="390144"/>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
        <p:nvSpPr>
          <p:cNvPr id="5" name="文本框 4"/>
          <p:cNvSpPr txBox="1"/>
          <p:nvPr/>
        </p:nvSpPr>
        <p:spPr>
          <a:xfrm>
            <a:off x="894717" y="2135085"/>
            <a:ext cx="1958652" cy="374574"/>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
        <p:nvSpPr>
          <p:cNvPr id="6" name="文本框 5"/>
          <p:cNvSpPr txBox="1"/>
          <p:nvPr/>
        </p:nvSpPr>
        <p:spPr>
          <a:xfrm>
            <a:off x="894717" y="3743684"/>
            <a:ext cx="2256107" cy="431550"/>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
        <p:nvSpPr>
          <p:cNvPr id="7" name="文本框 6"/>
          <p:cNvSpPr txBox="1"/>
          <p:nvPr/>
        </p:nvSpPr>
        <p:spPr>
          <a:xfrm>
            <a:off x="894717" y="5357140"/>
            <a:ext cx="2256107" cy="426715"/>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583376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851354" cy="576064"/>
          </a:xfrm>
        </p:spPr>
        <p:txBody>
          <a:bodyPr>
            <a:normAutofit fontScale="90000"/>
          </a:bodyPr>
          <a:lstStyle/>
          <a:p>
            <a:r>
              <a:rPr lang="en-US" altLang="zh-CN" dirty="0">
                <a:latin typeface="+mn-lt"/>
                <a:ea typeface="+mn-ea"/>
                <a:cs typeface="+mn-ea"/>
                <a:sym typeface="+mn-lt"/>
              </a:rPr>
              <a:t>Example of Ratios for Property-Casualty Insurance</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pPr marL="0" indent="0">
              <a:buNone/>
            </a:pPr>
            <a:r>
              <a:rPr lang="en-US" altLang="zh-CN" dirty="0" smtClean="0">
                <a:latin typeface="+mn-lt"/>
                <a:ea typeface="+mn-ea"/>
                <a:cs typeface="+mn-ea"/>
                <a:sym typeface="+mn-lt"/>
              </a:rPr>
              <a:t> </a:t>
            </a:r>
            <a:endParaRPr lang="zh-CN" altLang="en-US" dirty="0">
              <a:latin typeface="+mn-lt"/>
              <a:ea typeface="+mn-ea"/>
              <a:cs typeface="+mn-ea"/>
              <a:sym typeface="+mn-lt"/>
            </a:endParaRPr>
          </a:p>
        </p:txBody>
      </p:sp>
      <p:graphicFrame>
        <p:nvGraphicFramePr>
          <p:cNvPr id="4" name="Table 6"/>
          <p:cNvGraphicFramePr>
            <a:graphicFrameLocks noGrp="1"/>
          </p:cNvGraphicFramePr>
          <p:nvPr>
            <p:extLst>
              <p:ext uri="{D42A27DB-BD31-4B8C-83A1-F6EECF244321}">
                <p14:modId xmlns:p14="http://schemas.microsoft.com/office/powerpoint/2010/main" val="2913193769"/>
              </p:ext>
            </p:extLst>
          </p:nvPr>
        </p:nvGraphicFramePr>
        <p:xfrm>
          <a:off x="609600" y="1232108"/>
          <a:ext cx="5857875" cy="3615314"/>
        </p:xfrm>
        <a:graphic>
          <a:graphicData uri="http://schemas.openxmlformats.org/drawingml/2006/table">
            <a:tbl>
              <a:tblPr>
                <a:tableStyleId>{17292A2E-F333-43FB-9621-5CBBE7FDCDCB}</a:tableStyleId>
              </a:tblPr>
              <a:tblGrid>
                <a:gridCol w="4827919">
                  <a:extLst>
                    <a:ext uri="{9D8B030D-6E8A-4147-A177-3AD203B41FA5}">
                      <a16:colId xmlns="" xmlns:a16="http://schemas.microsoft.com/office/drawing/2014/main" val="20000"/>
                    </a:ext>
                  </a:extLst>
                </a:gridCol>
                <a:gridCol w="1029956">
                  <a:extLst>
                    <a:ext uri="{9D8B030D-6E8A-4147-A177-3AD203B41FA5}">
                      <a16:colId xmlns="" xmlns:a16="http://schemas.microsoft.com/office/drawing/2014/main" val="20001"/>
                    </a:ext>
                  </a:extLst>
                </a:gridCol>
              </a:tblGrid>
              <a:tr h="520473">
                <a:tc>
                  <a:txBody>
                    <a:bodyPr/>
                    <a:lstStyle/>
                    <a:p>
                      <a:pPr algn="l" fontAlgn="b"/>
                      <a:r>
                        <a:rPr lang="en-US" sz="2400" u="none" strike="noStrike" dirty="0">
                          <a:latin typeface="+mn-lt"/>
                          <a:ea typeface="+mn-ea"/>
                          <a:cs typeface="+mn-ea"/>
                          <a:sym typeface="+mn-lt"/>
                        </a:rPr>
                        <a:t>Loss Ratio </a:t>
                      </a:r>
                      <a:endParaRPr lang="en-US" sz="24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400" u="none" strike="noStrike" dirty="0">
                          <a:latin typeface="+mn-lt"/>
                          <a:ea typeface="+mn-ea"/>
                          <a:cs typeface="+mn-ea"/>
                          <a:sym typeface="+mn-lt"/>
                        </a:rPr>
                        <a:t>75%</a:t>
                      </a:r>
                      <a:endParaRPr lang="en-US" sz="24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0"/>
                  </a:ext>
                </a:extLst>
              </a:tr>
              <a:tr h="520473">
                <a:tc>
                  <a:txBody>
                    <a:bodyPr/>
                    <a:lstStyle/>
                    <a:p>
                      <a:pPr algn="l" fontAlgn="b"/>
                      <a:r>
                        <a:rPr lang="en-US" sz="2400" u="none" strike="noStrike" dirty="0">
                          <a:latin typeface="+mn-lt"/>
                          <a:ea typeface="+mn-ea"/>
                          <a:cs typeface="+mn-ea"/>
                          <a:sym typeface="+mn-lt"/>
                        </a:rPr>
                        <a:t>Expense ratio</a:t>
                      </a:r>
                      <a:endParaRPr lang="en-US" sz="24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400" u="none" strike="noStrike" dirty="0">
                          <a:latin typeface="+mn-lt"/>
                          <a:ea typeface="+mn-ea"/>
                          <a:cs typeface="+mn-ea"/>
                          <a:sym typeface="+mn-lt"/>
                        </a:rPr>
                        <a:t>30%</a:t>
                      </a:r>
                      <a:endParaRPr lang="en-US" sz="24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1"/>
                  </a:ext>
                </a:extLst>
              </a:tr>
              <a:tr h="520473">
                <a:tc>
                  <a:txBody>
                    <a:bodyPr/>
                    <a:lstStyle/>
                    <a:p>
                      <a:pPr algn="l" fontAlgn="b"/>
                      <a:r>
                        <a:rPr lang="en-US" sz="2400" u="none" strike="noStrike" baseline="0" dirty="0">
                          <a:solidFill>
                            <a:schemeClr val="accent6">
                              <a:lumMod val="75000"/>
                            </a:schemeClr>
                          </a:solidFill>
                          <a:latin typeface="+mn-lt"/>
                          <a:ea typeface="+mn-ea"/>
                          <a:cs typeface="+mn-ea"/>
                          <a:sym typeface="+mn-lt"/>
                        </a:rPr>
                        <a:t>Combined ratio</a:t>
                      </a:r>
                      <a:endParaRPr lang="en-US" sz="2400" b="0" i="0" u="none" strike="noStrike" baseline="0" dirty="0">
                        <a:solidFill>
                          <a:schemeClr val="accent6">
                            <a:lumMod val="75000"/>
                          </a:schemeClr>
                        </a:solidFill>
                        <a:latin typeface="+mn-lt"/>
                        <a:ea typeface="+mn-ea"/>
                        <a:cs typeface="+mn-ea"/>
                        <a:sym typeface="+mn-lt"/>
                      </a:endParaRPr>
                    </a:p>
                  </a:txBody>
                  <a:tcPr marL="9525" marR="9525" marT="9525" marB="0" anchor="b"/>
                </a:tc>
                <a:tc>
                  <a:txBody>
                    <a:bodyPr/>
                    <a:lstStyle/>
                    <a:p>
                      <a:pPr algn="r" fontAlgn="b"/>
                      <a:r>
                        <a:rPr lang="en-US" sz="2400" u="none" strike="noStrike" baseline="0" dirty="0">
                          <a:solidFill>
                            <a:schemeClr val="accent6">
                              <a:lumMod val="75000"/>
                            </a:schemeClr>
                          </a:solidFill>
                          <a:latin typeface="+mn-lt"/>
                          <a:ea typeface="+mn-ea"/>
                          <a:cs typeface="+mn-ea"/>
                          <a:sym typeface="+mn-lt"/>
                        </a:rPr>
                        <a:t>105%</a:t>
                      </a:r>
                      <a:endParaRPr lang="en-US" sz="2400" b="0" i="0" u="none" strike="noStrike" baseline="0" dirty="0">
                        <a:solidFill>
                          <a:schemeClr val="accent6">
                            <a:lumMod val="75000"/>
                          </a:schemeClr>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2"/>
                  </a:ext>
                </a:extLst>
              </a:tr>
              <a:tr h="520473">
                <a:tc>
                  <a:txBody>
                    <a:bodyPr/>
                    <a:lstStyle/>
                    <a:p>
                      <a:pPr algn="l" fontAlgn="b"/>
                      <a:r>
                        <a:rPr lang="en-US" sz="2400" u="none" strike="noStrike" dirty="0">
                          <a:latin typeface="+mn-lt"/>
                          <a:ea typeface="+mn-ea"/>
                          <a:cs typeface="+mn-ea"/>
                          <a:sym typeface="+mn-lt"/>
                        </a:rPr>
                        <a:t>Dividends</a:t>
                      </a:r>
                      <a:endParaRPr lang="en-US" sz="24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400" u="none" strike="noStrike" dirty="0">
                          <a:latin typeface="+mn-lt"/>
                          <a:ea typeface="+mn-ea"/>
                          <a:cs typeface="+mn-ea"/>
                          <a:sym typeface="+mn-lt"/>
                        </a:rPr>
                        <a:t>1%</a:t>
                      </a:r>
                      <a:endParaRPr lang="en-US" sz="24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3"/>
                  </a:ext>
                </a:extLst>
              </a:tr>
              <a:tr h="520473">
                <a:tc>
                  <a:txBody>
                    <a:bodyPr/>
                    <a:lstStyle/>
                    <a:p>
                      <a:pPr algn="l" fontAlgn="b"/>
                      <a:r>
                        <a:rPr lang="en-US" sz="2400" u="none" strike="noStrike" baseline="0" dirty="0">
                          <a:solidFill>
                            <a:schemeClr val="accent6">
                              <a:lumMod val="75000"/>
                            </a:schemeClr>
                          </a:solidFill>
                          <a:latin typeface="+mn-lt"/>
                          <a:ea typeface="+mn-ea"/>
                          <a:cs typeface="+mn-ea"/>
                          <a:sym typeface="+mn-lt"/>
                        </a:rPr>
                        <a:t>Combined ratio after dividends</a:t>
                      </a:r>
                      <a:endParaRPr lang="en-US" sz="2400" b="0" i="0" u="none" strike="noStrike" baseline="0" dirty="0">
                        <a:solidFill>
                          <a:schemeClr val="accent6">
                            <a:lumMod val="75000"/>
                          </a:schemeClr>
                        </a:solidFill>
                        <a:latin typeface="+mn-lt"/>
                        <a:ea typeface="+mn-ea"/>
                        <a:cs typeface="+mn-ea"/>
                        <a:sym typeface="+mn-lt"/>
                      </a:endParaRPr>
                    </a:p>
                  </a:txBody>
                  <a:tcPr marL="9525" marR="9525" marT="9525" marB="0" anchor="b"/>
                </a:tc>
                <a:tc>
                  <a:txBody>
                    <a:bodyPr/>
                    <a:lstStyle/>
                    <a:p>
                      <a:pPr algn="r" fontAlgn="b"/>
                      <a:r>
                        <a:rPr lang="en-US" sz="2400" u="none" strike="noStrike" baseline="0" dirty="0">
                          <a:solidFill>
                            <a:schemeClr val="accent6">
                              <a:lumMod val="75000"/>
                            </a:schemeClr>
                          </a:solidFill>
                          <a:latin typeface="+mn-lt"/>
                          <a:ea typeface="+mn-ea"/>
                          <a:cs typeface="+mn-ea"/>
                          <a:sym typeface="+mn-lt"/>
                        </a:rPr>
                        <a:t>106%</a:t>
                      </a:r>
                      <a:endParaRPr lang="en-US" sz="2400" b="0" i="0" u="none" strike="noStrike" baseline="0" dirty="0">
                        <a:solidFill>
                          <a:schemeClr val="accent6">
                            <a:lumMod val="75000"/>
                          </a:schemeClr>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4"/>
                  </a:ext>
                </a:extLst>
              </a:tr>
              <a:tr h="520473">
                <a:tc>
                  <a:txBody>
                    <a:bodyPr/>
                    <a:lstStyle/>
                    <a:p>
                      <a:pPr algn="l" fontAlgn="b"/>
                      <a:r>
                        <a:rPr lang="en-US" sz="2400" u="none" strike="noStrike" dirty="0">
                          <a:latin typeface="+mn-lt"/>
                          <a:ea typeface="+mn-ea"/>
                          <a:cs typeface="+mn-ea"/>
                          <a:sym typeface="+mn-lt"/>
                        </a:rPr>
                        <a:t>Investment income</a:t>
                      </a:r>
                      <a:endParaRPr lang="en-US" sz="24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400" u="none" strike="noStrike" dirty="0" smtClean="0">
                          <a:latin typeface="+mn-lt"/>
                          <a:ea typeface="+mn-ea"/>
                          <a:cs typeface="+mn-ea"/>
                          <a:sym typeface="+mn-lt"/>
                        </a:rPr>
                        <a:t>(9%)</a:t>
                      </a:r>
                      <a:endParaRPr lang="en-US" sz="24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5"/>
                  </a:ext>
                </a:extLst>
              </a:tr>
              <a:tr h="492476">
                <a:tc>
                  <a:txBody>
                    <a:bodyPr/>
                    <a:lstStyle/>
                    <a:p>
                      <a:pPr algn="l" fontAlgn="b"/>
                      <a:r>
                        <a:rPr lang="en-US" sz="2400" u="none" strike="noStrike" dirty="0">
                          <a:latin typeface="+mn-lt"/>
                          <a:ea typeface="+mn-ea"/>
                          <a:cs typeface="+mn-ea"/>
                          <a:sym typeface="+mn-lt"/>
                        </a:rPr>
                        <a:t>Operating ratio</a:t>
                      </a:r>
                      <a:endParaRPr lang="en-US" sz="24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400" u="none" strike="noStrike" dirty="0" smtClean="0">
                          <a:latin typeface="+mn-lt"/>
                          <a:ea typeface="+mn-ea"/>
                          <a:cs typeface="+mn-ea"/>
                          <a:sym typeface="+mn-lt"/>
                        </a:rPr>
                        <a:t>97%</a:t>
                      </a:r>
                      <a:endParaRPr lang="en-US" sz="24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6"/>
                  </a:ext>
                </a:extLst>
              </a:tr>
            </a:tbl>
          </a:graphicData>
        </a:graphic>
      </p:graphicFrame>
      <p:grpSp>
        <p:nvGrpSpPr>
          <p:cNvPr id="5" name="b1a35102-f3bd-4dec-8a8d-8d1fbc06def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629230" y="2340625"/>
            <a:ext cx="3007414" cy="3082551"/>
            <a:chOff x="3679825" y="952500"/>
            <a:chExt cx="4829175" cy="4949826"/>
          </a:xfrm>
        </p:grpSpPr>
        <p:sp>
          <p:nvSpPr>
            <p:cNvPr id="6" name="iṥļiḍe">
              <a:extLst>
                <a:ext uri="{FF2B5EF4-FFF2-40B4-BE49-F238E27FC236}">
                  <a16:creationId xmlns="" xmlns:a16="http://schemas.microsoft.com/office/drawing/2014/main" id="{CDB7733A-37FA-4B0D-B2F6-231AE37E560D}"/>
                </a:ext>
              </a:extLst>
            </p:cNvPr>
            <p:cNvSpPr/>
            <p:nvPr/>
          </p:nvSpPr>
          <p:spPr bwMode="auto">
            <a:xfrm>
              <a:off x="4600575" y="1657350"/>
              <a:ext cx="2713038" cy="3243263"/>
            </a:xfrm>
            <a:custGeom>
              <a:avLst/>
              <a:gdLst>
                <a:gd name="T0" fmla="*/ 201 w 822"/>
                <a:gd name="T1" fmla="*/ 984 h 984"/>
                <a:gd name="T2" fmla="*/ 154 w 822"/>
                <a:gd name="T3" fmla="*/ 965 h 984"/>
                <a:gd name="T4" fmla="*/ 123 w 822"/>
                <a:gd name="T5" fmla="*/ 936 h 984"/>
                <a:gd name="T6" fmla="*/ 0 w 822"/>
                <a:gd name="T7" fmla="*/ 936 h 984"/>
                <a:gd name="T8" fmla="*/ 0 w 822"/>
                <a:gd name="T9" fmla="*/ 453 h 984"/>
                <a:gd name="T10" fmla="*/ 92 w 822"/>
                <a:gd name="T11" fmla="*/ 453 h 984"/>
                <a:gd name="T12" fmla="*/ 101 w 822"/>
                <a:gd name="T13" fmla="*/ 452 h 984"/>
                <a:gd name="T14" fmla="*/ 206 w 822"/>
                <a:gd name="T15" fmla="*/ 356 h 984"/>
                <a:gd name="T16" fmla="*/ 218 w 822"/>
                <a:gd name="T17" fmla="*/ 349 h 984"/>
                <a:gd name="T18" fmla="*/ 323 w 822"/>
                <a:gd name="T19" fmla="*/ 194 h 984"/>
                <a:gd name="T20" fmla="*/ 332 w 822"/>
                <a:gd name="T21" fmla="*/ 142 h 984"/>
                <a:gd name="T22" fmla="*/ 431 w 822"/>
                <a:gd name="T23" fmla="*/ 0 h 984"/>
                <a:gd name="T24" fmla="*/ 434 w 822"/>
                <a:gd name="T25" fmla="*/ 0 h 984"/>
                <a:gd name="T26" fmla="*/ 505 w 822"/>
                <a:gd name="T27" fmla="*/ 24 h 984"/>
                <a:gd name="T28" fmla="*/ 528 w 822"/>
                <a:gd name="T29" fmla="*/ 102 h 984"/>
                <a:gd name="T30" fmla="*/ 528 w 822"/>
                <a:gd name="T31" fmla="*/ 152 h 984"/>
                <a:gd name="T32" fmla="*/ 514 w 822"/>
                <a:gd name="T33" fmla="*/ 273 h 984"/>
                <a:gd name="T34" fmla="*/ 514 w 822"/>
                <a:gd name="T35" fmla="*/ 274 h 984"/>
                <a:gd name="T36" fmla="*/ 513 w 822"/>
                <a:gd name="T37" fmla="*/ 276 h 984"/>
                <a:gd name="T38" fmla="*/ 510 w 822"/>
                <a:gd name="T39" fmla="*/ 354 h 984"/>
                <a:gd name="T40" fmla="*/ 541 w 822"/>
                <a:gd name="T41" fmla="*/ 367 h 984"/>
                <a:gd name="T42" fmla="*/ 699 w 822"/>
                <a:gd name="T43" fmla="*/ 367 h 984"/>
                <a:gd name="T44" fmla="*/ 751 w 822"/>
                <a:gd name="T45" fmla="*/ 389 h 984"/>
                <a:gd name="T46" fmla="*/ 804 w 822"/>
                <a:gd name="T47" fmla="*/ 448 h 984"/>
                <a:gd name="T48" fmla="*/ 822 w 822"/>
                <a:gd name="T49" fmla="*/ 495 h 984"/>
                <a:gd name="T50" fmla="*/ 822 w 822"/>
                <a:gd name="T51" fmla="*/ 496 h 984"/>
                <a:gd name="T52" fmla="*/ 759 w 822"/>
                <a:gd name="T53" fmla="*/ 858 h 984"/>
                <a:gd name="T54" fmla="*/ 741 w 822"/>
                <a:gd name="T55" fmla="*/ 904 h 984"/>
                <a:gd name="T56" fmla="*/ 689 w 822"/>
                <a:gd name="T57" fmla="*/ 961 h 984"/>
                <a:gd name="T58" fmla="*/ 638 w 822"/>
                <a:gd name="T59" fmla="*/ 984 h 984"/>
                <a:gd name="T60" fmla="*/ 201 w 822"/>
                <a:gd name="T61" fmla="*/ 984 h 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2" h="984">
                  <a:moveTo>
                    <a:pt x="201" y="984"/>
                  </a:moveTo>
                  <a:cubicBezTo>
                    <a:pt x="184" y="984"/>
                    <a:pt x="167" y="977"/>
                    <a:pt x="154" y="965"/>
                  </a:cubicBezTo>
                  <a:cubicBezTo>
                    <a:pt x="123" y="936"/>
                    <a:pt x="123" y="936"/>
                    <a:pt x="123" y="936"/>
                  </a:cubicBezTo>
                  <a:cubicBezTo>
                    <a:pt x="0" y="936"/>
                    <a:pt x="0" y="936"/>
                    <a:pt x="0" y="936"/>
                  </a:cubicBezTo>
                  <a:cubicBezTo>
                    <a:pt x="0" y="453"/>
                    <a:pt x="0" y="453"/>
                    <a:pt x="0" y="453"/>
                  </a:cubicBezTo>
                  <a:cubicBezTo>
                    <a:pt x="92" y="453"/>
                    <a:pt x="92" y="453"/>
                    <a:pt x="92" y="453"/>
                  </a:cubicBezTo>
                  <a:cubicBezTo>
                    <a:pt x="95" y="453"/>
                    <a:pt x="99" y="452"/>
                    <a:pt x="101" y="452"/>
                  </a:cubicBezTo>
                  <a:cubicBezTo>
                    <a:pt x="113" y="427"/>
                    <a:pt x="144" y="384"/>
                    <a:pt x="206" y="356"/>
                  </a:cubicBezTo>
                  <a:cubicBezTo>
                    <a:pt x="211" y="354"/>
                    <a:pt x="215" y="352"/>
                    <a:pt x="218" y="349"/>
                  </a:cubicBezTo>
                  <a:cubicBezTo>
                    <a:pt x="238" y="330"/>
                    <a:pt x="308" y="265"/>
                    <a:pt x="323" y="194"/>
                  </a:cubicBezTo>
                  <a:cubicBezTo>
                    <a:pt x="327" y="176"/>
                    <a:pt x="330" y="159"/>
                    <a:pt x="332" y="142"/>
                  </a:cubicBezTo>
                  <a:cubicBezTo>
                    <a:pt x="344" y="72"/>
                    <a:pt x="355" y="1"/>
                    <a:pt x="431" y="0"/>
                  </a:cubicBezTo>
                  <a:cubicBezTo>
                    <a:pt x="434" y="0"/>
                    <a:pt x="434" y="0"/>
                    <a:pt x="434" y="0"/>
                  </a:cubicBezTo>
                  <a:cubicBezTo>
                    <a:pt x="465" y="0"/>
                    <a:pt x="489" y="8"/>
                    <a:pt x="505" y="24"/>
                  </a:cubicBezTo>
                  <a:cubicBezTo>
                    <a:pt x="529" y="48"/>
                    <a:pt x="529" y="82"/>
                    <a:pt x="528" y="102"/>
                  </a:cubicBezTo>
                  <a:cubicBezTo>
                    <a:pt x="528" y="152"/>
                    <a:pt x="528" y="152"/>
                    <a:pt x="528" y="152"/>
                  </a:cubicBezTo>
                  <a:cubicBezTo>
                    <a:pt x="528" y="168"/>
                    <a:pt x="525" y="193"/>
                    <a:pt x="514" y="273"/>
                  </a:cubicBezTo>
                  <a:cubicBezTo>
                    <a:pt x="514" y="274"/>
                    <a:pt x="514" y="274"/>
                    <a:pt x="514" y="274"/>
                  </a:cubicBezTo>
                  <a:cubicBezTo>
                    <a:pt x="513" y="276"/>
                    <a:pt x="513" y="276"/>
                    <a:pt x="513" y="276"/>
                  </a:cubicBezTo>
                  <a:cubicBezTo>
                    <a:pt x="506" y="296"/>
                    <a:pt x="497" y="335"/>
                    <a:pt x="510" y="354"/>
                  </a:cubicBezTo>
                  <a:cubicBezTo>
                    <a:pt x="516" y="363"/>
                    <a:pt x="526" y="367"/>
                    <a:pt x="541" y="367"/>
                  </a:cubicBezTo>
                  <a:cubicBezTo>
                    <a:pt x="699" y="367"/>
                    <a:pt x="699" y="367"/>
                    <a:pt x="699" y="367"/>
                  </a:cubicBezTo>
                  <a:cubicBezTo>
                    <a:pt x="719" y="367"/>
                    <a:pt x="737" y="375"/>
                    <a:pt x="751" y="389"/>
                  </a:cubicBezTo>
                  <a:cubicBezTo>
                    <a:pt x="804" y="448"/>
                    <a:pt x="804" y="448"/>
                    <a:pt x="804" y="448"/>
                  </a:cubicBezTo>
                  <a:cubicBezTo>
                    <a:pt x="816" y="461"/>
                    <a:pt x="822" y="477"/>
                    <a:pt x="822" y="495"/>
                  </a:cubicBezTo>
                  <a:cubicBezTo>
                    <a:pt x="822" y="496"/>
                    <a:pt x="822" y="496"/>
                    <a:pt x="822" y="496"/>
                  </a:cubicBezTo>
                  <a:cubicBezTo>
                    <a:pt x="759" y="858"/>
                    <a:pt x="759" y="858"/>
                    <a:pt x="759" y="858"/>
                  </a:cubicBezTo>
                  <a:cubicBezTo>
                    <a:pt x="759" y="876"/>
                    <a:pt x="752" y="892"/>
                    <a:pt x="741" y="904"/>
                  </a:cubicBezTo>
                  <a:cubicBezTo>
                    <a:pt x="689" y="961"/>
                    <a:pt x="689" y="961"/>
                    <a:pt x="689" y="961"/>
                  </a:cubicBezTo>
                  <a:cubicBezTo>
                    <a:pt x="676" y="975"/>
                    <a:pt x="657" y="984"/>
                    <a:pt x="638" y="984"/>
                  </a:cubicBezTo>
                  <a:cubicBezTo>
                    <a:pt x="201" y="984"/>
                    <a:pt x="201" y="984"/>
                    <a:pt x="201" y="9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7" name="î$ḻidé">
              <a:extLst>
                <a:ext uri="{FF2B5EF4-FFF2-40B4-BE49-F238E27FC236}">
                  <a16:creationId xmlns="" xmlns:a16="http://schemas.microsoft.com/office/drawing/2014/main" id="{835C38CD-EE6A-42BA-891D-6406CE46B0DB}"/>
                </a:ext>
              </a:extLst>
            </p:cNvPr>
            <p:cNvSpPr/>
            <p:nvPr/>
          </p:nvSpPr>
          <p:spPr bwMode="auto">
            <a:xfrm>
              <a:off x="4551363" y="1608138"/>
              <a:ext cx="2811463" cy="3338513"/>
            </a:xfrm>
            <a:custGeom>
              <a:avLst/>
              <a:gdLst>
                <a:gd name="T0" fmla="*/ 449 w 852"/>
                <a:gd name="T1" fmla="*/ 29 h 1013"/>
                <a:gd name="T2" fmla="*/ 529 w 852"/>
                <a:gd name="T3" fmla="*/ 119 h 1013"/>
                <a:gd name="T4" fmla="*/ 529 w 852"/>
                <a:gd name="T5" fmla="*/ 167 h 1013"/>
                <a:gd name="T6" fmla="*/ 515 w 852"/>
                <a:gd name="T7" fmla="*/ 285 h 1013"/>
                <a:gd name="T8" fmla="*/ 556 w 852"/>
                <a:gd name="T9" fmla="*/ 396 h 1013"/>
                <a:gd name="T10" fmla="*/ 714 w 852"/>
                <a:gd name="T11" fmla="*/ 396 h 1013"/>
                <a:gd name="T12" fmla="*/ 755 w 852"/>
                <a:gd name="T13" fmla="*/ 414 h 1013"/>
                <a:gd name="T14" fmla="*/ 808 w 852"/>
                <a:gd name="T15" fmla="*/ 472 h 1013"/>
                <a:gd name="T16" fmla="*/ 823 w 852"/>
                <a:gd name="T17" fmla="*/ 510 h 1013"/>
                <a:gd name="T18" fmla="*/ 760 w 852"/>
                <a:gd name="T19" fmla="*/ 872 h 1013"/>
                <a:gd name="T20" fmla="*/ 745 w 852"/>
                <a:gd name="T21" fmla="*/ 910 h 1013"/>
                <a:gd name="T22" fmla="*/ 694 w 852"/>
                <a:gd name="T23" fmla="*/ 966 h 1013"/>
                <a:gd name="T24" fmla="*/ 653 w 852"/>
                <a:gd name="T25" fmla="*/ 984 h 1013"/>
                <a:gd name="T26" fmla="*/ 216 w 852"/>
                <a:gd name="T27" fmla="*/ 984 h 1013"/>
                <a:gd name="T28" fmla="*/ 179 w 852"/>
                <a:gd name="T29" fmla="*/ 969 h 1013"/>
                <a:gd name="T30" fmla="*/ 144 w 852"/>
                <a:gd name="T31" fmla="*/ 937 h 1013"/>
                <a:gd name="T32" fmla="*/ 29 w 852"/>
                <a:gd name="T33" fmla="*/ 937 h 1013"/>
                <a:gd name="T34" fmla="*/ 29 w 852"/>
                <a:gd name="T35" fmla="*/ 482 h 1013"/>
                <a:gd name="T36" fmla="*/ 107 w 852"/>
                <a:gd name="T37" fmla="*/ 482 h 1013"/>
                <a:gd name="T38" fmla="*/ 128 w 852"/>
                <a:gd name="T39" fmla="*/ 475 h 1013"/>
                <a:gd name="T40" fmla="*/ 227 w 852"/>
                <a:gd name="T41" fmla="*/ 384 h 1013"/>
                <a:gd name="T42" fmla="*/ 242 w 852"/>
                <a:gd name="T43" fmla="*/ 375 h 1013"/>
                <a:gd name="T44" fmla="*/ 352 w 852"/>
                <a:gd name="T45" fmla="*/ 212 h 1013"/>
                <a:gd name="T46" fmla="*/ 446 w 852"/>
                <a:gd name="T47" fmla="*/ 29 h 1013"/>
                <a:gd name="T48" fmla="*/ 449 w 852"/>
                <a:gd name="T49" fmla="*/ 29 h 1013"/>
                <a:gd name="T50" fmla="*/ 449 w 852"/>
                <a:gd name="T51" fmla="*/ 0 h 1013"/>
                <a:gd name="T52" fmla="*/ 446 w 852"/>
                <a:gd name="T53" fmla="*/ 0 h 1013"/>
                <a:gd name="T54" fmla="*/ 358 w 852"/>
                <a:gd name="T55" fmla="*/ 55 h 1013"/>
                <a:gd name="T56" fmla="*/ 333 w 852"/>
                <a:gd name="T57" fmla="*/ 155 h 1013"/>
                <a:gd name="T58" fmla="*/ 324 w 852"/>
                <a:gd name="T59" fmla="*/ 206 h 1013"/>
                <a:gd name="T60" fmla="*/ 223 w 852"/>
                <a:gd name="T61" fmla="*/ 353 h 1013"/>
                <a:gd name="T62" fmla="*/ 216 w 852"/>
                <a:gd name="T63" fmla="*/ 358 h 1013"/>
                <a:gd name="T64" fmla="*/ 106 w 852"/>
                <a:gd name="T65" fmla="*/ 454 h 1013"/>
                <a:gd name="T66" fmla="*/ 29 w 852"/>
                <a:gd name="T67" fmla="*/ 454 h 1013"/>
                <a:gd name="T68" fmla="*/ 0 w 852"/>
                <a:gd name="T69" fmla="*/ 454 h 1013"/>
                <a:gd name="T70" fmla="*/ 0 w 852"/>
                <a:gd name="T71" fmla="*/ 482 h 1013"/>
                <a:gd name="T72" fmla="*/ 0 w 852"/>
                <a:gd name="T73" fmla="*/ 937 h 1013"/>
                <a:gd name="T74" fmla="*/ 0 w 852"/>
                <a:gd name="T75" fmla="*/ 966 h 1013"/>
                <a:gd name="T76" fmla="*/ 29 w 852"/>
                <a:gd name="T77" fmla="*/ 966 h 1013"/>
                <a:gd name="T78" fmla="*/ 132 w 852"/>
                <a:gd name="T79" fmla="*/ 966 h 1013"/>
                <a:gd name="T80" fmla="*/ 159 w 852"/>
                <a:gd name="T81" fmla="*/ 991 h 1013"/>
                <a:gd name="T82" fmla="*/ 216 w 852"/>
                <a:gd name="T83" fmla="*/ 1013 h 1013"/>
                <a:gd name="T84" fmla="*/ 653 w 852"/>
                <a:gd name="T85" fmla="*/ 1013 h 1013"/>
                <a:gd name="T86" fmla="*/ 715 w 852"/>
                <a:gd name="T87" fmla="*/ 985 h 1013"/>
                <a:gd name="T88" fmla="*/ 766 w 852"/>
                <a:gd name="T89" fmla="*/ 929 h 1013"/>
                <a:gd name="T90" fmla="*/ 788 w 852"/>
                <a:gd name="T91" fmla="*/ 875 h 1013"/>
                <a:gd name="T92" fmla="*/ 851 w 852"/>
                <a:gd name="T93" fmla="*/ 515 h 1013"/>
                <a:gd name="T94" fmla="*/ 852 w 852"/>
                <a:gd name="T95" fmla="*/ 512 h 1013"/>
                <a:gd name="T96" fmla="*/ 852 w 852"/>
                <a:gd name="T97" fmla="*/ 510 h 1013"/>
                <a:gd name="T98" fmla="*/ 830 w 852"/>
                <a:gd name="T99" fmla="*/ 453 h 1013"/>
                <a:gd name="T100" fmla="*/ 776 w 852"/>
                <a:gd name="T101" fmla="*/ 395 h 1013"/>
                <a:gd name="T102" fmla="*/ 714 w 852"/>
                <a:gd name="T103" fmla="*/ 367 h 1013"/>
                <a:gd name="T104" fmla="*/ 556 w 852"/>
                <a:gd name="T105" fmla="*/ 367 h 1013"/>
                <a:gd name="T106" fmla="*/ 537 w 852"/>
                <a:gd name="T107" fmla="*/ 361 h 1013"/>
                <a:gd name="T108" fmla="*/ 542 w 852"/>
                <a:gd name="T109" fmla="*/ 296 h 1013"/>
                <a:gd name="T110" fmla="*/ 543 w 852"/>
                <a:gd name="T111" fmla="*/ 290 h 1013"/>
                <a:gd name="T112" fmla="*/ 558 w 852"/>
                <a:gd name="T113" fmla="*/ 167 h 1013"/>
                <a:gd name="T114" fmla="*/ 558 w 852"/>
                <a:gd name="T115" fmla="*/ 119 h 1013"/>
                <a:gd name="T116" fmla="*/ 558 w 852"/>
                <a:gd name="T117" fmla="*/ 117 h 1013"/>
                <a:gd name="T118" fmla="*/ 530 w 852"/>
                <a:gd name="T119" fmla="*/ 29 h 1013"/>
                <a:gd name="T120" fmla="*/ 449 w 852"/>
                <a:gd name="T121" fmla="*/ 0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52" h="1013">
                  <a:moveTo>
                    <a:pt x="449" y="29"/>
                  </a:moveTo>
                  <a:cubicBezTo>
                    <a:pt x="532" y="29"/>
                    <a:pt x="529" y="91"/>
                    <a:pt x="529" y="119"/>
                  </a:cubicBezTo>
                  <a:cubicBezTo>
                    <a:pt x="529" y="167"/>
                    <a:pt x="529" y="167"/>
                    <a:pt x="529" y="167"/>
                  </a:cubicBezTo>
                  <a:cubicBezTo>
                    <a:pt x="529" y="182"/>
                    <a:pt x="526" y="210"/>
                    <a:pt x="515" y="285"/>
                  </a:cubicBezTo>
                  <a:cubicBezTo>
                    <a:pt x="515" y="286"/>
                    <a:pt x="472" y="396"/>
                    <a:pt x="556" y="396"/>
                  </a:cubicBezTo>
                  <a:cubicBezTo>
                    <a:pt x="714" y="396"/>
                    <a:pt x="714" y="396"/>
                    <a:pt x="714" y="396"/>
                  </a:cubicBezTo>
                  <a:cubicBezTo>
                    <a:pt x="730" y="396"/>
                    <a:pt x="745" y="403"/>
                    <a:pt x="755" y="414"/>
                  </a:cubicBezTo>
                  <a:cubicBezTo>
                    <a:pt x="808" y="472"/>
                    <a:pt x="808" y="472"/>
                    <a:pt x="808" y="472"/>
                  </a:cubicBezTo>
                  <a:cubicBezTo>
                    <a:pt x="818" y="483"/>
                    <a:pt x="823" y="496"/>
                    <a:pt x="823" y="510"/>
                  </a:cubicBezTo>
                  <a:cubicBezTo>
                    <a:pt x="760" y="872"/>
                    <a:pt x="760" y="872"/>
                    <a:pt x="760" y="872"/>
                  </a:cubicBezTo>
                  <a:cubicBezTo>
                    <a:pt x="760" y="886"/>
                    <a:pt x="754" y="899"/>
                    <a:pt x="745" y="910"/>
                  </a:cubicBezTo>
                  <a:cubicBezTo>
                    <a:pt x="694" y="966"/>
                    <a:pt x="694" y="966"/>
                    <a:pt x="694" y="966"/>
                  </a:cubicBezTo>
                  <a:cubicBezTo>
                    <a:pt x="683" y="978"/>
                    <a:pt x="668" y="984"/>
                    <a:pt x="653" y="984"/>
                  </a:cubicBezTo>
                  <a:cubicBezTo>
                    <a:pt x="216" y="984"/>
                    <a:pt x="216" y="984"/>
                    <a:pt x="216" y="984"/>
                  </a:cubicBezTo>
                  <a:cubicBezTo>
                    <a:pt x="202" y="984"/>
                    <a:pt x="189" y="979"/>
                    <a:pt x="179" y="969"/>
                  </a:cubicBezTo>
                  <a:cubicBezTo>
                    <a:pt x="144" y="937"/>
                    <a:pt x="144" y="937"/>
                    <a:pt x="144" y="937"/>
                  </a:cubicBezTo>
                  <a:cubicBezTo>
                    <a:pt x="29" y="937"/>
                    <a:pt x="29" y="937"/>
                    <a:pt x="29" y="937"/>
                  </a:cubicBezTo>
                  <a:cubicBezTo>
                    <a:pt x="29" y="482"/>
                    <a:pt x="29" y="482"/>
                    <a:pt x="29" y="482"/>
                  </a:cubicBezTo>
                  <a:cubicBezTo>
                    <a:pt x="107" y="482"/>
                    <a:pt x="107" y="482"/>
                    <a:pt x="107" y="482"/>
                  </a:cubicBezTo>
                  <a:cubicBezTo>
                    <a:pt x="107" y="482"/>
                    <a:pt x="124" y="482"/>
                    <a:pt x="128" y="475"/>
                  </a:cubicBezTo>
                  <a:cubicBezTo>
                    <a:pt x="139" y="453"/>
                    <a:pt x="167" y="411"/>
                    <a:pt x="227" y="384"/>
                  </a:cubicBezTo>
                  <a:cubicBezTo>
                    <a:pt x="233" y="382"/>
                    <a:pt x="238" y="379"/>
                    <a:pt x="242" y="375"/>
                  </a:cubicBezTo>
                  <a:cubicBezTo>
                    <a:pt x="265" y="355"/>
                    <a:pt x="336" y="287"/>
                    <a:pt x="352" y="212"/>
                  </a:cubicBezTo>
                  <a:cubicBezTo>
                    <a:pt x="371" y="121"/>
                    <a:pt x="367" y="30"/>
                    <a:pt x="446" y="29"/>
                  </a:cubicBezTo>
                  <a:cubicBezTo>
                    <a:pt x="447" y="29"/>
                    <a:pt x="448" y="29"/>
                    <a:pt x="449" y="29"/>
                  </a:cubicBezTo>
                  <a:moveTo>
                    <a:pt x="449" y="0"/>
                  </a:moveTo>
                  <a:cubicBezTo>
                    <a:pt x="448" y="0"/>
                    <a:pt x="447" y="0"/>
                    <a:pt x="446" y="0"/>
                  </a:cubicBezTo>
                  <a:cubicBezTo>
                    <a:pt x="406" y="1"/>
                    <a:pt x="376" y="19"/>
                    <a:pt x="358" y="55"/>
                  </a:cubicBezTo>
                  <a:cubicBezTo>
                    <a:pt x="345" y="83"/>
                    <a:pt x="339" y="118"/>
                    <a:pt x="333" y="155"/>
                  </a:cubicBezTo>
                  <a:cubicBezTo>
                    <a:pt x="330" y="171"/>
                    <a:pt x="328" y="189"/>
                    <a:pt x="324" y="206"/>
                  </a:cubicBezTo>
                  <a:cubicBezTo>
                    <a:pt x="310" y="273"/>
                    <a:pt x="243" y="335"/>
                    <a:pt x="223" y="353"/>
                  </a:cubicBezTo>
                  <a:cubicBezTo>
                    <a:pt x="221" y="355"/>
                    <a:pt x="219" y="356"/>
                    <a:pt x="216" y="358"/>
                  </a:cubicBezTo>
                  <a:cubicBezTo>
                    <a:pt x="154" y="385"/>
                    <a:pt x="122" y="427"/>
                    <a:pt x="106" y="454"/>
                  </a:cubicBezTo>
                  <a:cubicBezTo>
                    <a:pt x="29" y="454"/>
                    <a:pt x="29" y="454"/>
                    <a:pt x="29" y="454"/>
                  </a:cubicBezTo>
                  <a:cubicBezTo>
                    <a:pt x="0" y="454"/>
                    <a:pt x="0" y="454"/>
                    <a:pt x="0" y="454"/>
                  </a:cubicBezTo>
                  <a:cubicBezTo>
                    <a:pt x="0" y="482"/>
                    <a:pt x="0" y="482"/>
                    <a:pt x="0" y="482"/>
                  </a:cubicBezTo>
                  <a:cubicBezTo>
                    <a:pt x="0" y="937"/>
                    <a:pt x="0" y="937"/>
                    <a:pt x="0" y="937"/>
                  </a:cubicBezTo>
                  <a:cubicBezTo>
                    <a:pt x="0" y="966"/>
                    <a:pt x="0" y="966"/>
                    <a:pt x="0" y="966"/>
                  </a:cubicBezTo>
                  <a:cubicBezTo>
                    <a:pt x="29" y="966"/>
                    <a:pt x="29" y="966"/>
                    <a:pt x="29" y="966"/>
                  </a:cubicBezTo>
                  <a:cubicBezTo>
                    <a:pt x="132" y="966"/>
                    <a:pt x="132" y="966"/>
                    <a:pt x="132" y="966"/>
                  </a:cubicBezTo>
                  <a:cubicBezTo>
                    <a:pt x="159" y="991"/>
                    <a:pt x="159" y="991"/>
                    <a:pt x="159" y="991"/>
                  </a:cubicBezTo>
                  <a:cubicBezTo>
                    <a:pt x="175" y="1005"/>
                    <a:pt x="195" y="1013"/>
                    <a:pt x="216" y="1013"/>
                  </a:cubicBezTo>
                  <a:cubicBezTo>
                    <a:pt x="653" y="1013"/>
                    <a:pt x="653" y="1013"/>
                    <a:pt x="653" y="1013"/>
                  </a:cubicBezTo>
                  <a:cubicBezTo>
                    <a:pt x="676" y="1013"/>
                    <a:pt x="699" y="1003"/>
                    <a:pt x="715" y="985"/>
                  </a:cubicBezTo>
                  <a:cubicBezTo>
                    <a:pt x="766" y="929"/>
                    <a:pt x="766" y="929"/>
                    <a:pt x="766" y="929"/>
                  </a:cubicBezTo>
                  <a:cubicBezTo>
                    <a:pt x="780" y="914"/>
                    <a:pt x="788" y="895"/>
                    <a:pt x="788" y="875"/>
                  </a:cubicBezTo>
                  <a:cubicBezTo>
                    <a:pt x="851" y="515"/>
                    <a:pt x="851" y="515"/>
                    <a:pt x="851" y="515"/>
                  </a:cubicBezTo>
                  <a:cubicBezTo>
                    <a:pt x="852" y="512"/>
                    <a:pt x="852" y="512"/>
                    <a:pt x="852" y="512"/>
                  </a:cubicBezTo>
                  <a:cubicBezTo>
                    <a:pt x="852" y="510"/>
                    <a:pt x="852" y="510"/>
                    <a:pt x="852" y="510"/>
                  </a:cubicBezTo>
                  <a:cubicBezTo>
                    <a:pt x="852" y="489"/>
                    <a:pt x="844" y="468"/>
                    <a:pt x="830" y="453"/>
                  </a:cubicBezTo>
                  <a:cubicBezTo>
                    <a:pt x="776" y="395"/>
                    <a:pt x="776" y="395"/>
                    <a:pt x="776" y="395"/>
                  </a:cubicBezTo>
                  <a:cubicBezTo>
                    <a:pt x="760" y="377"/>
                    <a:pt x="738" y="367"/>
                    <a:pt x="714" y="367"/>
                  </a:cubicBezTo>
                  <a:cubicBezTo>
                    <a:pt x="556" y="367"/>
                    <a:pt x="556" y="367"/>
                    <a:pt x="556" y="367"/>
                  </a:cubicBezTo>
                  <a:cubicBezTo>
                    <a:pt x="546" y="367"/>
                    <a:pt x="540" y="365"/>
                    <a:pt x="537" y="361"/>
                  </a:cubicBezTo>
                  <a:cubicBezTo>
                    <a:pt x="529" y="349"/>
                    <a:pt x="533" y="319"/>
                    <a:pt x="542" y="296"/>
                  </a:cubicBezTo>
                  <a:cubicBezTo>
                    <a:pt x="542" y="295"/>
                    <a:pt x="543" y="293"/>
                    <a:pt x="543" y="290"/>
                  </a:cubicBezTo>
                  <a:cubicBezTo>
                    <a:pt x="555" y="209"/>
                    <a:pt x="558" y="184"/>
                    <a:pt x="558" y="167"/>
                  </a:cubicBezTo>
                  <a:cubicBezTo>
                    <a:pt x="558" y="119"/>
                    <a:pt x="558" y="119"/>
                    <a:pt x="558" y="119"/>
                  </a:cubicBezTo>
                  <a:cubicBezTo>
                    <a:pt x="558" y="117"/>
                    <a:pt x="558" y="117"/>
                    <a:pt x="558" y="117"/>
                  </a:cubicBezTo>
                  <a:cubicBezTo>
                    <a:pt x="558" y="96"/>
                    <a:pt x="558" y="57"/>
                    <a:pt x="530" y="29"/>
                  </a:cubicBezTo>
                  <a:cubicBezTo>
                    <a:pt x="511" y="10"/>
                    <a:pt x="484" y="0"/>
                    <a:pt x="449" y="0"/>
                  </a:cubicBezTo>
                </a:path>
              </a:pathLst>
            </a:custGeom>
            <a:solidFill>
              <a:srgbClr val="2D2E8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8" name="iṡľíḑè">
              <a:extLst>
                <a:ext uri="{FF2B5EF4-FFF2-40B4-BE49-F238E27FC236}">
                  <a16:creationId xmlns="" xmlns:a16="http://schemas.microsoft.com/office/drawing/2014/main" id="{B8F91EAE-5F70-4F7F-BF68-79F6367C4040}"/>
                </a:ext>
              </a:extLst>
            </p:cNvPr>
            <p:cNvSpPr/>
            <p:nvPr/>
          </p:nvSpPr>
          <p:spPr bwMode="auto">
            <a:xfrm>
              <a:off x="5872163" y="1709738"/>
              <a:ext cx="1398588" cy="1701800"/>
            </a:xfrm>
            <a:custGeom>
              <a:avLst/>
              <a:gdLst>
                <a:gd name="T0" fmla="*/ 72 w 424"/>
                <a:gd name="T1" fmla="*/ 0 h 516"/>
                <a:gd name="T2" fmla="*/ 38 w 424"/>
                <a:gd name="T3" fmla="*/ 260 h 516"/>
                <a:gd name="T4" fmla="*/ 18 w 424"/>
                <a:gd name="T5" fmla="*/ 385 h 516"/>
                <a:gd name="T6" fmla="*/ 141 w 424"/>
                <a:gd name="T7" fmla="*/ 428 h 516"/>
                <a:gd name="T8" fmla="*/ 330 w 424"/>
                <a:gd name="T9" fmla="*/ 428 h 516"/>
                <a:gd name="T10" fmla="*/ 368 w 424"/>
                <a:gd name="T11" fmla="*/ 439 h 516"/>
                <a:gd name="T12" fmla="*/ 417 w 424"/>
                <a:gd name="T13" fmla="*/ 516 h 516"/>
                <a:gd name="T14" fmla="*/ 423 w 424"/>
                <a:gd name="T15" fmla="*/ 477 h 516"/>
                <a:gd name="T16" fmla="*/ 408 w 424"/>
                <a:gd name="T17" fmla="*/ 441 h 516"/>
                <a:gd name="T18" fmla="*/ 356 w 424"/>
                <a:gd name="T19" fmla="*/ 385 h 516"/>
                <a:gd name="T20" fmla="*/ 314 w 424"/>
                <a:gd name="T21" fmla="*/ 365 h 516"/>
                <a:gd name="T22" fmla="*/ 187 w 424"/>
                <a:gd name="T23" fmla="*/ 365 h 516"/>
                <a:gd name="T24" fmla="*/ 104 w 424"/>
                <a:gd name="T25" fmla="*/ 319 h 516"/>
                <a:gd name="T26" fmla="*/ 111 w 424"/>
                <a:gd name="T27" fmla="*/ 265 h 516"/>
                <a:gd name="T28" fmla="*/ 117 w 424"/>
                <a:gd name="T29" fmla="*/ 240 h 516"/>
                <a:gd name="T30" fmla="*/ 129 w 424"/>
                <a:gd name="T31" fmla="*/ 124 h 516"/>
                <a:gd name="T32" fmla="*/ 115 w 424"/>
                <a:gd name="T33" fmla="*/ 24 h 516"/>
                <a:gd name="T34" fmla="*/ 72 w 424"/>
                <a:gd name="T35"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4" h="516">
                  <a:moveTo>
                    <a:pt x="72" y="0"/>
                  </a:moveTo>
                  <a:cubicBezTo>
                    <a:pt x="72" y="0"/>
                    <a:pt x="129" y="116"/>
                    <a:pt x="38" y="260"/>
                  </a:cubicBezTo>
                  <a:cubicBezTo>
                    <a:pt x="0" y="321"/>
                    <a:pt x="0" y="360"/>
                    <a:pt x="18" y="385"/>
                  </a:cubicBezTo>
                  <a:cubicBezTo>
                    <a:pt x="43" y="420"/>
                    <a:pt x="102" y="428"/>
                    <a:pt x="141" y="428"/>
                  </a:cubicBezTo>
                  <a:cubicBezTo>
                    <a:pt x="330" y="428"/>
                    <a:pt x="330" y="428"/>
                    <a:pt x="330" y="428"/>
                  </a:cubicBezTo>
                  <a:cubicBezTo>
                    <a:pt x="343" y="428"/>
                    <a:pt x="357" y="432"/>
                    <a:pt x="368" y="439"/>
                  </a:cubicBezTo>
                  <a:cubicBezTo>
                    <a:pt x="388" y="454"/>
                    <a:pt x="417" y="480"/>
                    <a:pt x="417" y="516"/>
                  </a:cubicBezTo>
                  <a:cubicBezTo>
                    <a:pt x="423" y="477"/>
                    <a:pt x="423" y="477"/>
                    <a:pt x="423" y="477"/>
                  </a:cubicBezTo>
                  <a:cubicBezTo>
                    <a:pt x="423" y="477"/>
                    <a:pt x="424" y="459"/>
                    <a:pt x="408" y="441"/>
                  </a:cubicBezTo>
                  <a:cubicBezTo>
                    <a:pt x="393" y="424"/>
                    <a:pt x="356" y="385"/>
                    <a:pt x="356" y="385"/>
                  </a:cubicBezTo>
                  <a:cubicBezTo>
                    <a:pt x="356" y="385"/>
                    <a:pt x="341" y="365"/>
                    <a:pt x="314" y="365"/>
                  </a:cubicBezTo>
                  <a:cubicBezTo>
                    <a:pt x="287" y="365"/>
                    <a:pt x="187" y="365"/>
                    <a:pt x="187" y="365"/>
                  </a:cubicBezTo>
                  <a:cubicBezTo>
                    <a:pt x="187" y="365"/>
                    <a:pt x="105" y="372"/>
                    <a:pt x="104" y="319"/>
                  </a:cubicBezTo>
                  <a:cubicBezTo>
                    <a:pt x="104" y="319"/>
                    <a:pt x="103" y="293"/>
                    <a:pt x="111" y="265"/>
                  </a:cubicBezTo>
                  <a:cubicBezTo>
                    <a:pt x="114" y="257"/>
                    <a:pt x="116" y="248"/>
                    <a:pt x="117" y="240"/>
                  </a:cubicBezTo>
                  <a:cubicBezTo>
                    <a:pt x="121" y="214"/>
                    <a:pt x="128" y="161"/>
                    <a:pt x="129" y="124"/>
                  </a:cubicBezTo>
                  <a:cubicBezTo>
                    <a:pt x="130" y="74"/>
                    <a:pt x="131" y="50"/>
                    <a:pt x="115" y="24"/>
                  </a:cubicBezTo>
                  <a:cubicBezTo>
                    <a:pt x="115" y="24"/>
                    <a:pt x="102" y="5"/>
                    <a:pt x="72" y="0"/>
                  </a:cubicBez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9" name="íṥḷïḋè">
              <a:extLst>
                <a:ext uri="{FF2B5EF4-FFF2-40B4-BE49-F238E27FC236}">
                  <a16:creationId xmlns="" xmlns:a16="http://schemas.microsoft.com/office/drawing/2014/main" id="{AD2A649E-43E7-42AA-9A2A-EC6465DCE797}"/>
                </a:ext>
              </a:extLst>
            </p:cNvPr>
            <p:cNvSpPr/>
            <p:nvPr/>
          </p:nvSpPr>
          <p:spPr bwMode="auto">
            <a:xfrm>
              <a:off x="4756150" y="4198938"/>
              <a:ext cx="2352675" cy="658813"/>
            </a:xfrm>
            <a:custGeom>
              <a:avLst/>
              <a:gdLst>
                <a:gd name="T0" fmla="*/ 654 w 713"/>
                <a:gd name="T1" fmla="*/ 86 h 200"/>
                <a:gd name="T2" fmla="*/ 646 w 713"/>
                <a:gd name="T3" fmla="*/ 94 h 200"/>
                <a:gd name="T4" fmla="*/ 513 w 713"/>
                <a:gd name="T5" fmla="*/ 144 h 200"/>
                <a:gd name="T6" fmla="*/ 247 w 713"/>
                <a:gd name="T7" fmla="*/ 144 h 200"/>
                <a:gd name="T8" fmla="*/ 103 w 713"/>
                <a:gd name="T9" fmla="*/ 85 h 200"/>
                <a:gd name="T10" fmla="*/ 68 w 713"/>
                <a:gd name="T11" fmla="*/ 57 h 200"/>
                <a:gd name="T12" fmla="*/ 54 w 713"/>
                <a:gd name="T13" fmla="*/ 46 h 200"/>
                <a:gd name="T14" fmla="*/ 54 w 713"/>
                <a:gd name="T15" fmla="*/ 46 h 200"/>
                <a:gd name="T16" fmla="*/ 22 w 713"/>
                <a:gd name="T17" fmla="*/ 37 h 200"/>
                <a:gd name="T18" fmla="*/ 0 w 713"/>
                <a:gd name="T19" fmla="*/ 37 h 200"/>
                <a:gd name="T20" fmla="*/ 0 w 713"/>
                <a:gd name="T21" fmla="*/ 151 h 200"/>
                <a:gd name="T22" fmla="*/ 82 w 713"/>
                <a:gd name="T23" fmla="*/ 151 h 200"/>
                <a:gd name="T24" fmla="*/ 82 w 713"/>
                <a:gd name="T25" fmla="*/ 151 h 200"/>
                <a:gd name="T26" fmla="*/ 117 w 713"/>
                <a:gd name="T27" fmla="*/ 183 h 200"/>
                <a:gd name="T28" fmla="*/ 158 w 713"/>
                <a:gd name="T29" fmla="*/ 198 h 200"/>
                <a:gd name="T30" fmla="*/ 591 w 713"/>
                <a:gd name="T31" fmla="*/ 198 h 200"/>
                <a:gd name="T32" fmla="*/ 632 w 713"/>
                <a:gd name="T33" fmla="*/ 180 h 200"/>
                <a:gd name="T34" fmla="*/ 687 w 713"/>
                <a:gd name="T35" fmla="*/ 120 h 200"/>
                <a:gd name="T36" fmla="*/ 697 w 713"/>
                <a:gd name="T37" fmla="*/ 97 h 200"/>
                <a:gd name="T38" fmla="*/ 713 w 713"/>
                <a:gd name="T39" fmla="*/ 0 h 200"/>
                <a:gd name="T40" fmla="*/ 654 w 713"/>
                <a:gd name="T41" fmla="*/ 8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3" h="200">
                  <a:moveTo>
                    <a:pt x="654" y="86"/>
                  </a:moveTo>
                  <a:cubicBezTo>
                    <a:pt x="651" y="89"/>
                    <a:pt x="649" y="91"/>
                    <a:pt x="646" y="94"/>
                  </a:cubicBezTo>
                  <a:cubicBezTo>
                    <a:pt x="609" y="126"/>
                    <a:pt x="562" y="144"/>
                    <a:pt x="513" y="144"/>
                  </a:cubicBezTo>
                  <a:cubicBezTo>
                    <a:pt x="247" y="144"/>
                    <a:pt x="247" y="144"/>
                    <a:pt x="247" y="144"/>
                  </a:cubicBezTo>
                  <a:cubicBezTo>
                    <a:pt x="193" y="144"/>
                    <a:pt x="141" y="123"/>
                    <a:pt x="103" y="85"/>
                  </a:cubicBezTo>
                  <a:cubicBezTo>
                    <a:pt x="68" y="57"/>
                    <a:pt x="68" y="57"/>
                    <a:pt x="68" y="57"/>
                  </a:cubicBezTo>
                  <a:cubicBezTo>
                    <a:pt x="64" y="53"/>
                    <a:pt x="59" y="49"/>
                    <a:pt x="54" y="46"/>
                  </a:cubicBezTo>
                  <a:cubicBezTo>
                    <a:pt x="54" y="46"/>
                    <a:pt x="54" y="46"/>
                    <a:pt x="54" y="46"/>
                  </a:cubicBezTo>
                  <a:cubicBezTo>
                    <a:pt x="44" y="40"/>
                    <a:pt x="33" y="37"/>
                    <a:pt x="22" y="37"/>
                  </a:cubicBezTo>
                  <a:cubicBezTo>
                    <a:pt x="0" y="37"/>
                    <a:pt x="0" y="37"/>
                    <a:pt x="0" y="37"/>
                  </a:cubicBezTo>
                  <a:cubicBezTo>
                    <a:pt x="0" y="151"/>
                    <a:pt x="0" y="151"/>
                    <a:pt x="0" y="151"/>
                  </a:cubicBezTo>
                  <a:cubicBezTo>
                    <a:pt x="82" y="151"/>
                    <a:pt x="82" y="151"/>
                    <a:pt x="82" y="151"/>
                  </a:cubicBezTo>
                  <a:cubicBezTo>
                    <a:pt x="82" y="151"/>
                    <a:pt x="82" y="151"/>
                    <a:pt x="82" y="151"/>
                  </a:cubicBezTo>
                  <a:cubicBezTo>
                    <a:pt x="96" y="164"/>
                    <a:pt x="117" y="183"/>
                    <a:pt x="117" y="183"/>
                  </a:cubicBezTo>
                  <a:cubicBezTo>
                    <a:pt x="117" y="183"/>
                    <a:pt x="128" y="198"/>
                    <a:pt x="158" y="198"/>
                  </a:cubicBezTo>
                  <a:cubicBezTo>
                    <a:pt x="188" y="198"/>
                    <a:pt x="591" y="198"/>
                    <a:pt x="591" y="198"/>
                  </a:cubicBezTo>
                  <a:cubicBezTo>
                    <a:pt x="591" y="198"/>
                    <a:pt x="613" y="200"/>
                    <a:pt x="632" y="180"/>
                  </a:cubicBezTo>
                  <a:cubicBezTo>
                    <a:pt x="650" y="160"/>
                    <a:pt x="687" y="120"/>
                    <a:pt x="687" y="120"/>
                  </a:cubicBezTo>
                  <a:cubicBezTo>
                    <a:pt x="697" y="97"/>
                    <a:pt x="697" y="97"/>
                    <a:pt x="697" y="97"/>
                  </a:cubicBezTo>
                  <a:cubicBezTo>
                    <a:pt x="713" y="0"/>
                    <a:pt x="713" y="0"/>
                    <a:pt x="713" y="0"/>
                  </a:cubicBezTo>
                  <a:lnTo>
                    <a:pt x="654" y="8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0" name="íṧļiḓè">
              <a:extLst>
                <a:ext uri="{FF2B5EF4-FFF2-40B4-BE49-F238E27FC236}">
                  <a16:creationId xmlns="" xmlns:a16="http://schemas.microsoft.com/office/drawing/2014/main" id="{1800D83B-B67E-4D3F-8B40-58A6464472AA}"/>
                </a:ext>
              </a:extLst>
            </p:cNvPr>
            <p:cNvSpPr/>
            <p:nvPr/>
          </p:nvSpPr>
          <p:spPr bwMode="auto">
            <a:xfrm>
              <a:off x="3679825" y="2863850"/>
              <a:ext cx="1076325" cy="2092325"/>
            </a:xfrm>
            <a:custGeom>
              <a:avLst/>
              <a:gdLst>
                <a:gd name="T0" fmla="*/ 678 w 678"/>
                <a:gd name="T1" fmla="*/ 1318 h 1318"/>
                <a:gd name="T2" fmla="*/ 96 w 678"/>
                <a:gd name="T3" fmla="*/ 1318 h 1318"/>
                <a:gd name="T4" fmla="*/ 0 w 678"/>
                <a:gd name="T5" fmla="*/ 0 h 1318"/>
                <a:gd name="T6" fmla="*/ 678 w 678"/>
                <a:gd name="T7" fmla="*/ 0 h 1318"/>
                <a:gd name="T8" fmla="*/ 678 w 678"/>
                <a:gd name="T9" fmla="*/ 1318 h 1318"/>
              </a:gdLst>
              <a:ahLst/>
              <a:cxnLst>
                <a:cxn ang="0">
                  <a:pos x="T0" y="T1"/>
                </a:cxn>
                <a:cxn ang="0">
                  <a:pos x="T2" y="T3"/>
                </a:cxn>
                <a:cxn ang="0">
                  <a:pos x="T4" y="T5"/>
                </a:cxn>
                <a:cxn ang="0">
                  <a:pos x="T6" y="T7"/>
                </a:cxn>
                <a:cxn ang="0">
                  <a:pos x="T8" y="T9"/>
                </a:cxn>
              </a:cxnLst>
              <a:rect l="0" t="0" r="r" b="b"/>
              <a:pathLst>
                <a:path w="678" h="1318">
                  <a:moveTo>
                    <a:pt x="678" y="1318"/>
                  </a:moveTo>
                  <a:lnTo>
                    <a:pt x="96" y="1318"/>
                  </a:lnTo>
                  <a:lnTo>
                    <a:pt x="0" y="0"/>
                  </a:lnTo>
                  <a:lnTo>
                    <a:pt x="678" y="0"/>
                  </a:lnTo>
                  <a:lnTo>
                    <a:pt x="678" y="1318"/>
                  </a:lnTo>
                  <a:close/>
                </a:path>
              </a:pathLst>
            </a:custGeom>
            <a:solidFill>
              <a:srgbClr val="2D2E8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1" name="íSļïḑè">
              <a:extLst>
                <a:ext uri="{FF2B5EF4-FFF2-40B4-BE49-F238E27FC236}">
                  <a16:creationId xmlns="" xmlns:a16="http://schemas.microsoft.com/office/drawing/2014/main" id="{6F33E795-D23D-4505-AA4A-0E4BB102AF34}"/>
                </a:ext>
              </a:extLst>
            </p:cNvPr>
            <p:cNvSpPr/>
            <p:nvPr/>
          </p:nvSpPr>
          <p:spPr bwMode="auto">
            <a:xfrm>
              <a:off x="3679825" y="2863850"/>
              <a:ext cx="1076325" cy="2092325"/>
            </a:xfrm>
            <a:custGeom>
              <a:avLst/>
              <a:gdLst>
                <a:gd name="T0" fmla="*/ 678 w 678"/>
                <a:gd name="T1" fmla="*/ 1318 h 1318"/>
                <a:gd name="T2" fmla="*/ 96 w 678"/>
                <a:gd name="T3" fmla="*/ 1318 h 1318"/>
                <a:gd name="T4" fmla="*/ 0 w 678"/>
                <a:gd name="T5" fmla="*/ 0 h 1318"/>
                <a:gd name="T6" fmla="*/ 678 w 678"/>
                <a:gd name="T7" fmla="*/ 0 h 1318"/>
                <a:gd name="T8" fmla="*/ 678 w 678"/>
                <a:gd name="T9" fmla="*/ 1318 h 1318"/>
              </a:gdLst>
              <a:ahLst/>
              <a:cxnLst>
                <a:cxn ang="0">
                  <a:pos x="T0" y="T1"/>
                </a:cxn>
                <a:cxn ang="0">
                  <a:pos x="T2" y="T3"/>
                </a:cxn>
                <a:cxn ang="0">
                  <a:pos x="T4" y="T5"/>
                </a:cxn>
                <a:cxn ang="0">
                  <a:pos x="T6" y="T7"/>
                </a:cxn>
                <a:cxn ang="0">
                  <a:pos x="T8" y="T9"/>
                </a:cxn>
              </a:cxnLst>
              <a:rect l="0" t="0" r="r" b="b"/>
              <a:pathLst>
                <a:path w="678" h="1318">
                  <a:moveTo>
                    <a:pt x="678" y="1318"/>
                  </a:moveTo>
                  <a:lnTo>
                    <a:pt x="96" y="1318"/>
                  </a:lnTo>
                  <a:lnTo>
                    <a:pt x="0" y="0"/>
                  </a:lnTo>
                  <a:lnTo>
                    <a:pt x="678" y="0"/>
                  </a:lnTo>
                  <a:lnTo>
                    <a:pt x="678" y="13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2" name="íṩḻïḓè">
              <a:extLst>
                <a:ext uri="{FF2B5EF4-FFF2-40B4-BE49-F238E27FC236}">
                  <a16:creationId xmlns="" xmlns:a16="http://schemas.microsoft.com/office/drawing/2014/main" id="{878974F1-95A7-4BAD-A6D5-8BED228378A7}"/>
                </a:ext>
              </a:extLst>
            </p:cNvPr>
            <p:cNvSpPr/>
            <p:nvPr/>
          </p:nvSpPr>
          <p:spPr bwMode="auto">
            <a:xfrm>
              <a:off x="3768725" y="2955925"/>
              <a:ext cx="895350" cy="254000"/>
            </a:xfrm>
            <a:custGeom>
              <a:avLst/>
              <a:gdLst>
                <a:gd name="T0" fmla="*/ 564 w 564"/>
                <a:gd name="T1" fmla="*/ 0 h 160"/>
                <a:gd name="T2" fmla="*/ 0 w 564"/>
                <a:gd name="T3" fmla="*/ 0 h 160"/>
                <a:gd name="T4" fmla="*/ 13 w 564"/>
                <a:gd name="T5" fmla="*/ 160 h 160"/>
                <a:gd name="T6" fmla="*/ 564 w 564"/>
                <a:gd name="T7" fmla="*/ 160 h 160"/>
                <a:gd name="T8" fmla="*/ 564 w 564"/>
                <a:gd name="T9" fmla="*/ 0 h 160"/>
              </a:gdLst>
              <a:ahLst/>
              <a:cxnLst>
                <a:cxn ang="0">
                  <a:pos x="T0" y="T1"/>
                </a:cxn>
                <a:cxn ang="0">
                  <a:pos x="T2" y="T3"/>
                </a:cxn>
                <a:cxn ang="0">
                  <a:pos x="T4" y="T5"/>
                </a:cxn>
                <a:cxn ang="0">
                  <a:pos x="T6" y="T7"/>
                </a:cxn>
                <a:cxn ang="0">
                  <a:pos x="T8" y="T9"/>
                </a:cxn>
              </a:cxnLst>
              <a:rect l="0" t="0" r="r" b="b"/>
              <a:pathLst>
                <a:path w="564" h="160">
                  <a:moveTo>
                    <a:pt x="564" y="0"/>
                  </a:moveTo>
                  <a:lnTo>
                    <a:pt x="0" y="0"/>
                  </a:lnTo>
                  <a:lnTo>
                    <a:pt x="13" y="160"/>
                  </a:lnTo>
                  <a:lnTo>
                    <a:pt x="564" y="160"/>
                  </a:lnTo>
                  <a:lnTo>
                    <a:pt x="564" y="0"/>
                  </a:lnTo>
                  <a:close/>
                </a:path>
              </a:pathLst>
            </a:custGeom>
            <a:solidFill>
              <a:srgbClr val="9192B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3" name="íšḷíḓê">
              <a:extLst>
                <a:ext uri="{FF2B5EF4-FFF2-40B4-BE49-F238E27FC236}">
                  <a16:creationId xmlns="" xmlns:a16="http://schemas.microsoft.com/office/drawing/2014/main" id="{4841FFE4-8151-417B-9F04-301D5F8B9AB7}"/>
                </a:ext>
              </a:extLst>
            </p:cNvPr>
            <p:cNvSpPr/>
            <p:nvPr/>
          </p:nvSpPr>
          <p:spPr bwMode="auto">
            <a:xfrm>
              <a:off x="3768725" y="2955925"/>
              <a:ext cx="895350" cy="254000"/>
            </a:xfrm>
            <a:custGeom>
              <a:avLst/>
              <a:gdLst>
                <a:gd name="T0" fmla="*/ 564 w 564"/>
                <a:gd name="T1" fmla="*/ 0 h 160"/>
                <a:gd name="T2" fmla="*/ 0 w 564"/>
                <a:gd name="T3" fmla="*/ 0 h 160"/>
                <a:gd name="T4" fmla="*/ 13 w 564"/>
                <a:gd name="T5" fmla="*/ 160 h 160"/>
                <a:gd name="T6" fmla="*/ 564 w 564"/>
                <a:gd name="T7" fmla="*/ 160 h 160"/>
                <a:gd name="T8" fmla="*/ 564 w 564"/>
                <a:gd name="T9" fmla="*/ 0 h 160"/>
              </a:gdLst>
              <a:ahLst/>
              <a:cxnLst>
                <a:cxn ang="0">
                  <a:pos x="T0" y="T1"/>
                </a:cxn>
                <a:cxn ang="0">
                  <a:pos x="T2" y="T3"/>
                </a:cxn>
                <a:cxn ang="0">
                  <a:pos x="T4" y="T5"/>
                </a:cxn>
                <a:cxn ang="0">
                  <a:pos x="T6" y="T7"/>
                </a:cxn>
                <a:cxn ang="0">
                  <a:pos x="T8" y="T9"/>
                </a:cxn>
              </a:cxnLst>
              <a:rect l="0" t="0" r="r" b="b"/>
              <a:pathLst>
                <a:path w="564" h="160">
                  <a:moveTo>
                    <a:pt x="564" y="0"/>
                  </a:moveTo>
                  <a:lnTo>
                    <a:pt x="0" y="0"/>
                  </a:lnTo>
                  <a:lnTo>
                    <a:pt x="13" y="160"/>
                  </a:lnTo>
                  <a:lnTo>
                    <a:pt x="564" y="160"/>
                  </a:lnTo>
                  <a:lnTo>
                    <a:pt x="5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4" name="ïṡḻïďe">
              <a:extLst>
                <a:ext uri="{FF2B5EF4-FFF2-40B4-BE49-F238E27FC236}">
                  <a16:creationId xmlns="" xmlns:a16="http://schemas.microsoft.com/office/drawing/2014/main" id="{B0358574-D287-4570-A2D6-A49B3ECFCCD9}"/>
                </a:ext>
              </a:extLst>
            </p:cNvPr>
            <p:cNvSpPr/>
            <p:nvPr/>
          </p:nvSpPr>
          <p:spPr bwMode="auto">
            <a:xfrm>
              <a:off x="3903663" y="4659313"/>
              <a:ext cx="760413" cy="207963"/>
            </a:xfrm>
            <a:custGeom>
              <a:avLst/>
              <a:gdLst>
                <a:gd name="T0" fmla="*/ 479 w 479"/>
                <a:gd name="T1" fmla="*/ 0 h 131"/>
                <a:gd name="T2" fmla="*/ 0 w 479"/>
                <a:gd name="T3" fmla="*/ 0 h 131"/>
                <a:gd name="T4" fmla="*/ 11 w 479"/>
                <a:gd name="T5" fmla="*/ 131 h 131"/>
                <a:gd name="T6" fmla="*/ 479 w 479"/>
                <a:gd name="T7" fmla="*/ 131 h 131"/>
                <a:gd name="T8" fmla="*/ 479 w 479"/>
                <a:gd name="T9" fmla="*/ 0 h 131"/>
              </a:gdLst>
              <a:ahLst/>
              <a:cxnLst>
                <a:cxn ang="0">
                  <a:pos x="T0" y="T1"/>
                </a:cxn>
                <a:cxn ang="0">
                  <a:pos x="T2" y="T3"/>
                </a:cxn>
                <a:cxn ang="0">
                  <a:pos x="T4" y="T5"/>
                </a:cxn>
                <a:cxn ang="0">
                  <a:pos x="T6" y="T7"/>
                </a:cxn>
                <a:cxn ang="0">
                  <a:pos x="T8" y="T9"/>
                </a:cxn>
              </a:cxnLst>
              <a:rect l="0" t="0" r="r" b="b"/>
              <a:pathLst>
                <a:path w="479" h="131">
                  <a:moveTo>
                    <a:pt x="479" y="0"/>
                  </a:moveTo>
                  <a:lnTo>
                    <a:pt x="0" y="0"/>
                  </a:lnTo>
                  <a:lnTo>
                    <a:pt x="11" y="131"/>
                  </a:lnTo>
                  <a:lnTo>
                    <a:pt x="479" y="131"/>
                  </a:lnTo>
                  <a:lnTo>
                    <a:pt x="479" y="0"/>
                  </a:lnTo>
                  <a:close/>
                </a:path>
              </a:pathLst>
            </a:custGeom>
            <a:solidFill>
              <a:srgbClr val="1D21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5" name="ï$liḓé">
              <a:extLst>
                <a:ext uri="{FF2B5EF4-FFF2-40B4-BE49-F238E27FC236}">
                  <a16:creationId xmlns="" xmlns:a16="http://schemas.microsoft.com/office/drawing/2014/main" id="{2AD80A4A-0CAA-4653-9179-109464FCFCD7}"/>
                </a:ext>
              </a:extLst>
            </p:cNvPr>
            <p:cNvSpPr/>
            <p:nvPr/>
          </p:nvSpPr>
          <p:spPr bwMode="auto">
            <a:xfrm>
              <a:off x="4102100" y="4333875"/>
              <a:ext cx="231775" cy="2301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6" name="íṥľîďe">
              <a:extLst>
                <a:ext uri="{FF2B5EF4-FFF2-40B4-BE49-F238E27FC236}">
                  <a16:creationId xmlns="" xmlns:a16="http://schemas.microsoft.com/office/drawing/2014/main" id="{A283351D-2594-4F01-A8AF-07EFBE232827}"/>
                </a:ext>
              </a:extLst>
            </p:cNvPr>
            <p:cNvSpPr/>
            <p:nvPr/>
          </p:nvSpPr>
          <p:spPr bwMode="auto">
            <a:xfrm>
              <a:off x="5032375" y="1463675"/>
              <a:ext cx="112713" cy="285750"/>
            </a:xfrm>
            <a:custGeom>
              <a:avLst/>
              <a:gdLst>
                <a:gd name="T0" fmla="*/ 20 w 34"/>
                <a:gd name="T1" fmla="*/ 87 h 87"/>
                <a:gd name="T2" fmla="*/ 14 w 34"/>
                <a:gd name="T3" fmla="*/ 87 h 87"/>
                <a:gd name="T4" fmla="*/ 0 w 34"/>
                <a:gd name="T5" fmla="*/ 73 h 87"/>
                <a:gd name="T6" fmla="*/ 0 w 34"/>
                <a:gd name="T7" fmla="*/ 14 h 87"/>
                <a:gd name="T8" fmla="*/ 14 w 34"/>
                <a:gd name="T9" fmla="*/ 0 h 87"/>
                <a:gd name="T10" fmla="*/ 20 w 34"/>
                <a:gd name="T11" fmla="*/ 0 h 87"/>
                <a:gd name="T12" fmla="*/ 34 w 34"/>
                <a:gd name="T13" fmla="*/ 14 h 87"/>
                <a:gd name="T14" fmla="*/ 34 w 34"/>
                <a:gd name="T15" fmla="*/ 73 h 87"/>
                <a:gd name="T16" fmla="*/ 20 w 34"/>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87">
                  <a:moveTo>
                    <a:pt x="20" y="87"/>
                  </a:moveTo>
                  <a:cubicBezTo>
                    <a:pt x="14" y="87"/>
                    <a:pt x="14" y="87"/>
                    <a:pt x="14" y="87"/>
                  </a:cubicBezTo>
                  <a:cubicBezTo>
                    <a:pt x="6" y="87"/>
                    <a:pt x="0" y="80"/>
                    <a:pt x="0" y="73"/>
                  </a:cubicBezTo>
                  <a:cubicBezTo>
                    <a:pt x="0" y="14"/>
                    <a:pt x="0" y="14"/>
                    <a:pt x="0" y="14"/>
                  </a:cubicBezTo>
                  <a:cubicBezTo>
                    <a:pt x="0" y="6"/>
                    <a:pt x="6" y="0"/>
                    <a:pt x="14" y="0"/>
                  </a:cubicBezTo>
                  <a:cubicBezTo>
                    <a:pt x="20" y="0"/>
                    <a:pt x="20" y="0"/>
                    <a:pt x="20" y="0"/>
                  </a:cubicBezTo>
                  <a:cubicBezTo>
                    <a:pt x="27" y="0"/>
                    <a:pt x="34" y="6"/>
                    <a:pt x="34" y="14"/>
                  </a:cubicBezTo>
                  <a:cubicBezTo>
                    <a:pt x="34" y="73"/>
                    <a:pt x="34" y="73"/>
                    <a:pt x="34" y="73"/>
                  </a:cubicBezTo>
                  <a:cubicBezTo>
                    <a:pt x="34" y="80"/>
                    <a:pt x="27" y="87"/>
                    <a:pt x="20" y="8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7" name="iśḷïde">
              <a:extLst>
                <a:ext uri="{FF2B5EF4-FFF2-40B4-BE49-F238E27FC236}">
                  <a16:creationId xmlns="" xmlns:a16="http://schemas.microsoft.com/office/drawing/2014/main" id="{A188CF76-2C94-42E4-8612-2C6AF39EEBA1}"/>
                </a:ext>
              </a:extLst>
            </p:cNvPr>
            <p:cNvSpPr/>
            <p:nvPr/>
          </p:nvSpPr>
          <p:spPr bwMode="auto">
            <a:xfrm>
              <a:off x="5032375" y="2039938"/>
              <a:ext cx="112713" cy="287338"/>
            </a:xfrm>
            <a:custGeom>
              <a:avLst/>
              <a:gdLst>
                <a:gd name="T0" fmla="*/ 20 w 34"/>
                <a:gd name="T1" fmla="*/ 87 h 87"/>
                <a:gd name="T2" fmla="*/ 14 w 34"/>
                <a:gd name="T3" fmla="*/ 87 h 87"/>
                <a:gd name="T4" fmla="*/ 0 w 34"/>
                <a:gd name="T5" fmla="*/ 73 h 87"/>
                <a:gd name="T6" fmla="*/ 0 w 34"/>
                <a:gd name="T7" fmla="*/ 14 h 87"/>
                <a:gd name="T8" fmla="*/ 14 w 34"/>
                <a:gd name="T9" fmla="*/ 0 h 87"/>
                <a:gd name="T10" fmla="*/ 20 w 34"/>
                <a:gd name="T11" fmla="*/ 0 h 87"/>
                <a:gd name="T12" fmla="*/ 34 w 34"/>
                <a:gd name="T13" fmla="*/ 14 h 87"/>
                <a:gd name="T14" fmla="*/ 34 w 34"/>
                <a:gd name="T15" fmla="*/ 73 h 87"/>
                <a:gd name="T16" fmla="*/ 20 w 34"/>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87">
                  <a:moveTo>
                    <a:pt x="20" y="87"/>
                  </a:moveTo>
                  <a:cubicBezTo>
                    <a:pt x="14" y="87"/>
                    <a:pt x="14" y="87"/>
                    <a:pt x="14" y="87"/>
                  </a:cubicBezTo>
                  <a:cubicBezTo>
                    <a:pt x="6" y="87"/>
                    <a:pt x="0" y="81"/>
                    <a:pt x="0" y="73"/>
                  </a:cubicBezTo>
                  <a:cubicBezTo>
                    <a:pt x="0" y="14"/>
                    <a:pt x="0" y="14"/>
                    <a:pt x="0" y="14"/>
                  </a:cubicBezTo>
                  <a:cubicBezTo>
                    <a:pt x="0" y="6"/>
                    <a:pt x="6" y="0"/>
                    <a:pt x="14" y="0"/>
                  </a:cubicBezTo>
                  <a:cubicBezTo>
                    <a:pt x="20" y="0"/>
                    <a:pt x="20" y="0"/>
                    <a:pt x="20" y="0"/>
                  </a:cubicBezTo>
                  <a:cubicBezTo>
                    <a:pt x="27" y="0"/>
                    <a:pt x="34" y="6"/>
                    <a:pt x="34" y="14"/>
                  </a:cubicBezTo>
                  <a:cubicBezTo>
                    <a:pt x="34" y="73"/>
                    <a:pt x="34" y="73"/>
                    <a:pt x="34" y="73"/>
                  </a:cubicBezTo>
                  <a:cubicBezTo>
                    <a:pt x="34" y="81"/>
                    <a:pt x="27" y="87"/>
                    <a:pt x="20" y="8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8" name="îṡḷíḍè">
              <a:extLst>
                <a:ext uri="{FF2B5EF4-FFF2-40B4-BE49-F238E27FC236}">
                  <a16:creationId xmlns="" xmlns:a16="http://schemas.microsoft.com/office/drawing/2014/main" id="{4F0717C4-1524-4F9E-A961-F11C62738375}"/>
                </a:ext>
              </a:extLst>
            </p:cNvPr>
            <p:cNvSpPr/>
            <p:nvPr/>
          </p:nvSpPr>
          <p:spPr bwMode="auto">
            <a:xfrm>
              <a:off x="4656138" y="1838325"/>
              <a:ext cx="287338" cy="112713"/>
            </a:xfrm>
            <a:custGeom>
              <a:avLst/>
              <a:gdLst>
                <a:gd name="T0" fmla="*/ 87 w 87"/>
                <a:gd name="T1" fmla="*/ 14 h 34"/>
                <a:gd name="T2" fmla="*/ 87 w 87"/>
                <a:gd name="T3" fmla="*/ 20 h 34"/>
                <a:gd name="T4" fmla="*/ 73 w 87"/>
                <a:gd name="T5" fmla="*/ 34 h 34"/>
                <a:gd name="T6" fmla="*/ 14 w 87"/>
                <a:gd name="T7" fmla="*/ 34 h 34"/>
                <a:gd name="T8" fmla="*/ 0 w 87"/>
                <a:gd name="T9" fmla="*/ 20 h 34"/>
                <a:gd name="T10" fmla="*/ 0 w 87"/>
                <a:gd name="T11" fmla="*/ 14 h 34"/>
                <a:gd name="T12" fmla="*/ 14 w 87"/>
                <a:gd name="T13" fmla="*/ 0 h 34"/>
                <a:gd name="T14" fmla="*/ 73 w 87"/>
                <a:gd name="T15" fmla="*/ 0 h 34"/>
                <a:gd name="T16" fmla="*/ 87 w 87"/>
                <a:gd name="T17" fmla="*/ 1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34">
                  <a:moveTo>
                    <a:pt x="87" y="14"/>
                  </a:moveTo>
                  <a:cubicBezTo>
                    <a:pt x="87" y="20"/>
                    <a:pt x="87" y="20"/>
                    <a:pt x="87" y="20"/>
                  </a:cubicBezTo>
                  <a:cubicBezTo>
                    <a:pt x="87" y="27"/>
                    <a:pt x="80" y="34"/>
                    <a:pt x="73" y="34"/>
                  </a:cubicBezTo>
                  <a:cubicBezTo>
                    <a:pt x="14" y="34"/>
                    <a:pt x="14" y="34"/>
                    <a:pt x="14" y="34"/>
                  </a:cubicBezTo>
                  <a:cubicBezTo>
                    <a:pt x="6" y="34"/>
                    <a:pt x="0" y="27"/>
                    <a:pt x="0" y="20"/>
                  </a:cubicBezTo>
                  <a:cubicBezTo>
                    <a:pt x="0" y="14"/>
                    <a:pt x="0" y="14"/>
                    <a:pt x="0" y="14"/>
                  </a:cubicBezTo>
                  <a:cubicBezTo>
                    <a:pt x="0" y="6"/>
                    <a:pt x="6" y="0"/>
                    <a:pt x="14" y="0"/>
                  </a:cubicBezTo>
                  <a:cubicBezTo>
                    <a:pt x="73" y="0"/>
                    <a:pt x="73" y="0"/>
                    <a:pt x="73" y="0"/>
                  </a:cubicBezTo>
                  <a:cubicBezTo>
                    <a:pt x="80" y="0"/>
                    <a:pt x="87" y="6"/>
                    <a:pt x="87"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9" name="îS1ïḍè">
              <a:extLst>
                <a:ext uri="{FF2B5EF4-FFF2-40B4-BE49-F238E27FC236}">
                  <a16:creationId xmlns="" xmlns:a16="http://schemas.microsoft.com/office/drawing/2014/main" id="{6380B753-EC47-4CB3-8DD2-27FB277ADE4C}"/>
                </a:ext>
              </a:extLst>
            </p:cNvPr>
            <p:cNvSpPr/>
            <p:nvPr/>
          </p:nvSpPr>
          <p:spPr bwMode="auto">
            <a:xfrm>
              <a:off x="5233988" y="1838325"/>
              <a:ext cx="287338" cy="112713"/>
            </a:xfrm>
            <a:custGeom>
              <a:avLst/>
              <a:gdLst>
                <a:gd name="T0" fmla="*/ 87 w 87"/>
                <a:gd name="T1" fmla="*/ 14 h 34"/>
                <a:gd name="T2" fmla="*/ 87 w 87"/>
                <a:gd name="T3" fmla="*/ 20 h 34"/>
                <a:gd name="T4" fmla="*/ 73 w 87"/>
                <a:gd name="T5" fmla="*/ 34 h 34"/>
                <a:gd name="T6" fmla="*/ 14 w 87"/>
                <a:gd name="T7" fmla="*/ 34 h 34"/>
                <a:gd name="T8" fmla="*/ 0 w 87"/>
                <a:gd name="T9" fmla="*/ 20 h 34"/>
                <a:gd name="T10" fmla="*/ 0 w 87"/>
                <a:gd name="T11" fmla="*/ 14 h 34"/>
                <a:gd name="T12" fmla="*/ 14 w 87"/>
                <a:gd name="T13" fmla="*/ 0 h 34"/>
                <a:gd name="T14" fmla="*/ 73 w 87"/>
                <a:gd name="T15" fmla="*/ 0 h 34"/>
                <a:gd name="T16" fmla="*/ 87 w 87"/>
                <a:gd name="T17" fmla="*/ 1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34">
                  <a:moveTo>
                    <a:pt x="87" y="14"/>
                  </a:moveTo>
                  <a:cubicBezTo>
                    <a:pt x="87" y="20"/>
                    <a:pt x="87" y="20"/>
                    <a:pt x="87" y="20"/>
                  </a:cubicBezTo>
                  <a:cubicBezTo>
                    <a:pt x="87" y="27"/>
                    <a:pt x="81" y="34"/>
                    <a:pt x="73" y="34"/>
                  </a:cubicBezTo>
                  <a:cubicBezTo>
                    <a:pt x="14" y="34"/>
                    <a:pt x="14" y="34"/>
                    <a:pt x="14" y="34"/>
                  </a:cubicBezTo>
                  <a:cubicBezTo>
                    <a:pt x="6" y="34"/>
                    <a:pt x="0" y="27"/>
                    <a:pt x="0" y="20"/>
                  </a:cubicBezTo>
                  <a:cubicBezTo>
                    <a:pt x="0" y="14"/>
                    <a:pt x="0" y="14"/>
                    <a:pt x="0" y="14"/>
                  </a:cubicBezTo>
                  <a:cubicBezTo>
                    <a:pt x="0" y="6"/>
                    <a:pt x="6" y="0"/>
                    <a:pt x="14" y="0"/>
                  </a:cubicBezTo>
                  <a:cubicBezTo>
                    <a:pt x="73" y="0"/>
                    <a:pt x="73" y="0"/>
                    <a:pt x="73" y="0"/>
                  </a:cubicBezTo>
                  <a:cubicBezTo>
                    <a:pt x="81" y="0"/>
                    <a:pt x="87" y="6"/>
                    <a:pt x="87"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0" name="íṥ1ídè">
              <a:extLst>
                <a:ext uri="{FF2B5EF4-FFF2-40B4-BE49-F238E27FC236}">
                  <a16:creationId xmlns="" xmlns:a16="http://schemas.microsoft.com/office/drawing/2014/main" id="{185A5F18-681D-462F-A546-AE0C91708064}"/>
                </a:ext>
              </a:extLst>
            </p:cNvPr>
            <p:cNvSpPr/>
            <p:nvPr/>
          </p:nvSpPr>
          <p:spPr bwMode="auto">
            <a:xfrm>
              <a:off x="7927975" y="3394075"/>
              <a:ext cx="131763" cy="339725"/>
            </a:xfrm>
            <a:custGeom>
              <a:avLst/>
              <a:gdLst>
                <a:gd name="T0" fmla="*/ 23 w 40"/>
                <a:gd name="T1" fmla="*/ 103 h 103"/>
                <a:gd name="T2" fmla="*/ 17 w 40"/>
                <a:gd name="T3" fmla="*/ 103 h 103"/>
                <a:gd name="T4" fmla="*/ 0 w 40"/>
                <a:gd name="T5" fmla="*/ 87 h 103"/>
                <a:gd name="T6" fmla="*/ 0 w 40"/>
                <a:gd name="T7" fmla="*/ 16 h 103"/>
                <a:gd name="T8" fmla="*/ 17 w 40"/>
                <a:gd name="T9" fmla="*/ 0 h 103"/>
                <a:gd name="T10" fmla="*/ 23 w 40"/>
                <a:gd name="T11" fmla="*/ 0 h 103"/>
                <a:gd name="T12" fmla="*/ 40 w 40"/>
                <a:gd name="T13" fmla="*/ 16 h 103"/>
                <a:gd name="T14" fmla="*/ 40 w 40"/>
                <a:gd name="T15" fmla="*/ 87 h 103"/>
                <a:gd name="T16" fmla="*/ 23 w 40"/>
                <a:gd name="T17"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03">
                  <a:moveTo>
                    <a:pt x="23" y="103"/>
                  </a:moveTo>
                  <a:cubicBezTo>
                    <a:pt x="17" y="103"/>
                    <a:pt x="17" y="103"/>
                    <a:pt x="17" y="103"/>
                  </a:cubicBezTo>
                  <a:cubicBezTo>
                    <a:pt x="7" y="103"/>
                    <a:pt x="0" y="96"/>
                    <a:pt x="0" y="87"/>
                  </a:cubicBezTo>
                  <a:cubicBezTo>
                    <a:pt x="0" y="16"/>
                    <a:pt x="0" y="16"/>
                    <a:pt x="0" y="16"/>
                  </a:cubicBezTo>
                  <a:cubicBezTo>
                    <a:pt x="0" y="7"/>
                    <a:pt x="7" y="0"/>
                    <a:pt x="17" y="0"/>
                  </a:cubicBezTo>
                  <a:cubicBezTo>
                    <a:pt x="23" y="0"/>
                    <a:pt x="23" y="0"/>
                    <a:pt x="23" y="0"/>
                  </a:cubicBezTo>
                  <a:cubicBezTo>
                    <a:pt x="32" y="0"/>
                    <a:pt x="40" y="7"/>
                    <a:pt x="40" y="16"/>
                  </a:cubicBezTo>
                  <a:cubicBezTo>
                    <a:pt x="40" y="87"/>
                    <a:pt x="40" y="87"/>
                    <a:pt x="40" y="87"/>
                  </a:cubicBezTo>
                  <a:cubicBezTo>
                    <a:pt x="40" y="96"/>
                    <a:pt x="32" y="103"/>
                    <a:pt x="23" y="10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1" name="iSļíḍe">
              <a:extLst>
                <a:ext uri="{FF2B5EF4-FFF2-40B4-BE49-F238E27FC236}">
                  <a16:creationId xmlns="" xmlns:a16="http://schemas.microsoft.com/office/drawing/2014/main" id="{3BA9D6A2-67AD-4B3F-92EF-47AC7CFE73F7}"/>
                </a:ext>
              </a:extLst>
            </p:cNvPr>
            <p:cNvSpPr/>
            <p:nvPr/>
          </p:nvSpPr>
          <p:spPr bwMode="auto">
            <a:xfrm>
              <a:off x="7927975" y="4083050"/>
              <a:ext cx="131763" cy="342900"/>
            </a:xfrm>
            <a:custGeom>
              <a:avLst/>
              <a:gdLst>
                <a:gd name="T0" fmla="*/ 23 w 40"/>
                <a:gd name="T1" fmla="*/ 104 h 104"/>
                <a:gd name="T2" fmla="*/ 17 w 40"/>
                <a:gd name="T3" fmla="*/ 104 h 104"/>
                <a:gd name="T4" fmla="*/ 0 w 40"/>
                <a:gd name="T5" fmla="*/ 87 h 104"/>
                <a:gd name="T6" fmla="*/ 0 w 40"/>
                <a:gd name="T7" fmla="*/ 17 h 104"/>
                <a:gd name="T8" fmla="*/ 17 w 40"/>
                <a:gd name="T9" fmla="*/ 0 h 104"/>
                <a:gd name="T10" fmla="*/ 23 w 40"/>
                <a:gd name="T11" fmla="*/ 0 h 104"/>
                <a:gd name="T12" fmla="*/ 40 w 40"/>
                <a:gd name="T13" fmla="*/ 17 h 104"/>
                <a:gd name="T14" fmla="*/ 40 w 40"/>
                <a:gd name="T15" fmla="*/ 87 h 104"/>
                <a:gd name="T16" fmla="*/ 23 w 40"/>
                <a:gd name="T17"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04">
                  <a:moveTo>
                    <a:pt x="23" y="104"/>
                  </a:moveTo>
                  <a:cubicBezTo>
                    <a:pt x="17" y="104"/>
                    <a:pt x="17" y="104"/>
                    <a:pt x="17" y="104"/>
                  </a:cubicBezTo>
                  <a:cubicBezTo>
                    <a:pt x="7" y="104"/>
                    <a:pt x="0" y="96"/>
                    <a:pt x="0" y="87"/>
                  </a:cubicBezTo>
                  <a:cubicBezTo>
                    <a:pt x="0" y="17"/>
                    <a:pt x="0" y="17"/>
                    <a:pt x="0" y="17"/>
                  </a:cubicBezTo>
                  <a:cubicBezTo>
                    <a:pt x="0" y="7"/>
                    <a:pt x="7" y="0"/>
                    <a:pt x="17" y="0"/>
                  </a:cubicBezTo>
                  <a:cubicBezTo>
                    <a:pt x="23" y="0"/>
                    <a:pt x="23" y="0"/>
                    <a:pt x="23" y="0"/>
                  </a:cubicBezTo>
                  <a:cubicBezTo>
                    <a:pt x="32" y="0"/>
                    <a:pt x="40" y="7"/>
                    <a:pt x="40" y="17"/>
                  </a:cubicBezTo>
                  <a:cubicBezTo>
                    <a:pt x="40" y="87"/>
                    <a:pt x="40" y="87"/>
                    <a:pt x="40" y="87"/>
                  </a:cubicBezTo>
                  <a:cubicBezTo>
                    <a:pt x="40" y="96"/>
                    <a:pt x="32" y="104"/>
                    <a:pt x="23" y="10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2" name="ïṧḻîḋè">
              <a:extLst>
                <a:ext uri="{FF2B5EF4-FFF2-40B4-BE49-F238E27FC236}">
                  <a16:creationId xmlns="" xmlns:a16="http://schemas.microsoft.com/office/drawing/2014/main" id="{3BF4C293-8B63-4760-98C9-4A977044A4A4}"/>
                </a:ext>
              </a:extLst>
            </p:cNvPr>
            <p:cNvSpPr/>
            <p:nvPr/>
          </p:nvSpPr>
          <p:spPr bwMode="auto">
            <a:xfrm>
              <a:off x="7475538" y="3843338"/>
              <a:ext cx="342900" cy="131763"/>
            </a:xfrm>
            <a:custGeom>
              <a:avLst/>
              <a:gdLst>
                <a:gd name="T0" fmla="*/ 104 w 104"/>
                <a:gd name="T1" fmla="*/ 17 h 40"/>
                <a:gd name="T2" fmla="*/ 104 w 104"/>
                <a:gd name="T3" fmla="*/ 23 h 40"/>
                <a:gd name="T4" fmla="*/ 87 w 104"/>
                <a:gd name="T5" fmla="*/ 40 h 40"/>
                <a:gd name="T6" fmla="*/ 17 w 104"/>
                <a:gd name="T7" fmla="*/ 40 h 40"/>
                <a:gd name="T8" fmla="*/ 0 w 104"/>
                <a:gd name="T9" fmla="*/ 23 h 40"/>
                <a:gd name="T10" fmla="*/ 0 w 104"/>
                <a:gd name="T11" fmla="*/ 17 h 40"/>
                <a:gd name="T12" fmla="*/ 17 w 104"/>
                <a:gd name="T13" fmla="*/ 0 h 40"/>
                <a:gd name="T14" fmla="*/ 87 w 104"/>
                <a:gd name="T15" fmla="*/ 0 h 40"/>
                <a:gd name="T16" fmla="*/ 104 w 104"/>
                <a:gd name="T1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40">
                  <a:moveTo>
                    <a:pt x="104" y="17"/>
                  </a:moveTo>
                  <a:cubicBezTo>
                    <a:pt x="104" y="23"/>
                    <a:pt x="104" y="23"/>
                    <a:pt x="104" y="23"/>
                  </a:cubicBezTo>
                  <a:cubicBezTo>
                    <a:pt x="104" y="33"/>
                    <a:pt x="97" y="40"/>
                    <a:pt x="87" y="40"/>
                  </a:cubicBezTo>
                  <a:cubicBezTo>
                    <a:pt x="17" y="40"/>
                    <a:pt x="17" y="40"/>
                    <a:pt x="17" y="40"/>
                  </a:cubicBezTo>
                  <a:cubicBezTo>
                    <a:pt x="8" y="40"/>
                    <a:pt x="0" y="33"/>
                    <a:pt x="0" y="23"/>
                  </a:cubicBezTo>
                  <a:cubicBezTo>
                    <a:pt x="0" y="17"/>
                    <a:pt x="0" y="17"/>
                    <a:pt x="0" y="17"/>
                  </a:cubicBezTo>
                  <a:cubicBezTo>
                    <a:pt x="0" y="8"/>
                    <a:pt x="8" y="0"/>
                    <a:pt x="17" y="0"/>
                  </a:cubicBezTo>
                  <a:cubicBezTo>
                    <a:pt x="87" y="0"/>
                    <a:pt x="87" y="0"/>
                    <a:pt x="87" y="0"/>
                  </a:cubicBezTo>
                  <a:cubicBezTo>
                    <a:pt x="97" y="0"/>
                    <a:pt x="104" y="8"/>
                    <a:pt x="104"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3" name="iṧlïḋé">
              <a:extLst>
                <a:ext uri="{FF2B5EF4-FFF2-40B4-BE49-F238E27FC236}">
                  <a16:creationId xmlns="" xmlns:a16="http://schemas.microsoft.com/office/drawing/2014/main" id="{2E203A52-BB89-4566-B810-F65A58041D13}"/>
                </a:ext>
              </a:extLst>
            </p:cNvPr>
            <p:cNvSpPr/>
            <p:nvPr/>
          </p:nvSpPr>
          <p:spPr bwMode="auto">
            <a:xfrm>
              <a:off x="8169275" y="3843338"/>
              <a:ext cx="339725" cy="131763"/>
            </a:xfrm>
            <a:custGeom>
              <a:avLst/>
              <a:gdLst>
                <a:gd name="T0" fmla="*/ 103 w 103"/>
                <a:gd name="T1" fmla="*/ 17 h 40"/>
                <a:gd name="T2" fmla="*/ 103 w 103"/>
                <a:gd name="T3" fmla="*/ 23 h 40"/>
                <a:gd name="T4" fmla="*/ 87 w 103"/>
                <a:gd name="T5" fmla="*/ 40 h 40"/>
                <a:gd name="T6" fmla="*/ 16 w 103"/>
                <a:gd name="T7" fmla="*/ 40 h 40"/>
                <a:gd name="T8" fmla="*/ 0 w 103"/>
                <a:gd name="T9" fmla="*/ 23 h 40"/>
                <a:gd name="T10" fmla="*/ 0 w 103"/>
                <a:gd name="T11" fmla="*/ 17 h 40"/>
                <a:gd name="T12" fmla="*/ 16 w 103"/>
                <a:gd name="T13" fmla="*/ 0 h 40"/>
                <a:gd name="T14" fmla="*/ 87 w 103"/>
                <a:gd name="T15" fmla="*/ 0 h 40"/>
                <a:gd name="T16" fmla="*/ 103 w 103"/>
                <a:gd name="T1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40">
                  <a:moveTo>
                    <a:pt x="103" y="17"/>
                  </a:moveTo>
                  <a:cubicBezTo>
                    <a:pt x="103" y="23"/>
                    <a:pt x="103" y="23"/>
                    <a:pt x="103" y="23"/>
                  </a:cubicBezTo>
                  <a:cubicBezTo>
                    <a:pt x="103" y="33"/>
                    <a:pt x="96" y="40"/>
                    <a:pt x="87" y="40"/>
                  </a:cubicBezTo>
                  <a:cubicBezTo>
                    <a:pt x="16" y="40"/>
                    <a:pt x="16" y="40"/>
                    <a:pt x="16" y="40"/>
                  </a:cubicBezTo>
                  <a:cubicBezTo>
                    <a:pt x="7" y="40"/>
                    <a:pt x="0" y="33"/>
                    <a:pt x="0" y="23"/>
                  </a:cubicBezTo>
                  <a:cubicBezTo>
                    <a:pt x="0" y="17"/>
                    <a:pt x="0" y="17"/>
                    <a:pt x="0" y="17"/>
                  </a:cubicBezTo>
                  <a:cubicBezTo>
                    <a:pt x="0" y="8"/>
                    <a:pt x="7" y="0"/>
                    <a:pt x="16" y="0"/>
                  </a:cubicBezTo>
                  <a:cubicBezTo>
                    <a:pt x="87" y="0"/>
                    <a:pt x="87" y="0"/>
                    <a:pt x="87" y="0"/>
                  </a:cubicBezTo>
                  <a:cubicBezTo>
                    <a:pt x="96" y="0"/>
                    <a:pt x="103" y="8"/>
                    <a:pt x="103"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4" name="íṡḷïḑê">
              <a:extLst>
                <a:ext uri="{FF2B5EF4-FFF2-40B4-BE49-F238E27FC236}">
                  <a16:creationId xmlns="" xmlns:a16="http://schemas.microsoft.com/office/drawing/2014/main" id="{F5A195DF-EB3E-47A9-B213-A5F2FDF9CEF3}"/>
                </a:ext>
              </a:extLst>
            </p:cNvPr>
            <p:cNvSpPr/>
            <p:nvPr/>
          </p:nvSpPr>
          <p:spPr bwMode="auto">
            <a:xfrm>
              <a:off x="4521200" y="5213350"/>
              <a:ext cx="88900" cy="227013"/>
            </a:xfrm>
            <a:custGeom>
              <a:avLst/>
              <a:gdLst>
                <a:gd name="T0" fmla="*/ 16 w 27"/>
                <a:gd name="T1" fmla="*/ 69 h 69"/>
                <a:gd name="T2" fmla="*/ 11 w 27"/>
                <a:gd name="T3" fmla="*/ 69 h 69"/>
                <a:gd name="T4" fmla="*/ 0 w 27"/>
                <a:gd name="T5" fmla="*/ 58 h 69"/>
                <a:gd name="T6" fmla="*/ 0 w 27"/>
                <a:gd name="T7" fmla="*/ 11 h 69"/>
                <a:gd name="T8" fmla="*/ 11 w 27"/>
                <a:gd name="T9" fmla="*/ 0 h 69"/>
                <a:gd name="T10" fmla="*/ 16 w 27"/>
                <a:gd name="T11" fmla="*/ 0 h 69"/>
                <a:gd name="T12" fmla="*/ 27 w 27"/>
                <a:gd name="T13" fmla="*/ 11 h 69"/>
                <a:gd name="T14" fmla="*/ 27 w 27"/>
                <a:gd name="T15" fmla="*/ 58 h 69"/>
                <a:gd name="T16" fmla="*/ 16 w 27"/>
                <a:gd name="T1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69">
                  <a:moveTo>
                    <a:pt x="16" y="69"/>
                  </a:moveTo>
                  <a:cubicBezTo>
                    <a:pt x="11" y="69"/>
                    <a:pt x="11" y="69"/>
                    <a:pt x="11" y="69"/>
                  </a:cubicBezTo>
                  <a:cubicBezTo>
                    <a:pt x="5" y="69"/>
                    <a:pt x="0" y="64"/>
                    <a:pt x="0" y="58"/>
                  </a:cubicBezTo>
                  <a:cubicBezTo>
                    <a:pt x="0" y="11"/>
                    <a:pt x="0" y="11"/>
                    <a:pt x="0" y="11"/>
                  </a:cubicBezTo>
                  <a:cubicBezTo>
                    <a:pt x="0" y="5"/>
                    <a:pt x="5" y="0"/>
                    <a:pt x="11" y="0"/>
                  </a:cubicBezTo>
                  <a:cubicBezTo>
                    <a:pt x="16" y="0"/>
                    <a:pt x="16" y="0"/>
                    <a:pt x="16" y="0"/>
                  </a:cubicBezTo>
                  <a:cubicBezTo>
                    <a:pt x="22" y="0"/>
                    <a:pt x="27" y="5"/>
                    <a:pt x="27" y="11"/>
                  </a:cubicBezTo>
                  <a:cubicBezTo>
                    <a:pt x="27" y="58"/>
                    <a:pt x="27" y="58"/>
                    <a:pt x="27" y="58"/>
                  </a:cubicBezTo>
                  <a:cubicBezTo>
                    <a:pt x="27" y="64"/>
                    <a:pt x="22" y="69"/>
                    <a:pt x="16"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5" name="íŝlidè">
              <a:extLst>
                <a:ext uri="{FF2B5EF4-FFF2-40B4-BE49-F238E27FC236}">
                  <a16:creationId xmlns="" xmlns:a16="http://schemas.microsoft.com/office/drawing/2014/main" id="{B61F1064-C86D-4615-B7C9-EA4541433650}"/>
                </a:ext>
              </a:extLst>
            </p:cNvPr>
            <p:cNvSpPr/>
            <p:nvPr/>
          </p:nvSpPr>
          <p:spPr bwMode="auto">
            <a:xfrm>
              <a:off x="4521200" y="5675313"/>
              <a:ext cx="88900" cy="227013"/>
            </a:xfrm>
            <a:custGeom>
              <a:avLst/>
              <a:gdLst>
                <a:gd name="T0" fmla="*/ 16 w 27"/>
                <a:gd name="T1" fmla="*/ 69 h 69"/>
                <a:gd name="T2" fmla="*/ 11 w 27"/>
                <a:gd name="T3" fmla="*/ 69 h 69"/>
                <a:gd name="T4" fmla="*/ 0 w 27"/>
                <a:gd name="T5" fmla="*/ 58 h 69"/>
                <a:gd name="T6" fmla="*/ 0 w 27"/>
                <a:gd name="T7" fmla="*/ 11 h 69"/>
                <a:gd name="T8" fmla="*/ 11 w 27"/>
                <a:gd name="T9" fmla="*/ 0 h 69"/>
                <a:gd name="T10" fmla="*/ 16 w 27"/>
                <a:gd name="T11" fmla="*/ 0 h 69"/>
                <a:gd name="T12" fmla="*/ 27 w 27"/>
                <a:gd name="T13" fmla="*/ 11 h 69"/>
                <a:gd name="T14" fmla="*/ 27 w 27"/>
                <a:gd name="T15" fmla="*/ 58 h 69"/>
                <a:gd name="T16" fmla="*/ 16 w 27"/>
                <a:gd name="T1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69">
                  <a:moveTo>
                    <a:pt x="16" y="69"/>
                  </a:moveTo>
                  <a:cubicBezTo>
                    <a:pt x="11" y="69"/>
                    <a:pt x="11" y="69"/>
                    <a:pt x="11" y="69"/>
                  </a:cubicBezTo>
                  <a:cubicBezTo>
                    <a:pt x="5" y="69"/>
                    <a:pt x="0" y="64"/>
                    <a:pt x="0" y="58"/>
                  </a:cubicBezTo>
                  <a:cubicBezTo>
                    <a:pt x="0" y="11"/>
                    <a:pt x="0" y="11"/>
                    <a:pt x="0" y="11"/>
                  </a:cubicBezTo>
                  <a:cubicBezTo>
                    <a:pt x="0" y="5"/>
                    <a:pt x="5" y="0"/>
                    <a:pt x="11" y="0"/>
                  </a:cubicBezTo>
                  <a:cubicBezTo>
                    <a:pt x="16" y="0"/>
                    <a:pt x="16" y="0"/>
                    <a:pt x="16" y="0"/>
                  </a:cubicBezTo>
                  <a:cubicBezTo>
                    <a:pt x="22" y="0"/>
                    <a:pt x="27" y="5"/>
                    <a:pt x="27" y="11"/>
                  </a:cubicBezTo>
                  <a:cubicBezTo>
                    <a:pt x="27" y="58"/>
                    <a:pt x="27" y="58"/>
                    <a:pt x="27" y="58"/>
                  </a:cubicBezTo>
                  <a:cubicBezTo>
                    <a:pt x="27" y="64"/>
                    <a:pt x="22" y="69"/>
                    <a:pt x="16"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6" name="ïṣ1íďe">
              <a:extLst>
                <a:ext uri="{FF2B5EF4-FFF2-40B4-BE49-F238E27FC236}">
                  <a16:creationId xmlns="" xmlns:a16="http://schemas.microsoft.com/office/drawing/2014/main" id="{703DDB61-AC3B-402E-9B49-430D0286D621}"/>
                </a:ext>
              </a:extLst>
            </p:cNvPr>
            <p:cNvSpPr/>
            <p:nvPr/>
          </p:nvSpPr>
          <p:spPr bwMode="auto">
            <a:xfrm>
              <a:off x="4221163" y="5513388"/>
              <a:ext cx="227013" cy="88900"/>
            </a:xfrm>
            <a:custGeom>
              <a:avLst/>
              <a:gdLst>
                <a:gd name="T0" fmla="*/ 69 w 69"/>
                <a:gd name="T1" fmla="*/ 11 h 27"/>
                <a:gd name="T2" fmla="*/ 69 w 69"/>
                <a:gd name="T3" fmla="*/ 16 h 27"/>
                <a:gd name="T4" fmla="*/ 58 w 69"/>
                <a:gd name="T5" fmla="*/ 27 h 27"/>
                <a:gd name="T6" fmla="*/ 11 w 69"/>
                <a:gd name="T7" fmla="*/ 27 h 27"/>
                <a:gd name="T8" fmla="*/ 0 w 69"/>
                <a:gd name="T9" fmla="*/ 16 h 27"/>
                <a:gd name="T10" fmla="*/ 0 w 69"/>
                <a:gd name="T11" fmla="*/ 11 h 27"/>
                <a:gd name="T12" fmla="*/ 11 w 69"/>
                <a:gd name="T13" fmla="*/ 0 h 27"/>
                <a:gd name="T14" fmla="*/ 58 w 69"/>
                <a:gd name="T15" fmla="*/ 0 h 27"/>
                <a:gd name="T16" fmla="*/ 69 w 69"/>
                <a:gd name="T17" fmla="*/ 1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27">
                  <a:moveTo>
                    <a:pt x="69" y="11"/>
                  </a:moveTo>
                  <a:cubicBezTo>
                    <a:pt x="69" y="16"/>
                    <a:pt x="69" y="16"/>
                    <a:pt x="69" y="16"/>
                  </a:cubicBezTo>
                  <a:cubicBezTo>
                    <a:pt x="69" y="22"/>
                    <a:pt x="64" y="27"/>
                    <a:pt x="58" y="27"/>
                  </a:cubicBezTo>
                  <a:cubicBezTo>
                    <a:pt x="11" y="27"/>
                    <a:pt x="11" y="27"/>
                    <a:pt x="11" y="27"/>
                  </a:cubicBezTo>
                  <a:cubicBezTo>
                    <a:pt x="5" y="27"/>
                    <a:pt x="0" y="22"/>
                    <a:pt x="0" y="16"/>
                  </a:cubicBezTo>
                  <a:cubicBezTo>
                    <a:pt x="0" y="11"/>
                    <a:pt x="0" y="11"/>
                    <a:pt x="0" y="11"/>
                  </a:cubicBezTo>
                  <a:cubicBezTo>
                    <a:pt x="0" y="5"/>
                    <a:pt x="5" y="0"/>
                    <a:pt x="11" y="0"/>
                  </a:cubicBezTo>
                  <a:cubicBezTo>
                    <a:pt x="58" y="0"/>
                    <a:pt x="58" y="0"/>
                    <a:pt x="58" y="0"/>
                  </a:cubicBezTo>
                  <a:cubicBezTo>
                    <a:pt x="64" y="0"/>
                    <a:pt x="69" y="5"/>
                    <a:pt x="69"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7" name="í$ḻîḑé">
              <a:extLst>
                <a:ext uri="{FF2B5EF4-FFF2-40B4-BE49-F238E27FC236}">
                  <a16:creationId xmlns="" xmlns:a16="http://schemas.microsoft.com/office/drawing/2014/main" id="{1046F4F7-938B-46BD-8DEB-A2A3358DDEED}"/>
                </a:ext>
              </a:extLst>
            </p:cNvPr>
            <p:cNvSpPr/>
            <p:nvPr/>
          </p:nvSpPr>
          <p:spPr bwMode="auto">
            <a:xfrm>
              <a:off x="4683125" y="5513388"/>
              <a:ext cx="228600" cy="88900"/>
            </a:xfrm>
            <a:custGeom>
              <a:avLst/>
              <a:gdLst>
                <a:gd name="T0" fmla="*/ 69 w 69"/>
                <a:gd name="T1" fmla="*/ 11 h 27"/>
                <a:gd name="T2" fmla="*/ 69 w 69"/>
                <a:gd name="T3" fmla="*/ 16 h 27"/>
                <a:gd name="T4" fmla="*/ 58 w 69"/>
                <a:gd name="T5" fmla="*/ 27 h 27"/>
                <a:gd name="T6" fmla="*/ 11 w 69"/>
                <a:gd name="T7" fmla="*/ 27 h 27"/>
                <a:gd name="T8" fmla="*/ 0 w 69"/>
                <a:gd name="T9" fmla="*/ 16 h 27"/>
                <a:gd name="T10" fmla="*/ 0 w 69"/>
                <a:gd name="T11" fmla="*/ 11 h 27"/>
                <a:gd name="T12" fmla="*/ 11 w 69"/>
                <a:gd name="T13" fmla="*/ 0 h 27"/>
                <a:gd name="T14" fmla="*/ 58 w 69"/>
                <a:gd name="T15" fmla="*/ 0 h 27"/>
                <a:gd name="T16" fmla="*/ 69 w 69"/>
                <a:gd name="T17" fmla="*/ 1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27">
                  <a:moveTo>
                    <a:pt x="69" y="11"/>
                  </a:moveTo>
                  <a:cubicBezTo>
                    <a:pt x="69" y="16"/>
                    <a:pt x="69" y="16"/>
                    <a:pt x="69" y="16"/>
                  </a:cubicBezTo>
                  <a:cubicBezTo>
                    <a:pt x="69" y="22"/>
                    <a:pt x="64" y="27"/>
                    <a:pt x="58" y="27"/>
                  </a:cubicBezTo>
                  <a:cubicBezTo>
                    <a:pt x="11" y="27"/>
                    <a:pt x="11" y="27"/>
                    <a:pt x="11" y="27"/>
                  </a:cubicBezTo>
                  <a:cubicBezTo>
                    <a:pt x="5" y="27"/>
                    <a:pt x="0" y="22"/>
                    <a:pt x="0" y="16"/>
                  </a:cubicBezTo>
                  <a:cubicBezTo>
                    <a:pt x="0" y="11"/>
                    <a:pt x="0" y="11"/>
                    <a:pt x="0" y="11"/>
                  </a:cubicBezTo>
                  <a:cubicBezTo>
                    <a:pt x="0" y="5"/>
                    <a:pt x="5" y="0"/>
                    <a:pt x="11" y="0"/>
                  </a:cubicBezTo>
                  <a:cubicBezTo>
                    <a:pt x="58" y="0"/>
                    <a:pt x="58" y="0"/>
                    <a:pt x="58" y="0"/>
                  </a:cubicBezTo>
                  <a:cubicBezTo>
                    <a:pt x="64" y="0"/>
                    <a:pt x="69" y="5"/>
                    <a:pt x="69"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8" name="íšḷîḓé">
              <a:extLst>
                <a:ext uri="{FF2B5EF4-FFF2-40B4-BE49-F238E27FC236}">
                  <a16:creationId xmlns="" xmlns:a16="http://schemas.microsoft.com/office/drawing/2014/main" id="{BD286FFD-C68F-42AA-8D1E-95AA338AF579}"/>
                </a:ext>
              </a:extLst>
            </p:cNvPr>
            <p:cNvSpPr/>
            <p:nvPr/>
          </p:nvSpPr>
          <p:spPr bwMode="auto">
            <a:xfrm>
              <a:off x="6943725" y="974725"/>
              <a:ext cx="901700" cy="828675"/>
            </a:xfrm>
            <a:custGeom>
              <a:avLst/>
              <a:gdLst>
                <a:gd name="T0" fmla="*/ 256 w 273"/>
                <a:gd name="T1" fmla="*/ 115 h 251"/>
                <a:gd name="T2" fmla="*/ 256 w 273"/>
                <a:gd name="T3" fmla="*/ 115 h 251"/>
                <a:gd name="T4" fmla="*/ 273 w 273"/>
                <a:gd name="T5" fmla="*/ 69 h 251"/>
                <a:gd name="T6" fmla="*/ 204 w 273"/>
                <a:gd name="T7" fmla="*/ 0 h 251"/>
                <a:gd name="T8" fmla="*/ 137 w 273"/>
                <a:gd name="T9" fmla="*/ 53 h 251"/>
                <a:gd name="T10" fmla="*/ 69 w 273"/>
                <a:gd name="T11" fmla="*/ 0 h 251"/>
                <a:gd name="T12" fmla="*/ 0 w 273"/>
                <a:gd name="T13" fmla="*/ 69 h 251"/>
                <a:gd name="T14" fmla="*/ 17 w 273"/>
                <a:gd name="T15" fmla="*/ 116 h 251"/>
                <a:gd name="T16" fmla="*/ 17 w 273"/>
                <a:gd name="T17" fmla="*/ 116 h 251"/>
                <a:gd name="T18" fmla="*/ 135 w 273"/>
                <a:gd name="T19" fmla="*/ 251 h 251"/>
                <a:gd name="T20" fmla="*/ 255 w 273"/>
                <a:gd name="T21" fmla="*/ 116 h 251"/>
                <a:gd name="T22" fmla="*/ 256 w 273"/>
                <a:gd name="T23" fmla="*/ 116 h 251"/>
                <a:gd name="T24" fmla="*/ 256 w 273"/>
                <a:gd name="T25" fmla="*/ 115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 h="251">
                  <a:moveTo>
                    <a:pt x="256" y="115"/>
                  </a:moveTo>
                  <a:cubicBezTo>
                    <a:pt x="256" y="115"/>
                    <a:pt x="256" y="115"/>
                    <a:pt x="256" y="115"/>
                  </a:cubicBezTo>
                  <a:cubicBezTo>
                    <a:pt x="267" y="103"/>
                    <a:pt x="273" y="87"/>
                    <a:pt x="273" y="69"/>
                  </a:cubicBezTo>
                  <a:cubicBezTo>
                    <a:pt x="273" y="31"/>
                    <a:pt x="242" y="0"/>
                    <a:pt x="204" y="0"/>
                  </a:cubicBezTo>
                  <a:cubicBezTo>
                    <a:pt x="171" y="0"/>
                    <a:pt x="144" y="23"/>
                    <a:pt x="137" y="53"/>
                  </a:cubicBezTo>
                  <a:cubicBezTo>
                    <a:pt x="129" y="23"/>
                    <a:pt x="102" y="0"/>
                    <a:pt x="69" y="0"/>
                  </a:cubicBezTo>
                  <a:cubicBezTo>
                    <a:pt x="31" y="0"/>
                    <a:pt x="0" y="31"/>
                    <a:pt x="0" y="69"/>
                  </a:cubicBezTo>
                  <a:cubicBezTo>
                    <a:pt x="0" y="87"/>
                    <a:pt x="6" y="103"/>
                    <a:pt x="17" y="116"/>
                  </a:cubicBezTo>
                  <a:cubicBezTo>
                    <a:pt x="17" y="116"/>
                    <a:pt x="17" y="116"/>
                    <a:pt x="17" y="116"/>
                  </a:cubicBezTo>
                  <a:cubicBezTo>
                    <a:pt x="135" y="251"/>
                    <a:pt x="135" y="251"/>
                    <a:pt x="135" y="251"/>
                  </a:cubicBezTo>
                  <a:cubicBezTo>
                    <a:pt x="255" y="116"/>
                    <a:pt x="255" y="116"/>
                    <a:pt x="255" y="116"/>
                  </a:cubicBezTo>
                  <a:cubicBezTo>
                    <a:pt x="256" y="116"/>
                    <a:pt x="256" y="116"/>
                    <a:pt x="256" y="116"/>
                  </a:cubicBezTo>
                  <a:lnTo>
                    <a:pt x="256" y="115"/>
                  </a:lnTo>
                  <a:close/>
                </a:path>
              </a:pathLst>
            </a:custGeom>
            <a:solidFill>
              <a:srgbClr val="F3A5A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9" name="iṥlîdê">
              <a:extLst>
                <a:ext uri="{FF2B5EF4-FFF2-40B4-BE49-F238E27FC236}">
                  <a16:creationId xmlns="" xmlns:a16="http://schemas.microsoft.com/office/drawing/2014/main" id="{0AE006C8-D6CC-41E7-9D36-D732A200611E}"/>
                </a:ext>
              </a:extLst>
            </p:cNvPr>
            <p:cNvSpPr/>
            <p:nvPr/>
          </p:nvSpPr>
          <p:spPr bwMode="auto">
            <a:xfrm>
              <a:off x="6918325" y="952500"/>
              <a:ext cx="954088" cy="876300"/>
            </a:xfrm>
            <a:custGeom>
              <a:avLst/>
              <a:gdLst>
                <a:gd name="T0" fmla="*/ 143 w 289"/>
                <a:gd name="T1" fmla="*/ 266 h 266"/>
                <a:gd name="T2" fmla="*/ 143 w 289"/>
                <a:gd name="T3" fmla="*/ 266 h 266"/>
                <a:gd name="T4" fmla="*/ 137 w 289"/>
                <a:gd name="T5" fmla="*/ 263 h 266"/>
                <a:gd name="T6" fmla="*/ 20 w 289"/>
                <a:gd name="T7" fmla="*/ 127 h 266"/>
                <a:gd name="T8" fmla="*/ 19 w 289"/>
                <a:gd name="T9" fmla="*/ 127 h 266"/>
                <a:gd name="T10" fmla="*/ 0 w 289"/>
                <a:gd name="T11" fmla="*/ 76 h 266"/>
                <a:gd name="T12" fmla="*/ 77 w 289"/>
                <a:gd name="T13" fmla="*/ 0 h 266"/>
                <a:gd name="T14" fmla="*/ 145 w 289"/>
                <a:gd name="T15" fmla="*/ 40 h 266"/>
                <a:gd name="T16" fmla="*/ 212 w 289"/>
                <a:gd name="T17" fmla="*/ 0 h 266"/>
                <a:gd name="T18" fmla="*/ 289 w 289"/>
                <a:gd name="T19" fmla="*/ 76 h 266"/>
                <a:gd name="T20" fmla="*/ 270 w 289"/>
                <a:gd name="T21" fmla="*/ 126 h 266"/>
                <a:gd name="T22" fmla="*/ 270 w 289"/>
                <a:gd name="T23" fmla="*/ 127 h 266"/>
                <a:gd name="T24" fmla="*/ 269 w 289"/>
                <a:gd name="T25" fmla="*/ 128 h 266"/>
                <a:gd name="T26" fmla="*/ 148 w 289"/>
                <a:gd name="T27" fmla="*/ 263 h 266"/>
                <a:gd name="T28" fmla="*/ 143 w 289"/>
                <a:gd name="T29" fmla="*/ 266 h 266"/>
                <a:gd name="T30" fmla="*/ 31 w 289"/>
                <a:gd name="T31" fmla="*/ 118 h 266"/>
                <a:gd name="T32" fmla="*/ 143 w 289"/>
                <a:gd name="T33" fmla="*/ 247 h 266"/>
                <a:gd name="T34" fmla="*/ 259 w 289"/>
                <a:gd name="T35" fmla="*/ 118 h 266"/>
                <a:gd name="T36" fmla="*/ 259 w 289"/>
                <a:gd name="T37" fmla="*/ 117 h 266"/>
                <a:gd name="T38" fmla="*/ 274 w 289"/>
                <a:gd name="T39" fmla="*/ 76 h 266"/>
                <a:gd name="T40" fmla="*/ 212 w 289"/>
                <a:gd name="T41" fmla="*/ 14 h 266"/>
                <a:gd name="T42" fmla="*/ 152 w 289"/>
                <a:gd name="T43" fmla="*/ 62 h 266"/>
                <a:gd name="T44" fmla="*/ 145 w 289"/>
                <a:gd name="T45" fmla="*/ 68 h 266"/>
                <a:gd name="T46" fmla="*/ 138 w 289"/>
                <a:gd name="T47" fmla="*/ 62 h 266"/>
                <a:gd name="T48" fmla="*/ 77 w 289"/>
                <a:gd name="T49" fmla="*/ 14 h 266"/>
                <a:gd name="T50" fmla="*/ 15 w 289"/>
                <a:gd name="T51" fmla="*/ 76 h 266"/>
                <a:gd name="T52" fmla="*/ 30 w 289"/>
                <a:gd name="T53" fmla="*/ 118 h 266"/>
                <a:gd name="T54" fmla="*/ 31 w 289"/>
                <a:gd name="T55" fmla="*/ 11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9" h="266">
                  <a:moveTo>
                    <a:pt x="143" y="266"/>
                  </a:moveTo>
                  <a:cubicBezTo>
                    <a:pt x="143" y="266"/>
                    <a:pt x="143" y="266"/>
                    <a:pt x="143" y="266"/>
                  </a:cubicBezTo>
                  <a:cubicBezTo>
                    <a:pt x="140" y="266"/>
                    <a:pt x="139" y="265"/>
                    <a:pt x="137" y="263"/>
                  </a:cubicBezTo>
                  <a:cubicBezTo>
                    <a:pt x="20" y="127"/>
                    <a:pt x="20" y="127"/>
                    <a:pt x="20" y="127"/>
                  </a:cubicBezTo>
                  <a:cubicBezTo>
                    <a:pt x="19" y="127"/>
                    <a:pt x="19" y="127"/>
                    <a:pt x="19" y="127"/>
                  </a:cubicBezTo>
                  <a:cubicBezTo>
                    <a:pt x="7" y="113"/>
                    <a:pt x="0" y="95"/>
                    <a:pt x="0" y="76"/>
                  </a:cubicBezTo>
                  <a:cubicBezTo>
                    <a:pt x="0" y="34"/>
                    <a:pt x="35" y="0"/>
                    <a:pt x="77" y="0"/>
                  </a:cubicBezTo>
                  <a:cubicBezTo>
                    <a:pt x="106" y="0"/>
                    <a:pt x="131" y="16"/>
                    <a:pt x="145" y="40"/>
                  </a:cubicBezTo>
                  <a:cubicBezTo>
                    <a:pt x="158" y="16"/>
                    <a:pt x="183" y="0"/>
                    <a:pt x="212" y="0"/>
                  </a:cubicBezTo>
                  <a:cubicBezTo>
                    <a:pt x="254" y="0"/>
                    <a:pt x="289" y="34"/>
                    <a:pt x="289" y="76"/>
                  </a:cubicBezTo>
                  <a:cubicBezTo>
                    <a:pt x="289" y="95"/>
                    <a:pt x="282" y="113"/>
                    <a:pt x="270" y="126"/>
                  </a:cubicBezTo>
                  <a:cubicBezTo>
                    <a:pt x="270" y="127"/>
                    <a:pt x="270" y="127"/>
                    <a:pt x="270" y="127"/>
                  </a:cubicBezTo>
                  <a:cubicBezTo>
                    <a:pt x="269" y="128"/>
                    <a:pt x="269" y="128"/>
                    <a:pt x="269" y="128"/>
                  </a:cubicBezTo>
                  <a:cubicBezTo>
                    <a:pt x="148" y="263"/>
                    <a:pt x="148" y="263"/>
                    <a:pt x="148" y="263"/>
                  </a:cubicBezTo>
                  <a:cubicBezTo>
                    <a:pt x="147" y="265"/>
                    <a:pt x="145" y="266"/>
                    <a:pt x="143" y="266"/>
                  </a:cubicBezTo>
                  <a:close/>
                  <a:moveTo>
                    <a:pt x="31" y="118"/>
                  </a:moveTo>
                  <a:cubicBezTo>
                    <a:pt x="143" y="247"/>
                    <a:pt x="143" y="247"/>
                    <a:pt x="143" y="247"/>
                  </a:cubicBezTo>
                  <a:cubicBezTo>
                    <a:pt x="259" y="118"/>
                    <a:pt x="259" y="118"/>
                    <a:pt x="259" y="118"/>
                  </a:cubicBezTo>
                  <a:cubicBezTo>
                    <a:pt x="259" y="117"/>
                    <a:pt x="259" y="117"/>
                    <a:pt x="259" y="117"/>
                  </a:cubicBezTo>
                  <a:cubicBezTo>
                    <a:pt x="269" y="106"/>
                    <a:pt x="274" y="92"/>
                    <a:pt x="274" y="76"/>
                  </a:cubicBezTo>
                  <a:cubicBezTo>
                    <a:pt x="274" y="42"/>
                    <a:pt x="246" y="14"/>
                    <a:pt x="212" y="14"/>
                  </a:cubicBezTo>
                  <a:cubicBezTo>
                    <a:pt x="183" y="14"/>
                    <a:pt x="158" y="34"/>
                    <a:pt x="152" y="62"/>
                  </a:cubicBezTo>
                  <a:cubicBezTo>
                    <a:pt x="151" y="65"/>
                    <a:pt x="148" y="68"/>
                    <a:pt x="145" y="68"/>
                  </a:cubicBezTo>
                  <a:cubicBezTo>
                    <a:pt x="141" y="68"/>
                    <a:pt x="138" y="65"/>
                    <a:pt x="138" y="62"/>
                  </a:cubicBezTo>
                  <a:cubicBezTo>
                    <a:pt x="131" y="34"/>
                    <a:pt x="106" y="14"/>
                    <a:pt x="77" y="14"/>
                  </a:cubicBezTo>
                  <a:cubicBezTo>
                    <a:pt x="43" y="14"/>
                    <a:pt x="15" y="42"/>
                    <a:pt x="15" y="76"/>
                  </a:cubicBezTo>
                  <a:cubicBezTo>
                    <a:pt x="15" y="92"/>
                    <a:pt x="20" y="106"/>
                    <a:pt x="30" y="118"/>
                  </a:cubicBezTo>
                  <a:lnTo>
                    <a:pt x="31" y="118"/>
                  </a:lnTo>
                  <a:close/>
                </a:path>
              </a:pathLst>
            </a:custGeom>
            <a:solidFill>
              <a:srgbClr val="AA343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0" name="îsľïďê">
              <a:extLst>
                <a:ext uri="{FF2B5EF4-FFF2-40B4-BE49-F238E27FC236}">
                  <a16:creationId xmlns="" xmlns:a16="http://schemas.microsoft.com/office/drawing/2014/main" id="{741A6D10-5205-474D-9FEB-42BF2D308649}"/>
                </a:ext>
              </a:extLst>
            </p:cNvPr>
            <p:cNvSpPr/>
            <p:nvPr/>
          </p:nvSpPr>
          <p:spPr>
            <a:xfrm>
              <a:off x="6799943" y="1851025"/>
              <a:ext cx="1289957" cy="707886"/>
            </a:xfrm>
            <a:prstGeom prst="rect">
              <a:avLst/>
            </a:prstGeom>
          </p:spPr>
          <p:txBody>
            <a:bodyPr wrap="square">
              <a:normAutofit fontScale="55000" lnSpcReduction="20000"/>
            </a:bodyPr>
            <a:lstStyle/>
            <a:p>
              <a:r>
                <a:rPr lang="zh-CN" altLang="en-US" sz="4000" dirty="0">
                  <a:solidFill>
                    <a:srgbClr val="00B050"/>
                  </a:solidFill>
                </a:rPr>
                <a:t>送</a:t>
              </a:r>
              <a:r>
                <a:rPr lang="zh-CN" altLang="en-US" sz="4000" dirty="0" smtClean="0">
                  <a:solidFill>
                    <a:srgbClr val="00B050"/>
                  </a:solidFill>
                </a:rPr>
                <a:t>分！</a:t>
              </a:r>
              <a:endParaRPr lang="zh-CN" altLang="en-US" sz="4000" dirty="0">
                <a:solidFill>
                  <a:srgbClr val="00B050"/>
                </a:solidFill>
              </a:endParaRPr>
            </a:p>
          </p:txBody>
        </p:sp>
      </p:grpSp>
    </p:spTree>
    <p:extLst>
      <p:ext uri="{BB962C8B-B14F-4D97-AF65-F5344CB8AC3E}">
        <p14:creationId xmlns:p14="http://schemas.microsoft.com/office/powerpoint/2010/main" val="36100109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Capital Requirement</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a:bodyPr>
          <a:lstStyle/>
          <a:p>
            <a:r>
              <a:rPr lang="en-US" altLang="zh-CN" sz="2600" b="0" dirty="0">
                <a:latin typeface="+mn-lt"/>
                <a:ea typeface="+mn-ea"/>
                <a:cs typeface="+mn-ea"/>
                <a:sym typeface="+mn-lt"/>
              </a:rPr>
              <a:t>The table below shows the summary of the balance sheet for a life insurance </a:t>
            </a:r>
            <a:r>
              <a:rPr lang="en-US" altLang="zh-CN" sz="2600" b="0" dirty="0" smtClean="0">
                <a:latin typeface="+mn-lt"/>
                <a:ea typeface="+mn-ea"/>
                <a:cs typeface="+mn-ea"/>
                <a:sym typeface="+mn-lt"/>
              </a:rPr>
              <a:t>company. </a:t>
            </a:r>
            <a:r>
              <a:rPr lang="en-CA" altLang="en-US" sz="2600" b="0" dirty="0">
                <a:latin typeface="+mn-lt"/>
                <a:ea typeface="+mn-ea"/>
                <a:cs typeface="+mn-ea"/>
                <a:sym typeface="+mn-lt"/>
              </a:rPr>
              <a:t>Life Insurance (</a:t>
            </a:r>
            <a:r>
              <a:rPr lang="en-CA" altLang="en-US" sz="2600" b="0" i="1" u="sng" dirty="0">
                <a:solidFill>
                  <a:srgbClr val="FF0000"/>
                </a:solidFill>
                <a:latin typeface="+mn-lt"/>
                <a:ea typeface="+mn-ea"/>
                <a:cs typeface="+mn-ea"/>
                <a:sym typeface="+mn-lt"/>
              </a:rPr>
              <a:t>Investments are mostly long-term corporate bonds</a:t>
            </a:r>
            <a:r>
              <a:rPr lang="en-CA" altLang="en-US" sz="2600" b="0" dirty="0" smtClean="0">
                <a:latin typeface="+mn-lt"/>
                <a:ea typeface="+mn-ea"/>
                <a:cs typeface="+mn-ea"/>
                <a:sym typeface="+mn-lt"/>
              </a:rPr>
              <a:t>)</a:t>
            </a:r>
          </a:p>
          <a:p>
            <a:endParaRPr lang="en-CA" altLang="zh-CN" dirty="0">
              <a:latin typeface="+mn-lt"/>
              <a:ea typeface="+mn-ea"/>
              <a:cs typeface="+mn-ea"/>
              <a:sym typeface="+mn-lt"/>
            </a:endParaRPr>
          </a:p>
          <a:p>
            <a:endParaRPr lang="en-CA" altLang="zh-CN" dirty="0" smtClean="0">
              <a:latin typeface="+mn-lt"/>
              <a:ea typeface="+mn-ea"/>
              <a:cs typeface="+mn-ea"/>
              <a:sym typeface="+mn-lt"/>
            </a:endParaRPr>
          </a:p>
          <a:p>
            <a:endParaRPr lang="en-CA" altLang="zh-CN" dirty="0">
              <a:latin typeface="+mn-lt"/>
              <a:ea typeface="+mn-ea"/>
              <a:cs typeface="+mn-ea"/>
              <a:sym typeface="+mn-lt"/>
            </a:endParaRPr>
          </a:p>
          <a:p>
            <a:endParaRPr lang="en-CA" altLang="zh-CN" dirty="0" smtClean="0">
              <a:latin typeface="+mn-lt"/>
              <a:ea typeface="+mn-ea"/>
              <a:cs typeface="+mn-ea"/>
              <a:sym typeface="+mn-lt"/>
            </a:endParaRPr>
          </a:p>
          <a:p>
            <a:endParaRPr lang="en-CA" altLang="zh-CN" dirty="0" smtClean="0">
              <a:latin typeface="+mn-lt"/>
              <a:ea typeface="+mn-ea"/>
              <a:cs typeface="+mn-ea"/>
              <a:sym typeface="+mn-lt"/>
            </a:endParaRPr>
          </a:p>
          <a:p>
            <a:endParaRPr lang="en-CA" altLang="zh-CN" dirty="0">
              <a:latin typeface="+mn-lt"/>
              <a:ea typeface="+mn-ea"/>
              <a:cs typeface="+mn-ea"/>
              <a:sym typeface="+mn-lt"/>
            </a:endParaRPr>
          </a:p>
          <a:p>
            <a:endParaRPr lang="en-CA" altLang="zh-CN" dirty="0">
              <a:latin typeface="+mn-lt"/>
              <a:ea typeface="+mn-ea"/>
              <a:cs typeface="+mn-ea"/>
              <a:sym typeface="+mn-lt"/>
            </a:endParaRPr>
          </a:p>
          <a:p>
            <a:pPr marL="876286" lvl="1" indent="-342900">
              <a:buFont typeface="Wingdings" panose="05000000000000000000" pitchFamily="2" charset="2"/>
              <a:buChar char="ü"/>
            </a:pPr>
            <a:r>
              <a:rPr lang="en-US" altLang="zh-CN" dirty="0">
                <a:latin typeface="+mn-lt"/>
                <a:ea typeface="+mn-ea"/>
                <a:cs typeface="+mn-ea"/>
                <a:sym typeface="+mn-lt"/>
              </a:rPr>
              <a:t>it takes on credit risk because the default rate on the bonds may be higher </a:t>
            </a:r>
            <a:r>
              <a:rPr lang="en-US" altLang="zh-CN" dirty="0" smtClean="0">
                <a:latin typeface="+mn-lt"/>
                <a:ea typeface="+mn-ea"/>
                <a:cs typeface="+mn-ea"/>
                <a:sym typeface="+mn-lt"/>
              </a:rPr>
              <a:t>than expected</a:t>
            </a:r>
            <a:r>
              <a:rPr lang="en-US" altLang="zh-CN" dirty="0">
                <a:latin typeface="+mn-lt"/>
                <a:ea typeface="+mn-ea"/>
                <a:cs typeface="+mn-ea"/>
                <a:sym typeface="+mn-lt"/>
              </a:rPr>
              <a:t>.</a:t>
            </a:r>
            <a:endParaRPr lang="zh-CN" altLang="en-US" dirty="0">
              <a:latin typeface="+mn-lt"/>
              <a:ea typeface="+mn-ea"/>
              <a:cs typeface="+mn-ea"/>
              <a:sym typeface="+mn-lt"/>
            </a:endParaRPr>
          </a:p>
        </p:txBody>
      </p:sp>
      <p:graphicFrame>
        <p:nvGraphicFramePr>
          <p:cNvPr id="4" name="Table 5"/>
          <p:cNvGraphicFramePr>
            <a:graphicFrameLocks noGrp="1"/>
          </p:cNvGraphicFramePr>
          <p:nvPr>
            <p:extLst>
              <p:ext uri="{D42A27DB-BD31-4B8C-83A1-F6EECF244321}">
                <p14:modId xmlns:p14="http://schemas.microsoft.com/office/powerpoint/2010/main" val="1814546777"/>
              </p:ext>
            </p:extLst>
          </p:nvPr>
        </p:nvGraphicFramePr>
        <p:xfrm>
          <a:off x="1218798" y="2350252"/>
          <a:ext cx="7286624" cy="2586594"/>
        </p:xfrm>
        <a:graphic>
          <a:graphicData uri="http://schemas.openxmlformats.org/drawingml/2006/table">
            <a:tbl>
              <a:tblPr>
                <a:tableStyleId>{EB9631B5-78F2-41C9-869B-9F39066F8104}</a:tableStyleId>
              </a:tblPr>
              <a:tblGrid>
                <a:gridCol w="1678946">
                  <a:extLst>
                    <a:ext uri="{9D8B030D-6E8A-4147-A177-3AD203B41FA5}">
                      <a16:colId xmlns="" xmlns:a16="http://schemas.microsoft.com/office/drawing/2014/main" val="20000"/>
                    </a:ext>
                  </a:extLst>
                </a:gridCol>
                <a:gridCol w="1074525">
                  <a:extLst>
                    <a:ext uri="{9D8B030D-6E8A-4147-A177-3AD203B41FA5}">
                      <a16:colId xmlns="" xmlns:a16="http://schemas.microsoft.com/office/drawing/2014/main" val="20001"/>
                    </a:ext>
                  </a:extLst>
                </a:gridCol>
                <a:gridCol w="1074525">
                  <a:extLst>
                    <a:ext uri="{9D8B030D-6E8A-4147-A177-3AD203B41FA5}">
                      <a16:colId xmlns="" xmlns:a16="http://schemas.microsoft.com/office/drawing/2014/main" val="20002"/>
                    </a:ext>
                  </a:extLst>
                </a:gridCol>
                <a:gridCol w="2249787">
                  <a:extLst>
                    <a:ext uri="{9D8B030D-6E8A-4147-A177-3AD203B41FA5}">
                      <a16:colId xmlns="" xmlns:a16="http://schemas.microsoft.com/office/drawing/2014/main" val="20003"/>
                    </a:ext>
                  </a:extLst>
                </a:gridCol>
                <a:gridCol w="1208841">
                  <a:extLst>
                    <a:ext uri="{9D8B030D-6E8A-4147-A177-3AD203B41FA5}">
                      <a16:colId xmlns="" xmlns:a16="http://schemas.microsoft.com/office/drawing/2014/main" val="20004"/>
                    </a:ext>
                  </a:extLst>
                </a:gridCol>
              </a:tblGrid>
              <a:tr h="525901">
                <a:tc gridSpan="2">
                  <a:txBody>
                    <a:bodyPr/>
                    <a:lstStyle/>
                    <a:p>
                      <a:pPr algn="ctr" fontAlgn="b"/>
                      <a:r>
                        <a:rPr lang="en-US" sz="2000" u="none" strike="noStrike" dirty="0">
                          <a:latin typeface="+mn-lt"/>
                          <a:ea typeface="+mn-ea"/>
                          <a:cs typeface="+mn-ea"/>
                          <a:sym typeface="+mn-lt"/>
                        </a:rPr>
                        <a:t>Assets</a:t>
                      </a:r>
                      <a:endParaRPr lang="en-US" sz="2000" b="1" i="0" u="none" strike="noStrike" dirty="0">
                        <a:solidFill>
                          <a:srgbClr val="000000"/>
                        </a:solidFill>
                        <a:latin typeface="+mn-lt"/>
                        <a:ea typeface="+mn-ea"/>
                        <a:cs typeface="+mn-ea"/>
                        <a:sym typeface="+mn-lt"/>
                      </a:endParaRPr>
                    </a:p>
                  </a:txBody>
                  <a:tcPr marL="9525" marR="9525" marT="9525" marB="0" anchor="b"/>
                </a:tc>
                <a:tc hMerge="1">
                  <a:txBody>
                    <a:bodyPr/>
                    <a:lstStyle/>
                    <a:p>
                      <a:endParaRPr lang="en-US"/>
                    </a:p>
                  </a:txBody>
                  <a:tcPr/>
                </a:tc>
                <a:tc>
                  <a:txBody>
                    <a:bodyPr/>
                    <a:lstStyle/>
                    <a:p>
                      <a:pPr algn="ctr" fontAlgn="b"/>
                      <a:endParaRPr lang="en-US" sz="2000" b="1" i="0" u="none" strike="noStrike" dirty="0">
                        <a:solidFill>
                          <a:srgbClr val="000000"/>
                        </a:solidFill>
                        <a:latin typeface="+mn-lt"/>
                        <a:ea typeface="+mn-ea"/>
                        <a:cs typeface="+mn-ea"/>
                        <a:sym typeface="+mn-lt"/>
                      </a:endParaRPr>
                    </a:p>
                  </a:txBody>
                  <a:tcPr marL="9525" marR="9525" marT="9525" marB="0" anchor="b"/>
                </a:tc>
                <a:tc gridSpan="2">
                  <a:txBody>
                    <a:bodyPr/>
                    <a:lstStyle/>
                    <a:p>
                      <a:pPr algn="ctr" fontAlgn="b"/>
                      <a:r>
                        <a:rPr lang="en-US" sz="2000" u="none" strike="noStrike" dirty="0">
                          <a:latin typeface="+mn-lt"/>
                          <a:ea typeface="+mn-ea"/>
                          <a:cs typeface="+mn-ea"/>
                          <a:sym typeface="+mn-lt"/>
                        </a:rPr>
                        <a:t>Liabs and Net worth</a:t>
                      </a:r>
                      <a:endParaRPr lang="en-US" sz="2000" b="1" i="0" u="none" strike="noStrike" dirty="0">
                        <a:solidFill>
                          <a:srgbClr val="000000"/>
                        </a:solidFill>
                        <a:latin typeface="+mn-lt"/>
                        <a:ea typeface="+mn-ea"/>
                        <a:cs typeface="+mn-ea"/>
                        <a:sym typeface="+mn-lt"/>
                      </a:endParaRPr>
                    </a:p>
                  </a:txBody>
                  <a:tcPr marL="9525" marR="9525" marT="9525" marB="0" anchor="b"/>
                </a:tc>
                <a:tc hMerge="1">
                  <a:txBody>
                    <a:bodyPr/>
                    <a:lstStyle/>
                    <a:p>
                      <a:endParaRPr lang="en-US"/>
                    </a:p>
                  </a:txBody>
                  <a:tcPr/>
                </a:tc>
                <a:extLst>
                  <a:ext uri="{0D108BD9-81ED-4DB2-BD59-A6C34878D82A}">
                    <a16:rowId xmlns="" xmlns:a16="http://schemas.microsoft.com/office/drawing/2014/main" val="10000"/>
                  </a:ext>
                </a:extLst>
              </a:tr>
              <a:tr h="468650">
                <a:tc>
                  <a:txBody>
                    <a:bodyPr/>
                    <a:lstStyle/>
                    <a:p>
                      <a:pPr algn="l" fontAlgn="b"/>
                      <a:r>
                        <a:rPr lang="en-US" sz="2000" u="none" strike="noStrike" dirty="0">
                          <a:latin typeface="+mn-lt"/>
                          <a:ea typeface="+mn-ea"/>
                          <a:cs typeface="+mn-ea"/>
                          <a:sym typeface="+mn-lt"/>
                        </a:rPr>
                        <a:t>Investments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90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Policy Reserves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80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1"/>
                  </a:ext>
                </a:extLst>
              </a:tr>
              <a:tr h="486459">
                <a:tc>
                  <a:txBody>
                    <a:bodyPr/>
                    <a:lstStyle/>
                    <a:p>
                      <a:pPr algn="l" fontAlgn="b"/>
                      <a:r>
                        <a:rPr lang="en-US" sz="2000" u="none" strike="noStrike" dirty="0">
                          <a:latin typeface="+mn-lt"/>
                          <a:ea typeface="+mn-ea"/>
                          <a:cs typeface="+mn-ea"/>
                          <a:sym typeface="+mn-lt"/>
                        </a:rPr>
                        <a:t>Other assets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Sub Long Term Debt</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2"/>
                  </a:ext>
                </a:extLst>
              </a:tr>
              <a:tr h="486459">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 </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Equity Capital</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3"/>
                  </a:ext>
                </a:extLst>
              </a:tr>
              <a:tr h="486459">
                <a:tc>
                  <a:txBody>
                    <a:bodyPr/>
                    <a:lstStyle/>
                    <a:p>
                      <a:pPr algn="l" fontAlgn="b"/>
                      <a:r>
                        <a:rPr lang="en-US" sz="2000" u="none" strike="noStrike" dirty="0">
                          <a:latin typeface="+mn-lt"/>
                          <a:ea typeface="+mn-ea"/>
                          <a:cs typeface="+mn-ea"/>
                          <a:sym typeface="+mn-lt"/>
                        </a:rPr>
                        <a:t>Total</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5393275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85000" lnSpcReduction="20000"/>
          </a:bodyPr>
          <a:lstStyle/>
          <a:p>
            <a:r>
              <a:rPr lang="en-US" altLang="zh-CN" sz="3100" b="0" dirty="0" smtClean="0">
                <a:latin typeface="+mn-lt"/>
                <a:ea typeface="+mn-ea"/>
                <a:cs typeface="+mn-ea"/>
                <a:sym typeface="+mn-lt"/>
              </a:rPr>
              <a:t>Property-Casualty </a:t>
            </a:r>
            <a:r>
              <a:rPr lang="en-US" altLang="zh-CN" sz="3100" b="0" dirty="0">
                <a:latin typeface="+mn-lt"/>
                <a:ea typeface="+mn-ea"/>
                <a:cs typeface="+mn-ea"/>
                <a:sym typeface="+mn-lt"/>
              </a:rPr>
              <a:t>Insurance (</a:t>
            </a:r>
            <a:r>
              <a:rPr lang="en-US" altLang="zh-CN" sz="3100" b="0" i="1" u="sng" dirty="0">
                <a:solidFill>
                  <a:srgbClr val="FF0000"/>
                </a:solidFill>
                <a:latin typeface="+mn-lt"/>
                <a:ea typeface="+mn-ea"/>
                <a:cs typeface="+mn-ea"/>
                <a:sym typeface="+mn-lt"/>
              </a:rPr>
              <a:t>Investments are mostly liquid shorter maturity bonds</a:t>
            </a:r>
            <a:r>
              <a:rPr lang="en-US" altLang="zh-CN" sz="3100" b="0" dirty="0" smtClean="0">
                <a:latin typeface="+mn-lt"/>
                <a:ea typeface="+mn-ea"/>
                <a:cs typeface="+mn-ea"/>
                <a:sym typeface="+mn-lt"/>
              </a:rPr>
              <a:t>)</a:t>
            </a:r>
          </a:p>
          <a:p>
            <a:endParaRPr lang="en-US" altLang="zh-CN" dirty="0">
              <a:latin typeface="+mn-lt"/>
              <a:ea typeface="+mn-ea"/>
              <a:cs typeface="+mn-ea"/>
              <a:sym typeface="+mn-lt"/>
            </a:endParaRPr>
          </a:p>
          <a:p>
            <a:endParaRPr lang="en-US" altLang="zh-CN" dirty="0" smtClean="0">
              <a:latin typeface="+mn-lt"/>
              <a:ea typeface="+mn-ea"/>
              <a:cs typeface="+mn-ea"/>
              <a:sym typeface="+mn-lt"/>
            </a:endParaRPr>
          </a:p>
          <a:p>
            <a:endParaRPr lang="en-US" altLang="zh-CN" dirty="0">
              <a:latin typeface="+mn-lt"/>
              <a:ea typeface="+mn-ea"/>
              <a:cs typeface="+mn-ea"/>
              <a:sym typeface="+mn-lt"/>
            </a:endParaRPr>
          </a:p>
          <a:p>
            <a:endParaRPr lang="en-US" altLang="zh-CN" dirty="0" smtClean="0">
              <a:latin typeface="+mn-lt"/>
              <a:ea typeface="+mn-ea"/>
              <a:cs typeface="+mn-ea"/>
              <a:sym typeface="+mn-lt"/>
            </a:endParaRPr>
          </a:p>
          <a:p>
            <a:endParaRPr lang="en-US" altLang="zh-CN" dirty="0">
              <a:latin typeface="+mn-lt"/>
              <a:ea typeface="+mn-ea"/>
              <a:cs typeface="+mn-ea"/>
              <a:sym typeface="+mn-lt"/>
            </a:endParaRPr>
          </a:p>
          <a:p>
            <a:endParaRPr lang="en-US" altLang="zh-CN" dirty="0" smtClean="0">
              <a:latin typeface="+mn-lt"/>
              <a:ea typeface="+mn-ea"/>
              <a:cs typeface="+mn-ea"/>
              <a:sym typeface="+mn-lt"/>
            </a:endParaRPr>
          </a:p>
          <a:p>
            <a:endParaRPr lang="en-US" altLang="zh-CN" dirty="0">
              <a:latin typeface="+mn-lt"/>
              <a:ea typeface="+mn-ea"/>
              <a:cs typeface="+mn-ea"/>
              <a:sym typeface="+mn-lt"/>
            </a:endParaRPr>
          </a:p>
          <a:p>
            <a:endParaRPr lang="en-US" altLang="zh-CN" dirty="0" smtClean="0">
              <a:latin typeface="+mn-lt"/>
              <a:ea typeface="+mn-ea"/>
              <a:cs typeface="+mn-ea"/>
              <a:sym typeface="+mn-lt"/>
            </a:endParaRPr>
          </a:p>
          <a:p>
            <a:endParaRPr lang="en-US" altLang="zh-CN" dirty="0" smtClean="0">
              <a:latin typeface="+mn-lt"/>
              <a:ea typeface="+mn-ea"/>
              <a:cs typeface="+mn-ea"/>
              <a:sym typeface="+mn-lt"/>
            </a:endParaRPr>
          </a:p>
          <a:p>
            <a:pPr>
              <a:buFont typeface="Wingdings" panose="05000000000000000000" pitchFamily="2" charset="2"/>
              <a:buChar char="ü"/>
            </a:pPr>
            <a:r>
              <a:rPr lang="en-US" altLang="zh-CN" sz="2600" b="0" dirty="0">
                <a:latin typeface="+mn-lt"/>
                <a:ea typeface="+mn-ea"/>
                <a:cs typeface="+mn-ea"/>
                <a:sym typeface="+mn-lt"/>
              </a:rPr>
              <a:t>Hence </a:t>
            </a:r>
            <a:r>
              <a:rPr lang="en-US" altLang="zh-CN" sz="2600" b="0" dirty="0" smtClean="0">
                <a:latin typeface="+mn-lt"/>
                <a:ea typeface="+mn-ea"/>
                <a:cs typeface="+mn-ea"/>
                <a:sym typeface="+mn-lt"/>
              </a:rPr>
              <a:t>the risks </a:t>
            </a:r>
            <a:r>
              <a:rPr lang="en-US" altLang="zh-CN" sz="2600" b="0" dirty="0">
                <a:latin typeface="+mn-lt"/>
                <a:ea typeface="+mn-ea"/>
                <a:cs typeface="+mn-ea"/>
                <a:sym typeface="+mn-lt"/>
              </a:rPr>
              <a:t>associated with their business is higher. So, in turn, the equity required is higher </a:t>
            </a:r>
            <a:r>
              <a:rPr lang="en-US" altLang="zh-CN" sz="2600" b="0" dirty="0" smtClean="0">
                <a:latin typeface="+mn-lt"/>
                <a:ea typeface="+mn-ea"/>
                <a:cs typeface="+mn-ea"/>
                <a:sym typeface="+mn-lt"/>
              </a:rPr>
              <a:t>here than </a:t>
            </a:r>
            <a:r>
              <a:rPr lang="en-US" altLang="zh-CN" sz="2600" b="0" dirty="0">
                <a:latin typeface="+mn-lt"/>
                <a:ea typeface="+mn-ea"/>
                <a:cs typeface="+mn-ea"/>
                <a:sym typeface="+mn-lt"/>
              </a:rPr>
              <a:t>that for life insurance companies as seen in the table.</a:t>
            </a:r>
          </a:p>
          <a:p>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Capital Requirement</a:t>
            </a:r>
            <a:endParaRPr lang="zh-CN" altLang="en-US" dirty="0">
              <a:latin typeface="+mn-lt"/>
              <a:ea typeface="+mn-ea"/>
              <a:cs typeface="+mn-ea"/>
              <a:sym typeface="+mn-lt"/>
            </a:endParaRPr>
          </a:p>
        </p:txBody>
      </p:sp>
      <p:graphicFrame>
        <p:nvGraphicFramePr>
          <p:cNvPr id="5" name="Table 5"/>
          <p:cNvGraphicFramePr>
            <a:graphicFrameLocks noGrp="1"/>
          </p:cNvGraphicFramePr>
          <p:nvPr>
            <p:extLst>
              <p:ext uri="{D42A27DB-BD31-4B8C-83A1-F6EECF244321}">
                <p14:modId xmlns:p14="http://schemas.microsoft.com/office/powerpoint/2010/main" val="342168921"/>
              </p:ext>
            </p:extLst>
          </p:nvPr>
        </p:nvGraphicFramePr>
        <p:xfrm>
          <a:off x="973102" y="1994805"/>
          <a:ext cx="6858000" cy="3333750"/>
        </p:xfrm>
        <a:graphic>
          <a:graphicData uri="http://schemas.openxmlformats.org/drawingml/2006/table">
            <a:tbl>
              <a:tblPr>
                <a:tableStyleId>{EB9631B5-78F2-41C9-869B-9F39066F8104}</a:tableStyleId>
              </a:tblPr>
              <a:tblGrid>
                <a:gridCol w="1717362">
                  <a:extLst>
                    <a:ext uri="{9D8B030D-6E8A-4147-A177-3AD203B41FA5}">
                      <a16:colId xmlns="" xmlns:a16="http://schemas.microsoft.com/office/drawing/2014/main" val="20000"/>
                    </a:ext>
                  </a:extLst>
                </a:gridCol>
                <a:gridCol w="1099112">
                  <a:extLst>
                    <a:ext uri="{9D8B030D-6E8A-4147-A177-3AD203B41FA5}">
                      <a16:colId xmlns="" xmlns:a16="http://schemas.microsoft.com/office/drawing/2014/main" val="20001"/>
                    </a:ext>
                  </a:extLst>
                </a:gridCol>
                <a:gridCol w="503759">
                  <a:extLst>
                    <a:ext uri="{9D8B030D-6E8A-4147-A177-3AD203B41FA5}">
                      <a16:colId xmlns="" xmlns:a16="http://schemas.microsoft.com/office/drawing/2014/main" val="20002"/>
                    </a:ext>
                  </a:extLst>
                </a:gridCol>
                <a:gridCol w="2301266">
                  <a:extLst>
                    <a:ext uri="{9D8B030D-6E8A-4147-A177-3AD203B41FA5}">
                      <a16:colId xmlns="" xmlns:a16="http://schemas.microsoft.com/office/drawing/2014/main" val="20003"/>
                    </a:ext>
                  </a:extLst>
                </a:gridCol>
                <a:gridCol w="1236501">
                  <a:extLst>
                    <a:ext uri="{9D8B030D-6E8A-4147-A177-3AD203B41FA5}">
                      <a16:colId xmlns="" xmlns:a16="http://schemas.microsoft.com/office/drawing/2014/main" val="20004"/>
                    </a:ext>
                  </a:extLst>
                </a:gridCol>
              </a:tblGrid>
              <a:tr h="523875">
                <a:tc gridSpan="2">
                  <a:txBody>
                    <a:bodyPr/>
                    <a:lstStyle/>
                    <a:p>
                      <a:pPr algn="ctr" fontAlgn="b"/>
                      <a:r>
                        <a:rPr lang="en-US" sz="2000" u="none" strike="noStrike" dirty="0">
                          <a:latin typeface="+mn-lt"/>
                          <a:ea typeface="+mn-ea"/>
                          <a:cs typeface="+mn-ea"/>
                          <a:sym typeface="+mn-lt"/>
                        </a:rPr>
                        <a:t>Assets</a:t>
                      </a:r>
                      <a:endParaRPr lang="en-US" sz="2000" b="1" i="0" u="none" strike="noStrike" dirty="0">
                        <a:solidFill>
                          <a:srgbClr val="000000"/>
                        </a:solidFill>
                        <a:latin typeface="+mn-lt"/>
                        <a:ea typeface="+mn-ea"/>
                        <a:cs typeface="+mn-ea"/>
                        <a:sym typeface="+mn-lt"/>
                      </a:endParaRPr>
                    </a:p>
                  </a:txBody>
                  <a:tcPr marL="9525" marR="9525" marT="9525" marB="0" anchor="b"/>
                </a:tc>
                <a:tc hMerge="1">
                  <a:txBody>
                    <a:bodyPr/>
                    <a:lstStyle/>
                    <a:p>
                      <a:endParaRPr lang="en-US"/>
                    </a:p>
                  </a:txBody>
                  <a:tcPr/>
                </a:tc>
                <a:tc>
                  <a:txBody>
                    <a:bodyPr/>
                    <a:lstStyle/>
                    <a:p>
                      <a:pPr algn="ctr" fontAlgn="b"/>
                      <a:endParaRPr lang="en-US" sz="2000" b="1" i="0" u="none" strike="noStrike" dirty="0">
                        <a:solidFill>
                          <a:srgbClr val="000000"/>
                        </a:solidFill>
                        <a:latin typeface="+mn-lt"/>
                        <a:ea typeface="+mn-ea"/>
                        <a:cs typeface="+mn-ea"/>
                        <a:sym typeface="+mn-lt"/>
                      </a:endParaRPr>
                    </a:p>
                  </a:txBody>
                  <a:tcPr marL="9525" marR="9525" marT="9525" marB="0" anchor="b"/>
                </a:tc>
                <a:tc gridSpan="2">
                  <a:txBody>
                    <a:bodyPr/>
                    <a:lstStyle/>
                    <a:p>
                      <a:pPr algn="ctr" fontAlgn="b"/>
                      <a:r>
                        <a:rPr lang="en-US" sz="2000" u="none" strike="noStrike" dirty="0">
                          <a:latin typeface="+mn-lt"/>
                          <a:ea typeface="+mn-ea"/>
                          <a:cs typeface="+mn-ea"/>
                          <a:sym typeface="+mn-lt"/>
                        </a:rPr>
                        <a:t>Liabs and Net worth</a:t>
                      </a:r>
                      <a:endParaRPr lang="en-US" sz="2000" b="1" i="0" u="none" strike="noStrike" dirty="0">
                        <a:solidFill>
                          <a:srgbClr val="000000"/>
                        </a:solidFill>
                        <a:latin typeface="+mn-lt"/>
                        <a:ea typeface="+mn-ea"/>
                        <a:cs typeface="+mn-ea"/>
                        <a:sym typeface="+mn-lt"/>
                      </a:endParaRPr>
                    </a:p>
                  </a:txBody>
                  <a:tcPr marL="9525" marR="9525" marT="9525" marB="0" anchor="b"/>
                </a:tc>
                <a:tc hMerge="1">
                  <a:txBody>
                    <a:bodyPr/>
                    <a:lstStyle/>
                    <a:p>
                      <a:endParaRPr lang="en-US"/>
                    </a:p>
                  </a:txBody>
                  <a:tcPr/>
                </a:tc>
                <a:extLst>
                  <a:ext uri="{0D108BD9-81ED-4DB2-BD59-A6C34878D82A}">
                    <a16:rowId xmlns="" xmlns:a16="http://schemas.microsoft.com/office/drawing/2014/main" val="10000"/>
                  </a:ext>
                </a:extLst>
              </a:tr>
              <a:tr h="523875">
                <a:tc>
                  <a:txBody>
                    <a:bodyPr/>
                    <a:lstStyle/>
                    <a:p>
                      <a:pPr algn="l" fontAlgn="b"/>
                      <a:r>
                        <a:rPr lang="en-US" sz="2000" u="none" strike="noStrike" dirty="0" smtClean="0">
                          <a:latin typeface="+mn-lt"/>
                          <a:ea typeface="+mn-ea"/>
                          <a:cs typeface="+mn-ea"/>
                          <a:sym typeface="+mn-lt"/>
                        </a:rPr>
                        <a:t>Investments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90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Policy Reserves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45</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1"/>
                  </a:ext>
                </a:extLst>
              </a:tr>
              <a:tr h="523875">
                <a:tc>
                  <a:txBody>
                    <a:bodyPr/>
                    <a:lstStyle/>
                    <a:p>
                      <a:pPr algn="l" fontAlgn="b"/>
                      <a:r>
                        <a:rPr lang="en-US" sz="2000" u="none" strike="noStrike" dirty="0">
                          <a:latin typeface="+mn-lt"/>
                          <a:ea typeface="+mn-ea"/>
                          <a:cs typeface="+mn-ea"/>
                          <a:sym typeface="+mn-lt"/>
                        </a:rPr>
                        <a:t>Other assets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Unearned premiums</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15</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2"/>
                  </a:ext>
                </a:extLst>
              </a:tr>
              <a:tr h="523875">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Sub Long Term Debt</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3"/>
                  </a:ext>
                </a:extLst>
              </a:tr>
              <a:tr h="523875">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 </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r>
                        <a:rPr lang="en-US" sz="2000" u="none" strike="noStrike" dirty="0">
                          <a:latin typeface="+mn-lt"/>
                          <a:ea typeface="+mn-ea"/>
                          <a:cs typeface="+mn-ea"/>
                          <a:sym typeface="+mn-lt"/>
                        </a:rPr>
                        <a:t>Equity Capital</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30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4"/>
                  </a:ext>
                </a:extLst>
              </a:tr>
              <a:tr h="523875">
                <a:tc>
                  <a:txBody>
                    <a:bodyPr/>
                    <a:lstStyle/>
                    <a:p>
                      <a:pPr algn="l" fontAlgn="b"/>
                      <a:r>
                        <a:rPr lang="en-US" sz="2000" u="none" strike="noStrike" dirty="0">
                          <a:latin typeface="+mn-lt"/>
                          <a:ea typeface="+mn-ea"/>
                          <a:cs typeface="+mn-ea"/>
                          <a:sym typeface="+mn-lt"/>
                        </a:rPr>
                        <a:t>Total</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100</a:t>
                      </a:r>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l" fontAlgn="b"/>
                      <a:endParaRPr lang="en-US" sz="2000" b="0" i="0" u="none" strike="noStrike" dirty="0">
                        <a:solidFill>
                          <a:srgbClr val="000000"/>
                        </a:solidFill>
                        <a:latin typeface="+mn-lt"/>
                        <a:ea typeface="+mn-ea"/>
                        <a:cs typeface="+mn-ea"/>
                        <a:sym typeface="+mn-lt"/>
                      </a:endParaRPr>
                    </a:p>
                  </a:txBody>
                  <a:tcPr marL="9525" marR="9525" marT="9525" marB="0" anchor="b"/>
                </a:tc>
                <a:tc>
                  <a:txBody>
                    <a:bodyPr/>
                    <a:lstStyle/>
                    <a:p>
                      <a:pPr algn="r" fontAlgn="b"/>
                      <a:r>
                        <a:rPr lang="en-US" sz="2000" u="none" strike="noStrike" dirty="0">
                          <a:latin typeface="+mn-lt"/>
                          <a:ea typeface="+mn-ea"/>
                          <a:cs typeface="+mn-ea"/>
                          <a:sym typeface="+mn-lt"/>
                        </a:rPr>
                        <a:t>100</a:t>
                      </a:r>
                      <a:endParaRPr lang="en-US" sz="2000" b="0" i="0" u="none" strike="noStrike" dirty="0">
                        <a:solidFill>
                          <a:srgbClr val="000000"/>
                        </a:solidFill>
                        <a:latin typeface="+mn-lt"/>
                        <a:ea typeface="+mn-ea"/>
                        <a:cs typeface="+mn-ea"/>
                        <a:sym typeface="+mn-lt"/>
                      </a:endParaRPr>
                    </a:p>
                  </a:txBody>
                  <a:tcPr marL="9525" marR="9525" marT="9525" marB="0" anchor="b"/>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7461852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DB Plans and DC Plans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b="0" dirty="0">
                <a:solidFill>
                  <a:schemeClr val="tx2"/>
                </a:solidFill>
                <a:latin typeface="+mn-lt"/>
                <a:ea typeface="+mn-ea"/>
                <a:cs typeface="+mn-ea"/>
                <a:sym typeface="+mn-lt"/>
              </a:rPr>
              <a:t>Companies set up pension plans for their employees with regular contributions from both </a:t>
            </a:r>
            <a:r>
              <a:rPr lang="en-US" altLang="zh-CN" b="0" dirty="0" smtClean="0">
                <a:solidFill>
                  <a:schemeClr val="tx2"/>
                </a:solidFill>
                <a:latin typeface="+mn-lt"/>
                <a:ea typeface="+mn-ea"/>
                <a:cs typeface="+mn-ea"/>
                <a:sym typeface="+mn-lt"/>
              </a:rPr>
              <a:t>the employer </a:t>
            </a:r>
            <a:r>
              <a:rPr lang="en-US" altLang="zh-CN" b="0" dirty="0">
                <a:solidFill>
                  <a:schemeClr val="tx2"/>
                </a:solidFill>
                <a:latin typeface="+mn-lt"/>
                <a:ea typeface="+mn-ea"/>
                <a:cs typeface="+mn-ea"/>
                <a:sym typeface="+mn-lt"/>
              </a:rPr>
              <a:t>and the employee while the employee is working. This serves as a source </a:t>
            </a:r>
            <a:r>
              <a:rPr lang="en-US" altLang="zh-CN" b="0" dirty="0" smtClean="0">
                <a:solidFill>
                  <a:schemeClr val="tx2"/>
                </a:solidFill>
                <a:latin typeface="+mn-lt"/>
                <a:ea typeface="+mn-ea"/>
                <a:cs typeface="+mn-ea"/>
                <a:sym typeface="+mn-lt"/>
              </a:rPr>
              <a:t>of income </a:t>
            </a:r>
            <a:r>
              <a:rPr lang="en-US" altLang="zh-CN" b="0" dirty="0">
                <a:solidFill>
                  <a:schemeClr val="tx2"/>
                </a:solidFill>
                <a:latin typeface="+mn-lt"/>
                <a:ea typeface="+mn-ea"/>
                <a:cs typeface="+mn-ea"/>
                <a:sym typeface="+mn-lt"/>
              </a:rPr>
              <a:t>for the employees after they retire until the time of their death. There are two types </a:t>
            </a:r>
            <a:r>
              <a:rPr lang="en-US" altLang="zh-CN" b="0" dirty="0" smtClean="0">
                <a:solidFill>
                  <a:schemeClr val="tx2"/>
                </a:solidFill>
                <a:latin typeface="+mn-lt"/>
                <a:ea typeface="+mn-ea"/>
                <a:cs typeface="+mn-ea"/>
                <a:sym typeface="+mn-lt"/>
              </a:rPr>
              <a:t>of pension </a:t>
            </a:r>
            <a:r>
              <a:rPr lang="en-US" altLang="zh-CN" b="0" dirty="0">
                <a:solidFill>
                  <a:schemeClr val="tx2"/>
                </a:solidFill>
                <a:latin typeface="+mn-lt"/>
                <a:ea typeface="+mn-ea"/>
                <a:cs typeface="+mn-ea"/>
                <a:sym typeface="+mn-lt"/>
              </a:rPr>
              <a:t>plans which are as described </a:t>
            </a:r>
            <a:r>
              <a:rPr lang="en-US" altLang="zh-CN" b="0" dirty="0" smtClean="0">
                <a:solidFill>
                  <a:schemeClr val="tx2"/>
                </a:solidFill>
                <a:latin typeface="+mn-lt"/>
                <a:ea typeface="+mn-ea"/>
                <a:cs typeface="+mn-ea"/>
                <a:sym typeface="+mn-lt"/>
              </a:rPr>
              <a:t>below:</a:t>
            </a:r>
          </a:p>
          <a:p>
            <a:pPr marL="0" indent="0">
              <a:buNone/>
            </a:pPr>
            <a:endParaRPr lang="en-US" altLang="zh-CN" dirty="0" smtClean="0">
              <a:latin typeface="+mn-lt"/>
              <a:ea typeface="+mn-ea"/>
              <a:cs typeface="+mn-ea"/>
              <a:sym typeface="+mn-lt"/>
            </a:endParaRPr>
          </a:p>
          <a:p>
            <a:r>
              <a:rPr lang="en-US" altLang="zh-CN" dirty="0" smtClean="0">
                <a:latin typeface="+mn-lt"/>
                <a:ea typeface="+mn-ea"/>
                <a:cs typeface="+mn-ea"/>
                <a:sym typeface="+mn-lt"/>
              </a:rPr>
              <a:t>Main types</a:t>
            </a:r>
          </a:p>
          <a:p>
            <a:pPr lvl="1">
              <a:buFont typeface="Wingdings" panose="05000000000000000000" pitchFamily="2" charset="2"/>
              <a:buChar char="l"/>
            </a:pPr>
            <a:r>
              <a:rPr lang="en-US" altLang="zh-CN" dirty="0">
                <a:solidFill>
                  <a:srgbClr val="FF0000"/>
                </a:solidFill>
                <a:latin typeface="+mn-lt"/>
                <a:ea typeface="+mn-ea"/>
                <a:cs typeface="+mn-ea"/>
                <a:sym typeface="+mn-lt"/>
              </a:rPr>
              <a:t>Defined benefit </a:t>
            </a:r>
            <a:r>
              <a:rPr lang="en-US" altLang="zh-CN" dirty="0" smtClean="0">
                <a:solidFill>
                  <a:srgbClr val="FF0000"/>
                </a:solidFill>
                <a:latin typeface="+mn-lt"/>
                <a:ea typeface="+mn-ea"/>
                <a:cs typeface="+mn-ea"/>
                <a:sym typeface="+mn-lt"/>
              </a:rPr>
              <a:t>plan</a:t>
            </a:r>
          </a:p>
          <a:p>
            <a:pPr lvl="1">
              <a:buFont typeface="Wingdings" panose="05000000000000000000" pitchFamily="2" charset="2"/>
              <a:buChar char="l"/>
            </a:pPr>
            <a:r>
              <a:rPr lang="en-US" altLang="zh-CN" dirty="0">
                <a:solidFill>
                  <a:srgbClr val="FF0000"/>
                </a:solidFill>
                <a:latin typeface="+mn-lt"/>
                <a:ea typeface="+mn-ea"/>
                <a:cs typeface="+mn-ea"/>
                <a:sym typeface="+mn-lt"/>
              </a:rPr>
              <a:t>Defined contribution plan</a:t>
            </a:r>
            <a:endParaRPr lang="en-US" altLang="zh-CN" dirty="0" smtClean="0">
              <a:solidFill>
                <a:srgbClr val="FF0000"/>
              </a:solidFill>
              <a:latin typeface="+mn-lt"/>
              <a:ea typeface="+mn-ea"/>
              <a:cs typeface="+mn-ea"/>
              <a:sym typeface="+mn-lt"/>
            </a:endParaRPr>
          </a:p>
          <a:p>
            <a:endParaRPr lang="zh-CN" altLang="en-US" dirty="0">
              <a:solidFill>
                <a:srgbClr val="7030A0"/>
              </a:solidFill>
              <a:latin typeface="+mn-lt"/>
              <a:ea typeface="+mn-ea"/>
              <a:cs typeface="+mn-ea"/>
              <a:sym typeface="+mn-lt"/>
            </a:endParaRPr>
          </a:p>
        </p:txBody>
      </p:sp>
    </p:spTree>
    <p:extLst>
      <p:ext uri="{BB962C8B-B14F-4D97-AF65-F5344CB8AC3E}">
        <p14:creationId xmlns:p14="http://schemas.microsoft.com/office/powerpoint/2010/main" val="42173216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DB Plans and DC Plans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b="1" dirty="0">
                <a:latin typeface="+mn-lt"/>
                <a:ea typeface="+mn-ea"/>
                <a:cs typeface="+mn-ea"/>
                <a:sym typeface="+mn-lt"/>
              </a:rPr>
              <a:t>Defined benefit </a:t>
            </a:r>
            <a:r>
              <a:rPr lang="en-US" altLang="zh-CN" b="1" dirty="0" smtClean="0">
                <a:latin typeface="+mn-lt"/>
                <a:ea typeface="+mn-ea"/>
                <a:cs typeface="+mn-ea"/>
                <a:sym typeface="+mn-lt"/>
              </a:rPr>
              <a:t>plan</a:t>
            </a:r>
          </a:p>
          <a:p>
            <a:pPr lvl="1">
              <a:buFont typeface="Wingdings" panose="05000000000000000000" pitchFamily="2" charset="2"/>
              <a:buChar char="l"/>
            </a:pPr>
            <a:r>
              <a:rPr lang="en-US" altLang="zh-CN" dirty="0">
                <a:latin typeface="+mn-lt"/>
                <a:ea typeface="+mn-ea"/>
                <a:cs typeface="+mn-ea"/>
                <a:sym typeface="+mn-lt"/>
              </a:rPr>
              <a:t>The pension that the employee will </a:t>
            </a:r>
            <a:r>
              <a:rPr lang="en-US" altLang="zh-CN" i="1" dirty="0">
                <a:solidFill>
                  <a:srgbClr val="FF0000"/>
                </a:solidFill>
                <a:latin typeface="+mn-lt"/>
                <a:ea typeface="+mn-ea"/>
                <a:cs typeface="+mn-ea"/>
                <a:sym typeface="+mn-lt"/>
              </a:rPr>
              <a:t>receive on retirement </a:t>
            </a:r>
            <a:r>
              <a:rPr lang="en-US" altLang="zh-CN" dirty="0">
                <a:latin typeface="+mn-lt"/>
                <a:ea typeface="+mn-ea"/>
                <a:cs typeface="+mn-ea"/>
                <a:sym typeface="+mn-lt"/>
              </a:rPr>
              <a:t>is defined by the plan. </a:t>
            </a:r>
          </a:p>
          <a:p>
            <a:pPr lvl="1">
              <a:buFont typeface="Wingdings" panose="05000000000000000000" pitchFamily="2" charset="2"/>
              <a:buChar char="l"/>
            </a:pPr>
            <a:r>
              <a:rPr lang="en-US" altLang="zh-CN" dirty="0">
                <a:latin typeface="+mn-lt"/>
                <a:ea typeface="+mn-ea"/>
                <a:cs typeface="+mn-ea"/>
                <a:sym typeface="+mn-lt"/>
              </a:rPr>
              <a:t>Typically it is calculated by a formula that is based on the number of </a:t>
            </a:r>
            <a:r>
              <a:rPr lang="en-US" altLang="zh-CN" u="sng" dirty="0">
                <a:latin typeface="+mn-lt"/>
                <a:ea typeface="+mn-ea"/>
                <a:cs typeface="+mn-ea"/>
                <a:sym typeface="+mn-lt"/>
              </a:rPr>
              <a:t>years of employment and the employee’s salary</a:t>
            </a:r>
            <a:r>
              <a:rPr lang="en-US" altLang="zh-CN" u="sng" dirty="0" smtClean="0">
                <a:latin typeface="+mn-lt"/>
                <a:ea typeface="+mn-ea"/>
                <a:cs typeface="+mn-ea"/>
                <a:sym typeface="+mn-lt"/>
              </a:rPr>
              <a:t>.</a:t>
            </a:r>
          </a:p>
          <a:p>
            <a:pPr marL="609585" lvl="1" indent="0">
              <a:buNone/>
            </a:pPr>
            <a:endParaRPr lang="en-US" altLang="zh-CN" u="sng" dirty="0">
              <a:latin typeface="+mn-lt"/>
              <a:ea typeface="+mn-ea"/>
              <a:cs typeface="+mn-ea"/>
              <a:sym typeface="+mn-lt"/>
            </a:endParaRPr>
          </a:p>
          <a:p>
            <a:pPr marL="457189" lvl="1" indent="-457189">
              <a:buFont typeface="Wingdings" panose="05000000000000000000" pitchFamily="2" charset="2"/>
              <a:buChar char="Ø"/>
            </a:pPr>
            <a:r>
              <a:rPr lang="en-US" altLang="zh-CN" sz="2400" b="1" dirty="0">
                <a:solidFill>
                  <a:schemeClr val="accent6"/>
                </a:solidFill>
                <a:cs typeface="+mn-ea"/>
                <a:sym typeface="+mn-lt"/>
              </a:rPr>
              <a:t>Defined Contribution Plan</a:t>
            </a:r>
          </a:p>
          <a:p>
            <a:pPr lvl="1"/>
            <a:r>
              <a:rPr lang="en-US" altLang="zh-CN" dirty="0">
                <a:cs typeface="+mn-ea"/>
                <a:sym typeface="+mn-lt"/>
              </a:rPr>
              <a:t>In a defined contribution plan, the contributions to the plan are defined, and the employer and employee contributions are invested on behalf of the employee. When employees retire, the final value of the contributions invested so far can be converted to a lifetime annuity or received </a:t>
            </a:r>
            <a:r>
              <a:rPr lang="en-US" altLang="zh-CN" i="1" u="sng" dirty="0">
                <a:solidFill>
                  <a:srgbClr val="FF0000"/>
                </a:solidFill>
                <a:cs typeface="+mn-ea"/>
                <a:sym typeface="+mn-lt"/>
              </a:rPr>
              <a:t>as a lump sum.</a:t>
            </a:r>
            <a:endParaRPr lang="zh-CN" altLang="en-US" i="1" u="sng" dirty="0">
              <a:solidFill>
                <a:srgbClr val="FF0000"/>
              </a:solidFill>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8386539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DB Plans and DC Plans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20000"/>
          </a:bodyPr>
          <a:lstStyle/>
          <a:p>
            <a:r>
              <a:rPr lang="en-US" altLang="zh-CN" sz="2600" b="1" dirty="0">
                <a:latin typeface="+mn-lt"/>
                <a:ea typeface="+mn-ea"/>
                <a:cs typeface="+mn-ea"/>
                <a:sym typeface="+mn-lt"/>
              </a:rPr>
              <a:t>Differences between a </a:t>
            </a:r>
            <a:r>
              <a:rPr lang="en-US" altLang="zh-CN" sz="2600" b="1" dirty="0" smtClean="0">
                <a:latin typeface="+mn-lt"/>
                <a:ea typeface="+mn-ea"/>
                <a:cs typeface="+mn-ea"/>
                <a:sym typeface="+mn-lt"/>
              </a:rPr>
              <a:t>DB and </a:t>
            </a:r>
            <a:r>
              <a:rPr lang="en-US" altLang="zh-CN" sz="2600" b="1" dirty="0">
                <a:latin typeface="+mn-lt"/>
                <a:ea typeface="+mn-ea"/>
                <a:cs typeface="+mn-ea"/>
                <a:sym typeface="+mn-lt"/>
              </a:rPr>
              <a:t>a </a:t>
            </a:r>
            <a:r>
              <a:rPr lang="en-US" altLang="zh-CN" sz="2600" b="1" dirty="0" smtClean="0">
                <a:latin typeface="+mn-lt"/>
                <a:ea typeface="+mn-ea"/>
                <a:cs typeface="+mn-ea"/>
                <a:sym typeface="+mn-lt"/>
              </a:rPr>
              <a:t>DC plan</a:t>
            </a:r>
          </a:p>
          <a:p>
            <a:pPr lvl="1">
              <a:buFont typeface="Wingdings" panose="05000000000000000000" pitchFamily="2" charset="2"/>
              <a:buChar char="l"/>
            </a:pPr>
            <a:r>
              <a:rPr lang="en-US" altLang="zh-CN" sz="2600" dirty="0">
                <a:latin typeface="+mn-lt"/>
                <a:ea typeface="+mn-ea"/>
                <a:cs typeface="+mn-ea"/>
                <a:sym typeface="+mn-lt"/>
              </a:rPr>
              <a:t>In a </a:t>
            </a:r>
            <a:r>
              <a:rPr lang="en-US" altLang="zh-CN" sz="2600" i="1" dirty="0">
                <a:latin typeface="+mn-lt"/>
                <a:ea typeface="+mn-ea"/>
                <a:cs typeface="+mn-ea"/>
                <a:sym typeface="+mn-lt"/>
              </a:rPr>
              <a:t>defined benefit plan</a:t>
            </a:r>
            <a:r>
              <a:rPr lang="en-US" altLang="zh-CN" sz="2600" dirty="0">
                <a:latin typeface="+mn-lt"/>
                <a:ea typeface="+mn-ea"/>
                <a:cs typeface="+mn-ea"/>
                <a:sym typeface="+mn-lt"/>
              </a:rPr>
              <a:t>, all contributions are pooled and payments to retirees are made out of the pool. In a defined contribution plan, the funds are identified with individual employees.  </a:t>
            </a:r>
            <a:r>
              <a:rPr lang="en-US" altLang="zh-CN" sz="2600" i="1" u="sng" dirty="0">
                <a:solidFill>
                  <a:srgbClr val="FF0000"/>
                </a:solidFill>
                <a:latin typeface="+mn-lt"/>
                <a:ea typeface="+mn-ea"/>
                <a:cs typeface="+mn-ea"/>
                <a:sym typeface="+mn-lt"/>
              </a:rPr>
              <a:t>An account is set up </a:t>
            </a:r>
            <a:r>
              <a:rPr lang="en-US" altLang="zh-CN" sz="2600" dirty="0">
                <a:latin typeface="+mn-lt"/>
                <a:ea typeface="+mn-ea"/>
                <a:cs typeface="+mn-ea"/>
                <a:sym typeface="+mn-lt"/>
              </a:rPr>
              <a:t>for each employee and the pension is calculated only from the funds contributed to that account.</a:t>
            </a:r>
          </a:p>
          <a:p>
            <a:pPr lvl="1">
              <a:buFont typeface="Wingdings" panose="05000000000000000000" pitchFamily="2" charset="2"/>
              <a:buChar char="l"/>
            </a:pPr>
            <a:r>
              <a:rPr lang="en-US" altLang="zh-CN" sz="2600" i="1" dirty="0">
                <a:latin typeface="+mn-lt"/>
                <a:ea typeface="+mn-ea"/>
                <a:cs typeface="+mn-ea"/>
                <a:sym typeface="+mn-lt"/>
              </a:rPr>
              <a:t>Defined contribution plans </a:t>
            </a:r>
            <a:r>
              <a:rPr lang="en-US" altLang="zh-CN" sz="2600" i="1" u="sng" dirty="0">
                <a:solidFill>
                  <a:srgbClr val="FF0000"/>
                </a:solidFill>
                <a:latin typeface="+mn-lt"/>
                <a:ea typeface="+mn-ea"/>
                <a:cs typeface="+mn-ea"/>
                <a:sym typeface="+mn-lt"/>
              </a:rPr>
              <a:t>involve very little risk for employers</a:t>
            </a:r>
            <a:r>
              <a:rPr lang="en-US" altLang="zh-CN" sz="2600" dirty="0">
                <a:latin typeface="+mn-lt"/>
                <a:ea typeface="+mn-ea"/>
                <a:cs typeface="+mn-ea"/>
                <a:sym typeface="+mn-lt"/>
              </a:rPr>
              <a:t>. If the performance of the plan’s investments is less than anticipated, the employee bears the cost. </a:t>
            </a:r>
            <a:r>
              <a:rPr lang="en-US" altLang="zh-CN" sz="2600" u="sng" dirty="0">
                <a:latin typeface="+mn-lt"/>
                <a:ea typeface="+mn-ea"/>
                <a:cs typeface="+mn-ea"/>
                <a:sym typeface="+mn-lt"/>
              </a:rPr>
              <a:t>By contrast, defined benefit plans impose </a:t>
            </a:r>
            <a:r>
              <a:rPr lang="en-US" altLang="zh-CN" sz="2600" u="sng" dirty="0">
                <a:solidFill>
                  <a:srgbClr val="FF0000"/>
                </a:solidFill>
                <a:latin typeface="+mn-lt"/>
                <a:ea typeface="+mn-ea"/>
                <a:cs typeface="+mn-ea"/>
                <a:sym typeface="+mn-lt"/>
              </a:rPr>
              <a:t>significant risks on employers </a:t>
            </a:r>
            <a:r>
              <a:rPr lang="en-US" altLang="zh-CN" sz="2600" dirty="0">
                <a:latin typeface="+mn-lt"/>
                <a:ea typeface="+mn-ea"/>
                <a:cs typeface="+mn-ea"/>
                <a:sym typeface="+mn-lt"/>
              </a:rPr>
              <a:t>because they are ultimately responsible for paying the promised benefits.</a:t>
            </a:r>
          </a:p>
          <a:p>
            <a:endParaRPr lang="zh-CN" altLang="en-US" b="1" dirty="0">
              <a:solidFill>
                <a:srgbClr val="7030A0"/>
              </a:solidFill>
              <a:latin typeface="+mn-lt"/>
              <a:ea typeface="+mn-ea"/>
              <a:cs typeface="+mn-ea"/>
              <a:sym typeface="+mn-lt"/>
            </a:endParaRPr>
          </a:p>
        </p:txBody>
      </p:sp>
      <p:sp>
        <p:nvSpPr>
          <p:cNvPr id="4" name="文本框 3"/>
          <p:cNvSpPr txBox="1"/>
          <p:nvPr/>
        </p:nvSpPr>
        <p:spPr>
          <a:xfrm>
            <a:off x="859314" y="902208"/>
            <a:ext cx="6004193" cy="398138"/>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40123474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Autofit/>
          </a:bodyPr>
          <a:lstStyle/>
          <a:p>
            <a:r>
              <a:rPr lang="en-US" altLang="zh-CN" b="0" dirty="0" smtClean="0">
                <a:latin typeface="+mn-lt"/>
                <a:ea typeface="+mn-ea"/>
                <a:cs typeface="+mn-ea"/>
                <a:sym typeface="+mn-lt"/>
              </a:rPr>
              <a:t>Describe </a:t>
            </a:r>
            <a:r>
              <a:rPr lang="en-US" altLang="zh-CN" b="0" dirty="0">
                <a:latin typeface="+mn-lt"/>
                <a:ea typeface="+mn-ea"/>
                <a:cs typeface="+mn-ea"/>
                <a:sym typeface="+mn-lt"/>
              </a:rPr>
              <a:t>the key features of </a:t>
            </a:r>
            <a:r>
              <a:rPr lang="en-US" altLang="zh-CN" b="0" dirty="0" smtClean="0">
                <a:latin typeface="+mn-lt"/>
                <a:ea typeface="+mn-ea"/>
                <a:cs typeface="+mn-ea"/>
                <a:sym typeface="+mn-lt"/>
              </a:rPr>
              <a:t>insurance </a:t>
            </a:r>
            <a:r>
              <a:rPr lang="en-US" altLang="zh-CN" b="0" dirty="0">
                <a:latin typeface="+mn-lt"/>
                <a:ea typeface="+mn-ea"/>
                <a:cs typeface="+mn-ea"/>
                <a:sym typeface="+mn-lt"/>
              </a:rPr>
              <a:t>companies and identify the </a:t>
            </a:r>
            <a:r>
              <a:rPr lang="en-US" altLang="zh-CN" b="0" dirty="0" smtClean="0">
                <a:latin typeface="+mn-lt"/>
                <a:ea typeface="+mn-ea"/>
                <a:cs typeface="+mn-ea"/>
                <a:sym typeface="+mn-lt"/>
              </a:rPr>
              <a:t>risks.</a:t>
            </a:r>
            <a:r>
              <a:rPr lang="zh-CN" altLang="en-US" b="0" dirty="0" smtClean="0">
                <a:latin typeface="+mn-lt"/>
                <a:ea typeface="+mn-ea"/>
                <a:cs typeface="+mn-ea"/>
                <a:sym typeface="+mn-lt"/>
              </a:rPr>
              <a:t>★</a:t>
            </a:r>
            <a:endParaRPr lang="en-US" altLang="zh-CN" b="0" dirty="0" smtClean="0">
              <a:latin typeface="+mn-lt"/>
              <a:ea typeface="+mn-ea"/>
              <a:cs typeface="+mn-ea"/>
              <a:sym typeface="+mn-lt"/>
            </a:endParaRPr>
          </a:p>
          <a:p>
            <a:r>
              <a:rPr lang="en-US" altLang="zh-CN" b="0" dirty="0" smtClean="0">
                <a:solidFill>
                  <a:srgbClr val="FF0000"/>
                </a:solidFill>
                <a:latin typeface="+mn-lt"/>
                <a:ea typeface="+mn-ea"/>
                <a:cs typeface="+mn-ea"/>
                <a:sym typeface="+mn-lt"/>
              </a:rPr>
              <a:t>Describe </a:t>
            </a:r>
            <a:r>
              <a:rPr lang="en-US" altLang="zh-CN" b="0" dirty="0">
                <a:solidFill>
                  <a:srgbClr val="FF0000"/>
                </a:solidFill>
                <a:latin typeface="+mn-lt"/>
                <a:ea typeface="+mn-ea"/>
                <a:cs typeface="+mn-ea"/>
                <a:sym typeface="+mn-lt"/>
              </a:rPr>
              <a:t>the use of mortality tables and calculate the premium payment and the expected payout </a:t>
            </a:r>
            <a:r>
              <a:rPr lang="en-US" altLang="zh-CN" b="0" dirty="0" smtClean="0">
                <a:solidFill>
                  <a:srgbClr val="FF0000"/>
                </a:solidFill>
                <a:latin typeface="+mn-lt"/>
                <a:ea typeface="+mn-ea"/>
                <a:cs typeface="+mn-ea"/>
                <a:sym typeface="+mn-lt"/>
              </a:rPr>
              <a:t>for a policy holder.</a:t>
            </a:r>
            <a:r>
              <a:rPr lang="zh-CN" altLang="en-US" b="0" dirty="0">
                <a:solidFill>
                  <a:srgbClr val="FF0000"/>
                </a:solidFill>
                <a:latin typeface="+mn-lt"/>
                <a:ea typeface="+mn-ea"/>
                <a:cs typeface="+mn-ea"/>
                <a:sym typeface="+mn-lt"/>
              </a:rPr>
              <a:t> </a:t>
            </a:r>
            <a:r>
              <a:rPr lang="zh-CN" altLang="en-US" b="0" dirty="0" smtClean="0">
                <a:solidFill>
                  <a:srgbClr val="FF0000"/>
                </a:solidFill>
                <a:latin typeface="+mn-lt"/>
                <a:ea typeface="+mn-ea"/>
                <a:cs typeface="+mn-ea"/>
                <a:sym typeface="+mn-lt"/>
              </a:rPr>
              <a:t>★★★</a:t>
            </a:r>
            <a:endParaRPr lang="en-US" altLang="zh-CN" b="0" dirty="0" smtClean="0">
              <a:solidFill>
                <a:srgbClr val="FF0000"/>
              </a:solidFill>
              <a:latin typeface="+mn-lt"/>
              <a:ea typeface="+mn-ea"/>
              <a:cs typeface="+mn-ea"/>
              <a:sym typeface="+mn-lt"/>
            </a:endParaRPr>
          </a:p>
          <a:p>
            <a:r>
              <a:rPr lang="en-US" altLang="zh-CN" b="0" dirty="0" smtClean="0">
                <a:latin typeface="+mn-lt"/>
                <a:ea typeface="+mn-ea"/>
                <a:cs typeface="+mn-ea"/>
                <a:sym typeface="+mn-lt"/>
              </a:rPr>
              <a:t>Calculate and interpret </a:t>
            </a:r>
            <a:r>
              <a:rPr lang="en-US" altLang="zh-CN" b="0" dirty="0">
                <a:latin typeface="+mn-lt"/>
                <a:ea typeface="+mn-ea"/>
                <a:cs typeface="+mn-ea"/>
                <a:sym typeface="+mn-lt"/>
              </a:rPr>
              <a:t>ratios</a:t>
            </a:r>
            <a:r>
              <a:rPr lang="en-US" altLang="zh-CN" b="0" dirty="0" smtClean="0">
                <a:latin typeface="+mn-lt"/>
                <a:ea typeface="+mn-ea"/>
                <a:cs typeface="+mn-ea"/>
                <a:sym typeface="+mn-lt"/>
              </a:rPr>
              <a:t>.★</a:t>
            </a:r>
          </a:p>
          <a:p>
            <a:r>
              <a:rPr lang="en-US" altLang="zh-CN" b="0" dirty="0" smtClean="0">
                <a:latin typeface="+mn-lt"/>
                <a:ea typeface="+mn-ea"/>
                <a:cs typeface="+mn-ea"/>
                <a:sym typeface="+mn-lt"/>
              </a:rPr>
              <a:t>Describe </a:t>
            </a:r>
            <a:r>
              <a:rPr lang="en-US" altLang="zh-CN" b="0" dirty="0">
                <a:latin typeface="+mn-lt"/>
                <a:ea typeface="+mn-ea"/>
                <a:cs typeface="+mn-ea"/>
                <a:sym typeface="+mn-lt"/>
              </a:rPr>
              <a:t>moral hazard and adverse selection </a:t>
            </a:r>
            <a:r>
              <a:rPr lang="en-US" altLang="zh-CN" b="0" dirty="0" smtClean="0">
                <a:latin typeface="+mn-lt"/>
                <a:ea typeface="+mn-ea"/>
                <a:cs typeface="+mn-ea"/>
                <a:sym typeface="+mn-lt"/>
              </a:rPr>
              <a:t>risks and how to </a:t>
            </a:r>
            <a:r>
              <a:rPr lang="en-US" altLang="zh-CN" b="0" dirty="0">
                <a:latin typeface="+mn-lt"/>
                <a:ea typeface="+mn-ea"/>
                <a:cs typeface="+mn-ea"/>
                <a:sym typeface="+mn-lt"/>
              </a:rPr>
              <a:t>overcome. </a:t>
            </a:r>
            <a:r>
              <a:rPr lang="en-US" altLang="zh-CN" b="0" dirty="0" smtClean="0">
                <a:latin typeface="+mn-lt"/>
                <a:ea typeface="+mn-ea"/>
                <a:cs typeface="+mn-ea"/>
                <a:sym typeface="+mn-lt"/>
              </a:rPr>
              <a:t>★★</a:t>
            </a:r>
          </a:p>
          <a:p>
            <a:r>
              <a:rPr lang="en-US" altLang="zh-CN" b="0" dirty="0" smtClean="0">
                <a:latin typeface="+mn-lt"/>
                <a:ea typeface="+mn-ea"/>
                <a:cs typeface="+mn-ea"/>
                <a:sym typeface="+mn-lt"/>
              </a:rPr>
              <a:t>Distinguish </a:t>
            </a:r>
            <a:r>
              <a:rPr lang="en-US" altLang="zh-CN" b="0" dirty="0">
                <a:latin typeface="+mn-lt"/>
                <a:ea typeface="+mn-ea"/>
                <a:cs typeface="+mn-ea"/>
                <a:sym typeface="+mn-lt"/>
              </a:rPr>
              <a:t>between mortality risk and longevity risk and </a:t>
            </a:r>
            <a:r>
              <a:rPr lang="en-US" altLang="zh-CN" b="0" dirty="0" smtClean="0">
                <a:latin typeface="+mn-lt"/>
                <a:ea typeface="+mn-ea"/>
                <a:cs typeface="+mn-ea"/>
                <a:sym typeface="+mn-lt"/>
              </a:rPr>
              <a:t>how </a:t>
            </a:r>
            <a:r>
              <a:rPr lang="en-US" altLang="zh-CN" b="0" dirty="0">
                <a:latin typeface="+mn-lt"/>
                <a:ea typeface="+mn-ea"/>
                <a:cs typeface="+mn-ea"/>
                <a:sym typeface="+mn-lt"/>
              </a:rPr>
              <a:t>to hedge. ★</a:t>
            </a:r>
            <a:endParaRPr lang="en-US" altLang="zh-CN" b="0" dirty="0" smtClean="0">
              <a:latin typeface="+mn-lt"/>
              <a:ea typeface="+mn-ea"/>
              <a:cs typeface="+mn-ea"/>
              <a:sym typeface="+mn-lt"/>
            </a:endParaRPr>
          </a:p>
          <a:p>
            <a:r>
              <a:rPr lang="en-US" altLang="zh-CN" b="0" dirty="0" smtClean="0">
                <a:latin typeface="+mn-lt"/>
                <a:ea typeface="+mn-ea"/>
                <a:cs typeface="+mn-ea"/>
                <a:sym typeface="+mn-lt"/>
              </a:rPr>
              <a:t>Evaluate </a:t>
            </a:r>
            <a:r>
              <a:rPr lang="en-US" altLang="zh-CN" b="0" dirty="0">
                <a:latin typeface="+mn-lt"/>
                <a:ea typeface="+mn-ea"/>
                <a:cs typeface="+mn-ea"/>
                <a:sym typeface="+mn-lt"/>
              </a:rPr>
              <a:t>the capital </a:t>
            </a:r>
            <a:r>
              <a:rPr lang="en-US" altLang="zh-CN" b="0" dirty="0" smtClean="0">
                <a:latin typeface="+mn-lt"/>
                <a:ea typeface="+mn-ea"/>
                <a:cs typeface="+mn-ea"/>
                <a:sym typeface="+mn-lt"/>
              </a:rPr>
              <a:t>requirements</a:t>
            </a:r>
            <a:r>
              <a:rPr lang="en-US" altLang="zh-CN" b="0" dirty="0">
                <a:latin typeface="+mn-lt"/>
                <a:ea typeface="+mn-ea"/>
                <a:cs typeface="+mn-ea"/>
                <a:sym typeface="+mn-lt"/>
              </a:rPr>
              <a:t>. </a:t>
            </a:r>
            <a:r>
              <a:rPr lang="en-US" altLang="zh-CN" b="0" dirty="0" smtClean="0">
                <a:latin typeface="+mn-lt"/>
                <a:ea typeface="+mn-ea"/>
                <a:cs typeface="+mn-ea"/>
                <a:sym typeface="+mn-lt"/>
              </a:rPr>
              <a:t>★</a:t>
            </a:r>
          </a:p>
          <a:p>
            <a:r>
              <a:rPr lang="en-US" altLang="zh-CN" b="0" dirty="0" smtClean="0">
                <a:latin typeface="+mn-lt"/>
                <a:ea typeface="+mn-ea"/>
                <a:cs typeface="+mn-ea"/>
                <a:sym typeface="+mn-lt"/>
              </a:rPr>
              <a:t>Compare </a:t>
            </a:r>
            <a:r>
              <a:rPr lang="en-US" altLang="zh-CN" b="0" dirty="0">
                <a:latin typeface="+mn-lt"/>
                <a:ea typeface="+mn-ea"/>
                <a:cs typeface="+mn-ea"/>
                <a:sym typeface="+mn-lt"/>
              </a:rPr>
              <a:t>the guaranty system and the regulatory </a:t>
            </a:r>
            <a:r>
              <a:rPr lang="en-US" altLang="zh-CN" b="0" dirty="0" smtClean="0">
                <a:latin typeface="+mn-lt"/>
                <a:ea typeface="+mn-ea"/>
                <a:cs typeface="+mn-ea"/>
                <a:sym typeface="+mn-lt"/>
              </a:rPr>
              <a:t>requirements.</a:t>
            </a:r>
          </a:p>
          <a:p>
            <a:r>
              <a:rPr lang="en-US" altLang="zh-CN" b="0" dirty="0" smtClean="0">
                <a:solidFill>
                  <a:srgbClr val="FF0000"/>
                </a:solidFill>
                <a:latin typeface="+mn-lt"/>
                <a:ea typeface="+mn-ea"/>
                <a:cs typeface="+mn-ea"/>
                <a:sym typeface="+mn-lt"/>
              </a:rPr>
              <a:t>Describe </a:t>
            </a:r>
            <a:r>
              <a:rPr lang="en-US" altLang="zh-CN" b="0" dirty="0">
                <a:solidFill>
                  <a:srgbClr val="FF0000"/>
                </a:solidFill>
                <a:latin typeface="+mn-lt"/>
                <a:ea typeface="+mn-ea"/>
                <a:cs typeface="+mn-ea"/>
                <a:sym typeface="+mn-lt"/>
              </a:rPr>
              <a:t>a defined benefit plan and a defined contribution </a:t>
            </a:r>
            <a:r>
              <a:rPr lang="en-US" altLang="zh-CN" b="0" dirty="0" smtClean="0">
                <a:solidFill>
                  <a:srgbClr val="FF0000"/>
                </a:solidFill>
                <a:latin typeface="+mn-lt"/>
                <a:ea typeface="+mn-ea"/>
                <a:cs typeface="+mn-ea"/>
                <a:sym typeface="+mn-lt"/>
              </a:rPr>
              <a:t>plan for a pension fund and explain the differences between </a:t>
            </a:r>
            <a:r>
              <a:rPr lang="en-US" altLang="zh-CN" b="0" dirty="0">
                <a:solidFill>
                  <a:srgbClr val="FF0000"/>
                </a:solidFill>
                <a:latin typeface="+mn-lt"/>
                <a:ea typeface="+mn-ea"/>
                <a:cs typeface="+mn-ea"/>
                <a:sym typeface="+mn-lt"/>
              </a:rPr>
              <a:t>them. ★★★</a:t>
            </a:r>
          </a:p>
          <a:p>
            <a:endParaRPr lang="en-US" altLang="zh-CN" b="0" dirty="0">
              <a:latin typeface="+mn-lt"/>
              <a:ea typeface="+mn-ea"/>
              <a:cs typeface="+mn-ea"/>
              <a:sym typeface="+mn-lt"/>
            </a:endParaRPr>
          </a:p>
          <a:p>
            <a:endParaRPr lang="zh-CN" altLang="en-US" b="0" dirty="0">
              <a:latin typeface="+mn-lt"/>
              <a:ea typeface="+mn-ea"/>
              <a:cs typeface="+mn-ea"/>
              <a:sym typeface="+mn-lt"/>
            </a:endParaRPr>
          </a:p>
        </p:txBody>
      </p:sp>
    </p:spTree>
    <p:extLst>
      <p:ext uri="{BB962C8B-B14F-4D97-AF65-F5344CB8AC3E}">
        <p14:creationId xmlns:p14="http://schemas.microsoft.com/office/powerpoint/2010/main" val="4908707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Institutions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Mutual funds and </a:t>
            </a:r>
            <a:r>
              <a:rPr lang="en-US" altLang="zh-CN" b="1" dirty="0" smtClean="0">
                <a:solidFill>
                  <a:srgbClr val="002060"/>
                </a:solidFill>
                <a:latin typeface="+mn-lt"/>
                <a:ea typeface="+mn-ea"/>
                <a:cs typeface="+mn-ea"/>
                <a:sym typeface="+mn-lt"/>
              </a:rPr>
              <a:t>Hedge </a:t>
            </a:r>
            <a:r>
              <a:rPr lang="en-US" altLang="zh-CN" b="1" dirty="0">
                <a:solidFill>
                  <a:srgbClr val="002060"/>
                </a:solidFill>
                <a:latin typeface="+mn-lt"/>
                <a:ea typeface="+mn-ea"/>
                <a:cs typeface="+mn-ea"/>
                <a:sym typeface="+mn-lt"/>
              </a:rPr>
              <a:t>funds</a:t>
            </a:r>
          </a:p>
        </p:txBody>
      </p:sp>
    </p:spTree>
    <p:extLst>
      <p:ext uri="{BB962C8B-B14F-4D97-AF65-F5344CB8AC3E}">
        <p14:creationId xmlns:p14="http://schemas.microsoft.com/office/powerpoint/2010/main" val="8108148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Mutual Funds and ETFs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lnSpcReduction="10000"/>
          </a:bodyPr>
          <a:lstStyle/>
          <a:p>
            <a:r>
              <a:rPr lang="en-US" altLang="zh-CN" b="1" dirty="0">
                <a:latin typeface="+mn-lt"/>
                <a:ea typeface="+mn-ea"/>
                <a:cs typeface="+mn-ea"/>
                <a:sym typeface="+mn-lt"/>
              </a:rPr>
              <a:t>Different Types of Mutual </a:t>
            </a:r>
            <a:r>
              <a:rPr lang="en-US" altLang="zh-CN" b="1" dirty="0" smtClean="0">
                <a:latin typeface="+mn-lt"/>
                <a:ea typeface="+mn-ea"/>
                <a:cs typeface="+mn-ea"/>
                <a:sym typeface="+mn-lt"/>
              </a:rPr>
              <a:t>Funds——diversification opportunities</a:t>
            </a:r>
            <a:endParaRPr lang="en-US" altLang="zh-CN" b="1" dirty="0">
              <a:latin typeface="+mn-lt"/>
              <a:ea typeface="+mn-ea"/>
              <a:cs typeface="+mn-ea"/>
              <a:sym typeface="+mn-lt"/>
            </a:endParaRPr>
          </a:p>
          <a:p>
            <a:pPr lvl="1">
              <a:buFont typeface="Wingdings" panose="05000000000000000000" pitchFamily="2" charset="2"/>
              <a:buChar char="l"/>
            </a:pPr>
            <a:r>
              <a:rPr lang="en-US" altLang="zh-CN" dirty="0">
                <a:latin typeface="+mn-lt"/>
                <a:ea typeface="+mn-ea"/>
                <a:cs typeface="+mn-ea"/>
                <a:sym typeface="+mn-lt"/>
              </a:rPr>
              <a:t>Open-End Funds</a:t>
            </a:r>
          </a:p>
          <a:p>
            <a:pPr lvl="1">
              <a:buFont typeface="Wingdings" panose="05000000000000000000" pitchFamily="2" charset="2"/>
              <a:buChar char="ü"/>
            </a:pPr>
            <a:r>
              <a:rPr lang="en-US" altLang="zh-CN" dirty="0" smtClean="0">
                <a:latin typeface="+mn-lt"/>
                <a:ea typeface="+mn-ea"/>
                <a:cs typeface="+mn-ea"/>
                <a:sym typeface="+mn-lt"/>
              </a:rPr>
              <a:t>Shares </a:t>
            </a:r>
            <a:r>
              <a:rPr lang="en-US" altLang="zh-CN" dirty="0">
                <a:latin typeface="+mn-lt"/>
                <a:ea typeface="+mn-ea"/>
                <a:cs typeface="+mn-ea"/>
                <a:sym typeface="+mn-lt"/>
              </a:rPr>
              <a:t>in the fund can be bought from the fund or </a:t>
            </a:r>
            <a:r>
              <a:rPr lang="en-US" altLang="zh-CN" u="sng" dirty="0">
                <a:latin typeface="+mn-lt"/>
                <a:ea typeface="+mn-ea"/>
                <a:cs typeface="+mn-ea"/>
                <a:sym typeface="+mn-lt"/>
              </a:rPr>
              <a:t>sold back </a:t>
            </a:r>
            <a:r>
              <a:rPr lang="en-US" altLang="zh-CN" dirty="0">
                <a:latin typeface="+mn-lt"/>
                <a:ea typeface="+mn-ea"/>
                <a:cs typeface="+mn-ea"/>
                <a:sym typeface="+mn-lt"/>
              </a:rPr>
              <a:t>to the fund at any time</a:t>
            </a:r>
            <a:r>
              <a:rPr lang="en-US" altLang="zh-CN" dirty="0" smtClean="0">
                <a:latin typeface="+mn-lt"/>
                <a:ea typeface="+mn-ea"/>
                <a:cs typeface="+mn-ea"/>
                <a:sym typeface="+mn-lt"/>
              </a:rPr>
              <a:t>.</a:t>
            </a:r>
          </a:p>
          <a:p>
            <a:pPr lvl="1">
              <a:buFont typeface="Wingdings" panose="05000000000000000000" pitchFamily="2" charset="2"/>
              <a:buChar char="ü"/>
            </a:pPr>
            <a:r>
              <a:rPr lang="en-US" altLang="zh-CN" dirty="0">
                <a:latin typeface="+mn-lt"/>
                <a:ea typeface="+mn-ea"/>
                <a:cs typeface="+mn-ea"/>
                <a:sym typeface="+mn-lt"/>
              </a:rPr>
              <a:t>They are valued once a day, </a:t>
            </a:r>
            <a:r>
              <a:rPr lang="en-US" altLang="zh-CN" u="sng" dirty="0">
                <a:latin typeface="+mn-lt"/>
                <a:ea typeface="+mn-ea"/>
                <a:cs typeface="+mn-ea"/>
                <a:sym typeface="+mn-lt"/>
              </a:rPr>
              <a:t>at 4 p.m</a:t>
            </a:r>
            <a:r>
              <a:rPr lang="en-US" altLang="zh-CN" dirty="0">
                <a:latin typeface="+mn-lt"/>
                <a:ea typeface="+mn-ea"/>
                <a:cs typeface="+mn-ea"/>
                <a:sym typeface="+mn-lt"/>
              </a:rPr>
              <a:t>. When an investor issues instructions to buy </a:t>
            </a:r>
            <a:r>
              <a:rPr lang="en-US" altLang="zh-CN" dirty="0" smtClean="0">
                <a:latin typeface="+mn-lt"/>
                <a:ea typeface="+mn-ea"/>
                <a:cs typeface="+mn-ea"/>
                <a:sym typeface="+mn-lt"/>
              </a:rPr>
              <a:t>or sell </a:t>
            </a:r>
            <a:r>
              <a:rPr lang="en-US" altLang="zh-CN" dirty="0">
                <a:latin typeface="+mn-lt"/>
                <a:ea typeface="+mn-ea"/>
                <a:cs typeface="+mn-ea"/>
                <a:sym typeface="+mn-lt"/>
              </a:rPr>
              <a:t>shares, the value calculated at the end of the day is applied for the </a:t>
            </a:r>
            <a:r>
              <a:rPr lang="en-US" altLang="zh-CN" dirty="0" smtClean="0">
                <a:latin typeface="+mn-lt"/>
                <a:ea typeface="+mn-ea"/>
                <a:cs typeface="+mn-ea"/>
                <a:sym typeface="+mn-lt"/>
              </a:rPr>
              <a:t>transaction made </a:t>
            </a:r>
            <a:r>
              <a:rPr lang="en-US" altLang="zh-CN" dirty="0">
                <a:latin typeface="+mn-lt"/>
                <a:ea typeface="+mn-ea"/>
                <a:cs typeface="+mn-ea"/>
                <a:sym typeface="+mn-lt"/>
              </a:rPr>
              <a:t>before that time during that day</a:t>
            </a:r>
            <a:r>
              <a:rPr lang="en-US" altLang="zh-CN" dirty="0" smtClean="0">
                <a:latin typeface="+mn-lt"/>
                <a:ea typeface="+mn-ea"/>
                <a:cs typeface="+mn-ea"/>
                <a:sym typeface="+mn-lt"/>
              </a:rPr>
              <a:t>.</a:t>
            </a:r>
          </a:p>
          <a:p>
            <a:pPr lvl="1">
              <a:buFont typeface="Wingdings" panose="05000000000000000000" pitchFamily="2" charset="2"/>
              <a:buChar char="ü"/>
            </a:pPr>
            <a:r>
              <a:rPr lang="en-US" altLang="zh-CN" u="sng" dirty="0">
                <a:effectLst>
                  <a:outerShdw blurRad="38100" dist="38100" dir="2700000" algn="tl">
                    <a:srgbClr val="000000">
                      <a:alpha val="43137"/>
                    </a:srgbClr>
                  </a:outerShdw>
                </a:effectLst>
                <a:latin typeface="+mn-lt"/>
                <a:ea typeface="+mn-ea"/>
                <a:cs typeface="+mn-ea"/>
                <a:sym typeface="+mn-lt"/>
              </a:rPr>
              <a:t>The value of each share is calculated in terms of net asset value(NAV) </a:t>
            </a:r>
            <a:r>
              <a:rPr lang="en-US" altLang="zh-CN" dirty="0">
                <a:latin typeface="+mn-lt"/>
                <a:ea typeface="+mn-ea"/>
                <a:cs typeface="+mn-ea"/>
                <a:sym typeface="+mn-lt"/>
              </a:rPr>
              <a:t>of the </a:t>
            </a:r>
            <a:r>
              <a:rPr lang="en-US" altLang="zh-CN" dirty="0" smtClean="0">
                <a:latin typeface="+mn-lt"/>
                <a:ea typeface="+mn-ea"/>
                <a:cs typeface="+mn-ea"/>
                <a:sym typeface="+mn-lt"/>
              </a:rPr>
              <a:t>fund </a:t>
            </a:r>
            <a:r>
              <a:rPr lang="en-US" altLang="zh-CN" dirty="0" smtClean="0">
                <a:solidFill>
                  <a:srgbClr val="FF0000"/>
                </a:solidFill>
                <a:latin typeface="+mn-lt"/>
                <a:ea typeface="+mn-ea"/>
                <a:cs typeface="+mn-ea"/>
                <a:sym typeface="+mn-lt"/>
              </a:rPr>
              <a:t>which </a:t>
            </a:r>
            <a:r>
              <a:rPr lang="en-US" altLang="zh-CN" dirty="0">
                <a:solidFill>
                  <a:srgbClr val="FF0000"/>
                </a:solidFill>
                <a:latin typeface="+mn-lt"/>
                <a:ea typeface="+mn-ea"/>
                <a:cs typeface="+mn-ea"/>
                <a:sym typeface="+mn-lt"/>
              </a:rPr>
              <a:t>is equal to total value of the portfolio divided by the number of </a:t>
            </a:r>
            <a:r>
              <a:rPr lang="en-US" altLang="zh-CN" dirty="0" smtClean="0">
                <a:solidFill>
                  <a:srgbClr val="FF0000"/>
                </a:solidFill>
                <a:latin typeface="+mn-lt"/>
                <a:ea typeface="+mn-ea"/>
                <a:cs typeface="+mn-ea"/>
                <a:sym typeface="+mn-lt"/>
              </a:rPr>
              <a:t>shares outstanding</a:t>
            </a:r>
            <a:r>
              <a:rPr lang="en-US" altLang="zh-CN" dirty="0">
                <a:solidFill>
                  <a:srgbClr val="FF0000"/>
                </a:solidFill>
                <a:latin typeface="+mn-lt"/>
                <a:ea typeface="+mn-ea"/>
                <a:cs typeface="+mn-ea"/>
                <a:sym typeface="+mn-lt"/>
              </a:rPr>
              <a:t>. </a:t>
            </a:r>
            <a:r>
              <a:rPr lang="en-US" altLang="zh-CN" dirty="0">
                <a:latin typeface="+mn-lt"/>
                <a:ea typeface="+mn-ea"/>
                <a:cs typeface="+mn-ea"/>
                <a:sym typeface="+mn-lt"/>
              </a:rPr>
              <a:t>The total value of the portfolio in turn is calculated as the sum of </a:t>
            </a:r>
            <a:r>
              <a:rPr lang="en-US" altLang="zh-CN" dirty="0" smtClean="0">
                <a:latin typeface="+mn-lt"/>
                <a:ea typeface="+mn-ea"/>
                <a:cs typeface="+mn-ea"/>
                <a:sym typeface="+mn-lt"/>
              </a:rPr>
              <a:t>market values </a:t>
            </a:r>
            <a:r>
              <a:rPr lang="en-US" altLang="zh-CN" dirty="0">
                <a:latin typeface="+mn-lt"/>
                <a:ea typeface="+mn-ea"/>
                <a:cs typeface="+mn-ea"/>
                <a:sym typeface="+mn-lt"/>
              </a:rPr>
              <a:t>of each asset in the portfolio.</a:t>
            </a:r>
            <a:endParaRPr lang="zh-CN" altLang="en-US" dirty="0">
              <a:latin typeface="+mn-lt"/>
              <a:ea typeface="+mn-ea"/>
              <a:cs typeface="+mn-ea"/>
              <a:sym typeface="+mn-lt"/>
            </a:endParaRPr>
          </a:p>
        </p:txBody>
      </p:sp>
    </p:spTree>
    <p:extLst>
      <p:ext uri="{BB962C8B-B14F-4D97-AF65-F5344CB8AC3E}">
        <p14:creationId xmlns:p14="http://schemas.microsoft.com/office/powerpoint/2010/main" val="4898035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NAV of an Open-end Mutual Fund</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smtClean="0">
                <a:latin typeface="+mn-lt"/>
                <a:ea typeface="+mn-ea"/>
                <a:cs typeface="+mn-ea"/>
                <a:sym typeface="+mn-lt"/>
              </a:rPr>
              <a:t>Net Asset Value (NAV)</a:t>
            </a:r>
          </a:p>
          <a:p>
            <a:pPr lvl="1"/>
            <a:r>
              <a:rPr lang="en-US" altLang="zh-CN" dirty="0">
                <a:latin typeface="+mn-lt"/>
                <a:ea typeface="+mn-ea"/>
                <a:cs typeface="+mn-ea"/>
                <a:sym typeface="+mn-lt"/>
              </a:rPr>
              <a:t>To obtain the value of each share for an open-end mutual fund, the mutual fund </a:t>
            </a:r>
            <a:r>
              <a:rPr lang="en-US" altLang="zh-CN" dirty="0" smtClean="0">
                <a:latin typeface="+mn-lt"/>
                <a:ea typeface="+mn-ea"/>
                <a:cs typeface="+mn-ea"/>
                <a:sym typeface="+mn-lt"/>
              </a:rPr>
              <a:t>manager first </a:t>
            </a:r>
            <a:r>
              <a:rPr lang="en-US" altLang="zh-CN" dirty="0">
                <a:latin typeface="+mn-lt"/>
                <a:ea typeface="+mn-ea"/>
                <a:cs typeface="+mn-ea"/>
                <a:sym typeface="+mn-lt"/>
              </a:rPr>
              <a:t>calculates the </a:t>
            </a:r>
            <a:r>
              <a:rPr lang="en-US" altLang="zh-CN" u="sng" dirty="0">
                <a:latin typeface="+mn-lt"/>
                <a:ea typeface="+mn-ea"/>
                <a:cs typeface="+mn-ea"/>
                <a:sym typeface="+mn-lt"/>
              </a:rPr>
              <a:t>market value of each asset </a:t>
            </a:r>
            <a:r>
              <a:rPr lang="en-US" altLang="zh-CN" dirty="0">
                <a:latin typeface="+mn-lt"/>
                <a:ea typeface="+mn-ea"/>
                <a:cs typeface="+mn-ea"/>
                <a:sym typeface="+mn-lt"/>
              </a:rPr>
              <a:t>in the portfolio so that the total value of </a:t>
            </a:r>
            <a:r>
              <a:rPr lang="en-US" altLang="zh-CN" dirty="0" smtClean="0">
                <a:latin typeface="+mn-lt"/>
                <a:ea typeface="+mn-ea"/>
                <a:cs typeface="+mn-ea"/>
                <a:sym typeface="+mn-lt"/>
              </a:rPr>
              <a:t>the fund </a:t>
            </a:r>
            <a:r>
              <a:rPr lang="en-US" altLang="zh-CN" dirty="0">
                <a:latin typeface="+mn-lt"/>
                <a:ea typeface="+mn-ea"/>
                <a:cs typeface="+mn-ea"/>
                <a:sym typeface="+mn-lt"/>
              </a:rPr>
              <a:t>is determined</a:t>
            </a:r>
            <a:r>
              <a:rPr lang="en-US" altLang="zh-CN" dirty="0" smtClean="0">
                <a:latin typeface="+mn-lt"/>
                <a:ea typeface="+mn-ea"/>
                <a:cs typeface="+mn-ea"/>
                <a:sym typeface="+mn-lt"/>
              </a:rPr>
              <a:t>.</a:t>
            </a:r>
          </a:p>
          <a:p>
            <a:pPr lvl="1"/>
            <a:r>
              <a:rPr lang="en-US" altLang="zh-CN" u="sng" dirty="0">
                <a:latin typeface="+mn-lt"/>
                <a:ea typeface="+mn-ea"/>
                <a:cs typeface="+mn-ea"/>
                <a:sym typeface="+mn-lt"/>
              </a:rPr>
              <a:t>This total value is then divided by the number of </a:t>
            </a:r>
            <a:r>
              <a:rPr lang="en-US" altLang="zh-CN" u="sng" dirty="0" smtClean="0">
                <a:latin typeface="+mn-lt"/>
                <a:ea typeface="+mn-ea"/>
                <a:cs typeface="+mn-ea"/>
                <a:sym typeface="+mn-lt"/>
              </a:rPr>
              <a:t>shares outstanding </a:t>
            </a:r>
            <a:r>
              <a:rPr lang="en-US" altLang="zh-CN" u="sng" dirty="0">
                <a:latin typeface="+mn-lt"/>
                <a:ea typeface="+mn-ea"/>
                <a:cs typeface="+mn-ea"/>
                <a:sym typeface="+mn-lt"/>
              </a:rPr>
              <a:t>to find out the value per share called the net asset value (NAV) of </a:t>
            </a:r>
            <a:r>
              <a:rPr lang="en-US" altLang="zh-CN" u="sng" dirty="0" smtClean="0">
                <a:latin typeface="+mn-lt"/>
                <a:ea typeface="+mn-ea"/>
                <a:cs typeface="+mn-ea"/>
                <a:sym typeface="+mn-lt"/>
              </a:rPr>
              <a:t>the fund.</a:t>
            </a:r>
          </a:p>
          <a:p>
            <a:pPr lvl="1">
              <a:buFont typeface="Wingdings" panose="05000000000000000000" pitchFamily="2" charset="2"/>
              <a:buChar char="l"/>
            </a:pPr>
            <a:r>
              <a:rPr lang="en-US" altLang="zh-CN" dirty="0">
                <a:latin typeface="+mn-lt"/>
                <a:ea typeface="+mn-ea"/>
                <a:cs typeface="+mn-ea"/>
                <a:sym typeface="+mn-lt"/>
              </a:rPr>
              <a:t>For </a:t>
            </a:r>
            <a:r>
              <a:rPr lang="en-US" altLang="zh-CN" dirty="0" smtClean="0">
                <a:latin typeface="+mn-lt"/>
                <a:ea typeface="+mn-ea"/>
                <a:cs typeface="+mn-ea"/>
                <a:sym typeface="+mn-lt"/>
              </a:rPr>
              <a:t>example</a:t>
            </a:r>
          </a:p>
          <a:p>
            <a:pPr lvl="1">
              <a:buFont typeface="Wingdings" panose="05000000000000000000" pitchFamily="2" charset="2"/>
              <a:buChar char="ü"/>
            </a:pPr>
            <a:r>
              <a:rPr lang="en-US" altLang="zh-CN" dirty="0">
                <a:latin typeface="+mn-lt"/>
                <a:ea typeface="+mn-ea"/>
                <a:cs typeface="+mn-ea"/>
                <a:sym typeface="+mn-lt"/>
              </a:rPr>
              <a:t>if the total value of the all the assets in the fund is calculated to be $</a:t>
            </a:r>
            <a:r>
              <a:rPr lang="en-US" altLang="zh-CN" dirty="0" smtClean="0">
                <a:latin typeface="+mn-lt"/>
                <a:ea typeface="+mn-ea"/>
                <a:cs typeface="+mn-ea"/>
                <a:sym typeface="+mn-lt"/>
              </a:rPr>
              <a:t>100 million </a:t>
            </a:r>
            <a:r>
              <a:rPr lang="en-US" altLang="zh-CN" dirty="0">
                <a:latin typeface="+mn-lt"/>
                <a:ea typeface="+mn-ea"/>
                <a:cs typeface="+mn-ea"/>
                <a:sym typeface="+mn-lt"/>
              </a:rPr>
              <a:t>and if the number of outstanding shares is 2 million, then the NAV is $50 per </a:t>
            </a:r>
            <a:r>
              <a:rPr lang="en-US" altLang="zh-CN" dirty="0" smtClean="0">
                <a:latin typeface="+mn-lt"/>
                <a:ea typeface="+mn-ea"/>
                <a:cs typeface="+mn-ea"/>
                <a:sym typeface="+mn-lt"/>
              </a:rPr>
              <a:t>share (=</a:t>
            </a:r>
            <a:r>
              <a:rPr lang="en-US" altLang="zh-CN" dirty="0">
                <a:latin typeface="+mn-lt"/>
                <a:ea typeface="+mn-ea"/>
                <a:cs typeface="+mn-ea"/>
                <a:sym typeface="+mn-lt"/>
              </a:rPr>
              <a:t>100/2).</a:t>
            </a:r>
            <a:endParaRPr lang="zh-CN" altLang="en-US" dirty="0">
              <a:latin typeface="+mn-lt"/>
              <a:ea typeface="+mn-ea"/>
              <a:cs typeface="+mn-ea"/>
              <a:sym typeface="+mn-lt"/>
            </a:endParaRPr>
          </a:p>
        </p:txBody>
      </p:sp>
      <p:sp>
        <p:nvSpPr>
          <p:cNvPr id="4" name="文本框 3"/>
          <p:cNvSpPr txBox="1"/>
          <p:nvPr/>
        </p:nvSpPr>
        <p:spPr>
          <a:xfrm>
            <a:off x="800046" y="940773"/>
            <a:ext cx="3582317" cy="460720"/>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15278381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a:bodyPr>
          <a:lstStyle/>
          <a:p>
            <a:r>
              <a:rPr lang="en-US" altLang="zh-CN" sz="2600" b="1" dirty="0">
                <a:latin typeface="+mn-lt"/>
                <a:ea typeface="+mn-ea"/>
                <a:cs typeface="+mn-ea"/>
                <a:sym typeface="+mn-lt"/>
              </a:rPr>
              <a:t>Different Types of Mutual Funds</a:t>
            </a:r>
          </a:p>
          <a:p>
            <a:pPr lvl="1">
              <a:buFont typeface="Wingdings" panose="05000000000000000000" pitchFamily="2" charset="2"/>
              <a:buChar char="l"/>
            </a:pPr>
            <a:r>
              <a:rPr lang="en-US" altLang="zh-CN" dirty="0">
                <a:latin typeface="+mn-lt"/>
                <a:ea typeface="+mn-ea"/>
                <a:cs typeface="+mn-ea"/>
                <a:sym typeface="+mn-lt"/>
              </a:rPr>
              <a:t>Closed-End Mutual </a:t>
            </a:r>
            <a:r>
              <a:rPr lang="en-US" altLang="zh-CN" dirty="0" smtClean="0">
                <a:latin typeface="+mn-lt"/>
                <a:ea typeface="+mn-ea"/>
                <a:cs typeface="+mn-ea"/>
                <a:sym typeface="+mn-lt"/>
              </a:rPr>
              <a:t>Funds</a:t>
            </a:r>
          </a:p>
          <a:p>
            <a:pPr lvl="1">
              <a:buFont typeface="Wingdings" panose="05000000000000000000" pitchFamily="2" charset="2"/>
              <a:buChar char="ü"/>
            </a:pPr>
            <a:r>
              <a:rPr lang="en-US" altLang="zh-CN" dirty="0">
                <a:latin typeface="+mn-lt"/>
                <a:ea typeface="+mn-ea"/>
                <a:cs typeface="+mn-ea"/>
                <a:sym typeface="+mn-lt"/>
              </a:rPr>
              <a:t>They have a fixed number of shares outstanding</a:t>
            </a:r>
            <a:r>
              <a:rPr lang="en-US" altLang="zh-CN" dirty="0" smtClean="0">
                <a:latin typeface="+mn-lt"/>
                <a:ea typeface="+mn-ea"/>
                <a:cs typeface="+mn-ea"/>
                <a:sym typeface="+mn-lt"/>
              </a:rPr>
              <a:t>.</a:t>
            </a:r>
          </a:p>
          <a:p>
            <a:pPr lvl="1">
              <a:buFont typeface="Wingdings" panose="05000000000000000000" pitchFamily="2" charset="2"/>
              <a:buChar char="ü"/>
            </a:pPr>
            <a:r>
              <a:rPr lang="en-US" altLang="zh-CN" dirty="0">
                <a:latin typeface="+mn-lt"/>
                <a:ea typeface="+mn-ea"/>
                <a:cs typeface="+mn-ea"/>
                <a:sym typeface="+mn-lt"/>
              </a:rPr>
              <a:t>Closed-end funds are like regular corporations and the shares of the fund are </a:t>
            </a:r>
            <a:r>
              <a:rPr lang="en-US" altLang="zh-CN" dirty="0" smtClean="0">
                <a:latin typeface="+mn-lt"/>
                <a:ea typeface="+mn-ea"/>
                <a:cs typeface="+mn-ea"/>
                <a:sym typeface="+mn-lt"/>
              </a:rPr>
              <a:t>traded on </a:t>
            </a:r>
            <a:r>
              <a:rPr lang="en-US" altLang="zh-CN" dirty="0">
                <a:latin typeface="+mn-lt"/>
                <a:ea typeface="+mn-ea"/>
                <a:cs typeface="+mn-ea"/>
                <a:sym typeface="+mn-lt"/>
              </a:rPr>
              <a:t>a </a:t>
            </a:r>
            <a:r>
              <a:rPr lang="en-US" altLang="zh-CN" u="sng" dirty="0">
                <a:latin typeface="+mn-lt"/>
                <a:ea typeface="+mn-ea"/>
                <a:cs typeface="+mn-ea"/>
                <a:sym typeface="+mn-lt"/>
              </a:rPr>
              <a:t>stock exchange</a:t>
            </a:r>
            <a:r>
              <a:rPr lang="en-US" altLang="zh-CN" dirty="0">
                <a:latin typeface="+mn-lt"/>
                <a:ea typeface="+mn-ea"/>
                <a:cs typeface="+mn-ea"/>
                <a:sym typeface="+mn-lt"/>
              </a:rPr>
              <a:t> which means they can be bought and sold during any time </a:t>
            </a:r>
            <a:r>
              <a:rPr lang="en-US" altLang="zh-CN" dirty="0" smtClean="0">
                <a:latin typeface="+mn-lt"/>
                <a:ea typeface="+mn-ea"/>
                <a:cs typeface="+mn-ea"/>
                <a:sym typeface="+mn-lt"/>
              </a:rPr>
              <a:t>of the </a:t>
            </a:r>
            <a:r>
              <a:rPr lang="en-US" altLang="zh-CN" dirty="0">
                <a:latin typeface="+mn-lt"/>
                <a:ea typeface="+mn-ea"/>
                <a:cs typeface="+mn-ea"/>
                <a:sym typeface="+mn-lt"/>
              </a:rPr>
              <a:t>day</a:t>
            </a:r>
            <a:r>
              <a:rPr lang="en-US" altLang="zh-CN" dirty="0" smtClean="0">
                <a:latin typeface="+mn-lt"/>
                <a:ea typeface="+mn-ea"/>
                <a:cs typeface="+mn-ea"/>
                <a:sym typeface="+mn-lt"/>
              </a:rPr>
              <a:t>.</a:t>
            </a:r>
          </a:p>
          <a:p>
            <a:pPr lvl="1">
              <a:buFont typeface="Wingdings" panose="05000000000000000000" pitchFamily="2" charset="2"/>
              <a:buChar char="ü"/>
            </a:pPr>
            <a:r>
              <a:rPr lang="en-US" altLang="zh-CN" dirty="0">
                <a:latin typeface="+mn-lt"/>
                <a:ea typeface="+mn-ea"/>
                <a:cs typeface="+mn-ea"/>
                <a:sym typeface="+mn-lt"/>
              </a:rPr>
              <a:t>For closed-end funds, two NAVs can be calculated.</a:t>
            </a:r>
          </a:p>
          <a:p>
            <a:pPr lvl="1">
              <a:buFont typeface="Wingdings" panose="05000000000000000000" pitchFamily="2" charset="2"/>
              <a:buChar char="ü"/>
            </a:pPr>
            <a:r>
              <a:rPr lang="en-US" altLang="zh-CN" dirty="0" smtClean="0">
                <a:latin typeface="+mn-lt"/>
                <a:ea typeface="+mn-ea"/>
                <a:cs typeface="+mn-ea"/>
                <a:sym typeface="+mn-lt"/>
              </a:rPr>
              <a:t>One </a:t>
            </a:r>
            <a:r>
              <a:rPr lang="en-US" altLang="zh-CN" dirty="0">
                <a:latin typeface="+mn-lt"/>
                <a:ea typeface="+mn-ea"/>
                <a:cs typeface="+mn-ea"/>
                <a:sym typeface="+mn-lt"/>
              </a:rPr>
              <a:t>is the price at which the shares of the fund are trading.</a:t>
            </a:r>
          </a:p>
          <a:p>
            <a:pPr lvl="1">
              <a:buFont typeface="Wingdings" panose="05000000000000000000" pitchFamily="2" charset="2"/>
              <a:buChar char="ü"/>
            </a:pPr>
            <a:r>
              <a:rPr lang="en-US" altLang="zh-CN" dirty="0" smtClean="0">
                <a:latin typeface="+mn-lt"/>
                <a:ea typeface="+mn-ea"/>
                <a:cs typeface="+mn-ea"/>
                <a:sym typeface="+mn-lt"/>
              </a:rPr>
              <a:t>The </a:t>
            </a:r>
            <a:r>
              <a:rPr lang="en-US" altLang="zh-CN" dirty="0">
                <a:latin typeface="+mn-lt"/>
                <a:ea typeface="+mn-ea"/>
                <a:cs typeface="+mn-ea"/>
                <a:sym typeface="+mn-lt"/>
              </a:rPr>
              <a:t>other referred to as the fair market value is the market value of the </a:t>
            </a:r>
            <a:r>
              <a:rPr lang="en-US" altLang="zh-CN" dirty="0" smtClean="0">
                <a:latin typeface="+mn-lt"/>
                <a:ea typeface="+mn-ea"/>
                <a:cs typeface="+mn-ea"/>
                <a:sym typeface="+mn-lt"/>
              </a:rPr>
              <a:t>fund’s portfolio </a:t>
            </a:r>
            <a:r>
              <a:rPr lang="en-US" altLang="zh-CN" u="sng" dirty="0">
                <a:latin typeface="+mn-lt"/>
                <a:ea typeface="+mn-ea"/>
                <a:cs typeface="+mn-ea"/>
                <a:sym typeface="+mn-lt"/>
              </a:rPr>
              <a:t>divided by the number of shares outstanding</a:t>
            </a:r>
            <a:r>
              <a:rPr lang="en-US" altLang="zh-CN" dirty="0">
                <a:latin typeface="+mn-lt"/>
                <a:ea typeface="+mn-ea"/>
                <a:cs typeface="+mn-ea"/>
                <a:sym typeface="+mn-lt"/>
              </a:rPr>
              <a:t>. Usually a </a:t>
            </a:r>
            <a:r>
              <a:rPr lang="en-US" altLang="zh-CN" dirty="0" smtClean="0">
                <a:latin typeface="+mn-lt"/>
                <a:ea typeface="+mn-ea"/>
                <a:cs typeface="+mn-ea"/>
                <a:sym typeface="+mn-lt"/>
              </a:rPr>
              <a:t>closed-end fund’s </a:t>
            </a:r>
            <a:r>
              <a:rPr lang="en-US" altLang="zh-CN" dirty="0">
                <a:latin typeface="+mn-lt"/>
                <a:ea typeface="+mn-ea"/>
                <a:cs typeface="+mn-ea"/>
                <a:sym typeface="+mn-lt"/>
              </a:rPr>
              <a:t>share price is less than its fair market value. Fees paid to </a:t>
            </a:r>
            <a:r>
              <a:rPr lang="en-US" altLang="zh-CN" dirty="0" smtClean="0">
                <a:latin typeface="+mn-lt"/>
                <a:ea typeface="+mn-ea"/>
                <a:cs typeface="+mn-ea"/>
                <a:sym typeface="+mn-lt"/>
              </a:rPr>
              <a:t>fund managers </a:t>
            </a:r>
            <a:r>
              <a:rPr lang="en-US" altLang="zh-CN" dirty="0">
                <a:latin typeface="+mn-lt"/>
                <a:ea typeface="+mn-ea"/>
                <a:cs typeface="+mn-ea"/>
                <a:sym typeface="+mn-lt"/>
              </a:rPr>
              <a:t>are considered to be a reason for this.</a:t>
            </a:r>
            <a:endParaRPr lang="zh-CN" altLang="en-US" dirty="0">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Mutual Funds and ETFs</a:t>
            </a:r>
            <a:endParaRPr lang="zh-CN" altLang="en-US" dirty="0">
              <a:latin typeface="+mn-lt"/>
              <a:ea typeface="+mn-ea"/>
              <a:cs typeface="+mn-ea"/>
              <a:sym typeface="+mn-lt"/>
            </a:endParaRPr>
          </a:p>
        </p:txBody>
      </p:sp>
    </p:spTree>
    <p:extLst>
      <p:ext uri="{BB962C8B-B14F-4D97-AF65-F5344CB8AC3E}">
        <p14:creationId xmlns:p14="http://schemas.microsoft.com/office/powerpoint/2010/main" val="10490551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lnSpcReduction="10000"/>
          </a:bodyPr>
          <a:lstStyle/>
          <a:p>
            <a:r>
              <a:rPr lang="en-US" altLang="zh-CN" sz="2600" b="1" dirty="0">
                <a:latin typeface="+mn-lt"/>
                <a:ea typeface="+mn-ea"/>
                <a:cs typeface="+mn-ea"/>
                <a:sym typeface="+mn-lt"/>
              </a:rPr>
              <a:t>Exchange-Traded </a:t>
            </a:r>
            <a:r>
              <a:rPr lang="en-US" altLang="zh-CN" sz="2600" b="1" dirty="0" smtClean="0">
                <a:latin typeface="+mn-lt"/>
                <a:ea typeface="+mn-ea"/>
                <a:cs typeface="+mn-ea"/>
                <a:sym typeface="+mn-lt"/>
              </a:rPr>
              <a:t>Funds</a:t>
            </a:r>
            <a:r>
              <a:rPr lang="zh-CN" altLang="en-US" sz="2600" b="1" dirty="0" smtClean="0">
                <a:latin typeface="+mn-lt"/>
                <a:ea typeface="+mn-ea"/>
                <a:cs typeface="+mn-ea"/>
                <a:sym typeface="+mn-lt"/>
              </a:rPr>
              <a:t>（</a:t>
            </a:r>
            <a:r>
              <a:rPr lang="en-US" altLang="zh-CN" sz="2600" b="1" dirty="0" smtClean="0">
                <a:latin typeface="+mn-lt"/>
                <a:ea typeface="+mn-ea"/>
                <a:cs typeface="+mn-ea"/>
                <a:sym typeface="+mn-lt"/>
              </a:rPr>
              <a:t>ETFs</a:t>
            </a:r>
            <a:r>
              <a:rPr lang="zh-CN" altLang="en-US" sz="2600" b="1" dirty="0" smtClean="0">
                <a:latin typeface="+mn-lt"/>
                <a:ea typeface="+mn-ea"/>
                <a:cs typeface="+mn-ea"/>
                <a:sym typeface="+mn-lt"/>
              </a:rPr>
              <a:t>）</a:t>
            </a:r>
            <a:endParaRPr lang="en-US" altLang="zh-CN" sz="2600" b="1" dirty="0" smtClean="0">
              <a:latin typeface="+mn-lt"/>
              <a:ea typeface="+mn-ea"/>
              <a:cs typeface="+mn-ea"/>
              <a:sym typeface="+mn-lt"/>
            </a:endParaRPr>
          </a:p>
          <a:p>
            <a:pPr lvl="1">
              <a:buFont typeface="Wingdings" panose="05000000000000000000" pitchFamily="2" charset="2"/>
              <a:buChar char="l"/>
            </a:pPr>
            <a:r>
              <a:rPr lang="en-US" altLang="zh-CN" dirty="0">
                <a:latin typeface="+mn-lt"/>
                <a:ea typeface="+mn-ea"/>
                <a:cs typeface="+mn-ea"/>
                <a:sym typeface="+mn-lt"/>
              </a:rPr>
              <a:t>They often </a:t>
            </a:r>
            <a:r>
              <a:rPr lang="en-US" altLang="zh-CN" i="1" u="sng" dirty="0">
                <a:solidFill>
                  <a:srgbClr val="FF0000"/>
                </a:solidFill>
                <a:latin typeface="+mn-lt"/>
                <a:ea typeface="+mn-ea"/>
                <a:cs typeface="+mn-ea"/>
                <a:sym typeface="+mn-lt"/>
              </a:rPr>
              <a:t>track an index </a:t>
            </a:r>
            <a:r>
              <a:rPr lang="en-US" altLang="zh-CN" dirty="0">
                <a:latin typeface="+mn-lt"/>
                <a:ea typeface="+mn-ea"/>
                <a:cs typeface="+mn-ea"/>
                <a:sym typeface="+mn-lt"/>
              </a:rPr>
              <a:t>and so are an alternative to an index mutual fund for investors who are comfortable earning a return that is designed to mirror the index.</a:t>
            </a:r>
          </a:p>
          <a:p>
            <a:pPr lvl="1">
              <a:buFont typeface="Wingdings" panose="05000000000000000000" pitchFamily="2" charset="2"/>
              <a:buChar char="l"/>
            </a:pPr>
            <a:r>
              <a:rPr lang="en-US" altLang="zh-CN" dirty="0">
                <a:latin typeface="+mn-lt"/>
                <a:ea typeface="+mn-ea"/>
                <a:cs typeface="+mn-ea"/>
                <a:sym typeface="+mn-lt"/>
              </a:rPr>
              <a:t>An institutional investor deposits a block of securities with the ETF and obtains shares in the ETF (known as creation units) in return. Some or all of the shares in the ETF are then </a:t>
            </a:r>
            <a:r>
              <a:rPr lang="en-US" altLang="zh-CN" u="sng" dirty="0">
                <a:latin typeface="+mn-lt"/>
                <a:ea typeface="+mn-ea"/>
                <a:cs typeface="+mn-ea"/>
                <a:sym typeface="+mn-lt"/>
              </a:rPr>
              <a:t>traded on a stock exchange</a:t>
            </a:r>
            <a:r>
              <a:rPr lang="en-US" altLang="zh-CN" dirty="0">
                <a:latin typeface="+mn-lt"/>
                <a:ea typeface="+mn-ea"/>
                <a:cs typeface="+mn-ea"/>
                <a:sym typeface="+mn-lt"/>
              </a:rPr>
              <a:t>. </a:t>
            </a:r>
            <a:r>
              <a:rPr lang="en-US" altLang="zh-CN" u="sng" dirty="0">
                <a:latin typeface="+mn-lt"/>
                <a:ea typeface="+mn-ea"/>
                <a:cs typeface="+mn-ea"/>
                <a:sym typeface="+mn-lt"/>
              </a:rPr>
              <a:t>This gives ETFs characteristics of a closed-end fund rather than an open-end fund.</a:t>
            </a:r>
          </a:p>
          <a:p>
            <a:pPr lvl="1">
              <a:buFont typeface="Wingdings" panose="05000000000000000000" pitchFamily="2" charset="2"/>
              <a:buChar char="l"/>
            </a:pPr>
            <a:r>
              <a:rPr lang="en-US" altLang="zh-CN" dirty="0">
                <a:latin typeface="+mn-lt"/>
                <a:ea typeface="+mn-ea"/>
                <a:cs typeface="+mn-ea"/>
                <a:sym typeface="+mn-lt"/>
              </a:rPr>
              <a:t>Institutional investors can give up shares they hold in the ETF and receive the assets or they can deposit new assets and receive new shares. This ensures that there’s </a:t>
            </a:r>
            <a:r>
              <a:rPr lang="en-US" altLang="zh-CN" u="sng" dirty="0">
                <a:latin typeface="+mn-lt"/>
                <a:ea typeface="+mn-ea"/>
                <a:cs typeface="+mn-ea"/>
                <a:sym typeface="+mn-lt"/>
              </a:rPr>
              <a:t>never any appreciable difference between the price at which shares in the ETF are trading and their fair market value</a:t>
            </a:r>
            <a:r>
              <a:rPr lang="en-US" altLang="zh-CN" dirty="0">
                <a:latin typeface="+mn-lt"/>
                <a:ea typeface="+mn-ea"/>
                <a:cs typeface="+mn-ea"/>
                <a:sym typeface="+mn-lt"/>
              </a:rPr>
              <a:t>. </a:t>
            </a:r>
            <a:r>
              <a:rPr lang="en-US" altLang="zh-CN" i="1" dirty="0">
                <a:latin typeface="+mn-lt"/>
                <a:ea typeface="+mn-ea"/>
                <a:cs typeface="+mn-ea"/>
                <a:sym typeface="+mn-lt"/>
              </a:rPr>
              <a:t>This is a </a:t>
            </a:r>
            <a:r>
              <a:rPr lang="en-US" altLang="zh-CN" i="1" u="sng" dirty="0">
                <a:latin typeface="+mn-lt"/>
                <a:ea typeface="+mn-ea"/>
                <a:cs typeface="+mn-ea"/>
                <a:sym typeface="+mn-lt"/>
              </a:rPr>
              <a:t>key difference </a:t>
            </a:r>
            <a:r>
              <a:rPr lang="en-US" altLang="zh-CN" i="1" dirty="0">
                <a:latin typeface="+mn-lt"/>
                <a:ea typeface="+mn-ea"/>
                <a:cs typeface="+mn-ea"/>
                <a:sym typeface="+mn-lt"/>
              </a:rPr>
              <a:t>between ETFs and closed-end funds and makes ETFs more attractive to investors than closed-end funds</a:t>
            </a:r>
            <a:r>
              <a:rPr lang="en-US" altLang="zh-CN" i="1" dirty="0" smtClean="0">
                <a:latin typeface="+mn-lt"/>
                <a:ea typeface="+mn-ea"/>
                <a:cs typeface="+mn-ea"/>
                <a:sym typeface="+mn-lt"/>
              </a:rPr>
              <a:t>.</a:t>
            </a:r>
          </a:p>
          <a:p>
            <a:endParaRPr lang="zh-CN" altLang="en-US" b="1" dirty="0">
              <a:solidFill>
                <a:srgbClr val="7030A0"/>
              </a:solidFill>
              <a:latin typeface="+mn-lt"/>
              <a:ea typeface="+mn-ea"/>
              <a:cs typeface="+mn-ea"/>
              <a:sym typeface="+mn-lt"/>
            </a:endParaRPr>
          </a:p>
        </p:txBody>
      </p:sp>
      <p:sp>
        <p:nvSpPr>
          <p:cNvPr id="4" name="标题 1"/>
          <p:cNvSpPr>
            <a:spLocks noGrp="1"/>
          </p:cNvSpPr>
          <p:nvPr>
            <p:ph type="title"/>
          </p:nvPr>
        </p:nvSpPr>
        <p:spPr/>
        <p:txBody>
          <a:bodyPr/>
          <a:lstStyle/>
          <a:p>
            <a:r>
              <a:rPr lang="en-US" altLang="zh-CN" dirty="0" smtClean="0">
                <a:latin typeface="+mn-lt"/>
                <a:ea typeface="+mn-ea"/>
                <a:cs typeface="+mn-ea"/>
                <a:sym typeface="+mn-lt"/>
              </a:rPr>
              <a:t>Mutual Funds and ETFs</a:t>
            </a:r>
            <a:endParaRPr lang="zh-CN" altLang="en-US" dirty="0">
              <a:latin typeface="+mn-lt"/>
              <a:ea typeface="+mn-ea"/>
              <a:cs typeface="+mn-ea"/>
              <a:sym typeface="+mn-lt"/>
            </a:endParaRPr>
          </a:p>
        </p:txBody>
      </p:sp>
      <p:sp>
        <p:nvSpPr>
          <p:cNvPr id="5" name="文本框 3"/>
          <p:cNvSpPr txBox="1"/>
          <p:nvPr/>
        </p:nvSpPr>
        <p:spPr>
          <a:xfrm>
            <a:off x="853953" y="912050"/>
            <a:ext cx="4709565" cy="422160"/>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26164859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10120830" cy="576064"/>
          </a:xfrm>
        </p:spPr>
        <p:txBody>
          <a:bodyPr>
            <a:noAutofit/>
          </a:bodyPr>
          <a:lstStyle/>
          <a:p>
            <a:r>
              <a:rPr lang="en-US" altLang="zh-CN" sz="2670" dirty="0" smtClean="0">
                <a:latin typeface="+mn-lt"/>
                <a:ea typeface="+mn-ea"/>
                <a:cs typeface="+mn-ea"/>
                <a:sym typeface="+mn-lt"/>
              </a:rPr>
              <a:t>Key Differences </a:t>
            </a:r>
            <a:r>
              <a:rPr lang="en-US" altLang="zh-CN" sz="2670" dirty="0">
                <a:latin typeface="+mn-lt"/>
                <a:ea typeface="+mn-ea"/>
                <a:cs typeface="+mn-ea"/>
                <a:sym typeface="+mn-lt"/>
              </a:rPr>
              <a:t>between </a:t>
            </a:r>
            <a:r>
              <a:rPr lang="en-US" altLang="zh-CN" sz="2670" dirty="0" smtClean="0">
                <a:latin typeface="+mn-lt"/>
                <a:ea typeface="+mn-ea"/>
                <a:cs typeface="+mn-ea"/>
                <a:sym typeface="+mn-lt"/>
              </a:rPr>
              <a:t>HFs and MFs</a:t>
            </a:r>
            <a:endParaRPr lang="zh-CN" altLang="en-US" sz="2670"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sz="2600" b="1" dirty="0">
                <a:latin typeface="+mn-lt"/>
                <a:ea typeface="+mn-ea"/>
                <a:cs typeface="+mn-ea"/>
                <a:sym typeface="+mn-lt"/>
              </a:rPr>
              <a:t>Mutual </a:t>
            </a:r>
            <a:r>
              <a:rPr lang="en-US" altLang="zh-CN" sz="2600" b="1" dirty="0" smtClean="0">
                <a:latin typeface="+mn-lt"/>
                <a:ea typeface="+mn-ea"/>
                <a:cs typeface="+mn-ea"/>
                <a:sym typeface="+mn-lt"/>
              </a:rPr>
              <a:t>funds vs </a:t>
            </a:r>
            <a:r>
              <a:rPr lang="en-US" altLang="zh-CN" sz="2600" b="1" dirty="0">
                <a:latin typeface="+mn-lt"/>
                <a:ea typeface="+mn-ea"/>
                <a:cs typeface="+mn-ea"/>
                <a:sym typeface="+mn-lt"/>
              </a:rPr>
              <a:t>Hedge </a:t>
            </a:r>
            <a:r>
              <a:rPr lang="en-US" altLang="zh-CN" sz="2600" b="1" dirty="0" smtClean="0">
                <a:latin typeface="+mn-lt"/>
                <a:ea typeface="+mn-ea"/>
                <a:cs typeface="+mn-ea"/>
                <a:sym typeface="+mn-lt"/>
              </a:rPr>
              <a:t>Funds</a:t>
            </a:r>
          </a:p>
          <a:p>
            <a:pPr lvl="1"/>
            <a:r>
              <a:rPr lang="en-US" altLang="zh-CN" b="1" dirty="0" smtClean="0">
                <a:latin typeface="+mn-lt"/>
                <a:ea typeface="+mn-ea"/>
                <a:cs typeface="+mn-ea"/>
                <a:sym typeface="+mn-lt"/>
              </a:rPr>
              <a:t>Mutual </a:t>
            </a:r>
            <a:r>
              <a:rPr lang="en-US" altLang="zh-CN" b="1" dirty="0">
                <a:latin typeface="+mn-lt"/>
                <a:ea typeface="+mn-ea"/>
                <a:cs typeface="+mn-ea"/>
                <a:sym typeface="+mn-lt"/>
              </a:rPr>
              <a:t>Funds </a:t>
            </a:r>
            <a:r>
              <a:rPr lang="en-US" altLang="zh-CN" dirty="0" smtClean="0">
                <a:latin typeface="+mn-lt"/>
                <a:ea typeface="+mn-ea"/>
                <a:cs typeface="+mn-ea"/>
                <a:sym typeface="+mn-lt"/>
              </a:rPr>
              <a:t>which </a:t>
            </a:r>
            <a:r>
              <a:rPr lang="en-US" altLang="zh-CN" dirty="0">
                <a:latin typeface="+mn-lt"/>
                <a:ea typeface="+mn-ea"/>
                <a:cs typeface="+mn-ea"/>
                <a:sym typeface="+mn-lt"/>
              </a:rPr>
              <a:t>are called “unit </a:t>
            </a:r>
            <a:r>
              <a:rPr lang="en-US" altLang="zh-CN" dirty="0" smtClean="0">
                <a:latin typeface="+mn-lt"/>
                <a:ea typeface="+mn-ea"/>
                <a:cs typeface="+mn-ea"/>
                <a:sym typeface="+mn-lt"/>
              </a:rPr>
              <a:t>trusts” </a:t>
            </a:r>
            <a:r>
              <a:rPr lang="zh-CN" altLang="en-US" dirty="0" smtClean="0">
                <a:latin typeface="+mn-lt"/>
                <a:ea typeface="+mn-ea"/>
                <a:cs typeface="+mn-ea"/>
                <a:sym typeface="+mn-lt"/>
              </a:rPr>
              <a:t>（单位信托基金）</a:t>
            </a:r>
            <a:r>
              <a:rPr lang="en-US" altLang="zh-CN" dirty="0" smtClean="0">
                <a:latin typeface="+mn-lt"/>
                <a:ea typeface="+mn-ea"/>
                <a:cs typeface="+mn-ea"/>
                <a:sym typeface="+mn-lt"/>
              </a:rPr>
              <a:t>in </a:t>
            </a:r>
            <a:r>
              <a:rPr lang="en-US" altLang="zh-CN" dirty="0">
                <a:latin typeface="+mn-lt"/>
                <a:ea typeface="+mn-ea"/>
                <a:cs typeface="+mn-ea"/>
                <a:sym typeface="+mn-lt"/>
              </a:rPr>
              <a:t>some countries, serve the needs of relatively small investors, while hedge funds seek to attract funds from wealthy individuals and large investors such as pension funds.</a:t>
            </a:r>
          </a:p>
          <a:p>
            <a:pPr lvl="1"/>
            <a:r>
              <a:rPr lang="en-US" altLang="zh-CN" b="1" dirty="0">
                <a:latin typeface="+mn-lt"/>
                <a:ea typeface="+mn-ea"/>
                <a:cs typeface="+mn-ea"/>
                <a:sym typeface="+mn-lt"/>
              </a:rPr>
              <a:t>Hedge funds </a:t>
            </a:r>
            <a:r>
              <a:rPr lang="en-US" altLang="zh-CN" dirty="0">
                <a:latin typeface="+mn-lt"/>
                <a:ea typeface="+mn-ea"/>
                <a:cs typeface="+mn-ea"/>
                <a:sym typeface="+mn-lt"/>
              </a:rPr>
              <a:t>are subject to </a:t>
            </a:r>
            <a:r>
              <a:rPr lang="en-US" altLang="zh-CN" u="sng" dirty="0">
                <a:latin typeface="+mn-lt"/>
                <a:ea typeface="+mn-ea"/>
                <a:cs typeface="+mn-ea"/>
                <a:sym typeface="+mn-lt"/>
              </a:rPr>
              <a:t>much less regulation </a:t>
            </a:r>
            <a:r>
              <a:rPr lang="en-US" altLang="zh-CN" dirty="0">
                <a:latin typeface="+mn-lt"/>
                <a:ea typeface="+mn-ea"/>
                <a:cs typeface="+mn-ea"/>
                <a:sym typeface="+mn-lt"/>
              </a:rPr>
              <a:t>than mutual funds because they accept funds only from financially sophisticated individuals and organizations. This gives them a great deal of freedom to develop sophisticated, unconventional, and proprietary investment strategies. Hedge funds are sometimes referred to as alternative investments.</a:t>
            </a:r>
          </a:p>
          <a:p>
            <a:pPr lvl="1"/>
            <a:r>
              <a:rPr lang="en-US" altLang="zh-CN" b="1" dirty="0">
                <a:latin typeface="+mn-lt"/>
                <a:ea typeface="+mn-ea"/>
                <a:cs typeface="+mn-ea"/>
                <a:sym typeface="+mn-lt"/>
              </a:rPr>
              <a:t>Hedge funds </a:t>
            </a:r>
            <a:r>
              <a:rPr lang="en-US" altLang="zh-CN" dirty="0">
                <a:latin typeface="+mn-lt"/>
                <a:ea typeface="+mn-ea"/>
                <a:cs typeface="+mn-ea"/>
                <a:sym typeface="+mn-lt"/>
              </a:rPr>
              <a:t>are free to use a wider range of trading strategies than mutual funds and are usually more secretive about what they do. </a:t>
            </a:r>
            <a:endParaRPr lang="en-US" altLang="zh-CN" dirty="0" smtClean="0">
              <a:latin typeface="+mn-lt"/>
              <a:ea typeface="+mn-ea"/>
              <a:cs typeface="+mn-ea"/>
              <a:sym typeface="+mn-lt"/>
            </a:endParaRPr>
          </a:p>
          <a:p>
            <a:pPr lvl="1"/>
            <a:r>
              <a:rPr lang="en-US" altLang="zh-CN" b="1" dirty="0" smtClean="0">
                <a:latin typeface="+mn-lt"/>
                <a:ea typeface="+mn-ea"/>
                <a:cs typeface="+mn-ea"/>
                <a:sym typeface="+mn-lt"/>
              </a:rPr>
              <a:t>Mutual </a:t>
            </a:r>
            <a:r>
              <a:rPr lang="en-US" altLang="zh-CN" b="1" dirty="0">
                <a:latin typeface="+mn-lt"/>
                <a:ea typeface="+mn-ea"/>
                <a:cs typeface="+mn-ea"/>
                <a:sym typeface="+mn-lt"/>
              </a:rPr>
              <a:t>funds </a:t>
            </a:r>
            <a:r>
              <a:rPr lang="en-US" altLang="zh-CN" dirty="0">
                <a:latin typeface="+mn-lt"/>
                <a:ea typeface="+mn-ea"/>
                <a:cs typeface="+mn-ea"/>
                <a:sym typeface="+mn-lt"/>
              </a:rPr>
              <a:t>are required to explain their investment policies in a prospectus that is available to potential investors.</a:t>
            </a:r>
          </a:p>
          <a:p>
            <a:endParaRPr lang="zh-CN" altLang="en-US" b="1" dirty="0">
              <a:solidFill>
                <a:srgbClr val="7030A0"/>
              </a:solidFill>
              <a:latin typeface="+mn-lt"/>
              <a:ea typeface="+mn-ea"/>
              <a:cs typeface="+mn-ea"/>
              <a:sym typeface="+mn-lt"/>
            </a:endParaRPr>
          </a:p>
        </p:txBody>
      </p:sp>
    </p:spTree>
    <p:extLst>
      <p:ext uri="{BB962C8B-B14F-4D97-AF65-F5344CB8AC3E}">
        <p14:creationId xmlns:p14="http://schemas.microsoft.com/office/powerpoint/2010/main" val="1854765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Return on HF and the Incentive Fee of HF</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b="1" dirty="0">
                <a:latin typeface="+mn-lt"/>
                <a:ea typeface="+mn-ea"/>
                <a:cs typeface="+mn-ea"/>
                <a:sym typeface="+mn-lt"/>
              </a:rPr>
              <a:t>Return on a hedge fund </a:t>
            </a:r>
            <a:r>
              <a:rPr lang="en-US" altLang="zh-CN" b="1" dirty="0" smtClean="0">
                <a:latin typeface="+mn-lt"/>
                <a:ea typeface="+mn-ea"/>
                <a:cs typeface="+mn-ea"/>
                <a:sym typeface="+mn-lt"/>
              </a:rPr>
              <a:t>investment   </a:t>
            </a:r>
            <a:r>
              <a:rPr lang="zh-CN" altLang="en-US" b="1" dirty="0" smtClean="0">
                <a:latin typeface="+mn-lt"/>
                <a:ea typeface="+mn-ea"/>
                <a:cs typeface="+mn-ea"/>
                <a:sym typeface="+mn-lt"/>
              </a:rPr>
              <a:t>（</a:t>
            </a:r>
            <a:r>
              <a:rPr lang="en-US" altLang="zh-CN" b="1" dirty="0" smtClean="0">
                <a:latin typeface="+mn-lt"/>
                <a:ea typeface="+mn-ea"/>
                <a:cs typeface="+mn-ea"/>
                <a:sym typeface="+mn-lt"/>
              </a:rPr>
              <a:t>CFA</a:t>
            </a:r>
            <a:r>
              <a:rPr lang="zh-CN" altLang="en-US" b="1" dirty="0" smtClean="0">
                <a:latin typeface="+mn-lt"/>
                <a:ea typeface="+mn-ea"/>
                <a:cs typeface="+mn-ea"/>
                <a:sym typeface="+mn-lt"/>
              </a:rPr>
              <a:t>）</a:t>
            </a:r>
            <a:endParaRPr lang="en-US" altLang="zh-CN" b="1" dirty="0" smtClean="0">
              <a:latin typeface="+mn-lt"/>
              <a:ea typeface="+mn-ea"/>
              <a:cs typeface="+mn-ea"/>
              <a:sym typeface="+mn-lt"/>
            </a:endParaRPr>
          </a:p>
          <a:p>
            <a:pPr lvl="1"/>
            <a:r>
              <a:rPr lang="en-US" altLang="zh-CN" dirty="0">
                <a:latin typeface="+mn-lt"/>
                <a:ea typeface="+mn-ea"/>
                <a:cs typeface="+mn-ea"/>
                <a:sym typeface="+mn-lt"/>
              </a:rPr>
              <a:t>For an investor of hedge funds, the fees paid can be high. For example, consider </a:t>
            </a:r>
            <a:r>
              <a:rPr lang="en-US" altLang="zh-CN" dirty="0" smtClean="0">
                <a:latin typeface="+mn-lt"/>
                <a:ea typeface="+mn-ea"/>
                <a:cs typeface="+mn-ea"/>
                <a:sym typeface="+mn-lt"/>
              </a:rPr>
              <a:t>an investment </a:t>
            </a:r>
            <a:r>
              <a:rPr lang="en-US" altLang="zh-CN" dirty="0">
                <a:latin typeface="+mn-lt"/>
                <a:ea typeface="+mn-ea"/>
                <a:cs typeface="+mn-ea"/>
                <a:sym typeface="+mn-lt"/>
              </a:rPr>
              <a:t>that is divided equally between two funds, A and B and both funds charge </a:t>
            </a:r>
            <a:r>
              <a:rPr lang="en-US" altLang="zh-CN" b="1" dirty="0">
                <a:solidFill>
                  <a:srgbClr val="FF0000"/>
                </a:solidFill>
                <a:latin typeface="+mn-lt"/>
                <a:ea typeface="+mn-ea"/>
                <a:cs typeface="+mn-ea"/>
                <a:sym typeface="+mn-lt"/>
              </a:rPr>
              <a:t>“2 </a:t>
            </a:r>
            <a:r>
              <a:rPr lang="en-US" altLang="zh-CN" b="1" dirty="0" smtClean="0">
                <a:solidFill>
                  <a:srgbClr val="FF0000"/>
                </a:solidFill>
                <a:latin typeface="+mn-lt"/>
                <a:ea typeface="+mn-ea"/>
                <a:cs typeface="+mn-ea"/>
                <a:sym typeface="+mn-lt"/>
              </a:rPr>
              <a:t>plus 20</a:t>
            </a:r>
            <a:r>
              <a:rPr lang="en-US" altLang="zh-CN" b="1" dirty="0">
                <a:solidFill>
                  <a:srgbClr val="FF0000"/>
                </a:solidFill>
                <a:latin typeface="+mn-lt"/>
                <a:ea typeface="+mn-ea"/>
                <a:cs typeface="+mn-ea"/>
                <a:sym typeface="+mn-lt"/>
              </a:rPr>
              <a:t>;” </a:t>
            </a:r>
            <a:r>
              <a:rPr lang="en-US" altLang="zh-CN" dirty="0">
                <a:latin typeface="+mn-lt"/>
                <a:ea typeface="+mn-ea"/>
                <a:cs typeface="+mn-ea"/>
                <a:sym typeface="+mn-lt"/>
              </a:rPr>
              <a:t>i.e., the traditional arrangement of 2.0% of assets under management (AUM) </a:t>
            </a:r>
            <a:r>
              <a:rPr lang="en-US" altLang="zh-CN" dirty="0" smtClean="0">
                <a:latin typeface="+mn-lt"/>
                <a:ea typeface="+mn-ea"/>
                <a:cs typeface="+mn-ea"/>
                <a:sym typeface="+mn-lt"/>
              </a:rPr>
              <a:t>plus 20.0</a:t>
            </a:r>
            <a:r>
              <a:rPr lang="en-US" altLang="zh-CN" dirty="0">
                <a:latin typeface="+mn-lt"/>
                <a:ea typeface="+mn-ea"/>
                <a:cs typeface="+mn-ea"/>
                <a:sym typeface="+mn-lt"/>
              </a:rPr>
              <a:t>% of realized profits. Recently, fee pressure has forced many firms to offer 1.5% </a:t>
            </a:r>
            <a:r>
              <a:rPr lang="en-US" altLang="zh-CN" dirty="0" smtClean="0">
                <a:latin typeface="+mn-lt"/>
                <a:ea typeface="+mn-ea"/>
                <a:cs typeface="+mn-ea"/>
                <a:sym typeface="+mn-lt"/>
              </a:rPr>
              <a:t>and 15.0</a:t>
            </a:r>
            <a:r>
              <a:rPr lang="en-US" altLang="zh-CN" dirty="0">
                <a:latin typeface="+mn-lt"/>
                <a:ea typeface="+mn-ea"/>
                <a:cs typeface="+mn-ea"/>
                <a:sym typeface="+mn-lt"/>
              </a:rPr>
              <a:t>%; startup funds may offer even better terms.</a:t>
            </a:r>
            <a:endParaRPr lang="zh-CN" altLang="en-US" dirty="0">
              <a:latin typeface="+mn-lt"/>
              <a:ea typeface="+mn-ea"/>
              <a:cs typeface="+mn-ea"/>
              <a:sym typeface="+mn-lt"/>
            </a:endParaRPr>
          </a:p>
        </p:txBody>
      </p:sp>
      <p:sp>
        <p:nvSpPr>
          <p:cNvPr id="4" name="文本框 3"/>
          <p:cNvSpPr txBox="1"/>
          <p:nvPr/>
        </p:nvSpPr>
        <p:spPr>
          <a:xfrm>
            <a:off x="862181" y="947089"/>
            <a:ext cx="5378068" cy="398138"/>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7483051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599" y="816001"/>
            <a:ext cx="10972800" cy="4593282"/>
          </a:xfrm>
        </p:spPr>
        <p:txBody>
          <a:bodyPr/>
          <a:lstStyle/>
          <a:p>
            <a:r>
              <a:rPr lang="en-US" altLang="zh-CN" dirty="0">
                <a:solidFill>
                  <a:schemeClr val="accent6">
                    <a:lumMod val="50000"/>
                  </a:schemeClr>
                </a:solidFill>
                <a:latin typeface="+mn-lt"/>
                <a:ea typeface="+mn-ea"/>
                <a:cs typeface="+mn-ea"/>
                <a:sym typeface="+mn-lt"/>
              </a:rPr>
              <a:t>Assume in the first year, Fund A earns 20% and Fund B earns –10% such that the </a:t>
            </a:r>
            <a:r>
              <a:rPr lang="en-US" altLang="zh-CN" dirty="0" smtClean="0">
                <a:solidFill>
                  <a:schemeClr val="accent6">
                    <a:lumMod val="50000"/>
                  </a:schemeClr>
                </a:solidFill>
                <a:latin typeface="+mn-lt"/>
                <a:ea typeface="+mn-ea"/>
                <a:cs typeface="+mn-ea"/>
                <a:sym typeface="+mn-lt"/>
              </a:rPr>
              <a:t>investor’s average </a:t>
            </a:r>
            <a:r>
              <a:rPr lang="en-US" altLang="zh-CN" dirty="0">
                <a:solidFill>
                  <a:schemeClr val="accent6">
                    <a:lumMod val="50000"/>
                  </a:schemeClr>
                </a:solidFill>
                <a:latin typeface="+mn-lt"/>
                <a:ea typeface="+mn-ea"/>
                <a:cs typeface="+mn-ea"/>
                <a:sym typeface="+mn-lt"/>
              </a:rPr>
              <a:t>return on investment before fees is calculated as </a:t>
            </a:r>
            <a:r>
              <a:rPr lang="en-US" altLang="zh-CN" dirty="0" smtClean="0">
                <a:solidFill>
                  <a:schemeClr val="accent6">
                    <a:lumMod val="50000"/>
                  </a:schemeClr>
                </a:solidFill>
                <a:latin typeface="+mn-lt"/>
                <a:ea typeface="+mn-ea"/>
                <a:cs typeface="+mn-ea"/>
                <a:sym typeface="+mn-lt"/>
              </a:rPr>
              <a:t>follows:</a:t>
            </a:r>
          </a:p>
          <a:p>
            <a:pPr lvl="1"/>
            <a:r>
              <a:rPr lang="en-US" altLang="zh-CN" dirty="0" smtClean="0">
                <a:solidFill>
                  <a:schemeClr val="tx1"/>
                </a:solidFill>
                <a:latin typeface="+mn-lt"/>
                <a:ea typeface="+mn-ea"/>
                <a:cs typeface="+mn-ea"/>
                <a:sym typeface="+mn-lt"/>
              </a:rPr>
              <a:t>Investor </a:t>
            </a:r>
            <a:r>
              <a:rPr lang="en-US" altLang="zh-CN" dirty="0">
                <a:solidFill>
                  <a:schemeClr val="tx1"/>
                </a:solidFill>
                <a:latin typeface="+mn-lt"/>
                <a:ea typeface="+mn-ea"/>
                <a:cs typeface="+mn-ea"/>
                <a:sym typeface="+mn-lt"/>
              </a:rPr>
              <a:t>return before fees: 0.5 × 20% + 0.5 × (−10%) = 5</a:t>
            </a:r>
            <a:r>
              <a:rPr lang="en-US" altLang="zh-CN" dirty="0" smtClean="0">
                <a:solidFill>
                  <a:schemeClr val="tx1"/>
                </a:solidFill>
                <a:latin typeface="+mn-lt"/>
                <a:ea typeface="+mn-ea"/>
                <a:cs typeface="+mn-ea"/>
                <a:sym typeface="+mn-lt"/>
              </a:rPr>
              <a:t>%.</a:t>
            </a:r>
          </a:p>
          <a:p>
            <a:pPr lvl="1"/>
            <a:r>
              <a:rPr lang="en-US" altLang="zh-CN" dirty="0">
                <a:solidFill>
                  <a:schemeClr val="tx1"/>
                </a:solidFill>
                <a:latin typeface="+mn-lt"/>
                <a:ea typeface="+mn-ea"/>
                <a:cs typeface="+mn-ea"/>
                <a:sym typeface="+mn-lt"/>
              </a:rPr>
              <a:t>Fees paid to the funds are:</a:t>
            </a:r>
          </a:p>
          <a:p>
            <a:pPr lvl="1"/>
            <a:r>
              <a:rPr lang="en-US" altLang="zh-CN" dirty="0" smtClean="0">
                <a:solidFill>
                  <a:schemeClr val="tx1"/>
                </a:solidFill>
                <a:latin typeface="+mn-lt"/>
                <a:ea typeface="+mn-ea"/>
                <a:cs typeface="+mn-ea"/>
                <a:sym typeface="+mn-lt"/>
              </a:rPr>
              <a:t>Fund </a:t>
            </a:r>
            <a:r>
              <a:rPr lang="en-US" altLang="zh-CN" dirty="0">
                <a:solidFill>
                  <a:schemeClr val="tx1"/>
                </a:solidFill>
                <a:latin typeface="+mn-lt"/>
                <a:ea typeface="+mn-ea"/>
                <a:cs typeface="+mn-ea"/>
                <a:sym typeface="+mn-lt"/>
              </a:rPr>
              <a:t>A fees: 2% + 0.2 × (20 - 2)% = 5.6%.</a:t>
            </a:r>
          </a:p>
          <a:p>
            <a:pPr lvl="1"/>
            <a:r>
              <a:rPr lang="en-US" altLang="zh-CN" dirty="0" smtClean="0">
                <a:solidFill>
                  <a:schemeClr val="tx1"/>
                </a:solidFill>
                <a:latin typeface="+mn-lt"/>
                <a:ea typeface="+mn-ea"/>
                <a:cs typeface="+mn-ea"/>
                <a:sym typeface="+mn-lt"/>
              </a:rPr>
              <a:t>Fund </a:t>
            </a:r>
            <a:r>
              <a:rPr lang="en-US" altLang="zh-CN" dirty="0">
                <a:solidFill>
                  <a:schemeClr val="tx1"/>
                </a:solidFill>
                <a:latin typeface="+mn-lt"/>
                <a:ea typeface="+mn-ea"/>
                <a:cs typeface="+mn-ea"/>
                <a:sym typeface="+mn-lt"/>
              </a:rPr>
              <a:t>B fees: only 2% since no profit is made</a:t>
            </a:r>
            <a:r>
              <a:rPr lang="en-US" altLang="zh-CN" dirty="0" smtClean="0">
                <a:solidFill>
                  <a:schemeClr val="tx1"/>
                </a:solidFill>
                <a:latin typeface="+mn-lt"/>
                <a:ea typeface="+mn-ea"/>
                <a:cs typeface="+mn-ea"/>
                <a:sym typeface="+mn-lt"/>
              </a:rPr>
              <a:t>.</a:t>
            </a:r>
          </a:p>
          <a:p>
            <a:pPr lvl="1"/>
            <a:r>
              <a:rPr lang="en-US" altLang="zh-CN" dirty="0">
                <a:solidFill>
                  <a:schemeClr val="tx1"/>
                </a:solidFill>
                <a:latin typeface="+mn-lt"/>
                <a:ea typeface="+mn-ea"/>
                <a:cs typeface="+mn-ea"/>
                <a:sym typeface="+mn-lt"/>
              </a:rPr>
              <a:t>The average fee paid on the investment in the hedge funds is: </a:t>
            </a:r>
            <a:endParaRPr lang="en-US" altLang="zh-CN" dirty="0" smtClean="0">
              <a:solidFill>
                <a:schemeClr val="tx1"/>
              </a:solidFill>
              <a:latin typeface="+mn-lt"/>
              <a:ea typeface="+mn-ea"/>
              <a:cs typeface="+mn-ea"/>
              <a:sym typeface="+mn-lt"/>
            </a:endParaRPr>
          </a:p>
          <a:p>
            <a:pPr lvl="1"/>
            <a:r>
              <a:rPr lang="en-US" altLang="zh-CN" dirty="0" smtClean="0">
                <a:solidFill>
                  <a:schemeClr val="tx1"/>
                </a:solidFill>
                <a:latin typeface="+mn-lt"/>
                <a:ea typeface="+mn-ea"/>
                <a:cs typeface="+mn-ea"/>
                <a:sym typeface="+mn-lt"/>
              </a:rPr>
              <a:t>(</a:t>
            </a:r>
            <a:r>
              <a:rPr lang="en-US" altLang="zh-CN" dirty="0">
                <a:solidFill>
                  <a:schemeClr val="tx1"/>
                </a:solidFill>
                <a:latin typeface="+mn-lt"/>
                <a:ea typeface="+mn-ea"/>
                <a:cs typeface="+mn-ea"/>
                <a:sym typeface="+mn-lt"/>
              </a:rPr>
              <a:t>5.6 + 2)/2 =3.8%. </a:t>
            </a:r>
            <a:endParaRPr lang="en-US" altLang="zh-CN" dirty="0" smtClean="0">
              <a:solidFill>
                <a:schemeClr val="tx1"/>
              </a:solidFill>
              <a:latin typeface="+mn-lt"/>
              <a:ea typeface="+mn-ea"/>
              <a:cs typeface="+mn-ea"/>
              <a:sym typeface="+mn-lt"/>
            </a:endParaRPr>
          </a:p>
          <a:p>
            <a:pPr lvl="1"/>
            <a:r>
              <a:rPr lang="en-US" altLang="zh-CN" dirty="0" smtClean="0">
                <a:solidFill>
                  <a:schemeClr val="tx1"/>
                </a:solidFill>
                <a:latin typeface="+mn-lt"/>
                <a:ea typeface="+mn-ea"/>
                <a:cs typeface="+mn-ea"/>
                <a:sym typeface="+mn-lt"/>
              </a:rPr>
              <a:t>The</a:t>
            </a:r>
            <a:r>
              <a:rPr lang="en-US" altLang="zh-CN" dirty="0">
                <a:solidFill>
                  <a:schemeClr val="tx1"/>
                </a:solidFill>
                <a:latin typeface="+mn-lt"/>
                <a:ea typeface="+mn-ea"/>
                <a:cs typeface="+mn-ea"/>
                <a:sym typeface="+mn-lt"/>
              </a:rPr>
              <a:t> </a:t>
            </a:r>
            <a:r>
              <a:rPr lang="en-US" altLang="zh-CN" dirty="0" smtClean="0">
                <a:solidFill>
                  <a:schemeClr val="tx1"/>
                </a:solidFill>
                <a:latin typeface="+mn-lt"/>
                <a:ea typeface="+mn-ea"/>
                <a:cs typeface="+mn-ea"/>
                <a:sym typeface="+mn-lt"/>
              </a:rPr>
              <a:t>investor </a:t>
            </a:r>
            <a:r>
              <a:rPr lang="en-US" altLang="zh-CN" dirty="0">
                <a:solidFill>
                  <a:schemeClr val="tx1"/>
                </a:solidFill>
                <a:latin typeface="+mn-lt"/>
                <a:ea typeface="+mn-ea"/>
                <a:cs typeface="+mn-ea"/>
                <a:sym typeface="+mn-lt"/>
              </a:rPr>
              <a:t>is left with a return of: 5 - 3.8 = 1.2%</a:t>
            </a:r>
            <a:endParaRPr lang="zh-CN" altLang="en-US" dirty="0">
              <a:solidFill>
                <a:schemeClr val="tx1"/>
              </a:solidFill>
              <a:latin typeface="+mn-lt"/>
              <a:ea typeface="+mn-ea"/>
              <a:cs typeface="+mn-ea"/>
              <a:sym typeface="+mn-lt"/>
            </a:endParaRPr>
          </a:p>
        </p:txBody>
      </p:sp>
      <p:sp>
        <p:nvSpPr>
          <p:cNvPr id="3" name="标题 2"/>
          <p:cNvSpPr>
            <a:spLocks noGrp="1"/>
          </p:cNvSpPr>
          <p:nvPr>
            <p:ph type="title"/>
          </p:nvPr>
        </p:nvSpPr>
        <p:spPr/>
        <p:txBody>
          <a:bodyPr/>
          <a:lstStyle/>
          <a:p>
            <a:r>
              <a:rPr lang="en-US" altLang="zh-CN" dirty="0" smtClean="0">
                <a:latin typeface="+mn-lt"/>
                <a:ea typeface="+mn-ea"/>
                <a:cs typeface="+mn-ea"/>
                <a:sym typeface="+mn-lt"/>
              </a:rPr>
              <a:t>Return on a HF Investment </a:t>
            </a:r>
            <a:endParaRPr lang="zh-CN" altLang="en-US" dirty="0">
              <a:latin typeface="+mn-lt"/>
              <a:ea typeface="+mn-ea"/>
              <a:cs typeface="+mn-ea"/>
              <a:sym typeface="+mn-lt"/>
            </a:endParaRPr>
          </a:p>
        </p:txBody>
      </p:sp>
    </p:spTree>
    <p:extLst>
      <p:ext uri="{BB962C8B-B14F-4D97-AF65-F5344CB8AC3E}">
        <p14:creationId xmlns:p14="http://schemas.microsoft.com/office/powerpoint/2010/main" val="19442119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Return on a HF Investment </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lnSpcReduction="10000"/>
          </a:bodyPr>
          <a:lstStyle/>
          <a:p>
            <a:r>
              <a:rPr lang="en-US" altLang="zh-CN" b="1" dirty="0">
                <a:latin typeface="+mn-lt"/>
                <a:ea typeface="+mn-ea"/>
                <a:cs typeface="+mn-ea"/>
                <a:sym typeface="+mn-lt"/>
              </a:rPr>
              <a:t>Incentives of Hedge Fund </a:t>
            </a:r>
            <a:r>
              <a:rPr lang="en-US" altLang="zh-CN" b="1" dirty="0" smtClean="0">
                <a:latin typeface="+mn-lt"/>
                <a:ea typeface="+mn-ea"/>
                <a:cs typeface="+mn-ea"/>
                <a:sym typeface="+mn-lt"/>
              </a:rPr>
              <a:t>Managers</a:t>
            </a:r>
          </a:p>
          <a:p>
            <a:pPr lvl="1">
              <a:buFont typeface="Wingdings" panose="05000000000000000000" pitchFamily="2" charset="2"/>
              <a:buChar char="ü"/>
            </a:pPr>
            <a:r>
              <a:rPr lang="en-US" altLang="zh-CN" dirty="0">
                <a:latin typeface="+mn-lt"/>
                <a:ea typeface="+mn-ea"/>
                <a:cs typeface="+mn-ea"/>
                <a:sym typeface="+mn-lt"/>
              </a:rPr>
              <a:t>For example, consider there is a 0.40 probability of a 60% profit and a 0.60 probability of </a:t>
            </a:r>
            <a:r>
              <a:rPr lang="en-US" altLang="zh-CN" dirty="0" smtClean="0">
                <a:latin typeface="+mn-lt"/>
                <a:ea typeface="+mn-ea"/>
                <a:cs typeface="+mn-ea"/>
                <a:sym typeface="+mn-lt"/>
              </a:rPr>
              <a:t>a 60</a:t>
            </a:r>
            <a:r>
              <a:rPr lang="en-US" altLang="zh-CN" dirty="0">
                <a:latin typeface="+mn-lt"/>
                <a:ea typeface="+mn-ea"/>
                <a:cs typeface="+mn-ea"/>
                <a:sym typeface="+mn-lt"/>
              </a:rPr>
              <a:t>% loss for a hedge fund that charges the industry standard fee of “2 plus 20</a:t>
            </a:r>
            <a:r>
              <a:rPr lang="en-US" altLang="zh-CN" dirty="0" smtClean="0">
                <a:latin typeface="+mn-lt"/>
                <a:ea typeface="+mn-ea"/>
                <a:cs typeface="+mn-ea"/>
                <a:sym typeface="+mn-lt"/>
              </a:rPr>
              <a:t>%.”</a:t>
            </a:r>
          </a:p>
          <a:p>
            <a:pPr lvl="1"/>
            <a:r>
              <a:rPr lang="en-US" altLang="zh-CN" dirty="0">
                <a:latin typeface="+mn-lt"/>
                <a:ea typeface="+mn-ea"/>
                <a:cs typeface="+mn-ea"/>
                <a:sym typeface="+mn-lt"/>
              </a:rPr>
              <a:t>The expected return of the investment is calculated as:</a:t>
            </a:r>
          </a:p>
          <a:p>
            <a:pPr lvl="1"/>
            <a:r>
              <a:rPr lang="en-US" altLang="zh-CN" dirty="0">
                <a:latin typeface="+mn-lt"/>
                <a:ea typeface="+mn-ea"/>
                <a:cs typeface="+mn-ea"/>
                <a:sym typeface="+mn-lt"/>
              </a:rPr>
              <a:t>0</a:t>
            </a:r>
            <a:r>
              <a:rPr lang="en-US" altLang="zh-CN" i="1" dirty="0">
                <a:latin typeface="+mn-lt"/>
                <a:ea typeface="+mn-ea"/>
                <a:cs typeface="+mn-ea"/>
                <a:sym typeface="+mn-lt"/>
              </a:rPr>
              <a:t>.</a:t>
            </a:r>
            <a:r>
              <a:rPr lang="en-US" altLang="zh-CN" dirty="0">
                <a:latin typeface="+mn-lt"/>
                <a:ea typeface="+mn-ea"/>
                <a:cs typeface="+mn-ea"/>
                <a:sym typeface="+mn-lt"/>
              </a:rPr>
              <a:t>4 × 60% + 0</a:t>
            </a:r>
            <a:r>
              <a:rPr lang="en-US" altLang="zh-CN" i="1" dirty="0">
                <a:latin typeface="+mn-lt"/>
                <a:ea typeface="+mn-ea"/>
                <a:cs typeface="+mn-ea"/>
                <a:sym typeface="+mn-lt"/>
              </a:rPr>
              <a:t>.</a:t>
            </a:r>
            <a:r>
              <a:rPr lang="en-US" altLang="zh-CN" dirty="0">
                <a:latin typeface="+mn-lt"/>
                <a:ea typeface="+mn-ea"/>
                <a:cs typeface="+mn-ea"/>
                <a:sym typeface="+mn-lt"/>
              </a:rPr>
              <a:t>6 × (−60%) = –12</a:t>
            </a:r>
            <a:r>
              <a:rPr lang="en-US" altLang="zh-CN" dirty="0" smtClean="0">
                <a:latin typeface="+mn-lt"/>
                <a:ea typeface="+mn-ea"/>
                <a:cs typeface="+mn-ea"/>
                <a:sym typeface="+mn-lt"/>
              </a:rPr>
              <a:t>%.</a:t>
            </a:r>
          </a:p>
          <a:p>
            <a:pPr lvl="1"/>
            <a:r>
              <a:rPr lang="en-US" altLang="zh-CN" dirty="0">
                <a:latin typeface="+mn-lt"/>
                <a:ea typeface="+mn-ea"/>
                <a:cs typeface="+mn-ea"/>
                <a:sym typeface="+mn-lt"/>
              </a:rPr>
              <a:t>Although the return is negative, the manager still earns a fee on it as calculated below.</a:t>
            </a:r>
          </a:p>
          <a:p>
            <a:pPr lvl="1"/>
            <a:r>
              <a:rPr lang="en-US" altLang="zh-CN" dirty="0" smtClean="0">
                <a:latin typeface="+mn-lt"/>
                <a:ea typeface="+mn-ea"/>
                <a:cs typeface="+mn-ea"/>
                <a:sym typeface="+mn-lt"/>
              </a:rPr>
              <a:t>For </a:t>
            </a:r>
            <a:r>
              <a:rPr lang="en-US" altLang="zh-CN" dirty="0">
                <a:latin typeface="+mn-lt"/>
                <a:ea typeface="+mn-ea"/>
                <a:cs typeface="+mn-ea"/>
                <a:sym typeface="+mn-lt"/>
              </a:rPr>
              <a:t>a 60% profit the hedge fund’s fee is 2 + 0</a:t>
            </a:r>
            <a:r>
              <a:rPr lang="en-US" altLang="zh-CN" i="1" dirty="0">
                <a:latin typeface="+mn-lt"/>
                <a:ea typeface="+mn-ea"/>
                <a:cs typeface="+mn-ea"/>
                <a:sym typeface="+mn-lt"/>
              </a:rPr>
              <a:t>.</a:t>
            </a:r>
            <a:r>
              <a:rPr lang="en-US" altLang="zh-CN" dirty="0">
                <a:latin typeface="+mn-lt"/>
                <a:ea typeface="+mn-ea"/>
                <a:cs typeface="+mn-ea"/>
                <a:sym typeface="+mn-lt"/>
              </a:rPr>
              <a:t>2 × 58 = 13.6%.</a:t>
            </a:r>
          </a:p>
          <a:p>
            <a:pPr lvl="1"/>
            <a:r>
              <a:rPr lang="en-US" altLang="zh-CN" dirty="0" smtClean="0">
                <a:latin typeface="+mn-lt"/>
                <a:ea typeface="+mn-ea"/>
                <a:cs typeface="+mn-ea"/>
                <a:sym typeface="+mn-lt"/>
              </a:rPr>
              <a:t>For </a:t>
            </a:r>
            <a:r>
              <a:rPr lang="en-US" altLang="zh-CN" dirty="0">
                <a:latin typeface="+mn-lt"/>
                <a:ea typeface="+mn-ea"/>
                <a:cs typeface="+mn-ea"/>
                <a:sym typeface="+mn-lt"/>
              </a:rPr>
              <a:t>the 60% loss, the hedge fund’s fee is 2%.</a:t>
            </a:r>
          </a:p>
          <a:p>
            <a:pPr lvl="1"/>
            <a:r>
              <a:rPr lang="en-US" altLang="zh-CN" dirty="0" smtClean="0">
                <a:latin typeface="+mn-lt"/>
                <a:ea typeface="+mn-ea"/>
                <a:cs typeface="+mn-ea"/>
                <a:sym typeface="+mn-lt"/>
              </a:rPr>
              <a:t>The </a:t>
            </a:r>
            <a:r>
              <a:rPr lang="en-US" altLang="zh-CN" dirty="0">
                <a:latin typeface="+mn-lt"/>
                <a:ea typeface="+mn-ea"/>
                <a:cs typeface="+mn-ea"/>
                <a:sym typeface="+mn-lt"/>
              </a:rPr>
              <a:t>expected fee to the hedge fund is 0</a:t>
            </a:r>
            <a:r>
              <a:rPr lang="en-US" altLang="zh-CN" i="1" dirty="0">
                <a:latin typeface="+mn-lt"/>
                <a:ea typeface="+mn-ea"/>
                <a:cs typeface="+mn-ea"/>
                <a:sym typeface="+mn-lt"/>
              </a:rPr>
              <a:t>.</a:t>
            </a:r>
            <a:r>
              <a:rPr lang="en-US" altLang="zh-CN" dirty="0">
                <a:latin typeface="+mn-lt"/>
                <a:ea typeface="+mn-ea"/>
                <a:cs typeface="+mn-ea"/>
                <a:sym typeface="+mn-lt"/>
              </a:rPr>
              <a:t>4 × 13</a:t>
            </a:r>
            <a:r>
              <a:rPr lang="en-US" altLang="zh-CN" i="1" dirty="0">
                <a:latin typeface="+mn-lt"/>
                <a:ea typeface="+mn-ea"/>
                <a:cs typeface="+mn-ea"/>
                <a:sym typeface="+mn-lt"/>
              </a:rPr>
              <a:t>.</a:t>
            </a:r>
            <a:r>
              <a:rPr lang="en-US" altLang="zh-CN" dirty="0">
                <a:latin typeface="+mn-lt"/>
                <a:ea typeface="+mn-ea"/>
                <a:cs typeface="+mn-ea"/>
                <a:sym typeface="+mn-lt"/>
              </a:rPr>
              <a:t>6 + 0</a:t>
            </a:r>
            <a:r>
              <a:rPr lang="en-US" altLang="zh-CN" i="1" dirty="0">
                <a:latin typeface="+mn-lt"/>
                <a:ea typeface="+mn-ea"/>
                <a:cs typeface="+mn-ea"/>
                <a:sym typeface="+mn-lt"/>
              </a:rPr>
              <a:t>.</a:t>
            </a:r>
            <a:r>
              <a:rPr lang="en-US" altLang="zh-CN" dirty="0">
                <a:latin typeface="+mn-lt"/>
                <a:ea typeface="+mn-ea"/>
                <a:cs typeface="+mn-ea"/>
                <a:sym typeface="+mn-lt"/>
              </a:rPr>
              <a:t>6 × 2 = 6</a:t>
            </a:r>
            <a:r>
              <a:rPr lang="en-US" altLang="zh-CN" i="1" dirty="0">
                <a:latin typeface="+mn-lt"/>
                <a:ea typeface="+mn-ea"/>
                <a:cs typeface="+mn-ea"/>
                <a:sym typeface="+mn-lt"/>
              </a:rPr>
              <a:t>.</a:t>
            </a:r>
            <a:r>
              <a:rPr lang="en-US" altLang="zh-CN" dirty="0">
                <a:latin typeface="+mn-lt"/>
                <a:ea typeface="+mn-ea"/>
                <a:cs typeface="+mn-ea"/>
                <a:sym typeface="+mn-lt"/>
              </a:rPr>
              <a:t>64%</a:t>
            </a:r>
            <a:endParaRPr lang="zh-CN" altLang="en-US" b="1" dirty="0">
              <a:solidFill>
                <a:srgbClr val="7030A0"/>
              </a:solidFill>
              <a:latin typeface="+mn-lt"/>
              <a:ea typeface="+mn-ea"/>
              <a:cs typeface="+mn-ea"/>
              <a:sym typeface="+mn-lt"/>
            </a:endParaRPr>
          </a:p>
        </p:txBody>
      </p:sp>
    </p:spTree>
    <p:extLst>
      <p:ext uri="{BB962C8B-B14F-4D97-AF65-F5344CB8AC3E}">
        <p14:creationId xmlns:p14="http://schemas.microsoft.com/office/powerpoint/2010/main" val="15494917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Return on a HF Investment </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lstStyle/>
          <a:p>
            <a:r>
              <a:rPr lang="en-US" altLang="zh-CN" b="1" dirty="0">
                <a:latin typeface="+mn-lt"/>
                <a:ea typeface="+mn-ea"/>
                <a:cs typeface="+mn-ea"/>
                <a:sym typeface="+mn-lt"/>
              </a:rPr>
              <a:t>Incentives of Hedge Fund </a:t>
            </a:r>
            <a:r>
              <a:rPr lang="en-US" altLang="zh-CN" b="1" dirty="0" smtClean="0">
                <a:latin typeface="+mn-lt"/>
                <a:ea typeface="+mn-ea"/>
                <a:cs typeface="+mn-ea"/>
                <a:sym typeface="+mn-lt"/>
              </a:rPr>
              <a:t>Managers</a:t>
            </a:r>
          </a:p>
          <a:p>
            <a:pPr lvl="1"/>
            <a:r>
              <a:rPr lang="en-US" altLang="zh-CN" sz="2200" dirty="0">
                <a:latin typeface="+mn-lt"/>
                <a:ea typeface="+mn-ea"/>
                <a:cs typeface="+mn-ea"/>
                <a:sym typeface="+mn-lt"/>
              </a:rPr>
              <a:t>The fee is therefore, 6.64% of the funds under administration. The expected </a:t>
            </a:r>
            <a:r>
              <a:rPr lang="en-US" altLang="zh-CN" sz="2200" dirty="0" smtClean="0">
                <a:latin typeface="+mn-lt"/>
                <a:ea typeface="+mn-ea"/>
                <a:cs typeface="+mn-ea"/>
                <a:sym typeface="+mn-lt"/>
              </a:rPr>
              <a:t>management fee </a:t>
            </a:r>
            <a:r>
              <a:rPr lang="en-US" altLang="zh-CN" sz="2200" dirty="0">
                <a:latin typeface="+mn-lt"/>
                <a:ea typeface="+mn-ea"/>
                <a:cs typeface="+mn-ea"/>
                <a:sym typeface="+mn-lt"/>
              </a:rPr>
              <a:t>is 2% and the expected incentive fee is 4.64%.</a:t>
            </a:r>
          </a:p>
          <a:p>
            <a:pPr lvl="1"/>
            <a:r>
              <a:rPr lang="en-US" altLang="zh-CN" sz="2200" dirty="0">
                <a:latin typeface="+mn-lt"/>
                <a:ea typeface="+mn-ea"/>
                <a:cs typeface="+mn-ea"/>
                <a:sym typeface="+mn-lt"/>
              </a:rPr>
              <a:t>To the investors in the hedge fund, the expected return is negative as shown.</a:t>
            </a:r>
          </a:p>
          <a:p>
            <a:pPr lvl="1"/>
            <a:r>
              <a:rPr lang="en-US" altLang="zh-CN" sz="2200" dirty="0">
                <a:latin typeface="+mn-lt"/>
                <a:ea typeface="+mn-ea"/>
                <a:cs typeface="+mn-ea"/>
                <a:sym typeface="+mn-lt"/>
              </a:rPr>
              <a:t>0.4 × (60 - 0.2 × 58 - 2) + 0.6 × (−60 − 2) = −18.64 </a:t>
            </a:r>
            <a:r>
              <a:rPr lang="en-US" altLang="zh-CN" sz="2200" dirty="0" smtClean="0">
                <a:latin typeface="+mn-lt"/>
                <a:ea typeface="+mn-ea"/>
                <a:cs typeface="+mn-ea"/>
                <a:sym typeface="+mn-lt"/>
              </a:rPr>
              <a:t>%</a:t>
            </a:r>
          </a:p>
          <a:p>
            <a:pPr lvl="1"/>
            <a:r>
              <a:rPr lang="en-US" altLang="zh-CN" sz="2200" dirty="0">
                <a:latin typeface="+mn-lt"/>
                <a:ea typeface="+mn-ea"/>
                <a:cs typeface="+mn-ea"/>
                <a:sym typeface="+mn-lt"/>
              </a:rPr>
              <a:t>The calculations are summarized in the table below.</a:t>
            </a:r>
          </a:p>
          <a:p>
            <a:endParaRPr lang="zh-CN" altLang="en-US" dirty="0">
              <a:latin typeface="+mn-lt"/>
              <a:ea typeface="+mn-ea"/>
              <a:cs typeface="+mn-ea"/>
              <a:sym typeface="+mn-lt"/>
            </a:endParaRPr>
          </a:p>
        </p:txBody>
      </p:sp>
      <p:pic>
        <p:nvPicPr>
          <p:cNvPr id="4" name="图片 3"/>
          <p:cNvPicPr>
            <a:picLocks noChangeAspect="1"/>
          </p:cNvPicPr>
          <p:nvPr/>
        </p:nvPicPr>
        <p:blipFill>
          <a:blip r:embed="rId2"/>
          <a:stretch>
            <a:fillRect/>
          </a:stretch>
        </p:blipFill>
        <p:spPr>
          <a:xfrm>
            <a:off x="1382854" y="4052593"/>
            <a:ext cx="6561905" cy="2133333"/>
          </a:xfrm>
          <a:prstGeom prst="rect">
            <a:avLst/>
          </a:prstGeom>
        </p:spPr>
      </p:pic>
    </p:spTree>
    <p:extLst>
      <p:ext uri="{BB962C8B-B14F-4D97-AF65-F5344CB8AC3E}">
        <p14:creationId xmlns:p14="http://schemas.microsoft.com/office/powerpoint/2010/main" val="9548008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Fee Structure</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lnSpcReduction="10000"/>
          </a:bodyPr>
          <a:lstStyle/>
          <a:p>
            <a:r>
              <a:rPr lang="en-US" altLang="zh-CN" sz="2600" b="1" dirty="0">
                <a:latin typeface="+mn-lt"/>
                <a:ea typeface="+mn-ea"/>
                <a:cs typeface="+mn-ea"/>
                <a:sym typeface="+mn-lt"/>
              </a:rPr>
              <a:t>Fee Structure </a:t>
            </a:r>
            <a:endParaRPr lang="en-US" altLang="zh-CN" sz="2600" b="1" dirty="0" smtClean="0">
              <a:latin typeface="+mn-lt"/>
              <a:ea typeface="+mn-ea"/>
              <a:cs typeface="+mn-ea"/>
              <a:sym typeface="+mn-lt"/>
            </a:endParaRPr>
          </a:p>
          <a:p>
            <a:pPr lvl="1">
              <a:buFont typeface="Wingdings" panose="05000000000000000000" pitchFamily="2" charset="2"/>
              <a:buChar char="l"/>
            </a:pPr>
            <a:r>
              <a:rPr lang="en-US" altLang="zh-CN" b="1" dirty="0" smtClean="0">
                <a:latin typeface="+mn-lt"/>
                <a:ea typeface="+mn-ea"/>
                <a:cs typeface="+mn-ea"/>
                <a:sym typeface="+mn-lt"/>
              </a:rPr>
              <a:t>Hurdle </a:t>
            </a:r>
            <a:r>
              <a:rPr lang="en-US" altLang="zh-CN" b="1" dirty="0">
                <a:latin typeface="+mn-lt"/>
                <a:ea typeface="+mn-ea"/>
                <a:cs typeface="+mn-ea"/>
                <a:sym typeface="+mn-lt"/>
              </a:rPr>
              <a:t>Rate</a:t>
            </a:r>
          </a:p>
          <a:p>
            <a:pPr lvl="1">
              <a:buFont typeface="Wingdings" panose="05000000000000000000" pitchFamily="2" charset="2"/>
              <a:buChar char="ü"/>
            </a:pPr>
            <a:r>
              <a:rPr lang="en-US" altLang="zh-CN" dirty="0">
                <a:latin typeface="+mn-lt"/>
                <a:ea typeface="+mn-ea"/>
                <a:cs typeface="+mn-ea"/>
                <a:sym typeface="+mn-lt"/>
              </a:rPr>
              <a:t>Minimum return necessary for the incentive fee to be applicable.</a:t>
            </a:r>
          </a:p>
          <a:p>
            <a:pPr lvl="1">
              <a:buFont typeface="Wingdings" panose="05000000000000000000" pitchFamily="2" charset="2"/>
              <a:buChar char="l"/>
            </a:pPr>
            <a:r>
              <a:rPr lang="en-US" altLang="zh-CN" b="1" dirty="0">
                <a:latin typeface="+mn-lt"/>
                <a:ea typeface="+mn-ea"/>
                <a:cs typeface="+mn-ea"/>
                <a:sym typeface="+mn-lt"/>
              </a:rPr>
              <a:t>High-Water Mark Clause</a:t>
            </a:r>
          </a:p>
          <a:p>
            <a:pPr lvl="1">
              <a:buFont typeface="Wingdings" panose="05000000000000000000" pitchFamily="2" charset="2"/>
              <a:buChar char="ü"/>
            </a:pPr>
            <a:r>
              <a:rPr lang="en-US" altLang="zh-CN" dirty="0">
                <a:latin typeface="+mn-lt"/>
                <a:ea typeface="+mn-ea"/>
                <a:cs typeface="+mn-ea"/>
                <a:sym typeface="+mn-lt"/>
              </a:rPr>
              <a:t>Any previous losses must be recouped by new profits before an incentive fee applies. </a:t>
            </a:r>
          </a:p>
          <a:p>
            <a:pPr lvl="1">
              <a:buFont typeface="Wingdings" panose="05000000000000000000" pitchFamily="2" charset="2"/>
              <a:buChar char="ü"/>
            </a:pPr>
            <a:r>
              <a:rPr lang="en-US" altLang="zh-CN" dirty="0">
                <a:latin typeface="+mn-lt"/>
                <a:ea typeface="+mn-ea"/>
                <a:cs typeface="+mn-ea"/>
                <a:sym typeface="+mn-lt"/>
              </a:rPr>
              <a:t>There may be a proportional adjustment clause stating that, if funds are withdrawn by investors, the amount of previous losses that has to be recouped is adjusted proportionally.</a:t>
            </a:r>
          </a:p>
          <a:p>
            <a:pPr lvl="1">
              <a:buFont typeface="Wingdings" panose="05000000000000000000" pitchFamily="2" charset="2"/>
              <a:buChar char="l"/>
            </a:pPr>
            <a:r>
              <a:rPr lang="en-US" altLang="zh-CN" b="1" dirty="0">
                <a:latin typeface="+mn-lt"/>
                <a:ea typeface="+mn-ea"/>
                <a:cs typeface="+mn-ea"/>
                <a:sym typeface="+mn-lt"/>
              </a:rPr>
              <a:t>Clawback Clause</a:t>
            </a:r>
          </a:p>
          <a:p>
            <a:pPr lvl="1">
              <a:buFont typeface="Wingdings" panose="05000000000000000000" pitchFamily="2" charset="2"/>
              <a:buChar char="ü"/>
            </a:pPr>
            <a:r>
              <a:rPr lang="en-US" altLang="zh-CN" dirty="0">
                <a:latin typeface="+mn-lt"/>
                <a:ea typeface="+mn-ea"/>
                <a:cs typeface="+mn-ea"/>
                <a:sym typeface="+mn-lt"/>
              </a:rPr>
              <a:t>Allows investors to apply part or all of previous incentive fees to current losses. A portion of the incentive fees paid by the investor each year is then retained in a recovery account. This account is used to compensate investors for a percentage of any future </a:t>
            </a:r>
            <a:r>
              <a:rPr lang="en-US" altLang="zh-CN" dirty="0" smtClean="0">
                <a:latin typeface="+mn-lt"/>
                <a:ea typeface="+mn-ea"/>
                <a:cs typeface="+mn-ea"/>
                <a:sym typeface="+mn-lt"/>
              </a:rPr>
              <a:t>losses</a:t>
            </a:r>
          </a:p>
          <a:p>
            <a:pPr lvl="1">
              <a:buFont typeface="Wingdings" panose="05000000000000000000" pitchFamily="2" charset="2"/>
              <a:buChar char="p"/>
            </a:pPr>
            <a:r>
              <a:rPr lang="en-US" altLang="zh-CN" sz="2600" dirty="0" smtClean="0">
                <a:solidFill>
                  <a:schemeClr val="accent2"/>
                </a:solidFill>
                <a:latin typeface="+mn-lt"/>
                <a:ea typeface="+mn-ea"/>
                <a:cs typeface="+mn-ea"/>
                <a:sym typeface="+mn-lt"/>
              </a:rPr>
              <a:t>However, these clauses are not always as useful to investors as they sound</a:t>
            </a:r>
            <a:endParaRPr lang="en-US" altLang="zh-CN" sz="2600" dirty="0">
              <a:solidFill>
                <a:schemeClr val="accent2"/>
              </a:solidFill>
              <a:latin typeface="+mn-lt"/>
              <a:ea typeface="+mn-ea"/>
              <a:cs typeface="+mn-ea"/>
              <a:sym typeface="+mn-lt"/>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36268721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62500" lnSpcReduction="20000"/>
          </a:bodyPr>
          <a:lstStyle/>
          <a:p>
            <a:r>
              <a:rPr lang="en-US" altLang="zh-CN" sz="3800" b="1" dirty="0">
                <a:latin typeface="+mn-lt"/>
                <a:ea typeface="+mn-ea"/>
                <a:cs typeface="+mn-ea"/>
                <a:sym typeface="+mn-lt"/>
              </a:rPr>
              <a:t>Hedge Funds </a:t>
            </a:r>
            <a:r>
              <a:rPr lang="en-US" altLang="zh-CN" sz="3800" b="1" dirty="0" smtClean="0">
                <a:latin typeface="+mn-lt"/>
                <a:ea typeface="+mn-ea"/>
                <a:cs typeface="+mn-ea"/>
                <a:sym typeface="+mn-lt"/>
              </a:rPr>
              <a:t>Strategies</a:t>
            </a:r>
            <a:r>
              <a:rPr lang="zh-CN" altLang="en-US" sz="3200" b="1" dirty="0" smtClean="0">
                <a:solidFill>
                  <a:srgbClr val="FF0000"/>
                </a:solidFill>
                <a:latin typeface="+mn-lt"/>
                <a:ea typeface="+mn-ea"/>
                <a:cs typeface="+mn-ea"/>
                <a:sym typeface="+mn-lt"/>
              </a:rPr>
              <a:t>（名词解释）</a:t>
            </a:r>
            <a:endParaRPr lang="en-US" altLang="zh-CN" sz="3800" b="1" dirty="0">
              <a:solidFill>
                <a:srgbClr val="FF0000"/>
              </a:solidFill>
              <a:latin typeface="+mn-lt"/>
              <a:ea typeface="+mn-ea"/>
              <a:cs typeface="+mn-ea"/>
              <a:sym typeface="+mn-lt"/>
            </a:endParaRPr>
          </a:p>
          <a:p>
            <a:pPr lvl="1">
              <a:buFont typeface="Wingdings" panose="05000000000000000000" pitchFamily="2" charset="2"/>
              <a:buChar char="l"/>
            </a:pPr>
            <a:r>
              <a:rPr lang="en-US" altLang="zh-CN" sz="2900" b="1" dirty="0">
                <a:latin typeface="+mn-lt"/>
                <a:ea typeface="+mn-ea"/>
                <a:cs typeface="+mn-ea"/>
                <a:sym typeface="+mn-lt"/>
              </a:rPr>
              <a:t>Long/Short Equity</a:t>
            </a:r>
          </a:p>
          <a:p>
            <a:pPr lvl="2"/>
            <a:r>
              <a:rPr lang="en-US" altLang="zh-CN" sz="2900" dirty="0">
                <a:latin typeface="+mn-lt"/>
                <a:ea typeface="+mn-ea"/>
                <a:cs typeface="+mn-ea"/>
                <a:sym typeface="+mn-lt"/>
              </a:rPr>
              <a:t>The hedge fund manager identifies a set of stocks that are considered to be undervalued by the market and a set that are considered to be overvalued. The manager takes a long position in the first set and a short position in the second set.</a:t>
            </a:r>
          </a:p>
          <a:p>
            <a:pPr lvl="1">
              <a:buFont typeface="Wingdings" panose="05000000000000000000" pitchFamily="2" charset="2"/>
              <a:buChar char="l"/>
            </a:pPr>
            <a:r>
              <a:rPr lang="en-US" altLang="zh-CN" sz="2900" b="1" dirty="0">
                <a:latin typeface="+mn-lt"/>
                <a:ea typeface="+mn-ea"/>
                <a:cs typeface="+mn-ea"/>
                <a:sym typeface="+mn-lt"/>
              </a:rPr>
              <a:t>Equity-Market-Neutral Fund</a:t>
            </a:r>
          </a:p>
          <a:p>
            <a:pPr lvl="2"/>
            <a:r>
              <a:rPr lang="en-US" altLang="zh-CN" sz="2900" b="1" dirty="0">
                <a:latin typeface="+mn-lt"/>
                <a:ea typeface="+mn-ea"/>
                <a:cs typeface="+mn-ea"/>
                <a:sym typeface="+mn-lt"/>
              </a:rPr>
              <a:t>Dollar-neutral fund</a:t>
            </a:r>
            <a:r>
              <a:rPr lang="en-US" altLang="zh-CN" sz="2900" dirty="0">
                <a:latin typeface="+mn-lt"/>
                <a:ea typeface="+mn-ea"/>
                <a:cs typeface="+mn-ea"/>
                <a:sym typeface="+mn-lt"/>
              </a:rPr>
              <a:t>: the dollar amount of the long position equals the dollar amount of the short position.</a:t>
            </a:r>
          </a:p>
          <a:p>
            <a:pPr lvl="2"/>
            <a:r>
              <a:rPr lang="en-US" altLang="zh-CN" sz="2900" b="1" dirty="0">
                <a:latin typeface="+mn-lt"/>
                <a:ea typeface="+mn-ea"/>
                <a:cs typeface="+mn-ea"/>
                <a:sym typeface="+mn-lt"/>
              </a:rPr>
              <a:t>Beta-neutral fund</a:t>
            </a:r>
            <a:r>
              <a:rPr lang="en-US" altLang="zh-CN" sz="2900" dirty="0">
                <a:latin typeface="+mn-lt"/>
                <a:ea typeface="+mn-ea"/>
                <a:cs typeface="+mn-ea"/>
                <a:sym typeface="+mn-lt"/>
              </a:rPr>
              <a:t>: the weighted average beta of the shares in the long portfolio equals the weighted average beta of the shares in the short portfolio so that the overall beta of the portfolio is zero. </a:t>
            </a:r>
          </a:p>
          <a:p>
            <a:pPr lvl="1">
              <a:buFont typeface="Wingdings" panose="05000000000000000000" pitchFamily="2" charset="2"/>
              <a:buChar char="l"/>
            </a:pPr>
            <a:r>
              <a:rPr lang="en-US" altLang="zh-CN" sz="2900" b="1" dirty="0">
                <a:latin typeface="+mn-lt"/>
                <a:ea typeface="+mn-ea"/>
                <a:cs typeface="+mn-ea"/>
                <a:sym typeface="+mn-lt"/>
              </a:rPr>
              <a:t>Dedicated Short</a:t>
            </a:r>
          </a:p>
          <a:p>
            <a:pPr lvl="2"/>
            <a:r>
              <a:rPr lang="en-US" altLang="zh-CN" sz="2900" dirty="0">
                <a:latin typeface="+mn-lt"/>
                <a:ea typeface="+mn-ea"/>
                <a:cs typeface="+mn-ea"/>
                <a:sym typeface="+mn-lt"/>
              </a:rPr>
              <a:t>Look exclusively for overvalued companies and sell them short.</a:t>
            </a:r>
          </a:p>
          <a:p>
            <a:pPr lvl="2"/>
            <a:r>
              <a:rPr lang="en-US" altLang="zh-CN" sz="2900" dirty="0">
                <a:latin typeface="+mn-lt"/>
                <a:ea typeface="+mn-ea"/>
                <a:cs typeface="+mn-ea"/>
                <a:sym typeface="+mn-lt"/>
              </a:rPr>
              <a:t>They are attempting to take advantage of the fact that brokers and analysts are reluctant to issue sell recommendations.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4188290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lnSpcReduction="10000"/>
          </a:bodyPr>
          <a:lstStyle/>
          <a:p>
            <a:r>
              <a:rPr lang="en-US" altLang="zh-CN" b="1" dirty="0">
                <a:latin typeface="+mn-lt"/>
                <a:ea typeface="+mn-ea"/>
                <a:cs typeface="+mn-ea"/>
                <a:sym typeface="+mn-lt"/>
              </a:rPr>
              <a:t>Distressed Securities</a:t>
            </a:r>
          </a:p>
          <a:p>
            <a:pPr lvl="1">
              <a:buFont typeface="Wingdings" panose="05000000000000000000" pitchFamily="2" charset="2"/>
              <a:buChar char="l"/>
            </a:pPr>
            <a:r>
              <a:rPr lang="en-US" altLang="zh-CN" dirty="0">
                <a:latin typeface="+mn-lt"/>
                <a:ea typeface="+mn-ea"/>
                <a:cs typeface="+mn-ea"/>
                <a:sym typeface="+mn-lt"/>
              </a:rPr>
              <a:t>Bonds with a </a:t>
            </a:r>
            <a:r>
              <a:rPr lang="en-US" altLang="zh-CN" u="sng" dirty="0">
                <a:latin typeface="+mn-lt"/>
                <a:ea typeface="+mn-ea"/>
                <a:cs typeface="+mn-ea"/>
                <a:sym typeface="+mn-lt"/>
              </a:rPr>
              <a:t>credit rating of CCC </a:t>
            </a:r>
            <a:r>
              <a:rPr lang="en-US" altLang="zh-CN" dirty="0">
                <a:latin typeface="+mn-lt"/>
                <a:ea typeface="+mn-ea"/>
                <a:cs typeface="+mn-ea"/>
                <a:sym typeface="+mn-lt"/>
              </a:rPr>
              <a:t>are referred to as “distressed”. Typically, distressed bonds sell at a big discount to their par value and provide a yield that is over 10% more than the yield on Treasury bonds.</a:t>
            </a:r>
          </a:p>
          <a:p>
            <a:pPr lvl="1">
              <a:buFont typeface="Wingdings" panose="05000000000000000000" pitchFamily="2" charset="2"/>
              <a:buChar char="l"/>
            </a:pPr>
            <a:r>
              <a:rPr lang="en-US" altLang="zh-CN" dirty="0">
                <a:latin typeface="+mn-lt"/>
                <a:ea typeface="+mn-ea"/>
                <a:cs typeface="+mn-ea"/>
                <a:sym typeface="+mn-lt"/>
              </a:rPr>
              <a:t>Bankruptcy proceedings usually lead to a reorganization or liquidation of a company. Managers of funds are searching for debt that is </a:t>
            </a:r>
            <a:r>
              <a:rPr lang="en-US" altLang="zh-CN" u="sng" dirty="0">
                <a:latin typeface="+mn-lt"/>
                <a:ea typeface="+mn-ea"/>
                <a:cs typeface="+mn-ea"/>
                <a:sym typeface="+mn-lt"/>
              </a:rPr>
              <a:t>undervalued by the market.</a:t>
            </a:r>
          </a:p>
          <a:p>
            <a:pPr lvl="1">
              <a:buFont typeface="Wingdings" panose="05000000000000000000" pitchFamily="2" charset="2"/>
              <a:buChar char="l"/>
            </a:pPr>
            <a:r>
              <a:rPr lang="en-US" altLang="zh-CN" dirty="0">
                <a:latin typeface="+mn-lt"/>
                <a:ea typeface="+mn-ea"/>
                <a:cs typeface="+mn-ea"/>
                <a:sym typeface="+mn-lt"/>
              </a:rPr>
              <a:t>Some funds are passive investors. They buy distressed debt when the price is below its fair value and wait. Other hedge funds adopt an active approach. They might </a:t>
            </a:r>
            <a:r>
              <a:rPr lang="en-US" altLang="zh-CN" u="sng" dirty="0">
                <a:latin typeface="+mn-lt"/>
                <a:ea typeface="+mn-ea"/>
                <a:cs typeface="+mn-ea"/>
                <a:sym typeface="+mn-lt"/>
              </a:rPr>
              <a:t>purchase a sufficiently large position in outstanding debt claims so that they have the right to influence a reorganization proposal.</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8500806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Merger Arbitrage</a:t>
            </a:r>
          </a:p>
          <a:p>
            <a:pPr lvl="1">
              <a:buFont typeface="Wingdings" panose="05000000000000000000" pitchFamily="2" charset="2"/>
              <a:buChar char="l"/>
            </a:pPr>
            <a:r>
              <a:rPr lang="en-US" altLang="zh-CN" dirty="0">
                <a:latin typeface="+mn-lt"/>
                <a:ea typeface="+mn-ea"/>
                <a:cs typeface="+mn-ea"/>
                <a:sym typeface="+mn-lt"/>
              </a:rPr>
              <a:t>Merger arbitrage involves trading after a merger or acquisition is announced in the hope that the announced deal will take place.</a:t>
            </a:r>
          </a:p>
          <a:p>
            <a:pPr lvl="1">
              <a:buFont typeface="Wingdings" panose="05000000000000000000" pitchFamily="2" charset="2"/>
              <a:buChar char="l"/>
            </a:pPr>
            <a:r>
              <a:rPr lang="en-US" altLang="zh-CN" b="1" dirty="0">
                <a:latin typeface="+mn-lt"/>
                <a:ea typeface="+mn-ea"/>
                <a:cs typeface="+mn-ea"/>
                <a:sym typeface="+mn-lt"/>
              </a:rPr>
              <a:t>Cash Deals</a:t>
            </a:r>
          </a:p>
          <a:p>
            <a:pPr lvl="1">
              <a:buFont typeface="Wingdings" panose="05000000000000000000" pitchFamily="2" charset="2"/>
              <a:buChar char="ü"/>
            </a:pPr>
            <a:r>
              <a:rPr lang="en-US" altLang="zh-CN" dirty="0">
                <a:latin typeface="+mn-lt"/>
                <a:ea typeface="+mn-ea"/>
                <a:cs typeface="+mn-ea"/>
                <a:sym typeface="+mn-lt"/>
              </a:rPr>
              <a:t>Example: Suppose the shares of Company B were trading at $20 prior to the announcement. Immediately after the announcement its share price might jump to $28. Merger-arbitrage hedge funds buy the shares in company B for $28 and wait. If the acquisition goes through at $30, the fund makes a profit of $2 per share. If it goes through at a higher price, the profit is higher. However, if for any reason the deal does not go through, the hedge fund will take a loss.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6331860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Merger Arbitrage (cont’d)</a:t>
            </a:r>
          </a:p>
          <a:p>
            <a:pPr lvl="1">
              <a:buFont typeface="Wingdings" panose="05000000000000000000" pitchFamily="2" charset="2"/>
              <a:buChar char="l"/>
            </a:pPr>
            <a:r>
              <a:rPr lang="en-US" altLang="zh-CN" dirty="0">
                <a:latin typeface="+mn-lt"/>
                <a:ea typeface="+mn-ea"/>
                <a:cs typeface="+mn-ea"/>
                <a:sym typeface="+mn-lt"/>
              </a:rPr>
              <a:t>Share-for-Share Exchanges</a:t>
            </a:r>
          </a:p>
          <a:p>
            <a:pPr lvl="1">
              <a:buFont typeface="Wingdings" panose="05000000000000000000" pitchFamily="2" charset="2"/>
              <a:buChar char="ü"/>
            </a:pPr>
            <a:r>
              <a:rPr lang="en-US" altLang="zh-CN" dirty="0">
                <a:latin typeface="+mn-lt"/>
                <a:ea typeface="+mn-ea"/>
                <a:cs typeface="+mn-ea"/>
                <a:sym typeface="+mn-lt"/>
              </a:rPr>
              <a:t>Example: Suppose that Company A announces that it is willing to exchange one of its shares for four of Company B’s shares. Assume that Company B’s shares were trading at 15% of the price of Company A’s shares prior to the announcement. After the announcement, Company B’s share price might rise to 22% of Company A’s share price. A merger-arbitrage hedge fund would buy a certain amount of Company B’s stock and at the same time short a quarter as much of Company A’s stock. This strategy generates a profit if the deal goes ahead at the announced share-for-share exchange ratio or one that is more favorable to Company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8498360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Convertible </a:t>
            </a:r>
            <a:r>
              <a:rPr lang="en-US" altLang="zh-CN" b="1" dirty="0" smtClean="0">
                <a:latin typeface="+mn-lt"/>
                <a:ea typeface="+mn-ea"/>
                <a:cs typeface="+mn-ea"/>
                <a:sym typeface="+mn-lt"/>
              </a:rPr>
              <a:t>Arbitrage   </a:t>
            </a:r>
            <a:r>
              <a:rPr lang="zh-CN" altLang="en-US" sz="2000" b="1" dirty="0" smtClean="0">
                <a:solidFill>
                  <a:srgbClr val="FF0000"/>
                </a:solidFill>
                <a:latin typeface="+mn-lt"/>
                <a:ea typeface="+mn-ea"/>
                <a:cs typeface="+mn-ea"/>
                <a:sym typeface="+mn-lt"/>
              </a:rPr>
              <a:t>（这个相对来说重要一点）</a:t>
            </a:r>
            <a:endParaRPr lang="en-US" altLang="zh-CN" sz="2000" b="1" dirty="0">
              <a:solidFill>
                <a:srgbClr val="FF0000"/>
              </a:solidFill>
              <a:latin typeface="+mn-lt"/>
              <a:ea typeface="+mn-ea"/>
              <a:cs typeface="+mn-ea"/>
              <a:sym typeface="+mn-lt"/>
            </a:endParaRPr>
          </a:p>
          <a:p>
            <a:pPr lvl="1">
              <a:buFont typeface="Wingdings" panose="05000000000000000000" pitchFamily="2" charset="2"/>
              <a:buChar char="l"/>
            </a:pPr>
            <a:r>
              <a:rPr lang="en-US" altLang="zh-CN" b="1" dirty="0">
                <a:latin typeface="+mn-lt"/>
                <a:ea typeface="+mn-ea"/>
                <a:cs typeface="+mn-ea"/>
                <a:sym typeface="+mn-lt"/>
              </a:rPr>
              <a:t>Convertible bonds </a:t>
            </a:r>
            <a:r>
              <a:rPr lang="en-US" altLang="zh-CN" dirty="0">
                <a:latin typeface="+mn-lt"/>
                <a:ea typeface="+mn-ea"/>
                <a:cs typeface="+mn-ea"/>
                <a:sym typeface="+mn-lt"/>
              </a:rPr>
              <a:t>are bonds that can be converted into the equity of the bond issuer at certain specified future times with the number of shares received in exchange for a bond possibly depending on the time of the conversion.</a:t>
            </a:r>
          </a:p>
          <a:p>
            <a:pPr lvl="1">
              <a:buFont typeface="Wingdings" panose="05000000000000000000" pitchFamily="2" charset="2"/>
              <a:buChar char="l"/>
            </a:pPr>
            <a:r>
              <a:rPr lang="en-US" altLang="zh-CN" dirty="0">
                <a:latin typeface="+mn-lt"/>
                <a:ea typeface="+mn-ea"/>
                <a:cs typeface="+mn-ea"/>
                <a:sym typeface="+mn-lt"/>
              </a:rPr>
              <a:t>The issuer usually has the right to call the bond in certain circumstances.</a:t>
            </a:r>
          </a:p>
          <a:p>
            <a:pPr lvl="1">
              <a:buFont typeface="Wingdings" panose="05000000000000000000" pitchFamily="2" charset="2"/>
              <a:buChar char="l"/>
            </a:pPr>
            <a:r>
              <a:rPr lang="en-US" altLang="zh-CN" dirty="0">
                <a:latin typeface="+mn-lt"/>
                <a:ea typeface="+mn-ea"/>
                <a:cs typeface="+mn-ea"/>
                <a:sym typeface="+mn-lt"/>
              </a:rPr>
              <a:t>Many convertible bonds trade at prices below their fair value. Hedge fund managers buy the bond and then hedge their risks by shorting the stock (delta hedging). Interest rate risk and credit risk can be hedged by shorting nonconvertible bonds that are issued by the company that issued the convertible bond.</a:t>
            </a:r>
          </a:p>
          <a:p>
            <a:endParaRPr lang="zh-CN" altLang="en-US" dirty="0">
              <a:latin typeface="+mn-lt"/>
              <a:ea typeface="+mn-ea"/>
              <a:cs typeface="+mn-ea"/>
              <a:sym typeface="+mn-lt"/>
            </a:endParaRPr>
          </a:p>
        </p:txBody>
      </p:sp>
      <p:sp>
        <p:nvSpPr>
          <p:cNvPr id="4" name="文本框 3"/>
          <p:cNvSpPr txBox="1"/>
          <p:nvPr/>
        </p:nvSpPr>
        <p:spPr>
          <a:xfrm>
            <a:off x="868274" y="890580"/>
            <a:ext cx="3252033" cy="508562"/>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5418937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Fixed Income Arbitrage</a:t>
            </a:r>
          </a:p>
          <a:p>
            <a:pPr lvl="1">
              <a:buFont typeface="Wingdings" panose="05000000000000000000" pitchFamily="2" charset="2"/>
              <a:buChar char="l"/>
            </a:pPr>
            <a:r>
              <a:rPr lang="en-US" altLang="zh-CN" sz="2000" b="1" dirty="0">
                <a:latin typeface="+mn-lt"/>
                <a:ea typeface="+mn-ea"/>
                <a:cs typeface="+mn-ea"/>
                <a:sym typeface="+mn-lt"/>
              </a:rPr>
              <a:t>Relative value strategy</a:t>
            </a:r>
            <a:r>
              <a:rPr lang="en-US" altLang="zh-CN" sz="2000" dirty="0">
                <a:latin typeface="+mn-lt"/>
                <a:ea typeface="+mn-ea"/>
                <a:cs typeface="+mn-ea"/>
                <a:sym typeface="+mn-lt"/>
              </a:rPr>
              <a:t>: hedge fund managers buy bonds that the zero-coupon yield curve indicates are undervalued by the market and sell bonds that it indicates are overvalued. </a:t>
            </a:r>
          </a:p>
          <a:p>
            <a:pPr lvl="1">
              <a:buFont typeface="Wingdings" panose="05000000000000000000" pitchFamily="2" charset="2"/>
              <a:buChar char="l"/>
            </a:pPr>
            <a:r>
              <a:rPr lang="en-US" altLang="zh-CN" sz="2000" b="1" dirty="0">
                <a:latin typeface="+mn-lt"/>
                <a:ea typeface="+mn-ea"/>
                <a:cs typeface="+mn-ea"/>
                <a:sym typeface="+mn-lt"/>
              </a:rPr>
              <a:t>Market-neutral strategies </a:t>
            </a:r>
            <a:r>
              <a:rPr lang="en-US" altLang="zh-CN" sz="2000" dirty="0">
                <a:latin typeface="+mn-lt"/>
                <a:ea typeface="+mn-ea"/>
                <a:cs typeface="+mn-ea"/>
                <a:sym typeface="+mn-lt"/>
              </a:rPr>
              <a:t>are similar to relative value strategies except that the hedge fund manager tries to ensure that the fund has no exposure to interest rate movements.</a:t>
            </a:r>
          </a:p>
          <a:p>
            <a:pPr lvl="1">
              <a:buFont typeface="Wingdings" panose="05000000000000000000" pitchFamily="2" charset="2"/>
              <a:buChar char="l"/>
            </a:pPr>
            <a:r>
              <a:rPr lang="en-US" altLang="zh-CN" sz="2000" dirty="0">
                <a:latin typeface="+mn-lt"/>
                <a:ea typeface="+mn-ea"/>
                <a:cs typeface="+mn-ea"/>
                <a:sym typeface="+mn-lt"/>
              </a:rPr>
              <a:t>Some fixed-income hedge fund managers follow directional strategies where they take a position based on a belief that a certain spread between interest rates, or interest rates themselves, will move in a certain direction.</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65249082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a:bodyPr>
          <a:lstStyle/>
          <a:p>
            <a:r>
              <a:rPr lang="en-US" altLang="zh-CN" b="1" dirty="0">
                <a:latin typeface="+mn-lt"/>
                <a:ea typeface="+mn-ea"/>
                <a:cs typeface="+mn-ea"/>
                <a:sym typeface="+mn-lt"/>
              </a:rPr>
              <a:t>Emerging Markets</a:t>
            </a:r>
          </a:p>
          <a:p>
            <a:pPr lvl="1">
              <a:buFont typeface="Wingdings" panose="05000000000000000000" pitchFamily="2" charset="2"/>
              <a:buChar char="l"/>
            </a:pPr>
            <a:r>
              <a:rPr lang="en-US" altLang="zh-CN" dirty="0">
                <a:latin typeface="+mn-lt"/>
                <a:ea typeface="+mn-ea"/>
                <a:cs typeface="+mn-ea"/>
                <a:sym typeface="+mn-lt"/>
              </a:rPr>
              <a:t>Emerging market hedge funds specialize in investments associated with </a:t>
            </a:r>
            <a:r>
              <a:rPr lang="en-US" altLang="zh-CN" u="sng" dirty="0">
                <a:latin typeface="+mn-lt"/>
                <a:ea typeface="+mn-ea"/>
                <a:cs typeface="+mn-ea"/>
                <a:sym typeface="+mn-lt"/>
              </a:rPr>
              <a:t>developing countries.</a:t>
            </a:r>
          </a:p>
          <a:p>
            <a:pPr lvl="1">
              <a:buFont typeface="Wingdings" panose="05000000000000000000" pitchFamily="2" charset="2"/>
              <a:buChar char="l"/>
            </a:pPr>
            <a:r>
              <a:rPr lang="en-US" altLang="zh-CN" dirty="0">
                <a:latin typeface="+mn-lt"/>
                <a:ea typeface="+mn-ea"/>
                <a:cs typeface="+mn-ea"/>
                <a:sym typeface="+mn-lt"/>
              </a:rPr>
              <a:t>Some of these funds focus on equity investments. Usually they invest in securities trading on the local exchange, but sometimes they use </a:t>
            </a:r>
            <a:r>
              <a:rPr lang="en-US" altLang="zh-CN" dirty="0">
                <a:solidFill>
                  <a:srgbClr val="FF0000"/>
                </a:solidFill>
                <a:latin typeface="+mn-lt"/>
                <a:ea typeface="+mn-ea"/>
                <a:cs typeface="+mn-ea"/>
                <a:sym typeface="+mn-lt"/>
              </a:rPr>
              <a:t>American Depository Receipts (ADRs)</a:t>
            </a:r>
            <a:r>
              <a:rPr lang="en-US" altLang="zh-CN" dirty="0">
                <a:latin typeface="+mn-lt"/>
                <a:ea typeface="+mn-ea"/>
                <a:cs typeface="+mn-ea"/>
                <a:sym typeface="+mn-lt"/>
              </a:rPr>
              <a:t>. </a:t>
            </a:r>
            <a:r>
              <a:rPr lang="en-US" altLang="zh-CN" dirty="0" smtClean="0">
                <a:latin typeface="+mn-lt"/>
                <a:ea typeface="+mn-ea"/>
                <a:cs typeface="+mn-ea"/>
                <a:sym typeface="+mn-lt"/>
              </a:rPr>
              <a:t>They </a:t>
            </a:r>
            <a:r>
              <a:rPr lang="en-US" altLang="zh-CN" dirty="0">
                <a:latin typeface="+mn-lt"/>
                <a:ea typeface="+mn-ea"/>
                <a:cs typeface="+mn-ea"/>
                <a:sym typeface="+mn-lt"/>
              </a:rPr>
              <a:t>are backed by shares of a foreign company.</a:t>
            </a:r>
          </a:p>
          <a:p>
            <a:pPr lvl="1">
              <a:buFont typeface="Wingdings" panose="05000000000000000000" pitchFamily="2" charset="2"/>
              <a:buChar char="l"/>
            </a:pPr>
            <a:r>
              <a:rPr lang="en-US" altLang="zh-CN" dirty="0">
                <a:latin typeface="+mn-lt"/>
                <a:ea typeface="+mn-ea"/>
                <a:cs typeface="+mn-ea"/>
                <a:sym typeface="+mn-lt"/>
              </a:rPr>
              <a:t>Another type of investment is debt issued by an emerging market country. Eurobonds are bonds issued by the country and denominated in a hard currency such as the U.S. dollar or the euro. Local currency bonds are bonds denominated in the local currency.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5492876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Hedge Fund Strategies</a:t>
            </a:r>
            <a:endParaRPr lang="zh-CN" altLang="en-US" dirty="0">
              <a:latin typeface="+mn-lt"/>
              <a:ea typeface="+mn-ea"/>
              <a:cs typeface="+mn-ea"/>
              <a:sym typeface="+mn-lt"/>
            </a:endParaRPr>
          </a:p>
        </p:txBody>
      </p:sp>
      <p:sp>
        <p:nvSpPr>
          <p:cNvPr id="3" name="文本占位符 2"/>
          <p:cNvSpPr>
            <a:spLocks noGrp="1"/>
          </p:cNvSpPr>
          <p:nvPr>
            <p:ph type="body" sz="quarter" idx="10"/>
          </p:nvPr>
        </p:nvSpPr>
        <p:spPr/>
        <p:txBody>
          <a:bodyPr>
            <a:normAutofit fontScale="92500"/>
          </a:bodyPr>
          <a:lstStyle/>
          <a:p>
            <a:r>
              <a:rPr lang="en-US" altLang="zh-CN" sz="2600" b="1" dirty="0">
                <a:latin typeface="+mn-lt"/>
                <a:ea typeface="+mn-ea"/>
                <a:cs typeface="+mn-ea"/>
                <a:sym typeface="+mn-lt"/>
              </a:rPr>
              <a:t>Global Macro</a:t>
            </a:r>
          </a:p>
          <a:p>
            <a:pPr lvl="1">
              <a:buFont typeface="Wingdings" panose="05000000000000000000" pitchFamily="2" charset="2"/>
              <a:buChar char="l"/>
            </a:pPr>
            <a:r>
              <a:rPr lang="en-US" altLang="zh-CN" dirty="0">
                <a:latin typeface="+mn-lt"/>
                <a:ea typeface="+mn-ea"/>
                <a:cs typeface="+mn-ea"/>
                <a:sym typeface="+mn-lt"/>
              </a:rPr>
              <a:t>Global macro hedge fund managers carry out trades that reflect global macroeconomic trends.</a:t>
            </a:r>
          </a:p>
          <a:p>
            <a:pPr lvl="1">
              <a:buFont typeface="Wingdings" panose="05000000000000000000" pitchFamily="2" charset="2"/>
              <a:buChar char="l"/>
            </a:pPr>
            <a:r>
              <a:rPr lang="en-US" altLang="zh-CN" dirty="0">
                <a:latin typeface="+mn-lt"/>
                <a:ea typeface="+mn-ea"/>
                <a:cs typeface="+mn-ea"/>
                <a:sym typeface="+mn-lt"/>
              </a:rPr>
              <a:t>They look for situations where markets have, for whatever reason, moved away from equilibrium and placed large bets that they will move back into equilibrium.</a:t>
            </a:r>
          </a:p>
          <a:p>
            <a:r>
              <a:rPr lang="en-US" altLang="zh-CN" sz="2600" b="1" dirty="0">
                <a:latin typeface="+mn-lt"/>
                <a:ea typeface="+mn-ea"/>
                <a:cs typeface="+mn-ea"/>
                <a:sym typeface="+mn-lt"/>
              </a:rPr>
              <a:t>Managed Futures</a:t>
            </a:r>
          </a:p>
          <a:p>
            <a:pPr lvl="1">
              <a:buFont typeface="Wingdings" panose="05000000000000000000" pitchFamily="2" charset="2"/>
              <a:buChar char="l"/>
            </a:pPr>
            <a:r>
              <a:rPr lang="en-US" altLang="zh-CN" dirty="0">
                <a:latin typeface="+mn-lt"/>
                <a:ea typeface="+mn-ea"/>
                <a:cs typeface="+mn-ea"/>
                <a:sym typeface="+mn-lt"/>
              </a:rPr>
              <a:t>Hedge fund managers that use managed futures strategies attempt to predict future movements in commodity prices.</a:t>
            </a:r>
          </a:p>
          <a:p>
            <a:pPr lvl="1">
              <a:buFont typeface="Wingdings" panose="05000000000000000000" pitchFamily="2" charset="2"/>
              <a:buChar char="l"/>
            </a:pPr>
            <a:r>
              <a:rPr lang="en-US" altLang="zh-CN" dirty="0">
                <a:latin typeface="+mn-lt"/>
                <a:ea typeface="+mn-ea"/>
                <a:cs typeface="+mn-ea"/>
                <a:sym typeface="+mn-lt"/>
              </a:rPr>
              <a:t>Some managers base their trading on technical analysis, which analyzes past price patterns to predict the future. Others use fundamental analysis, which involves calculating a fair value for the commodity from economic, political, and other relevant factors.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4939759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Autofit/>
          </a:bodyPr>
          <a:lstStyle/>
          <a:p>
            <a:r>
              <a:rPr lang="en-US" altLang="zh-CN" b="0" dirty="0" smtClean="0">
                <a:latin typeface="+mn-lt"/>
                <a:ea typeface="+mn-ea"/>
                <a:cs typeface="+mn-ea"/>
                <a:sym typeface="+mn-lt"/>
              </a:rPr>
              <a:t>Differentiate </a:t>
            </a:r>
            <a:r>
              <a:rPr lang="en-US" altLang="zh-CN" b="0" dirty="0">
                <a:latin typeface="+mn-lt"/>
                <a:ea typeface="+mn-ea"/>
                <a:cs typeface="+mn-ea"/>
                <a:sym typeface="+mn-lt"/>
              </a:rPr>
              <a:t>among open-end mutual funds, closed-end mutual funds, and </a:t>
            </a:r>
            <a:r>
              <a:rPr lang="en-US" altLang="zh-CN" b="0" dirty="0" smtClean="0">
                <a:latin typeface="+mn-lt"/>
                <a:ea typeface="+mn-ea"/>
                <a:cs typeface="+mn-ea"/>
                <a:sym typeface="+mn-lt"/>
              </a:rPr>
              <a:t>ETFs</a:t>
            </a:r>
            <a:r>
              <a:rPr lang="en-US" altLang="zh-CN" b="0" dirty="0">
                <a:latin typeface="+mn-lt"/>
                <a:ea typeface="+mn-ea"/>
                <a:cs typeface="+mn-ea"/>
                <a:sym typeface="+mn-lt"/>
              </a:rPr>
              <a:t>. </a:t>
            </a:r>
            <a:r>
              <a:rPr lang="en-US" altLang="zh-CN" b="0" dirty="0" smtClean="0">
                <a:latin typeface="+mn-lt"/>
                <a:ea typeface="+mn-ea"/>
                <a:cs typeface="+mn-ea"/>
                <a:sym typeface="+mn-lt"/>
              </a:rPr>
              <a:t>★</a:t>
            </a:r>
            <a:r>
              <a:rPr lang="en-US" altLang="zh-CN" b="0" dirty="0">
                <a:latin typeface="+mn-lt"/>
                <a:ea typeface="+mn-ea"/>
                <a:cs typeface="+mn-ea"/>
                <a:sym typeface="+mn-lt"/>
              </a:rPr>
              <a:t> ★</a:t>
            </a:r>
          </a:p>
          <a:p>
            <a:r>
              <a:rPr lang="en-US" altLang="zh-CN" b="0" dirty="0" smtClean="0">
                <a:latin typeface="+mn-lt"/>
                <a:ea typeface="+mn-ea"/>
                <a:cs typeface="+mn-ea"/>
                <a:sym typeface="+mn-lt"/>
              </a:rPr>
              <a:t>Calculate </a:t>
            </a:r>
            <a:r>
              <a:rPr lang="en-US" altLang="zh-CN" b="0" dirty="0">
                <a:latin typeface="+mn-lt"/>
                <a:ea typeface="+mn-ea"/>
                <a:cs typeface="+mn-ea"/>
                <a:sym typeface="+mn-lt"/>
              </a:rPr>
              <a:t>the net asset value (NAV) </a:t>
            </a:r>
            <a:r>
              <a:rPr lang="en-US" altLang="zh-CN" b="0" dirty="0" smtClean="0">
                <a:latin typeface="+mn-lt"/>
                <a:ea typeface="+mn-ea"/>
                <a:cs typeface="+mn-ea"/>
                <a:sym typeface="+mn-lt"/>
              </a:rPr>
              <a:t>★</a:t>
            </a:r>
            <a:r>
              <a:rPr lang="en-US" altLang="zh-CN" b="0" dirty="0">
                <a:latin typeface="+mn-lt"/>
                <a:ea typeface="+mn-ea"/>
                <a:cs typeface="+mn-ea"/>
                <a:sym typeface="+mn-lt"/>
              </a:rPr>
              <a:t> ★</a:t>
            </a:r>
            <a:endParaRPr lang="en-US" altLang="zh-CN" b="0" dirty="0" smtClean="0">
              <a:latin typeface="+mn-lt"/>
              <a:ea typeface="+mn-ea"/>
              <a:cs typeface="+mn-ea"/>
              <a:sym typeface="+mn-lt"/>
            </a:endParaRPr>
          </a:p>
          <a:p>
            <a:r>
              <a:rPr lang="en-US" altLang="zh-CN" b="0" dirty="0" smtClean="0">
                <a:latin typeface="+mn-lt"/>
                <a:ea typeface="+mn-ea"/>
                <a:cs typeface="+mn-ea"/>
                <a:sym typeface="+mn-lt"/>
              </a:rPr>
              <a:t>Distinguish </a:t>
            </a:r>
            <a:r>
              <a:rPr lang="en-US" altLang="zh-CN" b="0" dirty="0">
                <a:latin typeface="+mn-lt"/>
                <a:ea typeface="+mn-ea"/>
                <a:cs typeface="+mn-ea"/>
                <a:sym typeface="+mn-lt"/>
              </a:rPr>
              <a:t>between active and passive management and define alpha. ★</a:t>
            </a:r>
          </a:p>
          <a:p>
            <a:r>
              <a:rPr lang="en-US" altLang="zh-CN" b="0" dirty="0" smtClean="0">
                <a:solidFill>
                  <a:srgbClr val="FF0000"/>
                </a:solidFill>
                <a:latin typeface="+mn-lt"/>
                <a:ea typeface="+mn-ea"/>
                <a:cs typeface="+mn-ea"/>
                <a:sym typeface="+mn-lt"/>
              </a:rPr>
              <a:t>Explain </a:t>
            </a:r>
            <a:r>
              <a:rPr lang="en-US" altLang="zh-CN" b="0" dirty="0">
                <a:solidFill>
                  <a:srgbClr val="FF0000"/>
                </a:solidFill>
                <a:latin typeface="+mn-lt"/>
                <a:ea typeface="+mn-ea"/>
                <a:cs typeface="+mn-ea"/>
                <a:sym typeface="+mn-lt"/>
              </a:rPr>
              <a:t>the key differences between hedge funds and mutual funds. </a:t>
            </a:r>
            <a:r>
              <a:rPr lang="en-US" altLang="zh-CN" b="0" dirty="0" smtClean="0">
                <a:solidFill>
                  <a:srgbClr val="FF0000"/>
                </a:solidFill>
                <a:latin typeface="+mn-lt"/>
                <a:ea typeface="+mn-ea"/>
                <a:cs typeface="+mn-ea"/>
                <a:sym typeface="+mn-lt"/>
              </a:rPr>
              <a:t>★</a:t>
            </a:r>
            <a:r>
              <a:rPr lang="en-US" altLang="zh-CN" b="0" dirty="0">
                <a:solidFill>
                  <a:srgbClr val="FF0000"/>
                </a:solidFill>
                <a:latin typeface="+mn-lt"/>
                <a:ea typeface="+mn-ea"/>
                <a:cs typeface="+mn-ea"/>
                <a:sym typeface="+mn-lt"/>
              </a:rPr>
              <a:t> </a:t>
            </a:r>
            <a:r>
              <a:rPr lang="en-US" altLang="zh-CN" b="0" dirty="0" smtClean="0">
                <a:solidFill>
                  <a:srgbClr val="FF0000"/>
                </a:solidFill>
                <a:latin typeface="+mn-lt"/>
                <a:ea typeface="+mn-ea"/>
                <a:cs typeface="+mn-ea"/>
                <a:sym typeface="+mn-lt"/>
              </a:rPr>
              <a:t>★</a:t>
            </a:r>
            <a:r>
              <a:rPr lang="en-US" altLang="zh-CN" b="0" dirty="0">
                <a:solidFill>
                  <a:srgbClr val="FF0000"/>
                </a:solidFill>
                <a:latin typeface="+mn-lt"/>
                <a:ea typeface="+mn-ea"/>
                <a:cs typeface="+mn-ea"/>
                <a:sym typeface="+mn-lt"/>
              </a:rPr>
              <a:t> ★</a:t>
            </a:r>
          </a:p>
          <a:p>
            <a:r>
              <a:rPr lang="en-US" altLang="zh-CN" b="0" dirty="0" smtClean="0">
                <a:solidFill>
                  <a:srgbClr val="FF0000"/>
                </a:solidFill>
                <a:latin typeface="+mn-lt"/>
                <a:ea typeface="+mn-ea"/>
                <a:cs typeface="+mn-ea"/>
                <a:sym typeface="+mn-lt"/>
              </a:rPr>
              <a:t>Calculate </a:t>
            </a:r>
            <a:r>
              <a:rPr lang="en-US" altLang="zh-CN" b="0" dirty="0">
                <a:solidFill>
                  <a:srgbClr val="FF0000"/>
                </a:solidFill>
                <a:latin typeface="+mn-lt"/>
                <a:ea typeface="+mn-ea"/>
                <a:cs typeface="+mn-ea"/>
                <a:sym typeface="+mn-lt"/>
              </a:rPr>
              <a:t>the return on a hedge fund investment and </a:t>
            </a:r>
            <a:r>
              <a:rPr lang="en-US" altLang="zh-CN" b="0" dirty="0" smtClean="0">
                <a:solidFill>
                  <a:srgbClr val="FF0000"/>
                </a:solidFill>
                <a:latin typeface="+mn-lt"/>
                <a:ea typeface="+mn-ea"/>
                <a:cs typeface="+mn-ea"/>
                <a:sym typeface="+mn-lt"/>
              </a:rPr>
              <a:t>the </a:t>
            </a:r>
            <a:r>
              <a:rPr lang="en-US" altLang="zh-CN" b="0" dirty="0">
                <a:solidFill>
                  <a:srgbClr val="FF0000"/>
                </a:solidFill>
                <a:latin typeface="+mn-lt"/>
                <a:ea typeface="+mn-ea"/>
                <a:cs typeface="+mn-ea"/>
                <a:sym typeface="+mn-lt"/>
              </a:rPr>
              <a:t>incentive </a:t>
            </a:r>
            <a:r>
              <a:rPr lang="en-US" altLang="zh-CN" b="0" dirty="0" smtClean="0">
                <a:solidFill>
                  <a:srgbClr val="FF0000"/>
                </a:solidFill>
                <a:latin typeface="+mn-lt"/>
                <a:ea typeface="+mn-ea"/>
                <a:cs typeface="+mn-ea"/>
                <a:sym typeface="+mn-lt"/>
              </a:rPr>
              <a:t>fee, the </a:t>
            </a:r>
            <a:r>
              <a:rPr lang="en-US" altLang="zh-CN" b="0" dirty="0">
                <a:solidFill>
                  <a:srgbClr val="FF0000"/>
                </a:solidFill>
                <a:latin typeface="+mn-lt"/>
                <a:ea typeface="+mn-ea"/>
                <a:cs typeface="+mn-ea"/>
                <a:sym typeface="+mn-lt"/>
              </a:rPr>
              <a:t>terms hurdle rate, high-water mark, and </a:t>
            </a:r>
            <a:r>
              <a:rPr lang="en-US" altLang="zh-CN" b="0" dirty="0" smtClean="0">
                <a:solidFill>
                  <a:srgbClr val="FF0000"/>
                </a:solidFill>
                <a:latin typeface="+mn-lt"/>
                <a:ea typeface="+mn-ea"/>
                <a:cs typeface="+mn-ea"/>
                <a:sym typeface="+mn-lt"/>
              </a:rPr>
              <a:t>claw back</a:t>
            </a:r>
            <a:r>
              <a:rPr lang="en-US" altLang="zh-CN" b="0" dirty="0">
                <a:solidFill>
                  <a:srgbClr val="FF0000"/>
                </a:solidFill>
                <a:latin typeface="+mn-lt"/>
                <a:ea typeface="+mn-ea"/>
                <a:cs typeface="+mn-ea"/>
                <a:sym typeface="+mn-lt"/>
              </a:rPr>
              <a:t>. </a:t>
            </a:r>
            <a:r>
              <a:rPr lang="en-US" altLang="zh-CN" b="0" dirty="0" smtClean="0">
                <a:solidFill>
                  <a:srgbClr val="FF0000"/>
                </a:solidFill>
                <a:latin typeface="+mn-lt"/>
                <a:ea typeface="+mn-ea"/>
                <a:cs typeface="+mn-ea"/>
                <a:sym typeface="+mn-lt"/>
              </a:rPr>
              <a:t>★</a:t>
            </a:r>
            <a:r>
              <a:rPr lang="en-US" altLang="zh-CN" b="0" dirty="0">
                <a:solidFill>
                  <a:srgbClr val="FF0000"/>
                </a:solidFill>
                <a:latin typeface="+mn-lt"/>
                <a:ea typeface="+mn-ea"/>
                <a:cs typeface="+mn-ea"/>
                <a:sym typeface="+mn-lt"/>
              </a:rPr>
              <a:t> </a:t>
            </a:r>
            <a:r>
              <a:rPr lang="en-US" altLang="zh-CN" b="0" dirty="0" smtClean="0">
                <a:solidFill>
                  <a:srgbClr val="FF0000"/>
                </a:solidFill>
                <a:latin typeface="+mn-lt"/>
                <a:ea typeface="+mn-ea"/>
                <a:cs typeface="+mn-ea"/>
                <a:sym typeface="+mn-lt"/>
              </a:rPr>
              <a:t>★</a:t>
            </a:r>
            <a:r>
              <a:rPr lang="en-US" altLang="zh-CN" b="0" dirty="0">
                <a:solidFill>
                  <a:srgbClr val="FF0000"/>
                </a:solidFill>
                <a:latin typeface="+mn-lt"/>
                <a:ea typeface="+mn-ea"/>
                <a:cs typeface="+mn-ea"/>
                <a:sym typeface="+mn-lt"/>
              </a:rPr>
              <a:t> ★</a:t>
            </a:r>
          </a:p>
          <a:p>
            <a:r>
              <a:rPr lang="en-US" altLang="zh-CN" b="0" dirty="0" smtClean="0">
                <a:latin typeface="+mn-lt"/>
                <a:ea typeface="+mn-ea"/>
                <a:cs typeface="+mn-ea"/>
                <a:sym typeface="+mn-lt"/>
              </a:rPr>
              <a:t>Describe </a:t>
            </a:r>
            <a:r>
              <a:rPr lang="en-US" altLang="zh-CN" b="0" dirty="0">
                <a:latin typeface="+mn-lt"/>
                <a:ea typeface="+mn-ea"/>
                <a:cs typeface="+mn-ea"/>
                <a:sym typeface="+mn-lt"/>
              </a:rPr>
              <a:t>various hedge fund </a:t>
            </a:r>
            <a:r>
              <a:rPr lang="en-US" altLang="zh-CN" b="0" dirty="0" smtClean="0">
                <a:latin typeface="+mn-lt"/>
                <a:ea typeface="+mn-ea"/>
                <a:cs typeface="+mn-ea"/>
                <a:sym typeface="+mn-lt"/>
              </a:rPr>
              <a:t>strategies, identify </a:t>
            </a:r>
            <a:r>
              <a:rPr lang="en-US" altLang="zh-CN" b="0" dirty="0">
                <a:latin typeface="+mn-lt"/>
                <a:ea typeface="+mn-ea"/>
                <a:cs typeface="+mn-ea"/>
                <a:sym typeface="+mn-lt"/>
              </a:rPr>
              <a:t>the risks faced by hedge funds. </a:t>
            </a:r>
            <a:r>
              <a:rPr lang="en-US" altLang="zh-CN" b="0" dirty="0" smtClean="0">
                <a:latin typeface="+mn-lt"/>
                <a:ea typeface="+mn-ea"/>
                <a:cs typeface="+mn-ea"/>
                <a:sym typeface="+mn-lt"/>
              </a:rPr>
              <a:t>★</a:t>
            </a:r>
            <a:r>
              <a:rPr lang="en-US" altLang="zh-CN" b="0" dirty="0">
                <a:latin typeface="+mn-lt"/>
                <a:ea typeface="+mn-ea"/>
                <a:cs typeface="+mn-ea"/>
                <a:sym typeface="+mn-lt"/>
              </a:rPr>
              <a:t> ★</a:t>
            </a:r>
          </a:p>
          <a:p>
            <a:r>
              <a:rPr lang="en-US" altLang="zh-CN" b="0" dirty="0" smtClean="0">
                <a:latin typeface="+mn-lt"/>
                <a:ea typeface="+mn-ea"/>
                <a:cs typeface="+mn-ea"/>
                <a:sym typeface="+mn-lt"/>
              </a:rPr>
              <a:t>Describe </a:t>
            </a:r>
            <a:r>
              <a:rPr lang="en-US" altLang="zh-CN" b="0" dirty="0">
                <a:latin typeface="+mn-lt"/>
                <a:ea typeface="+mn-ea"/>
                <a:cs typeface="+mn-ea"/>
                <a:sym typeface="+mn-lt"/>
              </a:rPr>
              <a:t>hedge fund performance and explain the effect of measurement biases on performance measurement. </a:t>
            </a:r>
            <a:r>
              <a:rPr lang="en-US" altLang="zh-CN" b="0" dirty="0" smtClean="0">
                <a:latin typeface="+mn-lt"/>
                <a:ea typeface="+mn-ea"/>
                <a:cs typeface="+mn-ea"/>
                <a:sym typeface="+mn-lt"/>
              </a:rPr>
              <a:t>★</a:t>
            </a:r>
            <a:r>
              <a:rPr lang="en-US" altLang="zh-CN" b="0" dirty="0">
                <a:latin typeface="+mn-lt"/>
                <a:ea typeface="+mn-ea"/>
                <a:cs typeface="+mn-ea"/>
                <a:sym typeface="+mn-lt"/>
              </a:rPr>
              <a:t> ★</a:t>
            </a:r>
            <a:endParaRPr lang="zh-CN" altLang="en-US" b="0" dirty="0">
              <a:latin typeface="+mn-lt"/>
              <a:ea typeface="+mn-ea"/>
              <a:cs typeface="+mn-ea"/>
              <a:sym typeface="+mn-lt"/>
            </a:endParaRPr>
          </a:p>
        </p:txBody>
      </p:sp>
    </p:spTree>
    <p:extLst>
      <p:ext uri="{BB962C8B-B14F-4D97-AF65-F5344CB8AC3E}">
        <p14:creationId xmlns:p14="http://schemas.microsoft.com/office/powerpoint/2010/main" val="23424654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Introduction </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33596459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Board </a:t>
            </a:r>
            <a:r>
              <a:rPr lang="en-US" altLang="zh-CN" dirty="0" smtClean="0"/>
              <a:t>Categories </a:t>
            </a:r>
            <a:r>
              <a:rPr lang="en-US" altLang="zh-CN" dirty="0"/>
              <a:t>of </a:t>
            </a:r>
            <a:r>
              <a:rPr lang="en-US" altLang="zh-CN" dirty="0" smtClean="0"/>
              <a:t>Traders</a:t>
            </a:r>
            <a:endParaRPr lang="en-US" altLang="zh-CN" dirty="0"/>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Hedgers</a:t>
            </a:r>
          </a:p>
          <a:p>
            <a:pPr lvl="1">
              <a:lnSpc>
                <a:spcPct val="140000"/>
              </a:lnSpc>
              <a:spcBef>
                <a:spcPct val="0"/>
              </a:spcBef>
            </a:pPr>
            <a:r>
              <a:rPr lang="en-US" altLang="zh-CN" dirty="0"/>
              <a:t>Use derivatives markets to </a:t>
            </a:r>
            <a:r>
              <a:rPr lang="en-US" altLang="zh-CN" u="sng" dirty="0" smtClean="0"/>
              <a:t>offset the risk</a:t>
            </a:r>
            <a:r>
              <a:rPr lang="zh-CN" altLang="en-US" sz="2000" u="sng" dirty="0" smtClean="0">
                <a:solidFill>
                  <a:srgbClr val="FF0000"/>
                </a:solidFill>
              </a:rPr>
              <a:t>（抵消风险）</a:t>
            </a:r>
            <a:r>
              <a:rPr lang="en-US" altLang="zh-CN" sz="2000" dirty="0" smtClean="0">
                <a:solidFill>
                  <a:srgbClr val="FF0000"/>
                </a:solidFill>
              </a:rPr>
              <a:t> </a:t>
            </a:r>
            <a:r>
              <a:rPr lang="en-US" altLang="zh-CN" dirty="0" smtClean="0"/>
              <a:t>of </a:t>
            </a:r>
            <a:r>
              <a:rPr lang="en-US" altLang="zh-CN" dirty="0"/>
              <a:t>prices moving unfavorably for their ongoing business activities</a:t>
            </a:r>
            <a:r>
              <a:rPr lang="en-US" altLang="zh-CN" dirty="0" smtClean="0"/>
              <a:t>.</a:t>
            </a:r>
            <a:endParaRPr lang="en-US" altLang="zh-CN" dirty="0"/>
          </a:p>
          <a:p>
            <a:pPr>
              <a:lnSpc>
                <a:spcPct val="140000"/>
              </a:lnSpc>
              <a:spcBef>
                <a:spcPct val="0"/>
              </a:spcBef>
            </a:pPr>
            <a:r>
              <a:rPr lang="en-US" altLang="zh-CN" dirty="0"/>
              <a:t>Speculators</a:t>
            </a:r>
          </a:p>
          <a:p>
            <a:pPr lvl="1">
              <a:lnSpc>
                <a:spcPct val="140000"/>
              </a:lnSpc>
              <a:spcBef>
                <a:spcPct val="0"/>
              </a:spcBef>
            </a:pPr>
            <a:r>
              <a:rPr lang="en-US" altLang="zh-CN" dirty="0"/>
              <a:t>Use derivatives to </a:t>
            </a:r>
            <a:r>
              <a:rPr lang="en-US" altLang="zh-CN" u="sng" dirty="0"/>
              <a:t>seek profits by betting on the future direction of market prices of the underlying </a:t>
            </a:r>
            <a:r>
              <a:rPr lang="en-US" altLang="zh-CN" u="sng" dirty="0" smtClean="0"/>
              <a:t>asset.</a:t>
            </a:r>
            <a:r>
              <a:rPr lang="zh-CN" altLang="en-US" sz="2000" u="sng" dirty="0" smtClean="0">
                <a:solidFill>
                  <a:srgbClr val="FF0000"/>
                </a:solidFill>
              </a:rPr>
              <a:t> </a:t>
            </a:r>
            <a:r>
              <a:rPr lang="en-US" altLang="zh-CN" sz="2000" u="sng" dirty="0" smtClean="0">
                <a:solidFill>
                  <a:srgbClr val="FF0000"/>
                </a:solidFill>
              </a:rPr>
              <a:t>(</a:t>
            </a:r>
            <a:r>
              <a:rPr lang="zh-CN" altLang="en-US" sz="2000" u="sng" dirty="0" smtClean="0">
                <a:solidFill>
                  <a:srgbClr val="FF0000"/>
                </a:solidFill>
              </a:rPr>
              <a:t>赌徒）</a:t>
            </a:r>
            <a:endParaRPr lang="en-US" altLang="zh-CN" sz="2000" dirty="0">
              <a:solidFill>
                <a:srgbClr val="FF0000"/>
              </a:solidFill>
            </a:endParaRPr>
          </a:p>
          <a:p>
            <a:pPr>
              <a:lnSpc>
                <a:spcPct val="140000"/>
              </a:lnSpc>
              <a:spcBef>
                <a:spcPct val="0"/>
              </a:spcBef>
            </a:pPr>
            <a:r>
              <a:rPr lang="en-US" altLang="zh-CN" dirty="0"/>
              <a:t>Arbitrageurs</a:t>
            </a:r>
          </a:p>
          <a:p>
            <a:pPr lvl="1">
              <a:lnSpc>
                <a:spcPct val="140000"/>
              </a:lnSpc>
              <a:spcBef>
                <a:spcPct val="0"/>
              </a:spcBef>
            </a:pPr>
            <a:r>
              <a:rPr lang="en-US" altLang="zh-CN" dirty="0"/>
              <a:t>Use derivatives to take offsetting positions in two or more instruments to </a:t>
            </a:r>
            <a:r>
              <a:rPr lang="en-US" altLang="zh-CN" u="sng" dirty="0"/>
              <a:t>lock in a profit</a:t>
            </a:r>
            <a:r>
              <a:rPr lang="en-US" altLang="zh-CN" dirty="0"/>
              <a:t>.</a:t>
            </a:r>
          </a:p>
          <a:p>
            <a:pPr>
              <a:lnSpc>
                <a:spcPct val="140000"/>
              </a:lnSpc>
              <a:spcBef>
                <a:spcPct val="0"/>
              </a:spcBef>
            </a:pPr>
            <a:r>
              <a:rPr lang="en-US" altLang="zh-CN" dirty="0"/>
              <a:t>Market maker </a:t>
            </a:r>
          </a:p>
          <a:p>
            <a:pPr lvl="1">
              <a:lnSpc>
                <a:spcPct val="140000"/>
              </a:lnSpc>
              <a:spcBef>
                <a:spcPct val="0"/>
              </a:spcBef>
            </a:pPr>
            <a:r>
              <a:rPr lang="en-US" altLang="zh-CN" dirty="0"/>
              <a:t>A market maker is a firm facilitate the trading of a particular security to </a:t>
            </a:r>
            <a:r>
              <a:rPr lang="en-US" altLang="zh-CN" u="sng" dirty="0"/>
              <a:t>keep the financial market liquid</a:t>
            </a:r>
            <a:r>
              <a:rPr lang="en-US" altLang="zh-CN" dirty="0"/>
              <a:t> by providing buy and sell quotations simultaneously.</a:t>
            </a:r>
          </a:p>
          <a:p>
            <a:endParaRPr lang="zh-CN" altLang="en-US" dirty="0"/>
          </a:p>
        </p:txBody>
      </p:sp>
    </p:spTree>
    <p:extLst>
      <p:ext uri="{BB962C8B-B14F-4D97-AF65-F5344CB8AC3E}">
        <p14:creationId xmlns:p14="http://schemas.microsoft.com/office/powerpoint/2010/main" val="193748717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Over-The-Counter Markets</a:t>
            </a:r>
            <a:endParaRPr lang="zh-CN" altLang="en-US" dirty="0"/>
          </a:p>
        </p:txBody>
      </p:sp>
      <p:sp>
        <p:nvSpPr>
          <p:cNvPr id="3" name="文本占位符 2"/>
          <p:cNvSpPr>
            <a:spLocks noGrp="1"/>
          </p:cNvSpPr>
          <p:nvPr>
            <p:ph type="body" sz="quarter" idx="10"/>
          </p:nvPr>
        </p:nvSpPr>
        <p:spPr/>
        <p:txBody>
          <a:bodyPr/>
          <a:lstStyle/>
          <a:p>
            <a:r>
              <a:rPr lang="en-US" altLang="zh-CN" sz="2200" b="0" dirty="0">
                <a:solidFill>
                  <a:schemeClr val="tx1"/>
                </a:solidFill>
              </a:rPr>
              <a:t>A derivatives exchange is a central marketplace where participants can trade </a:t>
            </a:r>
            <a:r>
              <a:rPr lang="en-US" altLang="zh-CN" sz="2200" b="0" u="sng" dirty="0" smtClean="0">
                <a:solidFill>
                  <a:schemeClr val="tx1"/>
                </a:solidFill>
              </a:rPr>
              <a:t>standardized contracts</a:t>
            </a:r>
            <a:r>
              <a:rPr lang="en-US" altLang="zh-CN" sz="2200" b="0" u="sng" dirty="0">
                <a:solidFill>
                  <a:schemeClr val="tx1"/>
                </a:solidFill>
              </a:rPr>
              <a:t>. </a:t>
            </a:r>
            <a:r>
              <a:rPr lang="en-US" altLang="zh-CN" sz="2200" b="0" dirty="0">
                <a:solidFill>
                  <a:schemeClr val="tx1"/>
                </a:solidFill>
              </a:rPr>
              <a:t>The over-the-counter (OTC) market is an alternative to exchanges where </a:t>
            </a:r>
            <a:r>
              <a:rPr lang="en-US" altLang="zh-CN" sz="2200" b="0" dirty="0" smtClean="0">
                <a:solidFill>
                  <a:schemeClr val="tx1"/>
                </a:solidFill>
              </a:rPr>
              <a:t>trades take </a:t>
            </a:r>
            <a:r>
              <a:rPr lang="en-US" altLang="zh-CN" sz="2200" b="0" dirty="0">
                <a:solidFill>
                  <a:schemeClr val="tx1"/>
                </a:solidFill>
              </a:rPr>
              <a:t>place between two counterparties directly or through a network of dealers linked </a:t>
            </a:r>
            <a:r>
              <a:rPr lang="en-US" altLang="zh-CN" sz="2200" b="0" dirty="0" smtClean="0">
                <a:solidFill>
                  <a:schemeClr val="tx1"/>
                </a:solidFill>
              </a:rPr>
              <a:t>by recorded </a:t>
            </a:r>
            <a:r>
              <a:rPr lang="en-US" altLang="zh-CN" sz="2200" b="0" dirty="0">
                <a:solidFill>
                  <a:schemeClr val="tx1"/>
                </a:solidFill>
              </a:rPr>
              <a:t>phone conversations and computers</a:t>
            </a:r>
            <a:r>
              <a:rPr lang="en-US" altLang="zh-CN" sz="2200" b="0" u="sng" dirty="0" smtClean="0">
                <a:solidFill>
                  <a:schemeClr val="tx1"/>
                </a:solidFill>
              </a:rPr>
              <a:t>.(customized contracts)</a:t>
            </a:r>
          </a:p>
          <a:p>
            <a:r>
              <a:rPr lang="en-US" altLang="zh-CN" b="0" dirty="0">
                <a:solidFill>
                  <a:schemeClr val="accent6">
                    <a:lumMod val="50000"/>
                  </a:schemeClr>
                </a:solidFill>
              </a:rPr>
              <a:t>The key differences include the following:</a:t>
            </a:r>
            <a:endParaRPr lang="zh-CN" altLang="en-US" b="0" dirty="0">
              <a:solidFill>
                <a:schemeClr val="accent6">
                  <a:lumMod val="50000"/>
                </a:schemeClr>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2147664776"/>
              </p:ext>
            </p:extLst>
          </p:nvPr>
        </p:nvGraphicFramePr>
        <p:xfrm>
          <a:off x="609600" y="4158497"/>
          <a:ext cx="7131050" cy="2193948"/>
        </p:xfrm>
        <a:graphic>
          <a:graphicData uri="http://schemas.openxmlformats.org/drawingml/2006/table">
            <a:tbl>
              <a:tblPr>
                <a:tableStyleId>{0E3FDE45-AF77-4B5C-9715-49D594BDF05E}</a:tableStyleId>
              </a:tblPr>
              <a:tblGrid>
                <a:gridCol w="4030051">
                  <a:extLst>
                    <a:ext uri="{9D8B030D-6E8A-4147-A177-3AD203B41FA5}">
                      <a16:colId xmlns="" xmlns:a16="http://schemas.microsoft.com/office/drawing/2014/main" val="20000"/>
                    </a:ext>
                  </a:extLst>
                </a:gridCol>
                <a:gridCol w="3100999">
                  <a:extLst>
                    <a:ext uri="{9D8B030D-6E8A-4147-A177-3AD203B41FA5}">
                      <a16:colId xmlns="" xmlns:a16="http://schemas.microsoft.com/office/drawing/2014/main" val="20001"/>
                    </a:ext>
                  </a:extLst>
                </a:gridCol>
              </a:tblGrid>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Over-the-Counter</a:t>
                      </a:r>
                      <a:endParaRPr kumimoji="0" lang="zh-CN" altLang="en-US" sz="1800" b="1"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Exchange-Traded</a:t>
                      </a:r>
                      <a:endParaRPr kumimoji="0" lang="zh-CN" altLang="en-US" sz="1800" b="1"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0"/>
                  </a:ext>
                </a:extLst>
              </a:tr>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Customized</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Standardized</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1"/>
                  </a:ext>
                </a:extLst>
              </a:tr>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Trade with counterparty (Default Risk)</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Backed by a clearing house</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2"/>
                  </a:ext>
                </a:extLst>
              </a:tr>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Not trade in a central location</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Trade in a physical exchange</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3"/>
                  </a:ext>
                </a:extLst>
              </a:tr>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Unregulated</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Regulated</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4"/>
                  </a:ext>
                </a:extLst>
              </a:tr>
              <a:tr h="365654">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Trading volume: large</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tc>
                  <a:txBody>
                    <a:bodyPr/>
                    <a:lstStyle>
                      <a:lvl1pPr marL="0" algn="l" defTabSz="914400" rtl="0" eaLnBrk="1" latinLnBrk="0" hangingPunct="1">
                        <a:defRPr sz="1800" kern="1200">
                          <a:solidFill>
                            <a:schemeClr val="tx1"/>
                          </a:solidFill>
                          <a:latin typeface="Times New Roman"/>
                          <a:ea typeface="宋体"/>
                          <a:cs typeface=""/>
                        </a:defRPr>
                      </a:lvl1pPr>
                      <a:lvl2pPr marL="457200" algn="l" defTabSz="914400" rtl="0" eaLnBrk="1" latinLnBrk="0" hangingPunct="1">
                        <a:defRPr sz="1800" kern="1200">
                          <a:solidFill>
                            <a:schemeClr val="tx1"/>
                          </a:solidFill>
                          <a:latin typeface="Times New Roman"/>
                          <a:ea typeface="宋体"/>
                          <a:cs typeface=""/>
                        </a:defRPr>
                      </a:lvl2pPr>
                      <a:lvl3pPr marL="914400" algn="l" defTabSz="914400" rtl="0" eaLnBrk="1" latinLnBrk="0" hangingPunct="1">
                        <a:defRPr sz="1800" kern="1200">
                          <a:solidFill>
                            <a:schemeClr val="tx1"/>
                          </a:solidFill>
                          <a:latin typeface="Times New Roman"/>
                          <a:ea typeface="宋体"/>
                          <a:cs typeface=""/>
                        </a:defRPr>
                      </a:lvl3pPr>
                      <a:lvl4pPr marL="1371600" algn="l" defTabSz="914400" rtl="0" eaLnBrk="1" latinLnBrk="0" hangingPunct="1">
                        <a:defRPr sz="1800" kern="1200">
                          <a:solidFill>
                            <a:schemeClr val="tx1"/>
                          </a:solidFill>
                          <a:latin typeface="Times New Roman"/>
                          <a:ea typeface="宋体"/>
                          <a:cs typeface=""/>
                        </a:defRPr>
                      </a:lvl4pPr>
                      <a:lvl5pPr marL="1828800" algn="l" defTabSz="914400" rtl="0" eaLnBrk="1" latinLnBrk="0" hangingPunct="1">
                        <a:defRPr sz="1800" kern="1200">
                          <a:solidFill>
                            <a:schemeClr val="tx1"/>
                          </a:solidFill>
                          <a:latin typeface="Times New Roman"/>
                          <a:ea typeface="宋体"/>
                          <a:cs typeface=""/>
                        </a:defRPr>
                      </a:lvl5pPr>
                      <a:lvl6pPr marL="2286000" algn="l" defTabSz="914400" rtl="0" eaLnBrk="1" latinLnBrk="0" hangingPunct="1">
                        <a:defRPr sz="1800" kern="1200">
                          <a:solidFill>
                            <a:schemeClr val="tx1"/>
                          </a:solidFill>
                          <a:latin typeface="Times New Roman"/>
                          <a:ea typeface="宋体"/>
                          <a:cs typeface=""/>
                        </a:defRPr>
                      </a:lvl6pPr>
                      <a:lvl7pPr marL="2743200" algn="l" defTabSz="914400" rtl="0" eaLnBrk="1" latinLnBrk="0" hangingPunct="1">
                        <a:defRPr sz="1800" kern="1200">
                          <a:solidFill>
                            <a:schemeClr val="tx1"/>
                          </a:solidFill>
                          <a:latin typeface="Times New Roman"/>
                          <a:ea typeface="宋体"/>
                          <a:cs typeface=""/>
                        </a:defRPr>
                      </a:lvl7pPr>
                      <a:lvl8pPr marL="3200400" algn="l" defTabSz="914400" rtl="0" eaLnBrk="1" latinLnBrk="0" hangingPunct="1">
                        <a:defRPr sz="1800" kern="1200">
                          <a:solidFill>
                            <a:schemeClr val="tx1"/>
                          </a:solidFill>
                          <a:latin typeface="Times New Roman"/>
                          <a:ea typeface="宋体"/>
                          <a:cs typeface=""/>
                        </a:defRPr>
                      </a:lvl8pPr>
                      <a:lvl9pPr marL="3657600" algn="l" defTabSz="914400" rtl="0" eaLnBrk="1" latinLnBrk="0" hangingPunct="1">
                        <a:defRPr sz="1800" kern="1200">
                          <a:solidFill>
                            <a:schemeClr val="tx1"/>
                          </a:solidFill>
                          <a:latin typeface="Times New Roman"/>
                          <a:ea typeface="宋体"/>
                          <a:cs typeface=""/>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anose="020B0502040204020203" pitchFamily="34" charset="0"/>
                          <a:cs typeface="Segoe UI" panose="020B0502040204020203" pitchFamily="34" charset="0"/>
                          <a:sym typeface="Arial" pitchFamily="34" charset="0"/>
                        </a:rPr>
                        <a:t>Trading volume: small</a:t>
                      </a:r>
                      <a:endParaRPr kumimoji="0" lang="zh-CN" altLang="en-US" sz="1800" b="0" i="0" u="none" strike="noStrike" cap="none" normalizeH="0" baseline="0" dirty="0" smtClean="0">
                        <a:ln>
                          <a:noFill/>
                        </a:ln>
                        <a:solidFill>
                          <a:srgbClr val="2C3E50"/>
                        </a:solidFill>
                        <a:effectLst/>
                        <a:latin typeface="Segoe UI" panose="020B0502040204020203" pitchFamily="34" charset="0"/>
                        <a:ea typeface="华文楷体" pitchFamily="2" charset="-122"/>
                        <a:cs typeface="Segoe UI" panose="020B0502040204020203" pitchFamily="34" charset="0"/>
                        <a:sym typeface="Arial" pitchFamily="34" charset="0"/>
                      </a:endParaRPr>
                    </a:p>
                  </a:txBody>
                  <a:tcPr marL="91426" marR="91426" marT="45669" marB="45669" horzOverflow="overflow"/>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6440612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Advantages and Disadvantages </a:t>
            </a:r>
            <a:r>
              <a:rPr lang="en-US" altLang="zh-CN" dirty="0"/>
              <a:t>of OTC</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dirty="0"/>
              <a:t>Advantage of </a:t>
            </a:r>
            <a:r>
              <a:rPr lang="en-US" altLang="zh-CN" dirty="0" smtClean="0"/>
              <a:t>OTC</a:t>
            </a:r>
          </a:p>
          <a:p>
            <a:pPr lvl="1"/>
            <a:r>
              <a:rPr lang="en-US" altLang="zh-CN" dirty="0" smtClean="0"/>
              <a:t>Customization </a:t>
            </a:r>
            <a:r>
              <a:rPr lang="en-US" altLang="zh-CN" dirty="0"/>
              <a:t>(a.k.a</a:t>
            </a:r>
            <a:r>
              <a:rPr lang="en-US" altLang="zh-CN" dirty="0" smtClean="0"/>
              <a:t>.,“</a:t>
            </a:r>
            <a:r>
              <a:rPr lang="en-US" altLang="zh-CN" dirty="0"/>
              <a:t>tailored” exposure): The terms of a contract do not have to </a:t>
            </a:r>
            <a:r>
              <a:rPr lang="en-US" altLang="zh-CN" dirty="0" smtClean="0"/>
              <a:t>be those </a:t>
            </a:r>
            <a:r>
              <a:rPr lang="en-US" altLang="zh-CN" dirty="0"/>
              <a:t>specified by an exchange.</a:t>
            </a:r>
          </a:p>
          <a:p>
            <a:pPr lvl="1"/>
            <a:r>
              <a:rPr lang="en-US" altLang="zh-CN" dirty="0" smtClean="0"/>
              <a:t>Market </a:t>
            </a:r>
            <a:r>
              <a:rPr lang="en-US" altLang="zh-CN" dirty="0"/>
              <a:t>participants are </a:t>
            </a:r>
            <a:r>
              <a:rPr lang="en-US" altLang="zh-CN" u="sng" dirty="0"/>
              <a:t>free to negotiate </a:t>
            </a:r>
            <a:r>
              <a:rPr lang="en-US" altLang="zh-CN" dirty="0"/>
              <a:t>any mutually attractive deal for any type </a:t>
            </a:r>
            <a:r>
              <a:rPr lang="en-US" altLang="zh-CN" dirty="0" smtClean="0"/>
              <a:t>of security</a:t>
            </a:r>
            <a:r>
              <a:rPr lang="en-US" altLang="zh-CN" dirty="0"/>
              <a:t>.</a:t>
            </a:r>
          </a:p>
          <a:p>
            <a:pPr lvl="1"/>
            <a:r>
              <a:rPr lang="en-US" altLang="zh-CN" dirty="0" smtClean="0"/>
              <a:t>The OTC </a:t>
            </a:r>
            <a:r>
              <a:rPr lang="en-US" altLang="zh-CN" dirty="0"/>
              <a:t>markets for derivatives are huge and thus may provide </a:t>
            </a:r>
            <a:r>
              <a:rPr lang="en-US" altLang="zh-CN" u="sng" dirty="0"/>
              <a:t>ample liquidity </a:t>
            </a:r>
            <a:r>
              <a:rPr lang="en-US" altLang="zh-CN" dirty="0" smtClean="0"/>
              <a:t>for trading </a:t>
            </a:r>
            <a:r>
              <a:rPr lang="en-US" altLang="zh-CN" dirty="0"/>
              <a:t>in certain instruments</a:t>
            </a:r>
            <a:r>
              <a:rPr lang="en-US" altLang="zh-CN" dirty="0" smtClean="0"/>
              <a:t>.</a:t>
            </a:r>
          </a:p>
          <a:p>
            <a:r>
              <a:rPr lang="en-US" altLang="zh-CN" dirty="0">
                <a:latin typeface="Segoe UI" panose="020B0502040204020203" pitchFamily="34" charset="0"/>
                <a:cs typeface="Segoe UI" panose="020B0502040204020203" pitchFamily="34" charset="0"/>
              </a:rPr>
              <a:t>Disadvantage of OTC</a:t>
            </a:r>
          </a:p>
          <a:p>
            <a:pPr lvl="1"/>
            <a:r>
              <a:rPr lang="en-US" altLang="zh-CN" u="sng" dirty="0"/>
              <a:t>Counterparty risk </a:t>
            </a:r>
            <a:r>
              <a:rPr lang="en-US" altLang="zh-CN" dirty="0"/>
              <a:t>may be high when trades do not take place through a central counterparty (CCP).</a:t>
            </a:r>
          </a:p>
          <a:p>
            <a:pPr lvl="1"/>
            <a:r>
              <a:rPr lang="en-US" altLang="zh-CN" dirty="0"/>
              <a:t>Since trades can be highly customized, for certain securities, active trading may not take place due to liquidity issues.</a:t>
            </a:r>
            <a:endParaRPr lang="zh-CN" altLang="en-US" dirty="0"/>
          </a:p>
          <a:p>
            <a:pPr marL="609585" lvl="1" indent="0">
              <a:buNone/>
            </a:pPr>
            <a:endParaRPr lang="en-US" altLang="zh-CN" dirty="0"/>
          </a:p>
          <a:p>
            <a:pPr lvl="1"/>
            <a:endParaRPr lang="zh-CN" altLang="en-US" dirty="0"/>
          </a:p>
        </p:txBody>
      </p:sp>
    </p:spTree>
    <p:extLst>
      <p:ext uri="{BB962C8B-B14F-4D97-AF65-F5344CB8AC3E}">
        <p14:creationId xmlns:p14="http://schemas.microsoft.com/office/powerpoint/2010/main" val="242044944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Over-The-Counter Markets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 </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758120178"/>
              </p:ext>
            </p:extLst>
          </p:nvPr>
        </p:nvGraphicFramePr>
        <p:xfrm>
          <a:off x="609600" y="944830"/>
          <a:ext cx="9217446" cy="5103428"/>
        </p:xfrm>
        <a:graphic>
          <a:graphicData uri="http://schemas.openxmlformats.org/drawingml/2006/table">
            <a:tbl>
              <a:tblPr firstRow="1" bandRow="1">
                <a:tableStyleId>{21E4AEA4-8DFA-4A89-87EB-49C32662AFE0}</a:tableStyleId>
              </a:tblPr>
              <a:tblGrid>
                <a:gridCol w="4707792">
                  <a:extLst>
                    <a:ext uri="{9D8B030D-6E8A-4147-A177-3AD203B41FA5}">
                      <a16:colId xmlns="" xmlns:a16="http://schemas.microsoft.com/office/drawing/2014/main" val="20000"/>
                    </a:ext>
                  </a:extLst>
                </a:gridCol>
                <a:gridCol w="4509654">
                  <a:extLst>
                    <a:ext uri="{9D8B030D-6E8A-4147-A177-3AD203B41FA5}">
                      <a16:colId xmlns="" xmlns:a16="http://schemas.microsoft.com/office/drawing/2014/main" val="20001"/>
                    </a:ext>
                  </a:extLst>
                </a:gridCol>
              </a:tblGrid>
              <a:tr h="483030">
                <a:tc>
                  <a:txBody>
                    <a:bodyPr/>
                    <a:lstStyle/>
                    <a:p>
                      <a:pPr algn="ctr">
                        <a:lnSpc>
                          <a:spcPct val="120000"/>
                        </a:lnSpc>
                      </a:pPr>
                      <a:r>
                        <a:rPr lang="en-US" altLang="zh-CN" sz="1800" dirty="0" smtClean="0"/>
                        <a:t>Forward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dirty="0" smtClean="0"/>
                        <a:t>Futures</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0"/>
                  </a:ext>
                </a:extLst>
              </a:tr>
              <a:tr h="483030">
                <a:tc>
                  <a:txBody>
                    <a:bodyPr/>
                    <a:lstStyle/>
                    <a:p>
                      <a:pPr algn="ctr">
                        <a:lnSpc>
                          <a:spcPct val="120000"/>
                        </a:lnSpc>
                      </a:pPr>
                      <a:r>
                        <a:rPr lang="en-US" altLang="zh-CN" sz="1800" dirty="0" smtClean="0"/>
                        <a:t>Trade over-the-counter (OTC)</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dirty="0" smtClean="0"/>
                        <a:t>Trade on an exchange</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1"/>
                  </a:ext>
                </a:extLst>
              </a:tr>
              <a:tr h="483030">
                <a:tc>
                  <a:txBody>
                    <a:bodyPr/>
                    <a:lstStyle/>
                    <a:p>
                      <a:pPr algn="ctr">
                        <a:lnSpc>
                          <a:spcPct val="120000"/>
                        </a:lnSpc>
                      </a:pPr>
                      <a:r>
                        <a:rPr lang="en-US" altLang="zh-CN" sz="1800" dirty="0" smtClean="0"/>
                        <a:t>Not standardized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dirty="0" smtClean="0"/>
                        <a:t>Standardized contracts</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2"/>
                  </a:ext>
                </a:extLst>
              </a:tr>
              <a:tr h="483030">
                <a:tc>
                  <a:txBody>
                    <a:bodyPr/>
                    <a:lstStyle/>
                    <a:p>
                      <a:pPr algn="ctr">
                        <a:lnSpc>
                          <a:spcPct val="120000"/>
                        </a:lnSpc>
                      </a:pPr>
                      <a:r>
                        <a:rPr lang="en-US" altLang="zh-CN" sz="1800" dirty="0" smtClean="0"/>
                        <a:t>One specified delivery date</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dirty="0" smtClean="0"/>
                        <a:t>Range of delivery dates</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3"/>
                  </a:ext>
                </a:extLst>
              </a:tr>
              <a:tr h="483030">
                <a:tc>
                  <a:txBody>
                    <a:bodyPr/>
                    <a:lstStyle/>
                    <a:p>
                      <a:pPr algn="ctr">
                        <a:lnSpc>
                          <a:spcPct val="120000"/>
                        </a:lnSpc>
                      </a:pPr>
                      <a:r>
                        <a:rPr lang="en-US" altLang="zh-CN" sz="1800" u="sng" dirty="0" smtClean="0"/>
                        <a:t>Settled at contract’s end</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u="sng" dirty="0" smtClean="0"/>
                        <a:t>Settled daily</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4"/>
                  </a:ext>
                </a:extLst>
              </a:tr>
              <a:tr h="861109">
                <a:tc>
                  <a:txBody>
                    <a:bodyPr/>
                    <a:lstStyle/>
                    <a:p>
                      <a:pPr algn="ctr">
                        <a:lnSpc>
                          <a:spcPct val="120000"/>
                        </a:lnSpc>
                      </a:pPr>
                      <a:r>
                        <a:rPr lang="en-US" altLang="zh-CN" sz="1800" u="sng" dirty="0" smtClean="0"/>
                        <a:t>Delivery or final cash settlement</a:t>
                      </a:r>
                      <a:r>
                        <a:rPr lang="en-US" altLang="zh-CN" sz="1800" u="sng" baseline="0" dirty="0" smtClean="0"/>
                        <a:t> usually occurs</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u="sng" dirty="0" smtClean="0"/>
                        <a:t>Contract usually closed out prior to maturity</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5"/>
                  </a:ext>
                </a:extLst>
              </a:tr>
              <a:tr h="861109">
                <a:tc>
                  <a:txBody>
                    <a:bodyPr/>
                    <a:lstStyle/>
                    <a:p>
                      <a:pPr algn="ctr">
                        <a:lnSpc>
                          <a:spcPct val="120000"/>
                        </a:lnSpc>
                      </a:pPr>
                      <a:r>
                        <a:rPr lang="en-US" altLang="zh-CN" sz="1800" u="sng" dirty="0" smtClean="0"/>
                        <a:t>Reduces basis risk</a:t>
                      </a:r>
                      <a:r>
                        <a:rPr lang="en-US" altLang="zh-CN" sz="1800" u="none" dirty="0" smtClean="0"/>
                        <a:t> </a:t>
                      </a:r>
                      <a:r>
                        <a:rPr lang="en-US" altLang="zh-CN" sz="1800" dirty="0" smtClean="0"/>
                        <a:t>due to tailored specifications</a:t>
                      </a:r>
                      <a:r>
                        <a:rPr lang="en-US" altLang="zh-CN" sz="1800" baseline="0" dirty="0" smtClean="0"/>
                        <a:t> but </a:t>
                      </a:r>
                      <a:r>
                        <a:rPr lang="en-US" altLang="zh-CN" sz="1800" u="sng" baseline="0" dirty="0" smtClean="0"/>
                        <a:t>less liquid</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u="sng" dirty="0" smtClean="0"/>
                        <a:t>High liquidity</a:t>
                      </a:r>
                      <a:r>
                        <a:rPr lang="en-US" altLang="zh-CN" sz="1800" dirty="0" smtClean="0"/>
                        <a:t> due to standardized specifications but </a:t>
                      </a:r>
                      <a:r>
                        <a:rPr lang="en-US" altLang="zh-CN" sz="1800" u="sng" dirty="0" smtClean="0"/>
                        <a:t>more basis risk</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6"/>
                  </a:ext>
                </a:extLst>
              </a:tr>
              <a:tr h="483030">
                <a:tc>
                  <a:txBody>
                    <a:bodyPr/>
                    <a:lstStyle/>
                    <a:p>
                      <a:pPr algn="ctr">
                        <a:lnSpc>
                          <a:spcPct val="120000"/>
                        </a:lnSpc>
                      </a:pPr>
                      <a:r>
                        <a:rPr lang="en-US" altLang="zh-CN" sz="1800" u="sng" dirty="0" smtClean="0"/>
                        <a:t>Default risk is present</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u="sng" dirty="0" smtClean="0"/>
                        <a:t>Guaranteed by clearinghouse</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7"/>
                  </a:ext>
                </a:extLst>
              </a:tr>
              <a:tr h="483030">
                <a:tc>
                  <a:txBody>
                    <a:bodyPr/>
                    <a:lstStyle/>
                    <a:p>
                      <a:pPr algn="ctr">
                        <a:lnSpc>
                          <a:spcPct val="120000"/>
                        </a:lnSpc>
                      </a:pPr>
                      <a:r>
                        <a:rPr lang="en-US" altLang="zh-CN" sz="1800" dirty="0" smtClean="0"/>
                        <a:t>No margin deposit required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90" marB="45690"/>
                </a:tc>
                <a:tc>
                  <a:txBody>
                    <a:bodyPr/>
                    <a:lstStyle/>
                    <a:p>
                      <a:pPr algn="ctr">
                        <a:lnSpc>
                          <a:spcPct val="120000"/>
                        </a:lnSpc>
                      </a:pPr>
                      <a:r>
                        <a:rPr lang="en-US" altLang="zh-CN" sz="1800" u="sng" dirty="0" smtClean="0"/>
                        <a:t>Margin required and adjusted</a:t>
                      </a:r>
                      <a:endParaRPr lang="zh-CN" altLang="en-US" sz="1800" u="sng" dirty="0">
                        <a:solidFill>
                          <a:srgbClr val="2C3E50"/>
                        </a:solidFill>
                        <a:latin typeface="Segoe UI" panose="020B0502040204020203" pitchFamily="34" charset="0"/>
                        <a:cs typeface="Segoe UI" panose="020B0502040204020203" pitchFamily="34" charset="0"/>
                      </a:endParaRPr>
                    </a:p>
                  </a:txBody>
                  <a:tcPr marL="91445" marR="91445" marT="45690" marB="45690"/>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18636173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Forward Payoff</a:t>
            </a:r>
            <a:r>
              <a:rPr lang="en-US" altLang="zh-CN" dirty="0" smtClean="0"/>
              <a:t>:</a:t>
            </a:r>
          </a:p>
          <a:p>
            <a:pPr lvl="1"/>
            <a:r>
              <a:rPr lang="en-US" altLang="zh-CN" sz="2200" b="0" dirty="0" smtClean="0"/>
              <a:t>If K</a:t>
            </a:r>
            <a:r>
              <a:rPr lang="zh-CN" altLang="en-US" sz="2200" b="0" dirty="0" smtClean="0"/>
              <a:t> </a:t>
            </a:r>
            <a:r>
              <a:rPr lang="en-US" altLang="zh-CN" sz="2200" b="0" dirty="0" smtClean="0"/>
              <a:t>is the delivery price and S</a:t>
            </a:r>
            <a:r>
              <a:rPr lang="en-US" altLang="zh-CN" sz="2200" b="0" baseline="-25000" dirty="0" smtClean="0"/>
              <a:t>t</a:t>
            </a:r>
            <a:r>
              <a:rPr lang="zh-CN" altLang="en-US" sz="2200" b="0" dirty="0" smtClean="0"/>
              <a:t> </a:t>
            </a:r>
            <a:r>
              <a:rPr lang="en-US" altLang="zh-CN" sz="2200" b="0" dirty="0" smtClean="0"/>
              <a:t>is the spot price of the asset at maturity of the contract:</a:t>
            </a:r>
          </a:p>
          <a:p>
            <a:pPr lvl="2"/>
            <a:r>
              <a:rPr lang="en-US" altLang="zh-CN" sz="2200" b="0" dirty="0" smtClean="0"/>
              <a:t>Payoff for a long position in forward contract is </a:t>
            </a:r>
            <a:r>
              <a:rPr lang="en-US" altLang="zh-CN" sz="2200" dirty="0"/>
              <a:t>S</a:t>
            </a:r>
            <a:r>
              <a:rPr lang="en-US" altLang="zh-CN" sz="2200" baseline="-25000" dirty="0"/>
              <a:t>t</a:t>
            </a:r>
            <a:r>
              <a:rPr lang="zh-CN" altLang="en-US" sz="2200" b="0" dirty="0" smtClean="0"/>
              <a:t> </a:t>
            </a:r>
            <a:r>
              <a:rPr lang="en-US" altLang="zh-CN" sz="2200" b="0" dirty="0" smtClean="0"/>
              <a:t>− K</a:t>
            </a:r>
            <a:endParaRPr lang="zh-CN" altLang="en-US" sz="2200" b="0" dirty="0" smtClean="0"/>
          </a:p>
          <a:p>
            <a:pPr lvl="2"/>
            <a:r>
              <a:rPr lang="en-US" altLang="zh-CN" sz="2200" b="0" dirty="0" smtClean="0"/>
              <a:t>Payoff for a short position in forward contract is K</a:t>
            </a:r>
            <a:r>
              <a:rPr lang="zh-CN" altLang="en-US" sz="2200" b="0" dirty="0" smtClean="0"/>
              <a:t> − </a:t>
            </a:r>
            <a:r>
              <a:rPr lang="en-US" altLang="zh-CN" sz="2200" dirty="0"/>
              <a:t>S</a:t>
            </a:r>
            <a:r>
              <a:rPr lang="en-US" altLang="zh-CN" sz="2200" baseline="-25000" dirty="0"/>
              <a:t>t</a:t>
            </a:r>
            <a:endParaRPr lang="en-US" altLang="zh-CN" sz="2200" b="0" dirty="0" smtClean="0"/>
          </a:p>
          <a:p>
            <a:pPr lvl="1"/>
            <a:r>
              <a:rPr lang="en-US" altLang="zh-CN" sz="2000" b="1" dirty="0" smtClean="0"/>
              <a:t>Since the forward has no initial cost, its profit plot is identical to its payoff plot.</a:t>
            </a:r>
          </a:p>
          <a:p>
            <a:endParaRPr lang="zh-CN" altLang="en-US" b="0" dirty="0"/>
          </a:p>
        </p:txBody>
      </p:sp>
    </p:spTree>
    <p:extLst>
      <p:ext uri="{BB962C8B-B14F-4D97-AF65-F5344CB8AC3E}">
        <p14:creationId xmlns:p14="http://schemas.microsoft.com/office/powerpoint/2010/main" val="184998285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Option Payoff</a:t>
            </a:r>
            <a:r>
              <a:rPr lang="en-US" altLang="zh-CN" dirty="0" smtClean="0"/>
              <a:t>:</a:t>
            </a:r>
          </a:p>
          <a:p>
            <a:pPr lvl="1"/>
            <a:r>
              <a:rPr lang="en-US" altLang="zh-CN" sz="2200" dirty="0" smtClean="0"/>
              <a:t>Payoff </a:t>
            </a:r>
            <a:r>
              <a:rPr lang="en-US" altLang="zh-CN" sz="2200" dirty="0"/>
              <a:t>for a call option buyer (long) is </a:t>
            </a:r>
            <a:r>
              <a:rPr lang="en-US" altLang="zh-CN" sz="2200" i="1" dirty="0" smtClean="0"/>
              <a:t>Max</a:t>
            </a:r>
            <a:r>
              <a:rPr lang="zh-CN" altLang="en-US" sz="2200" dirty="0" smtClean="0"/>
              <a:t> </a:t>
            </a:r>
            <a:r>
              <a:rPr lang="en-US" altLang="zh-CN" sz="2200" dirty="0" smtClean="0"/>
              <a:t>(</a:t>
            </a:r>
            <a:r>
              <a:rPr lang="en-US" altLang="zh-CN" sz="2200" dirty="0"/>
              <a:t>S</a:t>
            </a:r>
            <a:r>
              <a:rPr lang="en-US" altLang="zh-CN" sz="2200" baseline="-25000" dirty="0"/>
              <a:t>t</a:t>
            </a:r>
            <a:r>
              <a:rPr lang="zh-CN" altLang="en-US" sz="2200" dirty="0" smtClean="0"/>
              <a:t> </a:t>
            </a:r>
            <a:r>
              <a:rPr lang="zh-CN" altLang="en-US" sz="2200" dirty="0"/>
              <a:t>− </a:t>
            </a:r>
            <a:r>
              <a:rPr lang="en-US" altLang="zh-CN" sz="2200" dirty="0" smtClean="0"/>
              <a:t>k, </a:t>
            </a:r>
            <a:r>
              <a:rPr lang="en-US" altLang="zh-CN" sz="2200" dirty="0"/>
              <a:t>0). The payoff to the </a:t>
            </a:r>
            <a:r>
              <a:rPr lang="en-US" altLang="zh-CN" sz="2200" dirty="0" smtClean="0"/>
              <a:t>call seller(short</a:t>
            </a:r>
            <a:r>
              <a:rPr lang="en-US" altLang="zh-CN" sz="2200" dirty="0"/>
              <a:t>) is the negative of this value.</a:t>
            </a:r>
          </a:p>
          <a:p>
            <a:pPr lvl="1"/>
            <a:r>
              <a:rPr lang="en-US" altLang="zh-CN" sz="2200" dirty="0" smtClean="0"/>
              <a:t>Payoff </a:t>
            </a:r>
            <a:r>
              <a:rPr lang="en-US" altLang="zh-CN" sz="2200" dirty="0"/>
              <a:t>for a put option buyer (long) is </a:t>
            </a:r>
            <a:r>
              <a:rPr lang="en-US" altLang="zh-CN" sz="2200" i="1" dirty="0" smtClean="0"/>
              <a:t>Max</a:t>
            </a:r>
            <a:r>
              <a:rPr lang="en-US" altLang="zh-CN" sz="2200" dirty="0" smtClean="0"/>
              <a:t>(k</a:t>
            </a:r>
            <a:r>
              <a:rPr lang="zh-CN" altLang="en-US" sz="2200" dirty="0" smtClean="0"/>
              <a:t> </a:t>
            </a:r>
            <a:r>
              <a:rPr lang="zh-CN" altLang="en-US" sz="2200" dirty="0"/>
              <a:t>− </a:t>
            </a:r>
            <a:r>
              <a:rPr lang="en-US" altLang="zh-CN" sz="2200" dirty="0"/>
              <a:t>S</a:t>
            </a:r>
            <a:r>
              <a:rPr lang="en-US" altLang="zh-CN" sz="2200" baseline="-25000" dirty="0"/>
              <a:t>t</a:t>
            </a:r>
            <a:r>
              <a:rPr lang="en-US" altLang="zh-CN" sz="2200" dirty="0" smtClean="0"/>
              <a:t>, </a:t>
            </a:r>
            <a:r>
              <a:rPr lang="en-US" altLang="zh-CN" sz="2200" dirty="0"/>
              <a:t>0). The payoff to the </a:t>
            </a:r>
            <a:r>
              <a:rPr lang="en-US" altLang="zh-CN" sz="2200" dirty="0" smtClean="0"/>
              <a:t>put seller(short</a:t>
            </a:r>
            <a:r>
              <a:rPr lang="en-US" altLang="zh-CN" sz="2200" dirty="0"/>
              <a:t>) is the negative of this value</a:t>
            </a:r>
            <a:r>
              <a:rPr lang="en-US" altLang="zh-CN" sz="2200" dirty="0" smtClean="0"/>
              <a:t>.</a:t>
            </a:r>
          </a:p>
          <a:p>
            <a:pPr lvl="1">
              <a:buFont typeface="Wingdings" panose="05000000000000000000" pitchFamily="2" charset="2"/>
              <a:buChar char="ü"/>
            </a:pPr>
            <a:r>
              <a:rPr lang="en-US" altLang="zh-CN" sz="2200" b="1" dirty="0"/>
              <a:t>Since an option has an initial cost (the option premium), option charts plot the </a:t>
            </a:r>
            <a:r>
              <a:rPr lang="en-US" altLang="zh-CN" sz="2200" b="1" dirty="0" smtClean="0"/>
              <a:t>option profit </a:t>
            </a:r>
            <a:r>
              <a:rPr lang="en-US" altLang="zh-CN" sz="2200" b="1" dirty="0"/>
              <a:t>as payoff minus the premium cost of the option</a:t>
            </a:r>
            <a:r>
              <a:rPr lang="en-US" altLang="zh-CN" sz="2200" b="1" dirty="0" smtClean="0"/>
              <a:t>.</a:t>
            </a:r>
          </a:p>
          <a:p>
            <a:pPr lvl="3"/>
            <a:r>
              <a:rPr lang="en-US" altLang="zh-CN" sz="2200" dirty="0" smtClean="0"/>
              <a:t>Profit=payoff-Premium cost of option</a:t>
            </a:r>
            <a:endParaRPr lang="zh-CN" altLang="en-US" sz="2200" dirty="0"/>
          </a:p>
        </p:txBody>
      </p:sp>
    </p:spTree>
    <p:extLst>
      <p:ext uri="{BB962C8B-B14F-4D97-AF65-F5344CB8AC3E}">
        <p14:creationId xmlns:p14="http://schemas.microsoft.com/office/powerpoint/2010/main" val="41495557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Note the difference between an option payoff and an option profit</a:t>
            </a:r>
            <a:r>
              <a:rPr lang="en-US" altLang="zh-CN" dirty="0" smtClean="0"/>
              <a:t>:</a:t>
            </a:r>
          </a:p>
          <a:p>
            <a:pPr lvl="1"/>
            <a:r>
              <a:rPr lang="en-US" altLang="zh-CN" sz="2200" b="1" dirty="0" smtClean="0"/>
              <a:t>Premium</a:t>
            </a:r>
            <a:r>
              <a:rPr lang="en-US" altLang="zh-CN" sz="2200" b="1" dirty="0"/>
              <a:t>: </a:t>
            </a:r>
            <a:r>
              <a:rPr lang="en-US" altLang="zh-CN" sz="2200" b="0" dirty="0"/>
              <a:t>Initial cost (or initial investment or up-front cost)</a:t>
            </a:r>
          </a:p>
          <a:p>
            <a:pPr lvl="1"/>
            <a:r>
              <a:rPr lang="en-US" altLang="zh-CN" sz="2200" b="1" dirty="0" smtClean="0"/>
              <a:t>Payoff</a:t>
            </a:r>
            <a:r>
              <a:rPr lang="en-US" altLang="zh-CN" sz="2200" b="1" dirty="0"/>
              <a:t>: </a:t>
            </a:r>
            <a:r>
              <a:rPr lang="en-US" altLang="zh-CN" sz="2200" b="0" dirty="0"/>
              <a:t>Gain or loss on exercise (i.e., intrinsic value at exercise)</a:t>
            </a:r>
          </a:p>
          <a:p>
            <a:pPr lvl="1"/>
            <a:r>
              <a:rPr lang="en-US" altLang="zh-CN" sz="2200" b="1" dirty="0" smtClean="0"/>
              <a:t>Profit</a:t>
            </a:r>
            <a:r>
              <a:rPr lang="en-US" altLang="zh-CN" sz="2200" b="1" dirty="0"/>
              <a:t>: </a:t>
            </a:r>
            <a:r>
              <a:rPr lang="en-US" altLang="zh-CN" sz="2200" b="0" dirty="0"/>
              <a:t>Payoff of the option less its initial cost</a:t>
            </a:r>
            <a:r>
              <a:rPr lang="en-US" altLang="zh-CN" sz="2200" b="0" dirty="0" smtClean="0"/>
              <a:t>.</a:t>
            </a:r>
          </a:p>
          <a:p>
            <a:pPr lvl="2"/>
            <a:r>
              <a:rPr lang="en-US" altLang="zh-CN" dirty="0"/>
              <a:t>To the long who buys the </a:t>
            </a:r>
            <a:r>
              <a:rPr lang="en-US" altLang="zh-CN" dirty="0" smtClean="0"/>
              <a:t>option</a:t>
            </a:r>
            <a:r>
              <a:rPr lang="en-US" altLang="zh-CN" i="1" dirty="0" smtClean="0"/>
              <a:t>:(Net)Profit=payoff-Premium</a:t>
            </a:r>
          </a:p>
          <a:p>
            <a:pPr lvl="2"/>
            <a:r>
              <a:rPr lang="en-US" altLang="zh-CN" dirty="0"/>
              <a:t>To the short who sells (writes) the </a:t>
            </a:r>
            <a:r>
              <a:rPr lang="en-US" altLang="zh-CN" dirty="0" smtClean="0"/>
              <a:t>option</a:t>
            </a:r>
            <a:r>
              <a:rPr lang="en-US" altLang="zh-CN" i="1" dirty="0" smtClean="0"/>
              <a:t>:(Net)Profit=Premium-payoff</a:t>
            </a:r>
            <a:endParaRPr lang="zh-CN" altLang="en-US" b="0" i="1" dirty="0"/>
          </a:p>
        </p:txBody>
      </p:sp>
    </p:spTree>
    <p:extLst>
      <p:ext uri="{BB962C8B-B14F-4D97-AF65-F5344CB8AC3E}">
        <p14:creationId xmlns:p14="http://schemas.microsoft.com/office/powerpoint/2010/main" val="52236315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Payoffs</a:t>
            </a:r>
          </a:p>
          <a:p>
            <a:pPr lvl="1">
              <a:lnSpc>
                <a:spcPct val="140000"/>
              </a:lnSpc>
              <a:spcBef>
                <a:spcPct val="0"/>
              </a:spcBef>
            </a:pPr>
            <a:r>
              <a:rPr lang="en-US" altLang="zh-CN" dirty="0"/>
              <a:t>(a) long position, (b) short position. </a:t>
            </a:r>
          </a:p>
          <a:p>
            <a:pPr lvl="1">
              <a:lnSpc>
                <a:spcPct val="140000"/>
              </a:lnSpc>
              <a:spcBef>
                <a:spcPct val="0"/>
              </a:spcBef>
            </a:pPr>
            <a:r>
              <a:rPr lang="en-US" altLang="zh-CN" dirty="0"/>
              <a:t>Delivery price = K</a:t>
            </a:r>
          </a:p>
          <a:p>
            <a:pPr lvl="1">
              <a:lnSpc>
                <a:spcPct val="140000"/>
              </a:lnSpc>
              <a:spcBef>
                <a:spcPct val="0"/>
              </a:spcBef>
            </a:pPr>
            <a:r>
              <a:rPr lang="en-US" altLang="zh-CN" dirty="0"/>
              <a:t>Price of asset at contract maturity = S</a:t>
            </a:r>
            <a:r>
              <a:rPr lang="en-US" altLang="zh-CN" baseline="-25000" dirty="0"/>
              <a:t>T</a:t>
            </a:r>
          </a:p>
          <a:p>
            <a:endParaRPr lang="zh-CN" altLang="en-US" dirty="0"/>
          </a:p>
        </p:txBody>
      </p:sp>
      <p:grpSp>
        <p:nvGrpSpPr>
          <p:cNvPr id="4" name="组合 24"/>
          <p:cNvGrpSpPr>
            <a:grpSpLocks/>
          </p:cNvGrpSpPr>
          <p:nvPr/>
        </p:nvGrpSpPr>
        <p:grpSpPr bwMode="auto">
          <a:xfrm>
            <a:off x="839692" y="3100789"/>
            <a:ext cx="7486650" cy="3249613"/>
            <a:chOff x="777875" y="2706688"/>
            <a:chExt cx="7487549" cy="3250644"/>
          </a:xfrm>
        </p:grpSpPr>
        <p:grpSp>
          <p:nvGrpSpPr>
            <p:cNvPr id="5" name="组合 32"/>
            <p:cNvGrpSpPr>
              <a:grpSpLocks/>
            </p:cNvGrpSpPr>
            <p:nvPr/>
          </p:nvGrpSpPr>
          <p:grpSpPr bwMode="auto">
            <a:xfrm>
              <a:off x="777875" y="2706688"/>
              <a:ext cx="3339412" cy="3250644"/>
              <a:chOff x="421248" y="2709500"/>
              <a:chExt cx="3340065" cy="3250334"/>
            </a:xfrm>
          </p:grpSpPr>
          <p:cxnSp>
            <p:nvCxnSpPr>
              <p:cNvPr id="17" name="直接箭头连接符 4"/>
              <p:cNvCxnSpPr>
                <a:cxnSpLocks noChangeShapeType="1"/>
              </p:cNvCxnSpPr>
              <p:nvPr/>
            </p:nvCxnSpPr>
            <p:spPr bwMode="auto">
              <a:xfrm>
                <a:off x="755576" y="4365104"/>
                <a:ext cx="2880320" cy="0"/>
              </a:xfrm>
              <a:prstGeom prst="straightConnector1">
                <a:avLst/>
              </a:prstGeom>
              <a:noFill/>
              <a:ln w="9525" algn="ctr">
                <a:solidFill>
                  <a:srgbClr val="2C3E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7"/>
              <p:cNvCxnSpPr>
                <a:cxnSpLocks noChangeShapeType="1"/>
              </p:cNvCxnSpPr>
              <p:nvPr/>
            </p:nvCxnSpPr>
            <p:spPr bwMode="auto">
              <a:xfrm flipV="1">
                <a:off x="755576" y="2924944"/>
                <a:ext cx="0" cy="2376264"/>
              </a:xfrm>
              <a:prstGeom prst="straightConnector1">
                <a:avLst/>
              </a:prstGeom>
              <a:noFill/>
              <a:ln w="9525" algn="ctr">
                <a:solidFill>
                  <a:srgbClr val="2C3E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文本框 6"/>
              <p:cNvSpPr txBox="1">
                <a:spLocks noChangeArrowheads="1"/>
              </p:cNvSpPr>
              <p:nvPr/>
            </p:nvSpPr>
            <p:spPr bwMode="auto">
              <a:xfrm>
                <a:off x="756277" y="2709500"/>
                <a:ext cx="810060"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Payoff</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0" name="文本框 7"/>
              <p:cNvSpPr txBox="1">
                <a:spLocks noChangeArrowheads="1"/>
              </p:cNvSpPr>
              <p:nvPr/>
            </p:nvSpPr>
            <p:spPr bwMode="auto">
              <a:xfrm>
                <a:off x="421248" y="4149225"/>
                <a:ext cx="309761"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0</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1" name="文本框 8"/>
              <p:cNvSpPr txBox="1">
                <a:spLocks noChangeArrowheads="1"/>
              </p:cNvSpPr>
              <p:nvPr/>
            </p:nvSpPr>
            <p:spPr bwMode="auto">
              <a:xfrm>
                <a:off x="1775651" y="4358755"/>
                <a:ext cx="319380"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K</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2" name="文本框 9"/>
              <p:cNvSpPr txBox="1">
                <a:spLocks noChangeArrowheads="1"/>
              </p:cNvSpPr>
              <p:nvPr/>
            </p:nvSpPr>
            <p:spPr bwMode="auto">
              <a:xfrm>
                <a:off x="3372989" y="4358755"/>
                <a:ext cx="388324"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S</a:t>
                </a:r>
                <a:r>
                  <a:rPr lang="en-US" altLang="zh-CN" sz="1800" baseline="-250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T</a:t>
                </a:r>
                <a:endParaRPr lang="zh-CN" altLang="en-US" sz="1800" baseline="-250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3" name="文本框 10"/>
              <p:cNvSpPr txBox="1">
                <a:spLocks noChangeArrowheads="1"/>
              </p:cNvSpPr>
              <p:nvPr/>
            </p:nvSpPr>
            <p:spPr bwMode="auto">
              <a:xfrm>
                <a:off x="1696261" y="5590537"/>
                <a:ext cx="439630"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(a)</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4" name="文本框 11"/>
              <p:cNvSpPr txBox="1">
                <a:spLocks noChangeArrowheads="1"/>
              </p:cNvSpPr>
              <p:nvPr/>
            </p:nvSpPr>
            <p:spPr bwMode="auto">
              <a:xfrm>
                <a:off x="915058" y="5228622"/>
                <a:ext cx="1672644" cy="36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Payoff = S</a:t>
                </a:r>
                <a:r>
                  <a:rPr lang="en-US" altLang="zh-CN" sz="1800" baseline="-250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T</a:t>
                </a: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 K</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cxnSp>
            <p:nvCxnSpPr>
              <p:cNvPr id="25" name="直接连接符 22"/>
              <p:cNvCxnSpPr>
                <a:cxnSpLocks noChangeShapeType="1"/>
              </p:cNvCxnSpPr>
              <p:nvPr/>
            </p:nvCxnSpPr>
            <p:spPr bwMode="auto">
              <a:xfrm flipV="1">
                <a:off x="755576" y="3140387"/>
                <a:ext cx="2617236" cy="2160821"/>
              </a:xfrm>
              <a:prstGeom prst="line">
                <a:avLst/>
              </a:prstGeom>
              <a:noFill/>
              <a:ln w="9525"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 name="组合 31"/>
            <p:cNvGrpSpPr>
              <a:grpSpLocks/>
            </p:cNvGrpSpPr>
            <p:nvPr/>
          </p:nvGrpSpPr>
          <p:grpSpPr bwMode="auto">
            <a:xfrm>
              <a:off x="4930776" y="2706688"/>
              <a:ext cx="3334648" cy="3244294"/>
              <a:chOff x="4661378" y="2709500"/>
              <a:chExt cx="3334165" cy="3244059"/>
            </a:xfrm>
          </p:grpSpPr>
          <p:cxnSp>
            <p:nvCxnSpPr>
              <p:cNvPr id="7" name="直接箭头连接符 8"/>
              <p:cNvCxnSpPr>
                <a:cxnSpLocks noChangeShapeType="1"/>
              </p:cNvCxnSpPr>
              <p:nvPr/>
            </p:nvCxnSpPr>
            <p:spPr bwMode="auto">
              <a:xfrm flipV="1">
                <a:off x="5011479" y="2924944"/>
                <a:ext cx="0" cy="2376264"/>
              </a:xfrm>
              <a:prstGeom prst="straightConnector1">
                <a:avLst/>
              </a:prstGeom>
              <a:noFill/>
              <a:ln w="9525" algn="ctr">
                <a:solidFill>
                  <a:srgbClr val="2C3E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文本框 15"/>
              <p:cNvSpPr txBox="1">
                <a:spLocks noChangeArrowheads="1"/>
              </p:cNvSpPr>
              <p:nvPr/>
            </p:nvSpPr>
            <p:spPr bwMode="auto">
              <a:xfrm>
                <a:off x="4661378" y="4149258"/>
                <a:ext cx="309655"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0</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grpSp>
            <p:nvGrpSpPr>
              <p:cNvPr id="9" name="组合 30"/>
              <p:cNvGrpSpPr>
                <a:grpSpLocks/>
              </p:cNvGrpSpPr>
              <p:nvPr/>
            </p:nvGrpSpPr>
            <p:grpSpPr bwMode="auto">
              <a:xfrm>
                <a:off x="5004048" y="2709500"/>
                <a:ext cx="2991495" cy="3244059"/>
                <a:chOff x="5004048" y="2709500"/>
                <a:chExt cx="2991495" cy="3244059"/>
              </a:xfrm>
            </p:grpSpPr>
            <p:cxnSp>
              <p:nvCxnSpPr>
                <p:cNvPr id="10" name="直接箭头连接符 5"/>
                <p:cNvCxnSpPr>
                  <a:cxnSpLocks noChangeShapeType="1"/>
                </p:cNvCxnSpPr>
                <p:nvPr/>
              </p:nvCxnSpPr>
              <p:spPr bwMode="auto">
                <a:xfrm>
                  <a:off x="5004048" y="4365104"/>
                  <a:ext cx="2880320" cy="0"/>
                </a:xfrm>
                <a:prstGeom prst="straightConnector1">
                  <a:avLst/>
                </a:prstGeom>
                <a:noFill/>
                <a:ln w="9525" algn="ctr">
                  <a:solidFill>
                    <a:srgbClr val="2C3E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文本框 18"/>
                <p:cNvSpPr txBox="1">
                  <a:spLocks noChangeArrowheads="1"/>
                </p:cNvSpPr>
                <p:nvPr/>
              </p:nvSpPr>
              <p:spPr bwMode="auto">
                <a:xfrm>
                  <a:off x="5012165" y="2709500"/>
                  <a:ext cx="809785"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Payoff</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2" name="文本框 19"/>
                <p:cNvSpPr txBox="1">
                  <a:spLocks noChangeArrowheads="1"/>
                </p:cNvSpPr>
                <p:nvPr/>
              </p:nvSpPr>
              <p:spPr bwMode="auto">
                <a:xfrm>
                  <a:off x="6258172" y="4382604"/>
                  <a:ext cx="319272"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K</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3" name="文本框 20"/>
                <p:cNvSpPr txBox="1">
                  <a:spLocks noChangeArrowheads="1"/>
                </p:cNvSpPr>
                <p:nvPr/>
              </p:nvSpPr>
              <p:spPr bwMode="auto">
                <a:xfrm>
                  <a:off x="7607351" y="4358793"/>
                  <a:ext cx="388192"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S</a:t>
                  </a:r>
                  <a:r>
                    <a:rPr lang="en-US" altLang="zh-CN" sz="1800" baseline="-250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T</a:t>
                  </a:r>
                  <a:endParaRPr lang="zh-CN" altLang="en-US" sz="1800" baseline="-250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4" name="文本框 21"/>
                <p:cNvSpPr txBox="1">
                  <a:spLocks noChangeArrowheads="1"/>
                </p:cNvSpPr>
                <p:nvPr/>
              </p:nvSpPr>
              <p:spPr bwMode="auto">
                <a:xfrm>
                  <a:off x="6005796" y="5584254"/>
                  <a:ext cx="458714"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(b)</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5" name="文本框 22"/>
                <p:cNvSpPr txBox="1">
                  <a:spLocks noChangeArrowheads="1"/>
                </p:cNvSpPr>
                <p:nvPr/>
              </p:nvSpPr>
              <p:spPr bwMode="auto">
                <a:xfrm>
                  <a:off x="5220097" y="5228680"/>
                  <a:ext cx="1672075" cy="3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Payoff = K – S</a:t>
                  </a:r>
                  <a:r>
                    <a:rPr lang="en-US" altLang="zh-CN" sz="1800" baseline="-25000" dirty="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T</a:t>
                  </a:r>
                  <a:endParaRPr lang="zh-CN" altLang="en-US" sz="1800">
                    <a:ln w="0"/>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cxnSp>
              <p:nvCxnSpPr>
                <p:cNvPr id="16" name="直接连接符 23"/>
                <p:cNvCxnSpPr>
                  <a:cxnSpLocks noChangeShapeType="1"/>
                </p:cNvCxnSpPr>
                <p:nvPr/>
              </p:nvCxnSpPr>
              <p:spPr bwMode="auto">
                <a:xfrm>
                  <a:off x="5011479" y="3140387"/>
                  <a:ext cx="2643469" cy="2160821"/>
                </a:xfrm>
                <a:prstGeom prst="line">
                  <a:avLst/>
                </a:prstGeom>
                <a:noFill/>
                <a:ln w="9525"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spTree>
    <p:extLst>
      <p:ext uri="{BB962C8B-B14F-4D97-AF65-F5344CB8AC3E}">
        <p14:creationId xmlns:p14="http://schemas.microsoft.com/office/powerpoint/2010/main" val="9700631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Payoffs of Options</a:t>
            </a:r>
          </a:p>
          <a:p>
            <a:endParaRPr lang="zh-CN" altLang="en-US" dirty="0"/>
          </a:p>
        </p:txBody>
      </p:sp>
      <p:grpSp>
        <p:nvGrpSpPr>
          <p:cNvPr id="4" name="组合 28"/>
          <p:cNvGrpSpPr>
            <a:grpSpLocks/>
          </p:cNvGrpSpPr>
          <p:nvPr/>
        </p:nvGrpSpPr>
        <p:grpSpPr bwMode="auto">
          <a:xfrm>
            <a:off x="1984375" y="1844675"/>
            <a:ext cx="1954213" cy="1655763"/>
            <a:chOff x="1187624" y="1628800"/>
            <a:chExt cx="1954374" cy="1656184"/>
          </a:xfrm>
        </p:grpSpPr>
        <p:cxnSp>
          <p:nvCxnSpPr>
            <p:cNvPr id="5" name="直接连接符 4"/>
            <p:cNvCxnSpPr/>
            <p:nvPr/>
          </p:nvCxnSpPr>
          <p:spPr>
            <a:xfrm>
              <a:off x="1187624" y="2556136"/>
              <a:ext cx="1871817"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1187624" y="1700256"/>
              <a:ext cx="0" cy="1584728"/>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9"/>
            <p:cNvSpPr txBox="1">
              <a:spLocks noChangeArrowheads="1"/>
            </p:cNvSpPr>
            <p:nvPr/>
          </p:nvSpPr>
          <p:spPr bwMode="auto">
            <a:xfrm>
              <a:off x="1187624" y="1628800"/>
              <a:ext cx="8099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Payoff</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 name="文本框 10"/>
            <p:cNvSpPr txBox="1">
              <a:spLocks noChangeArrowheads="1"/>
            </p:cNvSpPr>
            <p:nvPr/>
          </p:nvSpPr>
          <p:spPr bwMode="auto">
            <a:xfrm>
              <a:off x="2753750" y="2190222"/>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11"/>
            <p:cNvSpPr txBox="1">
              <a:spLocks noChangeArrowheads="1"/>
            </p:cNvSpPr>
            <p:nvPr/>
          </p:nvSpPr>
          <p:spPr bwMode="auto">
            <a:xfrm>
              <a:off x="1964069" y="25556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K</a:t>
              </a:r>
              <a:endParaRPr lang="zh-CN" altLang="en-US" sz="1800" b="0" baseline="-25000">
                <a:solidFill>
                  <a:srgbClr val="2C3E50"/>
                </a:solidFill>
                <a:latin typeface="Segoe UI" panose="020B0502040204020203" pitchFamily="34" charset="0"/>
                <a:cs typeface="Segoe UI" panose="020B0502040204020203" pitchFamily="34" charset="0"/>
              </a:endParaRPr>
            </a:p>
          </p:txBody>
        </p:sp>
      </p:grpSp>
      <p:grpSp>
        <p:nvGrpSpPr>
          <p:cNvPr id="10" name="组合 29"/>
          <p:cNvGrpSpPr>
            <a:grpSpLocks/>
          </p:cNvGrpSpPr>
          <p:nvPr/>
        </p:nvGrpSpPr>
        <p:grpSpPr bwMode="auto">
          <a:xfrm>
            <a:off x="5205413" y="1844675"/>
            <a:ext cx="1954212" cy="1655763"/>
            <a:chOff x="1187624" y="1628800"/>
            <a:chExt cx="1954374" cy="1656184"/>
          </a:xfrm>
        </p:grpSpPr>
        <p:cxnSp>
          <p:nvCxnSpPr>
            <p:cNvPr id="11" name="直接连接符 10"/>
            <p:cNvCxnSpPr/>
            <p:nvPr/>
          </p:nvCxnSpPr>
          <p:spPr>
            <a:xfrm>
              <a:off x="1187624" y="2556136"/>
              <a:ext cx="1871817"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1187624" y="1700256"/>
              <a:ext cx="0" cy="1584728"/>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32"/>
            <p:cNvSpPr txBox="1">
              <a:spLocks noChangeArrowheads="1"/>
            </p:cNvSpPr>
            <p:nvPr/>
          </p:nvSpPr>
          <p:spPr bwMode="auto">
            <a:xfrm>
              <a:off x="1187624" y="1628800"/>
              <a:ext cx="8099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Payoff</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33"/>
            <p:cNvSpPr txBox="1">
              <a:spLocks noChangeArrowheads="1"/>
            </p:cNvSpPr>
            <p:nvPr/>
          </p:nvSpPr>
          <p:spPr bwMode="auto">
            <a:xfrm>
              <a:off x="2753750" y="2190222"/>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5" name="文本框 34"/>
            <p:cNvSpPr txBox="1">
              <a:spLocks noChangeArrowheads="1"/>
            </p:cNvSpPr>
            <p:nvPr/>
          </p:nvSpPr>
          <p:spPr bwMode="auto">
            <a:xfrm>
              <a:off x="1964069" y="25556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K</a:t>
              </a:r>
              <a:endParaRPr lang="zh-CN" altLang="en-US" sz="1800" b="0" baseline="-25000">
                <a:solidFill>
                  <a:srgbClr val="2C3E50"/>
                </a:solidFill>
                <a:latin typeface="Segoe UI" panose="020B0502040204020203" pitchFamily="34" charset="0"/>
                <a:cs typeface="Segoe UI" panose="020B0502040204020203" pitchFamily="34" charset="0"/>
              </a:endParaRPr>
            </a:p>
          </p:txBody>
        </p:sp>
      </p:grpSp>
      <p:grpSp>
        <p:nvGrpSpPr>
          <p:cNvPr id="16" name="组合 35"/>
          <p:cNvGrpSpPr>
            <a:grpSpLocks/>
          </p:cNvGrpSpPr>
          <p:nvPr/>
        </p:nvGrpSpPr>
        <p:grpSpPr bwMode="auto">
          <a:xfrm>
            <a:off x="1984375" y="4005263"/>
            <a:ext cx="1954213" cy="1655762"/>
            <a:chOff x="1187624" y="1628800"/>
            <a:chExt cx="1954374" cy="1656184"/>
          </a:xfrm>
        </p:grpSpPr>
        <p:cxnSp>
          <p:nvCxnSpPr>
            <p:cNvPr id="17" name="直接连接符 16"/>
            <p:cNvCxnSpPr/>
            <p:nvPr/>
          </p:nvCxnSpPr>
          <p:spPr>
            <a:xfrm>
              <a:off x="1187624" y="2556136"/>
              <a:ext cx="1871817"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1187624" y="1700255"/>
              <a:ext cx="0" cy="1584729"/>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38"/>
            <p:cNvSpPr txBox="1">
              <a:spLocks noChangeArrowheads="1"/>
            </p:cNvSpPr>
            <p:nvPr/>
          </p:nvSpPr>
          <p:spPr bwMode="auto">
            <a:xfrm>
              <a:off x="1187624" y="1628800"/>
              <a:ext cx="8099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Payoff</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0" name="文本框 39"/>
            <p:cNvSpPr txBox="1">
              <a:spLocks noChangeArrowheads="1"/>
            </p:cNvSpPr>
            <p:nvPr/>
          </p:nvSpPr>
          <p:spPr bwMode="auto">
            <a:xfrm>
              <a:off x="2753750" y="2190222"/>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1" name="文本框 40"/>
            <p:cNvSpPr txBox="1">
              <a:spLocks noChangeArrowheads="1"/>
            </p:cNvSpPr>
            <p:nvPr/>
          </p:nvSpPr>
          <p:spPr bwMode="auto">
            <a:xfrm>
              <a:off x="1964069" y="25556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K</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grpSp>
      <p:grpSp>
        <p:nvGrpSpPr>
          <p:cNvPr id="22" name="组合 41"/>
          <p:cNvGrpSpPr>
            <a:grpSpLocks/>
          </p:cNvGrpSpPr>
          <p:nvPr/>
        </p:nvGrpSpPr>
        <p:grpSpPr bwMode="auto">
          <a:xfrm>
            <a:off x="5205413" y="4005263"/>
            <a:ext cx="1954212" cy="1655762"/>
            <a:chOff x="1187624" y="1628800"/>
            <a:chExt cx="1954374" cy="1656184"/>
          </a:xfrm>
        </p:grpSpPr>
        <p:cxnSp>
          <p:nvCxnSpPr>
            <p:cNvPr id="23" name="直接连接符 22"/>
            <p:cNvCxnSpPr/>
            <p:nvPr/>
          </p:nvCxnSpPr>
          <p:spPr>
            <a:xfrm>
              <a:off x="1187624" y="2556136"/>
              <a:ext cx="1871817"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1187624" y="1700255"/>
              <a:ext cx="0" cy="1584729"/>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44"/>
            <p:cNvSpPr txBox="1">
              <a:spLocks noChangeArrowheads="1"/>
            </p:cNvSpPr>
            <p:nvPr/>
          </p:nvSpPr>
          <p:spPr bwMode="auto">
            <a:xfrm>
              <a:off x="1187624" y="1628800"/>
              <a:ext cx="8099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Payoff</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6" name="文本框 45"/>
            <p:cNvSpPr txBox="1">
              <a:spLocks noChangeArrowheads="1"/>
            </p:cNvSpPr>
            <p:nvPr/>
          </p:nvSpPr>
          <p:spPr bwMode="auto">
            <a:xfrm>
              <a:off x="2753750" y="2190222"/>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7" name="文本框 46"/>
            <p:cNvSpPr txBox="1">
              <a:spLocks noChangeArrowheads="1"/>
            </p:cNvSpPr>
            <p:nvPr/>
          </p:nvSpPr>
          <p:spPr bwMode="auto">
            <a:xfrm>
              <a:off x="1964069" y="25556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K</a:t>
              </a:r>
              <a:endParaRPr lang="zh-CN" altLang="en-US" sz="1800" b="0" baseline="-25000">
                <a:solidFill>
                  <a:srgbClr val="2C3E50"/>
                </a:solidFill>
                <a:latin typeface="Segoe UI" panose="020B0502040204020203" pitchFamily="34" charset="0"/>
                <a:cs typeface="Segoe UI" panose="020B0502040204020203" pitchFamily="34" charset="0"/>
              </a:endParaRPr>
            </a:p>
          </p:txBody>
        </p:sp>
      </p:grpSp>
      <p:sp>
        <p:nvSpPr>
          <p:cNvPr id="28" name="文本框 59"/>
          <p:cNvSpPr txBox="1">
            <a:spLocks noChangeArrowheads="1"/>
          </p:cNvSpPr>
          <p:nvPr/>
        </p:nvSpPr>
        <p:spPr bwMode="auto">
          <a:xfrm>
            <a:off x="2182813" y="3482975"/>
            <a:ext cx="1573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Max(S</a:t>
            </a:r>
            <a:r>
              <a:rPr lang="en-US" altLang="zh-CN" sz="1800" b="0" baseline="-25000" dirty="0">
                <a:solidFill>
                  <a:srgbClr val="2C3E50"/>
                </a:solidFill>
                <a:latin typeface="Segoe UI" panose="020B0502040204020203" pitchFamily="34" charset="0"/>
                <a:cs typeface="Segoe UI" panose="020B0502040204020203" pitchFamily="34" charset="0"/>
              </a:rPr>
              <a:t>T</a:t>
            </a:r>
            <a:r>
              <a:rPr lang="en-US" altLang="zh-CN" sz="1800" b="0" dirty="0">
                <a:solidFill>
                  <a:srgbClr val="2C3E50"/>
                </a:solidFill>
                <a:latin typeface="Segoe UI" panose="020B0502040204020203" pitchFamily="34" charset="0"/>
                <a:cs typeface="Segoe UI" panose="020B0502040204020203" pitchFamily="34" charset="0"/>
              </a:rPr>
              <a:t> – K, 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29" name="文本框 61"/>
          <p:cNvSpPr txBox="1">
            <a:spLocks noChangeArrowheads="1"/>
          </p:cNvSpPr>
          <p:nvPr/>
        </p:nvSpPr>
        <p:spPr bwMode="auto">
          <a:xfrm>
            <a:off x="5429250" y="3482975"/>
            <a:ext cx="1665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-Max(S</a:t>
            </a:r>
            <a:r>
              <a:rPr lang="en-US" altLang="zh-CN" sz="1800" b="0" baseline="-25000" dirty="0">
                <a:solidFill>
                  <a:srgbClr val="2C3E50"/>
                </a:solidFill>
                <a:latin typeface="Segoe UI" panose="020B0502040204020203" pitchFamily="34" charset="0"/>
                <a:cs typeface="Segoe UI" panose="020B0502040204020203" pitchFamily="34" charset="0"/>
              </a:rPr>
              <a:t>T</a:t>
            </a:r>
            <a:r>
              <a:rPr lang="en-US" altLang="zh-CN" sz="1800" b="0" dirty="0">
                <a:solidFill>
                  <a:srgbClr val="2C3E50"/>
                </a:solidFill>
                <a:latin typeface="Segoe UI" panose="020B0502040204020203" pitchFamily="34" charset="0"/>
                <a:cs typeface="Segoe UI" panose="020B0502040204020203" pitchFamily="34" charset="0"/>
              </a:rPr>
              <a:t> – K, 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0" name="文本框 60"/>
          <p:cNvSpPr txBox="1">
            <a:spLocks noChangeArrowheads="1"/>
          </p:cNvSpPr>
          <p:nvPr/>
        </p:nvSpPr>
        <p:spPr bwMode="auto">
          <a:xfrm>
            <a:off x="2182813" y="5661025"/>
            <a:ext cx="155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Max(K – S</a:t>
            </a:r>
            <a:r>
              <a:rPr lang="en-US" altLang="zh-CN" sz="1800" b="0" baseline="-25000" dirty="0">
                <a:solidFill>
                  <a:srgbClr val="2C3E50"/>
                </a:solidFill>
                <a:latin typeface="Segoe UI" panose="020B0502040204020203" pitchFamily="34" charset="0"/>
                <a:cs typeface="Segoe UI" panose="020B0502040204020203" pitchFamily="34" charset="0"/>
              </a:rPr>
              <a:t>T</a:t>
            </a:r>
            <a:r>
              <a:rPr lang="en-US" altLang="zh-CN" sz="1800" b="0" dirty="0">
                <a:solidFill>
                  <a:srgbClr val="2C3E50"/>
                </a:solidFill>
                <a:latin typeface="Segoe UI" panose="020B0502040204020203" pitchFamily="34" charset="0"/>
                <a:cs typeface="Segoe UI" panose="020B0502040204020203" pitchFamily="34" charset="0"/>
              </a:rPr>
              <a:t>, 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1" name="文本框 62"/>
          <p:cNvSpPr txBox="1">
            <a:spLocks noChangeArrowheads="1"/>
          </p:cNvSpPr>
          <p:nvPr/>
        </p:nvSpPr>
        <p:spPr bwMode="auto">
          <a:xfrm>
            <a:off x="5362575" y="5661025"/>
            <a:ext cx="165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-Max(K – S</a:t>
            </a:r>
            <a:r>
              <a:rPr lang="en-US" altLang="zh-CN" sz="1800" b="0" baseline="-25000" dirty="0">
                <a:solidFill>
                  <a:srgbClr val="2C3E50"/>
                </a:solidFill>
                <a:latin typeface="Segoe UI" panose="020B0502040204020203" pitchFamily="34" charset="0"/>
                <a:cs typeface="Segoe UI" panose="020B0502040204020203" pitchFamily="34" charset="0"/>
              </a:rPr>
              <a:t>T</a:t>
            </a:r>
            <a:r>
              <a:rPr lang="en-US" altLang="zh-CN" sz="1800" b="0" dirty="0">
                <a:solidFill>
                  <a:srgbClr val="2C3E50"/>
                </a:solidFill>
                <a:latin typeface="Segoe UI" panose="020B0502040204020203" pitchFamily="34" charset="0"/>
                <a:cs typeface="Segoe UI" panose="020B0502040204020203" pitchFamily="34" charset="0"/>
              </a:rPr>
              <a:t>, 0)</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32" name="直接连接符 31"/>
          <p:cNvCxnSpPr/>
          <p:nvPr/>
        </p:nvCxnSpPr>
        <p:spPr>
          <a:xfrm>
            <a:off x="1984375" y="2771775"/>
            <a:ext cx="93662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921000" y="1916113"/>
            <a:ext cx="854075" cy="85566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224463" y="2771775"/>
            <a:ext cx="93662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142038" y="2771775"/>
            <a:ext cx="728662" cy="728663"/>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190750" y="4211638"/>
            <a:ext cx="730250" cy="73025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921000" y="4941888"/>
            <a:ext cx="935038"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142038" y="4932363"/>
            <a:ext cx="935037"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5286375" y="4932363"/>
            <a:ext cx="855663" cy="85407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995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Profit of Call Option</a:t>
            </a:r>
          </a:p>
          <a:p>
            <a:endParaRPr lang="zh-CN" altLang="en-US" dirty="0"/>
          </a:p>
        </p:txBody>
      </p:sp>
      <p:grpSp>
        <p:nvGrpSpPr>
          <p:cNvPr id="4" name="组合 62"/>
          <p:cNvGrpSpPr>
            <a:grpSpLocks/>
          </p:cNvGrpSpPr>
          <p:nvPr/>
        </p:nvGrpSpPr>
        <p:grpSpPr bwMode="auto">
          <a:xfrm>
            <a:off x="577909" y="2262786"/>
            <a:ext cx="4243388" cy="2497138"/>
            <a:chOff x="25931" y="2397251"/>
            <a:chExt cx="4243442" cy="2498213"/>
          </a:xfrm>
        </p:grpSpPr>
        <p:cxnSp>
          <p:nvCxnSpPr>
            <p:cNvPr id="5" name="直接连接符 4"/>
            <p:cNvCxnSpPr/>
            <p:nvPr/>
          </p:nvCxnSpPr>
          <p:spPr>
            <a:xfrm flipV="1">
              <a:off x="853030" y="3588389"/>
              <a:ext cx="2376517" cy="1589"/>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46679" y="2564011"/>
              <a:ext cx="0" cy="2016993"/>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846679" y="4093431"/>
              <a:ext cx="116841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2015094" y="2834002"/>
              <a:ext cx="1260491" cy="1259429"/>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18"/>
            <p:cNvSpPr txBox="1">
              <a:spLocks noChangeArrowheads="1"/>
            </p:cNvSpPr>
            <p:nvPr/>
          </p:nvSpPr>
          <p:spPr bwMode="auto">
            <a:xfrm>
              <a:off x="118177" y="2397251"/>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19"/>
            <p:cNvSpPr txBox="1">
              <a:spLocks noChangeArrowheads="1"/>
            </p:cNvSpPr>
            <p:nvPr/>
          </p:nvSpPr>
          <p:spPr bwMode="auto">
            <a:xfrm>
              <a:off x="536128" y="3405363"/>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文本框 20"/>
            <p:cNvSpPr txBox="1">
              <a:spLocks noChangeArrowheads="1"/>
            </p:cNvSpPr>
            <p:nvPr/>
          </p:nvSpPr>
          <p:spPr bwMode="auto">
            <a:xfrm>
              <a:off x="25931" y="3909419"/>
              <a:ext cx="827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-$1.50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2" name="文本框 21"/>
            <p:cNvSpPr txBox="1">
              <a:spLocks noChangeArrowheads="1"/>
            </p:cNvSpPr>
            <p:nvPr/>
          </p:nvSpPr>
          <p:spPr bwMode="auto">
            <a:xfrm>
              <a:off x="229513" y="4526132"/>
              <a:ext cx="6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Loss</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3" name="直接连接符 12"/>
            <p:cNvCxnSpPr/>
            <p:nvPr/>
          </p:nvCxnSpPr>
          <p:spPr>
            <a:xfrm>
              <a:off x="1999219" y="2564011"/>
              <a:ext cx="0" cy="2016993"/>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sp>
          <p:nvSpPr>
            <p:cNvPr id="14" name="文本框 30"/>
            <p:cNvSpPr txBox="1">
              <a:spLocks noChangeArrowheads="1"/>
            </p:cNvSpPr>
            <p:nvPr/>
          </p:nvSpPr>
          <p:spPr bwMode="auto">
            <a:xfrm>
              <a:off x="1096300" y="3220697"/>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$20.00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文本框 31"/>
            <p:cNvSpPr txBox="1">
              <a:spLocks noChangeArrowheads="1"/>
            </p:cNvSpPr>
            <p:nvPr/>
          </p:nvSpPr>
          <p:spPr bwMode="auto">
            <a:xfrm>
              <a:off x="2504614" y="3587948"/>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$21.50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6" name="文本框 32"/>
            <p:cNvSpPr txBox="1">
              <a:spLocks noChangeArrowheads="1"/>
            </p:cNvSpPr>
            <p:nvPr/>
          </p:nvSpPr>
          <p:spPr bwMode="auto">
            <a:xfrm>
              <a:off x="3371178" y="3266883"/>
              <a:ext cx="8981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Market</a:t>
              </a:r>
            </a:p>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7" name="文本框 39"/>
            <p:cNvSpPr txBox="1">
              <a:spLocks noChangeArrowheads="1"/>
            </p:cNvSpPr>
            <p:nvPr/>
          </p:nvSpPr>
          <p:spPr bwMode="auto">
            <a:xfrm>
              <a:off x="899592" y="3657390"/>
              <a:ext cx="1095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Premium</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8" name="直接箭头连接符 17"/>
            <p:cNvCxnSpPr/>
            <p:nvPr/>
          </p:nvCxnSpPr>
          <p:spPr>
            <a:xfrm flipV="1">
              <a:off x="899067" y="3588389"/>
              <a:ext cx="0" cy="505042"/>
            </a:xfrm>
            <a:prstGeom prst="straightConnector1">
              <a:avLst/>
            </a:prstGeom>
            <a:ln>
              <a:solidFill>
                <a:srgbClr val="2C3E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42"/>
            <p:cNvSpPr txBox="1">
              <a:spLocks noChangeArrowheads="1"/>
            </p:cNvSpPr>
            <p:nvPr/>
          </p:nvSpPr>
          <p:spPr bwMode="auto">
            <a:xfrm>
              <a:off x="1230994" y="4526132"/>
              <a:ext cx="1540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Exercise Price</a:t>
              </a:r>
              <a:endParaRPr lang="zh-CN" altLang="en-US" sz="1800" b="0">
                <a:solidFill>
                  <a:srgbClr val="2C3E50"/>
                </a:solidFill>
                <a:latin typeface="Segoe UI" panose="020B0502040204020203" pitchFamily="34" charset="0"/>
                <a:cs typeface="Segoe UI" panose="020B0502040204020203" pitchFamily="34" charset="0"/>
              </a:endParaRPr>
            </a:p>
          </p:txBody>
        </p:sp>
      </p:grpSp>
      <p:grpSp>
        <p:nvGrpSpPr>
          <p:cNvPr id="20" name="组合 63"/>
          <p:cNvGrpSpPr>
            <a:grpSpLocks/>
          </p:cNvGrpSpPr>
          <p:nvPr/>
        </p:nvGrpSpPr>
        <p:grpSpPr bwMode="auto">
          <a:xfrm>
            <a:off x="4987449" y="2196905"/>
            <a:ext cx="4319587" cy="2484438"/>
            <a:chOff x="4211960" y="2411596"/>
            <a:chExt cx="4320480" cy="2483868"/>
          </a:xfrm>
        </p:grpSpPr>
        <p:cxnSp>
          <p:nvCxnSpPr>
            <p:cNvPr id="21" name="直接连接符 20"/>
            <p:cNvCxnSpPr/>
            <p:nvPr/>
          </p:nvCxnSpPr>
          <p:spPr>
            <a:xfrm>
              <a:off x="5113846" y="3605122"/>
              <a:ext cx="2376978"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107495" y="2595704"/>
              <a:ext cx="0" cy="201725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sp>
          <p:nvSpPr>
            <p:cNvPr id="23" name="文本框 35"/>
            <p:cNvSpPr txBox="1">
              <a:spLocks noChangeArrowheads="1"/>
            </p:cNvSpPr>
            <p:nvPr/>
          </p:nvSpPr>
          <p:spPr bwMode="auto">
            <a:xfrm>
              <a:off x="4379004" y="2411596"/>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4" name="文本框 36"/>
            <p:cNvSpPr txBox="1">
              <a:spLocks noChangeArrowheads="1"/>
            </p:cNvSpPr>
            <p:nvPr/>
          </p:nvSpPr>
          <p:spPr bwMode="auto">
            <a:xfrm>
              <a:off x="4796955" y="341970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5" name="文本框 37"/>
            <p:cNvSpPr txBox="1">
              <a:spLocks noChangeArrowheads="1"/>
            </p:cNvSpPr>
            <p:nvPr/>
          </p:nvSpPr>
          <p:spPr bwMode="auto">
            <a:xfrm>
              <a:off x="4490340" y="4526132"/>
              <a:ext cx="6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Loss</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6" name="文本框 38"/>
            <p:cNvSpPr txBox="1">
              <a:spLocks noChangeArrowheads="1"/>
            </p:cNvSpPr>
            <p:nvPr/>
          </p:nvSpPr>
          <p:spPr bwMode="auto">
            <a:xfrm>
              <a:off x="7634245" y="3281208"/>
              <a:ext cx="8981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Market</a:t>
              </a:r>
            </a:p>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7" name="文本框 49"/>
            <p:cNvSpPr txBox="1">
              <a:spLocks noChangeArrowheads="1"/>
            </p:cNvSpPr>
            <p:nvPr/>
          </p:nvSpPr>
          <p:spPr bwMode="auto">
            <a:xfrm>
              <a:off x="4211960" y="2915652"/>
              <a:ext cx="893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+$1.50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8" name="文本框 56"/>
            <p:cNvSpPr txBox="1">
              <a:spLocks noChangeArrowheads="1"/>
            </p:cNvSpPr>
            <p:nvPr/>
          </p:nvSpPr>
          <p:spPr bwMode="auto">
            <a:xfrm>
              <a:off x="5150584" y="3167470"/>
              <a:ext cx="1095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Premium</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29" name="直接箭头连接符 28"/>
            <p:cNvCxnSpPr/>
            <p:nvPr/>
          </p:nvCxnSpPr>
          <p:spPr>
            <a:xfrm flipV="1">
              <a:off x="5150366" y="3097239"/>
              <a:ext cx="0" cy="506297"/>
            </a:xfrm>
            <a:prstGeom prst="straightConnector1">
              <a:avLst/>
            </a:prstGeom>
            <a:ln>
              <a:solidFill>
                <a:srgbClr val="2C3E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239616" y="2595704"/>
              <a:ext cx="0" cy="201725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105907" y="3100413"/>
              <a:ext cx="113370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39616" y="3100413"/>
              <a:ext cx="1251209" cy="1250663"/>
            </a:xfrm>
            <a:prstGeom prst="straightConnector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59"/>
            <p:cNvSpPr txBox="1">
              <a:spLocks noChangeArrowheads="1"/>
            </p:cNvSpPr>
            <p:nvPr/>
          </p:nvSpPr>
          <p:spPr bwMode="auto">
            <a:xfrm>
              <a:off x="5364088" y="3635732"/>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$20.00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34" name="文本框 60"/>
            <p:cNvSpPr txBox="1">
              <a:spLocks noChangeArrowheads="1"/>
            </p:cNvSpPr>
            <p:nvPr/>
          </p:nvSpPr>
          <p:spPr bwMode="auto">
            <a:xfrm>
              <a:off x="5475545" y="4526132"/>
              <a:ext cx="1540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Exercise 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35" name="文本框 61"/>
            <p:cNvSpPr txBox="1">
              <a:spLocks noChangeArrowheads="1"/>
            </p:cNvSpPr>
            <p:nvPr/>
          </p:nvSpPr>
          <p:spPr bwMode="auto">
            <a:xfrm>
              <a:off x="6772431" y="3222126"/>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$21.50</a:t>
              </a:r>
              <a:endParaRPr lang="zh-CN" altLang="en-US" sz="1800" b="0">
                <a:solidFill>
                  <a:srgbClr val="2C3E50"/>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26099723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Options, Forward contract payoffs</a:t>
            </a:r>
            <a:endParaRPr lang="zh-CN" altLang="en-US" dirty="0"/>
          </a:p>
        </p:txBody>
      </p:sp>
      <p:sp>
        <p:nvSpPr>
          <p:cNvPr id="3" name="文本占位符 2"/>
          <p:cNvSpPr>
            <a:spLocks noGrp="1"/>
          </p:cNvSpPr>
          <p:nvPr>
            <p:ph type="body" sz="quarter" idx="10"/>
          </p:nvPr>
        </p:nvSpPr>
        <p:spPr/>
        <p:txBody>
          <a:bodyPr/>
          <a:lstStyle/>
          <a:p>
            <a:r>
              <a:rPr lang="en-US" altLang="zh-CN" dirty="0"/>
              <a:t>Profit of Put Option</a:t>
            </a:r>
          </a:p>
          <a:p>
            <a:endParaRPr lang="zh-CN" altLang="en-US" dirty="0"/>
          </a:p>
        </p:txBody>
      </p:sp>
      <p:grpSp>
        <p:nvGrpSpPr>
          <p:cNvPr id="4" name="组合 24"/>
          <p:cNvGrpSpPr>
            <a:grpSpLocks/>
          </p:cNvGrpSpPr>
          <p:nvPr/>
        </p:nvGrpSpPr>
        <p:grpSpPr bwMode="auto">
          <a:xfrm>
            <a:off x="605910" y="2280330"/>
            <a:ext cx="4243388" cy="2497138"/>
            <a:chOff x="313963" y="2348880"/>
            <a:chExt cx="4243442" cy="2498213"/>
          </a:xfrm>
        </p:grpSpPr>
        <p:cxnSp>
          <p:nvCxnSpPr>
            <p:cNvPr id="5" name="直接连接符 4"/>
            <p:cNvCxnSpPr/>
            <p:nvPr/>
          </p:nvCxnSpPr>
          <p:spPr>
            <a:xfrm flipV="1">
              <a:off x="1141062" y="3540018"/>
              <a:ext cx="2376517" cy="1589"/>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134711" y="2515640"/>
              <a:ext cx="0" cy="2016993"/>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sp>
          <p:nvSpPr>
            <p:cNvPr id="7" name="文本框 5"/>
            <p:cNvSpPr txBox="1">
              <a:spLocks noChangeArrowheads="1"/>
            </p:cNvSpPr>
            <p:nvPr/>
          </p:nvSpPr>
          <p:spPr bwMode="auto">
            <a:xfrm>
              <a:off x="406209" y="2348880"/>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6"/>
            <p:cNvSpPr txBox="1">
              <a:spLocks noChangeArrowheads="1"/>
            </p:cNvSpPr>
            <p:nvPr/>
          </p:nvSpPr>
          <p:spPr bwMode="auto">
            <a:xfrm>
              <a:off x="824160" y="3356992"/>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9" name="文本框 7"/>
            <p:cNvSpPr txBox="1">
              <a:spLocks noChangeArrowheads="1"/>
            </p:cNvSpPr>
            <p:nvPr/>
          </p:nvSpPr>
          <p:spPr bwMode="auto">
            <a:xfrm>
              <a:off x="517545" y="4477761"/>
              <a:ext cx="6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Loss</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8"/>
            <p:cNvSpPr txBox="1">
              <a:spLocks noChangeArrowheads="1"/>
            </p:cNvSpPr>
            <p:nvPr/>
          </p:nvSpPr>
          <p:spPr bwMode="auto">
            <a:xfrm>
              <a:off x="3659210" y="3218512"/>
              <a:ext cx="8981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Market</a:t>
              </a:r>
            </a:p>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文本框 9"/>
            <p:cNvSpPr txBox="1">
              <a:spLocks noChangeArrowheads="1"/>
            </p:cNvSpPr>
            <p:nvPr/>
          </p:nvSpPr>
          <p:spPr bwMode="auto">
            <a:xfrm>
              <a:off x="313963" y="3861048"/>
              <a:ext cx="827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-$0.70</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2" name="直接连接符 11"/>
            <p:cNvCxnSpPr/>
            <p:nvPr/>
          </p:nvCxnSpPr>
          <p:spPr>
            <a:xfrm>
              <a:off x="2287251" y="4076824"/>
              <a:ext cx="1230328"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1133123" y="2923802"/>
              <a:ext cx="1154128" cy="1153021"/>
            </a:xfrm>
            <a:prstGeom prst="straightConnector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87251" y="2515640"/>
              <a:ext cx="0" cy="2016993"/>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sp>
          <p:nvSpPr>
            <p:cNvPr id="15" name="文本框 19"/>
            <p:cNvSpPr txBox="1">
              <a:spLocks noChangeArrowheads="1"/>
            </p:cNvSpPr>
            <p:nvPr/>
          </p:nvSpPr>
          <p:spPr bwMode="auto">
            <a:xfrm>
              <a:off x="1187624" y="3609019"/>
              <a:ext cx="1095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Premium</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6" name="直接箭头连接符 15"/>
            <p:cNvCxnSpPr/>
            <p:nvPr/>
          </p:nvCxnSpPr>
          <p:spPr>
            <a:xfrm flipV="1">
              <a:off x="1187099" y="3540018"/>
              <a:ext cx="0" cy="505042"/>
            </a:xfrm>
            <a:prstGeom prst="straightConnector1">
              <a:avLst/>
            </a:prstGeom>
            <a:ln>
              <a:solidFill>
                <a:srgbClr val="2C3E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本框 21"/>
            <p:cNvSpPr txBox="1">
              <a:spLocks noChangeArrowheads="1"/>
            </p:cNvSpPr>
            <p:nvPr/>
          </p:nvSpPr>
          <p:spPr bwMode="auto">
            <a:xfrm>
              <a:off x="1519026" y="4477761"/>
              <a:ext cx="1540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Exercise 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8" name="文本框 22"/>
            <p:cNvSpPr txBox="1">
              <a:spLocks noChangeArrowheads="1"/>
            </p:cNvSpPr>
            <p:nvPr/>
          </p:nvSpPr>
          <p:spPr bwMode="auto">
            <a:xfrm>
              <a:off x="1583958" y="3188783"/>
              <a:ext cx="7344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$5.30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9" name="文本框 23"/>
            <p:cNvSpPr txBox="1">
              <a:spLocks noChangeArrowheads="1"/>
            </p:cNvSpPr>
            <p:nvPr/>
          </p:nvSpPr>
          <p:spPr bwMode="auto">
            <a:xfrm>
              <a:off x="2280022" y="3188784"/>
              <a:ext cx="7344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$6.00</a:t>
              </a:r>
              <a:endParaRPr lang="zh-CN" altLang="en-US" sz="1800" b="0">
                <a:solidFill>
                  <a:srgbClr val="2C3E50"/>
                </a:solidFill>
                <a:latin typeface="Segoe UI" panose="020B0502040204020203" pitchFamily="34" charset="0"/>
                <a:cs typeface="Segoe UI" panose="020B0502040204020203" pitchFamily="34" charset="0"/>
              </a:endParaRPr>
            </a:p>
          </p:txBody>
        </p:sp>
      </p:grpSp>
      <p:grpSp>
        <p:nvGrpSpPr>
          <p:cNvPr id="20" name="组合 44"/>
          <p:cNvGrpSpPr>
            <a:grpSpLocks/>
          </p:cNvGrpSpPr>
          <p:nvPr/>
        </p:nvGrpSpPr>
        <p:grpSpPr bwMode="auto">
          <a:xfrm>
            <a:off x="4723684" y="2297708"/>
            <a:ext cx="4319587" cy="2484438"/>
            <a:chOff x="4499992" y="2356052"/>
            <a:chExt cx="4320480" cy="2483868"/>
          </a:xfrm>
        </p:grpSpPr>
        <p:cxnSp>
          <p:nvCxnSpPr>
            <p:cNvPr id="21" name="直接连接符 20"/>
            <p:cNvCxnSpPr/>
            <p:nvPr/>
          </p:nvCxnSpPr>
          <p:spPr>
            <a:xfrm>
              <a:off x="5401878" y="3549578"/>
              <a:ext cx="2376978" cy="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395527" y="2540160"/>
              <a:ext cx="0" cy="2017250"/>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sp>
          <p:nvSpPr>
            <p:cNvPr id="23" name="文本框 28"/>
            <p:cNvSpPr txBox="1">
              <a:spLocks noChangeArrowheads="1"/>
            </p:cNvSpPr>
            <p:nvPr/>
          </p:nvSpPr>
          <p:spPr bwMode="auto">
            <a:xfrm>
              <a:off x="4667036" y="2356052"/>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4" name="文本框 29"/>
            <p:cNvSpPr txBox="1">
              <a:spLocks noChangeArrowheads="1"/>
            </p:cNvSpPr>
            <p:nvPr/>
          </p:nvSpPr>
          <p:spPr bwMode="auto">
            <a:xfrm>
              <a:off x="5084987" y="3364164"/>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5" name="文本框 30"/>
            <p:cNvSpPr txBox="1">
              <a:spLocks noChangeArrowheads="1"/>
            </p:cNvSpPr>
            <p:nvPr/>
          </p:nvSpPr>
          <p:spPr bwMode="auto">
            <a:xfrm>
              <a:off x="4778372" y="4470588"/>
              <a:ext cx="6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Loss</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6" name="文本框 31"/>
            <p:cNvSpPr txBox="1">
              <a:spLocks noChangeArrowheads="1"/>
            </p:cNvSpPr>
            <p:nvPr/>
          </p:nvSpPr>
          <p:spPr bwMode="auto">
            <a:xfrm>
              <a:off x="7922277" y="3225664"/>
              <a:ext cx="8981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Market</a:t>
              </a:r>
            </a:p>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7" name="文本框 32"/>
            <p:cNvSpPr txBox="1">
              <a:spLocks noChangeArrowheads="1"/>
            </p:cNvSpPr>
            <p:nvPr/>
          </p:nvSpPr>
          <p:spPr bwMode="auto">
            <a:xfrm>
              <a:off x="4499992" y="2860108"/>
              <a:ext cx="893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+$0.70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8" name="文本框 33"/>
            <p:cNvSpPr txBox="1">
              <a:spLocks noChangeArrowheads="1"/>
            </p:cNvSpPr>
            <p:nvPr/>
          </p:nvSpPr>
          <p:spPr bwMode="auto">
            <a:xfrm>
              <a:off x="5438616" y="3111926"/>
              <a:ext cx="1095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Premium</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29" name="直接箭头连接符 28"/>
            <p:cNvCxnSpPr/>
            <p:nvPr/>
          </p:nvCxnSpPr>
          <p:spPr>
            <a:xfrm flipV="1">
              <a:off x="5438398" y="3041695"/>
              <a:ext cx="0" cy="506297"/>
            </a:xfrm>
            <a:prstGeom prst="straightConnector1">
              <a:avLst/>
            </a:prstGeom>
            <a:ln>
              <a:solidFill>
                <a:srgbClr val="2C3E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527648" y="2540160"/>
              <a:ext cx="0" cy="201725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533999" y="3022649"/>
              <a:ext cx="113370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文本框 38"/>
            <p:cNvSpPr txBox="1">
              <a:spLocks noChangeArrowheads="1"/>
            </p:cNvSpPr>
            <p:nvPr/>
          </p:nvSpPr>
          <p:spPr bwMode="auto">
            <a:xfrm>
              <a:off x="5799484" y="3574483"/>
              <a:ext cx="7344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$5.30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33" name="文本框 39"/>
            <p:cNvSpPr txBox="1">
              <a:spLocks noChangeArrowheads="1"/>
            </p:cNvSpPr>
            <p:nvPr/>
          </p:nvSpPr>
          <p:spPr bwMode="auto">
            <a:xfrm>
              <a:off x="5763577" y="4470588"/>
              <a:ext cx="1540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Exercise 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34" name="文本框 40"/>
            <p:cNvSpPr txBox="1">
              <a:spLocks noChangeArrowheads="1"/>
            </p:cNvSpPr>
            <p:nvPr/>
          </p:nvSpPr>
          <p:spPr bwMode="auto">
            <a:xfrm>
              <a:off x="6544948" y="3574483"/>
              <a:ext cx="7344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$6.00</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35" name="直接箭头连接符 34"/>
            <p:cNvCxnSpPr/>
            <p:nvPr/>
          </p:nvCxnSpPr>
          <p:spPr>
            <a:xfrm flipH="1">
              <a:off x="5393939" y="3022649"/>
              <a:ext cx="1122595" cy="1122105"/>
            </a:xfrm>
            <a:prstGeom prst="straightConnector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1071541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92500" lnSpcReduction="10000"/>
          </a:bodyPr>
          <a:lstStyle/>
          <a:p>
            <a:r>
              <a:rPr lang="en-US" altLang="zh-CN" b="0" dirty="0" smtClean="0">
                <a:solidFill>
                  <a:srgbClr val="FF0000"/>
                </a:solidFill>
                <a:latin typeface="Segoe UI" panose="020B0502040204020203" pitchFamily="34" charset="0"/>
                <a:cs typeface="Segoe UI" panose="020B0502040204020203" pitchFamily="34" charset="0"/>
              </a:rPr>
              <a:t>Describe </a:t>
            </a:r>
            <a:r>
              <a:rPr lang="en-US" altLang="zh-CN" b="0" dirty="0">
                <a:solidFill>
                  <a:srgbClr val="FF0000"/>
                </a:solidFill>
                <a:latin typeface="Segoe UI" panose="020B0502040204020203" pitchFamily="34" charset="0"/>
                <a:cs typeface="Segoe UI" panose="020B0502040204020203" pitchFamily="34" charset="0"/>
              </a:rPr>
              <a:t>the </a:t>
            </a:r>
            <a:r>
              <a:rPr lang="en-US" altLang="zh-CN" b="0" dirty="0" smtClean="0">
                <a:solidFill>
                  <a:srgbClr val="FF0000"/>
                </a:solidFill>
                <a:latin typeface="Segoe UI" panose="020B0502040204020203" pitchFamily="34" charset="0"/>
                <a:cs typeface="Segoe UI" panose="020B0502040204020203" pitchFamily="34" charset="0"/>
              </a:rPr>
              <a:t>OTC market and </a:t>
            </a:r>
            <a:r>
              <a:rPr lang="en-US" altLang="zh-CN" b="0" dirty="0">
                <a:solidFill>
                  <a:srgbClr val="FF0000"/>
                </a:solidFill>
                <a:latin typeface="Segoe UI" panose="020B0502040204020203" pitchFamily="34" charset="0"/>
                <a:cs typeface="Segoe UI" panose="020B0502040204020203" pitchFamily="34" charset="0"/>
              </a:rPr>
              <a:t>evaluate its advantages and disadvantages</a:t>
            </a:r>
            <a:r>
              <a:rPr lang="en-US" altLang="zh-CN" b="0" dirty="0" smtClean="0">
                <a:solidFill>
                  <a:srgbClr val="FF0000"/>
                </a:solidFill>
                <a:latin typeface="Segoe UI" panose="020B0502040204020203" pitchFamily="34" charset="0"/>
                <a:cs typeface="Segoe UI" panose="020B0502040204020203" pitchFamily="34" charset="0"/>
              </a:rPr>
              <a:t>.</a:t>
            </a:r>
            <a:r>
              <a:rPr lang="en-US" altLang="zh-CN" b="0" dirty="0">
                <a:solidFill>
                  <a:srgbClr val="FF0000"/>
                </a:solidFill>
                <a:cs typeface="+mn-ea"/>
                <a:sym typeface="+mn-lt"/>
              </a:rPr>
              <a:t> </a:t>
            </a:r>
            <a:r>
              <a:rPr lang="en-US" altLang="zh-CN" b="0" dirty="0" smtClean="0">
                <a:solidFill>
                  <a:srgbClr val="FF0000"/>
                </a:solidFill>
                <a:cs typeface="+mn-ea"/>
                <a:sym typeface="+mn-lt"/>
              </a:rPr>
              <a:t>★★</a:t>
            </a:r>
            <a:r>
              <a:rPr lang="en-US" altLang="zh-CN" b="0" dirty="0" smtClean="0">
                <a:solidFill>
                  <a:srgbClr val="FF0000"/>
                </a:solidFill>
                <a:latin typeface="Segoe UI" panose="020B0502040204020203" pitchFamily="34" charset="0"/>
                <a:cs typeface="Segoe UI" panose="020B0502040204020203" pitchFamily="34" charset="0"/>
              </a:rPr>
              <a:t> </a:t>
            </a:r>
            <a:endParaRPr lang="en-US" altLang="zh-CN" b="0" dirty="0">
              <a:solidFill>
                <a:srgbClr val="FF0000"/>
              </a:solidFill>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Differentiate between options, forwards, and futures contracts.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Identify and calculate option and forward contract payoffs.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Calculate and compare the payoffs from hedging strategies involving forward contracts and options.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Calculate and compare the payoffs from speculative strategies involving futures and options.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r>
              <a:rPr lang="en-US" altLang="zh-CN" b="0" dirty="0">
                <a:solidFill>
                  <a:srgbClr val="FF0000"/>
                </a:solidFill>
                <a:latin typeface="Segoe UI" panose="020B0502040204020203" pitchFamily="34" charset="0"/>
                <a:cs typeface="Segoe UI" panose="020B0502040204020203" pitchFamily="34" charset="0"/>
              </a:rPr>
              <a:t>Calculate an arbitrage payoff and describe how arbitrage opportunities are temporary</a:t>
            </a:r>
            <a:r>
              <a:rPr lang="en-US" altLang="zh-CN" b="0" dirty="0" smtClean="0">
                <a:solidFill>
                  <a:srgbClr val="FF0000"/>
                </a:solidFill>
                <a:latin typeface="Segoe UI" panose="020B0502040204020203" pitchFamily="34" charset="0"/>
                <a:cs typeface="Segoe UI" panose="020B0502040204020203" pitchFamily="34" charset="0"/>
              </a:rPr>
              <a:t>.</a:t>
            </a:r>
            <a:r>
              <a:rPr lang="en-US" altLang="zh-CN" b="0" dirty="0">
                <a:solidFill>
                  <a:srgbClr val="FF0000"/>
                </a:solidFill>
                <a:cs typeface="+mn-ea"/>
                <a:sym typeface="+mn-lt"/>
              </a:rPr>
              <a:t> </a:t>
            </a:r>
            <a:r>
              <a:rPr lang="en-US" altLang="zh-CN" b="0" dirty="0" smtClean="0">
                <a:solidFill>
                  <a:srgbClr val="FF0000"/>
                </a:solidFill>
                <a:cs typeface="+mn-ea"/>
                <a:sym typeface="+mn-lt"/>
              </a:rPr>
              <a:t>★★</a:t>
            </a:r>
            <a:r>
              <a:rPr lang="en-US" altLang="zh-CN" b="0" dirty="0" smtClean="0">
                <a:solidFill>
                  <a:srgbClr val="FF0000"/>
                </a:solidFill>
                <a:latin typeface="Segoe UI" panose="020B0502040204020203" pitchFamily="34" charset="0"/>
                <a:cs typeface="Segoe UI" panose="020B0502040204020203" pitchFamily="34" charset="0"/>
              </a:rPr>
              <a:t> </a:t>
            </a:r>
            <a:endParaRPr lang="en-US" altLang="zh-CN" b="0" dirty="0">
              <a:solidFill>
                <a:srgbClr val="FF0000"/>
              </a:solidFill>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Describe some of the risks that can arise from the use of derivatives.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r>
              <a:rPr lang="en-US" altLang="zh-CN" b="0" dirty="0">
                <a:latin typeface="Segoe UI" panose="020B0502040204020203" pitchFamily="34" charset="0"/>
                <a:cs typeface="Segoe UI" panose="020B0502040204020203" pitchFamily="34" charset="0"/>
              </a:rPr>
              <a:t>Differentiate among the broad categories of traders: hedgers, speculators, and arbitrageurs. </a:t>
            </a:r>
            <a:r>
              <a:rPr lang="en-US" altLang="zh-CN" b="0" dirty="0">
                <a:cs typeface="+mn-ea"/>
                <a:sym typeface="+mn-lt"/>
              </a:rPr>
              <a:t>★</a:t>
            </a:r>
            <a:endParaRPr lang="en-US" altLang="zh-CN" b="0" dirty="0">
              <a:latin typeface="Segoe UI" panose="020B0502040204020203" pitchFamily="34" charset="0"/>
              <a:cs typeface="Segoe UI" panose="020B0502040204020203" pitchFamily="34" charset="0"/>
            </a:endParaRPr>
          </a:p>
          <a:p>
            <a:endParaRPr lang="zh-CN" altLang="en-US" dirty="0"/>
          </a:p>
        </p:txBody>
      </p:sp>
    </p:spTree>
    <p:extLst>
      <p:ext uri="{BB962C8B-B14F-4D97-AF65-F5344CB8AC3E}">
        <p14:creationId xmlns:p14="http://schemas.microsoft.com/office/powerpoint/2010/main" val="308768948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Mechanics of Futures Markets</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366266884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Key Features of A Futures Contract</a:t>
            </a:r>
            <a:endParaRPr lang="zh-CN" altLang="en-US" dirty="0"/>
          </a:p>
        </p:txBody>
      </p:sp>
      <p:sp>
        <p:nvSpPr>
          <p:cNvPr id="3" name="文本占位符 2"/>
          <p:cNvSpPr>
            <a:spLocks noGrp="1"/>
          </p:cNvSpPr>
          <p:nvPr>
            <p:ph type="body" sz="quarter" idx="10"/>
          </p:nvPr>
        </p:nvSpPr>
        <p:spPr/>
        <p:txBody>
          <a:bodyPr>
            <a:normAutofit fontScale="25000" lnSpcReduction="20000"/>
          </a:bodyPr>
          <a:lstStyle/>
          <a:p>
            <a:r>
              <a:rPr lang="en-US" altLang="zh-CN" sz="8000" dirty="0"/>
              <a:t>A futures contract </a:t>
            </a:r>
            <a:r>
              <a:rPr lang="en-US" altLang="zh-CN" sz="8000" b="0" dirty="0">
                <a:solidFill>
                  <a:schemeClr val="tx1"/>
                </a:solidFill>
              </a:rPr>
              <a:t>is a standardized contract that trades on a futures exchange and </a:t>
            </a:r>
            <a:r>
              <a:rPr lang="en-US" altLang="zh-CN" sz="8000" b="0" dirty="0" smtClean="0">
                <a:solidFill>
                  <a:schemeClr val="tx1"/>
                </a:solidFill>
              </a:rPr>
              <a:t>is an </a:t>
            </a:r>
            <a:r>
              <a:rPr lang="en-US" altLang="zh-CN" sz="8000" b="0" dirty="0">
                <a:solidFill>
                  <a:schemeClr val="tx1"/>
                </a:solidFill>
              </a:rPr>
              <a:t>agreement to buy or to sell an underlying asset at a delivery date at some </a:t>
            </a:r>
            <a:r>
              <a:rPr lang="en-US" altLang="zh-CN" sz="8000" b="0" dirty="0" smtClean="0">
                <a:solidFill>
                  <a:schemeClr val="tx1"/>
                </a:solidFill>
              </a:rPr>
              <a:t>pre-set futures </a:t>
            </a:r>
            <a:r>
              <a:rPr lang="en-US" altLang="zh-CN" sz="8000" b="0" dirty="0">
                <a:solidFill>
                  <a:schemeClr val="tx1"/>
                </a:solidFill>
              </a:rPr>
              <a:t>price. The specifications of a futures contract include, but are not limited to</a:t>
            </a:r>
            <a:r>
              <a:rPr lang="en-US" altLang="zh-CN" sz="8000" b="0" dirty="0" smtClean="0">
                <a:solidFill>
                  <a:schemeClr val="tx1"/>
                </a:solidFill>
              </a:rPr>
              <a:t>:</a:t>
            </a:r>
          </a:p>
          <a:p>
            <a:pPr>
              <a:lnSpc>
                <a:spcPct val="140000"/>
              </a:lnSpc>
              <a:spcBef>
                <a:spcPct val="0"/>
              </a:spcBef>
            </a:pPr>
            <a:r>
              <a:rPr lang="en-US" altLang="zh-CN" sz="8000" dirty="0"/>
              <a:t>Specifications of Futures Contract</a:t>
            </a:r>
          </a:p>
          <a:p>
            <a:pPr lvl="1">
              <a:lnSpc>
                <a:spcPct val="140000"/>
              </a:lnSpc>
              <a:spcBef>
                <a:spcPct val="0"/>
              </a:spcBef>
            </a:pPr>
            <a:r>
              <a:rPr lang="en-US" altLang="zh-CN" sz="8000" b="1" dirty="0"/>
              <a:t>Asset: </a:t>
            </a:r>
            <a:endParaRPr lang="en-US" altLang="zh-CN" sz="8000" b="1" dirty="0" smtClean="0"/>
          </a:p>
          <a:p>
            <a:pPr lvl="2">
              <a:lnSpc>
                <a:spcPct val="140000"/>
              </a:lnSpc>
              <a:spcBef>
                <a:spcPct val="0"/>
              </a:spcBef>
            </a:pPr>
            <a:r>
              <a:rPr lang="en-US" altLang="zh-CN" sz="8000" dirty="0" smtClean="0"/>
              <a:t>A </a:t>
            </a:r>
            <a:r>
              <a:rPr lang="en-US" altLang="zh-CN" sz="8000" dirty="0"/>
              <a:t>Treasury bond futures contract(T </a:t>
            </a:r>
            <a:r>
              <a:rPr lang="en-US" altLang="zh-CN" sz="8000" dirty="0" smtClean="0"/>
              <a:t>bond</a:t>
            </a:r>
            <a:r>
              <a:rPr lang="zh-CN" altLang="en-US" sz="8000" dirty="0" smtClean="0"/>
              <a:t>≥</a:t>
            </a:r>
            <a:r>
              <a:rPr lang="en-US" altLang="zh-CN" sz="8000" dirty="0" smtClean="0"/>
              <a:t>15 </a:t>
            </a:r>
            <a:r>
              <a:rPr lang="en-US" altLang="zh-CN" sz="8000" dirty="0"/>
              <a:t>years</a:t>
            </a:r>
            <a:r>
              <a:rPr lang="en-US" altLang="zh-CN" sz="8000" dirty="0" smtClean="0"/>
              <a:t>).</a:t>
            </a:r>
          </a:p>
          <a:p>
            <a:pPr lvl="2">
              <a:lnSpc>
                <a:spcPct val="140000"/>
              </a:lnSpc>
              <a:spcBef>
                <a:spcPct val="0"/>
              </a:spcBef>
            </a:pPr>
            <a:r>
              <a:rPr lang="en-US" altLang="zh-CN" sz="8000" dirty="0"/>
              <a:t>A Treasury note futures contract(6.5 ≤ T note ≤ 10 years).</a:t>
            </a:r>
            <a:endParaRPr lang="en-US" altLang="zh-CN" sz="8000" dirty="0" smtClean="0"/>
          </a:p>
          <a:p>
            <a:pPr lvl="1">
              <a:lnSpc>
                <a:spcPct val="140000"/>
              </a:lnSpc>
              <a:spcBef>
                <a:spcPct val="0"/>
              </a:spcBef>
            </a:pPr>
            <a:r>
              <a:rPr lang="en-US" altLang="zh-CN" sz="8000" b="1" dirty="0" smtClean="0"/>
              <a:t>Contract </a:t>
            </a:r>
            <a:r>
              <a:rPr lang="en-US" altLang="zh-CN" sz="8000" b="1" dirty="0"/>
              <a:t>Size</a:t>
            </a:r>
          </a:p>
          <a:p>
            <a:pPr lvl="2">
              <a:lnSpc>
                <a:spcPct val="140000"/>
              </a:lnSpc>
              <a:spcBef>
                <a:spcPct val="0"/>
              </a:spcBef>
            </a:pPr>
            <a:r>
              <a:rPr lang="en-US" altLang="zh-CN" sz="8000" u="sng" dirty="0"/>
              <a:t>Treasury bond Futures has a face value of $100,000;</a:t>
            </a:r>
          </a:p>
          <a:p>
            <a:pPr lvl="2">
              <a:lnSpc>
                <a:spcPct val="140000"/>
              </a:lnSpc>
              <a:spcBef>
                <a:spcPct val="0"/>
              </a:spcBef>
            </a:pPr>
            <a:r>
              <a:rPr lang="en-US" altLang="zh-CN" sz="8000" u="sng" dirty="0"/>
              <a:t>S&amp;P 500 Futures contract is index×$250 (multiplier of 250)</a:t>
            </a:r>
          </a:p>
          <a:p>
            <a:pPr lvl="2">
              <a:lnSpc>
                <a:spcPct val="140000"/>
              </a:lnSpc>
              <a:spcBef>
                <a:spcPct val="0"/>
              </a:spcBef>
            </a:pPr>
            <a:r>
              <a:rPr lang="en-US" altLang="zh-CN" sz="8000" u="sng" dirty="0"/>
              <a:t>Eurodollar futures contract has a face value of $1 million</a:t>
            </a:r>
          </a:p>
          <a:p>
            <a:pPr lvl="1">
              <a:lnSpc>
                <a:spcPct val="140000"/>
              </a:lnSpc>
              <a:spcBef>
                <a:spcPct val="0"/>
              </a:spcBef>
            </a:pPr>
            <a:r>
              <a:rPr lang="en-US" altLang="zh-CN" sz="8000" b="1" dirty="0"/>
              <a:t>Delivery </a:t>
            </a:r>
            <a:r>
              <a:rPr lang="en-US" altLang="zh-CN" sz="8000" b="1" dirty="0" smtClean="0"/>
              <a:t>Arrangement</a:t>
            </a:r>
            <a:r>
              <a:rPr lang="zh-CN" altLang="en-US" sz="8000" b="1" dirty="0" smtClean="0"/>
              <a:t>：</a:t>
            </a:r>
            <a:r>
              <a:rPr lang="en-US" altLang="zh-CN" sz="8000" dirty="0"/>
              <a:t>The exchange specifies delivery location.</a:t>
            </a:r>
          </a:p>
          <a:p>
            <a:pPr lvl="1">
              <a:lnSpc>
                <a:spcPct val="140000"/>
              </a:lnSpc>
              <a:spcBef>
                <a:spcPct val="0"/>
              </a:spcBef>
            </a:pPr>
            <a:r>
              <a:rPr lang="en-US" altLang="zh-CN" sz="8000" b="1" dirty="0"/>
              <a:t>Delivery Month </a:t>
            </a:r>
          </a:p>
          <a:p>
            <a:pPr lvl="1">
              <a:lnSpc>
                <a:spcPct val="140000"/>
              </a:lnSpc>
              <a:spcBef>
                <a:spcPct val="0"/>
              </a:spcBef>
            </a:pPr>
            <a:r>
              <a:rPr lang="en-US" altLang="zh-CN" sz="8000" b="1" dirty="0" smtClean="0"/>
              <a:t>Price Quotes</a:t>
            </a:r>
            <a:r>
              <a:rPr lang="zh-CN" altLang="en-US" sz="8000" b="1" dirty="0" smtClean="0"/>
              <a:t>：</a:t>
            </a:r>
            <a:r>
              <a:rPr lang="en-US" altLang="zh-CN" sz="8000" dirty="0"/>
              <a:t>For e.g., crude oil futures is quoted in </a:t>
            </a:r>
            <a:r>
              <a:rPr lang="en-US" altLang="zh-CN" sz="8000" dirty="0" smtClean="0"/>
              <a:t>dollars and </a:t>
            </a:r>
            <a:r>
              <a:rPr lang="en-US" altLang="zh-CN" sz="8000" dirty="0"/>
              <a:t>cents.</a:t>
            </a:r>
            <a:endParaRPr lang="en-US" altLang="zh-CN" sz="8000" dirty="0" smtClean="0"/>
          </a:p>
          <a:p>
            <a:pPr lvl="1">
              <a:lnSpc>
                <a:spcPct val="140000"/>
              </a:lnSpc>
              <a:spcBef>
                <a:spcPct val="0"/>
              </a:spcBef>
            </a:pPr>
            <a:r>
              <a:rPr lang="en-US" altLang="zh-CN" sz="8000" b="1" dirty="0" smtClean="0"/>
              <a:t>Price </a:t>
            </a:r>
            <a:r>
              <a:rPr lang="en-US" altLang="zh-CN" sz="8000" b="1" dirty="0"/>
              <a:t>limits and position limits</a:t>
            </a:r>
          </a:p>
          <a:p>
            <a:endParaRPr lang="en-US" altLang="zh-CN" b="0" dirty="0" smtClean="0">
              <a:solidFill>
                <a:schemeClr val="tx1"/>
              </a:solidFill>
            </a:endParaRPr>
          </a:p>
          <a:p>
            <a:endParaRPr lang="zh-CN" altLang="en-US" b="0" dirty="0">
              <a:solidFill>
                <a:schemeClr val="tx1"/>
              </a:solidFill>
            </a:endParaRPr>
          </a:p>
        </p:txBody>
      </p:sp>
    </p:spTree>
    <p:extLst>
      <p:ext uri="{BB962C8B-B14F-4D97-AF65-F5344CB8AC3E}">
        <p14:creationId xmlns:p14="http://schemas.microsoft.com/office/powerpoint/2010/main" val="193021082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Convergence of Futures and Spot price</a:t>
            </a:r>
            <a:endParaRPr lang="zh-CN" altLang="en-US" dirty="0"/>
          </a:p>
        </p:txBody>
      </p:sp>
      <p:sp>
        <p:nvSpPr>
          <p:cNvPr id="3" name="文本占位符 2"/>
          <p:cNvSpPr>
            <a:spLocks noGrp="1"/>
          </p:cNvSpPr>
          <p:nvPr>
            <p:ph type="body" sz="quarter" idx="10"/>
          </p:nvPr>
        </p:nvSpPr>
        <p:spPr/>
        <p:txBody>
          <a:bodyPr/>
          <a:lstStyle/>
          <a:p>
            <a:r>
              <a:rPr lang="en-US" altLang="zh-CN" dirty="0"/>
              <a:t>Convergence of Futures and Spot </a:t>
            </a:r>
            <a:r>
              <a:rPr lang="en-US" altLang="zh-CN" dirty="0" smtClean="0"/>
              <a:t>price</a:t>
            </a:r>
          </a:p>
          <a:p>
            <a:pPr lvl="1"/>
            <a:r>
              <a:rPr lang="en-US" altLang="zh-CN" dirty="0"/>
              <a:t>At the futures contract approaches maturity, the spot price should </a:t>
            </a:r>
            <a:r>
              <a:rPr lang="en-US" altLang="zh-CN" dirty="0">
                <a:solidFill>
                  <a:srgbClr val="FF0000"/>
                </a:solidFill>
              </a:rPr>
              <a:t>converge</a:t>
            </a:r>
            <a:r>
              <a:rPr lang="en-US" altLang="zh-CN" dirty="0"/>
              <a:t> with </a:t>
            </a:r>
            <a:r>
              <a:rPr lang="en-US" altLang="zh-CN" dirty="0" smtClean="0"/>
              <a:t>the futures </a:t>
            </a:r>
            <a:r>
              <a:rPr lang="en-US" altLang="zh-CN" dirty="0"/>
              <a:t>price (at least to a so-called “zone of convergence”). Put another way, </a:t>
            </a:r>
            <a:r>
              <a:rPr lang="en-US" altLang="zh-CN" dirty="0">
                <a:solidFill>
                  <a:srgbClr val="FF0000"/>
                </a:solidFill>
              </a:rPr>
              <a:t>the </a:t>
            </a:r>
            <a:r>
              <a:rPr lang="en-US" altLang="zh-CN" dirty="0" smtClean="0">
                <a:solidFill>
                  <a:srgbClr val="FF0000"/>
                </a:solidFill>
              </a:rPr>
              <a:t>basis (the </a:t>
            </a:r>
            <a:r>
              <a:rPr lang="en-US" altLang="zh-CN" dirty="0">
                <a:solidFill>
                  <a:srgbClr val="FF0000"/>
                </a:solidFill>
              </a:rPr>
              <a:t>difference between the spot and futures price) </a:t>
            </a:r>
            <a:r>
              <a:rPr lang="en-US" altLang="zh-CN" dirty="0"/>
              <a:t>should converge toward zero as </a:t>
            </a:r>
            <a:r>
              <a:rPr lang="en-US" altLang="zh-CN" dirty="0" smtClean="0"/>
              <a:t>the futures </a:t>
            </a:r>
            <a:r>
              <a:rPr lang="en-US" altLang="zh-CN" dirty="0"/>
              <a:t>contract approaches maturity.</a:t>
            </a:r>
            <a:endParaRPr lang="zh-CN" altLang="en-US" dirty="0"/>
          </a:p>
        </p:txBody>
      </p:sp>
      <p:pic>
        <p:nvPicPr>
          <p:cNvPr id="4" name="图片 3"/>
          <p:cNvPicPr>
            <a:picLocks noChangeAspect="1"/>
          </p:cNvPicPr>
          <p:nvPr/>
        </p:nvPicPr>
        <p:blipFill>
          <a:blip r:embed="rId2"/>
          <a:stretch>
            <a:fillRect/>
          </a:stretch>
        </p:blipFill>
        <p:spPr>
          <a:xfrm>
            <a:off x="1249506" y="3458630"/>
            <a:ext cx="5118243" cy="3074562"/>
          </a:xfrm>
          <a:prstGeom prst="rect">
            <a:avLst/>
          </a:prstGeom>
        </p:spPr>
      </p:pic>
    </p:spTree>
    <p:extLst>
      <p:ext uri="{BB962C8B-B14F-4D97-AF65-F5344CB8AC3E}">
        <p14:creationId xmlns:p14="http://schemas.microsoft.com/office/powerpoint/2010/main" val="193108038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Margin Requirement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a:t>Key terms are</a:t>
            </a:r>
            <a:r>
              <a:rPr lang="en-US" altLang="zh-CN" dirty="0" smtClean="0"/>
              <a:t>:</a:t>
            </a:r>
          </a:p>
          <a:p>
            <a:pPr lvl="1"/>
            <a:r>
              <a:rPr lang="en-US" altLang="zh-CN" b="1" dirty="0" smtClean="0"/>
              <a:t>Margin </a:t>
            </a:r>
            <a:r>
              <a:rPr lang="en-US" altLang="zh-CN" b="1" dirty="0"/>
              <a:t>account: </a:t>
            </a:r>
            <a:r>
              <a:rPr lang="en-US" altLang="zh-CN" b="0" dirty="0"/>
              <a:t>Broker requires deposit.</a:t>
            </a:r>
          </a:p>
          <a:p>
            <a:pPr lvl="1"/>
            <a:r>
              <a:rPr lang="en-US" altLang="zh-CN" b="1" dirty="0" smtClean="0"/>
              <a:t>Initial </a:t>
            </a:r>
            <a:r>
              <a:rPr lang="en-US" altLang="zh-CN" b="1" dirty="0"/>
              <a:t>margin: </a:t>
            </a:r>
            <a:r>
              <a:rPr lang="en-US" altLang="zh-CN" b="0" dirty="0"/>
              <a:t>Must be deposited when contract is initiated.</a:t>
            </a:r>
          </a:p>
          <a:p>
            <a:pPr lvl="1"/>
            <a:r>
              <a:rPr lang="en-US" altLang="zh-CN" b="1" dirty="0" smtClean="0"/>
              <a:t>Mark-to-market</a:t>
            </a:r>
            <a:r>
              <a:rPr lang="en-US" altLang="zh-CN" b="1" dirty="0"/>
              <a:t>: </a:t>
            </a:r>
            <a:r>
              <a:rPr lang="en-US" altLang="zh-CN" b="0" dirty="0"/>
              <a:t>At the end of each trading day, margin account is adjusted to </a:t>
            </a:r>
            <a:r>
              <a:rPr lang="en-US" altLang="zh-CN" b="0" dirty="0" smtClean="0"/>
              <a:t>reflect gains </a:t>
            </a:r>
            <a:r>
              <a:rPr lang="en-US" altLang="zh-CN" b="0" dirty="0"/>
              <a:t>or losses.</a:t>
            </a:r>
          </a:p>
          <a:p>
            <a:pPr lvl="1"/>
            <a:r>
              <a:rPr lang="en-US" altLang="zh-CN" b="1" dirty="0" smtClean="0"/>
              <a:t>Maintenance </a:t>
            </a:r>
            <a:r>
              <a:rPr lang="en-US" altLang="zh-CN" b="1" dirty="0"/>
              <a:t>margin: </a:t>
            </a:r>
            <a:r>
              <a:rPr lang="en-US" altLang="zh-CN" b="0" dirty="0"/>
              <a:t>Investor can withdraw funds in the margin account in </a:t>
            </a:r>
            <a:r>
              <a:rPr lang="en-US" altLang="zh-CN" b="0" dirty="0" smtClean="0"/>
              <a:t>excess of </a:t>
            </a:r>
            <a:r>
              <a:rPr lang="en-US" altLang="zh-CN" b="0" dirty="0"/>
              <a:t>the initial margin. A maintenance margin guarantees that the balance in the </a:t>
            </a:r>
            <a:r>
              <a:rPr lang="en-US" altLang="zh-CN" b="0" dirty="0" smtClean="0"/>
              <a:t>margin account </a:t>
            </a:r>
            <a:r>
              <a:rPr lang="en-US" altLang="zh-CN" b="0" dirty="0"/>
              <a:t>never gets negative (the maintenance margin is lower than the </a:t>
            </a:r>
            <a:r>
              <a:rPr lang="en-US" altLang="zh-CN" b="0" dirty="0" smtClean="0"/>
              <a:t>initial margin</a:t>
            </a:r>
            <a:r>
              <a:rPr lang="en-US" altLang="zh-CN" b="0" dirty="0"/>
              <a:t>).</a:t>
            </a:r>
          </a:p>
          <a:p>
            <a:pPr lvl="1"/>
            <a:r>
              <a:rPr lang="en-US" altLang="zh-CN" b="1" dirty="0" smtClean="0"/>
              <a:t>Margin </a:t>
            </a:r>
            <a:r>
              <a:rPr lang="en-US" altLang="zh-CN" b="1" dirty="0"/>
              <a:t>call: </a:t>
            </a:r>
            <a:r>
              <a:rPr lang="en-US" altLang="zh-CN" b="0" dirty="0"/>
              <a:t>When the balance in the margin account falls below the </a:t>
            </a:r>
            <a:r>
              <a:rPr lang="en-US" altLang="zh-CN" b="0" dirty="0" smtClean="0"/>
              <a:t>maintenance margin</a:t>
            </a:r>
            <a:r>
              <a:rPr lang="en-US" altLang="zh-CN" b="0" dirty="0"/>
              <a:t>, the broker executes a margin call. The next day, the investor needs to “</a:t>
            </a:r>
            <a:r>
              <a:rPr lang="en-US" altLang="zh-CN" b="0" dirty="0" smtClean="0"/>
              <a:t>top up</a:t>
            </a:r>
            <a:r>
              <a:rPr lang="en-US" altLang="zh-CN" b="0" dirty="0"/>
              <a:t>” the margin account back to the initial margin </a:t>
            </a:r>
            <a:r>
              <a:rPr lang="en-US" altLang="zh-CN" b="0" dirty="0" smtClean="0"/>
              <a:t>level. </a:t>
            </a:r>
          </a:p>
          <a:p>
            <a:pPr lvl="1"/>
            <a:r>
              <a:rPr lang="en-US" altLang="zh-CN" b="1" dirty="0" smtClean="0"/>
              <a:t>Variation </a:t>
            </a:r>
            <a:r>
              <a:rPr lang="en-US" altLang="zh-CN" b="1" dirty="0"/>
              <a:t>margin: </a:t>
            </a:r>
            <a:r>
              <a:rPr lang="en-US" altLang="zh-CN" b="0" dirty="0"/>
              <a:t>Extra funds deposited by the investor after receiving a margin </a:t>
            </a:r>
            <a:r>
              <a:rPr lang="en-US" altLang="zh-CN" b="0" dirty="0" smtClean="0"/>
              <a:t>call. There </a:t>
            </a:r>
            <a:r>
              <a:rPr lang="en-US" altLang="zh-CN" b="0" dirty="0"/>
              <a:t>is only a variation margin if and when there is a margin call.</a:t>
            </a:r>
          </a:p>
          <a:p>
            <a:pPr lvl="1"/>
            <a:r>
              <a:rPr lang="en-US" altLang="zh-CN" b="0" dirty="0"/>
              <a:t>Variation margin = Initial margin – Margin account balance</a:t>
            </a:r>
            <a:endParaRPr lang="zh-CN" altLang="en-US" dirty="0"/>
          </a:p>
        </p:txBody>
      </p:sp>
      <p:sp>
        <p:nvSpPr>
          <p:cNvPr id="4" name="文本框 3"/>
          <p:cNvSpPr txBox="1"/>
          <p:nvPr/>
        </p:nvSpPr>
        <p:spPr>
          <a:xfrm>
            <a:off x="1408101" y="5761821"/>
            <a:ext cx="6380824" cy="440675"/>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402691861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Margin Requirement</a:t>
            </a:r>
            <a:endParaRPr lang="zh-CN" altLang="en-US" dirty="0"/>
          </a:p>
        </p:txBody>
      </p:sp>
      <p:sp>
        <p:nvSpPr>
          <p:cNvPr id="3" name="文本占位符 2"/>
          <p:cNvSpPr>
            <a:spLocks noGrp="1"/>
          </p:cNvSpPr>
          <p:nvPr>
            <p:ph type="body" sz="quarter" idx="10"/>
          </p:nvPr>
        </p:nvSpPr>
        <p:spPr/>
        <p:txBody>
          <a:bodyPr/>
          <a:lstStyle/>
          <a:p>
            <a:r>
              <a:rPr lang="en-US" altLang="zh-CN" dirty="0"/>
              <a:t>Example</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465418862"/>
              </p:ext>
            </p:extLst>
          </p:nvPr>
        </p:nvGraphicFramePr>
        <p:xfrm>
          <a:off x="924021" y="1581514"/>
          <a:ext cx="7273925" cy="3167059"/>
        </p:xfrm>
        <a:graphic>
          <a:graphicData uri="http://schemas.openxmlformats.org/drawingml/2006/table">
            <a:tbl>
              <a:tblPr>
                <a:tableStyleId>{5C22544A-7EE6-4342-B048-85BDC9FD1C3A}</a:tableStyleId>
              </a:tblPr>
              <a:tblGrid>
                <a:gridCol w="4005262">
                  <a:extLst>
                    <a:ext uri="{9D8B030D-6E8A-4147-A177-3AD203B41FA5}">
                      <a16:colId xmlns="" xmlns:a16="http://schemas.microsoft.com/office/drawing/2014/main" val="20000"/>
                    </a:ext>
                  </a:extLst>
                </a:gridCol>
                <a:gridCol w="1633538">
                  <a:extLst>
                    <a:ext uri="{9D8B030D-6E8A-4147-A177-3AD203B41FA5}">
                      <a16:colId xmlns="" xmlns:a16="http://schemas.microsoft.com/office/drawing/2014/main" val="20001"/>
                    </a:ext>
                  </a:extLst>
                </a:gridCol>
                <a:gridCol w="1635125">
                  <a:extLst>
                    <a:ext uri="{9D8B030D-6E8A-4147-A177-3AD203B41FA5}">
                      <a16:colId xmlns="" xmlns:a16="http://schemas.microsoft.com/office/drawing/2014/main" val="20002"/>
                    </a:ext>
                  </a:extLst>
                </a:gridCol>
              </a:tblGrid>
              <a:tr h="452437">
                <a:tc gridSpan="3">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Contract Specifications</a:t>
                      </a:r>
                      <a:endParaRPr kumimoji="0" lang="zh-CN" altLang="en-US" sz="1800" b="1"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452437">
                <a:tc gridSpan="2">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Contract Size (ounces)</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hMerge="1">
                  <a:txBody>
                    <a:bodyPr/>
                    <a:lstStyle/>
                    <a:p>
                      <a:endParaRPr lang="zh-CN" altLang="en-US"/>
                    </a:p>
                  </a:txBody>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100</a:t>
                      </a:r>
                      <a:endParaRPr kumimoji="0" lang="zh-CN" altLang="en-US" sz="1800" b="0"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1"/>
                  </a:ext>
                </a:extLst>
              </a:tr>
              <a:tr h="452437">
                <a:tc gridSpan="2">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Number of Contracts</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hMerge="1">
                  <a:txBody>
                    <a:bodyPr/>
                    <a:lstStyle/>
                    <a:p>
                      <a:endParaRPr lang="zh-CN" altLang="en-US"/>
                    </a:p>
                  </a:txBody>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2</a:t>
                      </a:r>
                      <a:endParaRPr kumimoji="0" lang="zh-CN" altLang="en-US" sz="1800" b="0"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2"/>
                  </a:ext>
                </a:extLst>
              </a:tr>
              <a:tr h="452437">
                <a:tc gridSpan="2">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Initial Futures</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hMerge="1">
                  <a:txBody>
                    <a:bodyPr/>
                    <a:lstStyle/>
                    <a:p>
                      <a:endParaRPr lang="zh-CN" altLang="en-US"/>
                    </a:p>
                  </a:txBody>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$600</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3"/>
                  </a:ext>
                </a:extLst>
              </a:tr>
              <a:tr h="45243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Margin</a:t>
                      </a:r>
                      <a:endParaRPr kumimoji="0" lang="zh-CN" altLang="en-US" sz="1800" b="1"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Per</a:t>
                      </a:r>
                      <a:endParaRPr kumimoji="0" lang="zh-CN" altLang="en-US" sz="1800" b="1"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Total</a:t>
                      </a:r>
                      <a:endParaRPr kumimoji="0" lang="zh-CN" altLang="en-US" sz="1800" b="1"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4"/>
                  </a:ext>
                </a:extLst>
              </a:tr>
              <a:tr h="45243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Initial margin</a:t>
                      </a:r>
                      <a:endParaRPr kumimoji="0" lang="zh-CN" altLang="en-US" sz="1800" b="0"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$2,000</a:t>
                      </a:r>
                      <a:endParaRPr kumimoji="0" lang="zh-CN" altLang="en-US" sz="1800" b="0"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$4,000</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5"/>
                  </a:ext>
                </a:extLst>
              </a:tr>
              <a:tr h="45243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Maintenance margin</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$1,500</a:t>
                      </a:r>
                      <a:endParaRPr kumimoji="0" lang="zh-CN" altLang="en-US" sz="1800" b="0" i="0" u="none" strike="noStrike" cap="none" normalizeH="0" baseline="0" smtClean="0">
                        <a:ln>
                          <a:noFill/>
                        </a:ln>
                        <a:solidFill>
                          <a:srgbClr val="2C3E50"/>
                        </a:solidFill>
                        <a:effectLst/>
                        <a:latin typeface="+mn-lt"/>
                        <a:ea typeface="Segoe UI Black" pitchFamily="34" charset="0"/>
                        <a:cs typeface="Segoe UI" pitchFamily="34" charset="0"/>
                      </a:endParaRPr>
                    </a:p>
                  </a:txBody>
                  <a:tcPr marT="45688" marB="45688" horzOverflow="overflow"/>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smtClean="0">
                          <a:ln>
                            <a:noFill/>
                          </a:ln>
                          <a:effectLst/>
                          <a:latin typeface="+mn-lt"/>
                        </a:rPr>
                        <a:t>$3,000</a:t>
                      </a:r>
                      <a:endParaRPr kumimoji="0" lang="zh-CN" altLang="en-US" sz="1800" b="0" i="0" u="none" strike="noStrike" cap="none" normalizeH="0" baseline="0" dirty="0" smtClean="0">
                        <a:ln>
                          <a:noFill/>
                        </a:ln>
                        <a:solidFill>
                          <a:srgbClr val="2C3E50"/>
                        </a:solidFill>
                        <a:effectLst/>
                        <a:latin typeface="+mn-lt"/>
                        <a:ea typeface="Segoe UI Black" pitchFamily="34" charset="0"/>
                        <a:cs typeface="Segoe UI" pitchFamily="34" charset="0"/>
                      </a:endParaRPr>
                    </a:p>
                  </a:txBody>
                  <a:tcPr marT="45688" marB="45688" horzOverflow="overflow"/>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9270035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Margin Requirement</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pic>
        <p:nvPicPr>
          <p:cNvPr id="4"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88472"/>
            <a:ext cx="7693064" cy="566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429216" y="1535105"/>
            <a:ext cx="2785955" cy="3170099"/>
          </a:xfrm>
          <a:prstGeom prst="rect">
            <a:avLst/>
          </a:prstGeom>
        </p:spPr>
        <p:txBody>
          <a:bodyPr wrap="square">
            <a:spAutoFit/>
          </a:bodyPr>
          <a:lstStyle/>
          <a:p>
            <a:r>
              <a:rPr lang="en-US" altLang="zh-CN" sz="2000" dirty="0">
                <a:solidFill>
                  <a:srgbClr val="FF0000"/>
                </a:solidFill>
              </a:rPr>
              <a:t>IMPORTANT CONCEPT: The maintenance margin is a </a:t>
            </a:r>
            <a:r>
              <a:rPr lang="en-US" altLang="zh-CN" sz="2000" b="1" dirty="0">
                <a:solidFill>
                  <a:srgbClr val="FF0000"/>
                </a:solidFill>
              </a:rPr>
              <a:t>trigger level—once </a:t>
            </a:r>
            <a:r>
              <a:rPr lang="en-US" altLang="zh-CN" sz="2000" b="1" dirty="0" smtClean="0">
                <a:solidFill>
                  <a:srgbClr val="FF0000"/>
                </a:solidFill>
              </a:rPr>
              <a:t>triggered, </a:t>
            </a:r>
            <a:r>
              <a:rPr lang="en-US" altLang="zh-CN" sz="2000" dirty="0" smtClean="0">
                <a:solidFill>
                  <a:srgbClr val="FF0000"/>
                </a:solidFill>
              </a:rPr>
              <a:t>the investor </a:t>
            </a:r>
            <a:r>
              <a:rPr lang="en-US" altLang="zh-CN" sz="2000" dirty="0">
                <a:solidFill>
                  <a:srgbClr val="FF0000"/>
                </a:solidFill>
              </a:rPr>
              <a:t>must “top up” to the </a:t>
            </a:r>
            <a:r>
              <a:rPr lang="en-US" altLang="zh-CN" sz="2000" i="1" dirty="0">
                <a:solidFill>
                  <a:srgbClr val="FF0000"/>
                </a:solidFill>
              </a:rPr>
              <a:t>initial margin </a:t>
            </a:r>
            <a:r>
              <a:rPr lang="en-US" altLang="zh-CN" sz="2000" dirty="0">
                <a:solidFill>
                  <a:srgbClr val="FF0000"/>
                </a:solidFill>
              </a:rPr>
              <a:t>level rather than just to </a:t>
            </a:r>
            <a:r>
              <a:rPr lang="en-US" altLang="zh-CN" sz="2000" dirty="0" smtClean="0">
                <a:solidFill>
                  <a:srgbClr val="FF0000"/>
                </a:solidFill>
              </a:rPr>
              <a:t>the maintenance </a:t>
            </a:r>
            <a:r>
              <a:rPr lang="en-US" altLang="zh-CN" sz="2000" dirty="0">
                <a:solidFill>
                  <a:srgbClr val="FF0000"/>
                </a:solidFill>
              </a:rPr>
              <a:t>margin level</a:t>
            </a:r>
            <a:r>
              <a:rPr lang="en-US" altLang="zh-CN" sz="2000" dirty="0" smtClean="0">
                <a:solidFill>
                  <a:srgbClr val="FF0000"/>
                </a:solidFill>
              </a:rPr>
              <a:t>. </a:t>
            </a:r>
            <a:r>
              <a:rPr lang="en-US" altLang="zh-CN" dirty="0" smtClean="0">
                <a:solidFill>
                  <a:srgbClr val="FF0000"/>
                </a:solidFill>
              </a:rPr>
              <a:t>	</a:t>
            </a:r>
            <a:endParaRPr lang="zh-CN" altLang="en-US" dirty="0">
              <a:solidFill>
                <a:srgbClr val="FF0000"/>
              </a:solidFill>
            </a:endParaRPr>
          </a:p>
        </p:txBody>
      </p:sp>
      <p:sp>
        <p:nvSpPr>
          <p:cNvPr id="6" name="dollar-price-tag_17172"/>
          <p:cNvSpPr>
            <a:spLocks noChangeAspect="1"/>
          </p:cNvSpPr>
          <p:nvPr/>
        </p:nvSpPr>
        <p:spPr bwMode="auto">
          <a:xfrm>
            <a:off x="8518665" y="4910831"/>
            <a:ext cx="832047" cy="810155"/>
          </a:xfrm>
          <a:custGeom>
            <a:avLst/>
            <a:gdLst>
              <a:gd name="connsiteX0" fmla="*/ 273036 w 604794"/>
              <a:gd name="connsiteY0" fmla="*/ 333515 h 588882"/>
              <a:gd name="connsiteX1" fmla="*/ 279576 w 604794"/>
              <a:gd name="connsiteY1" fmla="*/ 357553 h 588882"/>
              <a:gd name="connsiteX2" fmla="*/ 270627 w 604794"/>
              <a:gd name="connsiteY2" fmla="*/ 375753 h 588882"/>
              <a:gd name="connsiteX3" fmla="*/ 249633 w 604794"/>
              <a:gd name="connsiteY3" fmla="*/ 385540 h 588882"/>
              <a:gd name="connsiteX4" fmla="*/ 226917 w 604794"/>
              <a:gd name="connsiteY4" fmla="*/ 379531 h 588882"/>
              <a:gd name="connsiteX5" fmla="*/ 316346 w 604794"/>
              <a:gd name="connsiteY5" fmla="*/ 233848 h 588882"/>
              <a:gd name="connsiteX6" fmla="*/ 335446 w 604794"/>
              <a:gd name="connsiteY6" fmla="*/ 236938 h 588882"/>
              <a:gd name="connsiteX7" fmla="*/ 294494 w 604794"/>
              <a:gd name="connsiteY7" fmla="*/ 277627 h 588882"/>
              <a:gd name="connsiteX8" fmla="*/ 291740 w 604794"/>
              <a:gd name="connsiteY8" fmla="*/ 257540 h 588882"/>
              <a:gd name="connsiteX9" fmla="*/ 299656 w 604794"/>
              <a:gd name="connsiteY9" fmla="*/ 242261 h 588882"/>
              <a:gd name="connsiteX10" fmla="*/ 316346 w 604794"/>
              <a:gd name="connsiteY10" fmla="*/ 233848 h 588882"/>
              <a:gd name="connsiteX11" fmla="*/ 313468 w 604794"/>
              <a:gd name="connsiteY11" fmla="*/ 193979 h 588882"/>
              <a:gd name="connsiteX12" fmla="*/ 268900 w 604794"/>
              <a:gd name="connsiteY12" fmla="*/ 214083 h 588882"/>
              <a:gd name="connsiteX13" fmla="*/ 247046 w 604794"/>
              <a:gd name="connsiteY13" fmla="*/ 257384 h 588882"/>
              <a:gd name="connsiteX14" fmla="*/ 260984 w 604794"/>
              <a:gd name="connsiteY14" fmla="*/ 311338 h 588882"/>
              <a:gd name="connsiteX15" fmla="*/ 211598 w 604794"/>
              <a:gd name="connsiteY15" fmla="*/ 360653 h 588882"/>
              <a:gd name="connsiteX16" fmla="*/ 209877 w 604794"/>
              <a:gd name="connsiteY16" fmla="*/ 339174 h 588882"/>
              <a:gd name="connsiteX17" fmla="*/ 218997 w 604794"/>
              <a:gd name="connsiteY17" fmla="*/ 315806 h 588882"/>
              <a:gd name="connsiteX18" fmla="*/ 184926 w 604794"/>
              <a:gd name="connsiteY18" fmla="*/ 288485 h 588882"/>
              <a:gd name="connsiteX19" fmla="*/ 165309 w 604794"/>
              <a:gd name="connsiteY19" fmla="*/ 340721 h 588882"/>
              <a:gd name="connsiteX20" fmla="*/ 183205 w 604794"/>
              <a:gd name="connsiteY20" fmla="*/ 389004 h 588882"/>
              <a:gd name="connsiteX21" fmla="*/ 161696 w 604794"/>
              <a:gd name="connsiteY21" fmla="*/ 410483 h 588882"/>
              <a:gd name="connsiteX22" fmla="*/ 178903 w 604794"/>
              <a:gd name="connsiteY22" fmla="*/ 427666 h 588882"/>
              <a:gd name="connsiteX23" fmla="*/ 200929 w 604794"/>
              <a:gd name="connsiteY23" fmla="*/ 405500 h 588882"/>
              <a:gd name="connsiteX24" fmla="*/ 254789 w 604794"/>
              <a:gd name="connsiteY24" fmla="*/ 423542 h 588882"/>
              <a:gd name="connsiteX25" fmla="*/ 303831 w 604794"/>
              <a:gd name="connsiteY25" fmla="*/ 400345 h 588882"/>
              <a:gd name="connsiteX26" fmla="*/ 324825 w 604794"/>
              <a:gd name="connsiteY26" fmla="*/ 358934 h 588882"/>
              <a:gd name="connsiteX27" fmla="*/ 306068 w 604794"/>
              <a:gd name="connsiteY27" fmla="*/ 300513 h 588882"/>
              <a:gd name="connsiteX28" fmla="*/ 352357 w 604794"/>
              <a:gd name="connsiteY28" fmla="*/ 254463 h 588882"/>
              <a:gd name="connsiteX29" fmla="*/ 347539 w 604794"/>
              <a:gd name="connsiteY29" fmla="*/ 287454 h 588882"/>
              <a:gd name="connsiteX30" fmla="*/ 381266 w 604794"/>
              <a:gd name="connsiteY30" fmla="*/ 313400 h 588882"/>
              <a:gd name="connsiteX31" fmla="*/ 395376 w 604794"/>
              <a:gd name="connsiteY31" fmla="*/ 270958 h 588882"/>
              <a:gd name="connsiteX32" fmla="*/ 378341 w 604794"/>
              <a:gd name="connsiteY32" fmla="*/ 228345 h 588882"/>
              <a:gd name="connsiteX33" fmla="*/ 390042 w 604794"/>
              <a:gd name="connsiteY33" fmla="*/ 216661 h 588882"/>
              <a:gd name="connsiteX34" fmla="*/ 373006 w 604794"/>
              <a:gd name="connsiteY34" fmla="*/ 199478 h 588882"/>
              <a:gd name="connsiteX35" fmla="*/ 361305 w 604794"/>
              <a:gd name="connsiteY35" fmla="*/ 211162 h 588882"/>
              <a:gd name="connsiteX36" fmla="*/ 313468 w 604794"/>
              <a:gd name="connsiteY36" fmla="*/ 193979 h 588882"/>
              <a:gd name="connsiteX37" fmla="*/ 517486 w 604794"/>
              <a:gd name="connsiteY37" fmla="*/ 50374 h 588882"/>
              <a:gd name="connsiteX38" fmla="*/ 490879 w 604794"/>
              <a:gd name="connsiteY38" fmla="*/ 61328 h 588882"/>
              <a:gd name="connsiteX39" fmla="*/ 490879 w 604794"/>
              <a:gd name="connsiteY39" fmla="*/ 114595 h 588882"/>
              <a:gd name="connsiteX40" fmla="*/ 544223 w 604794"/>
              <a:gd name="connsiteY40" fmla="*/ 114595 h 588882"/>
              <a:gd name="connsiteX41" fmla="*/ 544223 w 604794"/>
              <a:gd name="connsiteY41" fmla="*/ 61328 h 588882"/>
              <a:gd name="connsiteX42" fmla="*/ 517486 w 604794"/>
              <a:gd name="connsiteY42" fmla="*/ 50374 h 588882"/>
              <a:gd name="connsiteX43" fmla="*/ 406970 w 604794"/>
              <a:gd name="connsiteY43" fmla="*/ 29 h 588882"/>
              <a:gd name="connsiteX44" fmla="*/ 444590 w 604794"/>
              <a:gd name="connsiteY44" fmla="*/ 673 h 588882"/>
              <a:gd name="connsiteX45" fmla="*/ 544223 w 604794"/>
              <a:gd name="connsiteY45" fmla="*/ 845 h 588882"/>
              <a:gd name="connsiteX46" fmla="*/ 598771 w 604794"/>
              <a:gd name="connsiteY46" fmla="*/ 5140 h 588882"/>
              <a:gd name="connsiteX47" fmla="*/ 604794 w 604794"/>
              <a:gd name="connsiteY47" fmla="*/ 59266 h 588882"/>
              <a:gd name="connsiteX48" fmla="*/ 604794 w 604794"/>
              <a:gd name="connsiteY48" fmla="*/ 183670 h 588882"/>
              <a:gd name="connsiteX49" fmla="*/ 579327 w 604794"/>
              <a:gd name="connsiteY49" fmla="*/ 238655 h 588882"/>
              <a:gd name="connsiteX50" fmla="*/ 244465 w 604794"/>
              <a:gd name="connsiteY50" fmla="*/ 573032 h 588882"/>
              <a:gd name="connsiteX51" fmla="*/ 175118 w 604794"/>
              <a:gd name="connsiteY51" fmla="*/ 574063 h 588882"/>
              <a:gd name="connsiteX52" fmla="*/ 17495 w 604794"/>
              <a:gd name="connsiteY52" fmla="*/ 416497 h 588882"/>
              <a:gd name="connsiteX53" fmla="*/ 16119 w 604794"/>
              <a:gd name="connsiteY53" fmla="*/ 344157 h 588882"/>
              <a:gd name="connsiteX54" fmla="*/ 353562 w 604794"/>
              <a:gd name="connsiteY54" fmla="*/ 13388 h 588882"/>
              <a:gd name="connsiteX55" fmla="*/ 376448 w 604794"/>
              <a:gd name="connsiteY55" fmla="*/ 1704 h 588882"/>
              <a:gd name="connsiteX56" fmla="*/ 406970 w 604794"/>
              <a:gd name="connsiteY56" fmla="*/ 29 h 58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4794" h="588882">
                <a:moveTo>
                  <a:pt x="273036" y="333515"/>
                </a:moveTo>
                <a:cubicBezTo>
                  <a:pt x="278027" y="342615"/>
                  <a:pt x="280264" y="350685"/>
                  <a:pt x="279576" y="357553"/>
                </a:cubicBezTo>
                <a:cubicBezTo>
                  <a:pt x="278715" y="364421"/>
                  <a:pt x="275790" y="370602"/>
                  <a:pt x="270627" y="375753"/>
                </a:cubicBezTo>
                <a:cubicBezTo>
                  <a:pt x="264604" y="381763"/>
                  <a:pt x="257721" y="385025"/>
                  <a:pt x="249633" y="385540"/>
                </a:cubicBezTo>
                <a:cubicBezTo>
                  <a:pt x="241544" y="386227"/>
                  <a:pt x="233973" y="384167"/>
                  <a:pt x="226917" y="379531"/>
                </a:cubicBezTo>
                <a:close/>
                <a:moveTo>
                  <a:pt x="316346" y="233848"/>
                </a:moveTo>
                <a:cubicBezTo>
                  <a:pt x="322885" y="232818"/>
                  <a:pt x="329252" y="233848"/>
                  <a:pt x="335446" y="236938"/>
                </a:cubicBezTo>
                <a:lnTo>
                  <a:pt x="294494" y="277627"/>
                </a:lnTo>
                <a:cubicBezTo>
                  <a:pt x="291740" y="270416"/>
                  <a:pt x="290708" y="263721"/>
                  <a:pt x="291740" y="257540"/>
                </a:cubicBezTo>
                <a:cubicBezTo>
                  <a:pt x="292945" y="251531"/>
                  <a:pt x="295526" y="246381"/>
                  <a:pt x="299656" y="242261"/>
                </a:cubicBezTo>
                <a:cubicBezTo>
                  <a:pt x="304302" y="237625"/>
                  <a:pt x="309808" y="234878"/>
                  <a:pt x="316346" y="233848"/>
                </a:cubicBezTo>
                <a:close/>
                <a:moveTo>
                  <a:pt x="313468" y="193979"/>
                </a:moveTo>
                <a:cubicBezTo>
                  <a:pt x="296604" y="194495"/>
                  <a:pt x="281806" y="201196"/>
                  <a:pt x="268900" y="214083"/>
                </a:cubicBezTo>
                <a:cubicBezTo>
                  <a:pt x="255994" y="226799"/>
                  <a:pt x="248767" y="241232"/>
                  <a:pt x="247046" y="257384"/>
                </a:cubicBezTo>
                <a:cubicBezTo>
                  <a:pt x="245325" y="273536"/>
                  <a:pt x="249971" y="291578"/>
                  <a:pt x="260984" y="311338"/>
                </a:cubicBezTo>
                <a:lnTo>
                  <a:pt x="211598" y="360653"/>
                </a:lnTo>
                <a:cubicBezTo>
                  <a:pt x="209361" y="354467"/>
                  <a:pt x="208673" y="347250"/>
                  <a:pt x="209877" y="339174"/>
                </a:cubicBezTo>
                <a:cubicBezTo>
                  <a:pt x="210910" y="331270"/>
                  <a:pt x="214007" y="323366"/>
                  <a:pt x="218997" y="315806"/>
                </a:cubicBezTo>
                <a:lnTo>
                  <a:pt x="184926" y="288485"/>
                </a:lnTo>
                <a:cubicBezTo>
                  <a:pt x="171848" y="306183"/>
                  <a:pt x="165309" y="323710"/>
                  <a:pt x="165309" y="340721"/>
                </a:cubicBezTo>
                <a:cubicBezTo>
                  <a:pt x="165309" y="357732"/>
                  <a:pt x="171160" y="373712"/>
                  <a:pt x="183205" y="389004"/>
                </a:cubicBezTo>
                <a:lnTo>
                  <a:pt x="161696" y="410483"/>
                </a:lnTo>
                <a:lnTo>
                  <a:pt x="178903" y="427666"/>
                </a:lnTo>
                <a:lnTo>
                  <a:pt x="200929" y="405500"/>
                </a:lnTo>
                <a:cubicBezTo>
                  <a:pt x="218481" y="418559"/>
                  <a:pt x="236377" y="424573"/>
                  <a:pt x="254789" y="423542"/>
                </a:cubicBezTo>
                <a:cubicBezTo>
                  <a:pt x="273202" y="422339"/>
                  <a:pt x="289377" y="414778"/>
                  <a:pt x="303831" y="400345"/>
                </a:cubicBezTo>
                <a:cubicBezTo>
                  <a:pt x="316393" y="387801"/>
                  <a:pt x="323620" y="373883"/>
                  <a:pt x="324825" y="358934"/>
                </a:cubicBezTo>
                <a:cubicBezTo>
                  <a:pt x="326201" y="343814"/>
                  <a:pt x="319835" y="324397"/>
                  <a:pt x="306068" y="300513"/>
                </a:cubicBezTo>
                <a:lnTo>
                  <a:pt x="352357" y="254463"/>
                </a:lnTo>
                <a:cubicBezTo>
                  <a:pt x="356659" y="265288"/>
                  <a:pt x="354938" y="276285"/>
                  <a:pt x="347539" y="287454"/>
                </a:cubicBezTo>
                <a:lnTo>
                  <a:pt x="381266" y="313400"/>
                </a:lnTo>
                <a:cubicBezTo>
                  <a:pt x="391074" y="299482"/>
                  <a:pt x="395721" y="285392"/>
                  <a:pt x="395376" y="270958"/>
                </a:cubicBezTo>
                <a:cubicBezTo>
                  <a:pt x="395032" y="256525"/>
                  <a:pt x="389354" y="242263"/>
                  <a:pt x="378341" y="228345"/>
                </a:cubicBezTo>
                <a:lnTo>
                  <a:pt x="390042" y="216661"/>
                </a:lnTo>
                <a:lnTo>
                  <a:pt x="373006" y="199478"/>
                </a:lnTo>
                <a:lnTo>
                  <a:pt x="361305" y="211162"/>
                </a:lnTo>
                <a:cubicBezTo>
                  <a:pt x="346334" y="199134"/>
                  <a:pt x="330503" y="193292"/>
                  <a:pt x="313468" y="193979"/>
                </a:cubicBezTo>
                <a:close/>
                <a:moveTo>
                  <a:pt x="517486" y="50374"/>
                </a:moveTo>
                <a:cubicBezTo>
                  <a:pt x="507829" y="50374"/>
                  <a:pt x="498192" y="54026"/>
                  <a:pt x="490879" y="61328"/>
                </a:cubicBezTo>
                <a:cubicBezTo>
                  <a:pt x="476080" y="76105"/>
                  <a:pt x="476080" y="99990"/>
                  <a:pt x="490879" y="114595"/>
                </a:cubicBezTo>
                <a:cubicBezTo>
                  <a:pt x="505506" y="129372"/>
                  <a:pt x="529424" y="129372"/>
                  <a:pt x="544223" y="114595"/>
                </a:cubicBezTo>
                <a:cubicBezTo>
                  <a:pt x="558850" y="99990"/>
                  <a:pt x="558850" y="76105"/>
                  <a:pt x="544223" y="61328"/>
                </a:cubicBezTo>
                <a:cubicBezTo>
                  <a:pt x="536824" y="54026"/>
                  <a:pt x="527144" y="50374"/>
                  <a:pt x="517486" y="50374"/>
                </a:cubicBezTo>
                <a:close/>
                <a:moveTo>
                  <a:pt x="406970" y="29"/>
                </a:moveTo>
                <a:cubicBezTo>
                  <a:pt x="419338" y="157"/>
                  <a:pt x="432889" y="673"/>
                  <a:pt x="444590" y="673"/>
                </a:cubicBezTo>
                <a:lnTo>
                  <a:pt x="544223" y="845"/>
                </a:lnTo>
                <a:cubicBezTo>
                  <a:pt x="567625" y="845"/>
                  <a:pt x="593609" y="-186"/>
                  <a:pt x="598771" y="5140"/>
                </a:cubicBezTo>
                <a:cubicBezTo>
                  <a:pt x="603934" y="10467"/>
                  <a:pt x="604794" y="35898"/>
                  <a:pt x="604794" y="59266"/>
                </a:cubicBezTo>
                <a:lnTo>
                  <a:pt x="604794" y="183670"/>
                </a:lnTo>
                <a:cubicBezTo>
                  <a:pt x="604794" y="207898"/>
                  <a:pt x="579327" y="238655"/>
                  <a:pt x="579327" y="238655"/>
                </a:cubicBezTo>
                <a:lnTo>
                  <a:pt x="244465" y="573032"/>
                </a:lnTo>
                <a:cubicBezTo>
                  <a:pt x="209361" y="608085"/>
                  <a:pt x="175118" y="574063"/>
                  <a:pt x="175118" y="574063"/>
                </a:cubicBezTo>
                <a:lnTo>
                  <a:pt x="17495" y="416497"/>
                </a:lnTo>
                <a:cubicBezTo>
                  <a:pt x="-21050" y="378007"/>
                  <a:pt x="16119" y="344157"/>
                  <a:pt x="16119" y="344157"/>
                </a:cubicBezTo>
                <a:lnTo>
                  <a:pt x="353562" y="13388"/>
                </a:lnTo>
                <a:cubicBezTo>
                  <a:pt x="360101" y="7031"/>
                  <a:pt x="368360" y="3594"/>
                  <a:pt x="376448" y="1704"/>
                </a:cubicBezTo>
                <a:cubicBezTo>
                  <a:pt x="383417" y="157"/>
                  <a:pt x="394602" y="-100"/>
                  <a:pt x="406970" y="29"/>
                </a:cubicBezTo>
                <a:close/>
              </a:path>
            </a:pathLst>
          </a:custGeom>
          <a:solidFill>
            <a:schemeClr val="accent1"/>
          </a:solidFill>
          <a:ln>
            <a:noFill/>
          </a:ln>
        </p:spPr>
      </p:sp>
    </p:spTree>
    <p:extLst>
      <p:ext uri="{BB962C8B-B14F-4D97-AF65-F5344CB8AC3E}">
        <p14:creationId xmlns:p14="http://schemas.microsoft.com/office/powerpoint/2010/main" val="230010819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Role of Clearinghouse in Futures</a:t>
            </a:r>
            <a:endParaRPr lang="zh-CN" altLang="en-US" dirty="0"/>
          </a:p>
        </p:txBody>
      </p:sp>
      <p:sp>
        <p:nvSpPr>
          <p:cNvPr id="3" name="文本占位符 2"/>
          <p:cNvSpPr>
            <a:spLocks noGrp="1"/>
          </p:cNvSpPr>
          <p:nvPr>
            <p:ph type="body" sz="quarter" idx="10"/>
          </p:nvPr>
        </p:nvSpPr>
        <p:spPr/>
        <p:txBody>
          <a:bodyPr>
            <a:normAutofit/>
          </a:bodyPr>
          <a:lstStyle/>
          <a:p>
            <a:pPr>
              <a:spcBef>
                <a:spcPct val="0"/>
              </a:spcBef>
            </a:pPr>
            <a:r>
              <a:rPr lang="en-US" altLang="zh-CN" dirty="0"/>
              <a:t>Role of Clearinghouse</a:t>
            </a:r>
          </a:p>
          <a:p>
            <a:pPr lvl="1">
              <a:spcBef>
                <a:spcPct val="0"/>
              </a:spcBef>
            </a:pPr>
            <a:r>
              <a:rPr lang="en-US" altLang="zh-CN" dirty="0"/>
              <a:t>Acts as an </a:t>
            </a:r>
            <a:r>
              <a:rPr lang="en-US" altLang="zh-CN" u="sng" dirty="0"/>
              <a:t>intermediary</a:t>
            </a:r>
            <a:r>
              <a:rPr lang="en-US" altLang="zh-CN" dirty="0"/>
              <a:t> in futures transactions</a:t>
            </a:r>
          </a:p>
          <a:p>
            <a:pPr lvl="1">
              <a:spcBef>
                <a:spcPct val="0"/>
              </a:spcBef>
            </a:pPr>
            <a:r>
              <a:rPr lang="en-US" altLang="zh-CN" u="sng" dirty="0"/>
              <a:t>Guarantees performance of parties</a:t>
            </a:r>
          </a:p>
          <a:p>
            <a:pPr lvl="1">
              <a:spcBef>
                <a:spcPct val="0"/>
              </a:spcBef>
            </a:pPr>
            <a:r>
              <a:rPr lang="en-US" altLang="zh-CN" dirty="0"/>
              <a:t>Members must </a:t>
            </a:r>
            <a:r>
              <a:rPr lang="en-US" altLang="zh-CN" dirty="0">
                <a:solidFill>
                  <a:srgbClr val="FF0000"/>
                </a:solidFill>
              </a:rPr>
              <a:t>post funds </a:t>
            </a:r>
            <a:r>
              <a:rPr lang="en-US" altLang="zh-CN" dirty="0"/>
              <a:t>with </a:t>
            </a:r>
            <a:r>
              <a:rPr lang="en-US" altLang="zh-CN" dirty="0" smtClean="0"/>
              <a:t>exchange. the broker or </a:t>
            </a:r>
            <a:r>
              <a:rPr lang="en-US" altLang="zh-CN" dirty="0"/>
              <a:t>a clearing house member is required to maintain initial margin (“clearing margin</a:t>
            </a:r>
            <a:r>
              <a:rPr lang="en-US" altLang="zh-CN" dirty="0" smtClean="0"/>
              <a:t>”) with </a:t>
            </a:r>
            <a:r>
              <a:rPr lang="en-US" altLang="zh-CN" dirty="0"/>
              <a:t>the clearinghouse.</a:t>
            </a:r>
          </a:p>
          <a:p>
            <a:pPr lvl="1">
              <a:spcBef>
                <a:spcPct val="0"/>
              </a:spcBef>
            </a:pPr>
            <a:r>
              <a:rPr lang="en-US" altLang="zh-CN" u="sng" dirty="0"/>
              <a:t>Main task to keep track of transactions, calculate net position of each member daily</a:t>
            </a:r>
          </a:p>
          <a:p>
            <a:endParaRPr lang="zh-CN" altLang="en-US" dirty="0"/>
          </a:p>
        </p:txBody>
      </p:sp>
    </p:spTree>
    <p:extLst>
      <p:ext uri="{BB962C8B-B14F-4D97-AF65-F5344CB8AC3E}">
        <p14:creationId xmlns:p14="http://schemas.microsoft.com/office/powerpoint/2010/main" val="1911000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Central Counterparties</a:t>
            </a:r>
            <a:r>
              <a:rPr lang="zh-CN" altLang="en-US" dirty="0" smtClean="0"/>
              <a:t>（</a:t>
            </a:r>
            <a:r>
              <a:rPr lang="en-US" altLang="zh-CN" dirty="0" smtClean="0"/>
              <a:t>CCPs</a:t>
            </a:r>
            <a:r>
              <a:rPr lang="zh-CN" altLang="en-US" dirty="0" smtClean="0"/>
              <a: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sz="2800" dirty="0"/>
              <a:t>Role of central counterparties in OTC </a:t>
            </a:r>
            <a:r>
              <a:rPr lang="en-US" altLang="zh-CN" sz="2800" dirty="0" smtClean="0"/>
              <a:t>markets</a:t>
            </a:r>
            <a:endParaRPr lang="en-US" altLang="zh-CN" dirty="0" smtClean="0">
              <a:solidFill>
                <a:srgbClr val="FF0000"/>
              </a:solidFill>
            </a:endParaRPr>
          </a:p>
          <a:p>
            <a:pPr lvl="1"/>
            <a:r>
              <a:rPr lang="en-US" altLang="zh-CN" sz="2600" b="0" dirty="0" smtClean="0"/>
              <a:t>Once an OTC derivative transaction has been agreed between two parties, </a:t>
            </a:r>
            <a:r>
              <a:rPr lang="en-US" altLang="zh-CN" sz="2600" b="0" u="sng" dirty="0" smtClean="0"/>
              <a:t>the CCP assumes the credit risk </a:t>
            </a:r>
            <a:r>
              <a:rPr lang="en-US" altLang="zh-CN" sz="2600" b="0" dirty="0" smtClean="0"/>
              <a:t>of both sides of the trade and becomes the counterparty to both the parties.</a:t>
            </a:r>
          </a:p>
          <a:p>
            <a:pPr lvl="2"/>
            <a:r>
              <a:rPr lang="en-US" altLang="zh-CN" sz="2600" b="0" dirty="0" smtClean="0"/>
              <a:t>Members </a:t>
            </a:r>
            <a:r>
              <a:rPr lang="en-US" altLang="zh-CN" sz="2600" b="0" dirty="0"/>
              <a:t>of the CCP, similarly to members of an exchange clearing house, </a:t>
            </a:r>
            <a:r>
              <a:rPr lang="en-US" altLang="zh-CN" sz="2600" b="0" u="sng" dirty="0"/>
              <a:t>have </a:t>
            </a:r>
            <a:r>
              <a:rPr lang="en-US" altLang="zh-CN" sz="2600" b="0" u="sng" dirty="0" smtClean="0"/>
              <a:t>to provide </a:t>
            </a:r>
            <a:r>
              <a:rPr lang="en-US" altLang="zh-CN" sz="2600" b="0" u="sng" dirty="0"/>
              <a:t>both initial margin and daily variation </a:t>
            </a:r>
            <a:r>
              <a:rPr lang="en-US" altLang="zh-CN" sz="2600" b="0" u="sng" dirty="0" smtClean="0"/>
              <a:t>margin. </a:t>
            </a:r>
          </a:p>
          <a:p>
            <a:pPr lvl="2"/>
            <a:r>
              <a:rPr lang="en-US" altLang="zh-CN" sz="2600" b="0" dirty="0" smtClean="0"/>
              <a:t>Like </a:t>
            </a:r>
            <a:r>
              <a:rPr lang="en-US" altLang="zh-CN" sz="2600" b="0" dirty="0"/>
              <a:t>members of an exchange clearing house, they are also required to contribute </a:t>
            </a:r>
            <a:r>
              <a:rPr lang="en-US" altLang="zh-CN" sz="2600" b="0" dirty="0" smtClean="0"/>
              <a:t>to a </a:t>
            </a:r>
            <a:r>
              <a:rPr lang="en-US" altLang="zh-CN" sz="2600" b="0" u="sng" dirty="0"/>
              <a:t>guaranty fund.</a:t>
            </a:r>
          </a:p>
          <a:p>
            <a:pPr lvl="2"/>
            <a:r>
              <a:rPr lang="en-US" altLang="zh-CN" sz="2600" b="0" dirty="0" smtClean="0"/>
              <a:t>If </a:t>
            </a:r>
            <a:r>
              <a:rPr lang="en-US" altLang="zh-CN" sz="2600" b="0" dirty="0"/>
              <a:t>an OTC market participant is not itself a member of a CCP, it can arrange to </a:t>
            </a:r>
            <a:r>
              <a:rPr lang="en-US" altLang="zh-CN" sz="2600" b="0" dirty="0" smtClean="0"/>
              <a:t>clear its </a:t>
            </a:r>
            <a:r>
              <a:rPr lang="en-US" altLang="zh-CN" sz="2600" b="0" dirty="0"/>
              <a:t>trades through a CCP member by providing margin to the CCP. Its </a:t>
            </a:r>
            <a:r>
              <a:rPr lang="en-US" altLang="zh-CN" sz="2600" b="0" dirty="0" smtClean="0"/>
              <a:t>relationship with </a:t>
            </a:r>
            <a:r>
              <a:rPr lang="en-US" altLang="zh-CN" sz="2600" b="0" dirty="0"/>
              <a:t>the CCP member is similar to the relationship between </a:t>
            </a:r>
            <a:r>
              <a:rPr lang="en-US" altLang="zh-CN" sz="2600" b="0" u="sng" dirty="0"/>
              <a:t>a broker and a </a:t>
            </a:r>
            <a:r>
              <a:rPr lang="en-US" altLang="zh-CN" sz="2600" b="0" u="sng" dirty="0" smtClean="0"/>
              <a:t>futures exchange </a:t>
            </a:r>
            <a:r>
              <a:rPr lang="en-US" altLang="zh-CN" sz="2600" b="0" u="sng" dirty="0"/>
              <a:t>clearing house member.</a:t>
            </a:r>
            <a:endParaRPr lang="en-US" altLang="zh-CN" sz="2600" b="0" u="sng" dirty="0" smtClean="0"/>
          </a:p>
          <a:p>
            <a:endParaRPr lang="zh-CN" altLang="en-US" dirty="0"/>
          </a:p>
        </p:txBody>
      </p:sp>
    </p:spTree>
    <p:extLst>
      <p:ext uri="{BB962C8B-B14F-4D97-AF65-F5344CB8AC3E}">
        <p14:creationId xmlns:p14="http://schemas.microsoft.com/office/powerpoint/2010/main" val="23901845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Role of Collateralization</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Collateralization (highlights</a:t>
            </a:r>
            <a:r>
              <a:rPr lang="en-US" altLang="zh-CN" dirty="0" smtClean="0"/>
              <a:t>) </a:t>
            </a:r>
            <a:r>
              <a:rPr lang="zh-CN" altLang="en-US" sz="2000" dirty="0" smtClean="0">
                <a:solidFill>
                  <a:srgbClr val="FF0000"/>
                </a:solidFill>
              </a:rPr>
              <a:t>其实不做单独考察，但是概念很重要！</a:t>
            </a:r>
            <a:endParaRPr lang="en-US" altLang="zh-CN" sz="2000" dirty="0">
              <a:solidFill>
                <a:srgbClr val="FF0000"/>
              </a:solidFill>
            </a:endParaRPr>
          </a:p>
          <a:p>
            <a:pPr lvl="1"/>
            <a:r>
              <a:rPr lang="en-US" altLang="zh-CN" b="0" dirty="0" smtClean="0"/>
              <a:t>Similar </a:t>
            </a:r>
            <a:r>
              <a:rPr lang="en-US" altLang="zh-CN" b="0" dirty="0"/>
              <a:t>to margining system for exchanges</a:t>
            </a:r>
          </a:p>
          <a:p>
            <a:pPr lvl="1"/>
            <a:r>
              <a:rPr lang="en-US" altLang="zh-CN" b="0" dirty="0" smtClean="0"/>
              <a:t>OTC </a:t>
            </a:r>
            <a:r>
              <a:rPr lang="en-US" altLang="zh-CN" b="0" dirty="0"/>
              <a:t>contract between Company A &amp; Company B</a:t>
            </a:r>
          </a:p>
          <a:p>
            <a:pPr lvl="1"/>
            <a:r>
              <a:rPr lang="en-US" altLang="zh-CN" b="0" dirty="0" smtClean="0"/>
              <a:t>Contract </a:t>
            </a:r>
            <a:r>
              <a:rPr lang="en-US" altLang="zh-CN" b="0" dirty="0"/>
              <a:t>valuation once per day</a:t>
            </a:r>
          </a:p>
          <a:p>
            <a:pPr lvl="1"/>
            <a:r>
              <a:rPr lang="en-US" altLang="zh-CN" b="0" dirty="0" smtClean="0"/>
              <a:t>If </a:t>
            </a:r>
            <a:r>
              <a:rPr lang="en-US" altLang="zh-CN" b="0" dirty="0"/>
              <a:t>contract value to Company A increases, Company B pays collateral equal to </a:t>
            </a:r>
            <a:r>
              <a:rPr lang="en-US" altLang="zh-CN" b="0" dirty="0" smtClean="0"/>
              <a:t>the increase </a:t>
            </a:r>
            <a:r>
              <a:rPr lang="en-US" altLang="zh-CN" b="0" dirty="0"/>
              <a:t>(variation margin) and </a:t>
            </a:r>
            <a:r>
              <a:rPr lang="en-US" altLang="zh-CN" b="0" i="1" dirty="0"/>
              <a:t>vice versa.</a:t>
            </a:r>
          </a:p>
          <a:p>
            <a:pPr lvl="1"/>
            <a:r>
              <a:rPr lang="en-US" altLang="zh-CN" b="0" dirty="0" smtClean="0"/>
              <a:t>Interest </a:t>
            </a:r>
            <a:r>
              <a:rPr lang="en-US" altLang="zh-CN" b="0" dirty="0"/>
              <a:t>paid on outstanding balances</a:t>
            </a:r>
            <a:endParaRPr lang="zh-CN" altLang="en-US" b="0" dirty="0">
              <a:solidFill>
                <a:schemeClr val="tx1"/>
              </a:solidFill>
            </a:endParaRPr>
          </a:p>
        </p:txBody>
      </p:sp>
      <p:sp>
        <p:nvSpPr>
          <p:cNvPr id="4" name="文本框 3"/>
          <p:cNvSpPr txBox="1"/>
          <p:nvPr/>
        </p:nvSpPr>
        <p:spPr>
          <a:xfrm>
            <a:off x="868274" y="890580"/>
            <a:ext cx="4507957" cy="508562"/>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202067486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10043712" cy="576064"/>
          </a:xfrm>
        </p:spPr>
        <p:txBody>
          <a:bodyPr>
            <a:noAutofit/>
          </a:bodyPr>
          <a:lstStyle/>
          <a:p>
            <a:r>
              <a:rPr lang="en-US" altLang="zh-CN" sz="2670" dirty="0" smtClean="0"/>
              <a:t>Differences Between A Normal and Inverted Futures Markets</a:t>
            </a:r>
            <a:endParaRPr lang="zh-CN" altLang="en-US" sz="2670" dirty="0"/>
          </a:p>
        </p:txBody>
      </p:sp>
      <p:sp>
        <p:nvSpPr>
          <p:cNvPr id="3" name="文本占位符 2"/>
          <p:cNvSpPr>
            <a:spLocks noGrp="1"/>
          </p:cNvSpPr>
          <p:nvPr>
            <p:ph type="body" sz="quarter" idx="10"/>
          </p:nvPr>
        </p:nvSpPr>
        <p:spPr/>
        <p:txBody>
          <a:bodyPr>
            <a:normAutofit lnSpcReduction="10000"/>
          </a:bodyPr>
          <a:lstStyle/>
          <a:p>
            <a:r>
              <a:rPr lang="en-US" altLang="zh-CN" dirty="0"/>
              <a:t>Normal and Inverted Futures </a:t>
            </a:r>
            <a:r>
              <a:rPr lang="en-US" altLang="zh-CN" dirty="0" smtClean="0"/>
              <a:t>Market</a:t>
            </a:r>
          </a:p>
          <a:p>
            <a:endParaRPr lang="en-US" altLang="zh-CN" dirty="0"/>
          </a:p>
          <a:p>
            <a:endParaRPr lang="en-US" altLang="zh-CN" dirty="0" smtClean="0"/>
          </a:p>
          <a:p>
            <a:endParaRPr lang="en-US" altLang="zh-CN" dirty="0"/>
          </a:p>
          <a:p>
            <a:pPr marL="0" indent="0">
              <a:buNone/>
            </a:pPr>
            <a:r>
              <a:rPr lang="en-US" altLang="zh-CN" dirty="0" smtClean="0"/>
              <a:t> </a:t>
            </a:r>
          </a:p>
          <a:p>
            <a:pPr marL="876286" lvl="1" indent="-342900"/>
            <a:r>
              <a:rPr lang="en-US" altLang="zh-CN" b="0" dirty="0">
                <a:solidFill>
                  <a:schemeClr val="tx1"/>
                </a:solidFill>
              </a:rPr>
              <a:t>If the forward price is higher than the spot price (or the distant forward price is higher than the near forward price) the Futures curve is said to be normal, or in </a:t>
            </a:r>
            <a:r>
              <a:rPr lang="en-US" altLang="zh-CN" b="1" dirty="0">
                <a:solidFill>
                  <a:schemeClr val="tx1"/>
                </a:solidFill>
              </a:rPr>
              <a:t>Contango</a:t>
            </a:r>
            <a:r>
              <a:rPr lang="en-US" altLang="zh-CN" b="1" dirty="0" smtClean="0">
                <a:solidFill>
                  <a:schemeClr val="tx1"/>
                </a:solidFill>
              </a:rPr>
              <a:t>.</a:t>
            </a:r>
          </a:p>
          <a:p>
            <a:pPr marL="876287" lvl="2" indent="-342900">
              <a:buFont typeface="Wingdings" panose="05000000000000000000" pitchFamily="2" charset="2"/>
              <a:buChar char="l"/>
            </a:pPr>
            <a:r>
              <a:rPr lang="en-US" altLang="zh-CN" dirty="0"/>
              <a:t>If the </a:t>
            </a:r>
            <a:r>
              <a:rPr lang="en-US" altLang="zh-CN" u="sng" dirty="0"/>
              <a:t>forward price is less than the spot price</a:t>
            </a:r>
            <a:r>
              <a:rPr lang="en-US" altLang="zh-CN" dirty="0"/>
              <a:t> (or the distant forward price is less than the near forward price), the Futures curve is said to be inverted, or in </a:t>
            </a:r>
            <a:r>
              <a:rPr lang="en-US" altLang="zh-CN" b="1" dirty="0"/>
              <a:t>Backwardation</a:t>
            </a:r>
            <a:r>
              <a:rPr lang="en-US" altLang="zh-CN" dirty="0"/>
              <a:t>.</a:t>
            </a:r>
          </a:p>
          <a:p>
            <a:pPr marL="0" indent="0">
              <a:buNone/>
            </a:pPr>
            <a:endParaRPr lang="en-US" altLang="zh-CN" dirty="0"/>
          </a:p>
          <a:p>
            <a:pPr marL="0" indent="0">
              <a:buNone/>
            </a:pPr>
            <a:endParaRPr lang="en-US" altLang="zh-CN" dirty="0" smtClean="0"/>
          </a:p>
          <a:p>
            <a:pPr marL="0" indent="0">
              <a:buNone/>
            </a:pPr>
            <a:endParaRPr lang="en-US" altLang="zh-CN" dirty="0"/>
          </a:p>
        </p:txBody>
      </p:sp>
      <p:grpSp>
        <p:nvGrpSpPr>
          <p:cNvPr id="12" name="组合 29"/>
          <p:cNvGrpSpPr>
            <a:grpSpLocks/>
          </p:cNvGrpSpPr>
          <p:nvPr/>
        </p:nvGrpSpPr>
        <p:grpSpPr bwMode="auto">
          <a:xfrm>
            <a:off x="1093098" y="1363479"/>
            <a:ext cx="2758653" cy="2002832"/>
            <a:chOff x="806331" y="2333876"/>
            <a:chExt cx="4024646" cy="3137803"/>
          </a:xfrm>
        </p:grpSpPr>
        <p:cxnSp>
          <p:nvCxnSpPr>
            <p:cNvPr id="13" name="直接箭头连接符 12"/>
            <p:cNvCxnSpPr/>
            <p:nvPr/>
          </p:nvCxnSpPr>
          <p:spPr bwMode="auto">
            <a:xfrm>
              <a:off x="806331" y="5458346"/>
              <a:ext cx="4024646" cy="0"/>
            </a:xfrm>
            <a:prstGeom prst="straightConnector1">
              <a:avLst/>
            </a:prstGeom>
            <a:ln>
              <a:solidFill>
                <a:srgbClr val="2C3E50"/>
              </a:solidFill>
              <a:headEnd type="none" w="med" len="med"/>
              <a:tailEnd type="triangle"/>
            </a:ln>
            <a:effectLst/>
          </p:spPr>
          <p:style>
            <a:lnRef idx="2">
              <a:schemeClr val="accent3"/>
            </a:lnRef>
            <a:fillRef idx="0">
              <a:schemeClr val="accent3"/>
            </a:fillRef>
            <a:effectRef idx="1">
              <a:schemeClr val="accent3"/>
            </a:effectRef>
            <a:fontRef idx="minor">
              <a:schemeClr val="tx1"/>
            </a:fontRef>
          </p:style>
        </p:cxnSp>
        <p:cxnSp>
          <p:nvCxnSpPr>
            <p:cNvPr id="14" name="直接箭头连接符 13"/>
            <p:cNvCxnSpPr/>
            <p:nvPr/>
          </p:nvCxnSpPr>
          <p:spPr bwMode="auto">
            <a:xfrm flipH="1" flipV="1">
              <a:off x="806331" y="2333876"/>
              <a:ext cx="0" cy="3124470"/>
            </a:xfrm>
            <a:prstGeom prst="straightConnector1">
              <a:avLst/>
            </a:prstGeom>
            <a:ln>
              <a:solidFill>
                <a:srgbClr val="2C3E50"/>
              </a:solidFill>
              <a:headEnd type="none" w="med" len="med"/>
              <a:tailEnd type="triangle"/>
            </a:ln>
            <a:effectLst/>
          </p:spPr>
          <p:style>
            <a:lnRef idx="2">
              <a:schemeClr val="accent3"/>
            </a:lnRef>
            <a:fillRef idx="0">
              <a:schemeClr val="accent3"/>
            </a:fillRef>
            <a:effectRef idx="1">
              <a:schemeClr val="accent3"/>
            </a:effectRef>
            <a:fontRef idx="minor">
              <a:schemeClr val="tx1"/>
            </a:fontRef>
          </p:style>
        </p:cxnSp>
        <p:sp>
          <p:nvSpPr>
            <p:cNvPr id="15" name="任意多边形 14"/>
            <p:cNvSpPr/>
            <p:nvPr/>
          </p:nvSpPr>
          <p:spPr bwMode="auto">
            <a:xfrm>
              <a:off x="1344132" y="3360551"/>
              <a:ext cx="2582630" cy="1317789"/>
            </a:xfrm>
            <a:custGeom>
              <a:avLst/>
              <a:gdLst>
                <a:gd name="connsiteX0" fmla="*/ 0 w 2581835"/>
                <a:gd name="connsiteY0" fmla="*/ 1317811 h 1317811"/>
                <a:gd name="connsiteX1" fmla="*/ 806823 w 2581835"/>
                <a:gd name="connsiteY1" fmla="*/ 564776 h 1317811"/>
                <a:gd name="connsiteX2" fmla="*/ 1775012 w 2581835"/>
                <a:gd name="connsiteY2" fmla="*/ 753035 h 1317811"/>
                <a:gd name="connsiteX3" fmla="*/ 2581835 w 2581835"/>
                <a:gd name="connsiteY3" fmla="*/ 0 h 1317811"/>
              </a:gdLst>
              <a:ahLst/>
              <a:cxnLst>
                <a:cxn ang="0">
                  <a:pos x="connsiteX0" y="connsiteY0"/>
                </a:cxn>
                <a:cxn ang="0">
                  <a:pos x="connsiteX1" y="connsiteY1"/>
                </a:cxn>
                <a:cxn ang="0">
                  <a:pos x="connsiteX2" y="connsiteY2"/>
                </a:cxn>
                <a:cxn ang="0">
                  <a:pos x="connsiteX3" y="connsiteY3"/>
                </a:cxn>
              </a:cxnLst>
              <a:rect l="l" t="t" r="r" b="b"/>
              <a:pathLst>
                <a:path w="2581835" h="1317811">
                  <a:moveTo>
                    <a:pt x="0" y="1317811"/>
                  </a:moveTo>
                  <a:cubicBezTo>
                    <a:pt x="255494" y="988358"/>
                    <a:pt x="510988" y="658905"/>
                    <a:pt x="806823" y="564776"/>
                  </a:cubicBezTo>
                  <a:cubicBezTo>
                    <a:pt x="1102658" y="470647"/>
                    <a:pt x="1479177" y="847164"/>
                    <a:pt x="1775012" y="753035"/>
                  </a:cubicBezTo>
                  <a:cubicBezTo>
                    <a:pt x="2070847" y="658906"/>
                    <a:pt x="2326341" y="329453"/>
                    <a:pt x="2581835" y="0"/>
                  </a:cubicBezTo>
                </a:path>
              </a:pathLst>
            </a:custGeom>
            <a:ln>
              <a:solidFill>
                <a:srgbClr val="2C3E50"/>
              </a:solidFill>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6" name="任意多边形 15"/>
            <p:cNvSpPr/>
            <p:nvPr/>
          </p:nvSpPr>
          <p:spPr bwMode="auto">
            <a:xfrm>
              <a:off x="1235784" y="2951659"/>
              <a:ext cx="2690978" cy="517783"/>
            </a:xfrm>
            <a:custGeom>
              <a:avLst/>
              <a:gdLst>
                <a:gd name="connsiteX0" fmla="*/ 0 w 2689412"/>
                <a:gd name="connsiteY0" fmla="*/ 224181 h 519494"/>
                <a:gd name="connsiteX1" fmla="*/ 806824 w 2689412"/>
                <a:gd name="connsiteY1" fmla="*/ 9028 h 519494"/>
                <a:gd name="connsiteX2" fmla="*/ 1721224 w 2689412"/>
                <a:gd name="connsiteY2" fmla="*/ 493122 h 519494"/>
                <a:gd name="connsiteX3" fmla="*/ 2689412 w 2689412"/>
                <a:gd name="connsiteY3" fmla="*/ 412440 h 519494"/>
              </a:gdLst>
              <a:ahLst/>
              <a:cxnLst>
                <a:cxn ang="0">
                  <a:pos x="connsiteX0" y="connsiteY0"/>
                </a:cxn>
                <a:cxn ang="0">
                  <a:pos x="connsiteX1" y="connsiteY1"/>
                </a:cxn>
                <a:cxn ang="0">
                  <a:pos x="connsiteX2" y="connsiteY2"/>
                </a:cxn>
                <a:cxn ang="0">
                  <a:pos x="connsiteX3" y="connsiteY3"/>
                </a:cxn>
              </a:cxnLst>
              <a:rect l="l" t="t" r="r" b="b"/>
              <a:pathLst>
                <a:path w="2689412" h="519494">
                  <a:moveTo>
                    <a:pt x="0" y="224181"/>
                  </a:moveTo>
                  <a:cubicBezTo>
                    <a:pt x="259976" y="94193"/>
                    <a:pt x="519953" y="-35795"/>
                    <a:pt x="806824" y="9028"/>
                  </a:cubicBezTo>
                  <a:cubicBezTo>
                    <a:pt x="1093695" y="53851"/>
                    <a:pt x="1407459" y="425887"/>
                    <a:pt x="1721224" y="493122"/>
                  </a:cubicBezTo>
                  <a:cubicBezTo>
                    <a:pt x="2034989" y="560357"/>
                    <a:pt x="2362200" y="486398"/>
                    <a:pt x="2689412" y="412440"/>
                  </a:cubicBezTo>
                </a:path>
              </a:pathLst>
            </a:custGeom>
            <a:ln>
              <a:solidFill>
                <a:srgbClr val="FF0000"/>
              </a:solidFill>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7" name="文本框 26"/>
            <p:cNvSpPr txBox="1">
              <a:spLocks noChangeArrowheads="1"/>
            </p:cNvSpPr>
            <p:nvPr/>
          </p:nvSpPr>
          <p:spPr bwMode="auto">
            <a:xfrm>
              <a:off x="806331" y="2333876"/>
              <a:ext cx="1972499" cy="4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Futures Price</a:t>
              </a:r>
              <a:endParaRPr lang="zh-CN" altLang="en-US" sz="18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8" name="文本框 27"/>
            <p:cNvSpPr txBox="1">
              <a:spLocks noChangeArrowheads="1"/>
            </p:cNvSpPr>
            <p:nvPr/>
          </p:nvSpPr>
          <p:spPr bwMode="auto">
            <a:xfrm>
              <a:off x="806331" y="4975594"/>
              <a:ext cx="1597501" cy="4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Spot Price</a:t>
              </a:r>
              <a:endParaRPr lang="zh-CN" altLang="en-US" sz="18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9" name="文本框 28"/>
            <p:cNvSpPr txBox="1">
              <a:spLocks noChangeArrowheads="1"/>
            </p:cNvSpPr>
            <p:nvPr/>
          </p:nvSpPr>
          <p:spPr bwMode="auto">
            <a:xfrm>
              <a:off x="3935074" y="4987769"/>
              <a:ext cx="895903" cy="4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Time</a:t>
              </a:r>
              <a:endParaRPr lang="zh-CN" altLang="en-US" sz="18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grpSp>
      <p:grpSp>
        <p:nvGrpSpPr>
          <p:cNvPr id="20" name="组合 30"/>
          <p:cNvGrpSpPr>
            <a:grpSpLocks/>
          </p:cNvGrpSpPr>
          <p:nvPr/>
        </p:nvGrpSpPr>
        <p:grpSpPr bwMode="auto">
          <a:xfrm>
            <a:off x="4220670" y="1322998"/>
            <a:ext cx="2651680" cy="2075284"/>
            <a:chOff x="806824" y="2241292"/>
            <a:chExt cx="3989235" cy="3220295"/>
          </a:xfrm>
        </p:grpSpPr>
        <p:cxnSp>
          <p:nvCxnSpPr>
            <p:cNvPr id="21" name="直接箭头连接符 20"/>
            <p:cNvCxnSpPr/>
            <p:nvPr/>
          </p:nvCxnSpPr>
          <p:spPr bwMode="auto">
            <a:xfrm>
              <a:off x="806824" y="5459377"/>
              <a:ext cx="3989235" cy="0"/>
            </a:xfrm>
            <a:prstGeom prst="straightConnector1">
              <a:avLst/>
            </a:prstGeom>
            <a:ln>
              <a:solidFill>
                <a:srgbClr val="2C3E50"/>
              </a:solidFill>
              <a:headEnd type="none" w="med" len="med"/>
              <a:tailEnd type="triangle"/>
            </a:ln>
            <a:effectLst/>
          </p:spPr>
          <p:style>
            <a:lnRef idx="2">
              <a:schemeClr val="accent3"/>
            </a:lnRef>
            <a:fillRef idx="0">
              <a:schemeClr val="accent3"/>
            </a:fillRef>
            <a:effectRef idx="1">
              <a:schemeClr val="accent3"/>
            </a:effectRef>
            <a:fontRef idx="minor">
              <a:schemeClr val="tx1"/>
            </a:fontRef>
          </p:style>
        </p:cxnSp>
        <p:cxnSp>
          <p:nvCxnSpPr>
            <p:cNvPr id="22" name="直接箭头连接符 21"/>
            <p:cNvCxnSpPr/>
            <p:nvPr/>
          </p:nvCxnSpPr>
          <p:spPr bwMode="auto">
            <a:xfrm flipV="1">
              <a:off x="806824" y="2258974"/>
              <a:ext cx="0" cy="3200404"/>
            </a:xfrm>
            <a:prstGeom prst="straightConnector1">
              <a:avLst/>
            </a:prstGeom>
            <a:ln>
              <a:solidFill>
                <a:srgbClr val="2C3E50"/>
              </a:solidFill>
              <a:headEnd type="none" w="med" len="med"/>
              <a:tailEnd type="triangle"/>
            </a:ln>
            <a:effectLst/>
          </p:spPr>
          <p:style>
            <a:lnRef idx="2">
              <a:schemeClr val="accent3"/>
            </a:lnRef>
            <a:fillRef idx="0">
              <a:schemeClr val="accent3"/>
            </a:fillRef>
            <a:effectRef idx="1">
              <a:schemeClr val="accent3"/>
            </a:effectRef>
            <a:fontRef idx="minor">
              <a:schemeClr val="tx1"/>
            </a:fontRef>
          </p:style>
        </p:cxnSp>
        <p:sp>
          <p:nvSpPr>
            <p:cNvPr id="23" name="任意多边形 22"/>
            <p:cNvSpPr/>
            <p:nvPr/>
          </p:nvSpPr>
          <p:spPr bwMode="auto">
            <a:xfrm>
              <a:off x="1345910" y="3359665"/>
              <a:ext cx="2580045" cy="1319503"/>
            </a:xfrm>
            <a:custGeom>
              <a:avLst/>
              <a:gdLst>
                <a:gd name="connsiteX0" fmla="*/ 0 w 2581835"/>
                <a:gd name="connsiteY0" fmla="*/ 1317811 h 1317811"/>
                <a:gd name="connsiteX1" fmla="*/ 806823 w 2581835"/>
                <a:gd name="connsiteY1" fmla="*/ 564776 h 1317811"/>
                <a:gd name="connsiteX2" fmla="*/ 1775012 w 2581835"/>
                <a:gd name="connsiteY2" fmla="*/ 753035 h 1317811"/>
                <a:gd name="connsiteX3" fmla="*/ 2581835 w 2581835"/>
                <a:gd name="connsiteY3" fmla="*/ 0 h 1317811"/>
              </a:gdLst>
              <a:ahLst/>
              <a:cxnLst>
                <a:cxn ang="0">
                  <a:pos x="connsiteX0" y="connsiteY0"/>
                </a:cxn>
                <a:cxn ang="0">
                  <a:pos x="connsiteX1" y="connsiteY1"/>
                </a:cxn>
                <a:cxn ang="0">
                  <a:pos x="connsiteX2" y="connsiteY2"/>
                </a:cxn>
                <a:cxn ang="0">
                  <a:pos x="connsiteX3" y="connsiteY3"/>
                </a:cxn>
              </a:cxnLst>
              <a:rect l="l" t="t" r="r" b="b"/>
              <a:pathLst>
                <a:path w="2581835" h="1317811">
                  <a:moveTo>
                    <a:pt x="0" y="1317811"/>
                  </a:moveTo>
                  <a:cubicBezTo>
                    <a:pt x="255494" y="988358"/>
                    <a:pt x="510988" y="658905"/>
                    <a:pt x="806823" y="564776"/>
                  </a:cubicBezTo>
                  <a:cubicBezTo>
                    <a:pt x="1102658" y="470647"/>
                    <a:pt x="1479177" y="847164"/>
                    <a:pt x="1775012" y="753035"/>
                  </a:cubicBezTo>
                  <a:cubicBezTo>
                    <a:pt x="2070847" y="658906"/>
                    <a:pt x="2326341" y="329453"/>
                    <a:pt x="2581835" y="0"/>
                  </a:cubicBezTo>
                </a:path>
              </a:pathLst>
            </a:custGeom>
            <a:ln>
              <a:solidFill>
                <a:srgbClr val="2C3E50"/>
              </a:solidFill>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4" name="任意多边形 23"/>
            <p:cNvSpPr/>
            <p:nvPr/>
          </p:nvSpPr>
          <p:spPr bwMode="auto">
            <a:xfrm>
              <a:off x="1236202" y="2948564"/>
              <a:ext cx="2689754" cy="519402"/>
            </a:xfrm>
            <a:custGeom>
              <a:avLst/>
              <a:gdLst>
                <a:gd name="connsiteX0" fmla="*/ 0 w 2689412"/>
                <a:gd name="connsiteY0" fmla="*/ 224181 h 519494"/>
                <a:gd name="connsiteX1" fmla="*/ 806824 w 2689412"/>
                <a:gd name="connsiteY1" fmla="*/ 9028 h 519494"/>
                <a:gd name="connsiteX2" fmla="*/ 1721224 w 2689412"/>
                <a:gd name="connsiteY2" fmla="*/ 493122 h 519494"/>
                <a:gd name="connsiteX3" fmla="*/ 2689412 w 2689412"/>
                <a:gd name="connsiteY3" fmla="*/ 412440 h 519494"/>
              </a:gdLst>
              <a:ahLst/>
              <a:cxnLst>
                <a:cxn ang="0">
                  <a:pos x="connsiteX0" y="connsiteY0"/>
                </a:cxn>
                <a:cxn ang="0">
                  <a:pos x="connsiteX1" y="connsiteY1"/>
                </a:cxn>
                <a:cxn ang="0">
                  <a:pos x="connsiteX2" y="connsiteY2"/>
                </a:cxn>
                <a:cxn ang="0">
                  <a:pos x="connsiteX3" y="connsiteY3"/>
                </a:cxn>
              </a:cxnLst>
              <a:rect l="l" t="t" r="r" b="b"/>
              <a:pathLst>
                <a:path w="2689412" h="519494">
                  <a:moveTo>
                    <a:pt x="0" y="224181"/>
                  </a:moveTo>
                  <a:cubicBezTo>
                    <a:pt x="259976" y="94193"/>
                    <a:pt x="519953" y="-35795"/>
                    <a:pt x="806824" y="9028"/>
                  </a:cubicBezTo>
                  <a:cubicBezTo>
                    <a:pt x="1093695" y="53851"/>
                    <a:pt x="1407459" y="425887"/>
                    <a:pt x="1721224" y="493122"/>
                  </a:cubicBezTo>
                  <a:cubicBezTo>
                    <a:pt x="2034989" y="560357"/>
                    <a:pt x="2362200" y="486398"/>
                    <a:pt x="2689412" y="412440"/>
                  </a:cubicBezTo>
                </a:path>
              </a:pathLst>
            </a:custGeom>
            <a:ln>
              <a:solidFill>
                <a:srgbClr val="FF0000"/>
              </a:solidFill>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5" name="文本框 35"/>
            <p:cNvSpPr txBox="1">
              <a:spLocks noChangeArrowheads="1"/>
            </p:cNvSpPr>
            <p:nvPr/>
          </p:nvSpPr>
          <p:spPr bwMode="auto">
            <a:xfrm>
              <a:off x="847374" y="4977629"/>
              <a:ext cx="1893219" cy="483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Futures Price</a:t>
              </a:r>
              <a:endParaRPr lang="zh-CN" altLang="en-US" sz="18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26" name="文本框 36"/>
            <p:cNvSpPr txBox="1">
              <a:spLocks noChangeArrowheads="1"/>
            </p:cNvSpPr>
            <p:nvPr/>
          </p:nvSpPr>
          <p:spPr bwMode="auto">
            <a:xfrm>
              <a:off x="847374" y="2241292"/>
              <a:ext cx="1533294" cy="483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Spot Price</a:t>
              </a:r>
              <a:endParaRPr lang="zh-CN" altLang="en-US" sz="18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27" name="文本框 37"/>
            <p:cNvSpPr txBox="1">
              <a:spLocks noChangeArrowheads="1"/>
            </p:cNvSpPr>
            <p:nvPr/>
          </p:nvSpPr>
          <p:spPr bwMode="auto">
            <a:xfrm>
              <a:off x="3936165" y="4977629"/>
              <a:ext cx="859894" cy="483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Time</a:t>
              </a:r>
              <a:endParaRPr lang="zh-CN" altLang="en-US" sz="18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grpSp>
    </p:spTree>
    <p:extLst>
      <p:ext uri="{BB962C8B-B14F-4D97-AF65-F5344CB8AC3E}">
        <p14:creationId xmlns:p14="http://schemas.microsoft.com/office/powerpoint/2010/main" val="69687351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Different Market Quotes</a:t>
            </a:r>
            <a:endParaRPr lang="zh-CN" altLang="en-US" dirty="0"/>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Market Quotes</a:t>
            </a:r>
          </a:p>
          <a:p>
            <a:pPr lvl="1">
              <a:lnSpc>
                <a:spcPct val="140000"/>
              </a:lnSpc>
              <a:spcBef>
                <a:spcPct val="0"/>
              </a:spcBef>
            </a:pPr>
            <a:r>
              <a:rPr lang="en-US" altLang="zh-CN" b="1" dirty="0"/>
              <a:t>Opening Price:</a:t>
            </a:r>
            <a:r>
              <a:rPr lang="en-US" altLang="zh-CN" dirty="0"/>
              <a:t> prices at which contracts were trading </a:t>
            </a:r>
            <a:r>
              <a:rPr lang="en-US" altLang="zh-CN" u="sng" dirty="0"/>
              <a:t>immediately after the start of trading</a:t>
            </a:r>
            <a:r>
              <a:rPr lang="en-US" altLang="zh-CN" dirty="0"/>
              <a:t>.</a:t>
            </a:r>
          </a:p>
          <a:p>
            <a:pPr lvl="1">
              <a:lnSpc>
                <a:spcPct val="140000"/>
              </a:lnSpc>
              <a:spcBef>
                <a:spcPct val="0"/>
              </a:spcBef>
            </a:pPr>
            <a:r>
              <a:rPr lang="en-US" altLang="zh-CN" b="1" dirty="0"/>
              <a:t>Highest </a:t>
            </a:r>
            <a:r>
              <a:rPr lang="en-US" altLang="zh-CN" b="1" dirty="0" smtClean="0"/>
              <a:t>Price: </a:t>
            </a:r>
            <a:r>
              <a:rPr lang="en-US" altLang="zh-CN" dirty="0" smtClean="0"/>
              <a:t>during the Day and Lowest Price during the Day</a:t>
            </a:r>
          </a:p>
          <a:p>
            <a:pPr lvl="1">
              <a:lnSpc>
                <a:spcPct val="140000"/>
              </a:lnSpc>
              <a:spcBef>
                <a:spcPct val="0"/>
              </a:spcBef>
            </a:pPr>
            <a:r>
              <a:rPr lang="en-US" altLang="zh-CN" b="1" dirty="0" smtClean="0"/>
              <a:t>Settlement Price: </a:t>
            </a:r>
            <a:r>
              <a:rPr lang="en-US" altLang="zh-CN" dirty="0" smtClean="0"/>
              <a:t>Price at which the contract traded </a:t>
            </a:r>
            <a:r>
              <a:rPr lang="en-US" altLang="zh-CN" u="sng" dirty="0" smtClean="0"/>
              <a:t>immediately before the end of a day’s trading session. It is the price used for calculating daily gains and losses and margin requirements.</a:t>
            </a:r>
            <a:endParaRPr lang="en-US" altLang="zh-CN" b="1" u="sng" dirty="0" smtClean="0"/>
          </a:p>
          <a:p>
            <a:pPr lvl="1">
              <a:lnSpc>
                <a:spcPct val="140000"/>
              </a:lnSpc>
              <a:spcBef>
                <a:spcPct val="0"/>
              </a:spcBef>
            </a:pPr>
            <a:r>
              <a:rPr lang="en-US" altLang="zh-CN" b="1" dirty="0" smtClean="0"/>
              <a:t>Trading </a:t>
            </a:r>
            <a:r>
              <a:rPr lang="en-US" altLang="zh-CN" b="1" dirty="0"/>
              <a:t>Volume: </a:t>
            </a:r>
            <a:r>
              <a:rPr lang="en-US" altLang="zh-CN" u="sng" dirty="0"/>
              <a:t>number of contracts traded in a day</a:t>
            </a:r>
            <a:r>
              <a:rPr lang="en-US" altLang="zh-CN" dirty="0"/>
              <a:t>.</a:t>
            </a:r>
          </a:p>
          <a:p>
            <a:pPr lvl="1">
              <a:lnSpc>
                <a:spcPct val="140000"/>
              </a:lnSpc>
              <a:spcBef>
                <a:spcPct val="0"/>
              </a:spcBef>
            </a:pPr>
            <a:r>
              <a:rPr lang="en-US" altLang="zh-CN" b="1" dirty="0"/>
              <a:t>Open Interest: </a:t>
            </a:r>
            <a:r>
              <a:rPr lang="en-US" altLang="zh-CN" u="sng" dirty="0"/>
              <a:t>number of contracts outstanding</a:t>
            </a:r>
            <a:r>
              <a:rPr lang="en-US" altLang="zh-CN" dirty="0"/>
              <a:t>, that is, the number of long positions or, equivalently, the number of short positions. </a:t>
            </a:r>
            <a:r>
              <a:rPr lang="en-US" altLang="zh-CN" u="sng" dirty="0"/>
              <a:t>If there is a large amount of trading by day traders the volume of trading in a day can be greater than either the beginning-of-day or end-of-day open interest.</a:t>
            </a:r>
            <a:endParaRPr lang="en-US" altLang="zh-CN" b="1" u="sng" dirty="0"/>
          </a:p>
          <a:p>
            <a:endParaRPr lang="zh-CN" altLang="en-US" dirty="0"/>
          </a:p>
        </p:txBody>
      </p:sp>
    </p:spTree>
    <p:extLst>
      <p:ext uri="{BB962C8B-B14F-4D97-AF65-F5344CB8AC3E}">
        <p14:creationId xmlns:p14="http://schemas.microsoft.com/office/powerpoint/2010/main" val="269504418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Delivery Process</a:t>
            </a:r>
            <a:endParaRPr lang="zh-CN" altLang="en-US" dirty="0"/>
          </a:p>
        </p:txBody>
      </p:sp>
      <p:sp>
        <p:nvSpPr>
          <p:cNvPr id="3" name="文本占位符 2"/>
          <p:cNvSpPr>
            <a:spLocks noGrp="1"/>
          </p:cNvSpPr>
          <p:nvPr>
            <p:ph type="body" sz="quarter" idx="10"/>
          </p:nvPr>
        </p:nvSpPr>
        <p:spPr/>
        <p:txBody>
          <a:bodyPr/>
          <a:lstStyle/>
          <a:p>
            <a:r>
              <a:rPr lang="en-US" altLang="zh-CN" dirty="0"/>
              <a:t>Mechanics of the delivery </a:t>
            </a:r>
            <a:r>
              <a:rPr lang="en-US" altLang="zh-CN" dirty="0" smtClean="0"/>
              <a:t>process</a:t>
            </a:r>
          </a:p>
          <a:p>
            <a:pPr lvl="1"/>
            <a:r>
              <a:rPr lang="en-US" altLang="zh-CN" sz="2000" b="0" dirty="0"/>
              <a:t>If the futures contract is not closed out before maturity, it is usually settled </a:t>
            </a:r>
            <a:r>
              <a:rPr lang="en-US" altLang="zh-CN" sz="2000" b="0" dirty="0" smtClean="0"/>
              <a:t>by delivering </a:t>
            </a:r>
            <a:r>
              <a:rPr lang="en-US" altLang="zh-CN" sz="2000" b="0" dirty="0"/>
              <a:t>the asset underlying the </a:t>
            </a:r>
            <a:r>
              <a:rPr lang="en-US" altLang="zh-CN" sz="2000" b="0" dirty="0" smtClean="0"/>
              <a:t>contract. The </a:t>
            </a:r>
            <a:r>
              <a:rPr lang="en-US" altLang="zh-CN" sz="2000" b="0" dirty="0"/>
              <a:t>most recent settlement price is used for delivery and this price is adjusted </a:t>
            </a:r>
            <a:r>
              <a:rPr lang="en-US" altLang="zh-CN" sz="2000" b="0" dirty="0" smtClean="0"/>
              <a:t>for </a:t>
            </a:r>
            <a:r>
              <a:rPr lang="en-US" altLang="zh-CN" sz="2000" b="0" u="sng" dirty="0" smtClean="0"/>
              <a:t>grade</a:t>
            </a:r>
            <a:r>
              <a:rPr lang="en-US" altLang="zh-CN" sz="2000" b="0" u="sng" dirty="0"/>
              <a:t>, location of delivery, and so on</a:t>
            </a:r>
            <a:r>
              <a:rPr lang="en-US" altLang="zh-CN" sz="2000" b="0" u="sng" dirty="0" smtClean="0"/>
              <a:t>.</a:t>
            </a:r>
          </a:p>
          <a:p>
            <a:pPr lvl="1"/>
            <a:r>
              <a:rPr lang="en-US" altLang="zh-CN" sz="2000" b="0" dirty="0"/>
              <a:t>The whole delivery procedure from the issuance of the notice of intention to deliver </a:t>
            </a:r>
            <a:r>
              <a:rPr lang="en-US" altLang="zh-CN" sz="2000" b="0" dirty="0" smtClean="0"/>
              <a:t>to the </a:t>
            </a:r>
            <a:r>
              <a:rPr lang="en-US" altLang="zh-CN" sz="2000" b="0" dirty="0"/>
              <a:t>delivery itself generally takes about two to three </a:t>
            </a:r>
            <a:r>
              <a:rPr lang="en-US" altLang="zh-CN" sz="2000" b="0" dirty="0" smtClean="0"/>
              <a:t>days, </a:t>
            </a:r>
            <a:r>
              <a:rPr lang="en-US" altLang="zh-CN" sz="2000" b="0" dirty="0"/>
              <a:t>namely </a:t>
            </a:r>
            <a:r>
              <a:rPr lang="en-US" altLang="zh-CN" sz="2000" b="0" i="1" dirty="0">
                <a:solidFill>
                  <a:srgbClr val="FF0000"/>
                </a:solidFill>
              </a:rPr>
              <a:t>first notice day</a:t>
            </a:r>
            <a:r>
              <a:rPr lang="en-US" altLang="zh-CN" sz="2000" b="0" dirty="0">
                <a:solidFill>
                  <a:srgbClr val="FF0000"/>
                </a:solidFill>
              </a:rPr>
              <a:t>, </a:t>
            </a:r>
            <a:r>
              <a:rPr lang="en-US" altLang="zh-CN" sz="2000" b="0" i="1" dirty="0">
                <a:solidFill>
                  <a:srgbClr val="FF0000"/>
                </a:solidFill>
              </a:rPr>
              <a:t>last notice day </a:t>
            </a:r>
            <a:r>
              <a:rPr lang="en-US" altLang="zh-CN" sz="2000" b="0" dirty="0">
                <a:solidFill>
                  <a:srgbClr val="FF0000"/>
                </a:solidFill>
              </a:rPr>
              <a:t>and </a:t>
            </a:r>
            <a:r>
              <a:rPr lang="en-US" altLang="zh-CN" sz="2000" b="0" i="1" dirty="0">
                <a:solidFill>
                  <a:srgbClr val="FF0000"/>
                </a:solidFill>
              </a:rPr>
              <a:t>last trading day</a:t>
            </a:r>
            <a:r>
              <a:rPr lang="en-US" altLang="zh-CN" sz="2000" b="0" dirty="0" smtClean="0">
                <a:solidFill>
                  <a:srgbClr val="FF0000"/>
                </a:solidFill>
              </a:rPr>
              <a:t>.</a:t>
            </a:r>
          </a:p>
          <a:p>
            <a:pPr lvl="1"/>
            <a:r>
              <a:rPr lang="en-US" altLang="zh-CN" sz="2000" b="1" u="sng" dirty="0" smtClean="0"/>
              <a:t>Cash settlement</a:t>
            </a:r>
          </a:p>
          <a:p>
            <a:pPr marL="609585" lvl="1" indent="0">
              <a:buNone/>
            </a:pPr>
            <a:r>
              <a:rPr lang="en-US" altLang="zh-CN" sz="2000" b="1" dirty="0" smtClean="0"/>
              <a:t>      S&amp;P 500</a:t>
            </a:r>
            <a:endParaRPr lang="zh-CN" altLang="en-US" sz="2000" b="1" dirty="0"/>
          </a:p>
        </p:txBody>
      </p:sp>
      <p:pic>
        <p:nvPicPr>
          <p:cNvPr id="4" name="图片 3"/>
          <p:cNvPicPr>
            <a:picLocks noChangeAspect="1"/>
          </p:cNvPicPr>
          <p:nvPr/>
        </p:nvPicPr>
        <p:blipFill>
          <a:blip r:embed="rId2"/>
          <a:stretch>
            <a:fillRect/>
          </a:stretch>
        </p:blipFill>
        <p:spPr>
          <a:xfrm>
            <a:off x="4527931" y="3676600"/>
            <a:ext cx="6985842" cy="2470812"/>
          </a:xfrm>
          <a:prstGeom prst="rect">
            <a:avLst/>
          </a:prstGeom>
        </p:spPr>
      </p:pic>
    </p:spTree>
    <p:extLst>
      <p:ext uri="{BB962C8B-B14F-4D97-AF65-F5344CB8AC3E}">
        <p14:creationId xmlns:p14="http://schemas.microsoft.com/office/powerpoint/2010/main" val="86377759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Different Trading Order Types</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Different trading order </a:t>
            </a:r>
            <a:r>
              <a:rPr lang="en-US" altLang="zh-CN" dirty="0" smtClean="0"/>
              <a:t>types(CFA)</a:t>
            </a:r>
          </a:p>
          <a:p>
            <a:pPr lvl="1"/>
            <a:r>
              <a:rPr lang="en-US" altLang="zh-CN" b="1" dirty="0"/>
              <a:t>Market order </a:t>
            </a:r>
            <a:r>
              <a:rPr lang="en-US" altLang="zh-CN" b="0" dirty="0"/>
              <a:t>(</a:t>
            </a:r>
            <a:r>
              <a:rPr lang="en-US" altLang="zh-CN" b="0" dirty="0">
                <a:solidFill>
                  <a:srgbClr val="00B050"/>
                </a:solidFill>
              </a:rPr>
              <a:t>guarantees the transaction</a:t>
            </a:r>
            <a:r>
              <a:rPr lang="en-US" altLang="zh-CN" b="0" dirty="0"/>
              <a:t>, </a:t>
            </a:r>
            <a:r>
              <a:rPr lang="en-US" altLang="zh-CN" b="0" dirty="0">
                <a:solidFill>
                  <a:srgbClr val="FF0000"/>
                </a:solidFill>
              </a:rPr>
              <a:t>but not the price</a:t>
            </a:r>
            <a:r>
              <a:rPr lang="en-US" altLang="zh-CN" b="0" dirty="0"/>
              <a:t>): The market order is </a:t>
            </a:r>
            <a:r>
              <a:rPr lang="en-US" altLang="zh-CN" b="0" dirty="0" smtClean="0"/>
              <a:t>a simple </a:t>
            </a:r>
            <a:r>
              <a:rPr lang="en-US" altLang="zh-CN" b="0" dirty="0"/>
              <a:t>(the simplest) request to execute the trade immediately at the best available price. </a:t>
            </a:r>
            <a:endParaRPr lang="en-US" altLang="zh-CN" b="0" dirty="0" smtClean="0"/>
          </a:p>
          <a:p>
            <a:pPr lvl="1"/>
            <a:r>
              <a:rPr lang="en-US" altLang="zh-CN" b="1" dirty="0"/>
              <a:t>Limit order </a:t>
            </a:r>
            <a:r>
              <a:rPr lang="en-US" altLang="zh-CN" b="0" dirty="0" smtClean="0"/>
              <a:t>(</a:t>
            </a:r>
            <a:r>
              <a:rPr lang="en-US" altLang="zh-CN" dirty="0">
                <a:solidFill>
                  <a:srgbClr val="00B050"/>
                </a:solidFill>
              </a:rPr>
              <a:t>guarantees price</a:t>
            </a:r>
            <a:r>
              <a:rPr lang="en-US" altLang="zh-CN" b="0" dirty="0"/>
              <a:t>, </a:t>
            </a:r>
            <a:r>
              <a:rPr lang="en-US" altLang="zh-CN" b="0" dirty="0">
                <a:solidFill>
                  <a:srgbClr val="FF0000"/>
                </a:solidFill>
              </a:rPr>
              <a:t>but not the transaction</a:t>
            </a:r>
            <a:r>
              <a:rPr lang="en-US" altLang="zh-CN" b="0" dirty="0"/>
              <a:t>): A limit order specifies a </a:t>
            </a:r>
            <a:r>
              <a:rPr lang="en-US" altLang="zh-CN" b="0" dirty="0" smtClean="0"/>
              <a:t>particular price</a:t>
            </a:r>
            <a:r>
              <a:rPr lang="en-US" altLang="zh-CN" b="0" dirty="0"/>
              <a:t>. The </a:t>
            </a:r>
            <a:r>
              <a:rPr lang="en-US" altLang="zh-CN" b="0" dirty="0" smtClean="0"/>
              <a:t>order </a:t>
            </a:r>
            <a:r>
              <a:rPr lang="en-US" altLang="zh-CN" b="0" dirty="0"/>
              <a:t>can be executed only at this price or at one more favorable to the investor</a:t>
            </a:r>
            <a:r>
              <a:rPr lang="en-US" altLang="zh-CN" b="0" dirty="0" smtClean="0"/>
              <a:t>.</a:t>
            </a:r>
          </a:p>
          <a:p>
            <a:pPr lvl="2"/>
            <a:r>
              <a:rPr lang="en-US" altLang="zh-CN" b="0" i="1" dirty="0" smtClean="0"/>
              <a:t>For example</a:t>
            </a:r>
            <a:r>
              <a:rPr lang="en-US" altLang="zh-CN" b="0" dirty="0"/>
              <a:t> </a:t>
            </a:r>
            <a:r>
              <a:rPr lang="en-US" altLang="zh-CN" b="0" dirty="0" smtClean="0"/>
              <a:t>: If </a:t>
            </a:r>
            <a:r>
              <a:rPr lang="en-US" altLang="zh-CN" b="0" dirty="0"/>
              <a:t>the limit price is $30 for an investor wanting to buy, the order will </a:t>
            </a:r>
            <a:r>
              <a:rPr lang="en-US" altLang="zh-CN" b="0" dirty="0" smtClean="0"/>
              <a:t>be executed </a:t>
            </a:r>
            <a:r>
              <a:rPr lang="en-US" altLang="zh-CN" b="0" dirty="0"/>
              <a:t>only at a price of $30 or less. There is no guarantee that the order will </a:t>
            </a:r>
            <a:r>
              <a:rPr lang="en-US" altLang="zh-CN" b="0" dirty="0" smtClean="0"/>
              <a:t>be executed </a:t>
            </a:r>
            <a:r>
              <a:rPr lang="en-US" altLang="zh-CN" b="0" dirty="0"/>
              <a:t>at all, because the limit price may never be reached.</a:t>
            </a:r>
            <a:endParaRPr lang="en-US" altLang="zh-CN" b="0" dirty="0" smtClean="0"/>
          </a:p>
          <a:p>
            <a:endParaRPr lang="en-US" altLang="zh-CN" dirty="0"/>
          </a:p>
          <a:p>
            <a:endParaRPr lang="zh-CN" altLang="en-US" dirty="0"/>
          </a:p>
        </p:txBody>
      </p:sp>
      <p:sp>
        <p:nvSpPr>
          <p:cNvPr id="4" name="文本框 3"/>
          <p:cNvSpPr txBox="1"/>
          <p:nvPr/>
        </p:nvSpPr>
        <p:spPr>
          <a:xfrm>
            <a:off x="827878" y="901597"/>
            <a:ext cx="5451736" cy="508562"/>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266985218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 Trading Order Types</a:t>
            </a:r>
            <a:endParaRPr lang="zh-CN" altLang="en-US" dirty="0"/>
          </a:p>
        </p:txBody>
      </p:sp>
      <p:sp>
        <p:nvSpPr>
          <p:cNvPr id="3" name="文本占位符 2"/>
          <p:cNvSpPr>
            <a:spLocks noGrp="1"/>
          </p:cNvSpPr>
          <p:nvPr>
            <p:ph type="body" sz="quarter" idx="10"/>
          </p:nvPr>
        </p:nvSpPr>
        <p:spPr/>
        <p:txBody>
          <a:bodyPr/>
          <a:lstStyle/>
          <a:p>
            <a:pPr>
              <a:buFont typeface="Wingdings" panose="05000000000000000000" pitchFamily="2" charset="2"/>
              <a:buChar char="l"/>
            </a:pPr>
            <a:r>
              <a:rPr lang="en-US" altLang="zh-CN" sz="2200" dirty="0">
                <a:solidFill>
                  <a:schemeClr val="tx1"/>
                </a:solidFill>
              </a:rPr>
              <a:t>Stop-loss order </a:t>
            </a:r>
            <a:r>
              <a:rPr lang="en-US" altLang="zh-CN" sz="2200" b="0" dirty="0">
                <a:solidFill>
                  <a:schemeClr val="tx1"/>
                </a:solidFill>
              </a:rPr>
              <a:t>(if an asset reaches a specified price, it, in effect, becomes a market order</a:t>
            </a:r>
            <a:r>
              <a:rPr lang="en-US" altLang="zh-CN" sz="2200" b="0" dirty="0" smtClean="0">
                <a:solidFill>
                  <a:schemeClr val="tx1"/>
                </a:solidFill>
              </a:rPr>
              <a:t>): The </a:t>
            </a:r>
            <a:r>
              <a:rPr lang="en-US" altLang="zh-CN" sz="2200" b="0" dirty="0">
                <a:solidFill>
                  <a:schemeClr val="tx1"/>
                </a:solidFill>
              </a:rPr>
              <a:t>order is executed at the best available price once a bid or offer is made at that </a:t>
            </a:r>
            <a:r>
              <a:rPr lang="en-US" altLang="zh-CN" sz="2200" b="0" dirty="0" smtClean="0">
                <a:solidFill>
                  <a:schemeClr val="tx1"/>
                </a:solidFill>
              </a:rPr>
              <a:t>particular price </a:t>
            </a:r>
            <a:r>
              <a:rPr lang="en-US" altLang="zh-CN" sz="2200" b="0" dirty="0">
                <a:solidFill>
                  <a:schemeClr val="tx1"/>
                </a:solidFill>
              </a:rPr>
              <a:t>or a less-favorable price</a:t>
            </a:r>
            <a:r>
              <a:rPr lang="en-US" altLang="zh-CN" sz="2200" b="0" dirty="0" smtClean="0">
                <a:solidFill>
                  <a:schemeClr val="tx1"/>
                </a:solidFill>
              </a:rPr>
              <a:t>.</a:t>
            </a:r>
          </a:p>
          <a:p>
            <a:pPr lvl="1">
              <a:buFont typeface="Wingdings" panose="05000000000000000000" pitchFamily="2" charset="2"/>
              <a:buChar char="ü"/>
            </a:pPr>
            <a:r>
              <a:rPr lang="en-US" altLang="zh-CN" b="0" i="1" dirty="0" smtClean="0">
                <a:solidFill>
                  <a:schemeClr val="tx1"/>
                </a:solidFill>
              </a:rPr>
              <a:t>For example : </a:t>
            </a:r>
            <a:r>
              <a:rPr lang="en-US" altLang="zh-CN" b="0" dirty="0">
                <a:solidFill>
                  <a:schemeClr val="tx1"/>
                </a:solidFill>
              </a:rPr>
              <a:t>Suppose a stop-loss order to sell at $30 is issued when the </a:t>
            </a:r>
            <a:r>
              <a:rPr lang="en-US" altLang="zh-CN" b="0" dirty="0" smtClean="0">
                <a:solidFill>
                  <a:schemeClr val="tx1"/>
                </a:solidFill>
              </a:rPr>
              <a:t>market price </a:t>
            </a:r>
            <a:r>
              <a:rPr lang="en-US" altLang="zh-CN" b="0" dirty="0">
                <a:solidFill>
                  <a:schemeClr val="tx1"/>
                </a:solidFill>
              </a:rPr>
              <a:t>is $35. It becomes an order to sell if and when the price falls to $30. </a:t>
            </a:r>
            <a:r>
              <a:rPr lang="en-US" altLang="zh-CN" b="0" dirty="0" smtClean="0">
                <a:solidFill>
                  <a:schemeClr val="tx1"/>
                </a:solidFill>
              </a:rPr>
              <a:t>The purpose </a:t>
            </a:r>
            <a:r>
              <a:rPr lang="en-US" altLang="zh-CN" b="0" dirty="0">
                <a:solidFill>
                  <a:schemeClr val="tx1"/>
                </a:solidFill>
              </a:rPr>
              <a:t>of a stop order is usually to close out a position if unfavorable </a:t>
            </a:r>
            <a:r>
              <a:rPr lang="en-US" altLang="zh-CN" b="0" dirty="0" smtClean="0">
                <a:solidFill>
                  <a:schemeClr val="tx1"/>
                </a:solidFill>
              </a:rPr>
              <a:t>price movements </a:t>
            </a:r>
            <a:r>
              <a:rPr lang="en-US" altLang="zh-CN" b="0" dirty="0">
                <a:solidFill>
                  <a:schemeClr val="tx1"/>
                </a:solidFill>
              </a:rPr>
              <a:t>take place. </a:t>
            </a:r>
            <a:r>
              <a:rPr lang="en-US" altLang="zh-CN" b="0" u="sng" dirty="0">
                <a:solidFill>
                  <a:schemeClr val="tx1"/>
                </a:solidFill>
              </a:rPr>
              <a:t>It limits the loss that can be incurred.</a:t>
            </a:r>
            <a:endParaRPr lang="zh-CN" altLang="en-US" b="0" u="sng" dirty="0">
              <a:solidFill>
                <a:schemeClr val="tx1"/>
              </a:solidFill>
            </a:endParaRPr>
          </a:p>
        </p:txBody>
      </p:sp>
    </p:spTree>
    <p:extLst>
      <p:ext uri="{BB962C8B-B14F-4D97-AF65-F5344CB8AC3E}">
        <p14:creationId xmlns:p14="http://schemas.microsoft.com/office/powerpoint/2010/main" val="322416506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 Trading Order Types</a:t>
            </a:r>
            <a:endParaRPr lang="zh-CN" altLang="en-US" dirty="0"/>
          </a:p>
        </p:txBody>
      </p:sp>
      <p:sp>
        <p:nvSpPr>
          <p:cNvPr id="3" name="文本占位符 2"/>
          <p:cNvSpPr>
            <a:spLocks noGrp="1"/>
          </p:cNvSpPr>
          <p:nvPr>
            <p:ph type="body" sz="quarter" idx="10"/>
          </p:nvPr>
        </p:nvSpPr>
        <p:spPr/>
        <p:txBody>
          <a:bodyPr>
            <a:normAutofit/>
          </a:bodyPr>
          <a:lstStyle/>
          <a:p>
            <a:pPr>
              <a:buFont typeface="Wingdings" panose="05000000000000000000" pitchFamily="2" charset="2"/>
              <a:buChar char="l"/>
            </a:pPr>
            <a:r>
              <a:rPr lang="en-US" altLang="zh-CN" sz="2200" dirty="0">
                <a:solidFill>
                  <a:schemeClr val="tx1"/>
                </a:solidFill>
              </a:rPr>
              <a:t>Stop-limit order </a:t>
            </a:r>
            <a:r>
              <a:rPr lang="en-US" altLang="zh-CN" sz="2200" b="0" dirty="0">
                <a:solidFill>
                  <a:schemeClr val="tx1"/>
                </a:solidFill>
              </a:rPr>
              <a:t>(combination of stop and limit: as soon as stop is breached, limit </a:t>
            </a:r>
            <a:r>
              <a:rPr lang="en-US" altLang="zh-CN" sz="2200" b="0" dirty="0" smtClean="0">
                <a:solidFill>
                  <a:schemeClr val="tx1"/>
                </a:solidFill>
              </a:rPr>
              <a:t>order applies</a:t>
            </a:r>
            <a:r>
              <a:rPr lang="en-US" altLang="zh-CN" sz="2200" b="0" dirty="0">
                <a:solidFill>
                  <a:schemeClr val="tx1"/>
                </a:solidFill>
              </a:rPr>
              <a:t>): The order becomes a limit order as soon as a bid or offer is made at a price </a:t>
            </a:r>
            <a:r>
              <a:rPr lang="en-US" altLang="zh-CN" sz="2200" b="0" dirty="0" smtClean="0">
                <a:solidFill>
                  <a:schemeClr val="tx1"/>
                </a:solidFill>
              </a:rPr>
              <a:t>equal to </a:t>
            </a:r>
            <a:r>
              <a:rPr lang="en-US" altLang="zh-CN" sz="2200" b="0" dirty="0">
                <a:solidFill>
                  <a:schemeClr val="tx1"/>
                </a:solidFill>
              </a:rPr>
              <a:t>or less favorable than the stop price. </a:t>
            </a:r>
            <a:r>
              <a:rPr lang="en-US" altLang="zh-CN" sz="2200" b="0" u="sng" dirty="0">
                <a:solidFill>
                  <a:schemeClr val="tx1"/>
                </a:solidFill>
              </a:rPr>
              <a:t>Two prices must be specified in a stop-limit </a:t>
            </a:r>
            <a:r>
              <a:rPr lang="en-US" altLang="zh-CN" sz="2200" b="0" u="sng" dirty="0" smtClean="0">
                <a:solidFill>
                  <a:schemeClr val="tx1"/>
                </a:solidFill>
              </a:rPr>
              <a:t>order</a:t>
            </a:r>
            <a:r>
              <a:rPr lang="en-US" altLang="zh-CN" sz="2200" b="0" dirty="0" smtClean="0">
                <a:solidFill>
                  <a:schemeClr val="tx1"/>
                </a:solidFill>
              </a:rPr>
              <a:t>: the </a:t>
            </a:r>
            <a:r>
              <a:rPr lang="en-US" altLang="zh-CN" sz="2200" b="0" dirty="0">
                <a:solidFill>
                  <a:schemeClr val="tx1"/>
                </a:solidFill>
              </a:rPr>
              <a:t>stop price and the limit price. If the stop price and the limit price are the same, the </a:t>
            </a:r>
            <a:r>
              <a:rPr lang="en-US" altLang="zh-CN" sz="2200" b="0" dirty="0" smtClean="0">
                <a:solidFill>
                  <a:schemeClr val="tx1"/>
                </a:solidFill>
              </a:rPr>
              <a:t>order is </a:t>
            </a:r>
            <a:r>
              <a:rPr lang="en-US" altLang="zh-CN" sz="2200" b="0" dirty="0">
                <a:solidFill>
                  <a:schemeClr val="tx1"/>
                </a:solidFill>
              </a:rPr>
              <a:t>sometimes called a stop-and-limit order</a:t>
            </a:r>
            <a:r>
              <a:rPr lang="en-US" altLang="zh-CN" sz="2200" b="0" dirty="0" smtClean="0">
                <a:solidFill>
                  <a:schemeClr val="tx1"/>
                </a:solidFill>
              </a:rPr>
              <a:t>.</a:t>
            </a:r>
          </a:p>
          <a:p>
            <a:pPr lvl="1">
              <a:buFont typeface="Wingdings" panose="05000000000000000000" pitchFamily="2" charset="2"/>
              <a:buChar char="ü"/>
            </a:pPr>
            <a:r>
              <a:rPr lang="en-US" altLang="zh-CN" b="0" i="1" dirty="0">
                <a:solidFill>
                  <a:schemeClr val="tx1"/>
                </a:solidFill>
              </a:rPr>
              <a:t>For example: </a:t>
            </a:r>
            <a:r>
              <a:rPr lang="en-US" altLang="zh-CN" b="0" dirty="0">
                <a:solidFill>
                  <a:schemeClr val="tx1"/>
                </a:solidFill>
              </a:rPr>
              <a:t>Suppose when the market price is $35, a stop-limit order to buy </a:t>
            </a:r>
            <a:r>
              <a:rPr lang="en-US" altLang="zh-CN" b="0" dirty="0" smtClean="0">
                <a:solidFill>
                  <a:schemeClr val="tx1"/>
                </a:solidFill>
              </a:rPr>
              <a:t>is issued </a:t>
            </a:r>
            <a:r>
              <a:rPr lang="en-US" altLang="zh-CN" b="0" dirty="0">
                <a:solidFill>
                  <a:schemeClr val="tx1"/>
                </a:solidFill>
              </a:rPr>
              <a:t>with a stop price of $40 and a limit price of $41. As soon as there is a bid </a:t>
            </a:r>
            <a:r>
              <a:rPr lang="en-US" altLang="zh-CN" b="0" dirty="0" smtClean="0">
                <a:solidFill>
                  <a:schemeClr val="tx1"/>
                </a:solidFill>
              </a:rPr>
              <a:t>or offer </a:t>
            </a:r>
            <a:r>
              <a:rPr lang="en-US" altLang="zh-CN" b="0" dirty="0">
                <a:solidFill>
                  <a:schemeClr val="tx1"/>
                </a:solidFill>
              </a:rPr>
              <a:t>at $40, the stop-limit becomes a limit order at $41.</a:t>
            </a:r>
            <a:endParaRPr lang="zh-CN" altLang="en-US" dirty="0">
              <a:solidFill>
                <a:schemeClr val="tx1"/>
              </a:solidFill>
            </a:endParaRPr>
          </a:p>
        </p:txBody>
      </p:sp>
    </p:spTree>
    <p:extLst>
      <p:ext uri="{BB962C8B-B14F-4D97-AF65-F5344CB8AC3E}">
        <p14:creationId xmlns:p14="http://schemas.microsoft.com/office/powerpoint/2010/main" val="196003640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 Trading Order Types</a:t>
            </a:r>
            <a:endParaRPr lang="zh-CN" altLang="en-US" dirty="0"/>
          </a:p>
        </p:txBody>
      </p:sp>
      <p:sp>
        <p:nvSpPr>
          <p:cNvPr id="3" name="文本占位符 2"/>
          <p:cNvSpPr>
            <a:spLocks noGrp="1"/>
          </p:cNvSpPr>
          <p:nvPr>
            <p:ph type="body" sz="quarter" idx="10"/>
          </p:nvPr>
        </p:nvSpPr>
        <p:spPr/>
        <p:txBody>
          <a:bodyPr>
            <a:normAutofit fontScale="85000" lnSpcReduction="10000"/>
          </a:bodyPr>
          <a:lstStyle/>
          <a:p>
            <a:pPr>
              <a:buFont typeface="Wingdings" panose="05000000000000000000" pitchFamily="2" charset="2"/>
              <a:buChar char="l"/>
            </a:pPr>
            <a:r>
              <a:rPr lang="en-US" altLang="zh-CN" dirty="0" smtClean="0">
                <a:solidFill>
                  <a:schemeClr val="tx1"/>
                </a:solidFill>
              </a:rPr>
              <a:t>Market-if-touched order </a:t>
            </a:r>
            <a:r>
              <a:rPr lang="en-US" altLang="zh-CN" b="0" dirty="0" smtClean="0">
                <a:solidFill>
                  <a:schemeClr val="tx1"/>
                </a:solidFill>
              </a:rPr>
              <a:t>(a.k.a., board order): A market-if-touched (MIT)-order is executed at the best available price after a trade occurs at a specified price or at a price more favorable than the specified price. In effect, an MIT becomes a market order once the specified price has been hit. It enables investors to take profits when favorable price movements occur.</a:t>
            </a:r>
          </a:p>
          <a:p>
            <a:pPr>
              <a:buFont typeface="Wingdings" panose="05000000000000000000" pitchFamily="2" charset="2"/>
              <a:buChar char="l"/>
            </a:pPr>
            <a:r>
              <a:rPr lang="en-US" altLang="zh-CN" dirty="0" smtClean="0">
                <a:solidFill>
                  <a:schemeClr val="tx1"/>
                </a:solidFill>
              </a:rPr>
              <a:t>Discretionary order </a:t>
            </a:r>
            <a:r>
              <a:rPr lang="en-US" altLang="zh-CN" b="0" dirty="0" smtClean="0">
                <a:solidFill>
                  <a:schemeClr val="tx1"/>
                </a:solidFill>
              </a:rPr>
              <a:t>(a.k.a., market-not-held order): A market order except that execution may be delayed at the broker's discretion in an attempt to get a better price</a:t>
            </a:r>
          </a:p>
          <a:p>
            <a:pPr>
              <a:buFont typeface="Wingdings" panose="05000000000000000000" pitchFamily="2" charset="2"/>
              <a:buChar char="l"/>
            </a:pPr>
            <a:r>
              <a:rPr lang="en-US" altLang="zh-CN" dirty="0" smtClean="0">
                <a:solidFill>
                  <a:schemeClr val="tx1"/>
                </a:solidFill>
              </a:rPr>
              <a:t>Fill-or-kill order</a:t>
            </a:r>
            <a:r>
              <a:rPr lang="en-US" altLang="zh-CN" b="0" dirty="0" smtClean="0">
                <a:solidFill>
                  <a:schemeClr val="tx1"/>
                </a:solidFill>
              </a:rPr>
              <a:t>:</a:t>
            </a:r>
            <a:r>
              <a:rPr lang="en-US" altLang="zh-CN" dirty="0" smtClean="0">
                <a:solidFill>
                  <a:schemeClr val="tx1"/>
                </a:solidFill>
              </a:rPr>
              <a:t> </a:t>
            </a:r>
            <a:r>
              <a:rPr lang="en-US" altLang="zh-CN" b="0" dirty="0" smtClean="0">
                <a:solidFill>
                  <a:schemeClr val="tx1"/>
                </a:solidFill>
              </a:rPr>
              <a:t>This order must be executed immediately on receipt or not at all.</a:t>
            </a:r>
          </a:p>
          <a:p>
            <a:pPr>
              <a:buFont typeface="Wingdings" panose="05000000000000000000" pitchFamily="2" charset="2"/>
              <a:buChar char="l"/>
            </a:pPr>
            <a:r>
              <a:rPr lang="en-US" altLang="zh-CN" dirty="0" smtClean="0">
                <a:solidFill>
                  <a:schemeClr val="tx1"/>
                </a:solidFill>
              </a:rPr>
              <a:t>Open order </a:t>
            </a:r>
            <a:r>
              <a:rPr lang="en-US" altLang="zh-CN" b="0" dirty="0" smtClean="0">
                <a:solidFill>
                  <a:schemeClr val="tx1"/>
                </a:solidFill>
              </a:rPr>
              <a:t>(a.k.a., good-till-cancelled order): It is in effect until executed or end of trading in the particular contract</a:t>
            </a:r>
          </a:p>
          <a:p>
            <a:pPr>
              <a:buFont typeface="Wingdings" panose="05000000000000000000" pitchFamily="2" charset="2"/>
              <a:buChar char="l"/>
            </a:pPr>
            <a:r>
              <a:rPr lang="en-US" altLang="zh-CN" dirty="0" smtClean="0">
                <a:solidFill>
                  <a:schemeClr val="tx1"/>
                </a:solidFill>
              </a:rPr>
              <a:t>Time-of-day order</a:t>
            </a:r>
            <a:r>
              <a:rPr lang="en-US" altLang="zh-CN" b="0" dirty="0" smtClean="0">
                <a:solidFill>
                  <a:schemeClr val="tx1"/>
                </a:solidFill>
              </a:rPr>
              <a:t>: Specifies a particular period of time during the day when the order can be executed.</a:t>
            </a:r>
            <a:endParaRPr lang="zh-CN" altLang="en-US" b="0" dirty="0">
              <a:solidFill>
                <a:schemeClr val="tx1"/>
              </a:solidFill>
            </a:endParaRPr>
          </a:p>
        </p:txBody>
      </p:sp>
    </p:spTree>
    <p:extLst>
      <p:ext uri="{BB962C8B-B14F-4D97-AF65-F5344CB8AC3E}">
        <p14:creationId xmlns:p14="http://schemas.microsoft.com/office/powerpoint/2010/main" val="53462877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85000" lnSpcReduction="20000"/>
          </a:bodyPr>
          <a:lstStyle/>
          <a:p>
            <a:r>
              <a:rPr lang="en-US" altLang="zh-CN" b="0" dirty="0" smtClean="0">
                <a:solidFill>
                  <a:srgbClr val="FF0000"/>
                </a:solidFill>
              </a:rPr>
              <a:t>Define </a:t>
            </a:r>
            <a:r>
              <a:rPr lang="en-US" altLang="zh-CN" b="0" dirty="0">
                <a:solidFill>
                  <a:srgbClr val="FF0000"/>
                </a:solidFill>
              </a:rPr>
              <a:t>and describe the key features of a futures </a:t>
            </a:r>
            <a:r>
              <a:rPr lang="en-US" altLang="zh-CN" b="0" dirty="0" smtClean="0">
                <a:solidFill>
                  <a:srgbClr val="FF0000"/>
                </a:solidFill>
              </a:rPr>
              <a:t>contract.</a:t>
            </a:r>
            <a:r>
              <a:rPr lang="en-US" altLang="zh-CN" b="0" dirty="0" smtClean="0">
                <a:solidFill>
                  <a:srgbClr val="FF0000"/>
                </a:solidFill>
                <a:cs typeface="+mn-ea"/>
                <a:sym typeface="+mn-lt"/>
              </a:rPr>
              <a:t>★★</a:t>
            </a:r>
            <a:endParaRPr lang="en-US" altLang="zh-CN" b="0" dirty="0">
              <a:solidFill>
                <a:srgbClr val="FF0000"/>
              </a:solidFill>
            </a:endParaRPr>
          </a:p>
          <a:p>
            <a:r>
              <a:rPr lang="en-US" altLang="zh-CN" b="0" dirty="0" smtClean="0">
                <a:solidFill>
                  <a:srgbClr val="FF0000"/>
                </a:solidFill>
              </a:rPr>
              <a:t>Explain </a:t>
            </a:r>
            <a:r>
              <a:rPr lang="en-US" altLang="zh-CN" b="0" dirty="0">
                <a:solidFill>
                  <a:srgbClr val="FF0000"/>
                </a:solidFill>
              </a:rPr>
              <a:t>the convergence of futures and spot prices.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Explain the operation of a margin account and describe the rationale for margin requirements.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t>Describe the role of a clearinghouse in futures and over-the-counter market transactions. </a:t>
            </a:r>
            <a:r>
              <a:rPr lang="en-US" altLang="zh-CN" b="0" dirty="0" smtClean="0">
                <a:cs typeface="+mn-ea"/>
                <a:sym typeface="+mn-lt"/>
              </a:rPr>
              <a:t>★</a:t>
            </a:r>
            <a:r>
              <a:rPr lang="en-US" altLang="zh-CN" b="0" dirty="0">
                <a:cs typeface="+mn-ea"/>
                <a:sym typeface="+mn-lt"/>
              </a:rPr>
              <a:t>★</a:t>
            </a:r>
            <a:endParaRPr lang="en-US" altLang="zh-CN" b="0" dirty="0"/>
          </a:p>
          <a:p>
            <a:r>
              <a:rPr lang="en-US" altLang="zh-CN" b="0" dirty="0"/>
              <a:t>Describe the role of central counterparties (CCPs) and distinguish between bilateral and centralized clearing. </a:t>
            </a:r>
            <a:r>
              <a:rPr lang="en-US" altLang="zh-CN" b="0" dirty="0" smtClean="0">
                <a:cs typeface="+mn-ea"/>
                <a:sym typeface="+mn-lt"/>
              </a:rPr>
              <a:t>★</a:t>
            </a:r>
            <a:endParaRPr lang="en-US" altLang="zh-CN" b="0" dirty="0"/>
          </a:p>
          <a:p>
            <a:r>
              <a:rPr lang="en-US" altLang="zh-CN" b="0" dirty="0"/>
              <a:t>Describe the role of collateralization in the over-the-counter market and compare it to the margining system. </a:t>
            </a:r>
            <a:r>
              <a:rPr lang="en-US" altLang="zh-CN" b="0" dirty="0" smtClean="0">
                <a:cs typeface="+mn-ea"/>
                <a:sym typeface="+mn-lt"/>
              </a:rPr>
              <a:t>★</a:t>
            </a:r>
            <a:r>
              <a:rPr lang="en-US" altLang="zh-CN" b="0" dirty="0">
                <a:cs typeface="+mn-ea"/>
                <a:sym typeface="+mn-lt"/>
              </a:rPr>
              <a:t>★</a:t>
            </a:r>
            <a:endParaRPr lang="en-US" altLang="zh-CN" b="0" dirty="0"/>
          </a:p>
          <a:p>
            <a:r>
              <a:rPr lang="en-US" altLang="zh-CN" b="0" dirty="0">
                <a:solidFill>
                  <a:srgbClr val="FF0000"/>
                </a:solidFill>
              </a:rPr>
              <a:t>Identify the differences between a normal and inverted futures market.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t>Explain the different market quotes, and describe trading volume and open interest. </a:t>
            </a:r>
            <a:r>
              <a:rPr lang="en-US" altLang="zh-CN" b="0" dirty="0">
                <a:cs typeface="+mn-ea"/>
                <a:sym typeface="+mn-lt"/>
              </a:rPr>
              <a:t>★</a:t>
            </a:r>
            <a:endParaRPr lang="en-US" altLang="zh-CN" b="0" dirty="0"/>
          </a:p>
          <a:p>
            <a:r>
              <a:rPr lang="en-US" altLang="zh-CN" b="0" dirty="0"/>
              <a:t>Describe the mechanics of the delivery process and contrast it with cash settlement. </a:t>
            </a:r>
            <a:r>
              <a:rPr lang="en-US" altLang="zh-CN" b="0" dirty="0">
                <a:cs typeface="+mn-ea"/>
                <a:sym typeface="+mn-lt"/>
              </a:rPr>
              <a:t>★</a:t>
            </a:r>
            <a:endParaRPr lang="en-US" altLang="zh-CN" b="0" dirty="0"/>
          </a:p>
          <a:p>
            <a:r>
              <a:rPr lang="en-US" altLang="zh-CN" b="0" dirty="0">
                <a:solidFill>
                  <a:srgbClr val="FF0000"/>
                </a:solidFill>
              </a:rPr>
              <a:t>Evaluate the impact of different trading order types.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Compare and contrast forward and futures contracts.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endParaRPr lang="zh-CN" altLang="en-US" dirty="0"/>
          </a:p>
        </p:txBody>
      </p:sp>
    </p:spTree>
    <p:extLst>
      <p:ext uri="{BB962C8B-B14F-4D97-AF65-F5344CB8AC3E}">
        <p14:creationId xmlns:p14="http://schemas.microsoft.com/office/powerpoint/2010/main" val="1602822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Hedging strategies using futures</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14996943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Short and Long Hedge</a:t>
            </a:r>
            <a:endParaRPr lang="zh-CN" altLang="en-US" dirty="0"/>
          </a:p>
        </p:txBody>
      </p:sp>
      <p:sp>
        <p:nvSpPr>
          <p:cNvPr id="3" name="文本占位符 2"/>
          <p:cNvSpPr>
            <a:spLocks noGrp="1"/>
          </p:cNvSpPr>
          <p:nvPr>
            <p:ph type="body" sz="quarter" idx="10"/>
          </p:nvPr>
        </p:nvSpPr>
        <p:spPr/>
        <p:txBody>
          <a:bodyPr/>
          <a:lstStyle/>
          <a:p>
            <a:r>
              <a:rPr lang="en-US" altLang="zh-CN" dirty="0"/>
              <a:t>Short hedge</a:t>
            </a:r>
          </a:p>
          <a:p>
            <a:pPr lvl="1"/>
            <a:r>
              <a:rPr lang="en-US" altLang="zh-CN" b="0" dirty="0"/>
              <a:t>A short forward or futures hedge is an agreement to </a:t>
            </a:r>
            <a:r>
              <a:rPr lang="en-US" altLang="zh-CN" b="0" i="1" u="sng" dirty="0"/>
              <a:t>sell in the future </a:t>
            </a:r>
            <a:r>
              <a:rPr lang="en-US" altLang="zh-CN" b="0" dirty="0"/>
              <a:t>and </a:t>
            </a:r>
            <a:r>
              <a:rPr lang="en-US" altLang="zh-CN" b="0" dirty="0" smtClean="0"/>
              <a:t>is appropriate </a:t>
            </a:r>
            <a:r>
              <a:rPr lang="en-US" altLang="zh-CN" b="0" dirty="0"/>
              <a:t>when the hedger </a:t>
            </a:r>
            <a:r>
              <a:rPr lang="en-US" altLang="zh-CN" b="0" i="1" u="sng" dirty="0"/>
              <a:t>already owns the asset</a:t>
            </a:r>
            <a:r>
              <a:rPr lang="en-US" altLang="zh-CN" b="0" u="sng" dirty="0" smtClean="0"/>
              <a:t>.</a:t>
            </a:r>
          </a:p>
          <a:p>
            <a:r>
              <a:rPr lang="en-US" altLang="zh-CN" dirty="0"/>
              <a:t>Long Hedge</a:t>
            </a:r>
          </a:p>
          <a:p>
            <a:pPr lvl="1"/>
            <a:r>
              <a:rPr lang="en-US" altLang="zh-CN" b="0" dirty="0"/>
              <a:t>A long forward or futures hedge is an agreement to </a:t>
            </a:r>
            <a:r>
              <a:rPr lang="en-US" altLang="zh-CN" b="0" i="1" u="sng" dirty="0"/>
              <a:t>buy in the future </a:t>
            </a:r>
            <a:r>
              <a:rPr lang="en-US" altLang="zh-CN" b="0" dirty="0"/>
              <a:t>and </a:t>
            </a:r>
            <a:r>
              <a:rPr lang="en-US" altLang="zh-CN" b="0" dirty="0" smtClean="0"/>
              <a:t>is appropriate </a:t>
            </a:r>
            <a:r>
              <a:rPr lang="en-US" altLang="zh-CN" b="0" dirty="0"/>
              <a:t>when the hedger </a:t>
            </a:r>
            <a:r>
              <a:rPr lang="en-US" altLang="zh-CN" b="0" u="sng" dirty="0"/>
              <a:t>does </a:t>
            </a:r>
            <a:r>
              <a:rPr lang="en-US" altLang="zh-CN" b="0" i="1" u="sng" dirty="0"/>
              <a:t>not currently own the asset </a:t>
            </a:r>
            <a:r>
              <a:rPr lang="en-US" altLang="zh-CN" b="0" dirty="0"/>
              <a:t>but expects </a:t>
            </a:r>
            <a:r>
              <a:rPr lang="en-US" altLang="zh-CN" b="0" dirty="0" smtClean="0"/>
              <a:t>to purchase </a:t>
            </a:r>
            <a:r>
              <a:rPr lang="en-US" altLang="zh-CN" b="0" dirty="0"/>
              <a:t>it in the future</a:t>
            </a:r>
            <a:r>
              <a:rPr lang="en-US" altLang="zh-CN" b="0" dirty="0" smtClean="0"/>
              <a:t>.(lock in a price)</a:t>
            </a:r>
            <a:endParaRPr lang="zh-CN" altLang="en-US" dirty="0"/>
          </a:p>
        </p:txBody>
      </p:sp>
    </p:spTree>
    <p:extLst>
      <p:ext uri="{BB962C8B-B14F-4D97-AF65-F5344CB8AC3E}">
        <p14:creationId xmlns:p14="http://schemas.microsoft.com/office/powerpoint/2010/main" val="408947677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Strip Hedge and Stack Hedge</a:t>
            </a:r>
          </a:p>
        </p:txBody>
      </p:sp>
      <p:sp>
        <p:nvSpPr>
          <p:cNvPr id="3" name="文本占位符 2"/>
          <p:cNvSpPr>
            <a:spLocks noGrp="1"/>
          </p:cNvSpPr>
          <p:nvPr>
            <p:ph type="body" sz="quarter" idx="10"/>
          </p:nvPr>
        </p:nvSpPr>
        <p:spPr/>
        <p:txBody>
          <a:bodyPr/>
          <a:lstStyle/>
          <a:p>
            <a:r>
              <a:rPr lang="en-US" altLang="zh-CN" dirty="0"/>
              <a:t>Strip Hedge and Stack Hedge</a:t>
            </a:r>
          </a:p>
          <a:p>
            <a:pPr lvl="1"/>
            <a:r>
              <a:rPr lang="en-US" altLang="zh-CN" b="1" dirty="0">
                <a:solidFill>
                  <a:srgbClr val="FF0000"/>
                </a:solidFill>
              </a:rPr>
              <a:t>Strip Hedge</a:t>
            </a:r>
            <a:r>
              <a:rPr lang="en-US" altLang="zh-CN" b="0" dirty="0">
                <a:solidFill>
                  <a:srgbClr val="FF0000"/>
                </a:solidFill>
              </a:rPr>
              <a:t>: </a:t>
            </a:r>
            <a:r>
              <a:rPr lang="en-US" altLang="zh-CN" b="0" dirty="0">
                <a:solidFill>
                  <a:schemeClr val="tx1"/>
                </a:solidFill>
              </a:rPr>
              <a:t>Hedge a stream of obligations by offsetting each individual obligation with a futures contract </a:t>
            </a:r>
            <a:r>
              <a:rPr lang="en-US" altLang="zh-CN" b="0" u="sng" dirty="0">
                <a:solidFill>
                  <a:schemeClr val="tx1"/>
                </a:solidFill>
              </a:rPr>
              <a:t>matching the maturity </a:t>
            </a:r>
            <a:r>
              <a:rPr lang="en-US" altLang="zh-CN" b="0" dirty="0">
                <a:solidFill>
                  <a:schemeClr val="tx1"/>
                </a:solidFill>
              </a:rPr>
              <a:t>and quantity of the obligation.</a:t>
            </a:r>
          </a:p>
          <a:p>
            <a:pPr lvl="1"/>
            <a:r>
              <a:rPr lang="en-US" altLang="zh-CN" b="1" dirty="0">
                <a:solidFill>
                  <a:srgbClr val="FF0000"/>
                </a:solidFill>
              </a:rPr>
              <a:t>Stack Hedge: </a:t>
            </a:r>
            <a:r>
              <a:rPr lang="en-US" altLang="zh-CN" b="0" dirty="0">
                <a:solidFill>
                  <a:schemeClr val="tx1"/>
                </a:solidFill>
              </a:rPr>
              <a:t>Hedge using futures with </a:t>
            </a:r>
            <a:r>
              <a:rPr lang="en-US" altLang="zh-CN" b="0" u="sng" dirty="0">
                <a:solidFill>
                  <a:schemeClr val="tx1"/>
                </a:solidFill>
              </a:rPr>
              <a:t>single maturity </a:t>
            </a:r>
            <a:r>
              <a:rPr lang="en-US" altLang="zh-CN" b="0" dirty="0">
                <a:solidFill>
                  <a:schemeClr val="tx1"/>
                </a:solidFill>
              </a:rPr>
              <a:t>to offset changes in the present value of the future obligations.</a:t>
            </a:r>
          </a:p>
          <a:p>
            <a:endParaRPr lang="zh-CN" altLang="en-US" dirty="0"/>
          </a:p>
        </p:txBody>
      </p:sp>
      <p:sp>
        <p:nvSpPr>
          <p:cNvPr id="4" name="文本框 3"/>
          <p:cNvSpPr txBox="1"/>
          <p:nvPr/>
        </p:nvSpPr>
        <p:spPr>
          <a:xfrm>
            <a:off x="827878" y="901597"/>
            <a:ext cx="4757674" cy="508562"/>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308535217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Basis Risk</a:t>
            </a:r>
            <a:endParaRPr lang="zh-CN" altLang="en-US" dirty="0"/>
          </a:p>
        </p:txBody>
      </p:sp>
      <p:sp>
        <p:nvSpPr>
          <p:cNvPr id="3" name="文本占位符 2"/>
          <p:cNvSpPr>
            <a:spLocks noGrp="1"/>
          </p:cNvSpPr>
          <p:nvPr>
            <p:ph type="body" sz="quarter" idx="10"/>
          </p:nvPr>
        </p:nvSpPr>
        <p:spPr/>
        <p:txBody>
          <a:bodyPr/>
          <a:lstStyle/>
          <a:p>
            <a:r>
              <a:rPr lang="en-US" altLang="zh-CN" dirty="0"/>
              <a:t>Define the </a:t>
            </a:r>
            <a:r>
              <a:rPr lang="en-US" altLang="zh-CN" dirty="0" smtClean="0"/>
              <a:t>basis</a:t>
            </a:r>
          </a:p>
          <a:p>
            <a:pPr lvl="1"/>
            <a:r>
              <a:rPr lang="en-US" altLang="zh-CN" b="0" dirty="0"/>
              <a:t>Remember that the basis itself converges to zero over time, as the spot </a:t>
            </a:r>
            <a:r>
              <a:rPr lang="en-US" altLang="zh-CN" b="0" dirty="0" smtClean="0"/>
              <a:t>price converges </a:t>
            </a:r>
            <a:r>
              <a:rPr lang="en-US" altLang="zh-CN" b="0" dirty="0"/>
              <a:t>toward the futures price. We can </a:t>
            </a:r>
            <a:r>
              <a:rPr lang="en-US" altLang="zh-CN" b="0" dirty="0" smtClean="0"/>
              <a:t>represent </a:t>
            </a:r>
            <a:r>
              <a:rPr lang="en-US" altLang="zh-CN" b="0" dirty="0"/>
              <a:t>the basis </a:t>
            </a:r>
            <a:r>
              <a:rPr lang="en-US" altLang="zh-CN" b="0" dirty="0" smtClean="0"/>
              <a:t>as:</a:t>
            </a:r>
          </a:p>
          <a:p>
            <a:pPr marL="609585" lvl="1" indent="0" algn="ctr">
              <a:buNone/>
            </a:pPr>
            <a:r>
              <a:rPr lang="en-US" altLang="zh-CN" b="0" dirty="0" smtClean="0"/>
              <a:t>Basis=Spot price </a:t>
            </a:r>
            <a:r>
              <a:rPr lang="en-US" altLang="zh-CN" b="0" baseline="-25000" dirty="0" smtClean="0"/>
              <a:t>hedged</a:t>
            </a:r>
            <a:r>
              <a:rPr lang="en-US" altLang="zh-CN" b="0" dirty="0" smtClean="0"/>
              <a:t> </a:t>
            </a:r>
            <a:r>
              <a:rPr lang="en-US" altLang="zh-CN" b="0" baseline="-25000" dirty="0" smtClean="0"/>
              <a:t>Asset</a:t>
            </a:r>
            <a:r>
              <a:rPr lang="en-US" altLang="zh-CN" b="0" dirty="0" smtClean="0"/>
              <a:t>-Futures price </a:t>
            </a:r>
            <a:r>
              <a:rPr lang="en-US" altLang="zh-CN" b="0" baseline="-25000" dirty="0" smtClean="0"/>
              <a:t>Futures contract</a:t>
            </a:r>
          </a:p>
          <a:p>
            <a:pPr lvl="1">
              <a:buFont typeface="Wingdings" panose="05000000000000000000" pitchFamily="2" charset="2"/>
              <a:buChar char="ü"/>
            </a:pPr>
            <a:r>
              <a:rPr lang="en-US" altLang="zh-CN" b="0" dirty="0"/>
              <a:t>Financial commodities often express basis risk in the reverse: </a:t>
            </a:r>
            <a:endParaRPr lang="en-US" altLang="zh-CN" b="0" dirty="0" smtClean="0"/>
          </a:p>
          <a:p>
            <a:pPr marL="609585" lvl="1" indent="0" algn="ctr">
              <a:buNone/>
            </a:pPr>
            <a:r>
              <a:rPr lang="en-US" altLang="zh-CN" b="0" dirty="0" smtClean="0"/>
              <a:t>Future </a:t>
            </a:r>
            <a:r>
              <a:rPr lang="en-US" altLang="zh-CN" b="0" dirty="0"/>
              <a:t>price – Spot Price. </a:t>
            </a:r>
            <a:endParaRPr lang="en-US" altLang="zh-CN" b="0" dirty="0" smtClean="0"/>
          </a:p>
          <a:p>
            <a:pPr lvl="1">
              <a:buFont typeface="Wingdings" panose="05000000000000000000" pitchFamily="2" charset="2"/>
              <a:buChar char="ü"/>
            </a:pPr>
            <a:r>
              <a:rPr lang="en-US" altLang="zh-CN" b="0" i="1" u="sng" dirty="0" smtClean="0"/>
              <a:t>The direction </a:t>
            </a:r>
            <a:r>
              <a:rPr lang="en-US" altLang="zh-CN" b="0" i="1" u="sng" dirty="0"/>
              <a:t>of your subtraction is not critical: the basis is the difference in price</a:t>
            </a:r>
            <a:r>
              <a:rPr lang="en-US" altLang="zh-CN" b="0" i="1" u="sng" dirty="0" smtClean="0"/>
              <a:t>.</a:t>
            </a:r>
          </a:p>
          <a:p>
            <a:pPr lvl="1"/>
            <a:r>
              <a:rPr lang="en-US" altLang="zh-CN" b="0" dirty="0" smtClean="0"/>
              <a:t>An </a:t>
            </a:r>
            <a:r>
              <a:rPr lang="en-US" altLang="zh-CN" b="0" dirty="0"/>
              <a:t>increase in the basis is called </a:t>
            </a:r>
            <a:r>
              <a:rPr lang="en-US" altLang="zh-CN" b="0" dirty="0">
                <a:solidFill>
                  <a:srgbClr val="FF0000"/>
                </a:solidFill>
              </a:rPr>
              <a:t>a </a:t>
            </a:r>
            <a:r>
              <a:rPr lang="en-US" altLang="zh-CN" b="0" i="1" dirty="0">
                <a:solidFill>
                  <a:srgbClr val="FF0000"/>
                </a:solidFill>
              </a:rPr>
              <a:t>strengthening </a:t>
            </a:r>
            <a:r>
              <a:rPr lang="en-US" altLang="zh-CN" b="0" dirty="0"/>
              <a:t>of the basis.</a:t>
            </a:r>
          </a:p>
          <a:p>
            <a:pPr lvl="1"/>
            <a:r>
              <a:rPr lang="en-US" altLang="zh-CN" b="0" dirty="0" smtClean="0"/>
              <a:t>A </a:t>
            </a:r>
            <a:r>
              <a:rPr lang="en-US" altLang="zh-CN" b="0" dirty="0"/>
              <a:t>decrease in the basis is called </a:t>
            </a:r>
            <a:r>
              <a:rPr lang="en-US" altLang="zh-CN" b="0" dirty="0">
                <a:solidFill>
                  <a:srgbClr val="FF0000"/>
                </a:solidFill>
              </a:rPr>
              <a:t>a </a:t>
            </a:r>
            <a:r>
              <a:rPr lang="en-US" altLang="zh-CN" b="0" i="1" dirty="0">
                <a:solidFill>
                  <a:srgbClr val="FF0000"/>
                </a:solidFill>
              </a:rPr>
              <a:t>weakening </a:t>
            </a:r>
            <a:r>
              <a:rPr lang="en-US" altLang="zh-CN" b="0" dirty="0"/>
              <a:t>of the basis.</a:t>
            </a:r>
            <a:endParaRPr lang="en-US" altLang="zh-CN" b="0" i="1" u="sng" baseline="-25000" dirty="0" smtClean="0"/>
          </a:p>
        </p:txBody>
      </p:sp>
      <p:sp>
        <p:nvSpPr>
          <p:cNvPr id="4" name="文本框 3"/>
          <p:cNvSpPr txBox="1"/>
          <p:nvPr/>
        </p:nvSpPr>
        <p:spPr>
          <a:xfrm>
            <a:off x="3141420" y="2443958"/>
            <a:ext cx="6509356" cy="508562"/>
          </a:xfrm>
          <a:prstGeom prst="rect">
            <a:avLst/>
          </a:prstGeom>
          <a:noFill/>
          <a:ln w="31750">
            <a:solidFill>
              <a:srgbClr val="FF000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Tree>
    <p:extLst>
      <p:ext uri="{BB962C8B-B14F-4D97-AF65-F5344CB8AC3E}">
        <p14:creationId xmlns:p14="http://schemas.microsoft.com/office/powerpoint/2010/main" val="187409723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Basis Risk</a:t>
            </a:r>
            <a:endParaRPr lang="zh-CN" altLang="en-US" dirty="0"/>
          </a:p>
        </p:txBody>
      </p:sp>
      <p:sp>
        <p:nvSpPr>
          <p:cNvPr id="3" name="文本占位符 2"/>
          <p:cNvSpPr>
            <a:spLocks noGrp="1"/>
          </p:cNvSpPr>
          <p:nvPr>
            <p:ph type="body" sz="quarter" idx="10"/>
          </p:nvPr>
        </p:nvSpPr>
        <p:spPr/>
        <p:txBody>
          <a:bodyPr/>
          <a:lstStyle/>
          <a:p>
            <a:r>
              <a:rPr lang="en-US" altLang="zh-CN" dirty="0">
                <a:solidFill>
                  <a:schemeClr val="tx1"/>
                </a:solidFill>
              </a:rPr>
              <a:t>Long the basis </a:t>
            </a:r>
            <a:r>
              <a:rPr lang="en-US" altLang="zh-CN" b="0" dirty="0">
                <a:solidFill>
                  <a:schemeClr val="tx1"/>
                </a:solidFill>
              </a:rPr>
              <a:t>refers to a set of positions that consists of </a:t>
            </a:r>
            <a:r>
              <a:rPr lang="en-US" altLang="zh-CN" b="0" u="sng" dirty="0">
                <a:solidFill>
                  <a:schemeClr val="tx1"/>
                </a:solidFill>
              </a:rPr>
              <a:t>a short futures position and a long cash position. </a:t>
            </a:r>
            <a:r>
              <a:rPr lang="en-US" altLang="zh-CN" b="0" dirty="0">
                <a:solidFill>
                  <a:schemeClr val="tx1"/>
                </a:solidFill>
              </a:rPr>
              <a:t>Position that are long the basis benefit when the basis is </a:t>
            </a:r>
            <a:r>
              <a:rPr lang="en-US" altLang="zh-CN" b="0" dirty="0">
                <a:solidFill>
                  <a:srgbClr val="FF0000"/>
                </a:solidFill>
              </a:rPr>
              <a:t>strengthening</a:t>
            </a:r>
            <a:r>
              <a:rPr lang="en-US" altLang="zh-CN" b="0" dirty="0">
                <a:solidFill>
                  <a:schemeClr val="tx1"/>
                </a:solidFill>
              </a:rPr>
              <a:t>.</a:t>
            </a:r>
          </a:p>
          <a:p>
            <a:r>
              <a:rPr lang="en-US" altLang="zh-CN" dirty="0">
                <a:solidFill>
                  <a:schemeClr val="tx1"/>
                </a:solidFill>
              </a:rPr>
              <a:t>Short the basis </a:t>
            </a:r>
            <a:r>
              <a:rPr lang="en-US" altLang="zh-CN" b="0" dirty="0">
                <a:solidFill>
                  <a:schemeClr val="tx1"/>
                </a:solidFill>
              </a:rPr>
              <a:t>refers to a set of positions that consists of </a:t>
            </a:r>
            <a:r>
              <a:rPr lang="en-US" altLang="zh-CN" b="0" u="sng" dirty="0">
                <a:solidFill>
                  <a:schemeClr val="tx1"/>
                </a:solidFill>
              </a:rPr>
              <a:t>a long futures position and a short cash position. </a:t>
            </a:r>
            <a:r>
              <a:rPr lang="en-US" altLang="zh-CN" b="0" dirty="0">
                <a:solidFill>
                  <a:schemeClr val="tx1"/>
                </a:solidFill>
              </a:rPr>
              <a:t>Positions that are short the basis benefit when the basis is </a:t>
            </a:r>
            <a:r>
              <a:rPr lang="en-US" altLang="zh-CN" b="0" dirty="0">
                <a:solidFill>
                  <a:srgbClr val="FF0000"/>
                </a:solidFill>
              </a:rPr>
              <a:t>weakening</a:t>
            </a:r>
            <a:r>
              <a:rPr lang="en-US" altLang="zh-CN" b="0" dirty="0">
                <a:solidFill>
                  <a:schemeClr val="tx1"/>
                </a:solidFill>
              </a:rPr>
              <a:t>. </a:t>
            </a:r>
          </a:p>
          <a:p>
            <a:endParaRPr lang="zh-CN" altLang="en-US" dirty="0"/>
          </a:p>
        </p:txBody>
      </p:sp>
    </p:spTree>
    <p:extLst>
      <p:ext uri="{BB962C8B-B14F-4D97-AF65-F5344CB8AC3E}">
        <p14:creationId xmlns:p14="http://schemas.microsoft.com/office/powerpoint/2010/main" val="57989305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Basis Risk</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sz="2600" dirty="0"/>
              <a:t>Sources of basis risk</a:t>
            </a:r>
          </a:p>
          <a:p>
            <a:pPr lvl="1"/>
            <a:r>
              <a:rPr lang="en-US" altLang="zh-CN" sz="2400" b="1" dirty="0"/>
              <a:t>Choice of the contract</a:t>
            </a:r>
            <a:r>
              <a:rPr lang="en-US" altLang="zh-CN" sz="2400" dirty="0"/>
              <a:t>: </a:t>
            </a:r>
            <a:r>
              <a:rPr lang="en-US" altLang="zh-CN" sz="2400" u="sng" dirty="0"/>
              <a:t>It is the key factor affecting basis risk and has two components</a:t>
            </a:r>
            <a:r>
              <a:rPr lang="en-US" altLang="zh-CN" sz="2400" dirty="0"/>
              <a:t>:</a:t>
            </a:r>
          </a:p>
          <a:p>
            <a:pPr lvl="1"/>
            <a:r>
              <a:rPr lang="en-US" altLang="zh-CN" sz="2400" b="1" dirty="0" smtClean="0"/>
              <a:t>The </a:t>
            </a:r>
            <a:r>
              <a:rPr lang="en-US" altLang="zh-CN" sz="2400" b="1" dirty="0"/>
              <a:t>choice of the </a:t>
            </a:r>
            <a:r>
              <a:rPr lang="en-US" altLang="zh-CN" sz="2400" b="1" dirty="0">
                <a:solidFill>
                  <a:srgbClr val="FF0000"/>
                </a:solidFill>
              </a:rPr>
              <a:t>asset underlying </a:t>
            </a:r>
            <a:r>
              <a:rPr lang="en-US" altLang="zh-CN" sz="2400" b="1" dirty="0"/>
              <a:t>the futures contract:</a:t>
            </a:r>
            <a:r>
              <a:rPr lang="en-US" altLang="zh-CN" sz="2400" dirty="0"/>
              <a:t> If the asset </a:t>
            </a:r>
            <a:r>
              <a:rPr lang="en-US" altLang="zh-CN" sz="2400" dirty="0" smtClean="0"/>
              <a:t>being hedged </a:t>
            </a:r>
            <a:r>
              <a:rPr lang="en-US" altLang="zh-CN" sz="2400" dirty="0"/>
              <a:t>does not exactly match an asset underlying a futures contract, it is </a:t>
            </a:r>
            <a:r>
              <a:rPr lang="en-US" altLang="zh-CN" sz="2400" dirty="0" smtClean="0"/>
              <a:t>necessary to </a:t>
            </a:r>
            <a:r>
              <a:rPr lang="en-US" altLang="zh-CN" sz="2400" dirty="0"/>
              <a:t>carry out a careful analysis to determine which of the available futures </a:t>
            </a:r>
            <a:r>
              <a:rPr lang="en-US" altLang="zh-CN" sz="2400" dirty="0" smtClean="0"/>
              <a:t>contracts has </a:t>
            </a:r>
            <a:r>
              <a:rPr lang="en-US" altLang="zh-CN" sz="2400" dirty="0"/>
              <a:t>futures prices that are most closely correlated with the price of the asset </a:t>
            </a:r>
            <a:r>
              <a:rPr lang="en-US" altLang="zh-CN" sz="2400" dirty="0" smtClean="0"/>
              <a:t>being hedged</a:t>
            </a:r>
            <a:r>
              <a:rPr lang="en-US" altLang="zh-CN" sz="2400" dirty="0"/>
              <a:t>.</a:t>
            </a:r>
          </a:p>
          <a:p>
            <a:pPr lvl="1"/>
            <a:r>
              <a:rPr lang="en-US" altLang="zh-CN" sz="2400" b="1" dirty="0" smtClean="0"/>
              <a:t>The </a:t>
            </a:r>
            <a:r>
              <a:rPr lang="en-US" altLang="zh-CN" sz="2400" b="1" dirty="0"/>
              <a:t>choice of the </a:t>
            </a:r>
            <a:r>
              <a:rPr lang="en-US" altLang="zh-CN" sz="2400" b="1" dirty="0">
                <a:solidFill>
                  <a:srgbClr val="FF0000"/>
                </a:solidFill>
              </a:rPr>
              <a:t>delivery month</a:t>
            </a:r>
            <a:r>
              <a:rPr lang="en-US" altLang="zh-CN" sz="2400" b="1" dirty="0"/>
              <a:t>: </a:t>
            </a:r>
            <a:r>
              <a:rPr lang="en-US" altLang="zh-CN" sz="2400" dirty="0"/>
              <a:t>In general, basis risk increases as the </a:t>
            </a:r>
            <a:r>
              <a:rPr lang="en-US" altLang="zh-CN" sz="2400" dirty="0" smtClean="0"/>
              <a:t>time difference </a:t>
            </a:r>
            <a:r>
              <a:rPr lang="en-US" altLang="zh-CN" sz="2400" dirty="0"/>
              <a:t>between the hedge expiration and the delivery month </a:t>
            </a:r>
            <a:r>
              <a:rPr lang="en-US" altLang="zh-CN" sz="2400" dirty="0" smtClean="0"/>
              <a:t>increases. Therefore</a:t>
            </a:r>
            <a:r>
              <a:rPr lang="en-US" altLang="zh-CN" sz="2400" dirty="0"/>
              <a:t>, it is good to choose a delivery month that is as close as possible to, </a:t>
            </a:r>
            <a:r>
              <a:rPr lang="en-US" altLang="zh-CN" sz="2400" dirty="0" smtClean="0"/>
              <a:t>but later </a:t>
            </a:r>
            <a:r>
              <a:rPr lang="en-US" altLang="zh-CN" sz="2400" dirty="0"/>
              <a:t>than, the expiration of the hedge.</a:t>
            </a:r>
            <a:endParaRPr lang="zh-CN" altLang="en-US" sz="2400" dirty="0"/>
          </a:p>
        </p:txBody>
      </p:sp>
    </p:spTree>
    <p:extLst>
      <p:ext uri="{BB962C8B-B14F-4D97-AF65-F5344CB8AC3E}">
        <p14:creationId xmlns:p14="http://schemas.microsoft.com/office/powerpoint/2010/main" val="301353405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dirty="0" smtClean="0"/>
              <a:t>Minimum Variance Hedge Ratio</a:t>
            </a:r>
            <a:r>
              <a:rPr lang="en-US" altLang="zh-CN" b="0" dirty="0"/>
              <a:t>(MVR)</a:t>
            </a:r>
            <a:endParaRPr lang="zh-CN" altLang="en-US" dirty="0"/>
          </a:p>
        </p:txBody>
      </p:sp>
      <p:sp>
        <p:nvSpPr>
          <p:cNvPr id="3" name="文本占位符 2"/>
          <p:cNvSpPr>
            <a:spLocks noGrp="1"/>
          </p:cNvSpPr>
          <p:nvPr>
            <p:ph type="body" sz="quarter" idx="10"/>
          </p:nvPr>
        </p:nvSpPr>
        <p:spPr/>
        <p:txBody>
          <a:bodyPr/>
          <a:lstStyle/>
          <a:p>
            <a:r>
              <a:rPr lang="en-US" altLang="zh-CN" dirty="0"/>
              <a:t>Hedging with Futures Contract</a:t>
            </a:r>
          </a:p>
          <a:p>
            <a:pPr lvl="1">
              <a:lnSpc>
                <a:spcPct val="140000"/>
              </a:lnSpc>
              <a:spcBef>
                <a:spcPct val="0"/>
              </a:spcBef>
            </a:pPr>
            <a:r>
              <a:rPr lang="en-US" altLang="zh-CN" b="1" dirty="0"/>
              <a:t>Minimum Variance Hedge Ratio</a:t>
            </a:r>
          </a:p>
          <a:p>
            <a:pPr lvl="2">
              <a:lnSpc>
                <a:spcPct val="140000"/>
              </a:lnSpc>
              <a:spcBef>
                <a:spcPct val="0"/>
              </a:spcBef>
            </a:pPr>
            <a:r>
              <a:rPr lang="en-US" altLang="zh-CN" dirty="0"/>
              <a:t>The minimum variance hedge ratio depends on the relationship between changes in the spot price and changes in the futures price. By using it, we can </a:t>
            </a:r>
            <a:r>
              <a:rPr lang="en-US" altLang="zh-CN" u="sng" dirty="0"/>
              <a:t>form a hedged position with minimum variance</a:t>
            </a:r>
            <a:r>
              <a:rPr lang="en-US" altLang="zh-CN" dirty="0"/>
              <a:t>.</a:t>
            </a:r>
          </a:p>
          <a:p>
            <a:pPr marL="0" indent="0">
              <a:buNone/>
            </a:pPr>
            <a:endParaRPr lang="zh-CN" altLang="en-US" dirty="0"/>
          </a:p>
        </p:txBody>
      </p:sp>
      <p:pic>
        <p:nvPicPr>
          <p:cNvPr id="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8235" y="3437263"/>
            <a:ext cx="4206687" cy="303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文本框 4"/>
              <p:cNvSpPr txBox="1"/>
              <p:nvPr/>
            </p:nvSpPr>
            <p:spPr>
              <a:xfrm>
                <a:off x="6275483" y="3437263"/>
                <a:ext cx="1689712" cy="672172"/>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b="1" i="1" dirty="0" smtClean="0">
                              <a:solidFill>
                                <a:schemeClr val="tx1"/>
                              </a:solidFill>
                              <a:latin typeface="Cambria Math"/>
                              <a:ea typeface="微软雅黑" panose="020B0503020204020204" pitchFamily="34" charset="-122"/>
                              <a:cs typeface="Segoe UI" panose="020B0502040204020203" pitchFamily="34" charset="0"/>
                            </a:rPr>
                          </m:ctrlPr>
                        </m:sSupPr>
                        <m:e>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𝐡</m:t>
                          </m:r>
                        </m:e>
                        <m:sup>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1" i="1" dirty="0">
                              <a:solidFill>
                                <a:schemeClr val="tx1"/>
                              </a:solidFill>
                              <a:latin typeface="Cambria Math"/>
                              <a:ea typeface="微软雅黑" panose="020B0503020204020204" pitchFamily="34" charset="-122"/>
                              <a:cs typeface="Segoe UI" panose="020B0502040204020203" pitchFamily="34" charset="0"/>
                            </a:rPr>
                          </m:ctrlPr>
                        </m:sSubPr>
                        <m:e>
                          <m:r>
                            <a:rPr lang="zh-CN" altLang="en-US"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𝛒</m:t>
                          </m:r>
                        </m:e>
                        <m:sub>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𝐒</m:t>
                          </m:r>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𝐅</m:t>
                          </m:r>
                        </m:sub>
                      </m:sSub>
                      <m:f>
                        <m:fPr>
                          <m:ctrlPr>
                            <a:rPr lang="en-US" altLang="zh-CN" sz="2000" b="1" i="1" dirty="0">
                              <a:solidFill>
                                <a:schemeClr val="tx1"/>
                              </a:solidFill>
                              <a:latin typeface="Cambria Math"/>
                              <a:ea typeface="微软雅黑" panose="020B0503020204020204" pitchFamily="34" charset="-122"/>
                              <a:cs typeface="Segoe UI" panose="020B0502040204020203" pitchFamily="34" charset="0"/>
                            </a:rPr>
                          </m:ctrlPr>
                        </m:fPr>
                        <m:num>
                          <m:sSub>
                            <m:sSubPr>
                              <m:ctrlPr>
                                <a:rPr lang="en-US" altLang="zh-CN" sz="2000" b="1" i="1" dirty="0">
                                  <a:solidFill>
                                    <a:schemeClr val="tx1"/>
                                  </a:solidFill>
                                  <a:latin typeface="Cambria Math"/>
                                  <a:ea typeface="微软雅黑" panose="020B0503020204020204" pitchFamily="34" charset="-122"/>
                                  <a:cs typeface="Segoe UI" panose="020B0502040204020203" pitchFamily="34" charset="0"/>
                                </a:rPr>
                              </m:ctrlPr>
                            </m:sSubPr>
                            <m:e>
                              <m:r>
                                <a:rPr lang="zh-CN" altLang="en-US"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𝛔</m:t>
                              </m:r>
                            </m:e>
                            <m:sub>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𝐒</m:t>
                              </m:r>
                            </m:sub>
                          </m:sSub>
                        </m:num>
                        <m:den>
                          <m:sSub>
                            <m:sSubPr>
                              <m:ctrlPr>
                                <a:rPr lang="en-US" altLang="zh-CN" sz="2000" b="1" i="1" dirty="0">
                                  <a:solidFill>
                                    <a:schemeClr val="tx1"/>
                                  </a:solidFill>
                                  <a:latin typeface="Cambria Math"/>
                                  <a:ea typeface="微软雅黑" panose="020B0503020204020204" pitchFamily="34" charset="-122"/>
                                  <a:cs typeface="Segoe UI" panose="020B0502040204020203" pitchFamily="34" charset="0"/>
                                </a:rPr>
                              </m:ctrlPr>
                            </m:sSubPr>
                            <m:e>
                              <m:r>
                                <a:rPr lang="zh-CN" altLang="en-US"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𝛔</m:t>
                              </m:r>
                            </m:e>
                            <m:sub>
                              <m:r>
                                <a:rPr lang="en-US" altLang="zh-CN" sz="2000" b="1"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𝐅</m:t>
                              </m:r>
                            </m:sub>
                          </m:sSub>
                        </m:den>
                      </m:f>
                    </m:oMath>
                  </m:oMathPara>
                </a14:m>
                <a:endParaRPr lang="zh-CN" altLang="en-US" sz="1800" b="1"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275483" y="3437263"/>
                <a:ext cx="1689712" cy="672172"/>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209698" y="4200593"/>
                <a:ext cx="5093924" cy="1798506"/>
              </a:xfrm>
              <a:prstGeom prst="rect">
                <a:avLst/>
              </a:prstGeom>
              <a:noFill/>
              <a:ln>
                <a:solidFill>
                  <a:schemeClr val="accent3"/>
                </a:solidFill>
              </a:ln>
            </p:spPr>
            <p:txBody>
              <a:bodyPr wrap="square" rtlCol="0">
                <a:spAutoFit/>
              </a:bodyPr>
              <a:lstStyle/>
              <a:p>
                <a:r>
                  <a:rPr lang="en-US" altLang="zh-CN" dirty="0" smtClean="0">
                    <a:solidFill>
                      <a:schemeClr val="accent6">
                        <a:lumMod val="50000"/>
                      </a:schemeClr>
                    </a:solidFill>
                  </a:rPr>
                  <a:t>where </a:t>
                </a:r>
                <a14:m>
                  <m:oMath xmlns:m="http://schemas.openxmlformats.org/officeDocument/2006/math">
                    <m:sSub>
                      <m:sSubPr>
                        <m:ctrlPr>
                          <a:rPr lang="en-US" altLang="zh-CN" i="1" dirty="0" smtClean="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m:t>
                        </m:r>
                      </m:sub>
                    </m:sSub>
                  </m:oMath>
                </a14:m>
                <a:r>
                  <a:rPr lang="en-US" altLang="zh-CN" dirty="0" smtClean="0">
                    <a:solidFill>
                      <a:schemeClr val="accent6">
                        <a:lumMod val="50000"/>
                      </a:schemeClr>
                    </a:solidFill>
                  </a:rPr>
                  <a:t> is </a:t>
                </a:r>
                <a:r>
                  <a:rPr lang="en-US" altLang="zh-CN" dirty="0">
                    <a:solidFill>
                      <a:schemeClr val="accent6">
                        <a:lumMod val="50000"/>
                      </a:schemeClr>
                    </a:solidFill>
                  </a:rPr>
                  <a:t>the standard deviation of the changes in the spot </a:t>
                </a:r>
                <a:r>
                  <a:rPr lang="en-US" altLang="zh-CN" dirty="0" smtClean="0">
                    <a:solidFill>
                      <a:schemeClr val="accent6">
                        <a:lumMod val="50000"/>
                      </a:schemeClr>
                    </a:solidFill>
                  </a:rPr>
                  <a:t>price(ΔS) </a:t>
                </a:r>
                <a:r>
                  <a:rPr lang="en-US" altLang="zh-CN" dirty="0">
                    <a:solidFill>
                      <a:schemeClr val="accent6">
                        <a:lumMod val="50000"/>
                      </a:schemeClr>
                    </a:solidFill>
                  </a:rPr>
                  <a:t>of the asset we are</a:t>
                </a:r>
              </a:p>
              <a:p>
                <a:r>
                  <a:rPr lang="en-US" altLang="zh-CN" dirty="0">
                    <a:solidFill>
                      <a:schemeClr val="accent6">
                        <a:lumMod val="50000"/>
                      </a:schemeClr>
                    </a:solidFill>
                  </a:rPr>
                  <a:t>hedging</a:t>
                </a:r>
                <a:r>
                  <a:rPr lang="en-US" altLang="zh-CN" dirty="0" smtClean="0">
                    <a:solidFill>
                      <a:schemeClr val="accent6">
                        <a:lumMod val="50000"/>
                      </a:schemeClr>
                    </a:solidFill>
                  </a:rPr>
                  <a:t>, </a:t>
                </a:r>
                <a14:m>
                  <m:oMath xmlns:m="http://schemas.openxmlformats.org/officeDocument/2006/math">
                    <m:sSub>
                      <m:sSubPr>
                        <m:ctrlPr>
                          <a:rPr lang="en-US" altLang="zh-CN"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b="0" i="1"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b="0" i="1"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sub>
                    </m:sSub>
                  </m:oMath>
                </a14:m>
                <a:r>
                  <a:rPr lang="zh-CN" altLang="en-US" dirty="0">
                    <a:solidFill>
                      <a:schemeClr val="accent6">
                        <a:lumMod val="50000"/>
                      </a:schemeClr>
                    </a:solidFill>
                  </a:rPr>
                  <a:t> </a:t>
                </a:r>
                <a:r>
                  <a:rPr lang="en-US" altLang="zh-CN" dirty="0">
                    <a:solidFill>
                      <a:schemeClr val="accent6">
                        <a:lumMod val="50000"/>
                      </a:schemeClr>
                    </a:solidFill>
                  </a:rPr>
                  <a:t>is the standard deviation of the changes in the futures </a:t>
                </a:r>
                <a:r>
                  <a:rPr lang="en-US" altLang="zh-CN" dirty="0" smtClean="0">
                    <a:solidFill>
                      <a:schemeClr val="accent6">
                        <a:lumMod val="50000"/>
                      </a:schemeClr>
                    </a:solidFill>
                  </a:rPr>
                  <a:t>prices(ΔF), </a:t>
                </a:r>
                <a:r>
                  <a:rPr lang="en-US" altLang="zh-CN" dirty="0">
                    <a:solidFill>
                      <a:schemeClr val="accent6">
                        <a:lumMod val="50000"/>
                      </a:schemeClr>
                    </a:solidFill>
                  </a:rPr>
                  <a:t>and </a:t>
                </a:r>
                <a14:m>
                  <m:oMath xmlns:m="http://schemas.openxmlformats.org/officeDocument/2006/math">
                    <m:sSub>
                      <m:sSubPr>
                        <m:ctrlPr>
                          <a:rPr lang="en-US" altLang="zh-CN"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b="0" i="1"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ρ</m:t>
                        </m:r>
                      </m:e>
                      <m:sub>
                        <m:r>
                          <m:rPr>
                            <m:sty m:val="p"/>
                          </m:rPr>
                          <a:rPr lang="en-US" altLang="zh-CN" b="0" i="1"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m:t>
                        </m:r>
                        <m:r>
                          <a:rPr lang="en-US" altLang="zh-CN"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b="0" i="1"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sub>
                    </m:sSub>
                  </m:oMath>
                </a14:m>
                <a:r>
                  <a:rPr lang="en-US" altLang="zh-CN" dirty="0">
                    <a:solidFill>
                      <a:schemeClr val="accent6">
                        <a:lumMod val="50000"/>
                      </a:schemeClr>
                    </a:solidFill>
                  </a:rPr>
                  <a:t>is </a:t>
                </a:r>
                <a:r>
                  <a:rPr lang="en-US" altLang="zh-CN" dirty="0" smtClean="0">
                    <a:solidFill>
                      <a:schemeClr val="accent6">
                        <a:lumMod val="50000"/>
                      </a:schemeClr>
                    </a:solidFill>
                  </a:rPr>
                  <a:t>the coefficient </a:t>
                </a:r>
                <a:r>
                  <a:rPr lang="en-US" altLang="zh-CN" dirty="0">
                    <a:solidFill>
                      <a:schemeClr val="accent6">
                        <a:lumMod val="50000"/>
                      </a:schemeClr>
                    </a:solidFill>
                  </a:rPr>
                  <a:t>of correlation between the two price changes.</a:t>
                </a:r>
                <a:endParaRPr lang="zh-CN" altLang="en-US" dirty="0">
                  <a:solidFill>
                    <a:schemeClr val="accent6">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6209698" y="4200593"/>
                <a:ext cx="5093924" cy="1798506"/>
              </a:xfrm>
              <a:prstGeom prst="rect">
                <a:avLst/>
              </a:prstGeom>
              <a:blipFill>
                <a:blip r:embed="rId4"/>
                <a:stretch>
                  <a:fillRect l="-956" t="-1010" r="-239" b="-2357"/>
                </a:stretch>
              </a:blipFill>
              <a:ln>
                <a:solidFill>
                  <a:schemeClr val="accent3"/>
                </a:solidFill>
              </a:ln>
            </p:spPr>
            <p:txBody>
              <a:bodyPr/>
              <a:lstStyle/>
              <a:p>
                <a:r>
                  <a:rPr lang="zh-CN" altLang="en-US">
                    <a:noFill/>
                  </a:rPr>
                  <a:t> </a:t>
                </a:r>
              </a:p>
            </p:txBody>
          </p:sp>
        </mc:Fallback>
      </mc:AlternateContent>
    </p:spTree>
    <p:extLst>
      <p:ext uri="{BB962C8B-B14F-4D97-AF65-F5344CB8AC3E}">
        <p14:creationId xmlns:p14="http://schemas.microsoft.com/office/powerpoint/2010/main" val="149107943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Minimum Variance Hedge Ratio(MVR)</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sz="2000" dirty="0" smtClean="0">
                    <a:solidFill>
                      <a:schemeClr val="tx1"/>
                    </a:solidFill>
                  </a:rPr>
                  <a:t>IMPORTANT CONCEPT: </a:t>
                </a:r>
                <a:r>
                  <a:rPr lang="en-US" altLang="zh-CN" sz="2000" b="0" dirty="0">
                    <a:solidFill>
                      <a:schemeClr val="tx1"/>
                    </a:solidFill>
                  </a:rPr>
                  <a:t>The minimum variance ratio is the slope of the </a:t>
                </a:r>
                <a:r>
                  <a:rPr lang="en-US" altLang="zh-CN" sz="2000" b="0" dirty="0" smtClean="0">
                    <a:solidFill>
                      <a:schemeClr val="tx1"/>
                    </a:solidFill>
                  </a:rPr>
                  <a:t>regression line </a:t>
                </a:r>
                <a:r>
                  <a:rPr lang="en-US" altLang="zh-CN" sz="2000" b="0" dirty="0">
                    <a:solidFill>
                      <a:schemeClr val="tx1"/>
                    </a:solidFill>
                  </a:rPr>
                  <a:t>of </a:t>
                </a:r>
                <a:r>
                  <a:rPr lang="en-US" altLang="zh-CN" sz="2000" b="0" dirty="0" smtClean="0">
                    <a:solidFill>
                      <a:schemeClr val="tx1"/>
                    </a:solidFill>
                  </a:rPr>
                  <a:t>ΔS</a:t>
                </a:r>
                <a:r>
                  <a:rPr lang="zh-CN" altLang="en-US" sz="2000" b="0" dirty="0" smtClean="0">
                    <a:solidFill>
                      <a:schemeClr val="tx1"/>
                    </a:solidFill>
                  </a:rPr>
                  <a:t> </a:t>
                </a:r>
                <a:r>
                  <a:rPr lang="en-US" altLang="zh-CN" sz="2000" b="0" dirty="0">
                    <a:solidFill>
                      <a:schemeClr val="tx1"/>
                    </a:solidFill>
                  </a:rPr>
                  <a:t>against </a:t>
                </a:r>
                <a:r>
                  <a:rPr lang="en-US" altLang="zh-CN" sz="2000" b="0" dirty="0" smtClean="0">
                    <a:solidFill>
                      <a:schemeClr val="tx1"/>
                    </a:solidFill>
                  </a:rPr>
                  <a:t>ΔF</a:t>
                </a:r>
                <a:r>
                  <a:rPr lang="zh-CN" altLang="en-US" sz="2000" b="0" dirty="0" smtClean="0">
                    <a:solidFill>
                      <a:schemeClr val="tx1"/>
                    </a:solidFill>
                  </a:rPr>
                  <a:t> </a:t>
                </a:r>
                <a:r>
                  <a:rPr lang="en-US" altLang="zh-CN" sz="2000" b="0" dirty="0">
                    <a:solidFill>
                      <a:schemeClr val="tx1"/>
                    </a:solidFill>
                  </a:rPr>
                  <a:t>and is the optimal hedge ratio. Note that the correlation can </a:t>
                </a:r>
                <a:r>
                  <a:rPr lang="en-US" altLang="zh-CN" sz="2000" b="0" dirty="0" smtClean="0">
                    <a:solidFill>
                      <a:schemeClr val="tx1"/>
                    </a:solidFill>
                  </a:rPr>
                  <a:t>take on </a:t>
                </a:r>
                <a:r>
                  <a:rPr lang="en-US" altLang="zh-CN" sz="2000" b="0" dirty="0">
                    <a:solidFill>
                      <a:schemeClr val="tx1"/>
                    </a:solidFill>
                  </a:rPr>
                  <a:t>a range of different values and does not need to equal 1 in order for the hedge </a:t>
                </a:r>
                <a:r>
                  <a:rPr lang="en-US" altLang="zh-CN" sz="2000" b="0" dirty="0" smtClean="0">
                    <a:solidFill>
                      <a:schemeClr val="tx1"/>
                    </a:solidFill>
                  </a:rPr>
                  <a:t>to be optimal. </a:t>
                </a:r>
                <a:r>
                  <a:rPr lang="en-US" altLang="zh-CN" sz="2000" dirty="0" smtClean="0">
                    <a:solidFill>
                      <a:schemeClr val="tx1"/>
                    </a:solidFill>
                  </a:rPr>
                  <a:t>The hedge effectiveness</a:t>
                </a:r>
                <a:r>
                  <a:rPr lang="en-US" altLang="zh-CN" sz="2000" b="0" i="1" dirty="0" smtClean="0">
                    <a:solidFill>
                      <a:schemeClr val="tx1"/>
                    </a:solidFill>
                  </a:rPr>
                  <a:t>, </a:t>
                </a:r>
                <a:r>
                  <a:rPr lang="en-US" altLang="zh-CN" sz="2000" b="0" dirty="0">
                    <a:solidFill>
                      <a:schemeClr val="tx1"/>
                    </a:solidFill>
                  </a:rPr>
                  <a:t>that is, just how good our hedge is, is defined as the </a:t>
                </a:r>
                <a:r>
                  <a:rPr lang="en-US" altLang="zh-CN" sz="2000" b="0" dirty="0" smtClean="0">
                    <a:solidFill>
                      <a:schemeClr val="tx1"/>
                    </a:solidFill>
                  </a:rPr>
                  <a:t>proportion of </a:t>
                </a:r>
                <a:r>
                  <a:rPr lang="en-US" altLang="zh-CN" sz="2000" b="0" dirty="0">
                    <a:solidFill>
                      <a:schemeClr val="tx1"/>
                    </a:solidFill>
                  </a:rPr>
                  <a:t>the variance that is eliminated by hedging. It can be measured by a regression of </a:t>
                </a:r>
                <a:r>
                  <a:rPr lang="en-US" altLang="zh-CN" sz="2000" b="0" dirty="0" smtClean="0">
                    <a:solidFill>
                      <a:schemeClr val="tx1"/>
                    </a:solidFill>
                  </a:rPr>
                  <a:t>the change </a:t>
                </a:r>
                <a:r>
                  <a:rPr lang="en-US" altLang="zh-CN" sz="2000" b="0" dirty="0">
                    <a:solidFill>
                      <a:schemeClr val="tx1"/>
                    </a:solidFill>
                  </a:rPr>
                  <a:t>in spot prices against the change in futures prices, typically using historical, </a:t>
                </a:r>
                <a:r>
                  <a:rPr lang="en-US" altLang="zh-CN" sz="2000" b="0" u="sng" dirty="0" smtClean="0">
                    <a:solidFill>
                      <a:schemeClr val="tx1"/>
                    </a:solidFill>
                  </a:rPr>
                  <a:t>non-overlapping data(</a:t>
                </a:r>
                <a:r>
                  <a:rPr lang="zh-CN" altLang="en-US" sz="2000" b="0" u="sng" dirty="0" smtClean="0">
                    <a:solidFill>
                      <a:schemeClr val="tx1"/>
                    </a:solidFill>
                  </a:rPr>
                  <a:t>非重叠数据）</a:t>
                </a:r>
                <a:r>
                  <a:rPr lang="en-US" altLang="zh-CN" sz="2000" b="0" dirty="0" smtClean="0">
                    <a:solidFill>
                      <a:schemeClr val="tx1"/>
                    </a:solidFill>
                  </a:rPr>
                  <a:t>. </a:t>
                </a:r>
                <a:r>
                  <a:rPr lang="en-US" altLang="zh-CN" sz="2000" b="0" dirty="0">
                    <a:solidFill>
                      <a:schemeClr val="tx1"/>
                    </a:solidFill>
                  </a:rPr>
                  <a:t>The resulting </a:t>
                </a:r>
                <a:r>
                  <a:rPr lang="en-US" altLang="zh-CN" sz="2000" b="0" dirty="0" smtClean="0">
                    <a:solidFill>
                      <a:schemeClr val="tx1"/>
                    </a:solidFill>
                  </a:rPr>
                  <a:t>R</a:t>
                </a:r>
                <a:r>
                  <a:rPr lang="en-US" altLang="zh-CN" sz="2000" b="0" baseline="30000" dirty="0" smtClean="0">
                    <a:solidFill>
                      <a:schemeClr val="tx1"/>
                    </a:solidFill>
                  </a:rPr>
                  <a:t>2</a:t>
                </a:r>
                <a:r>
                  <a:rPr lang="en-US" altLang="zh-CN" sz="2000" b="0" dirty="0" smtClean="0">
                    <a:solidFill>
                      <a:schemeClr val="tx1"/>
                    </a:solidFill>
                  </a:rPr>
                  <a:t>=</a:t>
                </a:r>
                <a14:m>
                  <m:oMath xmlns:m="http://schemas.openxmlformats.org/officeDocument/2006/math">
                    <m:sSub>
                      <m:sSubPr>
                        <m:ctrlPr>
                          <a:rPr lang="en-US" altLang="zh-CN" sz="2000" b="0" i="1" dirty="0">
                            <a:solidFill>
                              <a:schemeClr val="tx1"/>
                            </a:solidFill>
                            <a:latin typeface="Cambria Math"/>
                          </a:rPr>
                        </m:ctrlPr>
                      </m:sSubPr>
                      <m:e>
                        <m:r>
                          <a:rPr lang="zh-CN" altLang="en-US" sz="2000" b="0" i="1" dirty="0">
                            <a:solidFill>
                              <a:schemeClr val="tx1"/>
                            </a:solidFill>
                            <a:latin typeface="Cambria Math" panose="02040503050406030204" pitchFamily="18" charset="0"/>
                          </a:rPr>
                          <m:t>𝜌</m:t>
                        </m:r>
                        <m:r>
                          <a:rPr lang="en-US" altLang="zh-CN" sz="2000" b="0" i="0" baseline="30000" dirty="0" smtClean="0">
                            <a:solidFill>
                              <a:schemeClr val="tx1"/>
                            </a:solidFill>
                            <a:latin typeface="Cambria Math" panose="02040503050406030204" pitchFamily="18" charset="0"/>
                          </a:rPr>
                          <m:t>2</m:t>
                        </m:r>
                      </m:e>
                      <m:sub>
                        <m:r>
                          <a:rPr lang="en-US" altLang="zh-CN" sz="2000" b="0" i="1" dirty="0">
                            <a:solidFill>
                              <a:schemeClr val="tx1"/>
                            </a:solidFill>
                            <a:latin typeface="Cambria Math" panose="02040503050406030204" pitchFamily="18" charset="0"/>
                          </a:rPr>
                          <m:t>𝑆</m:t>
                        </m:r>
                        <m:r>
                          <a:rPr lang="en-US" altLang="zh-CN" sz="2000" b="0" dirty="0">
                            <a:solidFill>
                              <a:schemeClr val="tx1"/>
                            </a:solidFill>
                            <a:latin typeface="Cambria Math" panose="02040503050406030204" pitchFamily="18" charset="0"/>
                          </a:rPr>
                          <m:t>,</m:t>
                        </m:r>
                        <m:r>
                          <a:rPr lang="en-US" altLang="zh-CN" sz="2000" b="0" i="1" dirty="0">
                            <a:solidFill>
                              <a:schemeClr val="tx1"/>
                            </a:solidFill>
                            <a:latin typeface="Cambria Math" panose="02040503050406030204" pitchFamily="18" charset="0"/>
                          </a:rPr>
                          <m:t>𝐹</m:t>
                        </m:r>
                      </m:sub>
                    </m:sSub>
                  </m:oMath>
                </a14:m>
                <a:r>
                  <a:rPr lang="en-US" altLang="zh-CN" sz="2000" b="0" dirty="0" smtClean="0">
                    <a:solidFill>
                      <a:schemeClr val="tx1"/>
                    </a:solidFill>
                  </a:rPr>
                  <a:t>tells </a:t>
                </a:r>
                <a:r>
                  <a:rPr lang="en-US" altLang="zh-CN" sz="2000" b="0" dirty="0">
                    <a:solidFill>
                      <a:schemeClr val="tx1"/>
                    </a:solidFill>
                  </a:rPr>
                  <a:t>us how good our hedge is.</a:t>
                </a:r>
                <a:endParaRPr lang="zh-CN" altLang="en-US" sz="2000" b="0" dirty="0">
                  <a:solidFill>
                    <a:schemeClr val="tx1"/>
                  </a:solidFill>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481" r="-214"/>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02333" y="4236444"/>
            <a:ext cx="4490781" cy="241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38606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Hedging with Futures Contract</a:t>
            </a:r>
            <a:endParaRPr lang="zh-CN" altLang="en-US" dirty="0"/>
          </a:p>
        </p:txBody>
      </p:sp>
      <p:sp>
        <p:nvSpPr>
          <p:cNvPr id="4" name="内容占位符 2"/>
          <p:cNvSpPr>
            <a:spLocks noGrp="1"/>
          </p:cNvSpPr>
          <p:nvPr>
            <p:ph type="body" sz="quarter" idx="10"/>
          </p:nvPr>
        </p:nvSpPr>
        <p:spPr/>
        <p:txBody>
          <a:bodyPr/>
          <a:lstStyle/>
          <a:p>
            <a:pPr eaLnBrk="1" hangingPunct="1">
              <a:lnSpc>
                <a:spcPct val="140000"/>
              </a:lnSpc>
              <a:spcBef>
                <a:spcPct val="0"/>
              </a:spcBef>
            </a:pPr>
            <a:r>
              <a:rPr lang="en-US" altLang="zh-CN" dirty="0"/>
              <a:t>Hedging with Futures Contract </a:t>
            </a:r>
          </a:p>
          <a:p>
            <a:pPr lvl="1" eaLnBrk="1" hangingPunct="1">
              <a:lnSpc>
                <a:spcPct val="140000"/>
              </a:lnSpc>
              <a:spcBef>
                <a:spcPct val="0"/>
              </a:spcBef>
            </a:pPr>
            <a:r>
              <a:rPr lang="en-US" altLang="zh-CN" b="1" dirty="0"/>
              <a:t>Example: </a:t>
            </a:r>
            <a:r>
              <a:rPr lang="en-US" altLang="zh-CN" dirty="0"/>
              <a:t>An airline expects to purchase 2 million gallons of jet fuel in 1 month and decides to use heating oil futures for hedging.  Each heating oil contract traded by the CME Group is on 42,000 gallons of heating oil.</a:t>
            </a:r>
            <a:endParaRPr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65161" y="2873181"/>
            <a:ext cx="4348162"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5"/>
          <p:cNvGraphicFramePr>
            <a:graphicFrameLocks noGrp="1"/>
          </p:cNvGraphicFramePr>
          <p:nvPr>
            <p:extLst>
              <p:ext uri="{D42A27DB-BD31-4B8C-83A1-F6EECF244321}">
                <p14:modId xmlns:p14="http://schemas.microsoft.com/office/powerpoint/2010/main" val="3270487987"/>
              </p:ext>
            </p:extLst>
          </p:nvPr>
        </p:nvGraphicFramePr>
        <p:xfrm>
          <a:off x="6484885" y="2873181"/>
          <a:ext cx="2660650" cy="852486"/>
        </p:xfrm>
        <a:graphic>
          <a:graphicData uri="http://schemas.openxmlformats.org/drawingml/2006/table">
            <a:tbl>
              <a:tblPr>
                <a:tableStyleId>{3B4B98B0-60AC-42C2-AFA5-B58CD77FA1E5}</a:tableStyleId>
              </a:tblPr>
              <a:tblGrid>
                <a:gridCol w="1196982">
                  <a:extLst>
                    <a:ext uri="{9D8B030D-6E8A-4147-A177-3AD203B41FA5}">
                      <a16:colId xmlns="" xmlns:a16="http://schemas.microsoft.com/office/drawing/2014/main" val="20000"/>
                    </a:ext>
                  </a:extLst>
                </a:gridCol>
                <a:gridCol w="730012">
                  <a:extLst>
                    <a:ext uri="{9D8B030D-6E8A-4147-A177-3AD203B41FA5}">
                      <a16:colId xmlns="" xmlns:a16="http://schemas.microsoft.com/office/drawing/2014/main" val="20001"/>
                    </a:ext>
                  </a:extLst>
                </a:gridCol>
                <a:gridCol w="733656">
                  <a:extLst>
                    <a:ext uri="{9D8B030D-6E8A-4147-A177-3AD203B41FA5}">
                      <a16:colId xmlns="" xmlns:a16="http://schemas.microsoft.com/office/drawing/2014/main" val="20002"/>
                    </a:ext>
                  </a:extLst>
                </a:gridCol>
              </a:tblGrid>
              <a:tr h="284162">
                <a:tc>
                  <a:txBody>
                    <a:bodyPr/>
                    <a:lstStyle/>
                    <a:p>
                      <a:pPr algn="r" fontAlgn="ctr"/>
                      <a:endParaRPr lang="en-US"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a:txBody>
                    <a:bodyPr/>
                    <a:lstStyle/>
                    <a:p>
                      <a:pPr algn="r" fontAlgn="ctr"/>
                      <a:r>
                        <a:rPr lang="el-GR" altLang="zh-CN" sz="1800" u="none" strike="noStrike" dirty="0" smtClean="0">
                          <a:solidFill>
                            <a:schemeClr val="accent6">
                              <a:lumMod val="50000"/>
                            </a:schemeClr>
                          </a:solidFill>
                          <a:effectLst/>
                        </a:rPr>
                        <a:t>Δ</a:t>
                      </a:r>
                      <a:r>
                        <a:rPr lang="en-US" altLang="zh-CN" sz="1800" u="none" strike="noStrike" dirty="0" smtClean="0">
                          <a:solidFill>
                            <a:schemeClr val="accent6">
                              <a:lumMod val="50000"/>
                            </a:schemeClr>
                          </a:solidFill>
                          <a:effectLst/>
                        </a:rPr>
                        <a:t>F</a:t>
                      </a:r>
                      <a:endParaRPr lang="en-US" altLang="zh-CN"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a:txBody>
                    <a:bodyPr/>
                    <a:lstStyle/>
                    <a:p>
                      <a:pPr algn="r" fontAlgn="ctr"/>
                      <a:r>
                        <a:rPr lang="it-IT" altLang="zh-CN" sz="1800" u="none" strike="noStrike" dirty="0" smtClean="0">
                          <a:solidFill>
                            <a:schemeClr val="accent6">
                              <a:lumMod val="50000"/>
                            </a:schemeClr>
                          </a:solidFill>
                          <a:effectLst/>
                        </a:rPr>
                        <a:t>ΔS</a:t>
                      </a:r>
                      <a:endParaRPr lang="en-US" altLang="zh-CN"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extLst>
                  <a:ext uri="{0D108BD9-81ED-4DB2-BD59-A6C34878D82A}">
                    <a16:rowId xmlns="" xmlns:a16="http://schemas.microsoft.com/office/drawing/2014/main" val="10000"/>
                  </a:ext>
                </a:extLst>
              </a:tr>
              <a:tr h="284162">
                <a:tc>
                  <a:txBody>
                    <a:bodyPr/>
                    <a:lstStyle/>
                    <a:p>
                      <a:pPr algn="r" fontAlgn="ctr"/>
                      <a:r>
                        <a:rPr lang="en-US" sz="1800" u="none" strike="noStrike" dirty="0">
                          <a:solidFill>
                            <a:schemeClr val="accent6">
                              <a:lumMod val="50000"/>
                            </a:schemeClr>
                          </a:solidFill>
                          <a:effectLst/>
                        </a:rPr>
                        <a:t>Std.</a:t>
                      </a:r>
                      <a:endParaRPr lang="en-US"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a:txBody>
                    <a:bodyPr/>
                    <a:lstStyle/>
                    <a:p>
                      <a:pPr algn="r" fontAlgn="ctr"/>
                      <a:r>
                        <a:rPr lang="en-US" altLang="zh-CN" sz="1800" u="none" strike="noStrike" dirty="0">
                          <a:solidFill>
                            <a:schemeClr val="accent6">
                              <a:lumMod val="50000"/>
                            </a:schemeClr>
                          </a:solidFill>
                          <a:effectLst/>
                        </a:rPr>
                        <a:t>0.031</a:t>
                      </a:r>
                      <a:endParaRPr lang="en-US" altLang="zh-CN"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a:txBody>
                    <a:bodyPr/>
                    <a:lstStyle/>
                    <a:p>
                      <a:pPr algn="r" fontAlgn="ctr"/>
                      <a:r>
                        <a:rPr lang="en-US" altLang="zh-CN" sz="1800" u="none" strike="noStrike" dirty="0">
                          <a:solidFill>
                            <a:schemeClr val="accent6">
                              <a:lumMod val="50000"/>
                            </a:schemeClr>
                          </a:solidFill>
                          <a:effectLst/>
                        </a:rPr>
                        <a:t>0.026</a:t>
                      </a:r>
                      <a:endParaRPr lang="en-US" altLang="zh-CN"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extLst>
                  <a:ext uri="{0D108BD9-81ED-4DB2-BD59-A6C34878D82A}">
                    <a16:rowId xmlns="" xmlns:a16="http://schemas.microsoft.com/office/drawing/2014/main" val="10001"/>
                  </a:ext>
                </a:extLst>
              </a:tr>
              <a:tr h="284162">
                <a:tc>
                  <a:txBody>
                    <a:bodyPr/>
                    <a:lstStyle/>
                    <a:p>
                      <a:pPr algn="r" fontAlgn="ctr"/>
                      <a:r>
                        <a:rPr lang="en-US" sz="1800" u="none" strike="noStrike" dirty="0">
                          <a:solidFill>
                            <a:schemeClr val="accent6">
                              <a:lumMod val="50000"/>
                            </a:schemeClr>
                          </a:solidFill>
                          <a:effectLst/>
                        </a:rPr>
                        <a:t>Correlation</a:t>
                      </a:r>
                      <a:endParaRPr lang="en-US"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gridSpan="2">
                  <a:txBody>
                    <a:bodyPr/>
                    <a:lstStyle/>
                    <a:p>
                      <a:pPr algn="r" fontAlgn="ctr"/>
                      <a:r>
                        <a:rPr lang="en-US" altLang="zh-CN" sz="1800" u="none" strike="noStrike" dirty="0">
                          <a:solidFill>
                            <a:schemeClr val="accent6">
                              <a:lumMod val="50000"/>
                            </a:schemeClr>
                          </a:solidFill>
                          <a:effectLst/>
                        </a:rPr>
                        <a:t>0.928</a:t>
                      </a:r>
                      <a:endParaRPr lang="en-US" altLang="zh-CN" sz="1800" b="0" i="0" u="none" strike="noStrike" dirty="0">
                        <a:solidFill>
                          <a:schemeClr val="accent6">
                            <a:lumMod val="50000"/>
                          </a:schemeClr>
                        </a:solidFill>
                        <a:effectLst/>
                        <a:latin typeface="Segoe UI" panose="020B0502040204020203" pitchFamily="34" charset="0"/>
                        <a:ea typeface="宋体" panose="02010600030101010101" pitchFamily="2" charset="-122"/>
                        <a:cs typeface="Segoe UI" panose="020B0502040204020203" pitchFamily="34" charset="0"/>
                      </a:endParaRPr>
                    </a:p>
                  </a:txBody>
                  <a:tcPr marL="9522" marR="9522" marT="9536" marB="0" anchor="ctr"/>
                </a:tc>
                <a:tc hMerge="1">
                  <a:txBody>
                    <a:bodyPr/>
                    <a:lstStyle/>
                    <a:p>
                      <a:endParaRPr lang="zh-CN" altLang="en-US"/>
                    </a:p>
                  </a:txBody>
                  <a:tcPr/>
                </a:tc>
                <a:extLst>
                  <a:ext uri="{0D108BD9-81ED-4DB2-BD59-A6C34878D82A}">
                    <a16:rowId xmlns=""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8" name="文本框 7"/>
              <p:cNvSpPr txBox="1"/>
              <p:nvPr/>
            </p:nvSpPr>
            <p:spPr>
              <a:xfrm>
                <a:off x="5613323" y="4086711"/>
                <a:ext cx="3980756" cy="2025876"/>
              </a:xfrm>
              <a:prstGeom prst="rect">
                <a:avLst/>
              </a:prstGeom>
              <a:noFill/>
              <a:ln>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HR</m:t>
                      </m:r>
                      <m:r>
                        <a:rPr lang="en-US" altLang="zh-CN" sz="18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ρ</m:t>
                          </m:r>
                        </m:e>
                        <m:sub>
                          <m:r>
                            <m:rPr>
                              <m:sty m:val="p"/>
                            </m:rP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m:t>
                          </m:r>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sub>
                      </m:sSub>
                      <m:f>
                        <m:f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sSub>
                            <m:sSub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m:t>
                              </m:r>
                            </m:sub>
                          </m:sSub>
                        </m:num>
                        <m:den>
                          <m:sSub>
                            <m:sSub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zh-CN" altLang="en-US"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sub>
                          </m:sSub>
                        </m:den>
                      </m:f>
                    </m:oMath>
                  </m:oMathPara>
                </a14:m>
                <a:endPar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r>
                  <a:rPr lang="en-US" altLang="zh-CN" sz="18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a:t>
                </a:r>
                <a:r>
                  <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0.928</a:t>
                </a:r>
                <a14:m>
                  <m:oMath xmlns:m="http://schemas.openxmlformats.org/officeDocument/2006/math">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0.026</m:t>
                        </m:r>
                      </m:num>
                      <m:den>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0.031</m:t>
                        </m:r>
                      </m:den>
                    </m:f>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=0.778</m:t>
                    </m:r>
                  </m:oMath>
                </a14:m>
                <a:endPar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p>
              <a:p>
                <a:r>
                  <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r>
                  <a:rPr lang="en-US" altLang="zh-CN" sz="18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N=0.778</a:t>
                </a:r>
                <a14:m>
                  <m:oMath xmlns:m="http://schemas.openxmlformats.org/officeDocument/2006/math">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2000000</m:t>
                        </m:r>
                      </m:num>
                      <m:den>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42000</m:t>
                        </m:r>
                      </m:den>
                    </m:f>
                    <m:r>
                      <a:rPr lang="en-US" altLang="zh-CN" sz="18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=37.03</m:t>
                    </m:r>
                  </m:oMath>
                </a14:m>
                <a:endParaRPr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5613323" y="4086711"/>
                <a:ext cx="3980756" cy="2025876"/>
              </a:xfrm>
              <a:prstGeom prst="rect">
                <a:avLst/>
              </a:prstGeom>
              <a:blipFill>
                <a:blip r:embed="rId3"/>
                <a:stretch>
                  <a:fillRect/>
                </a:stretch>
              </a:blipFill>
              <a:ln>
                <a:solidFill>
                  <a:srgbClr val="00B050"/>
                </a:solidFill>
              </a:ln>
            </p:spPr>
            <p:txBody>
              <a:bodyPr/>
              <a:lstStyle/>
              <a:p>
                <a:r>
                  <a:rPr lang="zh-CN" altLang="en-US">
                    <a:noFill/>
                  </a:rPr>
                  <a:t> </a:t>
                </a:r>
              </a:p>
            </p:txBody>
          </p:sp>
        </mc:Fallback>
      </mc:AlternateContent>
    </p:spTree>
    <p:extLst>
      <p:ext uri="{BB962C8B-B14F-4D97-AF65-F5344CB8AC3E}">
        <p14:creationId xmlns:p14="http://schemas.microsoft.com/office/powerpoint/2010/main" val="407166759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Hedging with Futures Contract</a:t>
            </a:r>
            <a:endParaRPr lang="zh-CN" altLang="en-US" dirty="0"/>
          </a:p>
        </p:txBody>
      </p:sp>
      <p:sp>
        <p:nvSpPr>
          <p:cNvPr id="3" name="文本占位符 2"/>
          <p:cNvSpPr>
            <a:spLocks noGrp="1"/>
          </p:cNvSpPr>
          <p:nvPr>
            <p:ph type="body" sz="quarter" idx="10"/>
          </p:nvPr>
        </p:nvSpPr>
        <p:spPr/>
        <p:txBody>
          <a:bodyPr/>
          <a:lstStyle/>
          <a:p>
            <a:r>
              <a:rPr lang="en-US" altLang="zh-CN" dirty="0"/>
              <a:t>Hedging with Futures Contract (cont’d)</a:t>
            </a:r>
          </a:p>
          <a:p>
            <a:pPr lvl="1"/>
            <a:r>
              <a:rPr lang="en-US" altLang="zh-CN" dirty="0"/>
              <a:t>Hedging with Stock Index </a:t>
            </a:r>
            <a:r>
              <a:rPr lang="en-US" altLang="zh-CN" dirty="0" smtClean="0"/>
              <a:t>Futures</a:t>
            </a:r>
          </a:p>
          <a:p>
            <a:endParaRPr lang="en-US" altLang="zh-CN" dirty="0"/>
          </a:p>
          <a:p>
            <a:endParaRPr lang="en-US" altLang="zh-CN" dirty="0" smtClean="0"/>
          </a:p>
          <a:p>
            <a:endParaRPr lang="en-US" altLang="zh-CN" dirty="0"/>
          </a:p>
          <a:p>
            <a:endParaRPr lang="en-US" altLang="zh-CN" dirty="0" smtClean="0"/>
          </a:p>
          <a:p>
            <a:pPr lvl="1">
              <a:lnSpc>
                <a:spcPct val="140000"/>
              </a:lnSpc>
              <a:spcBef>
                <a:spcPct val="0"/>
              </a:spcBef>
            </a:pPr>
            <a:r>
              <a:rPr lang="en-US" altLang="zh-CN" b="1" dirty="0"/>
              <a:t>Hedging with Interest Rate Futures</a:t>
            </a:r>
          </a:p>
          <a:p>
            <a:pPr lvl="2">
              <a:lnSpc>
                <a:spcPct val="140000"/>
              </a:lnSpc>
              <a:spcBef>
                <a:spcPct val="0"/>
              </a:spcBef>
            </a:pPr>
            <a:r>
              <a:rPr lang="en-US" altLang="zh-CN" dirty="0"/>
              <a:t>The number of contracts required to hedge against an uncertain change in the yield given by ∆y, is given by:</a:t>
            </a:r>
          </a:p>
          <a:p>
            <a:endParaRPr lang="en-US" altLang="zh-CN" dirty="0"/>
          </a:p>
          <a:p>
            <a:endParaRPr lang="zh-CN" altLang="en-US" dirty="0"/>
          </a:p>
        </p:txBody>
      </p:sp>
      <mc:AlternateContent xmlns:mc="http://schemas.openxmlformats.org/markup-compatibility/2006" xmlns:a14="http://schemas.microsoft.com/office/drawing/2010/main">
        <mc:Choice Requires="a14">
          <p:sp>
            <p:nvSpPr>
              <p:cNvPr id="7" name="文本框 6"/>
              <p:cNvSpPr txBox="1"/>
              <p:nvPr/>
            </p:nvSpPr>
            <p:spPr>
              <a:xfrm>
                <a:off x="1691680" y="2132856"/>
                <a:ext cx="6840759" cy="1032334"/>
              </a:xfrm>
              <a:prstGeom prst="rect">
                <a:avLst/>
              </a:prstGeom>
              <a:noFill/>
              <a:ln w="19050">
                <a:solidFill>
                  <a:srgbClr val="FF0000"/>
                </a:solidFill>
              </a:ln>
            </p:spPr>
            <p:txBody>
              <a:bodyPr wrap="square" rtlCol="0">
                <a:spAutoFit/>
              </a:bodyPr>
              <a:lstStyle/>
              <a:p>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number of contracts=</a:t>
                </a:r>
                <a14:m>
                  <m:oMath xmlns:m="http://schemas.openxmlformats.org/officeDocument/2006/math">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zh-CN" altLang="en-US"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e>
                      <m:sub>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portfolio</m:t>
                        </m:r>
                      </m:sub>
                    </m:sSub>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portfolio</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value</m:t>
                        </m:r>
                      </m:num>
                      <m:den>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value</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of</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futures</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contract</m:t>
                        </m:r>
                      </m:den>
                    </m:f>
                  </m:oMath>
                </a14:m>
                <a:endPar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                         =</a:t>
                </a:r>
                <a14:m>
                  <m:oMath xmlns:m="http://schemas.openxmlformats.org/officeDocument/2006/math">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zh-CN" altLang="en-US"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e>
                      <m:sub>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portfolio</m:t>
                        </m:r>
                      </m:sub>
                    </m:sSub>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portfolio</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value</m:t>
                        </m:r>
                      </m:num>
                      <m:den>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futures</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price</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contract</m:t>
                        </m:r>
                        <m: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0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multiplier</m:t>
                        </m:r>
                      </m:den>
                    </m:f>
                  </m:oMath>
                </a14:m>
                <a:endParaRPr lang="zh-CN" altLang="en-US"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91680" y="2132856"/>
                <a:ext cx="6840759" cy="1032334"/>
              </a:xfrm>
              <a:prstGeom prst="rect">
                <a:avLst/>
              </a:prstGeom>
              <a:blipFill>
                <a:blip r:embed="rId2"/>
                <a:stretch>
                  <a:fillRect l="-889"/>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1691680" y="3484410"/>
                <a:ext cx="6487195" cy="618952"/>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number</m:t>
                      </m:r>
                      <m: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of</m:t>
                      </m:r>
                      <m: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contracts</m:t>
                      </m:r>
                      <m:r>
                        <a:rPr lang="en-US" altLang="zh-CN" sz="1800" b="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zh-CN" altLang="en-US"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e>
                        <m:sup>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portfolio</m:t>
                          </m:r>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value</m:t>
                          </m:r>
                        </m:num>
                        <m:den>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value</m:t>
                          </m:r>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of</m:t>
                          </m:r>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futures</m:t>
                          </m:r>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contract</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1691680" y="3484410"/>
                <a:ext cx="6487195" cy="618952"/>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375919" y="5631139"/>
                <a:ext cx="1440160" cy="668068"/>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800" b="0" i="1" dirty="0" smtClean="0">
                              <a:solidFill>
                                <a:schemeClr val="tx1"/>
                              </a:solidFill>
                              <a:latin typeface="Cambria Math"/>
                              <a:ea typeface="微软雅黑" panose="020B0503020204020204" pitchFamily="34" charset="-122"/>
                              <a:cs typeface="Segoe UI" panose="020B0502040204020203" pitchFamily="34" charset="0"/>
                            </a:rPr>
                          </m:ctrlPr>
                        </m:sSupPr>
                        <m:e>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N</m:t>
                          </m:r>
                        </m:e>
                        <m:sup>
                          <m: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chemeClr val="tx1"/>
                              </a:solidFill>
                              <a:latin typeface="Cambria Math"/>
                              <a:ea typeface="微软雅黑" panose="020B0503020204020204" pitchFamily="34" charset="-122"/>
                              <a:cs typeface="Segoe UI" panose="020B0502040204020203" pitchFamily="34" charset="0"/>
                            </a:rPr>
                          </m:ctrlPr>
                        </m:fPr>
                        <m:num>
                          <m:sSub>
                            <m:sSubPr>
                              <m:ctrlPr>
                                <a:rPr lang="en-US" altLang="zh-CN" sz="18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PD</m:t>
                              </m:r>
                            </m:e>
                            <m:sub>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p</m:t>
                              </m:r>
                            </m:sub>
                          </m:sSub>
                        </m:num>
                        <m:den>
                          <m:sSub>
                            <m:sSubPr>
                              <m:ctrlPr>
                                <a:rPr lang="en-US" altLang="zh-CN" sz="18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c</m:t>
                              </m:r>
                            </m:sub>
                          </m:sSub>
                          <m:sSub>
                            <m:sSubPr>
                              <m:ctrlPr>
                                <a:rPr lang="en-US" altLang="zh-CN" sz="18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F</m:t>
                              </m:r>
                            </m:sub>
                          </m:sSub>
                        </m:den>
                      </m:f>
                    </m:oMath>
                  </m:oMathPara>
                </a14:m>
                <a:endParaRPr lang="zh-CN" altLang="en-US" sz="18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375919" y="5631139"/>
                <a:ext cx="1440160" cy="668068"/>
              </a:xfrm>
              <a:prstGeom prst="rect">
                <a:avLst/>
              </a:prstGeom>
              <a:blipFill>
                <a:blip r:embed="rId4"/>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9487235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Hedging with Futures Contract</a:t>
            </a:r>
            <a:endParaRPr lang="zh-CN" altLang="en-US" dirty="0"/>
          </a:p>
        </p:txBody>
      </p:sp>
      <p:sp>
        <p:nvSpPr>
          <p:cNvPr id="3" name="文本占位符 2"/>
          <p:cNvSpPr>
            <a:spLocks noGrp="1"/>
          </p:cNvSpPr>
          <p:nvPr>
            <p:ph type="body" sz="quarter" idx="10"/>
          </p:nvPr>
        </p:nvSpPr>
        <p:spPr/>
        <p:txBody>
          <a:bodyPr/>
          <a:lstStyle/>
          <a:p>
            <a:r>
              <a:rPr lang="en-US" altLang="zh-CN" dirty="0"/>
              <a:t>H</a:t>
            </a:r>
            <a:r>
              <a:rPr lang="en-US" altLang="zh-CN" dirty="0" smtClean="0"/>
              <a:t>ow </a:t>
            </a:r>
            <a:r>
              <a:rPr lang="en-US" altLang="zh-CN" dirty="0"/>
              <a:t>to </a:t>
            </a:r>
            <a:r>
              <a:rPr lang="en-US" altLang="zh-CN" dirty="0" smtClean="0"/>
              <a:t>change </a:t>
            </a:r>
            <a:r>
              <a:rPr lang="en-US" altLang="zh-CN" dirty="0"/>
              <a:t>a </a:t>
            </a:r>
            <a:r>
              <a:rPr lang="en-US" altLang="zh-CN" dirty="0" smtClean="0"/>
              <a:t>stock portfolio’s beta</a:t>
            </a:r>
          </a:p>
          <a:p>
            <a:pPr lvl="1"/>
            <a:r>
              <a:rPr lang="en-US" altLang="zh-CN" b="0" dirty="0">
                <a:solidFill>
                  <a:schemeClr val="tx1"/>
                </a:solidFill>
              </a:rPr>
              <a:t>Given a portfolio beta </a:t>
            </a:r>
            <a:r>
              <a:rPr lang="en-US" altLang="zh-CN" b="0" dirty="0" smtClean="0">
                <a:solidFill>
                  <a:schemeClr val="tx1"/>
                </a:solidFill>
              </a:rPr>
              <a:t>(β), </a:t>
            </a:r>
            <a:r>
              <a:rPr lang="en-US" altLang="zh-CN" b="0" dirty="0">
                <a:solidFill>
                  <a:schemeClr val="tx1"/>
                </a:solidFill>
              </a:rPr>
              <a:t>the current value of the portfolio </a:t>
            </a:r>
            <a:r>
              <a:rPr lang="en-US" altLang="zh-CN" b="0" dirty="0" smtClean="0">
                <a:solidFill>
                  <a:schemeClr val="tx1"/>
                </a:solidFill>
              </a:rPr>
              <a:t>(V</a:t>
            </a:r>
            <a:r>
              <a:rPr lang="en-US" altLang="zh-CN" b="0" baseline="-25000" dirty="0" smtClean="0">
                <a:solidFill>
                  <a:schemeClr val="tx1"/>
                </a:solidFill>
              </a:rPr>
              <a:t>A</a:t>
            </a:r>
            <a:r>
              <a:rPr lang="en-US" altLang="zh-CN" b="0" dirty="0" smtClean="0">
                <a:solidFill>
                  <a:schemeClr val="tx1"/>
                </a:solidFill>
              </a:rPr>
              <a:t>), </a:t>
            </a:r>
            <a:r>
              <a:rPr lang="en-US" altLang="zh-CN" b="0" dirty="0">
                <a:solidFill>
                  <a:schemeClr val="tx1"/>
                </a:solidFill>
              </a:rPr>
              <a:t>and the value of </a:t>
            </a:r>
            <a:r>
              <a:rPr lang="en-US" altLang="zh-CN" b="0" dirty="0" smtClean="0">
                <a:solidFill>
                  <a:schemeClr val="tx1"/>
                </a:solidFill>
              </a:rPr>
              <a:t>stocks underlying </a:t>
            </a:r>
            <a:r>
              <a:rPr lang="en-US" altLang="zh-CN" b="0" dirty="0">
                <a:solidFill>
                  <a:schemeClr val="tx1"/>
                </a:solidFill>
              </a:rPr>
              <a:t>one futures contract </a:t>
            </a:r>
            <a:r>
              <a:rPr lang="en-US" altLang="zh-CN" b="0" dirty="0" smtClean="0">
                <a:solidFill>
                  <a:schemeClr val="tx1"/>
                </a:solidFill>
              </a:rPr>
              <a:t>(V</a:t>
            </a:r>
            <a:r>
              <a:rPr lang="en-US" altLang="zh-CN" b="0" baseline="-25000" dirty="0" smtClean="0">
                <a:solidFill>
                  <a:schemeClr val="tx1"/>
                </a:solidFill>
              </a:rPr>
              <a:t>F</a:t>
            </a:r>
            <a:r>
              <a:rPr lang="en-US" altLang="zh-CN" b="0" dirty="0" smtClean="0">
                <a:solidFill>
                  <a:schemeClr val="tx1"/>
                </a:solidFill>
              </a:rPr>
              <a:t>), </a:t>
            </a:r>
            <a:r>
              <a:rPr lang="en-US" altLang="zh-CN" b="0" dirty="0">
                <a:solidFill>
                  <a:schemeClr val="tx1"/>
                </a:solidFill>
              </a:rPr>
              <a:t>the number of stock index futures contracts (i.e., </a:t>
            </a:r>
            <a:r>
              <a:rPr lang="en-US" altLang="zh-CN" b="0" dirty="0" smtClean="0">
                <a:solidFill>
                  <a:schemeClr val="tx1"/>
                </a:solidFill>
              </a:rPr>
              <a:t>which minimizes </a:t>
            </a:r>
            <a:r>
              <a:rPr lang="en-US" altLang="zh-CN" b="0" dirty="0">
                <a:solidFill>
                  <a:schemeClr val="tx1"/>
                </a:solidFill>
              </a:rPr>
              <a:t>the portfolio variance) to be hedged is given by</a:t>
            </a:r>
            <a:r>
              <a:rPr lang="en-US" altLang="zh-CN" b="0" dirty="0" smtClean="0">
                <a:solidFill>
                  <a:schemeClr val="tx1"/>
                </a:solidFill>
              </a:rPr>
              <a:t>:</a:t>
            </a:r>
          </a:p>
          <a:p>
            <a:endParaRPr lang="en-US" altLang="zh-CN" sz="2200" b="0" dirty="0">
              <a:solidFill>
                <a:schemeClr val="tx1"/>
              </a:solidFill>
            </a:endParaRPr>
          </a:p>
          <a:p>
            <a:endParaRPr lang="en-US" altLang="zh-CN" sz="2200" b="0" dirty="0" smtClean="0">
              <a:solidFill>
                <a:schemeClr val="tx1"/>
              </a:solidFill>
            </a:endParaRPr>
          </a:p>
          <a:p>
            <a:pPr lvl="1"/>
            <a:r>
              <a:rPr lang="en-US" altLang="zh-CN" b="0" dirty="0">
                <a:solidFill>
                  <a:schemeClr val="tx1"/>
                </a:solidFill>
              </a:rPr>
              <a:t>And now, by extension, when the goal is to shift portfolio beta from </a:t>
            </a:r>
            <a:r>
              <a:rPr lang="en-US" altLang="zh-CN" b="0" dirty="0" smtClean="0">
                <a:solidFill>
                  <a:schemeClr val="tx1"/>
                </a:solidFill>
              </a:rPr>
              <a:t>(β) </a:t>
            </a:r>
            <a:r>
              <a:rPr lang="en-US" altLang="zh-CN" b="0" dirty="0">
                <a:solidFill>
                  <a:schemeClr val="tx1"/>
                </a:solidFill>
              </a:rPr>
              <a:t>to a target beta </a:t>
            </a:r>
            <a:r>
              <a:rPr lang="en-US" altLang="zh-CN" b="0" dirty="0" smtClean="0">
                <a:solidFill>
                  <a:schemeClr val="tx1"/>
                </a:solidFill>
              </a:rPr>
              <a:t>(β</a:t>
            </a:r>
            <a:r>
              <a:rPr lang="en-US" altLang="zh-CN" b="0" baseline="30000" dirty="0" smtClean="0">
                <a:solidFill>
                  <a:schemeClr val="tx1"/>
                </a:solidFill>
              </a:rPr>
              <a:t>∗</a:t>
            </a:r>
            <a:r>
              <a:rPr lang="en-US" altLang="zh-CN" b="0" dirty="0" smtClean="0">
                <a:solidFill>
                  <a:schemeClr val="tx1"/>
                </a:solidFill>
              </a:rPr>
              <a:t>), the </a:t>
            </a:r>
            <a:r>
              <a:rPr lang="en-US" altLang="zh-CN" b="0" dirty="0">
                <a:solidFill>
                  <a:schemeClr val="tx1"/>
                </a:solidFill>
              </a:rPr>
              <a:t>number of stock index futures contracts required is given by:</a:t>
            </a:r>
            <a:endParaRPr lang="zh-CN" altLang="en-US" b="0" dirty="0">
              <a:solidFill>
                <a:schemeClr val="tx1"/>
              </a:solidFill>
            </a:endParaRPr>
          </a:p>
        </p:txBody>
      </p:sp>
      <mc:AlternateContent xmlns:mc="http://schemas.openxmlformats.org/markup-compatibility/2006" xmlns:a14="http://schemas.microsoft.com/office/drawing/2010/main">
        <mc:Choice Requires="a14">
          <p:sp>
            <p:nvSpPr>
              <p:cNvPr id="4" name="文本框 3"/>
              <p:cNvSpPr txBox="1"/>
              <p:nvPr/>
            </p:nvSpPr>
            <p:spPr>
              <a:xfrm>
                <a:off x="4843126" y="3158852"/>
                <a:ext cx="1440160" cy="61690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800" b="0" i="1" dirty="0" smtClean="0">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e>
                        <m: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m:rPr>
                              <m:nor/>
                            </m:rPr>
                            <a:rPr lang="en-US" altLang="zh-CN" dirty="0"/>
                            <m:t>V</m:t>
                          </m:r>
                          <m:r>
                            <m:rPr>
                              <m:nor/>
                            </m:rPr>
                            <a:rPr lang="en-US" altLang="zh-CN" baseline="-25000" dirty="0"/>
                            <m:t>A</m:t>
                          </m:r>
                        </m:num>
                        <m:den>
                          <m:r>
                            <m:rPr>
                              <m:nor/>
                            </m:rPr>
                            <a:rPr lang="en-US" altLang="zh-CN" dirty="0"/>
                            <m:t>V</m:t>
                          </m:r>
                          <m:r>
                            <m:rPr>
                              <m:nor/>
                            </m:rPr>
                            <a:rPr lang="en-US" altLang="zh-CN" baseline="-25000" dirty="0"/>
                            <m:t>F</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843126" y="3158852"/>
                <a:ext cx="1440160" cy="616900"/>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4325223" y="5106958"/>
                <a:ext cx="2475966" cy="61690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800" i="1" dirty="0" smtClean="0">
                              <a:solidFill>
                                <a:schemeClr val="tx1"/>
                              </a:solidFill>
                              <a:latin typeface="Cambria Math"/>
                              <a:ea typeface="微软雅黑" panose="020B0503020204020204" pitchFamily="34" charset="-122"/>
                              <a:cs typeface="Segoe UI" panose="020B0502040204020203" pitchFamily="34" charset="0"/>
                            </a:rPr>
                          </m:ctrlPr>
                        </m:sSupPr>
                        <m:e>
                          <m:r>
                            <m:rPr>
                              <m:sty m:val="p"/>
                            </m:rP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N</m:t>
                          </m:r>
                        </m:e>
                        <m:sup>
                          <m: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18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a:rPr lang="zh-CN" altLang="en-US" b="0" i="1"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m:rPr>
                          <m:nor/>
                        </m:rPr>
                        <a:rPr lang="en-US" altLang="zh-CN" dirty="0">
                          <a:solidFill>
                            <a:schemeClr val="tx1"/>
                          </a:solidFill>
                        </a:rPr>
                        <m:t>β</m:t>
                      </m:r>
                      <m:r>
                        <m:rPr>
                          <m:nor/>
                        </m:rPr>
                        <a:rPr lang="en-US" altLang="zh-CN" baseline="30000" dirty="0">
                          <a:solidFill>
                            <a:schemeClr val="tx1"/>
                          </a:solidFill>
                        </a:rPr>
                        <m:t>∗</m:t>
                      </m:r>
                      <m:r>
                        <a:rPr lang="en-US" altLang="zh-CN" b="0" i="1"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m:rPr>
                          <m:nor/>
                        </m:rPr>
                        <a:rPr lang="en-US" altLang="zh-CN" dirty="0">
                          <a:solidFill>
                            <a:schemeClr val="tx1"/>
                          </a:solidFill>
                        </a:rPr>
                        <m:t>β</m:t>
                      </m:r>
                      <m:r>
                        <m:rPr>
                          <m:nor/>
                        </m:rPr>
                        <a:rPr lang="en-US" altLang="zh-CN" baseline="30000" dirty="0">
                          <a:solidFill>
                            <a:schemeClr val="tx1"/>
                          </a:solidFill>
                        </a:rPr>
                        <m:t>∗</m:t>
                      </m:r>
                      <m:r>
                        <a:rPr lang="zh-CN" altLang="en-US" b="0" i="1" dirty="0" smtClean="0">
                          <a:solidFill>
                            <a:schemeClr val="tx1"/>
                          </a:solidFill>
                          <a:latin typeface="Cambria Math" panose="02040503050406030204" pitchFamily="18" charset="0"/>
                        </a:rPr>
                        <m:t>）</m:t>
                      </m:r>
                      <m:f>
                        <m:fPr>
                          <m:ctrlPr>
                            <a:rPr lang="en-US" altLang="zh-CN" sz="1800" i="1" dirty="0">
                              <a:solidFill>
                                <a:schemeClr val="tx1"/>
                              </a:solidFill>
                              <a:latin typeface="Cambria Math"/>
                              <a:ea typeface="微软雅黑" panose="020B0503020204020204" pitchFamily="34" charset="-122"/>
                              <a:cs typeface="Segoe UI" panose="020B0502040204020203" pitchFamily="34" charset="0"/>
                            </a:rPr>
                          </m:ctrlPr>
                        </m:fPr>
                        <m:num>
                          <m:r>
                            <m:rPr>
                              <m:nor/>
                            </m:rPr>
                            <a:rPr lang="en-US" altLang="zh-CN" dirty="0">
                              <a:solidFill>
                                <a:schemeClr val="tx1"/>
                              </a:solidFill>
                            </a:rPr>
                            <m:t>V</m:t>
                          </m:r>
                          <m:r>
                            <m:rPr>
                              <m:nor/>
                            </m:rPr>
                            <a:rPr lang="en-US" altLang="zh-CN" baseline="-25000" dirty="0">
                              <a:solidFill>
                                <a:schemeClr val="tx1"/>
                              </a:solidFill>
                            </a:rPr>
                            <m:t>A</m:t>
                          </m:r>
                        </m:num>
                        <m:den>
                          <m:r>
                            <m:rPr>
                              <m:nor/>
                            </m:rPr>
                            <a:rPr lang="en-US" altLang="zh-CN" dirty="0">
                              <a:solidFill>
                                <a:schemeClr val="tx1"/>
                              </a:solidFill>
                            </a:rPr>
                            <m:t>V</m:t>
                          </m:r>
                          <m:r>
                            <m:rPr>
                              <m:nor/>
                            </m:rPr>
                            <a:rPr lang="en-US" altLang="zh-CN" baseline="-25000" dirty="0">
                              <a:solidFill>
                                <a:schemeClr val="tx1"/>
                              </a:solidFill>
                            </a:rPr>
                            <m:t>F</m:t>
                          </m:r>
                        </m:den>
                      </m:f>
                    </m:oMath>
                  </m:oMathPara>
                </a14:m>
                <a:endParaRPr lang="zh-CN" altLang="en-US" sz="18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325223" y="5106958"/>
                <a:ext cx="2475966" cy="616900"/>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53446644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2"/>
            <a:ext cx="10972800" cy="4637347"/>
          </a:xfrm>
        </p:spPr>
        <p:txBody>
          <a:bodyPr/>
          <a:lstStyle/>
          <a:p>
            <a:r>
              <a:rPr lang="en-US" altLang="zh-CN" dirty="0"/>
              <a:t>Hedging with Futures Contract (cont’d)</a:t>
            </a:r>
          </a:p>
          <a:p>
            <a:pPr lvl="1">
              <a:lnSpc>
                <a:spcPct val="140000"/>
              </a:lnSpc>
              <a:spcBef>
                <a:spcPct val="0"/>
              </a:spcBef>
              <a:buFont typeface="Wingdings" panose="05000000000000000000" pitchFamily="2" charset="2"/>
              <a:buChar char="l"/>
            </a:pPr>
            <a:r>
              <a:rPr lang="en-US" altLang="zh-CN" sz="2200" b="1" dirty="0">
                <a:solidFill>
                  <a:schemeClr val="tx1"/>
                </a:solidFill>
                <a:latin typeface="Segoe UI" panose="020B0502040204020203" pitchFamily="34" charset="0"/>
                <a:cs typeface="Segoe UI" panose="020B0502040204020203" pitchFamily="34" charset="0"/>
              </a:rPr>
              <a:t>Example 1</a:t>
            </a:r>
          </a:p>
          <a:p>
            <a:pPr lvl="2">
              <a:lnSpc>
                <a:spcPct val="140000"/>
              </a:lnSpc>
              <a:spcBef>
                <a:spcPct val="0"/>
              </a:spcBef>
            </a:pPr>
            <a:r>
              <a:rPr lang="en-US" altLang="zh-CN" sz="2200" dirty="0">
                <a:solidFill>
                  <a:schemeClr val="tx1"/>
                </a:solidFill>
                <a:latin typeface="Segoe UI" panose="020B0502040204020203" pitchFamily="34" charset="0"/>
                <a:cs typeface="Segoe UI" panose="020B0502040204020203" pitchFamily="34" charset="0"/>
              </a:rPr>
              <a:t>You are a portfolio manager with a $20 million growth portfolio that has a beta of 1.4, relative to the S&amp;P 500. The S&amp;P 500 futures are trading at 1,150, and the multiplier is 250. You would like to hedge your exposure to market risk over the next few months. Identify whether a long or short hedge is appropriate, and determine the number of S&amp;P 500 contracts you need to implement the hedge.</a:t>
            </a:r>
          </a:p>
          <a:p>
            <a:endParaRPr lang="zh-CN" altLang="en-US" dirty="0"/>
          </a:p>
        </p:txBody>
      </p:sp>
      <p:sp>
        <p:nvSpPr>
          <p:cNvPr id="3" name="标题 2"/>
          <p:cNvSpPr>
            <a:spLocks noGrp="1"/>
          </p:cNvSpPr>
          <p:nvPr>
            <p:ph type="title"/>
          </p:nvPr>
        </p:nvSpPr>
        <p:spPr/>
        <p:txBody>
          <a:bodyPr/>
          <a:lstStyle/>
          <a:p>
            <a:r>
              <a:rPr lang="en-US" altLang="zh-CN" dirty="0"/>
              <a:t>Hedging with Futures Contract</a:t>
            </a:r>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2187091" y="4658246"/>
                <a:ext cx="5157048" cy="622414"/>
              </a:xfrm>
              <a:prstGeom prst="rect">
                <a:avLst/>
              </a:prstGeom>
              <a:noFill/>
            </p:spPr>
            <p:txBody>
              <a:bodyPr wrap="square" rtlCol="0">
                <a:spAutoFit/>
              </a:bodyPr>
              <a:lstStyle/>
              <a:p>
                <a:r>
                  <a:rPr lang="en-US" altLang="zh-CN" sz="22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Short 1.4</a:t>
                </a:r>
                <a14:m>
                  <m:oMath xmlns:m="http://schemas.openxmlformats.org/officeDocument/2006/math">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$20,000,000</m:t>
                        </m:r>
                      </m:num>
                      <m:den>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1,150×250</m:t>
                        </m:r>
                      </m:den>
                    </m:f>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≈97 </m:t>
                    </m:r>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contracts</m:t>
                    </m:r>
                  </m:oMath>
                </a14:m>
                <a:endParaRPr lang="zh-CN" altLang="en-US" sz="22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187091" y="4658246"/>
                <a:ext cx="5157048" cy="622414"/>
              </a:xfrm>
              <a:prstGeom prst="rect">
                <a:avLst/>
              </a:prstGeom>
              <a:blipFill>
                <a:blip r:embed="rId2"/>
                <a:stretch>
                  <a:fillRect l="-1537" b="-39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880914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3"/>
            <a:ext cx="10972800" cy="4240165"/>
          </a:xfrm>
        </p:spPr>
        <p:txBody>
          <a:bodyPr/>
          <a:lstStyle/>
          <a:p>
            <a:pPr>
              <a:lnSpc>
                <a:spcPct val="140000"/>
              </a:lnSpc>
              <a:spcBef>
                <a:spcPct val="0"/>
              </a:spcBef>
            </a:pPr>
            <a:r>
              <a:rPr lang="en-US" altLang="zh-CN" dirty="0"/>
              <a:t>Hedging with Futures Contract (cont’d)</a:t>
            </a:r>
          </a:p>
          <a:p>
            <a:pPr lvl="1">
              <a:lnSpc>
                <a:spcPct val="140000"/>
              </a:lnSpc>
              <a:spcBef>
                <a:spcPct val="0"/>
              </a:spcBef>
              <a:buFont typeface="Wingdings" panose="05000000000000000000" pitchFamily="2" charset="2"/>
              <a:buChar char="l"/>
            </a:pPr>
            <a:r>
              <a:rPr lang="en-US" altLang="zh-CN" sz="2200" b="1" dirty="0">
                <a:solidFill>
                  <a:schemeClr val="tx1"/>
                </a:solidFill>
                <a:latin typeface="Segoe UI" panose="020B0502040204020203" pitchFamily="34" charset="0"/>
                <a:cs typeface="Segoe UI" panose="020B0502040204020203" pitchFamily="34" charset="0"/>
              </a:rPr>
              <a:t>Example 2</a:t>
            </a:r>
          </a:p>
          <a:p>
            <a:pPr lvl="2">
              <a:lnSpc>
                <a:spcPct val="140000"/>
              </a:lnSpc>
              <a:spcBef>
                <a:spcPct val="0"/>
              </a:spcBef>
            </a:pPr>
            <a:r>
              <a:rPr lang="en-US" altLang="zh-CN" sz="2200" dirty="0">
                <a:solidFill>
                  <a:schemeClr val="tx1"/>
                </a:solidFill>
                <a:latin typeface="Segoe UI" panose="020B0502040204020203" pitchFamily="34" charset="0"/>
                <a:cs typeface="Segoe UI" panose="020B0502040204020203" pitchFamily="34" charset="0"/>
              </a:rPr>
              <a:t>Suppose that you would like to make a tailing the hedge adjustment to the number of contracts needed in the previous example. Assume that when evaluating the next daily settlement period you find that the S&amp;P 500 spot price is 1,095 and the futures price is now 1,160. Determine the number of S&amp;P 500 contracts needed after making a tailing the hedge adjustment.</a:t>
            </a:r>
          </a:p>
          <a:p>
            <a:endParaRPr lang="zh-CN" altLang="en-US" dirty="0"/>
          </a:p>
        </p:txBody>
      </p:sp>
      <p:sp>
        <p:nvSpPr>
          <p:cNvPr id="3" name="标题 2"/>
          <p:cNvSpPr>
            <a:spLocks noGrp="1"/>
          </p:cNvSpPr>
          <p:nvPr>
            <p:ph type="title"/>
          </p:nvPr>
        </p:nvSpPr>
        <p:spPr/>
        <p:txBody>
          <a:bodyPr/>
          <a:lstStyle/>
          <a:p>
            <a:r>
              <a:rPr lang="en-US" altLang="zh-CN" dirty="0"/>
              <a:t>Hedging with Futures Contract</a:t>
            </a:r>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2063862" y="4266749"/>
                <a:ext cx="8809786"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1.4×</m:t>
                      </m:r>
                      <m:d>
                        <m:dPr>
                          <m:begChr m:val="["/>
                          <m:endChr m:val="]"/>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dPr>
                        <m:e>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($20,000,000)∕(1,150×250)</m:t>
                          </m:r>
                        </m:e>
                      </m:d>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d>
                        <m:d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dPr>
                        <m:e>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m:t>
                          </m:r>
                          <m:f>
                            <m:fPr>
                              <m:type m:val="lin"/>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095</m:t>
                              </m:r>
                            </m:num>
                            <m:den>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m:t>
                              </m:r>
                            </m:den>
                          </m:f>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,160</m:t>
                          </m:r>
                        </m:e>
                      </m:d>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=92 </m:t>
                      </m:r>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contracts</m:t>
                      </m:r>
                    </m:oMath>
                  </m:oMathPara>
                </a14:m>
                <a:endParaRPr lang="zh-CN" altLang="en-US" sz="22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063862" y="4266749"/>
                <a:ext cx="8809786" cy="430887"/>
              </a:xfrm>
              <a:prstGeom prst="rect">
                <a:avLst/>
              </a:prstGeom>
              <a:blipFill>
                <a:blip r:embed="rId2"/>
                <a:stretch>
                  <a:fillRect t="-118310" b="-1873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694412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3"/>
            <a:ext cx="10972800" cy="4284808"/>
          </a:xfrm>
        </p:spPr>
        <p:txBody>
          <a:bodyPr/>
          <a:lstStyle/>
          <a:p>
            <a:pPr>
              <a:lnSpc>
                <a:spcPct val="140000"/>
              </a:lnSpc>
              <a:spcBef>
                <a:spcPct val="0"/>
              </a:spcBef>
            </a:pPr>
            <a:r>
              <a:rPr lang="en-US" altLang="zh-CN" dirty="0"/>
              <a:t>Hedging with Futures Contract (cont’d)</a:t>
            </a:r>
          </a:p>
          <a:p>
            <a:pPr lvl="1">
              <a:lnSpc>
                <a:spcPct val="140000"/>
              </a:lnSpc>
              <a:spcBef>
                <a:spcPct val="0"/>
              </a:spcBef>
              <a:buFont typeface="Wingdings" panose="05000000000000000000" pitchFamily="2" charset="2"/>
              <a:buChar char="l"/>
            </a:pPr>
            <a:r>
              <a:rPr lang="en-US" altLang="zh-CN" sz="2200" b="1" dirty="0">
                <a:solidFill>
                  <a:schemeClr val="tx1"/>
                </a:solidFill>
                <a:latin typeface="Segoe UI" panose="020B0502040204020203" pitchFamily="34" charset="0"/>
                <a:cs typeface="Segoe UI" panose="020B0502040204020203" pitchFamily="34" charset="0"/>
              </a:rPr>
              <a:t>Example 3</a:t>
            </a:r>
          </a:p>
          <a:p>
            <a:pPr lvl="2">
              <a:lnSpc>
                <a:spcPct val="140000"/>
              </a:lnSpc>
              <a:spcBef>
                <a:spcPct val="0"/>
              </a:spcBef>
            </a:pPr>
            <a:r>
              <a:rPr lang="en-US" altLang="zh-CN" sz="2200" dirty="0">
                <a:solidFill>
                  <a:schemeClr val="tx1"/>
                </a:solidFill>
                <a:latin typeface="Segoe UI" panose="020B0502040204020203" pitchFamily="34" charset="0"/>
                <a:cs typeface="Segoe UI" panose="020B0502040204020203" pitchFamily="34" charset="0"/>
              </a:rPr>
              <a:t>Suppose we have a well-diversified $100 million equity portfolio. The portfolio beta relative to the S&amp;P 500 is 1.2. The current value of the 3-month S&amp;P 500 Index is 1,080. The portfolio manager wants to completely hedge the systematic risk of the portfolio over the next three months using S&amp;P 500 Index futures. Demonstrate how to adjust the portfolio’s beta:</a:t>
            </a:r>
          </a:p>
          <a:p>
            <a:endParaRPr lang="zh-CN" altLang="en-US" dirty="0"/>
          </a:p>
        </p:txBody>
      </p:sp>
      <p:sp>
        <p:nvSpPr>
          <p:cNvPr id="3" name="标题 2"/>
          <p:cNvSpPr>
            <a:spLocks noGrp="1"/>
          </p:cNvSpPr>
          <p:nvPr>
            <p:ph type="title"/>
          </p:nvPr>
        </p:nvSpPr>
        <p:spPr/>
        <p:txBody>
          <a:bodyPr/>
          <a:lstStyle/>
          <a:p>
            <a:r>
              <a:rPr lang="en-US" altLang="zh-CN" dirty="0"/>
              <a:t>Hedging with Futures Contract</a:t>
            </a:r>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2100101" y="4266749"/>
                <a:ext cx="7748978" cy="598882"/>
              </a:xfrm>
              <a:prstGeom prst="rect">
                <a:avLst/>
              </a:prstGeom>
              <a:noFill/>
            </p:spPr>
            <p:txBody>
              <a:bodyPr wrap="square" rtlCol="0">
                <a:spAutoFit/>
              </a:bodyPr>
              <a:lstStyle/>
              <a:p>
                <a14:m>
                  <m:oMath xmlns:m="http://schemas.openxmlformats.org/officeDocument/2006/math">
                    <m:r>
                      <m:rPr>
                        <m:sty m:val="p"/>
                      </m:rP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number</m:t>
                    </m:r>
                    <m: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of</m:t>
                    </m:r>
                    <m: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contracts</m:t>
                    </m:r>
                    <m: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=(0−1.2)</m:t>
                    </m:r>
                    <m:f>
                      <m:f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100,000,000</m:t>
                        </m:r>
                      </m:num>
                      <m:den>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1,080×250</m:t>
                        </m:r>
                      </m:den>
                    </m:f>
                  </m:oMath>
                </a14:m>
                <a:r>
                  <a:rPr lang="en-US" altLang="zh-CN" sz="22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=-444.44</a:t>
                </a:r>
                <a:endParaRPr lang="zh-CN" altLang="en-US" sz="22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100101" y="4266749"/>
                <a:ext cx="7748978" cy="598882"/>
              </a:xfrm>
              <a:prstGeom prst="rect">
                <a:avLst/>
              </a:prstGeom>
              <a:blipFill>
                <a:blip r:embed="rId2"/>
                <a:stretch>
                  <a:fillRect b="-30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239246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2"/>
            <a:ext cx="10972800" cy="4483111"/>
          </a:xfrm>
        </p:spPr>
        <p:txBody>
          <a:bodyPr/>
          <a:lstStyle/>
          <a:p>
            <a:pPr>
              <a:lnSpc>
                <a:spcPct val="140000"/>
              </a:lnSpc>
              <a:spcBef>
                <a:spcPct val="0"/>
              </a:spcBef>
            </a:pPr>
            <a:r>
              <a:rPr lang="en-US" altLang="zh-CN" dirty="0"/>
              <a:t>Hedging with Futures Contract (cont’d)</a:t>
            </a:r>
          </a:p>
          <a:p>
            <a:pPr lvl="1">
              <a:lnSpc>
                <a:spcPct val="140000"/>
              </a:lnSpc>
              <a:spcBef>
                <a:spcPct val="0"/>
              </a:spcBef>
              <a:buFont typeface="Wingdings" panose="05000000000000000000" pitchFamily="2" charset="2"/>
              <a:buChar char="l"/>
            </a:pPr>
            <a:r>
              <a:rPr lang="en-US" altLang="zh-CN" sz="2200" b="1" dirty="0">
                <a:solidFill>
                  <a:schemeClr val="tx1"/>
                </a:solidFill>
                <a:latin typeface="Segoe UI" panose="020B0502040204020203" pitchFamily="34" charset="0"/>
                <a:cs typeface="Segoe UI" panose="020B0502040204020203" pitchFamily="34" charset="0"/>
              </a:rPr>
              <a:t>Example</a:t>
            </a:r>
            <a:r>
              <a:rPr lang="en-US" altLang="zh-CN" b="1" dirty="0"/>
              <a:t> 4</a:t>
            </a:r>
          </a:p>
          <a:p>
            <a:pPr lvl="2">
              <a:lnSpc>
                <a:spcPct val="140000"/>
              </a:lnSpc>
              <a:spcBef>
                <a:spcPct val="0"/>
              </a:spcBef>
            </a:pPr>
            <a:r>
              <a:rPr lang="en-US" altLang="zh-CN" sz="2200" dirty="0">
                <a:solidFill>
                  <a:schemeClr val="tx1"/>
                </a:solidFill>
                <a:latin typeface="Segoe UI" panose="020B0502040204020203" pitchFamily="34" charset="0"/>
                <a:cs typeface="Segoe UI" panose="020B0502040204020203" pitchFamily="34" charset="0"/>
              </a:rPr>
              <a:t>There is a portfolio of $100 million with a 6-month hedging horizon. And the 6-month T-bond contract is quoted at 105-09, and the  contract size is $100,000. The duration of the portfolio is 15, and the duration of the futures contract is 17. Outline the appropriate hedge for small changes in yield.</a:t>
            </a:r>
          </a:p>
          <a:p>
            <a:endParaRPr lang="zh-CN" altLang="en-US" dirty="0"/>
          </a:p>
        </p:txBody>
      </p:sp>
      <p:sp>
        <p:nvSpPr>
          <p:cNvPr id="3" name="标题 2"/>
          <p:cNvSpPr>
            <a:spLocks noGrp="1"/>
          </p:cNvSpPr>
          <p:nvPr>
            <p:ph type="title"/>
          </p:nvPr>
        </p:nvSpPr>
        <p:spPr/>
        <p:txBody>
          <a:bodyPr/>
          <a:lstStyle/>
          <a:p>
            <a:r>
              <a:rPr lang="en-US" altLang="zh-CN" dirty="0"/>
              <a:t>Hedging with Futures Contract</a:t>
            </a:r>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1709385" y="4376917"/>
                <a:ext cx="6410048" cy="7906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N</m:t>
                      </m:r>
                      <m:r>
                        <a:rPr lang="en-US" altLang="zh-CN" sz="2200" b="0" dirty="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sub>
                          </m:sSub>
                        </m:num>
                        <m:den>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m:t>
                              </m:r>
                            </m:sub>
                          </m:sSub>
                        </m:den>
                      </m:f>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100,000,000×15</m:t>
                          </m:r>
                        </m:num>
                        <m:den>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105,218.25×17</m:t>
                          </m:r>
                        </m:den>
                      </m:f>
                      <m:r>
                        <a:rPr lang="en-US" altLang="zh-CN" sz="22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≈−839</m:t>
                      </m:r>
                    </m:oMath>
                  </m:oMathPara>
                </a14:m>
                <a:endParaRPr lang="zh-CN" altLang="en-US" sz="22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709385" y="4376917"/>
                <a:ext cx="6410048" cy="790601"/>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85125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Stack and </a:t>
            </a:r>
            <a:r>
              <a:rPr lang="en-US" altLang="zh-CN" dirty="0" smtClean="0"/>
              <a:t>Roll </a:t>
            </a:r>
            <a:r>
              <a:rPr lang="en-US" altLang="zh-CN" dirty="0"/>
              <a:t>H</a:t>
            </a:r>
            <a:r>
              <a:rPr lang="en-US" altLang="zh-CN" dirty="0" smtClean="0"/>
              <a:t>edge</a:t>
            </a:r>
            <a:endParaRPr lang="en-US" altLang="zh-CN" dirty="0"/>
          </a:p>
        </p:txBody>
      </p:sp>
      <p:sp>
        <p:nvSpPr>
          <p:cNvPr id="3" name="文本占位符 2"/>
          <p:cNvSpPr>
            <a:spLocks noGrp="1"/>
          </p:cNvSpPr>
          <p:nvPr>
            <p:ph type="body" sz="quarter" idx="10"/>
          </p:nvPr>
        </p:nvSpPr>
        <p:spPr/>
        <p:txBody>
          <a:bodyPr>
            <a:normAutofit/>
          </a:bodyPr>
          <a:lstStyle/>
          <a:p>
            <a:r>
              <a:rPr lang="en-US" altLang="zh-CN" sz="2200" b="0" dirty="0">
                <a:solidFill>
                  <a:schemeClr val="tx1"/>
                </a:solidFill>
              </a:rPr>
              <a:t>When the delivery date of the futures contract occurs prior to the expiration date of </a:t>
            </a:r>
            <a:r>
              <a:rPr lang="en-US" altLang="zh-CN" sz="2200" b="0" dirty="0" smtClean="0">
                <a:solidFill>
                  <a:schemeClr val="tx1"/>
                </a:solidFill>
              </a:rPr>
              <a:t>the hedge</a:t>
            </a:r>
            <a:r>
              <a:rPr lang="en-US" altLang="zh-CN" sz="2200" b="0" dirty="0">
                <a:solidFill>
                  <a:schemeClr val="tx1"/>
                </a:solidFill>
              </a:rPr>
              <a:t>, or there is little liquidity but in the spot and prompt month, the hedger can </a:t>
            </a:r>
            <a:r>
              <a:rPr lang="en-US" altLang="zh-CN" sz="2200" b="0" dirty="0">
                <a:solidFill>
                  <a:srgbClr val="FF0000"/>
                </a:solidFill>
              </a:rPr>
              <a:t>roll </a:t>
            </a:r>
            <a:r>
              <a:rPr lang="en-US" altLang="zh-CN" sz="2200" b="0" dirty="0" smtClean="0">
                <a:solidFill>
                  <a:srgbClr val="FF0000"/>
                </a:solidFill>
              </a:rPr>
              <a:t>forward </a:t>
            </a:r>
            <a:r>
              <a:rPr lang="en-US" altLang="zh-CN" sz="2200" b="0" dirty="0" smtClean="0">
                <a:solidFill>
                  <a:schemeClr val="tx1"/>
                </a:solidFill>
              </a:rPr>
              <a:t>the </a:t>
            </a:r>
            <a:r>
              <a:rPr lang="en-US" altLang="zh-CN" sz="2200" b="0" dirty="0">
                <a:solidFill>
                  <a:schemeClr val="tx1"/>
                </a:solidFill>
              </a:rPr>
              <a:t>hedge, that is </a:t>
            </a:r>
            <a:r>
              <a:rPr lang="en-US" altLang="zh-CN" sz="2200" b="0" u="sng" dirty="0">
                <a:solidFill>
                  <a:schemeClr val="tx1"/>
                </a:solidFill>
              </a:rPr>
              <a:t>close out a futures contract and take the same position on a new </a:t>
            </a:r>
            <a:r>
              <a:rPr lang="en-US" altLang="zh-CN" sz="2200" b="0" u="sng" dirty="0" smtClean="0">
                <a:solidFill>
                  <a:schemeClr val="tx1"/>
                </a:solidFill>
              </a:rPr>
              <a:t>futures contract </a:t>
            </a:r>
            <a:r>
              <a:rPr lang="en-US" altLang="zh-CN" sz="2200" b="0" u="sng" dirty="0">
                <a:solidFill>
                  <a:schemeClr val="tx1"/>
                </a:solidFill>
              </a:rPr>
              <a:t>with a later delivery date.</a:t>
            </a:r>
            <a:r>
              <a:rPr lang="en-US" altLang="zh-CN" sz="2200" b="0" dirty="0">
                <a:solidFill>
                  <a:schemeClr val="tx1"/>
                </a:solidFill>
              </a:rPr>
              <a:t> This is also known as a </a:t>
            </a:r>
            <a:r>
              <a:rPr lang="en-US" altLang="zh-CN" sz="2200" i="1" dirty="0">
                <a:solidFill>
                  <a:schemeClr val="tx1"/>
                </a:solidFill>
              </a:rPr>
              <a:t>stack and roll </a:t>
            </a:r>
            <a:r>
              <a:rPr lang="en-US" altLang="zh-CN" sz="2200" dirty="0">
                <a:solidFill>
                  <a:schemeClr val="tx1"/>
                </a:solidFill>
              </a:rPr>
              <a:t>strategy</a:t>
            </a:r>
            <a:r>
              <a:rPr lang="en-US" altLang="zh-CN" sz="2200" dirty="0" smtClean="0">
                <a:solidFill>
                  <a:schemeClr val="tx1"/>
                </a:solidFill>
              </a:rPr>
              <a:t>.</a:t>
            </a:r>
          </a:p>
        </p:txBody>
      </p:sp>
    </p:spTree>
    <p:extLst>
      <p:ext uri="{BB962C8B-B14F-4D97-AF65-F5344CB8AC3E}">
        <p14:creationId xmlns:p14="http://schemas.microsoft.com/office/powerpoint/2010/main" val="102511922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Stack and </a:t>
            </a:r>
            <a:r>
              <a:rPr lang="en-US" altLang="zh-CN" dirty="0" smtClean="0"/>
              <a:t>Roll </a:t>
            </a:r>
            <a:r>
              <a:rPr lang="en-US" altLang="zh-CN" dirty="0"/>
              <a:t>H</a:t>
            </a:r>
            <a:r>
              <a:rPr lang="en-US" altLang="zh-CN" dirty="0" smtClean="0"/>
              <a:t>edge</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smtClean="0"/>
              <a:t>Example:</a:t>
            </a:r>
          </a:p>
          <a:p>
            <a:pPr lvl="1"/>
            <a:r>
              <a:rPr lang="en-US" altLang="zh-CN" b="0" dirty="0" smtClean="0">
                <a:solidFill>
                  <a:schemeClr val="tx1"/>
                </a:solidFill>
              </a:rPr>
              <a:t>Consider a company that wishes to use a short hedge to reduce the risk associated with the price wo be received for an asset at Time T.</a:t>
            </a:r>
            <a:r>
              <a:rPr lang="zh-CN" altLang="en-US" b="0" dirty="0" smtClean="0">
                <a:solidFill>
                  <a:schemeClr val="tx1"/>
                </a:solidFill>
              </a:rPr>
              <a:t> </a:t>
            </a:r>
            <a:r>
              <a:rPr lang="en-US" altLang="zh-CN" b="0" dirty="0" smtClean="0">
                <a:solidFill>
                  <a:schemeClr val="tx1"/>
                </a:solidFill>
              </a:rPr>
              <a:t>If there are futures contracts 1,2,3…,n with progressively later delivery dates. The company can use the following strategy:</a:t>
            </a:r>
          </a:p>
          <a:p>
            <a:pPr marL="1219170" lvl="2" indent="0">
              <a:buNone/>
            </a:pPr>
            <a:r>
              <a:rPr lang="en-US" altLang="zh-CN" dirty="0" smtClean="0">
                <a:solidFill>
                  <a:schemeClr val="accent6">
                    <a:lumMod val="50000"/>
                  </a:schemeClr>
                </a:solidFill>
              </a:rPr>
              <a:t>Time t</a:t>
            </a:r>
            <a:r>
              <a:rPr lang="en-US" altLang="zh-CN" baseline="-25000" dirty="0" smtClean="0">
                <a:solidFill>
                  <a:schemeClr val="accent6">
                    <a:lumMod val="50000"/>
                  </a:schemeClr>
                </a:solidFill>
              </a:rPr>
              <a:t>1</a:t>
            </a:r>
            <a:r>
              <a:rPr lang="en-US" altLang="zh-CN" dirty="0" smtClean="0">
                <a:solidFill>
                  <a:schemeClr val="accent6">
                    <a:lumMod val="50000"/>
                  </a:schemeClr>
                </a:solidFill>
              </a:rPr>
              <a:t>: Short future contract </a:t>
            </a:r>
          </a:p>
          <a:p>
            <a:pPr marL="1219170" lvl="2" indent="0">
              <a:buNone/>
            </a:pPr>
            <a:r>
              <a:rPr lang="en-US" altLang="zh-CN" b="0" dirty="0" smtClean="0">
                <a:solidFill>
                  <a:schemeClr val="accent6">
                    <a:lumMod val="50000"/>
                  </a:schemeClr>
                </a:solidFill>
              </a:rPr>
              <a:t>Time t</a:t>
            </a:r>
            <a:r>
              <a:rPr lang="en-US" altLang="zh-CN" b="0" baseline="-25000" dirty="0" smtClean="0">
                <a:solidFill>
                  <a:schemeClr val="accent6">
                    <a:lumMod val="50000"/>
                  </a:schemeClr>
                </a:solidFill>
              </a:rPr>
              <a:t>2</a:t>
            </a:r>
            <a:r>
              <a:rPr lang="en-US" altLang="zh-CN" b="0" dirty="0" smtClean="0">
                <a:solidFill>
                  <a:schemeClr val="accent6">
                    <a:lumMod val="50000"/>
                  </a:schemeClr>
                </a:solidFill>
              </a:rPr>
              <a:t>: Close out futures contract 1</a:t>
            </a:r>
          </a:p>
          <a:p>
            <a:pPr marL="1219170" lvl="2" indent="0">
              <a:buNone/>
            </a:pPr>
            <a:r>
              <a:rPr lang="en-US" altLang="zh-CN" dirty="0">
                <a:solidFill>
                  <a:schemeClr val="accent6">
                    <a:lumMod val="50000"/>
                  </a:schemeClr>
                </a:solidFill>
              </a:rPr>
              <a:t> </a:t>
            </a:r>
            <a:r>
              <a:rPr lang="en-US" altLang="zh-CN" dirty="0" smtClean="0">
                <a:solidFill>
                  <a:schemeClr val="accent6">
                    <a:lumMod val="50000"/>
                  </a:schemeClr>
                </a:solidFill>
              </a:rPr>
              <a:t>            Short futures contract 2</a:t>
            </a:r>
          </a:p>
          <a:p>
            <a:pPr marL="1219170" lvl="2" indent="0">
              <a:buNone/>
            </a:pPr>
            <a:r>
              <a:rPr lang="en-US" altLang="zh-CN" b="0" dirty="0" smtClean="0">
                <a:solidFill>
                  <a:schemeClr val="accent6">
                    <a:lumMod val="50000"/>
                  </a:schemeClr>
                </a:solidFill>
              </a:rPr>
              <a:t>Time t</a:t>
            </a:r>
            <a:r>
              <a:rPr lang="en-US" altLang="zh-CN" b="0" baseline="-25000" dirty="0" smtClean="0">
                <a:solidFill>
                  <a:schemeClr val="accent6">
                    <a:lumMod val="50000"/>
                  </a:schemeClr>
                </a:solidFill>
              </a:rPr>
              <a:t>3</a:t>
            </a:r>
            <a:r>
              <a:rPr lang="en-US" altLang="zh-CN" b="0" dirty="0" smtClean="0">
                <a:solidFill>
                  <a:schemeClr val="accent6">
                    <a:lumMod val="50000"/>
                  </a:schemeClr>
                </a:solidFill>
              </a:rPr>
              <a:t>: Close out futures contract 2</a:t>
            </a:r>
          </a:p>
          <a:p>
            <a:pPr marL="1219170" lvl="2" indent="0">
              <a:buNone/>
            </a:pPr>
            <a:r>
              <a:rPr lang="en-US" altLang="zh-CN" dirty="0">
                <a:solidFill>
                  <a:schemeClr val="accent6">
                    <a:lumMod val="50000"/>
                  </a:schemeClr>
                </a:solidFill>
              </a:rPr>
              <a:t> </a:t>
            </a:r>
            <a:r>
              <a:rPr lang="en-US" altLang="zh-CN" dirty="0" smtClean="0">
                <a:solidFill>
                  <a:schemeClr val="accent6">
                    <a:lumMod val="50000"/>
                  </a:schemeClr>
                </a:solidFill>
              </a:rPr>
              <a:t>            Short futures contract 3</a:t>
            </a:r>
          </a:p>
          <a:p>
            <a:pPr marL="1219170" lvl="2" indent="0">
              <a:buNone/>
            </a:pPr>
            <a:r>
              <a:rPr lang="en-US" altLang="zh-CN" b="0" dirty="0" smtClean="0">
                <a:solidFill>
                  <a:schemeClr val="accent6">
                    <a:lumMod val="50000"/>
                  </a:schemeClr>
                </a:solidFill>
              </a:rPr>
              <a:t>……</a:t>
            </a:r>
          </a:p>
          <a:p>
            <a:pPr marL="1219170" lvl="2" indent="0">
              <a:buNone/>
            </a:pPr>
            <a:r>
              <a:rPr lang="en-US" altLang="zh-CN" dirty="0" smtClean="0">
                <a:solidFill>
                  <a:schemeClr val="accent6">
                    <a:lumMod val="50000"/>
                  </a:schemeClr>
                </a:solidFill>
              </a:rPr>
              <a:t>Time t</a:t>
            </a:r>
            <a:r>
              <a:rPr lang="en-US" altLang="zh-CN" baseline="-25000" dirty="0" smtClean="0">
                <a:solidFill>
                  <a:schemeClr val="accent6">
                    <a:lumMod val="50000"/>
                  </a:schemeClr>
                </a:solidFill>
              </a:rPr>
              <a:t>n</a:t>
            </a:r>
            <a:r>
              <a:rPr lang="en-US" altLang="zh-CN" dirty="0" smtClean="0">
                <a:solidFill>
                  <a:schemeClr val="accent6">
                    <a:lumMod val="50000"/>
                  </a:schemeClr>
                </a:solidFill>
              </a:rPr>
              <a:t>: Close out futures contract n-1</a:t>
            </a:r>
          </a:p>
          <a:p>
            <a:pPr marL="1219170" lvl="2" indent="0">
              <a:buNone/>
            </a:pPr>
            <a:r>
              <a:rPr lang="en-US" altLang="zh-CN" b="0" dirty="0">
                <a:solidFill>
                  <a:schemeClr val="accent6">
                    <a:lumMod val="50000"/>
                  </a:schemeClr>
                </a:solidFill>
              </a:rPr>
              <a:t> </a:t>
            </a:r>
            <a:r>
              <a:rPr lang="en-US" altLang="zh-CN" b="0" dirty="0" smtClean="0">
                <a:solidFill>
                  <a:schemeClr val="accent6">
                    <a:lumMod val="50000"/>
                  </a:schemeClr>
                </a:solidFill>
              </a:rPr>
              <a:t>             Short futures contract n</a:t>
            </a:r>
          </a:p>
          <a:p>
            <a:pPr marL="1219170" lvl="2" indent="0">
              <a:buNone/>
            </a:pPr>
            <a:r>
              <a:rPr lang="en-US" altLang="zh-CN" dirty="0" smtClean="0">
                <a:solidFill>
                  <a:schemeClr val="accent6">
                    <a:lumMod val="50000"/>
                  </a:schemeClr>
                </a:solidFill>
              </a:rPr>
              <a:t>Time T: Close out futures contract n.</a:t>
            </a:r>
            <a:endParaRPr lang="en-US" altLang="zh-CN" b="0" dirty="0" smtClean="0">
              <a:solidFill>
                <a:schemeClr val="accent6">
                  <a:lumMod val="50000"/>
                </a:schemeClr>
              </a:solidFill>
            </a:endParaRPr>
          </a:p>
          <a:p>
            <a:endParaRPr lang="en-US" altLang="zh-CN" dirty="0" smtClean="0"/>
          </a:p>
        </p:txBody>
      </p:sp>
    </p:spTree>
    <p:extLst>
      <p:ext uri="{BB962C8B-B14F-4D97-AF65-F5344CB8AC3E}">
        <p14:creationId xmlns:p14="http://schemas.microsoft.com/office/powerpoint/2010/main" val="53568876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Stack and </a:t>
            </a:r>
            <a:r>
              <a:rPr lang="en-US" altLang="zh-CN" dirty="0" smtClean="0"/>
              <a:t>Roll </a:t>
            </a:r>
            <a:r>
              <a:rPr lang="en-US" altLang="zh-CN" dirty="0"/>
              <a:t>H</a:t>
            </a:r>
            <a:r>
              <a:rPr lang="en-US" altLang="zh-CN" dirty="0" smtClean="0"/>
              <a:t>edge</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a:t>Risks arising from a stack and roll strategy</a:t>
            </a:r>
          </a:p>
          <a:p>
            <a:pPr lvl="1"/>
            <a:r>
              <a:rPr lang="en-US" altLang="zh-CN" b="1" dirty="0"/>
              <a:t>It exposes the hedger to basis risk on each new </a:t>
            </a:r>
            <a:r>
              <a:rPr lang="en-US" altLang="zh-CN" b="1" dirty="0" smtClean="0"/>
              <a:t>hedge</a:t>
            </a:r>
            <a:r>
              <a:rPr lang="en-US" altLang="zh-CN" dirty="0"/>
              <a:t>.</a:t>
            </a:r>
            <a:r>
              <a:rPr lang="en-US" altLang="zh-CN" b="0" dirty="0" smtClean="0"/>
              <a:t>a.k.a</a:t>
            </a:r>
            <a:r>
              <a:rPr lang="en-US" altLang="zh-CN" b="0" dirty="0"/>
              <a:t>., rollover basis risk. </a:t>
            </a:r>
            <a:endParaRPr lang="en-US" altLang="zh-CN" b="0" dirty="0" smtClean="0"/>
          </a:p>
          <a:p>
            <a:pPr lvl="1"/>
            <a:r>
              <a:rPr lang="en-US" altLang="zh-CN" b="1" dirty="0"/>
              <a:t>With insufficient liquidity this can cause major problems</a:t>
            </a:r>
            <a:r>
              <a:rPr lang="en-US" altLang="zh-CN" b="0" dirty="0"/>
              <a:t>. This is largely due </a:t>
            </a:r>
            <a:r>
              <a:rPr lang="en-US" altLang="zh-CN" b="0" dirty="0" smtClean="0"/>
              <a:t>to unfortunate </a:t>
            </a:r>
            <a:r>
              <a:rPr lang="en-US" altLang="zh-CN" b="0" dirty="0"/>
              <a:t>timing: in the short-run we have cash outflows due to the loss on </a:t>
            </a:r>
            <a:r>
              <a:rPr lang="en-US" altLang="zh-CN" b="0" dirty="0" smtClean="0"/>
              <a:t>the futures </a:t>
            </a:r>
            <a:r>
              <a:rPr lang="en-US" altLang="zh-CN" b="0" dirty="0"/>
              <a:t>contract. However, since the firm employs the stack and roll strategy </a:t>
            </a:r>
            <a:r>
              <a:rPr lang="en-US" altLang="zh-CN" b="0" dirty="0" smtClean="0"/>
              <a:t>every month</a:t>
            </a:r>
            <a:r>
              <a:rPr lang="en-US" altLang="zh-CN" b="0" dirty="0"/>
              <a:t>, it can readily expect to buy futures, and thus hedge its cost in the </a:t>
            </a:r>
            <a:r>
              <a:rPr lang="en-US" altLang="zh-CN" b="0" dirty="0" smtClean="0"/>
              <a:t>following months </a:t>
            </a:r>
            <a:r>
              <a:rPr lang="en-US" altLang="zh-CN" b="0" dirty="0"/>
              <a:t>at a lower price.</a:t>
            </a:r>
            <a:endParaRPr lang="zh-CN" altLang="en-US" dirty="0">
              <a:solidFill>
                <a:schemeClr val="tx1"/>
              </a:solidFill>
            </a:endParaRPr>
          </a:p>
          <a:p>
            <a:endParaRPr lang="zh-CN" altLang="en-US" dirty="0"/>
          </a:p>
        </p:txBody>
      </p:sp>
    </p:spTree>
    <p:extLst>
      <p:ext uri="{BB962C8B-B14F-4D97-AF65-F5344CB8AC3E}">
        <p14:creationId xmlns:p14="http://schemas.microsoft.com/office/powerpoint/2010/main" val="32406451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85000" lnSpcReduction="10000"/>
          </a:bodyPr>
          <a:lstStyle/>
          <a:p>
            <a:r>
              <a:rPr lang="en-US" altLang="zh-CN" b="0" dirty="0" smtClean="0"/>
              <a:t>Define and differentiate between short and long hedges and identify their appropriate uses.</a:t>
            </a:r>
            <a:r>
              <a:rPr lang="en-US" altLang="zh-CN" b="0" dirty="0">
                <a:cs typeface="+mn-ea"/>
                <a:sym typeface="+mn-lt"/>
              </a:rPr>
              <a:t> ★</a:t>
            </a:r>
            <a:r>
              <a:rPr lang="en-US" altLang="zh-CN" b="0" dirty="0" smtClean="0"/>
              <a:t> </a:t>
            </a:r>
          </a:p>
          <a:p>
            <a:r>
              <a:rPr lang="en-US" altLang="zh-CN" b="0" dirty="0" smtClean="0"/>
              <a:t>Describe </a:t>
            </a:r>
            <a:r>
              <a:rPr lang="en-US" altLang="zh-CN" b="0" dirty="0"/>
              <a:t>the arguments for and against hedging and the potential impact of hedging on firm profitability. </a:t>
            </a:r>
            <a:r>
              <a:rPr lang="en-US" altLang="zh-CN" b="0" dirty="0">
                <a:cs typeface="+mn-ea"/>
                <a:sym typeface="+mn-lt"/>
              </a:rPr>
              <a:t>★</a:t>
            </a:r>
            <a:endParaRPr lang="en-US" altLang="zh-CN" b="0" dirty="0"/>
          </a:p>
          <a:p>
            <a:r>
              <a:rPr lang="en-US" altLang="zh-CN" b="0" dirty="0">
                <a:solidFill>
                  <a:srgbClr val="FF0000"/>
                </a:solidFill>
              </a:rPr>
              <a:t>Define the basis and explain the various sources of basis risk, and explain how basis risks arise when hedging with futures.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smtClean="0">
              <a:solidFill>
                <a:srgbClr val="FF0000"/>
              </a:solidFill>
            </a:endParaRPr>
          </a:p>
          <a:p>
            <a:r>
              <a:rPr lang="en-US" altLang="zh-CN" b="0" dirty="0" smtClean="0">
                <a:solidFill>
                  <a:srgbClr val="FF0000"/>
                </a:solidFill>
              </a:rPr>
              <a:t>Define cross hedging, and compute and interpret the minimum variance hedge ratio and hedge effectiveness.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smtClean="0">
              <a:solidFill>
                <a:srgbClr val="FF0000"/>
              </a:solidFill>
            </a:endParaRPr>
          </a:p>
          <a:p>
            <a:r>
              <a:rPr lang="en-US" altLang="zh-CN" b="0" dirty="0" smtClean="0">
                <a:solidFill>
                  <a:srgbClr val="FF0000"/>
                </a:solidFill>
              </a:rPr>
              <a:t>Compute </a:t>
            </a:r>
            <a:r>
              <a:rPr lang="en-US" altLang="zh-CN" b="0" dirty="0">
                <a:solidFill>
                  <a:srgbClr val="FF0000"/>
                </a:solidFill>
              </a:rPr>
              <a:t>the optimal number of futures contracts needed to hedge an exposure, and explain and calculate the “tailing the hedge” adjustment.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Explain how to use stock index futures contracts to change a </a:t>
            </a:r>
            <a:r>
              <a:rPr lang="en-US" altLang="zh-CN" b="0" dirty="0" smtClean="0">
                <a:solidFill>
                  <a:srgbClr val="FF0000"/>
                </a:solidFill>
              </a:rPr>
              <a:t>stock </a:t>
            </a:r>
            <a:r>
              <a:rPr lang="en-US" altLang="zh-CN" b="0" dirty="0">
                <a:solidFill>
                  <a:srgbClr val="FF0000"/>
                </a:solidFill>
              </a:rPr>
              <a:t>portfolio’s beta.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Explain how to </a:t>
            </a:r>
            <a:r>
              <a:rPr lang="en-US" altLang="zh-CN" b="0" dirty="0" smtClean="0">
                <a:solidFill>
                  <a:srgbClr val="FF0000"/>
                </a:solidFill>
              </a:rPr>
              <a:t>use stock index futures contracts to lock in the benefit of a stock selection.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Explain the term “rolling the hedge forward” or “stack and roll” and describe some of the risks that arise from this strategy.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endParaRPr lang="zh-CN" altLang="en-US" dirty="0"/>
          </a:p>
        </p:txBody>
      </p:sp>
    </p:spTree>
    <p:extLst>
      <p:ext uri="{BB962C8B-B14F-4D97-AF65-F5344CB8AC3E}">
        <p14:creationId xmlns:p14="http://schemas.microsoft.com/office/powerpoint/2010/main" val="71753994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Interest Rate</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253084381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LIBOR (London Interbank Offered Rate</a:t>
            </a:r>
            <a:r>
              <a:rPr lang="en-US" altLang="zh-CN" dirty="0" smtClean="0"/>
              <a:t>)</a:t>
            </a:r>
          </a:p>
          <a:p>
            <a:pPr lvl="1"/>
            <a:r>
              <a:rPr lang="en-US" altLang="zh-CN" dirty="0"/>
              <a:t>A LIBOR quote by a particular bank is the rate of interest at which the bank </a:t>
            </a:r>
            <a:r>
              <a:rPr lang="en-US" altLang="zh-CN" dirty="0" smtClean="0"/>
              <a:t>is prepared </a:t>
            </a:r>
            <a:r>
              <a:rPr lang="en-US" altLang="zh-CN" dirty="0"/>
              <a:t>to make an </a:t>
            </a:r>
            <a:r>
              <a:rPr lang="en-US" altLang="zh-CN" u="sng" dirty="0"/>
              <a:t>unsecured large wholesale deposit with other banks</a:t>
            </a:r>
            <a:r>
              <a:rPr lang="en-US" altLang="zh-CN" u="sng" dirty="0" smtClean="0"/>
              <a:t>.</a:t>
            </a:r>
          </a:p>
          <a:p>
            <a:pPr lvl="1"/>
            <a:r>
              <a:rPr lang="en-US" altLang="zh-CN" u="sng" dirty="0" smtClean="0"/>
              <a:t>AA-rated bank</a:t>
            </a:r>
          </a:p>
          <a:p>
            <a:pPr lvl="1"/>
            <a:r>
              <a:rPr lang="en-US" altLang="zh-CN" dirty="0" smtClean="0"/>
              <a:t>LIBOR</a:t>
            </a:r>
            <a:r>
              <a:rPr lang="zh-CN" altLang="en-US" dirty="0"/>
              <a:t> </a:t>
            </a:r>
            <a:r>
              <a:rPr lang="en-US" altLang="zh-CN" dirty="0" smtClean="0"/>
              <a:t>is risk free</a:t>
            </a:r>
            <a:r>
              <a:rPr lang="zh-CN" altLang="en-US" dirty="0" smtClean="0"/>
              <a:t>？</a:t>
            </a:r>
            <a:endParaRPr lang="en-US" altLang="zh-CN" dirty="0" smtClean="0"/>
          </a:p>
        </p:txBody>
      </p:sp>
      <p:sp>
        <p:nvSpPr>
          <p:cNvPr id="4" name="标题 1"/>
          <p:cNvSpPr>
            <a:spLocks noGrp="1"/>
          </p:cNvSpPr>
          <p:nvPr>
            <p:ph type="title"/>
          </p:nvPr>
        </p:nvSpPr>
        <p:spPr/>
        <p:txBody>
          <a:bodyPr/>
          <a:lstStyle/>
          <a:p>
            <a:r>
              <a:rPr lang="en-US" altLang="zh-CN" dirty="0"/>
              <a:t>Treasury </a:t>
            </a:r>
            <a:r>
              <a:rPr lang="en-US" altLang="zh-CN" dirty="0" smtClean="0"/>
              <a:t>Rates,LIBOR,and </a:t>
            </a:r>
            <a:r>
              <a:rPr lang="en-US" altLang="zh-CN" dirty="0"/>
              <a:t>Repo Rates</a:t>
            </a:r>
          </a:p>
        </p:txBody>
      </p:sp>
    </p:spTree>
    <p:extLst>
      <p:ext uri="{BB962C8B-B14F-4D97-AF65-F5344CB8AC3E}">
        <p14:creationId xmlns:p14="http://schemas.microsoft.com/office/powerpoint/2010/main" val="210570149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a:bodyPr>
          <a:lstStyle/>
          <a:p>
            <a:r>
              <a:rPr lang="en-US" altLang="zh-CN" sz="2600" dirty="0"/>
              <a:t>Repo </a:t>
            </a:r>
            <a:r>
              <a:rPr lang="en-US" altLang="zh-CN" sz="2600" dirty="0" smtClean="0"/>
              <a:t>rates</a:t>
            </a:r>
          </a:p>
          <a:p>
            <a:pPr lvl="1"/>
            <a:r>
              <a:rPr lang="en-US" altLang="zh-CN" b="0" dirty="0">
                <a:latin typeface="+mn-lt"/>
              </a:rPr>
              <a:t>Sometimes, trading activities are funded with a repo or repurchase agreement: </a:t>
            </a:r>
            <a:r>
              <a:rPr lang="en-US" altLang="zh-CN" b="0" dirty="0" smtClean="0">
                <a:latin typeface="+mn-lt"/>
              </a:rPr>
              <a:t>a contract </a:t>
            </a:r>
            <a:r>
              <a:rPr lang="en-US" altLang="zh-CN" b="0" dirty="0">
                <a:latin typeface="+mn-lt"/>
              </a:rPr>
              <a:t>where a dealer (who owns securities) agrees to sell them to </a:t>
            </a:r>
            <a:r>
              <a:rPr lang="en-US" altLang="zh-CN" b="0" dirty="0" smtClean="0">
                <a:latin typeface="+mn-lt"/>
              </a:rPr>
              <a:t>another company </a:t>
            </a:r>
            <a:r>
              <a:rPr lang="en-US" altLang="zh-CN" b="0" dirty="0">
                <a:latin typeface="+mn-lt"/>
              </a:rPr>
              <a:t>now and buy them back later at </a:t>
            </a:r>
            <a:r>
              <a:rPr lang="en-US" altLang="zh-CN" b="0" dirty="0" smtClean="0">
                <a:latin typeface="+mn-lt"/>
              </a:rPr>
              <a:t>a </a:t>
            </a:r>
            <a:r>
              <a:rPr lang="en-US" altLang="zh-CN" b="0" dirty="0">
                <a:latin typeface="+mn-lt"/>
              </a:rPr>
              <a:t>slightly higher price</a:t>
            </a:r>
            <a:r>
              <a:rPr lang="en-US" altLang="zh-CN" b="0" dirty="0" smtClean="0">
                <a:latin typeface="+mn-lt"/>
              </a:rPr>
              <a:t>.</a:t>
            </a:r>
          </a:p>
          <a:p>
            <a:pPr lvl="1"/>
            <a:r>
              <a:rPr lang="en-US" altLang="zh-CN" dirty="0" smtClean="0"/>
              <a:t>The </a:t>
            </a:r>
            <a:r>
              <a:rPr lang="en-US" altLang="zh-CN" dirty="0"/>
              <a:t>other company is </a:t>
            </a:r>
            <a:r>
              <a:rPr lang="en-US" altLang="zh-CN" dirty="0" smtClean="0"/>
              <a:t>lending a </a:t>
            </a:r>
            <a:r>
              <a:rPr lang="en-US" altLang="zh-CN" dirty="0" smtClean="0">
                <a:solidFill>
                  <a:srgbClr val="FF0000"/>
                </a:solidFill>
              </a:rPr>
              <a:t>collateralized </a:t>
            </a:r>
            <a:r>
              <a:rPr lang="en-US" altLang="zh-CN" dirty="0">
                <a:solidFill>
                  <a:srgbClr val="FF0000"/>
                </a:solidFill>
              </a:rPr>
              <a:t>(secured) loan</a:t>
            </a:r>
            <a:r>
              <a:rPr lang="en-US" altLang="zh-CN" dirty="0" smtClean="0">
                <a:solidFill>
                  <a:srgbClr val="FF0000"/>
                </a:solidFill>
              </a:rPr>
              <a:t>.</a:t>
            </a:r>
          </a:p>
          <a:p>
            <a:pPr lvl="1"/>
            <a:r>
              <a:rPr lang="en-US" altLang="zh-CN" b="0" dirty="0"/>
              <a:t>The </a:t>
            </a:r>
            <a:r>
              <a:rPr lang="en-US" altLang="zh-CN" b="0" u="sng" dirty="0"/>
              <a:t>difference between selling price (today) and the repurchased price (tomorrow </a:t>
            </a:r>
            <a:r>
              <a:rPr lang="en-US" altLang="zh-CN" b="0" u="sng" dirty="0" smtClean="0"/>
              <a:t>or later</a:t>
            </a:r>
            <a:r>
              <a:rPr lang="en-US" altLang="zh-CN" b="0" u="sng" dirty="0"/>
              <a:t>) </a:t>
            </a:r>
            <a:r>
              <a:rPr lang="en-US" altLang="zh-CN" b="0" dirty="0"/>
              <a:t>is the interest paid in obtaining a loan and this interest rate is called repo rate</a:t>
            </a:r>
            <a:r>
              <a:rPr lang="en-US" altLang="zh-CN" b="0" dirty="0" smtClean="0"/>
              <a:t>.</a:t>
            </a:r>
          </a:p>
          <a:p>
            <a:pPr lvl="1"/>
            <a:r>
              <a:rPr lang="en-US" altLang="zh-CN" dirty="0" smtClean="0"/>
              <a:t>If </a:t>
            </a:r>
            <a:r>
              <a:rPr lang="en-US" altLang="zh-CN" dirty="0"/>
              <a:t>structured carefully, the loan </a:t>
            </a:r>
            <a:r>
              <a:rPr lang="en-US" altLang="zh-CN" u="sng" dirty="0"/>
              <a:t>involves very little credit risk</a:t>
            </a:r>
            <a:r>
              <a:rPr lang="en-US" altLang="zh-CN" u="sng" dirty="0" smtClean="0"/>
              <a:t>.</a:t>
            </a:r>
          </a:p>
          <a:p>
            <a:pPr lvl="1"/>
            <a:r>
              <a:rPr lang="en-US" altLang="zh-CN" b="0" dirty="0"/>
              <a:t>If the borrower does not honor the agreement, the lending company simply keeps </a:t>
            </a:r>
            <a:r>
              <a:rPr lang="en-US" altLang="zh-CN" b="0" dirty="0" smtClean="0"/>
              <a:t>the securities.</a:t>
            </a:r>
          </a:p>
          <a:p>
            <a:pPr lvl="1"/>
            <a:r>
              <a:rPr lang="en-US" altLang="zh-CN" dirty="0"/>
              <a:t>The most common type of repo is an </a:t>
            </a:r>
            <a:r>
              <a:rPr lang="en-US" altLang="zh-CN" b="1" dirty="0"/>
              <a:t>overnight </a:t>
            </a:r>
            <a:r>
              <a:rPr lang="en-US" altLang="zh-CN" b="1" dirty="0" smtClean="0"/>
              <a:t>repo.</a:t>
            </a:r>
            <a:endParaRPr lang="en-US" altLang="zh-CN" b="1" u="sng" dirty="0">
              <a:solidFill>
                <a:srgbClr val="FF0000"/>
              </a:solidFill>
              <a:latin typeface="+mn-lt"/>
            </a:endParaRPr>
          </a:p>
        </p:txBody>
      </p:sp>
      <p:sp>
        <p:nvSpPr>
          <p:cNvPr id="5" name="标题 1"/>
          <p:cNvSpPr>
            <a:spLocks noGrp="1"/>
          </p:cNvSpPr>
          <p:nvPr>
            <p:ph type="title"/>
          </p:nvPr>
        </p:nvSpPr>
        <p:spPr/>
        <p:txBody>
          <a:bodyPr/>
          <a:lstStyle/>
          <a:p>
            <a:r>
              <a:rPr lang="en-US" altLang="zh-CN" dirty="0"/>
              <a:t>Treasury </a:t>
            </a:r>
            <a:r>
              <a:rPr lang="en-US" altLang="zh-CN" dirty="0" smtClean="0"/>
              <a:t>Rates,LIBOR,and </a:t>
            </a:r>
            <a:r>
              <a:rPr lang="en-US" altLang="zh-CN" dirty="0"/>
              <a:t>Repo Rates</a:t>
            </a:r>
          </a:p>
        </p:txBody>
      </p:sp>
    </p:spTree>
    <p:extLst>
      <p:ext uri="{BB962C8B-B14F-4D97-AF65-F5344CB8AC3E}">
        <p14:creationId xmlns:p14="http://schemas.microsoft.com/office/powerpoint/2010/main" val="101331663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t>Risk-Free </a:t>
            </a:r>
            <a:r>
              <a:rPr lang="en-US" altLang="zh-CN" dirty="0" smtClean="0"/>
              <a:t>Rate</a:t>
            </a:r>
          </a:p>
          <a:p>
            <a:pPr lvl="1"/>
            <a:r>
              <a:rPr lang="en-US" altLang="zh-CN" dirty="0"/>
              <a:t>Traders argue that </a:t>
            </a:r>
            <a:r>
              <a:rPr lang="en-US" altLang="zh-CN" i="1" dirty="0"/>
              <a:t>Treasury rates are too low to be used as risk-free rates </a:t>
            </a:r>
            <a:r>
              <a:rPr lang="en-US" altLang="zh-CN" dirty="0"/>
              <a:t>because</a:t>
            </a:r>
            <a:r>
              <a:rPr lang="en-US" altLang="zh-CN" dirty="0" smtClean="0"/>
              <a:t>:</a:t>
            </a:r>
          </a:p>
          <a:p>
            <a:pPr lvl="2"/>
            <a:r>
              <a:rPr lang="en-US" altLang="zh-CN" b="1" dirty="0"/>
              <a:t>Market </a:t>
            </a:r>
            <a:r>
              <a:rPr lang="en-US" altLang="zh-CN" b="1" dirty="0" smtClean="0"/>
              <a:t>demand : </a:t>
            </a:r>
            <a:r>
              <a:rPr lang="en-US" altLang="zh-CN" b="0" dirty="0"/>
              <a:t>Financial institutions, to fulfill a variety of regulatory </a:t>
            </a:r>
            <a:r>
              <a:rPr lang="en-US" altLang="zh-CN" b="0" dirty="0" smtClean="0"/>
              <a:t>requirements must </a:t>
            </a:r>
            <a:r>
              <a:rPr lang="en-US" altLang="zh-CN" b="0" dirty="0"/>
              <a:t>purchase Treasury bills/bonds. </a:t>
            </a:r>
            <a:r>
              <a:rPr lang="en-US" altLang="zh-CN" b="0" u="sng" dirty="0"/>
              <a:t>This increases demand </a:t>
            </a:r>
            <a:r>
              <a:rPr lang="en-US" altLang="zh-CN" b="0" dirty="0"/>
              <a:t>for these </a:t>
            </a:r>
            <a:r>
              <a:rPr lang="en-US" altLang="zh-CN" b="0" dirty="0" smtClean="0"/>
              <a:t>Treasury instruments </a:t>
            </a:r>
            <a:r>
              <a:rPr lang="en-US" altLang="zh-CN" b="0" dirty="0"/>
              <a:t>driving the price up and their yield down</a:t>
            </a:r>
            <a:r>
              <a:rPr lang="en-US" altLang="zh-CN" b="0" dirty="0" smtClean="0"/>
              <a:t>.</a:t>
            </a:r>
          </a:p>
          <a:p>
            <a:pPr lvl="2"/>
            <a:r>
              <a:rPr lang="en-US" altLang="zh-CN" b="1" dirty="0"/>
              <a:t>Regulatory </a:t>
            </a:r>
            <a:r>
              <a:rPr lang="en-US" altLang="zh-CN" b="1" dirty="0" smtClean="0"/>
              <a:t>relief : </a:t>
            </a:r>
            <a:r>
              <a:rPr lang="en-US" altLang="zh-CN" b="0" dirty="0"/>
              <a:t>The amount of (regulatory) capital required to support </a:t>
            </a:r>
            <a:r>
              <a:rPr lang="en-US" altLang="zh-CN" b="0" dirty="0" smtClean="0"/>
              <a:t>an investment </a:t>
            </a:r>
            <a:r>
              <a:rPr lang="en-US" altLang="zh-CN" b="0" dirty="0"/>
              <a:t>in Treasury bills/bonds is substantially smaller than the capital required </a:t>
            </a:r>
            <a:r>
              <a:rPr lang="en-US" altLang="zh-CN" b="0" dirty="0" smtClean="0"/>
              <a:t>to support </a:t>
            </a:r>
            <a:r>
              <a:rPr lang="en-US" altLang="zh-CN" b="0" dirty="0"/>
              <a:t>a similar investment in other instruments</a:t>
            </a:r>
            <a:r>
              <a:rPr lang="en-US" altLang="zh-CN" b="0" dirty="0" smtClean="0"/>
              <a:t>.</a:t>
            </a:r>
          </a:p>
          <a:p>
            <a:pPr lvl="2"/>
            <a:r>
              <a:rPr lang="en-US" altLang="zh-CN" b="1" dirty="0"/>
              <a:t>Tax </a:t>
            </a:r>
            <a:r>
              <a:rPr lang="en-US" altLang="zh-CN" b="1" dirty="0" smtClean="0"/>
              <a:t>treatment : </a:t>
            </a:r>
            <a:r>
              <a:rPr lang="en-US" altLang="zh-CN" b="0" dirty="0"/>
              <a:t>In the United States, Treasury instruments are given a favorable </a:t>
            </a:r>
            <a:r>
              <a:rPr lang="en-US" altLang="zh-CN" b="0" dirty="0" smtClean="0"/>
              <a:t>tax treatment </a:t>
            </a:r>
            <a:r>
              <a:rPr lang="en-US" altLang="zh-CN" b="0" dirty="0"/>
              <a:t>because they </a:t>
            </a:r>
            <a:r>
              <a:rPr lang="en-US" altLang="zh-CN" b="0" u="sng" dirty="0"/>
              <a:t>are not taxed </a:t>
            </a:r>
            <a:r>
              <a:rPr lang="en-US" altLang="zh-CN" b="0" dirty="0"/>
              <a:t>at the state level.</a:t>
            </a:r>
            <a:endParaRPr lang="zh-CN" altLang="en-US" dirty="0"/>
          </a:p>
        </p:txBody>
      </p:sp>
      <p:sp>
        <p:nvSpPr>
          <p:cNvPr id="4" name="标题 1"/>
          <p:cNvSpPr>
            <a:spLocks noGrp="1"/>
          </p:cNvSpPr>
          <p:nvPr>
            <p:ph type="title"/>
          </p:nvPr>
        </p:nvSpPr>
        <p:spPr/>
        <p:txBody>
          <a:bodyPr/>
          <a:lstStyle/>
          <a:p>
            <a:r>
              <a:rPr lang="en-US" altLang="zh-CN" dirty="0"/>
              <a:t>Treasury </a:t>
            </a:r>
            <a:r>
              <a:rPr lang="en-US" altLang="zh-CN" dirty="0" smtClean="0"/>
              <a:t>Rates,LIBOR,and </a:t>
            </a:r>
            <a:r>
              <a:rPr lang="en-US" altLang="zh-CN" dirty="0"/>
              <a:t>Repo Rates</a:t>
            </a:r>
          </a:p>
        </p:txBody>
      </p:sp>
    </p:spTree>
    <p:extLst>
      <p:ext uri="{BB962C8B-B14F-4D97-AF65-F5344CB8AC3E}">
        <p14:creationId xmlns:p14="http://schemas.microsoft.com/office/powerpoint/2010/main" val="205737940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Value of </a:t>
            </a:r>
            <a:r>
              <a:rPr lang="en-US" altLang="zh-CN" dirty="0" smtClean="0"/>
              <a:t>An Investment </a:t>
            </a:r>
            <a:endParaRPr lang="en-US" altLang="zh-CN" dirty="0"/>
          </a:p>
        </p:txBody>
      </p:sp>
      <p:sp>
        <p:nvSpPr>
          <p:cNvPr id="3" name="文本占位符 2"/>
          <p:cNvSpPr>
            <a:spLocks noGrp="1"/>
          </p:cNvSpPr>
          <p:nvPr>
            <p:ph type="body" sz="quarter" idx="10"/>
          </p:nvPr>
        </p:nvSpPr>
        <p:spPr/>
        <p:txBody>
          <a:bodyPr/>
          <a:lstStyle/>
          <a:p>
            <a:pPr>
              <a:lnSpc>
                <a:spcPct val="140000"/>
              </a:lnSpc>
              <a:defRPr/>
            </a:pPr>
            <a:r>
              <a:rPr lang="en-US" altLang="zh-CN" dirty="0"/>
              <a:t>Compounding </a:t>
            </a:r>
            <a:r>
              <a:rPr lang="en-US" altLang="zh-CN" dirty="0" smtClean="0"/>
              <a:t>Frequencies </a:t>
            </a:r>
            <a:endParaRPr lang="en-US" altLang="zh-CN" sz="2000" dirty="0" smtClean="0">
              <a:solidFill>
                <a:srgbClr val="FF0000"/>
              </a:solidFill>
            </a:endParaRPr>
          </a:p>
          <a:p>
            <a:pPr lvl="1">
              <a:lnSpc>
                <a:spcPct val="140000"/>
              </a:lnSpc>
              <a:defRPr/>
            </a:pPr>
            <a:r>
              <a:rPr lang="en-US" altLang="zh-CN" b="1" dirty="0" smtClean="0"/>
              <a:t>Simple Interest</a:t>
            </a:r>
          </a:p>
          <a:p>
            <a:pPr lvl="1">
              <a:lnSpc>
                <a:spcPct val="140000"/>
              </a:lnSpc>
              <a:defRPr/>
            </a:pPr>
            <a:r>
              <a:rPr lang="en-US" altLang="zh-CN" b="1" dirty="0" smtClean="0"/>
              <a:t>Compounding </a:t>
            </a:r>
            <a:r>
              <a:rPr lang="en-US" altLang="zh-CN" b="1" dirty="0"/>
              <a:t>Interest</a:t>
            </a:r>
          </a:p>
          <a:p>
            <a:pPr lvl="2">
              <a:lnSpc>
                <a:spcPct val="140000"/>
              </a:lnSpc>
              <a:defRPr/>
            </a:pPr>
            <a:r>
              <a:rPr lang="en-US" altLang="zh-CN" u="sng" dirty="0"/>
              <a:t>Suppose we have an account where the simple interest is added in each year and then that money also earns interest.</a:t>
            </a:r>
          </a:p>
          <a:p>
            <a:pPr lvl="2">
              <a:lnSpc>
                <a:spcPct val="140000"/>
              </a:lnSpc>
              <a:defRPr/>
            </a:pPr>
            <a:r>
              <a:rPr lang="en-US" altLang="zh-CN" dirty="0"/>
              <a:t>Assuming</a:t>
            </a:r>
          </a:p>
          <a:p>
            <a:pPr marL="1327135" lvl="3" indent="0">
              <a:lnSpc>
                <a:spcPct val="140000"/>
              </a:lnSpc>
              <a:buNone/>
              <a:defRPr/>
            </a:pPr>
            <a:r>
              <a:rPr lang="en-US" altLang="zh-CN" dirty="0" smtClean="0"/>
              <a:t>  R</a:t>
            </a:r>
            <a:r>
              <a:rPr lang="en-US" altLang="zh-CN" baseline="-25000" dirty="0" smtClean="0"/>
              <a:t>c</a:t>
            </a:r>
            <a:r>
              <a:rPr lang="en-US" altLang="zh-CN" dirty="0" smtClean="0"/>
              <a:t> </a:t>
            </a:r>
            <a:r>
              <a:rPr lang="en-US" altLang="zh-CN" dirty="0"/>
              <a:t>is the rate of interest with continuous compounding.</a:t>
            </a:r>
          </a:p>
          <a:p>
            <a:pPr marL="1327135" lvl="3" indent="0">
              <a:lnSpc>
                <a:spcPct val="140000"/>
              </a:lnSpc>
              <a:buNone/>
              <a:defRPr/>
            </a:pPr>
            <a:r>
              <a:rPr lang="en-US" altLang="zh-CN" dirty="0" smtClean="0"/>
              <a:t>  R</a:t>
            </a:r>
            <a:r>
              <a:rPr lang="en-US" altLang="zh-CN" baseline="-25000" dirty="0" smtClean="0"/>
              <a:t>m</a:t>
            </a:r>
            <a:r>
              <a:rPr lang="en-US" altLang="zh-CN" dirty="0" smtClean="0"/>
              <a:t> </a:t>
            </a:r>
            <a:r>
              <a:rPr lang="en-US" altLang="zh-CN" dirty="0"/>
              <a:t>is the rate of interest with discrete compounding (m per annum)</a:t>
            </a:r>
          </a:p>
          <a:p>
            <a:pPr marL="1327135" lvl="3" indent="0">
              <a:lnSpc>
                <a:spcPct val="140000"/>
              </a:lnSpc>
              <a:buNone/>
              <a:defRPr/>
            </a:pPr>
            <a:r>
              <a:rPr lang="en-US" altLang="zh-CN" dirty="0" smtClean="0"/>
              <a:t>  n </a:t>
            </a:r>
            <a:r>
              <a:rPr lang="en-US" altLang="zh-CN" dirty="0"/>
              <a:t>is the number of years. </a:t>
            </a:r>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1881274" y="5200463"/>
                <a:ext cx="7200416" cy="491096"/>
              </a:xfrm>
              <a:prstGeom prst="rect">
                <a:avLst/>
              </a:prstGeom>
              <a:noFill/>
              <a:ln w="19050">
                <a:solidFill>
                  <a:srgbClr val="FF0000"/>
                </a:solidFill>
              </a:ln>
            </p:spPr>
            <p:txBody>
              <a:bodyPr wrap="square" rtlCol="0">
                <a:spAutoFit/>
              </a:bodyPr>
              <a:lstStyle/>
              <a:p>
                <a14:m>
                  <m:oMath xmlns:m="http://schemas.openxmlformats.org/officeDocument/2006/math">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FV</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sSub>
                          <m:sSub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sub>
                        </m:sSub>
                      </m:num>
                      <m:den>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mn</m:t>
                        </m:r>
                      </m:sup>
                    </m:sSup>
                  </m:oMath>
                </a14:m>
                <a:r>
                  <a:rPr lang="en-US" altLang="zh-CN" sz="1800" b="0" dirty="0">
                    <a:solidFill>
                      <a:srgbClr val="2C3E50"/>
                    </a:solidFill>
                    <a:latin typeface="Segoe UI" panose="020B0502040204020203" pitchFamily="34" charset="0"/>
                    <a:ea typeface="Segoe UI" pitchFamily="34" charset="0"/>
                    <a:cs typeface="Segoe UI" pitchFamily="34" charset="0"/>
                  </a:rPr>
                  <a:t>       </a:t>
                </a: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FV=PV</a:t>
                </a:r>
                <a14:m>
                  <m:oMath xmlns:m="http://schemas.openxmlformats.org/officeDocument/2006/math">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sub>
                        </m:s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sup>
                    </m:sSup>
                  </m:oMath>
                </a14:m>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     PV</a:t>
                </a:r>
                <a14:m>
                  <m:oMath xmlns:m="http://schemas.openxmlformats.org/officeDocument/2006/math">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sub>
                        </m:s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sSub>
                          <m:sSub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sub>
                        </m:sSub>
                      </m:num>
                      <m:den>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mn</m:t>
                        </m:r>
                      </m:sup>
                    </m:sSup>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881274" y="5200463"/>
                <a:ext cx="7200416" cy="491096"/>
              </a:xfrm>
              <a:prstGeom prst="rect">
                <a:avLst/>
              </a:prstGeom>
              <a:blipFill>
                <a:blip r:embed="rId2"/>
                <a:stretch>
                  <a:fillRect b="-3571"/>
                </a:stretch>
              </a:blipFill>
              <a:ln w="19050">
                <a:solidFill>
                  <a:srgbClr val="FF0000"/>
                </a:solidFill>
              </a:ln>
            </p:spPr>
            <p:txBody>
              <a:bodyPr/>
              <a:lstStyle/>
              <a:p>
                <a:r>
                  <a:rPr lang="zh-CN" altLang="en-US">
                    <a:noFill/>
                  </a:rPr>
                  <a:t> </a:t>
                </a:r>
              </a:p>
            </p:txBody>
          </p:sp>
        </mc:Fallback>
      </mc:AlternateContent>
      <p:sp>
        <p:nvSpPr>
          <p:cNvPr id="5" name="educational-questions-hand-drawn-speech-bubble_57253"/>
          <p:cNvSpPr>
            <a:spLocks noChangeAspect="1"/>
          </p:cNvSpPr>
          <p:nvPr/>
        </p:nvSpPr>
        <p:spPr bwMode="auto">
          <a:xfrm>
            <a:off x="1818844" y="5791832"/>
            <a:ext cx="609685" cy="581526"/>
          </a:xfrm>
          <a:custGeom>
            <a:avLst/>
            <a:gdLst>
              <a:gd name="connsiteX0" fmla="*/ 334880 w 599283"/>
              <a:gd name="connsiteY0" fmla="*/ 374436 h 571605"/>
              <a:gd name="connsiteX1" fmla="*/ 358347 w 599283"/>
              <a:gd name="connsiteY1" fmla="*/ 374436 h 571605"/>
              <a:gd name="connsiteX2" fmla="*/ 366796 w 599283"/>
              <a:gd name="connsiteY2" fmla="*/ 380758 h 571605"/>
              <a:gd name="connsiteX3" fmla="*/ 369142 w 599283"/>
              <a:gd name="connsiteY3" fmla="*/ 409326 h 571605"/>
              <a:gd name="connsiteX4" fmla="*/ 362806 w 599283"/>
              <a:gd name="connsiteY4" fmla="*/ 417522 h 571605"/>
              <a:gd name="connsiteX5" fmla="*/ 318923 w 599283"/>
              <a:gd name="connsiteY5" fmla="*/ 419864 h 571605"/>
              <a:gd name="connsiteX6" fmla="*/ 310944 w 599283"/>
              <a:gd name="connsiteY6" fmla="*/ 413776 h 571605"/>
              <a:gd name="connsiteX7" fmla="*/ 309301 w 599283"/>
              <a:gd name="connsiteY7" fmla="*/ 384739 h 571605"/>
              <a:gd name="connsiteX8" fmla="*/ 313760 w 599283"/>
              <a:gd name="connsiteY8" fmla="*/ 380290 h 571605"/>
              <a:gd name="connsiteX9" fmla="*/ 317045 w 599283"/>
              <a:gd name="connsiteY9" fmla="*/ 376309 h 571605"/>
              <a:gd name="connsiteX10" fmla="*/ 334880 w 599283"/>
              <a:gd name="connsiteY10" fmla="*/ 374436 h 571605"/>
              <a:gd name="connsiteX11" fmla="*/ 330950 w 599283"/>
              <a:gd name="connsiteY11" fmla="*/ 68287 h 571605"/>
              <a:gd name="connsiteX12" fmla="*/ 374060 w 599283"/>
              <a:gd name="connsiteY12" fmla="*/ 77064 h 571605"/>
              <a:gd name="connsiteX13" fmla="*/ 427327 w 599283"/>
              <a:gd name="connsiteY13" fmla="*/ 210642 h 571605"/>
              <a:gd name="connsiteX14" fmla="*/ 380631 w 599283"/>
              <a:gd name="connsiteY14" fmla="*/ 266886 h 571605"/>
              <a:gd name="connsiteX15" fmla="*/ 359042 w 599283"/>
              <a:gd name="connsiteY15" fmla="*/ 303912 h 571605"/>
              <a:gd name="connsiteX16" fmla="*/ 363031 w 599283"/>
              <a:gd name="connsiteY16" fmla="*/ 341408 h 571605"/>
              <a:gd name="connsiteX17" fmla="*/ 356461 w 599283"/>
              <a:gd name="connsiteY17" fmla="*/ 350313 h 571605"/>
              <a:gd name="connsiteX18" fmla="*/ 312580 w 599283"/>
              <a:gd name="connsiteY18" fmla="*/ 356875 h 571605"/>
              <a:gd name="connsiteX19" fmla="*/ 301082 w 599283"/>
              <a:gd name="connsiteY19" fmla="*/ 350548 h 571605"/>
              <a:gd name="connsiteX20" fmla="*/ 298735 w 599283"/>
              <a:gd name="connsiteY20" fmla="*/ 254934 h 571605"/>
              <a:gd name="connsiteX21" fmla="*/ 333230 w 599283"/>
              <a:gd name="connsiteY21" fmla="*/ 184161 h 571605"/>
              <a:gd name="connsiteX22" fmla="*/ 274096 w 599283"/>
              <a:gd name="connsiteY22" fmla="*/ 211814 h 571605"/>
              <a:gd name="connsiteX23" fmla="*/ 274096 w 599283"/>
              <a:gd name="connsiteY23" fmla="*/ 220954 h 571605"/>
              <a:gd name="connsiteX24" fmla="*/ 273393 w 599283"/>
              <a:gd name="connsiteY24" fmla="*/ 230327 h 571605"/>
              <a:gd name="connsiteX25" fmla="*/ 245703 w 599283"/>
              <a:gd name="connsiteY25" fmla="*/ 237124 h 571605"/>
              <a:gd name="connsiteX26" fmla="*/ 211209 w 599283"/>
              <a:gd name="connsiteY26" fmla="*/ 239233 h 571605"/>
              <a:gd name="connsiteX27" fmla="*/ 204169 w 599283"/>
              <a:gd name="connsiteY27" fmla="*/ 233843 h 571605"/>
              <a:gd name="connsiteX28" fmla="*/ 199241 w 599283"/>
              <a:gd name="connsiteY28" fmla="*/ 194238 h 571605"/>
              <a:gd name="connsiteX29" fmla="*/ 200415 w 599283"/>
              <a:gd name="connsiteY29" fmla="*/ 187442 h 571605"/>
              <a:gd name="connsiteX30" fmla="*/ 216841 w 599283"/>
              <a:gd name="connsiteY30" fmla="*/ 126980 h 571605"/>
              <a:gd name="connsiteX31" fmla="*/ 330950 w 599283"/>
              <a:gd name="connsiteY31" fmla="*/ 68287 h 571605"/>
              <a:gd name="connsiteX32" fmla="*/ 300998 w 599283"/>
              <a:gd name="connsiteY32" fmla="*/ 18449 h 571605"/>
              <a:gd name="connsiteX33" fmla="*/ 229270 w 599283"/>
              <a:gd name="connsiteY33" fmla="*/ 28792 h 571605"/>
              <a:gd name="connsiteX34" fmla="*/ 19242 w 599283"/>
              <a:gd name="connsiteY34" fmla="*/ 236405 h 571605"/>
              <a:gd name="connsiteX35" fmla="*/ 94805 w 599283"/>
              <a:gd name="connsiteY35" fmla="*/ 411681 h 571605"/>
              <a:gd name="connsiteX36" fmla="*/ 295916 w 599283"/>
              <a:gd name="connsiteY36" fmla="*/ 479636 h 571605"/>
              <a:gd name="connsiteX37" fmla="*/ 298263 w 599283"/>
              <a:gd name="connsiteY37" fmla="*/ 480808 h 571605"/>
              <a:gd name="connsiteX38" fmla="*/ 301079 w 599283"/>
              <a:gd name="connsiteY38" fmla="*/ 485963 h 571605"/>
              <a:gd name="connsiteX39" fmla="*/ 401752 w 599283"/>
              <a:gd name="connsiteY39" fmla="*/ 550168 h 571605"/>
              <a:gd name="connsiteX40" fmla="*/ 378051 w 599283"/>
              <a:gd name="connsiteY40" fmla="*/ 475418 h 571605"/>
              <a:gd name="connsiteX41" fmla="*/ 384387 w 599283"/>
              <a:gd name="connsiteY41" fmla="*/ 464170 h 571605"/>
              <a:gd name="connsiteX42" fmla="*/ 525188 w 599283"/>
              <a:gd name="connsiteY42" fmla="*/ 407229 h 571605"/>
              <a:gd name="connsiteX43" fmla="*/ 505006 w 599283"/>
              <a:gd name="connsiteY43" fmla="*/ 81749 h 571605"/>
              <a:gd name="connsiteX44" fmla="*/ 300998 w 599283"/>
              <a:gd name="connsiteY44" fmla="*/ 18449 h 571605"/>
              <a:gd name="connsiteX45" fmla="*/ 325342 w 599283"/>
              <a:gd name="connsiteY45" fmla="*/ 127 h 571605"/>
              <a:gd name="connsiteX46" fmla="*/ 457369 w 599283"/>
              <a:gd name="connsiteY46" fmla="*/ 29729 h 571605"/>
              <a:gd name="connsiteX47" fmla="*/ 599108 w 599283"/>
              <a:gd name="connsiteY47" fmla="*/ 260775 h 571605"/>
              <a:gd name="connsiteX48" fmla="*/ 543023 w 599283"/>
              <a:gd name="connsiteY48" fmla="*/ 414962 h 571605"/>
              <a:gd name="connsiteX49" fmla="*/ 397763 w 599283"/>
              <a:gd name="connsiteY49" fmla="*/ 479870 h 571605"/>
              <a:gd name="connsiteX50" fmla="*/ 421934 w 599283"/>
              <a:gd name="connsiteY50" fmla="*/ 553918 h 571605"/>
              <a:gd name="connsiteX51" fmla="*/ 415598 w 599283"/>
              <a:gd name="connsiteY51" fmla="*/ 565165 h 571605"/>
              <a:gd name="connsiteX52" fmla="*/ 283714 w 599283"/>
              <a:gd name="connsiteY52" fmla="*/ 490884 h 571605"/>
              <a:gd name="connsiteX53" fmla="*/ 283714 w 599283"/>
              <a:gd name="connsiteY53" fmla="*/ 489712 h 571605"/>
              <a:gd name="connsiteX54" fmla="*/ 3754 w 599283"/>
              <a:gd name="connsiteY54" fmla="*/ 212504 h 571605"/>
              <a:gd name="connsiteX55" fmla="*/ 325342 w 599283"/>
              <a:gd name="connsiteY55" fmla="*/ 127 h 571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9283" h="571605">
                <a:moveTo>
                  <a:pt x="334880" y="374436"/>
                </a:moveTo>
                <a:cubicBezTo>
                  <a:pt x="342624" y="374436"/>
                  <a:pt x="350369" y="374436"/>
                  <a:pt x="358347" y="374436"/>
                </a:cubicBezTo>
                <a:cubicBezTo>
                  <a:pt x="362102" y="374436"/>
                  <a:pt x="365622" y="377012"/>
                  <a:pt x="366796" y="380758"/>
                </a:cubicBezTo>
                <a:cubicBezTo>
                  <a:pt x="369142" y="390125"/>
                  <a:pt x="369142" y="399960"/>
                  <a:pt x="369142" y="409326"/>
                </a:cubicBezTo>
                <a:cubicBezTo>
                  <a:pt x="368908" y="412839"/>
                  <a:pt x="366561" y="417054"/>
                  <a:pt x="362806" y="417522"/>
                </a:cubicBezTo>
                <a:cubicBezTo>
                  <a:pt x="348257" y="419864"/>
                  <a:pt x="333472" y="420098"/>
                  <a:pt x="318923" y="419864"/>
                </a:cubicBezTo>
                <a:cubicBezTo>
                  <a:pt x="315403" y="419864"/>
                  <a:pt x="311648" y="417288"/>
                  <a:pt x="310944" y="413776"/>
                </a:cubicBezTo>
                <a:cubicBezTo>
                  <a:pt x="309067" y="404643"/>
                  <a:pt x="308597" y="391530"/>
                  <a:pt x="309301" y="384739"/>
                </a:cubicBezTo>
                <a:cubicBezTo>
                  <a:pt x="309301" y="382163"/>
                  <a:pt x="311648" y="380290"/>
                  <a:pt x="313760" y="380290"/>
                </a:cubicBezTo>
                <a:cubicBezTo>
                  <a:pt x="314464" y="378885"/>
                  <a:pt x="315403" y="377480"/>
                  <a:pt x="317045" y="376309"/>
                </a:cubicBezTo>
                <a:cubicBezTo>
                  <a:pt x="321504" y="373031"/>
                  <a:pt x="329483" y="374436"/>
                  <a:pt x="334880" y="374436"/>
                </a:cubicBezTo>
                <a:close/>
                <a:moveTo>
                  <a:pt x="330950" y="68287"/>
                </a:moveTo>
                <a:cubicBezTo>
                  <a:pt x="345696" y="68467"/>
                  <a:pt x="360333" y="71264"/>
                  <a:pt x="374060" y="77064"/>
                </a:cubicBezTo>
                <a:cubicBezTo>
                  <a:pt x="422869" y="97687"/>
                  <a:pt x="443518" y="161898"/>
                  <a:pt x="427327" y="210642"/>
                </a:cubicBezTo>
                <a:cubicBezTo>
                  <a:pt x="418410" y="236655"/>
                  <a:pt x="403392" y="252356"/>
                  <a:pt x="380631" y="266886"/>
                </a:cubicBezTo>
                <a:cubicBezTo>
                  <a:pt x="364909" y="277197"/>
                  <a:pt x="356930" y="284462"/>
                  <a:pt x="359042" y="303912"/>
                </a:cubicBezTo>
                <a:cubicBezTo>
                  <a:pt x="360216" y="316333"/>
                  <a:pt x="362562" y="328988"/>
                  <a:pt x="363031" y="341408"/>
                </a:cubicBezTo>
                <a:cubicBezTo>
                  <a:pt x="363266" y="345158"/>
                  <a:pt x="360216" y="349610"/>
                  <a:pt x="356461" y="350313"/>
                </a:cubicBezTo>
                <a:cubicBezTo>
                  <a:pt x="341678" y="352657"/>
                  <a:pt x="327129" y="354766"/>
                  <a:pt x="312580" y="356875"/>
                </a:cubicBezTo>
                <a:cubicBezTo>
                  <a:pt x="307887" y="357578"/>
                  <a:pt x="302255" y="355938"/>
                  <a:pt x="301082" y="350548"/>
                </a:cubicBezTo>
                <a:cubicBezTo>
                  <a:pt x="295919" y="321254"/>
                  <a:pt x="290053" y="284227"/>
                  <a:pt x="298735" y="254934"/>
                </a:cubicBezTo>
                <a:cubicBezTo>
                  <a:pt x="306479" y="229390"/>
                  <a:pt x="340035" y="212751"/>
                  <a:pt x="333230" y="184161"/>
                </a:cubicBezTo>
                <a:cubicBezTo>
                  <a:pt x="322905" y="139869"/>
                  <a:pt x="245938" y="172912"/>
                  <a:pt x="274096" y="211814"/>
                </a:cubicBezTo>
                <a:cubicBezTo>
                  <a:pt x="275974" y="214392"/>
                  <a:pt x="275739" y="218141"/>
                  <a:pt x="274096" y="220954"/>
                </a:cubicBezTo>
                <a:cubicBezTo>
                  <a:pt x="275974" y="223766"/>
                  <a:pt x="275739" y="227984"/>
                  <a:pt x="273393" y="230327"/>
                </a:cubicBezTo>
                <a:cubicBezTo>
                  <a:pt x="267291" y="237124"/>
                  <a:pt x="254151" y="236655"/>
                  <a:pt x="245703" y="237124"/>
                </a:cubicBezTo>
                <a:cubicBezTo>
                  <a:pt x="234205" y="238061"/>
                  <a:pt x="222707" y="238998"/>
                  <a:pt x="211209" y="239233"/>
                </a:cubicBezTo>
                <a:cubicBezTo>
                  <a:pt x="207924" y="239233"/>
                  <a:pt x="205108" y="236889"/>
                  <a:pt x="204169" y="233843"/>
                </a:cubicBezTo>
                <a:cubicBezTo>
                  <a:pt x="200180" y="221422"/>
                  <a:pt x="198303" y="207127"/>
                  <a:pt x="199241" y="194238"/>
                </a:cubicBezTo>
                <a:cubicBezTo>
                  <a:pt x="199476" y="191660"/>
                  <a:pt x="199945" y="189551"/>
                  <a:pt x="200415" y="187442"/>
                </a:cubicBezTo>
                <a:cubicBezTo>
                  <a:pt x="199711" y="165648"/>
                  <a:pt x="208628" y="138932"/>
                  <a:pt x="216841" y="126980"/>
                </a:cubicBezTo>
                <a:cubicBezTo>
                  <a:pt x="241479" y="90774"/>
                  <a:pt x="286709" y="67749"/>
                  <a:pt x="330950" y="68287"/>
                </a:cubicBezTo>
                <a:close/>
                <a:moveTo>
                  <a:pt x="300998" y="18449"/>
                </a:moveTo>
                <a:cubicBezTo>
                  <a:pt x="276615" y="19521"/>
                  <a:pt x="252444" y="23051"/>
                  <a:pt x="229270" y="28792"/>
                </a:cubicBezTo>
                <a:cubicBezTo>
                  <a:pt x="130475" y="53162"/>
                  <a:pt x="23935" y="124163"/>
                  <a:pt x="19242" y="236405"/>
                </a:cubicBezTo>
                <a:cubicBezTo>
                  <a:pt x="16661" y="302016"/>
                  <a:pt x="44117" y="368800"/>
                  <a:pt x="94805" y="411681"/>
                </a:cubicBezTo>
                <a:cubicBezTo>
                  <a:pt x="153942" y="462062"/>
                  <a:pt x="223404" y="465108"/>
                  <a:pt x="295916" y="479636"/>
                </a:cubicBezTo>
                <a:cubicBezTo>
                  <a:pt x="296855" y="479870"/>
                  <a:pt x="297559" y="480339"/>
                  <a:pt x="298263" y="480808"/>
                </a:cubicBezTo>
                <a:cubicBezTo>
                  <a:pt x="299671" y="481745"/>
                  <a:pt x="300844" y="483620"/>
                  <a:pt x="301079" y="485963"/>
                </a:cubicBezTo>
                <a:cubicBezTo>
                  <a:pt x="309058" y="538452"/>
                  <a:pt x="353880" y="562588"/>
                  <a:pt x="401752" y="550168"/>
                </a:cubicBezTo>
                <a:cubicBezTo>
                  <a:pt x="394008" y="525330"/>
                  <a:pt x="382979" y="501428"/>
                  <a:pt x="378051" y="475418"/>
                </a:cubicBezTo>
                <a:cubicBezTo>
                  <a:pt x="377112" y="470732"/>
                  <a:pt x="379224" y="465576"/>
                  <a:pt x="384387" y="464170"/>
                </a:cubicBezTo>
                <a:cubicBezTo>
                  <a:pt x="434137" y="451282"/>
                  <a:pt x="488580" y="448002"/>
                  <a:pt x="525188" y="407229"/>
                </a:cubicBezTo>
                <a:cubicBezTo>
                  <a:pt x="606383" y="317013"/>
                  <a:pt x="597700" y="160952"/>
                  <a:pt x="505006" y="81749"/>
                </a:cubicBezTo>
                <a:cubicBezTo>
                  <a:pt x="449214" y="34123"/>
                  <a:pt x="374150" y="15230"/>
                  <a:pt x="300998" y="18449"/>
                </a:cubicBezTo>
                <a:close/>
                <a:moveTo>
                  <a:pt x="325342" y="127"/>
                </a:moveTo>
                <a:cubicBezTo>
                  <a:pt x="372448" y="1332"/>
                  <a:pt x="418179" y="11100"/>
                  <a:pt x="457369" y="29729"/>
                </a:cubicBezTo>
                <a:cubicBezTo>
                  <a:pt x="546073" y="71673"/>
                  <a:pt x="602863" y="161889"/>
                  <a:pt x="599108" y="260775"/>
                </a:cubicBezTo>
                <a:cubicBezTo>
                  <a:pt x="596996" y="315842"/>
                  <a:pt x="580570" y="373252"/>
                  <a:pt x="543023" y="414962"/>
                </a:cubicBezTo>
                <a:cubicBezTo>
                  <a:pt x="503129" y="459250"/>
                  <a:pt x="452206" y="466514"/>
                  <a:pt x="397763" y="479870"/>
                </a:cubicBezTo>
                <a:cubicBezTo>
                  <a:pt x="403864" y="505178"/>
                  <a:pt x="415128" y="528845"/>
                  <a:pt x="421934" y="553918"/>
                </a:cubicBezTo>
                <a:cubicBezTo>
                  <a:pt x="423342" y="558838"/>
                  <a:pt x="420291" y="563525"/>
                  <a:pt x="415598" y="565165"/>
                </a:cubicBezTo>
                <a:cubicBezTo>
                  <a:pt x="355757" y="585786"/>
                  <a:pt x="293335" y="555792"/>
                  <a:pt x="283714" y="490884"/>
                </a:cubicBezTo>
                <a:cubicBezTo>
                  <a:pt x="283714" y="490415"/>
                  <a:pt x="283714" y="489946"/>
                  <a:pt x="283714" y="489712"/>
                </a:cubicBezTo>
                <a:cubicBezTo>
                  <a:pt x="131648" y="501897"/>
                  <a:pt x="-26518" y="373955"/>
                  <a:pt x="3754" y="212504"/>
                </a:cubicBezTo>
                <a:cubicBezTo>
                  <a:pt x="30330" y="69975"/>
                  <a:pt x="184023" y="-3487"/>
                  <a:pt x="325342" y="127"/>
                </a:cubicBezTo>
                <a:close/>
              </a:path>
            </a:pathLst>
          </a:custGeom>
          <a:solidFill>
            <a:schemeClr val="accent1"/>
          </a:solidFill>
          <a:ln>
            <a:noFill/>
          </a:ln>
        </p:spPr>
        <p:txBody>
          <a:bodyPr/>
          <a:lstStyle/>
          <a:p>
            <a:endParaRPr lang="zh-CN" altLang="en-US"/>
          </a:p>
        </p:txBody>
      </p:sp>
      <p:sp>
        <p:nvSpPr>
          <p:cNvPr id="6" name="文本框 5"/>
          <p:cNvSpPr txBox="1"/>
          <p:nvPr/>
        </p:nvSpPr>
        <p:spPr>
          <a:xfrm>
            <a:off x="2544897" y="5949020"/>
            <a:ext cx="4241494" cy="369332"/>
          </a:xfrm>
          <a:prstGeom prst="rect">
            <a:avLst/>
          </a:prstGeom>
          <a:noFill/>
        </p:spPr>
        <p:txBody>
          <a:bodyPr wrap="square" rtlCol="0">
            <a:spAutoFit/>
          </a:bodyPr>
          <a:lstStyle/>
          <a:p>
            <a:r>
              <a:rPr lang="zh-CN" altLang="en-US" b="1" dirty="0" smtClean="0">
                <a:solidFill>
                  <a:srgbClr val="FF0000"/>
                </a:solidFill>
              </a:rPr>
              <a:t>我觉得这些公式不重要，会推导就行！</a:t>
            </a:r>
            <a:endParaRPr lang="zh-CN" altLang="en-US" b="1" dirty="0">
              <a:solidFill>
                <a:srgbClr val="FF0000"/>
              </a:solidFill>
            </a:endParaRPr>
          </a:p>
        </p:txBody>
      </p:sp>
    </p:spTree>
    <p:extLst>
      <p:ext uri="{BB962C8B-B14F-4D97-AF65-F5344CB8AC3E}">
        <p14:creationId xmlns:p14="http://schemas.microsoft.com/office/powerpoint/2010/main" val="329707814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Convert interest rates based on different </a:t>
            </a:r>
            <a:r>
              <a:rPr lang="en-US" altLang="zh-CN" dirty="0" smtClean="0"/>
              <a:t>compounding frequencies.</a:t>
            </a:r>
          </a:p>
          <a:p>
            <a:pPr lvl="1"/>
            <a:r>
              <a:rPr lang="en-US" altLang="zh-CN" b="0" dirty="0"/>
              <a:t>The present value is discretely discounted at (m) periods per year (e.g., m = 2 for </a:t>
            </a:r>
            <a:r>
              <a:rPr lang="en-US" altLang="zh-CN" b="0" dirty="0" smtClean="0"/>
              <a:t>semiannual compounding</a:t>
            </a:r>
            <a:r>
              <a:rPr lang="en-US" altLang="zh-CN" b="0" dirty="0"/>
              <a:t>) over (n) years by using the formula on the left. The </a:t>
            </a:r>
            <a:r>
              <a:rPr lang="en-US" altLang="zh-CN" b="0" dirty="0" smtClean="0"/>
              <a:t>continuous equivalent </a:t>
            </a:r>
            <a:r>
              <a:rPr lang="en-US" altLang="zh-CN" b="0" dirty="0"/>
              <a:t>is the right. When the future value is $1.00, the PV is the discount factor (DF).</a:t>
            </a:r>
            <a:endParaRPr lang="zh-CN" altLang="en-US" b="0" dirty="0"/>
          </a:p>
        </p:txBody>
      </p:sp>
      <p:sp>
        <p:nvSpPr>
          <p:cNvPr id="4" name="标题 1"/>
          <p:cNvSpPr>
            <a:spLocks noGrp="1"/>
          </p:cNvSpPr>
          <p:nvPr>
            <p:ph type="title"/>
          </p:nvPr>
        </p:nvSpPr>
        <p:spPr/>
        <p:txBody>
          <a:bodyPr/>
          <a:lstStyle/>
          <a:p>
            <a:r>
              <a:rPr lang="en-US" altLang="zh-CN" dirty="0"/>
              <a:t>Value of </a:t>
            </a:r>
            <a:r>
              <a:rPr lang="en-US" altLang="zh-CN" dirty="0" smtClean="0"/>
              <a:t>An Investment </a:t>
            </a:r>
            <a:endParaRPr lang="en-US" altLang="zh-CN" dirty="0"/>
          </a:p>
        </p:txBody>
      </p:sp>
      <p:pic>
        <p:nvPicPr>
          <p:cNvPr id="5" name="图片 4"/>
          <p:cNvPicPr>
            <a:picLocks noChangeAspect="1"/>
          </p:cNvPicPr>
          <p:nvPr/>
        </p:nvPicPr>
        <p:blipFill>
          <a:blip r:embed="rId2"/>
          <a:stretch>
            <a:fillRect/>
          </a:stretch>
        </p:blipFill>
        <p:spPr>
          <a:xfrm>
            <a:off x="1314744" y="3581734"/>
            <a:ext cx="8997044" cy="2226665"/>
          </a:xfrm>
          <a:prstGeom prst="rect">
            <a:avLst/>
          </a:prstGeom>
        </p:spPr>
      </p:pic>
    </p:spTree>
    <p:extLst>
      <p:ext uri="{BB962C8B-B14F-4D97-AF65-F5344CB8AC3E}">
        <p14:creationId xmlns:p14="http://schemas.microsoft.com/office/powerpoint/2010/main" val="134655385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Theoretical Price of A Bond</a:t>
            </a:r>
            <a:endParaRPr lang="zh-CN" altLang="en-US"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Spot and Forward Rate</a:t>
            </a:r>
          </a:p>
          <a:p>
            <a:pPr lvl="1">
              <a:lnSpc>
                <a:spcPct val="140000"/>
              </a:lnSpc>
              <a:spcBef>
                <a:spcPct val="0"/>
              </a:spcBef>
            </a:pPr>
            <a:r>
              <a:rPr lang="en-US" altLang="zh-CN" b="1" dirty="0"/>
              <a:t>Spot Rate</a:t>
            </a:r>
          </a:p>
          <a:p>
            <a:pPr lvl="2">
              <a:lnSpc>
                <a:spcPct val="140000"/>
              </a:lnSpc>
              <a:spcBef>
                <a:spcPct val="0"/>
              </a:spcBef>
            </a:pPr>
            <a:r>
              <a:rPr lang="en-US" altLang="zh-CN" dirty="0"/>
              <a:t>A t-period spot rate, or </a:t>
            </a:r>
            <a:r>
              <a:rPr lang="en-US" altLang="zh-CN" b="1" dirty="0"/>
              <a:t>zero rate</a:t>
            </a:r>
            <a:r>
              <a:rPr lang="en-US" altLang="zh-CN" dirty="0"/>
              <a:t>, denoted as z(t), is the </a:t>
            </a:r>
            <a:r>
              <a:rPr lang="en-US" altLang="zh-CN" u="sng" dirty="0"/>
              <a:t>yield to maturity on a zero-coupon bond that matures in t-years</a:t>
            </a:r>
            <a:r>
              <a:rPr lang="en-US" altLang="zh-CN" dirty="0" smtClean="0"/>
              <a:t>.</a:t>
            </a:r>
            <a:endParaRPr lang="en-US" altLang="zh-CN" dirty="0"/>
          </a:p>
          <a:p>
            <a:endParaRPr lang="zh-CN" altLang="en-US" dirty="0"/>
          </a:p>
        </p:txBody>
      </p:sp>
      <p:pic>
        <p:nvPicPr>
          <p:cNvPr id="4"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29730" y="2509280"/>
            <a:ext cx="3448050"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a:spLocks/>
          </p:cNvSpPr>
          <p:nvPr/>
        </p:nvSpPr>
        <p:spPr bwMode="auto">
          <a:xfrm>
            <a:off x="609600" y="3297473"/>
            <a:ext cx="8207375" cy="296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12788" indent="-3492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712788" indent="-36353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lgn="just">
              <a:lnSpc>
                <a:spcPct val="140000"/>
              </a:lnSpc>
              <a:spcBef>
                <a:spcPct val="0"/>
              </a:spcBef>
              <a:buFont typeface="Wingdings" panose="05000000000000000000" pitchFamily="2" charset="2"/>
              <a:buChar char="l"/>
            </a:pPr>
            <a:r>
              <a:rPr lang="en-US" altLang="zh-CN" sz="2200" b="1" dirty="0">
                <a:latin typeface="Segoe UI" panose="020B0502040204020203" pitchFamily="34" charset="0"/>
                <a:ea typeface="微软雅黑" panose="020B0503020204020204" pitchFamily="34" charset="-122"/>
                <a:cs typeface="Segoe UI" panose="020B0502040204020203" pitchFamily="34" charset="0"/>
              </a:rPr>
              <a:t>Forward rates</a:t>
            </a:r>
          </a:p>
          <a:p>
            <a:pPr lvl="2" algn="just">
              <a:lnSpc>
                <a:spcPct val="140000"/>
              </a:lnSpc>
              <a:spcBef>
                <a:spcPct val="0"/>
              </a:spcBef>
              <a:buFont typeface="Wingdings" panose="05000000000000000000" pitchFamily="2" charset="2"/>
              <a:buChar char="ü"/>
            </a:pPr>
            <a:r>
              <a:rPr lang="en-US" altLang="zh-CN" sz="2200" b="0" dirty="0">
                <a:latin typeface="Segoe UI" panose="020B0502040204020203" pitchFamily="34" charset="0"/>
                <a:ea typeface="微软雅黑" panose="020B0503020204020204" pitchFamily="34" charset="-122"/>
                <a:cs typeface="Segoe UI" panose="020B0502040204020203" pitchFamily="34" charset="0"/>
              </a:rPr>
              <a:t>Interest rates </a:t>
            </a:r>
            <a:r>
              <a:rPr lang="en-US" altLang="zh-CN" sz="2200" b="0" u="sng" dirty="0">
                <a:latin typeface="Segoe UI" panose="020B0502040204020203" pitchFamily="34" charset="0"/>
                <a:ea typeface="微软雅黑" panose="020B0503020204020204" pitchFamily="34" charset="-122"/>
                <a:cs typeface="Segoe UI" panose="020B0502040204020203" pitchFamily="34" charset="0"/>
              </a:rPr>
              <a:t>corresponding to a future period</a:t>
            </a:r>
            <a:r>
              <a:rPr lang="en-US" altLang="zh-CN" sz="2200" b="0" dirty="0">
                <a:latin typeface="Segoe UI" panose="020B0502040204020203" pitchFamily="34" charset="0"/>
                <a:ea typeface="微软雅黑" panose="020B0503020204020204" pitchFamily="34" charset="-122"/>
                <a:cs typeface="Segoe UI" panose="020B0502040204020203" pitchFamily="34" charset="0"/>
              </a:rPr>
              <a:t> </a:t>
            </a:r>
            <a:endParaRPr lang="en-US" altLang="zh-CN" sz="2200" b="0" dirty="0" smtClean="0">
              <a:latin typeface="Segoe UI" panose="020B0502040204020203" pitchFamily="34" charset="0"/>
              <a:ea typeface="微软雅黑" panose="020B0503020204020204" pitchFamily="34" charset="-122"/>
              <a:cs typeface="Segoe UI" panose="020B0502040204020203" pitchFamily="34" charset="0"/>
            </a:endParaRPr>
          </a:p>
          <a:p>
            <a:pPr marL="349250" lvl="2" indent="0" algn="just">
              <a:lnSpc>
                <a:spcPct val="140000"/>
              </a:lnSpc>
              <a:spcBef>
                <a:spcPct val="0"/>
              </a:spcBef>
              <a:buNone/>
            </a:pPr>
            <a:r>
              <a:rPr lang="en-US" altLang="zh-CN" sz="2200" dirty="0">
                <a:latin typeface="Segoe UI" panose="020B0502040204020203" pitchFamily="34" charset="0"/>
                <a:ea typeface="微软雅黑" panose="020B0503020204020204" pitchFamily="34" charset="-122"/>
                <a:cs typeface="Segoe UI" panose="020B0502040204020203" pitchFamily="34" charset="0"/>
              </a:rPr>
              <a:t> </a:t>
            </a:r>
            <a:r>
              <a:rPr lang="en-US" altLang="zh-CN" sz="2200" dirty="0" smtClean="0">
                <a:latin typeface="Segoe UI" panose="020B0502040204020203" pitchFamily="34" charset="0"/>
                <a:ea typeface="微软雅黑" panose="020B0503020204020204" pitchFamily="34" charset="-122"/>
                <a:cs typeface="Segoe UI" panose="020B0502040204020203" pitchFamily="34" charset="0"/>
              </a:rPr>
              <a:t>    </a:t>
            </a:r>
            <a:r>
              <a:rPr lang="en-US" altLang="zh-CN" sz="2200" b="0" dirty="0" smtClean="0">
                <a:latin typeface="Segoe UI" panose="020B0502040204020203" pitchFamily="34" charset="0"/>
                <a:ea typeface="微软雅黑" panose="020B0503020204020204" pitchFamily="34" charset="-122"/>
                <a:cs typeface="Segoe UI" panose="020B0502040204020203" pitchFamily="34" charset="0"/>
              </a:rPr>
              <a:t>implied </a:t>
            </a:r>
            <a:r>
              <a:rPr lang="en-US" altLang="zh-CN" sz="2200" b="0" dirty="0">
                <a:latin typeface="Segoe UI" panose="020B0502040204020203" pitchFamily="34" charset="0"/>
                <a:ea typeface="微软雅黑" panose="020B0503020204020204" pitchFamily="34" charset="-122"/>
                <a:cs typeface="Segoe UI" panose="020B0502040204020203" pitchFamily="34" charset="0"/>
              </a:rPr>
              <a:t>by the spot curve.</a:t>
            </a:r>
          </a:p>
        </p:txBody>
      </p:sp>
      <mc:AlternateContent xmlns:mc="http://schemas.openxmlformats.org/markup-compatibility/2006" xmlns:a14="http://schemas.microsoft.com/office/drawing/2010/main">
        <mc:Choice Requires="a14">
          <p:sp>
            <p:nvSpPr>
              <p:cNvPr id="7" name="文本框 6"/>
              <p:cNvSpPr txBox="1"/>
              <p:nvPr/>
            </p:nvSpPr>
            <p:spPr>
              <a:xfrm>
                <a:off x="1457461" y="4990670"/>
                <a:ext cx="5417064" cy="913327"/>
              </a:xfrm>
              <a:prstGeom prst="rect">
                <a:avLst/>
              </a:prstGeom>
              <a:noFill/>
              <a:ln w="19050">
                <a:solidFill>
                  <a:srgbClr val="FF0000"/>
                </a:solidFill>
              </a:ln>
            </p:spPr>
            <p:txBody>
              <a:bodyPr wrap="square" rtlCol="0">
                <a:spAutoFit/>
              </a:bodyPr>
              <a:lstStyle/>
              <a:p>
                <a14:m>
                  <m:oMath xmlns:m="http://schemas.openxmlformats.org/officeDocument/2006/math">
                    <m:r>
                      <a:rPr lang="en-US" altLang="zh-CN" sz="20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e>
                      <m:sup>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up>
                    </m:sSup>
                  </m:oMath>
                </a14:m>
                <a:r>
                  <a:rPr lang="en-US" altLang="zh-CN"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(1+</a:t>
                </a:r>
                <a14:m>
                  <m:oMath xmlns:m="http://schemas.openxmlformats.org/officeDocument/2006/math">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1,2</m:t>
                        </m:r>
                      </m:sub>
                    </m:sSub>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up>
                    </m:sSup>
                  </m:oMath>
                </a14:m>
                <a:r>
                  <a:rPr lang="en-US" altLang="zh-CN"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=(1+</a:t>
                </a:r>
                <a14:m>
                  <m:oMath xmlns:m="http://schemas.openxmlformats.org/officeDocument/2006/math">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e>
                      <m:sup>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sup>
                    </m:sSup>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  </m:t>
                    </m:r>
                  </m:oMath>
                </a14:m>
                <a:endParaRPr lang="en-US" altLang="zh-CN"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a:p>
                <a14:m>
                  <m:oMath xmlns:m="http://schemas.openxmlformats.org/officeDocument/2006/math">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up>
                    </m:sSup>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1,2</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up>
                    </m:sSup>
                  </m:oMath>
                </a14:m>
                <a:r>
                  <a:rPr lang="en-US" altLang="zh-CN"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sSup>
                      <m:sSup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p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sup>
                    </m:sSup>
                  </m:oMath>
                </a14:m>
                <a:r>
                  <a:rPr lang="zh-CN" altLang="en-US"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 </a:t>
                </a:r>
                <a14:m>
                  <m:oMath xmlns:m="http://schemas.openxmlformats.org/officeDocument/2006/math">
                    <m:r>
                      <a:rPr lang="zh-CN" altLang="en-US"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1,2</m:t>
                        </m:r>
                      </m:sub>
                    </m:sSub>
                  </m:oMath>
                </a14:m>
                <a:r>
                  <a:rPr lang="zh-CN" altLang="en-US"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 </a:t>
                </a:r>
                <a:r>
                  <a:rPr lang="en-US" altLang="zh-CN"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f>
                      <m:f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fPr>
                      <m:num>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num>
                      <m:den>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0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den>
                    </m:f>
                  </m:oMath>
                </a14:m>
                <a:endParaRPr lang="zh-CN" altLang="en-US" sz="20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457461" y="4990670"/>
                <a:ext cx="5417064" cy="913327"/>
              </a:xfrm>
              <a:prstGeom prst="rect">
                <a:avLst/>
              </a:prstGeom>
              <a:blipFill>
                <a:blip r:embed="rId3"/>
                <a:stretch>
                  <a:fillRect l="-448" t="-1307"/>
                </a:stretch>
              </a:blipFill>
              <a:ln w="19050">
                <a:solidFill>
                  <a:srgbClr val="FF0000"/>
                </a:solidFill>
              </a:ln>
            </p:spPr>
            <p:txBody>
              <a:bodyPr/>
              <a:lstStyle/>
              <a:p>
                <a:r>
                  <a:rPr lang="zh-CN" altLang="en-US">
                    <a:noFill/>
                  </a:rPr>
                  <a:t> </a:t>
                </a:r>
              </a:p>
            </p:txBody>
          </p:sp>
        </mc:Fallback>
      </mc:AlternateContent>
      <p:sp>
        <p:nvSpPr>
          <p:cNvPr id="8" name="black-left-arrow_45400"/>
          <p:cNvSpPr>
            <a:spLocks noChangeAspect="1"/>
          </p:cNvSpPr>
          <p:nvPr/>
        </p:nvSpPr>
        <p:spPr bwMode="auto">
          <a:xfrm>
            <a:off x="7140400" y="5273387"/>
            <a:ext cx="609685" cy="489202"/>
          </a:xfrm>
          <a:custGeom>
            <a:avLst/>
            <a:gdLst>
              <a:gd name="T0" fmla="*/ 2850 w 7415"/>
              <a:gd name="T1" fmla="*/ 5887 h 5959"/>
              <a:gd name="T2" fmla="*/ 2980 w 7415"/>
              <a:gd name="T3" fmla="*/ 5833 h 5959"/>
              <a:gd name="T4" fmla="*/ 2980 w 7415"/>
              <a:gd name="T5" fmla="*/ 5010 h 5959"/>
              <a:gd name="T6" fmla="*/ 3204 w 7415"/>
              <a:gd name="T7" fmla="*/ 4944 h 5959"/>
              <a:gd name="T8" fmla="*/ 7411 w 7415"/>
              <a:gd name="T9" fmla="*/ 207 h 5959"/>
              <a:gd name="T10" fmla="*/ 7308 w 7415"/>
              <a:gd name="T11" fmla="*/ 173 h 5959"/>
              <a:gd name="T12" fmla="*/ 3151 w 7415"/>
              <a:gd name="T13" fmla="*/ 1016 h 5959"/>
              <a:gd name="T14" fmla="*/ 2980 w 7415"/>
              <a:gd name="T15" fmla="*/ 888 h 5959"/>
              <a:gd name="T16" fmla="*/ 2980 w 7415"/>
              <a:gd name="T17" fmla="*/ 125 h 5959"/>
              <a:gd name="T18" fmla="*/ 2850 w 7415"/>
              <a:gd name="T19" fmla="*/ 72 h 5959"/>
              <a:gd name="T20" fmla="*/ 72 w 7415"/>
              <a:gd name="T21" fmla="*/ 2849 h 5959"/>
              <a:gd name="T22" fmla="*/ 72 w 7415"/>
              <a:gd name="T23" fmla="*/ 3110 h 5959"/>
              <a:gd name="T24" fmla="*/ 2850 w 7415"/>
              <a:gd name="T25" fmla="*/ 5887 h 5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15" h="5959">
                <a:moveTo>
                  <a:pt x="2850" y="5887"/>
                </a:moveTo>
                <a:cubicBezTo>
                  <a:pt x="2922" y="5959"/>
                  <a:pt x="2980" y="5935"/>
                  <a:pt x="2980" y="5833"/>
                </a:cubicBezTo>
                <a:lnTo>
                  <a:pt x="2980" y="5010"/>
                </a:lnTo>
                <a:cubicBezTo>
                  <a:pt x="2980" y="4908"/>
                  <a:pt x="3103" y="4949"/>
                  <a:pt x="3204" y="4944"/>
                </a:cubicBezTo>
                <a:cubicBezTo>
                  <a:pt x="5507" y="4830"/>
                  <a:pt x="7317" y="2530"/>
                  <a:pt x="7411" y="207"/>
                </a:cubicBezTo>
                <a:cubicBezTo>
                  <a:pt x="7415" y="105"/>
                  <a:pt x="7369" y="92"/>
                  <a:pt x="7308" y="173"/>
                </a:cubicBezTo>
                <a:cubicBezTo>
                  <a:pt x="6022" y="1884"/>
                  <a:pt x="3785" y="1243"/>
                  <a:pt x="3151" y="1016"/>
                </a:cubicBezTo>
                <a:cubicBezTo>
                  <a:pt x="3056" y="981"/>
                  <a:pt x="2980" y="989"/>
                  <a:pt x="2980" y="888"/>
                </a:cubicBezTo>
                <a:lnTo>
                  <a:pt x="2980" y="125"/>
                </a:lnTo>
                <a:cubicBezTo>
                  <a:pt x="2980" y="24"/>
                  <a:pt x="2922" y="0"/>
                  <a:pt x="2850" y="72"/>
                </a:cubicBezTo>
                <a:lnTo>
                  <a:pt x="72" y="2849"/>
                </a:lnTo>
                <a:cubicBezTo>
                  <a:pt x="0" y="2921"/>
                  <a:pt x="0" y="3038"/>
                  <a:pt x="72" y="3110"/>
                </a:cubicBezTo>
                <a:lnTo>
                  <a:pt x="2850" y="5887"/>
                </a:lnTo>
                <a:close/>
              </a:path>
            </a:pathLst>
          </a:custGeom>
          <a:solidFill>
            <a:schemeClr val="accent1"/>
          </a:solidFill>
          <a:ln>
            <a:noFill/>
          </a:ln>
        </p:spPr>
      </p:sp>
      <p:sp>
        <p:nvSpPr>
          <p:cNvPr id="9" name="文本框 8"/>
          <p:cNvSpPr txBox="1"/>
          <p:nvPr/>
        </p:nvSpPr>
        <p:spPr>
          <a:xfrm>
            <a:off x="7844010" y="5256392"/>
            <a:ext cx="2787268" cy="369332"/>
          </a:xfrm>
          <a:prstGeom prst="rect">
            <a:avLst/>
          </a:prstGeom>
          <a:noFill/>
        </p:spPr>
        <p:txBody>
          <a:bodyPr wrap="square" rtlCol="0">
            <a:spAutoFit/>
          </a:bodyPr>
          <a:lstStyle/>
          <a:p>
            <a:r>
              <a:rPr lang="zh-CN" altLang="en-US" b="1" dirty="0" smtClean="0">
                <a:solidFill>
                  <a:srgbClr val="FF0000"/>
                </a:solidFill>
              </a:rPr>
              <a:t>基本每年都会考！</a:t>
            </a:r>
            <a:endParaRPr lang="zh-CN" altLang="en-US" b="1" dirty="0">
              <a:solidFill>
                <a:srgbClr val="FF0000"/>
              </a:solidFill>
            </a:endParaRPr>
          </a:p>
        </p:txBody>
      </p:sp>
    </p:spTree>
    <p:extLst>
      <p:ext uri="{BB962C8B-B14F-4D97-AF65-F5344CB8AC3E}">
        <p14:creationId xmlns:p14="http://schemas.microsoft.com/office/powerpoint/2010/main" val="377881998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Theoretical Price of A Bond</a:t>
            </a:r>
            <a:endParaRPr lang="zh-CN" altLang="en-US"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How to determine the price of a bond? </a:t>
            </a:r>
          </a:p>
          <a:p>
            <a:pPr lvl="1">
              <a:lnSpc>
                <a:spcPct val="140000"/>
              </a:lnSpc>
              <a:spcBef>
                <a:spcPct val="0"/>
              </a:spcBef>
            </a:pPr>
            <a:r>
              <a:rPr lang="en-US" altLang="zh-CN" b="1" dirty="0"/>
              <a:t>Example: </a:t>
            </a:r>
            <a:r>
              <a:rPr lang="en-US" altLang="zh-CN" dirty="0"/>
              <a:t>Suppose that a 2-year Treasury bond with a principal of $100 provides coupons at the rate of 6% per annum semiannually. The Treasury zero rates are below, compute the bond price:</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921255897"/>
              </p:ext>
            </p:extLst>
          </p:nvPr>
        </p:nvGraphicFramePr>
        <p:xfrm>
          <a:off x="1345148" y="2874771"/>
          <a:ext cx="6696075" cy="2122488"/>
        </p:xfrm>
        <a:graphic>
          <a:graphicData uri="http://schemas.openxmlformats.org/drawingml/2006/table">
            <a:tbl>
              <a:tblPr firstRow="1" bandRow="1">
                <a:tableStyleId>{6E25E649-3F16-4E02-A733-19D2CDBF48F0}</a:tableStyleId>
              </a:tblPr>
              <a:tblGrid>
                <a:gridCol w="3455607">
                  <a:extLst>
                    <a:ext uri="{9D8B030D-6E8A-4147-A177-3AD203B41FA5}">
                      <a16:colId xmlns="" xmlns:a16="http://schemas.microsoft.com/office/drawing/2014/main" val="20000"/>
                    </a:ext>
                  </a:extLst>
                </a:gridCol>
                <a:gridCol w="3240468">
                  <a:extLst>
                    <a:ext uri="{9D8B030D-6E8A-4147-A177-3AD203B41FA5}">
                      <a16:colId xmlns="" xmlns:a16="http://schemas.microsoft.com/office/drawing/2014/main" val="20001"/>
                    </a:ext>
                  </a:extLst>
                </a:gridCol>
              </a:tblGrid>
              <a:tr h="640028">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ctr"/>
                      <a:r>
                        <a:rPr lang="en-US" altLang="zh-CN" sz="1800" dirty="0" smtClean="0"/>
                        <a:t>Treasury Zero</a:t>
                      </a:r>
                      <a:r>
                        <a:rPr lang="en-US" altLang="zh-CN" sz="1800" baseline="0" dirty="0" smtClean="0"/>
                        <a:t> Rates Maturity (Years)</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ctr"/>
                      <a:r>
                        <a:rPr lang="en-US" altLang="zh-CN" sz="1800" dirty="0" smtClean="0"/>
                        <a:t>Zero Rate (%)</a:t>
                      </a:r>
                    </a:p>
                    <a:p>
                      <a:pPr algn="ctr"/>
                      <a:r>
                        <a:rPr lang="en-US" altLang="zh-CN" sz="1800" dirty="0" smtClean="0"/>
                        <a:t>(continuously</a:t>
                      </a:r>
                      <a:r>
                        <a:rPr lang="en-US" altLang="zh-CN" sz="1800" baseline="0" dirty="0" smtClean="0"/>
                        <a:t> Compounded</a:t>
                      </a:r>
                      <a:r>
                        <a:rPr lang="en-US" altLang="zh-CN" sz="1800" dirty="0" smtClean="0"/>
                        <a:t>)</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extLst>
                  <a:ext uri="{0D108BD9-81ED-4DB2-BD59-A6C34878D82A}">
                    <a16:rowId xmlns="" xmlns:a16="http://schemas.microsoft.com/office/drawing/2014/main" val="10000"/>
                  </a:ext>
                </a:extLst>
              </a:tr>
              <a:tr h="370615">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0.5</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5.0</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extLst>
                  <a:ext uri="{0D108BD9-81ED-4DB2-BD59-A6C34878D82A}">
                    <a16:rowId xmlns="" xmlns:a16="http://schemas.microsoft.com/office/drawing/2014/main" val="10001"/>
                  </a:ext>
                </a:extLst>
              </a:tr>
              <a:tr h="370615">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1</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5.8</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extLst>
                  <a:ext uri="{0D108BD9-81ED-4DB2-BD59-A6C34878D82A}">
                    <a16:rowId xmlns="" xmlns:a16="http://schemas.microsoft.com/office/drawing/2014/main" val="10002"/>
                  </a:ext>
                </a:extLst>
              </a:tr>
              <a:tr h="370615">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1.5</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6.4</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extLst>
                  <a:ext uri="{0D108BD9-81ED-4DB2-BD59-A6C34878D82A}">
                    <a16:rowId xmlns="" xmlns:a16="http://schemas.microsoft.com/office/drawing/2014/main" val="10003"/>
                  </a:ext>
                </a:extLst>
              </a:tr>
              <a:tr h="370615">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2.0</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algn="ctr"/>
                      <a:r>
                        <a:rPr lang="en-US" altLang="zh-CN" sz="1800" dirty="0" smtClean="0"/>
                        <a:t>6.8</a:t>
                      </a:r>
                      <a:endParaRPr lang="zh-CN" altLang="en-US" sz="1800" dirty="0">
                        <a:solidFill>
                          <a:srgbClr val="2C3E50"/>
                        </a:solidFill>
                        <a:latin typeface="Segoe UI" panose="020B0502040204020203" pitchFamily="34" charset="0"/>
                        <a:cs typeface="Segoe UI" panose="020B0502040204020203" pitchFamily="34" charset="0"/>
                      </a:endParaRPr>
                    </a:p>
                  </a:txBody>
                  <a:tcPr marL="91441" marR="91441" marT="45694" marB="45694"/>
                </a:tc>
                <a:extLst>
                  <a:ext uri="{0D108BD9-81ED-4DB2-BD59-A6C34878D82A}">
                    <a16:rowId xmlns=""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5" name="文本框 4"/>
              <p:cNvSpPr txBox="1"/>
              <p:nvPr/>
            </p:nvSpPr>
            <p:spPr>
              <a:xfrm>
                <a:off x="1345147" y="5363035"/>
                <a:ext cx="7611565" cy="4036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0" dirty="0" smtClean="0">
                          <a:solidFill>
                            <a:srgbClr val="FF0000"/>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2000" b="0" i="0" dirty="0" smtClean="0">
                          <a:solidFill>
                            <a:srgbClr val="FF0000"/>
                          </a:solidFill>
                          <a:latin typeface="Cambria Math" panose="02040503050406030204" pitchFamily="18" charset="0"/>
                          <a:ea typeface="微软雅黑" panose="020B0503020204020204" pitchFamily="34" charset="-122"/>
                          <a:cs typeface="Segoe UI" panose="020B0502040204020203" pitchFamily="34" charset="0"/>
                        </a:rPr>
                        <m:t>=3</m:t>
                      </m:r>
                      <m:sSup>
                        <m:sSupPr>
                          <m:ctrlPr>
                            <a:rPr lang="en-US" altLang="zh-CN" sz="2000" b="0" i="1" dirty="0">
                              <a:solidFill>
                                <a:srgbClr val="FF0000"/>
                              </a:solidFill>
                              <a:latin typeface="Cambria Math"/>
                              <a:ea typeface="微软雅黑" panose="020B0503020204020204" pitchFamily="34" charset="-122"/>
                              <a:cs typeface="Segoe UI" panose="020B0502040204020203" pitchFamily="34" charset="0"/>
                            </a:rPr>
                          </m:ctrlPr>
                        </m:sSupPr>
                        <m:e>
                          <m:r>
                            <m:rPr>
                              <m:sty m:val="p"/>
                            </m:rP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−0.05×0.5</m:t>
                          </m:r>
                        </m:sup>
                      </m:s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2000" b="0" i="1" dirty="0">
                              <a:solidFill>
                                <a:srgbClr val="FF0000"/>
                              </a:solidFill>
                              <a:latin typeface="Cambria Math"/>
                              <a:ea typeface="微软雅黑" panose="020B0503020204020204" pitchFamily="34" charset="-122"/>
                              <a:cs typeface="Segoe UI" panose="020B0502040204020203" pitchFamily="34" charset="0"/>
                            </a:rPr>
                          </m:ctrlPr>
                        </m:sSupPr>
                        <m:e>
                          <m:r>
                            <m:rPr>
                              <m:sty m:val="p"/>
                            </m:rPr>
                            <a:rPr lang="en-US" altLang="zh-CN" sz="2000" b="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2000" b="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−0.05</m:t>
                          </m:r>
                          <m:r>
                            <a:rPr lang="en-US" altLang="zh-CN" sz="2000" b="0" i="0" dirty="0" smtClean="0">
                              <a:solidFill>
                                <a:srgbClr val="FF0000"/>
                              </a:solidFill>
                              <a:latin typeface="Cambria Math" panose="02040503050406030204" pitchFamily="18" charset="0"/>
                              <a:ea typeface="微软雅黑" panose="020B0503020204020204" pitchFamily="34" charset="-122"/>
                              <a:cs typeface="Segoe UI" panose="020B0502040204020203" pitchFamily="34" charset="0"/>
                            </a:rPr>
                            <m:t>8</m:t>
                          </m:r>
                          <m:r>
                            <a:rPr lang="en-US" altLang="zh-CN" sz="2000" b="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000" b="0" i="0" dirty="0" smtClean="0">
                              <a:solidFill>
                                <a:srgbClr val="FF0000"/>
                              </a:solidFill>
                              <a:latin typeface="Cambria Math" panose="02040503050406030204" pitchFamily="18" charset="0"/>
                              <a:ea typeface="微软雅黑" panose="020B0503020204020204" pitchFamily="34" charset="-122"/>
                              <a:cs typeface="Segoe UI" panose="020B0502040204020203" pitchFamily="34" charset="0"/>
                            </a:rPr>
                            <m:t>1</m:t>
                          </m:r>
                        </m:sup>
                      </m:sSup>
                      <m:r>
                        <a:rPr lang="en-US" altLang="zh-CN" sz="2000" b="0" i="0" dirty="0" smtClean="0">
                          <a:solidFill>
                            <a:srgbClr val="FF000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3</m:t>
                      </m:r>
                      <m:sSup>
                        <m:sSupPr>
                          <m:ctrlPr>
                            <a:rPr lang="en-US" altLang="zh-CN" sz="2000" b="0" i="1" dirty="0">
                              <a:solidFill>
                                <a:srgbClr val="FF0000"/>
                              </a:solidFill>
                              <a:latin typeface="Cambria Math"/>
                              <a:ea typeface="微软雅黑" panose="020B0503020204020204" pitchFamily="34" charset="-122"/>
                              <a:cs typeface="Segoe UI" panose="020B0502040204020203" pitchFamily="34" charset="0"/>
                            </a:rPr>
                          </m:ctrlPr>
                        </m:sSupPr>
                        <m:e>
                          <m:r>
                            <m:rPr>
                              <m:sty m:val="p"/>
                            </m:rP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−0.064×1.5</m:t>
                          </m:r>
                        </m:sup>
                      </m:s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+103</m:t>
                      </m:r>
                      <m:sSup>
                        <m:sSupPr>
                          <m:ctrlPr>
                            <a:rPr lang="en-US" altLang="zh-CN" sz="2000" b="0" i="1" dirty="0">
                              <a:solidFill>
                                <a:srgbClr val="FF0000"/>
                              </a:solidFill>
                              <a:latin typeface="Cambria Math"/>
                              <a:ea typeface="微软雅黑" panose="020B0503020204020204" pitchFamily="34" charset="-122"/>
                              <a:cs typeface="Segoe UI" panose="020B0502040204020203" pitchFamily="34" charset="0"/>
                            </a:rPr>
                          </m:ctrlPr>
                        </m:sSupPr>
                        <m:e>
                          <m:r>
                            <m:rPr>
                              <m:sty m:val="p"/>
                            </m:rP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−0.068×2.0</m:t>
                          </m:r>
                        </m:sup>
                      </m:sSup>
                      <m:r>
                        <a:rPr lang="en-US" altLang="zh-CN" sz="2000" b="0" i="0" dirty="0">
                          <a:solidFill>
                            <a:srgbClr val="FF0000"/>
                          </a:solidFill>
                          <a:latin typeface="Cambria Math" panose="02040503050406030204" pitchFamily="18" charset="0"/>
                          <a:ea typeface="微软雅黑" panose="020B0503020204020204" pitchFamily="34" charset="-122"/>
                          <a:cs typeface="Segoe UI" panose="020B0502040204020203" pitchFamily="34" charset="0"/>
                        </a:rPr>
                        <m:t>=98.39</m:t>
                      </m:r>
                    </m:oMath>
                  </m:oMathPara>
                </a14:m>
                <a:endParaRPr lang="zh-CN" altLang="en-US" sz="2000" b="0" dirty="0">
                  <a:solidFill>
                    <a:srgbClr val="FF000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345147" y="5363035"/>
                <a:ext cx="7611565" cy="403637"/>
              </a:xfrm>
              <a:prstGeom prst="rect">
                <a:avLst/>
              </a:prstGeom>
              <a:blipFill>
                <a:blip r:embed="rId2"/>
                <a:stretch>
                  <a:fillRect/>
                </a:stretch>
              </a:blipFill>
            </p:spPr>
            <p:txBody>
              <a:bodyPr/>
              <a:lstStyle/>
              <a:p>
                <a:r>
                  <a:rPr lang="zh-CN" altLang="en-US">
                    <a:noFill/>
                  </a:rPr>
                  <a:t> </a:t>
                </a:r>
              </a:p>
            </p:txBody>
          </p:sp>
        </mc:Fallback>
      </mc:AlternateContent>
      <p:sp>
        <p:nvSpPr>
          <p:cNvPr id="7" name="cardiogram-in-a-heart_69624"/>
          <p:cNvSpPr>
            <a:spLocks noChangeAspect="1"/>
          </p:cNvSpPr>
          <p:nvPr/>
        </p:nvSpPr>
        <p:spPr bwMode="auto">
          <a:xfrm>
            <a:off x="8956712" y="5315072"/>
            <a:ext cx="609685" cy="499561"/>
          </a:xfrm>
          <a:custGeom>
            <a:avLst/>
            <a:gdLst>
              <a:gd name="T0" fmla="*/ 4866 w 4889"/>
              <a:gd name="T1" fmla="*/ 1261 h 4012"/>
              <a:gd name="T2" fmla="*/ 4465 w 4889"/>
              <a:gd name="T3" fmla="*/ 372 h 4012"/>
              <a:gd name="T4" fmla="*/ 3571 w 4889"/>
              <a:gd name="T5" fmla="*/ 0 h 4012"/>
              <a:gd name="T6" fmla="*/ 2576 w 4889"/>
              <a:gd name="T7" fmla="*/ 461 h 4012"/>
              <a:gd name="T8" fmla="*/ 2441 w 4889"/>
              <a:gd name="T9" fmla="*/ 552 h 4012"/>
              <a:gd name="T10" fmla="*/ 2309 w 4889"/>
              <a:gd name="T11" fmla="*/ 460 h 4012"/>
              <a:gd name="T12" fmla="*/ 1313 w 4889"/>
              <a:gd name="T13" fmla="*/ 0 h 4012"/>
              <a:gd name="T14" fmla="*/ 419 w 4889"/>
              <a:gd name="T15" fmla="*/ 372 h 4012"/>
              <a:gd name="T16" fmla="*/ 18 w 4889"/>
              <a:gd name="T17" fmla="*/ 1261 h 4012"/>
              <a:gd name="T18" fmla="*/ 296 w 4889"/>
              <a:gd name="T19" fmla="*/ 2205 h 4012"/>
              <a:gd name="T20" fmla="*/ 1424 w 4889"/>
              <a:gd name="T21" fmla="*/ 3295 h 4012"/>
              <a:gd name="T22" fmla="*/ 2057 w 4889"/>
              <a:gd name="T23" fmla="*/ 3788 h 4012"/>
              <a:gd name="T24" fmla="*/ 2444 w 4889"/>
              <a:gd name="T25" fmla="*/ 4012 h 4012"/>
              <a:gd name="T26" fmla="*/ 2836 w 4889"/>
              <a:gd name="T27" fmla="*/ 3789 h 4012"/>
              <a:gd name="T28" fmla="*/ 3467 w 4889"/>
              <a:gd name="T29" fmla="*/ 3297 h 4012"/>
              <a:gd name="T30" fmla="*/ 4588 w 4889"/>
              <a:gd name="T31" fmla="*/ 2205 h 4012"/>
              <a:gd name="T32" fmla="*/ 4866 w 4889"/>
              <a:gd name="T33" fmla="*/ 1261 h 4012"/>
              <a:gd name="T34" fmla="*/ 2948 w 4889"/>
              <a:gd name="T35" fmla="*/ 2127 h 4012"/>
              <a:gd name="T36" fmla="*/ 2387 w 4889"/>
              <a:gd name="T37" fmla="*/ 2967 h 4012"/>
              <a:gd name="T38" fmla="*/ 2248 w 4889"/>
              <a:gd name="T39" fmla="*/ 3042 h 4012"/>
              <a:gd name="T40" fmla="*/ 2156 w 4889"/>
              <a:gd name="T41" fmla="*/ 3013 h 4012"/>
              <a:gd name="T42" fmla="*/ 2110 w 4889"/>
              <a:gd name="T43" fmla="*/ 2782 h 4012"/>
              <a:gd name="T44" fmla="*/ 2558 w 4889"/>
              <a:gd name="T45" fmla="*/ 2111 h 4012"/>
              <a:gd name="T46" fmla="*/ 2121 w 4889"/>
              <a:gd name="T47" fmla="*/ 2109 h 4012"/>
              <a:gd name="T48" fmla="*/ 1916 w 4889"/>
              <a:gd name="T49" fmla="*/ 1990 h 4012"/>
              <a:gd name="T50" fmla="*/ 1950 w 4889"/>
              <a:gd name="T51" fmla="*/ 1755 h 4012"/>
              <a:gd name="T52" fmla="*/ 2515 w 4889"/>
              <a:gd name="T53" fmla="*/ 1034 h 4012"/>
              <a:gd name="T54" fmla="*/ 2749 w 4889"/>
              <a:gd name="T55" fmla="*/ 1006 h 4012"/>
              <a:gd name="T56" fmla="*/ 2778 w 4889"/>
              <a:gd name="T57" fmla="*/ 1240 h 4012"/>
              <a:gd name="T58" fmla="*/ 2357 w 4889"/>
              <a:gd name="T59" fmla="*/ 1777 h 4012"/>
              <a:gd name="T60" fmla="*/ 2763 w 4889"/>
              <a:gd name="T61" fmla="*/ 1779 h 4012"/>
              <a:gd name="T62" fmla="*/ 2967 w 4889"/>
              <a:gd name="T63" fmla="*/ 1894 h 4012"/>
              <a:gd name="T64" fmla="*/ 2948 w 4889"/>
              <a:gd name="T65" fmla="*/ 2127 h 4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89" h="4012">
                <a:moveTo>
                  <a:pt x="4866" y="1261"/>
                </a:moveTo>
                <a:cubicBezTo>
                  <a:pt x="4848" y="925"/>
                  <a:pt x="4705" y="609"/>
                  <a:pt x="4465" y="372"/>
                </a:cubicBezTo>
                <a:cubicBezTo>
                  <a:pt x="4222" y="132"/>
                  <a:pt x="3904" y="0"/>
                  <a:pt x="3571" y="0"/>
                </a:cubicBezTo>
                <a:cubicBezTo>
                  <a:pt x="3102" y="0"/>
                  <a:pt x="2773" y="288"/>
                  <a:pt x="2576" y="461"/>
                </a:cubicBezTo>
                <a:cubicBezTo>
                  <a:pt x="2528" y="503"/>
                  <a:pt x="2473" y="552"/>
                  <a:pt x="2441" y="552"/>
                </a:cubicBezTo>
                <a:cubicBezTo>
                  <a:pt x="2410" y="552"/>
                  <a:pt x="2356" y="502"/>
                  <a:pt x="2309" y="460"/>
                </a:cubicBezTo>
                <a:cubicBezTo>
                  <a:pt x="2118" y="288"/>
                  <a:pt x="1800" y="0"/>
                  <a:pt x="1313" y="0"/>
                </a:cubicBezTo>
                <a:cubicBezTo>
                  <a:pt x="980" y="0"/>
                  <a:pt x="662" y="132"/>
                  <a:pt x="419" y="372"/>
                </a:cubicBezTo>
                <a:cubicBezTo>
                  <a:pt x="179" y="609"/>
                  <a:pt x="36" y="925"/>
                  <a:pt x="18" y="1261"/>
                </a:cubicBezTo>
                <a:cubicBezTo>
                  <a:pt x="0" y="1596"/>
                  <a:pt x="86" y="1887"/>
                  <a:pt x="296" y="2205"/>
                </a:cubicBezTo>
                <a:cubicBezTo>
                  <a:pt x="506" y="2524"/>
                  <a:pt x="1155" y="3074"/>
                  <a:pt x="1424" y="3295"/>
                </a:cubicBezTo>
                <a:cubicBezTo>
                  <a:pt x="1649" y="3481"/>
                  <a:pt x="1874" y="3656"/>
                  <a:pt x="2057" y="3788"/>
                </a:cubicBezTo>
                <a:cubicBezTo>
                  <a:pt x="2365" y="4012"/>
                  <a:pt x="2411" y="4012"/>
                  <a:pt x="2444" y="4012"/>
                </a:cubicBezTo>
                <a:cubicBezTo>
                  <a:pt x="2477" y="4012"/>
                  <a:pt x="2528" y="4012"/>
                  <a:pt x="2836" y="3789"/>
                </a:cubicBezTo>
                <a:cubicBezTo>
                  <a:pt x="3017" y="3658"/>
                  <a:pt x="3241" y="3484"/>
                  <a:pt x="3467" y="3297"/>
                </a:cubicBezTo>
                <a:cubicBezTo>
                  <a:pt x="3733" y="3077"/>
                  <a:pt x="4375" y="2530"/>
                  <a:pt x="4588" y="2205"/>
                </a:cubicBezTo>
                <a:cubicBezTo>
                  <a:pt x="4729" y="1991"/>
                  <a:pt x="4889" y="1689"/>
                  <a:pt x="4866" y="1261"/>
                </a:cubicBezTo>
                <a:close/>
                <a:moveTo>
                  <a:pt x="2948" y="2127"/>
                </a:moveTo>
                <a:lnTo>
                  <a:pt x="2387" y="2967"/>
                </a:lnTo>
                <a:cubicBezTo>
                  <a:pt x="2355" y="3015"/>
                  <a:pt x="2302" y="3042"/>
                  <a:pt x="2248" y="3042"/>
                </a:cubicBezTo>
                <a:cubicBezTo>
                  <a:pt x="2217" y="3042"/>
                  <a:pt x="2185" y="3032"/>
                  <a:pt x="2156" y="3013"/>
                </a:cubicBezTo>
                <a:cubicBezTo>
                  <a:pt x="2080" y="2962"/>
                  <a:pt x="2059" y="2859"/>
                  <a:pt x="2110" y="2782"/>
                </a:cubicBezTo>
                <a:lnTo>
                  <a:pt x="2558" y="2111"/>
                </a:lnTo>
                <a:lnTo>
                  <a:pt x="2121" y="2109"/>
                </a:lnTo>
                <a:cubicBezTo>
                  <a:pt x="2028" y="2108"/>
                  <a:pt x="1952" y="2064"/>
                  <a:pt x="1916" y="1990"/>
                </a:cubicBezTo>
                <a:cubicBezTo>
                  <a:pt x="1880" y="1915"/>
                  <a:pt x="1893" y="1828"/>
                  <a:pt x="1950" y="1755"/>
                </a:cubicBezTo>
                <a:lnTo>
                  <a:pt x="2515" y="1034"/>
                </a:lnTo>
                <a:cubicBezTo>
                  <a:pt x="2572" y="962"/>
                  <a:pt x="2677" y="949"/>
                  <a:pt x="2749" y="1006"/>
                </a:cubicBezTo>
                <a:cubicBezTo>
                  <a:pt x="2822" y="1063"/>
                  <a:pt x="2834" y="1168"/>
                  <a:pt x="2778" y="1240"/>
                </a:cubicBezTo>
                <a:lnTo>
                  <a:pt x="2357" y="1777"/>
                </a:lnTo>
                <a:lnTo>
                  <a:pt x="2763" y="1779"/>
                </a:lnTo>
                <a:cubicBezTo>
                  <a:pt x="2853" y="1779"/>
                  <a:pt x="2929" y="1822"/>
                  <a:pt x="2967" y="1894"/>
                </a:cubicBezTo>
                <a:cubicBezTo>
                  <a:pt x="3005" y="1965"/>
                  <a:pt x="2998" y="2052"/>
                  <a:pt x="2948" y="2127"/>
                </a:cubicBezTo>
                <a:close/>
              </a:path>
            </a:pathLst>
          </a:custGeom>
          <a:solidFill>
            <a:schemeClr val="accent1"/>
          </a:solidFill>
          <a:ln>
            <a:noFill/>
          </a:ln>
        </p:spPr>
        <p:txBody>
          <a:bodyPr/>
          <a:lstStyle/>
          <a:p>
            <a:endParaRPr lang="zh-CN" altLang="en-US"/>
          </a:p>
        </p:txBody>
      </p:sp>
      <p:sp>
        <p:nvSpPr>
          <p:cNvPr id="8" name="文本框 7"/>
          <p:cNvSpPr txBox="1"/>
          <p:nvPr/>
        </p:nvSpPr>
        <p:spPr>
          <a:xfrm>
            <a:off x="8306717" y="5934826"/>
            <a:ext cx="2346593" cy="369332"/>
          </a:xfrm>
          <a:prstGeom prst="rect">
            <a:avLst/>
          </a:prstGeom>
          <a:noFill/>
        </p:spPr>
        <p:txBody>
          <a:bodyPr wrap="square" rtlCol="0">
            <a:spAutoFit/>
          </a:bodyPr>
          <a:lstStyle/>
          <a:p>
            <a:r>
              <a:rPr lang="zh-CN" altLang="en-US" b="1" dirty="0" smtClean="0">
                <a:solidFill>
                  <a:schemeClr val="accent6">
                    <a:lumMod val="50000"/>
                  </a:schemeClr>
                </a:solidFill>
              </a:rPr>
              <a:t>标红肯定有原因滴！</a:t>
            </a:r>
            <a:endParaRPr lang="zh-CN" altLang="en-US" b="1" dirty="0">
              <a:solidFill>
                <a:schemeClr val="accent6">
                  <a:lumMod val="50000"/>
                </a:schemeClr>
              </a:solidFill>
            </a:endParaRPr>
          </a:p>
        </p:txBody>
      </p:sp>
    </p:spTree>
    <p:extLst>
      <p:ext uri="{BB962C8B-B14F-4D97-AF65-F5344CB8AC3E}">
        <p14:creationId xmlns:p14="http://schemas.microsoft.com/office/powerpoint/2010/main" val="61644693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Theoretical </a:t>
            </a:r>
            <a:r>
              <a:rPr lang="en-US" altLang="zh-CN" dirty="0" smtClean="0"/>
              <a:t>Price </a:t>
            </a:r>
            <a:r>
              <a:rPr lang="en-US" altLang="zh-CN" dirty="0"/>
              <a:t>of </a:t>
            </a:r>
            <a:r>
              <a:rPr lang="en-US" altLang="zh-CN" dirty="0" smtClean="0"/>
              <a:t>A Bond</a:t>
            </a:r>
            <a:endParaRPr lang="en-US" altLang="zh-CN" dirty="0"/>
          </a:p>
        </p:txBody>
      </p:sp>
      <p:sp>
        <p:nvSpPr>
          <p:cNvPr id="3" name="文本占位符 2"/>
          <p:cNvSpPr>
            <a:spLocks noGrp="1"/>
          </p:cNvSpPr>
          <p:nvPr>
            <p:ph type="body" sz="quarter" idx="10"/>
          </p:nvPr>
        </p:nvSpPr>
        <p:spPr/>
        <p:txBody>
          <a:bodyPr>
            <a:normAutofit lnSpcReduction="10000"/>
          </a:bodyPr>
          <a:lstStyle/>
          <a:p>
            <a:r>
              <a:rPr lang="en-US" altLang="zh-CN" dirty="0"/>
              <a:t>Bond Yield (yield to maturity, YTM</a:t>
            </a:r>
            <a:r>
              <a:rPr lang="en-US" altLang="zh-CN" dirty="0" smtClean="0"/>
              <a:t>) </a:t>
            </a:r>
            <a:r>
              <a:rPr lang="en-US" altLang="zh-CN" dirty="0" smtClean="0">
                <a:solidFill>
                  <a:srgbClr val="FF0000"/>
                </a:solidFill>
              </a:rPr>
              <a:t>(BAII II)</a:t>
            </a:r>
          </a:p>
          <a:p>
            <a:pPr lvl="1"/>
            <a:r>
              <a:rPr lang="en-US" altLang="zh-CN" b="0" dirty="0">
                <a:solidFill>
                  <a:schemeClr val="tx1"/>
                </a:solidFill>
              </a:rPr>
              <a:t>A bond’s yield (YTM) is the single rate that discounts the bond's cash flows to </a:t>
            </a:r>
            <a:r>
              <a:rPr lang="en-US" altLang="zh-CN" b="0" dirty="0" smtClean="0">
                <a:solidFill>
                  <a:schemeClr val="tx1"/>
                </a:solidFill>
              </a:rPr>
              <a:t>match its </a:t>
            </a:r>
            <a:r>
              <a:rPr lang="en-US" altLang="zh-CN" b="0" dirty="0">
                <a:solidFill>
                  <a:schemeClr val="tx1"/>
                </a:solidFill>
              </a:rPr>
              <a:t>market price. Unlike the zero-rate curve (which it averages), </a:t>
            </a:r>
            <a:r>
              <a:rPr lang="en-US" altLang="zh-CN" b="0" dirty="0">
                <a:solidFill>
                  <a:srgbClr val="FF0000"/>
                </a:solidFill>
              </a:rPr>
              <a:t>it is effectively a flat line</a:t>
            </a:r>
            <a:r>
              <a:rPr lang="en-US" altLang="zh-CN" b="0" dirty="0" smtClean="0">
                <a:solidFill>
                  <a:srgbClr val="FF0000"/>
                </a:solidFill>
              </a:rPr>
              <a:t>.</a:t>
            </a:r>
          </a:p>
          <a:p>
            <a:pPr lvl="2"/>
            <a:r>
              <a:rPr lang="en-US" altLang="zh-CN" b="0" dirty="0"/>
              <a:t>Suppose $98.39 is the observed market price of the bond. We can us an iterative (‘‘trial </a:t>
            </a:r>
            <a:r>
              <a:rPr lang="en-US" altLang="zh-CN" b="0" dirty="0" smtClean="0"/>
              <a:t>and error</a:t>
            </a:r>
            <a:r>
              <a:rPr lang="en-US" altLang="zh-CN" b="0" dirty="0"/>
              <a:t>’’) procedure to retrieve the </a:t>
            </a:r>
            <a:r>
              <a:rPr lang="en-US" altLang="zh-CN" b="0" i="1" dirty="0"/>
              <a:t>single discount rate </a:t>
            </a:r>
            <a:r>
              <a:rPr lang="en-US" altLang="zh-CN" b="0" dirty="0"/>
              <a:t>that, when applied to all cash </a:t>
            </a:r>
            <a:r>
              <a:rPr lang="en-US" altLang="zh-CN" b="0" dirty="0" smtClean="0"/>
              <a:t>flows, returns </a:t>
            </a:r>
            <a:r>
              <a:rPr lang="en-US" altLang="zh-CN" b="0" dirty="0"/>
              <a:t>a bond price equal to this market price. The single rate that discounts (then sums) </a:t>
            </a:r>
            <a:r>
              <a:rPr lang="en-US" altLang="zh-CN" b="0" dirty="0" smtClean="0"/>
              <a:t>all cash </a:t>
            </a:r>
            <a:r>
              <a:rPr lang="en-US" altLang="zh-CN" b="0" dirty="0"/>
              <a:t>flows to a price of $98.39 is found to be 6.76</a:t>
            </a:r>
            <a:r>
              <a:rPr lang="en-US" altLang="zh-CN" b="0" dirty="0" smtClean="0"/>
              <a:t>%.</a:t>
            </a:r>
          </a:p>
          <a:p>
            <a:pPr lvl="2"/>
            <a:r>
              <a:rPr lang="zh-CN" altLang="en-US" u="sng" dirty="0" smtClean="0"/>
              <a:t>什么是</a:t>
            </a:r>
            <a:r>
              <a:rPr lang="en-US" altLang="zh-CN" u="sng" dirty="0" smtClean="0"/>
              <a:t>trial and error? </a:t>
            </a:r>
            <a:r>
              <a:rPr lang="zh-CN" altLang="en-US" u="sng" dirty="0" smtClean="0"/>
              <a:t>如何使用？</a:t>
            </a:r>
            <a:endParaRPr lang="en-US" altLang="zh-CN" u="sng" dirty="0" smtClean="0"/>
          </a:p>
          <a:p>
            <a:pPr lvl="2"/>
            <a:r>
              <a:rPr lang="en-US" altLang="zh-CN" b="0" dirty="0" smtClean="0"/>
              <a:t>DerivaGem</a:t>
            </a:r>
          </a:p>
          <a:p>
            <a:endParaRPr lang="zh-CN" altLang="en-US" dirty="0"/>
          </a:p>
        </p:txBody>
      </p:sp>
      <p:sp>
        <p:nvSpPr>
          <p:cNvPr id="8" name="certification-award_72849"/>
          <p:cNvSpPr>
            <a:spLocks noChangeAspect="1"/>
          </p:cNvSpPr>
          <p:nvPr/>
        </p:nvSpPr>
        <p:spPr bwMode="auto">
          <a:xfrm>
            <a:off x="6562339" y="5659770"/>
            <a:ext cx="609685" cy="584186"/>
          </a:xfrm>
          <a:custGeom>
            <a:avLst/>
            <a:gdLst>
              <a:gd name="connsiteX0" fmla="*/ 514248 w 607427"/>
              <a:gd name="connsiteY0" fmla="*/ 450630 h 582023"/>
              <a:gd name="connsiteX1" fmla="*/ 561968 w 607427"/>
              <a:gd name="connsiteY1" fmla="*/ 547065 h 582023"/>
              <a:gd name="connsiteX2" fmla="*/ 561411 w 607427"/>
              <a:gd name="connsiteY2" fmla="*/ 551052 h 582023"/>
              <a:gd name="connsiteX3" fmla="*/ 558719 w 607427"/>
              <a:gd name="connsiteY3" fmla="*/ 552258 h 582023"/>
              <a:gd name="connsiteX4" fmla="*/ 557512 w 607427"/>
              <a:gd name="connsiteY4" fmla="*/ 552072 h 582023"/>
              <a:gd name="connsiteX5" fmla="*/ 519169 w 607427"/>
              <a:gd name="connsiteY5" fmla="*/ 538627 h 582023"/>
              <a:gd name="connsiteX6" fmla="*/ 517962 w 607427"/>
              <a:gd name="connsiteY6" fmla="*/ 538442 h 582023"/>
              <a:gd name="connsiteX7" fmla="*/ 516384 w 607427"/>
              <a:gd name="connsiteY7" fmla="*/ 538720 h 582023"/>
              <a:gd name="connsiteX8" fmla="*/ 514527 w 607427"/>
              <a:gd name="connsiteY8" fmla="*/ 540853 h 582023"/>
              <a:gd name="connsiteX9" fmla="*/ 501901 w 607427"/>
              <a:gd name="connsiteY9" fmla="*/ 579519 h 582023"/>
              <a:gd name="connsiteX10" fmla="*/ 498744 w 607427"/>
              <a:gd name="connsiteY10" fmla="*/ 582023 h 582023"/>
              <a:gd name="connsiteX11" fmla="*/ 498465 w 607427"/>
              <a:gd name="connsiteY11" fmla="*/ 582023 h 582023"/>
              <a:gd name="connsiteX12" fmla="*/ 495216 w 607427"/>
              <a:gd name="connsiteY12" fmla="*/ 579983 h 582023"/>
              <a:gd name="connsiteX13" fmla="*/ 445268 w 607427"/>
              <a:gd name="connsiteY13" fmla="*/ 479097 h 582023"/>
              <a:gd name="connsiteX14" fmla="*/ 514248 w 607427"/>
              <a:gd name="connsiteY14" fmla="*/ 450630 h 582023"/>
              <a:gd name="connsiteX15" fmla="*/ 388106 w 607427"/>
              <a:gd name="connsiteY15" fmla="*/ 450630 h 582023"/>
              <a:gd name="connsiteX16" fmla="*/ 388291 w 607427"/>
              <a:gd name="connsiteY16" fmla="*/ 450815 h 582023"/>
              <a:gd name="connsiteX17" fmla="*/ 418843 w 607427"/>
              <a:gd name="connsiteY17" fmla="*/ 472513 h 582023"/>
              <a:gd name="connsiteX18" fmla="*/ 439552 w 607427"/>
              <a:gd name="connsiteY18" fmla="*/ 514426 h 582023"/>
              <a:gd name="connsiteX19" fmla="*/ 407143 w 607427"/>
              <a:gd name="connsiteY19" fmla="*/ 579983 h 582023"/>
              <a:gd name="connsiteX20" fmla="*/ 403892 w 607427"/>
              <a:gd name="connsiteY20" fmla="*/ 582023 h 582023"/>
              <a:gd name="connsiteX21" fmla="*/ 403614 w 607427"/>
              <a:gd name="connsiteY21" fmla="*/ 582023 h 582023"/>
              <a:gd name="connsiteX22" fmla="*/ 400457 w 607427"/>
              <a:gd name="connsiteY22" fmla="*/ 579519 h 582023"/>
              <a:gd name="connsiteX23" fmla="*/ 387827 w 607427"/>
              <a:gd name="connsiteY23" fmla="*/ 540945 h 582023"/>
              <a:gd name="connsiteX24" fmla="*/ 385970 w 607427"/>
              <a:gd name="connsiteY24" fmla="*/ 538720 h 582023"/>
              <a:gd name="connsiteX25" fmla="*/ 384391 w 607427"/>
              <a:gd name="connsiteY25" fmla="*/ 538442 h 582023"/>
              <a:gd name="connsiteX26" fmla="*/ 383184 w 607427"/>
              <a:gd name="connsiteY26" fmla="*/ 538627 h 582023"/>
              <a:gd name="connsiteX27" fmla="*/ 344831 w 607427"/>
              <a:gd name="connsiteY27" fmla="*/ 552072 h 582023"/>
              <a:gd name="connsiteX28" fmla="*/ 343624 w 607427"/>
              <a:gd name="connsiteY28" fmla="*/ 552258 h 582023"/>
              <a:gd name="connsiteX29" fmla="*/ 340838 w 607427"/>
              <a:gd name="connsiteY29" fmla="*/ 551052 h 582023"/>
              <a:gd name="connsiteX30" fmla="*/ 340281 w 607427"/>
              <a:gd name="connsiteY30" fmla="*/ 546973 h 582023"/>
              <a:gd name="connsiteX31" fmla="*/ 100374 w 607427"/>
              <a:gd name="connsiteY31" fmla="*/ 279227 h 582023"/>
              <a:gd name="connsiteX32" fmla="*/ 285525 w 607427"/>
              <a:gd name="connsiteY32" fmla="*/ 279227 h 582023"/>
              <a:gd name="connsiteX33" fmla="*/ 306324 w 607427"/>
              <a:gd name="connsiteY33" fmla="*/ 299892 h 582023"/>
              <a:gd name="connsiteX34" fmla="*/ 285525 w 607427"/>
              <a:gd name="connsiteY34" fmla="*/ 320649 h 582023"/>
              <a:gd name="connsiteX35" fmla="*/ 100374 w 607427"/>
              <a:gd name="connsiteY35" fmla="*/ 320649 h 582023"/>
              <a:gd name="connsiteX36" fmla="*/ 79668 w 607427"/>
              <a:gd name="connsiteY36" fmla="*/ 299892 h 582023"/>
              <a:gd name="connsiteX37" fmla="*/ 100374 w 607427"/>
              <a:gd name="connsiteY37" fmla="*/ 279227 h 582023"/>
              <a:gd name="connsiteX38" fmla="*/ 451125 w 607427"/>
              <a:gd name="connsiteY38" fmla="*/ 270124 h 582023"/>
              <a:gd name="connsiteX39" fmla="*/ 525854 w 607427"/>
              <a:gd name="connsiteY39" fmla="*/ 364400 h 582023"/>
              <a:gd name="connsiteX40" fmla="*/ 451125 w 607427"/>
              <a:gd name="connsiteY40" fmla="*/ 458676 h 582023"/>
              <a:gd name="connsiteX41" fmla="*/ 376396 w 607427"/>
              <a:gd name="connsiteY41" fmla="*/ 364400 h 582023"/>
              <a:gd name="connsiteX42" fmla="*/ 451125 w 607427"/>
              <a:gd name="connsiteY42" fmla="*/ 270124 h 582023"/>
              <a:gd name="connsiteX43" fmla="*/ 100373 w 607427"/>
              <a:gd name="connsiteY43" fmla="*/ 185869 h 582023"/>
              <a:gd name="connsiteX44" fmla="*/ 493201 w 607427"/>
              <a:gd name="connsiteY44" fmla="*/ 185869 h 582023"/>
              <a:gd name="connsiteX45" fmla="*/ 513998 w 607427"/>
              <a:gd name="connsiteY45" fmla="*/ 206626 h 582023"/>
              <a:gd name="connsiteX46" fmla="*/ 493201 w 607427"/>
              <a:gd name="connsiteY46" fmla="*/ 227291 h 582023"/>
              <a:gd name="connsiteX47" fmla="*/ 100373 w 607427"/>
              <a:gd name="connsiteY47" fmla="*/ 227291 h 582023"/>
              <a:gd name="connsiteX48" fmla="*/ 79668 w 607427"/>
              <a:gd name="connsiteY48" fmla="*/ 206626 h 582023"/>
              <a:gd name="connsiteX49" fmla="*/ 100373 w 607427"/>
              <a:gd name="connsiteY49" fmla="*/ 185869 h 582023"/>
              <a:gd name="connsiteX50" fmla="*/ 100374 w 607427"/>
              <a:gd name="connsiteY50" fmla="*/ 92652 h 582023"/>
              <a:gd name="connsiteX51" fmla="*/ 285525 w 607427"/>
              <a:gd name="connsiteY51" fmla="*/ 92652 h 582023"/>
              <a:gd name="connsiteX52" fmla="*/ 306324 w 607427"/>
              <a:gd name="connsiteY52" fmla="*/ 113317 h 582023"/>
              <a:gd name="connsiteX53" fmla="*/ 285525 w 607427"/>
              <a:gd name="connsiteY53" fmla="*/ 134074 h 582023"/>
              <a:gd name="connsiteX54" fmla="*/ 100374 w 607427"/>
              <a:gd name="connsiteY54" fmla="*/ 134074 h 582023"/>
              <a:gd name="connsiteX55" fmla="*/ 79668 w 607427"/>
              <a:gd name="connsiteY55" fmla="*/ 113317 h 582023"/>
              <a:gd name="connsiteX56" fmla="*/ 100374 w 607427"/>
              <a:gd name="connsiteY56" fmla="*/ 92652 h 582023"/>
              <a:gd name="connsiteX57" fmla="*/ 42154 w 607427"/>
              <a:gd name="connsiteY57" fmla="*/ 0 h 582023"/>
              <a:gd name="connsiteX58" fmla="*/ 565273 w 607427"/>
              <a:gd name="connsiteY58" fmla="*/ 0 h 582023"/>
              <a:gd name="connsiteX59" fmla="*/ 607427 w 607427"/>
              <a:gd name="connsiteY59" fmla="*/ 42085 h 582023"/>
              <a:gd name="connsiteX60" fmla="*/ 607427 w 607427"/>
              <a:gd name="connsiteY60" fmla="*/ 371167 h 582023"/>
              <a:gd name="connsiteX61" fmla="*/ 565273 w 607427"/>
              <a:gd name="connsiteY61" fmla="*/ 413160 h 582023"/>
              <a:gd name="connsiteX62" fmla="*/ 537604 w 607427"/>
              <a:gd name="connsiteY62" fmla="*/ 413160 h 582023"/>
              <a:gd name="connsiteX63" fmla="*/ 546424 w 607427"/>
              <a:gd name="connsiteY63" fmla="*/ 371723 h 582023"/>
              <a:gd name="connsiteX64" fmla="*/ 565273 w 607427"/>
              <a:gd name="connsiteY64" fmla="*/ 371723 h 582023"/>
              <a:gd name="connsiteX65" fmla="*/ 565923 w 607427"/>
              <a:gd name="connsiteY65" fmla="*/ 371167 h 582023"/>
              <a:gd name="connsiteX66" fmla="*/ 565923 w 607427"/>
              <a:gd name="connsiteY66" fmla="*/ 42085 h 582023"/>
              <a:gd name="connsiteX67" fmla="*/ 42154 w 607427"/>
              <a:gd name="connsiteY67" fmla="*/ 41437 h 582023"/>
              <a:gd name="connsiteX68" fmla="*/ 41504 w 607427"/>
              <a:gd name="connsiteY68" fmla="*/ 371167 h 582023"/>
              <a:gd name="connsiteX69" fmla="*/ 355988 w 607427"/>
              <a:gd name="connsiteY69" fmla="*/ 371538 h 582023"/>
              <a:gd name="connsiteX70" fmla="*/ 364809 w 607427"/>
              <a:gd name="connsiteY70" fmla="*/ 413160 h 582023"/>
              <a:gd name="connsiteX71" fmla="*/ 42154 w 607427"/>
              <a:gd name="connsiteY71" fmla="*/ 413160 h 582023"/>
              <a:gd name="connsiteX72" fmla="*/ 0 w 607427"/>
              <a:gd name="connsiteY72" fmla="*/ 371167 h 582023"/>
              <a:gd name="connsiteX73" fmla="*/ 0 w 607427"/>
              <a:gd name="connsiteY73" fmla="*/ 42085 h 582023"/>
              <a:gd name="connsiteX74" fmla="*/ 42154 w 607427"/>
              <a:gd name="connsiteY74" fmla="*/ 0 h 58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7427" h="582023">
                <a:moveTo>
                  <a:pt x="514248" y="450630"/>
                </a:moveTo>
                <a:lnTo>
                  <a:pt x="561968" y="547065"/>
                </a:lnTo>
                <a:cubicBezTo>
                  <a:pt x="562618" y="548363"/>
                  <a:pt x="562432" y="549940"/>
                  <a:pt x="561411" y="551052"/>
                </a:cubicBezTo>
                <a:cubicBezTo>
                  <a:pt x="560761" y="551794"/>
                  <a:pt x="559740" y="552258"/>
                  <a:pt x="558719" y="552258"/>
                </a:cubicBezTo>
                <a:cubicBezTo>
                  <a:pt x="558347" y="552258"/>
                  <a:pt x="557883" y="552165"/>
                  <a:pt x="557512" y="552072"/>
                </a:cubicBezTo>
                <a:lnTo>
                  <a:pt x="519169" y="538627"/>
                </a:lnTo>
                <a:cubicBezTo>
                  <a:pt x="518797" y="538442"/>
                  <a:pt x="518333" y="538442"/>
                  <a:pt x="517962" y="538442"/>
                </a:cubicBezTo>
                <a:cubicBezTo>
                  <a:pt x="517405" y="538442"/>
                  <a:pt x="516848" y="538534"/>
                  <a:pt x="516384" y="538720"/>
                </a:cubicBezTo>
                <a:cubicBezTo>
                  <a:pt x="515455" y="539183"/>
                  <a:pt x="514805" y="540018"/>
                  <a:pt x="514527" y="540853"/>
                </a:cubicBezTo>
                <a:lnTo>
                  <a:pt x="501901" y="579519"/>
                </a:lnTo>
                <a:cubicBezTo>
                  <a:pt x="501436" y="580910"/>
                  <a:pt x="500137" y="581930"/>
                  <a:pt x="498744" y="582023"/>
                </a:cubicBezTo>
                <a:lnTo>
                  <a:pt x="498465" y="582023"/>
                </a:lnTo>
                <a:cubicBezTo>
                  <a:pt x="497073" y="582023"/>
                  <a:pt x="495773" y="581281"/>
                  <a:pt x="495216" y="579983"/>
                </a:cubicBezTo>
                <a:lnTo>
                  <a:pt x="445268" y="479097"/>
                </a:lnTo>
                <a:cubicBezTo>
                  <a:pt x="485375" y="483826"/>
                  <a:pt x="514155" y="450723"/>
                  <a:pt x="514248" y="450630"/>
                </a:cubicBezTo>
                <a:close/>
                <a:moveTo>
                  <a:pt x="388106" y="450630"/>
                </a:moveTo>
                <a:cubicBezTo>
                  <a:pt x="388106" y="450630"/>
                  <a:pt x="388199" y="450723"/>
                  <a:pt x="388291" y="450815"/>
                </a:cubicBezTo>
                <a:cubicBezTo>
                  <a:pt x="400642" y="465281"/>
                  <a:pt x="418751" y="472513"/>
                  <a:pt x="418843" y="472513"/>
                </a:cubicBezTo>
                <a:lnTo>
                  <a:pt x="439552" y="514426"/>
                </a:lnTo>
                <a:lnTo>
                  <a:pt x="407143" y="579983"/>
                </a:lnTo>
                <a:cubicBezTo>
                  <a:pt x="406493" y="581188"/>
                  <a:pt x="405285" y="582023"/>
                  <a:pt x="403892" y="582023"/>
                </a:cubicBezTo>
                <a:lnTo>
                  <a:pt x="403614" y="582023"/>
                </a:lnTo>
                <a:cubicBezTo>
                  <a:pt x="402128" y="581930"/>
                  <a:pt x="400921" y="580910"/>
                  <a:pt x="400457" y="579519"/>
                </a:cubicBezTo>
                <a:lnTo>
                  <a:pt x="387827" y="540945"/>
                </a:lnTo>
                <a:cubicBezTo>
                  <a:pt x="387549" y="540018"/>
                  <a:pt x="386898" y="539183"/>
                  <a:pt x="385970" y="538720"/>
                </a:cubicBezTo>
                <a:cubicBezTo>
                  <a:pt x="385506" y="538534"/>
                  <a:pt x="384948" y="538442"/>
                  <a:pt x="384391" y="538442"/>
                </a:cubicBezTo>
                <a:cubicBezTo>
                  <a:pt x="384020" y="538442"/>
                  <a:pt x="383555" y="538442"/>
                  <a:pt x="383184" y="538627"/>
                </a:cubicBezTo>
                <a:lnTo>
                  <a:pt x="344831" y="552072"/>
                </a:lnTo>
                <a:cubicBezTo>
                  <a:pt x="344460" y="552165"/>
                  <a:pt x="343996" y="552258"/>
                  <a:pt x="343624" y="552258"/>
                </a:cubicBezTo>
                <a:cubicBezTo>
                  <a:pt x="342603" y="552258"/>
                  <a:pt x="341581" y="551794"/>
                  <a:pt x="340838" y="551052"/>
                </a:cubicBezTo>
                <a:cubicBezTo>
                  <a:pt x="339910" y="549940"/>
                  <a:pt x="339631" y="548363"/>
                  <a:pt x="340281" y="546973"/>
                </a:cubicBezTo>
                <a:close/>
                <a:moveTo>
                  <a:pt x="100374" y="279227"/>
                </a:moveTo>
                <a:lnTo>
                  <a:pt x="285525" y="279227"/>
                </a:lnTo>
                <a:cubicBezTo>
                  <a:pt x="297039" y="279227"/>
                  <a:pt x="306324" y="288494"/>
                  <a:pt x="306324" y="299892"/>
                </a:cubicBezTo>
                <a:cubicBezTo>
                  <a:pt x="306324" y="311382"/>
                  <a:pt x="297039" y="320649"/>
                  <a:pt x="285525" y="320649"/>
                </a:cubicBezTo>
                <a:lnTo>
                  <a:pt x="100374" y="320649"/>
                </a:lnTo>
                <a:cubicBezTo>
                  <a:pt x="88953" y="320649"/>
                  <a:pt x="79668" y="311382"/>
                  <a:pt x="79668" y="299892"/>
                </a:cubicBezTo>
                <a:cubicBezTo>
                  <a:pt x="79668" y="288494"/>
                  <a:pt x="88953" y="279227"/>
                  <a:pt x="100374" y="279227"/>
                </a:cubicBezTo>
                <a:close/>
                <a:moveTo>
                  <a:pt x="451125" y="270124"/>
                </a:moveTo>
                <a:cubicBezTo>
                  <a:pt x="492397" y="270124"/>
                  <a:pt x="525854" y="312333"/>
                  <a:pt x="525854" y="364400"/>
                </a:cubicBezTo>
                <a:cubicBezTo>
                  <a:pt x="525854" y="416467"/>
                  <a:pt x="492397" y="458676"/>
                  <a:pt x="451125" y="458676"/>
                </a:cubicBezTo>
                <a:cubicBezTo>
                  <a:pt x="409853" y="458676"/>
                  <a:pt x="376396" y="416467"/>
                  <a:pt x="376396" y="364400"/>
                </a:cubicBezTo>
                <a:cubicBezTo>
                  <a:pt x="376396" y="312333"/>
                  <a:pt x="409853" y="270124"/>
                  <a:pt x="451125" y="270124"/>
                </a:cubicBezTo>
                <a:close/>
                <a:moveTo>
                  <a:pt x="100373" y="185869"/>
                </a:moveTo>
                <a:lnTo>
                  <a:pt x="493201" y="185869"/>
                </a:lnTo>
                <a:cubicBezTo>
                  <a:pt x="504621" y="185869"/>
                  <a:pt x="513998" y="195136"/>
                  <a:pt x="513998" y="206626"/>
                </a:cubicBezTo>
                <a:cubicBezTo>
                  <a:pt x="513998" y="218024"/>
                  <a:pt x="504621" y="227291"/>
                  <a:pt x="493201" y="227291"/>
                </a:cubicBezTo>
                <a:lnTo>
                  <a:pt x="100373" y="227291"/>
                </a:lnTo>
                <a:cubicBezTo>
                  <a:pt x="88953" y="227291"/>
                  <a:pt x="79668" y="218024"/>
                  <a:pt x="79668" y="206626"/>
                </a:cubicBezTo>
                <a:cubicBezTo>
                  <a:pt x="79668" y="195136"/>
                  <a:pt x="88953" y="185869"/>
                  <a:pt x="100373" y="185869"/>
                </a:cubicBezTo>
                <a:close/>
                <a:moveTo>
                  <a:pt x="100374" y="92652"/>
                </a:moveTo>
                <a:lnTo>
                  <a:pt x="285525" y="92652"/>
                </a:lnTo>
                <a:cubicBezTo>
                  <a:pt x="297039" y="92652"/>
                  <a:pt x="306324" y="101919"/>
                  <a:pt x="306324" y="113317"/>
                </a:cubicBezTo>
                <a:cubicBezTo>
                  <a:pt x="306324" y="124807"/>
                  <a:pt x="297039" y="134074"/>
                  <a:pt x="285525" y="134074"/>
                </a:cubicBezTo>
                <a:lnTo>
                  <a:pt x="100374" y="134074"/>
                </a:lnTo>
                <a:cubicBezTo>
                  <a:pt x="88953" y="134074"/>
                  <a:pt x="79668" y="124807"/>
                  <a:pt x="79668" y="113317"/>
                </a:cubicBezTo>
                <a:cubicBezTo>
                  <a:pt x="79668" y="101919"/>
                  <a:pt x="88953" y="92652"/>
                  <a:pt x="100374" y="92652"/>
                </a:cubicBezTo>
                <a:close/>
                <a:moveTo>
                  <a:pt x="42154" y="0"/>
                </a:moveTo>
                <a:lnTo>
                  <a:pt x="565273" y="0"/>
                </a:lnTo>
                <a:cubicBezTo>
                  <a:pt x="588486" y="0"/>
                  <a:pt x="607427" y="18911"/>
                  <a:pt x="607427" y="42085"/>
                </a:cubicBezTo>
                <a:lnTo>
                  <a:pt x="607427" y="371167"/>
                </a:lnTo>
                <a:cubicBezTo>
                  <a:pt x="607427" y="394342"/>
                  <a:pt x="588486" y="413160"/>
                  <a:pt x="565273" y="413160"/>
                </a:cubicBezTo>
                <a:lnTo>
                  <a:pt x="537604" y="413160"/>
                </a:lnTo>
                <a:cubicBezTo>
                  <a:pt x="542525" y="400460"/>
                  <a:pt x="545589" y="386463"/>
                  <a:pt x="546424" y="371723"/>
                </a:cubicBezTo>
                <a:lnTo>
                  <a:pt x="565273" y="371723"/>
                </a:lnTo>
                <a:cubicBezTo>
                  <a:pt x="565644" y="371723"/>
                  <a:pt x="565923" y="371445"/>
                  <a:pt x="565923" y="371167"/>
                </a:cubicBezTo>
                <a:lnTo>
                  <a:pt x="565923" y="42085"/>
                </a:lnTo>
                <a:lnTo>
                  <a:pt x="42154" y="41437"/>
                </a:lnTo>
                <a:lnTo>
                  <a:pt x="41504" y="371167"/>
                </a:lnTo>
                <a:lnTo>
                  <a:pt x="355988" y="371538"/>
                </a:lnTo>
                <a:cubicBezTo>
                  <a:pt x="356731" y="386370"/>
                  <a:pt x="359795" y="400368"/>
                  <a:pt x="364809" y="413160"/>
                </a:cubicBezTo>
                <a:lnTo>
                  <a:pt x="42154" y="413160"/>
                </a:lnTo>
                <a:cubicBezTo>
                  <a:pt x="18941" y="413160"/>
                  <a:pt x="0" y="394342"/>
                  <a:pt x="0" y="371167"/>
                </a:cubicBezTo>
                <a:lnTo>
                  <a:pt x="0" y="42085"/>
                </a:lnTo>
                <a:cubicBezTo>
                  <a:pt x="0" y="18911"/>
                  <a:pt x="18941" y="0"/>
                  <a:pt x="42154" y="0"/>
                </a:cubicBezTo>
                <a:close/>
              </a:path>
            </a:pathLst>
          </a:custGeom>
          <a:solidFill>
            <a:schemeClr val="accent1"/>
          </a:solidFill>
          <a:ln>
            <a:noFill/>
          </a:ln>
        </p:spPr>
        <p:txBody>
          <a:bodyPr/>
          <a:lstStyle/>
          <a:p>
            <a:endParaRPr lang="zh-CN" altLang="en-US"/>
          </a:p>
        </p:txBody>
      </p:sp>
      <p:sp>
        <p:nvSpPr>
          <p:cNvPr id="11" name="文本框 10"/>
          <p:cNvSpPr txBox="1"/>
          <p:nvPr/>
        </p:nvSpPr>
        <p:spPr>
          <a:xfrm>
            <a:off x="7344139" y="5659770"/>
            <a:ext cx="2989683" cy="369332"/>
          </a:xfrm>
          <a:prstGeom prst="rect">
            <a:avLst/>
          </a:prstGeom>
          <a:noFill/>
        </p:spPr>
        <p:txBody>
          <a:bodyPr wrap="square" rtlCol="0">
            <a:spAutoFit/>
          </a:bodyPr>
          <a:lstStyle/>
          <a:p>
            <a:r>
              <a:rPr lang="zh-CN" altLang="en-US" b="1" dirty="0">
                <a:solidFill>
                  <a:schemeClr val="accent6">
                    <a:lumMod val="50000"/>
                  </a:schemeClr>
                </a:solidFill>
              </a:rPr>
              <a:t>这</a:t>
            </a:r>
            <a:r>
              <a:rPr lang="zh-CN" altLang="en-US" b="1" dirty="0" smtClean="0">
                <a:solidFill>
                  <a:schemeClr val="accent6">
                    <a:lumMod val="50000"/>
                  </a:schemeClr>
                </a:solidFill>
              </a:rPr>
              <a:t>是一个</a:t>
            </a:r>
            <a:r>
              <a:rPr lang="en-US" altLang="zh-CN" b="1" dirty="0" smtClean="0">
                <a:solidFill>
                  <a:schemeClr val="accent6">
                    <a:lumMod val="50000"/>
                  </a:schemeClr>
                </a:solidFill>
              </a:rPr>
              <a:t>Excel</a:t>
            </a:r>
            <a:r>
              <a:rPr lang="zh-CN" altLang="en-US" b="1" dirty="0" smtClean="0">
                <a:solidFill>
                  <a:schemeClr val="accent6">
                    <a:lumMod val="50000"/>
                  </a:schemeClr>
                </a:solidFill>
              </a:rPr>
              <a:t>大师级插件</a:t>
            </a:r>
            <a:r>
              <a:rPr lang="en-US" altLang="zh-CN" b="1" dirty="0" smtClean="0">
                <a:solidFill>
                  <a:schemeClr val="accent6">
                    <a:lumMod val="50000"/>
                  </a:schemeClr>
                </a:solidFill>
              </a:rPr>
              <a:t>!</a:t>
            </a:r>
            <a:endParaRPr lang="zh-CN" altLang="en-US" b="1" dirty="0">
              <a:solidFill>
                <a:schemeClr val="accent6">
                  <a:lumMod val="50000"/>
                </a:schemeClr>
              </a:solidFill>
            </a:endParaRPr>
          </a:p>
        </p:txBody>
      </p:sp>
    </p:spTree>
    <p:extLst>
      <p:ext uri="{BB962C8B-B14F-4D97-AF65-F5344CB8AC3E}">
        <p14:creationId xmlns:p14="http://schemas.microsoft.com/office/powerpoint/2010/main" val="24384785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Par </a:t>
            </a:r>
            <a:r>
              <a:rPr lang="en-US" altLang="zh-CN" dirty="0" smtClean="0"/>
              <a:t>Yield</a:t>
            </a:r>
          </a:p>
          <a:p>
            <a:pPr lvl="1"/>
            <a:r>
              <a:rPr lang="en-US" altLang="zh-CN" dirty="0"/>
              <a:t>The par yield for a bond </a:t>
            </a:r>
            <a:r>
              <a:rPr lang="en-US" altLang="zh-CN" u="sng" dirty="0"/>
              <a:t>is the coupon rate that causes the bond price to equal its </a:t>
            </a:r>
            <a:r>
              <a:rPr lang="en-US" altLang="zh-CN" u="sng" dirty="0" smtClean="0"/>
              <a:t>principal or </a:t>
            </a:r>
            <a:r>
              <a:rPr lang="en-US" altLang="zh-CN" u="sng" dirty="0"/>
              <a:t>par value</a:t>
            </a:r>
            <a:r>
              <a:rPr lang="en-US" altLang="zh-CN" dirty="0"/>
              <a:t>. The par yield discounts cash flows at the various zero rates, but finds </a:t>
            </a:r>
            <a:r>
              <a:rPr lang="en-US" altLang="zh-CN" dirty="0" smtClean="0"/>
              <a:t>the coupon </a:t>
            </a:r>
            <a:r>
              <a:rPr lang="en-US" altLang="zh-CN" dirty="0"/>
              <a:t>rate that discounts the present value (model price) to its par value (i.e</a:t>
            </a:r>
            <a:r>
              <a:rPr lang="en-US" altLang="zh-CN" dirty="0" smtClean="0"/>
              <a:t>, $</a:t>
            </a:r>
            <a:r>
              <a:rPr lang="en-US" altLang="zh-CN" dirty="0"/>
              <a:t>100.00 or $1,000.00</a:t>
            </a:r>
            <a:r>
              <a:rPr lang="en-US" altLang="zh-CN" dirty="0" smtClean="0"/>
              <a:t>)</a:t>
            </a:r>
          </a:p>
          <a:p>
            <a:pPr lvl="1"/>
            <a:endParaRPr lang="zh-CN" altLang="en-US" dirty="0"/>
          </a:p>
        </p:txBody>
      </p:sp>
      <p:sp>
        <p:nvSpPr>
          <p:cNvPr id="4" name="标题 1"/>
          <p:cNvSpPr>
            <a:spLocks noGrp="1"/>
          </p:cNvSpPr>
          <p:nvPr>
            <p:ph type="title"/>
          </p:nvPr>
        </p:nvSpPr>
        <p:spPr/>
        <p:txBody>
          <a:bodyPr/>
          <a:lstStyle/>
          <a:p>
            <a:r>
              <a:rPr lang="en-US" altLang="zh-CN" dirty="0"/>
              <a:t>Theoretical </a:t>
            </a:r>
            <a:r>
              <a:rPr lang="en-US" altLang="zh-CN" dirty="0" smtClean="0"/>
              <a:t>Price </a:t>
            </a:r>
            <a:r>
              <a:rPr lang="en-US" altLang="zh-CN" dirty="0"/>
              <a:t>of </a:t>
            </a:r>
            <a:r>
              <a:rPr lang="en-US" altLang="zh-CN" dirty="0" smtClean="0"/>
              <a:t>A Bond</a:t>
            </a:r>
            <a:endParaRPr lang="en-US" altLang="zh-CN" dirty="0"/>
          </a:p>
        </p:txBody>
      </p:sp>
      <p:sp>
        <p:nvSpPr>
          <p:cNvPr id="5" name="settings_161142"/>
          <p:cNvSpPr>
            <a:spLocks noChangeAspect="1"/>
          </p:cNvSpPr>
          <p:nvPr/>
        </p:nvSpPr>
        <p:spPr bwMode="auto">
          <a:xfrm>
            <a:off x="1428479" y="3643549"/>
            <a:ext cx="609685" cy="608549"/>
          </a:xfrm>
          <a:custGeom>
            <a:avLst/>
            <a:gdLst>
              <a:gd name="connsiteX0" fmla="*/ 404901 w 606086"/>
              <a:gd name="connsiteY0" fmla="*/ 324111 h 604957"/>
              <a:gd name="connsiteX1" fmla="*/ 324594 w 606086"/>
              <a:gd name="connsiteY1" fmla="*/ 404287 h 604957"/>
              <a:gd name="connsiteX2" fmla="*/ 404901 w 606086"/>
              <a:gd name="connsiteY2" fmla="*/ 484462 h 604957"/>
              <a:gd name="connsiteX3" fmla="*/ 485301 w 606086"/>
              <a:gd name="connsiteY3" fmla="*/ 404287 h 604957"/>
              <a:gd name="connsiteX4" fmla="*/ 404901 w 606086"/>
              <a:gd name="connsiteY4" fmla="*/ 324111 h 604957"/>
              <a:gd name="connsiteX5" fmla="*/ 375470 w 606086"/>
              <a:gd name="connsiteY5" fmla="*/ 202875 h 604957"/>
              <a:gd name="connsiteX6" fmla="*/ 434146 w 606086"/>
              <a:gd name="connsiteY6" fmla="*/ 202875 h 604957"/>
              <a:gd name="connsiteX7" fmla="*/ 434146 w 606086"/>
              <a:gd name="connsiteY7" fmla="*/ 233092 h 604957"/>
              <a:gd name="connsiteX8" fmla="*/ 505447 w 606086"/>
              <a:gd name="connsiteY8" fmla="*/ 262381 h 604957"/>
              <a:gd name="connsiteX9" fmla="*/ 527079 w 606086"/>
              <a:gd name="connsiteY9" fmla="*/ 240785 h 604957"/>
              <a:gd name="connsiteX10" fmla="*/ 568579 w 606086"/>
              <a:gd name="connsiteY10" fmla="*/ 282031 h 604957"/>
              <a:gd name="connsiteX11" fmla="*/ 546947 w 606086"/>
              <a:gd name="connsiteY11" fmla="*/ 303720 h 604957"/>
              <a:gd name="connsiteX12" fmla="*/ 576284 w 606086"/>
              <a:gd name="connsiteY12" fmla="*/ 374905 h 604957"/>
              <a:gd name="connsiteX13" fmla="*/ 576284 w 606086"/>
              <a:gd name="connsiteY13" fmla="*/ 374719 h 604957"/>
              <a:gd name="connsiteX14" fmla="*/ 606086 w 606086"/>
              <a:gd name="connsiteY14" fmla="*/ 374719 h 604957"/>
              <a:gd name="connsiteX15" fmla="*/ 606086 w 606086"/>
              <a:gd name="connsiteY15" fmla="*/ 432928 h 604957"/>
              <a:gd name="connsiteX16" fmla="*/ 575727 w 606086"/>
              <a:gd name="connsiteY16" fmla="*/ 432928 h 604957"/>
              <a:gd name="connsiteX17" fmla="*/ 546390 w 606086"/>
              <a:gd name="connsiteY17" fmla="*/ 504112 h 604957"/>
              <a:gd name="connsiteX18" fmla="*/ 568114 w 606086"/>
              <a:gd name="connsiteY18" fmla="*/ 525801 h 604957"/>
              <a:gd name="connsiteX19" fmla="*/ 526708 w 606086"/>
              <a:gd name="connsiteY19" fmla="*/ 567048 h 604957"/>
              <a:gd name="connsiteX20" fmla="*/ 505076 w 606086"/>
              <a:gd name="connsiteY20" fmla="*/ 545451 h 604957"/>
              <a:gd name="connsiteX21" fmla="*/ 433774 w 606086"/>
              <a:gd name="connsiteY21" fmla="*/ 574741 h 604957"/>
              <a:gd name="connsiteX22" fmla="*/ 433774 w 606086"/>
              <a:gd name="connsiteY22" fmla="*/ 604957 h 604957"/>
              <a:gd name="connsiteX23" fmla="*/ 375470 w 606086"/>
              <a:gd name="connsiteY23" fmla="*/ 604957 h 604957"/>
              <a:gd name="connsiteX24" fmla="*/ 375470 w 606086"/>
              <a:gd name="connsiteY24" fmla="*/ 574741 h 604957"/>
              <a:gd name="connsiteX25" fmla="*/ 304169 w 606086"/>
              <a:gd name="connsiteY25" fmla="*/ 545451 h 604957"/>
              <a:gd name="connsiteX26" fmla="*/ 282537 w 606086"/>
              <a:gd name="connsiteY26" fmla="*/ 567048 h 604957"/>
              <a:gd name="connsiteX27" fmla="*/ 241130 w 606086"/>
              <a:gd name="connsiteY27" fmla="*/ 525801 h 604957"/>
              <a:gd name="connsiteX28" fmla="*/ 262855 w 606086"/>
              <a:gd name="connsiteY28" fmla="*/ 504390 h 604957"/>
              <a:gd name="connsiteX29" fmla="*/ 233517 w 606086"/>
              <a:gd name="connsiteY29" fmla="*/ 433206 h 604957"/>
              <a:gd name="connsiteX30" fmla="*/ 203158 w 606086"/>
              <a:gd name="connsiteY30" fmla="*/ 433206 h 604957"/>
              <a:gd name="connsiteX31" fmla="*/ 203158 w 606086"/>
              <a:gd name="connsiteY31" fmla="*/ 374997 h 604957"/>
              <a:gd name="connsiteX32" fmla="*/ 233517 w 606086"/>
              <a:gd name="connsiteY32" fmla="*/ 374997 h 604957"/>
              <a:gd name="connsiteX33" fmla="*/ 262855 w 606086"/>
              <a:gd name="connsiteY33" fmla="*/ 303813 h 604957"/>
              <a:gd name="connsiteX34" fmla="*/ 241130 w 606086"/>
              <a:gd name="connsiteY34" fmla="*/ 282216 h 604957"/>
              <a:gd name="connsiteX35" fmla="*/ 282630 w 606086"/>
              <a:gd name="connsiteY35" fmla="*/ 240785 h 604957"/>
              <a:gd name="connsiteX36" fmla="*/ 304169 w 606086"/>
              <a:gd name="connsiteY36" fmla="*/ 262381 h 604957"/>
              <a:gd name="connsiteX37" fmla="*/ 375470 w 606086"/>
              <a:gd name="connsiteY37" fmla="*/ 233092 h 604957"/>
              <a:gd name="connsiteX38" fmla="*/ 131840 w 606086"/>
              <a:gd name="connsiteY38" fmla="*/ 79163 h 604957"/>
              <a:gd name="connsiteX39" fmla="*/ 79383 w 606086"/>
              <a:gd name="connsiteY39" fmla="*/ 131629 h 604957"/>
              <a:gd name="connsiteX40" fmla="*/ 131840 w 606086"/>
              <a:gd name="connsiteY40" fmla="*/ 184002 h 604957"/>
              <a:gd name="connsiteX41" fmla="*/ 184298 w 606086"/>
              <a:gd name="connsiteY41" fmla="*/ 131629 h 604957"/>
              <a:gd name="connsiteX42" fmla="*/ 131840 w 606086"/>
              <a:gd name="connsiteY42" fmla="*/ 79163 h 604957"/>
              <a:gd name="connsiteX43" fmla="*/ 112621 w 606086"/>
              <a:gd name="connsiteY43" fmla="*/ 0 h 604957"/>
              <a:gd name="connsiteX44" fmla="*/ 150688 w 606086"/>
              <a:gd name="connsiteY44" fmla="*/ 0 h 604957"/>
              <a:gd name="connsiteX45" fmla="*/ 150688 w 606086"/>
              <a:gd name="connsiteY45" fmla="*/ 19652 h 604957"/>
              <a:gd name="connsiteX46" fmla="*/ 197296 w 606086"/>
              <a:gd name="connsiteY46" fmla="*/ 38933 h 604957"/>
              <a:gd name="connsiteX47" fmla="*/ 211780 w 606086"/>
              <a:gd name="connsiteY47" fmla="*/ 24935 h 604957"/>
              <a:gd name="connsiteX48" fmla="*/ 238798 w 606086"/>
              <a:gd name="connsiteY48" fmla="*/ 51910 h 604957"/>
              <a:gd name="connsiteX49" fmla="*/ 224778 w 606086"/>
              <a:gd name="connsiteY49" fmla="*/ 65814 h 604957"/>
              <a:gd name="connsiteX50" fmla="*/ 244090 w 606086"/>
              <a:gd name="connsiteY50" fmla="*/ 112441 h 604957"/>
              <a:gd name="connsiteX51" fmla="*/ 263773 w 606086"/>
              <a:gd name="connsiteY51" fmla="*/ 112441 h 604957"/>
              <a:gd name="connsiteX52" fmla="*/ 263773 w 606086"/>
              <a:gd name="connsiteY52" fmla="*/ 150353 h 604957"/>
              <a:gd name="connsiteX53" fmla="*/ 244090 w 606086"/>
              <a:gd name="connsiteY53" fmla="*/ 150353 h 604957"/>
              <a:gd name="connsiteX54" fmla="*/ 224778 w 606086"/>
              <a:gd name="connsiteY54" fmla="*/ 196980 h 604957"/>
              <a:gd name="connsiteX55" fmla="*/ 238798 w 606086"/>
              <a:gd name="connsiteY55" fmla="*/ 211440 h 604957"/>
              <a:gd name="connsiteX56" fmla="*/ 211316 w 606086"/>
              <a:gd name="connsiteY56" fmla="*/ 238415 h 604957"/>
              <a:gd name="connsiteX57" fmla="*/ 197296 w 606086"/>
              <a:gd name="connsiteY57" fmla="*/ 224418 h 604957"/>
              <a:gd name="connsiteX58" fmla="*/ 150688 w 606086"/>
              <a:gd name="connsiteY58" fmla="*/ 243699 h 604957"/>
              <a:gd name="connsiteX59" fmla="*/ 150688 w 606086"/>
              <a:gd name="connsiteY59" fmla="*/ 263350 h 604957"/>
              <a:gd name="connsiteX60" fmla="*/ 112621 w 606086"/>
              <a:gd name="connsiteY60" fmla="*/ 263350 h 604957"/>
              <a:gd name="connsiteX61" fmla="*/ 112621 w 606086"/>
              <a:gd name="connsiteY61" fmla="*/ 243699 h 604957"/>
              <a:gd name="connsiteX62" fmla="*/ 66013 w 606086"/>
              <a:gd name="connsiteY62" fmla="*/ 224418 h 604957"/>
              <a:gd name="connsiteX63" fmla="*/ 51994 w 606086"/>
              <a:gd name="connsiteY63" fmla="*/ 238415 h 604957"/>
              <a:gd name="connsiteX64" fmla="*/ 24976 w 606086"/>
              <a:gd name="connsiteY64" fmla="*/ 211440 h 604957"/>
              <a:gd name="connsiteX65" fmla="*/ 38995 w 606086"/>
              <a:gd name="connsiteY65" fmla="*/ 196980 h 604957"/>
              <a:gd name="connsiteX66" fmla="*/ 19683 w 606086"/>
              <a:gd name="connsiteY66" fmla="*/ 150353 h 604957"/>
              <a:gd name="connsiteX67" fmla="*/ 0 w 606086"/>
              <a:gd name="connsiteY67" fmla="*/ 150353 h 604957"/>
              <a:gd name="connsiteX68" fmla="*/ 0 w 606086"/>
              <a:gd name="connsiteY68" fmla="*/ 112441 h 604957"/>
              <a:gd name="connsiteX69" fmla="*/ 19683 w 606086"/>
              <a:gd name="connsiteY69" fmla="*/ 112441 h 604957"/>
              <a:gd name="connsiteX70" fmla="*/ 38995 w 606086"/>
              <a:gd name="connsiteY70" fmla="*/ 65814 h 604957"/>
              <a:gd name="connsiteX71" fmla="*/ 24976 w 606086"/>
              <a:gd name="connsiteY71" fmla="*/ 51910 h 604957"/>
              <a:gd name="connsiteX72" fmla="*/ 51994 w 606086"/>
              <a:gd name="connsiteY72" fmla="*/ 24935 h 604957"/>
              <a:gd name="connsiteX73" fmla="*/ 66013 w 606086"/>
              <a:gd name="connsiteY73" fmla="*/ 38933 h 604957"/>
              <a:gd name="connsiteX74" fmla="*/ 112621 w 606086"/>
              <a:gd name="connsiteY74" fmla="*/ 19652 h 60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6086" h="604957">
                <a:moveTo>
                  <a:pt x="404901" y="324111"/>
                </a:moveTo>
                <a:cubicBezTo>
                  <a:pt x="360709" y="324111"/>
                  <a:pt x="324594" y="360167"/>
                  <a:pt x="324594" y="404287"/>
                </a:cubicBezTo>
                <a:cubicBezTo>
                  <a:pt x="324594" y="448407"/>
                  <a:pt x="360616" y="484462"/>
                  <a:pt x="404901" y="484462"/>
                </a:cubicBezTo>
                <a:cubicBezTo>
                  <a:pt x="449093" y="484462"/>
                  <a:pt x="485301" y="448407"/>
                  <a:pt x="485301" y="404287"/>
                </a:cubicBezTo>
                <a:cubicBezTo>
                  <a:pt x="485301" y="360167"/>
                  <a:pt x="449093" y="324111"/>
                  <a:pt x="404901" y="324111"/>
                </a:cubicBezTo>
                <a:close/>
                <a:moveTo>
                  <a:pt x="375470" y="202875"/>
                </a:moveTo>
                <a:lnTo>
                  <a:pt x="434146" y="202875"/>
                </a:lnTo>
                <a:lnTo>
                  <a:pt x="434146" y="233092"/>
                </a:lnTo>
                <a:cubicBezTo>
                  <a:pt x="460605" y="237448"/>
                  <a:pt x="484744" y="247458"/>
                  <a:pt x="505447" y="262381"/>
                </a:cubicBezTo>
                <a:lnTo>
                  <a:pt x="527079" y="240785"/>
                </a:lnTo>
                <a:lnTo>
                  <a:pt x="568579" y="282031"/>
                </a:lnTo>
                <a:lnTo>
                  <a:pt x="546947" y="303720"/>
                </a:lnTo>
                <a:cubicBezTo>
                  <a:pt x="561244" y="324946"/>
                  <a:pt x="571921" y="348952"/>
                  <a:pt x="576284" y="374905"/>
                </a:cubicBezTo>
                <a:lnTo>
                  <a:pt x="576284" y="374719"/>
                </a:lnTo>
                <a:lnTo>
                  <a:pt x="606086" y="374719"/>
                </a:lnTo>
                <a:lnTo>
                  <a:pt x="606086" y="432928"/>
                </a:lnTo>
                <a:lnTo>
                  <a:pt x="575727" y="432928"/>
                </a:lnTo>
                <a:cubicBezTo>
                  <a:pt x="571457" y="459436"/>
                  <a:pt x="561430" y="483535"/>
                  <a:pt x="546390" y="504112"/>
                </a:cubicBezTo>
                <a:lnTo>
                  <a:pt x="568114" y="525801"/>
                </a:lnTo>
                <a:lnTo>
                  <a:pt x="526708" y="567048"/>
                </a:lnTo>
                <a:lnTo>
                  <a:pt x="505076" y="545451"/>
                </a:lnTo>
                <a:cubicBezTo>
                  <a:pt x="483815" y="559725"/>
                  <a:pt x="459770" y="570384"/>
                  <a:pt x="433774" y="574741"/>
                </a:cubicBezTo>
                <a:lnTo>
                  <a:pt x="433774" y="604957"/>
                </a:lnTo>
                <a:lnTo>
                  <a:pt x="375470" y="604957"/>
                </a:lnTo>
                <a:lnTo>
                  <a:pt x="375470" y="574741"/>
                </a:lnTo>
                <a:cubicBezTo>
                  <a:pt x="349011" y="570384"/>
                  <a:pt x="324872" y="560374"/>
                  <a:pt x="304169" y="545451"/>
                </a:cubicBezTo>
                <a:lnTo>
                  <a:pt x="282537" y="567048"/>
                </a:lnTo>
                <a:lnTo>
                  <a:pt x="241130" y="525801"/>
                </a:lnTo>
                <a:lnTo>
                  <a:pt x="262855" y="504390"/>
                </a:lnTo>
                <a:cubicBezTo>
                  <a:pt x="248464" y="483165"/>
                  <a:pt x="237788" y="459158"/>
                  <a:pt x="233517" y="433206"/>
                </a:cubicBezTo>
                <a:lnTo>
                  <a:pt x="203158" y="433206"/>
                </a:lnTo>
                <a:lnTo>
                  <a:pt x="203158" y="374997"/>
                </a:lnTo>
                <a:lnTo>
                  <a:pt x="233517" y="374997"/>
                </a:lnTo>
                <a:cubicBezTo>
                  <a:pt x="237788" y="348581"/>
                  <a:pt x="247815" y="324482"/>
                  <a:pt x="262855" y="303813"/>
                </a:cubicBezTo>
                <a:lnTo>
                  <a:pt x="241130" y="282216"/>
                </a:lnTo>
                <a:lnTo>
                  <a:pt x="282630" y="240785"/>
                </a:lnTo>
                <a:lnTo>
                  <a:pt x="304169" y="262381"/>
                </a:lnTo>
                <a:cubicBezTo>
                  <a:pt x="325429" y="248107"/>
                  <a:pt x="349475" y="237448"/>
                  <a:pt x="375470" y="233092"/>
                </a:cubicBezTo>
                <a:close/>
                <a:moveTo>
                  <a:pt x="131840" y="79163"/>
                </a:moveTo>
                <a:cubicBezTo>
                  <a:pt x="102965" y="79163"/>
                  <a:pt x="79383" y="102800"/>
                  <a:pt x="79383" y="131629"/>
                </a:cubicBezTo>
                <a:cubicBezTo>
                  <a:pt x="79383" y="160365"/>
                  <a:pt x="102965" y="184002"/>
                  <a:pt x="131840" y="184002"/>
                </a:cubicBezTo>
                <a:cubicBezTo>
                  <a:pt x="160808" y="184002"/>
                  <a:pt x="184298" y="160365"/>
                  <a:pt x="184298" y="131629"/>
                </a:cubicBezTo>
                <a:cubicBezTo>
                  <a:pt x="184298" y="102800"/>
                  <a:pt x="160715" y="79163"/>
                  <a:pt x="131840" y="79163"/>
                </a:cubicBezTo>
                <a:close/>
                <a:moveTo>
                  <a:pt x="112621" y="0"/>
                </a:moveTo>
                <a:lnTo>
                  <a:pt x="150688" y="0"/>
                </a:lnTo>
                <a:lnTo>
                  <a:pt x="150688" y="19652"/>
                </a:lnTo>
                <a:cubicBezTo>
                  <a:pt x="167957" y="22618"/>
                  <a:pt x="183834" y="29292"/>
                  <a:pt x="197296" y="38933"/>
                </a:cubicBezTo>
                <a:lnTo>
                  <a:pt x="211780" y="24935"/>
                </a:lnTo>
                <a:lnTo>
                  <a:pt x="238798" y="51910"/>
                </a:lnTo>
                <a:lnTo>
                  <a:pt x="224778" y="65814"/>
                </a:lnTo>
                <a:cubicBezTo>
                  <a:pt x="234434" y="79812"/>
                  <a:pt x="241305" y="95106"/>
                  <a:pt x="244090" y="112441"/>
                </a:cubicBezTo>
                <a:lnTo>
                  <a:pt x="263773" y="112441"/>
                </a:lnTo>
                <a:lnTo>
                  <a:pt x="263773" y="150353"/>
                </a:lnTo>
                <a:lnTo>
                  <a:pt x="244090" y="150353"/>
                </a:lnTo>
                <a:cubicBezTo>
                  <a:pt x="241119" y="167688"/>
                  <a:pt x="234434" y="183539"/>
                  <a:pt x="224778" y="196980"/>
                </a:cubicBezTo>
                <a:lnTo>
                  <a:pt x="238798" y="211440"/>
                </a:lnTo>
                <a:lnTo>
                  <a:pt x="211316" y="238415"/>
                </a:lnTo>
                <a:lnTo>
                  <a:pt x="197296" y="224418"/>
                </a:lnTo>
                <a:cubicBezTo>
                  <a:pt x="183369" y="234058"/>
                  <a:pt x="167957" y="240825"/>
                  <a:pt x="150688" y="243699"/>
                </a:cubicBezTo>
                <a:lnTo>
                  <a:pt x="150688" y="263350"/>
                </a:lnTo>
                <a:lnTo>
                  <a:pt x="112621" y="263350"/>
                </a:lnTo>
                <a:lnTo>
                  <a:pt x="112621" y="243699"/>
                </a:lnTo>
                <a:cubicBezTo>
                  <a:pt x="95352" y="240732"/>
                  <a:pt x="79476" y="234058"/>
                  <a:pt x="66013" y="224418"/>
                </a:cubicBezTo>
                <a:lnTo>
                  <a:pt x="51994" y="238415"/>
                </a:lnTo>
                <a:lnTo>
                  <a:pt x="24976" y="211440"/>
                </a:lnTo>
                <a:lnTo>
                  <a:pt x="38995" y="196980"/>
                </a:lnTo>
                <a:cubicBezTo>
                  <a:pt x="29339" y="182982"/>
                  <a:pt x="22562" y="167688"/>
                  <a:pt x="19683" y="150353"/>
                </a:cubicBezTo>
                <a:lnTo>
                  <a:pt x="0" y="150353"/>
                </a:lnTo>
                <a:lnTo>
                  <a:pt x="0" y="112441"/>
                </a:lnTo>
                <a:lnTo>
                  <a:pt x="19683" y="112441"/>
                </a:lnTo>
                <a:cubicBezTo>
                  <a:pt x="22654" y="95106"/>
                  <a:pt x="29339" y="79348"/>
                  <a:pt x="38995" y="65814"/>
                </a:cubicBezTo>
                <a:lnTo>
                  <a:pt x="24976" y="51910"/>
                </a:lnTo>
                <a:lnTo>
                  <a:pt x="51994" y="24935"/>
                </a:lnTo>
                <a:lnTo>
                  <a:pt x="66013" y="38933"/>
                </a:lnTo>
                <a:cubicBezTo>
                  <a:pt x="79940" y="29292"/>
                  <a:pt x="95352" y="22433"/>
                  <a:pt x="112621" y="19652"/>
                </a:cubicBezTo>
                <a:close/>
              </a:path>
            </a:pathLst>
          </a:custGeom>
          <a:solidFill>
            <a:schemeClr val="accent1"/>
          </a:solidFill>
          <a:ln>
            <a:noFill/>
          </a:ln>
        </p:spPr>
      </p:sp>
      <p:sp>
        <p:nvSpPr>
          <p:cNvPr id="6" name="文本框 5"/>
          <p:cNvSpPr txBox="1"/>
          <p:nvPr/>
        </p:nvSpPr>
        <p:spPr>
          <a:xfrm>
            <a:off x="2038164" y="3763157"/>
            <a:ext cx="4715220" cy="369332"/>
          </a:xfrm>
          <a:prstGeom prst="rect">
            <a:avLst/>
          </a:prstGeom>
          <a:noFill/>
        </p:spPr>
        <p:txBody>
          <a:bodyPr wrap="square" rtlCol="0">
            <a:spAutoFit/>
          </a:bodyPr>
          <a:lstStyle/>
          <a:p>
            <a:r>
              <a:rPr lang="zh-CN" altLang="en-US" b="1" dirty="0" smtClean="0">
                <a:solidFill>
                  <a:schemeClr val="accent6">
                    <a:lumMod val="50000"/>
                  </a:schemeClr>
                </a:solidFill>
              </a:rPr>
              <a:t>一般不会让你算这个，要算你也会对不对？</a:t>
            </a:r>
            <a:endParaRPr lang="zh-CN" altLang="en-US" b="1" dirty="0">
              <a:solidFill>
                <a:schemeClr val="accent6">
                  <a:lumMod val="50000"/>
                </a:schemeClr>
              </a:solidFill>
            </a:endParaRPr>
          </a:p>
        </p:txBody>
      </p:sp>
    </p:spTree>
    <p:extLst>
      <p:ext uri="{BB962C8B-B14F-4D97-AF65-F5344CB8AC3E}">
        <p14:creationId xmlns:p14="http://schemas.microsoft.com/office/powerpoint/2010/main" val="96066798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Value of a FRA</a:t>
            </a:r>
          </a:p>
        </p:txBody>
      </p:sp>
      <p:sp>
        <p:nvSpPr>
          <p:cNvPr id="3" name="文本占位符 2"/>
          <p:cNvSpPr>
            <a:spLocks noGrp="1"/>
          </p:cNvSpPr>
          <p:nvPr>
            <p:ph type="body" sz="quarter" idx="10"/>
          </p:nvPr>
        </p:nvSpPr>
        <p:spPr/>
        <p:txBody>
          <a:bodyPr/>
          <a:lstStyle/>
          <a:p>
            <a:r>
              <a:rPr lang="en-US" altLang="zh-CN" dirty="0" smtClean="0"/>
              <a:t>Forward Rate Agreement (FRA)</a:t>
            </a:r>
          </a:p>
          <a:p>
            <a:pPr lvl="1"/>
            <a:r>
              <a:rPr lang="en-US" altLang="zh-CN" b="0" dirty="0"/>
              <a:t>A forward rate agreement (FRA) is an agreement that a fixed interest rate will apply </a:t>
            </a:r>
            <a:r>
              <a:rPr lang="en-US" altLang="zh-CN" b="0" dirty="0" smtClean="0"/>
              <a:t>to either </a:t>
            </a:r>
            <a:r>
              <a:rPr lang="en-US" altLang="zh-CN" b="0" u="sng" dirty="0"/>
              <a:t>borrowing or lending a certain principal during a specified future time period</a:t>
            </a:r>
            <a:r>
              <a:rPr lang="en-US" altLang="zh-CN" b="0" dirty="0" smtClean="0"/>
              <a:t>.</a:t>
            </a:r>
          </a:p>
          <a:p>
            <a:pPr lvl="1"/>
            <a:r>
              <a:rPr lang="en-US" altLang="zh-CN" b="0" dirty="0"/>
              <a:t>The value of a forward rate agreement (FRA) where a fixed </a:t>
            </a:r>
            <a:r>
              <a:rPr lang="en-US" altLang="zh-CN" b="0" dirty="0" smtClean="0"/>
              <a:t>rate,R</a:t>
            </a:r>
            <a:r>
              <a:rPr lang="en-US" altLang="zh-CN" b="0" baseline="-25000" dirty="0" smtClean="0"/>
              <a:t>K</a:t>
            </a:r>
            <a:r>
              <a:rPr lang="en-US" altLang="zh-CN" b="0" dirty="0" smtClean="0"/>
              <a:t>, </a:t>
            </a:r>
            <a:r>
              <a:rPr lang="en-US" altLang="zh-CN" b="0" dirty="0"/>
              <a:t>will be received on </a:t>
            </a:r>
            <a:r>
              <a:rPr lang="en-US" altLang="zh-CN" b="0" dirty="0" smtClean="0"/>
              <a:t>a principal </a:t>
            </a:r>
            <a:r>
              <a:rPr lang="en-US" altLang="zh-CN" b="0" dirty="0"/>
              <a:t>(L) between times </a:t>
            </a:r>
            <a:r>
              <a:rPr lang="en-US" altLang="zh-CN" b="0" dirty="0" smtClean="0"/>
              <a:t>T</a:t>
            </a:r>
            <a:r>
              <a:rPr lang="en-US" altLang="zh-CN" b="0" baseline="-25000" dirty="0" smtClean="0"/>
              <a:t>1</a:t>
            </a:r>
            <a:r>
              <a:rPr lang="en-US" altLang="zh-CN" b="0" dirty="0" smtClean="0"/>
              <a:t> and T</a:t>
            </a:r>
            <a:r>
              <a:rPr lang="en-US" altLang="zh-CN" b="0" baseline="-25000" dirty="0" smtClean="0"/>
              <a:t>2</a:t>
            </a:r>
            <a:r>
              <a:rPr lang="zh-CN" altLang="en-US" sz="600" b="0" dirty="0" smtClean="0"/>
              <a:t> </a:t>
            </a:r>
            <a:r>
              <a:rPr lang="en-US" altLang="zh-CN" b="0" dirty="0"/>
              <a:t>,if </a:t>
            </a:r>
            <a:r>
              <a:rPr lang="en-US" altLang="zh-CN" b="0" dirty="0" smtClean="0"/>
              <a:t>R</a:t>
            </a:r>
            <a:r>
              <a:rPr lang="en-US" altLang="zh-CN" b="0" baseline="-25000" dirty="0" smtClean="0"/>
              <a:t>F</a:t>
            </a:r>
            <a:r>
              <a:rPr lang="en-US" altLang="zh-CN" b="0" dirty="0" smtClean="0"/>
              <a:t> </a:t>
            </a:r>
            <a:r>
              <a:rPr lang="zh-CN" altLang="en-US" sz="600" b="0" dirty="0" smtClean="0"/>
              <a:t> </a:t>
            </a:r>
            <a:r>
              <a:rPr lang="en-US" altLang="zh-CN" b="0" dirty="0"/>
              <a:t>is the forward rate for the period and </a:t>
            </a:r>
            <a:r>
              <a:rPr lang="en-US" altLang="zh-CN" b="0" dirty="0" smtClean="0"/>
              <a:t>R</a:t>
            </a:r>
            <a:r>
              <a:rPr lang="en-US" altLang="zh-CN" b="0" baseline="-25000" dirty="0" smtClean="0"/>
              <a:t>2</a:t>
            </a:r>
            <a:r>
              <a:rPr lang="en-US" altLang="zh-CN" b="0" dirty="0" smtClean="0"/>
              <a:t>is the spot/zero </a:t>
            </a:r>
            <a:r>
              <a:rPr lang="en-US" altLang="zh-CN" b="0" dirty="0"/>
              <a:t>rate for maturity </a:t>
            </a:r>
            <a:r>
              <a:rPr lang="en-US" altLang="zh-CN" b="0" dirty="0" smtClean="0"/>
              <a:t>T</a:t>
            </a:r>
            <a:r>
              <a:rPr lang="en-US" altLang="zh-CN" b="0" baseline="-25000" dirty="0" smtClean="0"/>
              <a:t>2</a:t>
            </a:r>
            <a:r>
              <a:rPr lang="zh-CN" altLang="en-US" sz="600" b="0" dirty="0" smtClean="0"/>
              <a:t> </a:t>
            </a:r>
            <a:r>
              <a:rPr lang="en-US" altLang="zh-CN" b="0" dirty="0"/>
              <a:t>is given by</a:t>
            </a:r>
            <a:r>
              <a:rPr lang="en-US" altLang="zh-CN" b="0" dirty="0" smtClean="0"/>
              <a:t>:</a:t>
            </a:r>
          </a:p>
          <a:p>
            <a:pPr lvl="1"/>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3378298" y="4516914"/>
                <a:ext cx="4829268" cy="368434"/>
              </a:xfrm>
              <a:prstGeom prst="rect">
                <a:avLst/>
              </a:prstGeom>
              <a:noFill/>
              <a:ln w="25400">
                <a:solidFill>
                  <a:srgbClr val="FF0000"/>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𝑉</m:t>
                      </m:r>
                      <m:r>
                        <a:rPr lang="en-US" altLang="zh-CN" sz="2400" b="0" i="1" baseline="-25000" smtClean="0">
                          <a:latin typeface="Cambria Math" panose="02040503050406030204" pitchFamily="18" charset="0"/>
                        </a:rPr>
                        <m:t>𝐹𝑅𝐴</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𝐿</m:t>
                      </m:r>
                      <m:d>
                        <m:dPr>
                          <m:ctrlPr>
                            <a:rPr lang="en-US" altLang="zh-CN" sz="2400" b="0" i="1" smtClean="0">
                              <a:latin typeface="Cambria Math"/>
                            </a:rPr>
                          </m:ctrlPr>
                        </m:dPr>
                        <m:e>
                          <m:r>
                            <a:rPr lang="en-US" altLang="zh-CN" sz="2400" b="0" i="1" smtClean="0">
                              <a:latin typeface="Cambria Math" panose="02040503050406030204" pitchFamily="18" charset="0"/>
                            </a:rPr>
                            <m:t>𝑅</m:t>
                          </m:r>
                          <m:r>
                            <a:rPr lang="en-US" altLang="zh-CN" sz="2400" b="0" i="1" baseline="-25000" smtClean="0">
                              <a:latin typeface="Cambria Math" panose="02040503050406030204" pitchFamily="18" charset="0"/>
                            </a:rPr>
                            <m:t>𝐾</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𝑅𝐹</m:t>
                          </m:r>
                        </m:e>
                      </m:d>
                      <m:d>
                        <m:dPr>
                          <m:ctrlPr>
                            <a:rPr lang="en-US" altLang="zh-CN" sz="2400" b="0" i="1" smtClean="0">
                              <a:latin typeface="Cambria Math"/>
                            </a:rPr>
                          </m:ctrlPr>
                        </m:dPr>
                        <m:e>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1</m:t>
                          </m:r>
                        </m:e>
                      </m:d>
                      <m:sSup>
                        <m:sSupPr>
                          <m:ctrlPr>
                            <a:rPr lang="en-US" altLang="zh-CN" sz="2400" b="0" i="1" smtClean="0">
                              <a:latin typeface="Cambria Math"/>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m:t>
                          </m:r>
                          <m:r>
                            <a:rPr lang="en-US" altLang="zh-CN" sz="2400" b="0" i="1" baseline="-25000" smtClean="0">
                              <a:latin typeface="Cambria Math" panose="02040503050406030204" pitchFamily="18" charset="0"/>
                            </a:rPr>
                            <m:t>2</m:t>
                          </m:r>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2</m:t>
                          </m:r>
                        </m:sup>
                      </m:sSup>
                    </m:oMath>
                  </m:oMathPara>
                </a14:m>
                <a:endParaRPr lang="zh-CN" altLang="en-US" sz="2400" baseline="30000" dirty="0"/>
              </a:p>
            </p:txBody>
          </p:sp>
        </mc:Choice>
        <mc:Fallback xmlns="">
          <p:sp>
            <p:nvSpPr>
              <p:cNvPr id="4" name="文本框 3"/>
              <p:cNvSpPr txBox="1">
                <a:spLocks noRot="1" noChangeAspect="1" noMove="1" noResize="1" noEditPoints="1" noAdjustHandles="1" noChangeArrowheads="1" noChangeShapeType="1" noTextEdit="1"/>
              </p:cNvSpPr>
              <p:nvPr/>
            </p:nvSpPr>
            <p:spPr>
              <a:xfrm>
                <a:off x="3378298" y="4516914"/>
                <a:ext cx="4829268" cy="368434"/>
              </a:xfrm>
              <a:prstGeom prst="rect">
                <a:avLst/>
              </a:prstGeom>
              <a:blipFill rotWithShape="1">
                <a:blip r:embed="rId2"/>
                <a:stretch>
                  <a:fillRect b="-15625"/>
                </a:stretch>
              </a:blipFill>
              <a:ln w="2540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25321793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3"/>
            <a:ext cx="10972800" cy="2632278"/>
          </a:xfrm>
        </p:spPr>
        <p:txBody>
          <a:bodyPr/>
          <a:lstStyle/>
          <a:p>
            <a:r>
              <a:rPr lang="en-US" altLang="zh-CN" dirty="0"/>
              <a:t>If LIBOR is 4.5% in 3 years, company ends up paying </a:t>
            </a:r>
            <a:r>
              <a:rPr lang="en-US" altLang="zh-CN" dirty="0" smtClean="0"/>
              <a:t>4% to </a:t>
            </a:r>
            <a:r>
              <a:rPr lang="en-US" altLang="zh-CN" dirty="0"/>
              <a:t>the counterparty who is </a:t>
            </a:r>
            <a:r>
              <a:rPr lang="en-US" altLang="zh-CN" dirty="0" smtClean="0"/>
              <a:t>the buyer </a:t>
            </a:r>
            <a:r>
              <a:rPr lang="en-US" altLang="zh-CN" dirty="0"/>
              <a:t>receiving the payment at a future value of time t = 3.25 years of $125,000</a:t>
            </a:r>
            <a:r>
              <a:rPr lang="en-US" altLang="zh-CN" dirty="0" smtClean="0"/>
              <a:t>.</a:t>
            </a:r>
          </a:p>
          <a:p>
            <a:pPr lvl="1"/>
            <a:r>
              <a:rPr lang="en-US" altLang="zh-CN" dirty="0"/>
              <a:t>100,000,000 × (4% − 4.5% ) × 0.25 = −$</a:t>
            </a:r>
            <a:r>
              <a:rPr lang="en-US" altLang="zh-CN" dirty="0" smtClean="0"/>
              <a:t>125,000</a:t>
            </a:r>
          </a:p>
          <a:p>
            <a:pPr lvl="1"/>
            <a:r>
              <a:rPr lang="en-US" altLang="zh-CN" dirty="0"/>
              <a:t>Discounting this to the present value at year 3, we </a:t>
            </a:r>
            <a:r>
              <a:rPr lang="en-US" altLang="zh-CN" dirty="0" smtClean="0"/>
              <a:t>get</a:t>
            </a:r>
          </a:p>
          <a:p>
            <a:pPr lvl="1"/>
            <a:r>
              <a:rPr lang="en-US" altLang="zh-CN" dirty="0" smtClean="0"/>
              <a:t>-$125,000/(1+4.5%*0.25)=-123,609</a:t>
            </a:r>
            <a:endParaRPr lang="zh-CN" altLang="en-US" dirty="0"/>
          </a:p>
        </p:txBody>
      </p:sp>
      <p:sp>
        <p:nvSpPr>
          <p:cNvPr id="4" name="标题 1"/>
          <p:cNvSpPr>
            <a:spLocks noGrp="1"/>
          </p:cNvSpPr>
          <p:nvPr>
            <p:ph type="title"/>
          </p:nvPr>
        </p:nvSpPr>
        <p:spPr/>
        <p:txBody>
          <a:bodyPr/>
          <a:lstStyle/>
          <a:p>
            <a:r>
              <a:rPr lang="en-US" altLang="zh-CN" dirty="0"/>
              <a:t>Value of a FRA</a:t>
            </a:r>
          </a:p>
        </p:txBody>
      </p:sp>
    </p:spTree>
    <p:extLst>
      <p:ext uri="{BB962C8B-B14F-4D97-AF65-F5344CB8AC3E}">
        <p14:creationId xmlns:p14="http://schemas.microsoft.com/office/powerpoint/2010/main" val="13219453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732704" cy="576064"/>
          </a:xfrm>
        </p:spPr>
        <p:txBody>
          <a:bodyPr>
            <a:normAutofit/>
          </a:bodyPr>
          <a:lstStyle/>
          <a:p>
            <a:r>
              <a:rPr lang="en-US" altLang="zh-CN" dirty="0"/>
              <a:t>Duration,Modified Duration,and Dollar Duration</a:t>
            </a:r>
            <a:endParaRPr lang="zh-CN" altLang="en-US" dirty="0"/>
          </a:p>
        </p:txBody>
      </p:sp>
      <p:sp>
        <p:nvSpPr>
          <p:cNvPr id="3" name="文本占位符 2"/>
          <p:cNvSpPr>
            <a:spLocks noGrp="1"/>
          </p:cNvSpPr>
          <p:nvPr>
            <p:ph type="body" sz="quarter" idx="10"/>
          </p:nvPr>
        </p:nvSpPr>
        <p:spPr/>
        <p:txBody>
          <a:bodyPr/>
          <a:lstStyle/>
          <a:p>
            <a:pPr>
              <a:spcBef>
                <a:spcPct val="0"/>
              </a:spcBef>
              <a:defRPr/>
            </a:pPr>
            <a:r>
              <a:rPr lang="en-US" altLang="zh-CN" dirty="0"/>
              <a:t>Interest Rate Risk</a:t>
            </a:r>
          </a:p>
          <a:p>
            <a:pPr lvl="1">
              <a:spcBef>
                <a:spcPct val="0"/>
              </a:spcBef>
              <a:defRPr/>
            </a:pPr>
            <a:r>
              <a:rPr lang="en-US" altLang="zh-CN" b="1" dirty="0"/>
              <a:t>Macaulay Duration</a:t>
            </a:r>
          </a:p>
          <a:p>
            <a:pPr marL="1066774" lvl="3" indent="-457189">
              <a:buFont typeface="Wingdings" panose="05000000000000000000" pitchFamily="2" charset="2"/>
              <a:buChar char="ü"/>
            </a:pPr>
            <a:r>
              <a:rPr lang="en-US" altLang="zh-CN" u="sng" dirty="0"/>
              <a:t>Average period of cash flow returning weighted by discounted cash flow.</a:t>
            </a:r>
          </a:p>
          <a:p>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1452447" y="2615675"/>
                <a:ext cx="3457575" cy="1348446"/>
              </a:xfrm>
              <a:prstGeom prst="rect">
                <a:avLst/>
              </a:prstGeom>
              <a:ln w="19050">
                <a:solidFill>
                  <a:srgbClr val="FF0000"/>
                </a:solidFill>
              </a:ln>
            </p:spPr>
            <p:txBody>
              <a:bodyPr wrap="square">
                <a:spAutoFit/>
              </a:bodyPr>
              <a:lstStyle/>
              <a:p>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D=</a:t>
                </a:r>
                <a14:m>
                  <m:oMath xmlns:m="http://schemas.openxmlformats.org/officeDocument/2006/math">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nary>
                          <m:naryPr>
                            <m:chr m:val="∑"/>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num>
                              <m:den>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nary>
                      </m:num>
                      <m:den>
                        <m:nary>
                          <m:naryPr>
                            <m:chr m:val="∑"/>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num>
                              <m:den>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e>
                        </m:nary>
                      </m:den>
                    </m:f>
                  </m:oMath>
                </a14:m>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nary>
                          <m:naryPr>
                            <m:chr m:val="∑"/>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nary>
                      </m:num>
                      <m:den>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den>
                    </m:f>
                  </m:oMath>
                </a14:m>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nary>
                      <m:naryPr>
                        <m:chr m:val="∑"/>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num>
                          <m:den>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den>
                        </m:f>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nary>
                  </m:oMath>
                </a14:m>
                <a:r>
                  <a:rPr lang="en-US" altLang="zh-CN"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nary>
                      <m:naryPr>
                        <m:chr m:val="∑"/>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zh-CN" altLang="en-US"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ω</m:t>
                            </m:r>
                          </m:e>
                          <m:sub>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20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nary>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452447" y="2615675"/>
                <a:ext cx="3457575" cy="1348446"/>
              </a:xfrm>
              <a:prstGeom prst="rect">
                <a:avLst/>
              </a:prstGeom>
              <a:blipFill>
                <a:blip r:embed="rId2"/>
                <a:stretch>
                  <a:fillRect l="-1579" r="-1404" b="-1339"/>
                </a:stretch>
              </a:blipFill>
              <a:ln w="19050">
                <a:solidFill>
                  <a:srgbClr val="FF0000"/>
                </a:solidFill>
              </a:ln>
            </p:spPr>
            <p:txBody>
              <a:bodyPr/>
              <a:lstStyle/>
              <a:p>
                <a:r>
                  <a:rPr lang="zh-CN" altLang="en-US">
                    <a:noFill/>
                  </a:rPr>
                  <a:t> </a:t>
                </a:r>
              </a:p>
            </p:txBody>
          </p:sp>
        </mc:Fallback>
      </mc:AlternateContent>
      <p:sp>
        <p:nvSpPr>
          <p:cNvPr id="5" name="warning_94911"/>
          <p:cNvSpPr>
            <a:spLocks noChangeAspect="1"/>
          </p:cNvSpPr>
          <p:nvPr/>
        </p:nvSpPr>
        <p:spPr bwMode="auto">
          <a:xfrm>
            <a:off x="1456118" y="4139125"/>
            <a:ext cx="609685" cy="556991"/>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accent1"/>
          </a:solidFill>
          <a:ln>
            <a:noFill/>
          </a:ln>
        </p:spPr>
      </p:sp>
      <p:sp>
        <p:nvSpPr>
          <p:cNvPr id="6" name="文本框 5"/>
          <p:cNvSpPr txBox="1"/>
          <p:nvPr/>
        </p:nvSpPr>
        <p:spPr>
          <a:xfrm>
            <a:off x="2272342" y="4232954"/>
            <a:ext cx="2637680" cy="646331"/>
          </a:xfrm>
          <a:prstGeom prst="rect">
            <a:avLst/>
          </a:prstGeom>
          <a:noFill/>
        </p:spPr>
        <p:txBody>
          <a:bodyPr wrap="square" rtlCol="0">
            <a:spAutoFit/>
          </a:bodyPr>
          <a:lstStyle/>
          <a:p>
            <a:r>
              <a:rPr lang="zh-CN" altLang="en-US" b="1" dirty="0" smtClean="0">
                <a:solidFill>
                  <a:schemeClr val="accent6">
                    <a:lumMod val="50000"/>
                  </a:schemeClr>
                </a:solidFill>
              </a:rPr>
              <a:t>这个公式有什么好看的？</a:t>
            </a:r>
            <a:endParaRPr lang="en-US" altLang="zh-CN" b="1" dirty="0" smtClean="0">
              <a:solidFill>
                <a:schemeClr val="accent6">
                  <a:lumMod val="50000"/>
                </a:schemeClr>
              </a:solidFill>
            </a:endParaRPr>
          </a:p>
          <a:p>
            <a:r>
              <a:rPr lang="zh-CN" altLang="en-US" b="1" dirty="0" smtClean="0">
                <a:solidFill>
                  <a:schemeClr val="accent6">
                    <a:lumMod val="50000"/>
                  </a:schemeClr>
                </a:solidFill>
              </a:rPr>
              <a:t>抛弃又舍不得</a:t>
            </a:r>
            <a:r>
              <a:rPr lang="en-US" altLang="zh-CN" b="1" dirty="0" smtClean="0">
                <a:solidFill>
                  <a:schemeClr val="accent6">
                    <a:lumMod val="50000"/>
                  </a:schemeClr>
                </a:solidFill>
              </a:rPr>
              <a:t>……</a:t>
            </a:r>
            <a:endParaRPr lang="zh-CN" altLang="en-US" b="1" dirty="0">
              <a:solidFill>
                <a:schemeClr val="accent6">
                  <a:lumMod val="50000"/>
                </a:schemeClr>
              </a:solidFill>
            </a:endParaRPr>
          </a:p>
        </p:txBody>
      </p:sp>
      <p:pic>
        <p:nvPicPr>
          <p:cNvPr id="7" name="Picture 25" descr="飞信截屏未命名"/>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4612" y="2460758"/>
            <a:ext cx="3826506" cy="2764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393599" y="5387566"/>
            <a:ext cx="9400396" cy="871713"/>
          </a:xfrm>
          <a:prstGeom prst="rect">
            <a:avLst/>
          </a:prstGeom>
        </p:spPr>
        <p:txBody>
          <a:bodyPr wrap="square">
            <a:spAutoFit/>
          </a:bodyPr>
          <a:lstStyle/>
          <a:p>
            <a:pPr marL="1200150" lvl="2" indent="-285750">
              <a:lnSpc>
                <a:spcPct val="150000"/>
              </a:lnSpc>
              <a:spcBef>
                <a:spcPct val="0"/>
              </a:spcBef>
              <a:buFont typeface="Wingdings" panose="05000000000000000000" pitchFamily="2" charset="2"/>
              <a:buChar char="ü"/>
              <a:defRPr/>
            </a:pPr>
            <a:r>
              <a:rPr lang="en-US" altLang="zh-CN" u="sng" dirty="0"/>
              <a:t>For a zero coupon bond, the Macaulay duration equals to its maturity.</a:t>
            </a:r>
          </a:p>
          <a:p>
            <a:pPr marL="1200150" lvl="2" indent="-285750">
              <a:lnSpc>
                <a:spcPct val="150000"/>
              </a:lnSpc>
              <a:spcBef>
                <a:spcPct val="0"/>
              </a:spcBef>
              <a:buFont typeface="Wingdings" panose="05000000000000000000" pitchFamily="2" charset="2"/>
              <a:buChar char="ü"/>
              <a:defRPr/>
            </a:pPr>
            <a:r>
              <a:rPr lang="en-US" altLang="zh-CN" dirty="0"/>
              <a:t>For a plain bond, Macaulay duration is less than or equal to its maturity.</a:t>
            </a:r>
          </a:p>
        </p:txBody>
      </p:sp>
    </p:spTree>
    <p:extLst>
      <p:ext uri="{BB962C8B-B14F-4D97-AF65-F5344CB8AC3E}">
        <p14:creationId xmlns:p14="http://schemas.microsoft.com/office/powerpoint/2010/main" val="3228335946"/>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644569" cy="576064"/>
          </a:xfrm>
        </p:spPr>
        <p:txBody>
          <a:bodyPr>
            <a:normAutofit/>
          </a:bodyPr>
          <a:lstStyle/>
          <a:p>
            <a:r>
              <a:rPr lang="en-US" altLang="zh-CN" dirty="0"/>
              <a:t>Duration,Modified Duration,and Dollar Duration</a:t>
            </a:r>
            <a:endParaRPr lang="zh-CN" altLang="en-US"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Interest Rate Risk (cont’d)</a:t>
            </a:r>
          </a:p>
          <a:p>
            <a:pPr lvl="1">
              <a:lnSpc>
                <a:spcPct val="140000"/>
              </a:lnSpc>
              <a:spcBef>
                <a:spcPct val="0"/>
              </a:spcBef>
            </a:pPr>
            <a:r>
              <a:rPr lang="en-US" altLang="zh-CN" b="1" dirty="0"/>
              <a:t>Modified </a:t>
            </a:r>
            <a:r>
              <a:rPr lang="en-US" altLang="zh-CN" b="1" dirty="0" smtClean="0"/>
              <a:t>Duration</a:t>
            </a:r>
          </a:p>
          <a:p>
            <a:pPr lvl="1">
              <a:lnSpc>
                <a:spcPct val="140000"/>
              </a:lnSpc>
              <a:spcBef>
                <a:spcPct val="0"/>
              </a:spcBef>
            </a:pPr>
            <a:endParaRPr lang="en-US" altLang="zh-CN" b="1" dirty="0"/>
          </a:p>
          <a:p>
            <a:pPr lvl="1">
              <a:lnSpc>
                <a:spcPct val="140000"/>
              </a:lnSpc>
              <a:spcBef>
                <a:spcPct val="0"/>
              </a:spcBef>
            </a:pPr>
            <a:endParaRPr lang="en-US" altLang="zh-CN" b="1" dirty="0" smtClean="0"/>
          </a:p>
          <a:p>
            <a:pPr lvl="1">
              <a:lnSpc>
                <a:spcPct val="140000"/>
              </a:lnSpc>
              <a:spcBef>
                <a:spcPct val="0"/>
              </a:spcBef>
            </a:pPr>
            <a:endParaRPr lang="en-US" altLang="zh-CN" b="1" dirty="0"/>
          </a:p>
          <a:p>
            <a:pPr lvl="1">
              <a:lnSpc>
                <a:spcPct val="140000"/>
              </a:lnSpc>
              <a:spcBef>
                <a:spcPct val="0"/>
              </a:spcBef>
            </a:pPr>
            <a:endParaRPr lang="en-US" altLang="zh-CN" b="1" dirty="0" smtClean="0"/>
          </a:p>
          <a:p>
            <a:pPr lvl="1">
              <a:lnSpc>
                <a:spcPct val="140000"/>
              </a:lnSpc>
              <a:spcBef>
                <a:spcPct val="0"/>
              </a:spcBef>
            </a:pPr>
            <a:r>
              <a:rPr lang="en-US" altLang="zh-CN" u="sng" dirty="0"/>
              <a:t>All else being equal, duration increase for longer maturities, lower coupons, and lower yields</a:t>
            </a:r>
            <a:r>
              <a:rPr lang="en-US" altLang="zh-CN" u="sng" dirty="0" smtClean="0"/>
              <a:t>.</a:t>
            </a:r>
          </a:p>
          <a:p>
            <a:pPr lvl="1">
              <a:lnSpc>
                <a:spcPct val="140000"/>
              </a:lnSpc>
              <a:spcBef>
                <a:spcPct val="0"/>
              </a:spcBef>
            </a:pPr>
            <a:r>
              <a:rPr lang="en-US" altLang="zh-CN" b="1" dirty="0"/>
              <a:t>DV01</a:t>
            </a:r>
          </a:p>
          <a:p>
            <a:pPr lvl="1">
              <a:lnSpc>
                <a:spcPct val="140000"/>
              </a:lnSpc>
              <a:spcBef>
                <a:spcPct val="0"/>
              </a:spcBef>
            </a:pPr>
            <a:endParaRPr lang="en-US" altLang="zh-CN" u="sng" dirty="0"/>
          </a:p>
          <a:p>
            <a:pPr lvl="1">
              <a:lnSpc>
                <a:spcPct val="140000"/>
              </a:lnSpc>
              <a:spcBef>
                <a:spcPct val="0"/>
              </a:spcBef>
            </a:pPr>
            <a:endParaRPr lang="en-US" altLang="zh-CN" b="1" dirty="0"/>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1451117" y="2202728"/>
                <a:ext cx="4850531" cy="1079142"/>
              </a:xfrm>
              <a:prstGeom prst="rect">
                <a:avLst/>
              </a:prstGeom>
              <a:noFill/>
              <a:ln w="19050">
                <a:solidFill>
                  <a:srgbClr val="FF0000"/>
                </a:solidFill>
              </a:ln>
            </p:spPr>
            <p:txBody>
              <a:bodyPr wrap="square" rtlCol="0">
                <a:spAutoFit/>
              </a:bodyPr>
              <a:lstStyle/>
              <a:p>
                <a14:m>
                  <m:oMath xmlns:m="http://schemas.openxmlformats.org/officeDocument/2006/math">
                    <m:r>
                      <m:rPr>
                        <m:sty m:val="p"/>
                      </m:rPr>
                      <a:rPr lang="en-US" altLang="zh-CN" sz="2000" b="0" i="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MD</m:t>
                    </m:r>
                    <m:r>
                      <a:rPr lang="en-US" altLang="zh-CN" sz="2000" b="0" i="0" smtClean="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num>
                      <m:den>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y</m:t>
                        </m:r>
                      </m:den>
                    </m:f>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m:t>
                        </m:r>
                      </m:num>
                      <m:den>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den>
                    </m:f>
                  </m:oMath>
                </a14:m>
                <a:r>
                  <a:rPr lang="zh-CN" altLang="en-US"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r>
                  <a:rPr lang="en-US" altLang="zh-CN"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DD= -</a:t>
                </a:r>
                <a14:m>
                  <m:oMath xmlns:m="http://schemas.openxmlformats.org/officeDocument/2006/math">
                    <m:f>
                      <m:fPr>
                        <m:ctrlPr>
                          <a:rPr lang="en-US" altLang="zh-CN" sz="2000" b="0" i="1">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num>
                      <m:den>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y</m:t>
                        </m:r>
                      </m:den>
                    </m:f>
                  </m:oMath>
                </a14:m>
                <a:endParaRPr lang="en-US" altLang="zh-CN"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14:m>
                  <m:oMath xmlns:m="http://schemas.openxmlformats.org/officeDocument/2006/math">
                    <m:f>
                      <m:fPr>
                        <m:ctrlPr>
                          <a:rPr lang="en-US" altLang="zh-CN" sz="2000" b="0" i="1">
                            <a:solidFill>
                              <a:schemeClr val="accent6">
                                <a:lumMod val="50000"/>
                              </a:schemeClr>
                            </a:solidFill>
                            <a:latin typeface="Cambria Math"/>
                            <a:ea typeface="微软雅黑" panose="020B0503020204020204" pitchFamily="34" charset="-122"/>
                            <a:cs typeface="Segoe UI" panose="020B0502040204020203" pitchFamily="34" charset="0"/>
                          </a:rPr>
                        </m:ctrlPr>
                      </m:fPr>
                      <m:num>
                        <m:sSub>
                          <m:sSubPr>
                            <m:ctrlPr>
                              <a:rPr lang="en-US" altLang="zh-CN" sz="2000" b="0" i="1">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macaulay</m:t>
                            </m:r>
                          </m:sub>
                        </m:sSub>
                      </m:num>
                      <m:den>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y</m:t>
                        </m:r>
                      </m:den>
                    </m:f>
                  </m:oMath>
                </a14:m>
                <a:r>
                  <a:rPr lang="zh-CN" altLang="en-US"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           </a:t>
                </a:r>
                <a:r>
                  <a:rPr lang="en-US" altLang="zh-CN"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=MD</a:t>
                </a:r>
                <a14:m>
                  <m:oMath xmlns:m="http://schemas.openxmlformats.org/officeDocument/2006/math">
                    <m: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oMath>
                </a14:m>
                <a:endParaRPr lang="zh-CN" altLang="en-US"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51117" y="2202728"/>
                <a:ext cx="4850531" cy="1079142"/>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sp>
        <p:nvSpPr>
          <p:cNvPr id="5" name="矩形 4"/>
          <p:cNvSpPr>
            <a:spLocks noChangeArrowheads="1"/>
          </p:cNvSpPr>
          <p:nvPr/>
        </p:nvSpPr>
        <p:spPr bwMode="auto">
          <a:xfrm>
            <a:off x="1451117" y="5354542"/>
            <a:ext cx="5905500" cy="42979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marL="0" lvl="1" algn="ctr">
              <a:lnSpc>
                <a:spcPct val="120000"/>
              </a:lnSpc>
              <a:buClr>
                <a:srgbClr val="800000"/>
              </a:buClr>
              <a:buSzPct val="80000"/>
            </a:pPr>
            <a:r>
              <a:rPr kumimoji="1" lang="en-US" altLang="zh-CN"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DV01 = Modified Duration × Bond Value ×0.0001</a:t>
            </a:r>
          </a:p>
        </p:txBody>
      </p:sp>
    </p:spTree>
    <p:extLst>
      <p:ext uri="{BB962C8B-B14F-4D97-AF65-F5344CB8AC3E}">
        <p14:creationId xmlns:p14="http://schemas.microsoft.com/office/powerpoint/2010/main" val="105131345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Limitations of Duration and Convexity</a:t>
            </a:r>
            <a:endParaRPr lang="en-US" altLang="zh-CN" dirty="0"/>
          </a:p>
        </p:txBody>
      </p:sp>
      <p:sp>
        <p:nvSpPr>
          <p:cNvPr id="3" name="文本占位符 2"/>
          <p:cNvSpPr>
            <a:spLocks noGrp="1"/>
          </p:cNvSpPr>
          <p:nvPr>
            <p:ph type="body" sz="quarter" idx="10"/>
          </p:nvPr>
        </p:nvSpPr>
        <p:spPr/>
        <p:txBody>
          <a:bodyPr/>
          <a:lstStyle/>
          <a:p>
            <a:r>
              <a:rPr lang="en-US" altLang="zh-CN" dirty="0" smtClean="0"/>
              <a:t>Limitations of duration</a:t>
            </a:r>
          </a:p>
          <a:p>
            <a:pPr lvl="1"/>
            <a:r>
              <a:rPr lang="en-US" altLang="zh-CN" dirty="0" smtClean="0"/>
              <a:t>Parallel shift in the zero-coupon yield curve</a:t>
            </a:r>
          </a:p>
          <a:p>
            <a:pPr lvl="1"/>
            <a:r>
              <a:rPr lang="en-US" altLang="zh-CN" dirty="0" smtClean="0"/>
              <a:t>A small change in yield</a:t>
            </a:r>
            <a:r>
              <a:rPr lang="en-US" altLang="zh-CN" dirty="0"/>
              <a:t>(i.e., unrealistic)</a:t>
            </a:r>
            <a:endParaRPr lang="en-US" altLang="zh-CN" dirty="0" smtClean="0"/>
          </a:p>
          <a:p>
            <a:pPr lvl="1"/>
            <a:r>
              <a:rPr lang="en-US" altLang="zh-CN" dirty="0"/>
              <a:t>Duration is a first-order linear approximation</a:t>
            </a:r>
            <a:endParaRPr lang="zh-CN" altLang="en-US" dirty="0"/>
          </a:p>
        </p:txBody>
      </p:sp>
      <p:sp>
        <p:nvSpPr>
          <p:cNvPr id="4" name="文本框 3"/>
          <p:cNvSpPr txBox="1"/>
          <p:nvPr/>
        </p:nvSpPr>
        <p:spPr>
          <a:xfrm>
            <a:off x="1134738" y="3294043"/>
            <a:ext cx="6687238" cy="646331"/>
          </a:xfrm>
          <a:prstGeom prst="rect">
            <a:avLst/>
          </a:prstGeom>
          <a:noFill/>
        </p:spPr>
        <p:txBody>
          <a:bodyPr wrap="square" rtlCol="0">
            <a:spAutoFit/>
          </a:bodyPr>
          <a:lstStyle/>
          <a:p>
            <a:r>
              <a:rPr lang="zh-CN" altLang="en-US" b="1" dirty="0">
                <a:solidFill>
                  <a:srgbClr val="FF0000"/>
                </a:solidFill>
              </a:rPr>
              <a:t>久</a:t>
            </a:r>
            <a:r>
              <a:rPr lang="zh-CN" altLang="en-US" b="1" dirty="0" smtClean="0">
                <a:solidFill>
                  <a:srgbClr val="FF0000"/>
                </a:solidFill>
              </a:rPr>
              <a:t>期和修正久期的推导是不要求掌握的，但我希望各位能够掌握</a:t>
            </a:r>
            <a:r>
              <a:rPr lang="en-US" altLang="zh-CN"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136920419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Limitations of </a:t>
            </a:r>
            <a:r>
              <a:rPr lang="en-US" altLang="zh-CN" dirty="0" smtClean="0"/>
              <a:t>Duration </a:t>
            </a:r>
            <a:r>
              <a:rPr lang="en-US" altLang="zh-CN" dirty="0"/>
              <a:t>and </a:t>
            </a:r>
            <a:r>
              <a:rPr lang="en-US" altLang="zh-CN" dirty="0" smtClean="0"/>
              <a:t>Convexity</a:t>
            </a:r>
            <a:endParaRPr lang="en-US" altLang="zh-CN"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smtClean="0"/>
              <a:t>Convexity estimation</a:t>
            </a:r>
          </a:p>
          <a:p>
            <a:pPr lvl="1">
              <a:lnSpc>
                <a:spcPct val="140000"/>
              </a:lnSpc>
              <a:spcBef>
                <a:spcPct val="0"/>
              </a:spcBef>
            </a:pPr>
            <a:r>
              <a:rPr lang="en-US" altLang="zh-CN" b="1" dirty="0" smtClean="0"/>
              <a:t>Convexity</a:t>
            </a:r>
            <a:endParaRPr lang="en-US" altLang="zh-CN" b="1" dirty="0"/>
          </a:p>
          <a:p>
            <a:pPr lvl="2">
              <a:lnSpc>
                <a:spcPct val="140000"/>
              </a:lnSpc>
              <a:spcBef>
                <a:spcPct val="0"/>
              </a:spcBef>
            </a:pPr>
            <a:r>
              <a:rPr lang="en-US" altLang="zh-CN" dirty="0"/>
              <a:t>A measure of the </a:t>
            </a:r>
            <a:r>
              <a:rPr lang="en-US" altLang="zh-CN" u="sng" dirty="0"/>
              <a:t>non-linear relationship</a:t>
            </a:r>
            <a:r>
              <a:rPr lang="en-US" altLang="zh-CN" dirty="0"/>
              <a:t> between price and yield. Changes in duration of a bond to changes in interest rates, the second derivative of the price of the bond with respect to interest rates.</a:t>
            </a:r>
          </a:p>
          <a:p>
            <a:pPr lvl="2">
              <a:lnSpc>
                <a:spcPct val="140000"/>
              </a:lnSpc>
              <a:spcBef>
                <a:spcPct val="0"/>
              </a:spcBef>
            </a:pPr>
            <a:r>
              <a:rPr lang="en-US" altLang="zh-CN" u="sng" dirty="0"/>
              <a:t>All else being equal, convexity increase for longer maturities, lower coupons, and lower yields</a:t>
            </a:r>
            <a:r>
              <a:rPr lang="en-US" altLang="zh-CN" dirty="0"/>
              <a:t>.</a:t>
            </a:r>
          </a:p>
          <a:p>
            <a:endParaRPr lang="zh-CN" altLang="en-US" dirty="0"/>
          </a:p>
        </p:txBody>
      </p:sp>
      <p:pic>
        <p:nvPicPr>
          <p:cNvPr id="4"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44139" y="3853047"/>
            <a:ext cx="4032250"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文本框 4"/>
              <p:cNvSpPr txBox="1"/>
              <p:nvPr/>
            </p:nvSpPr>
            <p:spPr>
              <a:xfrm>
                <a:off x="2035921" y="4759745"/>
                <a:ext cx="3847085" cy="526939"/>
              </a:xfrm>
              <a:prstGeom prst="rect">
                <a:avLst/>
              </a:prstGeom>
              <a:noFill/>
              <a:ln w="19050">
                <a:solidFill>
                  <a:srgbClr val="FF0000"/>
                </a:solidFill>
              </a:ln>
            </p:spPr>
            <p:txBody>
              <a:bodyPr wrap="square" rtlCol="0">
                <a:spAutoFit/>
              </a:bodyPr>
              <a:lstStyle/>
              <a:p>
                <a:r>
                  <a:rPr lang="en-US" altLang="zh-CN" sz="20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P</a:t>
                </a:r>
                <a14:m>
                  <m:oMath xmlns:m="http://schemas.openxmlformats.org/officeDocument/2006/math">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0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D</m:t>
                    </m:r>
                    <m:sSub>
                      <m:sSubPr>
                        <m:ctrlPr>
                          <a:rPr lang="en-US" altLang="zh-CN" sz="20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y</m:t>
                    </m:r>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000" b="0" i="1" dirty="0">
                            <a:solidFill>
                              <a:schemeClr val="accent6">
                                <a:lumMod val="50000"/>
                              </a:schemeClr>
                            </a:solidFill>
                            <a:latin typeface="Cambria Math"/>
                            <a:ea typeface="微软雅黑" panose="020B0503020204020204" pitchFamily="34" charset="-122"/>
                            <a:cs typeface="Segoe UI" panose="020B0502040204020203" pitchFamily="34" charset="0"/>
                          </a:rPr>
                        </m:ctrlPr>
                      </m:fPr>
                      <m:num>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m:t>
                        </m:r>
                      </m:den>
                    </m:f>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C</m:t>
                    </m:r>
                    <m:sSub>
                      <m:sSubPr>
                        <m:ctrlPr>
                          <a:rPr lang="en-US" altLang="zh-CN" sz="20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20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0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m:t>
                        </m:r>
                      </m:sup>
                    </m:sSup>
                  </m:oMath>
                </a14:m>
                <a:endParaRPr lang="zh-CN" altLang="en-US" sz="20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035921" y="4759745"/>
                <a:ext cx="3847085" cy="526939"/>
              </a:xfrm>
              <a:prstGeom prst="rect">
                <a:avLst/>
              </a:prstGeom>
              <a:blipFill>
                <a:blip r:embed="rId3"/>
                <a:stretch>
                  <a:fillRect l="-1577" b="-5618"/>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78500674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nSpc>
                <a:spcPct val="140000"/>
              </a:lnSpc>
              <a:spcBef>
                <a:spcPct val="0"/>
              </a:spcBef>
              <a:defRPr/>
            </a:pPr>
            <a:r>
              <a:rPr lang="en-US" altLang="zh-CN" dirty="0"/>
              <a:t>Interest Rate Risk </a:t>
            </a:r>
          </a:p>
          <a:p>
            <a:pPr lvl="1">
              <a:lnSpc>
                <a:spcPct val="140000"/>
              </a:lnSpc>
              <a:spcBef>
                <a:spcPct val="0"/>
              </a:spcBef>
              <a:defRPr/>
            </a:pPr>
            <a:r>
              <a:rPr lang="en-US" altLang="zh-CN" sz="2000" b="1" dirty="0"/>
              <a:t>Portfolio Duration and Convexity</a:t>
            </a:r>
            <a:r>
              <a:rPr lang="en-US" altLang="zh-CN" sz="2000" dirty="0"/>
              <a:t>: In regard to both modified duration and convexity, portfolio duration and convexity equal the </a:t>
            </a:r>
            <a:r>
              <a:rPr lang="en-US" altLang="zh-CN" sz="2000" u="sng" dirty="0"/>
              <a:t>weighted sum</a:t>
            </a:r>
            <a:r>
              <a:rPr lang="en-US" altLang="zh-CN" sz="2000" dirty="0"/>
              <a:t> of individual, respectively, durations and convexities where each component’s weight is its value as a percentage of portfolio value.</a:t>
            </a:r>
          </a:p>
          <a:p>
            <a:pPr lvl="1">
              <a:lnSpc>
                <a:spcPct val="140000"/>
              </a:lnSpc>
              <a:spcBef>
                <a:spcPct val="0"/>
              </a:spcBef>
              <a:defRPr/>
            </a:pPr>
            <a:r>
              <a:rPr lang="en-US" altLang="zh-CN" sz="2000" b="1" dirty="0"/>
              <a:t>Example</a:t>
            </a:r>
          </a:p>
          <a:p>
            <a:endParaRPr lang="zh-CN" altLang="en-US" dirty="0"/>
          </a:p>
        </p:txBody>
      </p:sp>
      <p:sp>
        <p:nvSpPr>
          <p:cNvPr id="4" name="标题 1"/>
          <p:cNvSpPr>
            <a:spLocks noGrp="1"/>
          </p:cNvSpPr>
          <p:nvPr>
            <p:ph type="title"/>
          </p:nvPr>
        </p:nvSpPr>
        <p:spPr/>
        <p:txBody>
          <a:bodyPr/>
          <a:lstStyle/>
          <a:p>
            <a:r>
              <a:rPr lang="en-US" altLang="zh-CN" dirty="0"/>
              <a:t>Limitations of </a:t>
            </a:r>
            <a:r>
              <a:rPr lang="en-US" altLang="zh-CN" dirty="0" smtClean="0"/>
              <a:t>Duration </a:t>
            </a:r>
            <a:r>
              <a:rPr lang="en-US" altLang="zh-CN" dirty="0"/>
              <a:t>and </a:t>
            </a:r>
            <a:r>
              <a:rPr lang="en-US" altLang="zh-CN" dirty="0" smtClean="0"/>
              <a:t>Convexity</a:t>
            </a:r>
            <a:endParaRPr lang="en-US" altLang="zh-CN" dirty="0"/>
          </a:p>
        </p:txBody>
      </p:sp>
      <p:graphicFrame>
        <p:nvGraphicFramePr>
          <p:cNvPr id="5" name="Group 51"/>
          <p:cNvGraphicFramePr>
            <a:graphicFrameLocks/>
          </p:cNvGraphicFramePr>
          <p:nvPr>
            <p:extLst>
              <p:ext uri="{D42A27DB-BD31-4B8C-83A1-F6EECF244321}">
                <p14:modId xmlns:p14="http://schemas.microsoft.com/office/powerpoint/2010/main" val="3754743560"/>
              </p:ext>
            </p:extLst>
          </p:nvPr>
        </p:nvGraphicFramePr>
        <p:xfrm>
          <a:off x="1614047" y="3562446"/>
          <a:ext cx="8699501" cy="1819288"/>
        </p:xfrm>
        <a:graphic>
          <a:graphicData uri="http://schemas.openxmlformats.org/drawingml/2006/table">
            <a:tbl>
              <a:tblPr>
                <a:tableStyleId>{5C22544A-7EE6-4342-B048-85BDC9FD1C3A}</a:tableStyleId>
              </a:tblPr>
              <a:tblGrid>
                <a:gridCol w="1046282">
                  <a:extLst>
                    <a:ext uri="{9D8B030D-6E8A-4147-A177-3AD203B41FA5}">
                      <a16:colId xmlns="" xmlns:a16="http://schemas.microsoft.com/office/drawing/2014/main" val="20000"/>
                    </a:ext>
                  </a:extLst>
                </a:gridCol>
                <a:gridCol w="1058979">
                  <a:extLst>
                    <a:ext uri="{9D8B030D-6E8A-4147-A177-3AD203B41FA5}">
                      <a16:colId xmlns="" xmlns:a16="http://schemas.microsoft.com/office/drawing/2014/main" val="20001"/>
                    </a:ext>
                  </a:extLst>
                </a:gridCol>
                <a:gridCol w="893910">
                  <a:extLst>
                    <a:ext uri="{9D8B030D-6E8A-4147-A177-3AD203B41FA5}">
                      <a16:colId xmlns="" xmlns:a16="http://schemas.microsoft.com/office/drawing/2014/main" val="20002"/>
                    </a:ext>
                  </a:extLst>
                </a:gridCol>
                <a:gridCol w="1846156">
                  <a:extLst>
                    <a:ext uri="{9D8B030D-6E8A-4147-A177-3AD203B41FA5}">
                      <a16:colId xmlns="" xmlns:a16="http://schemas.microsoft.com/office/drawing/2014/main" val="20003"/>
                    </a:ext>
                  </a:extLst>
                </a:gridCol>
                <a:gridCol w="1190326">
                  <a:extLst>
                    <a:ext uri="{9D8B030D-6E8A-4147-A177-3AD203B41FA5}">
                      <a16:colId xmlns="" xmlns:a16="http://schemas.microsoft.com/office/drawing/2014/main" val="20004"/>
                    </a:ext>
                  </a:extLst>
                </a:gridCol>
                <a:gridCol w="1007942">
                  <a:extLst>
                    <a:ext uri="{9D8B030D-6E8A-4147-A177-3AD203B41FA5}">
                      <a16:colId xmlns="" xmlns:a16="http://schemas.microsoft.com/office/drawing/2014/main" val="20005"/>
                    </a:ext>
                  </a:extLst>
                </a:gridCol>
                <a:gridCol w="791955">
                  <a:extLst>
                    <a:ext uri="{9D8B030D-6E8A-4147-A177-3AD203B41FA5}">
                      <a16:colId xmlns="" xmlns:a16="http://schemas.microsoft.com/office/drawing/2014/main" val="20006"/>
                    </a:ext>
                  </a:extLst>
                </a:gridCol>
                <a:gridCol w="863951">
                  <a:extLst>
                    <a:ext uri="{9D8B030D-6E8A-4147-A177-3AD203B41FA5}">
                      <a16:colId xmlns="" xmlns:a16="http://schemas.microsoft.com/office/drawing/2014/main" val="20007"/>
                    </a:ext>
                  </a:extLst>
                </a:gridCol>
              </a:tblGrid>
              <a:tr h="722279">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Coupon</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Maturity</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YTM</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Price (% or par)</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Par </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(millions)</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Weights</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D</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C</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extLst>
                  <a:ext uri="{0D108BD9-81ED-4DB2-BD59-A6C34878D82A}">
                    <a16:rowId xmlns="" xmlns:a16="http://schemas.microsoft.com/office/drawing/2014/main" val="10000"/>
                  </a:ext>
                </a:extLst>
              </a:tr>
              <a:tr h="365665">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5.00%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5</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4.00%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104.4912925</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3</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22.97%</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4.41</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22.92</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extLst>
                  <a:ext uri="{0D108BD9-81ED-4DB2-BD59-A6C34878D82A}">
                    <a16:rowId xmlns="" xmlns:a16="http://schemas.microsoft.com/office/drawing/2014/main" val="10001"/>
                  </a:ext>
                </a:extLst>
              </a:tr>
              <a:tr h="365665">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6.00%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15</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5.00%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110.4651463</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4</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32.37%</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10.11</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132.54</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extLst>
                  <a:ext uri="{0D108BD9-81ED-4DB2-BD59-A6C34878D82A}">
                    <a16:rowId xmlns="" xmlns:a16="http://schemas.microsoft.com/office/drawing/2014/main" val="10002"/>
                  </a:ext>
                </a:extLst>
              </a:tr>
              <a:tr h="365665">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7.00%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30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5.50%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121.9169965</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5</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44.66%</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14.00</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299.36</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20" marR="91420" marT="45674" marB="45674" horzOverflow="overflow"/>
                </a:tc>
                <a:extLst>
                  <a:ext uri="{0D108BD9-81ED-4DB2-BD59-A6C34878D82A}">
                    <a16:rowId xmlns="" xmlns:a16="http://schemas.microsoft.com/office/drawing/2014/main" val="10003"/>
                  </a:ext>
                </a:extLst>
              </a:tr>
            </a:tbl>
          </a:graphicData>
        </a:graphic>
      </p:graphicFrame>
      <p:sp>
        <p:nvSpPr>
          <p:cNvPr id="6" name="矩形 4"/>
          <p:cNvSpPr>
            <a:spLocks noChangeArrowheads="1"/>
          </p:cNvSpPr>
          <p:nvPr/>
        </p:nvSpPr>
        <p:spPr bwMode="auto">
          <a:xfrm>
            <a:off x="1614047" y="5515726"/>
            <a:ext cx="67056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2" algn="just">
              <a:lnSpc>
                <a:spcPct val="140000"/>
              </a:lnSpc>
              <a:spcBef>
                <a:spcPct val="0"/>
              </a:spcBef>
              <a:buClr>
                <a:srgbClr val="800000"/>
              </a:buClr>
              <a:buFontTx/>
              <a:buNone/>
            </a:pPr>
            <a:r>
              <a:rPr kumimoji="1"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D = (0.2297×4.41)+(0.3237×10.11)+(0.4466×14) = 10.54</a:t>
            </a:r>
          </a:p>
          <a:p>
            <a:pPr marL="0" lvl="2" algn="just">
              <a:lnSpc>
                <a:spcPct val="140000"/>
              </a:lnSpc>
              <a:spcBef>
                <a:spcPct val="0"/>
              </a:spcBef>
              <a:buClr>
                <a:srgbClr val="800000"/>
              </a:buClr>
              <a:buFontTx/>
              <a:buNone/>
            </a:pPr>
            <a:r>
              <a:rPr kumimoji="1" lang="en-US" altLang="zh-CN" sz="18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C = (0.2297×22.92)+(0.3237×132.54)+(0.4466×299.36) = 181.86</a:t>
            </a:r>
          </a:p>
        </p:txBody>
      </p:sp>
    </p:spTree>
    <p:extLst>
      <p:ext uri="{BB962C8B-B14F-4D97-AF65-F5344CB8AC3E}">
        <p14:creationId xmlns:p14="http://schemas.microsoft.com/office/powerpoint/2010/main" val="138908309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92500" lnSpcReduction="10000"/>
          </a:bodyPr>
          <a:lstStyle/>
          <a:p>
            <a:r>
              <a:rPr lang="en-US" altLang="zh-CN" b="0" dirty="0" smtClean="0">
                <a:solidFill>
                  <a:srgbClr val="FF0000"/>
                </a:solidFill>
              </a:rPr>
              <a:t>Describe </a:t>
            </a:r>
            <a:r>
              <a:rPr lang="en-US" altLang="zh-CN" b="0" dirty="0">
                <a:solidFill>
                  <a:srgbClr val="FF0000"/>
                </a:solidFill>
              </a:rPr>
              <a:t>Treasury rates, LIBOR, repo rates, and overnight indexed swap (OIS) rates, and explain what is meant by the “risk-free” rate. </a:t>
            </a:r>
            <a:r>
              <a:rPr lang="en-US" altLang="zh-CN" b="0" dirty="0" smtClean="0">
                <a:solidFill>
                  <a:srgbClr val="FF0000"/>
                </a:solidFill>
                <a:cs typeface="+mn-ea"/>
                <a:sym typeface="+mn-lt"/>
              </a:rPr>
              <a:t>★★★</a:t>
            </a:r>
            <a:endParaRPr lang="en-US" altLang="zh-CN" b="0" dirty="0">
              <a:solidFill>
                <a:srgbClr val="FF0000"/>
              </a:solidFill>
            </a:endParaRPr>
          </a:p>
          <a:p>
            <a:r>
              <a:rPr lang="en-US" altLang="zh-CN" b="0" dirty="0">
                <a:solidFill>
                  <a:schemeClr val="tx1"/>
                </a:solidFill>
              </a:rPr>
              <a:t>Calculate the value of an investment using different compounding frequencies. </a:t>
            </a:r>
            <a:r>
              <a:rPr lang="en-US" altLang="zh-CN" b="0" dirty="0">
                <a:solidFill>
                  <a:schemeClr val="tx1"/>
                </a:solidFill>
                <a:cs typeface="+mn-ea"/>
                <a:sym typeface="+mn-lt"/>
              </a:rPr>
              <a:t>★</a:t>
            </a:r>
            <a:endParaRPr lang="en-US" altLang="zh-CN" b="0" dirty="0">
              <a:solidFill>
                <a:schemeClr val="tx1"/>
              </a:solidFill>
            </a:endParaRPr>
          </a:p>
          <a:p>
            <a:r>
              <a:rPr lang="en-US" altLang="zh-CN" b="0" dirty="0">
                <a:solidFill>
                  <a:schemeClr val="tx1"/>
                </a:solidFill>
              </a:rPr>
              <a:t>Convert interest rates based on different compounding frequencies. </a:t>
            </a:r>
            <a:r>
              <a:rPr lang="en-US" altLang="zh-CN" b="0" dirty="0">
                <a:solidFill>
                  <a:schemeClr val="tx1"/>
                </a:solidFill>
                <a:cs typeface="+mn-ea"/>
                <a:sym typeface="+mn-lt"/>
              </a:rPr>
              <a:t>★</a:t>
            </a:r>
            <a:endParaRPr lang="en-US" altLang="zh-CN" b="0" dirty="0">
              <a:solidFill>
                <a:schemeClr val="tx1"/>
              </a:solidFill>
            </a:endParaRPr>
          </a:p>
          <a:p>
            <a:r>
              <a:rPr lang="en-US" altLang="zh-CN" b="0" dirty="0">
                <a:solidFill>
                  <a:srgbClr val="FF0000"/>
                </a:solidFill>
              </a:rPr>
              <a:t>Calculate the theoretical price of a bond using spot rates.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Derive forward interest rates from a set of spot rates.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Derive the value of the cash flows from a forward rate agreement (FRA).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Calculate the duration, modified duration, and dollar duration of a bond.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Evaluate the limitations of duration and explain how convexity addresses some of them.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Calculate the change in a bond’s price given its duration, its convexity, and a change in interest rates.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endParaRPr lang="zh-CN" altLang="en-US" dirty="0"/>
          </a:p>
        </p:txBody>
      </p:sp>
    </p:spTree>
    <p:extLst>
      <p:ext uri="{BB962C8B-B14F-4D97-AF65-F5344CB8AC3E}">
        <p14:creationId xmlns:p14="http://schemas.microsoft.com/office/powerpoint/2010/main" val="1187258981"/>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Forward and Future Prices</a:t>
            </a:r>
          </a:p>
        </p:txBody>
      </p:sp>
    </p:spTree>
    <p:extLst>
      <p:ext uri="{BB962C8B-B14F-4D97-AF65-F5344CB8AC3E}">
        <p14:creationId xmlns:p14="http://schemas.microsoft.com/office/powerpoint/2010/main" val="13832260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336096" cy="576064"/>
          </a:xfrm>
        </p:spPr>
        <p:txBody>
          <a:bodyPr>
            <a:noAutofit/>
          </a:bodyPr>
          <a:lstStyle/>
          <a:p>
            <a:r>
              <a:rPr lang="en-US" altLang="zh-CN" sz="2670" dirty="0" smtClean="0"/>
              <a:t>Cost </a:t>
            </a:r>
            <a:r>
              <a:rPr lang="en-US" altLang="zh-CN" sz="2670" dirty="0"/>
              <a:t>of Carry Model</a:t>
            </a:r>
            <a:endParaRPr lang="zh-CN" altLang="en-US" sz="2670" dirty="0"/>
          </a:p>
        </p:txBody>
      </p:sp>
      <p:sp>
        <p:nvSpPr>
          <p:cNvPr id="3" name="文本占位符 2"/>
          <p:cNvSpPr>
            <a:spLocks noGrp="1"/>
          </p:cNvSpPr>
          <p:nvPr>
            <p:ph type="body" sz="quarter" idx="10"/>
          </p:nvPr>
        </p:nvSpPr>
        <p:spPr/>
        <p:txBody>
          <a:bodyPr>
            <a:normAutofit/>
          </a:bodyPr>
          <a:lstStyle/>
          <a:p>
            <a:r>
              <a:rPr lang="en-US" altLang="zh-CN" sz="2000" b="0" dirty="0">
                <a:solidFill>
                  <a:schemeClr val="tx1"/>
                </a:solidFill>
              </a:rPr>
              <a:t>For a non-dividend-paying investment asset (when asset has no storage cost) </a:t>
            </a:r>
            <a:r>
              <a:rPr lang="en-US" altLang="zh-CN" sz="2000" b="0" dirty="0" smtClean="0">
                <a:solidFill>
                  <a:schemeClr val="tx1"/>
                </a:solidFill>
              </a:rPr>
              <a:t>the futures </a:t>
            </a:r>
            <a:r>
              <a:rPr lang="en-US" altLang="zh-CN" sz="2000" b="0" dirty="0">
                <a:solidFill>
                  <a:schemeClr val="tx1"/>
                </a:solidFill>
              </a:rPr>
              <a:t>price is essentially similar to forward prices. The generalized forward </a:t>
            </a:r>
            <a:r>
              <a:rPr lang="en-US" altLang="zh-CN" sz="2000" b="0" dirty="0" smtClean="0">
                <a:solidFill>
                  <a:schemeClr val="tx1"/>
                </a:solidFill>
              </a:rPr>
              <a:t>price (</a:t>
            </a:r>
            <a:r>
              <a:rPr lang="en-US" altLang="zh-CN" sz="2000" b="0" dirty="0">
                <a:solidFill>
                  <a:schemeClr val="tx1"/>
                </a:solidFill>
              </a:rPr>
              <a:t>F</a:t>
            </a:r>
            <a:r>
              <a:rPr lang="en-US" altLang="zh-CN" sz="2000" b="0" baseline="-25000" dirty="0">
                <a:solidFill>
                  <a:schemeClr val="tx1"/>
                </a:solidFill>
              </a:rPr>
              <a:t>0</a:t>
            </a:r>
            <a:r>
              <a:rPr lang="en-US" altLang="zh-CN" sz="2000" b="0" dirty="0" smtClean="0">
                <a:solidFill>
                  <a:schemeClr val="tx1"/>
                </a:solidFill>
              </a:rPr>
              <a:t>) </a:t>
            </a:r>
            <a:r>
              <a:rPr lang="en-US" altLang="zh-CN" sz="2000" b="0" dirty="0">
                <a:solidFill>
                  <a:schemeClr val="tx1"/>
                </a:solidFill>
              </a:rPr>
              <a:t>is either case (futures or forwards) is given as:</a:t>
            </a:r>
            <a:endParaRPr lang="zh-CN" altLang="en-US" sz="2000" b="0" dirty="0">
              <a:solidFill>
                <a:schemeClr val="tx1"/>
              </a:solidFill>
            </a:endParaRPr>
          </a:p>
        </p:txBody>
      </p:sp>
      <mc:AlternateContent xmlns:mc="http://schemas.openxmlformats.org/markup-compatibility/2006" xmlns:a14="http://schemas.microsoft.com/office/drawing/2010/main">
        <mc:Choice Requires="a14">
          <p:sp>
            <p:nvSpPr>
              <p:cNvPr id="4" name="文本框 3"/>
              <p:cNvSpPr txBox="1"/>
              <p:nvPr/>
            </p:nvSpPr>
            <p:spPr>
              <a:xfrm>
                <a:off x="6474609" y="1794251"/>
                <a:ext cx="1419177" cy="37427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474609" y="1794251"/>
                <a:ext cx="1419177" cy="374270"/>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grpSp>
        <p:nvGrpSpPr>
          <p:cNvPr id="6" name="组合 20"/>
          <p:cNvGrpSpPr>
            <a:grpSpLocks/>
          </p:cNvGrpSpPr>
          <p:nvPr/>
        </p:nvGrpSpPr>
        <p:grpSpPr bwMode="auto">
          <a:xfrm>
            <a:off x="897970" y="2256023"/>
            <a:ext cx="9127379" cy="4392612"/>
            <a:chOff x="539552" y="1484784"/>
            <a:chExt cx="8208912" cy="4392488"/>
          </a:xfrm>
          <a:noFill/>
        </p:grpSpPr>
        <p:sp>
          <p:nvSpPr>
            <p:cNvPr id="7" name="矩形 29"/>
            <p:cNvSpPr>
              <a:spLocks noChangeArrowheads="1"/>
            </p:cNvSpPr>
            <p:nvPr/>
          </p:nvSpPr>
          <p:spPr bwMode="auto">
            <a:xfrm>
              <a:off x="539552" y="1484784"/>
              <a:ext cx="8208912" cy="4392488"/>
            </a:xfrm>
            <a:prstGeom prst="rect">
              <a:avLst/>
            </a:prstGeom>
            <a:grpFill/>
            <a:ln w="25400" algn="ctr">
              <a:solidFill>
                <a:srgbClr val="FF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endParaRPr lang="zh-CN" altLang="en-US" sz="2200">
                <a:latin typeface="Times New Roman" panose="02020603050405020304" pitchFamily="18" charset="0"/>
              </a:endParaRPr>
            </a:p>
          </p:txBody>
        </p:sp>
        <p:cxnSp>
          <p:nvCxnSpPr>
            <p:cNvPr id="8" name="直接连接符 30"/>
            <p:cNvCxnSpPr>
              <a:cxnSpLocks noChangeShapeType="1"/>
              <a:stCxn id="7" idx="1"/>
              <a:endCxn id="7" idx="3"/>
            </p:cNvCxnSpPr>
            <p:nvPr/>
          </p:nvCxnSpPr>
          <p:spPr bwMode="auto">
            <a:xfrm>
              <a:off x="539552" y="3681028"/>
              <a:ext cx="8208912" cy="0"/>
            </a:xfrm>
            <a:prstGeom prst="line">
              <a:avLst/>
            </a:prstGeom>
            <a:grpFill/>
            <a:ln w="254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31"/>
            <p:cNvCxnSpPr>
              <a:cxnSpLocks noChangeShapeType="1"/>
              <a:stCxn id="7" idx="0"/>
              <a:endCxn id="7" idx="2"/>
            </p:cNvCxnSpPr>
            <p:nvPr/>
          </p:nvCxnSpPr>
          <p:spPr bwMode="auto">
            <a:xfrm>
              <a:off x="4644008" y="1484784"/>
              <a:ext cx="0" cy="4392488"/>
            </a:xfrm>
            <a:prstGeom prst="line">
              <a:avLst/>
            </a:prstGeom>
            <a:grpFill/>
            <a:ln w="254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10" name="文本框 9"/>
              <p:cNvSpPr txBox="1"/>
              <p:nvPr/>
            </p:nvSpPr>
            <p:spPr>
              <a:xfrm>
                <a:off x="1822289" y="2431028"/>
                <a:ext cx="1728192"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&gt;</m:t>
                      </m:r>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822289" y="2431028"/>
                <a:ext cx="1728192" cy="374270"/>
              </a:xfrm>
              <a:prstGeom prst="rect">
                <a:avLst/>
              </a:prstGeom>
              <a:blipFill>
                <a:blip r:embed="rId3"/>
                <a:stretch>
                  <a:fillRect b="-1639"/>
                </a:stretch>
              </a:blipFill>
            </p:spPr>
            <p:txBody>
              <a:bodyPr/>
              <a:lstStyle/>
              <a:p>
                <a:r>
                  <a:rPr lang="zh-CN" altLang="en-US">
                    <a:noFill/>
                  </a:rPr>
                  <a:t> </a:t>
                </a:r>
              </a:p>
            </p:txBody>
          </p:sp>
        </mc:Fallback>
      </mc:AlternateContent>
      <p:sp>
        <p:nvSpPr>
          <p:cNvPr id="11" name="文本框 12"/>
          <p:cNvSpPr txBox="1"/>
          <p:nvPr/>
        </p:nvSpPr>
        <p:spPr>
          <a:xfrm>
            <a:off x="898765" y="2820719"/>
            <a:ext cx="4103687" cy="1255712"/>
          </a:xfrm>
          <a:prstGeom prst="rect">
            <a:avLst/>
          </a:prstGeom>
          <a:noFill/>
        </p:spPr>
        <p:txBody>
          <a:bodyPr>
            <a:spAutoFit/>
          </a:bodyPr>
          <a:lstStyle>
            <a:defPPr>
              <a:defRPr lang="zh-CN"/>
            </a:defPPr>
            <a:lvl1pPr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9pPr>
          </a:lstStyle>
          <a:p>
            <a:pPr marL="342900" indent="-342900" algn="just" eaLnBrk="1" hangingPunct="1">
              <a:spcBef>
                <a:spcPct val="20000"/>
              </a:spcBef>
              <a:buClr>
                <a:srgbClr val="808080"/>
              </a:buClr>
              <a:buSzPct val="75000"/>
              <a:defRPr/>
            </a:pPr>
            <a:r>
              <a:rPr lang="en-US" altLang="zh-CN" sz="1800" b="0" i="1" dirty="0">
                <a:solidFill>
                  <a:srgbClr val="FF0000"/>
                </a:solidFill>
                <a:latin typeface="+mn-lt"/>
              </a:rPr>
              <a:t>Now:</a:t>
            </a:r>
          </a:p>
          <a:p>
            <a:pPr algn="just" eaLnBrk="1" hangingPunct="1">
              <a:spcBef>
                <a:spcPct val="20000"/>
              </a:spcBef>
              <a:buClr>
                <a:srgbClr val="808080"/>
              </a:buClr>
              <a:buSzPct val="75000"/>
              <a:defRPr/>
            </a:pPr>
            <a:r>
              <a:rPr lang="en-US" altLang="zh-CN" sz="1800" b="0" dirty="0">
                <a:solidFill>
                  <a:srgbClr val="2C3E50"/>
                </a:solidFill>
                <a:latin typeface="+mn-lt"/>
              </a:rPr>
              <a:t>Borrow </a:t>
            </a:r>
            <a:r>
              <a:rPr lang="en-US" altLang="zh-CN" sz="1800" b="0" i="1" dirty="0">
                <a:solidFill>
                  <a:srgbClr val="2C3E50"/>
                </a:solidFill>
                <a:latin typeface="+mn-lt"/>
              </a:rPr>
              <a:t>S</a:t>
            </a:r>
            <a:r>
              <a:rPr lang="en-US" altLang="zh-CN" sz="1800" b="0" i="1" baseline="-25000" dirty="0">
                <a:solidFill>
                  <a:srgbClr val="2C3E50"/>
                </a:solidFill>
                <a:latin typeface="+mn-lt"/>
              </a:rPr>
              <a:t>0</a:t>
            </a:r>
            <a:r>
              <a:rPr lang="en-US" altLang="zh-CN" sz="1800" b="0" i="1" dirty="0">
                <a:solidFill>
                  <a:srgbClr val="2C3E50"/>
                </a:solidFill>
                <a:latin typeface="+mn-lt"/>
              </a:rPr>
              <a:t> </a:t>
            </a:r>
            <a:r>
              <a:rPr lang="en-US" altLang="zh-CN" sz="1800" b="0" dirty="0">
                <a:solidFill>
                  <a:srgbClr val="2C3E50"/>
                </a:solidFill>
                <a:latin typeface="+mn-lt"/>
              </a:rPr>
              <a:t>to buy a unit of asset, enter into a forward contract to short the asset for </a:t>
            </a:r>
            <a:r>
              <a:rPr lang="en-US" altLang="zh-CN" sz="1800" b="0" i="1" dirty="0">
                <a:solidFill>
                  <a:srgbClr val="2C3E50"/>
                </a:solidFill>
                <a:latin typeface="+mn-lt"/>
              </a:rPr>
              <a:t>F</a:t>
            </a:r>
            <a:r>
              <a:rPr lang="en-US" altLang="zh-CN" sz="1800" b="0" i="1" baseline="-25000" dirty="0">
                <a:solidFill>
                  <a:srgbClr val="2C3E50"/>
                </a:solidFill>
                <a:latin typeface="+mn-lt"/>
              </a:rPr>
              <a:t>0</a:t>
            </a:r>
            <a:r>
              <a:rPr lang="en-US" altLang="zh-CN" sz="1800" b="0" i="1" dirty="0">
                <a:solidFill>
                  <a:srgbClr val="2C3E50"/>
                </a:solidFill>
                <a:latin typeface="+mn-lt"/>
              </a:rPr>
              <a:t> </a:t>
            </a:r>
            <a:r>
              <a:rPr lang="en-US" altLang="zh-CN" sz="1800" b="0" dirty="0">
                <a:solidFill>
                  <a:srgbClr val="2C3E50"/>
                </a:solidFill>
                <a:latin typeface="+mn-lt"/>
              </a:rPr>
              <a:t>in time </a:t>
            </a:r>
            <a:r>
              <a:rPr lang="en-US" altLang="zh-CN" sz="1800" b="0" i="1" dirty="0">
                <a:solidFill>
                  <a:srgbClr val="2C3E50"/>
                </a:solidFill>
                <a:latin typeface="+mn-lt"/>
              </a:rPr>
              <a:t>T</a:t>
            </a:r>
            <a:r>
              <a:rPr lang="en-US" altLang="zh-CN" sz="1800" b="0" dirty="0">
                <a:solidFill>
                  <a:srgbClr val="2C3E50"/>
                </a:solidFill>
                <a:latin typeface="+mn-lt"/>
              </a:rPr>
              <a:t>;</a:t>
            </a:r>
            <a:endParaRPr lang="en-US" altLang="zh-CN" sz="1800" b="0" i="1" dirty="0">
              <a:solidFill>
                <a:srgbClr val="2C3E50"/>
              </a:solidFill>
              <a:latin typeface="+mn-lt"/>
            </a:endParaRPr>
          </a:p>
        </p:txBody>
      </p:sp>
      <mc:AlternateContent xmlns:mc="http://schemas.openxmlformats.org/markup-compatibility/2006" xmlns:a14="http://schemas.microsoft.com/office/drawing/2010/main">
        <mc:Choice Requires="a14">
          <p:sp>
            <p:nvSpPr>
              <p:cNvPr id="12" name="文本框 11"/>
              <p:cNvSpPr txBox="1"/>
              <p:nvPr/>
            </p:nvSpPr>
            <p:spPr>
              <a:xfrm>
                <a:off x="6723943" y="2441251"/>
                <a:ext cx="1872208"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&lt;</m:t>
                      </m:r>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6723943" y="2441251"/>
                <a:ext cx="1872208" cy="374270"/>
              </a:xfrm>
              <a:prstGeom prst="rect">
                <a:avLst/>
              </a:prstGeom>
              <a:blipFill>
                <a:blip r:embed="rId4"/>
                <a:stretch>
                  <a:fillRect/>
                </a:stretch>
              </a:blipFill>
            </p:spPr>
            <p:txBody>
              <a:bodyPr/>
              <a:lstStyle/>
              <a:p>
                <a:r>
                  <a:rPr lang="zh-CN" altLang="en-US">
                    <a:noFill/>
                  </a:rPr>
                  <a:t> </a:t>
                </a:r>
              </a:p>
            </p:txBody>
          </p:sp>
        </mc:Fallback>
      </mc:AlternateContent>
      <p:sp>
        <p:nvSpPr>
          <p:cNvPr id="13" name="矩形 12"/>
          <p:cNvSpPr/>
          <p:nvPr/>
        </p:nvSpPr>
        <p:spPr>
          <a:xfrm>
            <a:off x="5610404" y="2841329"/>
            <a:ext cx="4105275" cy="1255712"/>
          </a:xfrm>
          <a:prstGeom prst="rect">
            <a:avLst/>
          </a:prstGeom>
        </p:spPr>
        <p:txBody>
          <a:bodyPr>
            <a:spAutoFit/>
          </a:bodyPr>
          <a:lstStyle>
            <a:defPPr>
              <a:defRPr lang="zh-CN"/>
            </a:defPPr>
            <a:lvl1pPr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9pPr>
          </a:lstStyle>
          <a:p>
            <a:pPr marL="342900" indent="-342900" algn="just" eaLnBrk="1" fontAlgn="auto" hangingPunct="1">
              <a:spcBef>
                <a:spcPct val="20000"/>
              </a:spcBef>
              <a:spcAft>
                <a:spcPts val="0"/>
              </a:spcAft>
              <a:buClr>
                <a:srgbClr val="808080"/>
              </a:buClr>
              <a:buSzPct val="75000"/>
              <a:defRPr/>
            </a:pPr>
            <a:r>
              <a:rPr lang="en-US" altLang="zh-CN" sz="1800" b="0" i="1" kern="0" dirty="0">
                <a:solidFill>
                  <a:srgbClr val="FF0000"/>
                </a:solidFill>
                <a:latin typeface="+mn-lt"/>
              </a:rPr>
              <a:t>Now:</a:t>
            </a:r>
          </a:p>
          <a:p>
            <a:pPr algn="just" eaLnBrk="1" fontAlgn="auto" hangingPunct="1">
              <a:spcBef>
                <a:spcPct val="20000"/>
              </a:spcBef>
              <a:spcAft>
                <a:spcPts val="0"/>
              </a:spcAft>
              <a:buClr>
                <a:srgbClr val="808080"/>
              </a:buClr>
              <a:buSzPct val="75000"/>
              <a:defRPr/>
            </a:pPr>
            <a:r>
              <a:rPr lang="en-US" altLang="zh-CN" sz="1800" b="0" kern="0" dirty="0">
                <a:solidFill>
                  <a:srgbClr val="2C3E50"/>
                </a:solidFill>
                <a:latin typeface="+mn-lt"/>
              </a:rPr>
              <a:t>Short sale </a:t>
            </a:r>
            <a:r>
              <a:rPr lang="en-US" altLang="zh-CN" sz="1800" b="0" i="1" kern="0" dirty="0">
                <a:solidFill>
                  <a:srgbClr val="2C3E50"/>
                </a:solidFill>
                <a:latin typeface="+mn-lt"/>
              </a:rPr>
              <a:t>S</a:t>
            </a:r>
            <a:r>
              <a:rPr lang="en-US" altLang="zh-CN" sz="1800" b="0" i="1" kern="0" baseline="-25000" dirty="0">
                <a:solidFill>
                  <a:srgbClr val="2C3E50"/>
                </a:solidFill>
                <a:latin typeface="+mn-lt"/>
              </a:rPr>
              <a:t>0</a:t>
            </a:r>
            <a:r>
              <a:rPr lang="en-US" altLang="zh-CN" sz="1800" b="0" kern="0" dirty="0">
                <a:solidFill>
                  <a:srgbClr val="2C3E50"/>
                </a:solidFill>
                <a:latin typeface="+mn-lt"/>
              </a:rPr>
              <a:t> and invest in a bank, enter into a forward contract to buy the asset for </a:t>
            </a:r>
            <a:r>
              <a:rPr lang="en-US" altLang="zh-CN" sz="1800" b="0" i="1" kern="0" dirty="0">
                <a:solidFill>
                  <a:srgbClr val="2C3E50"/>
                </a:solidFill>
                <a:latin typeface="+mn-lt"/>
              </a:rPr>
              <a:t>F</a:t>
            </a:r>
            <a:r>
              <a:rPr lang="en-US" altLang="zh-CN" sz="1800" b="0" i="1" kern="0" baseline="-25000" dirty="0">
                <a:solidFill>
                  <a:srgbClr val="2C3E50"/>
                </a:solidFill>
                <a:latin typeface="+mn-lt"/>
              </a:rPr>
              <a:t>0</a:t>
            </a:r>
            <a:r>
              <a:rPr lang="en-US" altLang="zh-CN" sz="1800" b="0" i="1" kern="0" dirty="0">
                <a:solidFill>
                  <a:srgbClr val="2C3E50"/>
                </a:solidFill>
                <a:latin typeface="+mn-lt"/>
              </a:rPr>
              <a:t> </a:t>
            </a:r>
            <a:r>
              <a:rPr lang="en-US" altLang="zh-CN" sz="1800" b="0" kern="0" dirty="0">
                <a:solidFill>
                  <a:srgbClr val="2C3E50"/>
                </a:solidFill>
                <a:latin typeface="+mn-lt"/>
              </a:rPr>
              <a:t>in time </a:t>
            </a:r>
            <a:r>
              <a:rPr lang="en-US" altLang="zh-CN" sz="1800" b="0" i="1" kern="0" dirty="0">
                <a:solidFill>
                  <a:srgbClr val="2C3E50"/>
                </a:solidFill>
                <a:latin typeface="+mn-lt"/>
              </a:rPr>
              <a:t>T</a:t>
            </a:r>
            <a:r>
              <a:rPr lang="en-US" altLang="zh-CN" sz="1800" b="0" kern="0" dirty="0">
                <a:solidFill>
                  <a:srgbClr val="2C3E50"/>
                </a:solidFill>
                <a:latin typeface="+mn-lt"/>
              </a:rPr>
              <a:t>;</a:t>
            </a:r>
          </a:p>
        </p:txBody>
      </p:sp>
      <p:sp>
        <p:nvSpPr>
          <p:cNvPr id="14" name="文本框 14"/>
          <p:cNvSpPr txBox="1"/>
          <p:nvPr/>
        </p:nvSpPr>
        <p:spPr>
          <a:xfrm>
            <a:off x="910584" y="4627334"/>
            <a:ext cx="4103687" cy="1311275"/>
          </a:xfrm>
          <a:prstGeom prst="rect">
            <a:avLst/>
          </a:prstGeom>
          <a:noFill/>
        </p:spPr>
        <p:txBody>
          <a:bodyPr>
            <a:spAutoFit/>
          </a:bodyPr>
          <a:lstStyle>
            <a:defPPr>
              <a:defRPr lang="zh-CN"/>
            </a:defPPr>
            <a:lvl1pPr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9pPr>
          </a:lstStyle>
          <a:p>
            <a:pPr marL="342900" indent="-342900" eaLnBrk="1" hangingPunct="1">
              <a:spcBef>
                <a:spcPct val="20000"/>
              </a:spcBef>
              <a:buClr>
                <a:srgbClr val="808080"/>
              </a:buClr>
              <a:buSzPct val="75000"/>
              <a:defRPr/>
            </a:pPr>
            <a:r>
              <a:rPr lang="en-US" altLang="zh-CN" sz="1800" b="0" i="1" dirty="0">
                <a:solidFill>
                  <a:srgbClr val="FF0000"/>
                </a:solidFill>
                <a:latin typeface="+mn-lt"/>
              </a:rPr>
              <a:t>T later:</a:t>
            </a:r>
          </a:p>
          <a:p>
            <a:pPr marL="342900" indent="-342900" eaLnBrk="1" hangingPunct="1">
              <a:spcBef>
                <a:spcPct val="20000"/>
              </a:spcBef>
              <a:buClr>
                <a:srgbClr val="808080"/>
              </a:buClr>
              <a:buSzPct val="75000"/>
              <a:buFont typeface="Wingdings" pitchFamily="2" charset="2"/>
              <a:buChar char="n"/>
              <a:defRPr/>
            </a:pPr>
            <a:r>
              <a:rPr lang="en-US" altLang="zh-CN" sz="1800" b="0" dirty="0">
                <a:solidFill>
                  <a:srgbClr val="2C3E50"/>
                </a:solidFill>
                <a:latin typeface="+mn-lt"/>
              </a:rPr>
              <a:t>Sell asset at F</a:t>
            </a:r>
            <a:r>
              <a:rPr lang="en-US" altLang="zh-CN" sz="1800" b="0" baseline="-25000" dirty="0">
                <a:solidFill>
                  <a:srgbClr val="2C3E50"/>
                </a:solidFill>
                <a:latin typeface="+mn-lt"/>
              </a:rPr>
              <a:t>0</a:t>
            </a:r>
            <a:r>
              <a:rPr lang="en-US" altLang="zh-CN" sz="1800" b="0" dirty="0">
                <a:solidFill>
                  <a:srgbClr val="2C3E50"/>
                </a:solidFill>
                <a:latin typeface="+mn-lt"/>
              </a:rPr>
              <a:t> and repay the loan for S</a:t>
            </a:r>
            <a:r>
              <a:rPr lang="en-US" altLang="zh-CN" sz="1800" b="0" baseline="-25000" dirty="0">
                <a:solidFill>
                  <a:srgbClr val="2C3E50"/>
                </a:solidFill>
                <a:latin typeface="+mn-lt"/>
              </a:rPr>
              <a:t>0</a:t>
            </a:r>
            <a:r>
              <a:rPr lang="en-US" altLang="zh-CN" sz="1800" b="0" dirty="0">
                <a:solidFill>
                  <a:srgbClr val="2C3E50"/>
                </a:solidFill>
                <a:latin typeface="+mn-lt"/>
              </a:rPr>
              <a:t>e</a:t>
            </a:r>
            <a:r>
              <a:rPr lang="en-US" altLang="zh-CN" sz="1800" b="0" baseline="30000" dirty="0">
                <a:solidFill>
                  <a:srgbClr val="2C3E50"/>
                </a:solidFill>
                <a:latin typeface="+mn-lt"/>
              </a:rPr>
              <a:t>rT</a:t>
            </a:r>
          </a:p>
          <a:p>
            <a:pPr marL="342900" indent="-342900" eaLnBrk="1" hangingPunct="1">
              <a:spcBef>
                <a:spcPct val="20000"/>
              </a:spcBef>
              <a:buClr>
                <a:srgbClr val="808080"/>
              </a:buClr>
              <a:buSzPct val="75000"/>
              <a:buFont typeface="Wingdings" pitchFamily="2" charset="2"/>
              <a:buChar char="n"/>
              <a:defRPr/>
            </a:pPr>
            <a:r>
              <a:rPr lang="en-US" altLang="zh-CN" sz="1800" b="0" dirty="0">
                <a:solidFill>
                  <a:srgbClr val="2C3E50"/>
                </a:solidFill>
                <a:latin typeface="+mn-lt"/>
              </a:rPr>
              <a:t>Gain a profit of</a:t>
            </a:r>
          </a:p>
        </p:txBody>
      </p:sp>
      <mc:AlternateContent xmlns:mc="http://schemas.openxmlformats.org/markup-compatibility/2006" xmlns:a14="http://schemas.microsoft.com/office/drawing/2010/main">
        <mc:Choice Requires="a14">
          <p:sp>
            <p:nvSpPr>
              <p:cNvPr id="15" name="文本框 14"/>
              <p:cNvSpPr txBox="1"/>
              <p:nvPr/>
            </p:nvSpPr>
            <p:spPr>
              <a:xfrm>
                <a:off x="1714277" y="5919937"/>
                <a:ext cx="1944216"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1714277" y="5919937"/>
                <a:ext cx="1944216" cy="374270"/>
              </a:xfrm>
              <a:prstGeom prst="rect">
                <a:avLst/>
              </a:prstGeom>
              <a:blipFill>
                <a:blip r:embed="rId5"/>
                <a:stretch>
                  <a:fillRect/>
                </a:stretch>
              </a:blipFill>
            </p:spPr>
            <p:txBody>
              <a:bodyPr/>
              <a:lstStyle/>
              <a:p>
                <a:r>
                  <a:rPr lang="zh-CN" altLang="en-US">
                    <a:noFill/>
                  </a:rPr>
                  <a:t> </a:t>
                </a:r>
              </a:p>
            </p:txBody>
          </p:sp>
        </mc:Fallback>
      </mc:AlternateContent>
      <p:sp>
        <p:nvSpPr>
          <p:cNvPr id="16" name="文本框 16"/>
          <p:cNvSpPr txBox="1"/>
          <p:nvPr/>
        </p:nvSpPr>
        <p:spPr>
          <a:xfrm>
            <a:off x="5607410" y="4594221"/>
            <a:ext cx="4430553" cy="1311275"/>
          </a:xfrm>
          <a:prstGeom prst="rect">
            <a:avLst/>
          </a:prstGeom>
          <a:noFill/>
        </p:spPr>
        <p:txBody>
          <a:bodyPr wrap="square">
            <a:spAutoFit/>
          </a:bodyPr>
          <a:lstStyle>
            <a:defPPr>
              <a:defRPr lang="zh-CN"/>
            </a:defPPr>
            <a:lvl1pPr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200" b="1" kern="1200">
                <a:solidFill>
                  <a:schemeClr val="tx1"/>
                </a:solidFill>
                <a:latin typeface="Times New Roman" panose="02020603050405020304" pitchFamily="18" charset="0"/>
                <a:ea typeface="宋体" panose="02010600030101010101" pitchFamily="2" charset="-122"/>
                <a:cs typeface="+mn-cs"/>
              </a:defRPr>
            </a:lvl9pPr>
          </a:lstStyle>
          <a:p>
            <a:pPr marL="342900" indent="-342900" eaLnBrk="1" hangingPunct="1">
              <a:spcBef>
                <a:spcPct val="20000"/>
              </a:spcBef>
              <a:buClr>
                <a:srgbClr val="808080"/>
              </a:buClr>
              <a:buSzPct val="75000"/>
              <a:defRPr/>
            </a:pPr>
            <a:r>
              <a:rPr lang="en-US" altLang="zh-CN" sz="1800" b="0" i="1" dirty="0">
                <a:solidFill>
                  <a:srgbClr val="FF0000"/>
                </a:solidFill>
                <a:latin typeface="+mn-lt"/>
              </a:rPr>
              <a:t>T later:</a:t>
            </a:r>
          </a:p>
          <a:p>
            <a:pPr marL="342900" indent="-342900" eaLnBrk="1" hangingPunct="1">
              <a:spcBef>
                <a:spcPct val="20000"/>
              </a:spcBef>
              <a:buClr>
                <a:srgbClr val="808080"/>
              </a:buClr>
              <a:buSzPct val="75000"/>
              <a:buFont typeface="Wingdings" pitchFamily="2" charset="2"/>
              <a:buChar char="n"/>
              <a:defRPr/>
            </a:pPr>
            <a:r>
              <a:rPr lang="en-US" altLang="zh-CN" sz="1800" b="0" dirty="0">
                <a:solidFill>
                  <a:srgbClr val="2C3E50"/>
                </a:solidFill>
                <a:latin typeface="+mn-lt"/>
              </a:rPr>
              <a:t>Get </a:t>
            </a:r>
            <a:r>
              <a:rPr lang="en-US" altLang="zh-CN" sz="1800" b="0" i="1" dirty="0">
                <a:solidFill>
                  <a:srgbClr val="2C3E50"/>
                </a:solidFill>
                <a:latin typeface="+mn-lt"/>
              </a:rPr>
              <a:t>S</a:t>
            </a:r>
            <a:r>
              <a:rPr lang="en-US" altLang="zh-CN" sz="1800" b="0" i="1" baseline="-25000" dirty="0">
                <a:solidFill>
                  <a:srgbClr val="2C3E50"/>
                </a:solidFill>
                <a:latin typeface="+mn-lt"/>
              </a:rPr>
              <a:t>o</a:t>
            </a:r>
            <a:r>
              <a:rPr lang="en-US" altLang="zh-CN" sz="1800" b="0" i="1" dirty="0">
                <a:solidFill>
                  <a:srgbClr val="2C3E50"/>
                </a:solidFill>
                <a:latin typeface="+mn-lt"/>
              </a:rPr>
              <a:t>e</a:t>
            </a:r>
            <a:r>
              <a:rPr lang="en-US" altLang="zh-CN" sz="1800" b="0" i="1" baseline="30000" dirty="0">
                <a:solidFill>
                  <a:srgbClr val="2C3E50"/>
                </a:solidFill>
                <a:latin typeface="+mn-lt"/>
              </a:rPr>
              <a:t>rT</a:t>
            </a:r>
            <a:r>
              <a:rPr lang="en-US" altLang="zh-CN" sz="1800" b="0" dirty="0">
                <a:solidFill>
                  <a:srgbClr val="2C3E50"/>
                </a:solidFill>
                <a:latin typeface="+mn-lt"/>
              </a:rPr>
              <a:t> from the bank and buy the asset at </a:t>
            </a:r>
            <a:r>
              <a:rPr lang="en-US" altLang="zh-CN" sz="1800" b="0" i="1" dirty="0">
                <a:solidFill>
                  <a:srgbClr val="2C3E50"/>
                </a:solidFill>
                <a:latin typeface="+mn-lt"/>
              </a:rPr>
              <a:t>F</a:t>
            </a:r>
            <a:r>
              <a:rPr lang="en-US" altLang="zh-CN" sz="1800" b="0" i="1" baseline="-25000" dirty="0">
                <a:solidFill>
                  <a:srgbClr val="2C3E50"/>
                </a:solidFill>
                <a:latin typeface="+mn-lt"/>
              </a:rPr>
              <a:t>0</a:t>
            </a:r>
            <a:r>
              <a:rPr lang="en-US" altLang="zh-CN" sz="1800" b="0" baseline="-25000" dirty="0">
                <a:solidFill>
                  <a:srgbClr val="2C3E50"/>
                </a:solidFill>
                <a:latin typeface="+mn-lt"/>
              </a:rPr>
              <a:t> </a:t>
            </a:r>
            <a:r>
              <a:rPr lang="en-US" altLang="zh-CN" sz="1800" b="0" dirty="0">
                <a:solidFill>
                  <a:srgbClr val="2C3E50"/>
                </a:solidFill>
                <a:latin typeface="+mn-lt"/>
              </a:rPr>
              <a:t>to close short position. </a:t>
            </a:r>
          </a:p>
          <a:p>
            <a:pPr marL="342900" indent="-342900" eaLnBrk="1" hangingPunct="1">
              <a:spcBef>
                <a:spcPct val="20000"/>
              </a:spcBef>
              <a:buClr>
                <a:srgbClr val="808080"/>
              </a:buClr>
              <a:buSzPct val="75000"/>
              <a:buFont typeface="Wingdings" pitchFamily="2" charset="2"/>
              <a:buChar char="n"/>
              <a:defRPr/>
            </a:pPr>
            <a:r>
              <a:rPr lang="en-US" altLang="zh-CN" sz="1800" b="0" dirty="0">
                <a:solidFill>
                  <a:srgbClr val="2C3E50"/>
                </a:solidFill>
                <a:latin typeface="+mn-lt"/>
              </a:rPr>
              <a:t>Gain a profit of</a:t>
            </a:r>
          </a:p>
        </p:txBody>
      </p:sp>
      <mc:AlternateContent xmlns:mc="http://schemas.openxmlformats.org/markup-compatibility/2006" xmlns:a14="http://schemas.microsoft.com/office/drawing/2010/main">
        <mc:Choice Requires="a14">
          <p:sp>
            <p:nvSpPr>
              <p:cNvPr id="17" name="文本框 16"/>
              <p:cNvSpPr txBox="1"/>
              <p:nvPr/>
            </p:nvSpPr>
            <p:spPr>
              <a:xfrm>
                <a:off x="6843405" y="5894885"/>
                <a:ext cx="1800200"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sSup>
                        <m:sSup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843405" y="5894885"/>
                <a:ext cx="1800200" cy="374270"/>
              </a:xfrm>
              <a:prstGeom prst="rect">
                <a:avLst/>
              </a:prstGeom>
              <a:blipFill>
                <a:blip r:embed="rId6"/>
                <a:stretch>
                  <a:fillRect b="-16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997823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sz="2200" b="0" dirty="0" smtClean="0">
                    <a:solidFill>
                      <a:schemeClr val="tx1"/>
                    </a:solidFill>
                  </a:rPr>
                  <a:t>If the investment asset provides income</a:t>
                </a:r>
              </a:p>
              <a:p>
                <a:pPr marL="0" indent="0" algn="ctr">
                  <a:buNone/>
                </a:pPr>
                <a:r>
                  <a:rPr lang="en-US" altLang="zh-CN" b="0" dirty="0" smtClean="0">
                    <a:solidFill>
                      <a:schemeClr val="tx1"/>
                    </a:solidFill>
                  </a:rPr>
                  <a:t>F</a:t>
                </a:r>
                <a:r>
                  <a:rPr lang="en-US" altLang="zh-CN" b="0" baseline="-25000" dirty="0">
                    <a:solidFill>
                      <a:schemeClr val="tx1"/>
                    </a:solidFill>
                  </a:rPr>
                  <a:t>0</a:t>
                </a:r>
                <a:r>
                  <a:rPr lang="zh-CN" altLang="en-US" b="0" dirty="0" smtClean="0">
                    <a:solidFill>
                      <a:schemeClr val="tx1"/>
                    </a:solidFill>
                  </a:rPr>
                  <a:t> </a:t>
                </a:r>
                <a:r>
                  <a:rPr lang="en-US" altLang="zh-CN" b="0" dirty="0">
                    <a:solidFill>
                      <a:schemeClr val="tx1"/>
                    </a:solidFill>
                  </a:rPr>
                  <a:t>= </a:t>
                </a:r>
                <a:r>
                  <a:rPr lang="en-US" altLang="zh-CN" b="0" dirty="0" smtClean="0">
                    <a:solidFill>
                      <a:schemeClr val="tx1"/>
                    </a:solidFill>
                  </a:rPr>
                  <a:t>(</a:t>
                </a:r>
                <a:r>
                  <a:rPr lang="en-US" altLang="zh-CN" b="0" dirty="0">
                    <a:solidFill>
                      <a:schemeClr val="tx1"/>
                    </a:solidFill>
                  </a:rPr>
                  <a:t>S</a:t>
                </a:r>
                <a:r>
                  <a:rPr lang="en-US" altLang="zh-CN" b="0" baseline="-25000" dirty="0">
                    <a:solidFill>
                      <a:schemeClr val="tx1"/>
                    </a:solidFill>
                  </a:rPr>
                  <a:t>0</a:t>
                </a:r>
                <a:r>
                  <a:rPr lang="zh-CN" altLang="en-US" b="0" dirty="0" smtClean="0">
                    <a:solidFill>
                      <a:schemeClr val="tx1"/>
                    </a:solidFill>
                  </a:rPr>
                  <a:t> </a:t>
                </a:r>
                <a:r>
                  <a:rPr lang="zh-CN" altLang="en-US" b="0" dirty="0">
                    <a:solidFill>
                      <a:schemeClr val="tx1"/>
                    </a:solidFill>
                  </a:rPr>
                  <a:t>− </a:t>
                </a:r>
                <a:r>
                  <a:rPr lang="en-US" altLang="zh-CN" b="0" dirty="0" smtClean="0">
                    <a:solidFill>
                      <a:schemeClr val="tx1"/>
                    </a:solidFill>
                  </a:rPr>
                  <a:t>I)</a:t>
                </a:r>
                <a14:m>
                  <m:oMath xmlns:m="http://schemas.openxmlformats.org/officeDocument/2006/math">
                    <m:sSup>
                      <m:sSupPr>
                        <m:ctrlPr>
                          <a:rPr lang="en-US" altLang="zh-CN" b="0" i="1" smtClean="0">
                            <a:solidFill>
                              <a:schemeClr val="tx1"/>
                            </a:solidFill>
                            <a:latin typeface="Cambria Math"/>
                          </a:rPr>
                        </m:ctrlPr>
                      </m:sSupPr>
                      <m:e>
                        <m:r>
                          <a:rPr lang="en-US" altLang="zh-CN" b="0" i="1" smtClean="0">
                            <a:solidFill>
                              <a:schemeClr val="tx1"/>
                            </a:solidFill>
                            <a:latin typeface="Cambria Math" panose="02040503050406030204" pitchFamily="18" charset="0"/>
                          </a:rPr>
                          <m:t>𝑒</m:t>
                        </m:r>
                      </m:e>
                      <m:sup>
                        <m:r>
                          <a:rPr lang="en-US" altLang="zh-CN" b="0" i="1" smtClean="0">
                            <a:solidFill>
                              <a:schemeClr val="tx1"/>
                            </a:solidFill>
                            <a:latin typeface="Cambria Math" panose="02040503050406030204" pitchFamily="18" charset="0"/>
                          </a:rPr>
                          <m:t>𝑟𝑡</m:t>
                        </m:r>
                      </m:sup>
                    </m:sSup>
                  </m:oMath>
                </a14:m>
                <a:r>
                  <a:rPr lang="zh-CN" altLang="en-US" b="0" dirty="0" smtClean="0">
                    <a:solidFill>
                      <a:schemeClr val="tx1"/>
                    </a:solidFill>
                  </a:rPr>
                  <a:t> </a:t>
                </a:r>
                <a:r>
                  <a:rPr lang="en-US" altLang="zh-CN" b="0" dirty="0">
                    <a:solidFill>
                      <a:schemeClr val="tx1"/>
                    </a:solidFill>
                  </a:rPr>
                  <a:t>or F</a:t>
                </a:r>
                <a:r>
                  <a:rPr lang="en-US" altLang="zh-CN" b="0" baseline="-25000" dirty="0">
                    <a:solidFill>
                      <a:schemeClr val="tx1"/>
                    </a:solidFill>
                  </a:rPr>
                  <a:t>0</a:t>
                </a:r>
                <a:r>
                  <a:rPr lang="zh-CN" altLang="en-US" b="0" dirty="0" smtClean="0">
                    <a:solidFill>
                      <a:schemeClr val="tx1"/>
                    </a:solidFill>
                  </a:rPr>
                  <a:t> </a:t>
                </a:r>
                <a:r>
                  <a:rPr lang="en-US" altLang="zh-CN" b="0" dirty="0" smtClean="0">
                    <a:solidFill>
                      <a:schemeClr val="tx1"/>
                    </a:solidFill>
                  </a:rPr>
                  <a:t>=</a:t>
                </a:r>
                <a:r>
                  <a:rPr lang="en-US" altLang="zh-CN" b="0" dirty="0">
                    <a:solidFill>
                      <a:schemeClr val="tx1"/>
                    </a:solidFill>
                  </a:rPr>
                  <a:t> </a:t>
                </a:r>
                <a:r>
                  <a:rPr lang="en-US" altLang="zh-CN" b="0" dirty="0" smtClean="0">
                    <a:solidFill>
                      <a:schemeClr val="tx1"/>
                    </a:solidFill>
                  </a:rPr>
                  <a:t>S</a:t>
                </a:r>
                <a:r>
                  <a:rPr lang="en-US" altLang="zh-CN" b="0" baseline="-25000" dirty="0" smtClean="0">
                    <a:solidFill>
                      <a:schemeClr val="tx1"/>
                    </a:solidFill>
                  </a:rPr>
                  <a:t>0</a:t>
                </a:r>
                <a14:m>
                  <m:oMath xmlns:m="http://schemas.openxmlformats.org/officeDocument/2006/math">
                    <m:sSup>
                      <m:sSupPr>
                        <m:ctrlPr>
                          <a:rPr lang="en-US" altLang="zh-CN" b="0" i="1" smtClean="0">
                            <a:solidFill>
                              <a:schemeClr val="tx1"/>
                            </a:solidFill>
                            <a:latin typeface="Cambria Math"/>
                          </a:rPr>
                        </m:ctrlPr>
                      </m:sSupPr>
                      <m:e>
                        <m:r>
                          <a:rPr lang="en-US" altLang="zh-CN" b="0" i="1" smtClean="0">
                            <a:solidFill>
                              <a:schemeClr val="tx1"/>
                            </a:solidFill>
                            <a:latin typeface="Cambria Math" panose="02040503050406030204" pitchFamily="18" charset="0"/>
                          </a:rPr>
                          <m:t>𝑒</m:t>
                        </m:r>
                      </m:e>
                      <m:sup>
                        <m:d>
                          <m:dPr>
                            <m:ctrlPr>
                              <a:rPr lang="en-US" altLang="zh-CN" b="0" i="1" smtClean="0">
                                <a:solidFill>
                                  <a:schemeClr val="tx1"/>
                                </a:solidFill>
                                <a:latin typeface="Cambria Math"/>
                              </a:rPr>
                            </m:ctrlPr>
                          </m:dPr>
                          <m:e>
                            <m:r>
                              <a:rPr lang="en-US" altLang="zh-CN" b="0" i="1" smtClean="0">
                                <a:solidFill>
                                  <a:schemeClr val="tx1"/>
                                </a:solidFill>
                                <a:latin typeface="Cambria Math" panose="02040503050406030204" pitchFamily="18" charset="0"/>
                              </a:rPr>
                              <m:t>𝑟</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𝑞</m:t>
                            </m:r>
                          </m:e>
                        </m:d>
                        <m:r>
                          <a:rPr lang="en-US" altLang="zh-CN" b="0" i="1" smtClean="0">
                            <a:solidFill>
                              <a:schemeClr val="tx1"/>
                            </a:solidFill>
                            <a:latin typeface="Cambria Math" panose="02040503050406030204" pitchFamily="18" charset="0"/>
                          </a:rPr>
                          <m:t>𝑇</m:t>
                        </m:r>
                      </m:sup>
                    </m:sSup>
                  </m:oMath>
                </a14:m>
                <a:endParaRPr lang="en-US" altLang="zh-CN" dirty="0" smtClean="0"/>
              </a:p>
              <a:p>
                <a:r>
                  <a:rPr lang="en-US" altLang="zh-CN" sz="2200" b="0" dirty="0">
                    <a:solidFill>
                      <a:schemeClr val="tx1"/>
                    </a:solidFill>
                  </a:rPr>
                  <a:t>A foreign currency can be regarded as an investment asset paying a known </a:t>
                </a:r>
                <a:r>
                  <a:rPr lang="en-US" altLang="zh-CN" sz="2200" b="0" dirty="0" smtClean="0">
                    <a:solidFill>
                      <a:schemeClr val="tx1"/>
                    </a:solidFill>
                  </a:rPr>
                  <a:t>yield, which </a:t>
                </a:r>
                <a:r>
                  <a:rPr lang="en-US" altLang="zh-CN" sz="2200" b="0" dirty="0">
                    <a:solidFill>
                      <a:schemeClr val="tx1"/>
                    </a:solidFill>
                  </a:rPr>
                  <a:t>is the foreign risk-free interest rate of r</a:t>
                </a:r>
                <a:r>
                  <a:rPr lang="en-US" altLang="zh-CN" sz="2200" b="0" baseline="-25000" dirty="0">
                    <a:solidFill>
                      <a:schemeClr val="tx1"/>
                    </a:solidFill>
                  </a:rPr>
                  <a:t>f</a:t>
                </a:r>
                <a:r>
                  <a:rPr lang="zh-CN" altLang="en-US" sz="2200" b="0" dirty="0" smtClean="0">
                    <a:solidFill>
                      <a:schemeClr val="tx1"/>
                    </a:solidFill>
                  </a:rPr>
                  <a:t> </a:t>
                </a:r>
                <a:r>
                  <a:rPr lang="en-US" altLang="zh-CN" sz="2200" b="0" dirty="0">
                    <a:solidFill>
                      <a:schemeClr val="tx1"/>
                    </a:solidFill>
                  </a:rPr>
                  <a:t>and is priced as follow. This is </a:t>
                </a:r>
                <a:r>
                  <a:rPr lang="en-US" altLang="zh-CN" sz="2200" b="0" dirty="0" smtClean="0">
                    <a:solidFill>
                      <a:schemeClr val="tx1"/>
                    </a:solidFill>
                  </a:rPr>
                  <a:t>known as </a:t>
                </a:r>
                <a:r>
                  <a:rPr lang="en-US" altLang="zh-CN" sz="2200" b="0" dirty="0">
                    <a:solidFill>
                      <a:schemeClr val="tx1"/>
                    </a:solidFill>
                  </a:rPr>
                  <a:t>interest rate parity (IRP) such that IRP is a version of the cost of carry model</a:t>
                </a:r>
                <a:r>
                  <a:rPr lang="en-US" altLang="zh-CN" sz="2200" b="0" dirty="0" smtClean="0">
                    <a:solidFill>
                      <a:schemeClr val="tx1"/>
                    </a:solidFill>
                  </a:rPr>
                  <a:t>:</a:t>
                </a:r>
              </a:p>
              <a:p>
                <a:pPr marL="0" indent="0" algn="ctr">
                  <a:buNone/>
                </a:pPr>
                <a:r>
                  <a:rPr lang="en-US" altLang="zh-CN" b="0" dirty="0">
                    <a:solidFill>
                      <a:schemeClr val="tx1"/>
                    </a:solidFill>
                  </a:rPr>
                  <a:t>F</a:t>
                </a:r>
                <a:r>
                  <a:rPr lang="en-US" altLang="zh-CN" b="0" baseline="-25000" dirty="0">
                    <a:solidFill>
                      <a:schemeClr val="tx1"/>
                    </a:solidFill>
                  </a:rPr>
                  <a:t>0</a:t>
                </a:r>
                <a:r>
                  <a:rPr lang="zh-CN" altLang="en-US" b="0" dirty="0">
                    <a:solidFill>
                      <a:schemeClr val="tx1"/>
                    </a:solidFill>
                  </a:rPr>
                  <a:t> </a:t>
                </a:r>
                <a:r>
                  <a:rPr lang="en-US" altLang="zh-CN" b="0" dirty="0">
                    <a:solidFill>
                      <a:schemeClr val="tx1"/>
                    </a:solidFill>
                  </a:rPr>
                  <a:t>= S</a:t>
                </a:r>
                <a:r>
                  <a:rPr lang="en-US" altLang="zh-CN" b="0" baseline="-25000" dirty="0">
                    <a:solidFill>
                      <a:schemeClr val="tx1"/>
                    </a:solidFill>
                  </a:rPr>
                  <a:t>0</a:t>
                </a:r>
                <a14:m>
                  <m:oMath xmlns:m="http://schemas.openxmlformats.org/officeDocument/2006/math">
                    <m:sSup>
                      <m:sSupPr>
                        <m:ctrlPr>
                          <a:rPr lang="en-US" altLang="zh-CN" b="0" i="1">
                            <a:solidFill>
                              <a:schemeClr val="tx1"/>
                            </a:solidFill>
                            <a:latin typeface="Cambria Math"/>
                          </a:rPr>
                        </m:ctrlPr>
                      </m:sSupPr>
                      <m:e>
                        <m:r>
                          <a:rPr lang="en-US" altLang="zh-CN" b="0" i="1">
                            <a:solidFill>
                              <a:schemeClr val="tx1"/>
                            </a:solidFill>
                            <a:latin typeface="Cambria Math" panose="02040503050406030204" pitchFamily="18" charset="0"/>
                          </a:rPr>
                          <m:t>𝑒</m:t>
                        </m:r>
                      </m:e>
                      <m:sup>
                        <m:d>
                          <m:dPr>
                            <m:ctrlPr>
                              <a:rPr lang="en-US" altLang="zh-CN" b="0" i="1">
                                <a:solidFill>
                                  <a:schemeClr val="tx1"/>
                                </a:solidFill>
                                <a:latin typeface="Cambria Math"/>
                              </a:rPr>
                            </m:ctrlPr>
                          </m:dPr>
                          <m:e>
                            <m:r>
                              <a:rPr lang="en-US" altLang="zh-CN" b="0" i="1">
                                <a:solidFill>
                                  <a:schemeClr val="tx1"/>
                                </a:solidFill>
                                <a:latin typeface="Cambria Math" panose="02040503050406030204" pitchFamily="18" charset="0"/>
                              </a:rPr>
                              <m:t>𝑟</m:t>
                            </m:r>
                            <m:r>
                              <a:rPr lang="en-US" altLang="zh-CN" b="0"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𝑟</m:t>
                            </m:r>
                            <m:r>
                              <a:rPr lang="en-US" altLang="zh-CN" b="0" i="1" baseline="-25000" smtClean="0">
                                <a:solidFill>
                                  <a:schemeClr val="tx1"/>
                                </a:solidFill>
                                <a:latin typeface="Cambria Math" panose="02040503050406030204" pitchFamily="18" charset="0"/>
                              </a:rPr>
                              <m:t>𝑓</m:t>
                            </m:r>
                          </m:e>
                        </m:d>
                        <m:r>
                          <a:rPr lang="en-US" altLang="zh-CN" b="0" i="1">
                            <a:solidFill>
                              <a:schemeClr val="tx1"/>
                            </a:solidFill>
                            <a:latin typeface="Cambria Math" panose="02040503050406030204" pitchFamily="18" charset="0"/>
                          </a:rPr>
                          <m:t>𝑇</m:t>
                        </m:r>
                      </m:sup>
                    </m:sSup>
                  </m:oMath>
                </a14:m>
                <a:endParaRPr lang="en-US" altLang="zh-CN" dirty="0" smtClean="0">
                  <a:solidFill>
                    <a:schemeClr val="tx1"/>
                  </a:solidFill>
                </a:endParaRPr>
              </a:p>
              <a:p>
                <a:r>
                  <a:rPr lang="en-US" altLang="zh-CN" sz="2200" b="0" dirty="0">
                    <a:solidFill>
                      <a:schemeClr val="tx1"/>
                    </a:solidFill>
                  </a:rPr>
                  <a:t>For consumption assets, which have a storage cost and produces </a:t>
                </a:r>
                <a:r>
                  <a:rPr lang="en-US" altLang="zh-CN" sz="2200" b="0" dirty="0" smtClean="0">
                    <a:solidFill>
                      <a:schemeClr val="tx1"/>
                    </a:solidFill>
                  </a:rPr>
                  <a:t>a convenience </a:t>
                </a:r>
                <a:r>
                  <a:rPr lang="en-US" altLang="zh-CN" sz="2200" b="0" dirty="0">
                    <a:solidFill>
                      <a:schemeClr val="tx1"/>
                    </a:solidFill>
                  </a:rPr>
                  <a:t>yield</a:t>
                </a:r>
                <a:r>
                  <a:rPr lang="en-US" altLang="zh-CN" sz="2200" b="0" dirty="0" smtClean="0">
                    <a:solidFill>
                      <a:schemeClr val="tx1"/>
                    </a:solidFill>
                  </a:rPr>
                  <a:t>:</a:t>
                </a:r>
              </a:p>
              <a:p>
                <a:pPr marL="0" indent="0" algn="ctr">
                  <a:buNone/>
                </a:pPr>
                <a:r>
                  <a:rPr lang="en-US" altLang="zh-CN" b="0" dirty="0">
                    <a:solidFill>
                      <a:schemeClr val="tx1"/>
                    </a:solidFill>
                  </a:rPr>
                  <a:t>F</a:t>
                </a:r>
                <a:r>
                  <a:rPr lang="en-US" altLang="zh-CN" b="0" baseline="-25000" dirty="0">
                    <a:solidFill>
                      <a:schemeClr val="tx1"/>
                    </a:solidFill>
                  </a:rPr>
                  <a:t>0</a:t>
                </a:r>
                <a:r>
                  <a:rPr lang="zh-CN" altLang="en-US" b="0" dirty="0">
                    <a:solidFill>
                      <a:schemeClr val="tx1"/>
                    </a:solidFill>
                  </a:rPr>
                  <a:t> </a:t>
                </a:r>
                <a:r>
                  <a:rPr lang="en-US" altLang="zh-CN" b="0" dirty="0">
                    <a:solidFill>
                      <a:schemeClr val="tx1"/>
                    </a:solidFill>
                  </a:rPr>
                  <a:t>= (S</a:t>
                </a:r>
                <a:r>
                  <a:rPr lang="en-US" altLang="zh-CN" b="0" baseline="-25000" dirty="0">
                    <a:solidFill>
                      <a:schemeClr val="tx1"/>
                    </a:solidFill>
                  </a:rPr>
                  <a:t>0</a:t>
                </a:r>
                <a:r>
                  <a:rPr lang="zh-CN" altLang="en-US" b="0" dirty="0">
                    <a:solidFill>
                      <a:schemeClr val="tx1"/>
                    </a:solidFill>
                  </a:rPr>
                  <a:t> </a:t>
                </a:r>
                <a:r>
                  <a:rPr lang="en-US" altLang="zh-CN" b="0" dirty="0" smtClean="0">
                    <a:solidFill>
                      <a:schemeClr val="tx1"/>
                    </a:solidFill>
                  </a:rPr>
                  <a:t>+U</a:t>
                </a:r>
                <a:r>
                  <a:rPr lang="zh-CN" altLang="en-US" b="0" dirty="0" smtClean="0">
                    <a:solidFill>
                      <a:schemeClr val="tx1"/>
                    </a:solidFill>
                  </a:rPr>
                  <a:t>− </a:t>
                </a:r>
                <a:r>
                  <a:rPr lang="en-US" altLang="zh-CN" b="0" dirty="0">
                    <a:solidFill>
                      <a:schemeClr val="tx1"/>
                    </a:solidFill>
                  </a:rPr>
                  <a:t>I)</a:t>
                </a:r>
                <a14:m>
                  <m:oMath xmlns:m="http://schemas.openxmlformats.org/officeDocument/2006/math">
                    <m:sSup>
                      <m:sSupPr>
                        <m:ctrlPr>
                          <a:rPr lang="en-US" altLang="zh-CN" b="0" i="1">
                            <a:solidFill>
                              <a:schemeClr val="tx1"/>
                            </a:solidFill>
                            <a:latin typeface="Cambria Math"/>
                          </a:rPr>
                        </m:ctrlPr>
                      </m:sSupPr>
                      <m:e>
                        <m:r>
                          <a:rPr lang="en-US" altLang="zh-CN" b="0" i="1">
                            <a:solidFill>
                              <a:schemeClr val="tx1"/>
                            </a:solidFill>
                            <a:latin typeface="Cambria Math" panose="02040503050406030204" pitchFamily="18" charset="0"/>
                          </a:rPr>
                          <m:t>𝑒</m:t>
                        </m:r>
                      </m:e>
                      <m:sup>
                        <m:r>
                          <a:rPr lang="en-US" altLang="zh-CN" b="0" i="1">
                            <a:solidFill>
                              <a:schemeClr val="tx1"/>
                            </a:solidFill>
                            <a:latin typeface="Cambria Math" panose="02040503050406030204" pitchFamily="18" charset="0"/>
                          </a:rPr>
                          <m:t>𝑟𝑡</m:t>
                        </m:r>
                      </m:sup>
                    </m:sSup>
                  </m:oMath>
                </a14:m>
                <a:r>
                  <a:rPr lang="en-US" altLang="zh-CN" dirty="0" smtClean="0">
                    <a:solidFill>
                      <a:schemeClr val="tx1"/>
                    </a:solidFill>
                  </a:rPr>
                  <a:t> </a:t>
                </a:r>
                <a:r>
                  <a:rPr lang="en-US" altLang="zh-CN" b="0" dirty="0" smtClean="0">
                    <a:solidFill>
                      <a:schemeClr val="tx1"/>
                    </a:solidFill>
                  </a:rPr>
                  <a:t>or</a:t>
                </a:r>
                <a:r>
                  <a:rPr lang="en-US" altLang="zh-CN" dirty="0" smtClean="0">
                    <a:solidFill>
                      <a:schemeClr val="tx1"/>
                    </a:solidFill>
                  </a:rPr>
                  <a:t> </a:t>
                </a:r>
                <a:r>
                  <a:rPr lang="en-US" altLang="zh-CN" b="0" dirty="0">
                    <a:solidFill>
                      <a:schemeClr val="tx1"/>
                    </a:solidFill>
                  </a:rPr>
                  <a:t>S</a:t>
                </a:r>
                <a:r>
                  <a:rPr lang="en-US" altLang="zh-CN" b="0" baseline="-25000" dirty="0">
                    <a:solidFill>
                      <a:schemeClr val="tx1"/>
                    </a:solidFill>
                  </a:rPr>
                  <a:t>0</a:t>
                </a:r>
                <a14:m>
                  <m:oMath xmlns:m="http://schemas.openxmlformats.org/officeDocument/2006/math">
                    <m:sSup>
                      <m:sSupPr>
                        <m:ctrlPr>
                          <a:rPr lang="en-US" altLang="zh-CN" b="0" i="1">
                            <a:solidFill>
                              <a:schemeClr val="tx1"/>
                            </a:solidFill>
                            <a:latin typeface="Cambria Math"/>
                          </a:rPr>
                        </m:ctrlPr>
                      </m:sSupPr>
                      <m:e>
                        <m:r>
                          <a:rPr lang="en-US" altLang="zh-CN" b="0" i="1">
                            <a:solidFill>
                              <a:schemeClr val="tx1"/>
                            </a:solidFill>
                            <a:latin typeface="Cambria Math" panose="02040503050406030204" pitchFamily="18" charset="0"/>
                          </a:rPr>
                          <m:t>𝑒</m:t>
                        </m:r>
                      </m:e>
                      <m:sup>
                        <m:d>
                          <m:dPr>
                            <m:ctrlPr>
                              <a:rPr lang="en-US" altLang="zh-CN" b="0" i="1">
                                <a:solidFill>
                                  <a:schemeClr val="tx1"/>
                                </a:solidFill>
                                <a:latin typeface="Cambria Math"/>
                              </a:rPr>
                            </m:ctrlPr>
                          </m:dPr>
                          <m:e>
                            <m:r>
                              <a:rPr lang="en-US" altLang="zh-CN" b="0" i="1">
                                <a:solidFill>
                                  <a:schemeClr val="tx1"/>
                                </a:solidFill>
                                <a:latin typeface="Cambria Math" panose="02040503050406030204" pitchFamily="18" charset="0"/>
                              </a:rPr>
                              <m:t>𝑟</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𝑢</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e>
                        </m:d>
                        <m:r>
                          <a:rPr lang="en-US" altLang="zh-CN" b="0" i="1">
                            <a:solidFill>
                              <a:schemeClr val="tx1"/>
                            </a:solidFill>
                            <a:latin typeface="Cambria Math" panose="02040503050406030204" pitchFamily="18" charset="0"/>
                          </a:rPr>
                          <m:t>𝑇</m:t>
                        </m:r>
                      </m:sup>
                    </m:sSup>
                  </m:oMath>
                </a14:m>
                <a:endParaRPr lang="en-US" altLang="zh-CN" i="1" dirty="0" smtClean="0">
                  <a:solidFill>
                    <a:schemeClr val="tx1"/>
                  </a:solidFill>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588" r="-1711"/>
                </a:stretch>
              </a:blipFill>
            </p:spPr>
            <p:txBody>
              <a:bodyPr/>
              <a:lstStyle/>
              <a:p>
                <a:r>
                  <a:rPr lang="zh-CN" altLang="en-US">
                    <a:noFill/>
                  </a:rPr>
                  <a:t> </a:t>
                </a:r>
              </a:p>
            </p:txBody>
          </p:sp>
        </mc:Fallback>
      </mc:AlternateContent>
      <p:sp>
        <p:nvSpPr>
          <p:cNvPr id="4" name="标题 1"/>
          <p:cNvSpPr>
            <a:spLocks noGrp="1"/>
          </p:cNvSpPr>
          <p:nvPr>
            <p:ph type="title"/>
          </p:nvPr>
        </p:nvSpPr>
        <p:spPr>
          <a:xfrm>
            <a:off x="609600" y="62400"/>
            <a:ext cx="7862371" cy="576064"/>
          </a:xfrm>
        </p:spPr>
        <p:txBody>
          <a:bodyPr>
            <a:noAutofit/>
          </a:bodyPr>
          <a:lstStyle/>
          <a:p>
            <a:r>
              <a:rPr lang="en-US" altLang="zh-CN" sz="2670" dirty="0" smtClean="0"/>
              <a:t>Cost </a:t>
            </a:r>
            <a:r>
              <a:rPr lang="en-US" altLang="zh-CN" sz="2670" dirty="0"/>
              <a:t>of Carry Model</a:t>
            </a:r>
            <a:endParaRPr lang="zh-CN" altLang="en-US" sz="2670" dirty="0"/>
          </a:p>
        </p:txBody>
      </p:sp>
      <p:sp>
        <p:nvSpPr>
          <p:cNvPr id="5" name="文本框 4"/>
          <p:cNvSpPr txBox="1"/>
          <p:nvPr/>
        </p:nvSpPr>
        <p:spPr>
          <a:xfrm>
            <a:off x="3589661" y="1421176"/>
            <a:ext cx="5012675" cy="539826"/>
          </a:xfrm>
          <a:prstGeom prst="rect">
            <a:avLst/>
          </a:prstGeom>
          <a:noFill/>
          <a:ln w="25400">
            <a:solidFill>
              <a:srgbClr val="FF0000"/>
            </a:solidFill>
          </a:ln>
        </p:spPr>
        <p:txBody>
          <a:bodyPr wrap="square" rtlCol="0">
            <a:spAutoFit/>
          </a:bodyPr>
          <a:lstStyle/>
          <a:p>
            <a:endParaRPr lang="zh-CN" altLang="en-US" dirty="0"/>
          </a:p>
        </p:txBody>
      </p:sp>
      <p:sp>
        <p:nvSpPr>
          <p:cNvPr id="6" name="文本框 5"/>
          <p:cNvSpPr txBox="1"/>
          <p:nvPr/>
        </p:nvSpPr>
        <p:spPr>
          <a:xfrm>
            <a:off x="4902506" y="4035538"/>
            <a:ext cx="2302526" cy="539826"/>
          </a:xfrm>
          <a:prstGeom prst="rect">
            <a:avLst/>
          </a:prstGeom>
          <a:noFill/>
          <a:ln w="25400">
            <a:solidFill>
              <a:srgbClr val="FF0000"/>
            </a:solidFill>
          </a:ln>
        </p:spPr>
        <p:txBody>
          <a:bodyPr wrap="square" rtlCol="0">
            <a:spAutoFit/>
          </a:bodyPr>
          <a:lstStyle/>
          <a:p>
            <a:endParaRPr lang="zh-CN" altLang="en-US" dirty="0"/>
          </a:p>
        </p:txBody>
      </p:sp>
      <p:sp>
        <p:nvSpPr>
          <p:cNvPr id="7" name="文本框 6"/>
          <p:cNvSpPr txBox="1"/>
          <p:nvPr/>
        </p:nvSpPr>
        <p:spPr>
          <a:xfrm>
            <a:off x="3589661" y="5583716"/>
            <a:ext cx="5012675" cy="539826"/>
          </a:xfrm>
          <a:prstGeom prst="rect">
            <a:avLst/>
          </a:prstGeom>
          <a:noFill/>
          <a:ln w="2540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3105526130"/>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pic>
        <p:nvPicPr>
          <p:cNvPr id="4" name="图片 3"/>
          <p:cNvPicPr>
            <a:picLocks noChangeAspect="1"/>
          </p:cNvPicPr>
          <p:nvPr/>
        </p:nvPicPr>
        <p:blipFill>
          <a:blip r:embed="rId2"/>
          <a:stretch>
            <a:fillRect/>
          </a:stretch>
        </p:blipFill>
        <p:spPr>
          <a:xfrm>
            <a:off x="221493" y="813468"/>
            <a:ext cx="5260741" cy="3628649"/>
          </a:xfrm>
          <a:prstGeom prst="rect">
            <a:avLst/>
          </a:prstGeom>
        </p:spPr>
      </p:pic>
      <p:sp>
        <p:nvSpPr>
          <p:cNvPr id="5" name="标题 1"/>
          <p:cNvSpPr>
            <a:spLocks noGrp="1"/>
          </p:cNvSpPr>
          <p:nvPr>
            <p:ph type="title"/>
          </p:nvPr>
        </p:nvSpPr>
        <p:spPr>
          <a:xfrm>
            <a:off x="609600" y="62400"/>
            <a:ext cx="8325080" cy="576064"/>
          </a:xfrm>
        </p:spPr>
        <p:txBody>
          <a:bodyPr>
            <a:noAutofit/>
          </a:bodyPr>
          <a:lstStyle/>
          <a:p>
            <a:r>
              <a:rPr lang="en-US" altLang="zh-CN" sz="2670" dirty="0" smtClean="0"/>
              <a:t>Cost </a:t>
            </a:r>
            <a:r>
              <a:rPr lang="en-US" altLang="zh-CN" sz="2670" dirty="0"/>
              <a:t>of Carry Model</a:t>
            </a:r>
            <a:endParaRPr lang="zh-CN" altLang="en-US" sz="2670" dirty="0"/>
          </a:p>
        </p:txBody>
      </p:sp>
      <p:pic>
        <p:nvPicPr>
          <p:cNvPr id="6" name="图片 5"/>
          <p:cNvPicPr>
            <a:picLocks noChangeAspect="1"/>
          </p:cNvPicPr>
          <p:nvPr/>
        </p:nvPicPr>
        <p:blipFill>
          <a:blip r:embed="rId3"/>
          <a:stretch>
            <a:fillRect/>
          </a:stretch>
        </p:blipFill>
        <p:spPr>
          <a:xfrm>
            <a:off x="5482235" y="813467"/>
            <a:ext cx="6592252" cy="3628651"/>
          </a:xfrm>
          <a:prstGeom prst="rect">
            <a:avLst/>
          </a:prstGeom>
        </p:spPr>
      </p:pic>
      <p:pic>
        <p:nvPicPr>
          <p:cNvPr id="7" name="图片 6"/>
          <p:cNvPicPr>
            <a:picLocks noChangeAspect="1"/>
          </p:cNvPicPr>
          <p:nvPr/>
        </p:nvPicPr>
        <p:blipFill>
          <a:blip r:embed="rId4"/>
          <a:stretch>
            <a:fillRect/>
          </a:stretch>
        </p:blipFill>
        <p:spPr>
          <a:xfrm>
            <a:off x="5482234" y="4442117"/>
            <a:ext cx="6636318" cy="2379058"/>
          </a:xfrm>
          <a:prstGeom prst="rect">
            <a:avLst/>
          </a:prstGeom>
        </p:spPr>
      </p:pic>
      <p:sp>
        <p:nvSpPr>
          <p:cNvPr id="8" name="warning_94911"/>
          <p:cNvSpPr>
            <a:spLocks noChangeAspect="1"/>
          </p:cNvSpPr>
          <p:nvPr/>
        </p:nvSpPr>
        <p:spPr bwMode="auto">
          <a:xfrm>
            <a:off x="1003283" y="5410959"/>
            <a:ext cx="609685" cy="556991"/>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accent1"/>
          </a:solidFill>
          <a:ln>
            <a:noFill/>
          </a:ln>
        </p:spPr>
        <p:txBody>
          <a:bodyPr/>
          <a:lstStyle/>
          <a:p>
            <a:endParaRPr lang="zh-CN" altLang="en-US"/>
          </a:p>
        </p:txBody>
      </p:sp>
      <p:sp>
        <p:nvSpPr>
          <p:cNvPr id="9" name="文本框 8"/>
          <p:cNvSpPr txBox="1"/>
          <p:nvPr/>
        </p:nvSpPr>
        <p:spPr>
          <a:xfrm>
            <a:off x="1785074" y="5504788"/>
            <a:ext cx="1542362" cy="369332"/>
          </a:xfrm>
          <a:prstGeom prst="rect">
            <a:avLst/>
          </a:prstGeom>
          <a:noFill/>
        </p:spPr>
        <p:txBody>
          <a:bodyPr wrap="square" rtlCol="0">
            <a:spAutoFit/>
          </a:bodyPr>
          <a:lstStyle/>
          <a:p>
            <a:r>
              <a:rPr lang="zh-CN" altLang="en-US" b="1" dirty="0" smtClean="0">
                <a:solidFill>
                  <a:srgbClr val="FF0000"/>
                </a:solidFill>
              </a:rPr>
              <a:t>图不太好看！</a:t>
            </a:r>
            <a:endParaRPr lang="zh-CN" altLang="en-US" b="1" dirty="0">
              <a:solidFill>
                <a:srgbClr val="FF0000"/>
              </a:solidFill>
            </a:endParaRPr>
          </a:p>
        </p:txBody>
      </p:sp>
    </p:spTree>
    <p:extLst>
      <p:ext uri="{BB962C8B-B14F-4D97-AF65-F5344CB8AC3E}">
        <p14:creationId xmlns:p14="http://schemas.microsoft.com/office/powerpoint/2010/main" val="3335314642"/>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10649640" cy="576064"/>
          </a:xfrm>
        </p:spPr>
        <p:txBody>
          <a:bodyPr>
            <a:noAutofit/>
          </a:bodyPr>
          <a:lstStyle/>
          <a:p>
            <a:r>
              <a:rPr lang="en-US" altLang="zh-CN" sz="2670" dirty="0"/>
              <a:t>Explain the </a:t>
            </a:r>
            <a:r>
              <a:rPr lang="en-US" altLang="zh-CN" sz="2670" dirty="0" smtClean="0"/>
              <a:t>Relationship </a:t>
            </a:r>
            <a:r>
              <a:rPr lang="en-US" altLang="zh-CN" sz="2670" dirty="0"/>
              <a:t>B</a:t>
            </a:r>
            <a:r>
              <a:rPr lang="en-US" altLang="zh-CN" sz="2670" dirty="0" smtClean="0"/>
              <a:t>etween </a:t>
            </a:r>
            <a:r>
              <a:rPr lang="en-US" altLang="zh-CN" sz="2670" dirty="0"/>
              <a:t>F</a:t>
            </a:r>
            <a:r>
              <a:rPr lang="en-US" altLang="zh-CN" sz="2670" dirty="0" smtClean="0"/>
              <a:t>orward </a:t>
            </a:r>
            <a:r>
              <a:rPr lang="en-US" altLang="zh-CN" sz="2670" dirty="0"/>
              <a:t>and </a:t>
            </a:r>
            <a:r>
              <a:rPr lang="en-US" altLang="zh-CN" sz="2670" dirty="0" smtClean="0"/>
              <a:t>Futures </a:t>
            </a:r>
            <a:r>
              <a:rPr lang="en-US" altLang="zh-CN" sz="2670" dirty="0"/>
              <a:t>P</a:t>
            </a:r>
            <a:r>
              <a:rPr lang="en-US" altLang="zh-CN" sz="2670" dirty="0" smtClean="0"/>
              <a:t>rices</a:t>
            </a:r>
            <a:endParaRPr lang="zh-CN" altLang="en-US" sz="2670" dirty="0"/>
          </a:p>
        </p:txBody>
      </p:sp>
      <p:sp>
        <p:nvSpPr>
          <p:cNvPr id="3" name="文本占位符 2"/>
          <p:cNvSpPr>
            <a:spLocks noGrp="1"/>
          </p:cNvSpPr>
          <p:nvPr>
            <p:ph type="body" sz="quarter" idx="10"/>
          </p:nvPr>
        </p:nvSpPr>
        <p:spPr/>
        <p:txBody>
          <a:bodyPr/>
          <a:lstStyle/>
          <a:p>
            <a:r>
              <a:rPr lang="en-US" altLang="zh-CN" dirty="0"/>
              <a:t>R</a:t>
            </a:r>
            <a:r>
              <a:rPr lang="en-US" altLang="zh-CN" dirty="0" smtClean="0"/>
              <a:t>elationship </a:t>
            </a:r>
            <a:r>
              <a:rPr lang="en-US" altLang="zh-CN" dirty="0"/>
              <a:t>between forward and futures </a:t>
            </a:r>
            <a:r>
              <a:rPr lang="en-US" altLang="zh-CN" dirty="0" smtClean="0"/>
              <a:t>prices</a:t>
            </a:r>
          </a:p>
          <a:p>
            <a:pPr lvl="1"/>
            <a:r>
              <a:rPr lang="en-US" altLang="zh-CN" b="0" dirty="0"/>
              <a:t>When asset price increases, an </a:t>
            </a:r>
            <a:r>
              <a:rPr lang="en-US" altLang="zh-CN" b="0" dirty="0" smtClean="0"/>
              <a:t>investor who </a:t>
            </a:r>
            <a:r>
              <a:rPr lang="en-US" altLang="zh-CN" b="0" dirty="0"/>
              <a:t>holds a long futures position makes an immediate gain because of the </a:t>
            </a:r>
            <a:r>
              <a:rPr lang="en-US" altLang="zh-CN" b="0" i="1" dirty="0"/>
              <a:t>daily </a:t>
            </a:r>
            <a:r>
              <a:rPr lang="en-US" altLang="zh-CN" b="0" i="1" dirty="0" smtClean="0"/>
              <a:t>settlement </a:t>
            </a:r>
            <a:r>
              <a:rPr lang="en-US" altLang="zh-CN" b="0" dirty="0" smtClean="0"/>
              <a:t>procedure</a:t>
            </a:r>
            <a:r>
              <a:rPr lang="en-US" altLang="zh-CN" b="0" dirty="0"/>
              <a:t>. Also, if the interest rates are higher, the gain will tend to be invested at a </a:t>
            </a:r>
            <a:r>
              <a:rPr lang="en-US" altLang="zh-CN" b="0" dirty="0" smtClean="0"/>
              <a:t>higher than </a:t>
            </a:r>
            <a:r>
              <a:rPr lang="en-US" altLang="zh-CN" b="0" dirty="0"/>
              <a:t>average rate of interest. </a:t>
            </a:r>
            <a:r>
              <a:rPr lang="en-US" altLang="zh-CN" b="0" u="sng" dirty="0"/>
              <a:t>Therefore, when there is a correlation between the </a:t>
            </a:r>
            <a:r>
              <a:rPr lang="en-US" altLang="zh-CN" b="0" u="sng" dirty="0" smtClean="0"/>
              <a:t>underlying asset </a:t>
            </a:r>
            <a:r>
              <a:rPr lang="en-US" altLang="zh-CN" b="0" u="sng" dirty="0"/>
              <a:t>(S) and interest </a:t>
            </a:r>
            <a:r>
              <a:rPr lang="en-US" altLang="zh-CN" b="0" u="sng" dirty="0" smtClean="0"/>
              <a:t>rates</a:t>
            </a:r>
            <a:r>
              <a:rPr lang="zh-CN" altLang="en-US" b="0" u="sng" dirty="0" smtClean="0"/>
              <a:t>：</a:t>
            </a:r>
            <a:endParaRPr lang="en-US" altLang="zh-CN" b="0" u="sng" dirty="0" smtClean="0"/>
          </a:p>
          <a:p>
            <a:pPr lvl="1">
              <a:buFont typeface="Wingdings" panose="05000000000000000000" pitchFamily="2" charset="2"/>
              <a:buChar char="ü"/>
            </a:pPr>
            <a:r>
              <a:rPr lang="en-US" altLang="zh-CN" dirty="0"/>
              <a:t>If the correlation is strongly </a:t>
            </a:r>
            <a:r>
              <a:rPr lang="en-US" altLang="zh-CN" b="1" dirty="0"/>
              <a:t>positive: </a:t>
            </a:r>
            <a:r>
              <a:rPr lang="en-US" altLang="zh-CN" dirty="0"/>
              <a:t>futures &gt; </a:t>
            </a:r>
            <a:r>
              <a:rPr lang="en-US" altLang="zh-CN" dirty="0" smtClean="0"/>
              <a:t>forward</a:t>
            </a:r>
          </a:p>
          <a:p>
            <a:pPr lvl="1">
              <a:buFont typeface="Wingdings" panose="05000000000000000000" pitchFamily="2" charset="2"/>
              <a:buChar char="ü"/>
            </a:pPr>
            <a:r>
              <a:rPr lang="en-US" altLang="zh-CN" dirty="0"/>
              <a:t>If the correlation is strongly </a:t>
            </a:r>
            <a:r>
              <a:rPr lang="en-US" altLang="zh-CN" b="1" dirty="0"/>
              <a:t>negative: </a:t>
            </a:r>
            <a:r>
              <a:rPr lang="en-US" altLang="zh-CN" dirty="0"/>
              <a:t>futures &lt; forward</a:t>
            </a:r>
            <a:endParaRPr lang="zh-CN" altLang="en-US" u="sng" dirty="0"/>
          </a:p>
        </p:txBody>
      </p:sp>
      <p:sp>
        <p:nvSpPr>
          <p:cNvPr id="4" name="educational-questions-hand-drawn-speech-bubble_57253"/>
          <p:cNvSpPr>
            <a:spLocks noChangeAspect="1"/>
          </p:cNvSpPr>
          <p:nvPr/>
        </p:nvSpPr>
        <p:spPr bwMode="auto">
          <a:xfrm>
            <a:off x="1736950" y="5275509"/>
            <a:ext cx="609685" cy="581526"/>
          </a:xfrm>
          <a:custGeom>
            <a:avLst/>
            <a:gdLst>
              <a:gd name="connsiteX0" fmla="*/ 334880 w 599283"/>
              <a:gd name="connsiteY0" fmla="*/ 374436 h 571605"/>
              <a:gd name="connsiteX1" fmla="*/ 358347 w 599283"/>
              <a:gd name="connsiteY1" fmla="*/ 374436 h 571605"/>
              <a:gd name="connsiteX2" fmla="*/ 366796 w 599283"/>
              <a:gd name="connsiteY2" fmla="*/ 380758 h 571605"/>
              <a:gd name="connsiteX3" fmla="*/ 369142 w 599283"/>
              <a:gd name="connsiteY3" fmla="*/ 409326 h 571605"/>
              <a:gd name="connsiteX4" fmla="*/ 362806 w 599283"/>
              <a:gd name="connsiteY4" fmla="*/ 417522 h 571605"/>
              <a:gd name="connsiteX5" fmla="*/ 318923 w 599283"/>
              <a:gd name="connsiteY5" fmla="*/ 419864 h 571605"/>
              <a:gd name="connsiteX6" fmla="*/ 310944 w 599283"/>
              <a:gd name="connsiteY6" fmla="*/ 413776 h 571605"/>
              <a:gd name="connsiteX7" fmla="*/ 309301 w 599283"/>
              <a:gd name="connsiteY7" fmla="*/ 384739 h 571605"/>
              <a:gd name="connsiteX8" fmla="*/ 313760 w 599283"/>
              <a:gd name="connsiteY8" fmla="*/ 380290 h 571605"/>
              <a:gd name="connsiteX9" fmla="*/ 317045 w 599283"/>
              <a:gd name="connsiteY9" fmla="*/ 376309 h 571605"/>
              <a:gd name="connsiteX10" fmla="*/ 334880 w 599283"/>
              <a:gd name="connsiteY10" fmla="*/ 374436 h 571605"/>
              <a:gd name="connsiteX11" fmla="*/ 330950 w 599283"/>
              <a:gd name="connsiteY11" fmla="*/ 68287 h 571605"/>
              <a:gd name="connsiteX12" fmla="*/ 374060 w 599283"/>
              <a:gd name="connsiteY12" fmla="*/ 77064 h 571605"/>
              <a:gd name="connsiteX13" fmla="*/ 427327 w 599283"/>
              <a:gd name="connsiteY13" fmla="*/ 210642 h 571605"/>
              <a:gd name="connsiteX14" fmla="*/ 380631 w 599283"/>
              <a:gd name="connsiteY14" fmla="*/ 266886 h 571605"/>
              <a:gd name="connsiteX15" fmla="*/ 359042 w 599283"/>
              <a:gd name="connsiteY15" fmla="*/ 303912 h 571605"/>
              <a:gd name="connsiteX16" fmla="*/ 363031 w 599283"/>
              <a:gd name="connsiteY16" fmla="*/ 341408 h 571605"/>
              <a:gd name="connsiteX17" fmla="*/ 356461 w 599283"/>
              <a:gd name="connsiteY17" fmla="*/ 350313 h 571605"/>
              <a:gd name="connsiteX18" fmla="*/ 312580 w 599283"/>
              <a:gd name="connsiteY18" fmla="*/ 356875 h 571605"/>
              <a:gd name="connsiteX19" fmla="*/ 301082 w 599283"/>
              <a:gd name="connsiteY19" fmla="*/ 350548 h 571605"/>
              <a:gd name="connsiteX20" fmla="*/ 298735 w 599283"/>
              <a:gd name="connsiteY20" fmla="*/ 254934 h 571605"/>
              <a:gd name="connsiteX21" fmla="*/ 333230 w 599283"/>
              <a:gd name="connsiteY21" fmla="*/ 184161 h 571605"/>
              <a:gd name="connsiteX22" fmla="*/ 274096 w 599283"/>
              <a:gd name="connsiteY22" fmla="*/ 211814 h 571605"/>
              <a:gd name="connsiteX23" fmla="*/ 274096 w 599283"/>
              <a:gd name="connsiteY23" fmla="*/ 220954 h 571605"/>
              <a:gd name="connsiteX24" fmla="*/ 273393 w 599283"/>
              <a:gd name="connsiteY24" fmla="*/ 230327 h 571605"/>
              <a:gd name="connsiteX25" fmla="*/ 245703 w 599283"/>
              <a:gd name="connsiteY25" fmla="*/ 237124 h 571605"/>
              <a:gd name="connsiteX26" fmla="*/ 211209 w 599283"/>
              <a:gd name="connsiteY26" fmla="*/ 239233 h 571605"/>
              <a:gd name="connsiteX27" fmla="*/ 204169 w 599283"/>
              <a:gd name="connsiteY27" fmla="*/ 233843 h 571605"/>
              <a:gd name="connsiteX28" fmla="*/ 199241 w 599283"/>
              <a:gd name="connsiteY28" fmla="*/ 194238 h 571605"/>
              <a:gd name="connsiteX29" fmla="*/ 200415 w 599283"/>
              <a:gd name="connsiteY29" fmla="*/ 187442 h 571605"/>
              <a:gd name="connsiteX30" fmla="*/ 216841 w 599283"/>
              <a:gd name="connsiteY30" fmla="*/ 126980 h 571605"/>
              <a:gd name="connsiteX31" fmla="*/ 330950 w 599283"/>
              <a:gd name="connsiteY31" fmla="*/ 68287 h 571605"/>
              <a:gd name="connsiteX32" fmla="*/ 300998 w 599283"/>
              <a:gd name="connsiteY32" fmla="*/ 18449 h 571605"/>
              <a:gd name="connsiteX33" fmla="*/ 229270 w 599283"/>
              <a:gd name="connsiteY33" fmla="*/ 28792 h 571605"/>
              <a:gd name="connsiteX34" fmla="*/ 19242 w 599283"/>
              <a:gd name="connsiteY34" fmla="*/ 236405 h 571605"/>
              <a:gd name="connsiteX35" fmla="*/ 94805 w 599283"/>
              <a:gd name="connsiteY35" fmla="*/ 411681 h 571605"/>
              <a:gd name="connsiteX36" fmla="*/ 295916 w 599283"/>
              <a:gd name="connsiteY36" fmla="*/ 479636 h 571605"/>
              <a:gd name="connsiteX37" fmla="*/ 298263 w 599283"/>
              <a:gd name="connsiteY37" fmla="*/ 480808 h 571605"/>
              <a:gd name="connsiteX38" fmla="*/ 301079 w 599283"/>
              <a:gd name="connsiteY38" fmla="*/ 485963 h 571605"/>
              <a:gd name="connsiteX39" fmla="*/ 401752 w 599283"/>
              <a:gd name="connsiteY39" fmla="*/ 550168 h 571605"/>
              <a:gd name="connsiteX40" fmla="*/ 378051 w 599283"/>
              <a:gd name="connsiteY40" fmla="*/ 475418 h 571605"/>
              <a:gd name="connsiteX41" fmla="*/ 384387 w 599283"/>
              <a:gd name="connsiteY41" fmla="*/ 464170 h 571605"/>
              <a:gd name="connsiteX42" fmla="*/ 525188 w 599283"/>
              <a:gd name="connsiteY42" fmla="*/ 407229 h 571605"/>
              <a:gd name="connsiteX43" fmla="*/ 505006 w 599283"/>
              <a:gd name="connsiteY43" fmla="*/ 81749 h 571605"/>
              <a:gd name="connsiteX44" fmla="*/ 300998 w 599283"/>
              <a:gd name="connsiteY44" fmla="*/ 18449 h 571605"/>
              <a:gd name="connsiteX45" fmla="*/ 325342 w 599283"/>
              <a:gd name="connsiteY45" fmla="*/ 127 h 571605"/>
              <a:gd name="connsiteX46" fmla="*/ 457369 w 599283"/>
              <a:gd name="connsiteY46" fmla="*/ 29729 h 571605"/>
              <a:gd name="connsiteX47" fmla="*/ 599108 w 599283"/>
              <a:gd name="connsiteY47" fmla="*/ 260775 h 571605"/>
              <a:gd name="connsiteX48" fmla="*/ 543023 w 599283"/>
              <a:gd name="connsiteY48" fmla="*/ 414962 h 571605"/>
              <a:gd name="connsiteX49" fmla="*/ 397763 w 599283"/>
              <a:gd name="connsiteY49" fmla="*/ 479870 h 571605"/>
              <a:gd name="connsiteX50" fmla="*/ 421934 w 599283"/>
              <a:gd name="connsiteY50" fmla="*/ 553918 h 571605"/>
              <a:gd name="connsiteX51" fmla="*/ 415598 w 599283"/>
              <a:gd name="connsiteY51" fmla="*/ 565165 h 571605"/>
              <a:gd name="connsiteX52" fmla="*/ 283714 w 599283"/>
              <a:gd name="connsiteY52" fmla="*/ 490884 h 571605"/>
              <a:gd name="connsiteX53" fmla="*/ 283714 w 599283"/>
              <a:gd name="connsiteY53" fmla="*/ 489712 h 571605"/>
              <a:gd name="connsiteX54" fmla="*/ 3754 w 599283"/>
              <a:gd name="connsiteY54" fmla="*/ 212504 h 571605"/>
              <a:gd name="connsiteX55" fmla="*/ 325342 w 599283"/>
              <a:gd name="connsiteY55" fmla="*/ 127 h 571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9283" h="571605">
                <a:moveTo>
                  <a:pt x="334880" y="374436"/>
                </a:moveTo>
                <a:cubicBezTo>
                  <a:pt x="342624" y="374436"/>
                  <a:pt x="350369" y="374436"/>
                  <a:pt x="358347" y="374436"/>
                </a:cubicBezTo>
                <a:cubicBezTo>
                  <a:pt x="362102" y="374436"/>
                  <a:pt x="365622" y="377012"/>
                  <a:pt x="366796" y="380758"/>
                </a:cubicBezTo>
                <a:cubicBezTo>
                  <a:pt x="369142" y="390125"/>
                  <a:pt x="369142" y="399960"/>
                  <a:pt x="369142" y="409326"/>
                </a:cubicBezTo>
                <a:cubicBezTo>
                  <a:pt x="368908" y="412839"/>
                  <a:pt x="366561" y="417054"/>
                  <a:pt x="362806" y="417522"/>
                </a:cubicBezTo>
                <a:cubicBezTo>
                  <a:pt x="348257" y="419864"/>
                  <a:pt x="333472" y="420098"/>
                  <a:pt x="318923" y="419864"/>
                </a:cubicBezTo>
                <a:cubicBezTo>
                  <a:pt x="315403" y="419864"/>
                  <a:pt x="311648" y="417288"/>
                  <a:pt x="310944" y="413776"/>
                </a:cubicBezTo>
                <a:cubicBezTo>
                  <a:pt x="309067" y="404643"/>
                  <a:pt x="308597" y="391530"/>
                  <a:pt x="309301" y="384739"/>
                </a:cubicBezTo>
                <a:cubicBezTo>
                  <a:pt x="309301" y="382163"/>
                  <a:pt x="311648" y="380290"/>
                  <a:pt x="313760" y="380290"/>
                </a:cubicBezTo>
                <a:cubicBezTo>
                  <a:pt x="314464" y="378885"/>
                  <a:pt x="315403" y="377480"/>
                  <a:pt x="317045" y="376309"/>
                </a:cubicBezTo>
                <a:cubicBezTo>
                  <a:pt x="321504" y="373031"/>
                  <a:pt x="329483" y="374436"/>
                  <a:pt x="334880" y="374436"/>
                </a:cubicBezTo>
                <a:close/>
                <a:moveTo>
                  <a:pt x="330950" y="68287"/>
                </a:moveTo>
                <a:cubicBezTo>
                  <a:pt x="345696" y="68467"/>
                  <a:pt x="360333" y="71264"/>
                  <a:pt x="374060" y="77064"/>
                </a:cubicBezTo>
                <a:cubicBezTo>
                  <a:pt x="422869" y="97687"/>
                  <a:pt x="443518" y="161898"/>
                  <a:pt x="427327" y="210642"/>
                </a:cubicBezTo>
                <a:cubicBezTo>
                  <a:pt x="418410" y="236655"/>
                  <a:pt x="403392" y="252356"/>
                  <a:pt x="380631" y="266886"/>
                </a:cubicBezTo>
                <a:cubicBezTo>
                  <a:pt x="364909" y="277197"/>
                  <a:pt x="356930" y="284462"/>
                  <a:pt x="359042" y="303912"/>
                </a:cubicBezTo>
                <a:cubicBezTo>
                  <a:pt x="360216" y="316333"/>
                  <a:pt x="362562" y="328988"/>
                  <a:pt x="363031" y="341408"/>
                </a:cubicBezTo>
                <a:cubicBezTo>
                  <a:pt x="363266" y="345158"/>
                  <a:pt x="360216" y="349610"/>
                  <a:pt x="356461" y="350313"/>
                </a:cubicBezTo>
                <a:cubicBezTo>
                  <a:pt x="341678" y="352657"/>
                  <a:pt x="327129" y="354766"/>
                  <a:pt x="312580" y="356875"/>
                </a:cubicBezTo>
                <a:cubicBezTo>
                  <a:pt x="307887" y="357578"/>
                  <a:pt x="302255" y="355938"/>
                  <a:pt x="301082" y="350548"/>
                </a:cubicBezTo>
                <a:cubicBezTo>
                  <a:pt x="295919" y="321254"/>
                  <a:pt x="290053" y="284227"/>
                  <a:pt x="298735" y="254934"/>
                </a:cubicBezTo>
                <a:cubicBezTo>
                  <a:pt x="306479" y="229390"/>
                  <a:pt x="340035" y="212751"/>
                  <a:pt x="333230" y="184161"/>
                </a:cubicBezTo>
                <a:cubicBezTo>
                  <a:pt x="322905" y="139869"/>
                  <a:pt x="245938" y="172912"/>
                  <a:pt x="274096" y="211814"/>
                </a:cubicBezTo>
                <a:cubicBezTo>
                  <a:pt x="275974" y="214392"/>
                  <a:pt x="275739" y="218141"/>
                  <a:pt x="274096" y="220954"/>
                </a:cubicBezTo>
                <a:cubicBezTo>
                  <a:pt x="275974" y="223766"/>
                  <a:pt x="275739" y="227984"/>
                  <a:pt x="273393" y="230327"/>
                </a:cubicBezTo>
                <a:cubicBezTo>
                  <a:pt x="267291" y="237124"/>
                  <a:pt x="254151" y="236655"/>
                  <a:pt x="245703" y="237124"/>
                </a:cubicBezTo>
                <a:cubicBezTo>
                  <a:pt x="234205" y="238061"/>
                  <a:pt x="222707" y="238998"/>
                  <a:pt x="211209" y="239233"/>
                </a:cubicBezTo>
                <a:cubicBezTo>
                  <a:pt x="207924" y="239233"/>
                  <a:pt x="205108" y="236889"/>
                  <a:pt x="204169" y="233843"/>
                </a:cubicBezTo>
                <a:cubicBezTo>
                  <a:pt x="200180" y="221422"/>
                  <a:pt x="198303" y="207127"/>
                  <a:pt x="199241" y="194238"/>
                </a:cubicBezTo>
                <a:cubicBezTo>
                  <a:pt x="199476" y="191660"/>
                  <a:pt x="199945" y="189551"/>
                  <a:pt x="200415" y="187442"/>
                </a:cubicBezTo>
                <a:cubicBezTo>
                  <a:pt x="199711" y="165648"/>
                  <a:pt x="208628" y="138932"/>
                  <a:pt x="216841" y="126980"/>
                </a:cubicBezTo>
                <a:cubicBezTo>
                  <a:pt x="241479" y="90774"/>
                  <a:pt x="286709" y="67749"/>
                  <a:pt x="330950" y="68287"/>
                </a:cubicBezTo>
                <a:close/>
                <a:moveTo>
                  <a:pt x="300998" y="18449"/>
                </a:moveTo>
                <a:cubicBezTo>
                  <a:pt x="276615" y="19521"/>
                  <a:pt x="252444" y="23051"/>
                  <a:pt x="229270" y="28792"/>
                </a:cubicBezTo>
                <a:cubicBezTo>
                  <a:pt x="130475" y="53162"/>
                  <a:pt x="23935" y="124163"/>
                  <a:pt x="19242" y="236405"/>
                </a:cubicBezTo>
                <a:cubicBezTo>
                  <a:pt x="16661" y="302016"/>
                  <a:pt x="44117" y="368800"/>
                  <a:pt x="94805" y="411681"/>
                </a:cubicBezTo>
                <a:cubicBezTo>
                  <a:pt x="153942" y="462062"/>
                  <a:pt x="223404" y="465108"/>
                  <a:pt x="295916" y="479636"/>
                </a:cubicBezTo>
                <a:cubicBezTo>
                  <a:pt x="296855" y="479870"/>
                  <a:pt x="297559" y="480339"/>
                  <a:pt x="298263" y="480808"/>
                </a:cubicBezTo>
                <a:cubicBezTo>
                  <a:pt x="299671" y="481745"/>
                  <a:pt x="300844" y="483620"/>
                  <a:pt x="301079" y="485963"/>
                </a:cubicBezTo>
                <a:cubicBezTo>
                  <a:pt x="309058" y="538452"/>
                  <a:pt x="353880" y="562588"/>
                  <a:pt x="401752" y="550168"/>
                </a:cubicBezTo>
                <a:cubicBezTo>
                  <a:pt x="394008" y="525330"/>
                  <a:pt x="382979" y="501428"/>
                  <a:pt x="378051" y="475418"/>
                </a:cubicBezTo>
                <a:cubicBezTo>
                  <a:pt x="377112" y="470732"/>
                  <a:pt x="379224" y="465576"/>
                  <a:pt x="384387" y="464170"/>
                </a:cubicBezTo>
                <a:cubicBezTo>
                  <a:pt x="434137" y="451282"/>
                  <a:pt x="488580" y="448002"/>
                  <a:pt x="525188" y="407229"/>
                </a:cubicBezTo>
                <a:cubicBezTo>
                  <a:pt x="606383" y="317013"/>
                  <a:pt x="597700" y="160952"/>
                  <a:pt x="505006" y="81749"/>
                </a:cubicBezTo>
                <a:cubicBezTo>
                  <a:pt x="449214" y="34123"/>
                  <a:pt x="374150" y="15230"/>
                  <a:pt x="300998" y="18449"/>
                </a:cubicBezTo>
                <a:close/>
                <a:moveTo>
                  <a:pt x="325342" y="127"/>
                </a:moveTo>
                <a:cubicBezTo>
                  <a:pt x="372448" y="1332"/>
                  <a:pt x="418179" y="11100"/>
                  <a:pt x="457369" y="29729"/>
                </a:cubicBezTo>
                <a:cubicBezTo>
                  <a:pt x="546073" y="71673"/>
                  <a:pt x="602863" y="161889"/>
                  <a:pt x="599108" y="260775"/>
                </a:cubicBezTo>
                <a:cubicBezTo>
                  <a:pt x="596996" y="315842"/>
                  <a:pt x="580570" y="373252"/>
                  <a:pt x="543023" y="414962"/>
                </a:cubicBezTo>
                <a:cubicBezTo>
                  <a:pt x="503129" y="459250"/>
                  <a:pt x="452206" y="466514"/>
                  <a:pt x="397763" y="479870"/>
                </a:cubicBezTo>
                <a:cubicBezTo>
                  <a:pt x="403864" y="505178"/>
                  <a:pt x="415128" y="528845"/>
                  <a:pt x="421934" y="553918"/>
                </a:cubicBezTo>
                <a:cubicBezTo>
                  <a:pt x="423342" y="558838"/>
                  <a:pt x="420291" y="563525"/>
                  <a:pt x="415598" y="565165"/>
                </a:cubicBezTo>
                <a:cubicBezTo>
                  <a:pt x="355757" y="585786"/>
                  <a:pt x="293335" y="555792"/>
                  <a:pt x="283714" y="490884"/>
                </a:cubicBezTo>
                <a:cubicBezTo>
                  <a:pt x="283714" y="490415"/>
                  <a:pt x="283714" y="489946"/>
                  <a:pt x="283714" y="489712"/>
                </a:cubicBezTo>
                <a:cubicBezTo>
                  <a:pt x="131648" y="501897"/>
                  <a:pt x="-26518" y="373955"/>
                  <a:pt x="3754" y="212504"/>
                </a:cubicBezTo>
                <a:cubicBezTo>
                  <a:pt x="30330" y="69975"/>
                  <a:pt x="184023" y="-3487"/>
                  <a:pt x="325342" y="127"/>
                </a:cubicBezTo>
                <a:close/>
              </a:path>
            </a:pathLst>
          </a:custGeom>
          <a:solidFill>
            <a:schemeClr val="accent1"/>
          </a:solidFill>
          <a:ln>
            <a:noFill/>
          </a:ln>
        </p:spPr>
      </p:sp>
      <p:sp>
        <p:nvSpPr>
          <p:cNvPr id="5" name="文本框 4"/>
          <p:cNvSpPr txBox="1"/>
          <p:nvPr/>
        </p:nvSpPr>
        <p:spPr>
          <a:xfrm>
            <a:off x="2346635" y="5708873"/>
            <a:ext cx="4957591" cy="646331"/>
          </a:xfrm>
          <a:prstGeom prst="rect">
            <a:avLst/>
          </a:prstGeom>
          <a:noFill/>
        </p:spPr>
        <p:txBody>
          <a:bodyPr wrap="square" rtlCol="0">
            <a:spAutoFit/>
          </a:bodyPr>
          <a:lstStyle/>
          <a:p>
            <a:r>
              <a:rPr lang="zh-CN" altLang="en-US" b="1" dirty="0" smtClean="0">
                <a:solidFill>
                  <a:srgbClr val="FF0000"/>
                </a:solidFill>
              </a:rPr>
              <a:t>别问我为什么，它的推导过程非常复杂</a:t>
            </a:r>
            <a:r>
              <a:rPr lang="en-US" altLang="zh-CN" b="1" dirty="0" smtClean="0">
                <a:solidFill>
                  <a:srgbClr val="FF0000"/>
                </a:solidFill>
              </a:rPr>
              <a:t>……</a:t>
            </a:r>
          </a:p>
          <a:p>
            <a:r>
              <a:rPr lang="zh-CN" altLang="en-US" b="1" dirty="0" smtClean="0">
                <a:solidFill>
                  <a:srgbClr val="FF0000"/>
                </a:solidFill>
              </a:rPr>
              <a:t>见</a:t>
            </a:r>
            <a:r>
              <a:rPr lang="en-US" altLang="zh-CN" b="1" dirty="0" smtClean="0">
                <a:solidFill>
                  <a:srgbClr val="FF0000"/>
                </a:solidFill>
              </a:rPr>
              <a:t>《</a:t>
            </a:r>
            <a:r>
              <a:rPr lang="zh-CN" altLang="en-US" b="1" dirty="0" smtClean="0">
                <a:solidFill>
                  <a:srgbClr val="FF0000"/>
                </a:solidFill>
              </a:rPr>
              <a:t>期权、期货及其他衍生产品</a:t>
            </a:r>
            <a:r>
              <a:rPr lang="en-US" altLang="zh-CN" b="1" dirty="0" smtClean="0">
                <a:solidFill>
                  <a:srgbClr val="FF0000"/>
                </a:solidFill>
              </a:rPr>
              <a:t>》</a:t>
            </a:r>
            <a:r>
              <a:rPr lang="zh-CN" altLang="en-US" b="1" dirty="0" smtClean="0">
                <a:solidFill>
                  <a:srgbClr val="FF0000"/>
                </a:solidFill>
              </a:rPr>
              <a:t>技术性分析</a:t>
            </a:r>
            <a:endParaRPr lang="zh-CN" altLang="en-US" b="1" dirty="0">
              <a:solidFill>
                <a:srgbClr val="FF0000"/>
              </a:solidFill>
            </a:endParaRPr>
          </a:p>
        </p:txBody>
      </p:sp>
      <p:sp>
        <p:nvSpPr>
          <p:cNvPr id="6" name="文本框 5"/>
          <p:cNvSpPr txBox="1"/>
          <p:nvPr/>
        </p:nvSpPr>
        <p:spPr>
          <a:xfrm>
            <a:off x="914400" y="3968157"/>
            <a:ext cx="7667740" cy="1090670"/>
          </a:xfrm>
          <a:prstGeom prst="rect">
            <a:avLst/>
          </a:prstGeom>
          <a:noFill/>
          <a:ln w="2540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326429210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8776771" cy="576064"/>
          </a:xfrm>
        </p:spPr>
        <p:txBody>
          <a:bodyPr>
            <a:noAutofit/>
          </a:bodyPr>
          <a:lstStyle/>
          <a:p>
            <a:r>
              <a:rPr lang="en-US" altLang="zh-CN" sz="2670" dirty="0" smtClean="0"/>
              <a:t>Delivery Options Available In The Futures Markets</a:t>
            </a:r>
            <a:endParaRPr lang="zh-CN" altLang="en-US" sz="2670" dirty="0"/>
          </a:p>
        </p:txBody>
      </p:sp>
      <p:sp>
        <p:nvSpPr>
          <p:cNvPr id="3" name="文本占位符 2"/>
          <p:cNvSpPr>
            <a:spLocks noGrp="1"/>
          </p:cNvSpPr>
          <p:nvPr>
            <p:ph type="body" sz="quarter" idx="10"/>
          </p:nvPr>
        </p:nvSpPr>
        <p:spPr/>
        <p:txBody>
          <a:bodyPr>
            <a:normAutofit/>
          </a:bodyPr>
          <a:lstStyle/>
          <a:p>
            <a:r>
              <a:rPr lang="en-US" altLang="zh-CN" sz="2200" b="0" dirty="0">
                <a:solidFill>
                  <a:schemeClr val="tx1"/>
                </a:solidFill>
              </a:rPr>
              <a:t>Although a forward contract typically specifies the day of delivery, futures </a:t>
            </a:r>
            <a:r>
              <a:rPr lang="en-US" altLang="zh-CN" sz="2200" b="0" dirty="0" smtClean="0">
                <a:solidFill>
                  <a:schemeClr val="tx1"/>
                </a:solidFill>
              </a:rPr>
              <a:t>contract often </a:t>
            </a:r>
            <a:r>
              <a:rPr lang="en-US" altLang="zh-CN" sz="2200" b="0" dirty="0">
                <a:solidFill>
                  <a:schemeClr val="tx1"/>
                </a:solidFill>
              </a:rPr>
              <a:t>allows the short to choose to deliver at any time during a certain period</a:t>
            </a:r>
            <a:r>
              <a:rPr lang="en-US" altLang="zh-CN" sz="2200" b="0" dirty="0" smtClean="0">
                <a:solidFill>
                  <a:schemeClr val="tx1"/>
                </a:solidFill>
              </a:rPr>
              <a:t>.</a:t>
            </a:r>
          </a:p>
          <a:p>
            <a:pPr lvl="1"/>
            <a:r>
              <a:rPr lang="en-US" altLang="zh-CN" b="0" dirty="0"/>
              <a:t>If the futures price is an </a:t>
            </a:r>
            <a:r>
              <a:rPr lang="en-US" altLang="zh-CN" b="1" i="1" dirty="0"/>
              <a:t>increasing</a:t>
            </a:r>
            <a:r>
              <a:rPr lang="en-US" altLang="zh-CN" b="0" i="1" dirty="0"/>
              <a:t> </a:t>
            </a:r>
            <a:r>
              <a:rPr lang="en-US" altLang="zh-CN" b="0" dirty="0"/>
              <a:t>function of time to maturity, the short </a:t>
            </a:r>
            <a:r>
              <a:rPr lang="en-US" altLang="zh-CN" b="0" dirty="0" smtClean="0"/>
              <a:t>should deliver </a:t>
            </a:r>
            <a:r>
              <a:rPr lang="en-US" altLang="zh-CN" b="0" dirty="0"/>
              <a:t>as early as possible. This is because the interest earned on the cash </a:t>
            </a:r>
            <a:r>
              <a:rPr lang="en-US" altLang="zh-CN" b="0" dirty="0" smtClean="0"/>
              <a:t>received outweighs </a:t>
            </a:r>
            <a:r>
              <a:rPr lang="en-US" altLang="zh-CN" b="0" dirty="0"/>
              <a:t>the benefits of holding the asset. (And for modeling purposes, here </a:t>
            </a:r>
            <a:r>
              <a:rPr lang="en-US" altLang="zh-CN" b="0" dirty="0" smtClean="0"/>
              <a:t>we assume </a:t>
            </a:r>
            <a:r>
              <a:rPr lang="en-US" altLang="zh-CN" b="0" dirty="0"/>
              <a:t>delivery at beginning of period</a:t>
            </a:r>
            <a:r>
              <a:rPr lang="en-US" altLang="zh-CN" b="0" dirty="0" smtClean="0"/>
              <a:t>.)</a:t>
            </a:r>
          </a:p>
          <a:p>
            <a:pPr lvl="1"/>
            <a:r>
              <a:rPr lang="en-US" altLang="zh-CN" b="0" dirty="0"/>
              <a:t>If the futures price is a </a:t>
            </a:r>
            <a:r>
              <a:rPr lang="en-US" altLang="zh-CN" b="1" i="1" dirty="0"/>
              <a:t>decreasing </a:t>
            </a:r>
            <a:r>
              <a:rPr lang="en-US" altLang="zh-CN" b="0" dirty="0"/>
              <a:t>function of time to maturity, the short </a:t>
            </a:r>
            <a:r>
              <a:rPr lang="en-US" altLang="zh-CN" b="0" dirty="0" smtClean="0"/>
              <a:t>should deliver </a:t>
            </a:r>
            <a:r>
              <a:rPr lang="en-US" altLang="zh-CN" b="0" dirty="0"/>
              <a:t>as late as possible as the reverse is true. (And for modeling purposes, </a:t>
            </a:r>
            <a:r>
              <a:rPr lang="en-US" altLang="zh-CN" b="0" dirty="0" smtClean="0"/>
              <a:t>here we </a:t>
            </a:r>
            <a:r>
              <a:rPr lang="en-US" altLang="zh-CN" b="0" dirty="0"/>
              <a:t>assume delivery at end of period.)</a:t>
            </a:r>
            <a:endParaRPr lang="zh-CN" altLang="en-US" dirty="0">
              <a:solidFill>
                <a:schemeClr val="tx1"/>
              </a:solidFill>
            </a:endParaRPr>
          </a:p>
        </p:txBody>
      </p:sp>
    </p:spTree>
    <p:extLst>
      <p:ext uri="{BB962C8B-B14F-4D97-AF65-F5344CB8AC3E}">
        <p14:creationId xmlns:p14="http://schemas.microsoft.com/office/powerpoint/2010/main" val="204747014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Interest Rate Parity</a:t>
            </a:r>
            <a:r>
              <a:rPr lang="zh-CN" altLang="en-US"/>
              <a:t>（</a:t>
            </a:r>
            <a:r>
              <a:rPr lang="en-US" altLang="zh-CN" dirty="0"/>
              <a:t>IRP</a:t>
            </a:r>
            <a:r>
              <a:rPr lang="zh-CN" altLang="en-US"/>
              <a:t>）</a:t>
            </a:r>
            <a:endParaRPr lang="en-US" altLang="zh-CN"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Foreign Exchange Forward/Futures</a:t>
            </a:r>
          </a:p>
          <a:p>
            <a:pPr lvl="1">
              <a:lnSpc>
                <a:spcPct val="140000"/>
              </a:lnSpc>
              <a:spcBef>
                <a:spcPct val="0"/>
              </a:spcBef>
            </a:pPr>
            <a:r>
              <a:rPr lang="en-US" altLang="zh-CN" b="1" dirty="0"/>
              <a:t>Interest Rate Parity</a:t>
            </a:r>
          </a:p>
          <a:p>
            <a:pPr lvl="2">
              <a:lnSpc>
                <a:spcPct val="140000"/>
              </a:lnSpc>
              <a:spcBef>
                <a:spcPct val="0"/>
              </a:spcBef>
            </a:pPr>
            <a:r>
              <a:rPr lang="en-US" altLang="zh-CN" dirty="0"/>
              <a:t>A no-arbitrage condition representing an equilibrium state under which investors will be indifferent to interest rates available on bank deposits in two countries</a:t>
            </a:r>
            <a:r>
              <a:rPr lang="en-US" altLang="zh-CN" dirty="0" smtClean="0"/>
              <a:t>.</a:t>
            </a:r>
          </a:p>
          <a:p>
            <a:pPr lvl="2">
              <a:lnSpc>
                <a:spcPct val="140000"/>
              </a:lnSpc>
              <a:spcBef>
                <a:spcPct val="0"/>
              </a:spcBef>
            </a:pPr>
            <a:endParaRPr lang="en-US" altLang="zh-CN" dirty="0"/>
          </a:p>
          <a:p>
            <a:pPr lvl="2">
              <a:lnSpc>
                <a:spcPct val="140000"/>
              </a:lnSpc>
              <a:spcBef>
                <a:spcPct val="0"/>
              </a:spcBef>
            </a:pPr>
            <a:endParaRPr lang="en-US" altLang="zh-CN" dirty="0" smtClean="0"/>
          </a:p>
          <a:p>
            <a:pPr lvl="2">
              <a:lnSpc>
                <a:spcPct val="140000"/>
              </a:lnSpc>
              <a:spcBef>
                <a:spcPct val="0"/>
              </a:spcBef>
            </a:pPr>
            <a:endParaRPr lang="en-US" altLang="zh-CN" dirty="0"/>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3147643" y="3337343"/>
                <a:ext cx="6712454" cy="612412"/>
              </a:xfrm>
              <a:prstGeom prst="rect">
                <a:avLst/>
              </a:prstGeom>
              <a:noFill/>
              <a:ln w="19050">
                <a:solidFill>
                  <a:srgbClr val="FF0000"/>
                </a:solidFill>
              </a:ln>
            </p:spPr>
            <p:txBody>
              <a:bodyPr wrap="square" rtlCol="0">
                <a:spAutoFit/>
              </a:bodyPr>
              <a:lstStyle/>
              <a:p>
                <a14:m>
                  <m:oMath xmlns:m="http://schemas.openxmlformats.org/officeDocument/2006/math">
                    <m:r>
                      <m:rPr>
                        <m:sty m:val="p"/>
                      </m:rPr>
                      <a:rPr lang="en-US" altLang="zh-CN" sz="2200" b="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Forward</m:t>
                    </m:r>
                    <m:r>
                      <a:rPr lang="en-US" altLang="zh-CN" sz="2200" b="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200" b="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Spot</m:t>
                    </m:r>
                    <m:r>
                      <a:rPr lang="en-US" altLang="zh-CN" sz="2200" b="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t>
                            </m:r>
                          </m:sub>
                        </m:sSub>
                      </m:num>
                      <m:den>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sub>
                        </m:sSub>
                      </m:den>
                    </m:f>
                    <m:sSup>
                      <m:sSup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oMath>
                </a14:m>
                <a:r>
                  <a:rPr lang="zh-CN" altLang="en-US" sz="22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 </a:t>
                </a:r>
                <a:r>
                  <a:rPr lang="zh-CN" altLang="en-US" sz="2200" b="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a:t>   </a:t>
                </a:r>
                <a14:m>
                  <m:oMath xmlns:m="http://schemas.openxmlformats.org/officeDocument/2006/math">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Forward</m:t>
                    </m:r>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Spot</m:t>
                    </m:r>
                    <m:r>
                      <a:rPr lang="en-US" altLang="zh-CN" sz="2200" b="0" i="1" dirty="0" smtClean="0">
                        <a:solidFill>
                          <a:srgbClr val="2C3E50"/>
                        </a:solidFill>
                        <a:latin typeface="Cambria Math"/>
                        <a:ea typeface="微软雅黑" panose="020B0503020204020204" pitchFamily="34" charset="-122"/>
                        <a:cs typeface="Segoe UI" panose="020B0502040204020203" pitchFamily="34" charset="0"/>
                      </a:rPr>
                      <m:t> </m:t>
                    </m:r>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d>
                          <m:d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dPr>
                          <m:e>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t>
                                </m:r>
                              </m:sub>
                            </m:sSub>
                            <m: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sub>
                            </m:sSub>
                          </m:e>
                        </m:d>
                        <m:r>
                          <m:rPr>
                            <m:sty m:val="p"/>
                          </m:rPr>
                          <a:rPr lang="en-US" altLang="zh-CN" sz="22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oMath>
                </a14:m>
                <a:endParaRPr lang="zh-CN" altLang="en-US" sz="22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147643" y="3337343"/>
                <a:ext cx="6712454" cy="612412"/>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grpSp>
        <p:nvGrpSpPr>
          <p:cNvPr id="5" name="组合 5"/>
          <p:cNvGrpSpPr>
            <a:grpSpLocks/>
          </p:cNvGrpSpPr>
          <p:nvPr/>
        </p:nvGrpSpPr>
        <p:grpSpPr bwMode="auto">
          <a:xfrm>
            <a:off x="2258895" y="4217922"/>
            <a:ext cx="8489950" cy="2106612"/>
            <a:chOff x="736491" y="3644899"/>
            <a:chExt cx="8489927" cy="2106614"/>
          </a:xfrm>
        </p:grpSpPr>
        <p:sp>
          <p:nvSpPr>
            <p:cNvPr id="6" name="TextBox 4"/>
            <p:cNvSpPr txBox="1"/>
            <p:nvPr/>
          </p:nvSpPr>
          <p:spPr>
            <a:xfrm>
              <a:off x="1042878" y="4076699"/>
              <a:ext cx="1382708" cy="369887"/>
            </a:xfrm>
            <a:prstGeom prst="rect">
              <a:avLst/>
            </a:prstGeom>
            <a:ln>
              <a:solidFill>
                <a:srgbClr val="2C3E50"/>
              </a:solidFill>
            </a:ln>
          </p:spPr>
          <p:style>
            <a:lnRef idx="2">
              <a:schemeClr val="accent4"/>
            </a:lnRef>
            <a:fillRef idx="1">
              <a:schemeClr val="lt1"/>
            </a:fillRef>
            <a:effectRef idx="0">
              <a:schemeClr val="accent4"/>
            </a:effectRef>
            <a:fontRef idx="minor">
              <a:schemeClr val="dk1"/>
            </a:fontRef>
          </p:style>
          <p:txBody>
            <a:bodyPr>
              <a:spAutoFit/>
            </a:bodyPr>
            <a:lstStyle/>
            <a:p>
              <a:pPr algn="ctr" eaLnBrk="1" hangingPunct="1">
                <a:defRPr/>
              </a:pPr>
              <a:r>
                <a:rPr lang="en-US" altLang="zh-CN" sz="1800" b="0" dirty="0">
                  <a:solidFill>
                    <a:srgbClr val="2C3E50"/>
                  </a:solidFill>
                  <a:latin typeface="Segoe UI" panose="020B0502040204020203" pitchFamily="34" charset="0"/>
                  <a:cs typeface="Segoe UI" panose="020B0502040204020203" pitchFamily="34" charset="0"/>
                </a:rPr>
                <a:t>1</a:t>
              </a:r>
              <a:r>
                <a:rPr lang="zh-CN" altLang="en-US" sz="1800" b="0" dirty="0">
                  <a:solidFill>
                    <a:srgbClr val="2C3E50"/>
                  </a:solidFill>
                  <a:latin typeface="Segoe UI" panose="020B0502040204020203" pitchFamily="34" charset="0"/>
                  <a:cs typeface="Segoe UI" panose="020B0502040204020203" pitchFamily="34" charset="0"/>
                </a:rPr>
                <a:t>单位本币</a:t>
              </a:r>
            </a:p>
          </p:txBody>
        </p:sp>
        <p:sp>
          <p:nvSpPr>
            <p:cNvPr id="7" name="右箭头 6"/>
            <p:cNvSpPr>
              <a:spLocks noChangeArrowheads="1"/>
            </p:cNvSpPr>
            <p:nvPr/>
          </p:nvSpPr>
          <p:spPr bwMode="auto">
            <a:xfrm>
              <a:off x="2455749" y="4189412"/>
              <a:ext cx="3986201" cy="142875"/>
            </a:xfrm>
            <a:prstGeom prst="rightArrow">
              <a:avLst>
                <a:gd name="adj1" fmla="val 50000"/>
                <a:gd name="adj2" fmla="val 50000"/>
              </a:avLst>
            </a:prstGeom>
            <a:solidFill>
              <a:srgbClr val="2C3E50"/>
            </a:solidFill>
            <a:ln w="25400" algn="ctr">
              <a:solidFill>
                <a:srgbClr val="2C3E50"/>
              </a:solidFill>
              <a:miter lim="800000"/>
              <a:headEnd/>
              <a:tailEnd/>
            </a:ln>
          </p:spPr>
          <p:txBody>
            <a:bodyPr anchor="ctr"/>
            <a:lstStyle/>
            <a:p>
              <a:pPr algn="ctr" eaLnBrk="1" hangingPunct="1">
                <a:defRPr/>
              </a:pPr>
              <a:endParaRPr lang="zh-CN" altLang="en-US" sz="1800" b="0">
                <a:solidFill>
                  <a:srgbClr val="2C3E50"/>
                </a:solidFill>
                <a:latin typeface="Segoe UI" panose="020B0502040204020203" pitchFamily="34" charset="0"/>
                <a:ea typeface="+mn-ea"/>
                <a:cs typeface="Segoe UI" panose="020B0502040204020203" pitchFamily="34" charset="0"/>
              </a:endParaRPr>
            </a:p>
          </p:txBody>
        </p:sp>
        <p:sp>
          <p:nvSpPr>
            <p:cNvPr id="8" name="TextBox 6"/>
            <p:cNvSpPr txBox="1"/>
            <p:nvPr/>
          </p:nvSpPr>
          <p:spPr>
            <a:xfrm>
              <a:off x="6441951" y="4076699"/>
              <a:ext cx="1366834" cy="369887"/>
            </a:xfrm>
            <a:prstGeom prst="rect">
              <a:avLst/>
            </a:prstGeom>
            <a:ln>
              <a:solidFill>
                <a:srgbClr val="2C3E50"/>
              </a:solidFill>
            </a:ln>
          </p:spPr>
          <p:style>
            <a:lnRef idx="2">
              <a:schemeClr val="accent4"/>
            </a:lnRef>
            <a:fillRef idx="1">
              <a:schemeClr val="lt1"/>
            </a:fillRef>
            <a:effectRef idx="0">
              <a:schemeClr val="accent4"/>
            </a:effectRef>
            <a:fontRef idx="minor">
              <a:schemeClr val="dk1"/>
            </a:fontRef>
          </p:style>
          <p:txBody>
            <a:bodyPr>
              <a:spAutoFit/>
            </a:bodyPr>
            <a:lstStyle/>
            <a:p>
              <a:pPr algn="ctr" eaLnBrk="1" hangingPunct="1">
                <a:defRPr/>
              </a:pPr>
              <a:r>
                <a:rPr lang="en-US" altLang="zh-CN" sz="1800" b="0" i="1" dirty="0">
                  <a:solidFill>
                    <a:srgbClr val="2C3E50"/>
                  </a:solidFill>
                  <a:latin typeface="Segoe UI" panose="020B0502040204020203" pitchFamily="34" charset="0"/>
                  <a:cs typeface="Segoe UI" panose="020B0502040204020203" pitchFamily="34" charset="0"/>
                </a:rPr>
                <a:t>e</a:t>
              </a:r>
              <a:r>
                <a:rPr lang="en-US" altLang="zh-CN" sz="1800" b="0" i="1" baseline="30000" dirty="0">
                  <a:solidFill>
                    <a:srgbClr val="2C3E50"/>
                  </a:solidFill>
                  <a:latin typeface="Segoe UI" panose="020B0502040204020203" pitchFamily="34" charset="0"/>
                  <a:cs typeface="Segoe UI" panose="020B0502040204020203" pitchFamily="34" charset="0"/>
                </a:rPr>
                <a:t>rT</a:t>
              </a:r>
              <a:r>
                <a:rPr lang="zh-CN" altLang="en-US" sz="1800" b="0" dirty="0">
                  <a:solidFill>
                    <a:srgbClr val="2C3E50"/>
                  </a:solidFill>
                  <a:latin typeface="Segoe UI" panose="020B0502040204020203" pitchFamily="34" charset="0"/>
                  <a:cs typeface="Segoe UI" panose="020B0502040204020203" pitchFamily="34" charset="0"/>
                </a:rPr>
                <a:t>单位本币</a:t>
              </a:r>
            </a:p>
          </p:txBody>
        </p:sp>
        <p:sp>
          <p:nvSpPr>
            <p:cNvPr id="9" name="TextBox 7"/>
            <p:cNvSpPr txBox="1">
              <a:spLocks noChangeArrowheads="1"/>
            </p:cNvSpPr>
            <p:nvPr/>
          </p:nvSpPr>
          <p:spPr bwMode="auto">
            <a:xfrm>
              <a:off x="2761665" y="3863983"/>
              <a:ext cx="1914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800" b="0" dirty="0">
                  <a:solidFill>
                    <a:srgbClr val="2C3E50"/>
                  </a:solidFill>
                  <a:latin typeface="Segoe UI" panose="020B0502040204020203" pitchFamily="34" charset="0"/>
                  <a:cs typeface="Segoe UI" panose="020B0502040204020203" pitchFamily="34" charset="0"/>
                </a:rPr>
                <a:t>存入本国银行，</a:t>
              </a:r>
              <a:r>
                <a:rPr lang="en-US" altLang="zh-CN" sz="1800" b="0" dirty="0">
                  <a:solidFill>
                    <a:srgbClr val="2C3E50"/>
                  </a:solidFill>
                  <a:latin typeface="Segoe UI" panose="020B0502040204020203" pitchFamily="34" charset="0"/>
                  <a:cs typeface="Segoe UI" panose="020B0502040204020203" pitchFamily="34" charset="0"/>
                </a:rPr>
                <a:t>r</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10" name="TextBox 9"/>
            <p:cNvSpPr txBox="1">
              <a:spLocks noChangeArrowheads="1"/>
            </p:cNvSpPr>
            <p:nvPr/>
          </p:nvSpPr>
          <p:spPr bwMode="auto">
            <a:xfrm>
              <a:off x="1476375" y="3675856"/>
              <a:ext cx="822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0</a:t>
              </a:r>
              <a:r>
                <a:rPr lang="zh-CN" altLang="en-US" sz="1800">
                  <a:solidFill>
                    <a:srgbClr val="2C3E50"/>
                  </a:solidFill>
                  <a:latin typeface="Segoe UI" panose="020B0502040204020203" pitchFamily="34" charset="0"/>
                  <a:cs typeface="Segoe UI" panose="020B0502040204020203" pitchFamily="34" charset="0"/>
                </a:rPr>
                <a:t>时刻</a:t>
              </a:r>
            </a:p>
          </p:txBody>
        </p:sp>
        <p:sp>
          <p:nvSpPr>
            <p:cNvPr id="11" name="TextBox 10"/>
            <p:cNvSpPr txBox="1">
              <a:spLocks noChangeArrowheads="1"/>
            </p:cNvSpPr>
            <p:nvPr/>
          </p:nvSpPr>
          <p:spPr bwMode="auto">
            <a:xfrm>
              <a:off x="6714052" y="3675856"/>
              <a:ext cx="822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t</a:t>
              </a:r>
              <a:r>
                <a:rPr lang="zh-CN" altLang="en-US" sz="1800">
                  <a:solidFill>
                    <a:srgbClr val="2C3E50"/>
                  </a:solidFill>
                  <a:latin typeface="Segoe UI" panose="020B0502040204020203" pitchFamily="34" charset="0"/>
                  <a:cs typeface="Segoe UI" panose="020B0502040204020203" pitchFamily="34" charset="0"/>
                </a:rPr>
                <a:t>时刻</a:t>
              </a:r>
            </a:p>
          </p:txBody>
        </p:sp>
        <p:sp>
          <p:nvSpPr>
            <p:cNvPr id="12" name="TextBox 11"/>
            <p:cNvSpPr txBox="1"/>
            <p:nvPr/>
          </p:nvSpPr>
          <p:spPr>
            <a:xfrm>
              <a:off x="934928" y="5256213"/>
              <a:ext cx="1589083" cy="368300"/>
            </a:xfrm>
            <a:prstGeom prst="rect">
              <a:avLst/>
            </a:prstGeom>
            <a:ln>
              <a:solidFill>
                <a:srgbClr val="2C3E50"/>
              </a:solidFill>
            </a:ln>
          </p:spPr>
          <p:style>
            <a:lnRef idx="2">
              <a:schemeClr val="accent4"/>
            </a:lnRef>
            <a:fillRef idx="1">
              <a:schemeClr val="lt1"/>
            </a:fillRef>
            <a:effectRef idx="0">
              <a:schemeClr val="accent4"/>
            </a:effectRef>
            <a:fontRef idx="minor">
              <a:schemeClr val="dk1"/>
            </a:fontRef>
          </p:style>
          <p:txBody>
            <a:bodyPr>
              <a:spAutoFit/>
            </a:bodyPr>
            <a:lstStyle/>
            <a:p>
              <a:pPr algn="ctr" eaLnBrk="1" hangingPunct="1">
                <a:defRPr/>
              </a:pPr>
              <a:r>
                <a:rPr lang="en-US" altLang="zh-CN" sz="1800" b="0" dirty="0">
                  <a:solidFill>
                    <a:srgbClr val="2C3E50"/>
                  </a:solidFill>
                  <a:latin typeface="Segoe UI" panose="020B0502040204020203" pitchFamily="34" charset="0"/>
                  <a:cs typeface="Segoe UI" panose="020B0502040204020203" pitchFamily="34" charset="0"/>
                </a:rPr>
                <a:t>1/S</a:t>
              </a:r>
              <a:r>
                <a:rPr lang="en-US" altLang="zh-CN" sz="1800" b="0" baseline="-25000" dirty="0">
                  <a:solidFill>
                    <a:srgbClr val="2C3E50"/>
                  </a:solidFill>
                  <a:latin typeface="Segoe UI" panose="020B0502040204020203" pitchFamily="34" charset="0"/>
                  <a:cs typeface="Segoe UI" panose="020B0502040204020203" pitchFamily="34" charset="0"/>
                </a:rPr>
                <a:t>0</a:t>
              </a:r>
              <a:r>
                <a:rPr lang="zh-CN" altLang="en-US" sz="1800" b="0" dirty="0">
                  <a:solidFill>
                    <a:srgbClr val="2C3E50"/>
                  </a:solidFill>
                  <a:latin typeface="Segoe UI" panose="020B0502040204020203" pitchFamily="34" charset="0"/>
                  <a:cs typeface="Segoe UI" panose="020B0502040204020203" pitchFamily="34" charset="0"/>
                </a:rPr>
                <a:t>单位外币</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13" name="TextBox 12"/>
            <p:cNvSpPr txBox="1"/>
            <p:nvPr/>
          </p:nvSpPr>
          <p:spPr>
            <a:xfrm>
              <a:off x="4957643" y="5251451"/>
              <a:ext cx="1798632" cy="368300"/>
            </a:xfrm>
            <a:prstGeom prst="rect">
              <a:avLst/>
            </a:prstGeom>
            <a:ln>
              <a:solidFill>
                <a:srgbClr val="2C3E50"/>
              </a:solidFill>
            </a:ln>
          </p:spPr>
          <p:style>
            <a:lnRef idx="2">
              <a:schemeClr val="accent4"/>
            </a:lnRef>
            <a:fillRef idx="1">
              <a:schemeClr val="lt1"/>
            </a:fillRef>
            <a:effectRef idx="0">
              <a:schemeClr val="accent4"/>
            </a:effectRef>
            <a:fontRef idx="minor">
              <a:schemeClr val="dk1"/>
            </a:fontRef>
          </p:style>
          <p:txBody>
            <a:bodyPr anchor="ctr">
              <a:spAutoFit/>
            </a:bodyPr>
            <a:lstStyle/>
            <a:p>
              <a:pPr algn="ctr" eaLnBrk="1" hangingPunct="1">
                <a:defRPr/>
              </a:pPr>
              <a:r>
                <a:rPr lang="en-US" altLang="zh-CN" sz="1800" b="0" i="1" dirty="0">
                  <a:solidFill>
                    <a:srgbClr val="2C3E50"/>
                  </a:solidFill>
                  <a:latin typeface="Segoe UI" panose="020B0502040204020203" pitchFamily="34" charset="0"/>
                  <a:cs typeface="Segoe UI" panose="020B0502040204020203" pitchFamily="34" charset="0"/>
                </a:rPr>
                <a:t>e</a:t>
              </a:r>
              <a:r>
                <a:rPr lang="en-US" altLang="zh-CN" sz="1800" b="0" i="1" baseline="30000" dirty="0">
                  <a:solidFill>
                    <a:srgbClr val="2C3E50"/>
                  </a:solidFill>
                  <a:latin typeface="Segoe UI" panose="020B0502040204020203" pitchFamily="34" charset="0"/>
                  <a:cs typeface="Segoe UI" panose="020B0502040204020203" pitchFamily="34" charset="0"/>
                </a:rPr>
                <a:t>rfT</a:t>
              </a:r>
              <a:r>
                <a:rPr lang="en-US" altLang="zh-CN" sz="1800" b="0" i="1" dirty="0">
                  <a:solidFill>
                    <a:srgbClr val="2C3E50"/>
                  </a:solidFill>
                  <a:latin typeface="Segoe UI" panose="020B0502040204020203" pitchFamily="34" charset="0"/>
                  <a:cs typeface="Segoe UI" panose="020B0502040204020203" pitchFamily="34" charset="0"/>
                </a:rPr>
                <a:t> /S</a:t>
              </a:r>
              <a:r>
                <a:rPr lang="en-US" altLang="zh-CN" sz="1800" b="0" i="1" baseline="-25000" dirty="0">
                  <a:solidFill>
                    <a:srgbClr val="2C3E50"/>
                  </a:solidFill>
                  <a:latin typeface="Segoe UI" panose="020B0502040204020203" pitchFamily="34" charset="0"/>
                  <a:cs typeface="Segoe UI" panose="020B0502040204020203" pitchFamily="34" charset="0"/>
                </a:rPr>
                <a:t>0</a:t>
              </a:r>
              <a:r>
                <a:rPr lang="zh-CN" altLang="en-US" sz="1800" b="0" dirty="0">
                  <a:solidFill>
                    <a:srgbClr val="2C3E50"/>
                  </a:solidFill>
                  <a:latin typeface="Segoe UI" panose="020B0502040204020203" pitchFamily="34" charset="0"/>
                  <a:cs typeface="Segoe UI" panose="020B0502040204020203" pitchFamily="34" charset="0"/>
                </a:rPr>
                <a:t>单位外币</a:t>
              </a:r>
            </a:p>
          </p:txBody>
        </p:sp>
        <p:sp>
          <p:nvSpPr>
            <p:cNvPr id="14" name="TextBox 13"/>
            <p:cNvSpPr txBox="1">
              <a:spLocks noChangeArrowheads="1"/>
            </p:cNvSpPr>
            <p:nvPr/>
          </p:nvSpPr>
          <p:spPr bwMode="auto">
            <a:xfrm>
              <a:off x="1419523" y="4697413"/>
              <a:ext cx="461664"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TextBox 14"/>
            <p:cNvSpPr txBox="1">
              <a:spLocks noChangeArrowheads="1"/>
            </p:cNvSpPr>
            <p:nvPr/>
          </p:nvSpPr>
          <p:spPr bwMode="auto">
            <a:xfrm>
              <a:off x="6892945" y="4635500"/>
              <a:ext cx="461664" cy="25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6" name="TextBox 16"/>
            <p:cNvSpPr txBox="1">
              <a:spLocks noChangeArrowheads="1"/>
            </p:cNvSpPr>
            <p:nvPr/>
          </p:nvSpPr>
          <p:spPr bwMode="auto">
            <a:xfrm>
              <a:off x="1734344" y="4602163"/>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1200" b="0" dirty="0">
                  <a:solidFill>
                    <a:srgbClr val="2C3E50"/>
                  </a:solidFill>
                  <a:latin typeface="微软雅黑" panose="020B0503020204020204" pitchFamily="34" charset="-122"/>
                  <a:ea typeface="微软雅黑" panose="020B0503020204020204" pitchFamily="34" charset="-122"/>
                  <a:cs typeface="Segoe UI" panose="020B0502040204020203" pitchFamily="34" charset="0"/>
                </a:rPr>
                <a:t>兑换，并进入一份卖出外币的远期合约</a:t>
              </a:r>
            </a:p>
          </p:txBody>
        </p:sp>
        <p:sp>
          <p:nvSpPr>
            <p:cNvPr id="17" name="TextBox 17"/>
            <p:cNvSpPr txBox="1">
              <a:spLocks noChangeArrowheads="1"/>
            </p:cNvSpPr>
            <p:nvPr/>
          </p:nvSpPr>
          <p:spPr bwMode="auto">
            <a:xfrm>
              <a:off x="6371948" y="4868863"/>
              <a:ext cx="15065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200" dirty="0">
                  <a:solidFill>
                    <a:srgbClr val="2C3E50"/>
                  </a:solidFill>
                  <a:latin typeface="微软雅黑" panose="020B0503020204020204" pitchFamily="34" charset="-122"/>
                  <a:ea typeface="微软雅黑" panose="020B0503020204020204" pitchFamily="34" charset="-122"/>
                  <a:cs typeface="Segoe UI" panose="020B0502040204020203" pitchFamily="34" charset="0"/>
                </a:rPr>
                <a:t>执行远期合约</a:t>
              </a:r>
            </a:p>
          </p:txBody>
        </p:sp>
        <p:sp>
          <p:nvSpPr>
            <p:cNvPr id="18" name="右箭头 17"/>
            <p:cNvSpPr>
              <a:spLocks noChangeArrowheads="1"/>
            </p:cNvSpPr>
            <p:nvPr/>
          </p:nvSpPr>
          <p:spPr bwMode="auto">
            <a:xfrm>
              <a:off x="2562111" y="5378451"/>
              <a:ext cx="2395532" cy="123825"/>
            </a:xfrm>
            <a:prstGeom prst="rightArrow">
              <a:avLst>
                <a:gd name="adj1" fmla="val 50000"/>
                <a:gd name="adj2" fmla="val 49988"/>
              </a:avLst>
            </a:prstGeom>
            <a:solidFill>
              <a:srgbClr val="2C3E50"/>
            </a:solidFill>
            <a:ln w="25400" algn="ctr">
              <a:solidFill>
                <a:srgbClr val="2C3E50"/>
              </a:solidFill>
              <a:miter lim="800000"/>
              <a:headEnd/>
              <a:tailEnd/>
            </a:ln>
          </p:spPr>
          <p:txBody>
            <a:bodyPr anchor="ctr"/>
            <a:lstStyle/>
            <a:p>
              <a:pPr algn="ctr" eaLnBrk="1" hangingPunct="1">
                <a:defRPr/>
              </a:pPr>
              <a:endParaRPr lang="zh-CN" altLang="en-US" sz="1800" b="0">
                <a:solidFill>
                  <a:srgbClr val="2C3E50"/>
                </a:solidFill>
                <a:latin typeface="Segoe UI" panose="020B0502040204020203" pitchFamily="34" charset="0"/>
                <a:ea typeface="+mn-ea"/>
                <a:cs typeface="Segoe UI" panose="020B0502040204020203" pitchFamily="34" charset="0"/>
              </a:endParaRPr>
            </a:p>
          </p:txBody>
        </p:sp>
        <p:sp>
          <p:nvSpPr>
            <p:cNvPr id="19" name="TextBox 19"/>
            <p:cNvSpPr txBox="1">
              <a:spLocks noChangeArrowheads="1"/>
            </p:cNvSpPr>
            <p:nvPr/>
          </p:nvSpPr>
          <p:spPr bwMode="auto">
            <a:xfrm>
              <a:off x="2768600" y="4979214"/>
              <a:ext cx="19827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800" b="0" dirty="0">
                  <a:solidFill>
                    <a:srgbClr val="2C3E50"/>
                  </a:solidFill>
                  <a:latin typeface="Segoe UI" panose="020B0502040204020203" pitchFamily="34" charset="0"/>
                  <a:cs typeface="Segoe UI" panose="020B0502040204020203" pitchFamily="34" charset="0"/>
                </a:rPr>
                <a:t>存入外国银行，</a:t>
              </a:r>
              <a:r>
                <a:rPr lang="en-US" altLang="zh-CN" sz="1800" b="0" i="1" dirty="0">
                  <a:solidFill>
                    <a:srgbClr val="2C3E50"/>
                  </a:solidFill>
                  <a:latin typeface="Segoe UI" panose="020B0502040204020203" pitchFamily="34" charset="0"/>
                  <a:cs typeface="Segoe UI" panose="020B0502040204020203" pitchFamily="34" charset="0"/>
                </a:rPr>
                <a:t>r</a:t>
              </a:r>
              <a:r>
                <a:rPr lang="en-US" altLang="zh-CN" sz="1800" b="0" i="1" baseline="-25000" dirty="0">
                  <a:solidFill>
                    <a:srgbClr val="2C3E50"/>
                  </a:solidFill>
                  <a:latin typeface="Segoe UI" panose="020B0502040204020203" pitchFamily="34" charset="0"/>
                  <a:cs typeface="Segoe UI" panose="020B0502040204020203" pitchFamily="34" charset="0"/>
                </a:rPr>
                <a:t>f</a:t>
              </a:r>
              <a:endParaRPr lang="zh-CN" altLang="en-US" sz="1800" b="0" i="1" baseline="-25000" dirty="0">
                <a:solidFill>
                  <a:srgbClr val="2C3E50"/>
                </a:solidFill>
                <a:latin typeface="Segoe UI" panose="020B0502040204020203" pitchFamily="34" charset="0"/>
                <a:cs typeface="Segoe UI" panose="020B0502040204020203" pitchFamily="34" charset="0"/>
              </a:endParaRPr>
            </a:p>
            <a:p>
              <a:pPr algn="ctr" eaLnBrk="1" hangingPunct="1">
                <a:spcBef>
                  <a:spcPct val="0"/>
                </a:spcBef>
                <a:buFontTx/>
                <a:buNone/>
              </a:pPr>
              <a:endParaRPr lang="zh-CN" altLang="en-US" sz="1800" b="0" i="1" baseline="-25000" dirty="0">
                <a:solidFill>
                  <a:srgbClr val="2C3E50"/>
                </a:solidFill>
                <a:latin typeface="Segoe UI" panose="020B0502040204020203" pitchFamily="34" charset="0"/>
                <a:cs typeface="Segoe UI" panose="020B0502040204020203" pitchFamily="34" charset="0"/>
              </a:endParaRPr>
            </a:p>
          </p:txBody>
        </p:sp>
        <p:sp>
          <p:nvSpPr>
            <p:cNvPr id="20" name="TextBox 20"/>
            <p:cNvSpPr txBox="1"/>
            <p:nvPr/>
          </p:nvSpPr>
          <p:spPr>
            <a:xfrm>
              <a:off x="7118224" y="5245101"/>
              <a:ext cx="1944683" cy="369887"/>
            </a:xfrm>
            <a:prstGeom prst="rect">
              <a:avLst/>
            </a:prstGeom>
            <a:ln>
              <a:solidFill>
                <a:srgbClr val="2C3E50"/>
              </a:solidFill>
            </a:ln>
          </p:spPr>
          <p:style>
            <a:lnRef idx="2">
              <a:schemeClr val="accent4"/>
            </a:lnRef>
            <a:fillRef idx="1">
              <a:schemeClr val="lt1"/>
            </a:fillRef>
            <a:effectRef idx="0">
              <a:schemeClr val="accent4"/>
            </a:effectRef>
            <a:fontRef idx="minor">
              <a:schemeClr val="dk1"/>
            </a:fontRef>
          </p:style>
          <p:txBody>
            <a:bodyPr anchor="ctr">
              <a:spAutoFit/>
            </a:bodyPr>
            <a:lstStyle/>
            <a:p>
              <a:pPr algn="ctr" eaLnBrk="1" hangingPunct="1">
                <a:defRPr/>
              </a:pPr>
              <a:r>
                <a:rPr lang="en-US" altLang="zh-CN" sz="1800" b="0" i="1" dirty="0">
                  <a:solidFill>
                    <a:srgbClr val="2C3E50"/>
                  </a:solidFill>
                  <a:latin typeface="Segoe UI" panose="020B0502040204020203" pitchFamily="34" charset="0"/>
                  <a:cs typeface="Segoe UI" panose="020B0502040204020203" pitchFamily="34" charset="0"/>
                </a:rPr>
                <a:t>F</a:t>
              </a:r>
              <a:r>
                <a:rPr lang="en-US" altLang="zh-CN" sz="1800" b="0" i="1" baseline="-25000" dirty="0">
                  <a:solidFill>
                    <a:srgbClr val="2C3E50"/>
                  </a:solidFill>
                  <a:latin typeface="Segoe UI" panose="020B0502040204020203" pitchFamily="34" charset="0"/>
                  <a:cs typeface="Segoe UI" panose="020B0502040204020203" pitchFamily="34" charset="0"/>
                </a:rPr>
                <a:t>0 </a:t>
              </a:r>
              <a:r>
                <a:rPr lang="en-US" altLang="zh-CN" sz="1800" b="0" i="1" dirty="0">
                  <a:solidFill>
                    <a:srgbClr val="2C3E50"/>
                  </a:solidFill>
                  <a:latin typeface="Segoe UI" panose="020B0502040204020203" pitchFamily="34" charset="0"/>
                  <a:cs typeface="Segoe UI" panose="020B0502040204020203" pitchFamily="34" charset="0"/>
                </a:rPr>
                <a:t>e</a:t>
              </a:r>
              <a:r>
                <a:rPr lang="en-US" altLang="zh-CN" sz="1800" b="0" i="1" baseline="30000" dirty="0">
                  <a:solidFill>
                    <a:srgbClr val="2C3E50"/>
                  </a:solidFill>
                  <a:latin typeface="Segoe UI" panose="020B0502040204020203" pitchFamily="34" charset="0"/>
                  <a:cs typeface="Segoe UI" panose="020B0502040204020203" pitchFamily="34" charset="0"/>
                </a:rPr>
                <a:t>rfT</a:t>
              </a:r>
              <a:r>
                <a:rPr lang="en-US" altLang="zh-CN" sz="1800" b="0" i="1" dirty="0">
                  <a:solidFill>
                    <a:srgbClr val="2C3E50"/>
                  </a:solidFill>
                  <a:latin typeface="Segoe UI" panose="020B0502040204020203" pitchFamily="34" charset="0"/>
                  <a:cs typeface="Segoe UI" panose="020B0502040204020203" pitchFamily="34" charset="0"/>
                </a:rPr>
                <a:t>/S</a:t>
              </a:r>
              <a:r>
                <a:rPr lang="en-US" altLang="zh-CN" sz="1800" b="0" i="1" baseline="-25000" dirty="0">
                  <a:solidFill>
                    <a:srgbClr val="2C3E50"/>
                  </a:solidFill>
                  <a:latin typeface="Segoe UI" panose="020B0502040204020203" pitchFamily="34" charset="0"/>
                  <a:cs typeface="Segoe UI" panose="020B0502040204020203" pitchFamily="34" charset="0"/>
                </a:rPr>
                <a:t>0</a:t>
              </a:r>
              <a:r>
                <a:rPr lang="zh-CN" altLang="en-US" sz="1800" b="0" dirty="0">
                  <a:solidFill>
                    <a:srgbClr val="2C3E50"/>
                  </a:solidFill>
                  <a:latin typeface="Segoe UI" panose="020B0502040204020203" pitchFamily="34" charset="0"/>
                  <a:cs typeface="Segoe UI" panose="020B0502040204020203" pitchFamily="34" charset="0"/>
                </a:rPr>
                <a:t>单位本币</a:t>
              </a:r>
            </a:p>
          </p:txBody>
        </p:sp>
        <p:sp>
          <p:nvSpPr>
            <p:cNvPr id="21" name="右箭头 20"/>
            <p:cNvSpPr>
              <a:spLocks noChangeArrowheads="1"/>
            </p:cNvSpPr>
            <p:nvPr/>
          </p:nvSpPr>
          <p:spPr bwMode="auto">
            <a:xfrm>
              <a:off x="6757863" y="5378451"/>
              <a:ext cx="360361" cy="123825"/>
            </a:xfrm>
            <a:prstGeom prst="rightArrow">
              <a:avLst>
                <a:gd name="adj1" fmla="val 50000"/>
                <a:gd name="adj2" fmla="val 50000"/>
              </a:avLst>
            </a:prstGeom>
            <a:solidFill>
              <a:srgbClr val="2C3E50"/>
            </a:solidFill>
            <a:ln w="25400" algn="ctr">
              <a:solidFill>
                <a:srgbClr val="2C3E50"/>
              </a:solidFill>
              <a:miter lim="800000"/>
              <a:headEnd/>
              <a:tailEnd/>
            </a:ln>
          </p:spPr>
          <p:txBody>
            <a:bodyPr anchor="ctr"/>
            <a:lstStyle/>
            <a:p>
              <a:pPr algn="ctr" eaLnBrk="1" hangingPunct="1">
                <a:defRPr/>
              </a:pPr>
              <a:endParaRPr lang="zh-CN" altLang="en-US" sz="1800" b="0">
                <a:solidFill>
                  <a:srgbClr val="2C3E50"/>
                </a:solidFill>
                <a:latin typeface="Segoe UI" panose="020B0502040204020203" pitchFamily="34" charset="0"/>
                <a:ea typeface="+mn-ea"/>
                <a:cs typeface="Segoe UI" panose="020B0502040204020203" pitchFamily="34" charset="0"/>
              </a:endParaRPr>
            </a:p>
          </p:txBody>
        </p:sp>
        <p:sp>
          <p:nvSpPr>
            <p:cNvPr id="22" name="圆角矩形 21"/>
            <p:cNvSpPr/>
            <p:nvPr/>
          </p:nvSpPr>
          <p:spPr>
            <a:xfrm>
              <a:off x="736491" y="3644899"/>
              <a:ext cx="1993895" cy="2106614"/>
            </a:xfrm>
            <a:prstGeom prst="roundRect">
              <a:avLst/>
            </a:prstGeom>
            <a:noFill/>
            <a:ln>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3" name="圆角矩形 22"/>
            <p:cNvSpPr/>
            <p:nvPr/>
          </p:nvSpPr>
          <p:spPr>
            <a:xfrm>
              <a:off x="4752855" y="3644899"/>
              <a:ext cx="4473563" cy="2106614"/>
            </a:xfrm>
            <a:prstGeom prst="roundRect">
              <a:avLst/>
            </a:prstGeom>
            <a:noFill/>
            <a:ln>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zh-CN" altLang="en-US" sz="1800" b="0">
                <a:solidFill>
                  <a:srgbClr val="2C3E50"/>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386368582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47500" lnSpcReduction="20000"/>
          </a:bodyPr>
          <a:lstStyle/>
          <a:p>
            <a:r>
              <a:rPr lang="en-US" altLang="zh-CN" sz="3800" b="0" dirty="0" smtClean="0"/>
              <a:t>Differentiate </a:t>
            </a:r>
            <a:r>
              <a:rPr lang="en-US" altLang="zh-CN" sz="3800" b="0" dirty="0"/>
              <a:t>between investment and consumption assets. </a:t>
            </a:r>
            <a:r>
              <a:rPr lang="en-US" altLang="zh-CN" sz="4000" b="0" dirty="0">
                <a:cs typeface="+mn-ea"/>
                <a:sym typeface="+mn-lt"/>
              </a:rPr>
              <a:t>★</a:t>
            </a:r>
            <a:endParaRPr lang="en-US" altLang="zh-CN" sz="3800" b="0" dirty="0"/>
          </a:p>
          <a:p>
            <a:r>
              <a:rPr lang="en-US" altLang="zh-CN" sz="3800" b="0" dirty="0"/>
              <a:t>Define short-selling and calculate the net profit of a short sale of a dividend-paying stock. </a:t>
            </a:r>
            <a:r>
              <a:rPr lang="en-US" altLang="zh-CN" sz="4000" b="0" dirty="0">
                <a:cs typeface="+mn-ea"/>
                <a:sym typeface="+mn-lt"/>
              </a:rPr>
              <a:t>★</a:t>
            </a:r>
            <a:endParaRPr lang="en-US" altLang="zh-CN" sz="3800" b="0" dirty="0"/>
          </a:p>
          <a:p>
            <a:r>
              <a:rPr lang="en-US" altLang="zh-CN" sz="3800" b="0" dirty="0">
                <a:solidFill>
                  <a:srgbClr val="FF0000"/>
                </a:solidFill>
              </a:rPr>
              <a:t>Describe the differences between forward and futures contracts and explain the relationship between forward and spot prices.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3800" b="0" dirty="0">
              <a:solidFill>
                <a:srgbClr val="FF0000"/>
              </a:solidFill>
            </a:endParaRPr>
          </a:p>
          <a:p>
            <a:r>
              <a:rPr lang="en-US" altLang="zh-CN" sz="3800" b="0" dirty="0">
                <a:solidFill>
                  <a:srgbClr val="FF0000"/>
                </a:solidFill>
              </a:rPr>
              <a:t>Calculate the forward price given the underlying asset’s spot price, and describe an arbitrage argument between spot and forward prices.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3800" b="0" dirty="0">
              <a:solidFill>
                <a:srgbClr val="FF0000"/>
              </a:solidFill>
            </a:endParaRPr>
          </a:p>
          <a:p>
            <a:r>
              <a:rPr lang="en-US" altLang="zh-CN" sz="3800" b="0" dirty="0"/>
              <a:t>Explain the relationship between forward and futures prices. </a:t>
            </a:r>
            <a:r>
              <a:rPr lang="en-US" altLang="zh-CN" sz="4000" b="0" dirty="0" smtClean="0">
                <a:cs typeface="+mn-ea"/>
                <a:sym typeface="+mn-lt"/>
              </a:rPr>
              <a:t>★</a:t>
            </a:r>
            <a:r>
              <a:rPr lang="en-US" altLang="zh-CN" sz="4000" b="0" dirty="0">
                <a:cs typeface="+mn-ea"/>
                <a:sym typeface="+mn-lt"/>
              </a:rPr>
              <a:t>★</a:t>
            </a:r>
            <a:endParaRPr lang="en-US" altLang="zh-CN" sz="3800" b="0" dirty="0"/>
          </a:p>
          <a:p>
            <a:r>
              <a:rPr lang="en-US" altLang="zh-CN" sz="3800" b="0" dirty="0">
                <a:solidFill>
                  <a:srgbClr val="FF0000"/>
                </a:solidFill>
              </a:rPr>
              <a:t>Explain how an index arbitrage strategy works. </a:t>
            </a:r>
            <a:r>
              <a:rPr lang="en-US" altLang="zh-CN" sz="4000" b="0" dirty="0">
                <a:cs typeface="+mn-ea"/>
                <a:sym typeface="+mn-lt"/>
              </a:rPr>
              <a:t>★</a:t>
            </a:r>
            <a:endParaRPr lang="en-US" altLang="zh-CN" sz="3800" b="0" dirty="0">
              <a:solidFill>
                <a:srgbClr val="FF0000"/>
              </a:solidFill>
            </a:endParaRPr>
          </a:p>
          <a:p>
            <a:r>
              <a:rPr lang="en-US" altLang="zh-CN" sz="3800" b="0" dirty="0">
                <a:solidFill>
                  <a:srgbClr val="FF0000"/>
                </a:solidFill>
              </a:rPr>
              <a:t>Calculate a forward foreign exchange rate using the interest rate parity relationship.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3800" b="0" dirty="0">
              <a:solidFill>
                <a:srgbClr val="FF0000"/>
              </a:solidFill>
            </a:endParaRPr>
          </a:p>
          <a:p>
            <a:r>
              <a:rPr lang="en-US" altLang="zh-CN" sz="3800" b="0" dirty="0">
                <a:solidFill>
                  <a:srgbClr val="FF0000"/>
                </a:solidFill>
              </a:rPr>
              <a:t>Define income, storage costs, and convenience yield.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3800" b="0" dirty="0">
              <a:solidFill>
                <a:srgbClr val="FF0000"/>
              </a:solidFill>
            </a:endParaRPr>
          </a:p>
          <a:p>
            <a:r>
              <a:rPr lang="en-US" altLang="zh-CN" sz="3800" b="0" dirty="0"/>
              <a:t>Calculate the futures price on commodities </a:t>
            </a:r>
            <a:r>
              <a:rPr lang="zh-CN" altLang="en-US" sz="3800" b="0" dirty="0" smtClean="0"/>
              <a:t>（</a:t>
            </a:r>
            <a:r>
              <a:rPr lang="en-US" altLang="zh-CN" sz="3800" b="0" dirty="0" smtClean="0"/>
              <a:t>income/storage </a:t>
            </a:r>
            <a:r>
              <a:rPr lang="en-US" altLang="zh-CN" sz="3800" b="0" dirty="0"/>
              <a:t>costs and/or convenience yields</a:t>
            </a:r>
            <a:r>
              <a:rPr lang="en-US" altLang="zh-CN" sz="3800" b="0" dirty="0" smtClean="0"/>
              <a:t>.</a:t>
            </a:r>
            <a:r>
              <a:rPr lang="zh-CN" altLang="en-US" sz="3800" b="0" dirty="0" smtClean="0"/>
              <a:t>）</a:t>
            </a:r>
            <a:r>
              <a:rPr lang="en-US" altLang="zh-CN" sz="4000" b="0" dirty="0" smtClean="0">
                <a:cs typeface="+mn-ea"/>
                <a:sym typeface="+mn-lt"/>
              </a:rPr>
              <a:t> ★</a:t>
            </a:r>
            <a:r>
              <a:rPr lang="en-US" altLang="zh-CN" sz="4000" b="0" dirty="0">
                <a:cs typeface="+mn-ea"/>
                <a:sym typeface="+mn-lt"/>
              </a:rPr>
              <a:t>★</a:t>
            </a:r>
            <a:r>
              <a:rPr lang="en-US" altLang="zh-CN" sz="3800" b="0" dirty="0" smtClean="0"/>
              <a:t> </a:t>
            </a:r>
            <a:endParaRPr lang="en-US" altLang="zh-CN" sz="3800" b="0" dirty="0"/>
          </a:p>
          <a:p>
            <a:r>
              <a:rPr lang="en-US" altLang="zh-CN" sz="3800" b="0" dirty="0">
                <a:solidFill>
                  <a:srgbClr val="FF0000"/>
                </a:solidFill>
              </a:rPr>
              <a:t>Calculate, using the cost-of-carry model, forward prices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3800" b="0" dirty="0" smtClean="0">
              <a:solidFill>
                <a:srgbClr val="FF0000"/>
              </a:solidFill>
            </a:endParaRPr>
          </a:p>
          <a:p>
            <a:r>
              <a:rPr lang="en-US" altLang="zh-CN" sz="3800" b="0" dirty="0" smtClean="0"/>
              <a:t>Describe </a:t>
            </a:r>
            <a:r>
              <a:rPr lang="en-US" altLang="zh-CN" sz="3800" b="0" dirty="0"/>
              <a:t>the various delivery options available in the futures </a:t>
            </a:r>
            <a:r>
              <a:rPr lang="en-US" altLang="zh-CN" sz="3800" b="0" dirty="0" smtClean="0"/>
              <a:t>markets</a:t>
            </a:r>
            <a:r>
              <a:rPr lang="en-US" altLang="zh-CN" sz="4000" b="0" dirty="0">
                <a:cs typeface="+mn-ea"/>
                <a:sym typeface="+mn-lt"/>
              </a:rPr>
              <a:t>★</a:t>
            </a:r>
            <a:endParaRPr lang="en-US" altLang="zh-CN" sz="3800" b="0" dirty="0" smtClean="0"/>
          </a:p>
          <a:p>
            <a:r>
              <a:rPr lang="en-US" altLang="zh-CN" sz="3800" b="0" dirty="0" smtClean="0"/>
              <a:t>Explain </a:t>
            </a:r>
            <a:r>
              <a:rPr lang="en-US" altLang="zh-CN" sz="3800" b="0" dirty="0"/>
              <a:t>the relationship between current futures prices and expected future spot </a:t>
            </a:r>
            <a:r>
              <a:rPr lang="en-US" altLang="zh-CN" sz="3800" b="0" dirty="0" smtClean="0"/>
              <a:t>prices</a:t>
            </a:r>
            <a:r>
              <a:rPr lang="en-US" altLang="zh-CN" sz="4000" b="0" dirty="0">
                <a:cs typeface="+mn-ea"/>
                <a:sym typeface="+mn-lt"/>
              </a:rPr>
              <a:t>★</a:t>
            </a:r>
            <a:endParaRPr lang="en-US" altLang="zh-CN" sz="3800" b="0" dirty="0" smtClean="0"/>
          </a:p>
          <a:p>
            <a:r>
              <a:rPr lang="en-US" altLang="zh-CN" sz="3800" b="0" dirty="0" smtClean="0"/>
              <a:t>Define </a:t>
            </a:r>
            <a:r>
              <a:rPr lang="en-US" altLang="zh-CN" sz="3800" b="0" dirty="0"/>
              <a:t>and interpret contango and backwardation, </a:t>
            </a:r>
            <a:r>
              <a:rPr lang="en-US" altLang="zh-CN" sz="3800" b="0" dirty="0" smtClean="0"/>
              <a:t>and </a:t>
            </a:r>
            <a:r>
              <a:rPr lang="en-US" altLang="zh-CN" sz="3800" b="0" dirty="0"/>
              <a:t>how they relate to the cost-of-carry model. </a:t>
            </a:r>
            <a:r>
              <a:rPr lang="en-US" altLang="zh-CN" sz="3800" b="0" dirty="0">
                <a:sym typeface="+mn-lt"/>
              </a:rPr>
              <a:t>★★</a:t>
            </a:r>
            <a:endParaRPr lang="en-US" altLang="zh-CN" sz="3800" b="0" dirty="0"/>
          </a:p>
          <a:p>
            <a:endParaRPr lang="zh-CN" altLang="en-US" dirty="0"/>
          </a:p>
        </p:txBody>
      </p:sp>
    </p:spTree>
    <p:extLst>
      <p:ext uri="{BB962C8B-B14F-4D97-AF65-F5344CB8AC3E}">
        <p14:creationId xmlns:p14="http://schemas.microsoft.com/office/powerpoint/2010/main" val="354581069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Interest Rate Futures</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325936617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Day Count Conventions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614669590"/>
              </p:ext>
            </p:extLst>
          </p:nvPr>
        </p:nvGraphicFramePr>
        <p:xfrm>
          <a:off x="609600" y="1094239"/>
          <a:ext cx="9977610" cy="3108960"/>
        </p:xfrm>
        <a:graphic>
          <a:graphicData uri="http://schemas.openxmlformats.org/drawingml/2006/table">
            <a:tbl>
              <a:tblPr firstRow="1" bandRow="1">
                <a:tableStyleId>{7DF18680-E054-41AD-8BC1-D1AEF772440D}</a:tableStyleId>
              </a:tblPr>
              <a:tblGrid>
                <a:gridCol w="4988805">
                  <a:extLst>
                    <a:ext uri="{9D8B030D-6E8A-4147-A177-3AD203B41FA5}">
                      <a16:colId xmlns="" xmlns:a16="http://schemas.microsoft.com/office/drawing/2014/main" val="377479921"/>
                    </a:ext>
                  </a:extLst>
                </a:gridCol>
                <a:gridCol w="4988805">
                  <a:extLst>
                    <a:ext uri="{9D8B030D-6E8A-4147-A177-3AD203B41FA5}">
                      <a16:colId xmlns="" xmlns:a16="http://schemas.microsoft.com/office/drawing/2014/main" val="2987880598"/>
                    </a:ext>
                  </a:extLst>
                </a:gridCol>
              </a:tblGrid>
              <a:tr h="370840">
                <a:tc>
                  <a:txBody>
                    <a:bodyPr/>
                    <a:lstStyle/>
                    <a:p>
                      <a:r>
                        <a:rPr lang="en-US" altLang="zh-CN" sz="2400" u="none" strike="noStrike" kern="1200" baseline="0" dirty="0" smtClean="0"/>
                        <a:t>Money Market instruments include</a:t>
                      </a:r>
                      <a:endParaRPr lang="zh-CN" altLang="en-US" dirty="0"/>
                    </a:p>
                  </a:txBody>
                  <a:tcPr/>
                </a:tc>
                <a:tc>
                  <a:txBody>
                    <a:bodyPr/>
                    <a:lstStyle/>
                    <a:p>
                      <a:r>
                        <a:rPr lang="en-US" altLang="zh-CN" sz="2400" u="none" strike="noStrike" kern="1200" baseline="0" dirty="0" smtClean="0"/>
                        <a:t>Capital Market Instruments include</a:t>
                      </a:r>
                      <a:endParaRPr lang="zh-CN" altLang="en-US" dirty="0"/>
                    </a:p>
                  </a:txBody>
                  <a:tcPr/>
                </a:tc>
                <a:extLst>
                  <a:ext uri="{0D108BD9-81ED-4DB2-BD59-A6C34878D82A}">
                    <a16:rowId xmlns="" xmlns:a16="http://schemas.microsoft.com/office/drawing/2014/main" val="1122507646"/>
                  </a:ext>
                </a:extLst>
              </a:tr>
              <a:tr h="370840">
                <a:tc>
                  <a:txBody>
                    <a:bodyPr/>
                    <a:lstStyle/>
                    <a:p>
                      <a:r>
                        <a:rPr lang="en-US" altLang="zh-CN" sz="2400" u="none" strike="noStrike" kern="1200" baseline="0" dirty="0" smtClean="0"/>
                        <a:t>Short-term financial instruments</a:t>
                      </a:r>
                      <a:endParaRPr lang="zh-CN" altLang="en-US" dirty="0"/>
                    </a:p>
                  </a:txBody>
                  <a:tcPr/>
                </a:tc>
                <a:tc>
                  <a:txBody>
                    <a:bodyPr/>
                    <a:lstStyle/>
                    <a:p>
                      <a:r>
                        <a:rPr lang="en-US" altLang="zh-CN" sz="2400" u="none" strike="noStrike" kern="1200" baseline="0" dirty="0" smtClean="0"/>
                        <a:t>Long-term securities</a:t>
                      </a:r>
                      <a:endParaRPr lang="zh-CN" altLang="en-US" dirty="0"/>
                    </a:p>
                  </a:txBody>
                  <a:tcPr/>
                </a:tc>
                <a:extLst>
                  <a:ext uri="{0D108BD9-81ED-4DB2-BD59-A6C34878D82A}">
                    <a16:rowId xmlns="" xmlns:a16="http://schemas.microsoft.com/office/drawing/2014/main" val="4100138998"/>
                  </a:ext>
                </a:extLst>
              </a:tr>
              <a:tr h="370840">
                <a:tc>
                  <a:txBody>
                    <a:bodyPr/>
                    <a:lstStyle/>
                    <a:p>
                      <a:r>
                        <a:rPr lang="en-US" altLang="zh-CN" sz="2400" u="none" strike="noStrike" kern="1200" baseline="0" dirty="0" smtClean="0"/>
                        <a:t>Treasury bill (government)</a:t>
                      </a:r>
                      <a:endParaRPr lang="zh-CN" altLang="en-US" dirty="0"/>
                    </a:p>
                  </a:txBody>
                  <a:tcPr/>
                </a:tc>
                <a:tc rowSpan="2">
                  <a:txBody>
                    <a:bodyPr/>
                    <a:lstStyle/>
                    <a:p>
                      <a:r>
                        <a:rPr lang="en-US" altLang="zh-CN" sz="2400" u="none" strike="noStrike" kern="1200" baseline="0" dirty="0" smtClean="0"/>
                        <a:t>US Treasury notes (1-10 yrs) and</a:t>
                      </a:r>
                    </a:p>
                    <a:p>
                      <a:r>
                        <a:rPr lang="en-US" altLang="zh-CN" sz="2400" u="none" strike="noStrike" kern="1200" baseline="0" dirty="0" smtClean="0"/>
                        <a:t>bonds (&gt; 10 yrs)</a:t>
                      </a:r>
                      <a:endParaRPr lang="zh-CN" altLang="en-US" dirty="0"/>
                    </a:p>
                  </a:txBody>
                  <a:tcPr/>
                </a:tc>
                <a:extLst>
                  <a:ext uri="{0D108BD9-81ED-4DB2-BD59-A6C34878D82A}">
                    <a16:rowId xmlns="" xmlns:a16="http://schemas.microsoft.com/office/drawing/2014/main" val="877379021"/>
                  </a:ext>
                </a:extLst>
              </a:tr>
              <a:tr h="370840">
                <a:tc>
                  <a:txBody>
                    <a:bodyPr/>
                    <a:lstStyle/>
                    <a:p>
                      <a:r>
                        <a:rPr lang="en-US" altLang="zh-CN" sz="2400" u="none" strike="noStrike" kern="1200" baseline="0" dirty="0" smtClean="0"/>
                        <a:t>Certificate of deposit (bank)</a:t>
                      </a:r>
                      <a:endParaRPr lang="zh-CN" altLang="en-US" dirty="0"/>
                    </a:p>
                  </a:txBody>
                  <a:tcPr/>
                </a:tc>
                <a:tc vMerge="1">
                  <a:txBody>
                    <a:bodyPr/>
                    <a:lstStyle/>
                    <a:p>
                      <a:endParaRPr lang="zh-CN" altLang="en-US" dirty="0"/>
                    </a:p>
                  </a:txBody>
                  <a:tcPr/>
                </a:tc>
                <a:extLst>
                  <a:ext uri="{0D108BD9-81ED-4DB2-BD59-A6C34878D82A}">
                    <a16:rowId xmlns="" xmlns:a16="http://schemas.microsoft.com/office/drawing/2014/main" val="4277617466"/>
                  </a:ext>
                </a:extLst>
              </a:tr>
              <a:tr h="370840">
                <a:tc>
                  <a:txBody>
                    <a:bodyPr/>
                    <a:lstStyle/>
                    <a:p>
                      <a:r>
                        <a:rPr lang="en-US" altLang="zh-CN" sz="2400" u="none" strike="noStrike" kern="1200" baseline="0" dirty="0" smtClean="0"/>
                        <a:t>Commercial paper (CP)</a:t>
                      </a:r>
                      <a:endParaRPr lang="zh-CN" altLang="en-US" dirty="0"/>
                    </a:p>
                  </a:txBody>
                  <a:tcPr/>
                </a:tc>
                <a:tc>
                  <a:txBody>
                    <a:bodyPr/>
                    <a:lstStyle/>
                    <a:p>
                      <a:r>
                        <a:rPr lang="en-US" altLang="zh-CN" sz="2400" u="none" strike="noStrike" kern="1200" baseline="0" dirty="0" smtClean="0"/>
                        <a:t>Domestic and Eurobonds</a:t>
                      </a:r>
                      <a:r>
                        <a:rPr lang="zh-CN" altLang="en-US" sz="2000" u="none" strike="noStrike" kern="1200" baseline="0" dirty="0" smtClean="0"/>
                        <a:t>（国际）</a:t>
                      </a:r>
                      <a:endParaRPr lang="zh-CN" altLang="en-US" sz="2000" dirty="0"/>
                    </a:p>
                  </a:txBody>
                  <a:tcPr/>
                </a:tc>
                <a:extLst>
                  <a:ext uri="{0D108BD9-81ED-4DB2-BD59-A6C34878D82A}">
                    <a16:rowId xmlns="" xmlns:a16="http://schemas.microsoft.com/office/drawing/2014/main" val="519333144"/>
                  </a:ext>
                </a:extLst>
              </a:tr>
              <a:tr h="370840">
                <a:tc>
                  <a:txBody>
                    <a:bodyPr/>
                    <a:lstStyle/>
                    <a:p>
                      <a:r>
                        <a:rPr lang="en-US" altLang="zh-CN" sz="2400" u="none" strike="noStrike" kern="1200" baseline="0" dirty="0" smtClean="0"/>
                        <a:t>Repurchase agreement (repo)</a:t>
                      </a:r>
                      <a:endParaRPr lang="zh-CN" altLang="en-US" dirty="0"/>
                    </a:p>
                  </a:txBody>
                  <a:tcPr/>
                </a:tc>
                <a:tc>
                  <a:txBody>
                    <a:bodyPr/>
                    <a:lstStyle/>
                    <a:p>
                      <a:r>
                        <a:rPr lang="en-US" altLang="zh-CN" sz="2400" u="none" strike="noStrike" kern="1200" baseline="0" dirty="0" smtClean="0"/>
                        <a:t>Euro bond (denominated in Euros)</a:t>
                      </a:r>
                      <a:endParaRPr lang="zh-CN" altLang="en-US" dirty="0"/>
                    </a:p>
                  </a:txBody>
                  <a:tcPr/>
                </a:tc>
                <a:extLst>
                  <a:ext uri="{0D108BD9-81ED-4DB2-BD59-A6C34878D82A}">
                    <a16:rowId xmlns="" xmlns:a16="http://schemas.microsoft.com/office/drawing/2014/main" val="1072186251"/>
                  </a:ext>
                </a:extLst>
              </a:tr>
            </a:tbl>
          </a:graphicData>
        </a:graphic>
      </p:graphicFrame>
      <p:sp>
        <p:nvSpPr>
          <p:cNvPr id="5" name="矩形 4"/>
          <p:cNvSpPr/>
          <p:nvPr/>
        </p:nvSpPr>
        <p:spPr>
          <a:xfrm>
            <a:off x="609600" y="4230419"/>
            <a:ext cx="9085243" cy="1107996"/>
          </a:xfrm>
          <a:prstGeom prst="rect">
            <a:avLst/>
          </a:prstGeom>
        </p:spPr>
        <p:txBody>
          <a:bodyPr wrap="square">
            <a:spAutoFit/>
          </a:bodyPr>
          <a:lstStyle/>
          <a:p>
            <a:r>
              <a:rPr lang="en-US" altLang="zh-CN" sz="2200" dirty="0"/>
              <a:t>Day count conventions are used for computing accrued interest. The interest earned</a:t>
            </a:r>
          </a:p>
          <a:p>
            <a:r>
              <a:rPr lang="en-US" altLang="zh-CN" sz="2200" dirty="0"/>
              <a:t>between two dates can be expressed as:</a:t>
            </a:r>
            <a:endParaRPr lang="zh-CN" altLang="en-US" sz="2200" dirty="0"/>
          </a:p>
        </p:txBody>
      </p:sp>
      <mc:AlternateContent xmlns:mc="http://schemas.openxmlformats.org/markup-compatibility/2006" xmlns:a14="http://schemas.microsoft.com/office/drawing/2010/main">
        <mc:Choice Requires="a14">
          <p:sp>
            <p:nvSpPr>
              <p:cNvPr id="6" name="文本框 5"/>
              <p:cNvSpPr txBox="1"/>
              <p:nvPr/>
            </p:nvSpPr>
            <p:spPr>
              <a:xfrm>
                <a:off x="1615327" y="5502823"/>
                <a:ext cx="9186426" cy="6390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latin typeface="Cambria Math"/>
                            </a:rPr>
                          </m:ctrlPr>
                        </m:fPr>
                        <m:num>
                          <m:r>
                            <a:rPr lang="en-US" altLang="zh-CN" sz="2000" b="0" i="1" smtClean="0">
                              <a:latin typeface="Cambria Math" panose="02040503050406030204" pitchFamily="18" charset="0"/>
                            </a:rPr>
                            <m:t>𝑁</m:t>
                          </m:r>
                          <m:r>
                            <a:rPr lang="en-US" altLang="zh-CN" sz="2000" i="1">
                              <a:latin typeface="Cambria Math" panose="02040503050406030204" pitchFamily="18" charset="0"/>
                            </a:rPr>
                            <m:t>𝑢</m:t>
                          </m:r>
                          <m:r>
                            <a:rPr lang="en-US" altLang="zh-CN" sz="2000" b="0" i="1" smtClean="0">
                              <a:latin typeface="Cambria Math" panose="02040503050406030204" pitchFamily="18" charset="0"/>
                            </a:rPr>
                            <m:t>𝑚𝑏𝑒𝑟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𝑜𝑓</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𝑑𝑎𝑦𝑠</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𝑏𝑒𝑡𝑤𝑒𝑒𝑛</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𝑑𝑎𝑡𝑒𝑠</m:t>
                          </m:r>
                        </m:num>
                        <m:den>
                          <m:r>
                            <a:rPr lang="en-US" altLang="zh-CN" sz="2000" b="0" i="1" smtClean="0">
                              <a:latin typeface="Cambria Math" panose="02040503050406030204" pitchFamily="18" charset="0"/>
                            </a:rPr>
                            <m:t>𝑁𝑢𝑚𝑏𝑒𝑟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𝑜𝑓</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𝑑𝑎𝑦𝑠</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𝑖𝑛</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𝑟𝑒𝑓𝑒𝑟𝑒𝑛𝑐𝑒</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𝑝𝑒𝑟𝑖𝑜𝑑</m:t>
                          </m:r>
                        </m:den>
                      </m:f>
                      <m:r>
                        <a:rPr lang="en-US" altLang="zh-CN" sz="2000" i="1" dirty="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𝐼𝑛𝑡𝑒𝑟𝑒𝑠𝑡</m:t>
                      </m:r>
                      <m:r>
                        <a:rPr lang="en-US" altLang="zh-CN" sz="2000" b="0" i="1" dirty="0" smtClean="0">
                          <a:latin typeface="Cambria Math" panose="02040503050406030204" pitchFamily="18" charset="0"/>
                          <a:ea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𝑒𝑎𝑟𝑛𝑒𝑑</m:t>
                      </m:r>
                      <m:r>
                        <a:rPr lang="en-US" altLang="zh-CN" sz="2000" b="0" i="1" dirty="0" smtClean="0">
                          <a:latin typeface="Cambria Math" panose="02040503050406030204" pitchFamily="18" charset="0"/>
                          <a:ea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𝑖𝑛</m:t>
                      </m:r>
                      <m:r>
                        <a:rPr lang="en-US" altLang="zh-CN" sz="2000" b="0" i="1" dirty="0" smtClean="0">
                          <a:latin typeface="Cambria Math" panose="02040503050406030204" pitchFamily="18" charset="0"/>
                          <a:ea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𝑡h𝑒</m:t>
                      </m:r>
                      <m:r>
                        <a:rPr lang="en-US" altLang="zh-CN" sz="2000" b="0" i="1" dirty="0" smtClean="0">
                          <a:latin typeface="Cambria Math" panose="02040503050406030204" pitchFamily="18" charset="0"/>
                          <a:ea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𝑟𝑒𝑓𝑒𝑟𝑒𝑛𝑐𝑒</m:t>
                      </m:r>
                      <m:r>
                        <a:rPr lang="en-US" altLang="zh-CN" sz="2000" b="0" i="1" dirty="0" smtClean="0">
                          <a:latin typeface="Cambria Math" panose="02040503050406030204" pitchFamily="18" charset="0"/>
                          <a:ea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𝑝𝑒𝑟𝑖𝑜𝑑</m:t>
                      </m:r>
                    </m:oMath>
                  </m:oMathPara>
                </a14:m>
                <a:endParaRPr lang="zh-CN" altLang="en-US" sz="2000" i="1" dirty="0"/>
              </a:p>
            </p:txBody>
          </p:sp>
        </mc:Choice>
        <mc:Fallback xmlns="">
          <p:sp>
            <p:nvSpPr>
              <p:cNvPr id="6" name="文本框 5"/>
              <p:cNvSpPr txBox="1">
                <a:spLocks noRot="1" noChangeAspect="1" noMove="1" noResize="1" noEditPoints="1" noAdjustHandles="1" noChangeArrowheads="1" noChangeShapeType="1" noTextEdit="1"/>
              </p:cNvSpPr>
              <p:nvPr/>
            </p:nvSpPr>
            <p:spPr>
              <a:xfrm>
                <a:off x="1615327" y="5502823"/>
                <a:ext cx="9186426" cy="63908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189091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Day Count Conventions</a:t>
            </a:r>
            <a:endParaRPr lang="zh-CN" altLang="en-US" dirty="0"/>
          </a:p>
        </p:txBody>
      </p:sp>
      <p:sp>
        <p:nvSpPr>
          <p:cNvPr id="3" name="文本占位符 2"/>
          <p:cNvSpPr>
            <a:spLocks noGrp="1"/>
          </p:cNvSpPr>
          <p:nvPr>
            <p:ph type="body" sz="quarter" idx="10"/>
          </p:nvPr>
        </p:nvSpPr>
        <p:spPr/>
        <p:txBody>
          <a:bodyPr>
            <a:normAutofit/>
          </a:bodyPr>
          <a:lstStyle/>
          <a:p>
            <a:pPr marL="457189" lvl="1" indent="-457189">
              <a:buFont typeface="Wingdings" panose="05000000000000000000" pitchFamily="2" charset="2"/>
              <a:buChar char="Ø"/>
            </a:pPr>
            <a:r>
              <a:rPr lang="en-US" altLang="zh-CN" b="1" dirty="0"/>
              <a:t>Accrued Interest and Day Count Conventions</a:t>
            </a:r>
          </a:p>
          <a:p>
            <a:pPr lvl="1"/>
            <a:r>
              <a:rPr lang="en-US" altLang="zh-CN" dirty="0">
                <a:solidFill>
                  <a:srgbClr val="FF0000"/>
                </a:solidFill>
              </a:rPr>
              <a:t>Treasury bonds: actual/ actual</a:t>
            </a:r>
          </a:p>
          <a:p>
            <a:pPr lvl="1"/>
            <a:r>
              <a:rPr lang="en-US" altLang="zh-CN" dirty="0">
                <a:solidFill>
                  <a:srgbClr val="FF0000"/>
                </a:solidFill>
              </a:rPr>
              <a:t>Corporate and municipal bonds: 30/360</a:t>
            </a:r>
          </a:p>
          <a:p>
            <a:pPr lvl="1"/>
            <a:r>
              <a:rPr lang="en-US" altLang="zh-CN" dirty="0">
                <a:solidFill>
                  <a:srgbClr val="FF0000"/>
                </a:solidFill>
              </a:rPr>
              <a:t>Money market instruments (Treasury bills): </a:t>
            </a:r>
            <a:r>
              <a:rPr lang="en-US" altLang="zh-CN" dirty="0" smtClean="0">
                <a:solidFill>
                  <a:srgbClr val="FF0000"/>
                </a:solidFill>
              </a:rPr>
              <a:t>actual/360</a:t>
            </a:r>
          </a:p>
          <a:p>
            <a:pPr lvl="1">
              <a:buFont typeface="Wingdings" panose="05000000000000000000" pitchFamily="2" charset="2"/>
              <a:buChar char="ü"/>
            </a:pPr>
            <a:r>
              <a:rPr lang="en-US" altLang="zh-CN" sz="2000" b="0" dirty="0"/>
              <a:t>For example, a bond pays a coupon of $4.00 every six months. If coupons are paid </a:t>
            </a:r>
            <a:r>
              <a:rPr lang="en-US" altLang="zh-CN" sz="2000" b="0" dirty="0" smtClean="0"/>
              <a:t>on March </a:t>
            </a:r>
            <a:r>
              <a:rPr lang="en-US" altLang="zh-CN" sz="2000" b="0" dirty="0"/>
              <a:t>1st and September 1st, and we wish to calculate the accrued interest earned </a:t>
            </a:r>
            <a:r>
              <a:rPr lang="en-US" altLang="zh-CN" sz="2000" b="0" dirty="0" smtClean="0"/>
              <a:t>between March </a:t>
            </a:r>
            <a:r>
              <a:rPr lang="en-US" altLang="zh-CN" sz="2000" b="0" dirty="0"/>
              <a:t>1 and July 3, then the following illustrates three different day count </a:t>
            </a:r>
            <a:r>
              <a:rPr lang="en-US" altLang="zh-CN" sz="2000" b="0" dirty="0" smtClean="0"/>
              <a:t>conventions applied </a:t>
            </a:r>
            <a:r>
              <a:rPr lang="en-US" altLang="zh-CN" sz="2000" b="0" dirty="0"/>
              <a:t>to the accrued interest (AI) on this bond:</a:t>
            </a:r>
            <a:endParaRPr lang="en-US" altLang="zh-CN" sz="2000" dirty="0"/>
          </a:p>
          <a:p>
            <a:pPr lvl="2"/>
            <a:r>
              <a:rPr lang="en-US" altLang="zh-CN" b="0" dirty="0" smtClean="0"/>
              <a:t>Actual/actual:</a:t>
            </a:r>
            <a:r>
              <a:rPr lang="en-US" altLang="zh-CN" b="0" dirty="0"/>
              <a:t>124 /184 * $4.00 = $</a:t>
            </a:r>
            <a:r>
              <a:rPr lang="en-US" altLang="zh-CN" b="0" dirty="0" smtClean="0"/>
              <a:t>2.696</a:t>
            </a:r>
          </a:p>
          <a:p>
            <a:pPr lvl="2"/>
            <a:r>
              <a:rPr lang="en-US" altLang="zh-CN" b="0" dirty="0" smtClean="0"/>
              <a:t>30/360:</a:t>
            </a:r>
            <a:r>
              <a:rPr lang="en-US" altLang="zh-CN" b="0" dirty="0"/>
              <a:t>122/180 * $4.00 = $</a:t>
            </a:r>
            <a:r>
              <a:rPr lang="en-US" altLang="zh-CN" b="0" dirty="0" smtClean="0"/>
              <a:t>2.711</a:t>
            </a:r>
          </a:p>
          <a:p>
            <a:pPr lvl="2"/>
            <a:r>
              <a:rPr lang="en-US" altLang="zh-CN" b="0" dirty="0" smtClean="0"/>
              <a:t>Actual/360:</a:t>
            </a:r>
            <a:r>
              <a:rPr lang="en-US" altLang="zh-CN" b="0" dirty="0"/>
              <a:t>124 /180 * $4.00 = $2.756</a:t>
            </a:r>
            <a:endParaRPr lang="zh-CN" altLang="en-US" dirty="0"/>
          </a:p>
        </p:txBody>
      </p:sp>
      <p:sp>
        <p:nvSpPr>
          <p:cNvPr id="4" name="文本框 3"/>
          <p:cNvSpPr txBox="1"/>
          <p:nvPr/>
        </p:nvSpPr>
        <p:spPr>
          <a:xfrm>
            <a:off x="1553378" y="4715219"/>
            <a:ext cx="5464367" cy="1575412"/>
          </a:xfrm>
          <a:prstGeom prst="rect">
            <a:avLst/>
          </a:prstGeom>
          <a:noFill/>
          <a:ln w="25400">
            <a:solidFill>
              <a:srgbClr val="FF0000"/>
            </a:solidFill>
          </a:ln>
        </p:spPr>
        <p:txBody>
          <a:bodyPr wrap="square" rtlCol="0">
            <a:spAutoFit/>
          </a:bodyPr>
          <a:lstStyle/>
          <a:p>
            <a:endParaRPr lang="zh-CN" altLang="en-US" dirty="0"/>
          </a:p>
        </p:txBody>
      </p:sp>
      <p:sp>
        <p:nvSpPr>
          <p:cNvPr id="5" name="right-arrow-in-a-circle_39570"/>
          <p:cNvSpPr>
            <a:spLocks noChangeAspect="1"/>
          </p:cNvSpPr>
          <p:nvPr/>
        </p:nvSpPr>
        <p:spPr bwMode="auto">
          <a:xfrm>
            <a:off x="7167869" y="5198542"/>
            <a:ext cx="609685" cy="608766"/>
          </a:xfrm>
          <a:custGeom>
            <a:avLst/>
            <a:gdLst>
              <a:gd name="T0" fmla="*/ 3752 w 7503"/>
              <a:gd name="T1" fmla="*/ 0 h 7503"/>
              <a:gd name="T2" fmla="*/ 0 w 7503"/>
              <a:gd name="T3" fmla="*/ 3752 h 7503"/>
              <a:gd name="T4" fmla="*/ 3752 w 7503"/>
              <a:gd name="T5" fmla="*/ 7503 h 7503"/>
              <a:gd name="T6" fmla="*/ 7503 w 7503"/>
              <a:gd name="T7" fmla="*/ 3752 h 7503"/>
              <a:gd name="T8" fmla="*/ 3752 w 7503"/>
              <a:gd name="T9" fmla="*/ 0 h 7503"/>
              <a:gd name="T10" fmla="*/ 6367 w 7503"/>
              <a:gd name="T11" fmla="*/ 4040 h 7503"/>
              <a:gd name="T12" fmla="*/ 4338 w 7503"/>
              <a:gd name="T13" fmla="*/ 6068 h 7503"/>
              <a:gd name="T14" fmla="*/ 4050 w 7503"/>
              <a:gd name="T15" fmla="*/ 5949 h 7503"/>
              <a:gd name="T16" fmla="*/ 4050 w 7503"/>
              <a:gd name="T17" fmla="*/ 5175 h 7503"/>
              <a:gd name="T18" fmla="*/ 1181 w 7503"/>
              <a:gd name="T19" fmla="*/ 5175 h 7503"/>
              <a:gd name="T20" fmla="*/ 1017 w 7503"/>
              <a:gd name="T21" fmla="*/ 5011 h 7503"/>
              <a:gd name="T22" fmla="*/ 1017 w 7503"/>
              <a:gd name="T23" fmla="*/ 2492 h 7503"/>
              <a:gd name="T24" fmla="*/ 1181 w 7503"/>
              <a:gd name="T25" fmla="*/ 2329 h 7503"/>
              <a:gd name="T26" fmla="*/ 4050 w 7503"/>
              <a:gd name="T27" fmla="*/ 2329 h 7503"/>
              <a:gd name="T28" fmla="*/ 4050 w 7503"/>
              <a:gd name="T29" fmla="*/ 1554 h 7503"/>
              <a:gd name="T30" fmla="*/ 4338 w 7503"/>
              <a:gd name="T31" fmla="*/ 1435 h 7503"/>
              <a:gd name="T32" fmla="*/ 6367 w 7503"/>
              <a:gd name="T33" fmla="*/ 3463 h 7503"/>
              <a:gd name="T34" fmla="*/ 6367 w 7503"/>
              <a:gd name="T35" fmla="*/ 4040 h 7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503" h="7503">
                <a:moveTo>
                  <a:pt x="3752" y="0"/>
                </a:moveTo>
                <a:cubicBezTo>
                  <a:pt x="1680" y="0"/>
                  <a:pt x="0" y="1680"/>
                  <a:pt x="0" y="3752"/>
                </a:cubicBezTo>
                <a:cubicBezTo>
                  <a:pt x="0" y="5824"/>
                  <a:pt x="1680" y="7503"/>
                  <a:pt x="3752" y="7503"/>
                </a:cubicBezTo>
                <a:cubicBezTo>
                  <a:pt x="5824" y="7503"/>
                  <a:pt x="7503" y="5824"/>
                  <a:pt x="7503" y="3752"/>
                </a:cubicBezTo>
                <a:cubicBezTo>
                  <a:pt x="7503" y="1680"/>
                  <a:pt x="5824" y="0"/>
                  <a:pt x="3752" y="0"/>
                </a:cubicBezTo>
                <a:close/>
                <a:moveTo>
                  <a:pt x="6367" y="4040"/>
                </a:moveTo>
                <a:lnTo>
                  <a:pt x="4338" y="6068"/>
                </a:lnTo>
                <a:cubicBezTo>
                  <a:pt x="4179" y="6228"/>
                  <a:pt x="4050" y="6174"/>
                  <a:pt x="4050" y="5949"/>
                </a:cubicBezTo>
                <a:lnTo>
                  <a:pt x="4050" y="5175"/>
                </a:lnTo>
                <a:lnTo>
                  <a:pt x="1181" y="5175"/>
                </a:lnTo>
                <a:cubicBezTo>
                  <a:pt x="1090" y="5175"/>
                  <a:pt x="1017" y="5102"/>
                  <a:pt x="1017" y="5011"/>
                </a:cubicBezTo>
                <a:lnTo>
                  <a:pt x="1017" y="2492"/>
                </a:lnTo>
                <a:cubicBezTo>
                  <a:pt x="1017" y="2402"/>
                  <a:pt x="1090" y="2329"/>
                  <a:pt x="1181" y="2329"/>
                </a:cubicBezTo>
                <a:lnTo>
                  <a:pt x="4050" y="2329"/>
                </a:lnTo>
                <a:lnTo>
                  <a:pt x="4050" y="1554"/>
                </a:lnTo>
                <a:cubicBezTo>
                  <a:pt x="4050" y="1329"/>
                  <a:pt x="4179" y="1275"/>
                  <a:pt x="4338" y="1435"/>
                </a:cubicBezTo>
                <a:lnTo>
                  <a:pt x="6367" y="3463"/>
                </a:lnTo>
                <a:cubicBezTo>
                  <a:pt x="6526" y="3622"/>
                  <a:pt x="6526" y="3881"/>
                  <a:pt x="6367" y="4040"/>
                </a:cubicBezTo>
                <a:close/>
              </a:path>
            </a:pathLst>
          </a:custGeom>
          <a:solidFill>
            <a:schemeClr val="accent1"/>
          </a:solidFill>
          <a:ln>
            <a:noFill/>
          </a:ln>
        </p:spPr>
        <p:txBody>
          <a:bodyPr/>
          <a:lstStyle/>
          <a:p>
            <a:endParaRPr lang="zh-CN" altLang="en-US"/>
          </a:p>
        </p:txBody>
      </p:sp>
      <p:sp>
        <p:nvSpPr>
          <p:cNvPr id="6" name="文本框 5"/>
          <p:cNvSpPr txBox="1"/>
          <p:nvPr/>
        </p:nvSpPr>
        <p:spPr>
          <a:xfrm>
            <a:off x="7942829" y="5318259"/>
            <a:ext cx="2930486" cy="369332"/>
          </a:xfrm>
          <a:prstGeom prst="rect">
            <a:avLst/>
          </a:prstGeom>
          <a:noFill/>
        </p:spPr>
        <p:txBody>
          <a:bodyPr wrap="square" rtlCol="0">
            <a:spAutoFit/>
          </a:bodyPr>
          <a:lstStyle/>
          <a:p>
            <a:r>
              <a:rPr lang="zh-CN" altLang="en-US" b="1" dirty="0" smtClean="0">
                <a:solidFill>
                  <a:srgbClr val="FF0000"/>
                </a:solidFill>
              </a:rPr>
              <a:t>单独考过，纯属考记忆！</a:t>
            </a:r>
            <a:endParaRPr lang="zh-CN" altLang="en-US" b="1" dirty="0">
              <a:solidFill>
                <a:srgbClr val="FF0000"/>
              </a:solidFill>
            </a:endParaRPr>
          </a:p>
        </p:txBody>
      </p:sp>
    </p:spTree>
    <p:extLst>
      <p:ext uri="{BB962C8B-B14F-4D97-AF65-F5344CB8AC3E}">
        <p14:creationId xmlns:p14="http://schemas.microsoft.com/office/powerpoint/2010/main" val="301178084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Price </a:t>
            </a:r>
            <a:r>
              <a:rPr lang="en-US" altLang="zh-CN" dirty="0" smtClean="0"/>
              <a:t>Quotations </a:t>
            </a:r>
            <a:r>
              <a:rPr lang="en-US" altLang="zh-CN" dirty="0"/>
              <a:t>of U.S T-Bills</a:t>
            </a:r>
          </a:p>
        </p:txBody>
      </p:sp>
      <p:sp>
        <p:nvSpPr>
          <p:cNvPr id="3" name="文本占位符 2"/>
          <p:cNvSpPr>
            <a:spLocks noGrp="1"/>
          </p:cNvSpPr>
          <p:nvPr>
            <p:ph type="body" sz="quarter" idx="10"/>
          </p:nvPr>
        </p:nvSpPr>
        <p:spPr/>
        <p:txBody>
          <a:bodyPr/>
          <a:lstStyle/>
          <a:p>
            <a:r>
              <a:rPr lang="en-US" altLang="zh-CN" dirty="0"/>
              <a:t>A US Treasury bill is a discount instrument: </a:t>
            </a:r>
            <a:endParaRPr lang="en-US" altLang="zh-CN" dirty="0" smtClean="0"/>
          </a:p>
          <a:p>
            <a:pPr lvl="1"/>
            <a:r>
              <a:rPr lang="en-US" altLang="zh-CN" dirty="0"/>
              <a:t>T</a:t>
            </a:r>
            <a:r>
              <a:rPr lang="en-US" altLang="zh-CN" b="0" dirty="0" smtClean="0"/>
              <a:t>he discount rate is expressed as a percentage of the face value. Consequently, the discount rate is </a:t>
            </a:r>
            <a:r>
              <a:rPr lang="en-US" altLang="zh-CN" b="0" u="sng" dirty="0" smtClean="0"/>
              <a:t>not a true yield</a:t>
            </a:r>
            <a:r>
              <a:rPr lang="en-US" altLang="zh-CN" b="0" dirty="0" smtClean="0"/>
              <a:t>.</a:t>
            </a:r>
          </a:p>
          <a:p>
            <a:pPr lvl="1"/>
            <a:r>
              <a:rPr lang="en-US" altLang="zh-CN" b="0" dirty="0"/>
              <a:t>A US Treasury bill is a discount instrument: the discount rate is expressed as </a:t>
            </a:r>
            <a:r>
              <a:rPr lang="en-US" altLang="zh-CN" b="0" dirty="0" smtClean="0"/>
              <a:t>a percentage </a:t>
            </a:r>
            <a:r>
              <a:rPr lang="en-US" altLang="zh-CN" b="0" dirty="0"/>
              <a:t>of the face value. Consequently, the discount rate is not a true yield</a:t>
            </a:r>
            <a:r>
              <a:rPr lang="en-US" altLang="zh-CN" b="0" dirty="0" smtClean="0"/>
              <a:t>.</a:t>
            </a:r>
          </a:p>
          <a:p>
            <a:pPr lvl="1"/>
            <a:endParaRPr lang="en-US" altLang="zh-CN" dirty="0"/>
          </a:p>
          <a:p>
            <a:pPr lvl="1"/>
            <a:endParaRPr lang="en-US" altLang="zh-CN" b="0" dirty="0" smtClean="0"/>
          </a:p>
          <a:p>
            <a:pPr lvl="1"/>
            <a:endParaRPr lang="en-US" altLang="zh-CN" b="0" dirty="0" smtClean="0"/>
          </a:p>
        </p:txBody>
      </p:sp>
      <mc:AlternateContent xmlns:mc="http://schemas.openxmlformats.org/markup-compatibility/2006" xmlns:a14="http://schemas.microsoft.com/office/drawing/2010/main">
        <mc:Choice Requires="a14">
          <p:sp>
            <p:nvSpPr>
              <p:cNvPr id="4" name="文本框 3"/>
              <p:cNvSpPr txBox="1"/>
              <p:nvPr/>
            </p:nvSpPr>
            <p:spPr>
              <a:xfrm>
                <a:off x="4103783" y="3643549"/>
                <a:ext cx="4092766" cy="636072"/>
              </a:xfrm>
              <a:prstGeom prst="rect">
                <a:avLst/>
              </a:prstGeom>
              <a:noFill/>
              <a:ln w="28575">
                <a:solidFill>
                  <a:srgbClr val="FF0000"/>
                </a:solidFill>
              </a:ln>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sz="2200" b="0" i="1" smtClean="0">
                          <a:latin typeface="Cambria Math" panose="02040503050406030204" pitchFamily="18" charset="0"/>
                        </a:rPr>
                        <m:t>𝑃</m:t>
                      </m:r>
                      <m:r>
                        <a:rPr lang="en-US" altLang="zh-CN" sz="2200" b="0" i="1" baseline="-25000" smtClean="0">
                          <a:latin typeface="Cambria Math" panose="02040503050406030204" pitchFamily="18" charset="0"/>
                        </a:rPr>
                        <m:t>𝑞𝑢𝑜𝑡𝑒𝑑</m:t>
                      </m:r>
                      <m:r>
                        <a:rPr lang="en-US" altLang="zh-CN" sz="2200" b="0" i="1" smtClean="0">
                          <a:latin typeface="Cambria Math" panose="02040503050406030204" pitchFamily="18" charset="0"/>
                        </a:rPr>
                        <m:t>=</m:t>
                      </m:r>
                      <m:f>
                        <m:fPr>
                          <m:ctrlPr>
                            <a:rPr lang="en-US" altLang="zh-CN" sz="2200" b="0" i="1" smtClean="0">
                              <a:latin typeface="Cambria Math"/>
                            </a:rPr>
                          </m:ctrlPr>
                        </m:fPr>
                        <m:num>
                          <m:r>
                            <a:rPr lang="en-US" altLang="zh-CN" sz="2200" b="0" i="1" smtClean="0">
                              <a:latin typeface="Cambria Math" panose="02040503050406030204" pitchFamily="18" charset="0"/>
                            </a:rPr>
                            <m:t>360</m:t>
                          </m:r>
                        </m:num>
                        <m:den>
                          <m:r>
                            <a:rPr lang="en-US" altLang="zh-CN" sz="2200" b="0" i="1" smtClean="0">
                              <a:latin typeface="Cambria Math" panose="02040503050406030204" pitchFamily="18" charset="0"/>
                            </a:rPr>
                            <m:t>𝑛</m:t>
                          </m:r>
                        </m:den>
                      </m:f>
                      <m:r>
                        <a:rPr lang="en-US" altLang="zh-CN" sz="2200" b="0" i="1" smtClean="0">
                          <a:latin typeface="Cambria Math" panose="02040503050406030204" pitchFamily="18" charset="0"/>
                        </a:rPr>
                        <m:t>(1−</m:t>
                      </m:r>
                      <m:r>
                        <a:rPr lang="en-US" altLang="zh-CN" sz="2200" b="0" i="1" smtClean="0">
                          <a:latin typeface="Cambria Math" panose="02040503050406030204" pitchFamily="18" charset="0"/>
                        </a:rPr>
                        <m:t>𝑌𝑐𝑎𝑠h</m:t>
                      </m:r>
                      <m:r>
                        <a:rPr lang="en-US" altLang="zh-CN" sz="2200" b="0" i="1" baseline="-25000" smtClean="0">
                          <a:latin typeface="Cambria Math" panose="02040503050406030204" pitchFamily="18" charset="0"/>
                        </a:rPr>
                        <m:t> </m:t>
                      </m:r>
                      <m:r>
                        <a:rPr lang="en-US" altLang="zh-CN" sz="2200" b="0" i="1" baseline="-25000" smtClean="0">
                          <a:latin typeface="Cambria Math" panose="02040503050406030204" pitchFamily="18" charset="0"/>
                        </a:rPr>
                        <m:t>𝑝𝑟𝑖𝑐𝑒</m:t>
                      </m:r>
                      <m:r>
                        <a:rPr lang="en-US" altLang="zh-CN" sz="2200" b="0" i="1" baseline="-25000" smtClean="0">
                          <a:latin typeface="Cambria Math" panose="02040503050406030204" pitchFamily="18" charset="0"/>
                        </a:rPr>
                        <m:t>)</m:t>
                      </m:r>
                    </m:oMath>
                  </m:oMathPara>
                </a14:m>
                <a:endParaRPr lang="zh-CN" altLang="en-US" sz="2200" baseline="-25000" dirty="0"/>
              </a:p>
            </p:txBody>
          </p:sp>
        </mc:Choice>
        <mc:Fallback xmlns="">
          <p:sp>
            <p:nvSpPr>
              <p:cNvPr id="4" name="文本框 3"/>
              <p:cNvSpPr txBox="1">
                <a:spLocks noRot="1" noChangeAspect="1" noMove="1" noResize="1" noEditPoints="1" noAdjustHandles="1" noChangeArrowheads="1" noChangeShapeType="1" noTextEdit="1"/>
              </p:cNvSpPr>
              <p:nvPr/>
            </p:nvSpPr>
            <p:spPr>
              <a:xfrm>
                <a:off x="4103783" y="3643549"/>
                <a:ext cx="4092766" cy="636072"/>
              </a:xfrm>
              <a:prstGeom prst="rect">
                <a:avLst/>
              </a:prstGeom>
              <a:blipFill>
                <a:blip r:embed="rId2"/>
                <a:stretch>
                  <a:fillRect/>
                </a:stretch>
              </a:blipFill>
              <a:ln w="28575">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06108923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Clean Price and Dirty Price</a:t>
            </a:r>
            <a:endParaRPr lang="en-US" altLang="zh-CN" dirty="0"/>
          </a:p>
        </p:txBody>
      </p:sp>
      <p:sp>
        <p:nvSpPr>
          <p:cNvPr id="3" name="文本占位符 2"/>
          <p:cNvSpPr>
            <a:spLocks noGrp="1"/>
          </p:cNvSpPr>
          <p:nvPr>
            <p:ph type="body" sz="quarter" idx="10"/>
          </p:nvPr>
        </p:nvSpPr>
        <p:spPr/>
        <p:txBody>
          <a:bodyPr/>
          <a:lstStyle/>
          <a:p>
            <a:r>
              <a:rPr lang="en-US" altLang="zh-CN" dirty="0"/>
              <a:t>T</a:t>
            </a:r>
            <a:r>
              <a:rPr lang="en-US" altLang="zh-CN" dirty="0" smtClean="0"/>
              <a:t>he </a:t>
            </a:r>
            <a:r>
              <a:rPr lang="en-US" altLang="zh-CN" dirty="0"/>
              <a:t>clean and dirty price for a US </a:t>
            </a:r>
            <a:r>
              <a:rPr lang="en-US" altLang="zh-CN" dirty="0" smtClean="0"/>
              <a:t>Treasury bond:</a:t>
            </a:r>
          </a:p>
          <a:p>
            <a:r>
              <a:rPr lang="en-US" altLang="zh-CN" sz="2200" dirty="0"/>
              <a:t>Clean Price</a:t>
            </a:r>
          </a:p>
          <a:p>
            <a:pPr lvl="1"/>
            <a:r>
              <a:rPr lang="en-US" altLang="zh-CN" b="0" dirty="0"/>
              <a:t>The clean price (aka, </a:t>
            </a:r>
            <a:r>
              <a:rPr lang="en-US" altLang="zh-CN" b="0" i="1" dirty="0"/>
              <a:t>quoted price </a:t>
            </a:r>
            <a:r>
              <a:rPr lang="en-US" altLang="zh-CN" b="0" dirty="0"/>
              <a:t>or </a:t>
            </a:r>
            <a:r>
              <a:rPr lang="en-US" altLang="zh-CN" b="0" i="1" dirty="0"/>
              <a:t>flat price </a:t>
            </a:r>
            <a:r>
              <a:rPr lang="en-US" altLang="zh-CN" b="0" dirty="0"/>
              <a:t>or simply “price”) does not reflect the </a:t>
            </a:r>
            <a:r>
              <a:rPr lang="en-US" altLang="zh-CN" b="0" dirty="0" smtClean="0"/>
              <a:t>cash price </a:t>
            </a:r>
            <a:r>
              <a:rPr lang="en-US" altLang="zh-CN" b="0" dirty="0"/>
              <a:t>if interest has accrued</a:t>
            </a:r>
            <a:r>
              <a:rPr lang="en-US" altLang="zh-CN" b="0" dirty="0" smtClean="0"/>
              <a:t>.</a:t>
            </a:r>
          </a:p>
          <a:p>
            <a:r>
              <a:rPr lang="en-US" altLang="zh-CN" sz="2200" dirty="0"/>
              <a:t>Dirty Price</a:t>
            </a:r>
          </a:p>
          <a:p>
            <a:pPr lvl="1"/>
            <a:r>
              <a:rPr lang="en-US" altLang="zh-CN" b="0" dirty="0"/>
              <a:t>The dirty price (aka, full or invoice or cash price) adds accrued interest to the clean price</a:t>
            </a:r>
            <a:r>
              <a:rPr lang="en-US" altLang="zh-CN" b="0" dirty="0" smtClean="0"/>
              <a:t>.</a:t>
            </a:r>
          </a:p>
          <a:p>
            <a:endParaRPr lang="zh-CN" altLang="en-US" dirty="0"/>
          </a:p>
        </p:txBody>
      </p:sp>
      <p:sp>
        <p:nvSpPr>
          <p:cNvPr id="4" name="文本框 3"/>
          <p:cNvSpPr txBox="1">
            <a:spLocks noChangeArrowheads="1"/>
          </p:cNvSpPr>
          <p:nvPr/>
        </p:nvSpPr>
        <p:spPr bwMode="auto">
          <a:xfrm>
            <a:off x="3158530" y="4456954"/>
            <a:ext cx="5874938" cy="4308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2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dirty price = clean price + accrued interest</a:t>
            </a:r>
          </a:p>
        </p:txBody>
      </p:sp>
    </p:spTree>
    <p:extLst>
      <p:ext uri="{BB962C8B-B14F-4D97-AF65-F5344CB8AC3E}">
        <p14:creationId xmlns:p14="http://schemas.microsoft.com/office/powerpoint/2010/main" val="152857899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Clean Price and Dirty Price</a:t>
            </a:r>
            <a:endParaRPr lang="zh-CN" altLang="en-US"/>
          </a:p>
        </p:txBody>
      </p:sp>
      <p:sp>
        <p:nvSpPr>
          <p:cNvPr id="3" name="文本占位符 2"/>
          <p:cNvSpPr>
            <a:spLocks noGrp="1"/>
          </p:cNvSpPr>
          <p:nvPr>
            <p:ph type="body" sz="quarter" idx="10"/>
          </p:nvPr>
        </p:nvSpPr>
        <p:spPr>
          <a:xfrm>
            <a:off x="404615" y="824485"/>
            <a:ext cx="11404800" cy="5660163"/>
          </a:xfrm>
        </p:spPr>
        <p:txBody>
          <a:bodyPr/>
          <a:lstStyle/>
          <a:p>
            <a:r>
              <a:rPr lang="en-US" altLang="zh-CN" sz="2200" b="0" dirty="0">
                <a:solidFill>
                  <a:schemeClr val="tx1"/>
                </a:solidFill>
              </a:rPr>
              <a:t>When the accrued interest of a bond is zero (i.e., when the settlement date is </a:t>
            </a:r>
            <a:r>
              <a:rPr lang="en-US" altLang="zh-CN" sz="2200" b="0" dirty="0" smtClean="0">
                <a:solidFill>
                  <a:schemeClr val="tx1"/>
                </a:solidFill>
              </a:rPr>
              <a:t>a coupon </a:t>
            </a:r>
            <a:r>
              <a:rPr lang="en-US" altLang="zh-CN" sz="2200" b="0" dirty="0">
                <a:solidFill>
                  <a:schemeClr val="tx1"/>
                </a:solidFill>
              </a:rPr>
              <a:t>payment date) the flat and full prices of the bond are equal</a:t>
            </a:r>
            <a:r>
              <a:rPr lang="en-US" altLang="zh-CN" sz="2200" b="0" dirty="0" smtClean="0">
                <a:solidFill>
                  <a:schemeClr val="tx1"/>
                </a:solidFill>
              </a:rPr>
              <a:t>.</a:t>
            </a:r>
          </a:p>
          <a:p>
            <a:pPr lvl="1"/>
            <a:r>
              <a:rPr lang="en-US" altLang="zh-CN" b="0" dirty="0">
                <a:solidFill>
                  <a:schemeClr val="tx1"/>
                </a:solidFill>
              </a:rPr>
              <a:t>When accrued interest is not zero, the amount paid/received for a bond (i.e., its </a:t>
            </a:r>
            <a:r>
              <a:rPr lang="en-US" altLang="zh-CN" b="0" dirty="0" smtClean="0">
                <a:solidFill>
                  <a:schemeClr val="tx1"/>
                </a:solidFill>
              </a:rPr>
              <a:t>full price</a:t>
            </a:r>
            <a:r>
              <a:rPr lang="en-US" altLang="zh-CN" b="0" dirty="0">
                <a:solidFill>
                  <a:schemeClr val="tx1"/>
                </a:solidFill>
              </a:rPr>
              <a:t>) should equal the present value of its cash flows</a:t>
            </a:r>
            <a:r>
              <a:rPr lang="en-US" altLang="zh-CN" b="0" dirty="0" smtClean="0">
                <a:solidFill>
                  <a:schemeClr val="tx1"/>
                </a:solidFill>
              </a:rPr>
              <a:t>.</a:t>
            </a:r>
          </a:p>
          <a:p>
            <a:pPr lvl="1"/>
            <a:r>
              <a:rPr lang="en-US" altLang="zh-CN" b="0" dirty="0">
                <a:solidFill>
                  <a:schemeClr val="tx1"/>
                </a:solidFill>
              </a:rPr>
              <a:t>If P is a bond’s flat price, and AI is the accrued interest, then the full price is the </a:t>
            </a:r>
            <a:r>
              <a:rPr lang="en-US" altLang="zh-CN" b="0" dirty="0" smtClean="0">
                <a:solidFill>
                  <a:schemeClr val="tx1"/>
                </a:solidFill>
              </a:rPr>
              <a:t>present value </a:t>
            </a:r>
            <a:r>
              <a:rPr lang="en-US" altLang="zh-CN" b="0" dirty="0">
                <a:solidFill>
                  <a:schemeClr val="tx1"/>
                </a:solidFill>
              </a:rPr>
              <a:t>(PV) which is given by</a:t>
            </a:r>
            <a:r>
              <a:rPr lang="en-US" altLang="zh-CN" b="0" dirty="0" smtClean="0">
                <a:solidFill>
                  <a:schemeClr val="tx1"/>
                </a:solidFill>
              </a:rPr>
              <a:t>:</a:t>
            </a:r>
          </a:p>
          <a:p>
            <a:endParaRPr lang="en-US" altLang="zh-CN" b="0" dirty="0"/>
          </a:p>
          <a:p>
            <a:pPr lvl="1"/>
            <a:r>
              <a:rPr lang="en-US" altLang="zh-CN" b="0" dirty="0"/>
              <a:t>AI is the accrued interest (we saw it earlier under day count conventions) and is given as:</a:t>
            </a:r>
            <a:endParaRPr lang="en-US" altLang="zh-CN" b="0" dirty="0" smtClean="0"/>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4403514" y="4131324"/>
                <a:ext cx="3152081" cy="338554"/>
              </a:xfrm>
              <a:prstGeom prst="rect">
                <a:avLst/>
              </a:prstGeom>
              <a:noFill/>
              <a:ln w="25400">
                <a:solidFill>
                  <a:schemeClr val="bg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𝑃𝑉</m:t>
                      </m:r>
                      <m:r>
                        <a:rPr lang="en-US" altLang="zh-CN" sz="2200" b="0" i="1" baseline="-25000" smtClean="0">
                          <a:latin typeface="Cambria Math" panose="02040503050406030204" pitchFamily="18" charset="0"/>
                        </a:rPr>
                        <m:t>𝑓𝑢𝑡𝑢𝑟𝑒</m:t>
                      </m:r>
                      <m:r>
                        <a:rPr lang="en-US" altLang="zh-CN" sz="2200" b="0" i="1" baseline="-25000" smtClean="0">
                          <a:latin typeface="Cambria Math" panose="02040503050406030204" pitchFamily="18" charset="0"/>
                        </a:rPr>
                        <m:t> </m:t>
                      </m:r>
                      <m:r>
                        <a:rPr lang="en-US" altLang="zh-CN" sz="2200" b="0" i="1" baseline="-25000" smtClean="0">
                          <a:latin typeface="Cambria Math" panose="02040503050406030204" pitchFamily="18" charset="0"/>
                        </a:rPr>
                        <m:t>𝑐𝑎𝑠h</m:t>
                      </m:r>
                      <m:r>
                        <a:rPr lang="en-US" altLang="zh-CN" sz="2200" b="0" i="1" baseline="-25000" smtClean="0">
                          <a:latin typeface="Cambria Math" panose="02040503050406030204" pitchFamily="18" charset="0"/>
                        </a:rPr>
                        <m:t> </m:t>
                      </m:r>
                      <m:r>
                        <a:rPr lang="en-US" altLang="zh-CN" sz="2200" b="0" i="1" baseline="-25000" smtClean="0">
                          <a:latin typeface="Cambria Math" panose="02040503050406030204" pitchFamily="18" charset="0"/>
                        </a:rPr>
                        <m:t>𝑓𝑙𝑜𝑤𝑠</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𝑃</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𝐴𝐼</m:t>
                      </m:r>
                    </m:oMath>
                  </m:oMathPara>
                </a14:m>
                <a:endParaRPr lang="zh-CN" altLang="en-US" sz="2200" dirty="0"/>
              </a:p>
            </p:txBody>
          </p:sp>
        </mc:Choice>
        <mc:Fallback xmlns="">
          <p:sp>
            <p:nvSpPr>
              <p:cNvPr id="4" name="文本框 3"/>
              <p:cNvSpPr txBox="1">
                <a:spLocks noRot="1" noChangeAspect="1" noMove="1" noResize="1" noEditPoints="1" noAdjustHandles="1" noChangeArrowheads="1" noChangeShapeType="1" noTextEdit="1"/>
              </p:cNvSpPr>
              <p:nvPr/>
            </p:nvSpPr>
            <p:spPr>
              <a:xfrm>
                <a:off x="4403514" y="4131324"/>
                <a:ext cx="3152081" cy="338554"/>
              </a:xfrm>
              <a:prstGeom prst="rect">
                <a:avLst/>
              </a:prstGeom>
              <a:blipFill>
                <a:blip r:embed="rId2"/>
                <a:stretch>
                  <a:fillRect l="-960" r="-576" b="-33898"/>
                </a:stretch>
              </a:blipFill>
              <a:ln w="25400">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2929424" y="5184176"/>
                <a:ext cx="6100260" cy="575157"/>
              </a:xfrm>
              <a:prstGeom prst="rect">
                <a:avLst/>
              </a:prstGeom>
              <a:noFill/>
              <a:ln w="25400">
                <a:solidFill>
                  <a:srgbClr val="FF0000"/>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𝐴𝐼</m:t>
                      </m:r>
                      <m:r>
                        <a:rPr lang="en-US" altLang="zh-CN" b="0" i="1" smtClean="0">
                          <a:latin typeface="Cambria Math" panose="02040503050406030204" pitchFamily="18" charset="0"/>
                        </a:rPr>
                        <m:t>=</m:t>
                      </m:r>
                      <m:r>
                        <a:rPr lang="en-US" altLang="zh-CN" b="0" i="1" smtClean="0">
                          <a:latin typeface="Cambria Math" panose="02040503050406030204" pitchFamily="18" charset="0"/>
                        </a:rPr>
                        <m:t>𝑐𝑜𝑢𝑝𝑜𝑛</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𝑛𝑜</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𝑜𝑓</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𝑑𝑎𝑦𝑠</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𝑓𝑟𝑜𝑚</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𝑙𝑎𝑠𝑡</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𝑐𝑜𝑢𝑝𝑜𝑛</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𝑡𝑜</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𝑠𝑒𝑡𝑡𝑙𝑒𝑚𝑒𝑛𝑡</m:t>
                          </m:r>
                        </m:num>
                        <m:den>
                          <m:r>
                            <a:rPr lang="en-US" altLang="zh-CN" b="0" i="1" smtClean="0">
                              <a:latin typeface="Cambria Math" panose="02040503050406030204" pitchFamily="18" charset="0"/>
                              <a:ea typeface="Cambria Math" panose="02040503050406030204" pitchFamily="18" charset="0"/>
                            </a:rPr>
                            <m:t>𝑛𝑜</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𝑜𝑓</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𝑑𝑎𝑦𝑠</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𝑏𝑒𝑡𝑤𝑒𝑒𝑛</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𝑐𝑜𝑢𝑝𝑜𝑛𝑠</m:t>
                          </m:r>
                        </m:den>
                      </m:f>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929424" y="5184176"/>
                <a:ext cx="6100260" cy="575157"/>
              </a:xfrm>
              <a:prstGeom prst="rect">
                <a:avLst/>
              </a:prstGeom>
              <a:blipFill>
                <a:blip r:embed="rId3"/>
                <a:stretch>
                  <a:fillRect/>
                </a:stretch>
              </a:blipFill>
              <a:ln w="25400">
                <a:solidFill>
                  <a:srgbClr val="FF0000"/>
                </a:solidFill>
              </a:ln>
            </p:spPr>
            <p:txBody>
              <a:bodyPr/>
              <a:lstStyle/>
              <a:p>
                <a:r>
                  <a:rPr lang="zh-CN" altLang="en-US">
                    <a:noFill/>
                  </a:rPr>
                  <a:t> </a:t>
                </a:r>
              </a:p>
            </p:txBody>
          </p:sp>
        </mc:Fallback>
      </mc:AlternateContent>
      <p:sp>
        <p:nvSpPr>
          <p:cNvPr id="6" name="文本框 5"/>
          <p:cNvSpPr txBox="1"/>
          <p:nvPr/>
        </p:nvSpPr>
        <p:spPr>
          <a:xfrm>
            <a:off x="4403514" y="4138204"/>
            <a:ext cx="3152081" cy="440676"/>
          </a:xfrm>
          <a:prstGeom prst="rect">
            <a:avLst/>
          </a:prstGeom>
          <a:noFill/>
          <a:ln w="2540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157890675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Conversion Factor</a:t>
            </a:r>
            <a:endParaRPr lang="en-US" altLang="zh-CN"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a:t>US T-bond futures conversion </a:t>
                </a:r>
                <a:r>
                  <a:rPr lang="en-US" altLang="zh-CN" dirty="0" smtClean="0"/>
                  <a:t>factor</a:t>
                </a:r>
              </a:p>
              <a:p>
                <a:pPr lvl="1"/>
                <a:r>
                  <a:rPr lang="en-US" altLang="zh-CN" b="0" dirty="0"/>
                  <a:t>The Treasury bond futures contract allows the party with the short position to deliver </a:t>
                </a:r>
                <a:r>
                  <a:rPr lang="en-US" altLang="zh-CN" b="0" dirty="0" smtClean="0"/>
                  <a:t>any bond </a:t>
                </a:r>
                <a:r>
                  <a:rPr lang="en-US" altLang="zh-CN" b="0" dirty="0"/>
                  <a:t>with a maturity of more than 15 years and that is not callable within 15 years. The </a:t>
                </a:r>
                <a:r>
                  <a:rPr lang="en-US" altLang="zh-CN" b="0" dirty="0" smtClean="0"/>
                  <a:t>short here </a:t>
                </a:r>
                <a:r>
                  <a:rPr lang="en-US" altLang="zh-CN" b="0" dirty="0"/>
                  <a:t>has flexibility in delivery! When the chosen bond is delivered, the </a:t>
                </a:r>
                <a:r>
                  <a:rPr lang="en-US" altLang="zh-CN" b="0" dirty="0" smtClean="0"/>
                  <a:t>conversion factor(CF</a:t>
                </a:r>
                <a:r>
                  <a:rPr lang="en-US" altLang="zh-CN" b="0" dirty="0"/>
                  <a:t>) defines the price received by the party with the short position</a:t>
                </a:r>
                <a:r>
                  <a:rPr lang="en-US" altLang="zh-CN" b="0" dirty="0" smtClean="0"/>
                  <a:t>.</a:t>
                </a:r>
              </a:p>
              <a:p>
                <a:pPr lvl="1"/>
                <a:r>
                  <a:rPr lang="en-US" altLang="zh-CN" dirty="0"/>
                  <a:t>Cash Received by short = Settlement Price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 </a:t>
                </a:r>
                <a:r>
                  <a:rPr lang="en-US" altLang="zh-CN" dirty="0"/>
                  <a:t>Conversion factor + Accrued interest</a:t>
                </a:r>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r="-1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288974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Cost to Delivering</a:t>
            </a:r>
            <a:endParaRPr lang="en-US" altLang="zh-CN" dirty="0"/>
          </a:p>
        </p:txBody>
      </p:sp>
      <p:sp>
        <p:nvSpPr>
          <p:cNvPr id="3" name="文本占位符 2"/>
          <p:cNvSpPr>
            <a:spLocks noGrp="1"/>
          </p:cNvSpPr>
          <p:nvPr>
            <p:ph type="body" sz="quarter" idx="10"/>
          </p:nvPr>
        </p:nvSpPr>
        <p:spPr/>
        <p:txBody>
          <a:bodyPr>
            <a:normAutofit/>
          </a:bodyPr>
          <a:lstStyle/>
          <a:p>
            <a:r>
              <a:rPr lang="en-US" altLang="zh-CN" dirty="0" smtClean="0"/>
              <a:t>Cost to delivering a bond into a T-bond futures contract</a:t>
            </a:r>
          </a:p>
          <a:p>
            <a:pPr lvl="1"/>
            <a:r>
              <a:rPr lang="en-US" altLang="zh-CN" b="0" dirty="0" smtClean="0"/>
              <a:t>During </a:t>
            </a:r>
            <a:r>
              <a:rPr lang="en-US" altLang="zh-CN" b="0" dirty="0"/>
              <a:t>the delivery month, many bonds (with varying coupon and maturity) can be </a:t>
            </a:r>
            <a:r>
              <a:rPr lang="en-US" altLang="zh-CN" b="0" dirty="0" smtClean="0"/>
              <a:t>delivered in </a:t>
            </a:r>
            <a:r>
              <a:rPr lang="en-US" altLang="zh-CN" b="0" dirty="0"/>
              <a:t>the Treasury bond futures contract. The party with the short position can choose which </a:t>
            </a:r>
            <a:r>
              <a:rPr lang="en-US" altLang="zh-CN" b="0" dirty="0" smtClean="0"/>
              <a:t>of the </a:t>
            </a:r>
            <a:r>
              <a:rPr lang="en-US" altLang="zh-CN" b="0" dirty="0"/>
              <a:t>available bonds is </a:t>
            </a:r>
            <a:r>
              <a:rPr lang="en-US" altLang="zh-CN" b="0" dirty="0" smtClean="0"/>
              <a:t>“cheapest” </a:t>
            </a:r>
            <a:r>
              <a:rPr lang="en-US" altLang="zh-CN" b="0" dirty="0"/>
              <a:t>to deliver</a:t>
            </a:r>
            <a:r>
              <a:rPr lang="en-US" altLang="zh-CN" b="0" dirty="0" smtClean="0"/>
              <a:t>.</a:t>
            </a:r>
          </a:p>
          <a:p>
            <a:pPr lvl="1"/>
            <a:r>
              <a:rPr lang="en-US" altLang="zh-CN" b="0" dirty="0"/>
              <a:t>The cost to deliver by the short position is the dirty price, which is the quoted </a:t>
            </a:r>
            <a:r>
              <a:rPr lang="en-US" altLang="zh-CN" b="0" dirty="0" smtClean="0"/>
              <a:t>bond price </a:t>
            </a:r>
            <a:r>
              <a:rPr lang="en-US" altLang="zh-CN" b="0" dirty="0"/>
              <a:t>plus accrued interest (AI). </a:t>
            </a:r>
            <a:r>
              <a:rPr lang="en-US" altLang="zh-CN" b="0" u="sng" dirty="0"/>
              <a:t>The short position will receive the settlement price </a:t>
            </a:r>
            <a:r>
              <a:rPr lang="en-US" altLang="zh-CN" b="0" u="sng" dirty="0" smtClean="0"/>
              <a:t>times conversion </a:t>
            </a:r>
            <a:r>
              <a:rPr lang="en-US" altLang="zh-CN" b="0" u="sng" dirty="0"/>
              <a:t>factor plus accrued interest (AI) from the long</a:t>
            </a:r>
            <a:r>
              <a:rPr lang="en-US" altLang="zh-CN" b="0" dirty="0" smtClean="0"/>
              <a:t>.</a:t>
            </a:r>
          </a:p>
          <a:p>
            <a:pPr lvl="1"/>
            <a:r>
              <a:rPr lang="en-US" altLang="zh-CN" b="0" dirty="0"/>
              <a:t>The cheapest to deliver (CTD) bond is the one which minimizes the difference between </a:t>
            </a:r>
            <a:r>
              <a:rPr lang="en-US" altLang="zh-CN" b="0" dirty="0" smtClean="0"/>
              <a:t>the cost </a:t>
            </a:r>
            <a:r>
              <a:rPr lang="en-US" altLang="zh-CN" b="0" dirty="0"/>
              <a:t>paid and the cash received by the short. </a:t>
            </a:r>
            <a:endParaRPr lang="en-US" altLang="zh-CN" dirty="0"/>
          </a:p>
          <a:p>
            <a:pPr lvl="1"/>
            <a:endParaRPr lang="zh-CN" altLang="en-US" dirty="0"/>
          </a:p>
        </p:txBody>
      </p:sp>
      <p:sp>
        <p:nvSpPr>
          <p:cNvPr id="4" name="矩形 3"/>
          <p:cNvSpPr>
            <a:spLocks noChangeArrowheads="1"/>
          </p:cNvSpPr>
          <p:nvPr/>
        </p:nvSpPr>
        <p:spPr bwMode="auto">
          <a:xfrm>
            <a:off x="3440111" y="5523734"/>
            <a:ext cx="5311775" cy="4308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2" algn="ctr">
              <a:spcBef>
                <a:spcPct val="0"/>
              </a:spcBef>
              <a:buFontTx/>
              <a:buNone/>
            </a:pPr>
            <a:r>
              <a:rPr lang="en-US" altLang="zh-CN" sz="2200" b="0" dirty="0">
                <a:latin typeface="Segoe UI" panose="020B0502040204020203" pitchFamily="34" charset="0"/>
                <a:cs typeface="Segoe UI" panose="020B0502040204020203" pitchFamily="34" charset="0"/>
              </a:rPr>
              <a:t>Cost = quoted bond price – (QFP×CF)</a:t>
            </a:r>
            <a:endParaRPr lang="zh-CN" altLang="en-US" sz="2200" b="0" dirty="0">
              <a:latin typeface="Segoe UI" panose="020B0502040204020203" pitchFamily="34" charset="0"/>
              <a:cs typeface="Segoe UI" panose="020B0502040204020203" pitchFamily="34" charset="0"/>
            </a:endParaRPr>
          </a:p>
        </p:txBody>
      </p:sp>
      <p:sp>
        <p:nvSpPr>
          <p:cNvPr id="5" name="black-left-arrow_45400"/>
          <p:cNvSpPr>
            <a:spLocks noChangeAspect="1"/>
          </p:cNvSpPr>
          <p:nvPr/>
        </p:nvSpPr>
        <p:spPr bwMode="auto">
          <a:xfrm>
            <a:off x="9052151" y="5465419"/>
            <a:ext cx="609685" cy="489202"/>
          </a:xfrm>
          <a:custGeom>
            <a:avLst/>
            <a:gdLst>
              <a:gd name="T0" fmla="*/ 2850 w 7415"/>
              <a:gd name="T1" fmla="*/ 5887 h 5959"/>
              <a:gd name="T2" fmla="*/ 2980 w 7415"/>
              <a:gd name="T3" fmla="*/ 5833 h 5959"/>
              <a:gd name="T4" fmla="*/ 2980 w 7415"/>
              <a:gd name="T5" fmla="*/ 5010 h 5959"/>
              <a:gd name="T6" fmla="*/ 3204 w 7415"/>
              <a:gd name="T7" fmla="*/ 4944 h 5959"/>
              <a:gd name="T8" fmla="*/ 7411 w 7415"/>
              <a:gd name="T9" fmla="*/ 207 h 5959"/>
              <a:gd name="T10" fmla="*/ 7308 w 7415"/>
              <a:gd name="T11" fmla="*/ 173 h 5959"/>
              <a:gd name="T12" fmla="*/ 3151 w 7415"/>
              <a:gd name="T13" fmla="*/ 1016 h 5959"/>
              <a:gd name="T14" fmla="*/ 2980 w 7415"/>
              <a:gd name="T15" fmla="*/ 888 h 5959"/>
              <a:gd name="T16" fmla="*/ 2980 w 7415"/>
              <a:gd name="T17" fmla="*/ 125 h 5959"/>
              <a:gd name="T18" fmla="*/ 2850 w 7415"/>
              <a:gd name="T19" fmla="*/ 72 h 5959"/>
              <a:gd name="T20" fmla="*/ 72 w 7415"/>
              <a:gd name="T21" fmla="*/ 2849 h 5959"/>
              <a:gd name="T22" fmla="*/ 72 w 7415"/>
              <a:gd name="T23" fmla="*/ 3110 h 5959"/>
              <a:gd name="T24" fmla="*/ 2850 w 7415"/>
              <a:gd name="T25" fmla="*/ 5887 h 5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15" h="5959">
                <a:moveTo>
                  <a:pt x="2850" y="5887"/>
                </a:moveTo>
                <a:cubicBezTo>
                  <a:pt x="2922" y="5959"/>
                  <a:pt x="2980" y="5935"/>
                  <a:pt x="2980" y="5833"/>
                </a:cubicBezTo>
                <a:lnTo>
                  <a:pt x="2980" y="5010"/>
                </a:lnTo>
                <a:cubicBezTo>
                  <a:pt x="2980" y="4908"/>
                  <a:pt x="3103" y="4949"/>
                  <a:pt x="3204" y="4944"/>
                </a:cubicBezTo>
                <a:cubicBezTo>
                  <a:pt x="5507" y="4830"/>
                  <a:pt x="7317" y="2530"/>
                  <a:pt x="7411" y="207"/>
                </a:cubicBezTo>
                <a:cubicBezTo>
                  <a:pt x="7415" y="105"/>
                  <a:pt x="7369" y="92"/>
                  <a:pt x="7308" y="173"/>
                </a:cubicBezTo>
                <a:cubicBezTo>
                  <a:pt x="6022" y="1884"/>
                  <a:pt x="3785" y="1243"/>
                  <a:pt x="3151" y="1016"/>
                </a:cubicBezTo>
                <a:cubicBezTo>
                  <a:pt x="3056" y="981"/>
                  <a:pt x="2980" y="989"/>
                  <a:pt x="2980" y="888"/>
                </a:cubicBezTo>
                <a:lnTo>
                  <a:pt x="2980" y="125"/>
                </a:lnTo>
                <a:cubicBezTo>
                  <a:pt x="2980" y="24"/>
                  <a:pt x="2922" y="0"/>
                  <a:pt x="2850" y="72"/>
                </a:cubicBezTo>
                <a:lnTo>
                  <a:pt x="72" y="2849"/>
                </a:lnTo>
                <a:cubicBezTo>
                  <a:pt x="0" y="2921"/>
                  <a:pt x="0" y="3038"/>
                  <a:pt x="72" y="3110"/>
                </a:cubicBezTo>
                <a:lnTo>
                  <a:pt x="2850" y="5887"/>
                </a:lnTo>
                <a:close/>
              </a:path>
            </a:pathLst>
          </a:custGeom>
          <a:solidFill>
            <a:schemeClr val="accent1"/>
          </a:solidFill>
          <a:ln>
            <a:noFill/>
          </a:ln>
        </p:spPr>
      </p:sp>
      <p:sp>
        <p:nvSpPr>
          <p:cNvPr id="6" name="文本框 5"/>
          <p:cNvSpPr txBox="1"/>
          <p:nvPr/>
        </p:nvSpPr>
        <p:spPr>
          <a:xfrm>
            <a:off x="9661836" y="5223786"/>
            <a:ext cx="859315" cy="369332"/>
          </a:xfrm>
          <a:prstGeom prst="rect">
            <a:avLst/>
          </a:prstGeom>
          <a:noFill/>
        </p:spPr>
        <p:txBody>
          <a:bodyPr wrap="square" rtlCol="0">
            <a:spAutoFit/>
          </a:bodyPr>
          <a:lstStyle/>
          <a:p>
            <a:r>
              <a:rPr lang="zh-CN" altLang="en-US" b="1" dirty="0">
                <a:solidFill>
                  <a:srgbClr val="FF0000"/>
                </a:solidFill>
              </a:rPr>
              <a:t>送</a:t>
            </a:r>
            <a:r>
              <a:rPr lang="zh-CN" altLang="en-US" b="1" dirty="0" smtClean="0">
                <a:solidFill>
                  <a:srgbClr val="FF0000"/>
                </a:solidFill>
              </a:rPr>
              <a:t>分！</a:t>
            </a:r>
            <a:endParaRPr lang="zh-CN" altLang="en-US" b="1" dirty="0">
              <a:solidFill>
                <a:srgbClr val="FF0000"/>
              </a:solidFill>
            </a:endParaRPr>
          </a:p>
        </p:txBody>
      </p:sp>
    </p:spTree>
    <p:extLst>
      <p:ext uri="{BB962C8B-B14F-4D97-AF65-F5344CB8AC3E}">
        <p14:creationId xmlns:p14="http://schemas.microsoft.com/office/powerpoint/2010/main" val="161768937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600" y="816002"/>
            <a:ext cx="10972800" cy="5011921"/>
          </a:xfrm>
        </p:spPr>
        <p:txBody>
          <a:bodyPr/>
          <a:lstStyle/>
          <a:p>
            <a:pPr>
              <a:lnSpc>
                <a:spcPct val="140000"/>
              </a:lnSpc>
              <a:defRPr/>
            </a:pPr>
            <a:r>
              <a:rPr lang="en-US" altLang="zh-CN" dirty="0"/>
              <a:t>T-Bond Futures (cont’d)</a:t>
            </a:r>
          </a:p>
          <a:p>
            <a:pPr lvl="1">
              <a:lnSpc>
                <a:spcPct val="140000"/>
              </a:lnSpc>
              <a:defRPr/>
            </a:pPr>
            <a:r>
              <a:rPr lang="en-US" altLang="zh-CN" b="1" dirty="0"/>
              <a:t>Example: </a:t>
            </a:r>
            <a:r>
              <a:rPr lang="en-US" altLang="zh-CN" dirty="0"/>
              <a:t>Assume an investor with a short position is about to deliver a bond and has four bonds to choose from which are listed in the following table. The last settlement price is $95.75 (this is the quoted futures price). Determine which bond is the cheapest-to-deliver</a:t>
            </a:r>
            <a:r>
              <a:rPr lang="en-US" altLang="zh-CN" dirty="0" smtClean="0"/>
              <a:t>.</a:t>
            </a:r>
          </a:p>
          <a:p>
            <a:pPr lvl="1">
              <a:lnSpc>
                <a:spcPct val="140000"/>
              </a:lnSpc>
              <a:defRPr/>
            </a:pPr>
            <a:endParaRPr lang="en-US" altLang="zh-CN" dirty="0"/>
          </a:p>
          <a:p>
            <a:endParaRPr lang="zh-CN" altLang="en-US" dirty="0"/>
          </a:p>
        </p:txBody>
      </p:sp>
      <p:sp>
        <p:nvSpPr>
          <p:cNvPr id="3" name="标题 2"/>
          <p:cNvSpPr>
            <a:spLocks noGrp="1"/>
          </p:cNvSpPr>
          <p:nvPr>
            <p:ph type="title"/>
          </p:nvPr>
        </p:nvSpPr>
        <p:spPr/>
        <p:txBody>
          <a:bodyPr/>
          <a:lstStyle/>
          <a:p>
            <a:r>
              <a:rPr lang="en-US" altLang="zh-CN" dirty="0" smtClean="0"/>
              <a:t>CTD T-Bond</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833501092"/>
              </p:ext>
            </p:extLst>
          </p:nvPr>
        </p:nvGraphicFramePr>
        <p:xfrm>
          <a:off x="1820040" y="3400387"/>
          <a:ext cx="8899371" cy="2133600"/>
        </p:xfrm>
        <a:graphic>
          <a:graphicData uri="http://schemas.openxmlformats.org/drawingml/2006/table">
            <a:tbl>
              <a:tblPr firstRow="1" bandRow="1">
                <a:tableStyleId>{0E3FDE45-AF77-4B5C-9715-49D594BDF05E}</a:tableStyleId>
              </a:tblPr>
              <a:tblGrid>
                <a:gridCol w="1208840">
                  <a:extLst>
                    <a:ext uri="{9D8B030D-6E8A-4147-A177-3AD203B41FA5}">
                      <a16:colId xmlns="" xmlns:a16="http://schemas.microsoft.com/office/drawing/2014/main" val="20000"/>
                    </a:ext>
                  </a:extLst>
                </a:gridCol>
                <a:gridCol w="3384384">
                  <a:extLst>
                    <a:ext uri="{9D8B030D-6E8A-4147-A177-3AD203B41FA5}">
                      <a16:colId xmlns="" xmlns:a16="http://schemas.microsoft.com/office/drawing/2014/main" val="20001"/>
                    </a:ext>
                  </a:extLst>
                </a:gridCol>
                <a:gridCol w="3236825">
                  <a:extLst>
                    <a:ext uri="{9D8B030D-6E8A-4147-A177-3AD203B41FA5}">
                      <a16:colId xmlns="" xmlns:a16="http://schemas.microsoft.com/office/drawing/2014/main" val="20002"/>
                    </a:ext>
                  </a:extLst>
                </a:gridCol>
                <a:gridCol w="1069322">
                  <a:extLst>
                    <a:ext uri="{9D8B030D-6E8A-4147-A177-3AD203B41FA5}">
                      <a16:colId xmlns="" xmlns:a16="http://schemas.microsoft.com/office/drawing/2014/main" val="20003"/>
                    </a:ext>
                  </a:extLst>
                </a:gridCol>
              </a:tblGrid>
              <a:tr h="370840">
                <a:tc>
                  <a:txBody>
                    <a:bodyPr/>
                    <a:lstStyle/>
                    <a:p>
                      <a:pPr algn="ctr"/>
                      <a:r>
                        <a:rPr lang="en-US" altLang="zh-CN" sz="2200" dirty="0" smtClean="0"/>
                        <a:t>Bond</a:t>
                      </a:r>
                      <a:endParaRPr lang="zh-CN" altLang="en-US" sz="2200" b="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Quoted Bond Price</a:t>
                      </a:r>
                      <a:endParaRPr lang="zh-CN" altLang="en-US" sz="2200" b="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Conversion Factor</a:t>
                      </a:r>
                      <a:endParaRPr lang="zh-CN" altLang="en-US" sz="2200" b="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Cost</a:t>
                      </a:r>
                      <a:endParaRPr lang="zh-CN" altLang="en-US" sz="2200" b="0" dirty="0">
                        <a:solidFill>
                          <a:srgbClr val="2C3E50"/>
                        </a:solidFill>
                        <a:latin typeface="Segoe UI" panose="020B0502040204020203" pitchFamily="34" charset="0"/>
                        <a:cs typeface="Segoe UI" panose="020B0502040204020203" pitchFamily="34" charset="0"/>
                      </a:endParaRPr>
                    </a:p>
                  </a:txBody>
                  <a:tcPr marL="91429" marR="91429"/>
                </a:tc>
                <a:extLst>
                  <a:ext uri="{0D108BD9-81ED-4DB2-BD59-A6C34878D82A}">
                    <a16:rowId xmlns="" xmlns:a16="http://schemas.microsoft.com/office/drawing/2014/main" val="10000"/>
                  </a:ext>
                </a:extLst>
              </a:tr>
              <a:tr h="370840">
                <a:tc>
                  <a:txBody>
                    <a:bodyPr/>
                    <a:lstStyle/>
                    <a:p>
                      <a:pPr algn="ctr"/>
                      <a:r>
                        <a:rPr lang="en-US" altLang="zh-CN" sz="2200" dirty="0" smtClean="0"/>
                        <a:t>1</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99</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1.01</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2.29</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extLst>
                  <a:ext uri="{0D108BD9-81ED-4DB2-BD59-A6C34878D82A}">
                    <a16:rowId xmlns="" xmlns:a16="http://schemas.microsoft.com/office/drawing/2014/main" val="10001"/>
                  </a:ext>
                </a:extLst>
              </a:tr>
              <a:tr h="370840">
                <a:tc>
                  <a:txBody>
                    <a:bodyPr/>
                    <a:lstStyle/>
                    <a:p>
                      <a:pPr algn="ctr"/>
                      <a:r>
                        <a:rPr lang="en-US" altLang="zh-CN" sz="2200" dirty="0" smtClean="0"/>
                        <a:t>2</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125</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1.24</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6.27</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extLst>
                  <a:ext uri="{0D108BD9-81ED-4DB2-BD59-A6C34878D82A}">
                    <a16:rowId xmlns="" xmlns:a16="http://schemas.microsoft.com/office/drawing/2014/main" val="10002"/>
                  </a:ext>
                </a:extLst>
              </a:tr>
              <a:tr h="370840">
                <a:tc>
                  <a:txBody>
                    <a:bodyPr/>
                    <a:lstStyle/>
                    <a:p>
                      <a:pPr algn="ctr"/>
                      <a:r>
                        <a:rPr lang="en-US" altLang="zh-CN" sz="2200" dirty="0" smtClean="0"/>
                        <a:t>3</a:t>
                      </a:r>
                      <a:endParaRPr lang="zh-CN" altLang="en-US" sz="2200" dirty="0">
                        <a:solidFill>
                          <a:srgbClr val="FF000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103</a:t>
                      </a:r>
                      <a:endParaRPr lang="zh-CN" altLang="en-US" sz="2200" dirty="0">
                        <a:solidFill>
                          <a:srgbClr val="FF000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1.06</a:t>
                      </a:r>
                      <a:endParaRPr lang="zh-CN" altLang="en-US" sz="2200" dirty="0">
                        <a:solidFill>
                          <a:srgbClr val="FF000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1.51</a:t>
                      </a:r>
                      <a:endParaRPr lang="zh-CN" altLang="en-US" sz="2200" dirty="0">
                        <a:solidFill>
                          <a:srgbClr val="FF0000"/>
                        </a:solidFill>
                        <a:latin typeface="Segoe UI" panose="020B0502040204020203" pitchFamily="34" charset="0"/>
                        <a:cs typeface="Segoe UI" panose="020B0502040204020203" pitchFamily="34" charset="0"/>
                      </a:endParaRPr>
                    </a:p>
                  </a:txBody>
                  <a:tcPr marL="91429" marR="91429"/>
                </a:tc>
                <a:extLst>
                  <a:ext uri="{0D108BD9-81ED-4DB2-BD59-A6C34878D82A}">
                    <a16:rowId xmlns="" xmlns:a16="http://schemas.microsoft.com/office/drawing/2014/main" val="10003"/>
                  </a:ext>
                </a:extLst>
              </a:tr>
              <a:tr h="370840">
                <a:tc>
                  <a:txBody>
                    <a:bodyPr/>
                    <a:lstStyle/>
                    <a:p>
                      <a:pPr algn="ctr"/>
                      <a:r>
                        <a:rPr lang="en-US" altLang="zh-CN" sz="2200" dirty="0" smtClean="0"/>
                        <a:t>4</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115</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1.14</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tc>
                  <a:txBody>
                    <a:bodyPr/>
                    <a:lstStyle/>
                    <a:p>
                      <a:pPr algn="ctr"/>
                      <a:r>
                        <a:rPr lang="en-US" altLang="zh-CN" sz="2200" dirty="0" smtClean="0"/>
                        <a:t>5.85</a:t>
                      </a:r>
                      <a:endParaRPr lang="zh-CN" altLang="en-US" sz="2200" dirty="0">
                        <a:solidFill>
                          <a:srgbClr val="2C3E50"/>
                        </a:solidFill>
                        <a:latin typeface="Segoe UI" panose="020B0502040204020203" pitchFamily="34" charset="0"/>
                        <a:cs typeface="Segoe UI" panose="020B0502040204020203" pitchFamily="34" charset="0"/>
                      </a:endParaRPr>
                    </a:p>
                  </a:txBody>
                  <a:tcPr marL="91429" marR="91429"/>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112728318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Eurodollar Futures Contract</a:t>
            </a:r>
            <a:endParaRPr lang="en-US" altLang="zh-CN"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dirty="0"/>
                  <a:t>T</a:t>
                </a:r>
                <a:r>
                  <a:rPr lang="en-US" altLang="zh-CN" dirty="0" smtClean="0"/>
                  <a:t>he </a:t>
                </a:r>
                <a:r>
                  <a:rPr lang="en-US" altLang="zh-CN" dirty="0"/>
                  <a:t>final contract price on a Eurodollar futures </a:t>
                </a:r>
                <a:r>
                  <a:rPr lang="en-US" altLang="zh-CN" dirty="0" smtClean="0"/>
                  <a:t>contract</a:t>
                </a:r>
              </a:p>
              <a:p>
                <a:pPr lvl="1">
                  <a:lnSpc>
                    <a:spcPct val="140000"/>
                  </a:lnSpc>
                  <a:spcBef>
                    <a:spcPct val="0"/>
                  </a:spcBef>
                </a:pPr>
                <a:r>
                  <a:rPr lang="en-US" altLang="zh-CN" dirty="0"/>
                  <a:t>One of the most popular interest rate futures in the United States is the </a:t>
                </a:r>
                <a:r>
                  <a:rPr lang="en-US" altLang="zh-CN" u="sng" dirty="0"/>
                  <a:t>three-month</a:t>
                </a:r>
                <a:r>
                  <a:rPr lang="en-US" altLang="zh-CN" dirty="0"/>
                  <a:t> Eurodollar futures contract traded by the CME Group.</a:t>
                </a:r>
              </a:p>
              <a:p>
                <a:pPr lvl="1">
                  <a:lnSpc>
                    <a:spcPct val="140000"/>
                  </a:lnSpc>
                  <a:spcBef>
                    <a:spcPct val="0"/>
                  </a:spcBef>
                </a:pPr>
                <a:r>
                  <a:rPr lang="en-US" altLang="zh-CN" u="sng" dirty="0"/>
                  <a:t>Eurodollar is a dollar deposited in a US or foreign bank outside US</a:t>
                </a:r>
                <a:r>
                  <a:rPr lang="en-US" altLang="zh-CN" dirty="0"/>
                  <a:t>. </a:t>
                </a:r>
                <a:endParaRPr lang="en-US" altLang="zh-CN" dirty="0" smtClean="0"/>
              </a:p>
              <a:p>
                <a:pPr lvl="1"/>
                <a:r>
                  <a:rPr lang="en-US" altLang="zh-CN" b="0" dirty="0"/>
                  <a:t>If R is the LIBOR interest rate, the Eurodollar futures price is quoted at 100–R</a:t>
                </a:r>
                <a:r>
                  <a:rPr lang="en-US" altLang="zh-CN" b="0" dirty="0" smtClean="0"/>
                  <a:t>.</a:t>
                </a:r>
              </a:p>
              <a:p>
                <a:pPr lvl="1"/>
                <a:r>
                  <a:rPr lang="en-US" altLang="zh-CN" b="0" dirty="0"/>
                  <a:t>The contract is designed so that a one-basis-point </a:t>
                </a:r>
                <a:r>
                  <a:rPr lang="en-US" altLang="zh-CN" b="0" dirty="0" smtClean="0"/>
                  <a:t>(0.01</a:t>
                </a:r>
                <a:r>
                  <a:rPr lang="en-US" altLang="zh-CN" b="0" dirty="0"/>
                  <a:t>%) move in the futures </a:t>
                </a:r>
                <a:r>
                  <a:rPr lang="en-US" altLang="zh-CN" b="0" dirty="0" smtClean="0"/>
                  <a:t>quote corresponds </a:t>
                </a:r>
                <a:r>
                  <a:rPr lang="en-US" altLang="zh-CN" b="0" dirty="0"/>
                  <a:t>to a gain or loss of $25 per contract. A one-basis-point change in the </a:t>
                </a:r>
                <a:r>
                  <a:rPr lang="en-US" altLang="zh-CN" b="0" dirty="0" smtClean="0"/>
                  <a:t>futures quote </a:t>
                </a:r>
                <a:r>
                  <a:rPr lang="en-US" altLang="zh-CN" b="0" dirty="0"/>
                  <a:t>corresponds to a 0.01% change in the underlying interest rate such that:</a:t>
                </a:r>
              </a:p>
              <a:p>
                <a:pPr lvl="1">
                  <a:buFont typeface="Wingdings" panose="05000000000000000000" pitchFamily="2" charset="2"/>
                  <a:buChar char="ü"/>
                </a:pPr>
                <a:r>
                  <a:rPr lang="en-US" altLang="zh-CN" b="0" dirty="0"/>
                  <a:t>1,000,000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zh-CN" altLang="en-US" b="0" dirty="0" smtClean="0"/>
                  <a:t> </a:t>
                </a:r>
                <a:r>
                  <a:rPr lang="en-US" altLang="zh-CN" b="0" dirty="0" smtClean="0"/>
                  <a:t>0.0001</a:t>
                </a: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m:t>
                    </m:r>
                  </m:oMath>
                </a14:m>
                <a:r>
                  <a:rPr lang="zh-CN" altLang="en-US" b="0" dirty="0" smtClean="0"/>
                  <a:t> </a:t>
                </a:r>
                <a:r>
                  <a:rPr lang="en-US" altLang="zh-CN" b="0" dirty="0"/>
                  <a:t>0.25 = </a:t>
                </a:r>
                <a:r>
                  <a:rPr lang="en-US" altLang="zh-CN" b="0" dirty="0" smtClean="0"/>
                  <a:t>25</a:t>
                </a:r>
              </a:p>
              <a:p>
                <a:pPr lvl="1">
                  <a:buFont typeface="Wingdings" panose="05000000000000000000" pitchFamily="2" charset="2"/>
                  <a:buChar char="ü"/>
                </a:pPr>
                <a:r>
                  <a:rPr lang="en-US" altLang="zh-CN" b="0" dirty="0"/>
                  <a:t>The contract price is defined as: 10,000 </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en-US" altLang="zh-CN" b="0" dirty="0"/>
                  <a:t> [100 – 0.25 </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en-US" altLang="zh-CN" b="0" dirty="0"/>
                  <a:t> (100 – Quote)]</a:t>
                </a:r>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r="-3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0568611"/>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IMPORTANT CONCEPT:</a:t>
            </a:r>
          </a:p>
          <a:p>
            <a:pPr lvl="1"/>
            <a:r>
              <a:rPr lang="en-US" altLang="zh-CN" b="0" dirty="0"/>
              <a:t>If the Eurodollar </a:t>
            </a:r>
            <a:r>
              <a:rPr lang="en-US" altLang="zh-CN" b="0" dirty="0" smtClean="0"/>
              <a:t>Future </a:t>
            </a:r>
            <a:r>
              <a:rPr lang="en-US" altLang="zh-CN" b="0" dirty="0"/>
              <a:t>quote increases by one (1) basis point, long position gains</a:t>
            </a:r>
          </a:p>
          <a:p>
            <a:pPr lvl="1">
              <a:buFont typeface="Wingdings" panose="05000000000000000000" pitchFamily="2" charset="2"/>
              <a:buChar char="ü"/>
            </a:pPr>
            <a:r>
              <a:rPr lang="en-US" altLang="zh-CN" b="0" dirty="0"/>
              <a:t>$25 and short position loses $25.</a:t>
            </a:r>
          </a:p>
          <a:p>
            <a:pPr lvl="1"/>
            <a:r>
              <a:rPr lang="en-US" altLang="zh-CN" b="0" dirty="0"/>
              <a:t>If the Eurodollar </a:t>
            </a:r>
            <a:r>
              <a:rPr lang="en-US" altLang="zh-CN" b="0" dirty="0" smtClean="0"/>
              <a:t>Future </a:t>
            </a:r>
            <a:r>
              <a:rPr lang="en-US" altLang="zh-CN" b="0" dirty="0"/>
              <a:t>quote decreases by one (1) basis point, long </a:t>
            </a:r>
            <a:r>
              <a:rPr lang="en-US" altLang="zh-CN" b="0" dirty="0" smtClean="0"/>
              <a:t>position loses</a:t>
            </a:r>
            <a:endParaRPr lang="en-US" altLang="zh-CN" b="0" dirty="0"/>
          </a:p>
          <a:p>
            <a:pPr lvl="1">
              <a:buFont typeface="Wingdings" panose="05000000000000000000" pitchFamily="2" charset="2"/>
              <a:buChar char="ü"/>
            </a:pPr>
            <a:r>
              <a:rPr lang="en-US" altLang="zh-CN" b="0" dirty="0"/>
              <a:t>$25 and short position gains $25.</a:t>
            </a:r>
            <a:endParaRPr lang="zh-CN" altLang="en-US" dirty="0"/>
          </a:p>
        </p:txBody>
      </p:sp>
      <p:sp>
        <p:nvSpPr>
          <p:cNvPr id="4" name="标题 1"/>
          <p:cNvSpPr>
            <a:spLocks noGrp="1"/>
          </p:cNvSpPr>
          <p:nvPr>
            <p:ph type="title"/>
          </p:nvPr>
        </p:nvSpPr>
        <p:spPr/>
        <p:txBody>
          <a:bodyPr/>
          <a:lstStyle/>
          <a:p>
            <a:r>
              <a:rPr lang="en-US" altLang="zh-CN" dirty="0" smtClean="0"/>
              <a:t>Eurodollar Futures Contract</a:t>
            </a:r>
            <a:endParaRPr lang="en-US" altLang="zh-CN" dirty="0"/>
          </a:p>
        </p:txBody>
      </p:sp>
    </p:spTree>
    <p:extLst>
      <p:ext uri="{BB962C8B-B14F-4D97-AF65-F5344CB8AC3E}">
        <p14:creationId xmlns:p14="http://schemas.microsoft.com/office/powerpoint/2010/main" val="35269691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Eurodollar Futures Contract</a:t>
            </a:r>
            <a:endParaRPr lang="zh-CN" altLang="en-US"/>
          </a:p>
        </p:txBody>
      </p:sp>
      <p:sp>
        <p:nvSpPr>
          <p:cNvPr id="3" name="文本占位符 2"/>
          <p:cNvSpPr>
            <a:spLocks noGrp="1"/>
          </p:cNvSpPr>
          <p:nvPr>
            <p:ph type="body" sz="quarter" idx="10"/>
          </p:nvPr>
        </p:nvSpPr>
        <p:spPr/>
        <p:txBody>
          <a:bodyPr>
            <a:normAutofit fontScale="92500" lnSpcReduction="10000"/>
          </a:bodyPr>
          <a:lstStyle/>
          <a:p>
            <a:pPr>
              <a:spcBef>
                <a:spcPct val="0"/>
              </a:spcBef>
              <a:defRPr/>
            </a:pPr>
            <a:r>
              <a:rPr lang="en-US" altLang="zh-CN" sz="2600" dirty="0"/>
              <a:t>Eurodollar Futures (cont’d)</a:t>
            </a:r>
          </a:p>
          <a:p>
            <a:pPr lvl="1">
              <a:spcBef>
                <a:spcPct val="0"/>
              </a:spcBef>
              <a:defRPr/>
            </a:pPr>
            <a:r>
              <a:rPr lang="en-US" altLang="zh-CN" b="1" dirty="0"/>
              <a:t>Eurodollar Futures vs. FRA</a:t>
            </a:r>
          </a:p>
          <a:p>
            <a:pPr lvl="2">
              <a:spcBef>
                <a:spcPct val="0"/>
              </a:spcBef>
              <a:defRPr/>
            </a:pPr>
            <a:r>
              <a:rPr lang="en-US" altLang="zh-CN" dirty="0"/>
              <a:t>With the same underlying and the same maturity, They should be the same if interest rates are perfectly predictable.</a:t>
            </a:r>
          </a:p>
          <a:p>
            <a:pPr lvl="2">
              <a:spcBef>
                <a:spcPct val="0"/>
              </a:spcBef>
              <a:defRPr/>
            </a:pPr>
            <a:r>
              <a:rPr lang="en-US" altLang="zh-CN" u="sng" dirty="0"/>
              <a:t>ρ(S, r) &lt; 0, Futures price is lower than forward price</a:t>
            </a:r>
            <a:r>
              <a:rPr lang="en-US" altLang="zh-CN" dirty="0"/>
              <a:t>.</a:t>
            </a:r>
          </a:p>
          <a:p>
            <a:pPr lvl="2">
              <a:spcBef>
                <a:spcPct val="0"/>
              </a:spcBef>
              <a:defRPr/>
            </a:pPr>
            <a:r>
              <a:rPr lang="en-US" altLang="zh-CN" u="sng" dirty="0"/>
              <a:t>For short maturities, the differences are small enough to be ignored.</a:t>
            </a:r>
          </a:p>
          <a:p>
            <a:pPr lvl="1">
              <a:spcBef>
                <a:spcPct val="0"/>
              </a:spcBef>
              <a:defRPr/>
            </a:pPr>
            <a:r>
              <a:rPr lang="en-US" altLang="zh-CN" b="1" dirty="0"/>
              <a:t>Convexity Adjustment</a:t>
            </a:r>
          </a:p>
          <a:p>
            <a:pPr lvl="1">
              <a:spcBef>
                <a:spcPct val="0"/>
              </a:spcBef>
              <a:defRPr/>
            </a:pPr>
            <a:endParaRPr lang="en-US" altLang="zh-CN" b="1" dirty="0"/>
          </a:p>
          <a:p>
            <a:pPr lvl="1">
              <a:spcBef>
                <a:spcPct val="0"/>
              </a:spcBef>
              <a:defRPr/>
            </a:pPr>
            <a:endParaRPr lang="en-US" altLang="zh-CN" b="1" dirty="0"/>
          </a:p>
          <a:p>
            <a:pPr lvl="2">
              <a:spcBef>
                <a:spcPct val="0"/>
              </a:spcBef>
              <a:defRPr/>
            </a:pPr>
            <a:r>
              <a:rPr lang="el-GR" altLang="zh-CN" dirty="0"/>
              <a:t>σ</a:t>
            </a:r>
            <a:r>
              <a:rPr lang="en-US" altLang="zh-CN" dirty="0"/>
              <a:t> is the standard deviation of the change in the short-term interest rate in one year.</a:t>
            </a:r>
          </a:p>
          <a:p>
            <a:pPr lvl="2">
              <a:spcBef>
                <a:spcPct val="0"/>
              </a:spcBef>
              <a:defRPr/>
            </a:pPr>
            <a:r>
              <a:rPr lang="en-US" altLang="zh-CN" dirty="0"/>
              <a:t>T</a:t>
            </a:r>
            <a:r>
              <a:rPr lang="en-US" altLang="zh-CN" baseline="-25000" dirty="0"/>
              <a:t>1</a:t>
            </a:r>
            <a:r>
              <a:rPr lang="en-US" altLang="zh-CN" dirty="0"/>
              <a:t> is time to maturity of futures contract.</a:t>
            </a:r>
          </a:p>
          <a:p>
            <a:pPr lvl="2">
              <a:spcBef>
                <a:spcPct val="0"/>
              </a:spcBef>
              <a:defRPr/>
            </a:pPr>
            <a:r>
              <a:rPr lang="en-US" altLang="zh-CN" dirty="0"/>
              <a:t>T</a:t>
            </a:r>
            <a:r>
              <a:rPr lang="en-US" altLang="zh-CN" baseline="-25000" dirty="0"/>
              <a:t>2</a:t>
            </a:r>
            <a:r>
              <a:rPr lang="en-US" altLang="zh-CN" dirty="0"/>
              <a:t> is time to maturity of the rate underlying the futures contract.</a:t>
            </a:r>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3205908" y="3955055"/>
                <a:ext cx="5618604" cy="726161"/>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Forward</m:t>
                      </m:r>
                      <m: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Rate</m:t>
                      </m:r>
                      <m: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Futures</m:t>
                      </m:r>
                      <m: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rate</m:t>
                      </m:r>
                      <m:r>
                        <a:rPr lang="en-US" altLang="zh-CN" sz="2200" b="0" dirty="0" smtClean="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chemeClr val="tx1"/>
                              </a:solidFill>
                              <a:latin typeface="Cambria Math"/>
                              <a:ea typeface="微软雅黑" panose="020B0503020204020204" pitchFamily="34" charset="-122"/>
                              <a:cs typeface="Segoe UI" panose="020B0502040204020203" pitchFamily="34" charset="0"/>
                            </a:rPr>
                          </m:ctrlPr>
                        </m:fPr>
                        <m:num>
                          <m: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den>
                      </m:f>
                      <m:sSup>
                        <m:sSupPr>
                          <m:ctrlPr>
                            <a:rPr lang="en-US" altLang="zh-CN" sz="2200" b="0" i="1" dirty="0">
                              <a:solidFill>
                                <a:schemeClr val="tx1"/>
                              </a:solidFill>
                              <a:latin typeface="Cambria Math"/>
                              <a:ea typeface="微软雅黑" panose="020B0503020204020204" pitchFamily="34" charset="-122"/>
                              <a:cs typeface="Segoe UI" panose="020B0502040204020203" pitchFamily="34" charset="0"/>
                            </a:rPr>
                          </m:ctrlPr>
                        </m:sSupPr>
                        <m:e>
                          <m:r>
                            <m:rPr>
                              <m:sty m:val="p"/>
                            </m:rPr>
                            <a:rPr lang="zh-CN" altLang="en-US"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σ</m:t>
                          </m:r>
                        </m:e>
                        <m:sup>
                          <m: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p>
                      </m:sSup>
                      <m:sSub>
                        <m:sSubPr>
                          <m:ctrlPr>
                            <a:rPr lang="en-US" altLang="zh-CN" sz="22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sSub>
                        <m:sSubPr>
                          <m:ctrlPr>
                            <a:rPr lang="en-US" altLang="zh-CN" sz="22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2</m:t>
                          </m:r>
                        </m:sub>
                      </m:sSub>
                    </m:oMath>
                  </m:oMathPara>
                </a14:m>
                <a:endParaRPr lang="zh-CN" altLang="en-US"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205908" y="3955055"/>
                <a:ext cx="5618604" cy="726161"/>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53036789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LIBOR Zero Curve</a:t>
            </a:r>
            <a:endParaRPr lang="en-US" altLang="zh-CN" dirty="0"/>
          </a:p>
        </p:txBody>
      </p:sp>
      <p:sp>
        <p:nvSpPr>
          <p:cNvPr id="3" name="文本占位符 2"/>
          <p:cNvSpPr>
            <a:spLocks noGrp="1"/>
          </p:cNvSpPr>
          <p:nvPr>
            <p:ph type="body" sz="quarter" idx="10"/>
          </p:nvPr>
        </p:nvSpPr>
        <p:spPr/>
        <p:txBody>
          <a:bodyPr/>
          <a:lstStyle/>
          <a:p>
            <a:r>
              <a:rPr lang="en-US" altLang="zh-CN" b="0" dirty="0">
                <a:solidFill>
                  <a:schemeClr val="tx1"/>
                </a:solidFill>
              </a:rPr>
              <a:t>The bootstrap procedure can be used to extend the LIBOR zero curve. We know </a:t>
            </a:r>
            <a:r>
              <a:rPr lang="en-US" altLang="zh-CN" b="0" dirty="0" smtClean="0">
                <a:solidFill>
                  <a:schemeClr val="tx1"/>
                </a:solidFill>
              </a:rPr>
              <a:t>that the </a:t>
            </a:r>
            <a:r>
              <a:rPr lang="en-US" altLang="zh-CN" b="0" dirty="0">
                <a:solidFill>
                  <a:schemeClr val="tx1"/>
                </a:solidFill>
              </a:rPr>
              <a:t>forward interest rate </a:t>
            </a:r>
            <a:r>
              <a:rPr lang="en-US" altLang="zh-CN" b="0" dirty="0" smtClean="0">
                <a:solidFill>
                  <a:schemeClr val="tx1"/>
                </a:solidFill>
              </a:rPr>
              <a:t>F</a:t>
            </a:r>
            <a:r>
              <a:rPr lang="en-US" altLang="zh-CN" b="0" baseline="-25000" dirty="0" smtClean="0">
                <a:solidFill>
                  <a:schemeClr val="tx1"/>
                </a:solidFill>
              </a:rPr>
              <a:t>i</a:t>
            </a:r>
            <a:r>
              <a:rPr lang="zh-CN" altLang="en-US" b="0" dirty="0" smtClean="0">
                <a:solidFill>
                  <a:schemeClr val="tx1"/>
                </a:solidFill>
              </a:rPr>
              <a:t> </a:t>
            </a:r>
            <a:r>
              <a:rPr lang="en-US" altLang="zh-CN" b="0" dirty="0">
                <a:solidFill>
                  <a:schemeClr val="tx1"/>
                </a:solidFill>
              </a:rPr>
              <a:t>is</a:t>
            </a:r>
            <a:r>
              <a:rPr lang="en-US" altLang="zh-CN" b="0" dirty="0" smtClean="0">
                <a:solidFill>
                  <a:schemeClr val="tx1"/>
                </a:solidFill>
              </a:rPr>
              <a:t>:</a:t>
            </a:r>
          </a:p>
          <a:p>
            <a:endParaRPr lang="en-US" altLang="zh-CN" b="0" dirty="0">
              <a:solidFill>
                <a:schemeClr val="tx1"/>
              </a:solidFill>
            </a:endParaRPr>
          </a:p>
          <a:p>
            <a:endParaRPr lang="en-US" altLang="zh-CN" b="0" dirty="0" smtClean="0">
              <a:solidFill>
                <a:schemeClr val="tx1"/>
              </a:solidFill>
            </a:endParaRPr>
          </a:p>
          <a:p>
            <a:r>
              <a:rPr lang="en-US" altLang="zh-CN" b="0" dirty="0">
                <a:solidFill>
                  <a:schemeClr val="tx1"/>
                </a:solidFill>
              </a:rPr>
              <a:t>From this forward rate, the zero rate can be obtained as</a:t>
            </a:r>
            <a:r>
              <a:rPr lang="en-US" altLang="zh-CN" b="0" dirty="0" smtClean="0">
                <a:solidFill>
                  <a:schemeClr val="tx1"/>
                </a:solidFill>
              </a:rPr>
              <a:t>:</a:t>
            </a:r>
          </a:p>
          <a:p>
            <a:endParaRPr lang="en-US" altLang="zh-CN" b="0" dirty="0" smtClean="0">
              <a:solidFill>
                <a:schemeClr val="tx1"/>
              </a:solidFill>
            </a:endParaRPr>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4610558" y="2192356"/>
                <a:ext cx="3004092" cy="6947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𝐹</m:t>
                      </m:r>
                      <m:r>
                        <a:rPr lang="en-US" altLang="zh-CN" sz="2400" b="0" i="1" baseline="-25000" smtClean="0">
                          <a:latin typeface="Cambria Math" panose="02040503050406030204" pitchFamily="18" charset="0"/>
                        </a:rPr>
                        <m:t>𝑖</m:t>
                      </m:r>
                      <m:r>
                        <a:rPr lang="en-US" altLang="zh-CN" sz="2400" b="0" i="1" smtClean="0">
                          <a:latin typeface="Cambria Math" panose="02040503050406030204" pitchFamily="18" charset="0"/>
                        </a:rPr>
                        <m:t>=</m:t>
                      </m:r>
                      <m:f>
                        <m:fPr>
                          <m:ctrlPr>
                            <a:rPr lang="en-US" altLang="zh-CN" sz="2400" b="0" i="1" smtClean="0">
                              <a:latin typeface="Cambria Math"/>
                            </a:rPr>
                          </m:ctrlPr>
                        </m:fPr>
                        <m:num>
                          <m:r>
                            <a:rPr lang="en-US" altLang="zh-CN" sz="2400" b="0" i="1" smtClean="0">
                              <a:latin typeface="Cambria Math" panose="02040503050406030204" pitchFamily="18" charset="0"/>
                            </a:rPr>
                            <m:t>𝑅</m:t>
                          </m:r>
                          <m:r>
                            <a:rPr lang="en-US" altLang="zh-CN" sz="2400" b="0" i="1" baseline="-25000" smtClean="0">
                              <a:latin typeface="Cambria Math" panose="02040503050406030204" pitchFamily="18" charset="0"/>
                            </a:rPr>
                            <m:t>𝑖</m:t>
                          </m:r>
                          <m:r>
                            <a:rPr lang="en-US" altLang="zh-CN" sz="2400" b="0" i="1" baseline="-25000" smtClean="0">
                              <a:latin typeface="Cambria Math" panose="02040503050406030204" pitchFamily="18" charset="0"/>
                            </a:rPr>
                            <m:t>+1</m:t>
                          </m:r>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𝑖</m:t>
                          </m:r>
                          <m:r>
                            <a:rPr lang="en-US" altLang="zh-CN" sz="2400" b="0" i="1" baseline="-25000" smtClean="0">
                              <a:latin typeface="Cambria Math" panose="02040503050406030204" pitchFamily="18" charset="0"/>
                            </a:rPr>
                            <m:t>+1−</m:t>
                          </m:r>
                          <m:r>
                            <a:rPr lang="en-US" altLang="zh-CN" sz="2400" b="0" i="1" smtClean="0">
                              <a:latin typeface="Cambria Math" panose="02040503050406030204" pitchFamily="18" charset="0"/>
                            </a:rPr>
                            <m:t>𝑅</m:t>
                          </m:r>
                          <m:r>
                            <a:rPr lang="en-US" altLang="zh-CN" sz="2400" b="0" i="1" baseline="-25000" smtClean="0">
                              <a:latin typeface="Cambria Math" panose="02040503050406030204" pitchFamily="18" charset="0"/>
                            </a:rPr>
                            <m:t>𝑖</m:t>
                          </m:r>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𝑖</m:t>
                          </m:r>
                        </m:num>
                        <m:den>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𝑖</m:t>
                          </m:r>
                          <m:r>
                            <a:rPr lang="en-US" altLang="zh-CN" sz="2400" b="0" i="1" baseline="-25000" smtClean="0">
                              <a:latin typeface="Cambria Math" panose="02040503050406030204" pitchFamily="18" charset="0"/>
                            </a:rPr>
                            <m:t>+1−</m:t>
                          </m:r>
                          <m:r>
                            <a:rPr lang="en-US" altLang="zh-CN" sz="2400" b="0" i="1" smtClean="0">
                              <a:latin typeface="Cambria Math" panose="02040503050406030204" pitchFamily="18" charset="0"/>
                            </a:rPr>
                            <m:t>𝑇</m:t>
                          </m:r>
                          <m:r>
                            <a:rPr lang="en-US" altLang="zh-CN" sz="2400" b="0" i="1" baseline="-25000" smtClean="0">
                              <a:latin typeface="Cambria Math" panose="02040503050406030204" pitchFamily="18" charset="0"/>
                            </a:rPr>
                            <m:t>𝑖</m:t>
                          </m:r>
                        </m:den>
                      </m:f>
                    </m:oMath>
                  </m:oMathPara>
                </a14:m>
                <a:endParaRPr lang="zh-CN" altLang="en-US" sz="2400" i="1" dirty="0"/>
              </a:p>
            </p:txBody>
          </p:sp>
        </mc:Choice>
        <mc:Fallback xmlns="">
          <p:sp>
            <p:nvSpPr>
              <p:cNvPr id="4" name="文本框 3"/>
              <p:cNvSpPr txBox="1">
                <a:spLocks noRot="1" noChangeAspect="1" noMove="1" noResize="1" noEditPoints="1" noAdjustHandles="1" noChangeArrowheads="1" noChangeShapeType="1" noTextEdit="1"/>
              </p:cNvSpPr>
              <p:nvPr/>
            </p:nvSpPr>
            <p:spPr>
              <a:xfrm>
                <a:off x="4610558" y="2192356"/>
                <a:ext cx="3004092" cy="694742"/>
              </a:xfrm>
              <a:prstGeom prst="rect">
                <a:avLst/>
              </a:prstGeom>
              <a:blipFill rotWithShape="1">
                <a:blip r:embed="rId2"/>
                <a:stretch>
                  <a:fillRect b="-192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610558" y="3966705"/>
                <a:ext cx="3597008" cy="690767"/>
              </a:xfrm>
              <a:prstGeom prst="rect">
                <a:avLst/>
              </a:prstGeom>
              <a:noFill/>
            </p:spPr>
            <p:txBody>
              <a:bodyPr wrap="square" lIns="0" tIns="0" rIns="0" bIns="0" rtlCol="0">
                <a:spAutoFit/>
              </a:bodyPr>
              <a:lstStyle/>
              <a:p>
                <a:r>
                  <a:rPr lang="en-US" altLang="zh-CN" sz="2600" b="0" i="1" dirty="0" smtClean="0"/>
                  <a:t>R</a:t>
                </a:r>
                <a14:m>
                  <m:oMath xmlns:m="http://schemas.openxmlformats.org/officeDocument/2006/math">
                    <m:r>
                      <a:rPr lang="en-US" altLang="zh-CN" sz="3000" b="0" i="1" baseline="-25000" smtClean="0">
                        <a:latin typeface="Cambria Math" panose="02040503050406030204" pitchFamily="18" charset="0"/>
                      </a:rPr>
                      <m:t>𝑖</m:t>
                    </m:r>
                    <m:r>
                      <a:rPr lang="en-US" altLang="zh-CN" sz="3000" b="0" i="1" baseline="-25000" smtClean="0">
                        <a:latin typeface="Cambria Math" panose="02040503050406030204" pitchFamily="18" charset="0"/>
                      </a:rPr>
                      <m:t>+1=</m:t>
                    </m:r>
                    <m:f>
                      <m:fPr>
                        <m:ctrlPr>
                          <a:rPr lang="en-US" altLang="zh-CN" sz="3000" b="0" i="1" smtClean="0">
                            <a:latin typeface="Cambria Math"/>
                          </a:rPr>
                        </m:ctrlPr>
                      </m:fPr>
                      <m:num>
                        <m:r>
                          <a:rPr lang="en-US" altLang="zh-CN" sz="3000" i="1">
                            <a:latin typeface="Cambria Math" panose="02040503050406030204" pitchFamily="18" charset="0"/>
                          </a:rPr>
                          <m:t>𝐹𝑖</m:t>
                        </m:r>
                        <m:d>
                          <m:dPr>
                            <m:ctrlPr>
                              <a:rPr lang="en-US" altLang="zh-CN" sz="3000" b="0" i="1" smtClean="0">
                                <a:latin typeface="Cambria Math"/>
                              </a:rPr>
                            </m:ctrlPr>
                          </m:dPr>
                          <m:e>
                            <m:r>
                              <a:rPr lang="en-US" altLang="zh-CN" sz="3000" i="1">
                                <a:latin typeface="Cambria Math" panose="02040503050406030204" pitchFamily="18" charset="0"/>
                              </a:rPr>
                              <m:t>𝑇</m:t>
                            </m:r>
                            <m:r>
                              <a:rPr lang="en-US" altLang="zh-CN" sz="3000" b="0" i="1" baseline="-25000" smtClean="0">
                                <a:latin typeface="Cambria Math" panose="02040503050406030204" pitchFamily="18" charset="0"/>
                              </a:rPr>
                              <m:t>𝑖</m:t>
                            </m:r>
                            <m:r>
                              <a:rPr lang="en-US" altLang="zh-CN" sz="3000" b="0" i="1" baseline="-25000" smtClean="0">
                                <a:latin typeface="Cambria Math" panose="02040503050406030204" pitchFamily="18" charset="0"/>
                              </a:rPr>
                              <m:t>+1−</m:t>
                            </m:r>
                            <m:r>
                              <a:rPr lang="en-US" altLang="zh-CN" sz="3000" i="1">
                                <a:latin typeface="Cambria Math" panose="02040503050406030204" pitchFamily="18" charset="0"/>
                              </a:rPr>
                              <m:t>𝑇</m:t>
                            </m:r>
                            <m:r>
                              <a:rPr lang="en-US" altLang="zh-CN" sz="3000" i="1" baseline="-25000">
                                <a:latin typeface="Cambria Math" panose="02040503050406030204" pitchFamily="18" charset="0"/>
                              </a:rPr>
                              <m:t>𝑖</m:t>
                            </m:r>
                          </m:e>
                        </m:d>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𝑅𝑖𝑇𝑖</m:t>
                        </m:r>
                      </m:num>
                      <m:den>
                        <m:r>
                          <a:rPr lang="en-US" altLang="zh-CN" sz="3000" b="0" i="1" smtClean="0">
                            <a:latin typeface="Cambria Math" panose="02040503050406030204" pitchFamily="18" charset="0"/>
                          </a:rPr>
                          <m:t>𝑇</m:t>
                        </m:r>
                        <m:r>
                          <a:rPr lang="en-US" altLang="zh-CN" sz="3000" b="0" i="1" baseline="-25000" smtClean="0">
                            <a:latin typeface="Cambria Math" panose="02040503050406030204" pitchFamily="18" charset="0"/>
                          </a:rPr>
                          <m:t>𝑖</m:t>
                        </m:r>
                        <m:r>
                          <a:rPr lang="en-US" altLang="zh-CN" sz="3000" b="0" i="1" baseline="-25000" smtClean="0">
                            <a:latin typeface="Cambria Math" panose="02040503050406030204" pitchFamily="18" charset="0"/>
                          </a:rPr>
                          <m:t>+1</m:t>
                        </m:r>
                      </m:den>
                    </m:f>
                  </m:oMath>
                </a14:m>
                <a:endParaRPr lang="zh-CN" altLang="en-US" sz="3000" i="1" dirty="0"/>
              </a:p>
            </p:txBody>
          </p:sp>
        </mc:Choice>
        <mc:Fallback xmlns="">
          <p:sp>
            <p:nvSpPr>
              <p:cNvPr id="6" name="文本框 5"/>
              <p:cNvSpPr txBox="1">
                <a:spLocks noRot="1" noChangeAspect="1" noMove="1" noResize="1" noEditPoints="1" noAdjustHandles="1" noChangeArrowheads="1" noChangeShapeType="1" noTextEdit="1"/>
              </p:cNvSpPr>
              <p:nvPr/>
            </p:nvSpPr>
            <p:spPr>
              <a:xfrm>
                <a:off x="4610558" y="3966705"/>
                <a:ext cx="3597008" cy="690767"/>
              </a:xfrm>
              <a:prstGeom prst="rect">
                <a:avLst/>
              </a:prstGeom>
              <a:blipFill rotWithShape="1">
                <a:blip r:embed="rId3"/>
                <a:stretch>
                  <a:fillRect l="-5424" b="-25664"/>
                </a:stretch>
              </a:blipFill>
            </p:spPr>
            <p:txBody>
              <a:bodyPr/>
              <a:lstStyle/>
              <a:p>
                <a:r>
                  <a:rPr lang="zh-CN" altLang="en-US">
                    <a:noFill/>
                  </a:rPr>
                  <a:t> </a:t>
                </a:r>
              </a:p>
            </p:txBody>
          </p:sp>
        </mc:Fallback>
      </mc:AlternateContent>
      <p:sp>
        <p:nvSpPr>
          <p:cNvPr id="8" name="warning_94911"/>
          <p:cNvSpPr>
            <a:spLocks noChangeAspect="1"/>
          </p:cNvSpPr>
          <p:nvPr/>
        </p:nvSpPr>
        <p:spPr bwMode="auto">
          <a:xfrm>
            <a:off x="4986927" y="5193226"/>
            <a:ext cx="609685" cy="556991"/>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rgbClr val="FF0000"/>
          </a:solidFill>
          <a:ln>
            <a:noFill/>
          </a:ln>
        </p:spPr>
        <p:txBody>
          <a:bodyPr/>
          <a:lstStyle/>
          <a:p>
            <a:endParaRPr lang="zh-CN" altLang="en-US"/>
          </a:p>
        </p:txBody>
      </p:sp>
      <p:sp>
        <p:nvSpPr>
          <p:cNvPr id="9" name="文本框 8"/>
          <p:cNvSpPr txBox="1"/>
          <p:nvPr/>
        </p:nvSpPr>
        <p:spPr>
          <a:xfrm>
            <a:off x="5675461" y="5380885"/>
            <a:ext cx="2016087" cy="369332"/>
          </a:xfrm>
          <a:prstGeom prst="rect">
            <a:avLst/>
          </a:prstGeom>
          <a:noFill/>
        </p:spPr>
        <p:txBody>
          <a:bodyPr wrap="square" rtlCol="0">
            <a:spAutoFit/>
          </a:bodyPr>
          <a:lstStyle/>
          <a:p>
            <a:r>
              <a:rPr lang="zh-CN" altLang="en-US" b="1" dirty="0" smtClean="0">
                <a:solidFill>
                  <a:srgbClr val="FF0000"/>
                </a:solidFill>
              </a:rPr>
              <a:t>考试基本没有考过！</a:t>
            </a:r>
            <a:endParaRPr lang="zh-CN" altLang="en-US" b="1" dirty="0">
              <a:solidFill>
                <a:srgbClr val="FF0000"/>
              </a:solidFill>
            </a:endParaRPr>
          </a:p>
        </p:txBody>
      </p:sp>
    </p:spTree>
    <p:extLst>
      <p:ext uri="{BB962C8B-B14F-4D97-AF65-F5344CB8AC3E}">
        <p14:creationId xmlns:p14="http://schemas.microsoft.com/office/powerpoint/2010/main" val="1562446551"/>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281012" cy="576064"/>
          </a:xfrm>
        </p:spPr>
        <p:txBody>
          <a:bodyPr>
            <a:normAutofit/>
          </a:bodyPr>
          <a:lstStyle/>
          <a:p>
            <a:r>
              <a:rPr lang="en-US" altLang="zh-CN" dirty="0"/>
              <a:t>Duration-based hedge ratio and hedging strategy</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a:solidFill>
                      <a:schemeClr val="tx1"/>
                    </a:solidFill>
                  </a:rPr>
                  <a:t>The number of contracts required to hedge against an uncertain change in </a:t>
                </a:r>
                <a:r>
                  <a:rPr lang="en-US" altLang="zh-CN" b="0" dirty="0" smtClean="0">
                    <a:solidFill>
                      <a:schemeClr val="tx1"/>
                    </a:solidFill>
                  </a:rPr>
                  <a:t>the yield(Δy</a:t>
                </a:r>
                <a:r>
                  <a:rPr lang="en-US" altLang="zh-CN" b="0" dirty="0">
                    <a:solidFill>
                      <a:schemeClr val="tx1"/>
                    </a:solidFill>
                  </a:rPr>
                  <a:t>) is the duration-based hedge ratio and is given by</a:t>
                </a:r>
                <a:r>
                  <a:rPr lang="en-US" altLang="zh-CN" b="0" dirty="0" smtClean="0">
                    <a:solidFill>
                      <a:schemeClr val="tx1"/>
                    </a:solidFill>
                  </a:rPr>
                  <a:t>:</a:t>
                </a:r>
              </a:p>
              <a:p>
                <a:endParaRPr lang="en-US" altLang="zh-CN" b="0" dirty="0">
                  <a:solidFill>
                    <a:schemeClr val="tx1"/>
                  </a:solidFill>
                </a:endParaRPr>
              </a:p>
              <a:p>
                <a:endParaRPr lang="en-US" altLang="zh-CN" b="0" dirty="0" smtClean="0">
                  <a:solidFill>
                    <a:schemeClr val="tx1"/>
                  </a:solidFill>
                </a:endParaRPr>
              </a:p>
              <a:p>
                <a:pPr lvl="1"/>
                <a14:m>
                  <m:oMath xmlns:m="http://schemas.openxmlformats.org/officeDocument/2006/math">
                    <m:r>
                      <a:rPr lang="en-US" altLang="zh-CN" b="0" i="1" dirty="0">
                        <a:solidFill>
                          <a:srgbClr val="2C3E50"/>
                        </a:solidFill>
                        <a:latin typeface="Cambria Math" panose="02040503050406030204" pitchFamily="18" charset="0"/>
                        <a:cs typeface="Segoe UI" panose="020B0502040204020203" pitchFamily="34" charset="0"/>
                      </a:rPr>
                      <m:t>𝑉</m:t>
                    </m:r>
                    <m:r>
                      <a:rPr lang="en-US" altLang="zh-CN" b="0" i="1" baseline="-25000" dirty="0">
                        <a:solidFill>
                          <a:srgbClr val="2C3E50"/>
                        </a:solidFill>
                        <a:latin typeface="Cambria Math" panose="02040503050406030204" pitchFamily="18" charset="0"/>
                        <a:cs typeface="Segoe UI" panose="020B0502040204020203" pitchFamily="34" charset="0"/>
                      </a:rPr>
                      <m:t>𝐹</m:t>
                    </m:r>
                  </m:oMath>
                </a14:m>
                <a:r>
                  <a:rPr lang="zh-CN" altLang="en-US" b="0" dirty="0" smtClean="0"/>
                  <a:t> </a:t>
                </a:r>
                <a:r>
                  <a:rPr lang="en-US" altLang="zh-CN" b="0" dirty="0"/>
                  <a:t>: contract price for the interest rate futures contract.</a:t>
                </a:r>
              </a:p>
              <a:p>
                <a:pPr lvl="1"/>
                <a14:m>
                  <m:oMath xmlns:m="http://schemas.openxmlformats.org/officeDocument/2006/math">
                    <m:sSub>
                      <m:sSubPr>
                        <m:ctrlPr>
                          <a:rPr lang="en-US" altLang="zh-CN" b="0" i="1" dirty="0">
                            <a:solidFill>
                              <a:srgbClr val="2C3E50"/>
                            </a:solidFill>
                            <a:latin typeface="Cambria Math"/>
                            <a:cs typeface="Segoe UI" panose="020B0502040204020203" pitchFamily="34" charset="0"/>
                          </a:rPr>
                        </m:ctrlPr>
                      </m:sSubPr>
                      <m:e>
                        <m:r>
                          <m:rPr>
                            <m:sty m:val="p"/>
                          </m:rPr>
                          <a:rPr lang="en-US" altLang="zh-CN" b="0" dirty="0">
                            <a:solidFill>
                              <a:srgbClr val="2C3E50"/>
                            </a:solidFill>
                            <a:latin typeface="Cambria Math" panose="02040503050406030204" pitchFamily="18" charset="0"/>
                            <a:cs typeface="Segoe UI" panose="020B0502040204020203" pitchFamily="34" charset="0"/>
                          </a:rPr>
                          <m:t>D</m:t>
                        </m:r>
                      </m:e>
                      <m:sub>
                        <m:r>
                          <m:rPr>
                            <m:sty m:val="p"/>
                          </m:rPr>
                          <a:rPr lang="en-US" altLang="zh-CN" b="0" dirty="0">
                            <a:solidFill>
                              <a:srgbClr val="2C3E50"/>
                            </a:solidFill>
                            <a:latin typeface="Cambria Math" panose="02040503050406030204" pitchFamily="18" charset="0"/>
                            <a:cs typeface="Segoe UI" panose="020B0502040204020203" pitchFamily="34" charset="0"/>
                          </a:rPr>
                          <m:t>F</m:t>
                        </m:r>
                      </m:sub>
                    </m:sSub>
                  </m:oMath>
                </a14:m>
                <a:r>
                  <a:rPr lang="zh-CN" altLang="en-US" b="0" dirty="0" smtClean="0"/>
                  <a:t> </a:t>
                </a:r>
                <a:r>
                  <a:rPr lang="en-US" altLang="zh-CN" b="0" dirty="0"/>
                  <a:t>: duration of asset underlying futures contract at maturity.</a:t>
                </a:r>
              </a:p>
              <a:p>
                <a:pPr lvl="1"/>
                <a14:m>
                  <m:oMath xmlns:m="http://schemas.openxmlformats.org/officeDocument/2006/math">
                    <m:r>
                      <m:rPr>
                        <m:sty m:val="p"/>
                      </m:rPr>
                      <a:rPr lang="en-US" altLang="zh-CN" b="0" dirty="0">
                        <a:solidFill>
                          <a:srgbClr val="2C3E50"/>
                        </a:solidFill>
                        <a:latin typeface="Cambria Math" panose="02040503050406030204" pitchFamily="18" charset="0"/>
                        <a:cs typeface="Segoe UI" panose="020B0502040204020203" pitchFamily="34" charset="0"/>
                      </a:rPr>
                      <m:t>P</m:t>
                    </m:r>
                  </m:oMath>
                </a14:m>
                <a:r>
                  <a:rPr lang="zh-CN" altLang="en-US" b="0" dirty="0" smtClean="0"/>
                  <a:t> </a:t>
                </a:r>
                <a:r>
                  <a:rPr lang="en-US" altLang="zh-CN" b="0" dirty="0"/>
                  <a:t>: forward value of the portfolio being hedged at the maturity of the hedge (</a:t>
                </a:r>
                <a:r>
                  <a:rPr lang="en-US" altLang="zh-CN" b="0" dirty="0" smtClean="0"/>
                  <a:t>typically assumed </a:t>
                </a:r>
                <a:r>
                  <a:rPr lang="en-US" altLang="zh-CN" b="0" dirty="0"/>
                  <a:t>to be today’s portfolio value).</a:t>
                </a:r>
              </a:p>
              <a:p>
                <a:pPr lvl="1"/>
                <a:r>
                  <a:rPr lang="en-US" altLang="zh-CN" b="0" dirty="0" smtClean="0"/>
                  <a:t>D</a:t>
                </a:r>
                <a:r>
                  <a:rPr lang="en-US" altLang="zh-CN" b="0" baseline="-25000" dirty="0" smtClean="0"/>
                  <a:t>P </a:t>
                </a:r>
                <a:r>
                  <a:rPr lang="en-US" altLang="zh-CN" b="0" dirty="0" smtClean="0"/>
                  <a:t>: </a:t>
                </a:r>
                <a:r>
                  <a:rPr lang="en-US" altLang="zh-CN" b="0" dirty="0"/>
                  <a:t>duration of portfolio at maturity of the hedge.</a:t>
                </a:r>
                <a:endParaRPr lang="en-US" altLang="zh-CN" b="0" dirty="0">
                  <a:solidFill>
                    <a:schemeClr val="tx1"/>
                  </a:solidFill>
                </a:endParaRPr>
              </a:p>
              <a:p>
                <a:endParaRPr lang="zh-CN" altLang="en-US" dirty="0">
                  <a:solidFill>
                    <a:schemeClr val="tx1"/>
                  </a:solidFill>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027206" y="2149809"/>
                <a:ext cx="2137585" cy="79432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200" b="0" i="1" dirty="0" smtClean="0">
                              <a:solidFill>
                                <a:srgbClr val="2C3E50"/>
                              </a:solidFill>
                              <a:latin typeface="Cambria Math"/>
                              <a:ea typeface="微软雅黑" panose="020B0503020204020204" pitchFamily="34" charset="-122"/>
                              <a:cs typeface="Segoe UI" panose="020B0502040204020203" pitchFamily="34" charset="0"/>
                            </a:rPr>
                          </m:ctrlPr>
                        </m:sSupPr>
                        <m:e>
                          <m:r>
                            <m:rPr>
                              <m:sty m:val="p"/>
                            </m:rP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e>
                        <m:sup>
                          <m: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fPr>
                        <m:num>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e>
                            <m:sub>
                              <m:r>
                                <m:rPr>
                                  <m:sty m:val="p"/>
                                </m:rP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num>
                        <m:den>
                          <m:r>
                            <a:rPr lang="en-US" altLang="zh-CN" sz="22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𝑉</m:t>
                          </m:r>
                          <m:r>
                            <a:rPr lang="en-US" altLang="zh-CN" sz="2200" b="0" i="1" baseline="-2500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𝐹</m:t>
                          </m:r>
                          <m:sSub>
                            <m:sSubPr>
                              <m:ctrlPr>
                                <a:rPr lang="en-US" altLang="zh-CN" sz="22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en-US" altLang="zh-CN" sz="22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sub>
                          </m:sSub>
                        </m:den>
                      </m:f>
                    </m:oMath>
                  </m:oMathPara>
                </a14:m>
                <a:endParaRPr lang="zh-CN" altLang="en-US" sz="22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027206" y="2149809"/>
                <a:ext cx="2137585" cy="794320"/>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815763445"/>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019142" cy="576064"/>
          </a:xfrm>
        </p:spPr>
        <p:txBody>
          <a:bodyPr>
            <a:normAutofit/>
          </a:bodyPr>
          <a:lstStyle/>
          <a:p>
            <a:r>
              <a:rPr lang="en-US" altLang="zh-CN" dirty="0"/>
              <a:t>Duration-based </a:t>
            </a:r>
            <a:r>
              <a:rPr lang="en-US" altLang="zh-CN" dirty="0" smtClean="0"/>
              <a:t>Hedge </a:t>
            </a:r>
            <a:r>
              <a:rPr lang="en-US" altLang="zh-CN" dirty="0"/>
              <a:t>R</a:t>
            </a:r>
            <a:r>
              <a:rPr lang="en-US" altLang="zh-CN" dirty="0" smtClean="0"/>
              <a:t>atio </a:t>
            </a:r>
            <a:r>
              <a:rPr lang="en-US" altLang="zh-CN" dirty="0"/>
              <a:t>and </a:t>
            </a:r>
            <a:r>
              <a:rPr lang="en-US" altLang="zh-CN" dirty="0" smtClean="0"/>
              <a:t>Hedging </a:t>
            </a:r>
            <a:r>
              <a:rPr lang="en-US" altLang="zh-CN" dirty="0"/>
              <a:t>S</a:t>
            </a:r>
            <a:r>
              <a:rPr lang="en-US" altLang="zh-CN" dirty="0" smtClean="0"/>
              <a:t>trategy</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a:t>L</a:t>
            </a:r>
            <a:r>
              <a:rPr lang="en-US" altLang="zh-CN" dirty="0" smtClean="0"/>
              <a:t>imitations </a:t>
            </a:r>
            <a:r>
              <a:rPr lang="en-US" altLang="zh-CN" dirty="0"/>
              <a:t>of a duration based hedging </a:t>
            </a:r>
            <a:r>
              <a:rPr lang="en-US" altLang="zh-CN" dirty="0" smtClean="0"/>
              <a:t>strategy</a:t>
            </a:r>
          </a:p>
          <a:p>
            <a:pPr lvl="1"/>
            <a:r>
              <a:rPr lang="en-US" altLang="zh-CN" b="0" dirty="0"/>
              <a:t>Although matching the durations of assets and liabilities is sometimes a first step in </a:t>
            </a:r>
            <a:r>
              <a:rPr lang="en-US" altLang="zh-CN" b="0" dirty="0" smtClean="0"/>
              <a:t>asset– liability </a:t>
            </a:r>
            <a:r>
              <a:rPr lang="en-US" altLang="zh-CN" b="0" dirty="0"/>
              <a:t>management (ALM) to monitor exposure to interest rates, this does not protect </a:t>
            </a:r>
            <a:r>
              <a:rPr lang="en-US" altLang="zh-CN" b="0" dirty="0" smtClean="0"/>
              <a:t>a bank </a:t>
            </a:r>
            <a:r>
              <a:rPr lang="en-US" altLang="zh-CN" b="0" dirty="0"/>
              <a:t>against non-parallel shifts in the yield curve. This is a weakness of the duration </a:t>
            </a:r>
            <a:r>
              <a:rPr lang="en-US" altLang="zh-CN" b="0" dirty="0" smtClean="0"/>
              <a:t>based hedging </a:t>
            </a:r>
            <a:r>
              <a:rPr lang="en-US" altLang="zh-CN" b="0" dirty="0"/>
              <a:t>approach.</a:t>
            </a:r>
          </a:p>
          <a:p>
            <a:pPr lvl="2"/>
            <a:r>
              <a:rPr lang="en-US" altLang="zh-CN" b="0" dirty="0" smtClean="0"/>
              <a:t>In </a:t>
            </a:r>
            <a:r>
              <a:rPr lang="en-US" altLang="zh-CN" b="0" dirty="0"/>
              <a:t>practice, short-term rates are usually more volatile than, and are not </a:t>
            </a:r>
            <a:r>
              <a:rPr lang="en-US" altLang="zh-CN" b="0" dirty="0" smtClean="0"/>
              <a:t>perfectly correlated </a:t>
            </a:r>
            <a:r>
              <a:rPr lang="en-US" altLang="zh-CN" b="0" dirty="0"/>
              <a:t>with, long-term </a:t>
            </a:r>
            <a:r>
              <a:rPr lang="en-US" altLang="zh-CN" b="0" dirty="0" smtClean="0"/>
              <a:t>rates. </a:t>
            </a:r>
          </a:p>
          <a:p>
            <a:pPr lvl="2"/>
            <a:r>
              <a:rPr lang="en-US" altLang="zh-CN" b="0" dirty="0" smtClean="0"/>
              <a:t>Sometimes </a:t>
            </a:r>
            <a:r>
              <a:rPr lang="en-US" altLang="zh-CN" b="0" dirty="0"/>
              <a:t>it even happens that short- and long-term rates move in </a:t>
            </a:r>
            <a:r>
              <a:rPr lang="en-US" altLang="zh-CN" b="0" dirty="0" smtClean="0"/>
              <a:t>opposite directions </a:t>
            </a:r>
            <a:r>
              <a:rPr lang="en-US" altLang="zh-CN" b="0" dirty="0"/>
              <a:t>to each other.</a:t>
            </a:r>
          </a:p>
          <a:p>
            <a:pPr lvl="1"/>
            <a:r>
              <a:rPr lang="en-US" altLang="zh-CN" b="0" dirty="0"/>
              <a:t>Therefore, additional tools are required to manage interest rate exposure. Tools such </a:t>
            </a:r>
            <a:r>
              <a:rPr lang="en-US" altLang="zh-CN" b="0" dirty="0" smtClean="0"/>
              <a:t>as swaps</a:t>
            </a:r>
            <a:r>
              <a:rPr lang="en-US" altLang="zh-CN" b="0" dirty="0"/>
              <a:t>, FRAs, bond futures, Eurodollar futures, and other interest rate derivatives can </a:t>
            </a:r>
            <a:r>
              <a:rPr lang="en-US" altLang="zh-CN" b="0" dirty="0" smtClean="0"/>
              <a:t>be used </a:t>
            </a:r>
            <a:r>
              <a:rPr lang="en-US" altLang="zh-CN" b="0" dirty="0"/>
              <a:t>for this purpose.</a:t>
            </a:r>
            <a:endParaRPr lang="zh-CN" altLang="en-US" dirty="0"/>
          </a:p>
        </p:txBody>
      </p:sp>
    </p:spTree>
    <p:extLst>
      <p:ext uri="{BB962C8B-B14F-4D97-AF65-F5344CB8AC3E}">
        <p14:creationId xmlns:p14="http://schemas.microsoft.com/office/powerpoint/2010/main" val="241544121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77500" lnSpcReduction="20000"/>
          </a:bodyPr>
          <a:lstStyle/>
          <a:p>
            <a:r>
              <a:rPr lang="en-US" altLang="zh-CN" sz="2600" b="0" dirty="0" smtClean="0">
                <a:solidFill>
                  <a:srgbClr val="FF0000"/>
                </a:solidFill>
              </a:rPr>
              <a:t>Identify </a:t>
            </a:r>
            <a:r>
              <a:rPr lang="en-US" altLang="zh-CN" sz="2600" b="0" dirty="0">
                <a:solidFill>
                  <a:srgbClr val="FF0000"/>
                </a:solidFill>
              </a:rPr>
              <a:t>the most commonly used day count </a:t>
            </a:r>
            <a:r>
              <a:rPr lang="en-US" altLang="zh-CN" sz="2600" b="0" dirty="0" smtClean="0">
                <a:solidFill>
                  <a:srgbClr val="FF0000"/>
                </a:solidFill>
              </a:rPr>
              <a:t>conventions.</a:t>
            </a:r>
            <a:r>
              <a:rPr lang="en-US" altLang="zh-CN" sz="2800" b="0" dirty="0">
                <a:solidFill>
                  <a:srgbClr val="FF0000"/>
                </a:solidFill>
                <a:cs typeface="+mn-ea"/>
                <a:sym typeface="+mn-lt"/>
              </a:rPr>
              <a:t> </a:t>
            </a:r>
            <a:r>
              <a:rPr lang="en-US" altLang="zh-CN" sz="2800" b="0" dirty="0" smtClean="0">
                <a:solidFill>
                  <a:srgbClr val="FF0000"/>
                </a:solidFill>
                <a:cs typeface="+mn-ea"/>
                <a:sym typeface="+mn-lt"/>
              </a:rPr>
              <a:t>★</a:t>
            </a:r>
            <a:r>
              <a:rPr lang="en-US" altLang="zh-CN" sz="2800" b="0" dirty="0">
                <a:solidFill>
                  <a:srgbClr val="FF0000"/>
                </a:solidFill>
                <a:cs typeface="+mn-ea"/>
                <a:sym typeface="+mn-lt"/>
              </a:rPr>
              <a:t>★</a:t>
            </a:r>
            <a:endParaRPr lang="en-US" altLang="zh-CN" sz="2600" b="0" dirty="0" smtClean="0">
              <a:solidFill>
                <a:srgbClr val="FF0000"/>
              </a:solidFill>
            </a:endParaRPr>
          </a:p>
          <a:p>
            <a:r>
              <a:rPr lang="en-US" altLang="zh-CN" sz="2600" b="0" dirty="0" smtClean="0"/>
              <a:t>Calculate </a:t>
            </a:r>
            <a:r>
              <a:rPr lang="en-US" altLang="zh-CN" sz="2600" b="0" dirty="0"/>
              <a:t>the conversion of a discount rate to a price for a US Treasury bill. </a:t>
            </a:r>
            <a:r>
              <a:rPr lang="en-US" altLang="zh-CN" sz="2800" b="0" dirty="0">
                <a:cs typeface="+mn-ea"/>
                <a:sym typeface="+mn-lt"/>
              </a:rPr>
              <a:t>★</a:t>
            </a:r>
            <a:endParaRPr lang="en-US" altLang="zh-CN" sz="2600" b="0" dirty="0"/>
          </a:p>
          <a:p>
            <a:r>
              <a:rPr lang="en-US" altLang="zh-CN" sz="2600" b="0" dirty="0">
                <a:solidFill>
                  <a:srgbClr val="FF0000"/>
                </a:solidFill>
              </a:rPr>
              <a:t>Differentiate between the clean and dirty price for a US Treasury </a:t>
            </a:r>
            <a:r>
              <a:rPr lang="en-US" altLang="zh-CN" sz="2600" b="0" dirty="0" smtClean="0">
                <a:solidFill>
                  <a:srgbClr val="FF0000"/>
                </a:solidFill>
              </a:rPr>
              <a:t>bond and AI.</a:t>
            </a:r>
            <a:r>
              <a:rPr lang="en-US" altLang="zh-CN" sz="2800" b="0" dirty="0">
                <a:solidFill>
                  <a:srgbClr val="FF0000"/>
                </a:solidFill>
                <a:cs typeface="+mn-ea"/>
                <a:sym typeface="+mn-lt"/>
              </a:rPr>
              <a:t> </a:t>
            </a:r>
            <a:r>
              <a:rPr lang="en-US" altLang="zh-CN" sz="2800" b="0" dirty="0" smtClean="0">
                <a:solidFill>
                  <a:srgbClr val="FF0000"/>
                </a:solidFill>
                <a:cs typeface="+mn-ea"/>
                <a:sym typeface="+mn-lt"/>
              </a:rPr>
              <a:t>★★</a:t>
            </a:r>
            <a:r>
              <a:rPr lang="en-US" altLang="zh-CN" sz="2800" b="0" dirty="0">
                <a:solidFill>
                  <a:srgbClr val="FF0000"/>
                </a:solidFill>
                <a:cs typeface="+mn-ea"/>
                <a:sym typeface="+mn-lt"/>
              </a:rPr>
              <a:t>★</a:t>
            </a:r>
            <a:endParaRPr lang="en-US" altLang="zh-CN" sz="2600" b="0" dirty="0" smtClean="0">
              <a:solidFill>
                <a:srgbClr val="FF0000"/>
              </a:solidFill>
            </a:endParaRPr>
          </a:p>
          <a:p>
            <a:r>
              <a:rPr lang="en-US" altLang="zh-CN" sz="2600" b="0" dirty="0" smtClean="0"/>
              <a:t>Explain </a:t>
            </a:r>
            <a:r>
              <a:rPr lang="en-US" altLang="zh-CN" sz="2600" b="0" dirty="0"/>
              <a:t>and calculate a US Treasury bond futures contract conversion factor. </a:t>
            </a:r>
            <a:r>
              <a:rPr lang="en-US" altLang="zh-CN" sz="2800" b="0" dirty="0">
                <a:cs typeface="+mn-ea"/>
                <a:sym typeface="+mn-lt"/>
              </a:rPr>
              <a:t>★</a:t>
            </a:r>
            <a:endParaRPr lang="en-US" altLang="zh-CN" sz="2600" b="0" dirty="0"/>
          </a:p>
          <a:p>
            <a:r>
              <a:rPr lang="en-US" altLang="zh-CN" sz="2600" b="0" dirty="0"/>
              <a:t>Calculate the cost of delivering a bond into a Treasury bond futures contract. </a:t>
            </a:r>
            <a:r>
              <a:rPr lang="en-US" altLang="zh-CN" sz="2800" b="0" dirty="0">
                <a:cs typeface="+mn-ea"/>
                <a:sym typeface="+mn-lt"/>
              </a:rPr>
              <a:t>★</a:t>
            </a:r>
            <a:endParaRPr lang="en-US" altLang="zh-CN" sz="2600" b="0" dirty="0"/>
          </a:p>
          <a:p>
            <a:r>
              <a:rPr lang="en-US" altLang="zh-CN" sz="2600" b="0" dirty="0">
                <a:solidFill>
                  <a:srgbClr val="FF0000"/>
                </a:solidFill>
              </a:rPr>
              <a:t>Describe the impact of the level and shape of the yield curve on the cheapest-to-deliver Treasury bond decision. </a:t>
            </a:r>
            <a:r>
              <a:rPr lang="en-US" altLang="zh-CN" sz="2800" b="0" dirty="0" smtClean="0">
                <a:solidFill>
                  <a:srgbClr val="FF0000"/>
                </a:solidFill>
                <a:cs typeface="+mn-ea"/>
                <a:sym typeface="+mn-lt"/>
              </a:rPr>
              <a:t>★★</a:t>
            </a:r>
            <a:r>
              <a:rPr lang="en-US" altLang="zh-CN" sz="2800" b="0" dirty="0">
                <a:solidFill>
                  <a:srgbClr val="FF0000"/>
                </a:solidFill>
                <a:cs typeface="+mn-ea"/>
                <a:sym typeface="+mn-lt"/>
              </a:rPr>
              <a:t>★</a:t>
            </a:r>
            <a:endParaRPr lang="en-US" altLang="zh-CN" sz="2600" b="0" dirty="0">
              <a:solidFill>
                <a:srgbClr val="FF0000"/>
              </a:solidFill>
            </a:endParaRPr>
          </a:p>
          <a:p>
            <a:r>
              <a:rPr lang="en-US" altLang="zh-CN" sz="2600" b="0" dirty="0"/>
              <a:t>Calculate the theoretical futures price for a Treasury bond futures contract. </a:t>
            </a:r>
            <a:r>
              <a:rPr lang="en-US" altLang="zh-CN" sz="2800" b="0" dirty="0">
                <a:cs typeface="+mn-ea"/>
                <a:sym typeface="+mn-lt"/>
              </a:rPr>
              <a:t>★</a:t>
            </a:r>
            <a:endParaRPr lang="en-US" altLang="zh-CN" sz="2600" b="0" dirty="0"/>
          </a:p>
          <a:p>
            <a:r>
              <a:rPr lang="en-US" altLang="zh-CN" sz="2600" b="0" dirty="0">
                <a:solidFill>
                  <a:srgbClr val="FF0000"/>
                </a:solidFill>
              </a:rPr>
              <a:t>Calculate the final contract price on a Eurodollar futures contract. </a:t>
            </a:r>
            <a:r>
              <a:rPr lang="en-US" altLang="zh-CN" sz="2800" b="0" dirty="0" smtClean="0">
                <a:solidFill>
                  <a:srgbClr val="FF0000"/>
                </a:solidFill>
                <a:cs typeface="+mn-ea"/>
                <a:sym typeface="+mn-lt"/>
              </a:rPr>
              <a:t>★★</a:t>
            </a:r>
            <a:r>
              <a:rPr lang="en-US" altLang="zh-CN" sz="2800" b="0" dirty="0">
                <a:solidFill>
                  <a:srgbClr val="FF0000"/>
                </a:solidFill>
                <a:cs typeface="+mn-ea"/>
                <a:sym typeface="+mn-lt"/>
              </a:rPr>
              <a:t>★</a:t>
            </a:r>
            <a:endParaRPr lang="en-US" altLang="zh-CN" sz="2600" b="0" dirty="0">
              <a:solidFill>
                <a:srgbClr val="FF0000"/>
              </a:solidFill>
            </a:endParaRPr>
          </a:p>
          <a:p>
            <a:r>
              <a:rPr lang="en-US" altLang="zh-CN" sz="2600" b="0" dirty="0"/>
              <a:t>Describe and compute the Eurodollar futures contract convexity adjustment. </a:t>
            </a:r>
            <a:r>
              <a:rPr lang="en-US" altLang="zh-CN" sz="2800" b="0" dirty="0" smtClean="0">
                <a:cs typeface="+mn-ea"/>
                <a:sym typeface="+mn-lt"/>
              </a:rPr>
              <a:t>★</a:t>
            </a:r>
            <a:r>
              <a:rPr lang="en-US" altLang="zh-CN" sz="2800" b="0" dirty="0">
                <a:cs typeface="+mn-ea"/>
                <a:sym typeface="+mn-lt"/>
              </a:rPr>
              <a:t>★</a:t>
            </a:r>
            <a:endParaRPr lang="en-US" altLang="zh-CN" sz="2600" b="0" dirty="0"/>
          </a:p>
          <a:p>
            <a:r>
              <a:rPr lang="en-US" altLang="zh-CN" sz="2600" b="0" dirty="0"/>
              <a:t>Explain how Eurodollar futures can be used to extend the LIBOR zero curve. </a:t>
            </a:r>
            <a:r>
              <a:rPr lang="en-US" altLang="zh-CN" sz="2800" b="0" dirty="0">
                <a:cs typeface="+mn-ea"/>
                <a:sym typeface="+mn-lt"/>
              </a:rPr>
              <a:t>★</a:t>
            </a:r>
            <a:endParaRPr lang="en-US" altLang="zh-CN" sz="2600" b="0" dirty="0"/>
          </a:p>
          <a:p>
            <a:r>
              <a:rPr lang="en-US" altLang="zh-CN" sz="2600" b="0" dirty="0"/>
              <a:t>Calculate the duration-based hedge ratio and create a duration-based hedging strategy using interest rate futures. </a:t>
            </a:r>
            <a:r>
              <a:rPr lang="en-US" altLang="zh-CN" sz="2800" b="0" dirty="0" smtClean="0">
                <a:cs typeface="+mn-ea"/>
                <a:sym typeface="+mn-lt"/>
              </a:rPr>
              <a:t>★</a:t>
            </a:r>
            <a:r>
              <a:rPr lang="en-US" altLang="zh-CN" sz="2800" b="0" dirty="0">
                <a:cs typeface="+mn-ea"/>
                <a:sym typeface="+mn-lt"/>
              </a:rPr>
              <a:t>★</a:t>
            </a:r>
            <a:endParaRPr lang="en-US" altLang="zh-CN" sz="2600" b="0" dirty="0"/>
          </a:p>
          <a:p>
            <a:r>
              <a:rPr lang="en-US" altLang="zh-CN" sz="2600" b="0" dirty="0"/>
              <a:t>Explain the limitations of using a duration-based hedging strategy</a:t>
            </a:r>
            <a:r>
              <a:rPr lang="en-US" altLang="zh-CN" b="0" dirty="0"/>
              <a:t>. </a:t>
            </a:r>
            <a:r>
              <a:rPr lang="en-US" altLang="zh-CN" b="0" dirty="0">
                <a:cs typeface="+mn-ea"/>
                <a:sym typeface="+mn-lt"/>
              </a:rPr>
              <a:t>★</a:t>
            </a:r>
            <a:endParaRPr lang="en-US" altLang="zh-CN" b="0" dirty="0"/>
          </a:p>
          <a:p>
            <a:endParaRPr lang="zh-CN" altLang="en-US" dirty="0"/>
          </a:p>
        </p:txBody>
      </p:sp>
    </p:spTree>
    <p:extLst>
      <p:ext uri="{BB962C8B-B14F-4D97-AF65-F5344CB8AC3E}">
        <p14:creationId xmlns:p14="http://schemas.microsoft.com/office/powerpoint/2010/main" val="143095356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Swaps</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109371603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Plain Vanilla Interest Rate Swap</a:t>
            </a:r>
            <a:endParaRPr lang="zh-CN" altLang="en-US" dirty="0"/>
          </a:p>
        </p:txBody>
      </p:sp>
      <p:sp>
        <p:nvSpPr>
          <p:cNvPr id="3" name="文本占位符 2"/>
          <p:cNvSpPr>
            <a:spLocks noGrp="1"/>
          </p:cNvSpPr>
          <p:nvPr>
            <p:ph type="body" sz="quarter" idx="10"/>
          </p:nvPr>
        </p:nvSpPr>
        <p:spPr/>
        <p:txBody>
          <a:bodyPr/>
          <a:lstStyle/>
          <a:p>
            <a:r>
              <a:rPr lang="en-US" altLang="zh-CN" dirty="0"/>
              <a:t>In a plain-vanilla interest-rate swap</a:t>
            </a:r>
            <a:r>
              <a:rPr lang="en-US" altLang="zh-CN" dirty="0" smtClean="0"/>
              <a:t>,:</a:t>
            </a:r>
          </a:p>
          <a:p>
            <a:pPr lvl="1"/>
            <a:r>
              <a:rPr lang="en-US" altLang="zh-CN" dirty="0"/>
              <a:t>O</a:t>
            </a:r>
            <a:r>
              <a:rPr lang="en-US" altLang="zh-CN" b="0" dirty="0" smtClean="0"/>
              <a:t>ne </a:t>
            </a:r>
            <a:r>
              <a:rPr lang="en-US" altLang="zh-CN" b="0" dirty="0"/>
              <a:t>company agrees to </a:t>
            </a:r>
            <a:r>
              <a:rPr lang="en-US" altLang="zh-CN" b="0" u="sng" dirty="0"/>
              <a:t>pay a predetermined </a:t>
            </a:r>
            <a:r>
              <a:rPr lang="en-US" altLang="zh-CN" b="0" u="sng" dirty="0" smtClean="0"/>
              <a:t>fixed interest </a:t>
            </a:r>
            <a:r>
              <a:rPr lang="en-US" altLang="zh-CN" b="0" u="sng" dirty="0"/>
              <a:t>rate in exchange for receiving a variable interest rate</a:t>
            </a:r>
            <a:r>
              <a:rPr lang="en-US" altLang="zh-CN" b="0" dirty="0"/>
              <a:t> </a:t>
            </a:r>
            <a:r>
              <a:rPr lang="en-US" altLang="zh-CN" b="0" dirty="0">
                <a:solidFill>
                  <a:srgbClr val="FF0000"/>
                </a:solidFill>
              </a:rPr>
              <a:t>(</a:t>
            </a:r>
            <a:r>
              <a:rPr lang="en-US" altLang="zh-CN" b="0" i="1" dirty="0">
                <a:solidFill>
                  <a:srgbClr val="FF0000"/>
                </a:solidFill>
              </a:rPr>
              <a:t>pay-fixed and </a:t>
            </a:r>
            <a:r>
              <a:rPr lang="en-US" altLang="zh-CN" b="0" i="1" dirty="0" smtClean="0">
                <a:solidFill>
                  <a:srgbClr val="FF0000"/>
                </a:solidFill>
              </a:rPr>
              <a:t>receive floating</a:t>
            </a:r>
            <a:r>
              <a:rPr lang="en-US" altLang="zh-CN" b="0" dirty="0" smtClean="0">
                <a:solidFill>
                  <a:srgbClr val="FF0000"/>
                </a:solidFill>
              </a:rPr>
              <a:t>), </a:t>
            </a:r>
            <a:r>
              <a:rPr lang="en-US" altLang="zh-CN" b="0" dirty="0" smtClean="0"/>
              <a:t>and </a:t>
            </a:r>
            <a:r>
              <a:rPr lang="en-US" altLang="zh-CN" b="0" dirty="0"/>
              <a:t>their counterparty agrees to pay a variable rate and receive a fixed interest </a:t>
            </a:r>
            <a:r>
              <a:rPr lang="en-US" altLang="zh-CN" b="0" dirty="0" smtClean="0"/>
              <a:t>rate </a:t>
            </a:r>
            <a:r>
              <a:rPr lang="en-US" altLang="zh-CN" b="0" dirty="0" smtClean="0">
                <a:solidFill>
                  <a:srgbClr val="FF0000"/>
                </a:solidFill>
              </a:rPr>
              <a:t>(</a:t>
            </a:r>
            <a:r>
              <a:rPr lang="en-US" altLang="zh-CN" b="0" i="1" dirty="0" smtClean="0">
                <a:solidFill>
                  <a:srgbClr val="FF0000"/>
                </a:solidFill>
              </a:rPr>
              <a:t>pay-floating </a:t>
            </a:r>
            <a:r>
              <a:rPr lang="en-US" altLang="zh-CN" b="0" i="1" dirty="0">
                <a:solidFill>
                  <a:srgbClr val="FF0000"/>
                </a:solidFill>
              </a:rPr>
              <a:t>and receive-fixed</a:t>
            </a:r>
            <a:r>
              <a:rPr lang="en-US" altLang="zh-CN" b="0" dirty="0" smtClean="0">
                <a:solidFill>
                  <a:srgbClr val="FF0000"/>
                </a:solidFill>
              </a:rPr>
              <a:t>).</a:t>
            </a:r>
          </a:p>
          <a:p>
            <a:pPr lvl="2"/>
            <a:r>
              <a:rPr lang="en-US" altLang="zh-CN" b="1" dirty="0"/>
              <a:t>The counterparty who pays the fixed rate is called the swap payer. </a:t>
            </a:r>
            <a:r>
              <a:rPr lang="en-US" altLang="zh-CN" b="0" dirty="0" smtClean="0"/>
              <a:t>This counterparty </a:t>
            </a:r>
            <a:r>
              <a:rPr lang="en-US" altLang="zh-CN" b="0" dirty="0"/>
              <a:t>profits from an </a:t>
            </a:r>
            <a:r>
              <a:rPr lang="en-US" altLang="zh-CN" b="0" i="1" dirty="0"/>
              <a:t>increase </a:t>
            </a:r>
            <a:r>
              <a:rPr lang="en-US" altLang="zh-CN" b="0" dirty="0"/>
              <a:t>in interest </a:t>
            </a:r>
            <a:r>
              <a:rPr lang="en-US" altLang="zh-CN" b="0" dirty="0" smtClean="0"/>
              <a:t>rates.</a:t>
            </a:r>
          </a:p>
          <a:p>
            <a:pPr lvl="2"/>
            <a:r>
              <a:rPr lang="en-US" altLang="zh-CN" b="1" dirty="0"/>
              <a:t>The counterparty who pays the floating rate is called the swap receiver. </a:t>
            </a:r>
            <a:r>
              <a:rPr lang="en-US" altLang="zh-CN" b="0" dirty="0" smtClean="0"/>
              <a:t>This counterparty </a:t>
            </a:r>
            <a:r>
              <a:rPr lang="en-US" altLang="zh-CN" b="0" dirty="0"/>
              <a:t>profits from a decrease in interest rates</a:t>
            </a:r>
            <a:endParaRPr lang="zh-CN" altLang="en-US" dirty="0"/>
          </a:p>
        </p:txBody>
      </p:sp>
    </p:spTree>
    <p:extLst>
      <p:ext uri="{BB962C8B-B14F-4D97-AF65-F5344CB8AC3E}">
        <p14:creationId xmlns:p14="http://schemas.microsoft.com/office/powerpoint/2010/main" val="373194987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Plain Vanilla Interest Rate Swap</a:t>
            </a:r>
            <a:endParaRPr lang="zh-CN" altLang="en-US"/>
          </a:p>
        </p:txBody>
      </p:sp>
      <p:sp>
        <p:nvSpPr>
          <p:cNvPr id="3" name="文本占位符 2"/>
          <p:cNvSpPr>
            <a:spLocks noGrp="1"/>
          </p:cNvSpPr>
          <p:nvPr>
            <p:ph type="body" sz="quarter" idx="10"/>
          </p:nvPr>
        </p:nvSpPr>
        <p:spPr/>
        <p:txBody>
          <a:bodyPr>
            <a:normAutofit fontScale="92500"/>
          </a:bodyPr>
          <a:lstStyle/>
          <a:p>
            <a:r>
              <a:rPr lang="en-US" altLang="zh-CN" dirty="0" smtClean="0"/>
              <a:t>An illustration </a:t>
            </a:r>
            <a:r>
              <a:rPr lang="en-US" altLang="zh-CN" dirty="0"/>
              <a:t>given the following assumptions</a:t>
            </a:r>
            <a:r>
              <a:rPr lang="en-US" altLang="zh-CN" dirty="0" smtClean="0"/>
              <a:t>:</a:t>
            </a:r>
          </a:p>
          <a:p>
            <a:pPr lvl="1"/>
            <a:r>
              <a:rPr lang="en-US" altLang="zh-CN" b="1" i="1" dirty="0"/>
              <a:t>Notional principal: </a:t>
            </a:r>
            <a:r>
              <a:rPr lang="en-US" altLang="zh-CN" b="0" dirty="0"/>
              <a:t>$100 million. It is called </a:t>
            </a:r>
            <a:r>
              <a:rPr lang="en-US" altLang="zh-CN" b="0" i="1" dirty="0"/>
              <a:t>notional </a:t>
            </a:r>
            <a:r>
              <a:rPr lang="en-US" altLang="zh-CN" b="0" dirty="0"/>
              <a:t>principal because in the </a:t>
            </a:r>
            <a:r>
              <a:rPr lang="en-US" altLang="zh-CN" b="0" dirty="0" smtClean="0"/>
              <a:t>vanilla version </a:t>
            </a:r>
            <a:r>
              <a:rPr lang="en-US" altLang="zh-CN" b="0" dirty="0"/>
              <a:t>of the swap principal is not exchanged</a:t>
            </a:r>
            <a:r>
              <a:rPr lang="en-US" altLang="zh-CN" b="0" dirty="0" smtClean="0"/>
              <a:t>.</a:t>
            </a:r>
          </a:p>
          <a:p>
            <a:pPr lvl="1"/>
            <a:r>
              <a:rPr lang="en-US" altLang="zh-CN" b="1" i="1" dirty="0"/>
              <a:t>Swap agreement: </a:t>
            </a:r>
            <a:r>
              <a:rPr lang="en-US" altLang="zh-CN" b="0" dirty="0"/>
              <a:t>Pay fixed rate of 5.0% and receive 6 month LIBOR </a:t>
            </a:r>
            <a:r>
              <a:rPr lang="en-US" altLang="zh-CN" b="0" dirty="0" smtClean="0"/>
              <a:t>rate</a:t>
            </a:r>
          </a:p>
          <a:p>
            <a:pPr lvl="1"/>
            <a:r>
              <a:rPr lang="en-US" altLang="zh-CN" b="1" i="1" dirty="0"/>
              <a:t>Term (aka, tenor): </a:t>
            </a:r>
            <a:r>
              <a:rPr lang="en-US" altLang="zh-CN" b="0" dirty="0"/>
              <a:t>3 years with payments every six months</a:t>
            </a:r>
            <a:endParaRPr lang="en-US" altLang="zh-CN" dirty="0" smtClean="0"/>
          </a:p>
          <a:p>
            <a:r>
              <a:rPr lang="en-US" altLang="zh-CN" dirty="0" smtClean="0"/>
              <a:t>A note </a:t>
            </a:r>
            <a:r>
              <a:rPr lang="en-US" altLang="zh-CN" dirty="0"/>
              <a:t>on discounting </a:t>
            </a:r>
            <a:r>
              <a:rPr lang="en-US" altLang="zh-CN" dirty="0" smtClean="0"/>
              <a:t>the LIBOR </a:t>
            </a:r>
            <a:r>
              <a:rPr lang="en-US" altLang="zh-CN" dirty="0"/>
              <a:t>scandal and financial </a:t>
            </a:r>
            <a:r>
              <a:rPr lang="en-US" altLang="zh-CN" dirty="0" smtClean="0"/>
              <a:t>crisis.</a:t>
            </a:r>
          </a:p>
          <a:p>
            <a:pPr lvl="1"/>
            <a:r>
              <a:rPr lang="en-US" altLang="zh-CN" b="0" dirty="0"/>
              <a:t>In normal market conditions, it [the LIBOR </a:t>
            </a:r>
            <a:r>
              <a:rPr lang="en-US" altLang="zh-CN" b="0" dirty="0" smtClean="0"/>
              <a:t>–OIS </a:t>
            </a:r>
            <a:r>
              <a:rPr lang="en-US" altLang="zh-CN" b="0" dirty="0"/>
              <a:t>spread] is about 10 basis points</a:t>
            </a:r>
            <a:r>
              <a:rPr lang="en-US" altLang="zh-CN" b="0" dirty="0" smtClean="0"/>
              <a:t>.</a:t>
            </a:r>
            <a:r>
              <a:rPr lang="en-US" altLang="zh-CN" b="0" dirty="0"/>
              <a:t> </a:t>
            </a:r>
            <a:r>
              <a:rPr lang="en-US" altLang="zh-CN" dirty="0"/>
              <a:t>D</a:t>
            </a:r>
            <a:r>
              <a:rPr lang="en-US" altLang="zh-CN" b="0" dirty="0" smtClean="0"/>
              <a:t>uring </a:t>
            </a:r>
            <a:r>
              <a:rPr lang="en-US" altLang="zh-CN" b="0" dirty="0"/>
              <a:t>and in the wake of </a:t>
            </a:r>
            <a:r>
              <a:rPr lang="en-US" altLang="zh-CN" b="0" dirty="0" smtClean="0"/>
              <a:t>the financial </a:t>
            </a:r>
            <a:r>
              <a:rPr lang="en-US" altLang="zh-CN" b="0" dirty="0"/>
              <a:t>crisis the spread experienced </a:t>
            </a:r>
            <a:r>
              <a:rPr lang="en-US" altLang="zh-CN" b="0" u="sng" dirty="0"/>
              <a:t>unprecedented volatility, as well as spikes </a:t>
            </a:r>
            <a:r>
              <a:rPr lang="en-US" altLang="zh-CN" b="0" u="sng" dirty="0" smtClean="0"/>
              <a:t>as high </a:t>
            </a:r>
            <a:r>
              <a:rPr lang="en-US" altLang="zh-CN" b="0" u="sng" dirty="0"/>
              <a:t>as several hundred basis points</a:t>
            </a:r>
            <a:r>
              <a:rPr lang="en-US" altLang="zh-CN" b="0" u="sng" dirty="0" smtClean="0"/>
              <a:t>.</a:t>
            </a:r>
          </a:p>
          <a:p>
            <a:pPr lvl="1"/>
            <a:r>
              <a:rPr lang="en-US" altLang="zh-CN" b="0" dirty="0"/>
              <a:t>Banks and financial institutions today do not use LIBOR as the risk-free rate at which </a:t>
            </a:r>
            <a:r>
              <a:rPr lang="en-US" altLang="zh-CN" b="0" dirty="0" smtClean="0"/>
              <a:t>they discount </a:t>
            </a:r>
            <a:r>
              <a:rPr lang="en-US" altLang="zh-CN" b="0" dirty="0"/>
              <a:t>cash flows. </a:t>
            </a:r>
            <a:r>
              <a:rPr lang="en-US" altLang="zh-CN" b="0" dirty="0">
                <a:solidFill>
                  <a:srgbClr val="FF0000"/>
                </a:solidFill>
              </a:rPr>
              <a:t>Rather they use the Overnight Indexed Swap rate (OIS).</a:t>
            </a:r>
            <a:endParaRPr lang="zh-CN" altLang="en-US" u="sng" dirty="0">
              <a:solidFill>
                <a:srgbClr val="FF0000"/>
              </a:solidFill>
            </a:endParaRPr>
          </a:p>
        </p:txBody>
      </p:sp>
    </p:spTree>
    <p:extLst>
      <p:ext uri="{BB962C8B-B14F-4D97-AF65-F5344CB8AC3E}">
        <p14:creationId xmlns:p14="http://schemas.microsoft.com/office/powerpoint/2010/main" val="129839939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51383"/>
            <a:ext cx="7840337" cy="576064"/>
          </a:xfrm>
        </p:spPr>
        <p:txBody>
          <a:bodyPr>
            <a:noAutofit/>
          </a:bodyPr>
          <a:lstStyle/>
          <a:p>
            <a:pPr>
              <a:lnSpc>
                <a:spcPct val="140000"/>
              </a:lnSpc>
            </a:pPr>
            <a:r>
              <a:rPr lang="en-US" altLang="zh-CN" sz="2670" dirty="0"/>
              <a:t>Comparative Advantage Argument</a:t>
            </a:r>
          </a:p>
        </p:txBody>
      </p:sp>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011641443"/>
              </p:ext>
            </p:extLst>
          </p:nvPr>
        </p:nvGraphicFramePr>
        <p:xfrm>
          <a:off x="609600" y="1053105"/>
          <a:ext cx="7092950" cy="1111251"/>
        </p:xfrm>
        <a:graphic>
          <a:graphicData uri="http://schemas.openxmlformats.org/drawingml/2006/table">
            <a:tbl>
              <a:tblPr firstRow="1" bandRow="1">
                <a:tableStyleId>{93296810-A885-4BE3-A3E7-6D5BEEA58F35}</a:tableStyleId>
              </a:tblPr>
              <a:tblGrid>
                <a:gridCol w="2091802">
                  <a:extLst>
                    <a:ext uri="{9D8B030D-6E8A-4147-A177-3AD203B41FA5}">
                      <a16:colId xmlns="" xmlns:a16="http://schemas.microsoft.com/office/drawing/2014/main" val="20000"/>
                    </a:ext>
                  </a:extLst>
                </a:gridCol>
                <a:gridCol w="818750">
                  <a:extLst>
                    <a:ext uri="{9D8B030D-6E8A-4147-A177-3AD203B41FA5}">
                      <a16:colId xmlns="" xmlns:a16="http://schemas.microsoft.com/office/drawing/2014/main" val="20001"/>
                    </a:ext>
                  </a:extLst>
                </a:gridCol>
                <a:gridCol w="1348177">
                  <a:extLst>
                    <a:ext uri="{9D8B030D-6E8A-4147-A177-3AD203B41FA5}">
                      <a16:colId xmlns="" xmlns:a16="http://schemas.microsoft.com/office/drawing/2014/main" val="20002"/>
                    </a:ext>
                  </a:extLst>
                </a:gridCol>
                <a:gridCol w="2834221">
                  <a:extLst>
                    <a:ext uri="{9D8B030D-6E8A-4147-A177-3AD203B41FA5}">
                      <a16:colId xmlns="" xmlns:a16="http://schemas.microsoft.com/office/drawing/2014/main" val="20003"/>
                    </a:ext>
                  </a:extLst>
                </a:gridCol>
              </a:tblGrid>
              <a:tr h="370417">
                <a:tc>
                  <a:txBody>
                    <a:bodyPr/>
                    <a:lstStyle/>
                    <a:p>
                      <a:pPr algn="ct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Fixed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Floating</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Comparative 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0"/>
                  </a:ext>
                </a:extLst>
              </a:tr>
              <a:tr h="370417">
                <a:tc>
                  <a:txBody>
                    <a:bodyPr/>
                    <a:lstStyle/>
                    <a:p>
                      <a:pPr algn="ctr"/>
                      <a:r>
                        <a:rPr lang="en-US" altLang="zh-CN" sz="1800" dirty="0" smtClean="0"/>
                        <a:t>Citigroup</a:t>
                      </a: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4%</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Libor +1%</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Fixed Market</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1"/>
                  </a:ext>
                </a:extLst>
              </a:tr>
              <a:tr h="370417">
                <a:tc>
                  <a:txBody>
                    <a:bodyPr/>
                    <a:lstStyle/>
                    <a:p>
                      <a:pPr algn="ctr"/>
                      <a:r>
                        <a:rPr lang="en-US" altLang="zh-CN" sz="1800" dirty="0" smtClean="0"/>
                        <a:t>Apple</a:t>
                      </a: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6%</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Libor + 2%</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Floating Market</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2"/>
                  </a:ext>
                </a:extLst>
              </a:tr>
            </a:tbl>
          </a:graphicData>
        </a:graphic>
      </p:graphicFrame>
      <p:grpSp>
        <p:nvGrpSpPr>
          <p:cNvPr id="5" name="组合 15"/>
          <p:cNvGrpSpPr>
            <a:grpSpLocks/>
          </p:cNvGrpSpPr>
          <p:nvPr/>
        </p:nvGrpSpPr>
        <p:grpSpPr bwMode="auto">
          <a:xfrm>
            <a:off x="609600" y="2754828"/>
            <a:ext cx="6854825" cy="1263650"/>
            <a:chOff x="1248778" y="3221232"/>
            <a:chExt cx="6855519" cy="1263211"/>
          </a:xfrm>
        </p:grpSpPr>
        <p:sp>
          <p:nvSpPr>
            <p:cNvPr id="6" name="文本框 4"/>
            <p:cNvSpPr txBox="1">
              <a:spLocks noChangeArrowheads="1"/>
            </p:cNvSpPr>
            <p:nvPr/>
          </p:nvSpPr>
          <p:spPr bwMode="auto">
            <a:xfrm>
              <a:off x="2772932" y="3462807"/>
              <a:ext cx="1132348" cy="369204"/>
            </a:xfrm>
            <a:prstGeom prst="rect">
              <a:avLst/>
            </a:pr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lang="en-US" altLang="zh-CN" sz="1800" dirty="0" smtClean="0">
                  <a:latin typeface="Segoe UI" panose="020B0502040204020203" pitchFamily="34" charset="0"/>
                  <a:cs typeface="Segoe UI" panose="020B0502040204020203" pitchFamily="34" charset="0"/>
                </a:rPr>
                <a:t>Citigroup</a:t>
              </a:r>
              <a:endParaRPr lang="zh-CN" altLang="en-US" sz="1800" dirty="0">
                <a:latin typeface="Segoe UI" panose="020B0502040204020203" pitchFamily="34" charset="0"/>
                <a:cs typeface="Segoe UI" panose="020B0502040204020203" pitchFamily="34" charset="0"/>
              </a:endParaRPr>
            </a:p>
          </p:txBody>
        </p:sp>
        <p:sp>
          <p:nvSpPr>
            <p:cNvPr id="7" name="文本框 5"/>
            <p:cNvSpPr txBox="1">
              <a:spLocks noChangeArrowheads="1"/>
            </p:cNvSpPr>
            <p:nvPr/>
          </p:nvSpPr>
          <p:spPr bwMode="auto">
            <a:xfrm>
              <a:off x="5616457" y="3728158"/>
              <a:ext cx="782666" cy="369204"/>
            </a:xfrm>
            <a:prstGeom prst="rect">
              <a:avLst/>
            </a:pr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lang="en-US" altLang="zh-CN" sz="1800" dirty="0" smtClean="0">
                  <a:latin typeface="Segoe UI" panose="020B0502040204020203" pitchFamily="34" charset="0"/>
                  <a:cs typeface="Segoe UI" panose="020B0502040204020203" pitchFamily="34" charset="0"/>
                </a:rPr>
                <a:t>Apple</a:t>
              </a:r>
              <a:endParaRPr lang="zh-CN" altLang="en-US" sz="1800" dirty="0">
                <a:latin typeface="Segoe UI" panose="020B0502040204020203" pitchFamily="34" charset="0"/>
                <a:cs typeface="Segoe UI" panose="020B0502040204020203" pitchFamily="34" charset="0"/>
              </a:endParaRPr>
            </a:p>
          </p:txBody>
        </p:sp>
        <p:grpSp>
          <p:nvGrpSpPr>
            <p:cNvPr id="8" name="组合 8"/>
            <p:cNvGrpSpPr>
              <a:grpSpLocks/>
            </p:cNvGrpSpPr>
            <p:nvPr/>
          </p:nvGrpSpPr>
          <p:grpSpPr bwMode="auto">
            <a:xfrm>
              <a:off x="3911285" y="3624317"/>
              <a:ext cx="1524154" cy="388803"/>
              <a:chOff x="3911285" y="3573504"/>
              <a:chExt cx="1524154" cy="388803"/>
            </a:xfrm>
          </p:grpSpPr>
          <p:sp>
            <p:nvSpPr>
              <p:cNvPr id="15" name="左箭头 14"/>
              <p:cNvSpPr/>
              <p:nvPr/>
            </p:nvSpPr>
            <p:spPr>
              <a:xfrm>
                <a:off x="3911285" y="3573504"/>
                <a:ext cx="1524154" cy="144413"/>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6" name="左箭头 15"/>
              <p:cNvSpPr/>
              <p:nvPr/>
            </p:nvSpPr>
            <p:spPr>
              <a:xfrm flipH="1">
                <a:off x="3911285" y="3817894"/>
                <a:ext cx="1524154" cy="144413"/>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grpSp>
        <p:sp>
          <p:nvSpPr>
            <p:cNvPr id="9" name="文本框 9"/>
            <p:cNvSpPr txBox="1">
              <a:spLocks noChangeArrowheads="1"/>
            </p:cNvSpPr>
            <p:nvPr/>
          </p:nvSpPr>
          <p:spPr bwMode="auto">
            <a:xfrm>
              <a:off x="4149026" y="3221232"/>
              <a:ext cx="10500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latin typeface="Segoe UI" panose="020B0502040204020203" pitchFamily="34" charset="0"/>
                  <a:cs typeface="Segoe UI" panose="020B0502040204020203" pitchFamily="34" charset="0"/>
                </a:rPr>
                <a:t>4% fixed</a:t>
              </a:r>
              <a:endParaRPr lang="zh-CN" altLang="en-US" sz="1800" b="0">
                <a:latin typeface="Segoe UI" panose="020B0502040204020203" pitchFamily="34" charset="0"/>
                <a:cs typeface="Segoe UI" panose="020B0502040204020203" pitchFamily="34" charset="0"/>
              </a:endParaRPr>
            </a:p>
          </p:txBody>
        </p:sp>
        <p:sp>
          <p:nvSpPr>
            <p:cNvPr id="10" name="文本框 10"/>
            <p:cNvSpPr txBox="1">
              <a:spLocks noChangeArrowheads="1"/>
            </p:cNvSpPr>
            <p:nvPr/>
          </p:nvSpPr>
          <p:spPr bwMode="auto">
            <a:xfrm>
              <a:off x="3937334" y="4115111"/>
              <a:ext cx="1473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latin typeface="Segoe UI" panose="020B0502040204020203" pitchFamily="34" charset="0"/>
                  <a:cs typeface="Segoe UI" panose="020B0502040204020203" pitchFamily="34" charset="0"/>
                </a:rPr>
                <a:t>Libor + 0.5%</a:t>
              </a:r>
              <a:endParaRPr lang="zh-CN" altLang="en-US" sz="1800" b="0">
                <a:latin typeface="Segoe UI" panose="020B0502040204020203" pitchFamily="34" charset="0"/>
                <a:cs typeface="Segoe UI" panose="020B0502040204020203" pitchFamily="34" charset="0"/>
              </a:endParaRPr>
            </a:p>
          </p:txBody>
        </p:sp>
        <p:sp>
          <p:nvSpPr>
            <p:cNvPr id="11" name="左箭头 10"/>
            <p:cNvSpPr/>
            <p:nvPr/>
          </p:nvSpPr>
          <p:spPr>
            <a:xfrm>
              <a:off x="1248778" y="3627491"/>
              <a:ext cx="1524154" cy="144413"/>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2" name="左箭头 11"/>
            <p:cNvSpPr/>
            <p:nvPr/>
          </p:nvSpPr>
          <p:spPr>
            <a:xfrm flipH="1">
              <a:off x="6580143" y="3868707"/>
              <a:ext cx="1524154" cy="144413"/>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3" name="文本框 13"/>
            <p:cNvSpPr txBox="1">
              <a:spLocks noChangeArrowheads="1"/>
            </p:cNvSpPr>
            <p:nvPr/>
          </p:nvSpPr>
          <p:spPr bwMode="auto">
            <a:xfrm>
              <a:off x="1484730" y="3221232"/>
              <a:ext cx="10500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latin typeface="Segoe UI" panose="020B0502040204020203" pitchFamily="34" charset="0"/>
                  <a:cs typeface="Segoe UI" panose="020B0502040204020203" pitchFamily="34" charset="0"/>
                </a:rPr>
                <a:t>4% fixed</a:t>
              </a:r>
              <a:endParaRPr lang="zh-CN" altLang="en-US" sz="1800" b="0">
                <a:latin typeface="Segoe UI" panose="020B0502040204020203" pitchFamily="34" charset="0"/>
                <a:cs typeface="Segoe UI" panose="020B0502040204020203" pitchFamily="34" charset="0"/>
              </a:endParaRPr>
            </a:p>
          </p:txBody>
        </p:sp>
        <p:sp>
          <p:nvSpPr>
            <p:cNvPr id="14" name="文本框 14"/>
            <p:cNvSpPr txBox="1">
              <a:spLocks noChangeArrowheads="1"/>
            </p:cNvSpPr>
            <p:nvPr/>
          </p:nvSpPr>
          <p:spPr bwMode="auto">
            <a:xfrm>
              <a:off x="6580254" y="4115111"/>
              <a:ext cx="12987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latin typeface="Segoe UI" panose="020B0502040204020203" pitchFamily="34" charset="0"/>
                  <a:cs typeface="Segoe UI" panose="020B0502040204020203" pitchFamily="34" charset="0"/>
                </a:rPr>
                <a:t>Libor + 2%</a:t>
              </a:r>
              <a:endParaRPr lang="zh-CN" altLang="en-US" sz="1800" b="0">
                <a:latin typeface="Segoe UI" panose="020B0502040204020203" pitchFamily="34" charset="0"/>
                <a:cs typeface="Segoe UI" panose="020B0502040204020203" pitchFamily="34" charset="0"/>
              </a:endParaRPr>
            </a:p>
          </p:txBody>
        </p:sp>
      </p:grpSp>
      <p:graphicFrame>
        <p:nvGraphicFramePr>
          <p:cNvPr id="17" name="表格 16"/>
          <p:cNvGraphicFramePr>
            <a:graphicFrameLocks noGrp="1"/>
          </p:cNvGraphicFramePr>
          <p:nvPr>
            <p:extLst>
              <p:ext uri="{D42A27DB-BD31-4B8C-83A1-F6EECF244321}">
                <p14:modId xmlns:p14="http://schemas.microsoft.com/office/powerpoint/2010/main" val="1306236169"/>
              </p:ext>
            </p:extLst>
          </p:nvPr>
        </p:nvGraphicFramePr>
        <p:xfrm>
          <a:off x="1682749" y="4504692"/>
          <a:ext cx="4702175" cy="1482724"/>
        </p:xfrm>
        <a:graphic>
          <a:graphicData uri="http://schemas.openxmlformats.org/drawingml/2006/table">
            <a:tbl>
              <a:tblPr firstRow="1" bandRow="1">
                <a:tableStyleId>{93296810-A885-4BE3-A3E7-6D5BEEA58F35}</a:tableStyleId>
              </a:tblPr>
              <a:tblGrid>
                <a:gridCol w="2032631">
                  <a:extLst>
                    <a:ext uri="{9D8B030D-6E8A-4147-A177-3AD203B41FA5}">
                      <a16:colId xmlns="" xmlns:a16="http://schemas.microsoft.com/office/drawing/2014/main" val="20000"/>
                    </a:ext>
                  </a:extLst>
                </a:gridCol>
                <a:gridCol w="818960">
                  <a:extLst>
                    <a:ext uri="{9D8B030D-6E8A-4147-A177-3AD203B41FA5}">
                      <a16:colId xmlns="" xmlns:a16="http://schemas.microsoft.com/office/drawing/2014/main" val="20001"/>
                    </a:ext>
                  </a:extLst>
                </a:gridCol>
                <a:gridCol w="1850584">
                  <a:extLst>
                    <a:ext uri="{9D8B030D-6E8A-4147-A177-3AD203B41FA5}">
                      <a16:colId xmlns="" xmlns:a16="http://schemas.microsoft.com/office/drawing/2014/main" val="20002"/>
                    </a:ext>
                  </a:extLst>
                </a:gridCol>
              </a:tblGrid>
              <a:tr h="370681">
                <a:tc gridSpan="3">
                  <a:txBody>
                    <a:bodyPr/>
                    <a:lstStyle/>
                    <a:p>
                      <a:pPr algn="ctr"/>
                      <a:r>
                        <a:rPr lang="en-US" altLang="zh-CN" sz="1800" dirty="0" smtClean="0"/>
                        <a:t>Net Borrowing Rates (i.e.,</a:t>
                      </a:r>
                      <a:r>
                        <a:rPr lang="en-US" altLang="zh-CN" sz="1800" baseline="0" dirty="0" smtClean="0"/>
                        <a:t> including swap</a:t>
                      </a:r>
                      <a:r>
                        <a:rPr lang="en-US" altLang="zh-CN" sz="1800" dirty="0" smtClean="0"/>
                        <a:t>)</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hMerge="1">
                  <a:txBody>
                    <a:bodyPr/>
                    <a:lstStyle/>
                    <a:p>
                      <a:endParaRPr lang="zh-CN" altLang="en-US" dirty="0">
                        <a:solidFill>
                          <a:srgbClr val="2C3E50"/>
                        </a:solidFill>
                        <a:latin typeface="Segoe UI" panose="020B0502040204020203" pitchFamily="34" charset="0"/>
                        <a:cs typeface="Segoe UI" panose="020B0502040204020203" pitchFamily="34" charset="0"/>
                      </a:endParaRPr>
                    </a:p>
                  </a:txBody>
                  <a:tcP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hMerge="1">
                  <a:txBody>
                    <a:bodyPr/>
                    <a:lstStyle/>
                    <a:p>
                      <a:endParaRPr lang="zh-CN" altLang="en-US" dirty="0">
                        <a:solidFill>
                          <a:srgbClr val="2C3E50"/>
                        </a:solidFill>
                        <a:latin typeface="Segoe UI" panose="020B0502040204020203" pitchFamily="34" charset="0"/>
                        <a:cs typeface="Segoe UI" panose="020B0502040204020203" pitchFamily="34" charset="0"/>
                      </a:endParaRPr>
                    </a:p>
                  </a:txBody>
                  <a:tcP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 xmlns:a16="http://schemas.microsoft.com/office/drawing/2014/main" val="10000"/>
                  </a:ext>
                </a:extLst>
              </a:tr>
              <a:tr h="370681">
                <a:tc>
                  <a:txBody>
                    <a:bodyPr/>
                    <a:lstStyle/>
                    <a:p>
                      <a:pPr algn="ct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Fixed</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Floating</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1"/>
                  </a:ext>
                </a:extLst>
              </a:tr>
              <a:tr h="370681">
                <a:tc>
                  <a:txBody>
                    <a:bodyPr/>
                    <a:lstStyle/>
                    <a:p>
                      <a:pPr algn="ctr"/>
                      <a:r>
                        <a:rPr lang="en-US" altLang="zh-CN" sz="1800" dirty="0" smtClean="0"/>
                        <a:t>Citigroup</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Libor</a:t>
                      </a:r>
                      <a:r>
                        <a:rPr lang="en-US" altLang="zh-CN" sz="1800" baseline="0" dirty="0" smtClean="0"/>
                        <a:t> + 0.5%</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2"/>
                  </a:ext>
                </a:extLst>
              </a:tr>
              <a:tr h="370681">
                <a:tc>
                  <a:txBody>
                    <a:bodyPr/>
                    <a:lstStyle/>
                    <a:p>
                      <a:pPr algn="ctr"/>
                      <a:r>
                        <a:rPr lang="en-US" altLang="zh-CN" sz="1800" dirty="0" smtClean="0"/>
                        <a:t>Apple</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5.5%</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034812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Comparative Advantage Argument</a:t>
            </a:r>
            <a:endParaRPr lang="zh-CN" altLang="en-US" dirty="0"/>
          </a:p>
        </p:txBody>
      </p:sp>
      <p:sp>
        <p:nvSpPr>
          <p:cNvPr id="3" name="文本占位符 2"/>
          <p:cNvSpPr>
            <a:spLocks noGrp="1"/>
          </p:cNvSpPr>
          <p:nvPr>
            <p:ph type="body" sz="quarter" idx="10"/>
          </p:nvPr>
        </p:nvSpPr>
        <p:spPr/>
        <p:txBody>
          <a:bodyPr/>
          <a:lstStyle/>
          <a:p>
            <a:r>
              <a:rPr lang="en-US" altLang="zh-CN" dirty="0" smtClean="0"/>
              <a:t>Criticism </a:t>
            </a:r>
            <a:r>
              <a:rPr lang="en-US" altLang="zh-CN" dirty="0"/>
              <a:t>of the comparative advantage </a:t>
            </a:r>
            <a:r>
              <a:rPr lang="en-US" altLang="zh-CN" dirty="0" smtClean="0"/>
              <a:t>argument</a:t>
            </a:r>
          </a:p>
          <a:p>
            <a:pPr lvl="1"/>
            <a:r>
              <a:rPr lang="en-US" altLang="zh-CN" b="0" dirty="0"/>
              <a:t>The contrary view concerns arbitrage: </a:t>
            </a:r>
            <a:r>
              <a:rPr lang="en-US" altLang="zh-CN" b="0" u="sng" dirty="0"/>
              <a:t>if markets were efficient, we would expect </a:t>
            </a:r>
            <a:r>
              <a:rPr lang="en-US" altLang="zh-CN" b="0" u="sng" dirty="0" smtClean="0"/>
              <a:t>the differentials </a:t>
            </a:r>
            <a:r>
              <a:rPr lang="en-US" altLang="zh-CN" b="0" u="sng" dirty="0"/>
              <a:t>that allow for the comparative advantage in the first place, to erode. </a:t>
            </a:r>
            <a:endParaRPr lang="en-US" altLang="zh-CN" b="0" u="sng" dirty="0" smtClean="0"/>
          </a:p>
          <a:p>
            <a:pPr lvl="1"/>
            <a:r>
              <a:rPr lang="en-US" altLang="zh-CN" b="0" dirty="0" smtClean="0"/>
              <a:t>The reason </a:t>
            </a:r>
            <a:r>
              <a:rPr lang="en-US" altLang="zh-CN" b="0" dirty="0"/>
              <a:t>that spread differentials appear to exist is due to the nature of the contracts </a:t>
            </a:r>
            <a:r>
              <a:rPr lang="en-US" altLang="zh-CN" b="0" dirty="0" smtClean="0"/>
              <a:t>available to </a:t>
            </a:r>
            <a:r>
              <a:rPr lang="en-US" altLang="zh-CN" b="0" dirty="0"/>
              <a:t>companies in fixed and floating markets.</a:t>
            </a:r>
            <a:endParaRPr lang="zh-CN" altLang="en-US" dirty="0"/>
          </a:p>
        </p:txBody>
      </p:sp>
    </p:spTree>
    <p:extLst>
      <p:ext uri="{BB962C8B-B14F-4D97-AF65-F5344CB8AC3E}">
        <p14:creationId xmlns:p14="http://schemas.microsoft.com/office/powerpoint/2010/main" val="245694595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470834" cy="576064"/>
          </a:xfrm>
        </p:spPr>
        <p:txBody>
          <a:bodyPr>
            <a:noAutofit/>
          </a:bodyPr>
          <a:lstStyle/>
          <a:p>
            <a:r>
              <a:rPr lang="en-US" altLang="zh-CN" sz="2670" dirty="0"/>
              <a:t>Using the Swap to </a:t>
            </a:r>
            <a:r>
              <a:rPr lang="en-US" altLang="zh-CN" sz="2670" dirty="0" smtClean="0"/>
              <a:t>Transform </a:t>
            </a:r>
            <a:r>
              <a:rPr lang="en-US" altLang="zh-CN" sz="2670" dirty="0"/>
              <a:t>a Liability </a:t>
            </a:r>
            <a:r>
              <a:rPr lang="en-US" altLang="zh-CN" sz="2670" dirty="0" smtClean="0"/>
              <a:t>and An Asset</a:t>
            </a:r>
            <a:endParaRPr lang="en-US" altLang="zh-CN" sz="2670" dirty="0"/>
          </a:p>
        </p:txBody>
      </p:sp>
      <p:sp>
        <p:nvSpPr>
          <p:cNvPr id="3" name="文本占位符 2"/>
          <p:cNvSpPr>
            <a:spLocks noGrp="1"/>
          </p:cNvSpPr>
          <p:nvPr>
            <p:ph type="body" sz="quarter" idx="10"/>
          </p:nvPr>
        </p:nvSpPr>
        <p:spPr/>
        <p:txBody>
          <a:bodyPr>
            <a:normAutofit/>
          </a:bodyPr>
          <a:lstStyle/>
          <a:p>
            <a:r>
              <a:rPr lang="en-US" altLang="zh-CN" dirty="0"/>
              <a:t>Using swap to transform a liability</a:t>
            </a:r>
            <a:r>
              <a:rPr lang="en-US" altLang="zh-CN" dirty="0" smtClean="0"/>
              <a:t>:</a:t>
            </a:r>
          </a:p>
          <a:p>
            <a:pPr lvl="1"/>
            <a:r>
              <a:rPr lang="en-US" altLang="zh-CN" b="0" dirty="0"/>
              <a:t>A company could use a swap to </a:t>
            </a:r>
            <a:r>
              <a:rPr lang="en-US" altLang="zh-CN" b="0" u="sng" dirty="0"/>
              <a:t>transform a </a:t>
            </a:r>
            <a:r>
              <a:rPr lang="en-US" altLang="zh-CN" b="0" u="sng" dirty="0" smtClean="0"/>
              <a:t>floating rate loan </a:t>
            </a:r>
            <a:r>
              <a:rPr lang="en-US" altLang="zh-CN" b="0" u="sng" dirty="0"/>
              <a:t>into a fixed-rate loan</a:t>
            </a:r>
            <a:r>
              <a:rPr lang="en-US" altLang="zh-CN" b="0" u="sng" dirty="0" smtClean="0"/>
              <a:t>.</a:t>
            </a:r>
          </a:p>
          <a:p>
            <a:pPr lvl="1">
              <a:buFont typeface="Wingdings" panose="05000000000000000000" pitchFamily="2" charset="2"/>
              <a:buChar char="ü"/>
            </a:pPr>
            <a:r>
              <a:rPr lang="en-US" altLang="zh-CN" b="0" dirty="0"/>
              <a:t>Suppose Microsoft (MSFT) can borrow $100.0 million </a:t>
            </a:r>
            <a:r>
              <a:rPr lang="en-US" altLang="zh-CN" b="0" i="1" dirty="0"/>
              <a:t>in </a:t>
            </a:r>
            <a:r>
              <a:rPr lang="en-US" altLang="zh-CN" b="0" i="1" dirty="0" smtClean="0"/>
              <a:t>the floating-rate </a:t>
            </a:r>
            <a:r>
              <a:rPr lang="en-US" altLang="zh-CN" b="0" i="1" dirty="0"/>
              <a:t>market </a:t>
            </a:r>
            <a:r>
              <a:rPr lang="en-US" altLang="zh-CN" b="0" dirty="0"/>
              <a:t>at LIBOR plus 10 basis points. Assume Microsoft prefers to </a:t>
            </a:r>
            <a:r>
              <a:rPr lang="en-US" altLang="zh-CN" b="0" dirty="0" smtClean="0"/>
              <a:t>borrow instead </a:t>
            </a:r>
            <a:r>
              <a:rPr lang="en-US" altLang="zh-CN" b="0" dirty="0"/>
              <a:t>at fixed rates. Microsoft enters the swap (illustrated below) such that</a:t>
            </a:r>
            <a:r>
              <a:rPr lang="en-US" altLang="zh-CN" b="0" dirty="0" smtClean="0"/>
              <a:t>:</a:t>
            </a:r>
          </a:p>
          <a:p>
            <a:pPr lvl="2"/>
            <a:r>
              <a:rPr lang="en-US" altLang="zh-CN" b="0" dirty="0" smtClean="0"/>
              <a:t>MSFT </a:t>
            </a:r>
            <a:r>
              <a:rPr lang="en-US" altLang="zh-CN" b="0" dirty="0"/>
              <a:t>pays LIBOR plus 0.10% to its lenders.</a:t>
            </a:r>
          </a:p>
          <a:p>
            <a:pPr lvl="2"/>
            <a:r>
              <a:rPr lang="en-US" altLang="zh-CN" b="0" dirty="0" smtClean="0"/>
              <a:t>Under </a:t>
            </a:r>
            <a:r>
              <a:rPr lang="en-US" altLang="zh-CN" b="0" dirty="0"/>
              <a:t>the terms of the swap, MSFT pays 5.015% fixed</a:t>
            </a:r>
          </a:p>
          <a:p>
            <a:pPr lvl="2"/>
            <a:r>
              <a:rPr lang="en-US" altLang="zh-CN" b="0" dirty="0" smtClean="0"/>
              <a:t>Under </a:t>
            </a:r>
            <a:r>
              <a:rPr lang="en-US" altLang="zh-CN" b="0" dirty="0"/>
              <a:t>the terms of the swap, MSFT receives </a:t>
            </a:r>
            <a:r>
              <a:rPr lang="en-US" altLang="zh-CN" b="0" dirty="0" smtClean="0"/>
              <a:t>LIBOR</a:t>
            </a:r>
          </a:p>
          <a:p>
            <a:pPr lvl="2">
              <a:buFont typeface="Wingdings" panose="05000000000000000000" pitchFamily="2" charset="2"/>
              <a:buChar char="p"/>
            </a:pPr>
            <a:r>
              <a:rPr lang="en-US" altLang="zh-CN" b="0" dirty="0"/>
              <a:t>Thus the swap effectively transforms borrowings at a floating rate of LIBOR plus 0.1% </a:t>
            </a:r>
            <a:r>
              <a:rPr lang="en-US" altLang="zh-CN" b="0" dirty="0" smtClean="0"/>
              <a:t>into borrowings </a:t>
            </a:r>
            <a:r>
              <a:rPr lang="en-US" altLang="zh-CN" b="0" dirty="0"/>
              <a:t>at a net fixed rate of 5.115%</a:t>
            </a:r>
            <a:endParaRPr lang="zh-CN" altLang="en-US" dirty="0"/>
          </a:p>
        </p:txBody>
      </p:sp>
    </p:spTree>
    <p:extLst>
      <p:ext uri="{BB962C8B-B14F-4D97-AF65-F5344CB8AC3E}">
        <p14:creationId xmlns:p14="http://schemas.microsoft.com/office/powerpoint/2010/main" val="27498417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Using swap to transform a liability:</a:t>
            </a:r>
          </a:p>
          <a:p>
            <a:pPr lvl="1">
              <a:buFont typeface="Wingdings" panose="05000000000000000000" pitchFamily="2" charset="2"/>
              <a:buChar char="ü"/>
            </a:pPr>
            <a:r>
              <a:rPr lang="en-US" altLang="zh-CN" b="0" dirty="0"/>
              <a:t>LIBOR cancels and MSFT pays 5.015% </a:t>
            </a:r>
            <a:r>
              <a:rPr lang="en-US" altLang="zh-CN" b="0" dirty="0" smtClean="0"/>
              <a:t>plus 10 </a:t>
            </a:r>
            <a:r>
              <a:rPr lang="en-US" altLang="zh-CN" b="0" dirty="0"/>
              <a:t>basis points. Suppose Intel (INTC) is the swap counterparty. Intel borrows 5.20 in </a:t>
            </a:r>
            <a:r>
              <a:rPr lang="en-US" altLang="zh-CN" b="0" dirty="0" smtClean="0"/>
              <a:t>fixed rate </a:t>
            </a:r>
            <a:r>
              <a:rPr lang="en-US" altLang="zh-CN" b="0" dirty="0"/>
              <a:t>markets but prefers to pay a floating rate. After Intel enters into the swap</a:t>
            </a:r>
            <a:r>
              <a:rPr lang="en-US" altLang="zh-CN" b="0" dirty="0" smtClean="0"/>
              <a:t>:</a:t>
            </a:r>
          </a:p>
          <a:p>
            <a:pPr lvl="2"/>
            <a:r>
              <a:rPr lang="en-US" altLang="zh-CN" b="0" dirty="0" smtClean="0"/>
              <a:t>Intel </a:t>
            </a:r>
            <a:r>
              <a:rPr lang="en-US" altLang="zh-CN" b="0" dirty="0"/>
              <a:t>pays 5.20% to its lenders.</a:t>
            </a:r>
          </a:p>
          <a:p>
            <a:pPr lvl="2"/>
            <a:r>
              <a:rPr lang="en-US" altLang="zh-CN" b="0" dirty="0" smtClean="0"/>
              <a:t>Intel </a:t>
            </a:r>
            <a:r>
              <a:rPr lang="en-US" altLang="zh-CN" b="0" dirty="0"/>
              <a:t>pays LIBOR under the terms of the swap.</a:t>
            </a:r>
          </a:p>
          <a:p>
            <a:pPr lvl="2"/>
            <a:r>
              <a:rPr lang="en-US" altLang="zh-CN" b="0" dirty="0" smtClean="0"/>
              <a:t>Intel </a:t>
            </a:r>
            <a:r>
              <a:rPr lang="en-US" altLang="zh-CN" b="0" dirty="0"/>
              <a:t>receives 4.985% under the terms of the swap</a:t>
            </a:r>
            <a:r>
              <a:rPr lang="en-US" altLang="zh-CN" b="0" dirty="0" smtClean="0"/>
              <a:t>.</a:t>
            </a:r>
          </a:p>
          <a:p>
            <a:pPr lvl="1">
              <a:buFont typeface="Wingdings" panose="05000000000000000000" pitchFamily="2" charset="2"/>
              <a:buChar char="p"/>
            </a:pPr>
            <a:r>
              <a:rPr lang="en-US" altLang="zh-CN" b="0" dirty="0"/>
              <a:t>This transforms Intel’s borrowing to a net floating rate of LIBOR + 215 basis point</a:t>
            </a:r>
            <a:r>
              <a:rPr lang="en-US" altLang="zh-CN" b="0" dirty="0" smtClean="0"/>
              <a:t>.</a:t>
            </a:r>
          </a:p>
          <a:p>
            <a:pPr marL="609585" lvl="1" indent="0">
              <a:buNone/>
            </a:pPr>
            <a:endParaRPr lang="zh-CN" altLang="en-US" dirty="0"/>
          </a:p>
        </p:txBody>
      </p:sp>
      <p:sp>
        <p:nvSpPr>
          <p:cNvPr id="4" name="标题 1"/>
          <p:cNvSpPr>
            <a:spLocks noGrp="1"/>
          </p:cNvSpPr>
          <p:nvPr>
            <p:ph type="title"/>
          </p:nvPr>
        </p:nvSpPr>
        <p:spPr>
          <a:xfrm>
            <a:off x="609599" y="62400"/>
            <a:ext cx="9669137" cy="576064"/>
          </a:xfrm>
        </p:spPr>
        <p:txBody>
          <a:bodyPr>
            <a:noAutofit/>
          </a:bodyPr>
          <a:lstStyle/>
          <a:p>
            <a:r>
              <a:rPr lang="en-US" altLang="zh-CN" sz="2670" dirty="0"/>
              <a:t>Using the Swap to </a:t>
            </a:r>
            <a:r>
              <a:rPr lang="en-US" altLang="zh-CN" sz="2670" dirty="0" smtClean="0"/>
              <a:t>Transform </a:t>
            </a:r>
            <a:r>
              <a:rPr lang="en-US" altLang="zh-CN" sz="2670" dirty="0"/>
              <a:t>a Liability </a:t>
            </a:r>
            <a:r>
              <a:rPr lang="en-US" altLang="zh-CN" sz="2670" dirty="0" smtClean="0"/>
              <a:t>and An Asset</a:t>
            </a:r>
            <a:endParaRPr lang="en-US" altLang="zh-CN" sz="2670" dirty="0"/>
          </a:p>
        </p:txBody>
      </p:sp>
    </p:spTree>
    <p:extLst>
      <p:ext uri="{BB962C8B-B14F-4D97-AF65-F5344CB8AC3E}">
        <p14:creationId xmlns:p14="http://schemas.microsoft.com/office/powerpoint/2010/main" val="24051114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468299" cy="576064"/>
          </a:xfrm>
        </p:spPr>
        <p:txBody>
          <a:bodyPr>
            <a:noAutofit/>
          </a:bodyPr>
          <a:lstStyle/>
          <a:p>
            <a:r>
              <a:rPr lang="en-US" altLang="zh-CN" sz="2670" dirty="0"/>
              <a:t>Financial </a:t>
            </a:r>
            <a:r>
              <a:rPr lang="en-US" altLang="zh-CN" sz="2670" dirty="0" smtClean="0"/>
              <a:t>Intermediaries </a:t>
            </a:r>
            <a:r>
              <a:rPr lang="en-US" altLang="zh-CN" sz="2670" dirty="0"/>
              <a:t>in </a:t>
            </a:r>
            <a:r>
              <a:rPr lang="en-US" altLang="zh-CN" sz="2670" dirty="0" smtClean="0"/>
              <a:t>The </a:t>
            </a:r>
            <a:r>
              <a:rPr lang="en-US" altLang="zh-CN" sz="2670" dirty="0"/>
              <a:t>S</a:t>
            </a:r>
            <a:r>
              <a:rPr lang="en-US" altLang="zh-CN" sz="2670" dirty="0" smtClean="0"/>
              <a:t>waps </a:t>
            </a:r>
            <a:r>
              <a:rPr lang="en-US" altLang="zh-CN" sz="2670" dirty="0"/>
              <a:t>M</a:t>
            </a:r>
            <a:r>
              <a:rPr lang="en-US" altLang="zh-CN" sz="2670" dirty="0" smtClean="0"/>
              <a:t>arket</a:t>
            </a:r>
            <a:endParaRPr lang="en-US" altLang="zh-CN" sz="2670" dirty="0"/>
          </a:p>
        </p:txBody>
      </p:sp>
      <p:sp>
        <p:nvSpPr>
          <p:cNvPr id="3" name="文本占位符 2"/>
          <p:cNvSpPr>
            <a:spLocks noGrp="1"/>
          </p:cNvSpPr>
          <p:nvPr>
            <p:ph type="body" sz="quarter" idx="10"/>
          </p:nvPr>
        </p:nvSpPr>
        <p:spPr/>
        <p:txBody>
          <a:bodyPr/>
          <a:lstStyle/>
          <a:p>
            <a:r>
              <a:rPr lang="en-US" altLang="zh-CN" dirty="0"/>
              <a:t>Financial intermediaries in the swaps </a:t>
            </a:r>
            <a:r>
              <a:rPr lang="en-US" altLang="zh-CN" dirty="0" smtClean="0"/>
              <a:t>market</a:t>
            </a:r>
            <a:endParaRPr lang="en-US" altLang="zh-CN" b="0" dirty="0" smtClean="0"/>
          </a:p>
          <a:p>
            <a:pPr lvl="1"/>
            <a:r>
              <a:rPr lang="en-US" altLang="zh-CN" b="0" dirty="0" smtClean="0"/>
              <a:t>Usually </a:t>
            </a:r>
            <a:r>
              <a:rPr lang="en-US" altLang="zh-CN" b="0" u="sng" dirty="0"/>
              <a:t>two non-financial swap counterparties do not deal with each other directly. </a:t>
            </a:r>
            <a:r>
              <a:rPr lang="en-US" altLang="zh-CN" b="0" dirty="0"/>
              <a:t>They </a:t>
            </a:r>
            <a:r>
              <a:rPr lang="en-US" altLang="zh-CN" b="0" dirty="0" smtClean="0"/>
              <a:t>deal through </a:t>
            </a:r>
            <a:r>
              <a:rPr lang="en-US" altLang="zh-CN" b="0" dirty="0"/>
              <a:t>a financial institution. The financial intermediary may earn about 3 or 4 basis </a:t>
            </a:r>
            <a:r>
              <a:rPr lang="en-US" altLang="zh-CN" b="0" dirty="0" smtClean="0"/>
              <a:t>points (0.03</a:t>
            </a:r>
            <a:r>
              <a:rPr lang="en-US" altLang="zh-CN" b="0" dirty="0"/>
              <a:t>% or 0.04%) on a pair of offsetting transactions of a “plain vanilla” </a:t>
            </a:r>
            <a:r>
              <a:rPr lang="en-US" altLang="zh-CN" b="0" dirty="0" smtClean="0"/>
              <a:t>LIBOR-for-fixed swaps</a:t>
            </a:r>
            <a:r>
              <a:rPr lang="en-US" altLang="zh-CN" b="0" dirty="0"/>
              <a:t>. </a:t>
            </a:r>
            <a:endParaRPr lang="en-US" altLang="zh-CN" b="0" dirty="0" smtClean="0"/>
          </a:p>
          <a:p>
            <a:pPr lvl="1"/>
            <a:r>
              <a:rPr lang="en-US" altLang="zh-CN" b="0" dirty="0" smtClean="0"/>
              <a:t>The </a:t>
            </a:r>
            <a:r>
              <a:rPr lang="en-US" altLang="zh-CN" b="0" dirty="0"/>
              <a:t>spread earned is partly to compensate it for the risk that one of the </a:t>
            </a:r>
            <a:r>
              <a:rPr lang="en-US" altLang="zh-CN" b="0" dirty="0" smtClean="0"/>
              <a:t>two companies </a:t>
            </a:r>
            <a:r>
              <a:rPr lang="en-US" altLang="zh-CN" b="0" dirty="0"/>
              <a:t>will default on the swap payments</a:t>
            </a:r>
            <a:r>
              <a:rPr lang="en-US" altLang="zh-CN" b="0" dirty="0" smtClean="0"/>
              <a:t>.</a:t>
            </a:r>
          </a:p>
          <a:p>
            <a:pPr lvl="1"/>
            <a:r>
              <a:rPr lang="en-US" altLang="zh-CN" b="0" dirty="0"/>
              <a:t>In practice, intermediary is prepared to enter a swap even without having offsetting </a:t>
            </a:r>
            <a:r>
              <a:rPr lang="en-US" altLang="zh-CN" b="0" dirty="0" smtClean="0"/>
              <a:t>swap, thereby </a:t>
            </a:r>
            <a:r>
              <a:rPr lang="en-US" altLang="zh-CN" b="0" dirty="0"/>
              <a:t>acting </a:t>
            </a:r>
            <a:r>
              <a:rPr lang="en-US" altLang="zh-CN" b="0" dirty="0">
                <a:solidFill>
                  <a:srgbClr val="FF0000"/>
                </a:solidFill>
              </a:rPr>
              <a:t>as market makers </a:t>
            </a:r>
            <a:r>
              <a:rPr lang="en-US" altLang="zh-CN" b="0" dirty="0"/>
              <a:t>(known as warehousing swaps).</a:t>
            </a:r>
            <a:endParaRPr lang="zh-CN" altLang="en-US" dirty="0"/>
          </a:p>
        </p:txBody>
      </p:sp>
    </p:spTree>
    <p:extLst>
      <p:ext uri="{BB962C8B-B14F-4D97-AF65-F5344CB8AC3E}">
        <p14:creationId xmlns:p14="http://schemas.microsoft.com/office/powerpoint/2010/main" val="146061845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016607" cy="576064"/>
          </a:xfrm>
        </p:spPr>
        <p:txBody>
          <a:bodyPr>
            <a:normAutofit/>
          </a:bodyPr>
          <a:lstStyle/>
          <a:p>
            <a:r>
              <a:rPr lang="en-US" altLang="zh-CN" dirty="0"/>
              <a:t>Role of </a:t>
            </a:r>
            <a:r>
              <a:rPr lang="en-US" altLang="zh-CN" dirty="0" smtClean="0"/>
              <a:t>Confirmation in A Swap Transaction</a:t>
            </a:r>
            <a:endParaRPr lang="en-US" altLang="zh-CN" dirty="0"/>
          </a:p>
        </p:txBody>
      </p:sp>
      <p:sp>
        <p:nvSpPr>
          <p:cNvPr id="3" name="文本占位符 2"/>
          <p:cNvSpPr>
            <a:spLocks noGrp="1"/>
          </p:cNvSpPr>
          <p:nvPr>
            <p:ph type="body" sz="quarter" idx="10"/>
          </p:nvPr>
        </p:nvSpPr>
        <p:spPr/>
        <p:txBody>
          <a:bodyPr/>
          <a:lstStyle/>
          <a:p>
            <a:r>
              <a:rPr lang="en-US" altLang="zh-CN" dirty="0" smtClean="0"/>
              <a:t>Role of confirmation</a:t>
            </a:r>
          </a:p>
          <a:p>
            <a:pPr lvl="1"/>
            <a:r>
              <a:rPr lang="en-US" altLang="zh-CN" b="0" dirty="0" smtClean="0"/>
              <a:t>Confirmation </a:t>
            </a:r>
            <a:r>
              <a:rPr lang="en-US" altLang="zh-CN" b="0" dirty="0"/>
              <a:t>is a legal agreement underlying a swap and is signed by </a:t>
            </a:r>
            <a:r>
              <a:rPr lang="en-US" altLang="zh-CN" b="0" dirty="0" smtClean="0"/>
              <a:t>representatives of </a:t>
            </a:r>
            <a:r>
              <a:rPr lang="en-US" altLang="zh-CN" b="0" dirty="0"/>
              <a:t>the two parties. </a:t>
            </a:r>
            <a:endParaRPr lang="en-US" altLang="zh-CN" b="0" dirty="0" smtClean="0"/>
          </a:p>
          <a:p>
            <a:pPr lvl="1"/>
            <a:r>
              <a:rPr lang="en-US" altLang="zh-CN" b="0" dirty="0" smtClean="0"/>
              <a:t>Drafting </a:t>
            </a:r>
            <a:r>
              <a:rPr lang="en-US" altLang="zh-CN" b="0" dirty="0"/>
              <a:t>of confirmations is facilitated by the </a:t>
            </a:r>
            <a:r>
              <a:rPr lang="en-US" altLang="zh-CN" b="0" dirty="0" smtClean="0"/>
              <a:t>ISDA</a:t>
            </a:r>
            <a:r>
              <a:rPr lang="zh-CN" altLang="en-US" b="0" dirty="0" smtClean="0"/>
              <a:t>（国际互换与衍生品协会）</a:t>
            </a:r>
            <a:r>
              <a:rPr lang="en-US" altLang="zh-CN" dirty="0" smtClean="0"/>
              <a:t>.</a:t>
            </a:r>
          </a:p>
          <a:p>
            <a:pPr lvl="1"/>
            <a:endParaRPr lang="zh-CN" altLang="en-US" dirty="0"/>
          </a:p>
        </p:txBody>
      </p:sp>
      <p:sp>
        <p:nvSpPr>
          <p:cNvPr id="4" name="lightbulb-with-bolt-sign_44446"/>
          <p:cNvSpPr>
            <a:spLocks noChangeAspect="1"/>
          </p:cNvSpPr>
          <p:nvPr/>
        </p:nvSpPr>
        <p:spPr bwMode="auto">
          <a:xfrm>
            <a:off x="1005990" y="3338706"/>
            <a:ext cx="573312" cy="609685"/>
          </a:xfrm>
          <a:custGeom>
            <a:avLst/>
            <a:gdLst>
              <a:gd name="connsiteX0" fmla="*/ 254274 w 570592"/>
              <a:gd name="connsiteY0" fmla="*/ 495344 h 606792"/>
              <a:gd name="connsiteX1" fmla="*/ 254274 w 570592"/>
              <a:gd name="connsiteY1" fmla="*/ 520211 h 606792"/>
              <a:gd name="connsiteX2" fmla="*/ 316388 w 570592"/>
              <a:gd name="connsiteY2" fmla="*/ 520211 h 606792"/>
              <a:gd name="connsiteX3" fmla="*/ 316388 w 570592"/>
              <a:gd name="connsiteY3" fmla="*/ 495344 h 606792"/>
              <a:gd name="connsiteX4" fmla="*/ 462463 w 570592"/>
              <a:gd name="connsiteY4" fmla="*/ 362283 h 606792"/>
              <a:gd name="connsiteX5" fmla="*/ 474842 w 570592"/>
              <a:gd name="connsiteY5" fmla="*/ 365597 h 606792"/>
              <a:gd name="connsiteX6" fmla="*/ 523225 w 570592"/>
              <a:gd name="connsiteY6" fmla="*/ 393462 h 606792"/>
              <a:gd name="connsiteX7" fmla="*/ 534773 w 570592"/>
              <a:gd name="connsiteY7" fmla="*/ 408449 h 606792"/>
              <a:gd name="connsiteX8" fmla="*/ 532282 w 570592"/>
              <a:gd name="connsiteY8" fmla="*/ 427201 h 606792"/>
              <a:gd name="connsiteX9" fmla="*/ 510846 w 570592"/>
              <a:gd name="connsiteY9" fmla="*/ 439552 h 606792"/>
              <a:gd name="connsiteX10" fmla="*/ 498467 w 570592"/>
              <a:gd name="connsiteY10" fmla="*/ 436238 h 606792"/>
              <a:gd name="connsiteX11" fmla="*/ 450084 w 570592"/>
              <a:gd name="connsiteY11" fmla="*/ 408373 h 606792"/>
              <a:gd name="connsiteX12" fmla="*/ 438536 w 570592"/>
              <a:gd name="connsiteY12" fmla="*/ 393386 h 606792"/>
              <a:gd name="connsiteX13" fmla="*/ 441027 w 570592"/>
              <a:gd name="connsiteY13" fmla="*/ 374634 h 606792"/>
              <a:gd name="connsiteX14" fmla="*/ 462463 w 570592"/>
              <a:gd name="connsiteY14" fmla="*/ 362283 h 606792"/>
              <a:gd name="connsiteX15" fmla="*/ 107993 w 570592"/>
              <a:gd name="connsiteY15" fmla="*/ 362283 h 606792"/>
              <a:gd name="connsiteX16" fmla="*/ 129500 w 570592"/>
              <a:gd name="connsiteY16" fmla="*/ 374634 h 606792"/>
              <a:gd name="connsiteX17" fmla="*/ 131991 w 570592"/>
              <a:gd name="connsiteY17" fmla="*/ 393386 h 606792"/>
              <a:gd name="connsiteX18" fmla="*/ 120445 w 570592"/>
              <a:gd name="connsiteY18" fmla="*/ 408449 h 606792"/>
              <a:gd name="connsiteX19" fmla="*/ 72147 w 570592"/>
              <a:gd name="connsiteY19" fmla="*/ 436238 h 606792"/>
              <a:gd name="connsiteX20" fmla="*/ 59696 w 570592"/>
              <a:gd name="connsiteY20" fmla="*/ 439552 h 606792"/>
              <a:gd name="connsiteX21" fmla="*/ 38264 w 570592"/>
              <a:gd name="connsiteY21" fmla="*/ 427201 h 606792"/>
              <a:gd name="connsiteX22" fmla="*/ 47320 w 570592"/>
              <a:gd name="connsiteY22" fmla="*/ 393462 h 606792"/>
              <a:gd name="connsiteX23" fmla="*/ 95617 w 570592"/>
              <a:gd name="connsiteY23" fmla="*/ 365672 h 606792"/>
              <a:gd name="connsiteX24" fmla="*/ 107993 w 570592"/>
              <a:gd name="connsiteY24" fmla="*/ 362283 h 606792"/>
              <a:gd name="connsiteX25" fmla="*/ 489992 w 570592"/>
              <a:gd name="connsiteY25" fmla="*/ 260034 h 606792"/>
              <a:gd name="connsiteX26" fmla="*/ 545838 w 570592"/>
              <a:gd name="connsiteY26" fmla="*/ 260034 h 606792"/>
              <a:gd name="connsiteX27" fmla="*/ 570592 w 570592"/>
              <a:gd name="connsiteY27" fmla="*/ 284840 h 606792"/>
              <a:gd name="connsiteX28" fmla="*/ 545838 w 570592"/>
              <a:gd name="connsiteY28" fmla="*/ 309571 h 606792"/>
              <a:gd name="connsiteX29" fmla="*/ 489992 w 570592"/>
              <a:gd name="connsiteY29" fmla="*/ 309571 h 606792"/>
              <a:gd name="connsiteX30" fmla="*/ 465238 w 570592"/>
              <a:gd name="connsiteY30" fmla="*/ 284840 h 606792"/>
              <a:gd name="connsiteX31" fmla="*/ 489992 w 570592"/>
              <a:gd name="connsiteY31" fmla="*/ 260034 h 606792"/>
              <a:gd name="connsiteX32" fmla="*/ 24829 w 570592"/>
              <a:gd name="connsiteY32" fmla="*/ 260034 h 606792"/>
              <a:gd name="connsiteX33" fmla="*/ 80600 w 570592"/>
              <a:gd name="connsiteY33" fmla="*/ 260034 h 606792"/>
              <a:gd name="connsiteX34" fmla="*/ 105354 w 570592"/>
              <a:gd name="connsiteY34" fmla="*/ 284840 h 606792"/>
              <a:gd name="connsiteX35" fmla="*/ 80600 w 570592"/>
              <a:gd name="connsiteY35" fmla="*/ 309571 h 606792"/>
              <a:gd name="connsiteX36" fmla="*/ 24829 w 570592"/>
              <a:gd name="connsiteY36" fmla="*/ 309571 h 606792"/>
              <a:gd name="connsiteX37" fmla="*/ 0 w 570592"/>
              <a:gd name="connsiteY37" fmla="*/ 284840 h 606792"/>
              <a:gd name="connsiteX38" fmla="*/ 24829 w 570592"/>
              <a:gd name="connsiteY38" fmla="*/ 260034 h 606792"/>
              <a:gd name="connsiteX39" fmla="*/ 285185 w 570592"/>
              <a:gd name="connsiteY39" fmla="*/ 185305 h 606792"/>
              <a:gd name="connsiteX40" fmla="*/ 325864 w 570592"/>
              <a:gd name="connsiteY40" fmla="*/ 185305 h 606792"/>
              <a:gd name="connsiteX41" fmla="*/ 331902 w 570592"/>
              <a:gd name="connsiteY41" fmla="*/ 193972 h 606792"/>
              <a:gd name="connsiteX42" fmla="*/ 308506 w 570592"/>
              <a:gd name="connsiteY42" fmla="*/ 257959 h 606792"/>
              <a:gd name="connsiteX43" fmla="*/ 314543 w 570592"/>
              <a:gd name="connsiteY43" fmla="*/ 266626 h 606792"/>
              <a:gd name="connsiteX44" fmla="*/ 328959 w 570592"/>
              <a:gd name="connsiteY44" fmla="*/ 266626 h 606792"/>
              <a:gd name="connsiteX45" fmla="*/ 332657 w 570592"/>
              <a:gd name="connsiteY45" fmla="*/ 274012 h 606792"/>
              <a:gd name="connsiteX46" fmla="*/ 253487 w 570592"/>
              <a:gd name="connsiteY46" fmla="*/ 378395 h 606792"/>
              <a:gd name="connsiteX47" fmla="*/ 249109 w 570592"/>
              <a:gd name="connsiteY47" fmla="*/ 376586 h 606792"/>
              <a:gd name="connsiteX48" fmla="*/ 257336 w 570592"/>
              <a:gd name="connsiteY48" fmla="*/ 313580 h 606792"/>
              <a:gd name="connsiteX49" fmla="*/ 249260 w 570592"/>
              <a:gd name="connsiteY49" fmla="*/ 304385 h 606792"/>
              <a:gd name="connsiteX50" fmla="*/ 241562 w 570592"/>
              <a:gd name="connsiteY50" fmla="*/ 304385 h 606792"/>
              <a:gd name="connsiteX51" fmla="*/ 235524 w 570592"/>
              <a:gd name="connsiteY51" fmla="*/ 295718 h 606792"/>
              <a:gd name="connsiteX52" fmla="*/ 272732 w 570592"/>
              <a:gd name="connsiteY52" fmla="*/ 193972 h 606792"/>
              <a:gd name="connsiteX53" fmla="*/ 285185 w 570592"/>
              <a:gd name="connsiteY53" fmla="*/ 185305 h 606792"/>
              <a:gd name="connsiteX54" fmla="*/ 285293 w 570592"/>
              <a:gd name="connsiteY54" fmla="*/ 160925 h 606792"/>
              <a:gd name="connsiteX55" fmla="*/ 161215 w 570592"/>
              <a:gd name="connsiteY55" fmla="*/ 284882 h 606792"/>
              <a:gd name="connsiteX56" fmla="*/ 230273 w 570592"/>
              <a:gd name="connsiteY56" fmla="*/ 395199 h 606792"/>
              <a:gd name="connsiteX57" fmla="*/ 250877 w 570592"/>
              <a:gd name="connsiteY57" fmla="*/ 405447 h 606792"/>
              <a:gd name="connsiteX58" fmla="*/ 254274 w 570592"/>
              <a:gd name="connsiteY58" fmla="*/ 407105 h 606792"/>
              <a:gd name="connsiteX59" fmla="*/ 254274 w 570592"/>
              <a:gd name="connsiteY59" fmla="*/ 410948 h 606792"/>
              <a:gd name="connsiteX60" fmla="*/ 254274 w 570592"/>
              <a:gd name="connsiteY60" fmla="*/ 445912 h 606792"/>
              <a:gd name="connsiteX61" fmla="*/ 316388 w 570592"/>
              <a:gd name="connsiteY61" fmla="*/ 445912 h 606792"/>
              <a:gd name="connsiteX62" fmla="*/ 316388 w 570592"/>
              <a:gd name="connsiteY62" fmla="*/ 410948 h 606792"/>
              <a:gd name="connsiteX63" fmla="*/ 316388 w 570592"/>
              <a:gd name="connsiteY63" fmla="*/ 407105 h 606792"/>
              <a:gd name="connsiteX64" fmla="*/ 319785 w 570592"/>
              <a:gd name="connsiteY64" fmla="*/ 405447 h 606792"/>
              <a:gd name="connsiteX65" fmla="*/ 340313 w 570592"/>
              <a:gd name="connsiteY65" fmla="*/ 395199 h 606792"/>
              <a:gd name="connsiteX66" fmla="*/ 409371 w 570592"/>
              <a:gd name="connsiteY66" fmla="*/ 284882 h 606792"/>
              <a:gd name="connsiteX67" fmla="*/ 285293 w 570592"/>
              <a:gd name="connsiteY67" fmla="*/ 160925 h 606792"/>
              <a:gd name="connsiteX68" fmla="*/ 510845 w 570592"/>
              <a:gd name="connsiteY68" fmla="*/ 130052 h 606792"/>
              <a:gd name="connsiteX69" fmla="*/ 532282 w 570592"/>
              <a:gd name="connsiteY69" fmla="*/ 142414 h 606792"/>
              <a:gd name="connsiteX70" fmla="*/ 534773 w 570592"/>
              <a:gd name="connsiteY70" fmla="*/ 161184 h 606792"/>
              <a:gd name="connsiteX71" fmla="*/ 523224 w 570592"/>
              <a:gd name="connsiteY71" fmla="*/ 176185 h 606792"/>
              <a:gd name="connsiteX72" fmla="*/ 474839 w 570592"/>
              <a:gd name="connsiteY72" fmla="*/ 204075 h 606792"/>
              <a:gd name="connsiteX73" fmla="*/ 462460 w 570592"/>
              <a:gd name="connsiteY73" fmla="*/ 207392 h 606792"/>
              <a:gd name="connsiteX74" fmla="*/ 441098 w 570592"/>
              <a:gd name="connsiteY74" fmla="*/ 195030 h 606792"/>
              <a:gd name="connsiteX75" fmla="*/ 438532 w 570592"/>
              <a:gd name="connsiteY75" fmla="*/ 176260 h 606792"/>
              <a:gd name="connsiteX76" fmla="*/ 450081 w 570592"/>
              <a:gd name="connsiteY76" fmla="*/ 161259 h 606792"/>
              <a:gd name="connsiteX77" fmla="*/ 498541 w 570592"/>
              <a:gd name="connsiteY77" fmla="*/ 133293 h 606792"/>
              <a:gd name="connsiteX78" fmla="*/ 510845 w 570592"/>
              <a:gd name="connsiteY78" fmla="*/ 130052 h 606792"/>
              <a:gd name="connsiteX79" fmla="*/ 59770 w 570592"/>
              <a:gd name="connsiteY79" fmla="*/ 129981 h 606792"/>
              <a:gd name="connsiteX80" fmla="*/ 72070 w 570592"/>
              <a:gd name="connsiteY80" fmla="*/ 133297 h 606792"/>
              <a:gd name="connsiteX81" fmla="*/ 120440 w 570592"/>
              <a:gd name="connsiteY81" fmla="*/ 161262 h 606792"/>
              <a:gd name="connsiteX82" fmla="*/ 132061 w 570592"/>
              <a:gd name="connsiteY82" fmla="*/ 176261 h 606792"/>
              <a:gd name="connsiteX83" fmla="*/ 129571 w 570592"/>
              <a:gd name="connsiteY83" fmla="*/ 195030 h 606792"/>
              <a:gd name="connsiteX84" fmla="*/ 108064 w 570592"/>
              <a:gd name="connsiteY84" fmla="*/ 207391 h 606792"/>
              <a:gd name="connsiteX85" fmla="*/ 95689 w 570592"/>
              <a:gd name="connsiteY85" fmla="*/ 204075 h 606792"/>
              <a:gd name="connsiteX86" fmla="*/ 47319 w 570592"/>
              <a:gd name="connsiteY86" fmla="*/ 176186 h 606792"/>
              <a:gd name="connsiteX87" fmla="*/ 38263 w 570592"/>
              <a:gd name="connsiteY87" fmla="*/ 142418 h 606792"/>
              <a:gd name="connsiteX88" fmla="*/ 59770 w 570592"/>
              <a:gd name="connsiteY88" fmla="*/ 129981 h 606792"/>
              <a:gd name="connsiteX89" fmla="*/ 285293 w 570592"/>
              <a:gd name="connsiteY89" fmla="*/ 111493 h 606792"/>
              <a:gd name="connsiteX90" fmla="*/ 458957 w 570592"/>
              <a:gd name="connsiteY90" fmla="*/ 284882 h 606792"/>
              <a:gd name="connsiteX91" fmla="*/ 365899 w 570592"/>
              <a:gd name="connsiteY91" fmla="*/ 437623 h 606792"/>
              <a:gd name="connsiteX92" fmla="*/ 365899 w 570592"/>
              <a:gd name="connsiteY92" fmla="*/ 526390 h 606792"/>
              <a:gd name="connsiteX93" fmla="*/ 328313 w 570592"/>
              <a:gd name="connsiteY93" fmla="*/ 569266 h 606792"/>
              <a:gd name="connsiteX94" fmla="*/ 285293 w 570592"/>
              <a:gd name="connsiteY94" fmla="*/ 606792 h 606792"/>
              <a:gd name="connsiteX95" fmla="*/ 242349 w 570592"/>
              <a:gd name="connsiteY95" fmla="*/ 569266 h 606792"/>
              <a:gd name="connsiteX96" fmla="*/ 204688 w 570592"/>
              <a:gd name="connsiteY96" fmla="*/ 526314 h 606792"/>
              <a:gd name="connsiteX97" fmla="*/ 204688 w 570592"/>
              <a:gd name="connsiteY97" fmla="*/ 437623 h 606792"/>
              <a:gd name="connsiteX98" fmla="*/ 111705 w 570592"/>
              <a:gd name="connsiteY98" fmla="*/ 284882 h 606792"/>
              <a:gd name="connsiteX99" fmla="*/ 285293 w 570592"/>
              <a:gd name="connsiteY99" fmla="*/ 111493 h 606792"/>
              <a:gd name="connsiteX100" fmla="*/ 415515 w 570592"/>
              <a:gd name="connsiteY100" fmla="*/ 34859 h 606792"/>
              <a:gd name="connsiteX101" fmla="*/ 427892 w 570592"/>
              <a:gd name="connsiteY101" fmla="*/ 38099 h 606792"/>
              <a:gd name="connsiteX102" fmla="*/ 439439 w 570592"/>
              <a:gd name="connsiteY102" fmla="*/ 53171 h 606792"/>
              <a:gd name="connsiteX103" fmla="*/ 436949 w 570592"/>
              <a:gd name="connsiteY103" fmla="*/ 71859 h 606792"/>
              <a:gd name="connsiteX104" fmla="*/ 409024 w 570592"/>
              <a:gd name="connsiteY104" fmla="*/ 120163 h 606792"/>
              <a:gd name="connsiteX105" fmla="*/ 387590 w 570592"/>
              <a:gd name="connsiteY105" fmla="*/ 132522 h 606792"/>
              <a:gd name="connsiteX106" fmla="*/ 375213 w 570592"/>
              <a:gd name="connsiteY106" fmla="*/ 129206 h 606792"/>
              <a:gd name="connsiteX107" fmla="*/ 363666 w 570592"/>
              <a:gd name="connsiteY107" fmla="*/ 114210 h 606792"/>
              <a:gd name="connsiteX108" fmla="*/ 366156 w 570592"/>
              <a:gd name="connsiteY108" fmla="*/ 95446 h 606792"/>
              <a:gd name="connsiteX109" fmla="*/ 394081 w 570592"/>
              <a:gd name="connsiteY109" fmla="*/ 47142 h 606792"/>
              <a:gd name="connsiteX110" fmla="*/ 415515 w 570592"/>
              <a:gd name="connsiteY110" fmla="*/ 34859 h 606792"/>
              <a:gd name="connsiteX111" fmla="*/ 155005 w 570592"/>
              <a:gd name="connsiteY111" fmla="*/ 34789 h 606792"/>
              <a:gd name="connsiteX112" fmla="*/ 176517 w 570592"/>
              <a:gd name="connsiteY112" fmla="*/ 47148 h 606792"/>
              <a:gd name="connsiteX113" fmla="*/ 204370 w 570592"/>
              <a:gd name="connsiteY113" fmla="*/ 95376 h 606792"/>
              <a:gd name="connsiteX114" fmla="*/ 206860 w 570592"/>
              <a:gd name="connsiteY114" fmla="*/ 114140 h 606792"/>
              <a:gd name="connsiteX115" fmla="*/ 195236 w 570592"/>
              <a:gd name="connsiteY115" fmla="*/ 129136 h 606792"/>
              <a:gd name="connsiteX116" fmla="*/ 182933 w 570592"/>
              <a:gd name="connsiteY116" fmla="*/ 132452 h 606792"/>
              <a:gd name="connsiteX117" fmla="*/ 161421 w 570592"/>
              <a:gd name="connsiteY117" fmla="*/ 120093 h 606792"/>
              <a:gd name="connsiteX118" fmla="*/ 133568 w 570592"/>
              <a:gd name="connsiteY118" fmla="*/ 71865 h 606792"/>
              <a:gd name="connsiteX119" fmla="*/ 131078 w 570592"/>
              <a:gd name="connsiteY119" fmla="*/ 53176 h 606792"/>
              <a:gd name="connsiteX120" fmla="*/ 142626 w 570592"/>
              <a:gd name="connsiteY120" fmla="*/ 38180 h 606792"/>
              <a:gd name="connsiteX121" fmla="*/ 155005 w 570592"/>
              <a:gd name="connsiteY121" fmla="*/ 34789 h 606792"/>
              <a:gd name="connsiteX122" fmla="*/ 285297 w 570592"/>
              <a:gd name="connsiteY122" fmla="*/ 0 h 606792"/>
              <a:gd name="connsiteX123" fmla="*/ 310065 w 570592"/>
              <a:gd name="connsiteY123" fmla="*/ 24721 h 606792"/>
              <a:gd name="connsiteX124" fmla="*/ 310065 w 570592"/>
              <a:gd name="connsiteY124" fmla="*/ 80492 h 606792"/>
              <a:gd name="connsiteX125" fmla="*/ 285297 w 570592"/>
              <a:gd name="connsiteY125" fmla="*/ 105213 h 606792"/>
              <a:gd name="connsiteX126" fmla="*/ 260528 w 570592"/>
              <a:gd name="connsiteY126" fmla="*/ 80492 h 606792"/>
              <a:gd name="connsiteX127" fmla="*/ 260528 w 570592"/>
              <a:gd name="connsiteY127" fmla="*/ 24721 h 606792"/>
              <a:gd name="connsiteX128" fmla="*/ 285297 w 570592"/>
              <a:gd name="connsiteY128" fmla="*/ 0 h 60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70592" h="606792">
                <a:moveTo>
                  <a:pt x="254274" y="495344"/>
                </a:moveTo>
                <a:lnTo>
                  <a:pt x="254274" y="520211"/>
                </a:lnTo>
                <a:lnTo>
                  <a:pt x="316388" y="520211"/>
                </a:lnTo>
                <a:lnTo>
                  <a:pt x="316388" y="495344"/>
                </a:lnTo>
                <a:close/>
                <a:moveTo>
                  <a:pt x="462463" y="362283"/>
                </a:moveTo>
                <a:cubicBezTo>
                  <a:pt x="466841" y="362283"/>
                  <a:pt x="471068" y="363413"/>
                  <a:pt x="474842" y="365597"/>
                </a:cubicBezTo>
                <a:lnTo>
                  <a:pt x="523225" y="393462"/>
                </a:lnTo>
                <a:cubicBezTo>
                  <a:pt x="528961" y="396775"/>
                  <a:pt x="533112" y="402122"/>
                  <a:pt x="534773" y="408449"/>
                </a:cubicBezTo>
                <a:cubicBezTo>
                  <a:pt x="536509" y="414850"/>
                  <a:pt x="535603" y="421553"/>
                  <a:pt x="532282" y="427201"/>
                </a:cubicBezTo>
                <a:cubicBezTo>
                  <a:pt x="527904" y="434883"/>
                  <a:pt x="519677" y="439552"/>
                  <a:pt x="510846" y="439552"/>
                </a:cubicBezTo>
                <a:cubicBezTo>
                  <a:pt x="506543" y="439552"/>
                  <a:pt x="502241" y="438422"/>
                  <a:pt x="498467" y="436238"/>
                </a:cubicBezTo>
                <a:lnTo>
                  <a:pt x="450084" y="408373"/>
                </a:lnTo>
                <a:cubicBezTo>
                  <a:pt x="444348" y="405060"/>
                  <a:pt x="440272" y="399788"/>
                  <a:pt x="438536" y="393386"/>
                </a:cubicBezTo>
                <a:cubicBezTo>
                  <a:pt x="436800" y="386985"/>
                  <a:pt x="437706" y="380358"/>
                  <a:pt x="441027" y="374634"/>
                </a:cubicBezTo>
                <a:cubicBezTo>
                  <a:pt x="445405" y="367028"/>
                  <a:pt x="453632" y="362283"/>
                  <a:pt x="462463" y="362283"/>
                </a:cubicBezTo>
                <a:close/>
                <a:moveTo>
                  <a:pt x="107993" y="362283"/>
                </a:moveTo>
                <a:cubicBezTo>
                  <a:pt x="116822" y="362283"/>
                  <a:pt x="125048" y="367028"/>
                  <a:pt x="129500" y="374634"/>
                </a:cubicBezTo>
                <a:cubicBezTo>
                  <a:pt x="132821" y="380358"/>
                  <a:pt x="133651" y="387060"/>
                  <a:pt x="131991" y="393386"/>
                </a:cubicBezTo>
                <a:cubicBezTo>
                  <a:pt x="130255" y="399788"/>
                  <a:pt x="126180" y="405135"/>
                  <a:pt x="120445" y="408449"/>
                </a:cubicBezTo>
                <a:lnTo>
                  <a:pt x="72147" y="436238"/>
                </a:lnTo>
                <a:cubicBezTo>
                  <a:pt x="68374" y="438422"/>
                  <a:pt x="64073" y="439552"/>
                  <a:pt x="59696" y="439552"/>
                </a:cubicBezTo>
                <a:cubicBezTo>
                  <a:pt x="50942" y="439552"/>
                  <a:pt x="42716" y="434883"/>
                  <a:pt x="38264" y="427201"/>
                </a:cubicBezTo>
                <a:cubicBezTo>
                  <a:pt x="31472" y="415453"/>
                  <a:pt x="35472" y="400315"/>
                  <a:pt x="47320" y="393462"/>
                </a:cubicBezTo>
                <a:lnTo>
                  <a:pt x="95617" y="365672"/>
                </a:lnTo>
                <a:cubicBezTo>
                  <a:pt x="99390" y="363488"/>
                  <a:pt x="103692" y="362283"/>
                  <a:pt x="107993" y="362283"/>
                </a:cubicBezTo>
                <a:close/>
                <a:moveTo>
                  <a:pt x="489992" y="260034"/>
                </a:moveTo>
                <a:lnTo>
                  <a:pt x="545838" y="260034"/>
                </a:lnTo>
                <a:cubicBezTo>
                  <a:pt x="559498" y="260034"/>
                  <a:pt x="570592" y="271193"/>
                  <a:pt x="570592" y="284840"/>
                </a:cubicBezTo>
                <a:cubicBezTo>
                  <a:pt x="570592" y="298487"/>
                  <a:pt x="559498" y="309571"/>
                  <a:pt x="545838" y="309571"/>
                </a:cubicBezTo>
                <a:lnTo>
                  <a:pt x="489992" y="309571"/>
                </a:lnTo>
                <a:cubicBezTo>
                  <a:pt x="476332" y="309571"/>
                  <a:pt x="465238" y="298487"/>
                  <a:pt x="465238" y="284840"/>
                </a:cubicBezTo>
                <a:cubicBezTo>
                  <a:pt x="465238" y="271193"/>
                  <a:pt x="476332" y="260034"/>
                  <a:pt x="489992" y="260034"/>
                </a:cubicBezTo>
                <a:close/>
                <a:moveTo>
                  <a:pt x="24829" y="260034"/>
                </a:moveTo>
                <a:lnTo>
                  <a:pt x="80600" y="260034"/>
                </a:lnTo>
                <a:cubicBezTo>
                  <a:pt x="94260" y="260034"/>
                  <a:pt x="105354" y="271193"/>
                  <a:pt x="105354" y="284840"/>
                </a:cubicBezTo>
                <a:cubicBezTo>
                  <a:pt x="105354" y="298412"/>
                  <a:pt x="94260" y="309571"/>
                  <a:pt x="80600" y="309571"/>
                </a:cubicBezTo>
                <a:lnTo>
                  <a:pt x="24829" y="309571"/>
                </a:lnTo>
                <a:cubicBezTo>
                  <a:pt x="11169" y="309571"/>
                  <a:pt x="0" y="298487"/>
                  <a:pt x="0" y="284840"/>
                </a:cubicBezTo>
                <a:cubicBezTo>
                  <a:pt x="0" y="271193"/>
                  <a:pt x="11169" y="260034"/>
                  <a:pt x="24829" y="260034"/>
                </a:cubicBezTo>
                <a:close/>
                <a:moveTo>
                  <a:pt x="285185" y="185305"/>
                </a:moveTo>
                <a:lnTo>
                  <a:pt x="325864" y="185305"/>
                </a:lnTo>
                <a:cubicBezTo>
                  <a:pt x="330996" y="185305"/>
                  <a:pt x="333713" y="189224"/>
                  <a:pt x="331902" y="193972"/>
                </a:cubicBezTo>
                <a:lnTo>
                  <a:pt x="308506" y="257959"/>
                </a:lnTo>
                <a:cubicBezTo>
                  <a:pt x="306770" y="262782"/>
                  <a:pt x="309487" y="266626"/>
                  <a:pt x="314543" y="266626"/>
                </a:cubicBezTo>
                <a:lnTo>
                  <a:pt x="328959" y="266626"/>
                </a:lnTo>
                <a:cubicBezTo>
                  <a:pt x="334091" y="266626"/>
                  <a:pt x="335751" y="269942"/>
                  <a:pt x="332657" y="274012"/>
                </a:cubicBezTo>
                <a:lnTo>
                  <a:pt x="253487" y="378395"/>
                </a:lnTo>
                <a:cubicBezTo>
                  <a:pt x="250392" y="382465"/>
                  <a:pt x="248430" y="381636"/>
                  <a:pt x="249109" y="376586"/>
                </a:cubicBezTo>
                <a:lnTo>
                  <a:pt x="257336" y="313580"/>
                </a:lnTo>
                <a:cubicBezTo>
                  <a:pt x="258015" y="308530"/>
                  <a:pt x="254392" y="304385"/>
                  <a:pt x="249260" y="304385"/>
                </a:cubicBezTo>
                <a:lnTo>
                  <a:pt x="241562" y="304385"/>
                </a:lnTo>
                <a:cubicBezTo>
                  <a:pt x="236430" y="304385"/>
                  <a:pt x="233713" y="300541"/>
                  <a:pt x="235524" y="295718"/>
                </a:cubicBezTo>
                <a:lnTo>
                  <a:pt x="272732" y="193972"/>
                </a:lnTo>
                <a:cubicBezTo>
                  <a:pt x="274543" y="189224"/>
                  <a:pt x="280053" y="185305"/>
                  <a:pt x="285185" y="185305"/>
                </a:cubicBezTo>
                <a:close/>
                <a:moveTo>
                  <a:pt x="285293" y="160925"/>
                </a:moveTo>
                <a:cubicBezTo>
                  <a:pt x="216915" y="160925"/>
                  <a:pt x="161215" y="216536"/>
                  <a:pt x="161215" y="284882"/>
                </a:cubicBezTo>
                <a:cubicBezTo>
                  <a:pt x="161215" y="331601"/>
                  <a:pt x="187706" y="373874"/>
                  <a:pt x="230273" y="395199"/>
                </a:cubicBezTo>
                <a:lnTo>
                  <a:pt x="250877" y="405447"/>
                </a:lnTo>
                <a:lnTo>
                  <a:pt x="254274" y="407105"/>
                </a:lnTo>
                <a:lnTo>
                  <a:pt x="254274" y="410948"/>
                </a:lnTo>
                <a:lnTo>
                  <a:pt x="254274" y="445912"/>
                </a:lnTo>
                <a:lnTo>
                  <a:pt x="316388" y="445912"/>
                </a:lnTo>
                <a:lnTo>
                  <a:pt x="316388" y="410948"/>
                </a:lnTo>
                <a:lnTo>
                  <a:pt x="316388" y="407105"/>
                </a:lnTo>
                <a:lnTo>
                  <a:pt x="319785" y="405447"/>
                </a:lnTo>
                <a:lnTo>
                  <a:pt x="340313" y="395199"/>
                </a:lnTo>
                <a:cubicBezTo>
                  <a:pt x="382956" y="373874"/>
                  <a:pt x="409371" y="331601"/>
                  <a:pt x="409371" y="284882"/>
                </a:cubicBezTo>
                <a:cubicBezTo>
                  <a:pt x="409371" y="216536"/>
                  <a:pt x="353747" y="160925"/>
                  <a:pt x="285293" y="160925"/>
                </a:cubicBezTo>
                <a:close/>
                <a:moveTo>
                  <a:pt x="510845" y="130052"/>
                </a:moveTo>
                <a:cubicBezTo>
                  <a:pt x="519752" y="130052"/>
                  <a:pt x="527979" y="134801"/>
                  <a:pt x="532282" y="142414"/>
                </a:cubicBezTo>
                <a:cubicBezTo>
                  <a:pt x="535603" y="148143"/>
                  <a:pt x="536509" y="154777"/>
                  <a:pt x="534773" y="161184"/>
                </a:cubicBezTo>
                <a:cubicBezTo>
                  <a:pt x="533112" y="167516"/>
                  <a:pt x="528961" y="172868"/>
                  <a:pt x="523224" y="176185"/>
                </a:cubicBezTo>
                <a:lnTo>
                  <a:pt x="474839" y="204075"/>
                </a:lnTo>
                <a:cubicBezTo>
                  <a:pt x="471065" y="206261"/>
                  <a:pt x="466762" y="207392"/>
                  <a:pt x="462460" y="207392"/>
                </a:cubicBezTo>
                <a:cubicBezTo>
                  <a:pt x="453628" y="207392"/>
                  <a:pt x="445401" y="202643"/>
                  <a:pt x="441098" y="195030"/>
                </a:cubicBezTo>
                <a:cubicBezTo>
                  <a:pt x="437777" y="189301"/>
                  <a:pt x="436871" y="182667"/>
                  <a:pt x="438532" y="176260"/>
                </a:cubicBezTo>
                <a:cubicBezTo>
                  <a:pt x="440268" y="169853"/>
                  <a:pt x="444419" y="164501"/>
                  <a:pt x="450081" y="161259"/>
                </a:cubicBezTo>
                <a:lnTo>
                  <a:pt x="498541" y="133293"/>
                </a:lnTo>
                <a:cubicBezTo>
                  <a:pt x="502315" y="131183"/>
                  <a:pt x="506542" y="130052"/>
                  <a:pt x="510845" y="130052"/>
                </a:cubicBezTo>
                <a:close/>
                <a:moveTo>
                  <a:pt x="59770" y="129981"/>
                </a:moveTo>
                <a:cubicBezTo>
                  <a:pt x="64071" y="129981"/>
                  <a:pt x="68297" y="131187"/>
                  <a:pt x="72070" y="133297"/>
                </a:cubicBezTo>
                <a:lnTo>
                  <a:pt x="120440" y="161262"/>
                </a:lnTo>
                <a:cubicBezTo>
                  <a:pt x="126175" y="164578"/>
                  <a:pt x="130325" y="169854"/>
                  <a:pt x="132061" y="176261"/>
                </a:cubicBezTo>
                <a:cubicBezTo>
                  <a:pt x="133721" y="182668"/>
                  <a:pt x="132891" y="189301"/>
                  <a:pt x="129571" y="195030"/>
                </a:cubicBezTo>
                <a:cubicBezTo>
                  <a:pt x="125119" y="202642"/>
                  <a:pt x="116893" y="207391"/>
                  <a:pt x="108064" y="207391"/>
                </a:cubicBezTo>
                <a:cubicBezTo>
                  <a:pt x="103763" y="207391"/>
                  <a:pt x="99462" y="206260"/>
                  <a:pt x="95689" y="204075"/>
                </a:cubicBezTo>
                <a:lnTo>
                  <a:pt x="47319" y="176186"/>
                </a:lnTo>
                <a:cubicBezTo>
                  <a:pt x="35547" y="169327"/>
                  <a:pt x="31472" y="154176"/>
                  <a:pt x="38263" y="142418"/>
                </a:cubicBezTo>
                <a:cubicBezTo>
                  <a:pt x="42640" y="134730"/>
                  <a:pt x="50865" y="129981"/>
                  <a:pt x="59770" y="129981"/>
                </a:cubicBezTo>
                <a:close/>
                <a:moveTo>
                  <a:pt x="285293" y="111493"/>
                </a:moveTo>
                <a:cubicBezTo>
                  <a:pt x="381069" y="111493"/>
                  <a:pt x="458957" y="189258"/>
                  <a:pt x="458957" y="284882"/>
                </a:cubicBezTo>
                <a:cubicBezTo>
                  <a:pt x="458957" y="349233"/>
                  <a:pt x="423409" y="407406"/>
                  <a:pt x="365899" y="437623"/>
                </a:cubicBezTo>
                <a:lnTo>
                  <a:pt x="365899" y="526390"/>
                </a:lnTo>
                <a:cubicBezTo>
                  <a:pt x="365899" y="548242"/>
                  <a:pt x="349521" y="566478"/>
                  <a:pt x="328313" y="569266"/>
                </a:cubicBezTo>
                <a:cubicBezTo>
                  <a:pt x="325445" y="590440"/>
                  <a:pt x="307256" y="606792"/>
                  <a:pt x="285293" y="606792"/>
                </a:cubicBezTo>
                <a:cubicBezTo>
                  <a:pt x="263331" y="606792"/>
                  <a:pt x="245142" y="590440"/>
                  <a:pt x="242349" y="569266"/>
                </a:cubicBezTo>
                <a:cubicBezTo>
                  <a:pt x="221141" y="566478"/>
                  <a:pt x="204688" y="548242"/>
                  <a:pt x="204688" y="526314"/>
                </a:cubicBezTo>
                <a:lnTo>
                  <a:pt x="204688" y="437623"/>
                </a:lnTo>
                <a:cubicBezTo>
                  <a:pt x="147253" y="407406"/>
                  <a:pt x="111705" y="349233"/>
                  <a:pt x="111705" y="284882"/>
                </a:cubicBezTo>
                <a:cubicBezTo>
                  <a:pt x="111705" y="189258"/>
                  <a:pt x="189593" y="111493"/>
                  <a:pt x="285293" y="111493"/>
                </a:cubicBezTo>
                <a:close/>
                <a:moveTo>
                  <a:pt x="415515" y="34859"/>
                </a:moveTo>
                <a:cubicBezTo>
                  <a:pt x="419817" y="34859"/>
                  <a:pt x="424118" y="35989"/>
                  <a:pt x="427892" y="38099"/>
                </a:cubicBezTo>
                <a:cubicBezTo>
                  <a:pt x="433628" y="41415"/>
                  <a:pt x="437703" y="46765"/>
                  <a:pt x="439439" y="53171"/>
                </a:cubicBezTo>
                <a:cubicBezTo>
                  <a:pt x="441175" y="59576"/>
                  <a:pt x="440269" y="66208"/>
                  <a:pt x="436949" y="71859"/>
                </a:cubicBezTo>
                <a:lnTo>
                  <a:pt x="409024" y="120163"/>
                </a:lnTo>
                <a:cubicBezTo>
                  <a:pt x="404647" y="127774"/>
                  <a:pt x="396420" y="132522"/>
                  <a:pt x="387590" y="132522"/>
                </a:cubicBezTo>
                <a:cubicBezTo>
                  <a:pt x="383213" y="132522"/>
                  <a:pt x="378987" y="131392"/>
                  <a:pt x="375213" y="129206"/>
                </a:cubicBezTo>
                <a:cubicBezTo>
                  <a:pt x="369477" y="125966"/>
                  <a:pt x="365402" y="120616"/>
                  <a:pt x="363666" y="114210"/>
                </a:cubicBezTo>
                <a:cubicBezTo>
                  <a:pt x="361930" y="107805"/>
                  <a:pt x="362836" y="101173"/>
                  <a:pt x="366156" y="95446"/>
                </a:cubicBezTo>
                <a:lnTo>
                  <a:pt x="394081" y="47142"/>
                </a:lnTo>
                <a:cubicBezTo>
                  <a:pt x="398458" y="39607"/>
                  <a:pt x="406685" y="34859"/>
                  <a:pt x="415515" y="34859"/>
                </a:cubicBezTo>
                <a:close/>
                <a:moveTo>
                  <a:pt x="155005" y="34789"/>
                </a:moveTo>
                <a:cubicBezTo>
                  <a:pt x="163761" y="34789"/>
                  <a:pt x="171988" y="39537"/>
                  <a:pt x="176517" y="47148"/>
                </a:cubicBezTo>
                <a:lnTo>
                  <a:pt x="204370" y="95376"/>
                </a:lnTo>
                <a:cubicBezTo>
                  <a:pt x="207691" y="101103"/>
                  <a:pt x="208521" y="107735"/>
                  <a:pt x="206860" y="114140"/>
                </a:cubicBezTo>
                <a:cubicBezTo>
                  <a:pt x="205124" y="120546"/>
                  <a:pt x="201048" y="125821"/>
                  <a:pt x="195236" y="129136"/>
                </a:cubicBezTo>
                <a:cubicBezTo>
                  <a:pt x="191538" y="131322"/>
                  <a:pt x="187235" y="132452"/>
                  <a:pt x="182933" y="132452"/>
                </a:cubicBezTo>
                <a:cubicBezTo>
                  <a:pt x="174102" y="132452"/>
                  <a:pt x="165874" y="127704"/>
                  <a:pt x="161421" y="120093"/>
                </a:cubicBezTo>
                <a:lnTo>
                  <a:pt x="133568" y="71865"/>
                </a:lnTo>
                <a:cubicBezTo>
                  <a:pt x="130247" y="66213"/>
                  <a:pt x="129417" y="59506"/>
                  <a:pt x="131078" y="53176"/>
                </a:cubicBezTo>
                <a:cubicBezTo>
                  <a:pt x="132814" y="46771"/>
                  <a:pt x="136890" y="41420"/>
                  <a:pt x="142626" y="38180"/>
                </a:cubicBezTo>
                <a:cubicBezTo>
                  <a:pt x="146400" y="35995"/>
                  <a:pt x="150627" y="34789"/>
                  <a:pt x="155005" y="34789"/>
                </a:cubicBezTo>
                <a:close/>
                <a:moveTo>
                  <a:pt x="285297" y="0"/>
                </a:moveTo>
                <a:cubicBezTo>
                  <a:pt x="298964" y="0"/>
                  <a:pt x="310065" y="11079"/>
                  <a:pt x="310065" y="24721"/>
                </a:cubicBezTo>
                <a:lnTo>
                  <a:pt x="310065" y="80492"/>
                </a:lnTo>
                <a:cubicBezTo>
                  <a:pt x="310065" y="94134"/>
                  <a:pt x="298964" y="105213"/>
                  <a:pt x="285297" y="105213"/>
                </a:cubicBezTo>
                <a:cubicBezTo>
                  <a:pt x="271629" y="105213"/>
                  <a:pt x="260528" y="94134"/>
                  <a:pt x="260528" y="80492"/>
                </a:cubicBezTo>
                <a:lnTo>
                  <a:pt x="260528" y="24721"/>
                </a:lnTo>
                <a:cubicBezTo>
                  <a:pt x="260528" y="11079"/>
                  <a:pt x="271629" y="0"/>
                  <a:pt x="285297" y="0"/>
                </a:cubicBezTo>
                <a:close/>
              </a:path>
            </a:pathLst>
          </a:custGeom>
          <a:solidFill>
            <a:schemeClr val="accent1"/>
          </a:solidFill>
          <a:ln>
            <a:noFill/>
          </a:ln>
        </p:spPr>
      </p:sp>
      <p:sp>
        <p:nvSpPr>
          <p:cNvPr id="5" name="文本框 4"/>
          <p:cNvSpPr txBox="1"/>
          <p:nvPr/>
        </p:nvSpPr>
        <p:spPr>
          <a:xfrm>
            <a:off x="1767987" y="3458882"/>
            <a:ext cx="4417764" cy="369332"/>
          </a:xfrm>
          <a:prstGeom prst="rect">
            <a:avLst/>
          </a:prstGeom>
          <a:noFill/>
        </p:spPr>
        <p:txBody>
          <a:bodyPr wrap="square" rtlCol="0">
            <a:spAutoFit/>
          </a:bodyPr>
          <a:lstStyle/>
          <a:p>
            <a:r>
              <a:rPr lang="zh-CN" altLang="en-US" b="1" dirty="0">
                <a:solidFill>
                  <a:srgbClr val="FF0000"/>
                </a:solidFill>
              </a:rPr>
              <a:t>考</a:t>
            </a:r>
            <a:r>
              <a:rPr lang="zh-CN" altLang="en-US" b="1" dirty="0" smtClean="0">
                <a:solidFill>
                  <a:srgbClr val="FF0000"/>
                </a:solidFill>
              </a:rPr>
              <a:t>纲有要求呀！必须得有</a:t>
            </a:r>
            <a:r>
              <a:rPr lang="en-US" altLang="zh-CN"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127532584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192877" cy="576064"/>
          </a:xfrm>
        </p:spPr>
        <p:txBody>
          <a:bodyPr>
            <a:noAutofit/>
          </a:bodyPr>
          <a:lstStyle/>
          <a:p>
            <a:r>
              <a:rPr lang="en-US" altLang="zh-CN" sz="2670" dirty="0"/>
              <a:t>The </a:t>
            </a:r>
            <a:r>
              <a:rPr lang="en-US" altLang="zh-CN" sz="2670" dirty="0" smtClean="0"/>
              <a:t>Value </a:t>
            </a:r>
            <a:r>
              <a:rPr lang="en-US" altLang="zh-CN" sz="2670" dirty="0"/>
              <a:t>of </a:t>
            </a:r>
            <a:r>
              <a:rPr lang="en-US" altLang="zh-CN" sz="2670" dirty="0" smtClean="0"/>
              <a:t>A </a:t>
            </a:r>
            <a:r>
              <a:rPr lang="en-US" altLang="zh-CN" sz="2670" dirty="0"/>
              <a:t>P</a:t>
            </a:r>
            <a:r>
              <a:rPr lang="en-US" altLang="zh-CN" sz="2670" dirty="0" smtClean="0"/>
              <a:t>lain </a:t>
            </a:r>
            <a:r>
              <a:rPr lang="en-US" altLang="zh-CN" sz="2670" dirty="0"/>
              <a:t>V</a:t>
            </a:r>
            <a:r>
              <a:rPr lang="en-US" altLang="zh-CN" sz="2670" dirty="0" smtClean="0"/>
              <a:t>anilla </a:t>
            </a:r>
            <a:r>
              <a:rPr lang="en-US" altLang="zh-CN" sz="2670" dirty="0"/>
              <a:t>I</a:t>
            </a:r>
            <a:r>
              <a:rPr lang="en-US" altLang="zh-CN" sz="2670" dirty="0" smtClean="0"/>
              <a:t>nterest </a:t>
            </a:r>
            <a:r>
              <a:rPr lang="en-US" altLang="zh-CN" sz="2670" dirty="0"/>
              <a:t>R</a:t>
            </a:r>
            <a:r>
              <a:rPr lang="en-US" altLang="zh-CN" sz="2670" dirty="0" smtClean="0"/>
              <a:t>ate </a:t>
            </a:r>
            <a:r>
              <a:rPr lang="en-US" altLang="zh-CN" sz="2670" dirty="0"/>
              <a:t>S</a:t>
            </a:r>
            <a:r>
              <a:rPr lang="en-US" altLang="zh-CN" sz="2670" dirty="0" smtClean="0"/>
              <a:t>wap</a:t>
            </a:r>
            <a:endParaRPr lang="en-US" altLang="zh-CN" sz="2670" dirty="0"/>
          </a:p>
        </p:txBody>
      </p:sp>
      <p:sp>
        <p:nvSpPr>
          <p:cNvPr id="3" name="文本占位符 2"/>
          <p:cNvSpPr>
            <a:spLocks noGrp="1"/>
          </p:cNvSpPr>
          <p:nvPr>
            <p:ph type="body" sz="quarter" idx="10"/>
          </p:nvPr>
        </p:nvSpPr>
        <p:spPr/>
        <p:txBody>
          <a:bodyPr>
            <a:normAutofit/>
          </a:bodyPr>
          <a:lstStyle/>
          <a:p>
            <a:r>
              <a:rPr lang="en-US" altLang="zh-CN" dirty="0"/>
              <a:t>Valuation</a:t>
            </a:r>
          </a:p>
          <a:p>
            <a:pPr marL="457189" lvl="1" indent="-457189"/>
            <a:r>
              <a:rPr lang="en-US" altLang="zh-CN" dirty="0"/>
              <a:t>If two companies enter into an interest rate swap arrangement, then one of the companies has a swap position that is </a:t>
            </a:r>
            <a:r>
              <a:rPr lang="en-US" altLang="zh-CN" u="sng" dirty="0"/>
              <a:t>equivalent to a long position in floating-rate bond and a short position in a fixed-rate bond</a:t>
            </a:r>
            <a:r>
              <a:rPr lang="en-US" altLang="zh-CN" dirty="0" smtClean="0"/>
              <a:t>.</a:t>
            </a:r>
          </a:p>
          <a:p>
            <a:pPr marL="0" lvl="1" indent="0">
              <a:buNone/>
            </a:pPr>
            <a:endParaRPr lang="en-US" altLang="zh-CN" dirty="0" smtClean="0"/>
          </a:p>
          <a:p>
            <a:pPr marL="457189" lvl="1" indent="-457189"/>
            <a:r>
              <a:rPr lang="en-US" altLang="zh-CN" dirty="0"/>
              <a:t>The counterparty to the same swap has the </a:t>
            </a:r>
            <a:r>
              <a:rPr lang="en-US" altLang="zh-CN" u="sng" dirty="0"/>
              <a:t>equivalent of a long position in a fixed-rate bond and a short position in a floating-rate bond</a:t>
            </a:r>
            <a:r>
              <a:rPr lang="en-US" altLang="zh-CN" dirty="0" smtClean="0"/>
              <a:t>.</a:t>
            </a:r>
          </a:p>
          <a:p>
            <a:pPr marL="457189" lvl="1" indent="-457189">
              <a:buFont typeface="Wingdings" panose="05000000000000000000" pitchFamily="2" charset="2"/>
              <a:buChar char="Ø"/>
            </a:pPr>
            <a:endParaRPr lang="en-US" altLang="zh-CN" dirty="0"/>
          </a:p>
          <a:p>
            <a:pPr lvl="1"/>
            <a:r>
              <a:rPr lang="en-US" altLang="zh-CN" b="1" dirty="0"/>
              <a:t>Notes: </a:t>
            </a:r>
            <a:r>
              <a:rPr lang="en-US" altLang="zh-CN" b="0" dirty="0"/>
              <a:t>We only need to value one cash flow on the floating-rate side because, </a:t>
            </a:r>
            <a:r>
              <a:rPr lang="en-US" altLang="zh-CN" b="0" dirty="0" smtClean="0"/>
              <a:t>when the </a:t>
            </a:r>
            <a:r>
              <a:rPr lang="en-US" altLang="zh-CN" b="0" dirty="0"/>
              <a:t>next coupon pays, the floating-rate bond must be priced at par!</a:t>
            </a:r>
            <a:r>
              <a:rPr lang="en-US" altLang="zh-CN" dirty="0" smtClean="0"/>
              <a:t>.</a:t>
            </a:r>
            <a:r>
              <a:rPr lang="zh-CN" altLang="en-US" sz="2000" b="1" dirty="0" smtClean="0">
                <a:solidFill>
                  <a:srgbClr val="FF0000"/>
                </a:solidFill>
              </a:rPr>
              <a:t>（这一条很重要！）</a:t>
            </a:r>
            <a:endParaRPr lang="en-US" altLang="zh-CN" sz="2000" b="1" dirty="0">
              <a:solidFill>
                <a:srgbClr val="FF0000"/>
              </a:solidFill>
            </a:endParaRPr>
          </a:p>
          <a:p>
            <a:pPr marL="457189" lvl="1" indent="-457189">
              <a:buFont typeface="Wingdings" panose="05000000000000000000" pitchFamily="2" charset="2"/>
              <a:buChar char="Ø"/>
            </a:pPr>
            <a:endParaRPr lang="en-US" altLang="zh-CN" dirty="0" smtClean="0"/>
          </a:p>
          <a:p>
            <a:pPr marL="457189" lvl="1" indent="-457189">
              <a:buFont typeface="Wingdings" panose="05000000000000000000" pitchFamily="2" charset="2"/>
              <a:buChar char="Ø"/>
            </a:pPr>
            <a:endParaRPr lang="en-US" altLang="zh-CN" dirty="0"/>
          </a:p>
          <a:p>
            <a:pPr marL="457189" lvl="1" indent="-457189">
              <a:buFont typeface="Wingdings" panose="05000000000000000000" pitchFamily="2" charset="2"/>
              <a:buChar char="Ø"/>
            </a:pPr>
            <a:endParaRPr lang="en-US" altLang="zh-CN" dirty="0"/>
          </a:p>
          <a:p>
            <a:endParaRPr lang="zh-CN" altLang="en-US" dirty="0"/>
          </a:p>
        </p:txBody>
      </p:sp>
      <p:sp>
        <p:nvSpPr>
          <p:cNvPr id="4" name="文本框 4"/>
          <p:cNvSpPr txBox="1">
            <a:spLocks noChangeArrowheads="1"/>
          </p:cNvSpPr>
          <p:nvPr/>
        </p:nvSpPr>
        <p:spPr bwMode="auto">
          <a:xfrm>
            <a:off x="4815969" y="2992113"/>
            <a:ext cx="2560060" cy="4308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200" b="0" dirty="0">
                <a:latin typeface="Segoe UI" panose="020B0502040204020203" pitchFamily="34" charset="0"/>
                <a:cs typeface="Segoe UI" panose="020B0502040204020203" pitchFamily="34" charset="0"/>
              </a:rPr>
              <a:t>V</a:t>
            </a:r>
            <a:r>
              <a:rPr lang="en-US" altLang="zh-CN" sz="2200" b="0" baseline="-25000" dirty="0">
                <a:latin typeface="Segoe UI" panose="020B0502040204020203" pitchFamily="34" charset="0"/>
                <a:cs typeface="Segoe UI" panose="020B0502040204020203" pitchFamily="34" charset="0"/>
              </a:rPr>
              <a:t>swap</a:t>
            </a:r>
            <a:r>
              <a:rPr lang="en-US" altLang="zh-CN" sz="2200" b="0" dirty="0">
                <a:latin typeface="Segoe UI" panose="020B0502040204020203" pitchFamily="34" charset="0"/>
                <a:cs typeface="Segoe UI" panose="020B0502040204020203" pitchFamily="34" charset="0"/>
              </a:rPr>
              <a:t> = B</a:t>
            </a:r>
            <a:r>
              <a:rPr lang="en-US" altLang="zh-CN" sz="2200" b="0" baseline="-25000" dirty="0">
                <a:latin typeface="Segoe UI" panose="020B0502040204020203" pitchFamily="34" charset="0"/>
                <a:cs typeface="Segoe UI" panose="020B0502040204020203" pitchFamily="34" charset="0"/>
              </a:rPr>
              <a:t>Float</a:t>
            </a:r>
            <a:r>
              <a:rPr lang="en-US" altLang="zh-CN" sz="2200" dirty="0">
                <a:latin typeface="Times New Roman" panose="02020603050405020304" pitchFamily="18" charset="0"/>
              </a:rPr>
              <a:t> – </a:t>
            </a:r>
            <a:r>
              <a:rPr lang="en-US" altLang="zh-CN" sz="2200" b="0" dirty="0">
                <a:latin typeface="Segoe UI" panose="020B0502040204020203" pitchFamily="34" charset="0"/>
                <a:cs typeface="Segoe UI" panose="020B0502040204020203" pitchFamily="34" charset="0"/>
              </a:rPr>
              <a:t>B</a:t>
            </a:r>
            <a:r>
              <a:rPr lang="en-US" altLang="zh-CN" sz="2200" b="0" baseline="-25000" dirty="0">
                <a:latin typeface="Segoe UI" panose="020B0502040204020203" pitchFamily="34" charset="0"/>
                <a:cs typeface="Segoe UI" panose="020B0502040204020203" pitchFamily="34" charset="0"/>
              </a:rPr>
              <a:t>Fixed</a:t>
            </a:r>
            <a:endParaRPr lang="zh-CN" altLang="en-US" sz="2200" b="0" baseline="-25000" dirty="0">
              <a:latin typeface="Segoe UI" panose="020B0502040204020203" pitchFamily="34" charset="0"/>
              <a:cs typeface="Segoe UI" panose="020B0502040204020203" pitchFamily="34" charset="0"/>
            </a:endParaRPr>
          </a:p>
        </p:txBody>
      </p:sp>
      <p:sp>
        <p:nvSpPr>
          <p:cNvPr id="5" name="文本框 5"/>
          <p:cNvSpPr txBox="1">
            <a:spLocks noChangeArrowheads="1"/>
          </p:cNvSpPr>
          <p:nvPr/>
        </p:nvSpPr>
        <p:spPr bwMode="auto">
          <a:xfrm>
            <a:off x="4815969" y="4571898"/>
            <a:ext cx="2560060" cy="4308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200" b="0" dirty="0">
                <a:latin typeface="Segoe UI" panose="020B0502040204020203" pitchFamily="34" charset="0"/>
                <a:cs typeface="Segoe UI" panose="020B0502040204020203" pitchFamily="34" charset="0"/>
              </a:rPr>
              <a:t>V</a:t>
            </a:r>
            <a:r>
              <a:rPr lang="en-US" altLang="zh-CN" sz="2200" b="0" baseline="-25000" dirty="0">
                <a:latin typeface="Segoe UI" panose="020B0502040204020203" pitchFamily="34" charset="0"/>
                <a:cs typeface="Segoe UI" panose="020B0502040204020203" pitchFamily="34" charset="0"/>
              </a:rPr>
              <a:t>swap</a:t>
            </a:r>
            <a:r>
              <a:rPr lang="en-US" altLang="zh-CN" sz="2200" b="0" dirty="0">
                <a:latin typeface="Segoe UI" panose="020B0502040204020203" pitchFamily="34" charset="0"/>
                <a:cs typeface="Segoe UI" panose="020B0502040204020203" pitchFamily="34" charset="0"/>
              </a:rPr>
              <a:t> = B</a:t>
            </a:r>
            <a:r>
              <a:rPr lang="en-US" altLang="zh-CN" sz="2200" b="0" baseline="-25000" dirty="0">
                <a:latin typeface="Segoe UI" panose="020B0502040204020203" pitchFamily="34" charset="0"/>
                <a:cs typeface="Segoe UI" panose="020B0502040204020203" pitchFamily="34" charset="0"/>
              </a:rPr>
              <a:t>Fixed</a:t>
            </a:r>
            <a:r>
              <a:rPr lang="en-US" altLang="zh-CN" sz="2200" dirty="0">
                <a:latin typeface="Times New Roman" panose="02020603050405020304" pitchFamily="18" charset="0"/>
              </a:rPr>
              <a:t> – </a:t>
            </a:r>
            <a:r>
              <a:rPr lang="en-US" altLang="zh-CN" sz="2200" b="0" dirty="0">
                <a:latin typeface="Segoe UI" panose="020B0502040204020203" pitchFamily="34" charset="0"/>
                <a:cs typeface="Segoe UI" panose="020B0502040204020203" pitchFamily="34" charset="0"/>
              </a:rPr>
              <a:t>B</a:t>
            </a:r>
            <a:r>
              <a:rPr lang="en-US" altLang="zh-CN" sz="2200" b="0" baseline="-25000" dirty="0">
                <a:latin typeface="Segoe UI" panose="020B0502040204020203" pitchFamily="34" charset="0"/>
                <a:cs typeface="Segoe UI" panose="020B0502040204020203" pitchFamily="34" charset="0"/>
              </a:rPr>
              <a:t>Float</a:t>
            </a:r>
            <a:endParaRPr lang="zh-CN" altLang="en-US" sz="2200" b="0" baseline="-25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2049982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457189" lvl="1" indent="-457189">
              <a:buFont typeface="Wingdings" panose="05000000000000000000" pitchFamily="2" charset="2"/>
              <a:buChar char="Ø"/>
            </a:pPr>
            <a:r>
              <a:rPr lang="en-US" altLang="zh-CN" b="1" dirty="0">
                <a:solidFill>
                  <a:schemeClr val="accent6">
                    <a:lumMod val="75000"/>
                  </a:schemeClr>
                </a:solidFill>
              </a:rPr>
              <a:t>Example</a:t>
            </a:r>
            <a:r>
              <a:rPr lang="en-US" altLang="zh-CN" b="1" dirty="0" smtClean="0">
                <a:solidFill>
                  <a:schemeClr val="accent6">
                    <a:lumMod val="75000"/>
                  </a:schemeClr>
                </a:solidFill>
              </a:rPr>
              <a:t>:</a:t>
            </a:r>
          </a:p>
          <a:p>
            <a:pPr marL="533387" lvl="2" indent="0">
              <a:buNone/>
            </a:pPr>
            <a:r>
              <a:rPr lang="en-US" altLang="zh-CN" dirty="0" smtClean="0">
                <a:solidFill>
                  <a:schemeClr val="accent6">
                    <a:lumMod val="75000"/>
                  </a:schemeClr>
                </a:solidFill>
              </a:rPr>
              <a:t>Consider </a:t>
            </a:r>
            <a:r>
              <a:rPr lang="en-US" altLang="zh-CN" dirty="0">
                <a:solidFill>
                  <a:schemeClr val="accent6">
                    <a:lumMod val="75000"/>
                  </a:schemeClr>
                </a:solidFill>
              </a:rPr>
              <a:t>a $1 million notional swap that pays a floating rate based on 6-month LIBOR and receives a 6% fixed rate semiannually. The swap has a remaining life of 15 months with pay dates at 3, 9 and 15 months. Spot LIBOR rates are as following: 3 months at 5.4%; 9 months at 5.6%; and 15 months at 5.8%. The LIBOR at the last payment date was 5.0%. Calculate the value of the swap to the fixed-rate receiver using the bond methodology</a:t>
            </a:r>
            <a:r>
              <a:rPr lang="en-US" altLang="zh-CN" dirty="0" smtClean="0">
                <a:solidFill>
                  <a:schemeClr val="accent6">
                    <a:lumMod val="75000"/>
                  </a:schemeClr>
                </a:solidFill>
              </a:rPr>
              <a:t>.</a:t>
            </a:r>
          </a:p>
          <a:p>
            <a:pPr marL="457189" lvl="1" indent="-457189">
              <a:buFont typeface="Wingdings" panose="05000000000000000000" pitchFamily="2" charset="2"/>
              <a:buChar char="Ø"/>
            </a:pPr>
            <a:endParaRPr lang="en-US" altLang="zh-CN" dirty="0"/>
          </a:p>
          <a:p>
            <a:endParaRPr lang="zh-CN" altLang="en-US" dirty="0"/>
          </a:p>
        </p:txBody>
      </p:sp>
      <p:sp>
        <p:nvSpPr>
          <p:cNvPr id="3" name="标题 2"/>
          <p:cNvSpPr>
            <a:spLocks noGrp="1"/>
          </p:cNvSpPr>
          <p:nvPr>
            <p:ph type="title"/>
          </p:nvPr>
        </p:nvSpPr>
        <p:spPr/>
        <p:txBody>
          <a:bodyPr>
            <a:noAutofit/>
          </a:bodyPr>
          <a:lstStyle/>
          <a:p>
            <a:pPr>
              <a:lnSpc>
                <a:spcPct val="140000"/>
              </a:lnSpc>
              <a:defRPr/>
            </a:pPr>
            <a:r>
              <a:rPr lang="en-US" altLang="zh-CN" sz="2670" dirty="0"/>
              <a:t>Valuation </a:t>
            </a:r>
          </a:p>
        </p:txBody>
      </p:sp>
      <mc:AlternateContent xmlns:mc="http://schemas.openxmlformats.org/markup-compatibility/2006" xmlns:a14="http://schemas.microsoft.com/office/drawing/2010/main">
        <mc:Choice Requires="a14">
          <p:sp>
            <p:nvSpPr>
              <p:cNvPr id="4" name="文本框 3"/>
              <p:cNvSpPr txBox="1"/>
              <p:nvPr/>
            </p:nvSpPr>
            <p:spPr>
              <a:xfrm>
                <a:off x="521466" y="3814259"/>
                <a:ext cx="11149068" cy="15937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900" b="0" i="1" dirty="0" smtClean="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nor/>
                            </m:rPr>
                            <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m:t>Bond</m:t>
                          </m:r>
                        </m:e>
                        <m:sub>
                          <m:r>
                            <m:rPr>
                              <m:sty m:val="p"/>
                            </m:rP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Fixed</m:t>
                          </m:r>
                        </m:sub>
                      </m:sSub>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=30,000×</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−5.4%×0.25</m:t>
                          </m:r>
                        </m:sup>
                      </m:s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+30,000×</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−5.6%×0.75</m:t>
                          </m:r>
                        </m:sup>
                      </m:s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+1,030,000×</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−5.8%×1.25</m:t>
                          </m:r>
                        </m:sup>
                      </m:sSup>
                      <m:r>
                        <a:rPr lang="en-US" altLang="zh-CN" sz="1900" b="0" i="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=1,016,332</m:t>
                      </m:r>
                    </m:oMath>
                  </m:oMathPara>
                </a14:m>
                <a:endParaRPr lang="en-US" altLang="zh-CN" sz="19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endParaRPr lang="en-US" altLang="zh-CN" sz="19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Bond</m:t>
                          </m:r>
                        </m:e>
                        <m:sub>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Float</m:t>
                          </m:r>
                        </m:sub>
                      </m:sSub>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d>
                        <m:d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dPr>
                        <m:e>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1,000,000+25,000</m:t>
                          </m:r>
                        </m:e>
                      </m:d>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−5.4%×0.25</m:t>
                          </m:r>
                        </m:sup>
                      </m:sSup>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=1,011,255</m:t>
                      </m:r>
                    </m:oMath>
                  </m:oMathPara>
                </a14:m>
                <a:endPar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endPar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V</m:t>
                          </m:r>
                        </m:e>
                        <m:sub>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swap</m:t>
                          </m:r>
                        </m:sub>
                      </m:sSub>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Bond</m:t>
                          </m:r>
                        </m:e>
                        <m:sub>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Fixed</m:t>
                          </m:r>
                        </m:sub>
                      </m:sSub>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900" b="0" i="1">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Bond</m:t>
                          </m:r>
                        </m:e>
                        <m:sub>
                          <m:r>
                            <m:rPr>
                              <m:sty m:val="p"/>
                            </m:rP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Float</m:t>
                          </m:r>
                        </m:sub>
                      </m:sSub>
                      <m:r>
                        <a:rPr lang="en-US" altLang="zh-CN" sz="1900" b="0" i="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=1,016,332−1,011,255=5,077</m:t>
                      </m:r>
                    </m:oMath>
                  </m:oMathPara>
                </a14:m>
                <a:endParaRPr lang="zh-CN" altLang="en-US"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21466" y="3814259"/>
                <a:ext cx="11149068" cy="1593706"/>
              </a:xfrm>
              <a:prstGeom prst="rect">
                <a:avLst/>
              </a:prstGeom>
              <a:blipFill>
                <a:blip r:embed="rId2"/>
                <a:stretch>
                  <a:fillRect b="-3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225547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Mechanics of A Currency Swap</a:t>
            </a:r>
            <a:endParaRPr lang="en-US" altLang="zh-CN" dirty="0"/>
          </a:p>
        </p:txBody>
      </p:sp>
      <p:sp>
        <p:nvSpPr>
          <p:cNvPr id="3" name="文本占位符 2"/>
          <p:cNvSpPr>
            <a:spLocks noGrp="1"/>
          </p:cNvSpPr>
          <p:nvPr>
            <p:ph type="body" sz="quarter" idx="10"/>
          </p:nvPr>
        </p:nvSpPr>
        <p:spPr/>
        <p:txBody>
          <a:bodyPr>
            <a:normAutofit fontScale="92500" lnSpcReduction="10000"/>
          </a:bodyPr>
          <a:lstStyle/>
          <a:p>
            <a:r>
              <a:rPr lang="en-US" altLang="zh-CN" sz="2600" dirty="0" smtClean="0"/>
              <a:t>Currency Swap</a:t>
            </a:r>
          </a:p>
          <a:p>
            <a:pPr lvl="1"/>
            <a:r>
              <a:rPr lang="en-US" altLang="zh-CN" b="0" dirty="0"/>
              <a:t>A currency swap </a:t>
            </a:r>
            <a:r>
              <a:rPr lang="en-US" altLang="zh-CN" b="0" u="sng" dirty="0"/>
              <a:t>exchanges principal and interest </a:t>
            </a:r>
            <a:r>
              <a:rPr lang="en-US" altLang="zh-CN" b="0" dirty="0"/>
              <a:t>in one currency for principal </a:t>
            </a:r>
            <a:r>
              <a:rPr lang="en-US" altLang="zh-CN" b="0" dirty="0" smtClean="0"/>
              <a:t>and interest </a:t>
            </a:r>
            <a:r>
              <a:rPr lang="en-US" altLang="zh-CN" b="0" dirty="0"/>
              <a:t>in another currency</a:t>
            </a:r>
            <a:r>
              <a:rPr lang="en-US" altLang="zh-CN" b="0" dirty="0" smtClean="0"/>
              <a:t>.</a:t>
            </a:r>
          </a:p>
          <a:p>
            <a:pPr lvl="1">
              <a:buFont typeface="Wingdings" panose="05000000000000000000" pitchFamily="2" charset="2"/>
              <a:buChar char="ü"/>
            </a:pPr>
            <a:r>
              <a:rPr lang="en-US" altLang="zh-CN" b="0" dirty="0" smtClean="0"/>
              <a:t>A </a:t>
            </a:r>
            <a:r>
              <a:rPr lang="en-US" altLang="zh-CN" b="0" dirty="0"/>
              <a:t>currency swap agreement requires the principal to be specified in each of the </a:t>
            </a:r>
            <a:r>
              <a:rPr lang="en-US" altLang="zh-CN" b="0" dirty="0" smtClean="0"/>
              <a:t>two currencies</a:t>
            </a:r>
            <a:r>
              <a:rPr lang="en-US" altLang="zh-CN" b="0" dirty="0"/>
              <a:t>. The principal amounts are usually exchanged at the beginning and at </a:t>
            </a:r>
            <a:r>
              <a:rPr lang="en-US" altLang="zh-CN" b="0" dirty="0" smtClean="0"/>
              <a:t>the end </a:t>
            </a:r>
            <a:r>
              <a:rPr lang="en-US" altLang="zh-CN" b="0" dirty="0"/>
              <a:t>of the life of the swap.</a:t>
            </a:r>
          </a:p>
          <a:p>
            <a:pPr lvl="1">
              <a:buFont typeface="Wingdings" panose="05000000000000000000" pitchFamily="2" charset="2"/>
              <a:buChar char="ü"/>
            </a:pPr>
            <a:r>
              <a:rPr lang="en-US" altLang="zh-CN" b="0" dirty="0" smtClean="0"/>
              <a:t>For </a:t>
            </a:r>
            <a:r>
              <a:rPr lang="en-US" altLang="zh-CN" b="0" dirty="0"/>
              <a:t>a party paying interest in the foreign currency, the foreign principal is </a:t>
            </a:r>
            <a:r>
              <a:rPr lang="en-US" altLang="zh-CN" b="0" dirty="0" smtClean="0"/>
              <a:t>received, and </a:t>
            </a:r>
            <a:r>
              <a:rPr lang="en-US" altLang="zh-CN" b="0" dirty="0"/>
              <a:t>the domestic principal is paid at the beginning of the swap’s life. At the end of </a:t>
            </a:r>
            <a:r>
              <a:rPr lang="en-US" altLang="zh-CN" b="0" dirty="0" smtClean="0"/>
              <a:t>the swap’s </a:t>
            </a:r>
            <a:r>
              <a:rPr lang="en-US" altLang="zh-CN" b="0" dirty="0"/>
              <a:t>life, </a:t>
            </a:r>
            <a:r>
              <a:rPr lang="en-US" altLang="zh-CN" b="0" u="sng" dirty="0"/>
              <a:t>the foreign principal is paid and the domestic principal is received.</a:t>
            </a:r>
          </a:p>
          <a:p>
            <a:pPr lvl="1">
              <a:buFont typeface="Wingdings" panose="05000000000000000000" pitchFamily="2" charset="2"/>
              <a:buChar char="ü"/>
            </a:pPr>
            <a:r>
              <a:rPr lang="en-US" altLang="zh-CN" b="0" dirty="0" smtClean="0"/>
              <a:t>Usually </a:t>
            </a:r>
            <a:r>
              <a:rPr lang="en-US" altLang="zh-CN" b="0" dirty="0"/>
              <a:t>the principal amounts are chosen to be approximately equivalent using </a:t>
            </a:r>
            <a:r>
              <a:rPr lang="en-US" altLang="zh-CN" b="0" dirty="0" smtClean="0"/>
              <a:t>the exchange </a:t>
            </a:r>
            <a:r>
              <a:rPr lang="en-US" altLang="zh-CN" b="0" dirty="0"/>
              <a:t>rate at the swap’s initiation. When they are exchanged at the end of the </a:t>
            </a:r>
            <a:r>
              <a:rPr lang="en-US" altLang="zh-CN" b="0" dirty="0" smtClean="0"/>
              <a:t>life of </a:t>
            </a:r>
            <a:r>
              <a:rPr lang="en-US" altLang="zh-CN" b="0" dirty="0"/>
              <a:t>the swap, their values may be quite different.</a:t>
            </a:r>
            <a:endParaRPr lang="zh-CN" altLang="en-US" dirty="0"/>
          </a:p>
        </p:txBody>
      </p:sp>
    </p:spTree>
    <p:extLst>
      <p:ext uri="{BB962C8B-B14F-4D97-AF65-F5344CB8AC3E}">
        <p14:creationId xmlns:p14="http://schemas.microsoft.com/office/powerpoint/2010/main" val="164116710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Mechanics of A Currency Swap</a:t>
            </a:r>
            <a:endParaRPr lang="zh-CN" altLang="en-US"/>
          </a:p>
        </p:txBody>
      </p:sp>
      <p:sp>
        <p:nvSpPr>
          <p:cNvPr id="3" name="文本占位符 2"/>
          <p:cNvSpPr>
            <a:spLocks noGrp="1"/>
          </p:cNvSpPr>
          <p:nvPr>
            <p:ph type="body" sz="quarter" idx="10"/>
          </p:nvPr>
        </p:nvSpPr>
        <p:spPr/>
        <p:txBody>
          <a:bodyPr/>
          <a:lstStyle/>
          <a:p>
            <a:r>
              <a:rPr lang="en-US" altLang="zh-CN" dirty="0"/>
              <a:t>Currency Swap</a:t>
            </a:r>
          </a:p>
          <a:p>
            <a:pPr lvl="1"/>
            <a:r>
              <a:rPr lang="en-US" altLang="zh-CN" b="0" dirty="0" smtClean="0"/>
              <a:t>fixed-for-fixed </a:t>
            </a:r>
            <a:r>
              <a:rPr lang="en-US" altLang="zh-CN" b="0" dirty="0"/>
              <a:t>currency </a:t>
            </a:r>
            <a:r>
              <a:rPr lang="en-US" altLang="zh-CN" b="0" dirty="0" smtClean="0"/>
              <a:t>swap</a:t>
            </a:r>
          </a:p>
          <a:p>
            <a:pPr lvl="1"/>
            <a:r>
              <a:rPr lang="en-US" altLang="zh-CN" b="0" dirty="0"/>
              <a:t>Fixed-for-floating currency </a:t>
            </a:r>
            <a:r>
              <a:rPr lang="en-US" altLang="zh-CN" b="0" dirty="0" smtClean="0"/>
              <a:t>swap</a:t>
            </a:r>
          </a:p>
          <a:p>
            <a:pPr lvl="1"/>
            <a:r>
              <a:rPr lang="en-US" altLang="zh-CN" b="0" dirty="0"/>
              <a:t>Floating-for-floating currency swap</a:t>
            </a:r>
            <a:endParaRPr lang="zh-CN" altLang="en-US" dirty="0"/>
          </a:p>
        </p:txBody>
      </p:sp>
    </p:spTree>
    <p:extLst>
      <p:ext uri="{BB962C8B-B14F-4D97-AF65-F5344CB8AC3E}">
        <p14:creationId xmlns:p14="http://schemas.microsoft.com/office/powerpoint/2010/main" val="156918458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Mechanics of A Currency Swap</a:t>
            </a:r>
            <a:endParaRPr lang="zh-CN" altLang="en-US" dirty="0"/>
          </a:p>
        </p:txBody>
      </p:sp>
      <p:sp>
        <p:nvSpPr>
          <p:cNvPr id="3" name="文本占位符 2"/>
          <p:cNvSpPr>
            <a:spLocks noGrp="1"/>
          </p:cNvSpPr>
          <p:nvPr>
            <p:ph type="body" sz="quarter" idx="10"/>
          </p:nvPr>
        </p:nvSpPr>
        <p:spPr/>
        <p:txBody>
          <a:bodyPr/>
          <a:lstStyle/>
          <a:p>
            <a:r>
              <a:rPr lang="en-US" altLang="zh-CN" dirty="0"/>
              <a:t>Currency Swap</a:t>
            </a:r>
          </a:p>
          <a:p>
            <a:pPr lvl="1"/>
            <a:r>
              <a:rPr lang="en-US" altLang="zh-CN" dirty="0"/>
              <a:t>Comparative Advantage Argument</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3985933"/>
              </p:ext>
            </p:extLst>
          </p:nvPr>
        </p:nvGraphicFramePr>
        <p:xfrm>
          <a:off x="609600" y="2180919"/>
          <a:ext cx="7092950" cy="1111251"/>
        </p:xfrm>
        <a:graphic>
          <a:graphicData uri="http://schemas.openxmlformats.org/drawingml/2006/table">
            <a:tbl>
              <a:tblPr firstRow="1" bandRow="1">
                <a:tableStyleId>{93296810-A885-4BE3-A3E7-6D5BEEA58F35}</a:tableStyleId>
              </a:tblPr>
              <a:tblGrid>
                <a:gridCol w="2091802">
                  <a:extLst>
                    <a:ext uri="{9D8B030D-6E8A-4147-A177-3AD203B41FA5}">
                      <a16:colId xmlns="" xmlns:a16="http://schemas.microsoft.com/office/drawing/2014/main" val="20000"/>
                    </a:ext>
                  </a:extLst>
                </a:gridCol>
                <a:gridCol w="818750">
                  <a:extLst>
                    <a:ext uri="{9D8B030D-6E8A-4147-A177-3AD203B41FA5}">
                      <a16:colId xmlns="" xmlns:a16="http://schemas.microsoft.com/office/drawing/2014/main" val="20001"/>
                    </a:ext>
                  </a:extLst>
                </a:gridCol>
                <a:gridCol w="1348177">
                  <a:extLst>
                    <a:ext uri="{9D8B030D-6E8A-4147-A177-3AD203B41FA5}">
                      <a16:colId xmlns="" xmlns:a16="http://schemas.microsoft.com/office/drawing/2014/main" val="20002"/>
                    </a:ext>
                  </a:extLst>
                </a:gridCol>
                <a:gridCol w="2834221">
                  <a:extLst>
                    <a:ext uri="{9D8B030D-6E8A-4147-A177-3AD203B41FA5}">
                      <a16:colId xmlns="" xmlns:a16="http://schemas.microsoft.com/office/drawing/2014/main" val="20003"/>
                    </a:ext>
                  </a:extLst>
                </a:gridCol>
              </a:tblGrid>
              <a:tr h="370417">
                <a:tc>
                  <a:txBody>
                    <a:bodyPr/>
                    <a:lstStyle/>
                    <a:p>
                      <a:pPr algn="ct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USD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AUD</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Comparative 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0"/>
                  </a:ext>
                </a:extLst>
              </a:tr>
              <a:tr h="370417">
                <a:tc>
                  <a:txBody>
                    <a:bodyPr/>
                    <a:lstStyle/>
                    <a:p>
                      <a:pPr algn="ctr"/>
                      <a:r>
                        <a:rPr lang="en-US" altLang="zh-CN" sz="1800" dirty="0" smtClean="0"/>
                        <a:t>General Electric</a:t>
                      </a: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5%</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7.6%</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USD</a:t>
                      </a:r>
                      <a:r>
                        <a:rPr lang="en-US" altLang="zh-CN" sz="1800" baseline="0" dirty="0" smtClean="0"/>
                        <a:t> Market</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1"/>
                  </a:ext>
                </a:extLst>
              </a:tr>
              <a:tr h="370417">
                <a:tc>
                  <a:txBody>
                    <a:bodyPr/>
                    <a:lstStyle/>
                    <a:p>
                      <a:pPr algn="ctr"/>
                      <a:r>
                        <a:rPr lang="en-US" altLang="zh-CN" sz="1800" dirty="0" smtClean="0"/>
                        <a:t>Qantas Airways</a:t>
                      </a:r>
                      <a:endParaRPr lang="zh-CN" altLang="en-US" sz="1800" b="1"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7%</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8%</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tc>
                  <a:txBody>
                    <a:bodyPr/>
                    <a:lstStyle/>
                    <a:p>
                      <a:pPr algn="ctr"/>
                      <a:r>
                        <a:rPr lang="en-US" altLang="zh-CN" sz="1800" dirty="0" smtClean="0"/>
                        <a:t>AUD Market</a:t>
                      </a:r>
                      <a:endParaRPr lang="zh-CN" altLang="en-US" sz="1800" dirty="0">
                        <a:solidFill>
                          <a:srgbClr val="2C3E50"/>
                        </a:solidFill>
                        <a:latin typeface="Segoe UI" panose="020B0502040204020203" pitchFamily="34" charset="0"/>
                        <a:cs typeface="Segoe UI" panose="020B0502040204020203" pitchFamily="34" charset="0"/>
                      </a:endParaRPr>
                    </a:p>
                  </a:txBody>
                  <a:tcPr marL="91445" marR="91445" marT="45668" marB="45668"/>
                </a:tc>
                <a:extLst>
                  <a:ext uri="{0D108BD9-81ED-4DB2-BD59-A6C34878D82A}">
                    <a16:rowId xmlns="" xmlns:a16="http://schemas.microsoft.com/office/drawing/2014/main" val="10002"/>
                  </a:ext>
                </a:extLst>
              </a:tr>
            </a:tbl>
          </a:graphicData>
        </a:graphic>
      </p:graphicFrame>
      <p:grpSp>
        <p:nvGrpSpPr>
          <p:cNvPr id="5" name="组合 28"/>
          <p:cNvGrpSpPr>
            <a:grpSpLocks/>
          </p:cNvGrpSpPr>
          <p:nvPr/>
        </p:nvGrpSpPr>
        <p:grpSpPr bwMode="auto">
          <a:xfrm>
            <a:off x="609600" y="3643549"/>
            <a:ext cx="7137752" cy="1228725"/>
            <a:chOff x="1001540" y="2993059"/>
            <a:chExt cx="7138542" cy="1228029"/>
          </a:xfrm>
        </p:grpSpPr>
        <p:sp>
          <p:nvSpPr>
            <p:cNvPr id="6" name="文本框 5"/>
            <p:cNvSpPr txBox="1">
              <a:spLocks noChangeArrowheads="1"/>
            </p:cNvSpPr>
            <p:nvPr/>
          </p:nvSpPr>
          <p:spPr bwMode="auto">
            <a:xfrm>
              <a:off x="1977101" y="3214717"/>
              <a:ext cx="1018227" cy="646331"/>
            </a:xfrm>
            <a:prstGeom prst="rect">
              <a:avLst/>
            </a:pr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General</a:t>
              </a:r>
            </a:p>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Electric</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7" name="文本框 6"/>
            <p:cNvSpPr txBox="1">
              <a:spLocks noChangeArrowheads="1"/>
            </p:cNvSpPr>
            <p:nvPr/>
          </p:nvSpPr>
          <p:spPr bwMode="auto">
            <a:xfrm>
              <a:off x="6334882" y="3225121"/>
              <a:ext cx="1043747" cy="646331"/>
            </a:xfrm>
            <a:prstGeom prst="rect">
              <a:avLst/>
            </a:pr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Qantas</a:t>
              </a:r>
            </a:p>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Airways</a:t>
              </a:r>
            </a:p>
          </p:txBody>
        </p:sp>
        <p:grpSp>
          <p:nvGrpSpPr>
            <p:cNvPr id="8" name="组合 7"/>
            <p:cNvGrpSpPr>
              <a:grpSpLocks/>
            </p:cNvGrpSpPr>
            <p:nvPr/>
          </p:nvGrpSpPr>
          <p:grpSpPr bwMode="auto">
            <a:xfrm>
              <a:off x="3108188" y="3343054"/>
              <a:ext cx="720000" cy="389657"/>
              <a:chOff x="3054196" y="3395735"/>
              <a:chExt cx="720000" cy="389657"/>
            </a:xfrm>
          </p:grpSpPr>
          <p:sp>
            <p:nvSpPr>
              <p:cNvPr id="21" name="左箭头 20"/>
              <p:cNvSpPr/>
              <p:nvPr/>
            </p:nvSpPr>
            <p:spPr>
              <a:xfrm>
                <a:off x="3054393" y="3396379"/>
                <a:ext cx="719218" cy="144381"/>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左箭头 21"/>
              <p:cNvSpPr/>
              <p:nvPr/>
            </p:nvSpPr>
            <p:spPr>
              <a:xfrm flipH="1">
                <a:off x="3054393" y="3640715"/>
                <a:ext cx="719218" cy="144381"/>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9" name="文本框 8"/>
            <p:cNvSpPr txBox="1">
              <a:spLocks noChangeArrowheads="1"/>
            </p:cNvSpPr>
            <p:nvPr/>
          </p:nvSpPr>
          <p:spPr bwMode="auto">
            <a:xfrm>
              <a:off x="2965402" y="2993059"/>
              <a:ext cx="1005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USD 5%</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9"/>
            <p:cNvSpPr txBox="1">
              <a:spLocks noChangeArrowheads="1"/>
            </p:cNvSpPr>
            <p:nvPr/>
          </p:nvSpPr>
          <p:spPr bwMode="auto">
            <a:xfrm>
              <a:off x="2866806" y="3851756"/>
              <a:ext cx="12027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AUD 6.9%</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左箭头 10"/>
            <p:cNvSpPr/>
            <p:nvPr/>
          </p:nvSpPr>
          <p:spPr>
            <a:xfrm>
              <a:off x="1144431" y="3465866"/>
              <a:ext cx="719217" cy="144380"/>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左箭头 11"/>
            <p:cNvSpPr/>
            <p:nvPr/>
          </p:nvSpPr>
          <p:spPr>
            <a:xfrm flipH="1">
              <a:off x="7420864" y="3488078"/>
              <a:ext cx="719218" cy="144380"/>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文本框 12"/>
            <p:cNvSpPr txBox="1">
              <a:spLocks noChangeArrowheads="1"/>
            </p:cNvSpPr>
            <p:nvPr/>
          </p:nvSpPr>
          <p:spPr bwMode="auto">
            <a:xfrm>
              <a:off x="1001540" y="2993059"/>
              <a:ext cx="1005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USD 5%</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13"/>
            <p:cNvSpPr txBox="1">
              <a:spLocks noChangeArrowheads="1"/>
            </p:cNvSpPr>
            <p:nvPr/>
          </p:nvSpPr>
          <p:spPr bwMode="auto">
            <a:xfrm>
              <a:off x="7073588" y="3851756"/>
              <a:ext cx="102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AUD 8%</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文本框 21"/>
            <p:cNvSpPr txBox="1">
              <a:spLocks noChangeArrowheads="1"/>
            </p:cNvSpPr>
            <p:nvPr/>
          </p:nvSpPr>
          <p:spPr bwMode="auto">
            <a:xfrm>
              <a:off x="3941048" y="3214717"/>
              <a:ext cx="1319592" cy="646331"/>
            </a:xfrm>
            <a:prstGeom prst="rect">
              <a:avLst/>
            </a:pr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Financial</a:t>
              </a:r>
            </a:p>
            <a:p>
              <a:pPr algn="just">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Institution</a:t>
              </a:r>
              <a:endParaRPr lang="zh-CN" altLang="en-US" sz="1800">
                <a:solidFill>
                  <a:srgbClr val="2C3E50"/>
                </a:solidFill>
                <a:latin typeface="Segoe UI" panose="020B0502040204020203" pitchFamily="34" charset="0"/>
                <a:cs typeface="Segoe UI" panose="020B0502040204020203" pitchFamily="34" charset="0"/>
              </a:endParaRPr>
            </a:p>
          </p:txBody>
        </p:sp>
        <p:grpSp>
          <p:nvGrpSpPr>
            <p:cNvPr id="16" name="组合 22"/>
            <p:cNvGrpSpPr>
              <a:grpSpLocks/>
            </p:cNvGrpSpPr>
            <p:nvPr/>
          </p:nvGrpSpPr>
          <p:grpSpPr bwMode="auto">
            <a:xfrm>
              <a:off x="5373500" y="3343054"/>
              <a:ext cx="720000" cy="389657"/>
              <a:chOff x="3054196" y="3395735"/>
              <a:chExt cx="720000" cy="389657"/>
            </a:xfrm>
          </p:grpSpPr>
          <p:sp>
            <p:nvSpPr>
              <p:cNvPr id="19" name="左箭头 18"/>
              <p:cNvSpPr/>
              <p:nvPr/>
            </p:nvSpPr>
            <p:spPr>
              <a:xfrm>
                <a:off x="3054695" y="3396379"/>
                <a:ext cx="719217" cy="144381"/>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左箭头 19"/>
              <p:cNvSpPr/>
              <p:nvPr/>
            </p:nvSpPr>
            <p:spPr>
              <a:xfrm flipH="1">
                <a:off x="3054695" y="3640715"/>
                <a:ext cx="719217" cy="144381"/>
              </a:xfrm>
              <a:prstGeom prst="leftArrow">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7" name="文本框 25"/>
            <p:cNvSpPr txBox="1">
              <a:spLocks noChangeArrowheads="1"/>
            </p:cNvSpPr>
            <p:nvPr/>
          </p:nvSpPr>
          <p:spPr bwMode="auto">
            <a:xfrm>
              <a:off x="5230799" y="2993059"/>
              <a:ext cx="1180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USD 6.3%</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8" name="文本框 26"/>
            <p:cNvSpPr txBox="1">
              <a:spLocks noChangeArrowheads="1"/>
            </p:cNvSpPr>
            <p:nvPr/>
          </p:nvSpPr>
          <p:spPr bwMode="auto">
            <a:xfrm>
              <a:off x="5306845" y="3851756"/>
              <a:ext cx="102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AUD 8%</a:t>
              </a:r>
              <a:endParaRPr lang="zh-CN" altLang="en-US" sz="1800" b="0">
                <a:solidFill>
                  <a:srgbClr val="2C3E50"/>
                </a:solidFill>
                <a:latin typeface="Segoe UI" panose="020B0502040204020203" pitchFamily="34" charset="0"/>
                <a:cs typeface="Segoe UI" panose="020B0502040204020203" pitchFamily="34" charset="0"/>
              </a:endParaRPr>
            </a:p>
          </p:txBody>
        </p:sp>
      </p:grpSp>
      <p:graphicFrame>
        <p:nvGraphicFramePr>
          <p:cNvPr id="23" name="表格 22"/>
          <p:cNvGraphicFramePr>
            <a:graphicFrameLocks noGrp="1"/>
          </p:cNvGraphicFramePr>
          <p:nvPr>
            <p:extLst>
              <p:ext uri="{D42A27DB-BD31-4B8C-83A1-F6EECF244321}">
                <p14:modId xmlns:p14="http://schemas.microsoft.com/office/powerpoint/2010/main" val="1980553844"/>
              </p:ext>
            </p:extLst>
          </p:nvPr>
        </p:nvGraphicFramePr>
        <p:xfrm>
          <a:off x="1625781" y="4985414"/>
          <a:ext cx="4702175" cy="1482724"/>
        </p:xfrm>
        <a:graphic>
          <a:graphicData uri="http://schemas.openxmlformats.org/drawingml/2006/table">
            <a:tbl>
              <a:tblPr firstRow="1" bandRow="1">
                <a:tableStyleId>{93296810-A885-4BE3-A3E7-6D5BEEA58F35}</a:tableStyleId>
              </a:tblPr>
              <a:tblGrid>
                <a:gridCol w="2032631">
                  <a:extLst>
                    <a:ext uri="{9D8B030D-6E8A-4147-A177-3AD203B41FA5}">
                      <a16:colId xmlns="" xmlns:a16="http://schemas.microsoft.com/office/drawing/2014/main" val="20000"/>
                    </a:ext>
                  </a:extLst>
                </a:gridCol>
                <a:gridCol w="818960">
                  <a:extLst>
                    <a:ext uri="{9D8B030D-6E8A-4147-A177-3AD203B41FA5}">
                      <a16:colId xmlns="" xmlns:a16="http://schemas.microsoft.com/office/drawing/2014/main" val="20001"/>
                    </a:ext>
                  </a:extLst>
                </a:gridCol>
                <a:gridCol w="1850584">
                  <a:extLst>
                    <a:ext uri="{9D8B030D-6E8A-4147-A177-3AD203B41FA5}">
                      <a16:colId xmlns="" xmlns:a16="http://schemas.microsoft.com/office/drawing/2014/main" val="20002"/>
                    </a:ext>
                  </a:extLst>
                </a:gridCol>
              </a:tblGrid>
              <a:tr h="370681">
                <a:tc gridSpan="3">
                  <a:txBody>
                    <a:bodyPr/>
                    <a:lstStyle/>
                    <a:p>
                      <a:pPr algn="ctr"/>
                      <a:r>
                        <a:rPr lang="en-US" altLang="zh-CN" sz="1800" dirty="0" smtClean="0"/>
                        <a:t>Net Borrowing Rates (i.e.,</a:t>
                      </a:r>
                      <a:r>
                        <a:rPr lang="en-US" altLang="zh-CN" sz="1800" baseline="0" dirty="0" smtClean="0"/>
                        <a:t> including swap</a:t>
                      </a:r>
                      <a:r>
                        <a:rPr lang="en-US" altLang="zh-CN" sz="1800" dirty="0" smtClean="0"/>
                        <a:t>)</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hMerge="1">
                  <a:txBody>
                    <a:bodyPr/>
                    <a:lstStyle/>
                    <a:p>
                      <a:endParaRPr lang="zh-CN" altLang="en-US" dirty="0">
                        <a:solidFill>
                          <a:srgbClr val="2C3E50"/>
                        </a:solidFill>
                        <a:latin typeface="Segoe UI" panose="020B0502040204020203" pitchFamily="34" charset="0"/>
                        <a:cs typeface="Segoe UI" panose="020B0502040204020203" pitchFamily="34" charset="0"/>
                      </a:endParaRPr>
                    </a:p>
                  </a:txBody>
                  <a:tcP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hMerge="1">
                  <a:txBody>
                    <a:bodyPr/>
                    <a:lstStyle/>
                    <a:p>
                      <a:endParaRPr lang="zh-CN" altLang="en-US" dirty="0">
                        <a:solidFill>
                          <a:srgbClr val="2C3E50"/>
                        </a:solidFill>
                        <a:latin typeface="Segoe UI" panose="020B0502040204020203" pitchFamily="34" charset="0"/>
                        <a:cs typeface="Segoe UI" panose="020B0502040204020203" pitchFamily="34" charset="0"/>
                      </a:endParaRPr>
                    </a:p>
                  </a:txBody>
                  <a:tcP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 xmlns:a16="http://schemas.microsoft.com/office/drawing/2014/main" val="10000"/>
                  </a:ext>
                </a:extLst>
              </a:tr>
              <a:tr h="370681">
                <a:tc>
                  <a:txBody>
                    <a:bodyPr/>
                    <a:lstStyle/>
                    <a:p>
                      <a:pPr algn="ct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USD</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AUD</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1"/>
                  </a:ext>
                </a:extLst>
              </a:tr>
              <a:tr h="370681">
                <a:tc>
                  <a:txBody>
                    <a:bodyPr/>
                    <a:lstStyle/>
                    <a:p>
                      <a:pPr algn="ctr"/>
                      <a:r>
                        <a:rPr lang="en-US" altLang="zh-CN" sz="1800" dirty="0" smtClean="0"/>
                        <a:t>General Electric</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6.9%</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2"/>
                  </a:ext>
                </a:extLst>
              </a:tr>
              <a:tr h="370681">
                <a:tc>
                  <a:txBody>
                    <a:bodyPr/>
                    <a:lstStyle/>
                    <a:p>
                      <a:pPr algn="ctr"/>
                      <a:r>
                        <a:rPr lang="en-US" altLang="zh-CN" sz="1800" dirty="0" smtClean="0"/>
                        <a:t>Qantas Airways</a:t>
                      </a:r>
                      <a:endParaRPr lang="zh-CN" altLang="en-US" sz="1800" b="1"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r>
                        <a:rPr lang="en-US" altLang="zh-CN" sz="1800" dirty="0" smtClean="0"/>
                        <a:t>6.3%</a:t>
                      </a: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tc>
                  <a:txBody>
                    <a:bodyPr/>
                    <a:lstStyle/>
                    <a:p>
                      <a:pPr algn="ctr"/>
                      <a:endParaRPr lang="zh-CN" altLang="en-US" sz="1800" dirty="0">
                        <a:solidFill>
                          <a:srgbClr val="2C3E50"/>
                        </a:solidFill>
                        <a:latin typeface="Segoe UI" panose="020B0502040204020203" pitchFamily="34" charset="0"/>
                        <a:cs typeface="Segoe UI" panose="020B0502040204020203" pitchFamily="34" charset="0"/>
                      </a:endParaRPr>
                    </a:p>
                  </a:txBody>
                  <a:tcPr marL="91468" marR="91468" marT="45700" marB="45700"/>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15018472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Mechanics of A Currency Swap</a:t>
            </a:r>
            <a:endParaRPr lang="zh-CN" altLang="en-US" dirty="0"/>
          </a:p>
        </p:txBody>
      </p:sp>
      <p:sp>
        <p:nvSpPr>
          <p:cNvPr id="3" name="文本占位符 2"/>
          <p:cNvSpPr>
            <a:spLocks noGrp="1"/>
          </p:cNvSpPr>
          <p:nvPr>
            <p:ph type="body" sz="quarter" idx="10"/>
          </p:nvPr>
        </p:nvSpPr>
        <p:spPr/>
        <p:txBody>
          <a:bodyPr/>
          <a:lstStyle/>
          <a:p>
            <a:pPr>
              <a:defRPr/>
            </a:pPr>
            <a:r>
              <a:rPr lang="en-US" altLang="zh-CN" dirty="0"/>
              <a:t>Valuation</a:t>
            </a:r>
          </a:p>
          <a:p>
            <a:pPr marL="457189" lvl="1" indent="-457189">
              <a:buFont typeface="Wingdings" panose="05000000000000000000" pitchFamily="2" charset="2"/>
              <a:buChar char="Ø"/>
            </a:pPr>
            <a:r>
              <a:rPr lang="en-US" altLang="zh-CN" dirty="0"/>
              <a:t>The valuation of currency swap is given by:</a:t>
            </a:r>
          </a:p>
          <a:p>
            <a:endParaRPr lang="zh-CN" altLang="en-US" dirty="0"/>
          </a:p>
        </p:txBody>
      </p:sp>
      <p:sp>
        <p:nvSpPr>
          <p:cNvPr id="4" name="文本框 13"/>
          <p:cNvSpPr txBox="1">
            <a:spLocks noChangeArrowheads="1"/>
          </p:cNvSpPr>
          <p:nvPr/>
        </p:nvSpPr>
        <p:spPr bwMode="auto">
          <a:xfrm>
            <a:off x="2859319" y="2057056"/>
            <a:ext cx="2235099" cy="86716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a:lnSpc>
                <a:spcPct val="120000"/>
              </a:lnSpc>
              <a:spcBef>
                <a:spcPct val="0"/>
              </a:spcBef>
              <a:buClr>
                <a:srgbClr val="800000"/>
              </a:buClr>
              <a:buSzPct val="80000"/>
              <a:buFontTx/>
              <a:buNone/>
            </a:pP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V</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Swap</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 = B</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D</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 – S</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0</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B</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F</a:t>
            </a:r>
          </a:p>
          <a:p>
            <a:pPr marL="0" lvl="1" algn="ctr">
              <a:lnSpc>
                <a:spcPct val="120000"/>
              </a:lnSpc>
              <a:spcBef>
                <a:spcPct val="0"/>
              </a:spcBef>
              <a:buClr>
                <a:srgbClr val="800000"/>
              </a:buClr>
              <a:buSzPct val="80000"/>
              <a:buFontTx/>
              <a:buNone/>
            </a:pP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V</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swap</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 = S</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0</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B</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F</a:t>
            </a:r>
            <a:r>
              <a:rPr kumimoji="1" lang="en-US" altLang="zh-CN" sz="2200" b="0" dirty="0">
                <a:latin typeface="Segoe UI" panose="020B0502040204020203" pitchFamily="34" charset="0"/>
                <a:ea typeface="微软雅黑" panose="020B0503020204020204" pitchFamily="34" charset="-122"/>
                <a:cs typeface="Segoe UI" panose="020B0502040204020203" pitchFamily="34" charset="0"/>
              </a:rPr>
              <a:t> – B</a:t>
            </a:r>
            <a:r>
              <a:rPr kumimoji="1" lang="en-US" altLang="zh-CN" sz="2200" b="0" baseline="-25000" dirty="0">
                <a:latin typeface="Segoe UI" panose="020B0502040204020203" pitchFamily="34" charset="0"/>
                <a:ea typeface="微软雅黑" panose="020B0503020204020204" pitchFamily="34" charset="-122"/>
                <a:cs typeface="Segoe UI" panose="020B0502040204020203" pitchFamily="34" charset="0"/>
              </a:rPr>
              <a:t>D</a:t>
            </a:r>
          </a:p>
        </p:txBody>
      </p:sp>
      <p:sp>
        <p:nvSpPr>
          <p:cNvPr id="5" name="lightbulb-with-bolt-sign_44446"/>
          <p:cNvSpPr>
            <a:spLocks noChangeAspect="1"/>
          </p:cNvSpPr>
          <p:nvPr/>
        </p:nvSpPr>
        <p:spPr bwMode="auto">
          <a:xfrm>
            <a:off x="807686" y="3338706"/>
            <a:ext cx="573312" cy="609685"/>
          </a:xfrm>
          <a:custGeom>
            <a:avLst/>
            <a:gdLst>
              <a:gd name="connsiteX0" fmla="*/ 254274 w 570592"/>
              <a:gd name="connsiteY0" fmla="*/ 495344 h 606792"/>
              <a:gd name="connsiteX1" fmla="*/ 254274 w 570592"/>
              <a:gd name="connsiteY1" fmla="*/ 520211 h 606792"/>
              <a:gd name="connsiteX2" fmla="*/ 316388 w 570592"/>
              <a:gd name="connsiteY2" fmla="*/ 520211 h 606792"/>
              <a:gd name="connsiteX3" fmla="*/ 316388 w 570592"/>
              <a:gd name="connsiteY3" fmla="*/ 495344 h 606792"/>
              <a:gd name="connsiteX4" fmla="*/ 462463 w 570592"/>
              <a:gd name="connsiteY4" fmla="*/ 362283 h 606792"/>
              <a:gd name="connsiteX5" fmla="*/ 474842 w 570592"/>
              <a:gd name="connsiteY5" fmla="*/ 365597 h 606792"/>
              <a:gd name="connsiteX6" fmla="*/ 523225 w 570592"/>
              <a:gd name="connsiteY6" fmla="*/ 393462 h 606792"/>
              <a:gd name="connsiteX7" fmla="*/ 534773 w 570592"/>
              <a:gd name="connsiteY7" fmla="*/ 408449 h 606792"/>
              <a:gd name="connsiteX8" fmla="*/ 532282 w 570592"/>
              <a:gd name="connsiteY8" fmla="*/ 427201 h 606792"/>
              <a:gd name="connsiteX9" fmla="*/ 510846 w 570592"/>
              <a:gd name="connsiteY9" fmla="*/ 439552 h 606792"/>
              <a:gd name="connsiteX10" fmla="*/ 498467 w 570592"/>
              <a:gd name="connsiteY10" fmla="*/ 436238 h 606792"/>
              <a:gd name="connsiteX11" fmla="*/ 450084 w 570592"/>
              <a:gd name="connsiteY11" fmla="*/ 408373 h 606792"/>
              <a:gd name="connsiteX12" fmla="*/ 438536 w 570592"/>
              <a:gd name="connsiteY12" fmla="*/ 393386 h 606792"/>
              <a:gd name="connsiteX13" fmla="*/ 441027 w 570592"/>
              <a:gd name="connsiteY13" fmla="*/ 374634 h 606792"/>
              <a:gd name="connsiteX14" fmla="*/ 462463 w 570592"/>
              <a:gd name="connsiteY14" fmla="*/ 362283 h 606792"/>
              <a:gd name="connsiteX15" fmla="*/ 107993 w 570592"/>
              <a:gd name="connsiteY15" fmla="*/ 362283 h 606792"/>
              <a:gd name="connsiteX16" fmla="*/ 129500 w 570592"/>
              <a:gd name="connsiteY16" fmla="*/ 374634 h 606792"/>
              <a:gd name="connsiteX17" fmla="*/ 131991 w 570592"/>
              <a:gd name="connsiteY17" fmla="*/ 393386 h 606792"/>
              <a:gd name="connsiteX18" fmla="*/ 120445 w 570592"/>
              <a:gd name="connsiteY18" fmla="*/ 408449 h 606792"/>
              <a:gd name="connsiteX19" fmla="*/ 72147 w 570592"/>
              <a:gd name="connsiteY19" fmla="*/ 436238 h 606792"/>
              <a:gd name="connsiteX20" fmla="*/ 59696 w 570592"/>
              <a:gd name="connsiteY20" fmla="*/ 439552 h 606792"/>
              <a:gd name="connsiteX21" fmla="*/ 38264 w 570592"/>
              <a:gd name="connsiteY21" fmla="*/ 427201 h 606792"/>
              <a:gd name="connsiteX22" fmla="*/ 47320 w 570592"/>
              <a:gd name="connsiteY22" fmla="*/ 393462 h 606792"/>
              <a:gd name="connsiteX23" fmla="*/ 95617 w 570592"/>
              <a:gd name="connsiteY23" fmla="*/ 365672 h 606792"/>
              <a:gd name="connsiteX24" fmla="*/ 107993 w 570592"/>
              <a:gd name="connsiteY24" fmla="*/ 362283 h 606792"/>
              <a:gd name="connsiteX25" fmla="*/ 489992 w 570592"/>
              <a:gd name="connsiteY25" fmla="*/ 260034 h 606792"/>
              <a:gd name="connsiteX26" fmla="*/ 545838 w 570592"/>
              <a:gd name="connsiteY26" fmla="*/ 260034 h 606792"/>
              <a:gd name="connsiteX27" fmla="*/ 570592 w 570592"/>
              <a:gd name="connsiteY27" fmla="*/ 284840 h 606792"/>
              <a:gd name="connsiteX28" fmla="*/ 545838 w 570592"/>
              <a:gd name="connsiteY28" fmla="*/ 309571 h 606792"/>
              <a:gd name="connsiteX29" fmla="*/ 489992 w 570592"/>
              <a:gd name="connsiteY29" fmla="*/ 309571 h 606792"/>
              <a:gd name="connsiteX30" fmla="*/ 465238 w 570592"/>
              <a:gd name="connsiteY30" fmla="*/ 284840 h 606792"/>
              <a:gd name="connsiteX31" fmla="*/ 489992 w 570592"/>
              <a:gd name="connsiteY31" fmla="*/ 260034 h 606792"/>
              <a:gd name="connsiteX32" fmla="*/ 24829 w 570592"/>
              <a:gd name="connsiteY32" fmla="*/ 260034 h 606792"/>
              <a:gd name="connsiteX33" fmla="*/ 80600 w 570592"/>
              <a:gd name="connsiteY33" fmla="*/ 260034 h 606792"/>
              <a:gd name="connsiteX34" fmla="*/ 105354 w 570592"/>
              <a:gd name="connsiteY34" fmla="*/ 284840 h 606792"/>
              <a:gd name="connsiteX35" fmla="*/ 80600 w 570592"/>
              <a:gd name="connsiteY35" fmla="*/ 309571 h 606792"/>
              <a:gd name="connsiteX36" fmla="*/ 24829 w 570592"/>
              <a:gd name="connsiteY36" fmla="*/ 309571 h 606792"/>
              <a:gd name="connsiteX37" fmla="*/ 0 w 570592"/>
              <a:gd name="connsiteY37" fmla="*/ 284840 h 606792"/>
              <a:gd name="connsiteX38" fmla="*/ 24829 w 570592"/>
              <a:gd name="connsiteY38" fmla="*/ 260034 h 606792"/>
              <a:gd name="connsiteX39" fmla="*/ 285185 w 570592"/>
              <a:gd name="connsiteY39" fmla="*/ 185305 h 606792"/>
              <a:gd name="connsiteX40" fmla="*/ 325864 w 570592"/>
              <a:gd name="connsiteY40" fmla="*/ 185305 h 606792"/>
              <a:gd name="connsiteX41" fmla="*/ 331902 w 570592"/>
              <a:gd name="connsiteY41" fmla="*/ 193972 h 606792"/>
              <a:gd name="connsiteX42" fmla="*/ 308506 w 570592"/>
              <a:gd name="connsiteY42" fmla="*/ 257959 h 606792"/>
              <a:gd name="connsiteX43" fmla="*/ 314543 w 570592"/>
              <a:gd name="connsiteY43" fmla="*/ 266626 h 606792"/>
              <a:gd name="connsiteX44" fmla="*/ 328959 w 570592"/>
              <a:gd name="connsiteY44" fmla="*/ 266626 h 606792"/>
              <a:gd name="connsiteX45" fmla="*/ 332657 w 570592"/>
              <a:gd name="connsiteY45" fmla="*/ 274012 h 606792"/>
              <a:gd name="connsiteX46" fmla="*/ 253487 w 570592"/>
              <a:gd name="connsiteY46" fmla="*/ 378395 h 606792"/>
              <a:gd name="connsiteX47" fmla="*/ 249109 w 570592"/>
              <a:gd name="connsiteY47" fmla="*/ 376586 h 606792"/>
              <a:gd name="connsiteX48" fmla="*/ 257336 w 570592"/>
              <a:gd name="connsiteY48" fmla="*/ 313580 h 606792"/>
              <a:gd name="connsiteX49" fmla="*/ 249260 w 570592"/>
              <a:gd name="connsiteY49" fmla="*/ 304385 h 606792"/>
              <a:gd name="connsiteX50" fmla="*/ 241562 w 570592"/>
              <a:gd name="connsiteY50" fmla="*/ 304385 h 606792"/>
              <a:gd name="connsiteX51" fmla="*/ 235524 w 570592"/>
              <a:gd name="connsiteY51" fmla="*/ 295718 h 606792"/>
              <a:gd name="connsiteX52" fmla="*/ 272732 w 570592"/>
              <a:gd name="connsiteY52" fmla="*/ 193972 h 606792"/>
              <a:gd name="connsiteX53" fmla="*/ 285185 w 570592"/>
              <a:gd name="connsiteY53" fmla="*/ 185305 h 606792"/>
              <a:gd name="connsiteX54" fmla="*/ 285293 w 570592"/>
              <a:gd name="connsiteY54" fmla="*/ 160925 h 606792"/>
              <a:gd name="connsiteX55" fmla="*/ 161215 w 570592"/>
              <a:gd name="connsiteY55" fmla="*/ 284882 h 606792"/>
              <a:gd name="connsiteX56" fmla="*/ 230273 w 570592"/>
              <a:gd name="connsiteY56" fmla="*/ 395199 h 606792"/>
              <a:gd name="connsiteX57" fmla="*/ 250877 w 570592"/>
              <a:gd name="connsiteY57" fmla="*/ 405447 h 606792"/>
              <a:gd name="connsiteX58" fmla="*/ 254274 w 570592"/>
              <a:gd name="connsiteY58" fmla="*/ 407105 h 606792"/>
              <a:gd name="connsiteX59" fmla="*/ 254274 w 570592"/>
              <a:gd name="connsiteY59" fmla="*/ 410948 h 606792"/>
              <a:gd name="connsiteX60" fmla="*/ 254274 w 570592"/>
              <a:gd name="connsiteY60" fmla="*/ 445912 h 606792"/>
              <a:gd name="connsiteX61" fmla="*/ 316388 w 570592"/>
              <a:gd name="connsiteY61" fmla="*/ 445912 h 606792"/>
              <a:gd name="connsiteX62" fmla="*/ 316388 w 570592"/>
              <a:gd name="connsiteY62" fmla="*/ 410948 h 606792"/>
              <a:gd name="connsiteX63" fmla="*/ 316388 w 570592"/>
              <a:gd name="connsiteY63" fmla="*/ 407105 h 606792"/>
              <a:gd name="connsiteX64" fmla="*/ 319785 w 570592"/>
              <a:gd name="connsiteY64" fmla="*/ 405447 h 606792"/>
              <a:gd name="connsiteX65" fmla="*/ 340313 w 570592"/>
              <a:gd name="connsiteY65" fmla="*/ 395199 h 606792"/>
              <a:gd name="connsiteX66" fmla="*/ 409371 w 570592"/>
              <a:gd name="connsiteY66" fmla="*/ 284882 h 606792"/>
              <a:gd name="connsiteX67" fmla="*/ 285293 w 570592"/>
              <a:gd name="connsiteY67" fmla="*/ 160925 h 606792"/>
              <a:gd name="connsiteX68" fmla="*/ 510845 w 570592"/>
              <a:gd name="connsiteY68" fmla="*/ 130052 h 606792"/>
              <a:gd name="connsiteX69" fmla="*/ 532282 w 570592"/>
              <a:gd name="connsiteY69" fmla="*/ 142414 h 606792"/>
              <a:gd name="connsiteX70" fmla="*/ 534773 w 570592"/>
              <a:gd name="connsiteY70" fmla="*/ 161184 h 606792"/>
              <a:gd name="connsiteX71" fmla="*/ 523224 w 570592"/>
              <a:gd name="connsiteY71" fmla="*/ 176185 h 606792"/>
              <a:gd name="connsiteX72" fmla="*/ 474839 w 570592"/>
              <a:gd name="connsiteY72" fmla="*/ 204075 h 606792"/>
              <a:gd name="connsiteX73" fmla="*/ 462460 w 570592"/>
              <a:gd name="connsiteY73" fmla="*/ 207392 h 606792"/>
              <a:gd name="connsiteX74" fmla="*/ 441098 w 570592"/>
              <a:gd name="connsiteY74" fmla="*/ 195030 h 606792"/>
              <a:gd name="connsiteX75" fmla="*/ 438532 w 570592"/>
              <a:gd name="connsiteY75" fmla="*/ 176260 h 606792"/>
              <a:gd name="connsiteX76" fmla="*/ 450081 w 570592"/>
              <a:gd name="connsiteY76" fmla="*/ 161259 h 606792"/>
              <a:gd name="connsiteX77" fmla="*/ 498541 w 570592"/>
              <a:gd name="connsiteY77" fmla="*/ 133293 h 606792"/>
              <a:gd name="connsiteX78" fmla="*/ 510845 w 570592"/>
              <a:gd name="connsiteY78" fmla="*/ 130052 h 606792"/>
              <a:gd name="connsiteX79" fmla="*/ 59770 w 570592"/>
              <a:gd name="connsiteY79" fmla="*/ 129981 h 606792"/>
              <a:gd name="connsiteX80" fmla="*/ 72070 w 570592"/>
              <a:gd name="connsiteY80" fmla="*/ 133297 h 606792"/>
              <a:gd name="connsiteX81" fmla="*/ 120440 w 570592"/>
              <a:gd name="connsiteY81" fmla="*/ 161262 h 606792"/>
              <a:gd name="connsiteX82" fmla="*/ 132061 w 570592"/>
              <a:gd name="connsiteY82" fmla="*/ 176261 h 606792"/>
              <a:gd name="connsiteX83" fmla="*/ 129571 w 570592"/>
              <a:gd name="connsiteY83" fmla="*/ 195030 h 606792"/>
              <a:gd name="connsiteX84" fmla="*/ 108064 w 570592"/>
              <a:gd name="connsiteY84" fmla="*/ 207391 h 606792"/>
              <a:gd name="connsiteX85" fmla="*/ 95689 w 570592"/>
              <a:gd name="connsiteY85" fmla="*/ 204075 h 606792"/>
              <a:gd name="connsiteX86" fmla="*/ 47319 w 570592"/>
              <a:gd name="connsiteY86" fmla="*/ 176186 h 606792"/>
              <a:gd name="connsiteX87" fmla="*/ 38263 w 570592"/>
              <a:gd name="connsiteY87" fmla="*/ 142418 h 606792"/>
              <a:gd name="connsiteX88" fmla="*/ 59770 w 570592"/>
              <a:gd name="connsiteY88" fmla="*/ 129981 h 606792"/>
              <a:gd name="connsiteX89" fmla="*/ 285293 w 570592"/>
              <a:gd name="connsiteY89" fmla="*/ 111493 h 606792"/>
              <a:gd name="connsiteX90" fmla="*/ 458957 w 570592"/>
              <a:gd name="connsiteY90" fmla="*/ 284882 h 606792"/>
              <a:gd name="connsiteX91" fmla="*/ 365899 w 570592"/>
              <a:gd name="connsiteY91" fmla="*/ 437623 h 606792"/>
              <a:gd name="connsiteX92" fmla="*/ 365899 w 570592"/>
              <a:gd name="connsiteY92" fmla="*/ 526390 h 606792"/>
              <a:gd name="connsiteX93" fmla="*/ 328313 w 570592"/>
              <a:gd name="connsiteY93" fmla="*/ 569266 h 606792"/>
              <a:gd name="connsiteX94" fmla="*/ 285293 w 570592"/>
              <a:gd name="connsiteY94" fmla="*/ 606792 h 606792"/>
              <a:gd name="connsiteX95" fmla="*/ 242349 w 570592"/>
              <a:gd name="connsiteY95" fmla="*/ 569266 h 606792"/>
              <a:gd name="connsiteX96" fmla="*/ 204688 w 570592"/>
              <a:gd name="connsiteY96" fmla="*/ 526314 h 606792"/>
              <a:gd name="connsiteX97" fmla="*/ 204688 w 570592"/>
              <a:gd name="connsiteY97" fmla="*/ 437623 h 606792"/>
              <a:gd name="connsiteX98" fmla="*/ 111705 w 570592"/>
              <a:gd name="connsiteY98" fmla="*/ 284882 h 606792"/>
              <a:gd name="connsiteX99" fmla="*/ 285293 w 570592"/>
              <a:gd name="connsiteY99" fmla="*/ 111493 h 606792"/>
              <a:gd name="connsiteX100" fmla="*/ 415515 w 570592"/>
              <a:gd name="connsiteY100" fmla="*/ 34859 h 606792"/>
              <a:gd name="connsiteX101" fmla="*/ 427892 w 570592"/>
              <a:gd name="connsiteY101" fmla="*/ 38099 h 606792"/>
              <a:gd name="connsiteX102" fmla="*/ 439439 w 570592"/>
              <a:gd name="connsiteY102" fmla="*/ 53171 h 606792"/>
              <a:gd name="connsiteX103" fmla="*/ 436949 w 570592"/>
              <a:gd name="connsiteY103" fmla="*/ 71859 h 606792"/>
              <a:gd name="connsiteX104" fmla="*/ 409024 w 570592"/>
              <a:gd name="connsiteY104" fmla="*/ 120163 h 606792"/>
              <a:gd name="connsiteX105" fmla="*/ 387590 w 570592"/>
              <a:gd name="connsiteY105" fmla="*/ 132522 h 606792"/>
              <a:gd name="connsiteX106" fmla="*/ 375213 w 570592"/>
              <a:gd name="connsiteY106" fmla="*/ 129206 h 606792"/>
              <a:gd name="connsiteX107" fmla="*/ 363666 w 570592"/>
              <a:gd name="connsiteY107" fmla="*/ 114210 h 606792"/>
              <a:gd name="connsiteX108" fmla="*/ 366156 w 570592"/>
              <a:gd name="connsiteY108" fmla="*/ 95446 h 606792"/>
              <a:gd name="connsiteX109" fmla="*/ 394081 w 570592"/>
              <a:gd name="connsiteY109" fmla="*/ 47142 h 606792"/>
              <a:gd name="connsiteX110" fmla="*/ 415515 w 570592"/>
              <a:gd name="connsiteY110" fmla="*/ 34859 h 606792"/>
              <a:gd name="connsiteX111" fmla="*/ 155005 w 570592"/>
              <a:gd name="connsiteY111" fmla="*/ 34789 h 606792"/>
              <a:gd name="connsiteX112" fmla="*/ 176517 w 570592"/>
              <a:gd name="connsiteY112" fmla="*/ 47148 h 606792"/>
              <a:gd name="connsiteX113" fmla="*/ 204370 w 570592"/>
              <a:gd name="connsiteY113" fmla="*/ 95376 h 606792"/>
              <a:gd name="connsiteX114" fmla="*/ 206860 w 570592"/>
              <a:gd name="connsiteY114" fmla="*/ 114140 h 606792"/>
              <a:gd name="connsiteX115" fmla="*/ 195236 w 570592"/>
              <a:gd name="connsiteY115" fmla="*/ 129136 h 606792"/>
              <a:gd name="connsiteX116" fmla="*/ 182933 w 570592"/>
              <a:gd name="connsiteY116" fmla="*/ 132452 h 606792"/>
              <a:gd name="connsiteX117" fmla="*/ 161421 w 570592"/>
              <a:gd name="connsiteY117" fmla="*/ 120093 h 606792"/>
              <a:gd name="connsiteX118" fmla="*/ 133568 w 570592"/>
              <a:gd name="connsiteY118" fmla="*/ 71865 h 606792"/>
              <a:gd name="connsiteX119" fmla="*/ 131078 w 570592"/>
              <a:gd name="connsiteY119" fmla="*/ 53176 h 606792"/>
              <a:gd name="connsiteX120" fmla="*/ 142626 w 570592"/>
              <a:gd name="connsiteY120" fmla="*/ 38180 h 606792"/>
              <a:gd name="connsiteX121" fmla="*/ 155005 w 570592"/>
              <a:gd name="connsiteY121" fmla="*/ 34789 h 606792"/>
              <a:gd name="connsiteX122" fmla="*/ 285297 w 570592"/>
              <a:gd name="connsiteY122" fmla="*/ 0 h 606792"/>
              <a:gd name="connsiteX123" fmla="*/ 310065 w 570592"/>
              <a:gd name="connsiteY123" fmla="*/ 24721 h 606792"/>
              <a:gd name="connsiteX124" fmla="*/ 310065 w 570592"/>
              <a:gd name="connsiteY124" fmla="*/ 80492 h 606792"/>
              <a:gd name="connsiteX125" fmla="*/ 285297 w 570592"/>
              <a:gd name="connsiteY125" fmla="*/ 105213 h 606792"/>
              <a:gd name="connsiteX126" fmla="*/ 260528 w 570592"/>
              <a:gd name="connsiteY126" fmla="*/ 80492 h 606792"/>
              <a:gd name="connsiteX127" fmla="*/ 260528 w 570592"/>
              <a:gd name="connsiteY127" fmla="*/ 24721 h 606792"/>
              <a:gd name="connsiteX128" fmla="*/ 285297 w 570592"/>
              <a:gd name="connsiteY128" fmla="*/ 0 h 60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70592" h="606792">
                <a:moveTo>
                  <a:pt x="254274" y="495344"/>
                </a:moveTo>
                <a:lnTo>
                  <a:pt x="254274" y="520211"/>
                </a:lnTo>
                <a:lnTo>
                  <a:pt x="316388" y="520211"/>
                </a:lnTo>
                <a:lnTo>
                  <a:pt x="316388" y="495344"/>
                </a:lnTo>
                <a:close/>
                <a:moveTo>
                  <a:pt x="462463" y="362283"/>
                </a:moveTo>
                <a:cubicBezTo>
                  <a:pt x="466841" y="362283"/>
                  <a:pt x="471068" y="363413"/>
                  <a:pt x="474842" y="365597"/>
                </a:cubicBezTo>
                <a:lnTo>
                  <a:pt x="523225" y="393462"/>
                </a:lnTo>
                <a:cubicBezTo>
                  <a:pt x="528961" y="396775"/>
                  <a:pt x="533112" y="402122"/>
                  <a:pt x="534773" y="408449"/>
                </a:cubicBezTo>
                <a:cubicBezTo>
                  <a:pt x="536509" y="414850"/>
                  <a:pt x="535603" y="421553"/>
                  <a:pt x="532282" y="427201"/>
                </a:cubicBezTo>
                <a:cubicBezTo>
                  <a:pt x="527904" y="434883"/>
                  <a:pt x="519677" y="439552"/>
                  <a:pt x="510846" y="439552"/>
                </a:cubicBezTo>
                <a:cubicBezTo>
                  <a:pt x="506543" y="439552"/>
                  <a:pt x="502241" y="438422"/>
                  <a:pt x="498467" y="436238"/>
                </a:cubicBezTo>
                <a:lnTo>
                  <a:pt x="450084" y="408373"/>
                </a:lnTo>
                <a:cubicBezTo>
                  <a:pt x="444348" y="405060"/>
                  <a:pt x="440272" y="399788"/>
                  <a:pt x="438536" y="393386"/>
                </a:cubicBezTo>
                <a:cubicBezTo>
                  <a:pt x="436800" y="386985"/>
                  <a:pt x="437706" y="380358"/>
                  <a:pt x="441027" y="374634"/>
                </a:cubicBezTo>
                <a:cubicBezTo>
                  <a:pt x="445405" y="367028"/>
                  <a:pt x="453632" y="362283"/>
                  <a:pt x="462463" y="362283"/>
                </a:cubicBezTo>
                <a:close/>
                <a:moveTo>
                  <a:pt x="107993" y="362283"/>
                </a:moveTo>
                <a:cubicBezTo>
                  <a:pt x="116822" y="362283"/>
                  <a:pt x="125048" y="367028"/>
                  <a:pt x="129500" y="374634"/>
                </a:cubicBezTo>
                <a:cubicBezTo>
                  <a:pt x="132821" y="380358"/>
                  <a:pt x="133651" y="387060"/>
                  <a:pt x="131991" y="393386"/>
                </a:cubicBezTo>
                <a:cubicBezTo>
                  <a:pt x="130255" y="399788"/>
                  <a:pt x="126180" y="405135"/>
                  <a:pt x="120445" y="408449"/>
                </a:cubicBezTo>
                <a:lnTo>
                  <a:pt x="72147" y="436238"/>
                </a:lnTo>
                <a:cubicBezTo>
                  <a:pt x="68374" y="438422"/>
                  <a:pt x="64073" y="439552"/>
                  <a:pt x="59696" y="439552"/>
                </a:cubicBezTo>
                <a:cubicBezTo>
                  <a:pt x="50942" y="439552"/>
                  <a:pt x="42716" y="434883"/>
                  <a:pt x="38264" y="427201"/>
                </a:cubicBezTo>
                <a:cubicBezTo>
                  <a:pt x="31472" y="415453"/>
                  <a:pt x="35472" y="400315"/>
                  <a:pt x="47320" y="393462"/>
                </a:cubicBezTo>
                <a:lnTo>
                  <a:pt x="95617" y="365672"/>
                </a:lnTo>
                <a:cubicBezTo>
                  <a:pt x="99390" y="363488"/>
                  <a:pt x="103692" y="362283"/>
                  <a:pt x="107993" y="362283"/>
                </a:cubicBezTo>
                <a:close/>
                <a:moveTo>
                  <a:pt x="489992" y="260034"/>
                </a:moveTo>
                <a:lnTo>
                  <a:pt x="545838" y="260034"/>
                </a:lnTo>
                <a:cubicBezTo>
                  <a:pt x="559498" y="260034"/>
                  <a:pt x="570592" y="271193"/>
                  <a:pt x="570592" y="284840"/>
                </a:cubicBezTo>
                <a:cubicBezTo>
                  <a:pt x="570592" y="298487"/>
                  <a:pt x="559498" y="309571"/>
                  <a:pt x="545838" y="309571"/>
                </a:cubicBezTo>
                <a:lnTo>
                  <a:pt x="489992" y="309571"/>
                </a:lnTo>
                <a:cubicBezTo>
                  <a:pt x="476332" y="309571"/>
                  <a:pt x="465238" y="298487"/>
                  <a:pt x="465238" y="284840"/>
                </a:cubicBezTo>
                <a:cubicBezTo>
                  <a:pt x="465238" y="271193"/>
                  <a:pt x="476332" y="260034"/>
                  <a:pt x="489992" y="260034"/>
                </a:cubicBezTo>
                <a:close/>
                <a:moveTo>
                  <a:pt x="24829" y="260034"/>
                </a:moveTo>
                <a:lnTo>
                  <a:pt x="80600" y="260034"/>
                </a:lnTo>
                <a:cubicBezTo>
                  <a:pt x="94260" y="260034"/>
                  <a:pt x="105354" y="271193"/>
                  <a:pt x="105354" y="284840"/>
                </a:cubicBezTo>
                <a:cubicBezTo>
                  <a:pt x="105354" y="298412"/>
                  <a:pt x="94260" y="309571"/>
                  <a:pt x="80600" y="309571"/>
                </a:cubicBezTo>
                <a:lnTo>
                  <a:pt x="24829" y="309571"/>
                </a:lnTo>
                <a:cubicBezTo>
                  <a:pt x="11169" y="309571"/>
                  <a:pt x="0" y="298487"/>
                  <a:pt x="0" y="284840"/>
                </a:cubicBezTo>
                <a:cubicBezTo>
                  <a:pt x="0" y="271193"/>
                  <a:pt x="11169" y="260034"/>
                  <a:pt x="24829" y="260034"/>
                </a:cubicBezTo>
                <a:close/>
                <a:moveTo>
                  <a:pt x="285185" y="185305"/>
                </a:moveTo>
                <a:lnTo>
                  <a:pt x="325864" y="185305"/>
                </a:lnTo>
                <a:cubicBezTo>
                  <a:pt x="330996" y="185305"/>
                  <a:pt x="333713" y="189224"/>
                  <a:pt x="331902" y="193972"/>
                </a:cubicBezTo>
                <a:lnTo>
                  <a:pt x="308506" y="257959"/>
                </a:lnTo>
                <a:cubicBezTo>
                  <a:pt x="306770" y="262782"/>
                  <a:pt x="309487" y="266626"/>
                  <a:pt x="314543" y="266626"/>
                </a:cubicBezTo>
                <a:lnTo>
                  <a:pt x="328959" y="266626"/>
                </a:lnTo>
                <a:cubicBezTo>
                  <a:pt x="334091" y="266626"/>
                  <a:pt x="335751" y="269942"/>
                  <a:pt x="332657" y="274012"/>
                </a:cubicBezTo>
                <a:lnTo>
                  <a:pt x="253487" y="378395"/>
                </a:lnTo>
                <a:cubicBezTo>
                  <a:pt x="250392" y="382465"/>
                  <a:pt x="248430" y="381636"/>
                  <a:pt x="249109" y="376586"/>
                </a:cubicBezTo>
                <a:lnTo>
                  <a:pt x="257336" y="313580"/>
                </a:lnTo>
                <a:cubicBezTo>
                  <a:pt x="258015" y="308530"/>
                  <a:pt x="254392" y="304385"/>
                  <a:pt x="249260" y="304385"/>
                </a:cubicBezTo>
                <a:lnTo>
                  <a:pt x="241562" y="304385"/>
                </a:lnTo>
                <a:cubicBezTo>
                  <a:pt x="236430" y="304385"/>
                  <a:pt x="233713" y="300541"/>
                  <a:pt x="235524" y="295718"/>
                </a:cubicBezTo>
                <a:lnTo>
                  <a:pt x="272732" y="193972"/>
                </a:lnTo>
                <a:cubicBezTo>
                  <a:pt x="274543" y="189224"/>
                  <a:pt x="280053" y="185305"/>
                  <a:pt x="285185" y="185305"/>
                </a:cubicBezTo>
                <a:close/>
                <a:moveTo>
                  <a:pt x="285293" y="160925"/>
                </a:moveTo>
                <a:cubicBezTo>
                  <a:pt x="216915" y="160925"/>
                  <a:pt x="161215" y="216536"/>
                  <a:pt x="161215" y="284882"/>
                </a:cubicBezTo>
                <a:cubicBezTo>
                  <a:pt x="161215" y="331601"/>
                  <a:pt x="187706" y="373874"/>
                  <a:pt x="230273" y="395199"/>
                </a:cubicBezTo>
                <a:lnTo>
                  <a:pt x="250877" y="405447"/>
                </a:lnTo>
                <a:lnTo>
                  <a:pt x="254274" y="407105"/>
                </a:lnTo>
                <a:lnTo>
                  <a:pt x="254274" y="410948"/>
                </a:lnTo>
                <a:lnTo>
                  <a:pt x="254274" y="445912"/>
                </a:lnTo>
                <a:lnTo>
                  <a:pt x="316388" y="445912"/>
                </a:lnTo>
                <a:lnTo>
                  <a:pt x="316388" y="410948"/>
                </a:lnTo>
                <a:lnTo>
                  <a:pt x="316388" y="407105"/>
                </a:lnTo>
                <a:lnTo>
                  <a:pt x="319785" y="405447"/>
                </a:lnTo>
                <a:lnTo>
                  <a:pt x="340313" y="395199"/>
                </a:lnTo>
                <a:cubicBezTo>
                  <a:pt x="382956" y="373874"/>
                  <a:pt x="409371" y="331601"/>
                  <a:pt x="409371" y="284882"/>
                </a:cubicBezTo>
                <a:cubicBezTo>
                  <a:pt x="409371" y="216536"/>
                  <a:pt x="353747" y="160925"/>
                  <a:pt x="285293" y="160925"/>
                </a:cubicBezTo>
                <a:close/>
                <a:moveTo>
                  <a:pt x="510845" y="130052"/>
                </a:moveTo>
                <a:cubicBezTo>
                  <a:pt x="519752" y="130052"/>
                  <a:pt x="527979" y="134801"/>
                  <a:pt x="532282" y="142414"/>
                </a:cubicBezTo>
                <a:cubicBezTo>
                  <a:pt x="535603" y="148143"/>
                  <a:pt x="536509" y="154777"/>
                  <a:pt x="534773" y="161184"/>
                </a:cubicBezTo>
                <a:cubicBezTo>
                  <a:pt x="533112" y="167516"/>
                  <a:pt x="528961" y="172868"/>
                  <a:pt x="523224" y="176185"/>
                </a:cubicBezTo>
                <a:lnTo>
                  <a:pt x="474839" y="204075"/>
                </a:lnTo>
                <a:cubicBezTo>
                  <a:pt x="471065" y="206261"/>
                  <a:pt x="466762" y="207392"/>
                  <a:pt x="462460" y="207392"/>
                </a:cubicBezTo>
                <a:cubicBezTo>
                  <a:pt x="453628" y="207392"/>
                  <a:pt x="445401" y="202643"/>
                  <a:pt x="441098" y="195030"/>
                </a:cubicBezTo>
                <a:cubicBezTo>
                  <a:pt x="437777" y="189301"/>
                  <a:pt x="436871" y="182667"/>
                  <a:pt x="438532" y="176260"/>
                </a:cubicBezTo>
                <a:cubicBezTo>
                  <a:pt x="440268" y="169853"/>
                  <a:pt x="444419" y="164501"/>
                  <a:pt x="450081" y="161259"/>
                </a:cubicBezTo>
                <a:lnTo>
                  <a:pt x="498541" y="133293"/>
                </a:lnTo>
                <a:cubicBezTo>
                  <a:pt x="502315" y="131183"/>
                  <a:pt x="506542" y="130052"/>
                  <a:pt x="510845" y="130052"/>
                </a:cubicBezTo>
                <a:close/>
                <a:moveTo>
                  <a:pt x="59770" y="129981"/>
                </a:moveTo>
                <a:cubicBezTo>
                  <a:pt x="64071" y="129981"/>
                  <a:pt x="68297" y="131187"/>
                  <a:pt x="72070" y="133297"/>
                </a:cubicBezTo>
                <a:lnTo>
                  <a:pt x="120440" y="161262"/>
                </a:lnTo>
                <a:cubicBezTo>
                  <a:pt x="126175" y="164578"/>
                  <a:pt x="130325" y="169854"/>
                  <a:pt x="132061" y="176261"/>
                </a:cubicBezTo>
                <a:cubicBezTo>
                  <a:pt x="133721" y="182668"/>
                  <a:pt x="132891" y="189301"/>
                  <a:pt x="129571" y="195030"/>
                </a:cubicBezTo>
                <a:cubicBezTo>
                  <a:pt x="125119" y="202642"/>
                  <a:pt x="116893" y="207391"/>
                  <a:pt x="108064" y="207391"/>
                </a:cubicBezTo>
                <a:cubicBezTo>
                  <a:pt x="103763" y="207391"/>
                  <a:pt x="99462" y="206260"/>
                  <a:pt x="95689" y="204075"/>
                </a:cubicBezTo>
                <a:lnTo>
                  <a:pt x="47319" y="176186"/>
                </a:lnTo>
                <a:cubicBezTo>
                  <a:pt x="35547" y="169327"/>
                  <a:pt x="31472" y="154176"/>
                  <a:pt x="38263" y="142418"/>
                </a:cubicBezTo>
                <a:cubicBezTo>
                  <a:pt x="42640" y="134730"/>
                  <a:pt x="50865" y="129981"/>
                  <a:pt x="59770" y="129981"/>
                </a:cubicBezTo>
                <a:close/>
                <a:moveTo>
                  <a:pt x="285293" y="111493"/>
                </a:moveTo>
                <a:cubicBezTo>
                  <a:pt x="381069" y="111493"/>
                  <a:pt x="458957" y="189258"/>
                  <a:pt x="458957" y="284882"/>
                </a:cubicBezTo>
                <a:cubicBezTo>
                  <a:pt x="458957" y="349233"/>
                  <a:pt x="423409" y="407406"/>
                  <a:pt x="365899" y="437623"/>
                </a:cubicBezTo>
                <a:lnTo>
                  <a:pt x="365899" y="526390"/>
                </a:lnTo>
                <a:cubicBezTo>
                  <a:pt x="365899" y="548242"/>
                  <a:pt x="349521" y="566478"/>
                  <a:pt x="328313" y="569266"/>
                </a:cubicBezTo>
                <a:cubicBezTo>
                  <a:pt x="325445" y="590440"/>
                  <a:pt x="307256" y="606792"/>
                  <a:pt x="285293" y="606792"/>
                </a:cubicBezTo>
                <a:cubicBezTo>
                  <a:pt x="263331" y="606792"/>
                  <a:pt x="245142" y="590440"/>
                  <a:pt x="242349" y="569266"/>
                </a:cubicBezTo>
                <a:cubicBezTo>
                  <a:pt x="221141" y="566478"/>
                  <a:pt x="204688" y="548242"/>
                  <a:pt x="204688" y="526314"/>
                </a:cubicBezTo>
                <a:lnTo>
                  <a:pt x="204688" y="437623"/>
                </a:lnTo>
                <a:cubicBezTo>
                  <a:pt x="147253" y="407406"/>
                  <a:pt x="111705" y="349233"/>
                  <a:pt x="111705" y="284882"/>
                </a:cubicBezTo>
                <a:cubicBezTo>
                  <a:pt x="111705" y="189258"/>
                  <a:pt x="189593" y="111493"/>
                  <a:pt x="285293" y="111493"/>
                </a:cubicBezTo>
                <a:close/>
                <a:moveTo>
                  <a:pt x="415515" y="34859"/>
                </a:moveTo>
                <a:cubicBezTo>
                  <a:pt x="419817" y="34859"/>
                  <a:pt x="424118" y="35989"/>
                  <a:pt x="427892" y="38099"/>
                </a:cubicBezTo>
                <a:cubicBezTo>
                  <a:pt x="433628" y="41415"/>
                  <a:pt x="437703" y="46765"/>
                  <a:pt x="439439" y="53171"/>
                </a:cubicBezTo>
                <a:cubicBezTo>
                  <a:pt x="441175" y="59576"/>
                  <a:pt x="440269" y="66208"/>
                  <a:pt x="436949" y="71859"/>
                </a:cubicBezTo>
                <a:lnTo>
                  <a:pt x="409024" y="120163"/>
                </a:lnTo>
                <a:cubicBezTo>
                  <a:pt x="404647" y="127774"/>
                  <a:pt x="396420" y="132522"/>
                  <a:pt x="387590" y="132522"/>
                </a:cubicBezTo>
                <a:cubicBezTo>
                  <a:pt x="383213" y="132522"/>
                  <a:pt x="378987" y="131392"/>
                  <a:pt x="375213" y="129206"/>
                </a:cubicBezTo>
                <a:cubicBezTo>
                  <a:pt x="369477" y="125966"/>
                  <a:pt x="365402" y="120616"/>
                  <a:pt x="363666" y="114210"/>
                </a:cubicBezTo>
                <a:cubicBezTo>
                  <a:pt x="361930" y="107805"/>
                  <a:pt x="362836" y="101173"/>
                  <a:pt x="366156" y="95446"/>
                </a:cubicBezTo>
                <a:lnTo>
                  <a:pt x="394081" y="47142"/>
                </a:lnTo>
                <a:cubicBezTo>
                  <a:pt x="398458" y="39607"/>
                  <a:pt x="406685" y="34859"/>
                  <a:pt x="415515" y="34859"/>
                </a:cubicBezTo>
                <a:close/>
                <a:moveTo>
                  <a:pt x="155005" y="34789"/>
                </a:moveTo>
                <a:cubicBezTo>
                  <a:pt x="163761" y="34789"/>
                  <a:pt x="171988" y="39537"/>
                  <a:pt x="176517" y="47148"/>
                </a:cubicBezTo>
                <a:lnTo>
                  <a:pt x="204370" y="95376"/>
                </a:lnTo>
                <a:cubicBezTo>
                  <a:pt x="207691" y="101103"/>
                  <a:pt x="208521" y="107735"/>
                  <a:pt x="206860" y="114140"/>
                </a:cubicBezTo>
                <a:cubicBezTo>
                  <a:pt x="205124" y="120546"/>
                  <a:pt x="201048" y="125821"/>
                  <a:pt x="195236" y="129136"/>
                </a:cubicBezTo>
                <a:cubicBezTo>
                  <a:pt x="191538" y="131322"/>
                  <a:pt x="187235" y="132452"/>
                  <a:pt x="182933" y="132452"/>
                </a:cubicBezTo>
                <a:cubicBezTo>
                  <a:pt x="174102" y="132452"/>
                  <a:pt x="165874" y="127704"/>
                  <a:pt x="161421" y="120093"/>
                </a:cubicBezTo>
                <a:lnTo>
                  <a:pt x="133568" y="71865"/>
                </a:lnTo>
                <a:cubicBezTo>
                  <a:pt x="130247" y="66213"/>
                  <a:pt x="129417" y="59506"/>
                  <a:pt x="131078" y="53176"/>
                </a:cubicBezTo>
                <a:cubicBezTo>
                  <a:pt x="132814" y="46771"/>
                  <a:pt x="136890" y="41420"/>
                  <a:pt x="142626" y="38180"/>
                </a:cubicBezTo>
                <a:cubicBezTo>
                  <a:pt x="146400" y="35995"/>
                  <a:pt x="150627" y="34789"/>
                  <a:pt x="155005" y="34789"/>
                </a:cubicBezTo>
                <a:close/>
                <a:moveTo>
                  <a:pt x="285297" y="0"/>
                </a:moveTo>
                <a:cubicBezTo>
                  <a:pt x="298964" y="0"/>
                  <a:pt x="310065" y="11079"/>
                  <a:pt x="310065" y="24721"/>
                </a:cubicBezTo>
                <a:lnTo>
                  <a:pt x="310065" y="80492"/>
                </a:lnTo>
                <a:cubicBezTo>
                  <a:pt x="310065" y="94134"/>
                  <a:pt x="298964" y="105213"/>
                  <a:pt x="285297" y="105213"/>
                </a:cubicBezTo>
                <a:cubicBezTo>
                  <a:pt x="271629" y="105213"/>
                  <a:pt x="260528" y="94134"/>
                  <a:pt x="260528" y="80492"/>
                </a:cubicBezTo>
                <a:lnTo>
                  <a:pt x="260528" y="24721"/>
                </a:lnTo>
                <a:cubicBezTo>
                  <a:pt x="260528" y="11079"/>
                  <a:pt x="271629" y="0"/>
                  <a:pt x="285297" y="0"/>
                </a:cubicBezTo>
                <a:close/>
              </a:path>
            </a:pathLst>
          </a:custGeom>
          <a:solidFill>
            <a:schemeClr val="accent1"/>
          </a:solidFill>
          <a:ln>
            <a:noFill/>
          </a:ln>
        </p:spPr>
        <p:txBody>
          <a:bodyPr/>
          <a:lstStyle/>
          <a:p>
            <a:endParaRPr lang="zh-CN" altLang="en-US"/>
          </a:p>
        </p:txBody>
      </p:sp>
      <p:sp>
        <p:nvSpPr>
          <p:cNvPr id="6" name="文本框 5"/>
          <p:cNvSpPr txBox="1"/>
          <p:nvPr/>
        </p:nvSpPr>
        <p:spPr>
          <a:xfrm>
            <a:off x="1458852" y="3579059"/>
            <a:ext cx="6087702" cy="369332"/>
          </a:xfrm>
          <a:prstGeom prst="rect">
            <a:avLst/>
          </a:prstGeom>
          <a:noFill/>
        </p:spPr>
        <p:txBody>
          <a:bodyPr wrap="square" rtlCol="0">
            <a:spAutoFit/>
          </a:bodyPr>
          <a:lstStyle/>
          <a:p>
            <a:r>
              <a:rPr lang="zh-CN" altLang="en-US" b="1" dirty="0" smtClean="0">
                <a:solidFill>
                  <a:srgbClr val="FF0000"/>
                </a:solidFill>
              </a:rPr>
              <a:t>其实讲的都是一回事，考试是同一种考法，不会超纲</a:t>
            </a:r>
            <a:r>
              <a:rPr lang="en-US" altLang="zh-CN"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28472413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457189" lvl="1" indent="-457189">
              <a:buFont typeface="Wingdings" panose="05000000000000000000" pitchFamily="2" charset="2"/>
              <a:buChar char="Ø"/>
            </a:pPr>
            <a:r>
              <a:rPr lang="en-US" altLang="zh-CN" b="1" dirty="0">
                <a:solidFill>
                  <a:schemeClr val="accent6">
                    <a:lumMod val="75000"/>
                  </a:schemeClr>
                </a:solidFill>
              </a:rPr>
              <a:t>Example:</a:t>
            </a:r>
            <a:r>
              <a:rPr lang="en-US" altLang="zh-CN" dirty="0">
                <a:solidFill>
                  <a:schemeClr val="accent6">
                    <a:lumMod val="75000"/>
                  </a:schemeClr>
                </a:solidFill>
              </a:rPr>
              <a:t> </a:t>
            </a:r>
            <a:endParaRPr lang="en-US" altLang="zh-CN" dirty="0" smtClean="0">
              <a:solidFill>
                <a:schemeClr val="accent6">
                  <a:lumMod val="75000"/>
                </a:schemeClr>
              </a:solidFill>
            </a:endParaRPr>
          </a:p>
          <a:p>
            <a:pPr marL="533387" lvl="2" indent="0">
              <a:buNone/>
            </a:pPr>
            <a:r>
              <a:rPr lang="en-US" altLang="zh-CN" dirty="0" smtClean="0">
                <a:solidFill>
                  <a:schemeClr val="accent6"/>
                </a:solidFill>
              </a:rPr>
              <a:t>At </a:t>
            </a:r>
            <a:r>
              <a:rPr lang="en-US" altLang="zh-CN" dirty="0">
                <a:solidFill>
                  <a:schemeClr val="accent6"/>
                </a:solidFill>
              </a:rPr>
              <a:t>the outset of the swap, company A pays a principal amount to B of USD 175 million, and B pays GBP 100 million to A. Both parties pay the interest rate of the borrowed currency (USD 5%, GBP 6%). At the end of the swap, the principal amounts are re-exchanged. Suppose the yield curves in the United States and Great Britain are flat at 2% and 4%, respectively, and the current spot exchange rate is USD1.50 = GBP1. Value the currency swap just discussed assuming the swap will last for three more years.</a:t>
            </a:r>
          </a:p>
          <a:p>
            <a:endParaRPr lang="zh-CN" altLang="en-US" dirty="0"/>
          </a:p>
        </p:txBody>
      </p:sp>
      <p:sp>
        <p:nvSpPr>
          <p:cNvPr id="3" name="标题 2"/>
          <p:cNvSpPr>
            <a:spLocks noGrp="1"/>
          </p:cNvSpPr>
          <p:nvPr>
            <p:ph type="title"/>
          </p:nvPr>
        </p:nvSpPr>
        <p:spPr/>
        <p:txBody>
          <a:bodyPr/>
          <a:lstStyle/>
          <a:p>
            <a:pPr>
              <a:defRPr/>
            </a:pPr>
            <a:r>
              <a:rPr lang="en-US" altLang="zh-CN" dirty="0"/>
              <a:t>Valuation</a:t>
            </a:r>
          </a:p>
        </p:txBody>
      </p:sp>
      <mc:AlternateContent xmlns:mc="http://schemas.openxmlformats.org/markup-compatibility/2006" xmlns:a14="http://schemas.microsoft.com/office/drawing/2010/main">
        <mc:Choice Requires="a14">
          <p:sp>
            <p:nvSpPr>
              <p:cNvPr id="4" name="文本框 3"/>
              <p:cNvSpPr txBox="1"/>
              <p:nvPr/>
            </p:nvSpPr>
            <p:spPr>
              <a:xfrm>
                <a:off x="1463407" y="4230182"/>
                <a:ext cx="9265186" cy="1660070"/>
              </a:xfrm>
              <a:prstGeom prst="rect">
                <a:avLst/>
              </a:prstGeom>
              <a:noFill/>
            </p:spPr>
            <p:txBody>
              <a:bodyPr wrap="square" rtlCol="0">
                <a:spAutoFit/>
              </a:bodyPr>
              <a:lstStyle/>
              <a:p>
                <a:r>
                  <a:rPr lang="en-US" altLang="zh-CN" sz="1900" b="0" dirty="0" smtClean="0">
                    <a:solidFill>
                      <a:schemeClr val="accent6">
                        <a:lumMod val="50000"/>
                      </a:schemeClr>
                    </a:solidFill>
                    <a:ea typeface="微软雅黑" panose="020B0503020204020204" pitchFamily="34" charset="-122"/>
                    <a:cs typeface="Segoe UI" panose="020B0502040204020203" pitchFamily="34" charset="0"/>
                  </a:rPr>
                  <a:t>       </a:t>
                </a:r>
                <a14:m>
                  <m:oMath xmlns:m="http://schemas.openxmlformats.org/officeDocument/2006/math">
                    <m:sSub>
                      <m:sSub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Bond</m:t>
                        </m:r>
                      </m:e>
                      <m:sub>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USD</m:t>
                        </m:r>
                      </m:sub>
                    </m:sSub>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=8.75×</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−2%×1</m:t>
                        </m:r>
                      </m:sup>
                    </m:s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+8.75×</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−2%×2</m:t>
                        </m:r>
                      </m:sup>
                    </m:s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+183.75×</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−2%×3</m:t>
                        </m:r>
                      </m:sup>
                    </m:s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=190.0329</m:t>
                    </m:r>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million</m:t>
                    </m:r>
                  </m:oMath>
                </a14:m>
                <a:endParaRPr lang="en-US" altLang="zh-CN" sz="1900" b="0" dirty="0" smtClean="0">
                  <a:solidFill>
                    <a:schemeClr val="accent6">
                      <a:lumMod val="50000"/>
                    </a:schemeClr>
                  </a:solidFill>
                  <a:ea typeface="微软雅黑" panose="020B0503020204020204" pitchFamily="34" charset="-122"/>
                  <a:cs typeface="Segoe UI" panose="020B0502040204020203" pitchFamily="34" charset="0"/>
                </a:endParaRPr>
              </a:p>
              <a:p>
                <a:endPar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14:m>
                  <m:oMath xmlns:m="http://schemas.openxmlformats.org/officeDocument/2006/math">
                    <m:sSub>
                      <m:sSub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eqArr>
                          <m:eqArr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eqArrPr>
                          <m:e>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     </m:t>
                            </m:r>
                          </m:e>
                          <m:e>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Bond</m:t>
                            </m:r>
                          </m:e>
                        </m:eqArr>
                      </m:e>
                      <m:sub>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GBP</m:t>
                        </m:r>
                      </m:sub>
                    </m:sSub>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=6×</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−4%×1</m:t>
                        </m:r>
                      </m:sup>
                    </m:s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+6×</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−4%×2</m:t>
                        </m:r>
                      </m:sup>
                    </m:s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+106×</m:t>
                    </m:r>
                    <m:sSup>
                      <m:sSup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p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−4%×3</m:t>
                        </m:r>
                      </m:sup>
                    </m:sSup>
                  </m:oMath>
                </a14:m>
                <a:r>
                  <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a:t>
                </a:r>
                <a:r>
                  <a:rPr lang="en-US" altLang="zh-CN" sz="1900" b="0" dirty="0" smtClean="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rPr>
                  <a:t>105.3170million</a:t>
                </a:r>
              </a:p>
              <a:p>
                <a:endParaRPr lang="en-US" altLang="zh-CN"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n-US" altLang="zh-CN" sz="1900" b="0" i="1" dirty="0">
                              <a:solidFill>
                                <a:schemeClr val="accent6">
                                  <a:lumMod val="50000"/>
                                </a:schemeClr>
                              </a:solidFill>
                              <a:latin typeface="Cambria Math"/>
                              <a:ea typeface="微软雅黑" panose="020B0503020204020204" pitchFamily="34" charset="-122"/>
                              <a:cs typeface="Segoe UI" panose="020B0502040204020203" pitchFamily="34" charset="0"/>
                            </a:rPr>
                          </m:ctrlPr>
                        </m:sSubPr>
                        <m:e>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V</m:t>
                          </m:r>
                        </m:e>
                        <m:sub>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swap</m:t>
                          </m:r>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received</m:t>
                          </m:r>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USD</m:t>
                          </m:r>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t>
                          </m:r>
                        </m:sub>
                      </m:sSub>
                      <m: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=190.0329−1.5×105.3170=32.06</m:t>
                      </m:r>
                      <m:r>
                        <m:rPr>
                          <m:sty m:val="p"/>
                        </m:rPr>
                        <a:rPr lang="en-US" altLang="zh-CN" sz="1900" b="0" dirty="0">
                          <a:solidFill>
                            <a:schemeClr val="accent6">
                              <a:lumMod val="50000"/>
                            </a:schemeClr>
                          </a:solidFill>
                          <a:latin typeface="Cambria Math" panose="02040503050406030204" pitchFamily="18" charset="0"/>
                          <a:ea typeface="微软雅黑" panose="020B0503020204020204" pitchFamily="34" charset="-122"/>
                          <a:cs typeface="Segoe UI" panose="020B0502040204020203" pitchFamily="34" charset="0"/>
                        </a:rPr>
                        <m:t>million</m:t>
                      </m:r>
                    </m:oMath>
                  </m:oMathPara>
                </a14:m>
                <a:endParaRPr lang="zh-CN" altLang="en-US" sz="1900" b="0" dirty="0">
                  <a:solidFill>
                    <a:schemeClr val="accent6">
                      <a:lumMod val="50000"/>
                    </a:schemeClr>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63407" y="4230182"/>
                <a:ext cx="9265186" cy="1660070"/>
              </a:xfrm>
              <a:prstGeom prst="rect">
                <a:avLst/>
              </a:prstGeom>
              <a:blipFill>
                <a:blip r:embed="rId2"/>
                <a:stretch>
                  <a:fillRect b="-11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07753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Credit Risk Exposure in A Swap Position.</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smtClean="0"/>
              <a:t>Credit risk</a:t>
            </a:r>
          </a:p>
          <a:p>
            <a:pPr lvl="1"/>
            <a:r>
              <a:rPr lang="en-US" altLang="zh-CN" b="0" dirty="0"/>
              <a:t>Because a swap involves offsetting position, there is no credit risk when the </a:t>
            </a:r>
            <a:r>
              <a:rPr lang="en-US" altLang="zh-CN" b="0" dirty="0" smtClean="0"/>
              <a:t>swap has </a:t>
            </a:r>
            <a:r>
              <a:rPr lang="en-US" altLang="zh-CN" b="0" dirty="0"/>
              <a:t>negative value. Credit risk only exists when the swap has positive value. A </a:t>
            </a:r>
            <a:r>
              <a:rPr lang="en-US" altLang="zh-CN" b="0" dirty="0" smtClean="0"/>
              <a:t>financial institution </a:t>
            </a:r>
            <a:r>
              <a:rPr lang="en-US" altLang="zh-CN" b="0" dirty="0"/>
              <a:t>is liable to lose money if one of the counterparties defaults when it has </a:t>
            </a:r>
            <a:r>
              <a:rPr lang="en-US" altLang="zh-CN" b="0" dirty="0" smtClean="0"/>
              <a:t>positive value </a:t>
            </a:r>
            <a:r>
              <a:rPr lang="en-US" altLang="zh-CN" b="0" dirty="0"/>
              <a:t>in its swap because it still has to honor its swap agreement with the </a:t>
            </a:r>
            <a:r>
              <a:rPr lang="en-US" altLang="zh-CN" b="0" dirty="0" smtClean="0"/>
              <a:t>other counterparty.</a:t>
            </a:r>
          </a:p>
          <a:p>
            <a:pPr lvl="1">
              <a:buFont typeface="Wingdings" panose="05000000000000000000" pitchFamily="2" charset="2"/>
              <a:buChar char="p"/>
            </a:pPr>
            <a:r>
              <a:rPr lang="en-US" altLang="zh-CN" b="0" dirty="0"/>
              <a:t>Note the distinction between credit risk and market risk.</a:t>
            </a:r>
          </a:p>
          <a:p>
            <a:pPr lvl="2"/>
            <a:r>
              <a:rPr lang="en-US" altLang="zh-CN" b="0" dirty="0" smtClean="0"/>
              <a:t>In </a:t>
            </a:r>
            <a:r>
              <a:rPr lang="en-US" altLang="zh-CN" b="0" dirty="0"/>
              <a:t>the case of a swap, credit risk includes the risk the counterparty defaults; </a:t>
            </a:r>
            <a:r>
              <a:rPr lang="en-US" altLang="zh-CN" b="0" dirty="0" smtClean="0"/>
              <a:t>market risk </a:t>
            </a:r>
            <a:r>
              <a:rPr lang="en-US" altLang="zh-CN" b="0" dirty="0"/>
              <a:t>includes the risk that interest rates and/or currency exchanges rates </a:t>
            </a:r>
            <a:r>
              <a:rPr lang="en-US" altLang="zh-CN" b="0" dirty="0" smtClean="0"/>
              <a:t>vary unfavorably</a:t>
            </a:r>
            <a:r>
              <a:rPr lang="en-US" altLang="zh-CN" b="0" dirty="0"/>
              <a:t>.</a:t>
            </a:r>
          </a:p>
          <a:p>
            <a:pPr lvl="2"/>
            <a:r>
              <a:rPr lang="en-US" altLang="zh-CN" b="0" dirty="0" smtClean="0"/>
              <a:t>Market </a:t>
            </a:r>
            <a:r>
              <a:rPr lang="en-US" altLang="zh-CN" b="0" dirty="0"/>
              <a:t>risks can be hedged relatively easily by entering into offsetting </a:t>
            </a:r>
            <a:r>
              <a:rPr lang="en-US" altLang="zh-CN" b="0" dirty="0" smtClean="0"/>
              <a:t>contracts; credit </a:t>
            </a:r>
            <a:r>
              <a:rPr lang="en-US" altLang="zh-CN" b="0" dirty="0"/>
              <a:t>risks are less easy to hedge</a:t>
            </a:r>
            <a:endParaRPr lang="zh-CN" altLang="en-US" dirty="0"/>
          </a:p>
        </p:txBody>
      </p:sp>
    </p:spTree>
    <p:extLst>
      <p:ext uri="{BB962C8B-B14F-4D97-AF65-F5344CB8AC3E}">
        <p14:creationId xmlns:p14="http://schemas.microsoft.com/office/powerpoint/2010/main" val="176491458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Other Types of Swaps</a:t>
            </a:r>
            <a:endParaRPr lang="en-US" altLang="zh-CN" dirty="0"/>
          </a:p>
        </p:txBody>
      </p:sp>
      <p:sp>
        <p:nvSpPr>
          <p:cNvPr id="3" name="文本占位符 2"/>
          <p:cNvSpPr>
            <a:spLocks noGrp="1"/>
          </p:cNvSpPr>
          <p:nvPr>
            <p:ph type="body" sz="quarter" idx="10"/>
          </p:nvPr>
        </p:nvSpPr>
        <p:spPr/>
        <p:txBody>
          <a:bodyPr>
            <a:normAutofit fontScale="92500" lnSpcReduction="10000"/>
          </a:bodyPr>
          <a:lstStyle/>
          <a:p>
            <a:pPr>
              <a:spcBef>
                <a:spcPct val="0"/>
              </a:spcBef>
              <a:defRPr/>
            </a:pPr>
            <a:r>
              <a:rPr lang="en-US" altLang="zh-CN" dirty="0"/>
              <a:t>Commodity swap</a:t>
            </a:r>
          </a:p>
          <a:p>
            <a:pPr lvl="1">
              <a:spcBef>
                <a:spcPct val="0"/>
              </a:spcBef>
              <a:defRPr/>
            </a:pPr>
            <a:r>
              <a:rPr lang="en-US" altLang="zh-CN" dirty="0"/>
              <a:t>Firms may enter into commodity swap agreements where they agree to pay a fixed rate for the multi-period delivery of a commodity and receive a corresponding floating rate based on the average commodity spot rates at the time of delivery.</a:t>
            </a:r>
          </a:p>
          <a:p>
            <a:pPr>
              <a:spcBef>
                <a:spcPct val="0"/>
              </a:spcBef>
              <a:defRPr/>
            </a:pPr>
            <a:r>
              <a:rPr lang="en-US" altLang="zh-CN" dirty="0"/>
              <a:t>Volatility swap</a:t>
            </a:r>
          </a:p>
          <a:p>
            <a:pPr lvl="1">
              <a:spcBef>
                <a:spcPct val="0"/>
              </a:spcBef>
              <a:defRPr/>
            </a:pPr>
            <a:r>
              <a:rPr lang="pt-BR" altLang="zh-CN" dirty="0"/>
              <a:t>An agreement to exchange the realized volatility of an asset for a prespecifed fixed volatility. </a:t>
            </a:r>
          </a:p>
          <a:p>
            <a:r>
              <a:rPr lang="en-US" altLang="zh-CN" dirty="0"/>
              <a:t>Exotic swaps: </a:t>
            </a:r>
            <a:endParaRPr lang="en-US" altLang="zh-CN" dirty="0" smtClean="0"/>
          </a:p>
          <a:p>
            <a:pPr lvl="1"/>
            <a:r>
              <a:rPr lang="en-US" altLang="zh-CN" b="0" dirty="0" smtClean="0"/>
              <a:t>Swaps </a:t>
            </a:r>
            <a:r>
              <a:rPr lang="en-US" altLang="zh-CN" b="0" dirty="0"/>
              <a:t>are limited only by the imagination of financial engineers </a:t>
            </a:r>
            <a:r>
              <a:rPr lang="en-US" altLang="zh-CN" b="0" dirty="0" smtClean="0"/>
              <a:t>and the </a:t>
            </a:r>
            <a:r>
              <a:rPr lang="en-US" altLang="zh-CN" b="0" dirty="0"/>
              <a:t>desire of corporate treasurers and fund managers for exotic structures</a:t>
            </a:r>
            <a:r>
              <a:rPr lang="en-US" altLang="zh-CN" b="0" dirty="0" smtClean="0"/>
              <a:t>.</a:t>
            </a:r>
          </a:p>
          <a:p>
            <a:pPr marL="342900" lvl="1" indent="-342900">
              <a:lnSpc>
                <a:spcPct val="130000"/>
              </a:lnSpc>
              <a:spcBef>
                <a:spcPct val="0"/>
              </a:spcBef>
              <a:buFont typeface="Wingdings" panose="05000000000000000000" pitchFamily="2" charset="2"/>
              <a:buChar char="Ø"/>
              <a:defRPr/>
            </a:pPr>
            <a:r>
              <a:rPr lang="en-US" altLang="zh-CN" sz="2400" b="1" dirty="0" smtClean="0">
                <a:solidFill>
                  <a:schemeClr val="accent6"/>
                </a:solidFill>
              </a:rPr>
              <a:t>  Swaption</a:t>
            </a:r>
            <a:endParaRPr lang="en-US" altLang="zh-CN" sz="2400" b="1" dirty="0">
              <a:solidFill>
                <a:schemeClr val="accent6"/>
              </a:solidFill>
            </a:endParaRPr>
          </a:p>
          <a:p>
            <a:pPr lvl="1">
              <a:spcBef>
                <a:spcPct val="0"/>
              </a:spcBef>
              <a:defRPr/>
            </a:pPr>
            <a:r>
              <a:rPr lang="en-US" altLang="zh-CN" dirty="0"/>
              <a:t>A swaption is an option granting its owner the right to enter into an underlying swap.</a:t>
            </a:r>
          </a:p>
          <a:p>
            <a:endParaRPr lang="zh-CN" altLang="en-US" dirty="0"/>
          </a:p>
        </p:txBody>
      </p:sp>
    </p:spTree>
    <p:extLst>
      <p:ext uri="{BB962C8B-B14F-4D97-AF65-F5344CB8AC3E}">
        <p14:creationId xmlns:p14="http://schemas.microsoft.com/office/powerpoint/2010/main" val="195910172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25000" lnSpcReduction="20000"/>
          </a:bodyPr>
          <a:lstStyle/>
          <a:p>
            <a:r>
              <a:rPr lang="en-US" altLang="zh-CN" sz="8000" b="0" dirty="0" smtClean="0"/>
              <a:t>Explain </a:t>
            </a:r>
            <a:r>
              <a:rPr lang="en-US" altLang="zh-CN" sz="8000" b="0" dirty="0"/>
              <a:t>the mechanics of a plain vanilla interest rate swap and compute its cash flows. </a:t>
            </a:r>
            <a:r>
              <a:rPr lang="en-US" altLang="zh-CN" sz="8000" b="0" dirty="0" smtClean="0">
                <a:cs typeface="+mn-ea"/>
                <a:sym typeface="+mn-lt"/>
              </a:rPr>
              <a:t>★</a:t>
            </a:r>
            <a:r>
              <a:rPr lang="en-US" altLang="zh-CN" sz="8000" b="0" dirty="0">
                <a:cs typeface="+mn-ea"/>
                <a:sym typeface="+mn-lt"/>
              </a:rPr>
              <a:t>★</a:t>
            </a:r>
            <a:endParaRPr lang="en-US" altLang="zh-CN" sz="8000" b="0" dirty="0" smtClean="0"/>
          </a:p>
          <a:p>
            <a:r>
              <a:rPr lang="en-US" altLang="zh-CN" sz="8000" b="0" dirty="0" smtClean="0"/>
              <a:t>Explain </a:t>
            </a:r>
            <a:r>
              <a:rPr lang="en-US" altLang="zh-CN" sz="8000" b="0" dirty="0"/>
              <a:t>how a plain vanilla interest rate swap can be used to transform an asset or a </a:t>
            </a:r>
            <a:r>
              <a:rPr lang="en-US" altLang="zh-CN" sz="8000" b="0" dirty="0" smtClean="0"/>
              <a:t>liability</a:t>
            </a:r>
          </a:p>
          <a:p>
            <a:r>
              <a:rPr lang="en-US" altLang="zh-CN" sz="8000" b="0" dirty="0" smtClean="0"/>
              <a:t>Explain </a:t>
            </a:r>
            <a:r>
              <a:rPr lang="en-US" altLang="zh-CN" sz="8000" b="0" dirty="0"/>
              <a:t>the role of financial intermediaries in the swaps market. </a:t>
            </a:r>
            <a:r>
              <a:rPr lang="en-US" altLang="zh-CN" sz="8000" b="0" dirty="0">
                <a:cs typeface="+mn-ea"/>
                <a:sym typeface="+mn-lt"/>
              </a:rPr>
              <a:t>★</a:t>
            </a:r>
            <a:endParaRPr lang="en-US" altLang="zh-CN" sz="8000" b="0" dirty="0"/>
          </a:p>
          <a:p>
            <a:r>
              <a:rPr lang="en-US" altLang="zh-CN" sz="8000" b="0" dirty="0"/>
              <a:t>Describe the role of the confirmation in a swap transaction. </a:t>
            </a:r>
          </a:p>
          <a:p>
            <a:r>
              <a:rPr lang="en-US" altLang="zh-CN" sz="8000" b="0" dirty="0">
                <a:solidFill>
                  <a:srgbClr val="FF0000"/>
                </a:solidFill>
              </a:rPr>
              <a:t>Describe the comparative </a:t>
            </a:r>
            <a:r>
              <a:rPr lang="en-US" altLang="zh-CN" sz="8000" b="0" dirty="0" smtClean="0">
                <a:solidFill>
                  <a:srgbClr val="FF0000"/>
                </a:solidFill>
              </a:rPr>
              <a:t>advantage for the existence </a:t>
            </a:r>
            <a:r>
              <a:rPr lang="en-US" altLang="zh-CN" sz="8000" b="0" dirty="0">
                <a:solidFill>
                  <a:srgbClr val="FF0000"/>
                </a:solidFill>
              </a:rPr>
              <a:t>of interest rate swaps </a:t>
            </a:r>
            <a:r>
              <a:rPr lang="en-US" altLang="zh-CN" sz="8000" b="0" dirty="0" smtClean="0">
                <a:solidFill>
                  <a:srgbClr val="FF0000"/>
                </a:solidFill>
                <a:cs typeface="+mn-ea"/>
                <a:sym typeface="+mn-lt"/>
              </a:rPr>
              <a:t>★★</a:t>
            </a:r>
            <a:r>
              <a:rPr lang="en-US" altLang="zh-CN" sz="8000" b="0" dirty="0">
                <a:solidFill>
                  <a:srgbClr val="FF0000"/>
                </a:solidFill>
                <a:cs typeface="+mn-ea"/>
                <a:sym typeface="+mn-lt"/>
              </a:rPr>
              <a:t>★</a:t>
            </a:r>
            <a:endParaRPr lang="en-US" altLang="zh-CN" sz="8000" b="0" dirty="0" smtClean="0">
              <a:solidFill>
                <a:srgbClr val="FF0000"/>
              </a:solidFill>
            </a:endParaRPr>
          </a:p>
          <a:p>
            <a:r>
              <a:rPr lang="en-US" altLang="zh-CN" sz="8000" b="0" dirty="0" smtClean="0"/>
              <a:t>Explain </a:t>
            </a:r>
            <a:r>
              <a:rPr lang="en-US" altLang="zh-CN" sz="8000" b="0" dirty="0"/>
              <a:t>how the discount rates in a plain vanilla interest rate swap are computed. </a:t>
            </a:r>
            <a:r>
              <a:rPr lang="en-US" altLang="zh-CN" sz="8000" b="0" dirty="0" smtClean="0">
                <a:cs typeface="+mn-ea"/>
                <a:sym typeface="+mn-lt"/>
              </a:rPr>
              <a:t>★</a:t>
            </a:r>
            <a:endParaRPr lang="en-US" altLang="zh-CN" sz="8000" b="0" dirty="0"/>
          </a:p>
          <a:p>
            <a:r>
              <a:rPr lang="en-US" altLang="zh-CN" sz="8000" b="0" dirty="0">
                <a:solidFill>
                  <a:srgbClr val="FF0000"/>
                </a:solidFill>
              </a:rPr>
              <a:t>Calculate the value of a plain vanilla interest rate swap </a:t>
            </a:r>
            <a:r>
              <a:rPr lang="en-US" altLang="zh-CN" sz="8000" b="0" dirty="0" smtClean="0">
                <a:solidFill>
                  <a:srgbClr val="FF0000"/>
                </a:solidFill>
                <a:cs typeface="+mn-ea"/>
                <a:sym typeface="+mn-lt"/>
              </a:rPr>
              <a:t>★★</a:t>
            </a:r>
            <a:r>
              <a:rPr lang="en-US" altLang="zh-CN" sz="8000" b="0" dirty="0">
                <a:solidFill>
                  <a:srgbClr val="FF0000"/>
                </a:solidFill>
                <a:cs typeface="+mn-ea"/>
                <a:sym typeface="+mn-lt"/>
              </a:rPr>
              <a:t>★</a:t>
            </a:r>
            <a:endParaRPr lang="en-US" altLang="zh-CN" sz="8000" b="0" dirty="0" smtClean="0">
              <a:solidFill>
                <a:srgbClr val="FF0000"/>
              </a:solidFill>
            </a:endParaRPr>
          </a:p>
          <a:p>
            <a:r>
              <a:rPr lang="en-US" altLang="zh-CN" sz="8000" b="0" dirty="0" smtClean="0"/>
              <a:t>Calculate </a:t>
            </a:r>
            <a:r>
              <a:rPr lang="en-US" altLang="zh-CN" sz="8000" b="0" dirty="0"/>
              <a:t>the value of a plain vanilla interest rate swap from a sequence of </a:t>
            </a:r>
            <a:r>
              <a:rPr lang="en-US" altLang="zh-CN" sz="8000" b="0" dirty="0" smtClean="0"/>
              <a:t>(</a:t>
            </a:r>
            <a:r>
              <a:rPr lang="en-US" altLang="zh-CN" sz="8000" b="0" dirty="0"/>
              <a:t>FRAs). </a:t>
            </a:r>
          </a:p>
          <a:p>
            <a:r>
              <a:rPr lang="en-US" altLang="zh-CN" sz="8000" b="0" dirty="0">
                <a:solidFill>
                  <a:srgbClr val="FF0000"/>
                </a:solidFill>
              </a:rPr>
              <a:t>Explain the mechanics of a currency swap and compute its cash flows. </a:t>
            </a:r>
            <a:r>
              <a:rPr lang="en-US" altLang="zh-CN" sz="8000" b="0" dirty="0" smtClean="0">
                <a:solidFill>
                  <a:srgbClr val="FF0000"/>
                </a:solidFill>
                <a:cs typeface="+mn-ea"/>
                <a:sym typeface="+mn-lt"/>
              </a:rPr>
              <a:t>★★</a:t>
            </a:r>
            <a:r>
              <a:rPr lang="en-US" altLang="zh-CN" sz="8000" b="0" dirty="0">
                <a:solidFill>
                  <a:srgbClr val="FF0000"/>
                </a:solidFill>
                <a:cs typeface="+mn-ea"/>
                <a:sym typeface="+mn-lt"/>
              </a:rPr>
              <a:t>★</a:t>
            </a:r>
            <a:endParaRPr lang="en-US" altLang="zh-CN" sz="8000" b="0" dirty="0">
              <a:solidFill>
                <a:srgbClr val="FF0000"/>
              </a:solidFill>
            </a:endParaRPr>
          </a:p>
          <a:p>
            <a:r>
              <a:rPr lang="en-US" altLang="zh-CN" sz="8000" b="0" dirty="0"/>
              <a:t>Explain how a currency swap can be used to transform an asset or liability </a:t>
            </a:r>
            <a:endParaRPr lang="en-US" altLang="zh-CN" sz="8000" b="0" dirty="0" smtClean="0"/>
          </a:p>
          <a:p>
            <a:r>
              <a:rPr lang="en-US" altLang="zh-CN" sz="8000" b="0" dirty="0" smtClean="0">
                <a:solidFill>
                  <a:srgbClr val="FF0000"/>
                </a:solidFill>
              </a:rPr>
              <a:t>Calculate </a:t>
            </a:r>
            <a:r>
              <a:rPr lang="en-US" altLang="zh-CN" sz="8000" b="0" dirty="0">
                <a:solidFill>
                  <a:srgbClr val="FF0000"/>
                </a:solidFill>
              </a:rPr>
              <a:t>the value of a currency swap based on two simultaneous bond positions. </a:t>
            </a:r>
            <a:r>
              <a:rPr lang="en-US" altLang="zh-CN" sz="8000" b="0" dirty="0" smtClean="0">
                <a:solidFill>
                  <a:srgbClr val="FF0000"/>
                </a:solidFill>
                <a:cs typeface="+mn-ea"/>
                <a:sym typeface="+mn-lt"/>
              </a:rPr>
              <a:t>★★</a:t>
            </a:r>
            <a:r>
              <a:rPr lang="en-US" altLang="zh-CN" sz="8000" b="0" dirty="0">
                <a:solidFill>
                  <a:srgbClr val="FF0000"/>
                </a:solidFill>
                <a:cs typeface="+mn-ea"/>
                <a:sym typeface="+mn-lt"/>
              </a:rPr>
              <a:t>★</a:t>
            </a:r>
            <a:endParaRPr lang="en-US" altLang="zh-CN" sz="8000" b="0" dirty="0">
              <a:solidFill>
                <a:srgbClr val="FF0000"/>
              </a:solidFill>
            </a:endParaRPr>
          </a:p>
          <a:p>
            <a:r>
              <a:rPr lang="en-US" altLang="zh-CN" sz="8000" b="0" dirty="0"/>
              <a:t>Calculate the value of a currency swap based on a sequence of FRAs. </a:t>
            </a:r>
          </a:p>
          <a:p>
            <a:r>
              <a:rPr lang="en-US" altLang="zh-CN" sz="8000" b="0" dirty="0"/>
              <a:t>Describe the credit risk exposure in a swap position. </a:t>
            </a:r>
            <a:r>
              <a:rPr lang="en-US" altLang="zh-CN" sz="8000" b="0" dirty="0">
                <a:cs typeface="+mn-ea"/>
                <a:sym typeface="+mn-lt"/>
              </a:rPr>
              <a:t>★</a:t>
            </a:r>
            <a:endParaRPr lang="en-US" altLang="zh-CN" sz="8000" b="0" dirty="0"/>
          </a:p>
          <a:p>
            <a:r>
              <a:rPr lang="en-US" altLang="zh-CN" sz="8000" b="0" dirty="0"/>
              <a:t>Identify and describe other types of swaps, including commodity, volatility, and exotic swaps</a:t>
            </a:r>
            <a:r>
              <a:rPr lang="en-US" altLang="zh-CN" sz="8000" b="0" dirty="0" smtClean="0"/>
              <a:t>.</a:t>
            </a:r>
            <a:r>
              <a:rPr lang="en-US" altLang="zh-CN" sz="8000" b="0" dirty="0">
                <a:cs typeface="+mn-ea"/>
                <a:sym typeface="+mn-lt"/>
              </a:rPr>
              <a:t> ★</a:t>
            </a:r>
            <a:r>
              <a:rPr lang="en-US" altLang="zh-CN" sz="8000" b="0" dirty="0" smtClean="0"/>
              <a:t> </a:t>
            </a:r>
            <a:endParaRPr lang="en-US" altLang="zh-CN" sz="8000" b="0" dirty="0"/>
          </a:p>
          <a:p>
            <a:endParaRPr lang="zh-CN" altLang="en-US" dirty="0"/>
          </a:p>
        </p:txBody>
      </p:sp>
    </p:spTree>
    <p:extLst>
      <p:ext uri="{BB962C8B-B14F-4D97-AF65-F5344CB8AC3E}">
        <p14:creationId xmlns:p14="http://schemas.microsoft.com/office/powerpoint/2010/main" val="90746185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Properties of Stock Options</a:t>
            </a:r>
          </a:p>
        </p:txBody>
      </p:sp>
    </p:spTree>
    <p:extLst>
      <p:ext uri="{BB962C8B-B14F-4D97-AF65-F5344CB8AC3E}">
        <p14:creationId xmlns:p14="http://schemas.microsoft.com/office/powerpoint/2010/main" val="3336389027"/>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olidFill>
                  <a:schemeClr val="accent6">
                    <a:lumMod val="50000"/>
                  </a:schemeClr>
                </a:solidFill>
              </a:rPr>
              <a:t>Six factors</a:t>
            </a:r>
          </a:p>
          <a:p>
            <a:r>
              <a:rPr lang="en-US" altLang="zh-CN" dirty="0" smtClean="0">
                <a:solidFill>
                  <a:schemeClr val="accent6">
                    <a:lumMod val="50000"/>
                  </a:schemeClr>
                </a:solidFill>
              </a:rPr>
              <a:t>Upper </a:t>
            </a:r>
            <a:r>
              <a:rPr lang="en-US" altLang="zh-CN" dirty="0">
                <a:solidFill>
                  <a:schemeClr val="accent6">
                    <a:lumMod val="50000"/>
                  </a:schemeClr>
                </a:solidFill>
              </a:rPr>
              <a:t>and lower </a:t>
            </a:r>
            <a:r>
              <a:rPr lang="en-US" altLang="zh-CN" dirty="0" smtClean="0">
                <a:solidFill>
                  <a:schemeClr val="accent6">
                    <a:lumMod val="50000"/>
                  </a:schemeClr>
                </a:solidFill>
              </a:rPr>
              <a:t>bounds</a:t>
            </a:r>
          </a:p>
          <a:p>
            <a:r>
              <a:rPr lang="en-US" altLang="zh-CN" dirty="0">
                <a:solidFill>
                  <a:schemeClr val="accent6">
                    <a:lumMod val="50000"/>
                  </a:schemeClr>
                </a:solidFill>
              </a:rPr>
              <a:t>P</a:t>
            </a:r>
            <a:r>
              <a:rPr lang="en-US" altLang="zh-CN" dirty="0" smtClean="0">
                <a:solidFill>
                  <a:schemeClr val="accent6">
                    <a:lumMod val="50000"/>
                  </a:schemeClr>
                </a:solidFill>
              </a:rPr>
              <a:t>ut-call parity</a:t>
            </a:r>
          </a:p>
          <a:p>
            <a:r>
              <a:rPr lang="en-US" altLang="zh-CN" dirty="0">
                <a:solidFill>
                  <a:schemeClr val="accent6">
                    <a:lumMod val="50000"/>
                  </a:schemeClr>
                </a:solidFill>
              </a:rPr>
              <a:t>E</a:t>
            </a:r>
            <a:r>
              <a:rPr lang="en-US" altLang="zh-CN" dirty="0" smtClean="0">
                <a:solidFill>
                  <a:schemeClr val="accent6">
                    <a:lumMod val="50000"/>
                  </a:schemeClr>
                </a:solidFill>
              </a:rPr>
              <a:t>arly </a:t>
            </a:r>
            <a:r>
              <a:rPr lang="en-US" altLang="zh-CN" dirty="0">
                <a:solidFill>
                  <a:schemeClr val="accent6">
                    <a:lumMod val="50000"/>
                  </a:schemeClr>
                </a:solidFill>
              </a:rPr>
              <a:t>exercise features of American call and put options.</a:t>
            </a:r>
            <a:endParaRPr lang="zh-CN" altLang="en-US" dirty="0" smtClean="0">
              <a:solidFill>
                <a:schemeClr val="accent6">
                  <a:lumMod val="50000"/>
                </a:schemeClr>
              </a:solidFill>
            </a:endParaRPr>
          </a:p>
          <a:p>
            <a:r>
              <a:rPr lang="en-US" altLang="zh-CN" dirty="0" smtClean="0">
                <a:solidFill>
                  <a:schemeClr val="accent6">
                    <a:lumMod val="50000"/>
                  </a:schemeClr>
                </a:solidFill>
              </a:rPr>
              <a:t>Summary and practice</a:t>
            </a:r>
          </a:p>
          <a:p>
            <a:pPr marL="0" indent="0">
              <a:buNone/>
            </a:pPr>
            <a:endParaRPr lang="en-US" altLang="zh-CN" dirty="0" smtClean="0"/>
          </a:p>
          <a:p>
            <a:endParaRPr lang="zh-CN" altLang="en-US" dirty="0"/>
          </a:p>
        </p:txBody>
      </p:sp>
    </p:spTree>
    <p:extLst>
      <p:ext uri="{BB962C8B-B14F-4D97-AF65-F5344CB8AC3E}">
        <p14:creationId xmlns:p14="http://schemas.microsoft.com/office/powerpoint/2010/main" val="3272531189"/>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Six Factors</a:t>
            </a:r>
            <a:endParaRPr lang="en-US" altLang="zh-CN" dirty="0"/>
          </a:p>
        </p:txBody>
      </p:sp>
      <p:sp>
        <p:nvSpPr>
          <p:cNvPr id="3" name="文本占位符 2"/>
          <p:cNvSpPr>
            <a:spLocks noGrp="1"/>
          </p:cNvSpPr>
          <p:nvPr>
            <p:ph type="body" sz="quarter" idx="10"/>
          </p:nvPr>
        </p:nvSpPr>
        <p:spPr/>
        <p:txBody>
          <a:bodyPr/>
          <a:lstStyle/>
          <a:p>
            <a:r>
              <a:rPr lang="en-US" altLang="zh-CN" dirty="0"/>
              <a:t>S</a:t>
            </a:r>
            <a:r>
              <a:rPr lang="en-US" altLang="zh-CN" dirty="0" smtClean="0"/>
              <a:t>ix </a:t>
            </a:r>
            <a:r>
              <a:rPr lang="en-US" altLang="zh-CN" dirty="0"/>
              <a:t>factors that affect an option's </a:t>
            </a:r>
            <a:r>
              <a:rPr lang="en-US" altLang="zh-CN" dirty="0" smtClean="0"/>
              <a:t>price</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539761159"/>
              </p:ext>
            </p:extLst>
          </p:nvPr>
        </p:nvGraphicFramePr>
        <p:xfrm>
          <a:off x="798105" y="1556948"/>
          <a:ext cx="10196728" cy="4023360"/>
        </p:xfrm>
        <a:graphic>
          <a:graphicData uri="http://schemas.openxmlformats.org/drawingml/2006/table">
            <a:tbl>
              <a:tblPr firstRow="1" bandRow="1">
                <a:tableStyleId>{85BE263C-DBD7-4A20-BB59-AAB30ACAA65A}</a:tableStyleId>
              </a:tblPr>
              <a:tblGrid>
                <a:gridCol w="2549182">
                  <a:extLst>
                    <a:ext uri="{9D8B030D-6E8A-4147-A177-3AD203B41FA5}">
                      <a16:colId xmlns="" xmlns:a16="http://schemas.microsoft.com/office/drawing/2014/main" val="1472929149"/>
                    </a:ext>
                  </a:extLst>
                </a:gridCol>
                <a:gridCol w="2549182">
                  <a:extLst>
                    <a:ext uri="{9D8B030D-6E8A-4147-A177-3AD203B41FA5}">
                      <a16:colId xmlns="" xmlns:a16="http://schemas.microsoft.com/office/drawing/2014/main" val="536217680"/>
                    </a:ext>
                  </a:extLst>
                </a:gridCol>
                <a:gridCol w="2549182">
                  <a:extLst>
                    <a:ext uri="{9D8B030D-6E8A-4147-A177-3AD203B41FA5}">
                      <a16:colId xmlns="" xmlns:a16="http://schemas.microsoft.com/office/drawing/2014/main" val="3345123579"/>
                    </a:ext>
                  </a:extLst>
                </a:gridCol>
                <a:gridCol w="2549182">
                  <a:extLst>
                    <a:ext uri="{9D8B030D-6E8A-4147-A177-3AD203B41FA5}">
                      <a16:colId xmlns="" xmlns:a16="http://schemas.microsoft.com/office/drawing/2014/main" val="1946662411"/>
                    </a:ext>
                  </a:extLst>
                </a:gridCol>
              </a:tblGrid>
              <a:tr h="370840">
                <a:tc gridSpan="4">
                  <a:txBody>
                    <a:bodyPr/>
                    <a:lstStyle/>
                    <a:p>
                      <a:pPr algn="ctr"/>
                      <a:r>
                        <a:rPr lang="en-US" altLang="zh-CN" sz="2400" b="0" i="0" u="none" strike="noStrike" kern="1200" baseline="0" dirty="0" smtClean="0">
                          <a:solidFill>
                            <a:schemeClr val="lt1"/>
                          </a:solidFill>
                          <a:latin typeface="+mn-lt"/>
                          <a:ea typeface="+mn-ea"/>
                          <a:cs typeface="+mn-cs"/>
                        </a:rPr>
                        <a:t>Directional Impact of Each Input on Call or Put</a:t>
                      </a:r>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 xmlns:a16="http://schemas.microsoft.com/office/drawing/2014/main" val="4230626373"/>
                  </a:ext>
                </a:extLst>
              </a:tr>
              <a:tr h="370840">
                <a:tc>
                  <a:txBody>
                    <a:bodyPr/>
                    <a:lstStyle/>
                    <a:p>
                      <a:pPr algn="ctr"/>
                      <a:r>
                        <a:rPr lang="en-US" altLang="zh-CN" sz="2400" b="0" i="0" u="none" strike="noStrike" kern="1200" baseline="0" dirty="0" smtClean="0">
                          <a:solidFill>
                            <a:schemeClr val="dk1"/>
                          </a:solidFill>
                          <a:latin typeface="+mn-lt"/>
                          <a:ea typeface="+mn-ea"/>
                          <a:cs typeface="+mn-cs"/>
                        </a:rPr>
                        <a:t>Factor</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Symbol</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Call</a:t>
                      </a:r>
                      <a:endParaRPr lang="zh-CN" altLang="en-US" dirty="0"/>
                    </a:p>
                  </a:txBody>
                  <a:tcPr/>
                </a:tc>
                <a:tc>
                  <a:txBody>
                    <a:bodyPr/>
                    <a:lstStyle/>
                    <a:p>
                      <a:pPr algn="ctr"/>
                      <a:r>
                        <a:rPr lang="en-US" altLang="zh-CN" dirty="0" smtClean="0"/>
                        <a:t>Put</a:t>
                      </a:r>
                      <a:endParaRPr lang="zh-CN" altLang="en-US" dirty="0"/>
                    </a:p>
                  </a:txBody>
                  <a:tcPr/>
                </a:tc>
                <a:extLst>
                  <a:ext uri="{0D108BD9-81ED-4DB2-BD59-A6C34878D82A}">
                    <a16:rowId xmlns="" xmlns:a16="http://schemas.microsoft.com/office/drawing/2014/main" val="156722210"/>
                  </a:ext>
                </a:extLst>
              </a:tr>
              <a:tr h="370840">
                <a:tc>
                  <a:txBody>
                    <a:bodyPr/>
                    <a:lstStyle/>
                    <a:p>
                      <a:pPr algn="ctr"/>
                      <a:r>
                        <a:rPr lang="en-US" altLang="zh-CN" sz="2400" b="0" i="0" u="none" strike="noStrike" kern="1200" baseline="0" dirty="0" smtClean="0">
                          <a:solidFill>
                            <a:schemeClr val="dk1"/>
                          </a:solidFill>
                          <a:latin typeface="+mn-lt"/>
                          <a:ea typeface="+mn-ea"/>
                          <a:cs typeface="+mn-cs"/>
                        </a:rPr>
                        <a:t>Stock price (</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S</a:t>
                      </a:r>
                      <a:r>
                        <a:rPr lang="en-US" altLang="zh-CN" baseline="-25000" dirty="0" smtClean="0"/>
                        <a:t>0</a:t>
                      </a:r>
                      <a:endParaRPr lang="zh-CN" altLang="en-US" baseline="-25000" dirty="0"/>
                    </a:p>
                  </a:txBody>
                  <a:tcPr/>
                </a:tc>
                <a:tc>
                  <a:txBody>
                    <a:bodyPr/>
                    <a:lstStyle/>
                    <a:p>
                      <a:pPr algn="ctr"/>
                      <a:r>
                        <a:rPr lang="zh-CN" altLang="en-US"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zh-CN" altLang="en-US" dirty="0" smtClean="0"/>
                        <a:t>⬇</a:t>
                      </a:r>
                      <a:endParaRPr lang="zh-CN" altLang="en-US" dirty="0"/>
                    </a:p>
                  </a:txBody>
                  <a:tcPr/>
                </a:tc>
                <a:extLst>
                  <a:ext uri="{0D108BD9-81ED-4DB2-BD59-A6C34878D82A}">
                    <a16:rowId xmlns="" xmlns:a16="http://schemas.microsoft.com/office/drawing/2014/main" val="630022379"/>
                  </a:ext>
                </a:extLst>
              </a:tr>
              <a:tr h="370840">
                <a:tc>
                  <a:txBody>
                    <a:bodyPr/>
                    <a:lstStyle/>
                    <a:p>
                      <a:pPr algn="ctr"/>
                      <a:r>
                        <a:rPr lang="en-US" altLang="zh-CN" sz="2400" b="0" i="0" u="none" strike="noStrike" kern="1200" baseline="0" dirty="0" smtClean="0">
                          <a:solidFill>
                            <a:schemeClr val="dk1"/>
                          </a:solidFill>
                          <a:latin typeface="+mn-lt"/>
                          <a:ea typeface="+mn-ea"/>
                          <a:cs typeface="+mn-cs"/>
                        </a:rPr>
                        <a:t>Strike price(</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K</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dirty="0" smtClean="0"/>
                        <a:t>⬇</a:t>
                      </a:r>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endParaRPr lang="zh-CN" altLang="en-US" dirty="0" smtClean="0"/>
                    </a:p>
                  </a:txBody>
                  <a:tcPr/>
                </a:tc>
                <a:extLst>
                  <a:ext uri="{0D108BD9-81ED-4DB2-BD59-A6C34878D82A}">
                    <a16:rowId xmlns="" xmlns:a16="http://schemas.microsoft.com/office/drawing/2014/main" val="3427614343"/>
                  </a:ext>
                </a:extLst>
              </a:tr>
              <a:tr h="370840">
                <a:tc>
                  <a:txBody>
                    <a:bodyPr/>
                    <a:lstStyle/>
                    <a:p>
                      <a:pPr algn="ctr"/>
                      <a:r>
                        <a:rPr lang="en-US" altLang="zh-CN" sz="2400" b="0" i="0" u="none" strike="noStrike" kern="1200" baseline="0" dirty="0" smtClean="0">
                          <a:solidFill>
                            <a:schemeClr val="dk1"/>
                          </a:solidFill>
                          <a:latin typeface="+mn-lt"/>
                          <a:ea typeface="+mn-ea"/>
                          <a:cs typeface="+mn-cs"/>
                        </a:rPr>
                        <a:t>Time to expiration(</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T</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American)</a:t>
                      </a:r>
                      <a:endParaRPr lang="zh-CN" altLang="en-US" dirty="0" smtClean="0"/>
                    </a:p>
                    <a:p>
                      <a:pPr algn="ctr"/>
                      <a:r>
                        <a:rPr lang="en-US" altLang="zh-CN" dirty="0" smtClean="0"/>
                        <a:t>?   (European)</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American)</a:t>
                      </a:r>
                      <a:endParaRPr lang="zh-CN" altLang="en-US" dirty="0" smtClean="0"/>
                    </a:p>
                    <a:p>
                      <a:pPr algn="ctr"/>
                      <a:r>
                        <a:rPr lang="en-US" altLang="zh-CN" dirty="0" smtClean="0"/>
                        <a:t>?   (European)</a:t>
                      </a:r>
                      <a:endParaRPr lang="zh-CN" altLang="en-US" dirty="0" smtClean="0"/>
                    </a:p>
                  </a:txBody>
                  <a:tcPr/>
                </a:tc>
                <a:extLst>
                  <a:ext uri="{0D108BD9-81ED-4DB2-BD59-A6C34878D82A}">
                    <a16:rowId xmlns="" xmlns:a16="http://schemas.microsoft.com/office/drawing/2014/main" val="1441196604"/>
                  </a:ext>
                </a:extLst>
              </a:tr>
              <a:tr h="370840">
                <a:tc>
                  <a:txBody>
                    <a:bodyPr/>
                    <a:lstStyle/>
                    <a:p>
                      <a:pPr algn="ctr"/>
                      <a:r>
                        <a:rPr lang="en-US" altLang="zh-CN" sz="2400" b="0" i="0" u="none" strike="noStrike" kern="1200" baseline="0" dirty="0" smtClean="0">
                          <a:solidFill>
                            <a:schemeClr val="dk1"/>
                          </a:solidFill>
                          <a:latin typeface="+mn-lt"/>
                          <a:ea typeface="+mn-ea"/>
                          <a:cs typeface="+mn-cs"/>
                        </a:rPr>
                        <a:t>Volatility(</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σ</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endParaRPr lang="en-US" altLang="zh-CN" sz="2400" b="0" i="0" u="none" strike="noStrike" kern="1200" baseline="0" dirty="0" smtClean="0">
                        <a:solidFill>
                          <a:schemeClr val="dk1"/>
                        </a:solidFill>
                        <a:latin typeface="+mn-lt"/>
                        <a:ea typeface="+mn-ea"/>
                        <a:cs typeface="+mn-cs"/>
                      </a:endParaRPr>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endParaRPr lang="zh-CN" altLang="en-US" dirty="0" smtClean="0"/>
                    </a:p>
                  </a:txBody>
                  <a:tcPr/>
                </a:tc>
                <a:extLst>
                  <a:ext uri="{0D108BD9-81ED-4DB2-BD59-A6C34878D82A}">
                    <a16:rowId xmlns="" xmlns:a16="http://schemas.microsoft.com/office/drawing/2014/main" val="1956260807"/>
                  </a:ext>
                </a:extLst>
              </a:tr>
              <a:tr h="370840">
                <a:tc>
                  <a:txBody>
                    <a:bodyPr/>
                    <a:lstStyle/>
                    <a:p>
                      <a:pPr algn="ctr"/>
                      <a:r>
                        <a:rPr lang="en-US" altLang="zh-CN" sz="2400" b="0" i="0" u="none" strike="noStrike" kern="1200" baseline="0" dirty="0" smtClean="0">
                          <a:solidFill>
                            <a:schemeClr val="dk1"/>
                          </a:solidFill>
                          <a:latin typeface="+mn-lt"/>
                          <a:ea typeface="+mn-ea"/>
                          <a:cs typeface="+mn-cs"/>
                        </a:rPr>
                        <a:t>Risk-free rate(</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r</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endParaRPr lang="en-US" altLang="zh-CN" sz="2400" b="0" i="0" u="none" strike="noStrike" kern="1200" baseline="0" dirty="0" smtClean="0">
                        <a:solidFill>
                          <a:schemeClr val="dk1"/>
                        </a:solidFill>
                        <a:latin typeface="+mn-lt"/>
                        <a:ea typeface="+mn-ea"/>
                        <a:cs typeface="+mn-cs"/>
                      </a:endParaRPr>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dirty="0" smtClean="0"/>
                        <a:t>⬇</a:t>
                      </a:r>
                    </a:p>
                  </a:txBody>
                  <a:tcPr/>
                </a:tc>
                <a:extLst>
                  <a:ext uri="{0D108BD9-81ED-4DB2-BD59-A6C34878D82A}">
                    <a16:rowId xmlns="" xmlns:a16="http://schemas.microsoft.com/office/drawing/2014/main" val="2647333847"/>
                  </a:ext>
                </a:extLst>
              </a:tr>
              <a:tr h="370840">
                <a:tc>
                  <a:txBody>
                    <a:bodyPr/>
                    <a:lstStyle/>
                    <a:p>
                      <a:pPr algn="ctr"/>
                      <a:r>
                        <a:rPr lang="en-US" altLang="zh-CN" sz="2400" b="0" i="0" u="none" strike="noStrike" kern="1200" baseline="0" dirty="0" smtClean="0">
                          <a:solidFill>
                            <a:schemeClr val="dk1"/>
                          </a:solidFill>
                          <a:latin typeface="+mn-lt"/>
                          <a:ea typeface="+mn-ea"/>
                          <a:cs typeface="+mn-cs"/>
                        </a:rPr>
                        <a:t>Div. yield(</a:t>
                      </a:r>
                      <a:r>
                        <a:rPr lang="zh-CN" altLang="en-US" sz="2400" b="0" i="0" u="none" strike="noStrike" kern="1200" baseline="0" dirty="0" smtClean="0">
                          <a:solidFill>
                            <a:schemeClr val="dk1"/>
                          </a:solidFill>
                          <a:latin typeface="+mn-lt"/>
                          <a:ea typeface="+mn-ea"/>
                          <a:cs typeface="+mn-cs"/>
                        </a:rPr>
                        <a:t>⬆</a:t>
                      </a:r>
                      <a:r>
                        <a:rPr lang="en-US" altLang="zh-CN" sz="2400" b="0" i="0" u="none" strike="noStrike" kern="1200" baseline="0" dirty="0" smtClean="0">
                          <a:solidFill>
                            <a:schemeClr val="dk1"/>
                          </a:solidFill>
                          <a:latin typeface="+mn-lt"/>
                          <a:ea typeface="+mn-ea"/>
                          <a:cs typeface="+mn-cs"/>
                        </a:rPr>
                        <a:t>)</a:t>
                      </a:r>
                      <a:endParaRPr lang="zh-CN" altLang="en-US" dirty="0"/>
                    </a:p>
                  </a:txBody>
                  <a:tcPr/>
                </a:tc>
                <a:tc>
                  <a:txBody>
                    <a:bodyPr/>
                    <a:lstStyle/>
                    <a:p>
                      <a:pPr algn="ctr"/>
                      <a:r>
                        <a:rPr lang="en-US" altLang="zh-CN" dirty="0" smtClean="0"/>
                        <a:t>D</a:t>
                      </a:r>
                      <a:endParaRPr lang="zh-CN" altLang="en-US" dirty="0"/>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dirty="0" smtClean="0"/>
                        <a:t>⬇</a:t>
                      </a:r>
                    </a:p>
                  </a:txBody>
                  <a:tcPr/>
                </a:tc>
                <a:tc>
                  <a:txBody>
                    <a:bodyPr/>
                    <a:lstStyle/>
                    <a:p>
                      <a:pPr marL="0" marR="0" indent="0" algn="ctr" defTabSz="1219170" rtl="0" eaLnBrk="1" fontAlgn="auto" latinLnBrk="0" hangingPunct="1">
                        <a:lnSpc>
                          <a:spcPct val="100000"/>
                        </a:lnSpc>
                        <a:spcBef>
                          <a:spcPts val="0"/>
                        </a:spcBef>
                        <a:spcAft>
                          <a:spcPts val="0"/>
                        </a:spcAft>
                        <a:buClrTx/>
                        <a:buSzTx/>
                        <a:buFontTx/>
                        <a:buNone/>
                        <a:tabLst/>
                        <a:defRPr/>
                      </a:pPr>
                      <a:r>
                        <a:rPr lang="zh-CN" altLang="en-US" sz="2400" b="0" i="0" u="none" strike="noStrike" kern="1200" baseline="0" dirty="0" smtClean="0">
                          <a:solidFill>
                            <a:schemeClr val="dk1"/>
                          </a:solidFill>
                          <a:latin typeface="+mn-lt"/>
                          <a:ea typeface="+mn-ea"/>
                          <a:cs typeface="+mn-cs"/>
                        </a:rPr>
                        <a:t>⬆</a:t>
                      </a:r>
                      <a:endParaRPr lang="en-US" altLang="zh-CN" sz="2400" b="0" i="0" u="none" strike="noStrike" kern="1200" baseline="0" dirty="0" smtClean="0">
                        <a:solidFill>
                          <a:schemeClr val="dk1"/>
                        </a:solidFill>
                        <a:latin typeface="+mn-lt"/>
                        <a:ea typeface="+mn-ea"/>
                        <a:cs typeface="+mn-cs"/>
                      </a:endParaRPr>
                    </a:p>
                  </a:txBody>
                  <a:tcPr/>
                </a:tc>
                <a:extLst>
                  <a:ext uri="{0D108BD9-81ED-4DB2-BD59-A6C34878D82A}">
                    <a16:rowId xmlns="" xmlns:a16="http://schemas.microsoft.com/office/drawing/2014/main" val="568215183"/>
                  </a:ext>
                </a:extLst>
              </a:tr>
            </a:tbl>
          </a:graphicData>
        </a:graphic>
      </p:graphicFrame>
      <p:sp>
        <p:nvSpPr>
          <p:cNvPr id="6" name="students-graduation-hat_21534"/>
          <p:cNvSpPr>
            <a:spLocks noChangeAspect="1"/>
          </p:cNvSpPr>
          <p:nvPr/>
        </p:nvSpPr>
        <p:spPr bwMode="auto">
          <a:xfrm>
            <a:off x="1097973" y="5885676"/>
            <a:ext cx="609685" cy="360888"/>
          </a:xfrm>
          <a:custGeom>
            <a:avLst/>
            <a:gdLst>
              <a:gd name="T0" fmla="*/ 496 w 989"/>
              <a:gd name="T1" fmla="*/ 397 h 459"/>
              <a:gd name="T2" fmla="*/ 781 w 989"/>
              <a:gd name="T3" fmla="*/ 291 h 459"/>
              <a:gd name="T4" fmla="*/ 781 w 989"/>
              <a:gd name="T5" fmla="*/ 459 h 459"/>
              <a:gd name="T6" fmla="*/ 208 w 989"/>
              <a:gd name="T7" fmla="*/ 459 h 459"/>
              <a:gd name="T8" fmla="*/ 208 w 989"/>
              <a:gd name="T9" fmla="*/ 294 h 459"/>
              <a:gd name="T10" fmla="*/ 496 w 989"/>
              <a:gd name="T11" fmla="*/ 397 h 459"/>
              <a:gd name="T12" fmla="*/ 874 w 989"/>
              <a:gd name="T13" fmla="*/ 347 h 459"/>
              <a:gd name="T14" fmla="*/ 874 w 989"/>
              <a:gd name="T15" fmla="*/ 221 h 459"/>
              <a:gd name="T16" fmla="*/ 989 w 989"/>
              <a:gd name="T17" fmla="*/ 178 h 459"/>
              <a:gd name="T18" fmla="*/ 493 w 989"/>
              <a:gd name="T19" fmla="*/ 0 h 459"/>
              <a:gd name="T20" fmla="*/ 0 w 989"/>
              <a:gd name="T21" fmla="*/ 184 h 459"/>
              <a:gd name="T22" fmla="*/ 496 w 989"/>
              <a:gd name="T23" fmla="*/ 362 h 459"/>
              <a:gd name="T24" fmla="*/ 839 w 989"/>
              <a:gd name="T25" fmla="*/ 234 h 459"/>
              <a:gd name="T26" fmla="*/ 839 w 989"/>
              <a:gd name="T27" fmla="*/ 347 h 459"/>
              <a:gd name="T28" fmla="*/ 819 w 989"/>
              <a:gd name="T29" fmla="*/ 380 h 459"/>
              <a:gd name="T30" fmla="*/ 856 w 989"/>
              <a:gd name="T31" fmla="*/ 417 h 459"/>
              <a:gd name="T32" fmla="*/ 894 w 989"/>
              <a:gd name="T33" fmla="*/ 380 h 459"/>
              <a:gd name="T34" fmla="*/ 874 w 989"/>
              <a:gd name="T35" fmla="*/ 34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9" h="459">
                <a:moveTo>
                  <a:pt x="496" y="397"/>
                </a:moveTo>
                <a:lnTo>
                  <a:pt x="781" y="291"/>
                </a:lnTo>
                <a:lnTo>
                  <a:pt x="781" y="459"/>
                </a:lnTo>
                <a:lnTo>
                  <a:pt x="208" y="459"/>
                </a:lnTo>
                <a:lnTo>
                  <a:pt x="208" y="294"/>
                </a:lnTo>
                <a:lnTo>
                  <a:pt x="496" y="397"/>
                </a:lnTo>
                <a:close/>
                <a:moveTo>
                  <a:pt x="874" y="347"/>
                </a:moveTo>
                <a:lnTo>
                  <a:pt x="874" y="221"/>
                </a:lnTo>
                <a:lnTo>
                  <a:pt x="989" y="178"/>
                </a:lnTo>
                <a:lnTo>
                  <a:pt x="493" y="0"/>
                </a:lnTo>
                <a:lnTo>
                  <a:pt x="0" y="184"/>
                </a:lnTo>
                <a:lnTo>
                  <a:pt x="496" y="362"/>
                </a:lnTo>
                <a:lnTo>
                  <a:pt x="839" y="234"/>
                </a:lnTo>
                <a:lnTo>
                  <a:pt x="839" y="347"/>
                </a:lnTo>
                <a:cubicBezTo>
                  <a:pt x="827" y="353"/>
                  <a:pt x="819" y="365"/>
                  <a:pt x="819" y="380"/>
                </a:cubicBezTo>
                <a:cubicBezTo>
                  <a:pt x="819" y="400"/>
                  <a:pt x="836" y="417"/>
                  <a:pt x="856" y="417"/>
                </a:cubicBezTo>
                <a:cubicBezTo>
                  <a:pt x="877" y="417"/>
                  <a:pt x="894" y="400"/>
                  <a:pt x="894" y="380"/>
                </a:cubicBezTo>
                <a:cubicBezTo>
                  <a:pt x="894" y="365"/>
                  <a:pt x="886" y="353"/>
                  <a:pt x="874" y="347"/>
                </a:cubicBezTo>
                <a:close/>
              </a:path>
            </a:pathLst>
          </a:custGeom>
          <a:solidFill>
            <a:schemeClr val="accent1"/>
          </a:solidFill>
          <a:ln>
            <a:noFill/>
          </a:ln>
        </p:spPr>
      </p:sp>
      <p:sp>
        <p:nvSpPr>
          <p:cNvPr id="7" name="文本框 6"/>
          <p:cNvSpPr txBox="1"/>
          <p:nvPr/>
        </p:nvSpPr>
        <p:spPr>
          <a:xfrm>
            <a:off x="1994053" y="5885676"/>
            <a:ext cx="4340646" cy="369332"/>
          </a:xfrm>
          <a:prstGeom prst="rect">
            <a:avLst/>
          </a:prstGeom>
          <a:noFill/>
        </p:spPr>
        <p:txBody>
          <a:bodyPr wrap="square" rtlCol="0">
            <a:spAutoFit/>
          </a:bodyPr>
          <a:lstStyle/>
          <a:p>
            <a:r>
              <a:rPr lang="zh-CN" altLang="en-US" b="1" dirty="0">
                <a:solidFill>
                  <a:srgbClr val="FF0000"/>
                </a:solidFill>
              </a:rPr>
              <a:t>这</a:t>
            </a:r>
            <a:r>
              <a:rPr lang="zh-CN" altLang="en-US" b="1" dirty="0" smtClean="0">
                <a:solidFill>
                  <a:srgbClr val="FF0000"/>
                </a:solidFill>
              </a:rPr>
              <a:t>张表格你没有理由不去记住它！</a:t>
            </a:r>
            <a:endParaRPr lang="zh-CN" altLang="en-US" b="1" dirty="0">
              <a:solidFill>
                <a:srgbClr val="FF0000"/>
              </a:solidFill>
            </a:endParaRPr>
          </a:p>
        </p:txBody>
      </p:sp>
    </p:spTree>
    <p:extLst>
      <p:ext uri="{BB962C8B-B14F-4D97-AF65-F5344CB8AC3E}">
        <p14:creationId xmlns:p14="http://schemas.microsoft.com/office/powerpoint/2010/main" val="40024319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lnSpcReduction="20000"/>
          </a:bodyPr>
          <a:lstStyle/>
          <a:p>
            <a:r>
              <a:rPr lang="en-US" altLang="zh-CN" sz="2600" dirty="0"/>
              <a:t>With respect to each </a:t>
            </a:r>
            <a:r>
              <a:rPr lang="en-US" altLang="zh-CN" sz="2600" dirty="0" smtClean="0"/>
              <a:t>factor</a:t>
            </a:r>
            <a:r>
              <a:rPr lang="zh-CN" altLang="en-US" sz="2200" dirty="0" smtClean="0">
                <a:solidFill>
                  <a:srgbClr val="FF0000"/>
                </a:solidFill>
              </a:rPr>
              <a:t>（这页可以不看！）</a:t>
            </a:r>
            <a:endParaRPr lang="en-US" altLang="zh-CN" sz="2200" dirty="0">
              <a:solidFill>
                <a:srgbClr val="FF0000"/>
              </a:solidFill>
            </a:endParaRPr>
          </a:p>
          <a:p>
            <a:pPr lvl="1"/>
            <a:r>
              <a:rPr lang="en-US" altLang="zh-CN" b="0" i="1" dirty="0" smtClean="0"/>
              <a:t>Stock </a:t>
            </a:r>
            <a:r>
              <a:rPr lang="en-US" altLang="zh-CN" b="0" i="1" dirty="0"/>
              <a:t>price</a:t>
            </a:r>
            <a:r>
              <a:rPr lang="en-US" altLang="zh-CN" b="0" dirty="0"/>
              <a:t>: For a call option, a higher stock price implies greater intrinsic value</a:t>
            </a:r>
          </a:p>
          <a:p>
            <a:pPr lvl="1"/>
            <a:r>
              <a:rPr lang="en-US" altLang="zh-CN" b="0" i="1" dirty="0" smtClean="0"/>
              <a:t>Strike </a:t>
            </a:r>
            <a:r>
              <a:rPr lang="en-US" altLang="zh-CN" b="0" i="1" dirty="0"/>
              <a:t>price</a:t>
            </a:r>
            <a:r>
              <a:rPr lang="en-US" altLang="zh-CN" b="0" dirty="0"/>
              <a:t>: For a call option, a higher strike price implies less intrinsic value</a:t>
            </a:r>
          </a:p>
          <a:p>
            <a:pPr lvl="1"/>
            <a:r>
              <a:rPr lang="en-US" altLang="zh-CN" b="0" i="1" dirty="0" smtClean="0"/>
              <a:t>Time </a:t>
            </a:r>
            <a:r>
              <a:rPr lang="en-US" altLang="zh-CN" b="0" i="1" dirty="0"/>
              <a:t>to expiration</a:t>
            </a:r>
            <a:r>
              <a:rPr lang="en-US" altLang="zh-CN" b="0" dirty="0"/>
              <a:t>: For an American option (call or put), option value is </a:t>
            </a:r>
            <a:r>
              <a:rPr lang="en-US" altLang="zh-CN" b="0" dirty="0" smtClean="0"/>
              <a:t>an increasing </a:t>
            </a:r>
            <a:r>
              <a:rPr lang="en-US" altLang="zh-CN" b="0" dirty="0"/>
              <a:t>function with greater time to expiration. For a European option, while </a:t>
            </a:r>
            <a:r>
              <a:rPr lang="en-US" altLang="zh-CN" b="0" dirty="0" smtClean="0"/>
              <a:t>value will </a:t>
            </a:r>
            <a:r>
              <a:rPr lang="en-US" altLang="zh-CN" b="0" dirty="0"/>
              <a:t>typically increase with greater time to expiration, the timing of dividends </a:t>
            </a:r>
            <a:r>
              <a:rPr lang="en-US" altLang="zh-CN" b="0" dirty="0" smtClean="0"/>
              <a:t>makes the </a:t>
            </a:r>
            <a:r>
              <a:rPr lang="en-US" altLang="zh-CN" b="0" dirty="0"/>
              <a:t>relationship ambiguous (on dividend payout, the stock tends to drop).</a:t>
            </a:r>
          </a:p>
          <a:p>
            <a:pPr lvl="1"/>
            <a:r>
              <a:rPr lang="en-US" altLang="zh-CN" b="0" i="1" dirty="0" smtClean="0"/>
              <a:t>Volatility</a:t>
            </a:r>
            <a:r>
              <a:rPr lang="en-US" altLang="zh-CN" b="0" dirty="0"/>
              <a:t>: Greater volatility increases the value of both a call and a put option</a:t>
            </a:r>
          </a:p>
          <a:p>
            <a:pPr lvl="1"/>
            <a:r>
              <a:rPr lang="en-US" altLang="zh-CN" b="0" i="1" dirty="0" smtClean="0"/>
              <a:t>Risk-free </a:t>
            </a:r>
            <a:r>
              <a:rPr lang="en-US" altLang="zh-CN" b="0" i="1" dirty="0"/>
              <a:t>rate</a:t>
            </a:r>
            <a:r>
              <a:rPr lang="en-US" altLang="zh-CN" b="0" dirty="0"/>
              <a:t>: The minimum value of a European call option is the stock price </a:t>
            </a:r>
            <a:r>
              <a:rPr lang="en-US" altLang="zh-CN" b="0" dirty="0" smtClean="0"/>
              <a:t>minus the </a:t>
            </a:r>
            <a:r>
              <a:rPr lang="en-US" altLang="zh-CN" b="0" i="1" dirty="0"/>
              <a:t>discounted </a:t>
            </a:r>
            <a:r>
              <a:rPr lang="en-US" altLang="zh-CN" b="0" dirty="0"/>
              <a:t>strike price. A higher risk-free rate implies a lower discounted </a:t>
            </a:r>
            <a:r>
              <a:rPr lang="en-US" altLang="zh-CN" b="0" dirty="0" smtClean="0"/>
              <a:t>strike price </a:t>
            </a:r>
            <a:r>
              <a:rPr lang="en-US" altLang="zh-CN" b="0" dirty="0"/>
              <a:t>and therefore, in turn, implies an increase in the value of the call option.</a:t>
            </a:r>
          </a:p>
          <a:p>
            <a:pPr lvl="1"/>
            <a:r>
              <a:rPr lang="en-US" altLang="zh-CN" b="0" i="1" dirty="0" smtClean="0"/>
              <a:t>Dividend </a:t>
            </a:r>
            <a:r>
              <a:rPr lang="en-US" altLang="zh-CN" b="0" i="1" dirty="0"/>
              <a:t>yield</a:t>
            </a:r>
            <a:r>
              <a:rPr lang="en-US" altLang="zh-CN" b="0" dirty="0"/>
              <a:t>: As dividends have the effect of reducing the stock price on the </a:t>
            </a:r>
            <a:r>
              <a:rPr lang="en-US" altLang="zh-CN" b="0" dirty="0" smtClean="0"/>
              <a:t>ex dividend</a:t>
            </a:r>
            <a:r>
              <a:rPr lang="en-US" altLang="zh-CN" b="0" dirty="0"/>
              <a:t> </a:t>
            </a:r>
            <a:r>
              <a:rPr lang="en-US" altLang="zh-CN" b="0" dirty="0" smtClean="0"/>
              <a:t>date</a:t>
            </a:r>
            <a:r>
              <a:rPr lang="en-US" altLang="zh-CN" b="0" dirty="0"/>
              <a:t>, a higher dividend reduces the call option’s value.</a:t>
            </a:r>
            <a:endParaRPr lang="zh-CN" altLang="en-US" dirty="0"/>
          </a:p>
        </p:txBody>
      </p:sp>
      <p:sp>
        <p:nvSpPr>
          <p:cNvPr id="4" name="标题 1"/>
          <p:cNvSpPr>
            <a:spLocks noGrp="1"/>
          </p:cNvSpPr>
          <p:nvPr>
            <p:ph type="title"/>
          </p:nvPr>
        </p:nvSpPr>
        <p:spPr/>
        <p:txBody>
          <a:bodyPr/>
          <a:lstStyle/>
          <a:p>
            <a:r>
              <a:rPr lang="en-US" altLang="zh-CN" dirty="0" smtClean="0"/>
              <a:t>Six Factors</a:t>
            </a:r>
            <a:endParaRPr lang="en-US" altLang="zh-CN" dirty="0"/>
          </a:p>
        </p:txBody>
      </p:sp>
    </p:spTree>
    <p:extLst>
      <p:ext uri="{BB962C8B-B14F-4D97-AF65-F5344CB8AC3E}">
        <p14:creationId xmlns:p14="http://schemas.microsoft.com/office/powerpoint/2010/main" val="42343206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Upper and Lower Bounds</a:t>
            </a:r>
            <a:endParaRPr lang="en-US" altLang="zh-CN" dirty="0"/>
          </a:p>
        </p:txBody>
      </p:sp>
      <p:sp>
        <p:nvSpPr>
          <p:cNvPr id="3" name="文本占位符 2"/>
          <p:cNvSpPr>
            <a:spLocks noGrp="1"/>
          </p:cNvSpPr>
          <p:nvPr>
            <p:ph type="body" sz="quarter" idx="10"/>
          </p:nvPr>
        </p:nvSpPr>
        <p:spPr/>
        <p:txBody>
          <a:bodyPr/>
          <a:lstStyle/>
          <a:p>
            <a:r>
              <a:rPr lang="en-US" altLang="zh-CN" dirty="0"/>
              <a:t>Upper and Lower Bounds for Option Prices</a:t>
            </a:r>
          </a:p>
          <a:p>
            <a:endParaRPr lang="zh-CN" altLang="en-US" dirty="0"/>
          </a:p>
        </p:txBody>
      </p:sp>
      <p:graphicFrame>
        <p:nvGraphicFramePr>
          <p:cNvPr id="4" name="Group 36"/>
          <p:cNvGraphicFramePr>
            <a:graphicFrameLocks/>
          </p:cNvGraphicFramePr>
          <p:nvPr>
            <p:extLst>
              <p:ext uri="{D42A27DB-BD31-4B8C-83A1-F6EECF244321}">
                <p14:modId xmlns:p14="http://schemas.microsoft.com/office/powerpoint/2010/main" val="3544172080"/>
              </p:ext>
            </p:extLst>
          </p:nvPr>
        </p:nvGraphicFramePr>
        <p:xfrm>
          <a:off x="722494" y="1613609"/>
          <a:ext cx="6508750" cy="2198688"/>
        </p:xfrm>
        <a:graphic>
          <a:graphicData uri="http://schemas.openxmlformats.org/drawingml/2006/table">
            <a:tbl>
              <a:tblPr>
                <a:tableStyleId>{6E25E649-3F16-4E02-A733-19D2CDBF48F0}</a:tableStyleId>
              </a:tblPr>
              <a:tblGrid>
                <a:gridCol w="2035314">
                  <a:extLst>
                    <a:ext uri="{9D8B030D-6E8A-4147-A177-3AD203B41FA5}">
                      <a16:colId xmlns="" xmlns:a16="http://schemas.microsoft.com/office/drawing/2014/main" val="20000"/>
                    </a:ext>
                  </a:extLst>
                </a:gridCol>
                <a:gridCol w="814443">
                  <a:extLst>
                    <a:ext uri="{9D8B030D-6E8A-4147-A177-3AD203B41FA5}">
                      <a16:colId xmlns="" xmlns:a16="http://schemas.microsoft.com/office/drawing/2014/main" val="20001"/>
                    </a:ext>
                  </a:extLst>
                </a:gridCol>
                <a:gridCol w="2295682">
                  <a:extLst>
                    <a:ext uri="{9D8B030D-6E8A-4147-A177-3AD203B41FA5}">
                      <a16:colId xmlns="" xmlns:a16="http://schemas.microsoft.com/office/drawing/2014/main" val="20002"/>
                    </a:ext>
                  </a:extLst>
                </a:gridCol>
                <a:gridCol w="1363311">
                  <a:extLst>
                    <a:ext uri="{9D8B030D-6E8A-4147-A177-3AD203B41FA5}">
                      <a16:colId xmlns="" xmlns:a16="http://schemas.microsoft.com/office/drawing/2014/main" val="20003"/>
                    </a:ext>
                  </a:extLst>
                </a:gridCol>
              </a:tblGrid>
              <a:tr h="403152">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Option </a:t>
                      </a:r>
                      <a:endParaRPr kumimoji="0" lang="en-US" altLang="zh-CN" sz="1800" b="1"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Proxy</a:t>
                      </a:r>
                      <a:endParaRPr kumimoji="0" lang="en-US" altLang="zh-CN" sz="1800" b="1"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Min Value </a:t>
                      </a:r>
                      <a:endParaRPr kumimoji="0" lang="en-US" altLang="zh-CN" sz="1800" b="1"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Max Value</a:t>
                      </a:r>
                      <a:endParaRPr kumimoji="0" lang="en-US" altLang="zh-CN" sz="1800" b="1"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extLst>
                  <a:ext uri="{0D108BD9-81ED-4DB2-BD59-A6C34878D82A}">
                    <a16:rowId xmlns="" xmlns:a16="http://schemas.microsoft.com/office/drawing/2014/main" val="10000"/>
                  </a:ext>
                </a:extLst>
              </a:tr>
              <a:tr h="448884">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European call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c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max (0, S</a:t>
                      </a:r>
                      <a:r>
                        <a:rPr kumimoji="0" lang="en-US" altLang="zh-CN" sz="1800" u="none" strike="noStrike" cap="none" normalizeH="0" baseline="-30000" dirty="0" smtClean="0">
                          <a:ln>
                            <a:noFill/>
                          </a:ln>
                          <a:effectLst/>
                        </a:rPr>
                        <a:t>0</a:t>
                      </a:r>
                      <a:r>
                        <a:rPr kumimoji="0" lang="zh-CN" altLang="en-US" sz="1800" u="none" strike="noStrike" cap="none" normalizeH="0" baseline="0" dirty="0" smtClean="0">
                          <a:ln>
                            <a:noFill/>
                          </a:ln>
                          <a:effectLst/>
                        </a:rPr>
                        <a:t>－ </a:t>
                      </a:r>
                      <a:r>
                        <a:rPr kumimoji="0" lang="en-US" altLang="zh-CN" sz="1800" u="none" strike="noStrike" cap="none" normalizeH="0" baseline="0" dirty="0" smtClean="0">
                          <a:ln>
                            <a:noFill/>
                          </a:ln>
                          <a:effectLst/>
                        </a:rPr>
                        <a:t>Ke</a:t>
                      </a:r>
                      <a:r>
                        <a:rPr kumimoji="0" lang="en-US" altLang="zh-CN" sz="1800" u="none" strike="noStrike" cap="none" normalizeH="0" baseline="30000" dirty="0" smtClean="0">
                          <a:ln>
                            <a:noFill/>
                          </a:ln>
                          <a:effectLst/>
                        </a:rPr>
                        <a:t>-rT</a:t>
                      </a:r>
                      <a:r>
                        <a:rPr kumimoji="0" lang="en-US" altLang="zh-CN" sz="1800" u="none" strike="noStrike" cap="none" normalizeH="0" baseline="0" dirty="0" smtClean="0">
                          <a:ln>
                            <a:noFill/>
                          </a:ln>
                          <a:effectLst/>
                        </a:rPr>
                        <a:t>)</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S</a:t>
                      </a:r>
                      <a:r>
                        <a:rPr kumimoji="0" lang="en-US" altLang="zh-CN" sz="1800" u="none" strike="noStrike" cap="none" normalizeH="0" baseline="-30000" dirty="0" smtClean="0">
                          <a:ln>
                            <a:noFill/>
                          </a:ln>
                          <a:effectLst/>
                        </a:rPr>
                        <a:t>0</a:t>
                      </a:r>
                      <a:r>
                        <a:rPr kumimoji="0" lang="en-US" altLang="zh-CN" sz="1800" u="none" strike="noStrike" cap="none" normalizeH="0" baseline="0" dirty="0" smtClean="0">
                          <a:ln>
                            <a:noFill/>
                          </a:ln>
                          <a:effectLst/>
                        </a:rPr>
                        <a:t>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extLst>
                  <a:ext uri="{0D108BD9-81ED-4DB2-BD59-A6C34878D82A}">
                    <a16:rowId xmlns="" xmlns:a16="http://schemas.microsoft.com/office/drawing/2014/main" val="10001"/>
                  </a:ext>
                </a:extLst>
              </a:tr>
              <a:tr h="448884">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American call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C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max (0, S</a:t>
                      </a:r>
                      <a:r>
                        <a:rPr kumimoji="0" lang="en-US" altLang="zh-CN" sz="1800" u="none" strike="noStrike" cap="none" normalizeH="0" baseline="-30000" dirty="0" smtClean="0">
                          <a:ln>
                            <a:noFill/>
                          </a:ln>
                          <a:effectLst/>
                        </a:rPr>
                        <a:t>0</a:t>
                      </a:r>
                      <a:r>
                        <a:rPr kumimoji="0" lang="zh-CN" altLang="en-US" sz="1800" u="none" strike="noStrike" cap="none" normalizeH="0" baseline="0" dirty="0" smtClean="0">
                          <a:ln>
                            <a:noFill/>
                          </a:ln>
                          <a:effectLst/>
                        </a:rPr>
                        <a:t>－ </a:t>
                      </a:r>
                      <a:r>
                        <a:rPr kumimoji="0" lang="en-US" altLang="zh-CN" sz="1800" u="none" strike="noStrike" cap="none" normalizeH="0" baseline="0" dirty="0" smtClean="0">
                          <a:ln>
                            <a:noFill/>
                          </a:ln>
                          <a:effectLst/>
                        </a:rPr>
                        <a:t>Ke</a:t>
                      </a:r>
                      <a:r>
                        <a:rPr kumimoji="0" lang="en-US" altLang="zh-CN" sz="1800" u="none" strike="noStrike" cap="none" normalizeH="0" baseline="30000" dirty="0" smtClean="0">
                          <a:ln>
                            <a:noFill/>
                          </a:ln>
                          <a:effectLst/>
                        </a:rPr>
                        <a:t>-rT</a:t>
                      </a:r>
                      <a:r>
                        <a:rPr kumimoji="0" lang="en-US" altLang="zh-CN" sz="1800" u="none" strike="noStrike" cap="none" normalizeH="0" baseline="0" dirty="0" smtClean="0">
                          <a:ln>
                            <a:noFill/>
                          </a:ln>
                          <a:effectLst/>
                        </a:rPr>
                        <a:t>)</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S</a:t>
                      </a:r>
                      <a:r>
                        <a:rPr kumimoji="0" lang="en-US" altLang="zh-CN" sz="1800" u="none" strike="noStrike" cap="none" normalizeH="0" baseline="-30000" dirty="0" smtClean="0">
                          <a:ln>
                            <a:noFill/>
                          </a:ln>
                          <a:effectLst/>
                        </a:rPr>
                        <a:t>0</a:t>
                      </a:r>
                      <a:r>
                        <a:rPr kumimoji="0" lang="en-US" altLang="zh-CN" sz="1800" u="none" strike="noStrike" cap="none" normalizeH="0" baseline="0" dirty="0" smtClean="0">
                          <a:ln>
                            <a:noFill/>
                          </a:ln>
                          <a:effectLst/>
                        </a:rPr>
                        <a:t>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extLst>
                  <a:ext uri="{0D108BD9-81ED-4DB2-BD59-A6C34878D82A}">
                    <a16:rowId xmlns="" xmlns:a16="http://schemas.microsoft.com/office/drawing/2014/main" val="10002"/>
                  </a:ext>
                </a:extLst>
              </a:tr>
              <a:tr h="448884">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European put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p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max (0, Ke</a:t>
                      </a:r>
                      <a:r>
                        <a:rPr kumimoji="0" lang="en-US" altLang="zh-CN" sz="1800" u="none" strike="noStrike" cap="none" normalizeH="0" baseline="30000" dirty="0" smtClean="0">
                          <a:ln>
                            <a:noFill/>
                          </a:ln>
                          <a:effectLst/>
                        </a:rPr>
                        <a:t>-rT </a:t>
                      </a:r>
                      <a:r>
                        <a:rPr kumimoji="0" lang="zh-CN" altLang="en-US" sz="1800" u="none" strike="noStrike" cap="none" normalizeH="0" baseline="0" dirty="0" smtClean="0">
                          <a:ln>
                            <a:noFill/>
                          </a:ln>
                          <a:effectLst/>
                        </a:rPr>
                        <a:t>－</a:t>
                      </a:r>
                      <a:r>
                        <a:rPr kumimoji="0" lang="en-US" altLang="zh-CN" sz="1800" u="none" strike="noStrike" cap="none" normalizeH="0" baseline="0" dirty="0" smtClean="0">
                          <a:ln>
                            <a:noFill/>
                          </a:ln>
                          <a:effectLst/>
                        </a:rPr>
                        <a:t>S</a:t>
                      </a:r>
                      <a:r>
                        <a:rPr kumimoji="0" lang="en-US" altLang="zh-CN" sz="1800" u="none" strike="noStrike" cap="none" normalizeH="0" baseline="-30000" dirty="0" smtClean="0">
                          <a:ln>
                            <a:noFill/>
                          </a:ln>
                          <a:effectLst/>
                        </a:rPr>
                        <a:t>0</a:t>
                      </a:r>
                      <a:r>
                        <a:rPr kumimoji="0" lang="en-US" altLang="zh-CN" sz="1800" u="none" strike="noStrike" cap="none" normalizeH="0" baseline="0" dirty="0" smtClean="0">
                          <a:ln>
                            <a:noFill/>
                          </a:ln>
                          <a:effectLst/>
                        </a:rPr>
                        <a:t>)</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Ke</a:t>
                      </a:r>
                      <a:r>
                        <a:rPr kumimoji="0" lang="en-US" altLang="zh-CN" sz="1800" u="none" strike="noStrike" cap="none" normalizeH="0" baseline="30000" dirty="0" smtClean="0">
                          <a:ln>
                            <a:noFill/>
                          </a:ln>
                          <a:effectLst/>
                        </a:rPr>
                        <a:t>-rT</a:t>
                      </a:r>
                      <a:r>
                        <a:rPr kumimoji="0" lang="en-US" altLang="zh-CN" sz="1800" u="none" strike="noStrike" cap="none" normalizeH="0" baseline="0" dirty="0" smtClean="0">
                          <a:ln>
                            <a:noFill/>
                          </a:ln>
                          <a:effectLst/>
                        </a:rPr>
                        <a:t>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extLst>
                  <a:ext uri="{0D108BD9-81ED-4DB2-BD59-A6C34878D82A}">
                    <a16:rowId xmlns="" xmlns:a16="http://schemas.microsoft.com/office/drawing/2014/main" val="10003"/>
                  </a:ext>
                </a:extLst>
              </a:tr>
              <a:tr h="448884">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American put</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P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max (0 , K</a:t>
                      </a:r>
                      <a:r>
                        <a:rPr kumimoji="0" lang="zh-CN" altLang="en-US" sz="1800" u="none" strike="noStrike" cap="none" normalizeH="0" baseline="0" dirty="0" smtClean="0">
                          <a:ln>
                            <a:noFill/>
                          </a:ln>
                          <a:effectLst/>
                        </a:rPr>
                        <a:t>－</a:t>
                      </a:r>
                      <a:r>
                        <a:rPr kumimoji="0" lang="en-US" altLang="zh-CN" sz="1800" u="none" strike="noStrike" cap="none" normalizeH="0" baseline="0" dirty="0" smtClean="0">
                          <a:ln>
                            <a:noFill/>
                          </a:ln>
                          <a:effectLst/>
                        </a:rPr>
                        <a:t>S</a:t>
                      </a:r>
                      <a:r>
                        <a:rPr kumimoji="0" lang="en-US" altLang="zh-CN" sz="1800" u="none" strike="noStrike" cap="none" normalizeH="0" baseline="-30000" dirty="0" smtClean="0">
                          <a:ln>
                            <a:noFill/>
                          </a:ln>
                          <a:effectLst/>
                        </a:rPr>
                        <a:t>0</a:t>
                      </a:r>
                      <a:r>
                        <a:rPr kumimoji="0" lang="en-US" altLang="zh-CN" sz="1800" u="none" strike="noStrike" cap="none" normalizeH="0" baseline="0" dirty="0" smtClean="0">
                          <a:ln>
                            <a:noFill/>
                          </a:ln>
                          <a:effectLst/>
                        </a:rPr>
                        <a:t>)</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tc>
                  <a:txBody>
                    <a:bodyPr/>
                    <a:lstStyle/>
                    <a:p>
                      <a:pPr marL="0" marR="0" lvl="0" indent="0" algn="ctr" defTabSz="10287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u="none" strike="noStrike" cap="none" normalizeH="0" baseline="0" dirty="0" smtClean="0">
                          <a:ln>
                            <a:noFill/>
                          </a:ln>
                          <a:effectLst/>
                        </a:rPr>
                        <a:t>K </a:t>
                      </a:r>
                      <a:endParaRPr kumimoji="0" lang="en-US" altLang="zh-CN" sz="1800" b="0" i="0" u="none" strike="noStrike" cap="none" normalizeH="0" baseline="0" dirty="0" smtClean="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0" marR="0" marT="41516" marB="41516" anchor="ctr" horzOverflow="overflow"/>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174334855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Upper and Lower Bounds</a:t>
            </a:r>
            <a:endParaRPr lang="zh-CN" altLang="en-US" dirty="0"/>
          </a:p>
        </p:txBody>
      </p:sp>
      <p:sp>
        <p:nvSpPr>
          <p:cNvPr id="3" name="文本占位符 2"/>
          <p:cNvSpPr>
            <a:spLocks noGrp="1"/>
          </p:cNvSpPr>
          <p:nvPr>
            <p:ph type="body" sz="quarter" idx="10"/>
          </p:nvPr>
        </p:nvSpPr>
        <p:spPr/>
        <p:txBody>
          <a:bodyPr/>
          <a:lstStyle/>
          <a:p>
            <a:r>
              <a:rPr lang="en-US" altLang="zh-CN" dirty="0"/>
              <a:t>Upper Bound</a:t>
            </a:r>
            <a:r>
              <a:rPr lang="en-US" altLang="zh-CN" dirty="0" smtClean="0"/>
              <a:t>:</a:t>
            </a:r>
          </a:p>
          <a:p>
            <a:pPr lvl="1"/>
            <a:r>
              <a:rPr lang="en-US" altLang="zh-CN" b="0" dirty="0"/>
              <a:t>An American or European call option gives the holder the right to buy one share of </a:t>
            </a:r>
            <a:r>
              <a:rPr lang="en-US" altLang="zh-CN" b="0" dirty="0" smtClean="0"/>
              <a:t>a stock </a:t>
            </a:r>
            <a:r>
              <a:rPr lang="en-US" altLang="zh-CN" b="0" dirty="0"/>
              <a:t>for a certain price. No matter what happens, the option can never be </a:t>
            </a:r>
            <a:r>
              <a:rPr lang="en-US" altLang="zh-CN" b="0" dirty="0" smtClean="0"/>
              <a:t>worth more </a:t>
            </a:r>
            <a:r>
              <a:rPr lang="en-US" altLang="zh-CN" b="0" dirty="0"/>
              <a:t>than the </a:t>
            </a:r>
            <a:r>
              <a:rPr lang="en-US" altLang="zh-CN" b="0" dirty="0" smtClean="0"/>
              <a:t>stock</a:t>
            </a:r>
          </a:p>
          <a:p>
            <a:pPr lvl="1"/>
            <a:r>
              <a:rPr lang="en-US" altLang="zh-CN" b="0" dirty="0"/>
              <a:t>An American put option gives the holder the right to sell one share of a stock for </a:t>
            </a:r>
            <a:r>
              <a:rPr lang="en-US" altLang="zh-CN" b="0" dirty="0" smtClean="0"/>
              <a:t>K. No </a:t>
            </a:r>
            <a:r>
              <a:rPr lang="en-US" altLang="zh-CN" b="0" dirty="0"/>
              <a:t>matter how low the stock price becomes, the option can never be worth </a:t>
            </a:r>
            <a:r>
              <a:rPr lang="en-US" altLang="zh-CN" b="0" dirty="0" smtClean="0"/>
              <a:t>more than </a:t>
            </a:r>
            <a:r>
              <a:rPr lang="en-US" altLang="zh-CN" b="0" dirty="0"/>
              <a:t>K</a:t>
            </a:r>
            <a:r>
              <a:rPr lang="en-US" altLang="zh-CN" b="0" dirty="0" smtClean="0"/>
              <a:t>.</a:t>
            </a:r>
          </a:p>
          <a:p>
            <a:pPr lvl="1"/>
            <a:r>
              <a:rPr lang="en-US" altLang="zh-CN" b="0" dirty="0"/>
              <a:t>For European put options, at maturity, the option cannot be worth more than K. </a:t>
            </a:r>
            <a:r>
              <a:rPr lang="en-US" altLang="zh-CN" b="0" dirty="0" smtClean="0"/>
              <a:t>It follows </a:t>
            </a:r>
            <a:r>
              <a:rPr lang="en-US" altLang="zh-CN" b="0" dirty="0"/>
              <a:t>that it cannot be worth more than the present value of K today</a:t>
            </a:r>
            <a:endParaRPr lang="zh-CN" altLang="en-US" dirty="0"/>
          </a:p>
        </p:txBody>
      </p:sp>
    </p:spTree>
    <p:extLst>
      <p:ext uri="{BB962C8B-B14F-4D97-AF65-F5344CB8AC3E}">
        <p14:creationId xmlns:p14="http://schemas.microsoft.com/office/powerpoint/2010/main" val="257883730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Upper and Lower Bounds</a:t>
            </a:r>
            <a:endParaRPr lang="zh-CN" altLang="en-US" dirty="0"/>
          </a:p>
        </p:txBody>
      </p:sp>
      <p:sp>
        <p:nvSpPr>
          <p:cNvPr id="3" name="文本占位符 2"/>
          <p:cNvSpPr>
            <a:spLocks noGrp="1"/>
          </p:cNvSpPr>
          <p:nvPr>
            <p:ph type="body" sz="quarter" idx="10"/>
          </p:nvPr>
        </p:nvSpPr>
        <p:spPr/>
        <p:txBody>
          <a:bodyPr/>
          <a:lstStyle/>
          <a:p>
            <a:r>
              <a:rPr lang="en-US" altLang="zh-CN" dirty="0"/>
              <a:t>Lower Bound</a:t>
            </a:r>
            <a:r>
              <a:rPr lang="en-US" altLang="zh-CN" dirty="0" smtClean="0"/>
              <a:t>:</a:t>
            </a:r>
          </a:p>
          <a:p>
            <a:pPr lvl="1"/>
            <a:r>
              <a:rPr lang="en-US" altLang="zh-CN" b="0" dirty="0"/>
              <a:t>A lower bound for the price of a European call option on a non-dividend-paying </a:t>
            </a:r>
            <a:r>
              <a:rPr lang="en-US" altLang="zh-CN" b="0" dirty="0" smtClean="0"/>
              <a:t>stock is </a:t>
            </a:r>
            <a:r>
              <a:rPr lang="en-US" altLang="zh-CN" b="0" dirty="0"/>
              <a:t>the stock price minus discounted strike price. This is the price the </a:t>
            </a:r>
            <a:r>
              <a:rPr lang="en-US" altLang="zh-CN" b="0" dirty="0" smtClean="0"/>
              <a:t>Black-Scholes gives </a:t>
            </a:r>
            <a:r>
              <a:rPr lang="en-US" altLang="zh-CN" b="0" dirty="0"/>
              <a:t>if the volatility input is equal to zero. Since the option can at worst </a:t>
            </a:r>
            <a:r>
              <a:rPr lang="en-US" altLang="zh-CN" b="0" dirty="0" smtClean="0"/>
              <a:t>expire worthless</a:t>
            </a:r>
            <a:r>
              <a:rPr lang="en-US" altLang="zh-CN" b="0" dirty="0"/>
              <a:t>, it’s value cannot </a:t>
            </a:r>
            <a:r>
              <a:rPr lang="en-US" altLang="zh-CN" b="0" dirty="0" smtClean="0"/>
              <a:t>negative</a:t>
            </a:r>
            <a:r>
              <a:rPr lang="zh-CN" altLang="en-US" b="0" dirty="0" smtClean="0"/>
              <a:t>。</a:t>
            </a:r>
            <a:endParaRPr lang="en-US" altLang="zh-CN" b="0" dirty="0" smtClean="0"/>
          </a:p>
          <a:p>
            <a:pPr lvl="1"/>
            <a:r>
              <a:rPr lang="en-US" altLang="zh-CN" b="0" dirty="0"/>
              <a:t>For a European put option on a non-dividend-paying stock, lower bound is </a:t>
            </a:r>
            <a:r>
              <a:rPr lang="en-US" altLang="zh-CN" b="0" dirty="0" smtClean="0"/>
              <a:t>maximum of </a:t>
            </a:r>
            <a:r>
              <a:rPr lang="en-US" altLang="zh-CN" b="0" dirty="0"/>
              <a:t>zero or discounted strike price minus the stock price</a:t>
            </a:r>
            <a:endParaRPr lang="zh-CN" altLang="en-US" dirty="0"/>
          </a:p>
        </p:txBody>
      </p:sp>
    </p:spTree>
    <p:extLst>
      <p:ext uri="{BB962C8B-B14F-4D97-AF65-F5344CB8AC3E}">
        <p14:creationId xmlns:p14="http://schemas.microsoft.com/office/powerpoint/2010/main" val="12731978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Put-Call Parity</a:t>
            </a:r>
            <a:endParaRPr lang="en-US" altLang="zh-CN" dirty="0"/>
          </a:p>
        </p:txBody>
      </p:sp>
      <p:sp>
        <p:nvSpPr>
          <p:cNvPr id="3" name="文本占位符 2"/>
          <p:cNvSpPr>
            <a:spLocks noGrp="1"/>
          </p:cNvSpPr>
          <p:nvPr>
            <p:ph type="body" sz="quarter" idx="10"/>
          </p:nvPr>
        </p:nvSpPr>
        <p:spPr/>
        <p:txBody>
          <a:bodyPr/>
          <a:lstStyle/>
          <a:p>
            <a:r>
              <a:rPr lang="en-US" altLang="zh-CN" dirty="0"/>
              <a:t>Put–call parity </a:t>
            </a:r>
            <a:endParaRPr lang="en-US" altLang="zh-CN" dirty="0" smtClean="0"/>
          </a:p>
          <a:p>
            <a:pPr lvl="1"/>
            <a:r>
              <a:rPr lang="en-US" altLang="zh-CN" b="0" dirty="0" smtClean="0"/>
              <a:t>Based </a:t>
            </a:r>
            <a:r>
              <a:rPr lang="en-US" altLang="zh-CN" b="0" dirty="0"/>
              <a:t>on a no-arbitrage argument; it can be shown that </a:t>
            </a:r>
            <a:r>
              <a:rPr lang="en-US" altLang="zh-CN" b="0" dirty="0" smtClean="0"/>
              <a:t>arbitrage opportunities </a:t>
            </a:r>
            <a:r>
              <a:rPr lang="en-US" altLang="zh-CN" b="0" dirty="0"/>
              <a:t>exist if put–call parity does not hold. Put-call parity is given by:</a:t>
            </a:r>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909819" y="2761713"/>
                <a:ext cx="2902017" cy="436979"/>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smtClean="0">
                          <a:solidFill>
                            <a:schemeClr val="tx1"/>
                          </a:solidFill>
                          <a:latin typeface="Cambria Math" panose="02040503050406030204" pitchFamily="18" charset="0"/>
                          <a:cs typeface="Segoe UI" panose="020B0502040204020203" pitchFamily="34" charset="0"/>
                        </a:rPr>
                        <m:t>C</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K</m:t>
                      </m:r>
                      <m:sSup>
                        <m:sSupPr>
                          <m:ctrlPr>
                            <a:rPr lang="en-US" altLang="zh-CN" sz="2200" b="0" i="1">
                              <a:solidFill>
                                <a:schemeClr val="tx1"/>
                              </a:solidFill>
                              <a:latin typeface="Cambria Math"/>
                              <a:cs typeface="Segoe UI" panose="020B0502040204020203" pitchFamily="34" charset="0"/>
                            </a:rPr>
                          </m:ctrlPr>
                        </m:sSupPr>
                        <m:e>
                          <m:r>
                            <m:rPr>
                              <m:sty m:val="p"/>
                            </m:rPr>
                            <a:rPr lang="en-US" altLang="zh-CN" sz="2200" b="0">
                              <a:solidFill>
                                <a:schemeClr val="tx1"/>
                              </a:solidFill>
                              <a:latin typeface="Cambria Math" panose="02040503050406030204" pitchFamily="18" charset="0"/>
                              <a:cs typeface="Segoe UI" panose="020B0502040204020203" pitchFamily="34" charset="0"/>
                            </a:rPr>
                            <m:t>e</m:t>
                          </m:r>
                        </m:e>
                        <m: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rT</m:t>
                          </m:r>
                        </m:sup>
                      </m:s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P</m:t>
                      </m:r>
                      <m:r>
                        <a:rPr lang="en-US" altLang="zh-CN" sz="2200" b="0">
                          <a:solidFill>
                            <a:schemeClr val="tx1"/>
                          </a:solidFill>
                          <a:latin typeface="Cambria Math" panose="02040503050406030204" pitchFamily="18" charset="0"/>
                          <a:cs typeface="Segoe UI" panose="020B0502040204020203" pitchFamily="34" charset="0"/>
                        </a:rPr>
                        <m:t>+</m:t>
                      </m:r>
                      <m:sSub>
                        <m:sSubPr>
                          <m:ctrlPr>
                            <a:rPr lang="en-US" altLang="zh-CN" sz="2200" b="0" i="1">
                              <a:solidFill>
                                <a:schemeClr val="tx1"/>
                              </a:solidFill>
                              <a:latin typeface="Cambria Math"/>
                              <a:cs typeface="Segoe UI" panose="020B0502040204020203" pitchFamily="34" charset="0"/>
                            </a:rPr>
                          </m:ctrlPr>
                        </m:sSubPr>
                        <m:e>
                          <m:r>
                            <m:rPr>
                              <m:sty m:val="p"/>
                            </m:rPr>
                            <a:rPr lang="en-US" altLang="zh-CN" sz="2200" b="0">
                              <a:solidFill>
                                <a:schemeClr val="tx1"/>
                              </a:solidFill>
                              <a:latin typeface="Cambria Math" panose="02040503050406030204" pitchFamily="18" charset="0"/>
                              <a:cs typeface="Segoe UI" panose="020B0502040204020203" pitchFamily="34" charset="0"/>
                            </a:rPr>
                            <m:t>S</m:t>
                          </m:r>
                        </m:e>
                        <m:sub>
                          <m:r>
                            <a:rPr lang="en-US" altLang="zh-CN" sz="2200" b="0">
                              <a:solidFill>
                                <a:schemeClr val="tx1"/>
                              </a:solidFill>
                              <a:latin typeface="Cambria Math" panose="02040503050406030204" pitchFamily="18" charset="0"/>
                              <a:cs typeface="Segoe UI" panose="020B0502040204020203" pitchFamily="34" charset="0"/>
                            </a:rPr>
                            <m:t>0</m:t>
                          </m:r>
                        </m:sub>
                      </m:sSub>
                    </m:oMath>
                  </m:oMathPara>
                </a14:m>
                <a:endParaRPr lang="zh-CN" altLang="en-US" sz="2200" b="0" dirty="0">
                  <a:solidFill>
                    <a:schemeClr val="tx1"/>
                  </a:solidFill>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909819" y="2761713"/>
                <a:ext cx="2902017" cy="436979"/>
              </a:xfrm>
              <a:prstGeom prst="rect">
                <a:avLst/>
              </a:prstGeom>
              <a:blipFill>
                <a:blip r:embed="rId2"/>
                <a:stretch>
                  <a:fillRect b="-1333"/>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892573" y="3575113"/>
                <a:ext cx="3907235" cy="436979"/>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smtClean="0">
                          <a:solidFill>
                            <a:schemeClr val="tx1"/>
                          </a:solidFill>
                          <a:latin typeface="Cambria Math" panose="02040503050406030204" pitchFamily="18" charset="0"/>
                          <a:cs typeface="Segoe UI" panose="020B0502040204020203" pitchFamily="34" charset="0"/>
                        </a:rPr>
                        <m:t>S</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K</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C</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P</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S</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K</m:t>
                      </m:r>
                      <m:sSup>
                        <m:sSupPr>
                          <m:ctrlPr>
                            <a:rPr lang="en-US" altLang="zh-CN" sz="2200" b="0" i="1">
                              <a:solidFill>
                                <a:schemeClr val="tx1"/>
                              </a:solidFill>
                              <a:latin typeface="Cambria Math"/>
                              <a:cs typeface="Segoe UI" panose="020B0502040204020203" pitchFamily="34" charset="0"/>
                            </a:rPr>
                          </m:ctrlPr>
                        </m:sSupPr>
                        <m:e>
                          <m:r>
                            <m:rPr>
                              <m:sty m:val="p"/>
                            </m:rPr>
                            <a:rPr lang="en-US" altLang="zh-CN" sz="2200" b="0">
                              <a:solidFill>
                                <a:schemeClr val="tx1"/>
                              </a:solidFill>
                              <a:latin typeface="Cambria Math" panose="02040503050406030204" pitchFamily="18" charset="0"/>
                              <a:cs typeface="Segoe UI" panose="020B0502040204020203" pitchFamily="34" charset="0"/>
                            </a:rPr>
                            <m:t>e</m:t>
                          </m:r>
                        </m:e>
                        <m: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rT</m:t>
                          </m:r>
                        </m:sup>
                      </m:sSup>
                    </m:oMath>
                  </m:oMathPara>
                </a14:m>
                <a:endParaRPr lang="zh-CN" altLang="en-US" sz="2200" b="0" dirty="0">
                  <a:solidFill>
                    <a:schemeClr val="tx1"/>
                  </a:solidFill>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892573" y="3575113"/>
                <a:ext cx="3907235" cy="436979"/>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408950" y="2761712"/>
                <a:ext cx="3324351" cy="436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smtClean="0">
                          <a:solidFill>
                            <a:schemeClr val="tx1"/>
                          </a:solidFill>
                          <a:latin typeface="Cambria Math" panose="02040503050406030204" pitchFamily="18" charset="0"/>
                          <a:cs typeface="Segoe UI" panose="020B0502040204020203" pitchFamily="34" charset="0"/>
                        </a:rPr>
                        <m:t>P</m:t>
                      </m:r>
                      <m:r>
                        <a:rPr lang="en-US" altLang="zh-CN" sz="2200" b="0" smtClean="0">
                          <a:solidFill>
                            <a:schemeClr val="tx1"/>
                          </a:solidFill>
                          <a:latin typeface="Cambria Math" panose="02040503050406030204" pitchFamily="18" charset="0"/>
                          <a:cs typeface="Segoe UI" panose="020B0502040204020203" pitchFamily="34" charset="0"/>
                        </a:rPr>
                        <m:t>+</m:t>
                      </m:r>
                      <m:sSub>
                        <m:sSubPr>
                          <m:ctrlPr>
                            <a:rPr lang="en-US" altLang="zh-CN" sz="2200" b="0" i="1">
                              <a:solidFill>
                                <a:schemeClr val="tx1"/>
                              </a:solidFill>
                              <a:latin typeface="Cambria Math"/>
                              <a:cs typeface="Segoe UI" panose="020B0502040204020203" pitchFamily="34" charset="0"/>
                            </a:rPr>
                          </m:ctrlPr>
                        </m:sSubPr>
                        <m:e>
                          <m:r>
                            <m:rPr>
                              <m:sty m:val="p"/>
                            </m:rPr>
                            <a:rPr lang="en-US" altLang="zh-CN" sz="2200" b="0">
                              <a:solidFill>
                                <a:schemeClr val="tx1"/>
                              </a:solidFill>
                              <a:latin typeface="Cambria Math" panose="02040503050406030204" pitchFamily="18" charset="0"/>
                              <a:cs typeface="Segoe UI" panose="020B0502040204020203" pitchFamily="34" charset="0"/>
                            </a:rPr>
                            <m:t>S</m:t>
                          </m:r>
                        </m:e>
                        <m:sub>
                          <m:r>
                            <a:rPr lang="en-US" altLang="zh-CN" sz="2200" b="0">
                              <a:solidFill>
                                <a:schemeClr val="tx1"/>
                              </a:solidFill>
                              <a:latin typeface="Cambria Math" panose="02040503050406030204" pitchFamily="18" charset="0"/>
                              <a:cs typeface="Segoe UI" panose="020B0502040204020203" pitchFamily="34" charset="0"/>
                            </a:rPr>
                            <m:t>0</m:t>
                          </m:r>
                        </m:sub>
                      </m:sSub>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c</m:t>
                      </m:r>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D</m:t>
                      </m:r>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K</m:t>
                      </m:r>
                      <m:sSup>
                        <m:sSupPr>
                          <m:ctrlPr>
                            <a:rPr lang="en-US" altLang="zh-CN" sz="2200" b="0" i="1">
                              <a:solidFill>
                                <a:schemeClr val="tx1"/>
                              </a:solidFill>
                              <a:latin typeface="Cambria Math"/>
                              <a:cs typeface="Segoe UI" panose="020B0502040204020203" pitchFamily="34" charset="0"/>
                            </a:rPr>
                          </m:ctrlPr>
                        </m:sSupPr>
                        <m:e>
                          <m:r>
                            <m:rPr>
                              <m:sty m:val="p"/>
                            </m:rPr>
                            <a:rPr lang="en-US" altLang="zh-CN" sz="2200" b="0">
                              <a:solidFill>
                                <a:schemeClr val="tx1"/>
                              </a:solidFill>
                              <a:latin typeface="Cambria Math" panose="02040503050406030204" pitchFamily="18" charset="0"/>
                              <a:cs typeface="Segoe UI" panose="020B0502040204020203" pitchFamily="34" charset="0"/>
                            </a:rPr>
                            <m:t>e</m:t>
                          </m:r>
                        </m:e>
                        <m: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rT</m:t>
                          </m:r>
                        </m:sup>
                      </m:sSup>
                    </m:oMath>
                  </m:oMathPara>
                </a14:m>
                <a:endParaRPr lang="zh-CN" altLang="en-US" sz="2200" b="0" dirty="0">
                  <a:solidFill>
                    <a:schemeClr val="tx1"/>
                  </a:solidFill>
                  <a:cs typeface="Segoe UI" panose="020B0502040204020203" pitchFamily="34"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408950" y="2761712"/>
                <a:ext cx="3324351" cy="436979"/>
              </a:xfrm>
              <a:prstGeom prst="rect">
                <a:avLst/>
              </a:prstGeom>
              <a:blipFill>
                <a:blip r:embed="rId4"/>
                <a:stretch>
                  <a:fillRect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4975543" y="3575113"/>
                <a:ext cx="4737191" cy="436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b="0" i="1" smtClean="0">
                              <a:solidFill>
                                <a:schemeClr val="tx1"/>
                              </a:solidFill>
                              <a:latin typeface="Cambria Math"/>
                              <a:cs typeface="Segoe UI" panose="020B0502040204020203" pitchFamily="34" charset="0"/>
                            </a:rPr>
                          </m:ctrlPr>
                        </m:sSubPr>
                        <m:e>
                          <m:r>
                            <m:rPr>
                              <m:sty m:val="p"/>
                            </m:rPr>
                            <a:rPr lang="en-US" altLang="zh-CN" sz="2200" b="0">
                              <a:solidFill>
                                <a:schemeClr val="tx1"/>
                              </a:solidFill>
                              <a:latin typeface="Cambria Math" panose="02040503050406030204" pitchFamily="18" charset="0"/>
                              <a:cs typeface="Segoe UI" panose="020B0502040204020203" pitchFamily="34" charset="0"/>
                            </a:rPr>
                            <m:t>S</m:t>
                          </m:r>
                        </m:e>
                        <m:sub>
                          <m:r>
                            <a:rPr lang="en-US" altLang="zh-CN" sz="2200" b="0">
                              <a:solidFill>
                                <a:schemeClr val="tx1"/>
                              </a:solidFill>
                              <a:latin typeface="Cambria Math" panose="02040503050406030204" pitchFamily="18" charset="0"/>
                              <a:cs typeface="Segoe UI" panose="020B0502040204020203" pitchFamily="34" charset="0"/>
                            </a:rPr>
                            <m:t>0</m:t>
                          </m:r>
                        </m:sub>
                      </m:sSub>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K</m:t>
                      </m:r>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D</m:t>
                      </m:r>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C</m:t>
                      </m:r>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P</m:t>
                      </m:r>
                      <m:r>
                        <a:rPr lang="en-US" altLang="zh-CN" sz="2200" b="0">
                          <a:solidFill>
                            <a:schemeClr val="tx1"/>
                          </a:solidFill>
                          <a:latin typeface="Cambria Math" panose="02040503050406030204" pitchFamily="18" charset="0"/>
                          <a:cs typeface="Segoe UI" panose="020B0502040204020203" pitchFamily="34" charset="0"/>
                        </a:rPr>
                        <m:t>≤</m:t>
                      </m:r>
                      <m:sSub>
                        <m:sSubPr>
                          <m:ctrlPr>
                            <a:rPr lang="en-US" altLang="zh-CN" sz="2200" b="0" i="1">
                              <a:solidFill>
                                <a:schemeClr val="tx1"/>
                              </a:solidFill>
                              <a:latin typeface="Cambria Math"/>
                              <a:cs typeface="Segoe UI" panose="020B0502040204020203" pitchFamily="34" charset="0"/>
                            </a:rPr>
                          </m:ctrlPr>
                        </m:sSubPr>
                        <m:e>
                          <m:r>
                            <m:rPr>
                              <m:sty m:val="p"/>
                            </m:rPr>
                            <a:rPr lang="en-US" altLang="zh-CN" sz="2200" b="0">
                              <a:solidFill>
                                <a:schemeClr val="tx1"/>
                              </a:solidFill>
                              <a:latin typeface="Cambria Math" panose="02040503050406030204" pitchFamily="18" charset="0"/>
                              <a:cs typeface="Segoe UI" panose="020B0502040204020203" pitchFamily="34" charset="0"/>
                            </a:rPr>
                            <m:t>S</m:t>
                          </m:r>
                        </m:e>
                        <m:sub>
                          <m:r>
                            <a:rPr lang="en-US" altLang="zh-CN" sz="2200" b="0">
                              <a:solidFill>
                                <a:schemeClr val="tx1"/>
                              </a:solidFill>
                              <a:latin typeface="Cambria Math" panose="02040503050406030204" pitchFamily="18" charset="0"/>
                              <a:cs typeface="Segoe UI" panose="020B0502040204020203" pitchFamily="34" charset="0"/>
                            </a:rPr>
                            <m:t>0</m:t>
                          </m:r>
                        </m:sub>
                      </m:sSub>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K</m:t>
                      </m:r>
                      <m:sSup>
                        <m:sSupPr>
                          <m:ctrlPr>
                            <a:rPr lang="en-US" altLang="zh-CN" sz="2200" b="0" i="1">
                              <a:solidFill>
                                <a:schemeClr val="tx1"/>
                              </a:solidFill>
                              <a:latin typeface="Cambria Math"/>
                              <a:cs typeface="Segoe UI" panose="020B0502040204020203" pitchFamily="34" charset="0"/>
                            </a:rPr>
                          </m:ctrlPr>
                        </m:sSupPr>
                        <m:e>
                          <m:r>
                            <m:rPr>
                              <m:sty m:val="p"/>
                            </m:rPr>
                            <a:rPr lang="en-US" altLang="zh-CN" sz="2200" b="0">
                              <a:solidFill>
                                <a:schemeClr val="tx1"/>
                              </a:solidFill>
                              <a:latin typeface="Cambria Math" panose="02040503050406030204" pitchFamily="18" charset="0"/>
                              <a:cs typeface="Segoe UI" panose="020B0502040204020203" pitchFamily="34" charset="0"/>
                            </a:rPr>
                            <m:t>e</m:t>
                          </m:r>
                        </m:e>
                        <m: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rT</m:t>
                          </m:r>
                        </m:sup>
                      </m:sSup>
                    </m:oMath>
                  </m:oMathPara>
                </a14:m>
                <a:endParaRPr lang="zh-CN" altLang="en-US" sz="2200" b="0" dirty="0">
                  <a:solidFill>
                    <a:schemeClr val="tx1"/>
                  </a:solidFill>
                  <a:cs typeface="Segoe UI" panose="020B0502040204020203"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4975543" y="3575113"/>
                <a:ext cx="4737191" cy="436979"/>
              </a:xfrm>
              <a:prstGeom prst="rect">
                <a:avLst/>
              </a:prstGeom>
              <a:blipFill>
                <a:blip r:embed="rId5"/>
                <a:stretch>
                  <a:fillRect b="-4167"/>
                </a:stretch>
              </a:blipFill>
            </p:spPr>
            <p:txBody>
              <a:bodyPr/>
              <a:lstStyle/>
              <a:p>
                <a:r>
                  <a:rPr lang="zh-CN" altLang="en-US">
                    <a:noFill/>
                  </a:rPr>
                  <a:t> </a:t>
                </a:r>
              </a:p>
            </p:txBody>
          </p:sp>
        </mc:Fallback>
      </mc:AlternateContent>
      <p:sp>
        <p:nvSpPr>
          <p:cNvPr id="8" name="promotion_309557"/>
          <p:cNvSpPr>
            <a:spLocks noChangeAspect="1"/>
          </p:cNvSpPr>
          <p:nvPr/>
        </p:nvSpPr>
        <p:spPr bwMode="auto">
          <a:xfrm>
            <a:off x="1472546" y="4528212"/>
            <a:ext cx="609685" cy="476433"/>
          </a:xfrm>
          <a:custGeom>
            <a:avLst/>
            <a:gdLst>
              <a:gd name="connsiteX0" fmla="*/ 198121 w 607639"/>
              <a:gd name="connsiteY0" fmla="*/ 347033 h 474835"/>
              <a:gd name="connsiteX1" fmla="*/ 198121 w 607639"/>
              <a:gd name="connsiteY1" fmla="*/ 370229 h 474835"/>
              <a:gd name="connsiteX2" fmla="*/ 212274 w 607639"/>
              <a:gd name="connsiteY2" fmla="*/ 389159 h 474835"/>
              <a:gd name="connsiteX3" fmla="*/ 331101 w 607639"/>
              <a:gd name="connsiteY3" fmla="*/ 424797 h 474835"/>
              <a:gd name="connsiteX4" fmla="*/ 356647 w 607639"/>
              <a:gd name="connsiteY4" fmla="*/ 405779 h 474835"/>
              <a:gd name="connsiteX5" fmla="*/ 356647 w 607639"/>
              <a:gd name="connsiteY5" fmla="*/ 394581 h 474835"/>
              <a:gd name="connsiteX6" fmla="*/ 39622 w 607639"/>
              <a:gd name="connsiteY6" fmla="*/ 118691 h 474835"/>
              <a:gd name="connsiteX7" fmla="*/ 79245 w 607639"/>
              <a:gd name="connsiteY7" fmla="*/ 158240 h 474835"/>
              <a:gd name="connsiteX8" fmla="*/ 79245 w 607639"/>
              <a:gd name="connsiteY8" fmla="*/ 316524 h 474835"/>
              <a:gd name="connsiteX9" fmla="*/ 39622 w 607639"/>
              <a:gd name="connsiteY9" fmla="*/ 356073 h 474835"/>
              <a:gd name="connsiteX10" fmla="*/ 0 w 607639"/>
              <a:gd name="connsiteY10" fmla="*/ 316524 h 474835"/>
              <a:gd name="connsiteX11" fmla="*/ 0 w 607639"/>
              <a:gd name="connsiteY11" fmla="*/ 158240 h 474835"/>
              <a:gd name="connsiteX12" fmla="*/ 39622 w 607639"/>
              <a:gd name="connsiteY12" fmla="*/ 118691 h 474835"/>
              <a:gd name="connsiteX13" fmla="*/ 488736 w 607639"/>
              <a:gd name="connsiteY13" fmla="*/ 44597 h 474835"/>
              <a:gd name="connsiteX14" fmla="*/ 488736 w 607639"/>
              <a:gd name="connsiteY14" fmla="*/ 430130 h 474835"/>
              <a:gd name="connsiteX15" fmla="*/ 396167 w 607639"/>
              <a:gd name="connsiteY15" fmla="*/ 406401 h 474835"/>
              <a:gd name="connsiteX16" fmla="*/ 372312 w 607639"/>
              <a:gd name="connsiteY16" fmla="*/ 453415 h 474835"/>
              <a:gd name="connsiteX17" fmla="*/ 319797 w 607639"/>
              <a:gd name="connsiteY17" fmla="*/ 462658 h 474835"/>
              <a:gd name="connsiteX18" fmla="*/ 200881 w 607639"/>
              <a:gd name="connsiteY18" fmla="*/ 427019 h 474835"/>
              <a:gd name="connsiteX19" fmla="*/ 158512 w 607639"/>
              <a:gd name="connsiteY19" fmla="*/ 370229 h 474835"/>
              <a:gd name="connsiteX20" fmla="*/ 158512 w 607639"/>
              <a:gd name="connsiteY20" fmla="*/ 335213 h 474835"/>
              <a:gd name="connsiteX21" fmla="*/ 118903 w 607639"/>
              <a:gd name="connsiteY21" fmla="*/ 323304 h 474835"/>
              <a:gd name="connsiteX22" fmla="*/ 118903 w 607639"/>
              <a:gd name="connsiteY22" fmla="*/ 151512 h 474835"/>
              <a:gd name="connsiteX23" fmla="*/ 567937 w 607639"/>
              <a:gd name="connsiteY23" fmla="*/ 0 h 474835"/>
              <a:gd name="connsiteX24" fmla="*/ 607639 w 607639"/>
              <a:gd name="connsiteY24" fmla="*/ 39547 h 474835"/>
              <a:gd name="connsiteX25" fmla="*/ 607639 w 607639"/>
              <a:gd name="connsiteY25" fmla="*/ 435199 h 474835"/>
              <a:gd name="connsiteX26" fmla="*/ 567937 w 607639"/>
              <a:gd name="connsiteY26" fmla="*/ 474835 h 474835"/>
              <a:gd name="connsiteX27" fmla="*/ 528323 w 607639"/>
              <a:gd name="connsiteY27" fmla="*/ 435199 h 474835"/>
              <a:gd name="connsiteX28" fmla="*/ 528323 w 607639"/>
              <a:gd name="connsiteY28" fmla="*/ 39547 h 474835"/>
              <a:gd name="connsiteX29" fmla="*/ 567937 w 607639"/>
              <a:gd name="connsiteY29" fmla="*/ 0 h 47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639" h="474835">
                <a:moveTo>
                  <a:pt x="198121" y="347033"/>
                </a:moveTo>
                <a:lnTo>
                  <a:pt x="198121" y="370229"/>
                </a:lnTo>
                <a:cubicBezTo>
                  <a:pt x="198121" y="378939"/>
                  <a:pt x="203818" y="386582"/>
                  <a:pt x="212274" y="389159"/>
                </a:cubicBezTo>
                <a:lnTo>
                  <a:pt x="331101" y="424797"/>
                </a:lnTo>
                <a:cubicBezTo>
                  <a:pt x="344452" y="428619"/>
                  <a:pt x="356647" y="418665"/>
                  <a:pt x="356647" y="405779"/>
                </a:cubicBezTo>
                <a:lnTo>
                  <a:pt x="356647" y="394581"/>
                </a:lnTo>
                <a:close/>
                <a:moveTo>
                  <a:pt x="39622" y="118691"/>
                </a:moveTo>
                <a:cubicBezTo>
                  <a:pt x="61526" y="118691"/>
                  <a:pt x="79245" y="136377"/>
                  <a:pt x="79245" y="158240"/>
                </a:cubicBezTo>
                <a:lnTo>
                  <a:pt x="79245" y="316524"/>
                </a:lnTo>
                <a:cubicBezTo>
                  <a:pt x="79245" y="338298"/>
                  <a:pt x="61526" y="356073"/>
                  <a:pt x="39622" y="356073"/>
                </a:cubicBezTo>
                <a:cubicBezTo>
                  <a:pt x="17808" y="356073"/>
                  <a:pt x="0" y="338298"/>
                  <a:pt x="0" y="316524"/>
                </a:cubicBezTo>
                <a:lnTo>
                  <a:pt x="0" y="158240"/>
                </a:lnTo>
                <a:cubicBezTo>
                  <a:pt x="0" y="136377"/>
                  <a:pt x="17808" y="118691"/>
                  <a:pt x="39622" y="118691"/>
                </a:cubicBezTo>
                <a:close/>
                <a:moveTo>
                  <a:pt x="488736" y="44597"/>
                </a:moveTo>
                <a:lnTo>
                  <a:pt x="488736" y="430130"/>
                </a:lnTo>
                <a:lnTo>
                  <a:pt x="396167" y="406401"/>
                </a:lnTo>
                <a:cubicBezTo>
                  <a:pt x="395989" y="425064"/>
                  <a:pt x="387355" y="442217"/>
                  <a:pt x="372312" y="453415"/>
                </a:cubicBezTo>
                <a:cubicBezTo>
                  <a:pt x="356736" y="464968"/>
                  <a:pt x="337332" y="467990"/>
                  <a:pt x="319797" y="462658"/>
                </a:cubicBezTo>
                <a:lnTo>
                  <a:pt x="200881" y="427019"/>
                </a:lnTo>
                <a:cubicBezTo>
                  <a:pt x="175513" y="419465"/>
                  <a:pt x="158512" y="396625"/>
                  <a:pt x="158512" y="370229"/>
                </a:cubicBezTo>
                <a:lnTo>
                  <a:pt x="158512" y="335213"/>
                </a:lnTo>
                <a:lnTo>
                  <a:pt x="118903" y="323304"/>
                </a:lnTo>
                <a:lnTo>
                  <a:pt x="118903" y="151512"/>
                </a:lnTo>
                <a:close/>
                <a:moveTo>
                  <a:pt x="567937" y="0"/>
                </a:moveTo>
                <a:cubicBezTo>
                  <a:pt x="589835" y="0"/>
                  <a:pt x="607639" y="17774"/>
                  <a:pt x="607639" y="39547"/>
                </a:cubicBezTo>
                <a:lnTo>
                  <a:pt x="607639" y="435199"/>
                </a:lnTo>
                <a:cubicBezTo>
                  <a:pt x="607639" y="457061"/>
                  <a:pt x="589835" y="474835"/>
                  <a:pt x="567937" y="474835"/>
                </a:cubicBezTo>
                <a:cubicBezTo>
                  <a:pt x="546127" y="474835"/>
                  <a:pt x="528323" y="457061"/>
                  <a:pt x="528323" y="435199"/>
                </a:cubicBezTo>
                <a:lnTo>
                  <a:pt x="528323" y="39547"/>
                </a:lnTo>
                <a:cubicBezTo>
                  <a:pt x="528323" y="17774"/>
                  <a:pt x="546127" y="0"/>
                  <a:pt x="567937" y="0"/>
                </a:cubicBezTo>
                <a:close/>
              </a:path>
            </a:pathLst>
          </a:custGeom>
          <a:solidFill>
            <a:schemeClr val="accent1"/>
          </a:solidFill>
          <a:ln>
            <a:noFill/>
          </a:ln>
        </p:spPr>
        <p:txBody>
          <a:bodyPr/>
          <a:lstStyle/>
          <a:p>
            <a:endParaRPr lang="zh-CN" altLang="en-US"/>
          </a:p>
        </p:txBody>
      </p:sp>
      <p:sp>
        <p:nvSpPr>
          <p:cNvPr id="9" name="文本框 8"/>
          <p:cNvSpPr txBox="1"/>
          <p:nvPr/>
        </p:nvSpPr>
        <p:spPr>
          <a:xfrm>
            <a:off x="2379958" y="4581762"/>
            <a:ext cx="5794558" cy="369332"/>
          </a:xfrm>
          <a:prstGeom prst="rect">
            <a:avLst/>
          </a:prstGeom>
          <a:noFill/>
        </p:spPr>
        <p:txBody>
          <a:bodyPr wrap="square" rtlCol="0">
            <a:spAutoFit/>
          </a:bodyPr>
          <a:lstStyle/>
          <a:p>
            <a:r>
              <a:rPr lang="zh-CN" altLang="en-US" b="1" dirty="0" smtClean="0">
                <a:solidFill>
                  <a:srgbClr val="FF0000"/>
                </a:solidFill>
              </a:rPr>
              <a:t>这公式每年都会考！（不然没什么而可以考了</a:t>
            </a:r>
            <a:r>
              <a:rPr lang="en-US" altLang="zh-CN"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40721298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9768289" cy="576064"/>
          </a:xfrm>
        </p:spPr>
        <p:txBody>
          <a:bodyPr>
            <a:normAutofit/>
          </a:bodyPr>
          <a:lstStyle/>
          <a:p>
            <a:r>
              <a:rPr lang="en-US" altLang="zh-CN" dirty="0"/>
              <a:t>Early E</a:t>
            </a:r>
            <a:r>
              <a:rPr lang="en-US" altLang="zh-CN" dirty="0" smtClean="0"/>
              <a:t>xercise </a:t>
            </a:r>
            <a:r>
              <a:rPr lang="en-US" altLang="zh-CN" dirty="0"/>
              <a:t>F</a:t>
            </a:r>
            <a:r>
              <a:rPr lang="en-US" altLang="zh-CN" dirty="0" smtClean="0"/>
              <a:t>eatures </a:t>
            </a:r>
            <a:r>
              <a:rPr lang="en-US" altLang="zh-CN" dirty="0"/>
              <a:t>of American </a:t>
            </a:r>
            <a:r>
              <a:rPr lang="en-US" altLang="zh-CN" dirty="0" smtClean="0"/>
              <a:t>Call </a:t>
            </a:r>
            <a:r>
              <a:rPr lang="en-US" altLang="zh-CN" dirty="0"/>
              <a:t>and </a:t>
            </a:r>
            <a:r>
              <a:rPr lang="en-US" altLang="zh-CN" dirty="0" smtClean="0"/>
              <a:t>Put </a:t>
            </a:r>
            <a:r>
              <a:rPr lang="en-US" altLang="zh-CN" dirty="0"/>
              <a:t>O</a:t>
            </a:r>
            <a:r>
              <a:rPr lang="en-US" altLang="zh-CN" dirty="0" smtClean="0"/>
              <a:t>ptions</a:t>
            </a:r>
            <a:r>
              <a:rPr lang="en-US" altLang="zh-CN" dirty="0"/>
              <a:t>.</a:t>
            </a:r>
            <a:endParaRPr lang="zh-CN" altLang="en-US" dirty="0"/>
          </a:p>
        </p:txBody>
      </p:sp>
      <p:sp>
        <p:nvSpPr>
          <p:cNvPr id="3" name="文本占位符 2"/>
          <p:cNvSpPr>
            <a:spLocks noGrp="1"/>
          </p:cNvSpPr>
          <p:nvPr>
            <p:ph type="body" sz="quarter" idx="10"/>
          </p:nvPr>
        </p:nvSpPr>
        <p:spPr/>
        <p:txBody>
          <a:bodyPr>
            <a:normAutofit/>
          </a:bodyPr>
          <a:lstStyle/>
          <a:p>
            <a:r>
              <a:rPr lang="en-US" altLang="zh-CN" b="0" dirty="0"/>
              <a:t>All other things being equal, the value of an American style option must be at least as </a:t>
            </a:r>
            <a:r>
              <a:rPr lang="en-US" altLang="zh-CN" b="0" dirty="0" smtClean="0"/>
              <a:t>great as </a:t>
            </a:r>
            <a:r>
              <a:rPr lang="en-US" altLang="zh-CN" b="0" dirty="0"/>
              <a:t>a European option with the same features</a:t>
            </a:r>
            <a:r>
              <a:rPr lang="en-US" altLang="zh-CN" b="0" dirty="0" smtClean="0"/>
              <a:t>:</a:t>
            </a:r>
          </a:p>
          <a:p>
            <a:endParaRPr lang="en-US" altLang="zh-CN" b="0" dirty="0"/>
          </a:p>
          <a:p>
            <a:r>
              <a:rPr lang="en-US" altLang="zh-CN" b="0" dirty="0"/>
              <a:t>The difference between an American call and an American put (C–P) is bounded </a:t>
            </a:r>
            <a:r>
              <a:rPr lang="en-US" altLang="zh-CN" b="0" dirty="0" smtClean="0"/>
              <a:t>by the </a:t>
            </a:r>
            <a:r>
              <a:rPr lang="en-US" altLang="zh-CN" b="0" dirty="0"/>
              <a:t>following</a:t>
            </a:r>
            <a:r>
              <a:rPr lang="en-US" altLang="zh-CN" b="0" dirty="0" smtClean="0"/>
              <a:t>:</a:t>
            </a:r>
          </a:p>
          <a:p>
            <a:endParaRPr lang="en-US" altLang="zh-CN" b="0" dirty="0"/>
          </a:p>
          <a:p>
            <a:r>
              <a:rPr lang="en-US" altLang="zh-CN" b="0" dirty="0"/>
              <a:t>T</a:t>
            </a:r>
            <a:r>
              <a:rPr lang="en-US" altLang="zh-CN" b="0" dirty="0" smtClean="0"/>
              <a:t>he early </a:t>
            </a:r>
            <a:r>
              <a:rPr lang="en-US" altLang="zh-CN" b="0" dirty="0"/>
              <a:t>exercise becomes more attractive as</a:t>
            </a:r>
            <a:r>
              <a:rPr lang="en-US" altLang="zh-CN" b="0" dirty="0" smtClean="0"/>
              <a:t>:</a:t>
            </a:r>
          </a:p>
          <a:p>
            <a:pPr lvl="1"/>
            <a:r>
              <a:rPr lang="en-US" altLang="zh-CN" b="0" dirty="0" smtClean="0"/>
              <a:t>Stock price </a:t>
            </a:r>
            <a:r>
              <a:rPr lang="en-US" altLang="zh-CN" b="0" dirty="0"/>
              <a:t>decreases,</a:t>
            </a:r>
          </a:p>
          <a:p>
            <a:pPr lvl="1"/>
            <a:r>
              <a:rPr lang="en-US" altLang="zh-CN" b="0" dirty="0" smtClean="0"/>
              <a:t>Risk-free </a:t>
            </a:r>
            <a:r>
              <a:rPr lang="en-US" altLang="zh-CN" b="0" dirty="0"/>
              <a:t>rate increases, and/or</a:t>
            </a:r>
          </a:p>
          <a:p>
            <a:pPr lvl="1"/>
            <a:r>
              <a:rPr lang="en-US" altLang="zh-CN" b="0" dirty="0" smtClean="0"/>
              <a:t>Volatility </a:t>
            </a:r>
            <a:r>
              <a:rPr lang="en-US" altLang="zh-CN" b="0" dirty="0"/>
              <a:t>decreases.</a:t>
            </a:r>
            <a:endParaRPr lang="en-US" altLang="zh-CN" b="0" dirty="0" smtClean="0"/>
          </a:p>
          <a:p>
            <a:endParaRPr lang="en-US" altLang="zh-CN" b="0" dirty="0" smtClean="0"/>
          </a:p>
        </p:txBody>
      </p:sp>
      <mc:AlternateContent xmlns:mc="http://schemas.openxmlformats.org/markup-compatibility/2006" xmlns:a14="http://schemas.microsoft.com/office/drawing/2010/main">
        <mc:Choice Requires="a14">
          <p:sp>
            <p:nvSpPr>
              <p:cNvPr id="4" name="文本框 3"/>
              <p:cNvSpPr txBox="1"/>
              <p:nvPr/>
            </p:nvSpPr>
            <p:spPr>
              <a:xfrm>
                <a:off x="1778302" y="2027104"/>
                <a:ext cx="7430878" cy="369332"/>
              </a:xfrm>
              <a:prstGeom prst="rect">
                <a:avLst/>
              </a:prstGeom>
              <a:noFill/>
            </p:spPr>
            <p:txBody>
              <a:bodyPr wrap="square" lIns="0" tIns="0" rIns="0" bIns="0" rtlCol="0">
                <a:spAutoFit/>
              </a:bodyPr>
              <a:lstStyle/>
              <a:p>
                <a14:m>
                  <m:oMath xmlns:m="http://schemas.openxmlformats.org/officeDocument/2006/math">
                    <m:r>
                      <a:rPr lang="en-US" altLang="zh-CN" sz="2400" b="0" i="1" smtClean="0">
                        <a:latin typeface="Cambria Math" panose="02040503050406030204" pitchFamily="18" charset="0"/>
                      </a:rPr>
                      <m:t>𝑉</m:t>
                    </m:r>
                    <m:r>
                      <a:rPr lang="en-US" altLang="zh-CN" sz="2400" i="1">
                        <a:latin typeface="Cambria Math" panose="02040503050406030204" pitchFamily="18" charset="0"/>
                      </a:rPr>
                      <m:t>𝑎𝑙𝑢𝑒</m:t>
                    </m:r>
                  </m:oMath>
                </a14:m>
                <a:r>
                  <a:rPr lang="en-US" altLang="zh-CN" sz="2400" i="1" dirty="0" smtClean="0"/>
                  <a:t>[American option]</a:t>
                </a:r>
                <a:r>
                  <a:rPr lang="zh-CN" altLang="en-US" sz="2400" i="1" dirty="0" smtClean="0"/>
                  <a:t>≥</a:t>
                </a:r>
                <a:r>
                  <a:rPr lang="en-US" altLang="zh-CN" sz="2400" i="1" dirty="0" smtClean="0"/>
                  <a:t>Value[European option]</a:t>
                </a:r>
                <a:endParaRPr lang="zh-CN" altLang="en-US" sz="2400" i="1" dirty="0"/>
              </a:p>
            </p:txBody>
          </p:sp>
        </mc:Choice>
        <mc:Fallback xmlns="">
          <p:sp>
            <p:nvSpPr>
              <p:cNvPr id="4" name="文本框 3"/>
              <p:cNvSpPr txBox="1">
                <a:spLocks noRot="1" noChangeAspect="1" noMove="1" noResize="1" noEditPoints="1" noAdjustHandles="1" noChangeArrowheads="1" noChangeShapeType="1" noTextEdit="1"/>
              </p:cNvSpPr>
              <p:nvPr/>
            </p:nvSpPr>
            <p:spPr>
              <a:xfrm>
                <a:off x="1778302" y="2027104"/>
                <a:ext cx="7430878" cy="369332"/>
              </a:xfrm>
              <a:prstGeom prst="rect">
                <a:avLst/>
              </a:prstGeom>
              <a:blipFill>
                <a:blip r:embed="rId2"/>
                <a:stretch>
                  <a:fillRect l="-1477" t="-25000" b="-5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3540123" y="3779565"/>
                <a:ext cx="3907235" cy="436979"/>
              </a:xfrm>
              <a:prstGeom prst="rect">
                <a:avLst/>
              </a:prstGeom>
              <a:noFill/>
              <a:ln w="19050">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smtClean="0">
                          <a:solidFill>
                            <a:schemeClr val="tx1"/>
                          </a:solidFill>
                          <a:latin typeface="Cambria Math" panose="02040503050406030204" pitchFamily="18" charset="0"/>
                          <a:cs typeface="Segoe UI" panose="020B0502040204020203" pitchFamily="34" charset="0"/>
                        </a:rPr>
                        <m:t>S</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K</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C</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P</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S</m:t>
                      </m:r>
                      <m:r>
                        <a:rPr lang="en-US" altLang="zh-CN" sz="2200" b="0" smtClean="0">
                          <a:solidFill>
                            <a:schemeClr val="tx1"/>
                          </a:solidFill>
                          <a:latin typeface="Cambria Math" panose="02040503050406030204" pitchFamily="18" charset="0"/>
                          <a:cs typeface="Segoe UI" panose="020B0502040204020203" pitchFamily="34" charset="0"/>
                        </a:rPr>
                        <m:t>−</m:t>
                      </m:r>
                      <m:r>
                        <m:rPr>
                          <m:sty m:val="p"/>
                        </m:rPr>
                        <a:rPr lang="en-US" altLang="zh-CN" sz="2200" b="0" smtClean="0">
                          <a:solidFill>
                            <a:schemeClr val="tx1"/>
                          </a:solidFill>
                          <a:latin typeface="Cambria Math" panose="02040503050406030204" pitchFamily="18" charset="0"/>
                          <a:cs typeface="Segoe UI" panose="020B0502040204020203" pitchFamily="34" charset="0"/>
                        </a:rPr>
                        <m:t>K</m:t>
                      </m:r>
                      <m:sSup>
                        <m:sSupPr>
                          <m:ctrlPr>
                            <a:rPr lang="en-US" altLang="zh-CN" sz="2200" b="0" i="1">
                              <a:solidFill>
                                <a:schemeClr val="tx1"/>
                              </a:solidFill>
                              <a:latin typeface="Cambria Math"/>
                              <a:cs typeface="Segoe UI" panose="020B0502040204020203" pitchFamily="34" charset="0"/>
                            </a:rPr>
                          </m:ctrlPr>
                        </m:sSupPr>
                        <m:e>
                          <m:r>
                            <m:rPr>
                              <m:sty m:val="p"/>
                            </m:rPr>
                            <a:rPr lang="en-US" altLang="zh-CN" sz="2200" b="0">
                              <a:solidFill>
                                <a:schemeClr val="tx1"/>
                              </a:solidFill>
                              <a:latin typeface="Cambria Math" panose="02040503050406030204" pitchFamily="18" charset="0"/>
                              <a:cs typeface="Segoe UI" panose="020B0502040204020203" pitchFamily="34" charset="0"/>
                            </a:rPr>
                            <m:t>e</m:t>
                          </m:r>
                        </m:e>
                        <m:sup>
                          <m:r>
                            <a:rPr lang="en-US" altLang="zh-CN" sz="2200" b="0">
                              <a:solidFill>
                                <a:schemeClr val="tx1"/>
                              </a:solidFill>
                              <a:latin typeface="Cambria Math" panose="02040503050406030204" pitchFamily="18" charset="0"/>
                              <a:cs typeface="Segoe UI" panose="020B0502040204020203" pitchFamily="34" charset="0"/>
                            </a:rPr>
                            <m:t>−</m:t>
                          </m:r>
                          <m:r>
                            <m:rPr>
                              <m:sty m:val="p"/>
                            </m:rPr>
                            <a:rPr lang="en-US" altLang="zh-CN" sz="2200" b="0">
                              <a:solidFill>
                                <a:schemeClr val="tx1"/>
                              </a:solidFill>
                              <a:latin typeface="Cambria Math" panose="02040503050406030204" pitchFamily="18" charset="0"/>
                              <a:cs typeface="Segoe UI" panose="020B0502040204020203" pitchFamily="34" charset="0"/>
                            </a:rPr>
                            <m:t>rT</m:t>
                          </m:r>
                        </m:sup>
                      </m:sSup>
                    </m:oMath>
                  </m:oMathPara>
                </a14:m>
                <a:endParaRPr lang="zh-CN" altLang="en-US" sz="2200" b="0" dirty="0">
                  <a:solidFill>
                    <a:schemeClr val="tx1"/>
                  </a:solidFill>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540123" y="3779565"/>
                <a:ext cx="3907235" cy="436979"/>
              </a:xfrm>
              <a:prstGeom prst="rect">
                <a:avLst/>
              </a:prstGeom>
              <a:blipFill>
                <a:blip r:embed="rId3"/>
                <a:stretch>
                  <a:fillRect/>
                </a:stretch>
              </a:blipFill>
              <a:ln w="19050">
                <a:solidFill>
                  <a:schemeClr val="bg1"/>
                </a:solidFill>
              </a:ln>
            </p:spPr>
            <p:txBody>
              <a:bodyPr/>
              <a:lstStyle/>
              <a:p>
                <a:r>
                  <a:rPr lang="zh-CN" altLang="en-US">
                    <a:noFill/>
                  </a:rPr>
                  <a:t> </a:t>
                </a:r>
              </a:p>
            </p:txBody>
          </p:sp>
        </mc:Fallback>
      </mc:AlternateContent>
    </p:spTree>
    <p:extLst>
      <p:ext uri="{BB962C8B-B14F-4D97-AF65-F5344CB8AC3E}">
        <p14:creationId xmlns:p14="http://schemas.microsoft.com/office/powerpoint/2010/main" val="5324807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b="0" dirty="0" smtClean="0">
                <a:solidFill>
                  <a:srgbClr val="FF0000"/>
                </a:solidFill>
              </a:rPr>
              <a:t>Identify </a:t>
            </a:r>
            <a:r>
              <a:rPr lang="en-US" altLang="zh-CN" b="0" dirty="0">
                <a:solidFill>
                  <a:srgbClr val="FF0000"/>
                </a:solidFill>
              </a:rPr>
              <a:t>the six factors that affect an option’s price and describe how these six factors affect the price for both European and American options</a:t>
            </a:r>
            <a:r>
              <a:rPr lang="en-US" altLang="zh-CN" b="0" dirty="0" smtClean="0">
                <a:solidFill>
                  <a:srgbClr val="FF0000"/>
                </a:solidFill>
              </a:rPr>
              <a:t>.</a:t>
            </a:r>
            <a:r>
              <a:rPr lang="en-US" altLang="zh-CN" b="0" dirty="0" smtClean="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Identify and compute upper and lower bounds for option prices on non-dividend and dividend paying stocks. </a:t>
            </a:r>
            <a:r>
              <a:rPr lang="en-US" altLang="zh-CN" b="0" dirty="0" smtClean="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Explain put-call parity and apply it to the valuation of European and American stock options with dividends and without dividends. </a:t>
            </a:r>
            <a:r>
              <a:rPr lang="en-US" altLang="zh-CN" b="0" dirty="0" smtClean="0">
                <a:solidFill>
                  <a:srgbClr val="FF0000"/>
                </a:solidFill>
                <a:cs typeface="+mn-ea"/>
                <a:sym typeface="+mn-lt"/>
              </a:rPr>
              <a:t>★★★</a:t>
            </a:r>
            <a:endParaRPr lang="en-US" altLang="zh-CN" b="0" dirty="0">
              <a:solidFill>
                <a:srgbClr val="FF0000"/>
              </a:solidFill>
            </a:endParaRPr>
          </a:p>
          <a:p>
            <a:r>
              <a:rPr lang="en-US" altLang="zh-CN" b="0" dirty="0"/>
              <a:t>Explain the early exercise features of American call and put options. </a:t>
            </a:r>
            <a:r>
              <a:rPr lang="en-US" altLang="zh-CN" b="0" dirty="0" smtClean="0">
                <a:cs typeface="+mn-ea"/>
                <a:sym typeface="+mn-lt"/>
              </a:rPr>
              <a:t>★</a:t>
            </a:r>
            <a:r>
              <a:rPr lang="en-US" altLang="zh-CN" b="0" dirty="0">
                <a:cs typeface="+mn-ea"/>
                <a:sym typeface="+mn-lt"/>
              </a:rPr>
              <a:t>★</a:t>
            </a:r>
            <a:endParaRPr lang="en-US" altLang="zh-CN" b="0" dirty="0"/>
          </a:p>
          <a:p>
            <a:endParaRPr lang="zh-CN" altLang="en-US" dirty="0"/>
          </a:p>
        </p:txBody>
      </p:sp>
    </p:spTree>
    <p:extLst>
      <p:ext uri="{BB962C8B-B14F-4D97-AF65-F5344CB8AC3E}">
        <p14:creationId xmlns:p14="http://schemas.microsoft.com/office/powerpoint/2010/main" val="361729548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Trading Strategies </a:t>
            </a:r>
          </a:p>
        </p:txBody>
      </p:sp>
    </p:spTree>
    <p:extLst>
      <p:ext uri="{BB962C8B-B14F-4D97-AF65-F5344CB8AC3E}">
        <p14:creationId xmlns:p14="http://schemas.microsoft.com/office/powerpoint/2010/main" val="692100763"/>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Covered Call and Protective Put</a:t>
            </a:r>
            <a:endParaRPr lang="en-US" altLang="zh-CN"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dirty="0"/>
                  <a:t>Covered Call</a:t>
                </a:r>
              </a:p>
              <a:p>
                <a:pPr lvl="1"/>
                <a:r>
                  <a:rPr lang="en-US" altLang="zh-CN" b="0" dirty="0" smtClean="0"/>
                  <a:t>To“</a:t>
                </a:r>
                <a:r>
                  <a:rPr lang="en-US" altLang="zh-CN" b="0" i="1" dirty="0" smtClean="0"/>
                  <a:t>write </a:t>
                </a:r>
                <a:r>
                  <a:rPr lang="en-US" altLang="zh-CN" b="0" i="1" dirty="0"/>
                  <a:t>a covered call</a:t>
                </a:r>
                <a:r>
                  <a:rPr lang="en-US" altLang="zh-CN" b="0" dirty="0"/>
                  <a:t>” is to combine a long stock position with a short position in </a:t>
                </a:r>
                <a:r>
                  <a:rPr lang="en-US" altLang="zh-CN" b="0" dirty="0" smtClean="0"/>
                  <a:t>a call </a:t>
                </a:r>
                <a:r>
                  <a:rPr lang="en-US" altLang="zh-CN" b="0" dirty="0"/>
                  <a:t>option</a:t>
                </a:r>
                <a:r>
                  <a:rPr lang="en-US" altLang="zh-CN" b="0" dirty="0" smtClean="0"/>
                  <a:t>.</a:t>
                </a:r>
              </a:p>
              <a:p>
                <a:pPr lvl="1"/>
                <a:r>
                  <a:rPr lang="en-US" altLang="zh-CN" b="0" dirty="0"/>
                  <a:t>Writing a covered call = long stock + short call option = </a:t>
                </a:r>
                <a:r>
                  <a:rPr lang="zh-CN" altLang="en-US" b="0" dirty="0" smtClean="0"/>
                  <a:t> </a:t>
                </a:r>
                <a:r>
                  <a:rPr lang="en-US" altLang="zh-CN" b="0" dirty="0" smtClean="0"/>
                  <a:t>S</a:t>
                </a:r>
                <a:r>
                  <a:rPr lang="en-US" altLang="zh-CN" b="0" baseline="-25000" dirty="0" smtClean="0"/>
                  <a:t>0</a:t>
                </a:r>
                <a:r>
                  <a:rPr lang="en-US" altLang="zh-CN" b="0" dirty="0" smtClean="0"/>
                  <a:t>-c</a:t>
                </a:r>
              </a:p>
              <a:p>
                <a:r>
                  <a:rPr lang="en-US" altLang="zh-CN" dirty="0"/>
                  <a:t>IMPORTANT CONCEPT:</a:t>
                </a:r>
              </a:p>
              <a:p>
                <a:pPr lvl="1"/>
                <a:r>
                  <a:rPr lang="en-US" altLang="zh-CN" b="0" dirty="0"/>
                  <a:t>If the payoff strategy for a covered call looks like a short put option, that’s because </a:t>
                </a:r>
                <a:r>
                  <a:rPr lang="en-US" altLang="zh-CN" b="0" dirty="0" smtClean="0"/>
                  <a:t>it is</a:t>
                </a:r>
                <a:r>
                  <a:rPr lang="en-US" altLang="zh-CN" b="0" dirty="0"/>
                  <a:t>! Remember the put-call parity </a:t>
                </a:r>
                <a14:m>
                  <m:oMath xmlns:m="http://schemas.openxmlformats.org/officeDocument/2006/math">
                    <m:r>
                      <m:rPr>
                        <m:sty m:val="p"/>
                      </m:rPr>
                      <a:rPr lang="en-US" altLang="zh-CN" b="0">
                        <a:solidFill>
                          <a:schemeClr val="tx1"/>
                        </a:solidFill>
                        <a:latin typeface="Cambria Math" panose="02040503050406030204" pitchFamily="18" charset="0"/>
                        <a:cs typeface="Segoe UI" panose="020B0502040204020203" pitchFamily="34" charset="0"/>
                      </a:rPr>
                      <m:t>C</m:t>
                    </m:r>
                    <m:r>
                      <a:rPr lang="en-US" altLang="zh-CN" b="0">
                        <a:solidFill>
                          <a:schemeClr val="tx1"/>
                        </a:solidFill>
                        <a:latin typeface="Cambria Math" panose="02040503050406030204" pitchFamily="18" charset="0"/>
                        <a:cs typeface="Segoe UI" panose="020B0502040204020203" pitchFamily="34" charset="0"/>
                      </a:rPr>
                      <m:t>+</m:t>
                    </m:r>
                    <m:r>
                      <m:rPr>
                        <m:sty m:val="p"/>
                      </m:rPr>
                      <a:rPr lang="en-US" altLang="zh-CN" b="0">
                        <a:solidFill>
                          <a:schemeClr val="tx1"/>
                        </a:solidFill>
                        <a:latin typeface="Cambria Math" panose="02040503050406030204" pitchFamily="18" charset="0"/>
                        <a:cs typeface="Segoe UI" panose="020B0502040204020203" pitchFamily="34" charset="0"/>
                      </a:rPr>
                      <m:t>K</m:t>
                    </m:r>
                    <m:sSup>
                      <m:sSupPr>
                        <m:ctrlPr>
                          <a:rPr lang="en-US" altLang="zh-CN" b="0" i="1">
                            <a:solidFill>
                              <a:schemeClr val="tx1"/>
                            </a:solidFill>
                            <a:latin typeface="Cambria Math"/>
                            <a:cs typeface="Segoe UI" panose="020B0502040204020203" pitchFamily="34" charset="0"/>
                          </a:rPr>
                        </m:ctrlPr>
                      </m:sSupPr>
                      <m:e>
                        <m:r>
                          <m:rPr>
                            <m:sty m:val="p"/>
                          </m:rPr>
                          <a:rPr lang="en-US" altLang="zh-CN" b="0">
                            <a:solidFill>
                              <a:schemeClr val="tx1"/>
                            </a:solidFill>
                            <a:latin typeface="Cambria Math" panose="02040503050406030204" pitchFamily="18" charset="0"/>
                            <a:cs typeface="Segoe UI" panose="020B0502040204020203" pitchFamily="34" charset="0"/>
                          </a:rPr>
                          <m:t>e</m:t>
                        </m:r>
                      </m:e>
                      <m:sup>
                        <m:r>
                          <a:rPr lang="en-US" altLang="zh-CN" b="0">
                            <a:solidFill>
                              <a:schemeClr val="tx1"/>
                            </a:solidFill>
                            <a:latin typeface="Cambria Math" panose="02040503050406030204" pitchFamily="18" charset="0"/>
                            <a:cs typeface="Segoe UI" panose="020B0502040204020203" pitchFamily="34" charset="0"/>
                          </a:rPr>
                          <m:t>−</m:t>
                        </m:r>
                        <m:r>
                          <m:rPr>
                            <m:sty m:val="p"/>
                          </m:rPr>
                          <a:rPr lang="en-US" altLang="zh-CN" b="0">
                            <a:solidFill>
                              <a:schemeClr val="tx1"/>
                            </a:solidFill>
                            <a:latin typeface="Cambria Math" panose="02040503050406030204" pitchFamily="18" charset="0"/>
                            <a:cs typeface="Segoe UI" panose="020B0502040204020203" pitchFamily="34" charset="0"/>
                          </a:rPr>
                          <m:t>rT</m:t>
                        </m:r>
                      </m:sup>
                    </m:sSup>
                    <m:r>
                      <a:rPr lang="en-US" altLang="zh-CN" b="0">
                        <a:solidFill>
                          <a:schemeClr val="tx1"/>
                        </a:solidFill>
                        <a:latin typeface="Cambria Math" panose="02040503050406030204" pitchFamily="18" charset="0"/>
                        <a:cs typeface="Segoe UI" panose="020B0502040204020203" pitchFamily="34" charset="0"/>
                      </a:rPr>
                      <m:t>=</m:t>
                    </m:r>
                    <m:r>
                      <m:rPr>
                        <m:sty m:val="p"/>
                      </m:rPr>
                      <a:rPr lang="en-US" altLang="zh-CN" b="0">
                        <a:solidFill>
                          <a:schemeClr val="tx1"/>
                        </a:solidFill>
                        <a:latin typeface="Cambria Math" panose="02040503050406030204" pitchFamily="18" charset="0"/>
                        <a:cs typeface="Segoe UI" panose="020B0502040204020203" pitchFamily="34" charset="0"/>
                      </a:rPr>
                      <m:t>P</m:t>
                    </m:r>
                    <m:r>
                      <a:rPr lang="en-US" altLang="zh-CN" b="0">
                        <a:solidFill>
                          <a:schemeClr val="tx1"/>
                        </a:solidFill>
                        <a:latin typeface="Cambria Math" panose="02040503050406030204" pitchFamily="18" charset="0"/>
                        <a:cs typeface="Segoe UI" panose="020B0502040204020203" pitchFamily="34" charset="0"/>
                      </a:rPr>
                      <m:t>+</m:t>
                    </m:r>
                    <m:sSub>
                      <m:sSubPr>
                        <m:ctrlPr>
                          <a:rPr lang="en-US" altLang="zh-CN" b="0" i="1">
                            <a:solidFill>
                              <a:schemeClr val="tx1"/>
                            </a:solidFill>
                            <a:latin typeface="Cambria Math"/>
                            <a:cs typeface="Segoe UI" panose="020B0502040204020203" pitchFamily="34" charset="0"/>
                          </a:rPr>
                        </m:ctrlPr>
                      </m:sSubPr>
                      <m:e>
                        <m:r>
                          <m:rPr>
                            <m:sty m:val="p"/>
                          </m:rPr>
                          <a:rPr lang="en-US" altLang="zh-CN" b="0">
                            <a:solidFill>
                              <a:schemeClr val="tx1"/>
                            </a:solidFill>
                            <a:latin typeface="Cambria Math" panose="02040503050406030204" pitchFamily="18" charset="0"/>
                            <a:cs typeface="Segoe UI" panose="020B0502040204020203" pitchFamily="34" charset="0"/>
                          </a:rPr>
                          <m:t>S</m:t>
                        </m:r>
                      </m:e>
                      <m:sub>
                        <m:r>
                          <a:rPr lang="en-US" altLang="zh-CN" b="0">
                            <a:solidFill>
                              <a:schemeClr val="tx1"/>
                            </a:solidFill>
                            <a:latin typeface="Cambria Math" panose="02040503050406030204" pitchFamily="18" charset="0"/>
                            <a:cs typeface="Segoe UI" panose="020B0502040204020203" pitchFamily="34" charset="0"/>
                          </a:rPr>
                          <m:t>0</m:t>
                        </m:r>
                      </m:sub>
                    </m:sSub>
                  </m:oMath>
                </a14:m>
                <a:r>
                  <a:rPr lang="en-US" altLang="zh-CN" b="0" dirty="0"/>
                  <a:t>. We can infer from this that </a:t>
                </a:r>
                <a:r>
                  <a:rPr lang="en-US" altLang="zh-CN" b="0" dirty="0" smtClean="0"/>
                  <a:t>going long </a:t>
                </a:r>
                <a:r>
                  <a:rPr lang="en-US" altLang="zh-CN" b="0" dirty="0"/>
                  <a:t>the stock and short a call is the same as going short a put with the PV of </a:t>
                </a:r>
                <a:r>
                  <a:rPr lang="en-US" altLang="zh-CN" b="0" dirty="0" smtClean="0"/>
                  <a:t>the strike </a:t>
                </a:r>
                <a:r>
                  <a:rPr lang="en-US" altLang="zh-CN" b="0" dirty="0"/>
                  <a:t>price in the bank. By knowing the intuition behind the put-call parity you </a:t>
                </a:r>
                <a:r>
                  <a:rPr lang="en-US" altLang="zh-CN" b="0" dirty="0" smtClean="0"/>
                  <a:t>can often </a:t>
                </a:r>
                <a:r>
                  <a:rPr lang="en-US" altLang="zh-CN" b="0" dirty="0"/>
                  <a:t>reason your way to the answer!</a:t>
                </a:r>
                <a:endParaRPr lang="en-US" altLang="zh-CN" b="0" dirty="0" smtClean="0"/>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r="-6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434056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Protective Put</a:t>
            </a:r>
          </a:p>
          <a:p>
            <a:pPr lvl="1"/>
            <a:r>
              <a:rPr lang="en-US" altLang="zh-CN" b="0" dirty="0"/>
              <a:t>A protective put can be thought of as a form of insurance. The investment </a:t>
            </a:r>
            <a:r>
              <a:rPr lang="en-US" altLang="zh-CN" b="0" dirty="0" smtClean="0"/>
              <a:t>strategy involves </a:t>
            </a:r>
            <a:r>
              <a:rPr lang="en-US" altLang="zh-CN" b="0" dirty="0"/>
              <a:t>buying a European put option on a stock and the stock itself. Looking at the </a:t>
            </a:r>
            <a:r>
              <a:rPr lang="en-US" altLang="zh-CN" b="0" dirty="0" smtClean="0"/>
              <a:t>strategy and </a:t>
            </a:r>
            <a:r>
              <a:rPr lang="en-US" altLang="zh-CN" b="0" dirty="0"/>
              <a:t>the payoff, it looks like we have created a synthetic long call option! Again, the </a:t>
            </a:r>
            <a:r>
              <a:rPr lang="en-US" altLang="zh-CN" b="0" dirty="0" smtClean="0"/>
              <a:t>concept of </a:t>
            </a:r>
            <a:r>
              <a:rPr lang="en-US" altLang="zh-CN" b="0" dirty="0"/>
              <a:t>put-call parity comes in handy</a:t>
            </a:r>
            <a:r>
              <a:rPr lang="en-US" altLang="zh-CN" b="0" dirty="0" smtClean="0"/>
              <a:t>.</a:t>
            </a:r>
          </a:p>
          <a:p>
            <a:pPr marL="990576" lvl="2" indent="-457189">
              <a:buFont typeface="Wingdings" panose="05000000000000000000" pitchFamily="2" charset="2"/>
              <a:buChar char="l"/>
            </a:pPr>
            <a:r>
              <a:rPr lang="en-US" altLang="zh-CN" dirty="0"/>
              <a:t>Writing a Protective </a:t>
            </a:r>
            <a:r>
              <a:rPr lang="en-US" altLang="zh-CN" dirty="0" smtClean="0"/>
              <a:t>Put= </a:t>
            </a:r>
            <a:r>
              <a:rPr lang="en-US" altLang="zh-CN" dirty="0"/>
              <a:t>long stock + </a:t>
            </a:r>
            <a:r>
              <a:rPr lang="en-US" altLang="zh-CN" dirty="0" smtClean="0"/>
              <a:t>buy put option </a:t>
            </a:r>
            <a:r>
              <a:rPr lang="en-US" altLang="zh-CN" dirty="0"/>
              <a:t>= </a:t>
            </a:r>
            <a:r>
              <a:rPr lang="zh-CN" altLang="en-US" dirty="0"/>
              <a:t> </a:t>
            </a:r>
            <a:r>
              <a:rPr lang="en-US" altLang="zh-CN" dirty="0" smtClean="0"/>
              <a:t>S</a:t>
            </a:r>
            <a:r>
              <a:rPr lang="en-US" altLang="zh-CN" baseline="-25000" dirty="0" smtClean="0"/>
              <a:t>0</a:t>
            </a:r>
            <a:r>
              <a:rPr lang="en-US" altLang="zh-CN" dirty="0" smtClean="0"/>
              <a:t>+p</a:t>
            </a:r>
            <a:endParaRPr lang="en-US" altLang="zh-CN" dirty="0"/>
          </a:p>
          <a:p>
            <a:endParaRPr lang="zh-CN" altLang="en-US" dirty="0"/>
          </a:p>
        </p:txBody>
      </p:sp>
      <p:sp>
        <p:nvSpPr>
          <p:cNvPr id="4" name="标题 1"/>
          <p:cNvSpPr>
            <a:spLocks noGrp="1"/>
          </p:cNvSpPr>
          <p:nvPr>
            <p:ph type="title"/>
          </p:nvPr>
        </p:nvSpPr>
        <p:spPr/>
        <p:txBody>
          <a:bodyPr/>
          <a:lstStyle/>
          <a:p>
            <a:r>
              <a:rPr lang="en-US" altLang="zh-CN" dirty="0" smtClean="0"/>
              <a:t>Covered Call and Protective Put</a:t>
            </a:r>
            <a:endParaRPr lang="en-US" altLang="zh-CN" dirty="0"/>
          </a:p>
        </p:txBody>
      </p:sp>
    </p:spTree>
    <p:extLst>
      <p:ext uri="{BB962C8B-B14F-4D97-AF65-F5344CB8AC3E}">
        <p14:creationId xmlns:p14="http://schemas.microsoft.com/office/powerpoint/2010/main" val="277539917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Covered Call and Protective Put</a:t>
            </a:r>
            <a:endParaRPr lang="zh-CN" altLang="en-US"/>
          </a:p>
        </p:txBody>
      </p:sp>
      <p:sp>
        <p:nvSpPr>
          <p:cNvPr id="3" name="文本占位符 2"/>
          <p:cNvSpPr>
            <a:spLocks noGrp="1"/>
          </p:cNvSpPr>
          <p:nvPr>
            <p:ph type="body" sz="quarter" idx="10"/>
          </p:nvPr>
        </p:nvSpPr>
        <p:spPr/>
        <p:txBody>
          <a:bodyPr/>
          <a:lstStyle/>
          <a:p>
            <a:r>
              <a:rPr lang="en-US" altLang="zh-CN" dirty="0"/>
              <a:t>Simple Strategies</a:t>
            </a:r>
          </a:p>
          <a:p>
            <a:endParaRPr lang="zh-CN" altLang="en-US" dirty="0"/>
          </a:p>
        </p:txBody>
      </p:sp>
      <p:grpSp>
        <p:nvGrpSpPr>
          <p:cNvPr id="33" name="组合 49"/>
          <p:cNvGrpSpPr>
            <a:grpSpLocks/>
          </p:cNvGrpSpPr>
          <p:nvPr/>
        </p:nvGrpSpPr>
        <p:grpSpPr bwMode="auto">
          <a:xfrm>
            <a:off x="876205" y="1724733"/>
            <a:ext cx="7413625" cy="2747962"/>
            <a:chOff x="1066991" y="2420888"/>
            <a:chExt cx="7415059" cy="2749135"/>
          </a:xfrm>
        </p:grpSpPr>
        <p:grpSp>
          <p:nvGrpSpPr>
            <p:cNvPr id="34" name="组合 44"/>
            <p:cNvGrpSpPr>
              <a:grpSpLocks/>
            </p:cNvGrpSpPr>
            <p:nvPr/>
          </p:nvGrpSpPr>
          <p:grpSpPr bwMode="auto">
            <a:xfrm>
              <a:off x="1066991" y="2420888"/>
              <a:ext cx="3275397" cy="2131335"/>
              <a:chOff x="993497" y="2588484"/>
              <a:chExt cx="3275397" cy="2131335"/>
            </a:xfrm>
          </p:grpSpPr>
          <p:cxnSp>
            <p:nvCxnSpPr>
              <p:cNvPr id="50" name="直接箭头连接符 49"/>
              <p:cNvCxnSpPr/>
              <p:nvPr/>
            </p:nvCxnSpPr>
            <p:spPr>
              <a:xfrm flipV="1">
                <a:off x="993497" y="2631364"/>
                <a:ext cx="0" cy="2088455"/>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993497" y="3676385"/>
                <a:ext cx="2953321"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8"/>
              <p:cNvSpPr txBox="1">
                <a:spLocks noChangeArrowheads="1"/>
              </p:cNvSpPr>
              <p:nvPr/>
            </p:nvSpPr>
            <p:spPr bwMode="auto">
              <a:xfrm>
                <a:off x="993499" y="2588484"/>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53" name="文本框 9"/>
              <p:cNvSpPr txBox="1">
                <a:spLocks noChangeArrowheads="1"/>
              </p:cNvSpPr>
              <p:nvPr/>
            </p:nvSpPr>
            <p:spPr bwMode="auto">
              <a:xfrm>
                <a:off x="3751704" y="3682246"/>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54" name="文本框 10"/>
              <p:cNvSpPr txBox="1">
                <a:spLocks noChangeArrowheads="1"/>
              </p:cNvSpPr>
              <p:nvPr/>
            </p:nvSpPr>
            <p:spPr bwMode="auto">
              <a:xfrm>
                <a:off x="993498" y="3682246"/>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55" name="文本框 31"/>
              <p:cNvSpPr txBox="1">
                <a:spLocks noChangeArrowheads="1"/>
              </p:cNvSpPr>
              <p:nvPr/>
            </p:nvSpPr>
            <p:spPr bwMode="auto">
              <a:xfrm>
                <a:off x="3307725" y="2795988"/>
                <a:ext cx="734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Stock</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6" name="文本框 33"/>
              <p:cNvSpPr txBox="1">
                <a:spLocks noChangeArrowheads="1"/>
              </p:cNvSpPr>
              <p:nvPr/>
            </p:nvSpPr>
            <p:spPr bwMode="auto">
              <a:xfrm>
                <a:off x="2762844" y="4342151"/>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Written Call</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57" name="直接连接符 56"/>
              <p:cNvCxnSpPr/>
              <p:nvPr/>
            </p:nvCxnSpPr>
            <p:spPr>
              <a:xfrm flipV="1">
                <a:off x="1553992" y="2631364"/>
                <a:ext cx="1819627" cy="1820052"/>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993497" y="3222167"/>
                <a:ext cx="1778344"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771841" y="3222167"/>
                <a:ext cx="1071769" cy="107043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1577562" y="2732263"/>
                <a:ext cx="1228962" cy="122925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793821" y="2732263"/>
                <a:ext cx="147507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35" name="文本框 42"/>
            <p:cNvSpPr txBox="1">
              <a:spLocks noChangeArrowheads="1"/>
            </p:cNvSpPr>
            <p:nvPr/>
          </p:nvSpPr>
          <p:spPr bwMode="auto">
            <a:xfrm>
              <a:off x="1395294" y="4800691"/>
              <a:ext cx="24898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Covered Call = -C + S</a:t>
              </a:r>
              <a:endParaRPr lang="zh-CN" altLang="en-US" sz="1800" dirty="0">
                <a:solidFill>
                  <a:srgbClr val="2C3E50"/>
                </a:solidFill>
                <a:latin typeface="Segoe UI" panose="020B0502040204020203" pitchFamily="34" charset="0"/>
                <a:cs typeface="Segoe UI" panose="020B0502040204020203" pitchFamily="34" charset="0"/>
              </a:endParaRPr>
            </a:p>
          </p:txBody>
        </p:sp>
        <p:grpSp>
          <p:nvGrpSpPr>
            <p:cNvPr id="36" name="组合 45"/>
            <p:cNvGrpSpPr>
              <a:grpSpLocks/>
            </p:cNvGrpSpPr>
            <p:nvPr/>
          </p:nvGrpSpPr>
          <p:grpSpPr bwMode="auto">
            <a:xfrm>
              <a:off x="5335017" y="2420888"/>
              <a:ext cx="3147033" cy="2131335"/>
              <a:chOff x="5219493" y="2588484"/>
              <a:chExt cx="3147033" cy="2131335"/>
            </a:xfrm>
          </p:grpSpPr>
          <p:sp>
            <p:nvSpPr>
              <p:cNvPr id="38" name="文本框 32"/>
              <p:cNvSpPr txBox="1">
                <a:spLocks noChangeArrowheads="1"/>
              </p:cNvSpPr>
              <p:nvPr/>
            </p:nvSpPr>
            <p:spPr bwMode="auto">
              <a:xfrm>
                <a:off x="7631645" y="2591806"/>
                <a:ext cx="734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Stock</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39" name="文本框 34"/>
              <p:cNvSpPr txBox="1">
                <a:spLocks noChangeArrowheads="1"/>
              </p:cNvSpPr>
              <p:nvPr/>
            </p:nvSpPr>
            <p:spPr bwMode="auto">
              <a:xfrm>
                <a:off x="7070979" y="4342151"/>
                <a:ext cx="12955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Put Option</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40" name="直接箭头连接符 39"/>
              <p:cNvCxnSpPr/>
              <p:nvPr/>
            </p:nvCxnSpPr>
            <p:spPr>
              <a:xfrm flipV="1">
                <a:off x="5219493" y="2631364"/>
                <a:ext cx="0" cy="2088455"/>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5219493" y="3676385"/>
                <a:ext cx="2953321"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15"/>
              <p:cNvSpPr txBox="1">
                <a:spLocks noChangeArrowheads="1"/>
              </p:cNvSpPr>
              <p:nvPr/>
            </p:nvSpPr>
            <p:spPr bwMode="auto">
              <a:xfrm>
                <a:off x="5220073" y="2588484"/>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43" name="文本框 16"/>
              <p:cNvSpPr txBox="1">
                <a:spLocks noChangeArrowheads="1"/>
              </p:cNvSpPr>
              <p:nvPr/>
            </p:nvSpPr>
            <p:spPr bwMode="auto">
              <a:xfrm>
                <a:off x="7978278" y="3682246"/>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44" name="文本框 17"/>
              <p:cNvSpPr txBox="1">
                <a:spLocks noChangeArrowheads="1"/>
              </p:cNvSpPr>
              <p:nvPr/>
            </p:nvSpPr>
            <p:spPr bwMode="auto">
              <a:xfrm>
                <a:off x="5220072" y="3682246"/>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45" name="直接连接符 44"/>
              <p:cNvCxnSpPr/>
              <p:nvPr/>
            </p:nvCxnSpPr>
            <p:spPr>
              <a:xfrm flipV="1">
                <a:off x="5703773" y="2631364"/>
                <a:ext cx="1819627" cy="1820052"/>
              </a:xfrm>
              <a:prstGeom prst="line">
                <a:avLst/>
              </a:prstGeom>
              <a:ln>
                <a:solidFill>
                  <a:srgbClr val="2C3E5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394470" y="4292599"/>
                <a:ext cx="1778344"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290944" y="3222167"/>
                <a:ext cx="1071770" cy="107043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219493" y="3919200"/>
                <a:ext cx="1174977"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6380179" y="2689949"/>
                <a:ext cx="1230551" cy="122925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37" name="文本框 43"/>
            <p:cNvSpPr txBox="1">
              <a:spLocks noChangeArrowheads="1"/>
            </p:cNvSpPr>
            <p:nvPr/>
          </p:nvSpPr>
          <p:spPr bwMode="auto">
            <a:xfrm>
              <a:off x="5621868" y="4800691"/>
              <a:ext cx="25739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dirty="0">
                  <a:solidFill>
                    <a:srgbClr val="2C3E50"/>
                  </a:solidFill>
                  <a:latin typeface="Segoe UI" panose="020B0502040204020203" pitchFamily="34" charset="0"/>
                  <a:cs typeface="Segoe UI" panose="020B0502040204020203" pitchFamily="34" charset="0"/>
                </a:rPr>
                <a:t>Protective Put = S + P</a:t>
              </a:r>
              <a:endParaRPr lang="zh-CN" altLang="en-US" sz="1800">
                <a:solidFill>
                  <a:srgbClr val="2C3E50"/>
                </a:solidFill>
                <a:latin typeface="Segoe UI" panose="020B0502040204020203" pitchFamily="34" charset="0"/>
                <a:cs typeface="Segoe UI" panose="020B0502040204020203" pitchFamily="34" charset="0"/>
              </a:endParaRPr>
            </a:p>
          </p:txBody>
        </p:sp>
      </p:grpSp>
      <p:sp>
        <p:nvSpPr>
          <p:cNvPr id="62" name="文本框 3"/>
          <p:cNvSpPr txBox="1">
            <a:spLocks noChangeArrowheads="1"/>
          </p:cNvSpPr>
          <p:nvPr/>
        </p:nvSpPr>
        <p:spPr bwMode="auto">
          <a:xfrm>
            <a:off x="609600" y="4878221"/>
            <a:ext cx="3983206" cy="86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2200" b="0" dirty="0">
                <a:latin typeface="Segoe UI" panose="020B0502040204020203" pitchFamily="34" charset="0"/>
                <a:cs typeface="Segoe UI" panose="020B0502040204020203" pitchFamily="34" charset="0"/>
              </a:rPr>
              <a:t>Income Strategy</a:t>
            </a:r>
          </a:p>
          <a:p>
            <a:pPr algn="just">
              <a:lnSpc>
                <a:spcPct val="120000"/>
              </a:lnSpc>
              <a:spcBef>
                <a:spcPct val="0"/>
              </a:spcBef>
              <a:buFont typeface="Wingdings" panose="05000000000000000000" pitchFamily="2" charset="2"/>
              <a:buChar char="l"/>
            </a:pPr>
            <a:r>
              <a:rPr lang="en-US" altLang="zh-CN" sz="2200" b="0" dirty="0">
                <a:latin typeface="Segoe UI" panose="020B0502040204020203" pitchFamily="34" charset="0"/>
                <a:cs typeface="Segoe UI" panose="020B0502040204020203" pitchFamily="34" charset="0"/>
              </a:rPr>
              <a:t>Outlook is neutral to bullish</a:t>
            </a:r>
            <a:endParaRPr lang="zh-CN" altLang="en-US" sz="2200" b="0" dirty="0">
              <a:latin typeface="Segoe UI" panose="020B0502040204020203" pitchFamily="34" charset="0"/>
              <a:cs typeface="Segoe UI" panose="020B0502040204020203" pitchFamily="34" charset="0"/>
            </a:endParaRPr>
          </a:p>
        </p:txBody>
      </p:sp>
      <p:sp>
        <p:nvSpPr>
          <p:cNvPr id="63" name="文本框 35"/>
          <p:cNvSpPr txBox="1">
            <a:spLocks noChangeArrowheads="1"/>
          </p:cNvSpPr>
          <p:nvPr/>
        </p:nvSpPr>
        <p:spPr bwMode="auto">
          <a:xfrm>
            <a:off x="5367648" y="4878221"/>
            <a:ext cx="2827954" cy="460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2200" b="0" dirty="0">
                <a:latin typeface="Segoe UI" panose="020B0502040204020203" pitchFamily="34" charset="0"/>
                <a:cs typeface="Segoe UI" panose="020B0502040204020203" pitchFamily="34" charset="0"/>
              </a:rPr>
              <a:t>Insurance Strategy</a:t>
            </a:r>
          </a:p>
        </p:txBody>
      </p:sp>
    </p:spTree>
    <p:extLst>
      <p:ext uri="{BB962C8B-B14F-4D97-AF65-F5344CB8AC3E}">
        <p14:creationId xmlns:p14="http://schemas.microsoft.com/office/powerpoint/2010/main" val="182121503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Payoffs of Various Spread Strategies</a:t>
            </a:r>
            <a:endParaRPr lang="en-US" altLang="zh-CN"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Spread Strategies</a:t>
            </a:r>
          </a:p>
          <a:p>
            <a:pPr lvl="1">
              <a:lnSpc>
                <a:spcPct val="140000"/>
              </a:lnSpc>
              <a:spcBef>
                <a:spcPct val="0"/>
              </a:spcBef>
            </a:pPr>
            <a:r>
              <a:rPr lang="en-US" altLang="zh-CN" dirty="0"/>
              <a:t>A spread trading strategy involves taking a position in two or more options of the </a:t>
            </a:r>
            <a:r>
              <a:rPr lang="en-US" altLang="zh-CN" u="sng" dirty="0"/>
              <a:t>same type</a:t>
            </a:r>
            <a:r>
              <a:rPr lang="en-US" altLang="zh-CN" dirty="0"/>
              <a:t> (i.e, two or more calls or two or more puts).</a:t>
            </a:r>
          </a:p>
          <a:p>
            <a:pPr lvl="1">
              <a:lnSpc>
                <a:spcPct val="140000"/>
              </a:lnSpc>
              <a:spcBef>
                <a:spcPct val="0"/>
              </a:spcBef>
            </a:pPr>
            <a:r>
              <a:rPr lang="en-US" altLang="zh-CN" dirty="0"/>
              <a:t>Spread strategies combine options positions to get a desired payoff. The differences between the options are the </a:t>
            </a:r>
            <a:r>
              <a:rPr lang="en-US" altLang="zh-CN" u="sng" dirty="0"/>
              <a:t>strike prices and/or the expiration</a:t>
            </a:r>
            <a:r>
              <a:rPr lang="en-US" altLang="zh-CN" dirty="0"/>
              <a:t>. The strategies we will discuss here are </a:t>
            </a:r>
            <a:r>
              <a:rPr lang="en-US" altLang="zh-CN" u="sng" dirty="0"/>
              <a:t>bull and bear spreads, butterfly spreads, calendar spreads, and diagonal spreads</a:t>
            </a:r>
            <a:r>
              <a:rPr lang="en-US" altLang="zh-CN" dirty="0"/>
              <a:t>. </a:t>
            </a:r>
          </a:p>
          <a:p>
            <a:endParaRPr lang="zh-CN" altLang="en-US" dirty="0"/>
          </a:p>
        </p:txBody>
      </p:sp>
    </p:spTree>
    <p:extLst>
      <p:ext uri="{BB962C8B-B14F-4D97-AF65-F5344CB8AC3E}">
        <p14:creationId xmlns:p14="http://schemas.microsoft.com/office/powerpoint/2010/main" val="115591275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Bull spread (type of vertical spread</a:t>
            </a:r>
            <a:r>
              <a:rPr lang="en-US" altLang="zh-CN" dirty="0" smtClean="0"/>
              <a:t>)</a:t>
            </a:r>
          </a:p>
          <a:p>
            <a:pPr lvl="1"/>
            <a:r>
              <a:rPr lang="en-US" altLang="zh-CN" b="0" i="1" dirty="0"/>
              <a:t>A bull spread </a:t>
            </a:r>
            <a:r>
              <a:rPr lang="en-US" altLang="zh-CN" b="0" dirty="0"/>
              <a:t>can be created by buying a European call option on a stock with a </a:t>
            </a:r>
            <a:r>
              <a:rPr lang="en-US" altLang="zh-CN" b="0" dirty="0" smtClean="0"/>
              <a:t>lower strike </a:t>
            </a:r>
            <a:r>
              <a:rPr lang="en-US" altLang="zh-CN" b="0" dirty="0"/>
              <a:t>price and selling a European call option on the same stock with a higher strike </a:t>
            </a:r>
            <a:r>
              <a:rPr lang="en-US" altLang="zh-CN" b="0" dirty="0" smtClean="0"/>
              <a:t>price. Bull </a:t>
            </a:r>
            <a:r>
              <a:rPr lang="en-US" altLang="zh-CN" b="0" dirty="0"/>
              <a:t>spreads can also be created by buying a European put with a low strike price and </a:t>
            </a:r>
            <a:r>
              <a:rPr lang="en-US" altLang="zh-CN" b="0" dirty="0" smtClean="0"/>
              <a:t>selling a </a:t>
            </a:r>
            <a:r>
              <a:rPr lang="en-US" altLang="zh-CN" b="0" dirty="0"/>
              <a:t>European put with a high strike price.</a:t>
            </a:r>
            <a:endParaRPr lang="zh-CN" altLang="en-US" dirty="0"/>
          </a:p>
        </p:txBody>
      </p:sp>
      <p:sp>
        <p:nvSpPr>
          <p:cNvPr id="4" name="标题 1"/>
          <p:cNvSpPr>
            <a:spLocks noGrp="1"/>
          </p:cNvSpPr>
          <p:nvPr>
            <p:ph type="title"/>
          </p:nvPr>
        </p:nvSpPr>
        <p:spPr/>
        <p:txBody>
          <a:bodyPr/>
          <a:lstStyle/>
          <a:p>
            <a:r>
              <a:rPr lang="en-US" altLang="zh-CN" dirty="0" smtClean="0"/>
              <a:t>Payoffs of Various Spread Strategies</a:t>
            </a:r>
            <a:endParaRPr lang="en-US" altLang="zh-CN" dirty="0"/>
          </a:p>
        </p:txBody>
      </p:sp>
      <p:grpSp>
        <p:nvGrpSpPr>
          <p:cNvPr id="5" name="组合 45"/>
          <p:cNvGrpSpPr>
            <a:grpSpLocks/>
          </p:cNvGrpSpPr>
          <p:nvPr/>
        </p:nvGrpSpPr>
        <p:grpSpPr bwMode="auto">
          <a:xfrm>
            <a:off x="1472205" y="3535937"/>
            <a:ext cx="3146425" cy="2130425"/>
            <a:chOff x="993498" y="2420888"/>
            <a:chExt cx="3146454" cy="2131588"/>
          </a:xfrm>
        </p:grpSpPr>
        <p:cxnSp>
          <p:nvCxnSpPr>
            <p:cNvPr id="6" name="直接箭头连接符 5"/>
            <p:cNvCxnSpPr/>
            <p:nvPr/>
          </p:nvCxnSpPr>
          <p:spPr>
            <a:xfrm flipV="1">
              <a:off x="993498" y="2463773"/>
              <a:ext cx="0" cy="2088703"/>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993498" y="350891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6"/>
            <p:cNvSpPr txBox="1">
              <a:spLocks noChangeArrowheads="1"/>
            </p:cNvSpPr>
            <p:nvPr/>
          </p:nvSpPr>
          <p:spPr bwMode="auto">
            <a:xfrm>
              <a:off x="993499" y="242088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9" name="文本框 7"/>
            <p:cNvSpPr txBox="1">
              <a:spLocks noChangeArrowheads="1"/>
            </p:cNvSpPr>
            <p:nvPr/>
          </p:nvSpPr>
          <p:spPr bwMode="auto">
            <a:xfrm>
              <a:off x="3751704" y="351465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0" name="文本框 8"/>
            <p:cNvSpPr txBox="1">
              <a:spLocks noChangeArrowheads="1"/>
            </p:cNvSpPr>
            <p:nvPr/>
          </p:nvSpPr>
          <p:spPr bwMode="auto">
            <a:xfrm>
              <a:off x="993498" y="351465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1" name="直接连接符 10"/>
            <p:cNvCxnSpPr/>
            <p:nvPr/>
          </p:nvCxnSpPr>
          <p:spPr>
            <a:xfrm>
              <a:off x="993498" y="4293572"/>
              <a:ext cx="630244"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1653904" y="2565429"/>
              <a:ext cx="1728804" cy="1728143"/>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93498" y="3068942"/>
              <a:ext cx="2084407" cy="0"/>
            </a:xfrm>
            <a:prstGeom prst="line">
              <a:avLst/>
            </a:prstGeom>
            <a:ln w="9525">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9" idx="2"/>
            </p:cNvCxnSpPr>
            <p:nvPr/>
          </p:nvCxnSpPr>
          <p:spPr>
            <a:xfrm>
              <a:off x="3060442" y="3068942"/>
              <a:ext cx="885833" cy="81483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993498" y="4095026"/>
              <a:ext cx="660406"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653904" y="2698852"/>
              <a:ext cx="1424001" cy="139617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077905" y="2698852"/>
              <a:ext cx="79058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8" name="组合 46"/>
          <p:cNvGrpSpPr>
            <a:grpSpLocks/>
          </p:cNvGrpSpPr>
          <p:nvPr/>
        </p:nvGrpSpPr>
        <p:grpSpPr bwMode="auto">
          <a:xfrm>
            <a:off x="5062089" y="3535937"/>
            <a:ext cx="3146425" cy="2130425"/>
            <a:chOff x="4642012" y="2420888"/>
            <a:chExt cx="3146454" cy="2131588"/>
          </a:xfrm>
        </p:grpSpPr>
        <p:cxnSp>
          <p:nvCxnSpPr>
            <p:cNvPr id="19" name="直接箭头连接符 18"/>
            <p:cNvCxnSpPr/>
            <p:nvPr/>
          </p:nvCxnSpPr>
          <p:spPr>
            <a:xfrm flipV="1">
              <a:off x="4642012" y="2463773"/>
              <a:ext cx="0" cy="2088703"/>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4642012" y="350891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11"/>
            <p:cNvSpPr txBox="1">
              <a:spLocks noChangeArrowheads="1"/>
            </p:cNvSpPr>
            <p:nvPr/>
          </p:nvSpPr>
          <p:spPr bwMode="auto">
            <a:xfrm>
              <a:off x="4642013" y="242088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2" name="文本框 12"/>
            <p:cNvSpPr txBox="1">
              <a:spLocks noChangeArrowheads="1"/>
            </p:cNvSpPr>
            <p:nvPr/>
          </p:nvSpPr>
          <p:spPr bwMode="auto">
            <a:xfrm>
              <a:off x="7400218" y="351465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3" name="文本框 13"/>
            <p:cNvSpPr txBox="1">
              <a:spLocks noChangeArrowheads="1"/>
            </p:cNvSpPr>
            <p:nvPr/>
          </p:nvSpPr>
          <p:spPr bwMode="auto">
            <a:xfrm>
              <a:off x="4642012" y="351465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4" name="直接连接符 23"/>
            <p:cNvCxnSpPr/>
            <p:nvPr/>
          </p:nvCxnSpPr>
          <p:spPr>
            <a:xfrm>
              <a:off x="6500992" y="2786212"/>
              <a:ext cx="1093797"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4859502" y="2786212"/>
              <a:ext cx="1619265" cy="1620134"/>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235742" y="3879009"/>
              <a:ext cx="2359047" cy="0"/>
            </a:xfrm>
            <a:prstGeom prst="line">
              <a:avLst/>
            </a:prstGeom>
            <a:ln w="9525">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684875" y="3326257"/>
              <a:ext cx="550867" cy="55275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516867" y="3068942"/>
              <a:ext cx="107792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5254793" y="3068942"/>
              <a:ext cx="1262075" cy="122463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4661062" y="4293572"/>
              <a:ext cx="59373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31" name="矩形 44"/>
          <p:cNvSpPr>
            <a:spLocks noChangeArrowheads="1"/>
          </p:cNvSpPr>
          <p:nvPr/>
        </p:nvSpPr>
        <p:spPr bwMode="auto">
          <a:xfrm>
            <a:off x="2065069" y="5799999"/>
            <a:ext cx="1767022"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Bull Call Spread</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32" name="矩形 3"/>
          <p:cNvSpPr>
            <a:spLocks noChangeArrowheads="1"/>
          </p:cNvSpPr>
          <p:nvPr/>
        </p:nvSpPr>
        <p:spPr bwMode="auto">
          <a:xfrm>
            <a:off x="5564774" y="5799999"/>
            <a:ext cx="1733359"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Bull Put Spread</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33" name="文本框 32"/>
          <p:cNvSpPr txBox="1"/>
          <p:nvPr/>
        </p:nvSpPr>
        <p:spPr>
          <a:xfrm>
            <a:off x="8232326" y="3872288"/>
            <a:ext cx="3407323" cy="923330"/>
          </a:xfrm>
          <a:prstGeom prst="rect">
            <a:avLst/>
          </a:prstGeom>
          <a:noFill/>
        </p:spPr>
        <p:txBody>
          <a:bodyPr wrap="square" rtlCol="0">
            <a:spAutoFit/>
          </a:bodyPr>
          <a:lstStyle/>
          <a:p>
            <a:r>
              <a:rPr lang="zh-CN" altLang="en-US" b="1" dirty="0">
                <a:solidFill>
                  <a:srgbClr val="FF0000"/>
                </a:solidFill>
              </a:rPr>
              <a:t>价</a:t>
            </a:r>
            <a:r>
              <a:rPr lang="zh-CN" altLang="en-US" b="1" dirty="0" smtClean="0">
                <a:solidFill>
                  <a:srgbClr val="FF0000"/>
                </a:solidFill>
              </a:rPr>
              <a:t>差策略的</a:t>
            </a:r>
            <a:r>
              <a:rPr lang="en-US" altLang="zh-CN" b="1" dirty="0" smtClean="0">
                <a:solidFill>
                  <a:srgbClr val="FF0000"/>
                </a:solidFill>
              </a:rPr>
              <a:t>Payoff</a:t>
            </a:r>
            <a:r>
              <a:rPr lang="zh-CN" altLang="en-US" b="1" dirty="0" smtClean="0">
                <a:solidFill>
                  <a:srgbClr val="FF0000"/>
                </a:solidFill>
              </a:rPr>
              <a:t>是要求计算的，但是书上给的表格和方法太麻烦，之后有例题帮助大家理解！</a:t>
            </a:r>
            <a:endParaRPr lang="zh-CN" altLang="en-US" b="1" dirty="0">
              <a:solidFill>
                <a:srgbClr val="FF0000"/>
              </a:solidFill>
            </a:endParaRPr>
          </a:p>
        </p:txBody>
      </p:sp>
    </p:spTree>
    <p:extLst>
      <p:ext uri="{BB962C8B-B14F-4D97-AF65-F5344CB8AC3E}">
        <p14:creationId xmlns:p14="http://schemas.microsoft.com/office/powerpoint/2010/main" val="341388327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Bear spread (type of vertical spread</a:t>
            </a:r>
            <a:r>
              <a:rPr lang="en-US" altLang="zh-CN" dirty="0" smtClean="0"/>
              <a:t>)</a:t>
            </a:r>
          </a:p>
          <a:p>
            <a:pPr lvl="1"/>
            <a:r>
              <a:rPr lang="en-US" altLang="zh-CN" dirty="0"/>
              <a:t>A </a:t>
            </a:r>
            <a:r>
              <a:rPr lang="en-US" altLang="zh-CN" i="1" dirty="0"/>
              <a:t>bear spread </a:t>
            </a:r>
            <a:r>
              <a:rPr lang="en-US" altLang="zh-CN" dirty="0"/>
              <a:t>can be created by buying a European put with a higher strike price </a:t>
            </a:r>
            <a:r>
              <a:rPr lang="en-US" altLang="zh-CN" dirty="0" smtClean="0"/>
              <a:t>and selling </a:t>
            </a:r>
            <a:r>
              <a:rPr lang="en-US" altLang="zh-CN" dirty="0"/>
              <a:t>a European put with a lower strike price on the same underlying stock. </a:t>
            </a:r>
            <a:r>
              <a:rPr lang="en-US" altLang="zh-CN" dirty="0" smtClean="0"/>
              <a:t>It </a:t>
            </a:r>
            <a:r>
              <a:rPr lang="en-US" altLang="zh-CN" dirty="0"/>
              <a:t>is important to note that we can create a bear </a:t>
            </a:r>
            <a:r>
              <a:rPr lang="en-US" altLang="zh-CN" dirty="0" smtClean="0"/>
              <a:t>spread using </a:t>
            </a:r>
            <a:r>
              <a:rPr lang="en-US" altLang="zh-CN" dirty="0"/>
              <a:t>call options also.</a:t>
            </a:r>
            <a:endParaRPr lang="zh-CN" altLang="en-US" dirty="0"/>
          </a:p>
        </p:txBody>
      </p:sp>
      <p:sp>
        <p:nvSpPr>
          <p:cNvPr id="5" name="标题 1"/>
          <p:cNvSpPr>
            <a:spLocks noGrp="1"/>
          </p:cNvSpPr>
          <p:nvPr>
            <p:ph type="title"/>
          </p:nvPr>
        </p:nvSpPr>
        <p:spPr/>
        <p:txBody>
          <a:bodyPr/>
          <a:lstStyle/>
          <a:p>
            <a:r>
              <a:rPr lang="en-US" altLang="zh-CN" dirty="0" smtClean="0"/>
              <a:t>Payoffs of Various Spread Strategies</a:t>
            </a:r>
            <a:endParaRPr lang="en-US" altLang="zh-CN" dirty="0"/>
          </a:p>
        </p:txBody>
      </p:sp>
      <p:grpSp>
        <p:nvGrpSpPr>
          <p:cNvPr id="19" name="组合 8"/>
          <p:cNvGrpSpPr>
            <a:grpSpLocks/>
          </p:cNvGrpSpPr>
          <p:nvPr/>
        </p:nvGrpSpPr>
        <p:grpSpPr bwMode="auto">
          <a:xfrm>
            <a:off x="6356082" y="3106789"/>
            <a:ext cx="3146425" cy="2130425"/>
            <a:chOff x="4823030" y="1772816"/>
            <a:chExt cx="3146454" cy="2131588"/>
          </a:xfrm>
        </p:grpSpPr>
        <p:cxnSp>
          <p:nvCxnSpPr>
            <p:cNvPr id="20" name="直接箭头连接符 19"/>
            <p:cNvCxnSpPr/>
            <p:nvPr/>
          </p:nvCxnSpPr>
          <p:spPr>
            <a:xfrm flipV="1">
              <a:off x="4823030" y="1815701"/>
              <a:ext cx="0" cy="2088703"/>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4823030" y="2860847"/>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34"/>
            <p:cNvSpPr txBox="1">
              <a:spLocks noChangeArrowheads="1"/>
            </p:cNvSpPr>
            <p:nvPr/>
          </p:nvSpPr>
          <p:spPr bwMode="auto">
            <a:xfrm>
              <a:off x="4823031" y="1772816"/>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3" name="文本框 35"/>
            <p:cNvSpPr txBox="1">
              <a:spLocks noChangeArrowheads="1"/>
            </p:cNvSpPr>
            <p:nvPr/>
          </p:nvSpPr>
          <p:spPr bwMode="auto">
            <a:xfrm>
              <a:off x="7581236" y="2866578"/>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4" name="文本框 36"/>
            <p:cNvSpPr txBox="1">
              <a:spLocks noChangeArrowheads="1"/>
            </p:cNvSpPr>
            <p:nvPr/>
          </p:nvSpPr>
          <p:spPr bwMode="auto">
            <a:xfrm>
              <a:off x="4823030" y="286657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5" name="直接连接符 24"/>
            <p:cNvCxnSpPr/>
            <p:nvPr/>
          </p:nvCxnSpPr>
          <p:spPr>
            <a:xfrm>
              <a:off x="5434224" y="2131787"/>
              <a:ext cx="1370025" cy="136917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04248" y="3500959"/>
              <a:ext cx="971559"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724738" y="2530466"/>
              <a:ext cx="2051069" cy="0"/>
            </a:xfrm>
            <a:prstGeom prst="line">
              <a:avLst/>
            </a:prstGeom>
            <a:ln w="9525">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865893" y="2530466"/>
              <a:ext cx="854083" cy="89266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804248" y="3302413"/>
              <a:ext cx="9715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715213" y="2252503"/>
              <a:ext cx="1089035" cy="104991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823030" y="2247737"/>
              <a:ext cx="896946"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cxnSp>
        <p:nvCxnSpPr>
          <p:cNvPr id="32" name="直接箭头连接符 31"/>
          <p:cNvCxnSpPr/>
          <p:nvPr/>
        </p:nvCxnSpPr>
        <p:spPr>
          <a:xfrm flipV="1">
            <a:off x="2076600" y="3160159"/>
            <a:ext cx="0" cy="2087563"/>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076600" y="4204734"/>
            <a:ext cx="2952750" cy="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5"/>
          <p:cNvSpPr txBox="1">
            <a:spLocks noChangeArrowheads="1"/>
          </p:cNvSpPr>
          <p:nvPr/>
        </p:nvSpPr>
        <p:spPr bwMode="auto">
          <a:xfrm>
            <a:off x="2123420" y="3106789"/>
            <a:ext cx="728663" cy="3683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5" name="文本框 6"/>
          <p:cNvSpPr txBox="1">
            <a:spLocks noChangeArrowheads="1"/>
          </p:cNvSpPr>
          <p:nvPr/>
        </p:nvSpPr>
        <p:spPr bwMode="auto">
          <a:xfrm>
            <a:off x="4834088" y="4211084"/>
            <a:ext cx="388937" cy="3683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36" name="文本框 7"/>
          <p:cNvSpPr txBox="1">
            <a:spLocks noChangeArrowheads="1"/>
          </p:cNvSpPr>
          <p:nvPr/>
        </p:nvSpPr>
        <p:spPr bwMode="auto">
          <a:xfrm>
            <a:off x="2117082" y="4265060"/>
            <a:ext cx="309563" cy="3683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37" name="直接连接符 36"/>
          <p:cNvCxnSpPr/>
          <p:nvPr/>
        </p:nvCxnSpPr>
        <p:spPr>
          <a:xfrm>
            <a:off x="2076600" y="4646059"/>
            <a:ext cx="2084388" cy="0"/>
          </a:xfrm>
          <a:prstGeom prst="line">
            <a:avLst/>
          </a:prstGeom>
          <a:ln w="9525">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4148288" y="3764997"/>
            <a:ext cx="881062" cy="881062"/>
          </a:xfrm>
          <a:prstGeom prst="line">
            <a:avLst/>
          </a:prstGeom>
          <a:ln>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076600" y="3526872"/>
            <a:ext cx="804863" cy="0"/>
          </a:xfrm>
          <a:prstGeom prst="line">
            <a:avLst/>
          </a:prstGeom>
          <a:ln>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076600" y="3764997"/>
            <a:ext cx="804863"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875113" y="3755472"/>
            <a:ext cx="1262062" cy="1233487"/>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4137175" y="4988959"/>
            <a:ext cx="871538"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881463" y="3526872"/>
            <a:ext cx="1646237" cy="1646237"/>
          </a:xfrm>
          <a:prstGeom prst="line">
            <a:avLst/>
          </a:prstGeom>
          <a:ln>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4" name="矩形 9"/>
          <p:cNvSpPr>
            <a:spLocks noChangeArrowheads="1"/>
          </p:cNvSpPr>
          <p:nvPr/>
        </p:nvSpPr>
        <p:spPr bwMode="auto">
          <a:xfrm>
            <a:off x="2481775" y="5477294"/>
            <a:ext cx="1842364"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Bear Call Spread</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45" name="矩形 31"/>
          <p:cNvSpPr>
            <a:spLocks noChangeArrowheads="1"/>
          </p:cNvSpPr>
          <p:nvPr/>
        </p:nvSpPr>
        <p:spPr bwMode="auto">
          <a:xfrm>
            <a:off x="7184484" y="5446763"/>
            <a:ext cx="1808700"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Bear Put Spread</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Tree>
    <p:extLst>
      <p:ext uri="{BB962C8B-B14F-4D97-AF65-F5344CB8AC3E}">
        <p14:creationId xmlns:p14="http://schemas.microsoft.com/office/powerpoint/2010/main" val="119423915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Payoffs of Various Spread Strategies</a:t>
            </a:r>
            <a:endParaRPr lang="zh-CN" altLang="en-US" dirty="0"/>
          </a:p>
        </p:txBody>
      </p:sp>
      <p:sp>
        <p:nvSpPr>
          <p:cNvPr id="3" name="文本占位符 2"/>
          <p:cNvSpPr>
            <a:spLocks noGrp="1"/>
          </p:cNvSpPr>
          <p:nvPr>
            <p:ph type="body" sz="quarter" idx="10"/>
          </p:nvPr>
        </p:nvSpPr>
        <p:spPr/>
        <p:txBody>
          <a:bodyPr/>
          <a:lstStyle/>
          <a:p>
            <a:r>
              <a:rPr lang="en-US" altLang="zh-CN" dirty="0"/>
              <a:t>Box Spreads</a:t>
            </a:r>
          </a:p>
          <a:p>
            <a:pPr lvl="1"/>
            <a:r>
              <a:rPr lang="en-US" altLang="zh-CN" b="0" dirty="0"/>
              <a:t>A </a:t>
            </a:r>
            <a:r>
              <a:rPr lang="en-US" altLang="zh-CN" b="0" i="1" dirty="0"/>
              <a:t>box spread </a:t>
            </a:r>
            <a:r>
              <a:rPr lang="en-US" altLang="zh-CN" b="0" dirty="0"/>
              <a:t>is a combination of a bull call spread with strike prices </a:t>
            </a:r>
            <a:r>
              <a:rPr lang="en-US" altLang="zh-CN" b="0" dirty="0" smtClean="0"/>
              <a:t>K</a:t>
            </a:r>
            <a:r>
              <a:rPr lang="en-US" altLang="zh-CN" b="0" baseline="-25000" dirty="0" smtClean="0"/>
              <a:t>1</a:t>
            </a:r>
            <a:r>
              <a:rPr lang="zh-CN" altLang="en-US" b="0" dirty="0" smtClean="0"/>
              <a:t> </a:t>
            </a:r>
            <a:r>
              <a:rPr lang="en-US" altLang="zh-CN" b="0" dirty="0"/>
              <a:t>and </a:t>
            </a:r>
            <a:r>
              <a:rPr lang="en-US" altLang="zh-CN" b="0" dirty="0" smtClean="0"/>
              <a:t>K</a:t>
            </a:r>
            <a:r>
              <a:rPr lang="en-US" altLang="zh-CN" b="0" baseline="-25000" dirty="0" smtClean="0"/>
              <a:t>2</a:t>
            </a:r>
            <a:r>
              <a:rPr lang="zh-CN" altLang="en-US" b="0" dirty="0" smtClean="0"/>
              <a:t> </a:t>
            </a:r>
            <a:r>
              <a:rPr lang="en-US" altLang="zh-CN" b="0" dirty="0"/>
              <a:t>and a </a:t>
            </a:r>
            <a:r>
              <a:rPr lang="en-US" altLang="zh-CN" b="0" dirty="0" smtClean="0"/>
              <a:t>bear put </a:t>
            </a:r>
            <a:r>
              <a:rPr lang="en-US" altLang="zh-CN" b="0" dirty="0"/>
              <a:t>spread with the same two strike prices</a:t>
            </a:r>
            <a:r>
              <a:rPr lang="en-US" altLang="zh-CN" b="0" dirty="0" smtClean="0"/>
              <a:t>.</a:t>
            </a:r>
          </a:p>
          <a:p>
            <a:pPr lvl="2"/>
            <a:r>
              <a:rPr lang="en-US" altLang="zh-CN" b="0" dirty="0"/>
              <a:t>The payoff from a box spread is </a:t>
            </a:r>
            <a:r>
              <a:rPr lang="en-US" altLang="zh-CN" b="0" dirty="0" smtClean="0"/>
              <a:t>always</a:t>
            </a:r>
            <a:r>
              <a:rPr lang="en-US" altLang="zh-CN" dirty="0"/>
              <a:t> </a:t>
            </a:r>
            <a:r>
              <a:rPr lang="en-US" altLang="zh-CN" dirty="0" smtClean="0"/>
              <a:t>K</a:t>
            </a:r>
            <a:r>
              <a:rPr lang="en-US" altLang="zh-CN" baseline="-25000" dirty="0" smtClean="0"/>
              <a:t>2</a:t>
            </a:r>
            <a:r>
              <a:rPr lang="en-US" altLang="zh-CN" dirty="0"/>
              <a:t> </a:t>
            </a:r>
            <a:r>
              <a:rPr lang="en-US" altLang="zh-CN" dirty="0" smtClean="0"/>
              <a:t>-K</a:t>
            </a:r>
            <a:r>
              <a:rPr lang="en-US" altLang="zh-CN" baseline="-25000" dirty="0" smtClean="0"/>
              <a:t>1</a:t>
            </a:r>
            <a:endParaRPr lang="en-US" altLang="zh-CN" b="0" dirty="0"/>
          </a:p>
          <a:p>
            <a:pPr lvl="2"/>
            <a:r>
              <a:rPr lang="en-US" altLang="zh-CN" b="0" dirty="0" smtClean="0"/>
              <a:t>The </a:t>
            </a:r>
            <a:r>
              <a:rPr lang="en-US" altLang="zh-CN" b="0" dirty="0"/>
              <a:t>value of a box spread is therefore always the present value of this payoff </a:t>
            </a:r>
            <a:endParaRPr lang="en-US" altLang="zh-CN" dirty="0"/>
          </a:p>
          <a:p>
            <a:pPr lvl="2"/>
            <a:r>
              <a:rPr lang="en-US" altLang="zh-CN" b="0" dirty="0" smtClean="0"/>
              <a:t>A </a:t>
            </a:r>
            <a:r>
              <a:rPr lang="en-US" altLang="zh-CN" b="0" dirty="0"/>
              <a:t>value different from this would give rise to an arbitrage opportunity</a:t>
            </a:r>
            <a:endParaRPr lang="zh-CN" altLang="en-US" dirty="0"/>
          </a:p>
        </p:txBody>
      </p:sp>
      <p:grpSp>
        <p:nvGrpSpPr>
          <p:cNvPr id="4" name="组合 29"/>
          <p:cNvGrpSpPr>
            <a:grpSpLocks/>
          </p:cNvGrpSpPr>
          <p:nvPr/>
        </p:nvGrpSpPr>
        <p:grpSpPr bwMode="auto">
          <a:xfrm>
            <a:off x="4197714" y="3992926"/>
            <a:ext cx="3146425" cy="2132013"/>
            <a:chOff x="1174516" y="1772816"/>
            <a:chExt cx="3146454" cy="2131588"/>
          </a:xfrm>
        </p:grpSpPr>
        <p:grpSp>
          <p:nvGrpSpPr>
            <p:cNvPr id="5" name="组合 3"/>
            <p:cNvGrpSpPr>
              <a:grpSpLocks/>
            </p:cNvGrpSpPr>
            <p:nvPr/>
          </p:nvGrpSpPr>
          <p:grpSpPr bwMode="auto">
            <a:xfrm>
              <a:off x="1174516" y="1772816"/>
              <a:ext cx="3146454" cy="2131588"/>
              <a:chOff x="993498" y="2420888"/>
              <a:chExt cx="3146454" cy="2131588"/>
            </a:xfrm>
          </p:grpSpPr>
          <p:cxnSp>
            <p:nvCxnSpPr>
              <p:cNvPr id="16" name="直接箭头连接符 15"/>
              <p:cNvCxnSpPr/>
              <p:nvPr/>
            </p:nvCxnSpPr>
            <p:spPr>
              <a:xfrm flipV="1">
                <a:off x="993498" y="2463742"/>
                <a:ext cx="0" cy="2088734"/>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993498" y="350810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6"/>
              <p:cNvSpPr txBox="1">
                <a:spLocks noChangeArrowheads="1"/>
              </p:cNvSpPr>
              <p:nvPr/>
            </p:nvSpPr>
            <p:spPr bwMode="auto">
              <a:xfrm>
                <a:off x="993499" y="242088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9" name="文本框 7"/>
              <p:cNvSpPr txBox="1">
                <a:spLocks noChangeArrowheads="1"/>
              </p:cNvSpPr>
              <p:nvPr/>
            </p:nvSpPr>
            <p:spPr bwMode="auto">
              <a:xfrm>
                <a:off x="3751704" y="351465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0" name="文本框 8"/>
              <p:cNvSpPr txBox="1">
                <a:spLocks noChangeArrowheads="1"/>
              </p:cNvSpPr>
              <p:nvPr/>
            </p:nvSpPr>
            <p:spPr bwMode="auto">
              <a:xfrm>
                <a:off x="993498" y="351465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1" name="直接连接符 20"/>
              <p:cNvCxnSpPr/>
              <p:nvPr/>
            </p:nvCxnSpPr>
            <p:spPr>
              <a:xfrm>
                <a:off x="993498" y="4293765"/>
                <a:ext cx="630243"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1653904" y="2565322"/>
                <a:ext cx="1728803" cy="172844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993498" y="3068459"/>
                <a:ext cx="2084406" cy="0"/>
              </a:xfrm>
              <a:prstGeom prst="line">
                <a:avLst/>
              </a:prstGeom>
              <a:ln w="9525">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9" idx="2"/>
              </p:cNvCxnSpPr>
              <p:nvPr/>
            </p:nvCxnSpPr>
            <p:spPr>
              <a:xfrm>
                <a:off x="3060442" y="3068459"/>
                <a:ext cx="885833" cy="81581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993498" y="4095367"/>
                <a:ext cx="66040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653904" y="2700232"/>
                <a:ext cx="1424000" cy="13951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077904" y="2700232"/>
                <a:ext cx="79058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 name="组合 16"/>
            <p:cNvGrpSpPr>
              <a:grpSpLocks/>
            </p:cNvGrpSpPr>
            <p:nvPr/>
          </p:nvGrpSpPr>
          <p:grpSpPr bwMode="auto">
            <a:xfrm>
              <a:off x="1174516" y="1816172"/>
              <a:ext cx="2952329" cy="2088232"/>
              <a:chOff x="4823030" y="1816172"/>
              <a:chExt cx="2952329" cy="2088232"/>
            </a:xfrm>
          </p:grpSpPr>
          <p:cxnSp>
            <p:nvCxnSpPr>
              <p:cNvPr id="7" name="直接箭头连接符 6"/>
              <p:cNvCxnSpPr/>
              <p:nvPr/>
            </p:nvCxnSpPr>
            <p:spPr>
              <a:xfrm flipV="1">
                <a:off x="4823030" y="1815670"/>
                <a:ext cx="0" cy="2088734"/>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4823030" y="2860037"/>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434223" y="2129932"/>
                <a:ext cx="1370026" cy="1371327"/>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804248" y="3501259"/>
                <a:ext cx="971559"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5724738" y="2529903"/>
                <a:ext cx="2051069" cy="0"/>
              </a:xfrm>
              <a:prstGeom prst="line">
                <a:avLst/>
              </a:prstGeom>
              <a:ln w="9525">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4865892" y="2529903"/>
                <a:ext cx="854083" cy="891997"/>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804248" y="3301274"/>
                <a:ext cx="9715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715213" y="2252145"/>
                <a:ext cx="1089035" cy="104912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823030" y="2247384"/>
                <a:ext cx="89694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48126168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Payoffs of Various Spread Strategies</a:t>
            </a:r>
            <a:endParaRPr lang="zh-CN" altLang="en-US"/>
          </a:p>
        </p:txBody>
      </p:sp>
      <p:sp>
        <p:nvSpPr>
          <p:cNvPr id="3" name="文本占位符 2"/>
          <p:cNvSpPr>
            <a:spLocks noGrp="1"/>
          </p:cNvSpPr>
          <p:nvPr>
            <p:ph type="body" sz="quarter" idx="10"/>
          </p:nvPr>
        </p:nvSpPr>
        <p:spPr/>
        <p:txBody>
          <a:bodyPr/>
          <a:lstStyle/>
          <a:p>
            <a:r>
              <a:rPr lang="en-US" altLang="zh-CN" dirty="0"/>
              <a:t>Butterfly spread (sideways strategy</a:t>
            </a:r>
            <a:r>
              <a:rPr lang="en-US" altLang="zh-CN" dirty="0" smtClean="0"/>
              <a:t>)</a:t>
            </a:r>
          </a:p>
          <a:p>
            <a:pPr lvl="1"/>
            <a:r>
              <a:rPr lang="en-US" altLang="zh-CN" b="0" dirty="0"/>
              <a:t>A </a:t>
            </a:r>
            <a:r>
              <a:rPr lang="en-US" altLang="zh-CN" b="0" i="1" dirty="0"/>
              <a:t>butterfly spread </a:t>
            </a:r>
            <a:r>
              <a:rPr lang="en-US" altLang="zh-CN" b="0" dirty="0"/>
              <a:t>involves positions in options with three different strike prices. It can </a:t>
            </a:r>
            <a:r>
              <a:rPr lang="en-US" altLang="zh-CN" b="0" dirty="0" smtClean="0"/>
              <a:t>be created </a:t>
            </a:r>
            <a:r>
              <a:rPr lang="en-US" altLang="zh-CN" b="0" dirty="0"/>
              <a:t>using either call or put options.</a:t>
            </a:r>
            <a:endParaRPr lang="zh-CN" altLang="en-US" dirty="0"/>
          </a:p>
        </p:txBody>
      </p:sp>
      <p:grpSp>
        <p:nvGrpSpPr>
          <p:cNvPr id="4" name="组合 64"/>
          <p:cNvGrpSpPr>
            <a:grpSpLocks/>
          </p:cNvGrpSpPr>
          <p:nvPr/>
        </p:nvGrpSpPr>
        <p:grpSpPr bwMode="auto">
          <a:xfrm>
            <a:off x="1152716" y="2565209"/>
            <a:ext cx="6794500" cy="2871788"/>
            <a:chOff x="1174515" y="2001947"/>
            <a:chExt cx="6794969" cy="2870988"/>
          </a:xfrm>
        </p:grpSpPr>
        <p:cxnSp>
          <p:nvCxnSpPr>
            <p:cNvPr id="5" name="直接箭头连接符 4"/>
            <p:cNvCxnSpPr/>
            <p:nvPr/>
          </p:nvCxnSpPr>
          <p:spPr>
            <a:xfrm flipV="1">
              <a:off x="1174515" y="2176523"/>
              <a:ext cx="0" cy="2088568"/>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174515" y="3220807"/>
              <a:ext cx="2952954"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5"/>
            <p:cNvSpPr txBox="1">
              <a:spLocks noChangeArrowheads="1"/>
            </p:cNvSpPr>
            <p:nvPr/>
          </p:nvSpPr>
          <p:spPr bwMode="auto">
            <a:xfrm>
              <a:off x="1174517" y="2132856"/>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6"/>
            <p:cNvSpPr txBox="1">
              <a:spLocks noChangeArrowheads="1"/>
            </p:cNvSpPr>
            <p:nvPr/>
          </p:nvSpPr>
          <p:spPr bwMode="auto">
            <a:xfrm>
              <a:off x="3932722" y="3226618"/>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7"/>
            <p:cNvSpPr txBox="1">
              <a:spLocks noChangeArrowheads="1"/>
            </p:cNvSpPr>
            <p:nvPr/>
          </p:nvSpPr>
          <p:spPr bwMode="auto">
            <a:xfrm>
              <a:off x="1174516" y="322661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0" name="矩形 8"/>
            <p:cNvSpPr>
              <a:spLocks noChangeArrowheads="1"/>
            </p:cNvSpPr>
            <p:nvPr/>
          </p:nvSpPr>
          <p:spPr bwMode="auto">
            <a:xfrm>
              <a:off x="1763179" y="4365104"/>
              <a:ext cx="196913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Butterfly Spread</a:t>
              </a:r>
              <a:endParaRPr lang="zh-CN" altLang="en-US" sz="18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1" name="矩形 9"/>
            <p:cNvSpPr>
              <a:spLocks noChangeArrowheads="1"/>
            </p:cNvSpPr>
            <p:nvPr/>
          </p:nvSpPr>
          <p:spPr bwMode="auto">
            <a:xfrm>
              <a:off x="5411695" y="4365104"/>
              <a:ext cx="196913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solidFill>
                    <a:srgbClr val="2C3E50"/>
                  </a:solidFill>
                  <a:latin typeface="Segoe UI" panose="020B0502040204020203" pitchFamily="34" charset="0"/>
                  <a:ea typeface="微软雅黑" panose="020B0503020204020204" pitchFamily="34" charset="-122"/>
                  <a:cs typeface="Segoe UI" panose="020B0502040204020203" pitchFamily="34" charset="0"/>
                </a:rPr>
                <a:t>Butterfly Spread</a:t>
              </a:r>
              <a:endParaRPr lang="zh-CN" altLang="en-US" sz="18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cxnSp>
          <p:nvCxnSpPr>
            <p:cNvPr id="12" name="直接箭头连接符 11"/>
            <p:cNvCxnSpPr/>
            <p:nvPr/>
          </p:nvCxnSpPr>
          <p:spPr>
            <a:xfrm flipV="1">
              <a:off x="4822842" y="2176523"/>
              <a:ext cx="0" cy="2088568"/>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4822842" y="3220807"/>
              <a:ext cx="2952954"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2"/>
            <p:cNvSpPr txBox="1">
              <a:spLocks noChangeArrowheads="1"/>
            </p:cNvSpPr>
            <p:nvPr/>
          </p:nvSpPr>
          <p:spPr bwMode="auto">
            <a:xfrm>
              <a:off x="4823031" y="2132856"/>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文本框 13"/>
            <p:cNvSpPr txBox="1">
              <a:spLocks noChangeArrowheads="1"/>
            </p:cNvSpPr>
            <p:nvPr/>
          </p:nvSpPr>
          <p:spPr bwMode="auto">
            <a:xfrm>
              <a:off x="7581236" y="3226618"/>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6" name="文本框 14"/>
            <p:cNvSpPr txBox="1">
              <a:spLocks noChangeArrowheads="1"/>
            </p:cNvSpPr>
            <p:nvPr/>
          </p:nvSpPr>
          <p:spPr bwMode="auto">
            <a:xfrm>
              <a:off x="4823030" y="322661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7" name="直接连接符 16"/>
            <p:cNvCxnSpPr/>
            <p:nvPr/>
          </p:nvCxnSpPr>
          <p:spPr>
            <a:xfrm>
              <a:off x="1174515" y="4077819"/>
              <a:ext cx="877949"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52464" y="2001947"/>
              <a:ext cx="2075005" cy="207587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74515" y="3595353"/>
              <a:ext cx="2028965"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5751594" y="2636770"/>
              <a:ext cx="665208" cy="142994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4515" y="2670099"/>
              <a:ext cx="1476477"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650992" y="2670099"/>
              <a:ext cx="547726" cy="140772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4515" y="3428712"/>
              <a:ext cx="87794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2052464" y="2852610"/>
              <a:ext cx="574715" cy="57610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27178" y="2852610"/>
              <a:ext cx="549313" cy="57610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176491" y="3428712"/>
              <a:ext cx="950978"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607121" y="2603442"/>
              <a:ext cx="1149429" cy="1150616"/>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6756550" y="3754059"/>
              <a:ext cx="1019245" cy="2063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935563" y="2560591"/>
              <a:ext cx="1057348" cy="1055394"/>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005611" y="3595353"/>
              <a:ext cx="1687628"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416802" y="2636770"/>
              <a:ext cx="1324066"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822842" y="3411254"/>
              <a:ext cx="1170069" cy="1745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5992911" y="3039883"/>
              <a:ext cx="379438" cy="38089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356473" y="3031948"/>
              <a:ext cx="400078" cy="40628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756550" y="3438235"/>
              <a:ext cx="101924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3168553" y="2690730"/>
              <a:ext cx="912876" cy="912559"/>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052612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Payoffs of Various Spread Strategies</a:t>
            </a:r>
            <a:endParaRPr lang="zh-CN" altLang="en-US" dirty="0"/>
          </a:p>
        </p:txBody>
      </p:sp>
      <p:sp>
        <p:nvSpPr>
          <p:cNvPr id="3" name="文本占位符 2"/>
          <p:cNvSpPr>
            <a:spLocks noGrp="1"/>
          </p:cNvSpPr>
          <p:nvPr>
            <p:ph type="body" sz="quarter" idx="10"/>
          </p:nvPr>
        </p:nvSpPr>
        <p:spPr/>
        <p:txBody>
          <a:bodyPr/>
          <a:lstStyle/>
          <a:p>
            <a:r>
              <a:rPr lang="en-US" altLang="zh-CN" dirty="0" smtClean="0"/>
              <a:t>Calendar Spread</a:t>
            </a:r>
          </a:p>
          <a:p>
            <a:pPr lvl="1"/>
            <a:r>
              <a:rPr lang="en-US" altLang="zh-CN" b="0" dirty="0"/>
              <a:t>In a </a:t>
            </a:r>
            <a:r>
              <a:rPr lang="en-US" altLang="zh-CN" b="0" i="1" dirty="0"/>
              <a:t>calendar spread</a:t>
            </a:r>
            <a:r>
              <a:rPr lang="en-US" altLang="zh-CN" b="0" dirty="0"/>
              <a:t>, the options have the same strike price but different expiration </a:t>
            </a:r>
            <a:r>
              <a:rPr lang="en-US" altLang="zh-CN" b="0" dirty="0" smtClean="0"/>
              <a:t>dates. The </a:t>
            </a:r>
            <a:r>
              <a:rPr lang="en-US" altLang="zh-CN" b="0" dirty="0"/>
              <a:t>calendar spread can be created with calls or puts</a:t>
            </a:r>
            <a:r>
              <a:rPr lang="en-US" altLang="zh-CN" b="0" dirty="0" smtClean="0"/>
              <a:t>.</a:t>
            </a:r>
          </a:p>
          <a:p>
            <a:pPr lvl="1"/>
            <a:r>
              <a:rPr lang="en-US" altLang="zh-CN" b="0" dirty="0" smtClean="0"/>
              <a:t>It </a:t>
            </a:r>
            <a:r>
              <a:rPr lang="en-US" altLang="zh-CN" b="0" dirty="0"/>
              <a:t>can be created from:</a:t>
            </a:r>
          </a:p>
          <a:p>
            <a:pPr lvl="2"/>
            <a:r>
              <a:rPr lang="en-US" altLang="zh-CN" b="0" dirty="0" smtClean="0"/>
              <a:t>Two </a:t>
            </a:r>
            <a:r>
              <a:rPr lang="en-US" altLang="zh-CN" b="0" dirty="0"/>
              <a:t>calls: The investor sells a call option with a certain strike price and buys </a:t>
            </a:r>
            <a:r>
              <a:rPr lang="en-US" altLang="zh-CN" b="0" dirty="0" smtClean="0"/>
              <a:t>a call </a:t>
            </a:r>
            <a:r>
              <a:rPr lang="en-US" altLang="zh-CN" b="0" dirty="0"/>
              <a:t>option with same strike price but with a longer term to maturity.</a:t>
            </a:r>
          </a:p>
          <a:p>
            <a:pPr lvl="2"/>
            <a:r>
              <a:rPr lang="en-US" altLang="zh-CN" b="0" dirty="0" smtClean="0"/>
              <a:t>Two </a:t>
            </a:r>
            <a:r>
              <a:rPr lang="en-US" altLang="zh-CN" b="0" dirty="0"/>
              <a:t>puts: The investor sells a short-maturity put option and buys a </a:t>
            </a:r>
            <a:r>
              <a:rPr lang="en-US" altLang="zh-CN" b="0" dirty="0" smtClean="0"/>
              <a:t>long-maturity put </a:t>
            </a:r>
            <a:r>
              <a:rPr lang="en-US" altLang="zh-CN" b="0" dirty="0"/>
              <a:t>option with the same strike price.</a:t>
            </a:r>
            <a:endParaRPr lang="zh-CN" altLang="en-US" dirty="0"/>
          </a:p>
        </p:txBody>
      </p:sp>
    </p:spTree>
    <p:extLst>
      <p:ext uri="{BB962C8B-B14F-4D97-AF65-F5344CB8AC3E}">
        <p14:creationId xmlns:p14="http://schemas.microsoft.com/office/powerpoint/2010/main" val="318443178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Payoffs of Various Spread Strategies</a:t>
            </a:r>
            <a:endParaRPr lang="zh-CN" altLang="en-US"/>
          </a:p>
        </p:txBody>
      </p:sp>
      <p:sp>
        <p:nvSpPr>
          <p:cNvPr id="3" name="文本占位符 2"/>
          <p:cNvSpPr>
            <a:spLocks noGrp="1"/>
          </p:cNvSpPr>
          <p:nvPr>
            <p:ph type="body" sz="quarter" idx="10"/>
          </p:nvPr>
        </p:nvSpPr>
        <p:spPr/>
        <p:txBody>
          <a:bodyPr/>
          <a:lstStyle/>
          <a:p>
            <a:r>
              <a:rPr lang="en-US" altLang="zh-CN" dirty="0"/>
              <a:t>Calendar Spread</a:t>
            </a:r>
          </a:p>
          <a:p>
            <a:endParaRPr lang="zh-CN" altLang="en-US" dirty="0"/>
          </a:p>
        </p:txBody>
      </p:sp>
      <p:cxnSp>
        <p:nvCxnSpPr>
          <p:cNvPr id="5" name="直接箭头连接符 4"/>
          <p:cNvCxnSpPr/>
          <p:nvPr/>
        </p:nvCxnSpPr>
        <p:spPr>
          <a:xfrm flipV="1">
            <a:off x="1174750" y="1803400"/>
            <a:ext cx="0" cy="2087563"/>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174750" y="2846388"/>
            <a:ext cx="2952750"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5"/>
          <p:cNvSpPr txBox="1">
            <a:spLocks noChangeArrowheads="1"/>
          </p:cNvSpPr>
          <p:nvPr/>
        </p:nvSpPr>
        <p:spPr bwMode="auto">
          <a:xfrm>
            <a:off x="1174750" y="1758950"/>
            <a:ext cx="728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6"/>
          <p:cNvSpPr txBox="1">
            <a:spLocks noChangeArrowheads="1"/>
          </p:cNvSpPr>
          <p:nvPr/>
        </p:nvSpPr>
        <p:spPr bwMode="auto">
          <a:xfrm>
            <a:off x="3932238" y="2852738"/>
            <a:ext cx="388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7"/>
          <p:cNvSpPr txBox="1">
            <a:spLocks noChangeArrowheads="1"/>
          </p:cNvSpPr>
          <p:nvPr/>
        </p:nvSpPr>
        <p:spPr bwMode="auto">
          <a:xfrm>
            <a:off x="1174750" y="2852738"/>
            <a:ext cx="309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0" name="直接连接符 9"/>
          <p:cNvCxnSpPr/>
          <p:nvPr/>
        </p:nvCxnSpPr>
        <p:spPr>
          <a:xfrm>
            <a:off x="1174750" y="2276475"/>
            <a:ext cx="1674813"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849563" y="2292350"/>
            <a:ext cx="1222375" cy="1220788"/>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bwMode="auto">
          <a:xfrm>
            <a:off x="1144588" y="2160588"/>
            <a:ext cx="3013075" cy="1325562"/>
          </a:xfrm>
          <a:custGeom>
            <a:avLst/>
            <a:gdLst>
              <a:gd name="connsiteX0" fmla="*/ 0 w 3012141"/>
              <a:gd name="connsiteY0" fmla="*/ 1317812 h 1325913"/>
              <a:gd name="connsiteX1" fmla="*/ 1775012 w 3012141"/>
              <a:gd name="connsiteY1" fmla="*/ 1129553 h 1325913"/>
              <a:gd name="connsiteX2" fmla="*/ 3012141 w 3012141"/>
              <a:gd name="connsiteY2" fmla="*/ 0 h 1325913"/>
            </a:gdLst>
            <a:ahLst/>
            <a:cxnLst>
              <a:cxn ang="0">
                <a:pos x="connsiteX0" y="connsiteY0"/>
              </a:cxn>
              <a:cxn ang="0">
                <a:pos x="connsiteX1" y="connsiteY1"/>
              </a:cxn>
              <a:cxn ang="0">
                <a:pos x="connsiteX2" y="connsiteY2"/>
              </a:cxn>
            </a:cxnLst>
            <a:rect l="l" t="t" r="r" b="b"/>
            <a:pathLst>
              <a:path w="3012141" h="1325913">
                <a:moveTo>
                  <a:pt x="0" y="1317812"/>
                </a:moveTo>
                <a:cubicBezTo>
                  <a:pt x="636494" y="1333500"/>
                  <a:pt x="1272988" y="1349188"/>
                  <a:pt x="1775012" y="1129553"/>
                </a:cubicBezTo>
                <a:cubicBezTo>
                  <a:pt x="2277036" y="909918"/>
                  <a:pt x="2644588" y="454959"/>
                  <a:pt x="3012141" y="0"/>
                </a:cubicBezTo>
              </a:path>
            </a:pathLst>
          </a:custGeom>
          <a:ln w="9525">
            <a:solidFill>
              <a:srgbClr val="2C3E50"/>
            </a:solidFill>
            <a:prstDash val="lgDash"/>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2000" b="0"/>
          </a:p>
        </p:txBody>
      </p:sp>
      <p:sp>
        <p:nvSpPr>
          <p:cNvPr id="13" name="任意多边形 12"/>
          <p:cNvSpPr/>
          <p:nvPr/>
        </p:nvSpPr>
        <p:spPr bwMode="auto">
          <a:xfrm>
            <a:off x="1174750" y="2635250"/>
            <a:ext cx="1562100" cy="474663"/>
          </a:xfrm>
          <a:custGeom>
            <a:avLst/>
            <a:gdLst>
              <a:gd name="connsiteX0" fmla="*/ 0 w 3012141"/>
              <a:gd name="connsiteY0" fmla="*/ 1317812 h 1325913"/>
              <a:gd name="connsiteX1" fmla="*/ 1775012 w 3012141"/>
              <a:gd name="connsiteY1" fmla="*/ 1129553 h 1325913"/>
              <a:gd name="connsiteX2" fmla="*/ 3012141 w 3012141"/>
              <a:gd name="connsiteY2" fmla="*/ 0 h 1325913"/>
            </a:gdLst>
            <a:ahLst/>
            <a:cxnLst>
              <a:cxn ang="0">
                <a:pos x="connsiteX0" y="connsiteY0"/>
              </a:cxn>
              <a:cxn ang="0">
                <a:pos x="connsiteX1" y="connsiteY1"/>
              </a:cxn>
              <a:cxn ang="0">
                <a:pos x="connsiteX2" y="connsiteY2"/>
              </a:cxn>
            </a:cxnLst>
            <a:rect l="l" t="t" r="r" b="b"/>
            <a:pathLst>
              <a:path w="3012141" h="1325913">
                <a:moveTo>
                  <a:pt x="0" y="1317812"/>
                </a:moveTo>
                <a:cubicBezTo>
                  <a:pt x="636494" y="1333500"/>
                  <a:pt x="1272988" y="1349188"/>
                  <a:pt x="1775012" y="1129553"/>
                </a:cubicBezTo>
                <a:cubicBezTo>
                  <a:pt x="2277036" y="909918"/>
                  <a:pt x="2644588" y="454959"/>
                  <a:pt x="3012141" y="0"/>
                </a:cubicBezTo>
              </a:path>
            </a:pathLst>
          </a:custGeom>
          <a:ln w="19050">
            <a:solidFill>
              <a:srgbClr val="0070C0"/>
            </a:solidFill>
            <a:prstDash val="solid"/>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2000" b="0"/>
          </a:p>
        </p:txBody>
      </p:sp>
      <p:sp>
        <p:nvSpPr>
          <p:cNvPr id="14" name="任意多边形 13"/>
          <p:cNvSpPr/>
          <p:nvPr/>
        </p:nvSpPr>
        <p:spPr bwMode="auto">
          <a:xfrm rot="2463540">
            <a:off x="2714625" y="2692400"/>
            <a:ext cx="1376363" cy="449263"/>
          </a:xfrm>
          <a:custGeom>
            <a:avLst/>
            <a:gdLst>
              <a:gd name="connsiteX0" fmla="*/ 0 w 3012141"/>
              <a:gd name="connsiteY0" fmla="*/ 1317812 h 1325913"/>
              <a:gd name="connsiteX1" fmla="*/ 1775012 w 3012141"/>
              <a:gd name="connsiteY1" fmla="*/ 1129553 h 1325913"/>
              <a:gd name="connsiteX2" fmla="*/ 3012141 w 3012141"/>
              <a:gd name="connsiteY2" fmla="*/ 0 h 1325913"/>
            </a:gdLst>
            <a:ahLst/>
            <a:cxnLst>
              <a:cxn ang="0">
                <a:pos x="connsiteX0" y="connsiteY0"/>
              </a:cxn>
              <a:cxn ang="0">
                <a:pos x="connsiteX1" y="connsiteY1"/>
              </a:cxn>
              <a:cxn ang="0">
                <a:pos x="connsiteX2" y="connsiteY2"/>
              </a:cxn>
            </a:cxnLst>
            <a:rect l="l" t="t" r="r" b="b"/>
            <a:pathLst>
              <a:path w="3012141" h="1325913">
                <a:moveTo>
                  <a:pt x="0" y="1317812"/>
                </a:moveTo>
                <a:cubicBezTo>
                  <a:pt x="636494" y="1333500"/>
                  <a:pt x="1272988" y="1349188"/>
                  <a:pt x="1775012" y="1129553"/>
                </a:cubicBezTo>
                <a:cubicBezTo>
                  <a:pt x="2277036" y="909918"/>
                  <a:pt x="2644588" y="454959"/>
                  <a:pt x="3012141" y="0"/>
                </a:cubicBezTo>
              </a:path>
            </a:pathLst>
          </a:custGeom>
          <a:ln w="19050">
            <a:solidFill>
              <a:srgbClr val="0070C0"/>
            </a:solidFill>
            <a:prstDash val="solid"/>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2000" b="0"/>
          </a:p>
        </p:txBody>
      </p:sp>
      <p:cxnSp>
        <p:nvCxnSpPr>
          <p:cNvPr id="15" name="直接箭头连接符 14"/>
          <p:cNvCxnSpPr/>
          <p:nvPr/>
        </p:nvCxnSpPr>
        <p:spPr>
          <a:xfrm flipV="1">
            <a:off x="4822825" y="1803400"/>
            <a:ext cx="0" cy="2087563"/>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4822825" y="2846388"/>
            <a:ext cx="2952750"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9"/>
          <p:cNvSpPr txBox="1">
            <a:spLocks noChangeArrowheads="1"/>
          </p:cNvSpPr>
          <p:nvPr/>
        </p:nvSpPr>
        <p:spPr bwMode="auto">
          <a:xfrm>
            <a:off x="4822825" y="1758950"/>
            <a:ext cx="728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8" name="文本框 20"/>
          <p:cNvSpPr txBox="1">
            <a:spLocks noChangeArrowheads="1"/>
          </p:cNvSpPr>
          <p:nvPr/>
        </p:nvSpPr>
        <p:spPr bwMode="auto">
          <a:xfrm>
            <a:off x="7581900" y="2852738"/>
            <a:ext cx="387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9" name="文本框 21"/>
          <p:cNvSpPr txBox="1">
            <a:spLocks noChangeArrowheads="1"/>
          </p:cNvSpPr>
          <p:nvPr/>
        </p:nvSpPr>
        <p:spPr bwMode="auto">
          <a:xfrm>
            <a:off x="4822825" y="2852738"/>
            <a:ext cx="309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0" name="直接连接符 19"/>
          <p:cNvCxnSpPr/>
          <p:nvPr/>
        </p:nvCxnSpPr>
        <p:spPr>
          <a:xfrm>
            <a:off x="6416675" y="2263775"/>
            <a:ext cx="1323975"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132388" y="2292350"/>
            <a:ext cx="1284287" cy="128270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sp>
        <p:nvSpPr>
          <p:cNvPr id="22" name="任意多边形 21"/>
          <p:cNvSpPr/>
          <p:nvPr/>
        </p:nvSpPr>
        <p:spPr bwMode="auto">
          <a:xfrm>
            <a:off x="4895850" y="2678113"/>
            <a:ext cx="1562100" cy="474662"/>
          </a:xfrm>
          <a:custGeom>
            <a:avLst/>
            <a:gdLst>
              <a:gd name="connsiteX0" fmla="*/ 0 w 3012141"/>
              <a:gd name="connsiteY0" fmla="*/ 1317812 h 1325913"/>
              <a:gd name="connsiteX1" fmla="*/ 1775012 w 3012141"/>
              <a:gd name="connsiteY1" fmla="*/ 1129553 h 1325913"/>
              <a:gd name="connsiteX2" fmla="*/ 3012141 w 3012141"/>
              <a:gd name="connsiteY2" fmla="*/ 0 h 1325913"/>
            </a:gdLst>
            <a:ahLst/>
            <a:cxnLst>
              <a:cxn ang="0">
                <a:pos x="connsiteX0" y="connsiteY0"/>
              </a:cxn>
              <a:cxn ang="0">
                <a:pos x="connsiteX1" y="connsiteY1"/>
              </a:cxn>
              <a:cxn ang="0">
                <a:pos x="connsiteX2" y="connsiteY2"/>
              </a:cxn>
            </a:cxnLst>
            <a:rect l="l" t="t" r="r" b="b"/>
            <a:pathLst>
              <a:path w="3012141" h="1325913">
                <a:moveTo>
                  <a:pt x="0" y="1317812"/>
                </a:moveTo>
                <a:cubicBezTo>
                  <a:pt x="636494" y="1333500"/>
                  <a:pt x="1272988" y="1349188"/>
                  <a:pt x="1775012" y="1129553"/>
                </a:cubicBezTo>
                <a:cubicBezTo>
                  <a:pt x="2277036" y="909918"/>
                  <a:pt x="2644588" y="454959"/>
                  <a:pt x="3012141" y="0"/>
                </a:cubicBezTo>
              </a:path>
            </a:pathLst>
          </a:custGeom>
          <a:ln w="19050">
            <a:solidFill>
              <a:srgbClr val="0070C0"/>
            </a:solidFill>
            <a:prstDash val="solid"/>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2000"/>
          </a:p>
        </p:txBody>
      </p:sp>
      <p:sp>
        <p:nvSpPr>
          <p:cNvPr id="23" name="任意多边形 22"/>
          <p:cNvSpPr/>
          <p:nvPr/>
        </p:nvSpPr>
        <p:spPr bwMode="auto">
          <a:xfrm rot="2463540">
            <a:off x="6432550" y="2773363"/>
            <a:ext cx="1408113" cy="419100"/>
          </a:xfrm>
          <a:custGeom>
            <a:avLst/>
            <a:gdLst>
              <a:gd name="connsiteX0" fmla="*/ 0 w 3012141"/>
              <a:gd name="connsiteY0" fmla="*/ 1317812 h 1325913"/>
              <a:gd name="connsiteX1" fmla="*/ 1775012 w 3012141"/>
              <a:gd name="connsiteY1" fmla="*/ 1129553 h 1325913"/>
              <a:gd name="connsiteX2" fmla="*/ 3012141 w 3012141"/>
              <a:gd name="connsiteY2" fmla="*/ 0 h 1325913"/>
            </a:gdLst>
            <a:ahLst/>
            <a:cxnLst>
              <a:cxn ang="0">
                <a:pos x="connsiteX0" y="connsiteY0"/>
              </a:cxn>
              <a:cxn ang="0">
                <a:pos x="connsiteX1" y="connsiteY1"/>
              </a:cxn>
              <a:cxn ang="0">
                <a:pos x="connsiteX2" y="connsiteY2"/>
              </a:cxn>
            </a:cxnLst>
            <a:rect l="l" t="t" r="r" b="b"/>
            <a:pathLst>
              <a:path w="3012141" h="1325913">
                <a:moveTo>
                  <a:pt x="0" y="1317812"/>
                </a:moveTo>
                <a:cubicBezTo>
                  <a:pt x="636494" y="1333500"/>
                  <a:pt x="1272988" y="1349188"/>
                  <a:pt x="1775012" y="1129553"/>
                </a:cubicBezTo>
                <a:cubicBezTo>
                  <a:pt x="2277036" y="909918"/>
                  <a:pt x="2644588" y="454959"/>
                  <a:pt x="3012141" y="0"/>
                </a:cubicBezTo>
              </a:path>
            </a:pathLst>
          </a:custGeom>
          <a:ln w="19050">
            <a:solidFill>
              <a:srgbClr val="0070C0"/>
            </a:solidFill>
            <a:prstDash val="solid"/>
            <a:headEnd type="none" w="med" len="med"/>
            <a:tailEnd type="none" w="med" len="med"/>
          </a:ln>
          <a:effectLst/>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2000"/>
          </a:p>
        </p:txBody>
      </p:sp>
      <p:sp>
        <p:nvSpPr>
          <p:cNvPr id="24" name="矩形 31"/>
          <p:cNvSpPr>
            <a:spLocks noChangeArrowheads="1"/>
          </p:cNvSpPr>
          <p:nvPr/>
        </p:nvSpPr>
        <p:spPr bwMode="auto">
          <a:xfrm>
            <a:off x="3454803" y="4224234"/>
            <a:ext cx="223439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2200" dirty="0">
                <a:latin typeface="Segoe UI" panose="020B0502040204020203" pitchFamily="34" charset="0"/>
                <a:ea typeface="微软雅黑" panose="020B0503020204020204" pitchFamily="34" charset="-122"/>
                <a:cs typeface="Segoe UI" panose="020B0502040204020203" pitchFamily="34" charset="0"/>
              </a:rPr>
              <a:t>Calendar Spread</a:t>
            </a:r>
            <a:endParaRPr lang="zh-CN" altLang="en-US" sz="2200" dirty="0">
              <a:latin typeface="Segoe UI" panose="020B0502040204020203" pitchFamily="34" charset="0"/>
              <a:ea typeface="微软雅黑" panose="020B0503020204020204" pitchFamily="34" charset="-122"/>
              <a:cs typeface="Segoe UI" panose="020B0502040204020203" pitchFamily="34" charset="0"/>
            </a:endParaRPr>
          </a:p>
        </p:txBody>
      </p:sp>
    </p:spTree>
    <p:extLst>
      <p:ext uri="{BB962C8B-B14F-4D97-AF65-F5344CB8AC3E}">
        <p14:creationId xmlns:p14="http://schemas.microsoft.com/office/powerpoint/2010/main" val="33155729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Payoffs of Various Spread Strategies</a:t>
            </a:r>
            <a:endParaRPr lang="zh-CN" altLang="en-US" dirty="0"/>
          </a:p>
        </p:txBody>
      </p:sp>
      <p:sp>
        <p:nvSpPr>
          <p:cNvPr id="3" name="文本占位符 2"/>
          <p:cNvSpPr>
            <a:spLocks noGrp="1"/>
          </p:cNvSpPr>
          <p:nvPr>
            <p:ph type="body" sz="quarter" idx="10"/>
          </p:nvPr>
        </p:nvSpPr>
        <p:spPr/>
        <p:txBody>
          <a:bodyPr/>
          <a:lstStyle/>
          <a:p>
            <a:r>
              <a:rPr lang="en-US" altLang="zh-CN" dirty="0"/>
              <a:t>Diagonal spread</a:t>
            </a:r>
          </a:p>
          <a:p>
            <a:pPr lvl="1"/>
            <a:r>
              <a:rPr lang="en-US" altLang="zh-CN" b="0" dirty="0"/>
              <a:t>In a </a:t>
            </a:r>
            <a:r>
              <a:rPr lang="en-US" altLang="zh-CN" b="0" i="1" dirty="0"/>
              <a:t>diagonal spread</a:t>
            </a:r>
            <a:r>
              <a:rPr lang="en-US" altLang="zh-CN" b="0" dirty="0"/>
              <a:t>, both the expiration date and the strike price of the calls are </a:t>
            </a:r>
            <a:r>
              <a:rPr lang="en-US" altLang="zh-CN" b="0" dirty="0" smtClean="0"/>
              <a:t>different. This </a:t>
            </a:r>
            <a:r>
              <a:rPr lang="en-US" altLang="zh-CN" b="0" dirty="0"/>
              <a:t>increases the range of profit patterns that are possible.</a:t>
            </a:r>
            <a:endParaRPr lang="zh-CN" altLang="en-US" dirty="0"/>
          </a:p>
        </p:txBody>
      </p:sp>
    </p:spTree>
    <p:extLst>
      <p:ext uri="{BB962C8B-B14F-4D97-AF65-F5344CB8AC3E}">
        <p14:creationId xmlns:p14="http://schemas.microsoft.com/office/powerpoint/2010/main" val="70857031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Combination Strategies</a:t>
            </a:r>
            <a:endParaRPr lang="en-US" altLang="zh-CN" dirty="0"/>
          </a:p>
        </p:txBody>
      </p:sp>
      <p:sp>
        <p:nvSpPr>
          <p:cNvPr id="3" name="文本占位符 2"/>
          <p:cNvSpPr>
            <a:spLocks noGrp="1"/>
          </p:cNvSpPr>
          <p:nvPr>
            <p:ph type="body" sz="quarter" idx="10"/>
          </p:nvPr>
        </p:nvSpPr>
        <p:spPr/>
        <p:txBody>
          <a:bodyPr/>
          <a:lstStyle/>
          <a:p>
            <a:r>
              <a:rPr lang="en-US" altLang="zh-CN" dirty="0"/>
              <a:t>A combination strategy </a:t>
            </a:r>
            <a:endParaRPr lang="en-US" altLang="zh-CN" dirty="0" smtClean="0"/>
          </a:p>
          <a:p>
            <a:pPr lvl="1"/>
            <a:r>
              <a:rPr lang="en-US" altLang="zh-CN" b="0" dirty="0" smtClean="0"/>
              <a:t>Involves </a:t>
            </a:r>
            <a:r>
              <a:rPr lang="en-US" altLang="zh-CN" b="0" dirty="0"/>
              <a:t>taking a position in both call(s) and put(s) on </a:t>
            </a:r>
            <a:r>
              <a:rPr lang="en-US" altLang="zh-CN" b="0" dirty="0" smtClean="0"/>
              <a:t>the same </a:t>
            </a:r>
            <a:r>
              <a:rPr lang="en-US" altLang="zh-CN" b="0" dirty="0"/>
              <a:t>stock</a:t>
            </a:r>
            <a:r>
              <a:rPr lang="en-US" altLang="zh-CN" b="0" dirty="0" smtClean="0"/>
              <a:t>.</a:t>
            </a:r>
          </a:p>
          <a:p>
            <a:endParaRPr lang="zh-CN" altLang="en-US" b="0" dirty="0"/>
          </a:p>
        </p:txBody>
      </p:sp>
      <p:grpSp>
        <p:nvGrpSpPr>
          <p:cNvPr id="4" name="组合 51"/>
          <p:cNvGrpSpPr>
            <a:grpSpLocks/>
          </p:cNvGrpSpPr>
          <p:nvPr/>
        </p:nvGrpSpPr>
        <p:grpSpPr bwMode="auto">
          <a:xfrm>
            <a:off x="1396276" y="2275034"/>
            <a:ext cx="3146425" cy="2132013"/>
            <a:chOff x="1174516" y="2521548"/>
            <a:chExt cx="3146454" cy="2131588"/>
          </a:xfrm>
        </p:grpSpPr>
        <p:cxnSp>
          <p:nvCxnSpPr>
            <p:cNvPr id="5" name="直接箭头连接符 4"/>
            <p:cNvCxnSpPr/>
            <p:nvPr/>
          </p:nvCxnSpPr>
          <p:spPr>
            <a:xfrm flipV="1">
              <a:off x="1174516" y="2564402"/>
              <a:ext cx="0" cy="2088734"/>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174516" y="360876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5"/>
            <p:cNvSpPr txBox="1">
              <a:spLocks noChangeArrowheads="1"/>
            </p:cNvSpPr>
            <p:nvPr/>
          </p:nvSpPr>
          <p:spPr bwMode="auto">
            <a:xfrm>
              <a:off x="1174517" y="252154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6"/>
            <p:cNvSpPr txBox="1">
              <a:spLocks noChangeArrowheads="1"/>
            </p:cNvSpPr>
            <p:nvPr/>
          </p:nvSpPr>
          <p:spPr bwMode="auto">
            <a:xfrm>
              <a:off x="3932722" y="361531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7"/>
            <p:cNvSpPr txBox="1">
              <a:spLocks noChangeArrowheads="1"/>
            </p:cNvSpPr>
            <p:nvPr/>
          </p:nvSpPr>
          <p:spPr bwMode="auto">
            <a:xfrm>
              <a:off x="1174516" y="361531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0" name="直接连接符 9"/>
            <p:cNvCxnSpPr/>
            <p:nvPr/>
          </p:nvCxnSpPr>
          <p:spPr>
            <a:xfrm>
              <a:off x="1174516" y="4221422"/>
              <a:ext cx="1309700"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2484216" y="2772323"/>
              <a:ext cx="1447813" cy="1449099"/>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326917" y="2919932"/>
              <a:ext cx="1157299" cy="1157056"/>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484216" y="4076988"/>
              <a:ext cx="1643077"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326917" y="3386564"/>
              <a:ext cx="1152536" cy="115229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2484216" y="2919932"/>
              <a:ext cx="1617677" cy="161892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6" name="组合 52"/>
          <p:cNvGrpSpPr>
            <a:grpSpLocks/>
          </p:cNvGrpSpPr>
          <p:nvPr/>
        </p:nvGrpSpPr>
        <p:grpSpPr bwMode="auto">
          <a:xfrm>
            <a:off x="5311052" y="2275034"/>
            <a:ext cx="3146425" cy="2132013"/>
            <a:chOff x="4823030" y="2521548"/>
            <a:chExt cx="3146454" cy="2131588"/>
          </a:xfrm>
        </p:grpSpPr>
        <p:cxnSp>
          <p:nvCxnSpPr>
            <p:cNvPr id="17" name="直接箭头连接符 16"/>
            <p:cNvCxnSpPr/>
            <p:nvPr/>
          </p:nvCxnSpPr>
          <p:spPr>
            <a:xfrm flipV="1">
              <a:off x="4823030" y="2564402"/>
              <a:ext cx="0" cy="2088734"/>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组合 50"/>
            <p:cNvGrpSpPr>
              <a:grpSpLocks/>
            </p:cNvGrpSpPr>
            <p:nvPr/>
          </p:nvGrpSpPr>
          <p:grpSpPr bwMode="auto">
            <a:xfrm>
              <a:off x="4823030" y="2521548"/>
              <a:ext cx="3146454" cy="1747949"/>
              <a:chOff x="4823030" y="2521548"/>
              <a:chExt cx="3146454" cy="1747949"/>
            </a:xfrm>
          </p:grpSpPr>
          <p:cxnSp>
            <p:nvCxnSpPr>
              <p:cNvPr id="19" name="直接箭头连接符 18"/>
              <p:cNvCxnSpPr/>
              <p:nvPr/>
            </p:nvCxnSpPr>
            <p:spPr>
              <a:xfrm>
                <a:off x="4823030" y="360876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28"/>
              <p:cNvSpPr txBox="1">
                <a:spLocks noChangeArrowheads="1"/>
              </p:cNvSpPr>
              <p:nvPr/>
            </p:nvSpPr>
            <p:spPr bwMode="auto">
              <a:xfrm>
                <a:off x="4823031" y="252154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21" name="文本框 29"/>
              <p:cNvSpPr txBox="1">
                <a:spLocks noChangeArrowheads="1"/>
              </p:cNvSpPr>
              <p:nvPr/>
            </p:nvSpPr>
            <p:spPr bwMode="auto">
              <a:xfrm>
                <a:off x="7581236" y="361531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2" name="文本框 30"/>
              <p:cNvSpPr txBox="1">
                <a:spLocks noChangeArrowheads="1"/>
              </p:cNvSpPr>
              <p:nvPr/>
            </p:nvSpPr>
            <p:spPr bwMode="auto">
              <a:xfrm>
                <a:off x="4823030" y="361531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3" name="直接连接符 22"/>
              <p:cNvCxnSpPr/>
              <p:nvPr/>
            </p:nvCxnSpPr>
            <p:spPr>
              <a:xfrm>
                <a:off x="5075445" y="2923106"/>
                <a:ext cx="952509" cy="950722"/>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035891" y="3873828"/>
                <a:ext cx="1739916"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865893" y="3984931"/>
                <a:ext cx="1938355"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6804248" y="3013575"/>
                <a:ext cx="971559" cy="971356"/>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075445" y="3284984"/>
                <a:ext cx="985846" cy="98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061291" y="4269037"/>
                <a:ext cx="742957"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6804248" y="3297681"/>
                <a:ext cx="971559" cy="97135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sp>
        <p:nvSpPr>
          <p:cNvPr id="30" name="矩形 24"/>
          <p:cNvSpPr>
            <a:spLocks noChangeArrowheads="1"/>
          </p:cNvSpPr>
          <p:nvPr/>
        </p:nvSpPr>
        <p:spPr bwMode="auto">
          <a:xfrm>
            <a:off x="2307549" y="4472325"/>
            <a:ext cx="1025217"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Straddle</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31" name="文本框 25"/>
          <p:cNvSpPr txBox="1">
            <a:spLocks noChangeArrowheads="1"/>
          </p:cNvSpPr>
          <p:nvPr/>
        </p:nvSpPr>
        <p:spPr bwMode="auto">
          <a:xfrm>
            <a:off x="1759368" y="5010779"/>
            <a:ext cx="2259013"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1800" b="0" dirty="0">
                <a:latin typeface="Segoe UI" panose="020B0502040204020203" pitchFamily="34" charset="0"/>
                <a:cs typeface="Segoe UI" panose="020B0502040204020203" pitchFamily="34" charset="0"/>
              </a:rPr>
              <a:t>A call and a put </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Same strike price</a:t>
            </a:r>
          </a:p>
          <a:p>
            <a:pPr algn="just">
              <a:lnSpc>
                <a:spcPct val="120000"/>
              </a:lnSpc>
              <a:spcBef>
                <a:spcPct val="0"/>
              </a:spcBef>
              <a:buFont typeface="Wingdings" panose="05000000000000000000" pitchFamily="2" charset="2"/>
              <a:buChar char="l"/>
            </a:pPr>
            <a:r>
              <a:rPr lang="en-US" altLang="zh-CN" sz="1800" b="0" dirty="0">
                <a:latin typeface="Segoe UI" panose="020B0502040204020203" pitchFamily="34" charset="0"/>
                <a:cs typeface="Segoe UI" panose="020B0502040204020203" pitchFamily="34" charset="0"/>
              </a:rPr>
              <a:t>Direction neutral</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Wants volatility</a:t>
            </a:r>
            <a:endParaRPr lang="zh-CN" altLang="en-US" sz="1800" b="0" u="sng" dirty="0">
              <a:latin typeface="Segoe UI" panose="020B0502040204020203" pitchFamily="34" charset="0"/>
              <a:cs typeface="Segoe UI" panose="020B0502040204020203" pitchFamily="34" charset="0"/>
            </a:endParaRPr>
          </a:p>
        </p:txBody>
      </p:sp>
      <p:sp>
        <p:nvSpPr>
          <p:cNvPr id="32" name="矩形 48"/>
          <p:cNvSpPr>
            <a:spLocks noChangeArrowheads="1"/>
          </p:cNvSpPr>
          <p:nvPr/>
        </p:nvSpPr>
        <p:spPr bwMode="auto">
          <a:xfrm>
            <a:off x="6595554" y="4410073"/>
            <a:ext cx="1018804"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Strangle</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33" name="文本框 49"/>
          <p:cNvSpPr txBox="1">
            <a:spLocks noChangeArrowheads="1"/>
          </p:cNvSpPr>
          <p:nvPr/>
        </p:nvSpPr>
        <p:spPr bwMode="auto">
          <a:xfrm>
            <a:off x="5773307" y="4979794"/>
            <a:ext cx="3141663"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1800" b="0" dirty="0">
                <a:latin typeface="Segoe UI" panose="020B0502040204020203" pitchFamily="34" charset="0"/>
                <a:cs typeface="Segoe UI" panose="020B0502040204020203" pitchFamily="34" charset="0"/>
              </a:rPr>
              <a:t>A call and a put </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Different strike price</a:t>
            </a:r>
          </a:p>
          <a:p>
            <a:pPr algn="just">
              <a:lnSpc>
                <a:spcPct val="120000"/>
              </a:lnSpc>
              <a:spcBef>
                <a:spcPct val="0"/>
              </a:spcBef>
              <a:buFont typeface="Wingdings" panose="05000000000000000000" pitchFamily="2" charset="2"/>
              <a:buChar char="l"/>
            </a:pPr>
            <a:r>
              <a:rPr lang="en-US" altLang="zh-CN" sz="1800" b="0" dirty="0">
                <a:latin typeface="Segoe UI" panose="020B0502040204020203" pitchFamily="34" charset="0"/>
                <a:cs typeface="Segoe UI" panose="020B0502040204020203" pitchFamily="34" charset="0"/>
              </a:rPr>
              <a:t>Like straddle, but cheaper</a:t>
            </a:r>
            <a:endParaRPr lang="zh-CN" altLang="en-US" sz="1800" b="0" u="sng"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3416549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Combination Strategies</a:t>
            </a:r>
            <a:endParaRPr lang="zh-CN" altLang="en-US" dirty="0"/>
          </a:p>
        </p:txBody>
      </p:sp>
      <p:sp>
        <p:nvSpPr>
          <p:cNvPr id="3" name="文本占位符 2"/>
          <p:cNvSpPr>
            <a:spLocks noGrp="1"/>
          </p:cNvSpPr>
          <p:nvPr>
            <p:ph type="body" sz="quarter" idx="10"/>
          </p:nvPr>
        </p:nvSpPr>
        <p:spPr/>
        <p:txBody>
          <a:bodyPr/>
          <a:lstStyle/>
          <a:p>
            <a:r>
              <a:rPr lang="en-US" altLang="zh-CN" dirty="0"/>
              <a:t>A combination strategy </a:t>
            </a:r>
          </a:p>
          <a:p>
            <a:pPr lvl="1"/>
            <a:r>
              <a:rPr lang="en-US" altLang="zh-CN" b="0" dirty="0"/>
              <a:t>Strips and Straps</a:t>
            </a:r>
          </a:p>
          <a:p>
            <a:pPr lvl="1"/>
            <a:r>
              <a:rPr lang="en-US" altLang="zh-CN" b="0" dirty="0"/>
              <a:t>Strip consists of a long position in one call and two puts with same strike price </a:t>
            </a:r>
            <a:r>
              <a:rPr lang="en-US" altLang="zh-CN" b="0" dirty="0" smtClean="0"/>
              <a:t>and expiration </a:t>
            </a:r>
            <a:r>
              <a:rPr lang="en-US" altLang="zh-CN" b="0" dirty="0"/>
              <a:t>date. Strap consists of a long position in two calls and one put with same </a:t>
            </a:r>
            <a:r>
              <a:rPr lang="en-US" altLang="zh-CN" b="0" dirty="0" smtClean="0"/>
              <a:t>strike price </a:t>
            </a:r>
            <a:r>
              <a:rPr lang="en-US" altLang="zh-CN" b="0" dirty="0"/>
              <a:t>and expiration date.</a:t>
            </a:r>
            <a:endParaRPr lang="zh-CN" altLang="en-US" dirty="0"/>
          </a:p>
        </p:txBody>
      </p:sp>
      <p:grpSp>
        <p:nvGrpSpPr>
          <p:cNvPr id="4" name="组合 5"/>
          <p:cNvGrpSpPr>
            <a:grpSpLocks/>
          </p:cNvGrpSpPr>
          <p:nvPr/>
        </p:nvGrpSpPr>
        <p:grpSpPr bwMode="auto">
          <a:xfrm>
            <a:off x="1527183" y="3621889"/>
            <a:ext cx="3146425" cy="2132012"/>
            <a:chOff x="1174516" y="2521548"/>
            <a:chExt cx="3146454" cy="2131588"/>
          </a:xfrm>
        </p:grpSpPr>
        <p:cxnSp>
          <p:nvCxnSpPr>
            <p:cNvPr id="5" name="直接箭头连接符 4"/>
            <p:cNvCxnSpPr/>
            <p:nvPr/>
          </p:nvCxnSpPr>
          <p:spPr>
            <a:xfrm flipV="1">
              <a:off x="1174516" y="2564401"/>
              <a:ext cx="0" cy="2088735"/>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174516" y="3608769"/>
              <a:ext cx="2952777"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8"/>
            <p:cNvSpPr txBox="1">
              <a:spLocks noChangeArrowheads="1"/>
            </p:cNvSpPr>
            <p:nvPr/>
          </p:nvSpPr>
          <p:spPr bwMode="auto">
            <a:xfrm>
              <a:off x="1174517" y="2521548"/>
              <a:ext cx="72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9"/>
            <p:cNvSpPr txBox="1">
              <a:spLocks noChangeArrowheads="1"/>
            </p:cNvSpPr>
            <p:nvPr/>
          </p:nvSpPr>
          <p:spPr bwMode="auto">
            <a:xfrm>
              <a:off x="3932722" y="3615310"/>
              <a:ext cx="388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10"/>
            <p:cNvSpPr txBox="1">
              <a:spLocks noChangeArrowheads="1"/>
            </p:cNvSpPr>
            <p:nvPr/>
          </p:nvSpPr>
          <p:spPr bwMode="auto">
            <a:xfrm>
              <a:off x="1174516" y="3615310"/>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0" name="直接连接符 9"/>
            <p:cNvCxnSpPr/>
            <p:nvPr/>
          </p:nvCxnSpPr>
          <p:spPr>
            <a:xfrm>
              <a:off x="1174516" y="4221422"/>
              <a:ext cx="1309700"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2484216" y="2772323"/>
              <a:ext cx="1447813" cy="1449099"/>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106388" y="2891361"/>
              <a:ext cx="377828" cy="1185627"/>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484216" y="4076989"/>
              <a:ext cx="1643077"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903186" y="3013575"/>
              <a:ext cx="538167" cy="155544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2441353" y="2919931"/>
              <a:ext cx="1660540" cy="164908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cxnSp>
        <p:nvCxnSpPr>
          <p:cNvPr id="16" name="直接箭头连接符 15"/>
          <p:cNvCxnSpPr/>
          <p:nvPr/>
        </p:nvCxnSpPr>
        <p:spPr>
          <a:xfrm flipV="1">
            <a:off x="6431288" y="3618427"/>
            <a:ext cx="0" cy="208915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431288" y="4663002"/>
            <a:ext cx="2952750"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21"/>
          <p:cNvSpPr txBox="1">
            <a:spLocks noChangeArrowheads="1"/>
          </p:cNvSpPr>
          <p:nvPr/>
        </p:nvSpPr>
        <p:spPr bwMode="auto">
          <a:xfrm>
            <a:off x="6431288" y="3575565"/>
            <a:ext cx="7286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Profit</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9" name="文本框 22"/>
          <p:cNvSpPr txBox="1">
            <a:spLocks noChangeArrowheads="1"/>
          </p:cNvSpPr>
          <p:nvPr/>
        </p:nvSpPr>
        <p:spPr bwMode="auto">
          <a:xfrm>
            <a:off x="9190363" y="4669352"/>
            <a:ext cx="38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T</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20" name="文本框 23"/>
          <p:cNvSpPr txBox="1">
            <a:spLocks noChangeArrowheads="1"/>
          </p:cNvSpPr>
          <p:nvPr/>
        </p:nvSpPr>
        <p:spPr bwMode="auto">
          <a:xfrm>
            <a:off x="6431288" y="4669352"/>
            <a:ext cx="30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dirty="0">
                <a:solidFill>
                  <a:srgbClr val="2C3E50"/>
                </a:solidFill>
                <a:latin typeface="Segoe UI" panose="020B0502040204020203" pitchFamily="34" charset="0"/>
                <a:cs typeface="Segoe UI" panose="020B0502040204020203" pitchFamily="34" charset="0"/>
              </a:rPr>
              <a:t>0</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21" name="直接连接符 20"/>
          <p:cNvCxnSpPr/>
          <p:nvPr/>
        </p:nvCxnSpPr>
        <p:spPr>
          <a:xfrm>
            <a:off x="7844163" y="4928115"/>
            <a:ext cx="1539875"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474151" y="5037652"/>
            <a:ext cx="1433512" cy="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7915601" y="3494602"/>
            <a:ext cx="590550" cy="154305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7911226" y="3618427"/>
            <a:ext cx="735013" cy="1924050"/>
          </a:xfrm>
          <a:prstGeom prst="line">
            <a:avLst/>
          </a:prstGeom>
          <a:ln w="1905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912301" y="3993077"/>
            <a:ext cx="931862" cy="933450"/>
          </a:xfrm>
          <a:prstGeom prst="line">
            <a:avLst/>
          </a:prstGeom>
          <a:ln>
            <a:solidFill>
              <a:srgbClr val="2C3E50"/>
            </a:solidFill>
            <a:prstDash val="lg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685288" y="4312165"/>
            <a:ext cx="1230313" cy="1230312"/>
          </a:xfrm>
          <a:prstGeom prst="line">
            <a:avLst/>
          </a:prstGeom>
          <a:ln w="1905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7" name="矩形 3"/>
          <p:cNvSpPr>
            <a:spLocks noChangeArrowheads="1"/>
          </p:cNvSpPr>
          <p:nvPr/>
        </p:nvSpPr>
        <p:spPr bwMode="auto">
          <a:xfrm>
            <a:off x="2511012" y="5731701"/>
            <a:ext cx="651717"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Strip</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28" name="矩形 31"/>
          <p:cNvSpPr>
            <a:spLocks noChangeArrowheads="1"/>
          </p:cNvSpPr>
          <p:nvPr/>
        </p:nvSpPr>
        <p:spPr bwMode="auto">
          <a:xfrm>
            <a:off x="7551347" y="5603596"/>
            <a:ext cx="712631" cy="45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algn="ctr" eaLnBrk="1" hangingPunct="1">
              <a:lnSpc>
                <a:spcPct val="150000"/>
              </a:lnSpc>
              <a:spcBef>
                <a:spcPct val="0"/>
              </a:spcBef>
              <a:buFontTx/>
              <a:buNone/>
            </a:pPr>
            <a:r>
              <a:rPr lang="en-US" altLang="zh-CN" sz="1800" dirty="0">
                <a:latin typeface="Segoe UI" panose="020B0502040204020203" pitchFamily="34" charset="0"/>
                <a:ea typeface="微软雅黑" panose="020B0503020204020204" pitchFamily="34" charset="-122"/>
                <a:cs typeface="Segoe UI" panose="020B0502040204020203" pitchFamily="34" charset="0"/>
              </a:rPr>
              <a:t>Strap</a:t>
            </a:r>
            <a:endParaRPr lang="zh-CN" altLang="en-US" sz="18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29" name="文本框 4"/>
          <p:cNvSpPr txBox="1">
            <a:spLocks noChangeArrowheads="1"/>
          </p:cNvSpPr>
          <p:nvPr/>
        </p:nvSpPr>
        <p:spPr bwMode="auto">
          <a:xfrm>
            <a:off x="3278454" y="5401232"/>
            <a:ext cx="2735263"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Two puts and one call</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Bet on volatility</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More bearish</a:t>
            </a:r>
            <a:endParaRPr lang="zh-CN" altLang="en-US" sz="1800" b="0" u="sng" dirty="0">
              <a:latin typeface="Segoe UI" panose="020B0502040204020203" pitchFamily="34" charset="0"/>
              <a:cs typeface="Segoe UI" panose="020B0502040204020203" pitchFamily="34" charset="0"/>
            </a:endParaRPr>
          </a:p>
        </p:txBody>
      </p:sp>
      <p:sp>
        <p:nvSpPr>
          <p:cNvPr id="30" name="文本框 32"/>
          <p:cNvSpPr txBox="1">
            <a:spLocks noChangeArrowheads="1"/>
          </p:cNvSpPr>
          <p:nvPr/>
        </p:nvSpPr>
        <p:spPr bwMode="auto">
          <a:xfrm>
            <a:off x="8663557" y="5386194"/>
            <a:ext cx="2735263"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Two calls and one put</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Bet on volatility</a:t>
            </a:r>
          </a:p>
          <a:p>
            <a:pPr algn="just">
              <a:lnSpc>
                <a:spcPct val="120000"/>
              </a:lnSpc>
              <a:spcBef>
                <a:spcPct val="0"/>
              </a:spcBef>
              <a:buFont typeface="Wingdings" panose="05000000000000000000" pitchFamily="2" charset="2"/>
              <a:buChar char="l"/>
            </a:pPr>
            <a:r>
              <a:rPr lang="en-US" altLang="zh-CN" sz="1800" b="0" u="sng" dirty="0">
                <a:latin typeface="Segoe UI" panose="020B0502040204020203" pitchFamily="34" charset="0"/>
                <a:cs typeface="Segoe UI" panose="020B0502040204020203" pitchFamily="34" charset="0"/>
              </a:rPr>
              <a:t>More bullish</a:t>
            </a:r>
            <a:endParaRPr lang="zh-CN" altLang="en-US" sz="1800" b="0" u="sng"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8433142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40000"/>
              </a:lnSpc>
            </a:pPr>
            <a:r>
              <a:rPr lang="en-US" altLang="zh-CN" sz="2670" dirty="0"/>
              <a:t>Conclusion</a:t>
            </a:r>
          </a:p>
        </p:txBody>
      </p:sp>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255576550"/>
              </p:ext>
            </p:extLst>
          </p:nvPr>
        </p:nvGraphicFramePr>
        <p:xfrm>
          <a:off x="609600" y="978876"/>
          <a:ext cx="6626225" cy="4526010"/>
        </p:xfrm>
        <a:graphic>
          <a:graphicData uri="http://schemas.openxmlformats.org/drawingml/2006/table">
            <a:tbl>
              <a:tblPr firstRow="1" bandRow="1">
                <a:tableStyleId>{00A15C55-8517-42AA-B614-E9B94910E393}</a:tableStyleId>
              </a:tblPr>
              <a:tblGrid>
                <a:gridCol w="3048685">
                  <a:extLst>
                    <a:ext uri="{9D8B030D-6E8A-4147-A177-3AD203B41FA5}">
                      <a16:colId xmlns="" xmlns:a16="http://schemas.microsoft.com/office/drawing/2014/main" val="20000"/>
                    </a:ext>
                  </a:extLst>
                </a:gridCol>
                <a:gridCol w="3577540">
                  <a:extLst>
                    <a:ext uri="{9D8B030D-6E8A-4147-A177-3AD203B41FA5}">
                      <a16:colId xmlns="" xmlns:a16="http://schemas.microsoft.com/office/drawing/2014/main" val="20001"/>
                    </a:ext>
                  </a:extLst>
                </a:gridCol>
              </a:tblGrid>
              <a:tr h="502885">
                <a:tc>
                  <a:txBody>
                    <a:bodyPr/>
                    <a:lstStyle/>
                    <a:p>
                      <a:pPr algn="ctr">
                        <a:lnSpc>
                          <a:spcPct val="150000"/>
                        </a:lnSpc>
                      </a:pPr>
                      <a:r>
                        <a:rPr lang="en-US" altLang="zh-CN" sz="1800" dirty="0" smtClean="0"/>
                        <a:t>Simple Strategy</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A share and an option</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0"/>
                  </a:ext>
                </a:extLst>
              </a:tr>
              <a:tr h="502885">
                <a:tc>
                  <a:txBody>
                    <a:bodyPr/>
                    <a:lstStyle/>
                    <a:p>
                      <a:pPr algn="ctr">
                        <a:lnSpc>
                          <a:spcPct val="150000"/>
                        </a:lnSpc>
                      </a:pPr>
                      <a:r>
                        <a:rPr lang="en-US" altLang="zh-CN" sz="1800" dirty="0" smtClean="0"/>
                        <a:t>Spread Strategy</a:t>
                      </a:r>
                      <a:endParaRPr lang="zh-CN" altLang="en-US" sz="1800" b="1"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Both are call, or both are put</a:t>
                      </a:r>
                      <a:endParaRPr lang="zh-CN" altLang="en-US" sz="1800" b="1"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1"/>
                  </a:ext>
                </a:extLst>
              </a:tr>
              <a:tr h="502885">
                <a:tc>
                  <a:txBody>
                    <a:bodyPr/>
                    <a:lstStyle/>
                    <a:p>
                      <a:pPr algn="ctr">
                        <a:lnSpc>
                          <a:spcPct val="150000"/>
                        </a:lnSpc>
                      </a:pPr>
                      <a:r>
                        <a:rPr lang="en-US" altLang="zh-CN" sz="1800" dirty="0" smtClean="0"/>
                        <a:t>    Bull</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2 different</a:t>
                      </a:r>
                      <a:r>
                        <a:rPr lang="en-US" altLang="zh-CN" sz="1800" baseline="0" dirty="0" smtClean="0"/>
                        <a:t> K</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2"/>
                  </a:ext>
                </a:extLst>
              </a:tr>
              <a:tr h="502885">
                <a:tc>
                  <a:txBody>
                    <a:bodyPr/>
                    <a:lstStyle/>
                    <a:p>
                      <a:pPr algn="ctr">
                        <a:lnSpc>
                          <a:spcPct val="150000"/>
                        </a:lnSpc>
                      </a:pPr>
                      <a:r>
                        <a:rPr lang="en-US" altLang="zh-CN" sz="1800" dirty="0" smtClean="0"/>
                        <a:t>    Bear</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2 different K</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3"/>
                  </a:ext>
                </a:extLst>
              </a:tr>
              <a:tr h="502885">
                <a:tc>
                  <a:txBody>
                    <a:bodyPr/>
                    <a:lstStyle/>
                    <a:p>
                      <a:pPr algn="ctr">
                        <a:lnSpc>
                          <a:spcPct val="150000"/>
                        </a:lnSpc>
                      </a:pPr>
                      <a:r>
                        <a:rPr lang="en-US" altLang="zh-CN" sz="1800" dirty="0" smtClean="0"/>
                        <a:t>    butterfly</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3 different K</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4"/>
                  </a:ext>
                </a:extLst>
              </a:tr>
              <a:tr h="502885">
                <a:tc>
                  <a:txBody>
                    <a:bodyPr/>
                    <a:lstStyle/>
                    <a:p>
                      <a:pPr algn="ctr">
                        <a:lnSpc>
                          <a:spcPct val="150000"/>
                        </a:lnSpc>
                      </a:pPr>
                      <a:r>
                        <a:rPr lang="en-US" altLang="zh-CN" sz="1800" dirty="0" smtClean="0"/>
                        <a:t>    Calendar</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2 different T</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5"/>
                  </a:ext>
                </a:extLst>
              </a:tr>
              <a:tr h="502885">
                <a:tc>
                  <a:txBody>
                    <a:bodyPr/>
                    <a:lstStyle/>
                    <a:p>
                      <a:pPr algn="ctr">
                        <a:lnSpc>
                          <a:spcPct val="150000"/>
                        </a:lnSpc>
                      </a:pPr>
                      <a:r>
                        <a:rPr lang="en-US" altLang="zh-CN" sz="1800" dirty="0" smtClean="0"/>
                        <a:t>Combination Strategy</a:t>
                      </a:r>
                      <a:endParaRPr lang="zh-CN" altLang="en-US" sz="1800" b="1"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Call and put</a:t>
                      </a:r>
                      <a:endParaRPr lang="zh-CN" altLang="en-US" sz="1800" b="1"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6"/>
                  </a:ext>
                </a:extLst>
              </a:tr>
              <a:tr h="502885">
                <a:tc>
                  <a:txBody>
                    <a:bodyPr/>
                    <a:lstStyle/>
                    <a:p>
                      <a:pPr algn="ctr">
                        <a:lnSpc>
                          <a:spcPct val="150000"/>
                        </a:lnSpc>
                      </a:pPr>
                      <a:r>
                        <a:rPr lang="en-US" altLang="zh-CN" sz="1800" dirty="0" smtClean="0"/>
                        <a:t>    Straddle &amp; Strangle</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Symmetric</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7"/>
                  </a:ext>
                </a:extLst>
              </a:tr>
              <a:tr h="502885">
                <a:tc>
                  <a:txBody>
                    <a:bodyPr/>
                    <a:lstStyle/>
                    <a:p>
                      <a:pPr algn="ctr">
                        <a:lnSpc>
                          <a:spcPct val="150000"/>
                        </a:lnSpc>
                      </a:pPr>
                      <a:r>
                        <a:rPr lang="en-US" altLang="zh-CN" sz="1800" dirty="0" smtClean="0"/>
                        <a:t>    Strip &amp; Strap</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tc>
                  <a:txBody>
                    <a:bodyPr/>
                    <a:lstStyle/>
                    <a:p>
                      <a:pPr algn="ctr">
                        <a:lnSpc>
                          <a:spcPct val="150000"/>
                        </a:lnSpc>
                      </a:pPr>
                      <a:r>
                        <a:rPr lang="en-US" altLang="zh-CN" sz="1800" dirty="0" smtClean="0"/>
                        <a:t>Asymmetric</a:t>
                      </a:r>
                      <a:endParaRPr lang="zh-CN" altLang="en-US" sz="1800" dirty="0">
                        <a:solidFill>
                          <a:srgbClr val="2C3E50"/>
                        </a:solidFill>
                        <a:latin typeface="Segoe UI" panose="020B0502040204020203" pitchFamily="34" charset="0"/>
                        <a:cs typeface="Segoe UI" panose="020B0502040204020203" pitchFamily="34" charset="0"/>
                      </a:endParaRPr>
                    </a:p>
                  </a:txBody>
                  <a:tcPr marL="91461" marR="91461" marT="45705" marB="45705" anchor="ctr"/>
                </a:tc>
                <a:extLst>
                  <a:ext uri="{0D108BD9-81ED-4DB2-BD59-A6C34878D82A}">
                    <a16:rowId xmlns="" xmlns:a16="http://schemas.microsoft.com/office/drawing/2014/main" val="10008"/>
                  </a:ext>
                </a:extLst>
              </a:tr>
            </a:tbl>
          </a:graphicData>
        </a:graphic>
      </p:graphicFrame>
      <p:sp>
        <p:nvSpPr>
          <p:cNvPr id="5" name="black-left-arrow_45400"/>
          <p:cNvSpPr>
            <a:spLocks noChangeAspect="1"/>
          </p:cNvSpPr>
          <p:nvPr/>
        </p:nvSpPr>
        <p:spPr bwMode="auto">
          <a:xfrm>
            <a:off x="8391889" y="1817675"/>
            <a:ext cx="609685" cy="489202"/>
          </a:xfrm>
          <a:custGeom>
            <a:avLst/>
            <a:gdLst>
              <a:gd name="T0" fmla="*/ 2850 w 7415"/>
              <a:gd name="T1" fmla="*/ 5887 h 5959"/>
              <a:gd name="T2" fmla="*/ 2980 w 7415"/>
              <a:gd name="T3" fmla="*/ 5833 h 5959"/>
              <a:gd name="T4" fmla="*/ 2980 w 7415"/>
              <a:gd name="T5" fmla="*/ 5010 h 5959"/>
              <a:gd name="T6" fmla="*/ 3204 w 7415"/>
              <a:gd name="T7" fmla="*/ 4944 h 5959"/>
              <a:gd name="T8" fmla="*/ 7411 w 7415"/>
              <a:gd name="T9" fmla="*/ 207 h 5959"/>
              <a:gd name="T10" fmla="*/ 7308 w 7415"/>
              <a:gd name="T11" fmla="*/ 173 h 5959"/>
              <a:gd name="T12" fmla="*/ 3151 w 7415"/>
              <a:gd name="T13" fmla="*/ 1016 h 5959"/>
              <a:gd name="T14" fmla="*/ 2980 w 7415"/>
              <a:gd name="T15" fmla="*/ 888 h 5959"/>
              <a:gd name="T16" fmla="*/ 2980 w 7415"/>
              <a:gd name="T17" fmla="*/ 125 h 5959"/>
              <a:gd name="T18" fmla="*/ 2850 w 7415"/>
              <a:gd name="T19" fmla="*/ 72 h 5959"/>
              <a:gd name="T20" fmla="*/ 72 w 7415"/>
              <a:gd name="T21" fmla="*/ 2849 h 5959"/>
              <a:gd name="T22" fmla="*/ 72 w 7415"/>
              <a:gd name="T23" fmla="*/ 3110 h 5959"/>
              <a:gd name="T24" fmla="*/ 2850 w 7415"/>
              <a:gd name="T25" fmla="*/ 5887 h 5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15" h="5959">
                <a:moveTo>
                  <a:pt x="2850" y="5887"/>
                </a:moveTo>
                <a:cubicBezTo>
                  <a:pt x="2922" y="5959"/>
                  <a:pt x="2980" y="5935"/>
                  <a:pt x="2980" y="5833"/>
                </a:cubicBezTo>
                <a:lnTo>
                  <a:pt x="2980" y="5010"/>
                </a:lnTo>
                <a:cubicBezTo>
                  <a:pt x="2980" y="4908"/>
                  <a:pt x="3103" y="4949"/>
                  <a:pt x="3204" y="4944"/>
                </a:cubicBezTo>
                <a:cubicBezTo>
                  <a:pt x="5507" y="4830"/>
                  <a:pt x="7317" y="2530"/>
                  <a:pt x="7411" y="207"/>
                </a:cubicBezTo>
                <a:cubicBezTo>
                  <a:pt x="7415" y="105"/>
                  <a:pt x="7369" y="92"/>
                  <a:pt x="7308" y="173"/>
                </a:cubicBezTo>
                <a:cubicBezTo>
                  <a:pt x="6022" y="1884"/>
                  <a:pt x="3785" y="1243"/>
                  <a:pt x="3151" y="1016"/>
                </a:cubicBezTo>
                <a:cubicBezTo>
                  <a:pt x="3056" y="981"/>
                  <a:pt x="2980" y="989"/>
                  <a:pt x="2980" y="888"/>
                </a:cubicBezTo>
                <a:lnTo>
                  <a:pt x="2980" y="125"/>
                </a:lnTo>
                <a:cubicBezTo>
                  <a:pt x="2980" y="24"/>
                  <a:pt x="2922" y="0"/>
                  <a:pt x="2850" y="72"/>
                </a:cubicBezTo>
                <a:lnTo>
                  <a:pt x="72" y="2849"/>
                </a:lnTo>
                <a:cubicBezTo>
                  <a:pt x="0" y="2921"/>
                  <a:pt x="0" y="3038"/>
                  <a:pt x="72" y="3110"/>
                </a:cubicBezTo>
                <a:lnTo>
                  <a:pt x="2850" y="5887"/>
                </a:lnTo>
                <a:close/>
              </a:path>
            </a:pathLst>
          </a:custGeom>
          <a:solidFill>
            <a:schemeClr val="accent1"/>
          </a:solidFill>
          <a:ln>
            <a:noFill/>
          </a:ln>
        </p:spPr>
        <p:txBody>
          <a:bodyPr/>
          <a:lstStyle/>
          <a:p>
            <a:endParaRPr lang="zh-CN" altLang="en-US"/>
          </a:p>
        </p:txBody>
      </p:sp>
      <p:sp>
        <p:nvSpPr>
          <p:cNvPr id="6" name="文本框 5"/>
          <p:cNvSpPr txBox="1"/>
          <p:nvPr/>
        </p:nvSpPr>
        <p:spPr>
          <a:xfrm>
            <a:off x="7451826" y="2394379"/>
            <a:ext cx="2489812" cy="646331"/>
          </a:xfrm>
          <a:prstGeom prst="rect">
            <a:avLst/>
          </a:prstGeom>
          <a:noFill/>
        </p:spPr>
        <p:txBody>
          <a:bodyPr wrap="square" rtlCol="0">
            <a:spAutoFit/>
          </a:bodyPr>
          <a:lstStyle/>
          <a:p>
            <a:r>
              <a:rPr lang="zh-CN" altLang="en-US" b="1" dirty="0" smtClean="0">
                <a:solidFill>
                  <a:srgbClr val="FF0000"/>
                </a:solidFill>
              </a:rPr>
              <a:t>有点难</a:t>
            </a:r>
            <a:r>
              <a:rPr lang="en-US" altLang="zh-CN" b="1" dirty="0" smtClean="0">
                <a:solidFill>
                  <a:srgbClr val="FF0000"/>
                </a:solidFill>
              </a:rPr>
              <a:t>+</a:t>
            </a:r>
            <a:r>
              <a:rPr lang="zh-CN" altLang="en-US" b="1" dirty="0" smtClean="0">
                <a:solidFill>
                  <a:srgbClr val="FF0000"/>
                </a:solidFill>
              </a:rPr>
              <a:t>有点烦，麻烦背一背啦</a:t>
            </a:r>
            <a:r>
              <a:rPr lang="en-US" altLang="zh-CN"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194953767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b="0" dirty="0" smtClean="0"/>
              <a:t>Explain </a:t>
            </a:r>
            <a:r>
              <a:rPr lang="en-US" altLang="zh-CN" b="0" dirty="0"/>
              <a:t>the motivation to initiate a covered call or a protective put strategy</a:t>
            </a:r>
            <a:r>
              <a:rPr lang="en-US" altLang="zh-CN" b="0" dirty="0" smtClean="0"/>
              <a:t>.</a:t>
            </a:r>
            <a:r>
              <a:rPr lang="en-US" altLang="zh-CN" b="0" dirty="0">
                <a:cs typeface="+mn-ea"/>
                <a:sym typeface="+mn-lt"/>
              </a:rPr>
              <a:t> </a:t>
            </a:r>
            <a:r>
              <a:rPr lang="en-US" altLang="zh-CN" b="0" dirty="0" smtClean="0">
                <a:cs typeface="+mn-ea"/>
                <a:sym typeface="+mn-lt"/>
              </a:rPr>
              <a:t>★</a:t>
            </a:r>
            <a:r>
              <a:rPr lang="en-US" altLang="zh-CN" b="0" dirty="0">
                <a:cs typeface="+mn-ea"/>
                <a:sym typeface="+mn-lt"/>
              </a:rPr>
              <a:t>★</a:t>
            </a:r>
            <a:r>
              <a:rPr lang="en-US" altLang="zh-CN" b="0" dirty="0" smtClean="0"/>
              <a:t> </a:t>
            </a:r>
            <a:endParaRPr lang="en-US" altLang="zh-CN" b="0" dirty="0"/>
          </a:p>
          <a:p>
            <a:r>
              <a:rPr lang="en-US" altLang="zh-CN" b="0" dirty="0">
                <a:solidFill>
                  <a:srgbClr val="FF0000"/>
                </a:solidFill>
              </a:rPr>
              <a:t>Describe the use and calculate the payoffs of various spread strategies.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solidFill>
                  <a:srgbClr val="FF0000"/>
                </a:solidFill>
              </a:rPr>
              <a:t>Describe the use and explain the payoff functions of combination strategies</a:t>
            </a:r>
            <a:r>
              <a:rPr lang="en-US" altLang="zh-CN" b="0" dirty="0" smtClean="0">
                <a:solidFill>
                  <a:srgbClr val="FF0000"/>
                </a:solidFill>
              </a:rPr>
              <a:t>.</a:t>
            </a:r>
            <a:r>
              <a:rPr lang="en-US" altLang="zh-CN" b="0" dirty="0">
                <a:solidFill>
                  <a:srgbClr val="FF0000"/>
                </a:solidFill>
                <a:cs typeface="+mn-ea"/>
                <a:sym typeface="+mn-lt"/>
              </a:rPr>
              <a:t> </a:t>
            </a:r>
            <a:r>
              <a:rPr lang="en-US" altLang="zh-CN" b="0" dirty="0" smtClean="0">
                <a:solidFill>
                  <a:srgbClr val="FF0000"/>
                </a:solidFill>
                <a:cs typeface="+mn-ea"/>
                <a:sym typeface="+mn-lt"/>
              </a:rPr>
              <a:t>★★</a:t>
            </a:r>
            <a:r>
              <a:rPr lang="en-US" altLang="zh-CN" b="0" dirty="0">
                <a:solidFill>
                  <a:srgbClr val="FF0000"/>
                </a:solidFill>
                <a:cs typeface="+mn-ea"/>
                <a:sym typeface="+mn-lt"/>
              </a:rPr>
              <a:t>★</a:t>
            </a:r>
            <a:r>
              <a:rPr lang="en-US" altLang="zh-CN" b="0" dirty="0" smtClean="0">
                <a:solidFill>
                  <a:srgbClr val="FF0000"/>
                </a:solidFill>
              </a:rPr>
              <a:t> </a:t>
            </a:r>
            <a:endParaRPr lang="en-US" altLang="zh-CN" b="0" dirty="0">
              <a:solidFill>
                <a:srgbClr val="FF0000"/>
              </a:solidFill>
            </a:endParaRPr>
          </a:p>
          <a:p>
            <a:endParaRPr lang="zh-CN" altLang="en-US" dirty="0"/>
          </a:p>
        </p:txBody>
      </p:sp>
    </p:spTree>
    <p:extLst>
      <p:ext uri="{BB962C8B-B14F-4D97-AF65-F5344CB8AC3E}">
        <p14:creationId xmlns:p14="http://schemas.microsoft.com/office/powerpoint/2010/main" val="402718569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Exotic Options</a:t>
            </a:r>
          </a:p>
        </p:txBody>
      </p:sp>
    </p:spTree>
    <p:extLst>
      <p:ext uri="{BB962C8B-B14F-4D97-AF65-F5344CB8AC3E}">
        <p14:creationId xmlns:p14="http://schemas.microsoft.com/office/powerpoint/2010/main" val="2389825940"/>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40000"/>
              </a:lnSpc>
            </a:pPr>
            <a:r>
              <a:rPr lang="en-US" altLang="zh-CN" sz="2670" dirty="0"/>
              <a:t>Compound Options</a:t>
            </a:r>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Compound Options</a:t>
            </a:r>
          </a:p>
          <a:p>
            <a:pPr lvl="1">
              <a:lnSpc>
                <a:spcPct val="140000"/>
              </a:lnSpc>
              <a:spcBef>
                <a:spcPct val="0"/>
              </a:spcBef>
            </a:pPr>
            <a:r>
              <a:rPr lang="en-US" altLang="zh-CN" dirty="0"/>
              <a:t>Compound options are </a:t>
            </a:r>
            <a:r>
              <a:rPr lang="en-US" altLang="zh-CN" u="sng" dirty="0"/>
              <a:t>options on options</a:t>
            </a:r>
            <a:r>
              <a:rPr lang="en-US" altLang="zh-CN" dirty="0"/>
              <a:t>. There are four main types of compound options: </a:t>
            </a:r>
            <a:r>
              <a:rPr lang="en-US" altLang="zh-CN" u="sng" dirty="0"/>
              <a:t>a call on a call, a put on a call, a call on a put, and a put on a put</a:t>
            </a:r>
            <a:r>
              <a:rPr lang="en-US" altLang="zh-CN" dirty="0"/>
              <a:t>.</a:t>
            </a:r>
          </a:p>
          <a:p>
            <a:pPr lvl="1">
              <a:lnSpc>
                <a:spcPct val="140000"/>
              </a:lnSpc>
              <a:spcBef>
                <a:spcPct val="0"/>
              </a:spcBef>
            </a:pPr>
            <a:r>
              <a:rPr lang="en-US" altLang="zh-CN" dirty="0"/>
              <a:t>The advantages of compound options are that they allow for </a:t>
            </a:r>
            <a:r>
              <a:rPr lang="en-US" altLang="zh-CN" u="sng" dirty="0"/>
              <a:t>large leverage and they </a:t>
            </a:r>
            <a:r>
              <a:rPr lang="en-US" altLang="zh-CN" dirty="0"/>
              <a:t>advantages of compound options . However, </a:t>
            </a:r>
            <a:r>
              <a:rPr lang="en-US" altLang="zh-CN" u="sng" dirty="0"/>
              <a:t>if both options are exercised, the total premium will be more than the premium on a single option</a:t>
            </a:r>
            <a:r>
              <a:rPr lang="en-US" altLang="zh-CN" dirty="0"/>
              <a:t>.</a:t>
            </a:r>
          </a:p>
          <a:p>
            <a:pPr lvl="1">
              <a:lnSpc>
                <a:spcPct val="140000"/>
              </a:lnSpc>
              <a:spcBef>
                <a:spcPct val="0"/>
              </a:spcBef>
            </a:pPr>
            <a:r>
              <a:rPr lang="en-US" altLang="zh-CN" dirty="0"/>
              <a:t>The payoff structure of the four main types is as follow:</a:t>
            </a:r>
          </a:p>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1553571" y="4766162"/>
                <a:ext cx="3007412" cy="769441"/>
              </a:xfrm>
              <a:prstGeom prst="rect">
                <a:avLst/>
              </a:prstGeom>
              <a:noFill/>
            </p:spPr>
            <p:txBody>
              <a:bodyPr wrap="square" rtlCol="0">
                <a:spAutoFit/>
              </a:bodyPr>
              <a:lstStyle/>
              <a:p>
                <a:r>
                  <a:rPr lang="en-US" altLang="zh-CN" sz="2200" b="0" dirty="0" smtClean="0">
                    <a:solidFill>
                      <a:schemeClr val="tx1"/>
                    </a:solidFill>
                    <a:latin typeface="Segoe UI" panose="020B0502040204020203" pitchFamily="34" charset="0"/>
                    <a:ea typeface="微软雅黑" panose="020B0503020204020204" pitchFamily="34" charset="-122"/>
                    <a:cs typeface="Segoe UI" panose="020B0502040204020203" pitchFamily="34" charset="0"/>
                  </a:rPr>
                  <a:t>Max[C(</a:t>
                </a:r>
                <a14:m>
                  <m:oMath xmlns:m="http://schemas.openxmlformats.org/officeDocument/2006/math">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K</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,0</m:t>
                    </m:r>
                  </m:oMath>
                </a14:m>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p>
              <a:p>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Max[</a:t>
                </a:r>
                <a14:m>
                  <m:oMath xmlns:m="http://schemas.openxmlformats.org/officeDocument/2006/math">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K</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C</m:t>
                    </m:r>
                    <m:d>
                      <m:d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dPr>
                      <m:e>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e>
                    </m:d>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,0</m:t>
                    </m:r>
                  </m:oMath>
                </a14:m>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endParaRPr lang="zh-CN" altLang="en-US"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553571" y="4766162"/>
                <a:ext cx="3007412" cy="769441"/>
              </a:xfrm>
              <a:prstGeom prst="rect">
                <a:avLst/>
              </a:prstGeom>
              <a:blipFill>
                <a:blip r:embed="rId2"/>
                <a:stretch>
                  <a:fillRect l="-2637" t="-4762" b="-158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4316799" y="4766162"/>
                <a:ext cx="2808312" cy="769441"/>
              </a:xfrm>
              <a:prstGeom prst="rect">
                <a:avLst/>
              </a:prstGeom>
              <a:noFill/>
            </p:spPr>
            <p:txBody>
              <a:bodyPr wrap="square" rtlCol="0">
                <a:spAutoFit/>
              </a:bodyPr>
              <a:lstStyle/>
              <a:p>
                <a:r>
                  <a:rPr lang="en-US" altLang="zh-CN" sz="2200" b="0" dirty="0" smtClean="0">
                    <a:solidFill>
                      <a:schemeClr val="tx1"/>
                    </a:solidFill>
                    <a:latin typeface="Segoe UI" panose="020B0502040204020203" pitchFamily="34" charset="0"/>
                    <a:ea typeface="微软雅黑" panose="020B0503020204020204" pitchFamily="34" charset="-122"/>
                    <a:cs typeface="Segoe UI" panose="020B0502040204020203" pitchFamily="34" charset="0"/>
                  </a:rPr>
                  <a:t>Max[P(</a:t>
                </a:r>
                <a14:m>
                  <m:oMath xmlns:m="http://schemas.openxmlformats.org/officeDocument/2006/math">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oMath>
                </a14:m>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14:m>
                  <m:oMath xmlns:m="http://schemas.openxmlformats.org/officeDocument/2006/math">
                    <m:r>
                      <a:rPr lang="en-US" altLang="zh-CN" sz="22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2200" b="0" i="1" dirty="0">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K</m:t>
                        </m:r>
                      </m:e>
                      <m:sub>
                        <m:r>
                          <a:rPr lang="en-US" altLang="zh-CN" sz="22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200" b="0" i="0" dirty="0">
                        <a:solidFill>
                          <a:schemeClr val="tx1"/>
                        </a:solidFill>
                        <a:latin typeface="Cambria Math" panose="02040503050406030204" pitchFamily="18" charset="0"/>
                        <a:ea typeface="微软雅黑" panose="020B0503020204020204" pitchFamily="34" charset="-122"/>
                        <a:cs typeface="Segoe UI" panose="020B0502040204020203" pitchFamily="34" charset="0"/>
                      </a:rPr>
                      <m:t>,0</m:t>
                    </m:r>
                  </m:oMath>
                </a14:m>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p>
              <a:p>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Max[</a:t>
                </a:r>
                <a14:m>
                  <m:oMath xmlns:m="http://schemas.openxmlformats.org/officeDocument/2006/math">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K</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P</m:t>
                    </m:r>
                    <m:d>
                      <m:d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dPr>
                      <m:e>
                        <m:sSub>
                          <m:sSubPr>
                            <m:ctrlPr>
                              <a:rPr lang="en-US" altLang="zh-CN" sz="2200" b="0" i="1">
                                <a:solidFill>
                                  <a:schemeClr val="tx1"/>
                                </a:solidFill>
                                <a:latin typeface="Cambria Math"/>
                                <a:ea typeface="微软雅黑" panose="020B0503020204020204" pitchFamily="34" charset="-122"/>
                                <a:cs typeface="Segoe UI" panose="020B0502040204020203" pitchFamily="34" charset="0"/>
                              </a:rPr>
                            </m:ctrlPr>
                          </m:sSubPr>
                          <m:e>
                            <m:r>
                              <m:rPr>
                                <m:sty m:val="p"/>
                              </m:rP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1</m:t>
                            </m:r>
                          </m:sub>
                        </m:sSub>
                      </m:e>
                    </m:d>
                    <m:r>
                      <a:rPr lang="en-US" altLang="zh-CN" sz="2200" b="0" i="0">
                        <a:solidFill>
                          <a:schemeClr val="tx1"/>
                        </a:solidFill>
                        <a:latin typeface="Cambria Math" panose="02040503050406030204" pitchFamily="18" charset="0"/>
                        <a:ea typeface="微软雅黑" panose="020B0503020204020204" pitchFamily="34" charset="-122"/>
                        <a:cs typeface="Segoe UI" panose="020B0502040204020203" pitchFamily="34" charset="0"/>
                      </a:rPr>
                      <m:t>,0</m:t>
                    </m:r>
                  </m:oMath>
                </a14:m>
                <a:r>
                  <a:rPr lang="en-US" altLang="zh-CN"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rPr>
                  <a:t>]</a:t>
                </a:r>
                <a:endParaRPr lang="zh-CN" altLang="en-US" sz="2200" b="0" dirty="0">
                  <a:solidFill>
                    <a:schemeClr val="tx1"/>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316799" y="4766162"/>
                <a:ext cx="2808312" cy="769441"/>
              </a:xfrm>
              <a:prstGeom prst="rect">
                <a:avLst/>
              </a:prstGeom>
              <a:blipFill>
                <a:blip r:embed="rId3"/>
                <a:stretch>
                  <a:fillRect l="-2820" t="-4762" b="-158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678391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809822" cy="576064"/>
          </a:xfrm>
        </p:spPr>
        <p:txBody>
          <a:bodyPr>
            <a:noAutofit/>
          </a:bodyPr>
          <a:lstStyle/>
          <a:p>
            <a:pPr>
              <a:lnSpc>
                <a:spcPct val="140000"/>
              </a:lnSpc>
            </a:pPr>
            <a:r>
              <a:rPr lang="en-US" altLang="zh-CN" sz="2670" dirty="0" smtClean="0"/>
              <a:t>Forward Start Options and Chooser Option</a:t>
            </a:r>
            <a:endParaRPr lang="en-US" altLang="zh-CN" sz="2670" dirty="0"/>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Forward Start Options</a:t>
            </a:r>
          </a:p>
          <a:p>
            <a:pPr lvl="1">
              <a:lnSpc>
                <a:spcPct val="140000"/>
              </a:lnSpc>
              <a:spcBef>
                <a:spcPct val="0"/>
              </a:spcBef>
            </a:pPr>
            <a:r>
              <a:rPr lang="en-US" altLang="zh-CN" dirty="0"/>
              <a:t>A forward start option is an </a:t>
            </a:r>
            <a:r>
              <a:rPr lang="en-US" altLang="zh-CN" u="sng" dirty="0"/>
              <a:t>advance purchase of a put or call option that will become active at some specified future time. It is essentially a forward on an option</a:t>
            </a:r>
            <a:r>
              <a:rPr lang="en-US" altLang="zh-CN" dirty="0"/>
              <a:t>.</a:t>
            </a:r>
          </a:p>
          <a:p>
            <a:pPr lvl="1">
              <a:lnSpc>
                <a:spcPct val="140000"/>
              </a:lnSpc>
              <a:spcBef>
                <a:spcPct val="0"/>
              </a:spcBef>
            </a:pPr>
            <a:r>
              <a:rPr lang="en-US" altLang="zh-CN" dirty="0"/>
              <a:t>The value of a forward start option will be identical to that of a similar European option with same maturity when the underlying asset is a no-dividend-paying stock.</a:t>
            </a:r>
          </a:p>
          <a:p>
            <a:pPr>
              <a:lnSpc>
                <a:spcPct val="140000"/>
              </a:lnSpc>
              <a:spcBef>
                <a:spcPct val="0"/>
              </a:spcBef>
            </a:pPr>
            <a:r>
              <a:rPr lang="en-US" altLang="zh-CN" dirty="0"/>
              <a:t>Chooser Option</a:t>
            </a:r>
          </a:p>
          <a:p>
            <a:pPr lvl="1">
              <a:lnSpc>
                <a:spcPct val="140000"/>
              </a:lnSpc>
              <a:spcBef>
                <a:spcPct val="0"/>
              </a:spcBef>
            </a:pPr>
            <a:r>
              <a:rPr lang="en-US" altLang="zh-CN" dirty="0"/>
              <a:t>A chooser option has the feature that </a:t>
            </a:r>
            <a:r>
              <a:rPr lang="en-US" altLang="zh-CN" u="sng" dirty="0"/>
              <a:t>after a specified period of time, the holder can choose whether the option is a call or a put</a:t>
            </a:r>
            <a:r>
              <a:rPr lang="en-US" altLang="zh-CN" dirty="0"/>
              <a:t>.</a:t>
            </a:r>
          </a:p>
          <a:p>
            <a:pPr lvl="1">
              <a:lnSpc>
                <a:spcPct val="140000"/>
              </a:lnSpc>
              <a:spcBef>
                <a:spcPct val="0"/>
              </a:spcBef>
            </a:pPr>
            <a:r>
              <a:rPr lang="en-US" altLang="zh-CN" dirty="0"/>
              <a:t>Suppose that the time when the choice is made is T</a:t>
            </a:r>
            <a:r>
              <a:rPr lang="en-US" altLang="zh-CN" baseline="-25000" dirty="0"/>
              <a:t>1</a:t>
            </a:r>
            <a:r>
              <a:rPr lang="en-US" altLang="zh-CN" dirty="0"/>
              <a:t>. The value of the chooser option at this time is:</a:t>
            </a:r>
          </a:p>
          <a:p>
            <a:endParaRPr lang="zh-CN" altLang="en-US" dirty="0"/>
          </a:p>
        </p:txBody>
      </p:sp>
      <p:sp>
        <p:nvSpPr>
          <p:cNvPr id="4" name="文本框 3"/>
          <p:cNvSpPr txBox="1"/>
          <p:nvPr/>
        </p:nvSpPr>
        <p:spPr>
          <a:xfrm>
            <a:off x="5447927" y="5745070"/>
            <a:ext cx="1296144" cy="430887"/>
          </a:xfrm>
          <a:prstGeom prst="rect">
            <a:avLst/>
          </a:prstGeom>
          <a:noFill/>
        </p:spPr>
        <p:txBody>
          <a:bodyPr wrap="square" rtlCol="0">
            <a:spAutoFit/>
          </a:bodyPr>
          <a:lstStyle/>
          <a:p>
            <a:r>
              <a:rPr lang="en-US" altLang="zh-CN" sz="2200" b="0" dirty="0" smtClean="0">
                <a:latin typeface="Segoe UI" panose="020B0502040204020203" pitchFamily="34" charset="0"/>
                <a:ea typeface="微软雅黑" panose="020B0503020204020204" pitchFamily="34" charset="-122"/>
                <a:cs typeface="Segoe UI" panose="020B0502040204020203" pitchFamily="34" charset="0"/>
              </a:rPr>
              <a:t>max(c,p</a:t>
            </a:r>
            <a:r>
              <a:rPr lang="en-US" altLang="zh-CN" sz="2200" b="0" dirty="0">
                <a:latin typeface="Segoe UI" panose="020B0502040204020203" pitchFamily="34" charset="0"/>
                <a:ea typeface="微软雅黑" panose="020B0503020204020204" pitchFamily="34" charset="-122"/>
                <a:cs typeface="Segoe UI" panose="020B0502040204020203" pitchFamily="34" charset="0"/>
              </a:rPr>
              <a:t>)</a:t>
            </a:r>
            <a:endParaRPr lang="zh-CN" altLang="en-US" sz="2200" b="0" dirty="0">
              <a:latin typeface="Segoe UI" panose="020B0502040204020203" pitchFamily="34" charset="0"/>
              <a:ea typeface="微软雅黑" panose="020B0503020204020204" pitchFamily="34" charset="-122"/>
              <a:cs typeface="Segoe UI" panose="020B0502040204020203" pitchFamily="34" charset="0"/>
            </a:endParaRPr>
          </a:p>
        </p:txBody>
      </p:sp>
    </p:spTree>
    <p:extLst>
      <p:ext uri="{BB962C8B-B14F-4D97-AF65-F5344CB8AC3E}">
        <p14:creationId xmlns:p14="http://schemas.microsoft.com/office/powerpoint/2010/main" val="316739010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Barrier Options</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Barrier Options</a:t>
            </a:r>
          </a:p>
          <a:p>
            <a:pPr lvl="1">
              <a:spcBef>
                <a:spcPct val="0"/>
              </a:spcBef>
            </a:pPr>
            <a:r>
              <a:rPr lang="en-US" altLang="zh-CN" u="sng" dirty="0"/>
              <a:t>Payoffs and existence depend on whether the underlying’s asset price reaches a certain barrier level over the life of the option</a:t>
            </a:r>
            <a:r>
              <a:rPr lang="en-US" altLang="zh-CN" dirty="0"/>
              <a:t>.</a:t>
            </a:r>
          </a:p>
          <a:p>
            <a:pPr lvl="1">
              <a:spcBef>
                <a:spcPct val="0"/>
              </a:spcBef>
            </a:pPr>
            <a:r>
              <a:rPr lang="en-US" altLang="zh-CN" dirty="0"/>
              <a:t>Barrier options are attractive to market participants because they are less expensive than the corresponding regular options. </a:t>
            </a:r>
            <a:r>
              <a:rPr lang="en-US" altLang="zh-CN" u="sng" dirty="0"/>
              <a:t>A knock-out option ceases to exist when the underlying asset price reaches a certain barrier while a knock-in option comes into existence only when the underlying asset price reaches a barrier</a:t>
            </a:r>
            <a:r>
              <a:rPr lang="en-US" altLang="zh-CN" dirty="0"/>
              <a:t>.</a:t>
            </a:r>
          </a:p>
          <a:p>
            <a:pPr lvl="1">
              <a:spcBef>
                <a:spcPct val="0"/>
              </a:spcBef>
            </a:pPr>
            <a:r>
              <a:rPr lang="en-US" altLang="zh-CN" b="1" dirty="0"/>
              <a:t>In-out parity </a:t>
            </a:r>
            <a:r>
              <a:rPr lang="en-US" altLang="zh-CN" dirty="0"/>
              <a:t>is the barrier option’s answer to put-call parity. </a:t>
            </a:r>
            <a:r>
              <a:rPr lang="en-US" altLang="zh-CN" u="sng" dirty="0"/>
              <a:t>If we combine one “in” option and one “out” barrier option with the same strikes and expirations, we get the price of a vanilla option</a:t>
            </a:r>
            <a:r>
              <a:rPr lang="en-US" altLang="zh-CN" dirty="0"/>
              <a:t>. Note that this argument only works for European options.</a:t>
            </a:r>
          </a:p>
          <a:p>
            <a:pPr lvl="1">
              <a:spcBef>
                <a:spcPct val="0"/>
              </a:spcBef>
            </a:pPr>
            <a:r>
              <a:rPr lang="en-US" altLang="zh-CN" dirty="0"/>
              <a:t>Unlike other simpler options, </a:t>
            </a:r>
            <a:r>
              <a:rPr lang="en-US" altLang="zh-CN" u="sng" dirty="0"/>
              <a:t>barrier options are path-dependent</a:t>
            </a:r>
            <a:r>
              <a:rPr lang="en-US" altLang="zh-CN" dirty="0"/>
              <a:t>. That is, the value of the option at any time depends not just on the underlying at that point, but also on the path taken by the underlying. </a:t>
            </a:r>
          </a:p>
          <a:p>
            <a:endParaRPr lang="zh-CN" altLang="en-US" dirty="0"/>
          </a:p>
        </p:txBody>
      </p:sp>
    </p:spTree>
    <p:extLst>
      <p:ext uri="{BB962C8B-B14F-4D97-AF65-F5344CB8AC3E}">
        <p14:creationId xmlns:p14="http://schemas.microsoft.com/office/powerpoint/2010/main" val="98830700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Barrier Options</a:t>
            </a:r>
            <a:endParaRPr lang="zh-CN" altLang="en-US"/>
          </a:p>
        </p:txBody>
      </p:sp>
      <p:sp>
        <p:nvSpPr>
          <p:cNvPr id="3" name="文本占位符 2"/>
          <p:cNvSpPr>
            <a:spLocks noGrp="1"/>
          </p:cNvSpPr>
          <p:nvPr>
            <p:ph type="body" sz="quarter" idx="10"/>
          </p:nvPr>
        </p:nvSpPr>
        <p:spPr/>
        <p:txBody>
          <a:bodyPr/>
          <a:lstStyle/>
          <a:p>
            <a:pPr marL="0" indent="0">
              <a:buNone/>
            </a:pPr>
            <a:r>
              <a:rPr lang="en-US" altLang="zh-CN" dirty="0" smtClean="0"/>
              <a:t> </a:t>
            </a:r>
            <a:endParaRPr lang="zh-CN" altLang="en-US" dirty="0"/>
          </a:p>
        </p:txBody>
      </p:sp>
      <p:pic>
        <p:nvPicPr>
          <p:cNvPr id="4"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00764"/>
            <a:ext cx="6194425"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534101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457282" cy="576064"/>
          </a:xfrm>
        </p:spPr>
        <p:txBody>
          <a:bodyPr>
            <a:noAutofit/>
          </a:bodyPr>
          <a:lstStyle/>
          <a:p>
            <a:pPr>
              <a:lnSpc>
                <a:spcPct val="140000"/>
              </a:lnSpc>
            </a:pPr>
            <a:r>
              <a:rPr lang="en-US" altLang="zh-CN" sz="2670" dirty="0"/>
              <a:t>Binary Options/Digital Option</a:t>
            </a:r>
          </a:p>
        </p:txBody>
      </p:sp>
      <p:sp>
        <p:nvSpPr>
          <p:cNvPr id="3" name="文本占位符 2"/>
          <p:cNvSpPr>
            <a:spLocks noGrp="1"/>
          </p:cNvSpPr>
          <p:nvPr>
            <p:ph type="body" sz="quarter" idx="10"/>
          </p:nvPr>
        </p:nvSpPr>
        <p:spPr/>
        <p:txBody>
          <a:bodyPr>
            <a:normAutofit fontScale="92500"/>
          </a:bodyPr>
          <a:lstStyle/>
          <a:p>
            <a:pPr>
              <a:lnSpc>
                <a:spcPct val="140000"/>
              </a:lnSpc>
              <a:spcBef>
                <a:spcPct val="0"/>
              </a:spcBef>
            </a:pPr>
            <a:r>
              <a:rPr lang="en-US" altLang="zh-CN" dirty="0"/>
              <a:t>Binary Options/Digital Option</a:t>
            </a:r>
          </a:p>
          <a:p>
            <a:pPr lvl="1">
              <a:lnSpc>
                <a:spcPct val="140000"/>
              </a:lnSpc>
              <a:spcBef>
                <a:spcPct val="0"/>
              </a:spcBef>
            </a:pPr>
            <a:r>
              <a:rPr lang="en-US" altLang="zh-CN" dirty="0"/>
              <a:t>Binary option is a type of option where the payoff is either some fixed amount of some asset or nothing at all. </a:t>
            </a:r>
            <a:r>
              <a:rPr lang="en-US" altLang="zh-CN" u="sng" dirty="0"/>
              <a:t>Two main types of binary option are cash-or-nothing options and asset-or-nothing option</a:t>
            </a:r>
            <a:r>
              <a:rPr lang="en-US" altLang="zh-CN" dirty="0"/>
              <a:t>. </a:t>
            </a:r>
          </a:p>
          <a:p>
            <a:pPr lvl="1">
              <a:lnSpc>
                <a:spcPct val="140000"/>
              </a:lnSpc>
              <a:spcBef>
                <a:spcPct val="0"/>
              </a:spcBef>
            </a:pPr>
            <a:r>
              <a:rPr lang="en-US" altLang="zh-CN" dirty="0"/>
              <a:t>The </a:t>
            </a:r>
            <a:r>
              <a:rPr lang="en-US" altLang="zh-CN" b="1" dirty="0"/>
              <a:t>cash-or-nothing binary option </a:t>
            </a:r>
            <a:r>
              <a:rPr lang="en-US" altLang="zh-CN" dirty="0"/>
              <a:t>pays some fixed amount of cash if the option expires in-the-money while the </a:t>
            </a:r>
            <a:r>
              <a:rPr lang="en-US" altLang="zh-CN" b="1" dirty="0"/>
              <a:t>asset-or-nothing</a:t>
            </a:r>
            <a:r>
              <a:rPr lang="en-US" altLang="zh-CN" dirty="0"/>
              <a:t> pays the value of the underlying security.</a:t>
            </a:r>
          </a:p>
          <a:p>
            <a:pPr lvl="1">
              <a:lnSpc>
                <a:spcPct val="140000"/>
              </a:lnSpc>
              <a:spcBef>
                <a:spcPct val="0"/>
              </a:spcBef>
            </a:pPr>
            <a:r>
              <a:rPr lang="en-US" altLang="zh-CN" dirty="0"/>
              <a:t>A regular European call option is equivalent to a long position in an asset-or-nothing call and a short position in a cash-or-nothing call where the cash payoff in the cash-or-nothing call equals the strike price. </a:t>
            </a:r>
          </a:p>
          <a:p>
            <a:pPr lvl="1">
              <a:lnSpc>
                <a:spcPct val="140000"/>
              </a:lnSpc>
              <a:spcBef>
                <a:spcPct val="0"/>
              </a:spcBef>
            </a:pPr>
            <a:r>
              <a:rPr lang="en-US" altLang="zh-CN" dirty="0"/>
              <a:t>Similarly, a regular European put option is equivalent to a long position in a cash-or-nothing put and a short position in an asset-or-nothing put where the cash payoff on the cash-or-nothing put equals the strike price</a:t>
            </a:r>
            <a:endParaRPr lang="zh-CN" altLang="en-US" dirty="0"/>
          </a:p>
        </p:txBody>
      </p:sp>
    </p:spTree>
    <p:extLst>
      <p:ext uri="{BB962C8B-B14F-4D97-AF65-F5344CB8AC3E}">
        <p14:creationId xmlns:p14="http://schemas.microsoft.com/office/powerpoint/2010/main" val="290967523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391181" cy="576064"/>
          </a:xfrm>
        </p:spPr>
        <p:txBody>
          <a:bodyPr>
            <a:noAutofit/>
          </a:bodyPr>
          <a:lstStyle/>
          <a:p>
            <a:pPr>
              <a:lnSpc>
                <a:spcPct val="140000"/>
              </a:lnSpc>
            </a:pPr>
            <a:r>
              <a:rPr lang="en-US" altLang="zh-CN" sz="2670" dirty="0"/>
              <a:t>Lookback Options</a:t>
            </a:r>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Lookback Options</a:t>
            </a:r>
          </a:p>
          <a:p>
            <a:pPr lvl="1">
              <a:lnSpc>
                <a:spcPct val="140000"/>
              </a:lnSpc>
              <a:spcBef>
                <a:spcPct val="0"/>
              </a:spcBef>
            </a:pPr>
            <a:r>
              <a:rPr lang="pt-BR" altLang="zh-CN" dirty="0"/>
              <a:t>The payoff from lookback options depend on the maximum or minimum asset price reached during the life of the option.</a:t>
            </a:r>
            <a:r>
              <a:rPr lang="pt-BR" altLang="zh-CN" dirty="0">
                <a:solidFill>
                  <a:srgbClr val="7030A0"/>
                </a:solidFill>
              </a:rPr>
              <a:t> </a:t>
            </a:r>
            <a:r>
              <a:rPr lang="en-US" altLang="zh-CN" dirty="0"/>
              <a:t>There exist two kinds of lookback options: </a:t>
            </a:r>
            <a:r>
              <a:rPr lang="en-US" altLang="zh-CN" u="sng" dirty="0"/>
              <a:t>with floating strike and with fixed strike</a:t>
            </a:r>
            <a:r>
              <a:rPr lang="en-US" altLang="zh-CN" dirty="0"/>
              <a:t>.</a:t>
            </a:r>
          </a:p>
          <a:p>
            <a:endParaRPr lang="zh-CN" altLang="en-US" dirty="0"/>
          </a:p>
        </p:txBody>
      </p:sp>
      <p:sp>
        <p:nvSpPr>
          <p:cNvPr id="5" name="文本框 3"/>
          <p:cNvSpPr txBox="1">
            <a:spLocks noChangeArrowheads="1"/>
          </p:cNvSpPr>
          <p:nvPr/>
        </p:nvSpPr>
        <p:spPr bwMode="auto">
          <a:xfrm>
            <a:off x="1365250" y="3213100"/>
            <a:ext cx="7815473" cy="1881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en-US" altLang="zh-CN" sz="2000" b="1" dirty="0">
                <a:solidFill>
                  <a:schemeClr val="accent6">
                    <a:lumMod val="50000"/>
                  </a:schemeClr>
                </a:solidFill>
                <a:latin typeface="Segoe UI" panose="020B0502040204020203" pitchFamily="34" charset="0"/>
                <a:cs typeface="Segoe UI" panose="020B0502040204020203" pitchFamily="34" charset="0"/>
              </a:rPr>
              <a:t>Floating lookback call payoff </a:t>
            </a:r>
            <a:r>
              <a:rPr lang="en-US" altLang="zh-CN" sz="2000" b="0" dirty="0">
                <a:solidFill>
                  <a:schemeClr val="accent6">
                    <a:lumMod val="50000"/>
                  </a:schemeClr>
                </a:solidFill>
                <a:latin typeface="Segoe UI" panose="020B0502040204020203" pitchFamily="34" charset="0"/>
                <a:cs typeface="Segoe UI" panose="020B0502040204020203" pitchFamily="34" charset="0"/>
              </a:rPr>
              <a:t>= Final Asset Price – Minimum Price</a:t>
            </a:r>
          </a:p>
          <a:p>
            <a:pPr>
              <a:lnSpc>
                <a:spcPct val="150000"/>
              </a:lnSpc>
              <a:spcBef>
                <a:spcPct val="0"/>
              </a:spcBef>
              <a:buFontTx/>
              <a:buNone/>
            </a:pPr>
            <a:r>
              <a:rPr lang="en-US" altLang="zh-CN" sz="2000" b="1" dirty="0">
                <a:solidFill>
                  <a:schemeClr val="accent6">
                    <a:lumMod val="50000"/>
                  </a:schemeClr>
                </a:solidFill>
                <a:latin typeface="Segoe UI" panose="020B0502040204020203" pitchFamily="34" charset="0"/>
                <a:cs typeface="Segoe UI" panose="020B0502040204020203" pitchFamily="34" charset="0"/>
              </a:rPr>
              <a:t>Fixed lookback call payoff </a:t>
            </a:r>
            <a:r>
              <a:rPr lang="en-US" altLang="zh-CN" sz="2000" b="0" dirty="0">
                <a:solidFill>
                  <a:schemeClr val="accent6">
                    <a:lumMod val="50000"/>
                  </a:schemeClr>
                </a:solidFill>
                <a:latin typeface="Segoe UI" panose="020B0502040204020203" pitchFamily="34" charset="0"/>
                <a:cs typeface="Segoe UI" panose="020B0502040204020203" pitchFamily="34" charset="0"/>
              </a:rPr>
              <a:t>= Maximum Price – Strike</a:t>
            </a:r>
          </a:p>
          <a:p>
            <a:pPr>
              <a:lnSpc>
                <a:spcPct val="150000"/>
              </a:lnSpc>
              <a:spcBef>
                <a:spcPct val="0"/>
              </a:spcBef>
              <a:buFontTx/>
              <a:buNone/>
            </a:pPr>
            <a:r>
              <a:rPr lang="en-US" altLang="zh-CN" sz="2000" b="1" dirty="0">
                <a:solidFill>
                  <a:schemeClr val="accent6">
                    <a:lumMod val="50000"/>
                  </a:schemeClr>
                </a:solidFill>
                <a:latin typeface="Segoe UI" panose="020B0502040204020203" pitchFamily="34" charset="0"/>
                <a:cs typeface="Segoe UI" panose="020B0502040204020203" pitchFamily="34" charset="0"/>
              </a:rPr>
              <a:t>Floating lookback put payoff </a:t>
            </a:r>
            <a:r>
              <a:rPr lang="en-US" altLang="zh-CN" sz="2000" b="0" dirty="0">
                <a:solidFill>
                  <a:schemeClr val="accent6">
                    <a:lumMod val="50000"/>
                  </a:schemeClr>
                </a:solidFill>
                <a:latin typeface="Segoe UI" panose="020B0502040204020203" pitchFamily="34" charset="0"/>
                <a:cs typeface="Segoe UI" panose="020B0502040204020203" pitchFamily="34" charset="0"/>
              </a:rPr>
              <a:t>= Maximum Price – Final Asset Price</a:t>
            </a:r>
          </a:p>
          <a:p>
            <a:pPr>
              <a:lnSpc>
                <a:spcPct val="150000"/>
              </a:lnSpc>
              <a:spcBef>
                <a:spcPct val="0"/>
              </a:spcBef>
              <a:buFontTx/>
              <a:buNone/>
            </a:pPr>
            <a:r>
              <a:rPr lang="en-US" altLang="zh-CN" sz="2000" b="1" dirty="0">
                <a:solidFill>
                  <a:schemeClr val="accent6">
                    <a:lumMod val="50000"/>
                  </a:schemeClr>
                </a:solidFill>
                <a:latin typeface="Segoe UI" panose="020B0502040204020203" pitchFamily="34" charset="0"/>
                <a:cs typeface="Segoe UI" panose="020B0502040204020203" pitchFamily="34" charset="0"/>
              </a:rPr>
              <a:t>Fixed lookback put payoff </a:t>
            </a:r>
            <a:r>
              <a:rPr lang="en-US" altLang="zh-CN" sz="2000" b="0" dirty="0">
                <a:solidFill>
                  <a:schemeClr val="accent6">
                    <a:lumMod val="50000"/>
                  </a:schemeClr>
                </a:solidFill>
                <a:latin typeface="Segoe UI" panose="020B0502040204020203" pitchFamily="34" charset="0"/>
                <a:cs typeface="Segoe UI" panose="020B0502040204020203" pitchFamily="34" charset="0"/>
              </a:rPr>
              <a:t>= Strike – Minimum Asset Price</a:t>
            </a:r>
            <a:endParaRPr lang="zh-CN" altLang="en-US" sz="2000" b="0" dirty="0">
              <a:solidFill>
                <a:schemeClr val="accent6">
                  <a:lumMod val="50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326758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40000"/>
              </a:lnSpc>
            </a:pPr>
            <a:r>
              <a:rPr lang="en-US" altLang="zh-CN" sz="2670" dirty="0"/>
              <a:t>Shout Options</a:t>
            </a:r>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Shout Options</a:t>
            </a:r>
          </a:p>
          <a:p>
            <a:pPr lvl="1">
              <a:lnSpc>
                <a:spcPct val="140000"/>
              </a:lnSpc>
              <a:spcBef>
                <a:spcPct val="0"/>
              </a:spcBef>
            </a:pPr>
            <a:r>
              <a:rPr lang="en-US" altLang="zh-CN" dirty="0"/>
              <a:t>A shout option is a European option </a:t>
            </a:r>
            <a:r>
              <a:rPr lang="en-US" altLang="zh-CN" u="sng" dirty="0"/>
              <a:t>where the holder can “shout” to the writer</a:t>
            </a:r>
            <a:r>
              <a:rPr lang="en-US" altLang="zh-CN" dirty="0"/>
              <a:t> at one time during its life. At the end of the life of the option, </a:t>
            </a:r>
            <a:r>
              <a:rPr lang="en-US" altLang="zh-CN" u="sng" dirty="0"/>
              <a:t>the option holder receives either the usual payoff from a European option or the intrinsic value at the time of the shout, whichever is greater</a:t>
            </a:r>
            <a:r>
              <a:rPr lang="en-US" altLang="zh-CN" dirty="0"/>
              <a:t>.</a:t>
            </a:r>
          </a:p>
          <a:p>
            <a:endParaRPr lang="zh-CN" altLang="en-US" dirty="0"/>
          </a:p>
        </p:txBody>
      </p:sp>
    </p:spTree>
    <p:extLst>
      <p:ext uri="{BB962C8B-B14F-4D97-AF65-F5344CB8AC3E}">
        <p14:creationId xmlns:p14="http://schemas.microsoft.com/office/powerpoint/2010/main" val="233728385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40000"/>
              </a:lnSpc>
            </a:pPr>
            <a:r>
              <a:rPr lang="en-US" altLang="zh-CN" sz="2670" dirty="0"/>
              <a:t>Asian Options</a:t>
            </a:r>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Asian Options</a:t>
            </a:r>
          </a:p>
          <a:p>
            <a:pPr lvl="1">
              <a:lnSpc>
                <a:spcPct val="140000"/>
              </a:lnSpc>
              <a:spcBef>
                <a:spcPct val="0"/>
              </a:spcBef>
            </a:pPr>
            <a:r>
              <a:rPr lang="en-US" altLang="zh-CN" dirty="0"/>
              <a:t>Options where the </a:t>
            </a:r>
            <a:r>
              <a:rPr lang="en-US" altLang="zh-CN" u="sng" dirty="0"/>
              <a:t>payoff depends on the arithmetic average of the price of the underlying asset</a:t>
            </a:r>
            <a:r>
              <a:rPr lang="en-US" altLang="zh-CN" dirty="0"/>
              <a:t> during the life of the option. There are two types of Asian Options: </a:t>
            </a:r>
            <a:r>
              <a:rPr lang="en-US" altLang="zh-CN" u="sng" dirty="0"/>
              <a:t>average price option and average strike option</a:t>
            </a:r>
            <a:r>
              <a:rPr lang="en-US" altLang="zh-CN" dirty="0"/>
              <a:t>.</a:t>
            </a:r>
          </a:p>
          <a:p>
            <a:pPr lvl="1">
              <a:lnSpc>
                <a:spcPct val="140000"/>
              </a:lnSpc>
              <a:spcBef>
                <a:spcPct val="0"/>
              </a:spcBef>
            </a:pPr>
            <a:r>
              <a:rPr lang="en-US" altLang="zh-CN" dirty="0"/>
              <a:t>The payoff from an </a:t>
            </a:r>
            <a:r>
              <a:rPr lang="en-US" altLang="zh-CN" b="1" dirty="0"/>
              <a:t>average price call</a:t>
            </a:r>
            <a:r>
              <a:rPr lang="en-US" altLang="zh-CN" dirty="0"/>
              <a:t> is </a:t>
            </a:r>
            <a:r>
              <a:rPr lang="en-US" altLang="zh-CN" u="sng" dirty="0"/>
              <a:t>Max(S</a:t>
            </a:r>
            <a:r>
              <a:rPr lang="en-US" altLang="zh-CN" u="sng" baseline="-25000" dirty="0"/>
              <a:t>ave</a:t>
            </a:r>
            <a:r>
              <a:rPr lang="en-US" altLang="zh-CN" u="sng" dirty="0"/>
              <a:t> – K, 0)</a:t>
            </a:r>
            <a:r>
              <a:rPr lang="en-US" altLang="zh-CN" dirty="0"/>
              <a:t> and that from an </a:t>
            </a:r>
            <a:r>
              <a:rPr lang="en-US" altLang="zh-CN" b="1" dirty="0"/>
              <a:t>average price put</a:t>
            </a:r>
            <a:r>
              <a:rPr lang="en-US" altLang="zh-CN" dirty="0"/>
              <a:t> is </a:t>
            </a:r>
            <a:r>
              <a:rPr lang="en-US" altLang="zh-CN" u="sng" dirty="0"/>
              <a:t>Max(K – S</a:t>
            </a:r>
            <a:r>
              <a:rPr lang="en-US" altLang="zh-CN" u="sng" baseline="-25000" dirty="0"/>
              <a:t>ave</a:t>
            </a:r>
            <a:r>
              <a:rPr lang="en-US" altLang="zh-CN" u="sng" dirty="0"/>
              <a:t>, 0)</a:t>
            </a:r>
          </a:p>
          <a:p>
            <a:pPr lvl="1">
              <a:lnSpc>
                <a:spcPct val="140000"/>
              </a:lnSpc>
              <a:spcBef>
                <a:spcPct val="0"/>
              </a:spcBef>
            </a:pPr>
            <a:r>
              <a:rPr lang="en-US" altLang="zh-CN" dirty="0"/>
              <a:t>An </a:t>
            </a:r>
            <a:r>
              <a:rPr lang="en-US" altLang="zh-CN" b="1" dirty="0"/>
              <a:t>average strike call</a:t>
            </a:r>
            <a:r>
              <a:rPr lang="en-US" altLang="zh-CN" dirty="0"/>
              <a:t> pays off </a:t>
            </a:r>
            <a:r>
              <a:rPr lang="en-US" altLang="zh-CN" u="sng" dirty="0"/>
              <a:t>Max(S</a:t>
            </a:r>
            <a:r>
              <a:rPr lang="en-US" altLang="zh-CN" u="sng" baseline="-25000" dirty="0"/>
              <a:t>T</a:t>
            </a:r>
            <a:r>
              <a:rPr lang="en-US" altLang="zh-CN" u="sng" dirty="0"/>
              <a:t> – S</a:t>
            </a:r>
            <a:r>
              <a:rPr lang="en-US" altLang="zh-CN" u="sng" baseline="-25000" dirty="0"/>
              <a:t>ave</a:t>
            </a:r>
            <a:r>
              <a:rPr lang="en-US" altLang="zh-CN" u="sng" dirty="0"/>
              <a:t>, 0)</a:t>
            </a:r>
            <a:r>
              <a:rPr lang="en-US" altLang="zh-CN" dirty="0"/>
              <a:t> and an </a:t>
            </a:r>
            <a:r>
              <a:rPr lang="en-US" altLang="zh-CN" b="1" dirty="0"/>
              <a:t>average strike put pays </a:t>
            </a:r>
            <a:r>
              <a:rPr lang="en-US" altLang="zh-CN" dirty="0"/>
              <a:t>off </a:t>
            </a:r>
            <a:r>
              <a:rPr lang="en-US" altLang="zh-CN" u="sng" dirty="0"/>
              <a:t>Max(S</a:t>
            </a:r>
            <a:r>
              <a:rPr lang="en-US" altLang="zh-CN" u="sng" baseline="-25000" dirty="0"/>
              <a:t>ave</a:t>
            </a:r>
            <a:r>
              <a:rPr lang="en-US" altLang="zh-CN" u="sng" dirty="0"/>
              <a:t> – S</a:t>
            </a:r>
            <a:r>
              <a:rPr lang="en-US" altLang="zh-CN" u="sng" baseline="-25000" dirty="0"/>
              <a:t>T</a:t>
            </a:r>
            <a:r>
              <a:rPr lang="en-US" altLang="zh-CN" u="sng" dirty="0"/>
              <a:t>, 0)</a:t>
            </a:r>
          </a:p>
          <a:p>
            <a:endParaRPr lang="zh-CN" altLang="en-US" dirty="0"/>
          </a:p>
        </p:txBody>
      </p:sp>
    </p:spTree>
    <p:extLst>
      <p:ext uri="{BB962C8B-B14F-4D97-AF65-F5344CB8AC3E}">
        <p14:creationId xmlns:p14="http://schemas.microsoft.com/office/powerpoint/2010/main" val="168973444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lnSpcReduction="10000"/>
          </a:bodyPr>
          <a:lstStyle/>
          <a:p>
            <a:r>
              <a:rPr lang="en-US" altLang="zh-CN" b="0" dirty="0" smtClean="0"/>
              <a:t>Define </a:t>
            </a:r>
            <a:r>
              <a:rPr lang="en-US" altLang="zh-CN" b="0" dirty="0"/>
              <a:t>and contrast exotic derivatives and plain vanilla derivatives. </a:t>
            </a:r>
            <a:r>
              <a:rPr lang="en-US" altLang="zh-CN" b="0" dirty="0">
                <a:cs typeface="+mn-ea"/>
                <a:sym typeface="+mn-lt"/>
              </a:rPr>
              <a:t>★</a:t>
            </a:r>
            <a:endParaRPr lang="en-US" altLang="zh-CN" b="0" dirty="0"/>
          </a:p>
          <a:p>
            <a:r>
              <a:rPr lang="en-US" altLang="zh-CN" b="0" dirty="0"/>
              <a:t>Describe some of the factors that drive the development of exotic products. </a:t>
            </a:r>
          </a:p>
          <a:p>
            <a:r>
              <a:rPr lang="en-US" altLang="zh-CN" b="0" dirty="0"/>
              <a:t>Explain how any derivative can be converted into a zero-cost product. </a:t>
            </a:r>
          </a:p>
          <a:p>
            <a:r>
              <a:rPr lang="en-US" altLang="zh-CN" b="0" dirty="0"/>
              <a:t>Describe how standard American options can be transformed into nonstandard American options. </a:t>
            </a:r>
            <a:r>
              <a:rPr lang="en-US" altLang="zh-CN" b="0" dirty="0">
                <a:cs typeface="+mn-ea"/>
                <a:sym typeface="+mn-lt"/>
              </a:rPr>
              <a:t>★</a:t>
            </a:r>
            <a:endParaRPr lang="en-US" altLang="zh-CN" b="0" dirty="0"/>
          </a:p>
          <a:p>
            <a:r>
              <a:rPr lang="en-US" altLang="zh-CN" b="0" dirty="0">
                <a:solidFill>
                  <a:srgbClr val="FF0000"/>
                </a:solidFill>
              </a:rPr>
              <a:t>Identify and describe the characteristics and pay-off structure of the following exotic options: gap, forward start, compound, chooser, barrier, binary, lookback, shout, Asian, exchange, rainbow, and basket options.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t>Describe and contrast volatility and variance swaps</a:t>
            </a:r>
            <a:r>
              <a:rPr lang="en-US" altLang="zh-CN" b="0" dirty="0" smtClean="0"/>
              <a:t>.</a:t>
            </a:r>
            <a:r>
              <a:rPr lang="en-US" altLang="zh-CN" b="0" dirty="0">
                <a:cs typeface="+mn-ea"/>
                <a:sym typeface="+mn-lt"/>
              </a:rPr>
              <a:t> </a:t>
            </a:r>
            <a:r>
              <a:rPr lang="en-US" altLang="zh-CN" b="0" dirty="0" smtClean="0">
                <a:cs typeface="+mn-ea"/>
                <a:sym typeface="+mn-lt"/>
              </a:rPr>
              <a:t>★</a:t>
            </a:r>
            <a:endParaRPr lang="en-US" altLang="zh-CN" b="0" dirty="0"/>
          </a:p>
          <a:p>
            <a:r>
              <a:rPr lang="en-US" altLang="zh-CN" b="0" dirty="0"/>
              <a:t>Explain the basic premise of static option replication and how it can be applied to hedging exotic options. </a:t>
            </a:r>
            <a:r>
              <a:rPr lang="en-US" altLang="zh-CN" b="0" dirty="0">
                <a:cs typeface="+mn-ea"/>
                <a:sym typeface="+mn-lt"/>
              </a:rPr>
              <a:t>★</a:t>
            </a:r>
            <a:endParaRPr lang="en-US" altLang="zh-CN" b="0" dirty="0"/>
          </a:p>
          <a:p>
            <a:endParaRPr lang="zh-CN" altLang="en-US" dirty="0"/>
          </a:p>
        </p:txBody>
      </p:sp>
    </p:spTree>
    <p:extLst>
      <p:ext uri="{BB962C8B-B14F-4D97-AF65-F5344CB8AC3E}">
        <p14:creationId xmlns:p14="http://schemas.microsoft.com/office/powerpoint/2010/main" val="23115822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Commodity Forwards and Futures</a:t>
            </a:r>
          </a:p>
        </p:txBody>
      </p:sp>
    </p:spTree>
    <p:extLst>
      <p:ext uri="{BB962C8B-B14F-4D97-AF65-F5344CB8AC3E}">
        <p14:creationId xmlns:p14="http://schemas.microsoft.com/office/powerpoint/2010/main" val="1542374502"/>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lnSpcReduction="10000"/>
          </a:bodyPr>
          <a:lstStyle/>
          <a:p>
            <a:r>
              <a:rPr lang="en-US" altLang="zh-CN" dirty="0"/>
              <a:t>Lease </a:t>
            </a:r>
            <a:r>
              <a:rPr lang="en-US" altLang="zh-CN" dirty="0" smtClean="0"/>
              <a:t>rate</a:t>
            </a:r>
          </a:p>
          <a:p>
            <a:pPr lvl="1"/>
            <a:r>
              <a:rPr lang="en-US" altLang="zh-CN" b="0" u="sng" dirty="0"/>
              <a:t>The lease rate is to commodities what the dividend is to financial assets</a:t>
            </a:r>
            <a:r>
              <a:rPr lang="en-US" altLang="zh-CN" b="0" dirty="0"/>
              <a:t>: it is the </a:t>
            </a:r>
            <a:r>
              <a:rPr lang="en-US" altLang="zh-CN" b="0" dirty="0" smtClean="0"/>
              <a:t>rate received </a:t>
            </a:r>
            <a:r>
              <a:rPr lang="en-US" altLang="zh-CN" b="0" dirty="0"/>
              <a:t>by the owner of a consumption asset from the investor for borrowing </a:t>
            </a:r>
            <a:r>
              <a:rPr lang="en-US" altLang="zh-CN" b="0" dirty="0" smtClean="0"/>
              <a:t>the asset</a:t>
            </a:r>
            <a:r>
              <a:rPr lang="en-US" altLang="zh-CN" b="0" dirty="0"/>
              <a:t>. </a:t>
            </a:r>
            <a:r>
              <a:rPr lang="en-US" altLang="zh-CN" b="0" u="sng" dirty="0"/>
              <a:t>Lease rate payment is clearly a benefit to the owner of the asset. </a:t>
            </a:r>
            <a:r>
              <a:rPr lang="en-US" altLang="zh-CN" b="0" dirty="0"/>
              <a:t>Accordingly</a:t>
            </a:r>
            <a:r>
              <a:rPr lang="en-US" altLang="zh-CN" b="0" u="sng" dirty="0"/>
              <a:t>, it </a:t>
            </a:r>
            <a:r>
              <a:rPr lang="en-US" altLang="zh-CN" b="0" u="sng" dirty="0" smtClean="0"/>
              <a:t>has the </a:t>
            </a:r>
            <a:r>
              <a:rPr lang="en-US" altLang="zh-CN" b="0" u="sng" dirty="0"/>
              <a:t>effect of lowering forward price</a:t>
            </a:r>
            <a:r>
              <a:rPr lang="en-US" altLang="zh-CN" b="0" dirty="0"/>
              <a:t>. </a:t>
            </a:r>
            <a:endParaRPr lang="en-US" altLang="zh-CN" b="0" dirty="0" smtClean="0"/>
          </a:p>
          <a:p>
            <a:pPr lvl="1"/>
            <a:r>
              <a:rPr lang="en-US" altLang="zh-CN" b="0" dirty="0" smtClean="0"/>
              <a:t>To </a:t>
            </a:r>
            <a:r>
              <a:rPr lang="en-US" altLang="zh-CN" b="0" dirty="0"/>
              <a:t>see this, just imagine that the forward price was </a:t>
            </a:r>
            <a:r>
              <a:rPr lang="en-US" altLang="zh-CN" b="0" dirty="0" smtClean="0"/>
              <a:t>not impacted </a:t>
            </a:r>
            <a:r>
              <a:rPr lang="en-US" altLang="zh-CN" b="0" dirty="0"/>
              <a:t>by the lease rate. The owner of the commodity could exploit this by leasing </a:t>
            </a:r>
            <a:r>
              <a:rPr lang="en-US" altLang="zh-CN" b="0" dirty="0" smtClean="0"/>
              <a:t>his commodity </a:t>
            </a:r>
            <a:r>
              <a:rPr lang="en-US" altLang="zh-CN" b="0" dirty="0"/>
              <a:t>to a short seller, and turn around in the market and sell the forward at the </a:t>
            </a:r>
            <a:r>
              <a:rPr lang="en-US" altLang="zh-CN" b="0" dirty="0" smtClean="0"/>
              <a:t>higher price</a:t>
            </a:r>
            <a:r>
              <a:rPr lang="en-US" altLang="zh-CN" b="0" dirty="0"/>
              <a:t>, thus earning a risk-free payment equal to the present value of the lease rate</a:t>
            </a:r>
            <a:r>
              <a:rPr lang="en-US" altLang="zh-CN" b="0" dirty="0" smtClean="0"/>
              <a:t>.</a:t>
            </a:r>
          </a:p>
          <a:p>
            <a:pPr lvl="1"/>
            <a:r>
              <a:rPr lang="en-US" altLang="zh-CN" b="0" dirty="0"/>
              <a:t>“It is important to be clear about the reason a lease payment is required for </a:t>
            </a:r>
            <a:r>
              <a:rPr lang="en-US" altLang="zh-CN" b="0" dirty="0" smtClean="0"/>
              <a:t>a commodity </a:t>
            </a:r>
            <a:r>
              <a:rPr lang="en-US" altLang="zh-CN" b="0" dirty="0"/>
              <a:t>and not for a financial asset” </a:t>
            </a:r>
            <a:r>
              <a:rPr lang="en-US" altLang="zh-CN" b="0" dirty="0">
                <a:solidFill>
                  <a:srgbClr val="FF0000"/>
                </a:solidFill>
              </a:rPr>
              <a:t>(McDonald)</a:t>
            </a:r>
            <a:endParaRPr lang="zh-CN" altLang="en-US" b="0" dirty="0">
              <a:solidFill>
                <a:srgbClr val="FF0000"/>
              </a:solidFill>
            </a:endParaRPr>
          </a:p>
        </p:txBody>
      </p:sp>
      <p:sp>
        <p:nvSpPr>
          <p:cNvPr id="4" name="标题 1"/>
          <p:cNvSpPr>
            <a:spLocks noGrp="1"/>
          </p:cNvSpPr>
          <p:nvPr>
            <p:ph type="title"/>
          </p:nvPr>
        </p:nvSpPr>
        <p:spPr/>
        <p:txBody>
          <a:bodyPr/>
          <a:lstStyle/>
          <a:p>
            <a:r>
              <a:rPr lang="en-US" altLang="zh-CN" dirty="0" smtClean="0"/>
              <a:t>Commodity Terminology</a:t>
            </a:r>
            <a:endParaRPr lang="en-US" altLang="zh-CN" dirty="0"/>
          </a:p>
        </p:txBody>
      </p:sp>
    </p:spTree>
    <p:extLst>
      <p:ext uri="{BB962C8B-B14F-4D97-AF65-F5344CB8AC3E}">
        <p14:creationId xmlns:p14="http://schemas.microsoft.com/office/powerpoint/2010/main" val="195323380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Convenience yield</a:t>
            </a:r>
          </a:p>
          <a:p>
            <a:pPr lvl="1"/>
            <a:r>
              <a:rPr lang="en-US" altLang="zh-CN" b="0" dirty="0"/>
              <a:t>Convenience yield also affect the pricing relation for a forward or a Futures contract. Think </a:t>
            </a:r>
            <a:r>
              <a:rPr lang="en-US" altLang="zh-CN" b="0" dirty="0" smtClean="0"/>
              <a:t>of a </a:t>
            </a:r>
            <a:r>
              <a:rPr lang="en-US" altLang="zh-CN" b="0" dirty="0"/>
              <a:t>commodity, such as oil, where the owner of the oil can derive immediate benefits by </a:t>
            </a:r>
            <a:r>
              <a:rPr lang="en-US" altLang="zh-CN" b="0" dirty="0" smtClean="0"/>
              <a:t>using it </a:t>
            </a:r>
            <a:r>
              <a:rPr lang="en-US" altLang="zh-CN" b="0" dirty="0"/>
              <a:t>in, e.g. production. This certainly has some value, and in fact</a:t>
            </a:r>
            <a:r>
              <a:rPr lang="en-US" altLang="zh-CN" b="0" u="sng" dirty="0"/>
              <a:t>, it serves to reduce the </a:t>
            </a:r>
            <a:r>
              <a:rPr lang="en-US" altLang="zh-CN" b="0" u="sng" dirty="0" smtClean="0"/>
              <a:t>cost of </a:t>
            </a:r>
            <a:r>
              <a:rPr lang="en-US" altLang="zh-CN" b="0" u="sng" dirty="0"/>
              <a:t>storing the oil</a:t>
            </a:r>
            <a:r>
              <a:rPr lang="en-US" altLang="zh-CN" b="0" dirty="0"/>
              <a:t>. The forward price will thus decrease in the case when there is </a:t>
            </a:r>
            <a:r>
              <a:rPr lang="en-US" altLang="zh-CN" b="0" dirty="0" smtClean="0"/>
              <a:t>a convenience </a:t>
            </a:r>
            <a:r>
              <a:rPr lang="en-US" altLang="zh-CN" b="0" dirty="0"/>
              <a:t>yield.</a:t>
            </a:r>
            <a:endParaRPr lang="zh-CN" altLang="en-US" dirty="0"/>
          </a:p>
        </p:txBody>
      </p:sp>
      <p:sp>
        <p:nvSpPr>
          <p:cNvPr id="4" name="标题 1"/>
          <p:cNvSpPr>
            <a:spLocks noGrp="1"/>
          </p:cNvSpPr>
          <p:nvPr>
            <p:ph type="title"/>
          </p:nvPr>
        </p:nvSpPr>
        <p:spPr/>
        <p:txBody>
          <a:bodyPr/>
          <a:lstStyle/>
          <a:p>
            <a:r>
              <a:rPr lang="en-US" altLang="zh-CN" dirty="0" smtClean="0"/>
              <a:t>Commodity Terminology</a:t>
            </a:r>
            <a:endParaRPr lang="en-US" altLang="zh-CN" dirty="0"/>
          </a:p>
        </p:txBody>
      </p:sp>
    </p:spTree>
    <p:extLst>
      <p:ext uri="{BB962C8B-B14F-4D97-AF65-F5344CB8AC3E}">
        <p14:creationId xmlns:p14="http://schemas.microsoft.com/office/powerpoint/2010/main" val="36214564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lnSpcReduction="10000"/>
              </a:bodyPr>
              <a:lstStyle/>
              <a:p>
                <a:r>
                  <a:rPr lang="en-US" altLang="zh-CN" b="0" dirty="0">
                    <a:solidFill>
                      <a:schemeClr val="tx1"/>
                    </a:solidFill>
                  </a:rPr>
                  <a:t>The forward price is equal to the expected spot price in the future, but discounted to </a:t>
                </a:r>
                <a:r>
                  <a:rPr lang="en-US" altLang="zh-CN" b="0" dirty="0" smtClean="0">
                    <a:solidFill>
                      <a:schemeClr val="tx1"/>
                    </a:solidFill>
                  </a:rPr>
                  <a:t>the present</a:t>
                </a:r>
                <a:r>
                  <a:rPr lang="zh-CN" altLang="en-US" b="0" dirty="0" smtClean="0">
                    <a:solidFill>
                      <a:schemeClr val="tx1"/>
                    </a:solidFill>
                  </a:rPr>
                  <a:t>：</a:t>
                </a:r>
                <a:endParaRPr lang="en-US" altLang="zh-CN" b="0" dirty="0" smtClean="0">
                  <a:solidFill>
                    <a:schemeClr val="tx1"/>
                  </a:solidFill>
                </a:endParaRPr>
              </a:p>
              <a:p>
                <a:pPr marL="0" indent="0">
                  <a:buNone/>
                </a:pPr>
                <a:endParaRPr lang="en-US" altLang="zh-CN" b="0" dirty="0" smtClean="0">
                  <a:solidFill>
                    <a:schemeClr val="tx1"/>
                  </a:solidFill>
                </a:endParaRPr>
              </a:p>
              <a:p>
                <a:pPr marL="0" indent="0">
                  <a:buNone/>
                </a:pPr>
                <a:endParaRPr lang="en-US" altLang="zh-CN" b="0" dirty="0">
                  <a:solidFill>
                    <a:schemeClr val="tx1"/>
                  </a:solidFill>
                </a:endParaRPr>
              </a:p>
              <a:p>
                <a:pPr lvl="1"/>
                <a14:m>
                  <m:oMath xmlns:m="http://schemas.openxmlformats.org/officeDocument/2006/math">
                    <m:r>
                      <a:rPr lang="en-US" altLang="zh-CN" b="0" i="1">
                        <a:latin typeface="Cambria Math" panose="02040503050406030204" pitchFamily="18" charset="0"/>
                      </a:rPr>
                      <m:t>𝐹</m:t>
                    </m:r>
                    <m:r>
                      <a:rPr lang="en-US" altLang="zh-CN" b="0" i="1" baseline="-25000">
                        <a:latin typeface="Cambria Math" panose="02040503050406030204" pitchFamily="18" charset="0"/>
                      </a:rPr>
                      <m:t>0,</m:t>
                    </m:r>
                    <m:r>
                      <a:rPr lang="en-US" altLang="zh-CN" b="0" i="1" baseline="-25000">
                        <a:latin typeface="Cambria Math" panose="02040503050406030204" pitchFamily="18" charset="0"/>
                      </a:rPr>
                      <m:t>𝑇</m:t>
                    </m:r>
                  </m:oMath>
                </a14:m>
                <a:r>
                  <a:rPr lang="en-US" altLang="zh-CN" b="0" dirty="0" smtClean="0">
                    <a:solidFill>
                      <a:schemeClr val="tx1"/>
                    </a:solidFill>
                  </a:rPr>
                  <a:t> </a:t>
                </a:r>
                <a:r>
                  <a:rPr lang="en-US" altLang="zh-CN" b="0" dirty="0"/>
                  <a:t>Forward </a:t>
                </a:r>
                <a:r>
                  <a:rPr lang="en-US" altLang="zh-CN" b="0" dirty="0" smtClean="0"/>
                  <a:t>price</a:t>
                </a:r>
              </a:p>
              <a:p>
                <a:pPr lvl="1"/>
                <a:r>
                  <a:rPr lang="en-US" altLang="zh-CN" i="1" dirty="0"/>
                  <a:t>E</a:t>
                </a:r>
                <a:r>
                  <a:rPr lang="en-US" altLang="zh-CN" i="1" baseline="-25000" dirty="0"/>
                  <a:t>0</a:t>
                </a:r>
                <a:r>
                  <a:rPr lang="en-US" altLang="zh-CN" i="1" dirty="0"/>
                  <a:t>(S</a:t>
                </a:r>
                <a:r>
                  <a:rPr lang="en-US" altLang="zh-CN" i="1" baseline="-25000" dirty="0"/>
                  <a:t>T</a:t>
                </a:r>
                <a:r>
                  <a:rPr lang="en-US" altLang="zh-CN" i="1" dirty="0" smtClean="0"/>
                  <a:t>)</a:t>
                </a:r>
                <a:r>
                  <a:rPr lang="en-US" altLang="zh-CN" dirty="0" smtClean="0"/>
                  <a:t> </a:t>
                </a:r>
                <a:r>
                  <a:rPr lang="en-US" altLang="zh-CN" b="0" dirty="0"/>
                  <a:t>Spot price of S at time T, as expected at time </a:t>
                </a:r>
                <a:r>
                  <a:rPr lang="en-US" altLang="zh-CN" b="0" dirty="0" smtClean="0"/>
                  <a:t>0</a:t>
                </a:r>
              </a:p>
              <a:p>
                <a:pPr lvl="1"/>
                <a:r>
                  <a:rPr lang="en-US" altLang="zh-CN" b="0" i="1" dirty="0" smtClean="0">
                    <a:solidFill>
                      <a:schemeClr val="tx1"/>
                    </a:solidFill>
                  </a:rPr>
                  <a:t>r</a:t>
                </a:r>
                <a:r>
                  <a:rPr lang="en-US" altLang="zh-CN" b="0" dirty="0" smtClean="0">
                    <a:solidFill>
                      <a:schemeClr val="tx1"/>
                    </a:solidFill>
                  </a:rPr>
                  <a:t> </a:t>
                </a:r>
                <a:r>
                  <a:rPr lang="en-US" altLang="zh-CN" b="0" dirty="0"/>
                  <a:t>Risk-free </a:t>
                </a:r>
                <a:r>
                  <a:rPr lang="en-US" altLang="zh-CN" b="0" dirty="0" smtClean="0"/>
                  <a:t>rate</a:t>
                </a:r>
              </a:p>
              <a:p>
                <a:pPr lvl="1"/>
                <a:r>
                  <a:rPr lang="en-US" altLang="zh-CN" b="0" dirty="0" smtClean="0"/>
                  <a:t>α </a:t>
                </a:r>
                <a:r>
                  <a:rPr lang="en-US" altLang="zh-CN" b="0" dirty="0"/>
                  <a:t>Discount rate for commodity </a:t>
                </a:r>
                <a:r>
                  <a:rPr lang="en-US" altLang="zh-CN" b="0" dirty="0" smtClean="0"/>
                  <a:t>S</a:t>
                </a:r>
              </a:p>
              <a:p>
                <a:pPr lvl="1"/>
                <a:r>
                  <a:rPr lang="en-US" altLang="zh-CN" b="0" dirty="0"/>
                  <a:t>The discount rate is a function of the risk premium on the commodity: the risk premium is </a:t>
                </a:r>
                <a:r>
                  <a:rPr lang="en-US" altLang="zh-CN" b="0" dirty="0" smtClean="0"/>
                  <a:t>the difference </a:t>
                </a:r>
                <a:r>
                  <a:rPr lang="en-US" altLang="zh-CN" b="0" dirty="0"/>
                  <a:t>between the discount rate on the commodity and the riskless rate.</a:t>
                </a:r>
                <a:endParaRPr lang="en-US" altLang="zh-CN" b="0" dirty="0" smtClean="0">
                  <a:solidFill>
                    <a:schemeClr val="tx1"/>
                  </a:solidFill>
                </a:endParaRPr>
              </a:p>
              <a:p>
                <a:endParaRPr lang="en-US" altLang="zh-CN" b="0" dirty="0">
                  <a:solidFill>
                    <a:schemeClr val="tx1"/>
                  </a:solidFill>
                </a:endParaRPr>
              </a:p>
              <a:p>
                <a:endParaRPr lang="en-US" altLang="zh-CN" b="0" dirty="0" smtClean="0">
                  <a:solidFill>
                    <a:schemeClr val="tx1"/>
                  </a:solidFill>
                </a:endParaRPr>
              </a:p>
              <a:p>
                <a:endParaRPr lang="en-US" altLang="zh-CN" b="0" dirty="0" smtClean="0">
                  <a:solidFill>
                    <a:schemeClr val="tx1"/>
                  </a:solidFill>
                </a:endParaRPr>
              </a:p>
              <a:p>
                <a:endParaRPr lang="en-US" altLang="zh-CN" b="0" dirty="0">
                  <a:solidFill>
                    <a:schemeClr val="tx1"/>
                  </a:solidFill>
                </a:endParaRPr>
              </a:p>
              <a:p>
                <a:endParaRPr lang="en-US" altLang="zh-CN" b="0" dirty="0" smtClean="0">
                  <a:solidFill>
                    <a:schemeClr val="tx1"/>
                  </a:solidFill>
                </a:endParaRPr>
              </a:p>
              <a:p>
                <a:endParaRPr lang="en-US" altLang="zh-CN" b="0" dirty="0" smtClean="0">
                  <a:solidFill>
                    <a:schemeClr val="tx1"/>
                  </a:solidFill>
                </a:endParaRP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p:sp>
        <p:nvSpPr>
          <p:cNvPr id="4" name="标题 1"/>
          <p:cNvSpPr>
            <a:spLocks noGrp="1"/>
          </p:cNvSpPr>
          <p:nvPr>
            <p:ph type="title"/>
          </p:nvPr>
        </p:nvSpPr>
        <p:spPr/>
        <p:txBody>
          <a:bodyPr/>
          <a:lstStyle/>
          <a:p>
            <a:r>
              <a:rPr lang="en-US" altLang="zh-CN" dirty="0" smtClean="0"/>
              <a:t>Basic Equilibrium Formula</a:t>
            </a:r>
            <a:endParaRPr lang="en-US" altLang="zh-CN" dirty="0"/>
          </a:p>
        </p:txBody>
      </p:sp>
      <mc:AlternateContent xmlns:mc="http://schemas.openxmlformats.org/markup-compatibility/2006" xmlns:a14="http://schemas.microsoft.com/office/drawing/2010/main">
        <mc:Choice Requires="a14">
          <p:sp>
            <p:nvSpPr>
              <p:cNvPr id="5" name="文本框 4"/>
              <p:cNvSpPr txBox="1"/>
              <p:nvPr/>
            </p:nvSpPr>
            <p:spPr>
              <a:xfrm>
                <a:off x="4751929" y="2104222"/>
                <a:ext cx="2490875" cy="394339"/>
              </a:xfrm>
              <a:prstGeom prst="rect">
                <a:avLst/>
              </a:prstGeom>
              <a:noFill/>
            </p:spPr>
            <p:txBody>
              <a:bodyPr wrap="none" lIns="0" tIns="0" rIns="0" bIns="0" rtlCol="0">
                <a:spAutoFit/>
              </a:bodyPr>
              <a:lstStyle/>
              <a:p>
                <a14:m>
                  <m:oMath xmlns:m="http://schemas.openxmlformats.org/officeDocument/2006/math">
                    <m:r>
                      <a:rPr lang="en-US" altLang="zh-CN" sz="2400" b="0" i="1" smtClean="0">
                        <a:latin typeface="Cambria Math" panose="02040503050406030204" pitchFamily="18" charset="0"/>
                      </a:rPr>
                      <m:t>𝐹</m:t>
                    </m:r>
                    <m:r>
                      <a:rPr lang="en-US" altLang="zh-CN" sz="2400" b="0" i="1" baseline="-25000" smtClean="0">
                        <a:latin typeface="Cambria Math" panose="02040503050406030204" pitchFamily="18" charset="0"/>
                      </a:rPr>
                      <m:t>0,</m:t>
                    </m:r>
                    <m:r>
                      <a:rPr lang="en-US" altLang="zh-CN" sz="2400" b="0" i="1" baseline="-25000" smtClean="0">
                        <a:latin typeface="Cambria Math" panose="02040503050406030204" pitchFamily="18" charset="0"/>
                      </a:rPr>
                      <m:t>𝑇</m:t>
                    </m:r>
                    <m:r>
                      <a:rPr lang="en-US" altLang="zh-CN" sz="2400" b="0" i="1" smtClean="0">
                        <a:latin typeface="Cambria Math" panose="02040503050406030204" pitchFamily="18" charset="0"/>
                      </a:rPr>
                      <m:t>=</m:t>
                    </m:r>
                  </m:oMath>
                </a14:m>
                <a:r>
                  <a:rPr lang="en-US" altLang="zh-CN" sz="2400" i="1" dirty="0" smtClean="0"/>
                  <a:t>E</a:t>
                </a:r>
                <a:r>
                  <a:rPr lang="en-US" altLang="zh-CN" sz="2400" i="1" baseline="-25000" dirty="0" smtClean="0"/>
                  <a:t>0</a:t>
                </a:r>
                <a:r>
                  <a:rPr lang="en-US" altLang="zh-CN" sz="2400" i="1" dirty="0" smtClean="0"/>
                  <a:t>(S</a:t>
                </a:r>
                <a:r>
                  <a:rPr lang="en-US" altLang="zh-CN" sz="2400" i="1" baseline="-25000" dirty="0" smtClean="0"/>
                  <a:t>T</a:t>
                </a:r>
                <a:r>
                  <a:rPr lang="en-US" altLang="zh-CN" sz="2400" i="1" dirty="0" smtClean="0"/>
                  <a:t>)</a:t>
                </a:r>
                <a14:m>
                  <m:oMath xmlns:m="http://schemas.openxmlformats.org/officeDocument/2006/math">
                    <m:sSup>
                      <m:sSupPr>
                        <m:ctrlPr>
                          <a:rPr lang="en-US" altLang="zh-CN" sz="2400" i="1" smtClean="0">
                            <a:latin typeface="Cambria Math"/>
                          </a:rPr>
                        </m:ctrlPr>
                      </m:sSupPr>
                      <m:e>
                        <m:r>
                          <a:rPr lang="en-US" altLang="zh-CN" sz="2400" i="1">
                            <a:latin typeface="Cambria Math" panose="02040503050406030204" pitchFamily="18" charset="0"/>
                          </a:rPr>
                          <m:t>𝑒</m:t>
                        </m:r>
                      </m:e>
                      <m:sup>
                        <m:d>
                          <m:dPr>
                            <m:ctrlPr>
                              <a:rPr lang="en-US" altLang="zh-CN" sz="2400" b="0" i="1" smtClean="0">
                                <a:latin typeface="Cambria Math"/>
                              </a:rPr>
                            </m:ctrlPr>
                          </m:dPr>
                          <m:e>
                            <m: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𝑎</m:t>
                            </m:r>
                          </m:e>
                        </m:d>
                        <m:r>
                          <a:rPr lang="en-US" altLang="zh-CN" sz="2400" b="0" i="1" smtClean="0">
                            <a:latin typeface="Cambria Math" panose="02040503050406030204" pitchFamily="18" charset="0"/>
                          </a:rPr>
                          <m:t>𝑇</m:t>
                        </m:r>
                      </m:sup>
                    </m:sSup>
                  </m:oMath>
                </a14:m>
                <a:endParaRPr lang="zh-CN" altLang="en-US" sz="2400" i="1" dirty="0"/>
              </a:p>
            </p:txBody>
          </p:sp>
        </mc:Choice>
        <mc:Fallback xmlns="">
          <p:sp>
            <p:nvSpPr>
              <p:cNvPr id="5" name="文本框 4"/>
              <p:cNvSpPr txBox="1">
                <a:spLocks noRot="1" noChangeAspect="1" noMove="1" noResize="1" noEditPoints="1" noAdjustHandles="1" noChangeArrowheads="1" noChangeShapeType="1" noTextEdit="1"/>
              </p:cNvSpPr>
              <p:nvPr/>
            </p:nvSpPr>
            <p:spPr>
              <a:xfrm>
                <a:off x="4751929" y="2104222"/>
                <a:ext cx="2490875" cy="394339"/>
              </a:xfrm>
              <a:prstGeom prst="rect">
                <a:avLst/>
              </a:prstGeom>
              <a:blipFill>
                <a:blip r:embed="rId3"/>
                <a:stretch>
                  <a:fillRect t="-15385" b="-47692"/>
                </a:stretch>
              </a:blipFill>
            </p:spPr>
            <p:txBody>
              <a:bodyPr/>
              <a:lstStyle/>
              <a:p>
                <a:r>
                  <a:rPr lang="zh-CN" altLang="en-US">
                    <a:noFill/>
                  </a:rPr>
                  <a:t> </a:t>
                </a:r>
              </a:p>
            </p:txBody>
          </p:sp>
        </mc:Fallback>
      </mc:AlternateContent>
      <p:sp>
        <p:nvSpPr>
          <p:cNvPr id="6" name="文本框 5"/>
          <p:cNvSpPr txBox="1"/>
          <p:nvPr/>
        </p:nvSpPr>
        <p:spPr>
          <a:xfrm>
            <a:off x="4600279" y="1987410"/>
            <a:ext cx="2794173" cy="627962"/>
          </a:xfrm>
          <a:prstGeom prst="rect">
            <a:avLst/>
          </a:prstGeom>
          <a:noFill/>
          <a:ln w="2540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47546070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No‐Arbitrage Values</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a:t>If the lease rate is given by </a:t>
                </a:r>
                <a14:m>
                  <m:oMath xmlns:m="http://schemas.openxmlformats.org/officeDocument/2006/math">
                    <m:r>
                      <a:rPr lang="zh-CN" altLang="en-US" b="0" i="1" smtClean="0">
                        <a:latin typeface="Cambria Math" panose="02040503050406030204" pitchFamily="18" charset="0"/>
                      </a:rPr>
                      <m:t>𝜑</m:t>
                    </m:r>
                  </m:oMath>
                </a14:m>
                <a:r>
                  <a:rPr lang="en-US" altLang="zh-CN" b="0" dirty="0" smtClean="0"/>
                  <a:t>, </a:t>
                </a:r>
                <a:r>
                  <a:rPr lang="en-US" altLang="zh-CN" b="0" dirty="0"/>
                  <a:t>then the forward price is given by</a:t>
                </a:r>
                <a:r>
                  <a:rPr lang="en-US" altLang="zh-CN" b="0" dirty="0" smtClean="0"/>
                  <a:t>:</a:t>
                </a:r>
              </a:p>
              <a:p>
                <a:pPr marL="0" indent="0">
                  <a:buNone/>
                </a:pPr>
                <a:endParaRPr lang="en-US" altLang="zh-CN" dirty="0"/>
              </a:p>
              <a:p>
                <a:pPr lvl="1"/>
                <a:r>
                  <a:rPr lang="en-US" altLang="zh-CN" b="0" dirty="0"/>
                  <a:t>The lease rate formula may look familiar. In an earlier section, we saw that the value of </a:t>
                </a:r>
                <a:r>
                  <a:rPr lang="en-US" altLang="zh-CN" b="0" dirty="0" smtClean="0"/>
                  <a:t>a stock </a:t>
                </a:r>
                <a:r>
                  <a:rPr lang="en-US" altLang="zh-CN" b="0" dirty="0"/>
                  <a:t>index Futures contract was given </a:t>
                </a:r>
                <a:r>
                  <a:rPr lang="en-US" altLang="zh-CN" b="0" dirty="0" smtClean="0"/>
                  <a:t>by(                   ) where </a:t>
                </a:r>
                <a:r>
                  <a:rPr lang="en-US" altLang="zh-CN" b="0" dirty="0"/>
                  <a:t>(q) equals the </a:t>
                </a:r>
                <a:r>
                  <a:rPr lang="en-US" altLang="zh-CN" b="0" dirty="0" smtClean="0"/>
                  <a:t>dividend yield </a:t>
                </a:r>
                <a:r>
                  <a:rPr lang="en-US" altLang="zh-CN" b="0" dirty="0"/>
                  <a:t>rate.</a:t>
                </a:r>
                <a:r>
                  <a:rPr lang="en-US" altLang="zh-CN" b="0" u="sng" dirty="0"/>
                  <a:t> That’s because the lease payment is essentially a dividend</a:t>
                </a:r>
                <a:r>
                  <a:rPr lang="en-US" altLang="zh-CN" b="0" u="sng" dirty="0" smtClean="0"/>
                  <a:t>.</a:t>
                </a:r>
              </a:p>
              <a:p>
                <a:pPr lvl="1"/>
                <a:r>
                  <a:rPr lang="en-US" altLang="zh-CN" dirty="0">
                    <a:solidFill>
                      <a:srgbClr val="FF0000"/>
                    </a:solidFill>
                  </a:rPr>
                  <a:t>The lease rate = commodity discount rate – growth rate</a:t>
                </a:r>
                <a:r>
                  <a:rPr lang="en-US" altLang="zh-CN" dirty="0" smtClean="0">
                    <a:solidFill>
                      <a:srgbClr val="FF0000"/>
                    </a:solidFill>
                  </a:rPr>
                  <a:t>:</a:t>
                </a:r>
              </a:p>
              <a:p>
                <a:pPr marL="609585" lvl="1" indent="0" algn="ctr">
                  <a:buNone/>
                </a:pPr>
                <a14:m>
                  <m:oMath xmlns:m="http://schemas.openxmlformats.org/officeDocument/2006/math">
                    <m:r>
                      <a:rPr lang="zh-CN" altLang="en-US" sz="2400" i="1">
                        <a:latin typeface="Cambria Math" panose="02040503050406030204" pitchFamily="18" charset="0"/>
                      </a:rPr>
                      <m:t>𝜑</m:t>
                    </m:r>
                  </m:oMath>
                </a14:m>
                <a:r>
                  <a:rPr lang="en-US" altLang="zh-CN" sz="2400" dirty="0"/>
                  <a:t>= </a:t>
                </a:r>
                <a:r>
                  <a:rPr lang="en-US" altLang="zh-CN" sz="2400" i="1" dirty="0" smtClean="0"/>
                  <a:t>r</a:t>
                </a:r>
                <a:r>
                  <a:rPr lang="zh-CN" altLang="en-US" sz="2400" dirty="0" smtClean="0"/>
                  <a:t> </a:t>
                </a:r>
                <a:r>
                  <a:rPr lang="zh-CN" altLang="en-US" sz="2400" dirty="0"/>
                  <a:t>− </a:t>
                </a:r>
                <a:r>
                  <a:rPr lang="en-US" altLang="zh-CN" sz="2400" dirty="0" smtClean="0"/>
                  <a:t>g</a:t>
                </a:r>
              </a:p>
              <a:p>
                <a:pPr marL="609585" lvl="1" indent="0" algn="ctr">
                  <a:buNone/>
                </a:pPr>
                <a:r>
                  <a:rPr lang="en-US" altLang="zh-CN" dirty="0"/>
                  <a:t>The lease rate is economically like a dividend yield.</a:t>
                </a:r>
                <a:endParaRPr lang="en-US" altLang="zh-CN" b="0" u="sng" dirty="0" smtClean="0">
                  <a:solidFill>
                    <a:srgbClr val="FF0000"/>
                  </a:solidFill>
                </a:endParaRPr>
              </a:p>
              <a:p>
                <a:pPr lvl="1"/>
                <a:endParaRPr lang="zh-CN" altLang="en-US" u="sng"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r="-2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744122" y="1450304"/>
                <a:ext cx="2703753" cy="486672"/>
              </a:xfrm>
              <a:prstGeom prst="rect">
                <a:avLst/>
              </a:prstGeom>
            </p:spPr>
            <p:txBody>
              <a:bodyPr wrap="none">
                <a:spAutoFit/>
              </a:bodyPr>
              <a:lstStyle/>
              <a:p>
                <a14:m>
                  <m:oMath xmlns:m="http://schemas.openxmlformats.org/officeDocument/2006/math">
                    <m:r>
                      <a:rPr lang="en-US" altLang="zh-CN" sz="2400" i="1">
                        <a:latin typeface="Cambria Math" panose="02040503050406030204" pitchFamily="18" charset="0"/>
                      </a:rPr>
                      <m:t>𝐹</m:t>
                    </m:r>
                    <m:r>
                      <a:rPr lang="en-US" altLang="zh-CN" sz="2400" i="1" baseline="-25000">
                        <a:latin typeface="Cambria Math" panose="02040503050406030204" pitchFamily="18" charset="0"/>
                      </a:rPr>
                      <m:t>0,</m:t>
                    </m:r>
                    <m:r>
                      <a:rPr lang="en-US" altLang="zh-CN" sz="2400" i="1" baseline="-25000">
                        <a:latin typeface="Cambria Math" panose="02040503050406030204" pitchFamily="18" charset="0"/>
                      </a:rPr>
                      <m:t>𝑇</m:t>
                    </m:r>
                    <m:r>
                      <a:rPr lang="en-US" altLang="zh-CN" sz="2400" i="1">
                        <a:latin typeface="Cambria Math" panose="02040503050406030204" pitchFamily="18" charset="0"/>
                      </a:rPr>
                      <m:t>=</m:t>
                    </m:r>
                  </m:oMath>
                </a14:m>
                <a:r>
                  <a:rPr lang="en-US" altLang="zh-CN" sz="2400" i="1" dirty="0"/>
                  <a:t>E</a:t>
                </a:r>
                <a:r>
                  <a:rPr lang="en-US" altLang="zh-CN" sz="2400" i="1" baseline="-25000" dirty="0"/>
                  <a:t>0</a:t>
                </a:r>
                <a:r>
                  <a:rPr lang="en-US" altLang="zh-CN" sz="2400" i="1" dirty="0"/>
                  <a:t>(S</a:t>
                </a:r>
                <a:r>
                  <a:rPr lang="en-US" altLang="zh-CN" sz="2400" i="1" baseline="-25000" dirty="0"/>
                  <a:t>T</a:t>
                </a:r>
                <a:r>
                  <a:rPr lang="en-US" altLang="zh-CN" sz="2400" i="1" dirty="0"/>
                  <a:t>)</a:t>
                </a:r>
                <a14:m>
                  <m:oMath xmlns:m="http://schemas.openxmlformats.org/officeDocument/2006/math">
                    <m:sSup>
                      <m:sSupPr>
                        <m:ctrlPr>
                          <a:rPr lang="en-US" altLang="zh-CN" sz="2400" i="1">
                            <a:latin typeface="Cambria Math"/>
                          </a:rPr>
                        </m:ctrlPr>
                      </m:sSupPr>
                      <m:e>
                        <m:r>
                          <a:rPr lang="en-US" altLang="zh-CN" sz="2400" i="1">
                            <a:latin typeface="Cambria Math" panose="02040503050406030204" pitchFamily="18" charset="0"/>
                          </a:rPr>
                          <m:t>𝑒</m:t>
                        </m:r>
                      </m:e>
                      <m:sup>
                        <m:d>
                          <m:dPr>
                            <m:ctrlPr>
                              <a:rPr lang="en-US" altLang="zh-CN" sz="2400" i="1">
                                <a:latin typeface="Cambria Math"/>
                              </a:rPr>
                            </m:ctrlPr>
                          </m:dPr>
                          <m:e>
                            <m:r>
                              <a:rPr lang="en-US" altLang="zh-CN" sz="2400" i="1">
                                <a:latin typeface="Cambria Math" panose="02040503050406030204" pitchFamily="18" charset="0"/>
                              </a:rPr>
                              <m:t>𝑟</m:t>
                            </m:r>
                            <m:r>
                              <a:rPr lang="en-US" altLang="zh-CN" sz="2400" i="1">
                                <a:latin typeface="Cambria Math" panose="02040503050406030204" pitchFamily="18" charset="0"/>
                              </a:rPr>
                              <m:t>−</m:t>
                            </m:r>
                            <m:r>
                              <a:rPr lang="zh-CN" altLang="en-US" sz="2400" i="1">
                                <a:latin typeface="Cambria Math" panose="02040503050406030204" pitchFamily="18" charset="0"/>
                              </a:rPr>
                              <m:t>𝜑</m:t>
                            </m:r>
                          </m:e>
                        </m:d>
                        <m:r>
                          <a:rPr lang="en-US" altLang="zh-CN" sz="2400" i="1">
                            <a:latin typeface="Cambria Math" panose="02040503050406030204" pitchFamily="18" charset="0"/>
                          </a:rPr>
                          <m:t>𝑇</m:t>
                        </m:r>
                      </m:sup>
                    </m:sSup>
                  </m:oMath>
                </a14:m>
                <a:endParaRPr lang="zh-CN" altLang="en-US" sz="2400" i="1" dirty="0"/>
              </a:p>
            </p:txBody>
          </p:sp>
        </mc:Choice>
        <mc:Fallback xmlns="">
          <p:sp>
            <p:nvSpPr>
              <p:cNvPr id="4" name="矩形 3"/>
              <p:cNvSpPr>
                <a:spLocks noRot="1" noChangeAspect="1" noMove="1" noResize="1" noEditPoints="1" noAdjustHandles="1" noChangeArrowheads="1" noChangeShapeType="1" noTextEdit="1"/>
              </p:cNvSpPr>
              <p:nvPr/>
            </p:nvSpPr>
            <p:spPr>
              <a:xfrm>
                <a:off x="4744122" y="1450304"/>
                <a:ext cx="2703753" cy="486672"/>
              </a:xfrm>
              <a:prstGeom prst="rect">
                <a:avLst/>
              </a:prstGeom>
              <a:blipFill>
                <a:blip r:embed="rId3"/>
                <a:stretch>
                  <a:fillRect t="-3750" b="-28750"/>
                </a:stretch>
              </a:blipFill>
            </p:spPr>
            <p:txBody>
              <a:bodyPr/>
              <a:lstStyle/>
              <a:p>
                <a:r>
                  <a:rPr lang="zh-CN" altLang="en-US">
                    <a:noFill/>
                  </a:rPr>
                  <a:t> </a:t>
                </a:r>
              </a:p>
            </p:txBody>
          </p:sp>
        </mc:Fallback>
      </mc:AlternateContent>
      <p:sp>
        <p:nvSpPr>
          <p:cNvPr id="7" name="promotion_309557"/>
          <p:cNvSpPr>
            <a:spLocks noChangeAspect="1"/>
          </p:cNvSpPr>
          <p:nvPr/>
        </p:nvSpPr>
        <p:spPr bwMode="auto">
          <a:xfrm>
            <a:off x="3147110" y="5206871"/>
            <a:ext cx="609685" cy="476433"/>
          </a:xfrm>
          <a:custGeom>
            <a:avLst/>
            <a:gdLst>
              <a:gd name="connsiteX0" fmla="*/ 198121 w 607639"/>
              <a:gd name="connsiteY0" fmla="*/ 347033 h 474835"/>
              <a:gd name="connsiteX1" fmla="*/ 198121 w 607639"/>
              <a:gd name="connsiteY1" fmla="*/ 370229 h 474835"/>
              <a:gd name="connsiteX2" fmla="*/ 212274 w 607639"/>
              <a:gd name="connsiteY2" fmla="*/ 389159 h 474835"/>
              <a:gd name="connsiteX3" fmla="*/ 331101 w 607639"/>
              <a:gd name="connsiteY3" fmla="*/ 424797 h 474835"/>
              <a:gd name="connsiteX4" fmla="*/ 356647 w 607639"/>
              <a:gd name="connsiteY4" fmla="*/ 405779 h 474835"/>
              <a:gd name="connsiteX5" fmla="*/ 356647 w 607639"/>
              <a:gd name="connsiteY5" fmla="*/ 394581 h 474835"/>
              <a:gd name="connsiteX6" fmla="*/ 39622 w 607639"/>
              <a:gd name="connsiteY6" fmla="*/ 118691 h 474835"/>
              <a:gd name="connsiteX7" fmla="*/ 79245 w 607639"/>
              <a:gd name="connsiteY7" fmla="*/ 158240 h 474835"/>
              <a:gd name="connsiteX8" fmla="*/ 79245 w 607639"/>
              <a:gd name="connsiteY8" fmla="*/ 316524 h 474835"/>
              <a:gd name="connsiteX9" fmla="*/ 39622 w 607639"/>
              <a:gd name="connsiteY9" fmla="*/ 356073 h 474835"/>
              <a:gd name="connsiteX10" fmla="*/ 0 w 607639"/>
              <a:gd name="connsiteY10" fmla="*/ 316524 h 474835"/>
              <a:gd name="connsiteX11" fmla="*/ 0 w 607639"/>
              <a:gd name="connsiteY11" fmla="*/ 158240 h 474835"/>
              <a:gd name="connsiteX12" fmla="*/ 39622 w 607639"/>
              <a:gd name="connsiteY12" fmla="*/ 118691 h 474835"/>
              <a:gd name="connsiteX13" fmla="*/ 488736 w 607639"/>
              <a:gd name="connsiteY13" fmla="*/ 44597 h 474835"/>
              <a:gd name="connsiteX14" fmla="*/ 488736 w 607639"/>
              <a:gd name="connsiteY14" fmla="*/ 430130 h 474835"/>
              <a:gd name="connsiteX15" fmla="*/ 396167 w 607639"/>
              <a:gd name="connsiteY15" fmla="*/ 406401 h 474835"/>
              <a:gd name="connsiteX16" fmla="*/ 372312 w 607639"/>
              <a:gd name="connsiteY16" fmla="*/ 453415 h 474835"/>
              <a:gd name="connsiteX17" fmla="*/ 319797 w 607639"/>
              <a:gd name="connsiteY17" fmla="*/ 462658 h 474835"/>
              <a:gd name="connsiteX18" fmla="*/ 200881 w 607639"/>
              <a:gd name="connsiteY18" fmla="*/ 427019 h 474835"/>
              <a:gd name="connsiteX19" fmla="*/ 158512 w 607639"/>
              <a:gd name="connsiteY19" fmla="*/ 370229 h 474835"/>
              <a:gd name="connsiteX20" fmla="*/ 158512 w 607639"/>
              <a:gd name="connsiteY20" fmla="*/ 335213 h 474835"/>
              <a:gd name="connsiteX21" fmla="*/ 118903 w 607639"/>
              <a:gd name="connsiteY21" fmla="*/ 323304 h 474835"/>
              <a:gd name="connsiteX22" fmla="*/ 118903 w 607639"/>
              <a:gd name="connsiteY22" fmla="*/ 151512 h 474835"/>
              <a:gd name="connsiteX23" fmla="*/ 567937 w 607639"/>
              <a:gd name="connsiteY23" fmla="*/ 0 h 474835"/>
              <a:gd name="connsiteX24" fmla="*/ 607639 w 607639"/>
              <a:gd name="connsiteY24" fmla="*/ 39547 h 474835"/>
              <a:gd name="connsiteX25" fmla="*/ 607639 w 607639"/>
              <a:gd name="connsiteY25" fmla="*/ 435199 h 474835"/>
              <a:gd name="connsiteX26" fmla="*/ 567937 w 607639"/>
              <a:gd name="connsiteY26" fmla="*/ 474835 h 474835"/>
              <a:gd name="connsiteX27" fmla="*/ 528323 w 607639"/>
              <a:gd name="connsiteY27" fmla="*/ 435199 h 474835"/>
              <a:gd name="connsiteX28" fmla="*/ 528323 w 607639"/>
              <a:gd name="connsiteY28" fmla="*/ 39547 h 474835"/>
              <a:gd name="connsiteX29" fmla="*/ 567937 w 607639"/>
              <a:gd name="connsiteY29" fmla="*/ 0 h 47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639" h="474835">
                <a:moveTo>
                  <a:pt x="198121" y="347033"/>
                </a:moveTo>
                <a:lnTo>
                  <a:pt x="198121" y="370229"/>
                </a:lnTo>
                <a:cubicBezTo>
                  <a:pt x="198121" y="378939"/>
                  <a:pt x="203818" y="386582"/>
                  <a:pt x="212274" y="389159"/>
                </a:cubicBezTo>
                <a:lnTo>
                  <a:pt x="331101" y="424797"/>
                </a:lnTo>
                <a:cubicBezTo>
                  <a:pt x="344452" y="428619"/>
                  <a:pt x="356647" y="418665"/>
                  <a:pt x="356647" y="405779"/>
                </a:cubicBezTo>
                <a:lnTo>
                  <a:pt x="356647" y="394581"/>
                </a:lnTo>
                <a:close/>
                <a:moveTo>
                  <a:pt x="39622" y="118691"/>
                </a:moveTo>
                <a:cubicBezTo>
                  <a:pt x="61526" y="118691"/>
                  <a:pt x="79245" y="136377"/>
                  <a:pt x="79245" y="158240"/>
                </a:cubicBezTo>
                <a:lnTo>
                  <a:pt x="79245" y="316524"/>
                </a:lnTo>
                <a:cubicBezTo>
                  <a:pt x="79245" y="338298"/>
                  <a:pt x="61526" y="356073"/>
                  <a:pt x="39622" y="356073"/>
                </a:cubicBezTo>
                <a:cubicBezTo>
                  <a:pt x="17808" y="356073"/>
                  <a:pt x="0" y="338298"/>
                  <a:pt x="0" y="316524"/>
                </a:cubicBezTo>
                <a:lnTo>
                  <a:pt x="0" y="158240"/>
                </a:lnTo>
                <a:cubicBezTo>
                  <a:pt x="0" y="136377"/>
                  <a:pt x="17808" y="118691"/>
                  <a:pt x="39622" y="118691"/>
                </a:cubicBezTo>
                <a:close/>
                <a:moveTo>
                  <a:pt x="488736" y="44597"/>
                </a:moveTo>
                <a:lnTo>
                  <a:pt x="488736" y="430130"/>
                </a:lnTo>
                <a:lnTo>
                  <a:pt x="396167" y="406401"/>
                </a:lnTo>
                <a:cubicBezTo>
                  <a:pt x="395989" y="425064"/>
                  <a:pt x="387355" y="442217"/>
                  <a:pt x="372312" y="453415"/>
                </a:cubicBezTo>
                <a:cubicBezTo>
                  <a:pt x="356736" y="464968"/>
                  <a:pt x="337332" y="467990"/>
                  <a:pt x="319797" y="462658"/>
                </a:cubicBezTo>
                <a:lnTo>
                  <a:pt x="200881" y="427019"/>
                </a:lnTo>
                <a:cubicBezTo>
                  <a:pt x="175513" y="419465"/>
                  <a:pt x="158512" y="396625"/>
                  <a:pt x="158512" y="370229"/>
                </a:cubicBezTo>
                <a:lnTo>
                  <a:pt x="158512" y="335213"/>
                </a:lnTo>
                <a:lnTo>
                  <a:pt x="118903" y="323304"/>
                </a:lnTo>
                <a:lnTo>
                  <a:pt x="118903" y="151512"/>
                </a:lnTo>
                <a:close/>
                <a:moveTo>
                  <a:pt x="567937" y="0"/>
                </a:moveTo>
                <a:cubicBezTo>
                  <a:pt x="589835" y="0"/>
                  <a:pt x="607639" y="17774"/>
                  <a:pt x="607639" y="39547"/>
                </a:cubicBezTo>
                <a:lnTo>
                  <a:pt x="607639" y="435199"/>
                </a:lnTo>
                <a:cubicBezTo>
                  <a:pt x="607639" y="457061"/>
                  <a:pt x="589835" y="474835"/>
                  <a:pt x="567937" y="474835"/>
                </a:cubicBezTo>
                <a:cubicBezTo>
                  <a:pt x="546127" y="474835"/>
                  <a:pt x="528323" y="457061"/>
                  <a:pt x="528323" y="435199"/>
                </a:cubicBezTo>
                <a:lnTo>
                  <a:pt x="528323" y="39547"/>
                </a:lnTo>
                <a:cubicBezTo>
                  <a:pt x="528323" y="17774"/>
                  <a:pt x="546127" y="0"/>
                  <a:pt x="567937" y="0"/>
                </a:cubicBezTo>
                <a:close/>
              </a:path>
            </a:pathLst>
          </a:custGeom>
          <a:solidFill>
            <a:schemeClr val="accent1"/>
          </a:solidFill>
          <a:ln>
            <a:noFill/>
          </a:ln>
        </p:spPr>
      </p:sp>
      <p:sp>
        <p:nvSpPr>
          <p:cNvPr id="8" name="文本框 7"/>
          <p:cNvSpPr txBox="1"/>
          <p:nvPr/>
        </p:nvSpPr>
        <p:spPr>
          <a:xfrm>
            <a:off x="3976869" y="5260421"/>
            <a:ext cx="4164376" cy="369332"/>
          </a:xfrm>
          <a:prstGeom prst="rect">
            <a:avLst/>
          </a:prstGeom>
          <a:noFill/>
        </p:spPr>
        <p:txBody>
          <a:bodyPr wrap="square" rtlCol="0">
            <a:spAutoFit/>
          </a:bodyPr>
          <a:lstStyle/>
          <a:p>
            <a:r>
              <a:rPr lang="en-US" altLang="zh-CN" b="1" dirty="0" smtClean="0">
                <a:solidFill>
                  <a:srgbClr val="FF0000"/>
                </a:solidFill>
              </a:rPr>
              <a:t>2017</a:t>
            </a:r>
            <a:r>
              <a:rPr lang="zh-CN" altLang="en-US" b="1" dirty="0" smtClean="0">
                <a:solidFill>
                  <a:srgbClr val="FF0000"/>
                </a:solidFill>
              </a:rPr>
              <a:t>年真题就考过这么</a:t>
            </a:r>
            <a:r>
              <a:rPr lang="en-US" altLang="zh-CN" b="1" dirty="0" smtClean="0">
                <a:solidFill>
                  <a:srgbClr val="FF0000"/>
                </a:solidFill>
              </a:rPr>
              <a:t>XX</a:t>
            </a:r>
            <a:r>
              <a:rPr lang="zh-CN" altLang="en-US" b="1" dirty="0" smtClean="0">
                <a:solidFill>
                  <a:srgbClr val="FF0000"/>
                </a:solidFill>
              </a:rPr>
              <a:t>的知识点！</a:t>
            </a:r>
            <a:endParaRPr lang="zh-CN" altLang="en-US" b="1" dirty="0">
              <a:solidFill>
                <a:srgbClr val="FF0000"/>
              </a:solidFill>
            </a:endParaRPr>
          </a:p>
        </p:txBody>
      </p:sp>
    </p:spTree>
    <p:extLst>
      <p:ext uri="{BB962C8B-B14F-4D97-AF65-F5344CB8AC3E}">
        <p14:creationId xmlns:p14="http://schemas.microsoft.com/office/powerpoint/2010/main" val="182937241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85000" lnSpcReduction="20000"/>
          </a:bodyPr>
          <a:lstStyle/>
          <a:p>
            <a:pPr>
              <a:spcBef>
                <a:spcPct val="0"/>
              </a:spcBef>
            </a:pPr>
            <a:r>
              <a:rPr lang="en-US" altLang="zh-CN" dirty="0"/>
              <a:t>The current price of Commodity X in the spot market is $42.47. Forward contracts in one year are trading at a price of $43.11. If the current continuously compounded annual risk-free interest rate is 7.0%, calculate the implicit lease rate for Commodity X. Holding the calculated implicit lease rate constant, would the forward market for Commodity X be in backwardation or contango if the continuously compounded annual risk-free rate immediately fell to 5.0</a:t>
            </a:r>
            <a:r>
              <a:rPr lang="en-US" altLang="zh-CN" dirty="0" smtClean="0"/>
              <a:t>%?</a:t>
            </a:r>
          </a:p>
          <a:p>
            <a:pPr marL="1066785" lvl="1" indent="-457200">
              <a:spcBef>
                <a:spcPct val="0"/>
              </a:spcBef>
              <a:buAutoNum type="alphaLcParenR"/>
            </a:pPr>
            <a:r>
              <a:rPr lang="en-US" altLang="zh-CN" sz="2400" dirty="0" smtClean="0"/>
              <a:t>The implicit lease rate is 1.49%. Holding this rate constant, the forward market would be in contango if the continuously compounded annual risk-free rate immediately fell to 5.0%.</a:t>
            </a:r>
          </a:p>
          <a:p>
            <a:pPr marL="1066785" lvl="1" indent="-457200">
              <a:spcBef>
                <a:spcPct val="0"/>
              </a:spcBef>
              <a:buAutoNum type="alphaLcParenR"/>
            </a:pPr>
            <a:r>
              <a:rPr lang="en-US" altLang="zh-CN" sz="2400" dirty="0" smtClean="0"/>
              <a:t>The </a:t>
            </a:r>
            <a:r>
              <a:rPr lang="en-US" altLang="zh-CN" sz="2400" dirty="0"/>
              <a:t>implicit lease rate is 5.50%. Holding this rate constant, the forward market would be in backwardation if the continuously compounded annual risk-free rate immediately fell to 5.0</a:t>
            </a:r>
            <a:r>
              <a:rPr lang="en-US" altLang="zh-CN" sz="2400" dirty="0" smtClean="0"/>
              <a:t>%.</a:t>
            </a:r>
          </a:p>
          <a:p>
            <a:pPr marL="1066785" lvl="1" indent="-457200">
              <a:spcBef>
                <a:spcPct val="0"/>
              </a:spcBef>
              <a:buAutoNum type="alphaLcParenR"/>
            </a:pPr>
            <a:r>
              <a:rPr lang="en-US" altLang="zh-CN" sz="2400" dirty="0" smtClean="0"/>
              <a:t>The </a:t>
            </a:r>
            <a:r>
              <a:rPr lang="en-US" altLang="zh-CN" sz="2400" dirty="0"/>
              <a:t>implicit lease rate is 1.49%. Holding this rate constant, the forward market would be in backwardation if the continuously compounded annual risk-free rate immediately fell to 5.0</a:t>
            </a:r>
            <a:r>
              <a:rPr lang="en-US" altLang="zh-CN" sz="2400" dirty="0" smtClean="0"/>
              <a:t>%.</a:t>
            </a:r>
          </a:p>
          <a:p>
            <a:pPr marL="1066785" lvl="1" indent="-457200">
              <a:spcBef>
                <a:spcPct val="0"/>
              </a:spcBef>
              <a:buAutoNum type="alphaLcParenR"/>
            </a:pPr>
            <a:r>
              <a:rPr lang="en-US" altLang="zh-CN" sz="2400" dirty="0" smtClean="0"/>
              <a:t>The </a:t>
            </a:r>
            <a:r>
              <a:rPr lang="en-US" altLang="zh-CN" sz="2400" dirty="0"/>
              <a:t>implicit lease rate is 5.50%. Holding this rate constant, the forward market would be in contango if the continuously compounded annual risk-free rate immediately fell to 5.0%. </a:t>
            </a:r>
          </a:p>
          <a:p>
            <a:endParaRPr lang="zh-CN" altLang="en-US" dirty="0"/>
          </a:p>
        </p:txBody>
      </p:sp>
      <p:sp>
        <p:nvSpPr>
          <p:cNvPr id="3" name="标题 2"/>
          <p:cNvSpPr>
            <a:spLocks noGrp="1"/>
          </p:cNvSpPr>
          <p:nvPr>
            <p:ph type="title"/>
          </p:nvPr>
        </p:nvSpPr>
        <p:spPr/>
        <p:txBody>
          <a:bodyPr/>
          <a:lstStyle/>
          <a:p>
            <a:r>
              <a:rPr lang="en-US" altLang="zh-CN" dirty="0"/>
              <a:t>Contango and Backwardation</a:t>
            </a:r>
            <a:endParaRPr lang="zh-CN" altLang="en-US" dirty="0"/>
          </a:p>
        </p:txBody>
      </p:sp>
    </p:spTree>
    <p:extLst>
      <p:ext uri="{BB962C8B-B14F-4D97-AF65-F5344CB8AC3E}">
        <p14:creationId xmlns:p14="http://schemas.microsoft.com/office/powerpoint/2010/main" val="28207140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10087778" cy="576064"/>
          </a:xfrm>
        </p:spPr>
        <p:txBody>
          <a:bodyPr>
            <a:normAutofit/>
          </a:bodyPr>
          <a:lstStyle/>
          <a:p>
            <a:r>
              <a:rPr lang="en-US" altLang="zh-CN" dirty="0" smtClean="0"/>
              <a:t>Compare The Lease Rate With The Convenience Yield</a:t>
            </a:r>
            <a:endParaRPr lang="zh-CN" altLang="en-US" dirty="0"/>
          </a:p>
        </p:txBody>
      </p:sp>
      <p:sp>
        <p:nvSpPr>
          <p:cNvPr id="3" name="文本占位符 2"/>
          <p:cNvSpPr>
            <a:spLocks noGrp="1"/>
          </p:cNvSpPr>
          <p:nvPr>
            <p:ph type="body" sz="quarter" idx="10"/>
          </p:nvPr>
        </p:nvSpPr>
        <p:spPr/>
        <p:txBody>
          <a:bodyPr/>
          <a:lstStyle/>
          <a:p>
            <a:r>
              <a:rPr lang="en-US" altLang="zh-CN" b="0" dirty="0">
                <a:solidFill>
                  <a:schemeClr val="tx1"/>
                </a:solidFill>
              </a:rPr>
              <a:t>If we are given the forward price, we only need to re-arrange the above formula to solve for the implicit lease rate. We re-arrange as follows:</a:t>
            </a:r>
            <a:endParaRPr lang="zh-CN" altLang="en-US" b="0" dirty="0">
              <a:solidFill>
                <a:schemeClr val="tx1"/>
              </a:solidFill>
            </a:endParaRPr>
          </a:p>
          <a:p>
            <a:endParaRPr lang="zh-CN" altLang="en-US" dirty="0"/>
          </a:p>
        </p:txBody>
      </p:sp>
      <p:pic>
        <p:nvPicPr>
          <p:cNvPr id="4" name="图片 3"/>
          <p:cNvPicPr>
            <a:picLocks noChangeAspect="1"/>
          </p:cNvPicPr>
          <p:nvPr/>
        </p:nvPicPr>
        <p:blipFill>
          <a:blip r:embed="rId2"/>
          <a:stretch>
            <a:fillRect/>
          </a:stretch>
        </p:blipFill>
        <p:spPr>
          <a:xfrm>
            <a:off x="2976465" y="2022593"/>
            <a:ext cx="5833425" cy="2288150"/>
          </a:xfrm>
          <a:prstGeom prst="rect">
            <a:avLst/>
          </a:prstGeom>
          <a:gradFill>
            <a:gsLst>
              <a:gs pos="28416">
                <a:srgbClr val="EAF4D6"/>
              </a:gs>
              <a:gs pos="7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172251988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Commodity Spread</a:t>
            </a:r>
            <a:endParaRPr lang="en-US" altLang="zh-CN" dirty="0"/>
          </a:p>
        </p:txBody>
      </p:sp>
      <p:sp>
        <p:nvSpPr>
          <p:cNvPr id="3" name="文本占位符 2"/>
          <p:cNvSpPr>
            <a:spLocks noGrp="1"/>
          </p:cNvSpPr>
          <p:nvPr>
            <p:ph type="body" sz="quarter" idx="10"/>
          </p:nvPr>
        </p:nvSpPr>
        <p:spPr/>
        <p:txBody>
          <a:bodyPr/>
          <a:lstStyle/>
          <a:p>
            <a:r>
              <a:rPr lang="en-US" altLang="zh-CN" dirty="0"/>
              <a:t>Crack Spread</a:t>
            </a:r>
          </a:p>
          <a:p>
            <a:pPr lvl="1"/>
            <a:r>
              <a:rPr lang="en-US" altLang="zh-CN" dirty="0"/>
              <a:t>Crack Spread is a specific spread trade involving simultaneously buying and selling contracts in crude oil and one or more derivative products, typically gasoline and heating oil.</a:t>
            </a:r>
          </a:p>
          <a:p>
            <a:pPr lvl="1"/>
            <a:r>
              <a:rPr lang="en-US" altLang="zh-CN" dirty="0"/>
              <a:t>Oil refineries may trade it to hedge the price risk of their operations, while speculators attempt to profit from changes in the price differential.</a:t>
            </a:r>
          </a:p>
          <a:p>
            <a:endParaRPr lang="zh-CN" altLang="en-US" dirty="0"/>
          </a:p>
        </p:txBody>
      </p:sp>
    </p:spTree>
    <p:extLst>
      <p:ext uri="{BB962C8B-B14F-4D97-AF65-F5344CB8AC3E}">
        <p14:creationId xmlns:p14="http://schemas.microsoft.com/office/powerpoint/2010/main" val="62900308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Crack Spread (cont’d)</a:t>
            </a:r>
          </a:p>
          <a:p>
            <a:pPr lvl="1"/>
            <a:r>
              <a:rPr lang="en-US" altLang="zh-CN" dirty="0"/>
              <a:t>Example: “3 – 2 – 1“ = 3 gallons of oil (input), 2 gallons of gasoline (output) and 1 gallon of heating oil (output)</a:t>
            </a:r>
          </a:p>
          <a:p>
            <a:endParaRPr lang="zh-CN" altLang="en-US" dirty="0"/>
          </a:p>
        </p:txBody>
      </p:sp>
      <p:grpSp>
        <p:nvGrpSpPr>
          <p:cNvPr id="4" name="组合 12"/>
          <p:cNvGrpSpPr>
            <a:grpSpLocks/>
          </p:cNvGrpSpPr>
          <p:nvPr/>
        </p:nvGrpSpPr>
        <p:grpSpPr bwMode="auto">
          <a:xfrm>
            <a:off x="1233488" y="2781301"/>
            <a:ext cx="6677025" cy="3336924"/>
            <a:chOff x="1284657" y="2348880"/>
            <a:chExt cx="6675787" cy="3722082"/>
          </a:xfrm>
        </p:grpSpPr>
        <p:sp>
          <p:nvSpPr>
            <p:cNvPr id="5" name="文本框 3"/>
            <p:cNvSpPr txBox="1">
              <a:spLocks noChangeArrowheads="1"/>
            </p:cNvSpPr>
            <p:nvPr/>
          </p:nvSpPr>
          <p:spPr bwMode="auto">
            <a:xfrm>
              <a:off x="1284657" y="3235258"/>
              <a:ext cx="1560136" cy="1899242"/>
            </a:xfrm>
            <a:prstGeom prst="rect">
              <a:avLst/>
            </a:pr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en-US" altLang="zh-CN" sz="1800" b="0" dirty="0">
                  <a:latin typeface="Segoe UI" panose="020B0502040204020203" pitchFamily="34" charset="0"/>
                  <a:cs typeface="Segoe UI" panose="020B0502040204020203" pitchFamily="34" charset="0"/>
                </a:rPr>
                <a:t>Long 3 gallons of oil at $2/gallon = -$6.00</a:t>
              </a:r>
              <a:endParaRPr lang="zh-CN" altLang="en-US" sz="1800" b="0">
                <a:latin typeface="Segoe UI" panose="020B0502040204020203" pitchFamily="34" charset="0"/>
                <a:cs typeface="Segoe UI" panose="020B0502040204020203" pitchFamily="34" charset="0"/>
              </a:endParaRPr>
            </a:p>
          </p:txBody>
        </p:sp>
        <p:grpSp>
          <p:nvGrpSpPr>
            <p:cNvPr id="6" name="组合 7"/>
            <p:cNvGrpSpPr>
              <a:grpSpLocks/>
            </p:cNvGrpSpPr>
            <p:nvPr/>
          </p:nvGrpSpPr>
          <p:grpSpPr bwMode="auto">
            <a:xfrm>
              <a:off x="3842483" y="2348880"/>
              <a:ext cx="1560136" cy="3722082"/>
              <a:chOff x="3803952" y="2186654"/>
              <a:chExt cx="1560136" cy="3722082"/>
            </a:xfrm>
          </p:grpSpPr>
          <p:sp>
            <p:nvSpPr>
              <p:cNvPr id="12" name="文本框 4"/>
              <p:cNvSpPr txBox="1">
                <a:spLocks noChangeArrowheads="1"/>
              </p:cNvSpPr>
              <p:nvPr/>
            </p:nvSpPr>
            <p:spPr bwMode="auto">
              <a:xfrm>
                <a:off x="3803952" y="2186654"/>
                <a:ext cx="1560136" cy="1783009"/>
              </a:xfrm>
              <a:prstGeom prst="rect">
                <a:avLst/>
              </a:pr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40000"/>
                  </a:lnSpc>
                  <a:spcBef>
                    <a:spcPct val="0"/>
                  </a:spcBef>
                  <a:buFontTx/>
                  <a:buNone/>
                </a:pPr>
                <a:r>
                  <a:rPr lang="en-US" altLang="zh-CN" sz="1800" b="0" dirty="0">
                    <a:latin typeface="Segoe UI" panose="020B0502040204020203" pitchFamily="34" charset="0"/>
                    <a:cs typeface="Segoe UI" panose="020B0502040204020203" pitchFamily="34" charset="0"/>
                  </a:rPr>
                  <a:t>Short 2 gallons of gasoline at $2.10 = $4.20</a:t>
                </a:r>
                <a:endParaRPr lang="zh-CN" altLang="en-US" sz="1800" b="0" dirty="0">
                  <a:latin typeface="Segoe UI" panose="020B0502040204020203" pitchFamily="34" charset="0"/>
                  <a:cs typeface="Segoe UI" panose="020B0502040204020203" pitchFamily="34" charset="0"/>
                </a:endParaRPr>
              </a:p>
            </p:txBody>
          </p:sp>
          <p:sp>
            <p:nvSpPr>
              <p:cNvPr id="13" name="文本框 5"/>
              <p:cNvSpPr txBox="1">
                <a:spLocks noChangeArrowheads="1"/>
              </p:cNvSpPr>
              <p:nvPr/>
            </p:nvSpPr>
            <p:spPr bwMode="auto">
              <a:xfrm>
                <a:off x="3803952" y="4125727"/>
                <a:ext cx="1560136" cy="1783009"/>
              </a:xfrm>
              <a:prstGeom prst="rect">
                <a:avLst/>
              </a:pr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40000"/>
                  </a:lnSpc>
                  <a:spcBef>
                    <a:spcPct val="0"/>
                  </a:spcBef>
                  <a:buFontTx/>
                  <a:buNone/>
                </a:pPr>
                <a:r>
                  <a:rPr lang="en-US" altLang="zh-CN" sz="1800" b="0" dirty="0">
                    <a:latin typeface="Segoe UI" panose="020B0502040204020203" pitchFamily="34" charset="0"/>
                    <a:cs typeface="Segoe UI" panose="020B0502040204020203" pitchFamily="34" charset="0"/>
                  </a:rPr>
                  <a:t>Short 1 gallons of heating oil at $2.50 = $2.50</a:t>
                </a:r>
                <a:endParaRPr lang="zh-CN" altLang="en-US" sz="1800" b="0" dirty="0">
                  <a:latin typeface="Segoe UI" panose="020B0502040204020203" pitchFamily="34" charset="0"/>
                  <a:cs typeface="Segoe UI" panose="020B0502040204020203" pitchFamily="34" charset="0"/>
                </a:endParaRPr>
              </a:p>
            </p:txBody>
          </p:sp>
        </p:grpSp>
        <p:sp>
          <p:nvSpPr>
            <p:cNvPr id="7" name="文本框 6"/>
            <p:cNvSpPr txBox="1">
              <a:spLocks noChangeArrowheads="1"/>
            </p:cNvSpPr>
            <p:nvPr/>
          </p:nvSpPr>
          <p:spPr bwMode="auto">
            <a:xfrm>
              <a:off x="6400308" y="3698715"/>
              <a:ext cx="1560136" cy="972329"/>
            </a:xfrm>
            <a:prstGeom prst="rect">
              <a:avLst/>
            </a:pr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en-US" altLang="zh-CN" sz="1800" b="0" dirty="0">
                  <a:latin typeface="Segoe UI" panose="020B0502040204020203" pitchFamily="34" charset="0"/>
                  <a:cs typeface="Segoe UI" panose="020B0502040204020203" pitchFamily="34" charset="0"/>
                </a:rPr>
                <a:t>$6.70 - $6.00 = +$0.70</a:t>
              </a:r>
              <a:endParaRPr lang="zh-CN" altLang="en-US" sz="1800" b="0">
                <a:latin typeface="Segoe UI" panose="020B0502040204020203" pitchFamily="34" charset="0"/>
                <a:cs typeface="Segoe UI" panose="020B0502040204020203" pitchFamily="34" charset="0"/>
              </a:endParaRPr>
            </a:p>
          </p:txBody>
        </p:sp>
        <p:sp>
          <p:nvSpPr>
            <p:cNvPr id="8" name="右箭头 7"/>
            <p:cNvSpPr/>
            <p:nvPr/>
          </p:nvSpPr>
          <p:spPr>
            <a:xfrm>
              <a:off x="3048042" y="3912438"/>
              <a:ext cx="592028" cy="543615"/>
            </a:xfrm>
            <a:prstGeom prst="rightArrow">
              <a:avLst/>
            </a:prstGeom>
            <a:noFill/>
            <a:ln w="12700">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9" name="组合 11"/>
            <p:cNvGrpSpPr>
              <a:grpSpLocks/>
            </p:cNvGrpSpPr>
            <p:nvPr/>
          </p:nvGrpSpPr>
          <p:grpSpPr bwMode="auto">
            <a:xfrm>
              <a:off x="5605480" y="2954373"/>
              <a:ext cx="591968" cy="2482412"/>
              <a:chOff x="5434126" y="2954373"/>
              <a:chExt cx="591968" cy="2482412"/>
            </a:xfrm>
          </p:grpSpPr>
          <p:sp>
            <p:nvSpPr>
              <p:cNvPr id="10" name="右箭头 9"/>
              <p:cNvSpPr/>
              <p:nvPr/>
            </p:nvSpPr>
            <p:spPr>
              <a:xfrm>
                <a:off x="5433677" y="2954470"/>
                <a:ext cx="592027" cy="541845"/>
              </a:xfrm>
              <a:prstGeom prst="rightArrow">
                <a:avLst/>
              </a:prstGeom>
              <a:noFill/>
              <a:ln w="12700">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右箭头 10"/>
              <p:cNvSpPr/>
              <p:nvPr/>
            </p:nvSpPr>
            <p:spPr>
              <a:xfrm>
                <a:off x="5433677" y="4895195"/>
                <a:ext cx="592027" cy="541845"/>
              </a:xfrm>
              <a:prstGeom prst="rightArrow">
                <a:avLst/>
              </a:prstGeom>
              <a:noFill/>
              <a:ln w="12700">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4" name="标题 1"/>
          <p:cNvSpPr>
            <a:spLocks noGrp="1"/>
          </p:cNvSpPr>
          <p:nvPr>
            <p:ph type="title"/>
          </p:nvPr>
        </p:nvSpPr>
        <p:spPr/>
        <p:txBody>
          <a:bodyPr/>
          <a:lstStyle/>
          <a:p>
            <a:r>
              <a:rPr lang="en-US" altLang="zh-CN" dirty="0" smtClean="0"/>
              <a:t>Commodity Spread</a:t>
            </a:r>
            <a:endParaRPr lang="en-US" altLang="zh-CN" dirty="0"/>
          </a:p>
        </p:txBody>
      </p:sp>
    </p:spTree>
    <p:extLst>
      <p:ext uri="{BB962C8B-B14F-4D97-AF65-F5344CB8AC3E}">
        <p14:creationId xmlns:p14="http://schemas.microsoft.com/office/powerpoint/2010/main" val="321143204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40000" lnSpcReduction="20000"/>
          </a:bodyPr>
          <a:lstStyle/>
          <a:p>
            <a:r>
              <a:rPr lang="en-US" altLang="zh-CN" sz="4000" b="0" dirty="0" smtClean="0">
                <a:solidFill>
                  <a:srgbClr val="FF0000"/>
                </a:solidFill>
              </a:rPr>
              <a:t>Apply </a:t>
            </a:r>
            <a:r>
              <a:rPr lang="en-US" altLang="zh-CN" sz="4000" b="0" dirty="0">
                <a:solidFill>
                  <a:srgbClr val="FF0000"/>
                </a:solidFill>
              </a:rPr>
              <a:t>commodity concepts such as storage costs, carry markets, lease rate, and convenience yield.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Explain the basic equilibrium formula for pricing commodity forwards.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Describe an arbitrage transaction in commodity forwards, and compute the potential arbitrage profit.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Define the lease rate and explain how it determines the no-arbitrage values for commodity forwards and futures.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Define carry markets, and illustrate the impact of storage costs and convenience yields on commodity forward prices and no-arbitrage bounds.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Compute the forward price of a commodity with storage costs.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Calculate a continuous lease rate for a commodity asset.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Explain the relationship between the lease rate, the convenience yield, and the storage cost.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chemeClr val="tx1"/>
                </a:solidFill>
              </a:rPr>
              <a:t>Identify factors that impact gold, corn, electricity, natural gas, and oil forward prices. </a:t>
            </a:r>
            <a:r>
              <a:rPr lang="en-US" altLang="zh-CN" sz="4000" b="0" dirty="0">
                <a:solidFill>
                  <a:schemeClr val="tx1"/>
                </a:solidFill>
                <a:cs typeface="+mn-ea"/>
                <a:sym typeface="+mn-lt"/>
              </a:rPr>
              <a:t>★</a:t>
            </a:r>
            <a:endParaRPr lang="en-US" altLang="zh-CN" sz="4000" b="0" dirty="0">
              <a:solidFill>
                <a:schemeClr val="tx1"/>
              </a:solidFill>
            </a:endParaRPr>
          </a:p>
          <a:p>
            <a:r>
              <a:rPr lang="en-US" altLang="zh-CN" sz="4000" b="0" dirty="0">
                <a:solidFill>
                  <a:srgbClr val="FF0000"/>
                </a:solidFill>
              </a:rPr>
              <a:t>Compute a commodity spread.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Explain how basis risk can occur when hedging commodity price exposure.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solidFill>
                  <a:srgbClr val="FF0000"/>
                </a:solidFill>
              </a:rPr>
              <a:t>Evaluate the differences between a strip hedge and a stack hedge and explain how these differences impact risk management. </a:t>
            </a:r>
            <a:r>
              <a:rPr lang="en-US" altLang="zh-CN" sz="4000" b="0" dirty="0" smtClean="0">
                <a:solidFill>
                  <a:srgbClr val="FF0000"/>
                </a:solidFill>
                <a:cs typeface="+mn-ea"/>
                <a:sym typeface="+mn-lt"/>
              </a:rPr>
              <a:t>★★</a:t>
            </a:r>
            <a:r>
              <a:rPr lang="en-US" altLang="zh-CN" sz="4000" b="0" dirty="0">
                <a:solidFill>
                  <a:srgbClr val="FF0000"/>
                </a:solidFill>
                <a:cs typeface="+mn-ea"/>
                <a:sym typeface="+mn-lt"/>
              </a:rPr>
              <a:t>★</a:t>
            </a:r>
            <a:endParaRPr lang="en-US" altLang="zh-CN" sz="4000" b="0" dirty="0">
              <a:solidFill>
                <a:srgbClr val="FF0000"/>
              </a:solidFill>
            </a:endParaRPr>
          </a:p>
          <a:p>
            <a:r>
              <a:rPr lang="en-US" altLang="zh-CN" sz="4000" b="0" dirty="0"/>
              <a:t>Provide examples of cross-hedging, specifically the process of hedging jet fuel with crude oil and using weather derivatives. </a:t>
            </a:r>
            <a:r>
              <a:rPr lang="en-US" altLang="zh-CN" sz="4000" b="0" dirty="0">
                <a:cs typeface="+mn-ea"/>
                <a:sym typeface="+mn-lt"/>
              </a:rPr>
              <a:t>★</a:t>
            </a:r>
            <a:endParaRPr lang="en-US" altLang="zh-CN" sz="4000" b="0" dirty="0"/>
          </a:p>
          <a:p>
            <a:r>
              <a:rPr lang="en-US" altLang="zh-CN" sz="4000" b="0" dirty="0"/>
              <a:t>Explain how to create a synthetic commodity position, and use it to explain the relationship between the forward price and the expected future spot price. </a:t>
            </a:r>
            <a:r>
              <a:rPr lang="en-US" altLang="zh-CN" sz="4000" b="0" dirty="0">
                <a:cs typeface="+mn-ea"/>
                <a:sym typeface="+mn-lt"/>
              </a:rPr>
              <a:t>★</a:t>
            </a:r>
            <a:endParaRPr lang="en-US" altLang="zh-CN" sz="4000" b="0" dirty="0"/>
          </a:p>
          <a:p>
            <a:endParaRPr lang="zh-CN" altLang="en-US" dirty="0"/>
          </a:p>
        </p:txBody>
      </p:sp>
    </p:spTree>
    <p:extLst>
      <p:ext uri="{BB962C8B-B14F-4D97-AF65-F5344CB8AC3E}">
        <p14:creationId xmlns:p14="http://schemas.microsoft.com/office/powerpoint/2010/main" val="49932266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EX,OTC,DPCs and SPVs</a:t>
            </a:r>
          </a:p>
        </p:txBody>
      </p:sp>
    </p:spTree>
    <p:extLst>
      <p:ext uri="{BB962C8B-B14F-4D97-AF65-F5344CB8AC3E}">
        <p14:creationId xmlns:p14="http://schemas.microsoft.com/office/powerpoint/2010/main" val="1275474447"/>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Counterparty Risk</a:t>
            </a:r>
            <a:endParaRPr lang="en-US" altLang="zh-CN" dirty="0"/>
          </a:p>
        </p:txBody>
      </p:sp>
      <p:sp>
        <p:nvSpPr>
          <p:cNvPr id="3" name="文本占位符 2"/>
          <p:cNvSpPr>
            <a:spLocks noGrp="1"/>
          </p:cNvSpPr>
          <p:nvPr>
            <p:ph type="body" sz="quarter" idx="10"/>
          </p:nvPr>
        </p:nvSpPr>
        <p:spPr/>
        <p:txBody>
          <a:bodyPr/>
          <a:lstStyle/>
          <a:p>
            <a:r>
              <a:rPr lang="en-US" altLang="zh-CN" dirty="0"/>
              <a:t>An exchange is a central financial center </a:t>
            </a:r>
            <a:endParaRPr lang="en-US" altLang="zh-CN" dirty="0" smtClean="0"/>
          </a:p>
          <a:p>
            <a:pPr lvl="1"/>
            <a:r>
              <a:rPr lang="en-US" altLang="zh-CN" b="0" dirty="0" smtClean="0">
                <a:solidFill>
                  <a:schemeClr val="tx1"/>
                </a:solidFill>
              </a:rPr>
              <a:t>An </a:t>
            </a:r>
            <a:r>
              <a:rPr lang="en-US" altLang="zh-CN" b="0" dirty="0">
                <a:solidFill>
                  <a:schemeClr val="tx1"/>
                </a:solidFill>
              </a:rPr>
              <a:t>exchange </a:t>
            </a:r>
            <a:r>
              <a:rPr lang="en-US" altLang="zh-CN" b="0" dirty="0" smtClean="0">
                <a:solidFill>
                  <a:schemeClr val="tx1"/>
                </a:solidFill>
              </a:rPr>
              <a:t>promotes market </a:t>
            </a:r>
            <a:r>
              <a:rPr lang="en-US" altLang="zh-CN" b="0" dirty="0">
                <a:solidFill>
                  <a:schemeClr val="tx1"/>
                </a:solidFill>
              </a:rPr>
              <a:t>efficiency and enhances liquidity by centralizing trading in a single place</a:t>
            </a:r>
            <a:r>
              <a:rPr lang="en-US" altLang="zh-CN" b="0" dirty="0" smtClean="0">
                <a:solidFill>
                  <a:schemeClr val="tx1"/>
                </a:solidFill>
              </a:rPr>
              <a:t>.</a:t>
            </a:r>
          </a:p>
          <a:p>
            <a:pPr lvl="2">
              <a:buFont typeface="Wingdings" panose="05000000000000000000" pitchFamily="2" charset="2"/>
              <a:buChar char="l"/>
            </a:pPr>
            <a:r>
              <a:rPr lang="en-US" altLang="zh-CN" b="0" dirty="0"/>
              <a:t>An exchange performs several functions</a:t>
            </a:r>
            <a:r>
              <a:rPr lang="en-US" altLang="zh-CN" b="0" dirty="0" smtClean="0"/>
              <a:t>:</a:t>
            </a:r>
          </a:p>
          <a:p>
            <a:pPr lvl="2"/>
            <a:r>
              <a:rPr lang="en-US" altLang="zh-CN" b="0" i="1" dirty="0"/>
              <a:t>Product </a:t>
            </a:r>
            <a:r>
              <a:rPr lang="en-US" altLang="zh-CN" b="0" i="1" dirty="0" smtClean="0"/>
              <a:t>standardization</a:t>
            </a:r>
          </a:p>
          <a:p>
            <a:pPr lvl="2"/>
            <a:r>
              <a:rPr lang="en-US" altLang="zh-CN" b="0" i="1" dirty="0"/>
              <a:t>Trading </a:t>
            </a:r>
            <a:r>
              <a:rPr lang="en-US" altLang="zh-CN" b="0" i="1" dirty="0" smtClean="0"/>
              <a:t>venue : </a:t>
            </a:r>
            <a:r>
              <a:rPr lang="en-US" altLang="zh-CN" b="0" dirty="0" smtClean="0"/>
              <a:t>This centralized trading </a:t>
            </a:r>
            <a:r>
              <a:rPr lang="en-US" altLang="zh-CN" b="0" dirty="0"/>
              <a:t>venue provides an opportunity for price discovery</a:t>
            </a:r>
            <a:r>
              <a:rPr lang="en-US" altLang="zh-CN" b="0" dirty="0" smtClean="0"/>
              <a:t>.</a:t>
            </a:r>
          </a:p>
          <a:p>
            <a:pPr lvl="2"/>
            <a:r>
              <a:rPr lang="en-US" altLang="zh-CN" b="0" i="1" dirty="0"/>
              <a:t>Reporting services</a:t>
            </a:r>
            <a:endParaRPr lang="zh-CN" altLang="en-US" b="0" dirty="0">
              <a:solidFill>
                <a:schemeClr val="tx1"/>
              </a:solidFill>
            </a:endParaRPr>
          </a:p>
        </p:txBody>
      </p:sp>
    </p:spTree>
    <p:extLst>
      <p:ext uri="{BB962C8B-B14F-4D97-AF65-F5344CB8AC3E}">
        <p14:creationId xmlns:p14="http://schemas.microsoft.com/office/powerpoint/2010/main" val="86756864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10131846" cy="576064"/>
          </a:xfrm>
        </p:spPr>
        <p:txBody>
          <a:bodyPr>
            <a:normAutofit/>
          </a:bodyPr>
          <a:lstStyle/>
          <a:p>
            <a:r>
              <a:rPr lang="en-US" altLang="zh-CN" dirty="0" smtClean="0"/>
              <a:t>The Developments in Clearing That Reduce Risk.</a:t>
            </a:r>
            <a:endParaRPr lang="en-US" altLang="zh-CN" dirty="0"/>
          </a:p>
        </p:txBody>
      </p:sp>
      <p:sp>
        <p:nvSpPr>
          <p:cNvPr id="3" name="文本占位符 2"/>
          <p:cNvSpPr>
            <a:spLocks noGrp="1"/>
          </p:cNvSpPr>
          <p:nvPr>
            <p:ph type="body" sz="quarter" idx="10"/>
          </p:nvPr>
        </p:nvSpPr>
        <p:spPr/>
        <p:txBody>
          <a:bodyPr>
            <a:normAutofit fontScale="92500" lnSpcReduction="10000"/>
          </a:bodyPr>
          <a:lstStyle/>
          <a:p>
            <a:r>
              <a:rPr lang="en-US" altLang="zh-CN" dirty="0"/>
              <a:t>Clearing is the reconciling and resolving of contracts between </a:t>
            </a:r>
            <a:r>
              <a:rPr lang="en-US" altLang="zh-CN" dirty="0" smtClean="0"/>
              <a:t>counterparties.</a:t>
            </a:r>
          </a:p>
          <a:p>
            <a:pPr lvl="1"/>
            <a:r>
              <a:rPr lang="en-US" altLang="zh-CN" dirty="0" smtClean="0"/>
              <a:t> Clearing happens between trade execution and trade settlement (when all legal obligations have been made).</a:t>
            </a:r>
          </a:p>
          <a:p>
            <a:pPr lvl="2"/>
            <a:r>
              <a:rPr lang="en-US" altLang="zh-CN" b="1" i="1" dirty="0"/>
              <a:t>Margining</a:t>
            </a:r>
            <a:r>
              <a:rPr lang="en-US" altLang="zh-CN" b="0" i="1" dirty="0"/>
              <a:t> </a:t>
            </a:r>
            <a:r>
              <a:rPr lang="en-US" altLang="zh-CN" b="0" dirty="0"/>
              <a:t>involves exchange members receiving and paying cash or other </a:t>
            </a:r>
            <a:r>
              <a:rPr lang="en-US" altLang="zh-CN" b="0" dirty="0" smtClean="0"/>
              <a:t>assets against </a:t>
            </a:r>
            <a:r>
              <a:rPr lang="en-US" altLang="zh-CN" b="0" dirty="0"/>
              <a:t>gains and losses in their positions (variation margin) and providing </a:t>
            </a:r>
            <a:r>
              <a:rPr lang="en-US" altLang="zh-CN" b="0" dirty="0" smtClean="0"/>
              <a:t>extra coverage </a:t>
            </a:r>
            <a:r>
              <a:rPr lang="en-US" altLang="zh-CN" b="0" dirty="0"/>
              <a:t>against losses in case they default (initial margin</a:t>
            </a:r>
            <a:r>
              <a:rPr lang="en-US" altLang="zh-CN" b="0" dirty="0" smtClean="0"/>
              <a:t>).</a:t>
            </a:r>
          </a:p>
          <a:p>
            <a:pPr lvl="2"/>
            <a:r>
              <a:rPr lang="en-US" altLang="zh-CN" b="1" i="1" dirty="0" smtClean="0"/>
              <a:t>Netting </a:t>
            </a:r>
            <a:r>
              <a:rPr lang="en-US" altLang="zh-CN" b="0" dirty="0"/>
              <a:t>involves the offsetting of contracts, which is useful to reduce the exposure </a:t>
            </a:r>
            <a:r>
              <a:rPr lang="en-US" altLang="zh-CN" b="0" dirty="0" smtClean="0"/>
              <a:t>of counterparties </a:t>
            </a:r>
            <a:r>
              <a:rPr lang="en-US" altLang="zh-CN" b="0" dirty="0"/>
              <a:t>and the underlying network to which they are exposed. It reduces </a:t>
            </a:r>
            <a:r>
              <a:rPr lang="en-US" altLang="zh-CN" b="0" dirty="0" smtClean="0"/>
              <a:t>the costs </a:t>
            </a:r>
            <a:r>
              <a:rPr lang="en-US" altLang="zh-CN" b="0" dirty="0"/>
              <a:t>of maintaining open positions such as via the margins needing to be </a:t>
            </a:r>
            <a:r>
              <a:rPr lang="en-US" altLang="zh-CN" b="0" dirty="0" smtClean="0"/>
              <a:t>posted. Netting </a:t>
            </a:r>
            <a:r>
              <a:rPr lang="en-US" altLang="zh-CN" b="0" dirty="0"/>
              <a:t>can be seen in all of the three forms of clearing that have developed, </a:t>
            </a:r>
            <a:r>
              <a:rPr lang="en-US" altLang="zh-CN" b="0" dirty="0" smtClean="0"/>
              <a:t>namely </a:t>
            </a:r>
            <a:r>
              <a:rPr lang="en-US" altLang="zh-CN" b="0" i="1" dirty="0" smtClean="0"/>
              <a:t>direct </a:t>
            </a:r>
            <a:r>
              <a:rPr lang="en-US" altLang="zh-CN" b="0" i="1" dirty="0"/>
              <a:t>clearing, ring clearing and complete clearing.</a:t>
            </a:r>
            <a:endParaRPr lang="zh-CN" altLang="en-US" i="1" dirty="0"/>
          </a:p>
        </p:txBody>
      </p:sp>
    </p:spTree>
    <p:extLst>
      <p:ext uri="{BB962C8B-B14F-4D97-AF65-F5344CB8AC3E}">
        <p14:creationId xmlns:p14="http://schemas.microsoft.com/office/powerpoint/2010/main" val="315086306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Three Forms of </a:t>
            </a:r>
            <a:r>
              <a:rPr lang="en-US" altLang="zh-CN" dirty="0" smtClean="0"/>
              <a:t>Clearing</a:t>
            </a:r>
          </a:p>
          <a:p>
            <a:pPr lvl="1"/>
            <a:r>
              <a:rPr lang="en-US" altLang="zh-CN" b="1" dirty="0"/>
              <a:t>Direct Clearing </a:t>
            </a:r>
            <a:r>
              <a:rPr lang="en-US" altLang="zh-CN" dirty="0"/>
              <a:t>refers to a bilateral reconciliation of commitments between the original two counterparties. In direct clearing original counterparties still have exposure to one another, albeit potentially reduced by methods such as payment of differences.</a:t>
            </a:r>
          </a:p>
          <a:p>
            <a:endParaRPr lang="en-US" altLang="zh-CN" dirty="0"/>
          </a:p>
          <a:p>
            <a:endParaRPr lang="zh-CN" altLang="en-US" dirty="0"/>
          </a:p>
        </p:txBody>
      </p:sp>
      <p:sp>
        <p:nvSpPr>
          <p:cNvPr id="4" name="标题 1"/>
          <p:cNvSpPr>
            <a:spLocks noGrp="1"/>
          </p:cNvSpPr>
          <p:nvPr>
            <p:ph type="title"/>
          </p:nvPr>
        </p:nvSpPr>
        <p:spPr>
          <a:xfrm>
            <a:off x="609600" y="62400"/>
            <a:ext cx="10880993" cy="576064"/>
          </a:xfrm>
        </p:spPr>
        <p:txBody>
          <a:bodyPr>
            <a:normAutofit/>
          </a:bodyPr>
          <a:lstStyle/>
          <a:p>
            <a:r>
              <a:rPr lang="en-US" altLang="zh-CN" dirty="0" smtClean="0"/>
              <a:t>The Developments in Clearing That Reduce Risk.</a:t>
            </a:r>
            <a:endParaRPr lang="en-US" altLang="zh-CN" dirty="0"/>
          </a:p>
        </p:txBody>
      </p:sp>
      <p:pic>
        <p:nvPicPr>
          <p:cNvPr id="5" name="图片 4"/>
          <p:cNvPicPr>
            <a:picLocks noChangeAspect="1"/>
          </p:cNvPicPr>
          <p:nvPr/>
        </p:nvPicPr>
        <p:blipFill>
          <a:blip r:embed="rId2"/>
          <a:stretch>
            <a:fillRect/>
          </a:stretch>
        </p:blipFill>
        <p:spPr>
          <a:xfrm>
            <a:off x="1333178" y="3496255"/>
            <a:ext cx="5409145" cy="2518182"/>
          </a:xfrm>
          <a:prstGeom prst="rect">
            <a:avLst/>
          </a:prstGeom>
        </p:spPr>
      </p:pic>
    </p:spTree>
    <p:extLst>
      <p:ext uri="{BB962C8B-B14F-4D97-AF65-F5344CB8AC3E}">
        <p14:creationId xmlns:p14="http://schemas.microsoft.com/office/powerpoint/2010/main" val="87974431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Clearing Rings </a:t>
            </a:r>
            <a:endParaRPr lang="en-US" altLang="zh-CN" dirty="0" smtClean="0"/>
          </a:p>
          <a:p>
            <a:pPr lvl="1"/>
            <a:r>
              <a:rPr lang="en-US" altLang="zh-CN" sz="2000" dirty="0"/>
              <a:t>W</a:t>
            </a:r>
            <a:r>
              <a:rPr lang="en-US" altLang="zh-CN" sz="2000" dirty="0" smtClean="0"/>
              <a:t>ere </a:t>
            </a:r>
            <a:r>
              <a:rPr lang="en-US" altLang="zh-CN" sz="2000" dirty="0"/>
              <a:t>relatively informal means of reducing exposure via a ring of three or more members. In a clearing ring, groups of exchange members agree to accept each other’s contracts and allow counterparties to be interchanged. Clearing rings clearly reduce counterparty risk. They also simplify the dependencies of a member’s open positions and allow them to close out contracts more easily, increasing liquidity</a:t>
            </a:r>
            <a:r>
              <a:rPr lang="en-US" altLang="zh-CN" sz="2000" dirty="0" smtClean="0"/>
              <a:t>.</a:t>
            </a:r>
            <a:r>
              <a:rPr lang="en-US" altLang="zh-CN" dirty="0"/>
              <a:t> </a:t>
            </a:r>
            <a:r>
              <a:rPr lang="en-US" altLang="zh-CN" u="sng" dirty="0"/>
              <a:t>Clearing rings reduce counterparty risk.</a:t>
            </a:r>
            <a:endParaRPr lang="en-US" altLang="zh-CN" sz="2000" u="sng" dirty="0"/>
          </a:p>
          <a:p>
            <a:endParaRPr lang="zh-CN" altLang="en-US" dirty="0"/>
          </a:p>
        </p:txBody>
      </p:sp>
      <p:sp>
        <p:nvSpPr>
          <p:cNvPr id="4" name="标题 1"/>
          <p:cNvSpPr>
            <a:spLocks noGrp="1"/>
          </p:cNvSpPr>
          <p:nvPr>
            <p:ph type="title"/>
          </p:nvPr>
        </p:nvSpPr>
        <p:spPr>
          <a:xfrm>
            <a:off x="609600" y="62400"/>
            <a:ext cx="10109812" cy="576064"/>
          </a:xfrm>
        </p:spPr>
        <p:txBody>
          <a:bodyPr>
            <a:normAutofit/>
          </a:bodyPr>
          <a:lstStyle/>
          <a:p>
            <a:r>
              <a:rPr lang="en-US" altLang="zh-CN" dirty="0" smtClean="0"/>
              <a:t>The Developments in Clearing That Reduce Risk.</a:t>
            </a:r>
            <a:endParaRPr lang="en-US" altLang="zh-CN" dirty="0"/>
          </a:p>
        </p:txBody>
      </p:sp>
      <p:pic>
        <p:nvPicPr>
          <p:cNvPr id="5" name="图片 4"/>
          <p:cNvPicPr>
            <a:picLocks noChangeAspect="1"/>
          </p:cNvPicPr>
          <p:nvPr/>
        </p:nvPicPr>
        <p:blipFill>
          <a:blip r:embed="rId2"/>
          <a:stretch>
            <a:fillRect/>
          </a:stretch>
        </p:blipFill>
        <p:spPr>
          <a:xfrm>
            <a:off x="1101417" y="3747152"/>
            <a:ext cx="6445137" cy="2726479"/>
          </a:xfrm>
          <a:prstGeom prst="rect">
            <a:avLst/>
          </a:prstGeom>
        </p:spPr>
      </p:pic>
    </p:spTree>
    <p:extLst>
      <p:ext uri="{BB962C8B-B14F-4D97-AF65-F5344CB8AC3E}">
        <p14:creationId xmlns:p14="http://schemas.microsoft.com/office/powerpoint/2010/main" val="158339814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Complete Clearing </a:t>
            </a:r>
            <a:endParaRPr lang="en-US" altLang="zh-CN" dirty="0" smtClean="0"/>
          </a:p>
          <a:p>
            <a:pPr lvl="1"/>
            <a:r>
              <a:rPr lang="en-US" altLang="zh-CN" dirty="0"/>
              <a:t>T</a:t>
            </a:r>
            <a:r>
              <a:rPr lang="en-US" altLang="zh-CN" dirty="0" smtClean="0"/>
              <a:t>he </a:t>
            </a:r>
            <a:r>
              <a:rPr lang="en-US" altLang="zh-CN" dirty="0"/>
              <a:t>final stage in the development of clearing is complete clearing where a CCP or ‘clearinghouse’ becomes counterparty to all transactions. Complete clearing reduces counterparty risk further, as a member no longer needs to be concerned about the credit quality of its counterparty</a:t>
            </a:r>
            <a:r>
              <a:rPr lang="en-US" altLang="zh-CN" dirty="0" smtClean="0"/>
              <a:t>.</a:t>
            </a:r>
          </a:p>
          <a:p>
            <a:endParaRPr lang="zh-CN" altLang="en-US" dirty="0"/>
          </a:p>
        </p:txBody>
      </p:sp>
      <p:sp>
        <p:nvSpPr>
          <p:cNvPr id="4" name="标题 1"/>
          <p:cNvSpPr>
            <a:spLocks noGrp="1"/>
          </p:cNvSpPr>
          <p:nvPr>
            <p:ph type="title"/>
          </p:nvPr>
        </p:nvSpPr>
        <p:spPr>
          <a:xfrm>
            <a:off x="609600" y="62400"/>
            <a:ext cx="9415749" cy="576064"/>
          </a:xfrm>
        </p:spPr>
        <p:txBody>
          <a:bodyPr>
            <a:normAutofit/>
          </a:bodyPr>
          <a:lstStyle/>
          <a:p>
            <a:r>
              <a:rPr lang="en-US" altLang="zh-CN" dirty="0" smtClean="0"/>
              <a:t>The Developments in Clearing That Reduce Risk.</a:t>
            </a:r>
            <a:endParaRPr lang="en-US" altLang="zh-CN" dirty="0"/>
          </a:p>
        </p:txBody>
      </p:sp>
      <p:pic>
        <p:nvPicPr>
          <p:cNvPr id="5" name="图片 4"/>
          <p:cNvPicPr>
            <a:picLocks noChangeAspect="1"/>
          </p:cNvPicPr>
          <p:nvPr/>
        </p:nvPicPr>
        <p:blipFill>
          <a:blip r:embed="rId2"/>
          <a:stretch>
            <a:fillRect/>
          </a:stretch>
        </p:blipFill>
        <p:spPr>
          <a:xfrm>
            <a:off x="1134225" y="3448069"/>
            <a:ext cx="6247077" cy="2750639"/>
          </a:xfrm>
          <a:prstGeom prst="rect">
            <a:avLst/>
          </a:prstGeom>
        </p:spPr>
      </p:pic>
    </p:spTree>
    <p:extLst>
      <p:ext uri="{BB962C8B-B14F-4D97-AF65-F5344CB8AC3E}">
        <p14:creationId xmlns:p14="http://schemas.microsoft.com/office/powerpoint/2010/main" val="184500487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Exchange-traded and OTC markets</a:t>
            </a:r>
          </a:p>
        </p:txBody>
      </p:sp>
      <p:sp>
        <p:nvSpPr>
          <p:cNvPr id="3" name="文本占位符 2"/>
          <p:cNvSpPr>
            <a:spLocks noGrp="1"/>
          </p:cNvSpPr>
          <p:nvPr>
            <p:ph type="body" sz="quarter" idx="10"/>
          </p:nvPr>
        </p:nvSpPr>
        <p:spPr/>
        <p:txBody>
          <a:bodyPr/>
          <a:lstStyle/>
          <a:p>
            <a:r>
              <a:rPr lang="en-US" altLang="zh-CN" dirty="0"/>
              <a:t>Comparison between exchange-traded and OTC derivatives</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4095491368"/>
              </p:ext>
            </p:extLst>
          </p:nvPr>
        </p:nvGraphicFramePr>
        <p:xfrm>
          <a:off x="930314" y="1634066"/>
          <a:ext cx="10339941" cy="4480560"/>
        </p:xfrm>
        <a:graphic>
          <a:graphicData uri="http://schemas.openxmlformats.org/drawingml/2006/table">
            <a:tbl>
              <a:tblPr firstRow="1" bandRow="1">
                <a:tableStyleId>{5C22544A-7EE6-4342-B048-85BDC9FD1C3A}</a:tableStyleId>
              </a:tblPr>
              <a:tblGrid>
                <a:gridCol w="3446647">
                  <a:extLst>
                    <a:ext uri="{9D8B030D-6E8A-4147-A177-3AD203B41FA5}">
                      <a16:colId xmlns="" xmlns:a16="http://schemas.microsoft.com/office/drawing/2014/main" val="3701916462"/>
                    </a:ext>
                  </a:extLst>
                </a:gridCol>
                <a:gridCol w="3446647">
                  <a:extLst>
                    <a:ext uri="{9D8B030D-6E8A-4147-A177-3AD203B41FA5}">
                      <a16:colId xmlns="" xmlns:a16="http://schemas.microsoft.com/office/drawing/2014/main" val="6741120"/>
                    </a:ext>
                  </a:extLst>
                </a:gridCol>
                <a:gridCol w="3446647">
                  <a:extLst>
                    <a:ext uri="{9D8B030D-6E8A-4147-A177-3AD203B41FA5}">
                      <a16:colId xmlns="" xmlns:a16="http://schemas.microsoft.com/office/drawing/2014/main" val="1692326199"/>
                    </a:ext>
                  </a:extLst>
                </a:gridCol>
              </a:tblGrid>
              <a:tr h="370840">
                <a:tc>
                  <a:txBody>
                    <a:bodyPr/>
                    <a:lstStyle/>
                    <a:p>
                      <a:pPr algn="ctr"/>
                      <a:endParaRPr lang="zh-CN" altLang="en-US" dirty="0"/>
                    </a:p>
                  </a:txBody>
                  <a:tcPr/>
                </a:tc>
                <a:tc>
                  <a:txBody>
                    <a:bodyPr/>
                    <a:lstStyle/>
                    <a:p>
                      <a:pPr algn="ctr"/>
                      <a:r>
                        <a:rPr lang="en-US" altLang="zh-CN" sz="2400" b="0" i="0" u="none" strike="noStrike" kern="1200" baseline="0" dirty="0" smtClean="0">
                          <a:solidFill>
                            <a:schemeClr val="lt1"/>
                          </a:solidFill>
                          <a:latin typeface="+mn-lt"/>
                          <a:ea typeface="+mn-ea"/>
                          <a:cs typeface="+mn-cs"/>
                        </a:rPr>
                        <a:t>Exchange-traded</a:t>
                      </a:r>
                      <a:endParaRPr lang="zh-CN" altLang="en-US" dirty="0"/>
                    </a:p>
                  </a:txBody>
                  <a:tcPr/>
                </a:tc>
                <a:tc>
                  <a:txBody>
                    <a:bodyPr/>
                    <a:lstStyle/>
                    <a:p>
                      <a:pPr algn="ctr"/>
                      <a:r>
                        <a:rPr lang="en-US" altLang="zh-CN" sz="2400" b="0" i="0" u="none" strike="noStrike" kern="1200" baseline="0" dirty="0" smtClean="0">
                          <a:solidFill>
                            <a:schemeClr val="lt1"/>
                          </a:solidFill>
                          <a:latin typeface="+mn-lt"/>
                          <a:ea typeface="+mn-ea"/>
                          <a:cs typeface="+mn-cs"/>
                        </a:rPr>
                        <a:t>Over-the-counter</a:t>
                      </a:r>
                      <a:endParaRPr lang="zh-CN" altLang="en-US" dirty="0"/>
                    </a:p>
                  </a:txBody>
                  <a:tcPr/>
                </a:tc>
                <a:extLst>
                  <a:ext uri="{0D108BD9-81ED-4DB2-BD59-A6C34878D82A}">
                    <a16:rowId xmlns="" xmlns:a16="http://schemas.microsoft.com/office/drawing/2014/main" val="2702353050"/>
                  </a:ext>
                </a:extLst>
              </a:tr>
              <a:tr h="370840">
                <a:tc>
                  <a:txBody>
                    <a:bodyPr/>
                    <a:lstStyle/>
                    <a:p>
                      <a:pPr algn="ctr"/>
                      <a:r>
                        <a:rPr lang="en-US" altLang="zh-CN" sz="2400" b="0" i="0" u="none" strike="noStrike" kern="1200" baseline="0" dirty="0" smtClean="0">
                          <a:solidFill>
                            <a:schemeClr val="dk1"/>
                          </a:solidFill>
                          <a:latin typeface="+mn-lt"/>
                          <a:ea typeface="+mn-ea"/>
                          <a:cs typeface="+mn-cs"/>
                        </a:rPr>
                        <a:t>Contract Terms</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Standardized (maturity, size, strike)</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Flexible and negotiable</a:t>
                      </a:r>
                      <a:endParaRPr lang="zh-CN" altLang="en-US" dirty="0"/>
                    </a:p>
                  </a:txBody>
                  <a:tcPr/>
                </a:tc>
                <a:extLst>
                  <a:ext uri="{0D108BD9-81ED-4DB2-BD59-A6C34878D82A}">
                    <a16:rowId xmlns="" xmlns:a16="http://schemas.microsoft.com/office/drawing/2014/main" val="3576512001"/>
                  </a:ext>
                </a:extLst>
              </a:tr>
              <a:tr h="370840">
                <a:tc>
                  <a:txBody>
                    <a:bodyPr/>
                    <a:lstStyle/>
                    <a:p>
                      <a:pPr algn="ctr"/>
                      <a:r>
                        <a:rPr lang="en-US" altLang="zh-CN" sz="2400" b="0" i="0" u="none" strike="noStrike" kern="1200" baseline="0" dirty="0" smtClean="0">
                          <a:solidFill>
                            <a:schemeClr val="dk1"/>
                          </a:solidFill>
                          <a:latin typeface="+mn-lt"/>
                          <a:ea typeface="+mn-ea"/>
                          <a:cs typeface="+mn-cs"/>
                        </a:rPr>
                        <a:t>Maturity</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Standard maturities, typically at</a:t>
                      </a:r>
                    </a:p>
                    <a:p>
                      <a:pPr algn="ctr"/>
                      <a:r>
                        <a:rPr lang="en-US" altLang="zh-CN" sz="2400" b="0" i="0" u="none" strike="noStrike" kern="1200" baseline="0" dirty="0" smtClean="0">
                          <a:solidFill>
                            <a:schemeClr val="dk1"/>
                          </a:solidFill>
                          <a:latin typeface="+mn-lt"/>
                          <a:ea typeface="+mn-ea"/>
                          <a:cs typeface="+mn-cs"/>
                        </a:rPr>
                        <a:t>most a few months</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Negotiable and non-standard</a:t>
                      </a:r>
                    </a:p>
                    <a:p>
                      <a:pPr algn="ctr"/>
                      <a:r>
                        <a:rPr lang="en-US" altLang="zh-CN" sz="2400" b="0" i="0" u="none" strike="noStrike" kern="1200" baseline="0" dirty="0" smtClean="0">
                          <a:solidFill>
                            <a:schemeClr val="dk1"/>
                          </a:solidFill>
                          <a:latin typeface="+mn-lt"/>
                          <a:ea typeface="+mn-ea"/>
                          <a:cs typeface="+mn-cs"/>
                        </a:rPr>
                        <a:t>Often many years</a:t>
                      </a:r>
                      <a:endParaRPr lang="zh-CN" altLang="en-US" dirty="0"/>
                    </a:p>
                  </a:txBody>
                  <a:tcPr/>
                </a:tc>
                <a:extLst>
                  <a:ext uri="{0D108BD9-81ED-4DB2-BD59-A6C34878D82A}">
                    <a16:rowId xmlns="" xmlns:a16="http://schemas.microsoft.com/office/drawing/2014/main" val="1553601448"/>
                  </a:ext>
                </a:extLst>
              </a:tr>
              <a:tr h="370840">
                <a:tc>
                  <a:txBody>
                    <a:bodyPr/>
                    <a:lstStyle/>
                    <a:p>
                      <a:pPr algn="ctr"/>
                      <a:r>
                        <a:rPr lang="en-US" altLang="zh-CN" sz="2400" b="0" i="0" u="none" strike="noStrike" kern="1200" baseline="0" dirty="0" smtClean="0">
                          <a:solidFill>
                            <a:schemeClr val="dk1"/>
                          </a:solidFill>
                          <a:latin typeface="+mn-lt"/>
                          <a:ea typeface="+mn-ea"/>
                          <a:cs typeface="+mn-cs"/>
                        </a:rPr>
                        <a:t>Liquidity</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Very good</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Limited and sometimes very poor for non-standard or complex products</a:t>
                      </a:r>
                      <a:endParaRPr lang="zh-CN" altLang="en-US" dirty="0"/>
                    </a:p>
                  </a:txBody>
                  <a:tcPr/>
                </a:tc>
                <a:extLst>
                  <a:ext uri="{0D108BD9-81ED-4DB2-BD59-A6C34878D82A}">
                    <a16:rowId xmlns="" xmlns:a16="http://schemas.microsoft.com/office/drawing/2014/main" val="2391227193"/>
                  </a:ext>
                </a:extLst>
              </a:tr>
              <a:tr h="370840">
                <a:tc>
                  <a:txBody>
                    <a:bodyPr/>
                    <a:lstStyle/>
                    <a:p>
                      <a:pPr algn="ctr"/>
                      <a:r>
                        <a:rPr lang="en-US" altLang="zh-CN" sz="2400" b="0" i="0" u="none" strike="noStrike" kern="1200" baseline="0" dirty="0" smtClean="0">
                          <a:solidFill>
                            <a:schemeClr val="dk1"/>
                          </a:solidFill>
                          <a:latin typeface="+mn-lt"/>
                          <a:ea typeface="+mn-ea"/>
                          <a:cs typeface="+mn-cs"/>
                        </a:rPr>
                        <a:t>Credit risk</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Guaranteed by CCP</a:t>
                      </a:r>
                      <a:endParaRPr lang="zh-CN" altLang="en-US" dirty="0"/>
                    </a:p>
                  </a:txBody>
                  <a:tcPr/>
                </a:tc>
                <a:tc>
                  <a:txBody>
                    <a:bodyPr/>
                    <a:lstStyle/>
                    <a:p>
                      <a:pPr algn="ctr"/>
                      <a:r>
                        <a:rPr lang="en-US" altLang="zh-CN" sz="2400" b="0" i="0" u="none" strike="noStrike" kern="1200" baseline="0" dirty="0" smtClean="0">
                          <a:solidFill>
                            <a:schemeClr val="dk1"/>
                          </a:solidFill>
                          <a:latin typeface="+mn-lt"/>
                          <a:ea typeface="+mn-ea"/>
                          <a:cs typeface="+mn-cs"/>
                        </a:rPr>
                        <a:t>Bilateral</a:t>
                      </a:r>
                      <a:endParaRPr lang="zh-CN" altLang="en-US" dirty="0"/>
                    </a:p>
                  </a:txBody>
                  <a:tcPr/>
                </a:tc>
                <a:extLst>
                  <a:ext uri="{0D108BD9-81ED-4DB2-BD59-A6C34878D82A}">
                    <a16:rowId xmlns="" xmlns:a16="http://schemas.microsoft.com/office/drawing/2014/main" val="2722488203"/>
                  </a:ext>
                </a:extLst>
              </a:tr>
            </a:tbl>
          </a:graphicData>
        </a:graphic>
      </p:graphicFrame>
    </p:spTree>
    <p:extLst>
      <p:ext uri="{BB962C8B-B14F-4D97-AF65-F5344CB8AC3E}">
        <p14:creationId xmlns:p14="http://schemas.microsoft.com/office/powerpoint/2010/main" val="80815247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Special Purpose Vehicles (Spvs)</a:t>
            </a:r>
            <a:endParaRPr lang="en-US" altLang="zh-CN" dirty="0"/>
          </a:p>
        </p:txBody>
      </p:sp>
      <p:sp>
        <p:nvSpPr>
          <p:cNvPr id="3" name="文本占位符 2"/>
          <p:cNvSpPr>
            <a:spLocks noGrp="1"/>
          </p:cNvSpPr>
          <p:nvPr>
            <p:ph type="body" sz="quarter" idx="10"/>
          </p:nvPr>
        </p:nvSpPr>
        <p:spPr/>
        <p:txBody>
          <a:bodyPr>
            <a:normAutofit lnSpcReduction="10000"/>
          </a:bodyPr>
          <a:lstStyle/>
          <a:p>
            <a:r>
              <a:rPr lang="en-US" altLang="zh-CN" dirty="0"/>
              <a:t>Special purpose vehicles (SPV</a:t>
            </a:r>
            <a:r>
              <a:rPr lang="en-US" altLang="zh-CN" dirty="0" smtClean="0"/>
              <a:t>)</a:t>
            </a:r>
          </a:p>
          <a:p>
            <a:pPr lvl="1"/>
            <a:r>
              <a:rPr lang="en-US" altLang="zh-CN" b="0" dirty="0"/>
              <a:t>A Special Purpose Vehicle (SPV) or Special Purpose Entity (SPE) is a legal </a:t>
            </a:r>
            <a:r>
              <a:rPr lang="en-US" altLang="zh-CN" b="0" dirty="0" smtClean="0"/>
              <a:t>entity created </a:t>
            </a:r>
            <a:r>
              <a:rPr lang="en-US" altLang="zh-CN" b="0" dirty="0"/>
              <a:t>typically to isolate a firm from financial risk. </a:t>
            </a:r>
            <a:endParaRPr lang="en-US" altLang="zh-CN" b="0" dirty="0" smtClean="0"/>
          </a:p>
          <a:p>
            <a:pPr lvl="1"/>
            <a:r>
              <a:rPr lang="en-US" altLang="zh-CN" b="0" dirty="0"/>
              <a:t>An SPV transforms counterparty risk into legal </a:t>
            </a:r>
            <a:r>
              <a:rPr lang="en-US" altLang="zh-CN" b="0" dirty="0" smtClean="0"/>
              <a:t>risk</a:t>
            </a:r>
          </a:p>
          <a:p>
            <a:pPr lvl="1"/>
            <a:r>
              <a:rPr lang="en-US" altLang="zh-CN" dirty="0"/>
              <a:t>SPVs aim effectively to change bankruptcy rules so that, if a derivative </a:t>
            </a:r>
            <a:r>
              <a:rPr lang="en-US" altLang="zh-CN" dirty="0" smtClean="0"/>
              <a:t>counterparty is </a:t>
            </a:r>
            <a:r>
              <a:rPr lang="en-US" altLang="zh-CN" dirty="0"/>
              <a:t>insolvent, a client can still receive their full investment prior to any other </a:t>
            </a:r>
            <a:r>
              <a:rPr lang="en-US" altLang="zh-CN" dirty="0" smtClean="0"/>
              <a:t>claims being </a:t>
            </a:r>
            <a:r>
              <a:rPr lang="en-US" altLang="zh-CN" dirty="0"/>
              <a:t>paid out. SPVs are most commonly used in structured notes, where they </a:t>
            </a:r>
            <a:r>
              <a:rPr lang="en-US" altLang="zh-CN" dirty="0" smtClean="0"/>
              <a:t>use this </a:t>
            </a:r>
            <a:r>
              <a:rPr lang="en-US" altLang="zh-CN" dirty="0"/>
              <a:t>mechanism to guarantee the counterparty risk on the principal of the note to </a:t>
            </a:r>
            <a:r>
              <a:rPr lang="en-US" altLang="zh-CN" dirty="0" smtClean="0"/>
              <a:t>a very </a:t>
            </a:r>
            <a:r>
              <a:rPr lang="en-US" altLang="zh-CN" dirty="0"/>
              <a:t>high level better than that of the issuer. The creditworthiness of the SPV </a:t>
            </a:r>
            <a:r>
              <a:rPr lang="en-US" altLang="zh-CN" dirty="0" smtClean="0"/>
              <a:t>is assessed </a:t>
            </a:r>
            <a:r>
              <a:rPr lang="en-US" altLang="zh-CN" dirty="0"/>
              <a:t>by rating agencies who look in detail at the mechanics and legal </a:t>
            </a:r>
            <a:r>
              <a:rPr lang="en-US" altLang="zh-CN" dirty="0" smtClean="0"/>
              <a:t>specifics before </a:t>
            </a:r>
            <a:r>
              <a:rPr lang="en-US" altLang="zh-CN" dirty="0"/>
              <a:t>granting a rating.</a:t>
            </a:r>
            <a:endParaRPr lang="en-US" altLang="zh-CN" b="0" dirty="0" smtClean="0"/>
          </a:p>
          <a:p>
            <a:endParaRPr lang="zh-CN" altLang="en-US" b="0" dirty="0"/>
          </a:p>
        </p:txBody>
      </p:sp>
    </p:spTree>
    <p:extLst>
      <p:ext uri="{BB962C8B-B14F-4D97-AF65-F5344CB8AC3E}">
        <p14:creationId xmlns:p14="http://schemas.microsoft.com/office/powerpoint/2010/main" val="392954328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Derivatives product companies</a:t>
            </a:r>
            <a:endParaRPr lang="zh-CN" altLang="en-US" dirty="0"/>
          </a:p>
        </p:txBody>
      </p:sp>
      <p:sp>
        <p:nvSpPr>
          <p:cNvPr id="3" name="文本占位符 2"/>
          <p:cNvSpPr>
            <a:spLocks noGrp="1"/>
          </p:cNvSpPr>
          <p:nvPr>
            <p:ph type="body" sz="quarter" idx="10"/>
          </p:nvPr>
        </p:nvSpPr>
        <p:spPr/>
        <p:txBody>
          <a:bodyPr/>
          <a:lstStyle/>
          <a:p>
            <a:r>
              <a:rPr lang="en-US" altLang="zh-CN" dirty="0"/>
              <a:t>Derivatives product </a:t>
            </a:r>
            <a:r>
              <a:rPr lang="en-US" altLang="zh-CN" dirty="0" smtClean="0"/>
              <a:t>companies</a:t>
            </a:r>
            <a:r>
              <a:rPr lang="en-US" altLang="zh-CN" dirty="0"/>
              <a:t>(DPCs</a:t>
            </a:r>
            <a:r>
              <a:rPr lang="en-US" altLang="zh-CN" dirty="0" smtClean="0"/>
              <a:t>)</a:t>
            </a:r>
          </a:p>
          <a:p>
            <a:pPr lvl="1"/>
            <a:r>
              <a:rPr lang="en-US" altLang="zh-CN" b="0" dirty="0"/>
              <a:t>A</a:t>
            </a:r>
            <a:r>
              <a:rPr lang="en-US" altLang="zh-CN" b="0" dirty="0" smtClean="0"/>
              <a:t>re </a:t>
            </a:r>
            <a:r>
              <a:rPr lang="en-US" altLang="zh-CN" b="0" dirty="0"/>
              <a:t>generally triple-A rated entities set up </a:t>
            </a:r>
            <a:r>
              <a:rPr lang="en-US" altLang="zh-CN" b="0" dirty="0" smtClean="0"/>
              <a:t>by one </a:t>
            </a:r>
            <a:r>
              <a:rPr lang="en-US" altLang="zh-CN" b="0" dirty="0"/>
              <a:t>or more banks as a bankruptcy-remote subsidiary of a major dealer, which </a:t>
            </a:r>
            <a:r>
              <a:rPr lang="en-US" altLang="zh-CN" b="0" dirty="0" smtClean="0"/>
              <a:t>is separately </a:t>
            </a:r>
            <a:r>
              <a:rPr lang="en-US" altLang="zh-CN" b="0" dirty="0"/>
              <a:t>capitalized to obtain a triple-A credit rating</a:t>
            </a:r>
            <a:r>
              <a:rPr lang="en-US" altLang="zh-CN" b="0" dirty="0" smtClean="0"/>
              <a:t>.</a:t>
            </a:r>
          </a:p>
          <a:p>
            <a:r>
              <a:rPr lang="en-US" altLang="zh-CN" dirty="0"/>
              <a:t>The triple-A rating of a DPC typically depends on</a:t>
            </a:r>
            <a:r>
              <a:rPr lang="en-US" altLang="zh-CN" dirty="0" smtClean="0"/>
              <a:t>:</a:t>
            </a:r>
          </a:p>
          <a:p>
            <a:pPr lvl="1"/>
            <a:r>
              <a:rPr lang="en-US" altLang="zh-CN" b="0" i="1" dirty="0"/>
              <a:t>Minimizing market </a:t>
            </a:r>
            <a:r>
              <a:rPr lang="en-US" altLang="zh-CN" b="0" i="1" dirty="0" smtClean="0"/>
              <a:t>risk</a:t>
            </a:r>
            <a:endParaRPr lang="en-US" altLang="zh-CN" b="0" dirty="0" smtClean="0"/>
          </a:p>
          <a:p>
            <a:pPr lvl="1"/>
            <a:r>
              <a:rPr lang="en-US" altLang="zh-CN" b="0" i="1" dirty="0"/>
              <a:t>Support from a </a:t>
            </a:r>
            <a:r>
              <a:rPr lang="en-US" altLang="zh-CN" b="0" i="1" dirty="0" smtClean="0"/>
              <a:t>parent</a:t>
            </a:r>
          </a:p>
          <a:p>
            <a:pPr lvl="1"/>
            <a:r>
              <a:rPr lang="en-US" altLang="zh-CN" b="0" i="1" dirty="0"/>
              <a:t>Credit risk management and operational </a:t>
            </a:r>
            <a:r>
              <a:rPr lang="en-US" altLang="zh-CN" b="0" i="1" dirty="0" smtClean="0"/>
              <a:t>guidelines</a:t>
            </a:r>
            <a:endParaRPr lang="zh-CN" altLang="en-US" b="0" dirty="0"/>
          </a:p>
        </p:txBody>
      </p:sp>
    </p:spTree>
    <p:extLst>
      <p:ext uri="{BB962C8B-B14F-4D97-AF65-F5344CB8AC3E}">
        <p14:creationId xmlns:p14="http://schemas.microsoft.com/office/powerpoint/2010/main" val="191357747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b="0" dirty="0"/>
              <a:t>• Describe how exchanges can be used to alleviate </a:t>
            </a:r>
            <a:r>
              <a:rPr lang="en-US" altLang="zh-CN" b="0" dirty="0" smtClean="0"/>
              <a:t>counterparty risk. </a:t>
            </a:r>
            <a:r>
              <a:rPr lang="en-US" altLang="zh-CN" b="0" dirty="0">
                <a:cs typeface="+mn-ea"/>
                <a:sym typeface="+mn-lt"/>
              </a:rPr>
              <a:t>★</a:t>
            </a:r>
            <a:endParaRPr lang="en-US" altLang="zh-CN" b="0" dirty="0"/>
          </a:p>
          <a:p>
            <a:r>
              <a:rPr lang="en-US" altLang="zh-CN" b="0" dirty="0"/>
              <a:t>• Explain the developments in clearing that reduce risk. </a:t>
            </a:r>
            <a:r>
              <a:rPr lang="en-US" altLang="zh-CN" b="0" dirty="0">
                <a:cs typeface="+mn-ea"/>
                <a:sym typeface="+mn-lt"/>
              </a:rPr>
              <a:t>★</a:t>
            </a:r>
            <a:endParaRPr lang="en-US" altLang="zh-CN" b="0" dirty="0"/>
          </a:p>
          <a:p>
            <a:r>
              <a:rPr lang="en-US" altLang="zh-CN" b="0" dirty="0"/>
              <a:t>• Compare exchange-traded and OTC markets and describe their uses. </a:t>
            </a:r>
          </a:p>
          <a:p>
            <a:r>
              <a:rPr lang="en-US" altLang="zh-CN" b="0" dirty="0"/>
              <a:t>• Identify the classes of derivative securities and explain the risk associated with them. </a:t>
            </a:r>
            <a:r>
              <a:rPr lang="en-US" altLang="zh-CN" b="0" dirty="0">
                <a:cs typeface="+mn-ea"/>
                <a:sym typeface="+mn-lt"/>
              </a:rPr>
              <a:t>★</a:t>
            </a:r>
            <a:endParaRPr lang="en-US" altLang="zh-CN" b="0" dirty="0"/>
          </a:p>
          <a:p>
            <a:r>
              <a:rPr lang="en-US" altLang="zh-CN" b="0" dirty="0"/>
              <a:t>• Identify risks associated with OTC markets and explain how these risks can be mitigated. </a:t>
            </a:r>
          </a:p>
          <a:p>
            <a:r>
              <a:rPr lang="en-US" altLang="zh-CN" b="0" dirty="0">
                <a:solidFill>
                  <a:srgbClr val="FF0000"/>
                </a:solidFill>
              </a:rPr>
              <a:t>• Explain the use of special purpose vehicles (SPVs) in the OTC derivatives market and the risks associated with them.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zh-CN" altLang="en-US" dirty="0">
              <a:solidFill>
                <a:srgbClr val="FF0000"/>
              </a:solidFill>
            </a:endParaRPr>
          </a:p>
        </p:txBody>
      </p:sp>
    </p:spTree>
    <p:extLst>
      <p:ext uri="{BB962C8B-B14F-4D97-AF65-F5344CB8AC3E}">
        <p14:creationId xmlns:p14="http://schemas.microsoft.com/office/powerpoint/2010/main" val="261570466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Basic Principles of Central Clearing</a:t>
            </a:r>
          </a:p>
        </p:txBody>
      </p:sp>
    </p:spTree>
    <p:extLst>
      <p:ext uri="{BB962C8B-B14F-4D97-AF65-F5344CB8AC3E}">
        <p14:creationId xmlns:p14="http://schemas.microsoft.com/office/powerpoint/2010/main" val="2593309087"/>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336096" cy="576064"/>
          </a:xfrm>
        </p:spPr>
        <p:txBody>
          <a:bodyPr>
            <a:normAutofit/>
          </a:bodyPr>
          <a:lstStyle/>
          <a:p>
            <a:r>
              <a:rPr lang="en-US" altLang="zh-CN" dirty="0" smtClean="0"/>
              <a:t>Mechanics Of A Central Counterparty (CCP)</a:t>
            </a:r>
            <a:endParaRPr lang="en-US" altLang="zh-CN" dirty="0"/>
          </a:p>
        </p:txBody>
      </p:sp>
      <p:sp>
        <p:nvSpPr>
          <p:cNvPr id="3" name="文本占位符 2"/>
          <p:cNvSpPr>
            <a:spLocks noGrp="1"/>
          </p:cNvSpPr>
          <p:nvPr>
            <p:ph type="body" sz="quarter" idx="10"/>
          </p:nvPr>
        </p:nvSpPr>
        <p:spPr/>
        <p:txBody>
          <a:bodyPr/>
          <a:lstStyle/>
          <a:p>
            <a:r>
              <a:rPr lang="en-US" altLang="zh-CN" dirty="0"/>
              <a:t>Mechanics of a CCP</a:t>
            </a:r>
          </a:p>
          <a:p>
            <a:pPr lvl="1"/>
            <a:r>
              <a:rPr lang="en-US" altLang="zh-CN" b="0" dirty="0"/>
              <a:t>CCP can reduce the interconnectedness within financial markets, which may lessen the impact of an insolvency of a participant.</a:t>
            </a:r>
          </a:p>
          <a:p>
            <a:pPr lvl="1"/>
            <a:r>
              <a:rPr lang="en-US" altLang="zh-CN" b="0" dirty="0"/>
              <a:t>The CCP being at the heart of trading can provide more transparency on the positions of the members.</a:t>
            </a:r>
          </a:p>
          <a:p>
            <a:pPr lvl="1"/>
            <a:r>
              <a:rPr lang="en-US" altLang="zh-CN" b="0" dirty="0"/>
              <a:t>In the central clearing of non-OTC trades, the primary role of the CCP is to standardize and simplify operational processes. In contrast, OTC CCPs have a much more significant role to play in terms of counterparty risk mitigation.</a:t>
            </a:r>
          </a:p>
          <a:p>
            <a:endParaRPr lang="zh-CN" altLang="en-US" b="0" dirty="0"/>
          </a:p>
        </p:txBody>
      </p:sp>
    </p:spTree>
    <p:extLst>
      <p:ext uri="{BB962C8B-B14F-4D97-AF65-F5344CB8AC3E}">
        <p14:creationId xmlns:p14="http://schemas.microsoft.com/office/powerpoint/2010/main" val="261234165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798805" cy="576064"/>
          </a:xfrm>
        </p:spPr>
        <p:txBody>
          <a:bodyPr>
            <a:noAutofit/>
          </a:bodyPr>
          <a:lstStyle/>
          <a:p>
            <a:r>
              <a:rPr lang="en-US" altLang="zh-CN" sz="2670" dirty="0"/>
              <a:t>Mechanics Of A Central Counterparty (CCP)</a:t>
            </a:r>
            <a:endParaRPr lang="zh-CN" altLang="en-US" sz="2670" dirty="0"/>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Central Counterparty (cont’d)</a:t>
            </a:r>
          </a:p>
          <a:p>
            <a:pPr lvl="1">
              <a:lnSpc>
                <a:spcPct val="140000"/>
              </a:lnSpc>
              <a:spcBef>
                <a:spcPct val="0"/>
              </a:spcBef>
            </a:pPr>
            <a:r>
              <a:rPr lang="en-US" altLang="zh-CN" b="1" dirty="0"/>
              <a:t>Risk Management Function</a:t>
            </a:r>
          </a:p>
          <a:p>
            <a:pPr lvl="2">
              <a:lnSpc>
                <a:spcPct val="140000"/>
              </a:lnSpc>
              <a:spcBef>
                <a:spcPct val="0"/>
              </a:spcBef>
            </a:pPr>
            <a:r>
              <a:rPr lang="en-US" altLang="zh-CN" b="1" dirty="0"/>
              <a:t>Novation</a:t>
            </a:r>
          </a:p>
          <a:p>
            <a:pPr lvl="2">
              <a:lnSpc>
                <a:spcPct val="140000"/>
              </a:lnSpc>
              <a:spcBef>
                <a:spcPct val="0"/>
              </a:spcBef>
              <a:buFont typeface="Arial" panose="020B0604020202020204" pitchFamily="34" charset="0"/>
              <a:buChar char="•"/>
            </a:pPr>
            <a:r>
              <a:rPr lang="en-US" altLang="zh-CN" u="sng" dirty="0"/>
              <a:t>Replacement of one contract with one or more other contracts</a:t>
            </a:r>
            <a:r>
              <a:rPr lang="en-US" altLang="zh-CN" dirty="0"/>
              <a:t>. </a:t>
            </a:r>
          </a:p>
          <a:p>
            <a:pPr lvl="2">
              <a:lnSpc>
                <a:spcPct val="140000"/>
              </a:lnSpc>
              <a:spcBef>
                <a:spcPct val="0"/>
              </a:spcBef>
              <a:buFont typeface="Arial" panose="020B0604020202020204" pitchFamily="34" charset="0"/>
              <a:buChar char="•"/>
            </a:pPr>
            <a:r>
              <a:rPr lang="en-US" altLang="zh-CN" dirty="0"/>
              <a:t>Novation means that the </a:t>
            </a:r>
            <a:r>
              <a:rPr lang="en-US" altLang="zh-CN" u="sng" dirty="0"/>
              <a:t>contract between the original parties ceases to exist and they therefore do not have counterparty risk to one another</a:t>
            </a:r>
            <a:r>
              <a:rPr lang="en-US" altLang="zh-CN" dirty="0"/>
              <a:t>.</a:t>
            </a:r>
          </a:p>
          <a:p>
            <a:pPr lvl="2">
              <a:lnSpc>
                <a:spcPct val="140000"/>
              </a:lnSpc>
              <a:spcBef>
                <a:spcPct val="0"/>
              </a:spcBef>
            </a:pPr>
            <a:r>
              <a:rPr lang="en-US" altLang="zh-CN" b="1" dirty="0"/>
              <a:t>Netting</a:t>
            </a:r>
          </a:p>
          <a:p>
            <a:pPr lvl="2">
              <a:lnSpc>
                <a:spcPct val="140000"/>
              </a:lnSpc>
              <a:spcBef>
                <a:spcPct val="0"/>
              </a:spcBef>
              <a:buFont typeface="Arial" panose="020B0604020202020204" pitchFamily="34" charset="0"/>
              <a:buChar char="•"/>
            </a:pPr>
            <a:r>
              <a:rPr lang="en-US" altLang="zh-CN" dirty="0"/>
              <a:t>Involves </a:t>
            </a:r>
            <a:r>
              <a:rPr lang="en-US" altLang="zh-CN" u="sng" dirty="0"/>
              <a:t>offsetting of contracts</a:t>
            </a:r>
            <a:r>
              <a:rPr lang="en-US" altLang="zh-CN" dirty="0"/>
              <a:t>, which is useful to reduce the exposure of counterparties and the underlying network to which they are exposed.</a:t>
            </a:r>
          </a:p>
          <a:p>
            <a:pPr lvl="2">
              <a:lnSpc>
                <a:spcPct val="140000"/>
              </a:lnSpc>
              <a:spcBef>
                <a:spcPct val="0"/>
              </a:spcBef>
            </a:pPr>
            <a:r>
              <a:rPr lang="en-US" altLang="zh-CN" b="1" dirty="0"/>
              <a:t>Loss Sharing Model/Default Funds</a:t>
            </a:r>
          </a:p>
          <a:p>
            <a:pPr lvl="2">
              <a:lnSpc>
                <a:spcPct val="140000"/>
              </a:lnSpc>
              <a:spcBef>
                <a:spcPct val="0"/>
              </a:spcBef>
              <a:buFont typeface="Arial" panose="020B0604020202020204" pitchFamily="34" charset="0"/>
              <a:buChar char="•"/>
            </a:pPr>
            <a:r>
              <a:rPr lang="en-US" altLang="zh-CN" dirty="0"/>
              <a:t>CCPs developed a </a:t>
            </a:r>
            <a:r>
              <a:rPr lang="en-US" altLang="zh-CN" u="sng" dirty="0"/>
              <a:t>loss sharing model. Losses above the resources contributed by the defaulter are shared between CCP members. Default fund is typically used after the defaulter’s own resources to cover losses.</a:t>
            </a:r>
            <a:endParaRPr lang="en-US" altLang="zh-CN" b="1" dirty="0"/>
          </a:p>
          <a:p>
            <a:endParaRPr lang="zh-CN" altLang="en-US" dirty="0"/>
          </a:p>
        </p:txBody>
      </p:sp>
    </p:spTree>
    <p:extLst>
      <p:ext uri="{BB962C8B-B14F-4D97-AF65-F5344CB8AC3E}">
        <p14:creationId xmlns:p14="http://schemas.microsoft.com/office/powerpoint/2010/main" val="167377123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939489" cy="576064"/>
          </a:xfrm>
        </p:spPr>
        <p:txBody>
          <a:bodyPr>
            <a:noAutofit/>
          </a:bodyPr>
          <a:lstStyle/>
          <a:p>
            <a:r>
              <a:rPr lang="en-US" altLang="zh-CN" sz="2670" dirty="0"/>
              <a:t>Mechanics Of A Central Counterparty (CCP)</a:t>
            </a:r>
            <a:endParaRPr lang="zh-CN" altLang="en-US" sz="2670" dirty="0"/>
          </a:p>
        </p:txBody>
      </p:sp>
      <p:sp>
        <p:nvSpPr>
          <p:cNvPr id="3" name="文本占位符 2"/>
          <p:cNvSpPr>
            <a:spLocks noGrp="1"/>
          </p:cNvSpPr>
          <p:nvPr>
            <p:ph type="body" sz="quarter" idx="10"/>
          </p:nvPr>
        </p:nvSpPr>
        <p:spPr>
          <a:xfrm>
            <a:off x="426650" y="868552"/>
            <a:ext cx="11404800" cy="5660163"/>
          </a:xfrm>
        </p:spPr>
        <p:txBody>
          <a:bodyPr/>
          <a:lstStyle/>
          <a:p>
            <a:pPr marL="0" indent="0">
              <a:buNone/>
            </a:pPr>
            <a:r>
              <a:rPr lang="en-US" altLang="zh-CN" dirty="0" smtClean="0"/>
              <a:t> </a:t>
            </a:r>
            <a:endParaRPr lang="zh-CN" altLang="en-US" dirty="0"/>
          </a:p>
        </p:txBody>
      </p:sp>
      <p:pic>
        <p:nvPicPr>
          <p:cNvPr id="4" name="图片 3"/>
          <p:cNvPicPr>
            <a:picLocks noChangeAspect="1"/>
          </p:cNvPicPr>
          <p:nvPr/>
        </p:nvPicPr>
        <p:blipFill>
          <a:blip r:embed="rId2"/>
          <a:stretch>
            <a:fillRect/>
          </a:stretch>
        </p:blipFill>
        <p:spPr>
          <a:xfrm>
            <a:off x="609600" y="1113911"/>
            <a:ext cx="6489651" cy="2830128"/>
          </a:xfrm>
          <a:prstGeom prst="rect">
            <a:avLst/>
          </a:prstGeom>
        </p:spPr>
      </p:pic>
      <p:pic>
        <p:nvPicPr>
          <p:cNvPr id="5" name="图片 4"/>
          <p:cNvPicPr>
            <a:picLocks noChangeAspect="1"/>
          </p:cNvPicPr>
          <p:nvPr/>
        </p:nvPicPr>
        <p:blipFill>
          <a:blip r:embed="rId3"/>
          <a:stretch>
            <a:fillRect/>
          </a:stretch>
        </p:blipFill>
        <p:spPr>
          <a:xfrm>
            <a:off x="821117" y="3944039"/>
            <a:ext cx="6311504" cy="2673868"/>
          </a:xfrm>
          <a:prstGeom prst="rect">
            <a:avLst/>
          </a:prstGeom>
        </p:spPr>
      </p:pic>
    </p:spTree>
    <p:extLst>
      <p:ext uri="{BB962C8B-B14F-4D97-AF65-F5344CB8AC3E}">
        <p14:creationId xmlns:p14="http://schemas.microsoft.com/office/powerpoint/2010/main" val="73607302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t>Margining</a:t>
            </a:r>
          </a:p>
          <a:p>
            <a:pPr lvl="1"/>
            <a:r>
              <a:rPr lang="en-US" altLang="zh-CN" dirty="0"/>
              <a:t>It is critical that CCPs have effective risk control and adequate financial resources.</a:t>
            </a:r>
          </a:p>
          <a:p>
            <a:pPr lvl="1"/>
            <a:r>
              <a:rPr lang="en-US" altLang="zh-CN" dirty="0"/>
              <a:t>The most important method for this is via the margins that CCPs charge to cover the </a:t>
            </a:r>
            <a:r>
              <a:rPr lang="en-US" altLang="zh-CN" dirty="0" smtClean="0"/>
              <a:t>market risk </a:t>
            </a:r>
            <a:r>
              <a:rPr lang="en-US" altLang="zh-CN" dirty="0"/>
              <a:t>of trades. Margin comes in two forms as illustrated below </a:t>
            </a:r>
          </a:p>
          <a:p>
            <a:pPr lvl="2"/>
            <a:r>
              <a:rPr lang="en-US" altLang="zh-CN" b="1" dirty="0" smtClean="0"/>
              <a:t>Initial </a:t>
            </a:r>
            <a:r>
              <a:rPr lang="en-US" altLang="zh-CN" b="1" dirty="0"/>
              <a:t>margin </a:t>
            </a:r>
            <a:r>
              <a:rPr lang="en-US" altLang="zh-CN" dirty="0"/>
              <a:t>is charged at the trade’s inception and is designed to cover the </a:t>
            </a:r>
            <a:r>
              <a:rPr lang="en-US" altLang="zh-CN" dirty="0" smtClean="0"/>
              <a:t>worst case close </a:t>
            </a:r>
            <a:r>
              <a:rPr lang="en-US" altLang="zh-CN" dirty="0"/>
              <a:t>out costs (due to the need to find replacement transactions) in the event </a:t>
            </a:r>
            <a:r>
              <a:rPr lang="en-US" altLang="zh-CN" dirty="0" smtClean="0"/>
              <a:t>a member </a:t>
            </a:r>
            <a:r>
              <a:rPr lang="en-US" altLang="zh-CN" dirty="0"/>
              <a:t>defaults.</a:t>
            </a:r>
          </a:p>
          <a:p>
            <a:pPr lvl="2"/>
            <a:r>
              <a:rPr lang="en-US" altLang="zh-CN" b="1" dirty="0" smtClean="0"/>
              <a:t>Variation </a:t>
            </a:r>
            <a:r>
              <a:rPr lang="en-US" altLang="zh-CN" b="1" dirty="0"/>
              <a:t>margin </a:t>
            </a:r>
            <a:r>
              <a:rPr lang="en-US" altLang="zh-CN" dirty="0"/>
              <a:t>covers the net change in market value of the member’s positions.</a:t>
            </a:r>
            <a:endParaRPr lang="zh-CN" altLang="en-US" dirty="0"/>
          </a:p>
        </p:txBody>
      </p:sp>
      <p:sp>
        <p:nvSpPr>
          <p:cNvPr id="4" name="标题 1"/>
          <p:cNvSpPr>
            <a:spLocks noGrp="1"/>
          </p:cNvSpPr>
          <p:nvPr>
            <p:ph type="title"/>
          </p:nvPr>
        </p:nvSpPr>
        <p:spPr>
          <a:xfrm>
            <a:off x="609600" y="62400"/>
            <a:ext cx="9988627" cy="576064"/>
          </a:xfrm>
        </p:spPr>
        <p:txBody>
          <a:bodyPr>
            <a:noAutofit/>
          </a:bodyPr>
          <a:lstStyle/>
          <a:p>
            <a:r>
              <a:rPr lang="en-US" altLang="zh-CN" sz="2670" dirty="0"/>
              <a:t>Mechanics Of A Central Counterparty (CCP)</a:t>
            </a:r>
            <a:endParaRPr lang="zh-CN" altLang="en-US" sz="2670" dirty="0"/>
          </a:p>
        </p:txBody>
      </p:sp>
    </p:spTree>
    <p:extLst>
      <p:ext uri="{BB962C8B-B14F-4D97-AF65-F5344CB8AC3E}">
        <p14:creationId xmlns:p14="http://schemas.microsoft.com/office/powerpoint/2010/main" val="319175086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lvl="1" eaLnBrk="1" hangingPunct="1">
              <a:lnSpc>
                <a:spcPct val="140000"/>
              </a:lnSpc>
              <a:spcBef>
                <a:spcPct val="0"/>
              </a:spcBef>
            </a:pPr>
            <a:r>
              <a:rPr lang="en-US" altLang="zh-CN" sz="2670" b="1" kern="1200" dirty="0">
                <a:solidFill>
                  <a:schemeClr val="accent6">
                    <a:lumMod val="50000"/>
                  </a:schemeClr>
                </a:solidFill>
                <a:latin typeface="+mj-lt"/>
                <a:ea typeface="微软雅黑" panose="020B0503020204020204" pitchFamily="34" charset="-122"/>
                <a:cs typeface="+mj-cs"/>
              </a:rPr>
              <a:t>Types of Risks Faced by CCPs</a:t>
            </a:r>
          </a:p>
        </p:txBody>
      </p:sp>
      <p:sp>
        <p:nvSpPr>
          <p:cNvPr id="3" name="文本占位符 2"/>
          <p:cNvSpPr>
            <a:spLocks noGrp="1"/>
          </p:cNvSpPr>
          <p:nvPr>
            <p:ph type="body" sz="quarter" idx="10"/>
          </p:nvPr>
        </p:nvSpPr>
        <p:spPr/>
        <p:txBody>
          <a:bodyPr>
            <a:normAutofit lnSpcReduction="10000"/>
          </a:bodyPr>
          <a:lstStyle/>
          <a:p>
            <a:r>
              <a:rPr lang="en-US" altLang="zh-CN" dirty="0"/>
              <a:t>Central Counterparty </a:t>
            </a:r>
          </a:p>
          <a:p>
            <a:pPr lvl="1"/>
            <a:r>
              <a:rPr lang="en-US" altLang="zh-CN" b="1" dirty="0" smtClean="0"/>
              <a:t>Default </a:t>
            </a:r>
            <a:r>
              <a:rPr lang="en-US" altLang="zh-CN" b="1" dirty="0"/>
              <a:t>Risk</a:t>
            </a:r>
          </a:p>
          <a:p>
            <a:pPr lvl="2"/>
            <a:r>
              <a:rPr lang="en-US" altLang="zh-CN" dirty="0"/>
              <a:t>Default of a clearing member and, more importantly, the possible associated or knock-on effects that this could cause.</a:t>
            </a:r>
          </a:p>
          <a:p>
            <a:pPr lvl="2"/>
            <a:r>
              <a:rPr lang="en-US" altLang="zh-CN" dirty="0"/>
              <a:t>Aftermath of a default event create further problems: Default or distress of other clearing members; Failed auctions; Resignations; Reputational.</a:t>
            </a:r>
          </a:p>
          <a:p>
            <a:pPr lvl="1"/>
            <a:r>
              <a:rPr lang="en-US" altLang="zh-CN" b="1" dirty="0"/>
              <a:t>Liquidity Risk</a:t>
            </a:r>
          </a:p>
          <a:p>
            <a:pPr lvl="2"/>
            <a:r>
              <a:rPr lang="en-US" altLang="zh-CN" dirty="0"/>
              <a:t>A CCP faces liquidity risk due to the large quantities of cash that flow through them due to variation margin payments and other cash flows. </a:t>
            </a:r>
          </a:p>
          <a:p>
            <a:pPr lvl="2"/>
            <a:r>
              <a:rPr lang="en-US" altLang="zh-CN" dirty="0"/>
              <a:t>In the event of a default, the CCP must continue to fulfil its obligations to surviving members in a timely manner.</a:t>
            </a:r>
          </a:p>
          <a:p>
            <a:endParaRPr lang="zh-CN" altLang="en-US" dirty="0"/>
          </a:p>
        </p:txBody>
      </p:sp>
    </p:spTree>
    <p:extLst>
      <p:ext uri="{BB962C8B-B14F-4D97-AF65-F5344CB8AC3E}">
        <p14:creationId xmlns:p14="http://schemas.microsoft.com/office/powerpoint/2010/main" val="17673126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Central </a:t>
            </a:r>
            <a:r>
              <a:rPr lang="en-US" altLang="zh-CN" dirty="0" smtClean="0"/>
              <a:t>Counterparty </a:t>
            </a:r>
          </a:p>
          <a:p>
            <a:pPr lvl="1">
              <a:lnSpc>
                <a:spcPct val="140000"/>
              </a:lnSpc>
              <a:spcBef>
                <a:spcPct val="0"/>
              </a:spcBef>
            </a:pPr>
            <a:r>
              <a:rPr lang="en-US" altLang="zh-CN" b="1" dirty="0" smtClean="0"/>
              <a:t>Model </a:t>
            </a:r>
            <a:r>
              <a:rPr lang="en-US" altLang="zh-CN" b="1" dirty="0"/>
              <a:t>Risk</a:t>
            </a:r>
          </a:p>
          <a:p>
            <a:pPr lvl="2">
              <a:lnSpc>
                <a:spcPct val="140000"/>
              </a:lnSpc>
              <a:spcBef>
                <a:spcPct val="0"/>
              </a:spcBef>
            </a:pPr>
            <a:r>
              <a:rPr lang="en-US" altLang="zh-CN" u="sng" dirty="0"/>
              <a:t>Valuation models are required to mark-to-market products for </a:t>
            </a:r>
            <a:r>
              <a:rPr lang="en-US" altLang="zh-CN" b="1" u="sng" dirty="0"/>
              <a:t>variation margin</a:t>
            </a:r>
            <a:r>
              <a:rPr lang="en-US" altLang="zh-CN" u="sng" dirty="0"/>
              <a:t> purposes</a:t>
            </a:r>
            <a:r>
              <a:rPr lang="en-US" altLang="zh-CN" dirty="0"/>
              <a:t>. The approaches for marking-to-market must be standard and robust across all possible market scenarios.</a:t>
            </a:r>
          </a:p>
          <a:p>
            <a:pPr lvl="2">
              <a:lnSpc>
                <a:spcPct val="140000"/>
              </a:lnSpc>
              <a:spcBef>
                <a:spcPct val="0"/>
              </a:spcBef>
            </a:pPr>
            <a:r>
              <a:rPr lang="en-US" altLang="zh-CN" dirty="0"/>
              <a:t>Most exposed to model risk via their </a:t>
            </a:r>
            <a:r>
              <a:rPr lang="en-US" altLang="zh-CN" b="1" dirty="0"/>
              <a:t>initial margin </a:t>
            </a:r>
            <a:r>
              <a:rPr lang="en-US" altLang="zh-CN" dirty="0"/>
              <a:t>approaches. </a:t>
            </a:r>
            <a:r>
              <a:rPr lang="en-US" altLang="zh-CN" u="sng" dirty="0"/>
              <a:t>Particular modelling problems could arise from misspecification with respect to volatility, tail risk, complex dependencies and wrong-way risk</a:t>
            </a:r>
            <a:r>
              <a:rPr lang="en-US" altLang="zh-CN" dirty="0"/>
              <a:t>.</a:t>
            </a:r>
          </a:p>
          <a:p>
            <a:pPr lvl="2">
              <a:lnSpc>
                <a:spcPct val="140000"/>
              </a:lnSpc>
              <a:spcBef>
                <a:spcPct val="0"/>
              </a:spcBef>
            </a:pPr>
            <a:r>
              <a:rPr lang="en-US" altLang="zh-CN" dirty="0"/>
              <a:t>Another important feature of models is that they generally impose </a:t>
            </a:r>
            <a:r>
              <a:rPr lang="en-US" altLang="zh-CN" u="sng" dirty="0"/>
              <a:t>linearity</a:t>
            </a:r>
            <a:r>
              <a:rPr lang="en-US" altLang="zh-CN" dirty="0"/>
              <a:t>. For example, model-based initial margins will increase in proportion to the size of a position. It is important in this situation to </a:t>
            </a:r>
            <a:r>
              <a:rPr lang="en-US" altLang="zh-CN" u="sng" dirty="0"/>
              <a:t>use additional components such as margin multipliers</a:t>
            </a:r>
            <a:r>
              <a:rPr lang="en-US" altLang="zh-CN" dirty="0"/>
              <a:t>.</a:t>
            </a:r>
          </a:p>
          <a:p>
            <a:endParaRPr lang="zh-CN" altLang="en-US" dirty="0"/>
          </a:p>
        </p:txBody>
      </p:sp>
      <p:sp>
        <p:nvSpPr>
          <p:cNvPr id="4" name="标题 1"/>
          <p:cNvSpPr>
            <a:spLocks noGrp="1"/>
          </p:cNvSpPr>
          <p:nvPr>
            <p:ph type="title"/>
          </p:nvPr>
        </p:nvSpPr>
        <p:spPr/>
        <p:txBody>
          <a:bodyPr>
            <a:noAutofit/>
          </a:bodyPr>
          <a:lstStyle/>
          <a:p>
            <a:pPr lvl="1" eaLnBrk="1" hangingPunct="1">
              <a:lnSpc>
                <a:spcPct val="140000"/>
              </a:lnSpc>
              <a:spcBef>
                <a:spcPct val="0"/>
              </a:spcBef>
            </a:pPr>
            <a:r>
              <a:rPr lang="en-US" altLang="zh-CN" sz="2670" b="1" kern="1200" dirty="0">
                <a:solidFill>
                  <a:schemeClr val="accent6">
                    <a:lumMod val="50000"/>
                  </a:schemeClr>
                </a:solidFill>
                <a:latin typeface="+mj-lt"/>
                <a:ea typeface="微软雅黑" panose="020B0503020204020204" pitchFamily="34" charset="-122"/>
                <a:cs typeface="+mj-cs"/>
              </a:rPr>
              <a:t>Types of Risks Faced by CCPs</a:t>
            </a:r>
          </a:p>
        </p:txBody>
      </p:sp>
    </p:spTree>
    <p:extLst>
      <p:ext uri="{BB962C8B-B14F-4D97-AF65-F5344CB8AC3E}">
        <p14:creationId xmlns:p14="http://schemas.microsoft.com/office/powerpoint/2010/main" val="96810169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smtClean="0"/>
              <a:t>Central Counterparty </a:t>
            </a:r>
          </a:p>
          <a:p>
            <a:pPr lvl="1">
              <a:lnSpc>
                <a:spcPct val="140000"/>
              </a:lnSpc>
              <a:spcBef>
                <a:spcPct val="0"/>
              </a:spcBef>
            </a:pPr>
            <a:r>
              <a:rPr lang="en-US" altLang="zh-CN" b="1" dirty="0"/>
              <a:t>Operational Risk</a:t>
            </a:r>
          </a:p>
          <a:p>
            <a:pPr lvl="2">
              <a:lnSpc>
                <a:spcPct val="140000"/>
              </a:lnSpc>
              <a:spcBef>
                <a:spcPct val="0"/>
              </a:spcBef>
            </a:pPr>
            <a:r>
              <a:rPr lang="en-US" altLang="zh-CN" dirty="0"/>
              <a:t>CCPs are exposed to operational risks, such as systems failures and fraud. </a:t>
            </a:r>
            <a:endParaRPr lang="en-US" altLang="zh-CN" dirty="0" smtClean="0"/>
          </a:p>
          <a:p>
            <a:pPr lvl="1">
              <a:lnSpc>
                <a:spcPct val="140000"/>
              </a:lnSpc>
              <a:spcBef>
                <a:spcPct val="0"/>
              </a:spcBef>
            </a:pPr>
            <a:r>
              <a:rPr lang="en-US" altLang="zh-CN" b="1" dirty="0"/>
              <a:t>Legal Risk</a:t>
            </a:r>
          </a:p>
          <a:p>
            <a:pPr lvl="2">
              <a:lnSpc>
                <a:spcPct val="140000"/>
              </a:lnSpc>
              <a:spcBef>
                <a:spcPct val="0"/>
              </a:spcBef>
            </a:pPr>
            <a:r>
              <a:rPr lang="en-US" altLang="zh-CN" dirty="0"/>
              <a:t>Aspects such as segregation and the movement of margin and positions can be subject to legal risk from laws in different jurisdictions</a:t>
            </a:r>
            <a:r>
              <a:rPr lang="en-US" altLang="zh-CN" dirty="0" smtClean="0"/>
              <a:t>.</a:t>
            </a:r>
          </a:p>
          <a:p>
            <a:pPr lvl="1">
              <a:lnSpc>
                <a:spcPct val="140000"/>
              </a:lnSpc>
              <a:spcBef>
                <a:spcPct val="0"/>
              </a:spcBef>
            </a:pPr>
            <a:r>
              <a:rPr lang="en-US" altLang="zh-CN" b="1" dirty="0"/>
              <a:t>Investment Risk</a:t>
            </a:r>
          </a:p>
          <a:p>
            <a:pPr lvl="2">
              <a:lnSpc>
                <a:spcPct val="140000"/>
              </a:lnSpc>
              <a:spcBef>
                <a:spcPct val="0"/>
              </a:spcBef>
            </a:pPr>
            <a:r>
              <a:rPr lang="en-US" altLang="zh-CN" dirty="0"/>
              <a:t>Losses from investments of cash and securities held as margin</a:t>
            </a:r>
            <a:r>
              <a:rPr lang="en-US" altLang="zh-CN" dirty="0" smtClean="0"/>
              <a:t>.</a:t>
            </a:r>
          </a:p>
          <a:p>
            <a:pPr lvl="1">
              <a:lnSpc>
                <a:spcPct val="140000"/>
              </a:lnSpc>
              <a:spcBef>
                <a:spcPct val="0"/>
              </a:spcBef>
            </a:pPr>
            <a:r>
              <a:rPr lang="en-US" altLang="zh-CN" b="1" dirty="0"/>
              <a:t>Other risks </a:t>
            </a:r>
          </a:p>
          <a:p>
            <a:pPr lvl="2">
              <a:lnSpc>
                <a:spcPct val="140000"/>
              </a:lnSpc>
              <a:spcBef>
                <a:spcPct val="0"/>
              </a:spcBef>
            </a:pPr>
            <a:r>
              <a:rPr lang="en-US" altLang="zh-CN" dirty="0"/>
              <a:t>Settlement and payment risk, foreign exchange risk, custody risk, concentration risk, sovereign risk, and wrong-way risk.</a:t>
            </a:r>
          </a:p>
          <a:p>
            <a:pPr>
              <a:lnSpc>
                <a:spcPct val="140000"/>
              </a:lnSpc>
              <a:spcBef>
                <a:spcPct val="0"/>
              </a:spcBef>
            </a:pPr>
            <a:endParaRPr lang="en-US" altLang="zh-CN" dirty="0"/>
          </a:p>
          <a:p>
            <a:pPr>
              <a:lnSpc>
                <a:spcPct val="140000"/>
              </a:lnSpc>
              <a:spcBef>
                <a:spcPct val="0"/>
              </a:spcBef>
            </a:pPr>
            <a:endParaRPr lang="en-US" altLang="zh-CN" dirty="0" smtClean="0"/>
          </a:p>
          <a:p>
            <a:pPr>
              <a:lnSpc>
                <a:spcPct val="140000"/>
              </a:lnSpc>
              <a:spcBef>
                <a:spcPct val="0"/>
              </a:spcBef>
            </a:pPr>
            <a:endParaRPr lang="en-US" altLang="zh-CN" dirty="0"/>
          </a:p>
          <a:p>
            <a:pPr>
              <a:lnSpc>
                <a:spcPct val="140000"/>
              </a:lnSpc>
              <a:spcBef>
                <a:spcPct val="0"/>
              </a:spcBef>
            </a:pPr>
            <a:endParaRPr lang="en-US" altLang="zh-CN" b="1" dirty="0" smtClean="0"/>
          </a:p>
          <a:p>
            <a:endParaRPr lang="zh-CN" altLang="en-US" dirty="0"/>
          </a:p>
        </p:txBody>
      </p:sp>
      <p:sp>
        <p:nvSpPr>
          <p:cNvPr id="4" name="标题 1"/>
          <p:cNvSpPr>
            <a:spLocks noGrp="1"/>
          </p:cNvSpPr>
          <p:nvPr>
            <p:ph type="title"/>
          </p:nvPr>
        </p:nvSpPr>
        <p:spPr/>
        <p:txBody>
          <a:bodyPr>
            <a:noAutofit/>
          </a:bodyPr>
          <a:lstStyle/>
          <a:p>
            <a:pPr lvl="1" eaLnBrk="1" hangingPunct="1">
              <a:lnSpc>
                <a:spcPct val="140000"/>
              </a:lnSpc>
              <a:spcBef>
                <a:spcPct val="0"/>
              </a:spcBef>
            </a:pPr>
            <a:r>
              <a:rPr lang="en-US" altLang="zh-CN" sz="2670" b="1" kern="1200" dirty="0">
                <a:solidFill>
                  <a:schemeClr val="accent6">
                    <a:lumMod val="50000"/>
                  </a:schemeClr>
                </a:solidFill>
                <a:latin typeface="+mj-lt"/>
                <a:ea typeface="微软雅黑" panose="020B0503020204020204" pitchFamily="34" charset="-122"/>
                <a:cs typeface="+mj-cs"/>
              </a:rPr>
              <a:t>Types of Risks Faced by CCPs</a:t>
            </a:r>
          </a:p>
        </p:txBody>
      </p:sp>
    </p:spTree>
    <p:extLst>
      <p:ext uri="{BB962C8B-B14F-4D97-AF65-F5344CB8AC3E}">
        <p14:creationId xmlns:p14="http://schemas.microsoft.com/office/powerpoint/2010/main" val="368801838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735239" cy="576064"/>
          </a:xfrm>
        </p:spPr>
        <p:txBody>
          <a:bodyPr>
            <a:normAutofit/>
          </a:bodyPr>
          <a:lstStyle/>
          <a:p>
            <a:r>
              <a:rPr lang="en-US" altLang="zh-CN" dirty="0"/>
              <a:t>Advantages and Disadvantages of OTC Central Clearing</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OTC Central Clearing</a:t>
            </a:r>
          </a:p>
          <a:p>
            <a:pPr lvl="1">
              <a:lnSpc>
                <a:spcPct val="140000"/>
              </a:lnSpc>
              <a:spcBef>
                <a:spcPct val="0"/>
              </a:spcBef>
            </a:pPr>
            <a:r>
              <a:rPr lang="en-US" altLang="zh-CN" b="1" dirty="0"/>
              <a:t>Advantages of OTC Central Clearing</a:t>
            </a:r>
          </a:p>
          <a:p>
            <a:pPr lvl="2">
              <a:lnSpc>
                <a:spcPct val="140000"/>
              </a:lnSpc>
              <a:spcBef>
                <a:spcPct val="0"/>
              </a:spcBef>
            </a:pPr>
            <a:r>
              <a:rPr lang="en-US" altLang="zh-CN" dirty="0"/>
              <a:t>Transparency</a:t>
            </a:r>
          </a:p>
          <a:p>
            <a:pPr lvl="2">
              <a:lnSpc>
                <a:spcPct val="140000"/>
              </a:lnSpc>
              <a:spcBef>
                <a:spcPct val="0"/>
              </a:spcBef>
            </a:pPr>
            <a:r>
              <a:rPr lang="en-US" altLang="zh-CN" dirty="0"/>
              <a:t>Offsetting</a:t>
            </a:r>
          </a:p>
          <a:p>
            <a:pPr lvl="2">
              <a:lnSpc>
                <a:spcPct val="140000"/>
              </a:lnSpc>
              <a:spcBef>
                <a:spcPct val="0"/>
              </a:spcBef>
            </a:pPr>
            <a:r>
              <a:rPr lang="en-US" altLang="zh-CN" dirty="0"/>
              <a:t>Loss mutualisation</a:t>
            </a:r>
          </a:p>
          <a:p>
            <a:pPr lvl="2">
              <a:lnSpc>
                <a:spcPct val="140000"/>
              </a:lnSpc>
              <a:spcBef>
                <a:spcPct val="0"/>
              </a:spcBef>
            </a:pPr>
            <a:r>
              <a:rPr lang="en-US" altLang="zh-CN" dirty="0"/>
              <a:t>Legal and operational efficiency</a:t>
            </a:r>
          </a:p>
          <a:p>
            <a:pPr lvl="2">
              <a:lnSpc>
                <a:spcPct val="140000"/>
              </a:lnSpc>
              <a:spcBef>
                <a:spcPct val="0"/>
              </a:spcBef>
            </a:pPr>
            <a:r>
              <a:rPr lang="en-US" altLang="zh-CN" dirty="0"/>
              <a:t>Liquidity</a:t>
            </a:r>
          </a:p>
          <a:p>
            <a:pPr lvl="2">
              <a:lnSpc>
                <a:spcPct val="140000"/>
              </a:lnSpc>
              <a:spcBef>
                <a:spcPct val="0"/>
              </a:spcBef>
            </a:pPr>
            <a:r>
              <a:rPr lang="en-US" altLang="zh-CN" dirty="0"/>
              <a:t>Default management</a:t>
            </a:r>
          </a:p>
          <a:p>
            <a:pPr lvl="1">
              <a:lnSpc>
                <a:spcPct val="140000"/>
              </a:lnSpc>
              <a:spcBef>
                <a:spcPct val="0"/>
              </a:spcBef>
            </a:pPr>
            <a:r>
              <a:rPr lang="en-US" altLang="zh-CN" b="1" dirty="0"/>
              <a:t>Disadvantages of OTC Central Clearing</a:t>
            </a:r>
          </a:p>
          <a:p>
            <a:pPr lvl="2">
              <a:lnSpc>
                <a:spcPct val="140000"/>
              </a:lnSpc>
              <a:spcBef>
                <a:spcPct val="0"/>
              </a:spcBef>
            </a:pPr>
            <a:r>
              <a:rPr lang="en-US" altLang="zh-CN" dirty="0"/>
              <a:t>Moral hazard</a:t>
            </a:r>
          </a:p>
          <a:p>
            <a:pPr lvl="2">
              <a:lnSpc>
                <a:spcPct val="140000"/>
              </a:lnSpc>
              <a:spcBef>
                <a:spcPct val="0"/>
              </a:spcBef>
            </a:pPr>
            <a:r>
              <a:rPr lang="en-US" altLang="zh-CN" dirty="0"/>
              <a:t>Adverse selection</a:t>
            </a:r>
          </a:p>
          <a:p>
            <a:pPr lvl="2">
              <a:lnSpc>
                <a:spcPct val="140000"/>
              </a:lnSpc>
              <a:spcBef>
                <a:spcPct val="0"/>
              </a:spcBef>
            </a:pPr>
            <a:r>
              <a:rPr lang="en-US" altLang="zh-CN" dirty="0"/>
              <a:t>Bifurcations</a:t>
            </a:r>
          </a:p>
          <a:p>
            <a:pPr lvl="2">
              <a:lnSpc>
                <a:spcPct val="140000"/>
              </a:lnSpc>
              <a:spcBef>
                <a:spcPct val="0"/>
              </a:spcBef>
            </a:pPr>
            <a:r>
              <a:rPr lang="en-US" altLang="zh-CN" dirty="0"/>
              <a:t>Procyclicality</a:t>
            </a:r>
          </a:p>
          <a:p>
            <a:endParaRPr lang="zh-CN" altLang="en-US" dirty="0"/>
          </a:p>
        </p:txBody>
      </p:sp>
    </p:spTree>
    <p:extLst>
      <p:ext uri="{BB962C8B-B14F-4D97-AF65-F5344CB8AC3E}">
        <p14:creationId xmlns:p14="http://schemas.microsoft.com/office/powerpoint/2010/main" val="191211563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40000"/>
              </a:lnSpc>
              <a:spcBef>
                <a:spcPct val="0"/>
              </a:spcBef>
            </a:pPr>
            <a:r>
              <a:rPr lang="en-US" altLang="zh-CN" dirty="0"/>
              <a:t>Central Counterparty </a:t>
            </a:r>
          </a:p>
          <a:p>
            <a:pPr lvl="1">
              <a:lnSpc>
                <a:spcPct val="140000"/>
              </a:lnSpc>
              <a:spcBef>
                <a:spcPct val="0"/>
              </a:spcBef>
            </a:pPr>
            <a:r>
              <a:rPr lang="en-US" altLang="zh-CN" b="1" dirty="0"/>
              <a:t>Lessons Learned from Prior CCP Failures</a:t>
            </a:r>
          </a:p>
          <a:p>
            <a:pPr lvl="2">
              <a:lnSpc>
                <a:spcPct val="140000"/>
              </a:lnSpc>
              <a:spcBef>
                <a:spcPct val="0"/>
              </a:spcBef>
            </a:pPr>
            <a:r>
              <a:rPr lang="en-US" altLang="zh-CN" u="sng" dirty="0"/>
              <a:t>Variation margins</a:t>
            </a:r>
            <a:r>
              <a:rPr lang="en-US" altLang="zh-CN" dirty="0"/>
              <a:t> should be </a:t>
            </a:r>
            <a:r>
              <a:rPr lang="en-US" altLang="zh-CN" u="sng" dirty="0"/>
              <a:t>recalculated frequently and collected promptly</a:t>
            </a:r>
            <a:r>
              <a:rPr lang="en-US" altLang="zh-CN" dirty="0"/>
              <a:t> (intradaily in volatile markets). </a:t>
            </a:r>
          </a:p>
          <a:p>
            <a:pPr lvl="2">
              <a:lnSpc>
                <a:spcPct val="140000"/>
              </a:lnSpc>
              <a:spcBef>
                <a:spcPct val="0"/>
              </a:spcBef>
            </a:pPr>
            <a:r>
              <a:rPr lang="en-US" altLang="zh-CN" u="sng" dirty="0"/>
              <a:t>Initial margin and default funds</a:t>
            </a:r>
            <a:r>
              <a:rPr lang="en-US" altLang="zh-CN" dirty="0"/>
              <a:t> should be resilient to large negative asset shocks or gaps in market variables and to extreme dependency.</a:t>
            </a:r>
          </a:p>
          <a:p>
            <a:pPr lvl="2">
              <a:lnSpc>
                <a:spcPct val="140000"/>
              </a:lnSpc>
              <a:spcBef>
                <a:spcPct val="0"/>
              </a:spcBef>
            </a:pPr>
            <a:r>
              <a:rPr lang="en-US" altLang="zh-CN" dirty="0"/>
              <a:t>A CCP should carefully </a:t>
            </a:r>
            <a:r>
              <a:rPr lang="en-US" altLang="zh-CN" u="sng" dirty="0"/>
              <a:t>monitor positions, penalize concentration and act quickly in the case of excessively large positions</a:t>
            </a:r>
            <a:r>
              <a:rPr lang="en-US" altLang="zh-CN" dirty="0"/>
              <a:t>.</a:t>
            </a:r>
          </a:p>
          <a:p>
            <a:pPr lvl="2">
              <a:lnSpc>
                <a:spcPct val="140000"/>
              </a:lnSpc>
              <a:spcBef>
                <a:spcPct val="0"/>
              </a:spcBef>
            </a:pPr>
            <a:r>
              <a:rPr lang="en-US" altLang="zh-CN" u="sng" dirty="0"/>
              <a:t>Operational risk </a:t>
            </a:r>
            <a:r>
              <a:rPr lang="en-US" altLang="zh-CN" dirty="0"/>
              <a:t>must be </a:t>
            </a:r>
            <a:r>
              <a:rPr lang="en-US" altLang="zh-CN" u="sng" dirty="0"/>
              <a:t>controlled</a:t>
            </a:r>
            <a:r>
              <a:rPr lang="en-US" altLang="zh-CN" dirty="0"/>
              <a:t> as much as possible.</a:t>
            </a:r>
          </a:p>
          <a:p>
            <a:pPr lvl="2">
              <a:lnSpc>
                <a:spcPct val="140000"/>
              </a:lnSpc>
              <a:spcBef>
                <a:spcPct val="0"/>
              </a:spcBef>
            </a:pPr>
            <a:r>
              <a:rPr lang="en-US" altLang="zh-CN" dirty="0"/>
              <a:t>A CCP should have </a:t>
            </a:r>
            <a:r>
              <a:rPr lang="en-US" altLang="zh-CN" u="sng" dirty="0"/>
              <a:t>availability to external liquidity sources</a:t>
            </a:r>
            <a:r>
              <a:rPr lang="en-US" altLang="zh-CN" dirty="0"/>
              <a:t> since it could otherwise default due to being illiquid but not insolvent.</a:t>
            </a:r>
          </a:p>
          <a:p>
            <a:endParaRPr lang="zh-CN" altLang="en-US" dirty="0"/>
          </a:p>
        </p:txBody>
      </p:sp>
      <p:sp>
        <p:nvSpPr>
          <p:cNvPr id="4" name="标题 1"/>
          <p:cNvSpPr>
            <a:spLocks noGrp="1"/>
          </p:cNvSpPr>
          <p:nvPr>
            <p:ph type="title"/>
          </p:nvPr>
        </p:nvSpPr>
        <p:spPr>
          <a:xfrm>
            <a:off x="609600" y="62400"/>
            <a:ext cx="8644569" cy="576064"/>
          </a:xfrm>
        </p:spPr>
        <p:txBody>
          <a:bodyPr>
            <a:noAutofit/>
          </a:bodyPr>
          <a:lstStyle/>
          <a:p>
            <a:pPr lvl="1">
              <a:lnSpc>
                <a:spcPct val="140000"/>
              </a:lnSpc>
              <a:spcBef>
                <a:spcPct val="0"/>
              </a:spcBef>
            </a:pPr>
            <a:r>
              <a:rPr lang="en-US" altLang="zh-CN" sz="2670" b="1" kern="1200" dirty="0">
                <a:solidFill>
                  <a:schemeClr val="accent6">
                    <a:lumMod val="50000"/>
                  </a:schemeClr>
                </a:solidFill>
                <a:latin typeface="+mj-lt"/>
                <a:ea typeface="微软雅黑" panose="020B0503020204020204" pitchFamily="34" charset="-122"/>
                <a:cs typeface="+mj-cs"/>
              </a:rPr>
              <a:t>Lessons Learned from Prior CCP Failures</a:t>
            </a:r>
          </a:p>
        </p:txBody>
      </p:sp>
    </p:spTree>
    <p:extLst>
      <p:ext uri="{BB962C8B-B14F-4D97-AF65-F5344CB8AC3E}">
        <p14:creationId xmlns:p14="http://schemas.microsoft.com/office/powerpoint/2010/main" val="175924129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lnSpcReduction="10000"/>
          </a:bodyPr>
          <a:lstStyle/>
          <a:p>
            <a:r>
              <a:rPr lang="en-US" altLang="zh-CN" b="0" dirty="0" smtClean="0"/>
              <a:t>Provide </a:t>
            </a:r>
            <a:r>
              <a:rPr lang="en-US" altLang="zh-CN" b="0" dirty="0"/>
              <a:t>examples of the mechanics of a central counterparty (CCP). </a:t>
            </a:r>
            <a:r>
              <a:rPr lang="en-US" altLang="zh-CN" b="0" dirty="0" smtClean="0">
                <a:cs typeface="+mn-ea"/>
                <a:sym typeface="+mn-lt"/>
              </a:rPr>
              <a:t>★★</a:t>
            </a:r>
            <a:endParaRPr lang="en-US" altLang="zh-CN" b="0" dirty="0"/>
          </a:p>
          <a:p>
            <a:r>
              <a:rPr lang="en-US" altLang="zh-CN" b="0" dirty="0"/>
              <a:t>Describe advantages and disadvantages of central clearing of OTC derivatives</a:t>
            </a:r>
            <a:r>
              <a:rPr lang="en-US" altLang="zh-CN" b="0" dirty="0" smtClean="0"/>
              <a:t>.</a:t>
            </a:r>
            <a:r>
              <a:rPr lang="en-US" altLang="zh-CN" b="0" dirty="0">
                <a:cs typeface="+mn-ea"/>
                <a:sym typeface="+mn-lt"/>
              </a:rPr>
              <a:t> </a:t>
            </a:r>
            <a:r>
              <a:rPr lang="en-US" altLang="zh-CN" b="0" dirty="0" smtClean="0">
                <a:cs typeface="+mn-ea"/>
                <a:sym typeface="+mn-lt"/>
              </a:rPr>
              <a:t>★★</a:t>
            </a:r>
            <a:r>
              <a:rPr lang="en-US" altLang="zh-CN" b="0" dirty="0" smtClean="0"/>
              <a:t> </a:t>
            </a:r>
            <a:endParaRPr lang="en-US" altLang="zh-CN" b="0" dirty="0"/>
          </a:p>
          <a:p>
            <a:r>
              <a:rPr lang="en-US" altLang="zh-CN" b="0" dirty="0"/>
              <a:t>Compare margin requirements in centrally cleared and bilateral markets, and explain how margin can mitigate risk. </a:t>
            </a:r>
            <a:r>
              <a:rPr lang="en-US" altLang="zh-CN" b="0" dirty="0">
                <a:cs typeface="+mn-ea"/>
                <a:sym typeface="+mn-lt"/>
              </a:rPr>
              <a:t>★</a:t>
            </a:r>
            <a:endParaRPr lang="en-US" altLang="zh-CN" b="0" dirty="0"/>
          </a:p>
          <a:p>
            <a:r>
              <a:rPr lang="en-US" altLang="zh-CN" b="0" dirty="0"/>
              <a:t>Compare and contrast bilateral markets to the use of novation and netting. </a:t>
            </a:r>
            <a:r>
              <a:rPr lang="en-US" altLang="zh-CN" b="0" dirty="0" smtClean="0">
                <a:cs typeface="+mn-ea"/>
                <a:sym typeface="+mn-lt"/>
              </a:rPr>
              <a:t>★★</a:t>
            </a:r>
            <a:endParaRPr lang="en-US" altLang="zh-CN" b="0" dirty="0"/>
          </a:p>
          <a:p>
            <a:r>
              <a:rPr lang="en-US" altLang="zh-CN" b="0" dirty="0"/>
              <a:t>Assess the impact of central clearing on the broader financial markets. </a:t>
            </a:r>
            <a:r>
              <a:rPr lang="en-US" altLang="zh-CN" b="0" dirty="0" smtClean="0">
                <a:cs typeface="+mn-ea"/>
                <a:sym typeface="+mn-lt"/>
              </a:rPr>
              <a:t>★</a:t>
            </a:r>
            <a:r>
              <a:rPr lang="en-US" altLang="zh-CN" b="0" dirty="0">
                <a:cs typeface="+mn-ea"/>
                <a:sym typeface="+mn-lt"/>
              </a:rPr>
              <a:t> </a:t>
            </a:r>
            <a:endParaRPr lang="en-US" altLang="zh-CN" b="0" dirty="0" smtClean="0"/>
          </a:p>
          <a:p>
            <a:r>
              <a:rPr lang="en-US" altLang="zh-CN" b="0" dirty="0"/>
              <a:t>Identify and explain the types of risks faced by CCPs. </a:t>
            </a:r>
            <a:r>
              <a:rPr lang="en-US" altLang="zh-CN" b="0" dirty="0">
                <a:cs typeface="+mn-ea"/>
                <a:sym typeface="+mn-lt"/>
              </a:rPr>
              <a:t>★</a:t>
            </a:r>
            <a:endParaRPr lang="en-US" altLang="zh-CN" b="0" dirty="0"/>
          </a:p>
          <a:p>
            <a:r>
              <a:rPr lang="en-US" altLang="zh-CN" b="0" dirty="0"/>
              <a:t>Identify and distinguish between the risks to clearing members as well as non-members. </a:t>
            </a:r>
            <a:r>
              <a:rPr lang="en-US" altLang="zh-CN" b="0" dirty="0">
                <a:cs typeface="+mn-ea"/>
                <a:sym typeface="+mn-lt"/>
              </a:rPr>
              <a:t>★</a:t>
            </a:r>
            <a:endParaRPr lang="en-US" altLang="zh-CN" b="0" dirty="0"/>
          </a:p>
          <a:p>
            <a:r>
              <a:rPr lang="en-US" altLang="zh-CN" b="0" dirty="0"/>
              <a:t>Identify and evaluate lessons learned from prior CCP failures. </a:t>
            </a:r>
            <a:r>
              <a:rPr lang="en-US" altLang="zh-CN" b="0" dirty="0" smtClean="0">
                <a:cs typeface="+mn-ea"/>
                <a:sym typeface="+mn-lt"/>
              </a:rPr>
              <a:t>★★</a:t>
            </a:r>
            <a:endParaRPr lang="en-US" altLang="zh-CN" b="0" dirty="0"/>
          </a:p>
          <a:p>
            <a:endParaRPr lang="zh-CN" altLang="en-US" dirty="0"/>
          </a:p>
        </p:txBody>
      </p:sp>
    </p:spTree>
    <p:extLst>
      <p:ext uri="{BB962C8B-B14F-4D97-AF65-F5344CB8AC3E}">
        <p14:creationId xmlns:p14="http://schemas.microsoft.com/office/powerpoint/2010/main" val="214060044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a:solidFill>
                  <a:srgbClr val="002060"/>
                </a:solidFill>
                <a:latin typeface="+mn-lt"/>
                <a:ea typeface="+mn-ea"/>
                <a:cs typeface="+mn-ea"/>
                <a:sym typeface="+mn-lt"/>
              </a:rPr>
              <a:t>Foreign Exchange Risk</a:t>
            </a:r>
          </a:p>
        </p:txBody>
      </p:sp>
    </p:spTree>
    <p:extLst>
      <p:ext uri="{BB962C8B-B14F-4D97-AF65-F5344CB8AC3E}">
        <p14:creationId xmlns:p14="http://schemas.microsoft.com/office/powerpoint/2010/main" val="4156145131"/>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Foreign </a:t>
            </a:r>
            <a:r>
              <a:rPr lang="en-US" altLang="zh-CN" dirty="0" smtClean="0"/>
              <a:t>Exchange Exposure</a:t>
            </a:r>
            <a:endParaRPr lang="en-US" altLang="zh-CN" dirty="0"/>
          </a:p>
        </p:txBody>
      </p:sp>
      <p:sp>
        <p:nvSpPr>
          <p:cNvPr id="3" name="文本占位符 2"/>
          <p:cNvSpPr>
            <a:spLocks noGrp="1"/>
          </p:cNvSpPr>
          <p:nvPr>
            <p:ph type="body" sz="quarter" idx="10"/>
          </p:nvPr>
        </p:nvSpPr>
        <p:spPr/>
        <p:txBody>
          <a:bodyPr/>
          <a:lstStyle/>
          <a:p>
            <a:r>
              <a:rPr lang="en-US" altLang="zh-CN" dirty="0"/>
              <a:t>Foreign Exchange Rates</a:t>
            </a:r>
          </a:p>
          <a:p>
            <a:pPr lvl="1"/>
            <a:r>
              <a:rPr lang="en-US" altLang="zh-CN" b="0" dirty="0"/>
              <a:t>Direct quote (US$ Equivalent)</a:t>
            </a:r>
          </a:p>
          <a:p>
            <a:pPr lvl="2"/>
            <a:r>
              <a:rPr lang="en-US" altLang="zh-CN" b="0" dirty="0" smtClean="0"/>
              <a:t>U.S</a:t>
            </a:r>
            <a:r>
              <a:rPr lang="en-US" altLang="zh-CN" b="0" dirty="0"/>
              <a:t>. dollars per one unit of foreign currency; e.g., 0.9079 USD / CAD</a:t>
            </a:r>
          </a:p>
          <a:p>
            <a:pPr lvl="1"/>
            <a:r>
              <a:rPr lang="en-US" altLang="zh-CN" b="0" dirty="0"/>
              <a:t>Indirect quote (Currency per US$)</a:t>
            </a:r>
          </a:p>
          <a:p>
            <a:pPr lvl="2"/>
            <a:r>
              <a:rPr lang="en-US" altLang="zh-CN" b="0" dirty="0" smtClean="0"/>
              <a:t>Foreign </a:t>
            </a:r>
            <a:r>
              <a:rPr lang="en-US" altLang="zh-CN" b="0" dirty="0"/>
              <a:t>currency per one US dollar; e.g., 1.1015 CAD / $USD</a:t>
            </a:r>
            <a:endParaRPr lang="zh-CN" altLang="en-US" dirty="0"/>
          </a:p>
        </p:txBody>
      </p:sp>
    </p:spTree>
    <p:extLst>
      <p:ext uri="{BB962C8B-B14F-4D97-AF65-F5344CB8AC3E}">
        <p14:creationId xmlns:p14="http://schemas.microsoft.com/office/powerpoint/2010/main" val="4413288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b="0" dirty="0"/>
              <a:t>FX position exposure</a:t>
            </a:r>
          </a:p>
          <a:p>
            <a:pPr lvl="1"/>
            <a:r>
              <a:rPr lang="en-US" altLang="zh-CN" b="0" dirty="0"/>
              <a:t>Net </a:t>
            </a:r>
            <a:r>
              <a:rPr lang="en-US" altLang="zh-CN" b="0" dirty="0" smtClean="0"/>
              <a:t>exposure</a:t>
            </a:r>
            <a:r>
              <a:rPr lang="en-US" altLang="zh-CN" b="0" baseline="-25000" dirty="0" smtClean="0"/>
              <a:t>i</a:t>
            </a:r>
            <a:r>
              <a:rPr lang="zh-CN" altLang="en-US" b="0" dirty="0" smtClean="0"/>
              <a:t> </a:t>
            </a:r>
            <a:r>
              <a:rPr lang="en-US" altLang="zh-CN" b="0" dirty="0"/>
              <a:t>= (FX </a:t>
            </a:r>
            <a:r>
              <a:rPr lang="en-US" altLang="zh-CN" b="0" dirty="0" smtClean="0"/>
              <a:t>assets</a:t>
            </a:r>
            <a:r>
              <a:rPr lang="en-US" altLang="zh-CN" b="0" baseline="-25000" dirty="0" smtClean="0"/>
              <a:t>i</a:t>
            </a:r>
            <a:r>
              <a:rPr lang="zh-CN" altLang="en-US" b="0" dirty="0" smtClean="0"/>
              <a:t> </a:t>
            </a:r>
            <a:r>
              <a:rPr lang="en-US" altLang="zh-CN" b="0" dirty="0"/>
              <a:t>- FX </a:t>
            </a:r>
            <a:r>
              <a:rPr lang="en-US" altLang="zh-CN" b="0" dirty="0" smtClean="0"/>
              <a:t>liabilities</a:t>
            </a:r>
            <a:r>
              <a:rPr lang="en-US" altLang="zh-CN" b="0" baseline="-25000" dirty="0" smtClean="0"/>
              <a:t>i</a:t>
            </a:r>
            <a:r>
              <a:rPr lang="en-US" altLang="zh-CN" b="0" dirty="0" smtClean="0"/>
              <a:t>) </a:t>
            </a:r>
            <a:r>
              <a:rPr lang="en-US" altLang="zh-CN" b="0" dirty="0"/>
              <a:t>+ (FX </a:t>
            </a:r>
            <a:r>
              <a:rPr lang="en-US" altLang="zh-CN" b="0" dirty="0" smtClean="0"/>
              <a:t>bought</a:t>
            </a:r>
            <a:r>
              <a:rPr lang="en-US" altLang="zh-CN" b="0" baseline="-25000" dirty="0" smtClean="0"/>
              <a:t>i</a:t>
            </a:r>
            <a:r>
              <a:rPr lang="en-US" altLang="zh-CN" b="0" dirty="0" smtClean="0"/>
              <a:t>- </a:t>
            </a:r>
            <a:r>
              <a:rPr lang="en-US" altLang="zh-CN" b="0" dirty="0"/>
              <a:t>FX </a:t>
            </a:r>
            <a:r>
              <a:rPr lang="en-US" altLang="zh-CN" b="0" dirty="0" smtClean="0"/>
              <a:t>sold</a:t>
            </a:r>
            <a:r>
              <a:rPr lang="en-US" altLang="zh-CN" b="0" baseline="-25000" dirty="0" smtClean="0"/>
              <a:t>i</a:t>
            </a:r>
            <a:r>
              <a:rPr lang="en-US" altLang="zh-CN" b="0" dirty="0" smtClean="0"/>
              <a:t>)</a:t>
            </a:r>
            <a:endParaRPr lang="en-US" altLang="zh-CN" b="0" dirty="0"/>
          </a:p>
          <a:p>
            <a:pPr marL="609585" lvl="1" indent="0">
              <a:buNone/>
            </a:pPr>
            <a:r>
              <a:rPr lang="en-US" altLang="zh-CN" b="0" dirty="0" smtClean="0"/>
              <a:t>                              = </a:t>
            </a:r>
            <a:r>
              <a:rPr lang="en-US" altLang="zh-CN" b="0" dirty="0"/>
              <a:t>Net foreign </a:t>
            </a:r>
            <a:r>
              <a:rPr lang="en-US" altLang="zh-CN" b="0" dirty="0" smtClean="0"/>
              <a:t>assets</a:t>
            </a:r>
            <a:r>
              <a:rPr lang="en-US" altLang="zh-CN" b="0" baseline="-25000" dirty="0" smtClean="0"/>
              <a:t>i</a:t>
            </a:r>
            <a:r>
              <a:rPr lang="en-US" altLang="zh-CN" b="0" dirty="0" smtClean="0"/>
              <a:t>+ </a:t>
            </a:r>
            <a:r>
              <a:rPr lang="en-US" altLang="zh-CN" b="0" dirty="0"/>
              <a:t>Net FX </a:t>
            </a:r>
            <a:r>
              <a:rPr lang="en-US" altLang="zh-CN" b="0" dirty="0" smtClean="0"/>
              <a:t>bought</a:t>
            </a:r>
            <a:r>
              <a:rPr lang="en-US" altLang="zh-CN" b="0" baseline="-25000" dirty="0" smtClean="0"/>
              <a:t>i</a:t>
            </a:r>
          </a:p>
          <a:p>
            <a:pPr marL="609585" lvl="1" indent="0">
              <a:buNone/>
            </a:pPr>
            <a:r>
              <a:rPr lang="en-US" altLang="zh-CN" dirty="0"/>
              <a:t> </a:t>
            </a:r>
            <a:r>
              <a:rPr lang="en-US" altLang="zh-CN" dirty="0" smtClean="0"/>
              <a:t>                             </a:t>
            </a:r>
            <a:r>
              <a:rPr lang="en-US" altLang="zh-CN" b="0" dirty="0" smtClean="0"/>
              <a:t>where </a:t>
            </a:r>
            <a:r>
              <a:rPr lang="en-US" altLang="zh-CN" b="0" dirty="0"/>
              <a:t>i = </a:t>
            </a:r>
            <a:r>
              <a:rPr lang="en-US" altLang="zh-CN" b="0" dirty="0" smtClean="0"/>
              <a:t>i</a:t>
            </a:r>
            <a:r>
              <a:rPr lang="en-US" altLang="zh-CN" b="0" baseline="30000" dirty="0" smtClean="0"/>
              <a:t>th</a:t>
            </a:r>
            <a:r>
              <a:rPr lang="zh-CN" altLang="en-US" b="0" dirty="0" smtClean="0"/>
              <a:t> </a:t>
            </a:r>
            <a:r>
              <a:rPr lang="en-US" altLang="zh-CN" b="0" dirty="0"/>
              <a:t>currency</a:t>
            </a:r>
            <a:r>
              <a:rPr lang="en-US" altLang="zh-CN" b="0" dirty="0" smtClean="0"/>
              <a:t>.</a:t>
            </a:r>
          </a:p>
          <a:p>
            <a:pPr lvl="1"/>
            <a:r>
              <a:rPr lang="en-US" altLang="zh-CN" b="0" dirty="0" smtClean="0"/>
              <a:t>Positive </a:t>
            </a:r>
            <a:r>
              <a:rPr lang="en-US" altLang="zh-CN" b="0" dirty="0"/>
              <a:t>net exposure ⇒ net long a currency.</a:t>
            </a:r>
          </a:p>
          <a:p>
            <a:pPr lvl="1"/>
            <a:r>
              <a:rPr lang="en-US" altLang="zh-CN" b="0" dirty="0" smtClean="0"/>
              <a:t>Negative </a:t>
            </a:r>
            <a:r>
              <a:rPr lang="en-US" altLang="zh-CN" b="0" dirty="0"/>
              <a:t>net exposure ⇒ net short a currency.</a:t>
            </a:r>
            <a:endParaRPr lang="zh-CN" altLang="en-US" dirty="0"/>
          </a:p>
        </p:txBody>
      </p:sp>
      <p:sp>
        <p:nvSpPr>
          <p:cNvPr id="4" name="标题 1"/>
          <p:cNvSpPr>
            <a:spLocks noGrp="1"/>
          </p:cNvSpPr>
          <p:nvPr>
            <p:ph type="title"/>
          </p:nvPr>
        </p:nvSpPr>
        <p:spPr/>
        <p:txBody>
          <a:bodyPr/>
          <a:lstStyle/>
          <a:p>
            <a:r>
              <a:rPr lang="en-US" altLang="zh-CN" dirty="0"/>
              <a:t>Foreign </a:t>
            </a:r>
            <a:r>
              <a:rPr lang="en-US" altLang="zh-CN" dirty="0" smtClean="0"/>
              <a:t>Exchange Exposure</a:t>
            </a:r>
            <a:endParaRPr lang="en-US" altLang="zh-CN" dirty="0"/>
          </a:p>
        </p:txBody>
      </p:sp>
      <p:sp>
        <p:nvSpPr>
          <p:cNvPr id="2" name="TextBox 1"/>
          <p:cNvSpPr txBox="1"/>
          <p:nvPr/>
        </p:nvSpPr>
        <p:spPr>
          <a:xfrm>
            <a:off x="1035698" y="1506120"/>
            <a:ext cx="9106677" cy="1395700"/>
          </a:xfrm>
          <a:prstGeom prst="rect">
            <a:avLst/>
          </a:prstGeom>
          <a:noFill/>
          <a:ln w="2540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200345457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b="0" dirty="0" smtClean="0"/>
                  <a:t>To reduce its foreign currency exposure</a:t>
                </a:r>
              </a:p>
              <a:p>
                <a:pPr lvl="2"/>
                <a:r>
                  <a:rPr lang="en-US" altLang="zh-CN" b="0" dirty="0" smtClean="0"/>
                  <a:t>Bank </a:t>
                </a:r>
                <a:r>
                  <a:rPr lang="en-US" altLang="zh-CN" b="0" dirty="0"/>
                  <a:t>can match its foreign currency assets to its liabilities.</a:t>
                </a:r>
              </a:p>
              <a:p>
                <a:pPr lvl="2"/>
                <a:r>
                  <a:rPr lang="en-US" altLang="zh-CN" b="0" dirty="0" smtClean="0"/>
                  <a:t>Bank </a:t>
                </a:r>
                <a:r>
                  <a:rPr lang="en-US" altLang="zh-CN" b="0" dirty="0"/>
                  <a:t>can match buys and sells in trading book.</a:t>
                </a:r>
              </a:p>
              <a:p>
                <a:pPr lvl="1"/>
                <a:r>
                  <a:rPr lang="en-US" altLang="zh-CN" b="0" dirty="0"/>
                  <a:t>Financial holding companies can aggregate their foreign exchange exposure under </a:t>
                </a:r>
                <a:r>
                  <a:rPr lang="en-US" altLang="zh-CN" b="0" dirty="0" smtClean="0"/>
                  <a:t>one umbrella</a:t>
                </a:r>
                <a:r>
                  <a:rPr lang="en-US" altLang="zh-CN" b="0" dirty="0"/>
                  <a:t>, commercial bank, insurance company, and pension </a:t>
                </a:r>
                <a:r>
                  <a:rPr lang="en-US" altLang="zh-CN" b="0" dirty="0" smtClean="0"/>
                  <a:t>fund.</a:t>
                </a:r>
              </a:p>
              <a:p>
                <a:pPr marL="457189" lvl="1" indent="-457189">
                  <a:buFont typeface="Wingdings" panose="05000000000000000000" pitchFamily="2" charset="2"/>
                  <a:buChar char="Ø"/>
                </a:pPr>
                <a:r>
                  <a:rPr lang="en-US" altLang="zh-CN" sz="2400" dirty="0">
                    <a:solidFill>
                      <a:schemeClr val="accent6"/>
                    </a:solidFill>
                    <a:latin typeface="微软雅黑" panose="020B0503020204020204" pitchFamily="34" charset="-122"/>
                    <a:cs typeface="+mn-cs"/>
                  </a:rPr>
                  <a:t>The potential size of a bank’s FX exposure given by</a:t>
                </a:r>
                <a:r>
                  <a:rPr lang="en-US" altLang="zh-CN" sz="2400" dirty="0" smtClean="0">
                    <a:solidFill>
                      <a:schemeClr val="accent6"/>
                    </a:solidFill>
                    <a:latin typeface="微软雅黑" panose="020B0503020204020204" pitchFamily="34" charset="-122"/>
                    <a:cs typeface="+mn-cs"/>
                  </a:rPr>
                  <a:t>:</a:t>
                </a:r>
                <a:endParaRPr lang="en-US" altLang="zh-CN" b="0" dirty="0" smtClean="0"/>
              </a:p>
              <a:p>
                <a:pPr lvl="1"/>
                <a:r>
                  <a:rPr lang="en-US" altLang="zh-CN" b="0" dirty="0" smtClean="0"/>
                  <a:t>Dollar </a:t>
                </a:r>
                <a:r>
                  <a:rPr lang="en-US" altLang="zh-CN" b="0" dirty="0"/>
                  <a:t>loss/gain in currency i = Net exposure in foreign currency i measured in </a:t>
                </a:r>
                <a:r>
                  <a:rPr lang="en-US" altLang="zh-CN" b="0" dirty="0" smtClean="0"/>
                  <a:t>US dollars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en-US" altLang="zh-CN" b="0" dirty="0" smtClean="0"/>
                  <a:t> </a:t>
                </a:r>
                <a:r>
                  <a:rPr lang="en-US" altLang="zh-CN" b="0" dirty="0"/>
                  <a:t>Shock (volatility) to the $/foreign currency i exchange rate.</a:t>
                </a:r>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r="-1070"/>
                </a:stretch>
              </a:blipFill>
            </p:spPr>
            <p:txBody>
              <a:bodyPr/>
              <a:lstStyle/>
              <a:p>
                <a:r>
                  <a:rPr lang="zh-CN" altLang="en-US">
                    <a:noFill/>
                  </a:rPr>
                  <a:t> </a:t>
                </a:r>
              </a:p>
            </p:txBody>
          </p:sp>
        </mc:Fallback>
      </mc:AlternateContent>
      <p:sp>
        <p:nvSpPr>
          <p:cNvPr id="4" name="标题 1"/>
          <p:cNvSpPr>
            <a:spLocks noGrp="1"/>
          </p:cNvSpPr>
          <p:nvPr>
            <p:ph type="title"/>
          </p:nvPr>
        </p:nvSpPr>
        <p:spPr/>
        <p:txBody>
          <a:bodyPr/>
          <a:lstStyle/>
          <a:p>
            <a:r>
              <a:rPr lang="en-US" altLang="zh-CN" dirty="0"/>
              <a:t>Foreign </a:t>
            </a:r>
            <a:r>
              <a:rPr lang="en-US" altLang="zh-CN" dirty="0" smtClean="0"/>
              <a:t>Exchange Exposure</a:t>
            </a:r>
            <a:endParaRPr lang="en-US" altLang="zh-CN" dirty="0"/>
          </a:p>
        </p:txBody>
      </p:sp>
    </p:spTree>
    <p:extLst>
      <p:ext uri="{BB962C8B-B14F-4D97-AF65-F5344CB8AC3E}">
        <p14:creationId xmlns:p14="http://schemas.microsoft.com/office/powerpoint/2010/main" val="48855697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Balance‐sheet hedging</a:t>
            </a:r>
          </a:p>
        </p:txBody>
      </p:sp>
      <p:sp>
        <p:nvSpPr>
          <p:cNvPr id="3" name="文本占位符 2"/>
          <p:cNvSpPr>
            <a:spLocks noGrp="1"/>
          </p:cNvSpPr>
          <p:nvPr>
            <p:ph type="body" sz="quarter" idx="10"/>
          </p:nvPr>
        </p:nvSpPr>
        <p:spPr/>
        <p:txBody>
          <a:bodyPr/>
          <a:lstStyle/>
          <a:p>
            <a:pPr>
              <a:lnSpc>
                <a:spcPct val="140000"/>
              </a:lnSpc>
              <a:spcBef>
                <a:spcPct val="0"/>
              </a:spcBef>
              <a:defRPr/>
            </a:pPr>
            <a:r>
              <a:rPr lang="en-US" altLang="zh-CN" dirty="0"/>
              <a:t>Foreign Exchange Forward/Futures </a:t>
            </a:r>
          </a:p>
          <a:p>
            <a:pPr lvl="1">
              <a:lnSpc>
                <a:spcPct val="140000"/>
              </a:lnSpc>
              <a:spcBef>
                <a:spcPct val="0"/>
              </a:spcBef>
              <a:defRPr/>
            </a:pPr>
            <a:r>
              <a:rPr lang="en-US" altLang="zh-CN" b="1" dirty="0"/>
              <a:t>Foreign Exchange Risk </a:t>
            </a:r>
          </a:p>
          <a:p>
            <a:pPr lvl="2">
              <a:lnSpc>
                <a:spcPct val="140000"/>
              </a:lnSpc>
              <a:defRPr/>
            </a:pPr>
            <a:r>
              <a:rPr lang="en-US" altLang="zh-CN" b="1" dirty="0"/>
              <a:t>On-Balance-Sheet Hedging </a:t>
            </a:r>
            <a:r>
              <a:rPr lang="en-US" altLang="zh-CN" dirty="0"/>
              <a:t>involves making changes in the on-balance-sheet assets and liabilities.</a:t>
            </a:r>
          </a:p>
          <a:p>
            <a:pPr lvl="2">
              <a:lnSpc>
                <a:spcPct val="140000"/>
              </a:lnSpc>
              <a:defRPr/>
            </a:pPr>
            <a:r>
              <a:rPr lang="en-US" altLang="zh-CN" dirty="0"/>
              <a:t>One may choose to remain un-hedged on the balance sheet, and </a:t>
            </a:r>
            <a:r>
              <a:rPr lang="en-US" altLang="zh-CN" b="1" u="sng" dirty="0"/>
              <a:t>Hedge Off-Balance-Sheet</a:t>
            </a:r>
            <a:r>
              <a:rPr lang="en-US" altLang="zh-CN" u="sng" dirty="0"/>
              <a:t> involves no on-balance-sheet changes, but rather involves taking a position in forward or other derivative securities. </a:t>
            </a:r>
            <a:endParaRPr lang="en-US" altLang="zh-CN" u="sng" dirty="0" smtClean="0"/>
          </a:p>
          <a:p>
            <a:endParaRPr lang="zh-CN" altLang="en-US" dirty="0"/>
          </a:p>
        </p:txBody>
      </p:sp>
    </p:spTree>
    <p:extLst>
      <p:ext uri="{BB962C8B-B14F-4D97-AF65-F5344CB8AC3E}">
        <p14:creationId xmlns:p14="http://schemas.microsoft.com/office/powerpoint/2010/main" val="356627781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Off-Balance-Sheet Hedging</a:t>
            </a:r>
            <a:endParaRPr lang="zh-CN" altLang="en-US"/>
          </a:p>
        </p:txBody>
      </p:sp>
      <p:sp>
        <p:nvSpPr>
          <p:cNvPr id="3" name="文本占位符 2"/>
          <p:cNvSpPr>
            <a:spLocks noGrp="1"/>
          </p:cNvSpPr>
          <p:nvPr>
            <p:ph type="body" sz="quarter" idx="10"/>
          </p:nvPr>
        </p:nvSpPr>
        <p:spPr/>
        <p:txBody>
          <a:bodyPr>
            <a:normAutofit lnSpcReduction="10000"/>
          </a:bodyPr>
          <a:lstStyle/>
          <a:p>
            <a:r>
              <a:rPr lang="en-US" altLang="zh-CN" dirty="0"/>
              <a:t>Example: </a:t>
            </a:r>
            <a:endParaRPr lang="en-US" altLang="zh-CN" dirty="0" smtClean="0"/>
          </a:p>
          <a:p>
            <a:pPr lvl="1"/>
            <a:r>
              <a:rPr lang="en-US" altLang="zh-CN" b="0" dirty="0" smtClean="0"/>
              <a:t>Off-Balance-Sheet </a:t>
            </a:r>
            <a:r>
              <a:rPr lang="en-US" altLang="zh-CN" b="0" dirty="0"/>
              <a:t>Hedging</a:t>
            </a:r>
          </a:p>
          <a:p>
            <a:pPr lvl="1"/>
            <a:r>
              <a:rPr lang="en-US" altLang="zh-CN" b="0" dirty="0"/>
              <a:t>ABC Bank issues GBP10 million in U.K. CDs to fund its loan portfolio. Given the asset-liability position as follow:</a:t>
            </a:r>
          </a:p>
          <a:p>
            <a:pPr lvl="2"/>
            <a:r>
              <a:rPr lang="en-US" altLang="zh-CN" b="0" dirty="0"/>
              <a:t>A promised 1-year rate on the CDs of 7%.</a:t>
            </a:r>
          </a:p>
          <a:p>
            <a:pPr lvl="2"/>
            <a:r>
              <a:rPr lang="en-US" altLang="zh-CN" b="0" dirty="0"/>
              <a:t>It invests 50% of its GBP10 million in 1-year U.S. loans at 12% (loans made in USD).</a:t>
            </a:r>
          </a:p>
          <a:p>
            <a:pPr lvl="2"/>
            <a:r>
              <a:rPr lang="en-US" altLang="zh-CN" b="0" dirty="0"/>
              <a:t>The bank invests the other 50% in 1-year U.K. loans at 8% .</a:t>
            </a:r>
          </a:p>
          <a:p>
            <a:pPr lvl="2"/>
            <a:r>
              <a:rPr lang="en-US" altLang="zh-CN" b="0" dirty="0"/>
              <a:t>At the beginning of the year, the bank sells GBP 5 million for USD in the spot currency markets at an exchange rate of USD1.42/GBP.</a:t>
            </a:r>
          </a:p>
          <a:p>
            <a:pPr lvl="2"/>
            <a:r>
              <a:rPr lang="en-US" altLang="zh-CN" b="0" dirty="0"/>
              <a:t>The 1-year forward exchange rate is USD1.40/GBP.</a:t>
            </a:r>
          </a:p>
          <a:p>
            <a:endParaRPr lang="zh-CN" altLang="en-US" dirty="0"/>
          </a:p>
        </p:txBody>
      </p:sp>
    </p:spTree>
    <p:extLst>
      <p:ext uri="{BB962C8B-B14F-4D97-AF65-F5344CB8AC3E}">
        <p14:creationId xmlns:p14="http://schemas.microsoft.com/office/powerpoint/2010/main" val="115215526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Autofit/>
          </a:bodyPr>
          <a:lstStyle/>
          <a:p>
            <a:r>
              <a:rPr lang="en-US" altLang="zh-CN" sz="1800" b="0" dirty="0" smtClean="0"/>
              <a:t>Calculate </a:t>
            </a:r>
            <a:r>
              <a:rPr lang="en-US" altLang="zh-CN" sz="1800" b="0" dirty="0"/>
              <a:t>a financial institution’s overall foreign exchange exposure. </a:t>
            </a:r>
          </a:p>
          <a:p>
            <a:r>
              <a:rPr lang="en-US" altLang="zh-CN" sz="1800" b="0" dirty="0">
                <a:solidFill>
                  <a:srgbClr val="FF0000"/>
                </a:solidFill>
              </a:rPr>
              <a:t>Explain how a financial institution could alter its net position exposure to reduce foreign exchange risk. </a:t>
            </a:r>
            <a:r>
              <a:rPr lang="en-US" altLang="zh-CN" sz="1800" b="0" dirty="0" smtClean="0">
                <a:solidFill>
                  <a:srgbClr val="FF0000"/>
                </a:solidFill>
                <a:cs typeface="+mn-ea"/>
                <a:sym typeface="+mn-lt"/>
              </a:rPr>
              <a:t>★★★</a:t>
            </a:r>
            <a:endParaRPr lang="en-US" altLang="zh-CN" sz="1800" b="0" dirty="0">
              <a:solidFill>
                <a:srgbClr val="FF0000"/>
              </a:solidFill>
            </a:endParaRPr>
          </a:p>
          <a:p>
            <a:r>
              <a:rPr lang="en-US" altLang="zh-CN" sz="1800" b="0" dirty="0"/>
              <a:t>Calculate and explain the effect of an appreciation/depreciation of a currency relative to a foreign currency. </a:t>
            </a:r>
          </a:p>
          <a:p>
            <a:r>
              <a:rPr lang="en-US" altLang="zh-CN" sz="1800" b="0" dirty="0"/>
              <a:t>Calculate a financial institution’s potential dollar gain or loss exposure to a particular currency. </a:t>
            </a:r>
          </a:p>
          <a:p>
            <a:r>
              <a:rPr lang="en-US" altLang="zh-CN" sz="1800" b="0" dirty="0"/>
              <a:t>Identify and describe the different types of foreign exchange trading activities. </a:t>
            </a:r>
          </a:p>
          <a:p>
            <a:r>
              <a:rPr lang="en-US" altLang="zh-CN" sz="1800" b="0" dirty="0"/>
              <a:t>Identify the sources of foreign exchange trading gains and losses. </a:t>
            </a:r>
          </a:p>
          <a:p>
            <a:r>
              <a:rPr lang="en-US" altLang="zh-CN" sz="1800" b="0" dirty="0"/>
              <a:t>Calculate the potential gain or loss from a foreign currency denominated investment. </a:t>
            </a:r>
          </a:p>
          <a:p>
            <a:r>
              <a:rPr lang="en-US" altLang="zh-CN" sz="1800" b="0" dirty="0"/>
              <a:t>Explain balance-sheet hedging with forwards. </a:t>
            </a:r>
            <a:r>
              <a:rPr lang="en-US" altLang="zh-CN" sz="1800" b="0" dirty="0" smtClean="0">
                <a:cs typeface="+mn-ea"/>
                <a:sym typeface="+mn-lt"/>
              </a:rPr>
              <a:t>★</a:t>
            </a:r>
            <a:r>
              <a:rPr lang="en-US" altLang="zh-CN" sz="1800" b="0" dirty="0">
                <a:cs typeface="+mn-ea"/>
                <a:sym typeface="+mn-lt"/>
              </a:rPr>
              <a:t>★</a:t>
            </a:r>
            <a:endParaRPr lang="en-US" altLang="zh-CN" sz="1800" b="0" dirty="0"/>
          </a:p>
          <a:p>
            <a:r>
              <a:rPr lang="en-US" altLang="zh-CN" sz="1800" b="0" dirty="0"/>
              <a:t>Describe how a non-arbitrage assumption in the foreign exchange markets leads to the interest rate parity theorem, and use this theorem to calculate forward foreign exchange rates. </a:t>
            </a:r>
            <a:r>
              <a:rPr lang="en-US" altLang="zh-CN" sz="1800" b="0" dirty="0" smtClean="0">
                <a:cs typeface="+mn-ea"/>
                <a:sym typeface="+mn-lt"/>
              </a:rPr>
              <a:t>★</a:t>
            </a:r>
            <a:r>
              <a:rPr lang="en-US" altLang="zh-CN" sz="1800" b="0" dirty="0">
                <a:cs typeface="+mn-ea"/>
                <a:sym typeface="+mn-lt"/>
              </a:rPr>
              <a:t>★</a:t>
            </a:r>
            <a:endParaRPr lang="en-US" altLang="zh-CN" sz="1800" b="0" dirty="0"/>
          </a:p>
          <a:p>
            <a:r>
              <a:rPr lang="en-US" altLang="zh-CN" sz="1800" b="0" dirty="0"/>
              <a:t>Explain the purchasing power parity theorem and use this theorem to calculate the appreciation or depreciation of a foreign currency. </a:t>
            </a:r>
            <a:r>
              <a:rPr lang="en-US" altLang="zh-CN" sz="1800" b="0" dirty="0" smtClean="0">
                <a:cs typeface="+mn-ea"/>
                <a:sym typeface="+mn-lt"/>
              </a:rPr>
              <a:t>★</a:t>
            </a:r>
            <a:r>
              <a:rPr lang="en-US" altLang="zh-CN" sz="1800" b="0" dirty="0">
                <a:cs typeface="+mn-ea"/>
                <a:sym typeface="+mn-lt"/>
              </a:rPr>
              <a:t>★</a:t>
            </a:r>
            <a:endParaRPr lang="en-US" altLang="zh-CN" sz="1800" b="0" dirty="0"/>
          </a:p>
          <a:p>
            <a:r>
              <a:rPr lang="en-US" altLang="zh-CN" sz="1800" b="0" dirty="0"/>
              <a:t>Explain why diversification in multi-currency asset liability positions could reduce portfolio risk. </a:t>
            </a:r>
          </a:p>
          <a:p>
            <a:r>
              <a:rPr lang="en-US" altLang="zh-CN" sz="1800" b="0" dirty="0"/>
              <a:t>Describe the relationship between nominal and real interest rates. </a:t>
            </a:r>
          </a:p>
          <a:p>
            <a:endParaRPr lang="zh-CN" altLang="en-US" sz="1400" dirty="0"/>
          </a:p>
        </p:txBody>
      </p:sp>
    </p:spTree>
    <p:extLst>
      <p:ext uri="{BB962C8B-B14F-4D97-AF65-F5344CB8AC3E}">
        <p14:creationId xmlns:p14="http://schemas.microsoft.com/office/powerpoint/2010/main" val="2568282428"/>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lstStyle/>
          <a:p>
            <a:r>
              <a:rPr lang="en-US" altLang="zh-CN" b="1" dirty="0" smtClean="0">
                <a:solidFill>
                  <a:srgbClr val="002060"/>
                </a:solidFill>
                <a:latin typeface="+mn-lt"/>
                <a:ea typeface="+mn-ea"/>
                <a:cs typeface="+mn-ea"/>
                <a:sym typeface="+mn-lt"/>
              </a:rPr>
              <a:t>Corporate bond</a:t>
            </a:r>
            <a:endParaRPr lang="en-US" altLang="zh-CN" b="1" dirty="0">
              <a:solidFill>
                <a:srgbClr val="002060"/>
              </a:solidFill>
              <a:latin typeface="+mn-lt"/>
              <a:ea typeface="+mn-ea"/>
              <a:cs typeface="+mn-ea"/>
              <a:sym typeface="+mn-lt"/>
            </a:endParaRPr>
          </a:p>
        </p:txBody>
      </p:sp>
    </p:spTree>
    <p:extLst>
      <p:ext uri="{BB962C8B-B14F-4D97-AF65-F5344CB8AC3E}">
        <p14:creationId xmlns:p14="http://schemas.microsoft.com/office/powerpoint/2010/main" val="1437849808"/>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Bond Indenture and Corporate Trustee</a:t>
            </a:r>
            <a:endParaRPr lang="en-US" altLang="zh-CN" dirty="0"/>
          </a:p>
        </p:txBody>
      </p:sp>
      <p:sp>
        <p:nvSpPr>
          <p:cNvPr id="3" name="文本占位符 2"/>
          <p:cNvSpPr>
            <a:spLocks noGrp="1"/>
          </p:cNvSpPr>
          <p:nvPr>
            <p:ph type="body" sz="quarter" idx="10"/>
          </p:nvPr>
        </p:nvSpPr>
        <p:spPr/>
        <p:txBody>
          <a:bodyPr>
            <a:normAutofit lnSpcReduction="10000"/>
          </a:bodyPr>
          <a:lstStyle/>
          <a:p>
            <a:r>
              <a:rPr lang="en-US" altLang="zh-CN" dirty="0"/>
              <a:t>Bond indenture </a:t>
            </a:r>
            <a:endParaRPr lang="en-US" altLang="zh-CN" dirty="0" smtClean="0"/>
          </a:p>
          <a:p>
            <a:pPr lvl="1"/>
            <a:r>
              <a:rPr lang="en-US" altLang="zh-CN" dirty="0"/>
              <a:t>The contract that contains corporate bond issuer promises and investors’ rights. The indenture is made out to corporate trustee, who represents bondholders’ interests. </a:t>
            </a:r>
            <a:endParaRPr lang="en-US" altLang="zh-CN" dirty="0" smtClean="0"/>
          </a:p>
          <a:p>
            <a:r>
              <a:rPr lang="en-US" altLang="zh-CN" dirty="0"/>
              <a:t>Corporate </a:t>
            </a:r>
            <a:r>
              <a:rPr lang="en-US" altLang="zh-CN" dirty="0" smtClean="0"/>
              <a:t>trustee</a:t>
            </a:r>
          </a:p>
          <a:p>
            <a:pPr lvl="1"/>
            <a:r>
              <a:rPr lang="en-US" altLang="zh-CN" dirty="0"/>
              <a:t>The corporate trustee is a third party to the contract. The trustee acts in a </a:t>
            </a:r>
            <a:r>
              <a:rPr lang="en-US" altLang="zh-CN" i="1" dirty="0"/>
              <a:t>fiduciary (legal) capacity</a:t>
            </a:r>
            <a:r>
              <a:rPr lang="en-US" altLang="zh-CN" dirty="0"/>
              <a:t> on behalf of the investors. Typically, the trustee is a bank or trust company with a corporate trust department and officers who are experts in performing trustee </a:t>
            </a:r>
            <a:r>
              <a:rPr lang="en-US" altLang="zh-CN" dirty="0" smtClean="0"/>
              <a:t>functions</a:t>
            </a:r>
          </a:p>
          <a:p>
            <a:pPr lvl="1"/>
            <a:r>
              <a:rPr lang="en-US" altLang="zh-CN" dirty="0"/>
              <a:t>The corporate trustee’s responsibilities include authenticating the bonds issued. Moreover, acting </a:t>
            </a:r>
            <a:r>
              <a:rPr lang="en-US" altLang="zh-CN" i="1" dirty="0"/>
              <a:t>on behalf of the </a:t>
            </a:r>
            <a:r>
              <a:rPr lang="en-US" altLang="zh-CN" i="1" dirty="0" smtClean="0"/>
              <a:t>bondholders.</a:t>
            </a:r>
            <a:endParaRPr lang="zh-CN" altLang="en-US" dirty="0"/>
          </a:p>
        </p:txBody>
      </p:sp>
    </p:spTree>
    <p:extLst>
      <p:ext uri="{BB962C8B-B14F-4D97-AF65-F5344CB8AC3E}">
        <p14:creationId xmlns:p14="http://schemas.microsoft.com/office/powerpoint/2010/main" val="3862644459"/>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476792" cy="576064"/>
          </a:xfrm>
        </p:spPr>
        <p:txBody>
          <a:bodyPr>
            <a:normAutofit/>
          </a:bodyPr>
          <a:lstStyle/>
          <a:p>
            <a:r>
              <a:rPr lang="en-US" altLang="zh-CN" dirty="0" smtClean="0"/>
              <a:t>Maturity Date and Main Types of Interest Payment </a:t>
            </a:r>
            <a:endParaRPr lang="en-US" altLang="zh-CN" dirty="0"/>
          </a:p>
        </p:txBody>
      </p:sp>
      <p:sp>
        <p:nvSpPr>
          <p:cNvPr id="3" name="文本占位符 2"/>
          <p:cNvSpPr>
            <a:spLocks noGrp="1"/>
          </p:cNvSpPr>
          <p:nvPr>
            <p:ph type="body" sz="quarter" idx="10"/>
          </p:nvPr>
        </p:nvSpPr>
        <p:spPr/>
        <p:txBody>
          <a:bodyPr/>
          <a:lstStyle/>
          <a:p>
            <a:r>
              <a:rPr lang="en-US" altLang="zh-CN" dirty="0" smtClean="0"/>
              <a:t>Maturity date and how it impact bond retirements</a:t>
            </a:r>
          </a:p>
          <a:p>
            <a:pPr lvl="1"/>
            <a:r>
              <a:rPr lang="en-US" altLang="zh-CN" dirty="0"/>
              <a:t>Bond’s maturity: date on which the issuer’s obligation to satisfy the terms of the indenture is fulfilled. Principal is repaid with any premium and accrued interest that may be due. </a:t>
            </a:r>
            <a:endParaRPr lang="en-US" altLang="zh-CN" dirty="0" smtClean="0"/>
          </a:p>
          <a:p>
            <a:pPr lvl="1"/>
            <a:r>
              <a:rPr lang="en-US" altLang="zh-CN" dirty="0" smtClean="0"/>
              <a:t>However</a:t>
            </a:r>
            <a:r>
              <a:rPr lang="en-US" altLang="zh-CN" dirty="0"/>
              <a:t>, many issues can be retired prior to maturity. </a:t>
            </a:r>
            <a:endParaRPr lang="en-US" altLang="zh-CN" dirty="0" smtClean="0"/>
          </a:p>
          <a:p>
            <a:r>
              <a:rPr lang="en-US" altLang="zh-CN" dirty="0"/>
              <a:t>M</a:t>
            </a:r>
            <a:r>
              <a:rPr lang="en-US" altLang="zh-CN" dirty="0" smtClean="0"/>
              <a:t>ain </a:t>
            </a:r>
            <a:r>
              <a:rPr lang="en-US" altLang="zh-CN" dirty="0"/>
              <a:t>types of interest payment classifications </a:t>
            </a:r>
            <a:endParaRPr lang="en-US" altLang="zh-CN" dirty="0" smtClean="0"/>
          </a:p>
          <a:p>
            <a:pPr lvl="1"/>
            <a:r>
              <a:rPr lang="en-US" altLang="zh-CN" dirty="0"/>
              <a:t>1. Straight-coupon bonds (sometimes also referred to as plain-vanilla bonds), </a:t>
            </a:r>
            <a:endParaRPr lang="en-US" altLang="zh-CN" dirty="0" smtClean="0"/>
          </a:p>
          <a:p>
            <a:pPr lvl="1"/>
            <a:r>
              <a:rPr lang="en-US" altLang="zh-CN" dirty="0" smtClean="0"/>
              <a:t>2</a:t>
            </a:r>
            <a:r>
              <a:rPr lang="en-US" altLang="zh-CN" dirty="0"/>
              <a:t>. Zero-coupon bonds, and </a:t>
            </a:r>
            <a:endParaRPr lang="en-US" altLang="zh-CN" dirty="0" smtClean="0"/>
          </a:p>
          <a:p>
            <a:pPr lvl="1"/>
            <a:r>
              <a:rPr lang="en-US" altLang="zh-CN" dirty="0" smtClean="0"/>
              <a:t>3</a:t>
            </a:r>
            <a:r>
              <a:rPr lang="en-US" altLang="zh-CN" dirty="0"/>
              <a:t>. Floating-rate, or variable-rate, bonds.</a:t>
            </a:r>
            <a:endParaRPr lang="zh-CN" altLang="en-US" dirty="0"/>
          </a:p>
        </p:txBody>
      </p:sp>
    </p:spTree>
    <p:extLst>
      <p:ext uri="{BB962C8B-B14F-4D97-AF65-F5344CB8AC3E}">
        <p14:creationId xmlns:p14="http://schemas.microsoft.com/office/powerpoint/2010/main" val="123937609"/>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299510" cy="576064"/>
          </a:xfrm>
        </p:spPr>
        <p:txBody>
          <a:bodyPr>
            <a:normAutofit/>
          </a:bodyPr>
          <a:lstStyle/>
          <a:p>
            <a:r>
              <a:rPr lang="en-US" altLang="zh-CN" dirty="0" smtClean="0"/>
              <a:t>Zero-coupon Bonds and Original-issue Discount</a:t>
            </a:r>
            <a:endParaRPr lang="en-US" altLang="zh-CN" dirty="0"/>
          </a:p>
        </p:txBody>
      </p:sp>
      <p:sp>
        <p:nvSpPr>
          <p:cNvPr id="3" name="文本占位符 2"/>
          <p:cNvSpPr>
            <a:spLocks noGrp="1"/>
          </p:cNvSpPr>
          <p:nvPr>
            <p:ph type="body" sz="quarter" idx="10"/>
          </p:nvPr>
        </p:nvSpPr>
        <p:spPr/>
        <p:txBody>
          <a:bodyPr/>
          <a:lstStyle/>
          <a:p>
            <a:r>
              <a:rPr lang="en-US" altLang="zh-CN" dirty="0"/>
              <a:t>Zero-coupon bonds </a:t>
            </a:r>
            <a:endParaRPr lang="en-US" altLang="zh-CN" dirty="0" smtClean="0"/>
          </a:p>
          <a:p>
            <a:pPr lvl="1"/>
            <a:r>
              <a:rPr lang="en-US" altLang="zh-CN" dirty="0"/>
              <a:t>Zero-coupon bonds are bonds </a:t>
            </a:r>
            <a:r>
              <a:rPr lang="en-US" altLang="zh-CN" u="sng" dirty="0"/>
              <a:t>without coupons </a:t>
            </a:r>
            <a:r>
              <a:rPr lang="en-US" altLang="zh-CN" dirty="0"/>
              <a:t>or interest rate payments. Zero-coupon bonds pay only the principal portion at some future date.  </a:t>
            </a:r>
            <a:endParaRPr lang="en-US" altLang="zh-CN" dirty="0" smtClean="0"/>
          </a:p>
          <a:p>
            <a:pPr lvl="1"/>
            <a:r>
              <a:rPr lang="en-US" altLang="zh-CN" dirty="0" smtClean="0"/>
              <a:t>Zero-coupon </a:t>
            </a:r>
            <a:r>
              <a:rPr lang="en-US" altLang="zh-CN" dirty="0"/>
              <a:t>bonds are issued at discounts to par; </a:t>
            </a:r>
            <a:endParaRPr lang="en-US" altLang="zh-CN" dirty="0" smtClean="0"/>
          </a:p>
          <a:p>
            <a:pPr lvl="1"/>
            <a:r>
              <a:rPr lang="en-US" altLang="zh-CN" dirty="0" smtClean="0"/>
              <a:t>the </a:t>
            </a:r>
            <a:r>
              <a:rPr lang="en-US" altLang="zh-CN" dirty="0"/>
              <a:t>difference is the return to the bondholder. </a:t>
            </a:r>
            <a:endParaRPr lang="en-US" altLang="zh-CN" dirty="0" smtClean="0"/>
          </a:p>
          <a:p>
            <a:pPr lvl="1"/>
            <a:r>
              <a:rPr lang="en-US" altLang="zh-CN" dirty="0" smtClean="0"/>
              <a:t>Furthermore</a:t>
            </a:r>
            <a:r>
              <a:rPr lang="en-US" altLang="zh-CN" dirty="0"/>
              <a:t>, zero-coupon rates play an important role in the construction of a discount curve: it informs the rate of return for the date at which it matures since there </a:t>
            </a:r>
            <a:r>
              <a:rPr lang="en-US" altLang="zh-CN" u="sng" dirty="0"/>
              <a:t>is no re-investment risk.</a:t>
            </a:r>
            <a:endParaRPr lang="zh-CN" altLang="en-US" u="sng" dirty="0"/>
          </a:p>
        </p:txBody>
      </p:sp>
    </p:spTree>
    <p:extLst>
      <p:ext uri="{BB962C8B-B14F-4D97-AF65-F5344CB8AC3E}">
        <p14:creationId xmlns:p14="http://schemas.microsoft.com/office/powerpoint/2010/main" val="6427585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Original-issue-discount </a:t>
            </a:r>
            <a:endParaRPr lang="en-US" altLang="zh-CN" dirty="0" smtClean="0"/>
          </a:p>
          <a:p>
            <a:pPr lvl="1"/>
            <a:r>
              <a:rPr lang="en-US" altLang="zh-CN" dirty="0"/>
              <a:t>The difference between the face amount and the offering price when first issued is called the original-issue discount (OID). </a:t>
            </a:r>
            <a:endParaRPr lang="en-US" altLang="zh-CN" dirty="0" smtClean="0"/>
          </a:p>
          <a:p>
            <a:pPr lvl="1"/>
            <a:r>
              <a:rPr lang="en-US" altLang="zh-CN" dirty="0" smtClean="0"/>
              <a:t>The </a:t>
            </a:r>
            <a:r>
              <a:rPr lang="en-US" altLang="zh-CN" dirty="0"/>
              <a:t>rate of return depends on the amount of the discount and the period over which it accrues. </a:t>
            </a:r>
            <a:endParaRPr lang="en-US" altLang="zh-CN" dirty="0" smtClean="0"/>
          </a:p>
          <a:p>
            <a:endParaRPr lang="zh-CN" altLang="en-US" dirty="0"/>
          </a:p>
        </p:txBody>
      </p:sp>
      <p:sp>
        <p:nvSpPr>
          <p:cNvPr id="4" name="标题 1"/>
          <p:cNvSpPr>
            <a:spLocks noGrp="1"/>
          </p:cNvSpPr>
          <p:nvPr>
            <p:ph type="title"/>
          </p:nvPr>
        </p:nvSpPr>
        <p:spPr>
          <a:xfrm>
            <a:off x="609600" y="62400"/>
            <a:ext cx="9560767" cy="576064"/>
          </a:xfrm>
        </p:spPr>
        <p:txBody>
          <a:bodyPr>
            <a:normAutofit/>
          </a:bodyPr>
          <a:lstStyle/>
          <a:p>
            <a:r>
              <a:rPr lang="en-US" altLang="zh-CN" dirty="0" smtClean="0"/>
              <a:t>Zero-coupon Bonds and Original-issue Discount</a:t>
            </a:r>
            <a:endParaRPr lang="en-US" altLang="zh-CN" dirty="0"/>
          </a:p>
        </p:txBody>
      </p:sp>
    </p:spTree>
    <p:extLst>
      <p:ext uri="{BB962C8B-B14F-4D97-AF65-F5344CB8AC3E}">
        <p14:creationId xmlns:p14="http://schemas.microsoft.com/office/powerpoint/2010/main" val="191765424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Reinvestment </a:t>
            </a:r>
            <a:r>
              <a:rPr lang="en-US" altLang="zh-CN" dirty="0" smtClean="0"/>
              <a:t>Risk </a:t>
            </a:r>
            <a:endParaRPr lang="en-US" altLang="zh-CN" dirty="0"/>
          </a:p>
        </p:txBody>
      </p:sp>
      <p:sp>
        <p:nvSpPr>
          <p:cNvPr id="3" name="文本占位符 2"/>
          <p:cNvSpPr>
            <a:spLocks noGrp="1"/>
          </p:cNvSpPr>
          <p:nvPr>
            <p:ph type="body" sz="quarter" idx="10"/>
          </p:nvPr>
        </p:nvSpPr>
        <p:spPr/>
        <p:txBody>
          <a:bodyPr/>
          <a:lstStyle/>
          <a:p>
            <a:r>
              <a:rPr lang="en-US" altLang="zh-CN" dirty="0"/>
              <a:t>Zero reinvestment risk in a zero </a:t>
            </a:r>
            <a:endParaRPr lang="en-US" altLang="zh-CN" dirty="0" smtClean="0"/>
          </a:p>
          <a:p>
            <a:pPr lvl="1"/>
            <a:r>
              <a:rPr lang="en-US" altLang="zh-CN" dirty="0"/>
              <a:t>A zero-coupon bond eliminates reinvestment risk (shifting all of the risk to interest rate risk; e.g., duration) because there is no coupon to reinvest. </a:t>
            </a:r>
            <a:endParaRPr lang="en-US" altLang="zh-CN" dirty="0" smtClean="0"/>
          </a:p>
          <a:p>
            <a:pPr lvl="2"/>
            <a:r>
              <a:rPr lang="en-US" altLang="zh-CN" dirty="0"/>
              <a:t>A zero is considered beneficial in declining-interest-rate markets: the zero is discounted less heavily AND we do not worry about having to reinvest any coupon payments at a low rate of interest</a:t>
            </a:r>
            <a:r>
              <a:rPr lang="en-US" altLang="zh-CN" dirty="0" smtClean="0"/>
              <a:t>.</a:t>
            </a:r>
          </a:p>
          <a:p>
            <a:pPr lvl="2"/>
            <a:r>
              <a:rPr lang="en-US" altLang="zh-CN" dirty="0"/>
              <a:t>When interest rates are rising, the opposite is true, we discount the zero more heavily, but we do not receive any coupons that we can reinvest at the higher rate, thus we are stuck with a low-rate bond.</a:t>
            </a:r>
            <a:endParaRPr lang="zh-CN" altLang="en-US" dirty="0"/>
          </a:p>
        </p:txBody>
      </p:sp>
    </p:spTree>
    <p:extLst>
      <p:ext uri="{BB962C8B-B14F-4D97-AF65-F5344CB8AC3E}">
        <p14:creationId xmlns:p14="http://schemas.microsoft.com/office/powerpoint/2010/main" val="414009207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10372531" cy="576064"/>
          </a:xfrm>
        </p:spPr>
        <p:txBody>
          <a:bodyPr>
            <a:normAutofit/>
          </a:bodyPr>
          <a:lstStyle/>
          <a:p>
            <a:r>
              <a:rPr lang="en-US" altLang="zh-CN" dirty="0"/>
              <a:t>Various security types relevant for corporate bonds</a:t>
            </a:r>
          </a:p>
        </p:txBody>
      </p:sp>
      <p:sp>
        <p:nvSpPr>
          <p:cNvPr id="3" name="文本占位符 2"/>
          <p:cNvSpPr>
            <a:spLocks noGrp="1"/>
          </p:cNvSpPr>
          <p:nvPr>
            <p:ph type="body" sz="quarter" idx="10"/>
          </p:nvPr>
        </p:nvSpPr>
        <p:spPr/>
        <p:txBody>
          <a:bodyPr>
            <a:normAutofit/>
          </a:bodyPr>
          <a:lstStyle/>
          <a:p>
            <a:r>
              <a:rPr lang="en-US" altLang="zh-CN" dirty="0"/>
              <a:t>Mortgage </a:t>
            </a:r>
            <a:r>
              <a:rPr lang="en-US" altLang="zh-CN" dirty="0" smtClean="0"/>
              <a:t>bonds</a:t>
            </a:r>
            <a:r>
              <a:rPr lang="zh-CN" altLang="en-US" dirty="0" smtClean="0"/>
              <a:t>（抵押债券）</a:t>
            </a:r>
            <a:endParaRPr lang="en-US" altLang="zh-CN" dirty="0" smtClean="0"/>
          </a:p>
          <a:p>
            <a:pPr lvl="1"/>
            <a:r>
              <a:rPr lang="en-US" altLang="zh-CN" dirty="0"/>
              <a:t>A mortgage bond grants bondholders a first-mortgage lien on substantially all its properties</a:t>
            </a:r>
            <a:r>
              <a:rPr lang="en-US" altLang="zh-CN" dirty="0" smtClean="0"/>
              <a:t>.</a:t>
            </a:r>
          </a:p>
          <a:p>
            <a:r>
              <a:rPr lang="en-US" altLang="zh-CN" dirty="0"/>
              <a:t>Collateral trust bonds </a:t>
            </a:r>
            <a:r>
              <a:rPr lang="zh-CN" altLang="en-US" dirty="0" smtClean="0"/>
              <a:t>（担保信托债券）</a:t>
            </a:r>
            <a:endParaRPr lang="en-US" altLang="zh-CN" dirty="0" smtClean="0"/>
          </a:p>
          <a:p>
            <a:pPr lvl="1"/>
            <a:r>
              <a:rPr lang="en-US" altLang="zh-CN" dirty="0"/>
              <a:t>When companies cannot pledge fixed assets or other real property, they pledge securities of other companies or Treasury’s instead. To satisfy the desire of bondholders for security, they pledge stocks, notes, bonds, or whatever other kinds of obligations they own. If they are holding companies, the other companies may be their subsidiaries. These assets are termed collateral (or personal property), and bonds secured by such assets are collateral trust bonds.</a:t>
            </a:r>
            <a:endParaRPr lang="zh-CN" altLang="en-US" dirty="0"/>
          </a:p>
        </p:txBody>
      </p:sp>
    </p:spTree>
    <p:extLst>
      <p:ext uri="{BB962C8B-B14F-4D97-AF65-F5344CB8AC3E}">
        <p14:creationId xmlns:p14="http://schemas.microsoft.com/office/powerpoint/2010/main" val="159132743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sz="2200" dirty="0"/>
              <a:t>Equipment trust certificates </a:t>
            </a:r>
            <a:r>
              <a:rPr lang="zh-CN" altLang="en-US" sz="2200" dirty="0" smtClean="0"/>
              <a:t>（设备信托债券）</a:t>
            </a:r>
            <a:endParaRPr lang="en-US" altLang="zh-CN" sz="2200" dirty="0" smtClean="0"/>
          </a:p>
          <a:p>
            <a:r>
              <a:rPr lang="en-US" altLang="zh-CN" sz="2200" dirty="0"/>
              <a:t>Debenture bonds (including subordinated and convertible debentures) </a:t>
            </a:r>
            <a:endParaRPr lang="en-US" altLang="zh-CN" sz="2200" dirty="0" smtClean="0"/>
          </a:p>
          <a:p>
            <a:pPr lvl="1"/>
            <a:r>
              <a:rPr lang="en-US" altLang="zh-CN" dirty="0"/>
              <a:t>Unsecured bonds are called debentures. With the exception of the utilities and structured products, nearly all other corporate bonds issued are unsecured. </a:t>
            </a:r>
            <a:endParaRPr lang="en-US" altLang="zh-CN" dirty="0" smtClean="0"/>
          </a:p>
          <a:p>
            <a:r>
              <a:rPr lang="en-US" altLang="zh-CN" sz="2200" dirty="0"/>
              <a:t>Guaranteed bonds </a:t>
            </a:r>
            <a:endParaRPr lang="en-US" altLang="zh-CN" sz="2200" dirty="0" smtClean="0"/>
          </a:p>
          <a:p>
            <a:pPr lvl="1"/>
            <a:r>
              <a:rPr lang="en-US" altLang="zh-CN" dirty="0"/>
              <a:t>Guaranteed bonds: a corporation may guarantee the bonds of another corporation.  </a:t>
            </a:r>
            <a:endParaRPr lang="zh-CN" altLang="en-US" dirty="0"/>
          </a:p>
        </p:txBody>
      </p:sp>
      <p:sp>
        <p:nvSpPr>
          <p:cNvPr id="4" name="标题 1"/>
          <p:cNvSpPr>
            <a:spLocks noGrp="1"/>
          </p:cNvSpPr>
          <p:nvPr>
            <p:ph type="title"/>
          </p:nvPr>
        </p:nvSpPr>
        <p:spPr>
          <a:xfrm>
            <a:off x="609600" y="62400"/>
            <a:ext cx="9654073" cy="576064"/>
          </a:xfrm>
        </p:spPr>
        <p:txBody>
          <a:bodyPr>
            <a:normAutofit/>
          </a:bodyPr>
          <a:lstStyle/>
          <a:p>
            <a:r>
              <a:rPr lang="en-US" altLang="zh-CN" dirty="0"/>
              <a:t>Various security types relevant for corporate bonds</a:t>
            </a:r>
          </a:p>
        </p:txBody>
      </p:sp>
    </p:spTree>
    <p:extLst>
      <p:ext uri="{BB962C8B-B14F-4D97-AF65-F5344CB8AC3E}">
        <p14:creationId xmlns:p14="http://schemas.microsoft.com/office/powerpoint/2010/main" val="405790490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Retiring Bonds Before Maturity </a:t>
            </a:r>
            <a:endParaRPr lang="en-US" altLang="zh-CN" dirty="0"/>
          </a:p>
        </p:txBody>
      </p:sp>
      <p:sp>
        <p:nvSpPr>
          <p:cNvPr id="3" name="文本占位符 2"/>
          <p:cNvSpPr>
            <a:spLocks noGrp="1"/>
          </p:cNvSpPr>
          <p:nvPr>
            <p:ph type="body" sz="quarter" idx="10"/>
          </p:nvPr>
        </p:nvSpPr>
        <p:spPr/>
        <p:txBody>
          <a:bodyPr/>
          <a:lstStyle/>
          <a:p>
            <a:r>
              <a:rPr lang="en-US" altLang="zh-CN" b="0" dirty="0" smtClean="0"/>
              <a:t>There </a:t>
            </a:r>
            <a:r>
              <a:rPr lang="en-US" altLang="zh-CN" b="0" dirty="0"/>
              <a:t>are several mechanisms by which a corporation may go about retiring their debt. </a:t>
            </a:r>
            <a:endParaRPr lang="en-US" altLang="zh-CN" b="0" dirty="0" smtClean="0"/>
          </a:p>
          <a:p>
            <a:pPr lvl="1"/>
            <a:r>
              <a:rPr lang="en-US" altLang="zh-CN" b="0" dirty="0" smtClean="0"/>
              <a:t>Call </a:t>
            </a:r>
            <a:r>
              <a:rPr lang="en-US" altLang="zh-CN" b="0" dirty="0"/>
              <a:t>and refunding provisions* </a:t>
            </a:r>
            <a:r>
              <a:rPr lang="zh-CN" altLang="en-US" sz="2000" b="0" dirty="0" smtClean="0"/>
              <a:t>（赎回和退款条款）</a:t>
            </a:r>
            <a:r>
              <a:rPr lang="en-US" altLang="zh-CN" b="0" dirty="0" smtClean="0"/>
              <a:t> </a:t>
            </a:r>
          </a:p>
          <a:p>
            <a:pPr lvl="1"/>
            <a:r>
              <a:rPr lang="en-US" altLang="zh-CN" b="0" dirty="0" smtClean="0"/>
              <a:t>Fixed-price </a:t>
            </a:r>
            <a:r>
              <a:rPr lang="en-US" altLang="zh-CN" b="0" dirty="0"/>
              <a:t>call </a:t>
            </a:r>
            <a:r>
              <a:rPr lang="en-US" altLang="zh-CN" b="0" dirty="0" smtClean="0"/>
              <a:t>provision</a:t>
            </a:r>
            <a:r>
              <a:rPr lang="zh-CN" altLang="en-US" sz="2000" b="0" dirty="0" smtClean="0"/>
              <a:t>（固定价格提前赎回条款）</a:t>
            </a:r>
            <a:r>
              <a:rPr lang="en-US" altLang="zh-CN" sz="2000" b="0" dirty="0" smtClean="0"/>
              <a:t> </a:t>
            </a:r>
            <a:r>
              <a:rPr lang="en-US" altLang="zh-CN" b="0" dirty="0"/>
              <a:t> </a:t>
            </a:r>
            <a:endParaRPr lang="en-US" altLang="zh-CN" b="0" dirty="0" smtClean="0"/>
          </a:p>
          <a:p>
            <a:pPr lvl="1"/>
            <a:r>
              <a:rPr lang="en-US" altLang="zh-CN" b="0" dirty="0" smtClean="0"/>
              <a:t>Make-whole </a:t>
            </a:r>
            <a:r>
              <a:rPr lang="en-US" altLang="zh-CN" b="0" dirty="0"/>
              <a:t>call provision </a:t>
            </a:r>
            <a:r>
              <a:rPr lang="zh-CN" altLang="en-US" sz="2000" b="0" dirty="0" smtClean="0"/>
              <a:t>（整体赎回条款）</a:t>
            </a:r>
            <a:r>
              <a:rPr lang="en-US" altLang="zh-CN" b="0" dirty="0" smtClean="0"/>
              <a:t> </a:t>
            </a:r>
          </a:p>
          <a:p>
            <a:pPr lvl="1"/>
            <a:r>
              <a:rPr lang="en-US" altLang="zh-CN" b="0" dirty="0" smtClean="0"/>
              <a:t>Sinking-fund </a:t>
            </a:r>
            <a:r>
              <a:rPr lang="en-US" altLang="zh-CN" b="0" dirty="0"/>
              <a:t>provision* </a:t>
            </a:r>
            <a:r>
              <a:rPr lang="zh-CN" altLang="en-US" sz="2000" b="0" dirty="0" smtClean="0"/>
              <a:t>（偿债基金条款）</a:t>
            </a:r>
            <a:r>
              <a:rPr lang="en-US" altLang="zh-CN" sz="2000" b="0" dirty="0" smtClean="0"/>
              <a:t> </a:t>
            </a:r>
            <a:endParaRPr lang="en-US" altLang="zh-CN" b="0" dirty="0" smtClean="0"/>
          </a:p>
          <a:p>
            <a:pPr lvl="1"/>
            <a:r>
              <a:rPr lang="en-US" altLang="zh-CN" b="0" dirty="0" smtClean="0"/>
              <a:t>Maintenance </a:t>
            </a:r>
            <a:r>
              <a:rPr lang="en-US" altLang="zh-CN" b="0" dirty="0"/>
              <a:t>and replacement funds* </a:t>
            </a:r>
            <a:r>
              <a:rPr lang="zh-CN" altLang="en-US" sz="2000" b="0" dirty="0" smtClean="0"/>
              <a:t>（维持和更换基金）</a:t>
            </a:r>
            <a:r>
              <a:rPr lang="en-US" altLang="zh-CN" sz="2000" b="0" dirty="0" smtClean="0"/>
              <a:t></a:t>
            </a:r>
          </a:p>
          <a:p>
            <a:pPr lvl="1"/>
            <a:r>
              <a:rPr lang="en-US" altLang="zh-CN" b="0" dirty="0" smtClean="0"/>
              <a:t>Redemption </a:t>
            </a:r>
            <a:r>
              <a:rPr lang="en-US" altLang="zh-CN" b="0" dirty="0"/>
              <a:t>through sale of assets </a:t>
            </a:r>
            <a:r>
              <a:rPr lang="zh-CN" altLang="en-US" sz="2000" b="0" dirty="0" smtClean="0"/>
              <a:t>（通过出售资产进行赎回）</a:t>
            </a:r>
            <a:r>
              <a:rPr lang="en-US" altLang="zh-CN" sz="2000" b="0" dirty="0" smtClean="0"/>
              <a:t> </a:t>
            </a:r>
            <a:endParaRPr lang="en-US" altLang="zh-CN" b="0" dirty="0" smtClean="0"/>
          </a:p>
          <a:p>
            <a:pPr lvl="1"/>
            <a:r>
              <a:rPr lang="en-US" altLang="zh-CN" b="0" dirty="0" smtClean="0"/>
              <a:t>Tender </a:t>
            </a:r>
            <a:r>
              <a:rPr lang="en-US" altLang="zh-CN" b="0" dirty="0"/>
              <a:t>offers</a:t>
            </a:r>
            <a:r>
              <a:rPr lang="en-US" altLang="zh-CN" b="0" dirty="0" smtClean="0"/>
              <a:t>*</a:t>
            </a:r>
            <a:r>
              <a:rPr lang="zh-CN" altLang="en-US" sz="2000" b="0" dirty="0" smtClean="0"/>
              <a:t>（要约收购）</a:t>
            </a:r>
            <a:endParaRPr lang="zh-CN" altLang="en-US" sz="2000" b="0" dirty="0"/>
          </a:p>
        </p:txBody>
      </p:sp>
    </p:spTree>
    <p:extLst>
      <p:ext uri="{BB962C8B-B14F-4D97-AF65-F5344CB8AC3E}">
        <p14:creationId xmlns:p14="http://schemas.microsoft.com/office/powerpoint/2010/main" val="244490496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Call provision </a:t>
            </a:r>
            <a:endParaRPr lang="en-US" altLang="zh-CN" dirty="0" smtClean="0"/>
          </a:p>
          <a:p>
            <a:pPr lvl="1"/>
            <a:r>
              <a:rPr lang="en-US" altLang="zh-CN" dirty="0"/>
              <a:t>Corporate bonds with a call provision given contain an </a:t>
            </a:r>
            <a:r>
              <a:rPr lang="en-US" altLang="zh-CN" u="sng" dirty="0"/>
              <a:t>embedded option </a:t>
            </a:r>
            <a:r>
              <a:rPr lang="en-US" altLang="zh-CN" dirty="0"/>
              <a:t>that gives the issuer the right to buy the bonds back at a fixed price prior to maturity, </a:t>
            </a:r>
            <a:r>
              <a:rPr lang="en-US" altLang="zh-CN" u="sng" dirty="0"/>
              <a:t>either in whole or in part</a:t>
            </a:r>
            <a:r>
              <a:rPr lang="en-US" altLang="zh-CN" dirty="0"/>
              <a:t>. The ability to retire debt before its scheduled maturity date is a valuable option for which bondholders will demand </a:t>
            </a:r>
            <a:r>
              <a:rPr lang="en-US" altLang="zh-CN" u="sng" dirty="0"/>
              <a:t>compensation ex-ante. </a:t>
            </a:r>
            <a:endParaRPr lang="en-US" altLang="zh-CN" u="sng" dirty="0" smtClean="0"/>
          </a:p>
          <a:p>
            <a:pPr lvl="1"/>
            <a:r>
              <a:rPr lang="en-US" altLang="zh-CN" dirty="0"/>
              <a:t>Ceteris </a:t>
            </a:r>
            <a:r>
              <a:rPr lang="en-US" altLang="zh-CN" dirty="0" smtClean="0"/>
              <a:t>paribus</a:t>
            </a:r>
            <a:r>
              <a:rPr lang="zh-CN" altLang="en-US" sz="2000" dirty="0" smtClean="0"/>
              <a:t>（其他条件不变）</a:t>
            </a:r>
            <a:r>
              <a:rPr lang="en-US" altLang="zh-CN" dirty="0" smtClean="0"/>
              <a:t>, </a:t>
            </a:r>
            <a:r>
              <a:rPr lang="en-US" altLang="zh-CN" dirty="0"/>
              <a:t>bondholders will pay a lower price for a callable bond than an otherwise identical option-free (i.e., straight) bond. </a:t>
            </a:r>
            <a:endParaRPr lang="en-US" altLang="zh-CN" dirty="0" smtClean="0"/>
          </a:p>
          <a:p>
            <a:pPr lvl="1"/>
            <a:r>
              <a:rPr lang="en-US" altLang="zh-CN" dirty="0" smtClean="0"/>
              <a:t>The </a:t>
            </a:r>
            <a:r>
              <a:rPr lang="en-US" altLang="zh-CN" dirty="0"/>
              <a:t>difference between the price of an </a:t>
            </a:r>
            <a:r>
              <a:rPr lang="en-US" altLang="zh-CN" dirty="0" smtClean="0"/>
              <a:t>option-free </a:t>
            </a:r>
            <a:r>
              <a:rPr lang="en-US" altLang="zh-CN" dirty="0"/>
              <a:t>bond and the callable bond is the value of the embedded call option. </a:t>
            </a:r>
            <a:endParaRPr lang="zh-CN" altLang="en-US" dirty="0"/>
          </a:p>
        </p:txBody>
      </p:sp>
      <p:sp>
        <p:nvSpPr>
          <p:cNvPr id="4" name="标题 1"/>
          <p:cNvSpPr>
            <a:spLocks noGrp="1"/>
          </p:cNvSpPr>
          <p:nvPr>
            <p:ph type="title"/>
          </p:nvPr>
        </p:nvSpPr>
        <p:spPr/>
        <p:txBody>
          <a:bodyPr/>
          <a:lstStyle/>
          <a:p>
            <a:r>
              <a:rPr lang="en-US" altLang="zh-CN" dirty="0" smtClean="0"/>
              <a:t>Retiring Bonds Before Maturity </a:t>
            </a:r>
            <a:endParaRPr lang="en-US" altLang="zh-CN" dirty="0"/>
          </a:p>
        </p:txBody>
      </p:sp>
    </p:spTree>
    <p:extLst>
      <p:ext uri="{BB962C8B-B14F-4D97-AF65-F5344CB8AC3E}">
        <p14:creationId xmlns:p14="http://schemas.microsoft.com/office/powerpoint/2010/main" val="2781056566"/>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t>Fixed </a:t>
            </a:r>
            <a:r>
              <a:rPr lang="en-US" altLang="zh-CN" dirty="0" smtClean="0"/>
              <a:t>price</a:t>
            </a:r>
          </a:p>
          <a:p>
            <a:pPr lvl="1"/>
            <a:r>
              <a:rPr lang="en-US" altLang="zh-CN" dirty="0"/>
              <a:t>Bond issuer has the option to buy back some or all of the bond issue prior to maturity at a fixed price (“call price”). </a:t>
            </a:r>
            <a:endParaRPr lang="en-US" altLang="zh-CN" dirty="0" smtClean="0"/>
          </a:p>
          <a:p>
            <a:pPr lvl="1"/>
            <a:r>
              <a:rPr lang="en-US" altLang="zh-CN" dirty="0" smtClean="0"/>
              <a:t>Call </a:t>
            </a:r>
            <a:r>
              <a:rPr lang="en-US" altLang="zh-CN" dirty="0"/>
              <a:t>prices generally start at a substantial premium over par and decline toward par over time; in the final years of a bond’s life, the call price is usually par.  </a:t>
            </a:r>
            <a:endParaRPr lang="en-US" altLang="zh-CN" dirty="0" smtClean="0"/>
          </a:p>
          <a:p>
            <a:r>
              <a:rPr lang="en-US" altLang="zh-CN" dirty="0"/>
              <a:t>Make-whole </a:t>
            </a:r>
            <a:endParaRPr lang="en-US" altLang="zh-CN" dirty="0" smtClean="0"/>
          </a:p>
          <a:p>
            <a:pPr lvl="1"/>
            <a:r>
              <a:rPr lang="en-US" altLang="zh-CN" dirty="0" smtClean="0"/>
              <a:t>Call </a:t>
            </a:r>
            <a:r>
              <a:rPr lang="en-US" altLang="zh-CN" dirty="0"/>
              <a:t>price is calculated as the present value of the bond’s remaining cash ﬂows subject to a floor price equal to par value. The discount rate used to determine the present value is the yield on a comparable maturity. </a:t>
            </a:r>
            <a:endParaRPr lang="zh-CN" altLang="en-US" dirty="0"/>
          </a:p>
        </p:txBody>
      </p:sp>
      <p:sp>
        <p:nvSpPr>
          <p:cNvPr id="4" name="标题 1"/>
          <p:cNvSpPr>
            <a:spLocks noGrp="1"/>
          </p:cNvSpPr>
          <p:nvPr>
            <p:ph type="title"/>
          </p:nvPr>
        </p:nvSpPr>
        <p:spPr/>
        <p:txBody>
          <a:bodyPr/>
          <a:lstStyle/>
          <a:p>
            <a:r>
              <a:rPr lang="en-US" altLang="zh-CN" dirty="0" smtClean="0"/>
              <a:t>Retiring Bonds Before Maturity </a:t>
            </a:r>
            <a:endParaRPr lang="en-US" altLang="zh-CN" dirty="0"/>
          </a:p>
        </p:txBody>
      </p:sp>
    </p:spTree>
    <p:extLst>
      <p:ext uri="{BB962C8B-B14F-4D97-AF65-F5344CB8AC3E}">
        <p14:creationId xmlns:p14="http://schemas.microsoft.com/office/powerpoint/2010/main" val="346870183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t>Sinking‐fund provisions  </a:t>
            </a:r>
            <a:endParaRPr lang="en-US" altLang="zh-CN" dirty="0" smtClean="0"/>
          </a:p>
          <a:p>
            <a:pPr lvl="1"/>
            <a:r>
              <a:rPr lang="en-US" altLang="zh-CN" dirty="0" smtClean="0"/>
              <a:t>Money </a:t>
            </a:r>
            <a:r>
              <a:rPr lang="en-US" altLang="zh-CN" dirty="0"/>
              <a:t>applied periodically to redemption of bonds before maturity. </a:t>
            </a:r>
            <a:endParaRPr lang="en-US" altLang="zh-CN" dirty="0" smtClean="0"/>
          </a:p>
          <a:p>
            <a:pPr lvl="1"/>
            <a:r>
              <a:rPr lang="en-US" altLang="zh-CN" dirty="0"/>
              <a:t>Two advantages from the </a:t>
            </a:r>
            <a:r>
              <a:rPr lang="en-US" altLang="zh-CN" dirty="0" smtClean="0"/>
              <a:t>bondholder’s </a:t>
            </a:r>
            <a:r>
              <a:rPr lang="en-US" altLang="zh-CN" dirty="0"/>
              <a:t>perspective: </a:t>
            </a:r>
            <a:endParaRPr lang="en-US" altLang="zh-CN" dirty="0" smtClean="0"/>
          </a:p>
          <a:p>
            <a:pPr lvl="2"/>
            <a:r>
              <a:rPr lang="en-US" altLang="zh-CN" dirty="0" smtClean="0"/>
              <a:t>Default </a:t>
            </a:r>
            <a:r>
              <a:rPr lang="en-US" altLang="zh-CN" dirty="0"/>
              <a:t>risk is reduced </a:t>
            </a:r>
            <a:endParaRPr lang="en-US" altLang="zh-CN" dirty="0" smtClean="0"/>
          </a:p>
          <a:p>
            <a:pPr lvl="2"/>
            <a:r>
              <a:rPr lang="en-US" altLang="zh-CN" dirty="0" smtClean="0"/>
              <a:t>If </a:t>
            </a:r>
            <a:r>
              <a:rPr lang="en-US" altLang="zh-CN" dirty="0"/>
              <a:t>bond prices decline as a result of an increase in interest rates, the issuer or its ﬁscal agent may provide price support because it must enter the market on the buy side in order to satisfy the sinking-fund requirement</a:t>
            </a:r>
            <a:r>
              <a:rPr lang="en-US" altLang="zh-CN" dirty="0" smtClean="0"/>
              <a:t>.</a:t>
            </a:r>
          </a:p>
          <a:p>
            <a:pPr lvl="1"/>
            <a:r>
              <a:rPr lang="en-US" altLang="zh-CN" dirty="0"/>
              <a:t>Disadvantage is the bonds may be called at the special sinking-fund call price at a time when interest rates are lower than rates prevailing at time of issuance. </a:t>
            </a:r>
            <a:endParaRPr lang="zh-CN" altLang="en-US" dirty="0"/>
          </a:p>
        </p:txBody>
      </p:sp>
      <p:sp>
        <p:nvSpPr>
          <p:cNvPr id="4" name="标题 1"/>
          <p:cNvSpPr>
            <a:spLocks noGrp="1"/>
          </p:cNvSpPr>
          <p:nvPr>
            <p:ph type="title"/>
          </p:nvPr>
        </p:nvSpPr>
        <p:spPr/>
        <p:txBody>
          <a:bodyPr/>
          <a:lstStyle/>
          <a:p>
            <a:r>
              <a:rPr lang="en-US" altLang="zh-CN" dirty="0" smtClean="0"/>
              <a:t>Retiring Bonds Before Maturity </a:t>
            </a:r>
            <a:endParaRPr lang="en-US" altLang="zh-CN" dirty="0"/>
          </a:p>
        </p:txBody>
      </p:sp>
    </p:spTree>
    <p:extLst>
      <p:ext uri="{BB962C8B-B14F-4D97-AF65-F5344CB8AC3E}">
        <p14:creationId xmlns:p14="http://schemas.microsoft.com/office/powerpoint/2010/main" val="151374272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Maintenance and replacement funds </a:t>
            </a:r>
            <a:endParaRPr lang="en-US" altLang="zh-CN" dirty="0" smtClean="0"/>
          </a:p>
          <a:p>
            <a:r>
              <a:rPr lang="en-US" altLang="zh-CN" dirty="0"/>
              <a:t>Tender offers </a:t>
            </a:r>
            <a:endParaRPr lang="en-US" altLang="zh-CN" dirty="0" smtClean="0"/>
          </a:p>
          <a:p>
            <a:pPr lvl="1"/>
            <a:r>
              <a:rPr lang="en-US" altLang="zh-CN" dirty="0"/>
              <a:t>At any time a firm may execute a tender offer and announce its desire to buy back speciﬁed debt issues. </a:t>
            </a:r>
            <a:endParaRPr lang="en-US" altLang="zh-CN" dirty="0" smtClean="0"/>
          </a:p>
          <a:p>
            <a:pPr lvl="1"/>
            <a:r>
              <a:rPr lang="en-US" altLang="zh-CN" dirty="0"/>
              <a:t>Firms employ tender offers to eliminate restrictive covenants or to refund debt</a:t>
            </a:r>
            <a:endParaRPr lang="zh-CN" altLang="en-US" dirty="0"/>
          </a:p>
        </p:txBody>
      </p:sp>
      <p:sp>
        <p:nvSpPr>
          <p:cNvPr id="4" name="标题 1"/>
          <p:cNvSpPr>
            <a:spLocks noGrp="1"/>
          </p:cNvSpPr>
          <p:nvPr>
            <p:ph type="title"/>
          </p:nvPr>
        </p:nvSpPr>
        <p:spPr/>
        <p:txBody>
          <a:bodyPr/>
          <a:lstStyle/>
          <a:p>
            <a:r>
              <a:rPr lang="en-US" altLang="zh-CN" dirty="0" smtClean="0"/>
              <a:t>Retiring Bonds Before Maturity </a:t>
            </a:r>
            <a:endParaRPr lang="en-US" altLang="zh-CN" dirty="0"/>
          </a:p>
        </p:txBody>
      </p:sp>
    </p:spTree>
    <p:extLst>
      <p:ext uri="{BB962C8B-B14F-4D97-AF65-F5344CB8AC3E}">
        <p14:creationId xmlns:p14="http://schemas.microsoft.com/office/powerpoint/2010/main" val="230451910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234196" cy="576064"/>
          </a:xfrm>
        </p:spPr>
        <p:txBody>
          <a:bodyPr>
            <a:normAutofit/>
          </a:bodyPr>
          <a:lstStyle/>
          <a:p>
            <a:r>
              <a:rPr lang="en-US" altLang="zh-CN" dirty="0" smtClean="0"/>
              <a:t>Credit Default Risk and Credit-spread Risk </a:t>
            </a:r>
            <a:endParaRPr lang="en-US" altLang="zh-CN" dirty="0"/>
          </a:p>
        </p:txBody>
      </p:sp>
      <p:sp>
        <p:nvSpPr>
          <p:cNvPr id="3" name="文本占位符 2"/>
          <p:cNvSpPr>
            <a:spLocks noGrp="1"/>
          </p:cNvSpPr>
          <p:nvPr>
            <p:ph type="body" sz="quarter" idx="10"/>
          </p:nvPr>
        </p:nvSpPr>
        <p:spPr/>
        <p:txBody>
          <a:bodyPr>
            <a:normAutofit fontScale="92500"/>
          </a:bodyPr>
          <a:lstStyle/>
          <a:p>
            <a:r>
              <a:rPr lang="en-US" altLang="zh-CN" dirty="0"/>
              <a:t>Credit default risk </a:t>
            </a:r>
            <a:endParaRPr lang="en-US" altLang="zh-CN" dirty="0" smtClean="0"/>
          </a:p>
          <a:p>
            <a:pPr lvl="1"/>
            <a:r>
              <a:rPr lang="en-US" altLang="zh-CN" dirty="0" smtClean="0"/>
              <a:t>Any </a:t>
            </a:r>
            <a:r>
              <a:rPr lang="en-US" altLang="zh-CN" dirty="0"/>
              <a:t>bond investment carries with it the uncertainty as to whether the issuer will make timely payments of interest and principal as prescribed by the bond’s indenture.  Credit default risk is the risk that a bond issuer will be unable to meet its financial </a:t>
            </a:r>
            <a:r>
              <a:rPr lang="en-US" altLang="zh-CN" dirty="0" smtClean="0"/>
              <a:t>obligations.</a:t>
            </a:r>
          </a:p>
          <a:p>
            <a:r>
              <a:rPr lang="en-US" altLang="zh-CN" dirty="0" smtClean="0"/>
              <a:t>Credit-spread </a:t>
            </a:r>
            <a:r>
              <a:rPr lang="en-US" altLang="zh-CN" dirty="0"/>
              <a:t>risk </a:t>
            </a:r>
            <a:endParaRPr lang="en-US" altLang="zh-CN" dirty="0" smtClean="0"/>
          </a:p>
          <a:p>
            <a:pPr lvl="1"/>
            <a:r>
              <a:rPr lang="en-US" altLang="zh-CN" dirty="0" smtClean="0"/>
              <a:t>The </a:t>
            </a:r>
            <a:r>
              <a:rPr lang="en-US" altLang="zh-CN" dirty="0"/>
              <a:t>credit spread is the difference between a corporate bond’s yield and the yield on a comparable-maturity benchmark Treasury security. </a:t>
            </a:r>
            <a:endParaRPr lang="en-US" altLang="zh-CN" dirty="0" smtClean="0"/>
          </a:p>
          <a:p>
            <a:pPr lvl="1"/>
            <a:r>
              <a:rPr lang="en-US" altLang="zh-CN" dirty="0" smtClean="0"/>
              <a:t>Credit </a:t>
            </a:r>
            <a:r>
              <a:rPr lang="en-US" altLang="zh-CN" dirty="0"/>
              <a:t>spreads driven by: </a:t>
            </a:r>
            <a:r>
              <a:rPr lang="en-US" altLang="zh-CN" dirty="0" smtClean="0"/>
              <a:t>Macroeconomic </a:t>
            </a:r>
            <a:r>
              <a:rPr lang="en-US" altLang="zh-CN" dirty="0"/>
              <a:t>forces include such things as the level and slope of the Treasury yield curve, the business cycle, and consumer confidence. Issue-speciﬁc factors include the corporation’s ﬁnancial position and the future prospects of the ﬁrm and its industry</a:t>
            </a:r>
            <a:r>
              <a:rPr lang="en-US" altLang="zh-CN" dirty="0" smtClean="0"/>
              <a:t>.</a:t>
            </a:r>
            <a:endParaRPr lang="en-US" altLang="zh-CN" dirty="0"/>
          </a:p>
        </p:txBody>
      </p:sp>
    </p:spTree>
    <p:extLst>
      <p:ext uri="{BB962C8B-B14F-4D97-AF65-F5344CB8AC3E}">
        <p14:creationId xmlns:p14="http://schemas.microsoft.com/office/powerpoint/2010/main" val="398331442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Event Risk</a:t>
            </a:r>
            <a:endParaRPr lang="zh-CN" altLang="en-US" dirty="0"/>
          </a:p>
        </p:txBody>
      </p:sp>
      <p:sp>
        <p:nvSpPr>
          <p:cNvPr id="3" name="文本占位符 2"/>
          <p:cNvSpPr>
            <a:spLocks noGrp="1"/>
          </p:cNvSpPr>
          <p:nvPr>
            <p:ph type="body" sz="quarter" idx="10"/>
          </p:nvPr>
        </p:nvSpPr>
        <p:spPr/>
        <p:txBody>
          <a:bodyPr/>
          <a:lstStyle/>
          <a:p>
            <a:r>
              <a:rPr lang="en-US" altLang="zh-CN" dirty="0"/>
              <a:t>Event risk </a:t>
            </a:r>
            <a:endParaRPr lang="en-US" altLang="zh-CN" dirty="0" smtClean="0"/>
          </a:p>
          <a:p>
            <a:pPr lvl="1"/>
            <a:r>
              <a:rPr lang="en-US" altLang="zh-CN" dirty="0"/>
              <a:t>I</a:t>
            </a:r>
            <a:r>
              <a:rPr lang="en-US" altLang="zh-CN" dirty="0" smtClean="0"/>
              <a:t>s </a:t>
            </a:r>
            <a:r>
              <a:rPr lang="en-US" altLang="zh-CN" dirty="0"/>
              <a:t>the risk that a transaction (or corporate event) will devalue bondholder’s </a:t>
            </a:r>
            <a:r>
              <a:rPr lang="en-US" altLang="zh-CN" dirty="0" smtClean="0"/>
              <a:t>position:</a:t>
            </a:r>
          </a:p>
          <a:p>
            <a:pPr lvl="1"/>
            <a:r>
              <a:rPr lang="en-US" altLang="zh-CN" dirty="0" smtClean="0"/>
              <a:t>Restructurings</a:t>
            </a:r>
            <a:r>
              <a:rPr lang="en-US" altLang="zh-CN" dirty="0"/>
              <a:t>, recapitalizations, mergers, acquisition, leveraged buyouts, and share repurchase often cause substantial changes in a corporation’s capital structure, greatly increased leverage and decreased equity.  </a:t>
            </a:r>
            <a:endParaRPr lang="zh-CN" altLang="en-US" dirty="0"/>
          </a:p>
        </p:txBody>
      </p:sp>
    </p:spTree>
    <p:extLst>
      <p:ext uri="{BB962C8B-B14F-4D97-AF65-F5344CB8AC3E}">
        <p14:creationId xmlns:p14="http://schemas.microsoft.com/office/powerpoint/2010/main" val="40852352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High-yield </a:t>
            </a:r>
            <a:r>
              <a:rPr lang="en-US" altLang="zh-CN" dirty="0" smtClean="0"/>
              <a:t>Bonds</a:t>
            </a:r>
            <a:endParaRPr lang="en-US" altLang="zh-CN" dirty="0"/>
          </a:p>
        </p:txBody>
      </p:sp>
      <p:sp>
        <p:nvSpPr>
          <p:cNvPr id="3" name="文本占位符 2"/>
          <p:cNvSpPr>
            <a:spLocks noGrp="1"/>
          </p:cNvSpPr>
          <p:nvPr>
            <p:ph type="body" sz="quarter" idx="10"/>
          </p:nvPr>
        </p:nvSpPr>
        <p:spPr/>
        <p:txBody>
          <a:bodyPr>
            <a:normAutofit lnSpcReduction="10000"/>
          </a:bodyPr>
          <a:lstStyle/>
          <a:p>
            <a:r>
              <a:rPr lang="en-US" altLang="zh-CN" dirty="0"/>
              <a:t>High-yield bonds are those rated below investment grade by the ratings </a:t>
            </a:r>
            <a:r>
              <a:rPr lang="en-US" altLang="zh-CN" dirty="0" smtClean="0"/>
              <a:t>agencies.</a:t>
            </a:r>
            <a:r>
              <a:rPr lang="en-US" altLang="zh-CN" dirty="0" smtClean="0">
                <a:solidFill>
                  <a:srgbClr val="FF0000"/>
                </a:solidFill>
              </a:rPr>
              <a:t>(junk </a:t>
            </a:r>
            <a:r>
              <a:rPr lang="en-US" altLang="zh-CN" dirty="0">
                <a:solidFill>
                  <a:srgbClr val="FF0000"/>
                </a:solidFill>
              </a:rPr>
              <a:t>bonds</a:t>
            </a:r>
            <a:r>
              <a:rPr lang="en-US" altLang="zh-CN" dirty="0" smtClean="0">
                <a:solidFill>
                  <a:srgbClr val="FF0000"/>
                </a:solidFill>
              </a:rPr>
              <a:t>.)</a:t>
            </a:r>
          </a:p>
          <a:p>
            <a:r>
              <a:rPr lang="en-US" altLang="zh-CN" dirty="0"/>
              <a:t>Types of high-yield bond issuers </a:t>
            </a:r>
            <a:endParaRPr lang="en-US" altLang="zh-CN" dirty="0" smtClean="0"/>
          </a:p>
          <a:p>
            <a:pPr lvl="1"/>
            <a:r>
              <a:rPr lang="en-US" altLang="zh-CN" dirty="0" smtClean="0"/>
              <a:t>Original Issuers</a:t>
            </a:r>
          </a:p>
          <a:p>
            <a:pPr lvl="1"/>
            <a:r>
              <a:rPr lang="en-US" altLang="zh-CN" dirty="0" smtClean="0"/>
              <a:t>Fallen </a:t>
            </a:r>
            <a:r>
              <a:rPr lang="en-US" altLang="zh-CN" dirty="0"/>
              <a:t>Angels  </a:t>
            </a:r>
            <a:endParaRPr lang="en-US" altLang="zh-CN" dirty="0" smtClean="0"/>
          </a:p>
          <a:p>
            <a:pPr lvl="1"/>
            <a:r>
              <a:rPr lang="en-US" altLang="zh-CN" dirty="0" smtClean="0"/>
              <a:t>Restructurings </a:t>
            </a:r>
            <a:r>
              <a:rPr lang="en-US" altLang="zh-CN" dirty="0"/>
              <a:t>and Leverage </a:t>
            </a:r>
            <a:r>
              <a:rPr lang="en-US" altLang="zh-CN" dirty="0" smtClean="0"/>
              <a:t>Buyout</a:t>
            </a:r>
          </a:p>
          <a:p>
            <a:r>
              <a:rPr lang="en-US" altLang="zh-CN" dirty="0"/>
              <a:t>Payment features peculiar to high-yield bonds (deferred-coupon structures) </a:t>
            </a:r>
            <a:endParaRPr lang="en-US" altLang="zh-CN" dirty="0" smtClean="0"/>
          </a:p>
          <a:p>
            <a:pPr lvl="1"/>
            <a:r>
              <a:rPr lang="en-US" altLang="zh-CN" dirty="0" smtClean="0"/>
              <a:t>Deferred-interest bonds</a:t>
            </a:r>
            <a:endParaRPr lang="en-US" altLang="zh-CN" dirty="0"/>
          </a:p>
          <a:p>
            <a:pPr lvl="1"/>
            <a:r>
              <a:rPr lang="en-US" altLang="zh-CN" dirty="0" smtClean="0"/>
              <a:t>Step-up bonds</a:t>
            </a:r>
          </a:p>
          <a:p>
            <a:pPr lvl="1"/>
            <a:r>
              <a:rPr lang="en-US" altLang="zh-CN" dirty="0" smtClean="0"/>
              <a:t>Payment-in-kind bonds</a:t>
            </a:r>
            <a:endParaRPr lang="zh-CN" altLang="en-US" dirty="0"/>
          </a:p>
        </p:txBody>
      </p:sp>
    </p:spTree>
    <p:extLst>
      <p:ext uri="{BB962C8B-B14F-4D97-AF65-F5344CB8AC3E}">
        <p14:creationId xmlns:p14="http://schemas.microsoft.com/office/powerpoint/2010/main" val="317678934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523445" cy="576064"/>
          </a:xfrm>
        </p:spPr>
        <p:txBody>
          <a:bodyPr>
            <a:normAutofit/>
          </a:bodyPr>
          <a:lstStyle/>
          <a:p>
            <a:r>
              <a:rPr lang="en-US" altLang="zh-CN" dirty="0"/>
              <a:t>Issuer default rate </a:t>
            </a:r>
            <a:r>
              <a:rPr lang="en-US" altLang="zh-CN" dirty="0" smtClean="0"/>
              <a:t>and </a:t>
            </a:r>
            <a:r>
              <a:rPr lang="en-US" altLang="zh-CN" dirty="0"/>
              <a:t>a dollar default rate </a:t>
            </a:r>
          </a:p>
        </p:txBody>
      </p:sp>
      <p:sp>
        <p:nvSpPr>
          <p:cNvPr id="3" name="文本占位符 2"/>
          <p:cNvSpPr>
            <a:spLocks noGrp="1"/>
          </p:cNvSpPr>
          <p:nvPr>
            <p:ph type="body" sz="quarter" idx="10"/>
          </p:nvPr>
        </p:nvSpPr>
        <p:spPr/>
        <p:txBody>
          <a:bodyPr>
            <a:normAutofit lnSpcReduction="10000"/>
          </a:bodyPr>
          <a:lstStyle/>
          <a:p>
            <a:r>
              <a:rPr lang="en-US" altLang="zh-CN" dirty="0"/>
              <a:t>Issuer default rate </a:t>
            </a:r>
            <a:endParaRPr lang="en-US" altLang="zh-CN" dirty="0" smtClean="0"/>
          </a:p>
          <a:p>
            <a:pPr lvl="1"/>
            <a:r>
              <a:rPr lang="en-US" altLang="zh-CN" dirty="0" smtClean="0"/>
              <a:t>Number </a:t>
            </a:r>
            <a:r>
              <a:rPr lang="en-US" altLang="zh-CN" dirty="0"/>
              <a:t>of issuers that default divided by total number of issuers. Gives no recognition to amount defaulted nor amount of </a:t>
            </a:r>
            <a:r>
              <a:rPr lang="en-US" altLang="zh-CN" dirty="0" smtClean="0"/>
              <a:t>issuance.</a:t>
            </a:r>
          </a:p>
          <a:p>
            <a:r>
              <a:rPr lang="en-US" altLang="zh-CN" dirty="0" smtClean="0"/>
              <a:t>Dollar </a:t>
            </a:r>
            <a:r>
              <a:rPr lang="en-US" altLang="zh-CN" dirty="0"/>
              <a:t>default rate </a:t>
            </a:r>
            <a:endParaRPr lang="en-US" altLang="zh-CN" dirty="0" smtClean="0"/>
          </a:p>
          <a:p>
            <a:pPr lvl="1"/>
            <a:r>
              <a:rPr lang="en-US" altLang="zh-CN" dirty="0" smtClean="0"/>
              <a:t>Par </a:t>
            </a:r>
            <a:r>
              <a:rPr lang="en-US" altLang="zh-CN" dirty="0"/>
              <a:t>value of all defaulted bonds divided by total par value of bonds outstanding during the year (Altman uses this method). </a:t>
            </a:r>
            <a:endParaRPr lang="en-US" altLang="zh-CN" dirty="0" smtClean="0"/>
          </a:p>
          <a:p>
            <a:r>
              <a:rPr lang="en-US" altLang="zh-CN" dirty="0"/>
              <a:t>Average annual default rate </a:t>
            </a:r>
            <a:endParaRPr lang="en-US" altLang="zh-CN" dirty="0" smtClean="0"/>
          </a:p>
          <a:p>
            <a:pPr lvl="1"/>
            <a:r>
              <a:rPr lang="en-US" altLang="zh-CN" dirty="0" smtClean="0"/>
              <a:t>Cumulative </a:t>
            </a:r>
            <a:r>
              <a:rPr lang="en-US" altLang="zh-CN" dirty="0"/>
              <a:t>$ value of all defaulted bonds ÷ Cumulative $ value of all issuance  by weighted average number of years outstanding </a:t>
            </a:r>
          </a:p>
          <a:p>
            <a:r>
              <a:rPr lang="en-US" altLang="zh-CN" dirty="0"/>
              <a:t>Cumulate default rate </a:t>
            </a:r>
            <a:endParaRPr lang="en-US" altLang="zh-CN" dirty="0" smtClean="0"/>
          </a:p>
          <a:p>
            <a:pPr lvl="1"/>
            <a:r>
              <a:rPr lang="en-US" altLang="zh-CN" dirty="0" smtClean="0"/>
              <a:t>Cumulative </a:t>
            </a:r>
            <a:r>
              <a:rPr lang="en-US" altLang="zh-CN" dirty="0"/>
              <a:t>$ value of all defaulted bonds ÷ Cumulative $ value of all issuance </a:t>
            </a:r>
            <a:endParaRPr lang="zh-CN" altLang="en-US" dirty="0"/>
          </a:p>
        </p:txBody>
      </p:sp>
    </p:spTree>
    <p:extLst>
      <p:ext uri="{BB962C8B-B14F-4D97-AF65-F5344CB8AC3E}">
        <p14:creationId xmlns:p14="http://schemas.microsoft.com/office/powerpoint/2010/main" val="90968054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Recovery </a:t>
            </a:r>
            <a:r>
              <a:rPr lang="en-US" altLang="zh-CN" sz="2800" dirty="0" smtClean="0"/>
              <a:t>Rates </a:t>
            </a:r>
            <a:endParaRPr lang="en-US" altLang="zh-CN" sz="2800" dirty="0"/>
          </a:p>
        </p:txBody>
      </p:sp>
      <p:sp>
        <p:nvSpPr>
          <p:cNvPr id="3" name="文本占位符 2"/>
          <p:cNvSpPr>
            <a:spLocks noGrp="1"/>
          </p:cNvSpPr>
          <p:nvPr>
            <p:ph type="body" sz="quarter" idx="10"/>
          </p:nvPr>
        </p:nvSpPr>
        <p:spPr/>
        <p:txBody>
          <a:bodyPr>
            <a:normAutofit/>
          </a:bodyPr>
          <a:lstStyle/>
          <a:p>
            <a:r>
              <a:rPr lang="en-US" altLang="zh-CN" sz="2000" b="0" dirty="0">
                <a:solidFill>
                  <a:schemeClr val="tx1"/>
                </a:solidFill>
              </a:rPr>
              <a:t>Measuring the amount recovered is non-trivial. The final distribution to claimants may consist of cash and securities. However, it can often be difficult to track what was received and then additionally, determine the present value of any noncash payments received. Moody’s use the trading price at the time of default as a proxy for the amount recovered. The recovery rate is thus the trading price at that time divided by the par value. Moody’s found that the recovery rate was 38% for all bonds. While default rates are the same regardless of the level of seniority, recovery rates differ. The study found that the higher the level of seniority, the greater is the recovery rate. </a:t>
            </a:r>
            <a:endParaRPr lang="en-US" altLang="zh-CN" sz="2000" b="0" dirty="0" smtClean="0">
              <a:solidFill>
                <a:schemeClr val="tx1"/>
              </a:solidFill>
            </a:endParaRPr>
          </a:p>
          <a:p>
            <a:r>
              <a:rPr lang="zh-CN" altLang="en-US" sz="1800" b="0" dirty="0" smtClean="0">
                <a:solidFill>
                  <a:srgbClr val="FF0000"/>
                </a:solidFill>
              </a:rPr>
              <a:t>（考纲有要求，有兴趣的看一看）</a:t>
            </a:r>
            <a:endParaRPr lang="zh-CN" altLang="en-US" sz="1800" b="0" dirty="0">
              <a:solidFill>
                <a:srgbClr val="FF0000"/>
              </a:solidFill>
            </a:endParaRPr>
          </a:p>
        </p:txBody>
      </p:sp>
    </p:spTree>
    <p:extLst>
      <p:ext uri="{BB962C8B-B14F-4D97-AF65-F5344CB8AC3E}">
        <p14:creationId xmlns:p14="http://schemas.microsoft.com/office/powerpoint/2010/main" val="842018666"/>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85000" lnSpcReduction="20000"/>
          </a:bodyPr>
          <a:lstStyle/>
          <a:p>
            <a:r>
              <a:rPr lang="en-US" altLang="zh-CN" b="0" dirty="0" smtClean="0"/>
              <a:t>Describe </a:t>
            </a:r>
            <a:r>
              <a:rPr lang="en-US" altLang="zh-CN" b="0" dirty="0"/>
              <a:t>a bond indenture and explain the role of the corporate trustee in a bond indenture. </a:t>
            </a:r>
          </a:p>
          <a:p>
            <a:r>
              <a:rPr lang="en-US" altLang="zh-CN" b="0" dirty="0"/>
              <a:t>Explain a bond’s maturity date and how it impacts bond retirements. </a:t>
            </a:r>
          </a:p>
          <a:p>
            <a:r>
              <a:rPr lang="en-US" altLang="zh-CN" b="0" dirty="0"/>
              <a:t>Describe the main types of interest payment classifications. </a:t>
            </a:r>
          </a:p>
          <a:p>
            <a:r>
              <a:rPr lang="en-US" altLang="zh-CN" b="0" dirty="0"/>
              <a:t>Describe zero-coupon bonds and explain the relationship between original-issue discount and reinvestment risk. </a:t>
            </a:r>
            <a:r>
              <a:rPr lang="en-US" altLang="zh-CN" b="0" dirty="0" smtClean="0">
                <a:cs typeface="+mn-ea"/>
                <a:sym typeface="+mn-lt"/>
              </a:rPr>
              <a:t>★</a:t>
            </a:r>
            <a:r>
              <a:rPr lang="en-US" altLang="zh-CN" b="0" dirty="0">
                <a:cs typeface="+mn-ea"/>
                <a:sym typeface="+mn-lt"/>
              </a:rPr>
              <a:t>★</a:t>
            </a:r>
            <a:endParaRPr lang="en-US" altLang="zh-CN" b="0" dirty="0"/>
          </a:p>
          <a:p>
            <a:r>
              <a:rPr lang="en-US" altLang="zh-CN" b="0" dirty="0"/>
              <a:t>Distinguish among the following security types relevant for corporate bonds: mortgage bonds, collateral trust bonds, equipment trust certificates, subordinated and convertible debenture bonds, and guaranteed bonds. </a:t>
            </a:r>
          </a:p>
          <a:p>
            <a:r>
              <a:rPr lang="en-US" altLang="zh-CN" b="0" dirty="0"/>
              <a:t>Describe the mechanisms by which corporate bonds can be retired before maturity. </a:t>
            </a:r>
            <a:r>
              <a:rPr lang="en-US" altLang="zh-CN" b="0" dirty="0" smtClean="0">
                <a:cs typeface="+mn-ea"/>
                <a:sym typeface="+mn-lt"/>
              </a:rPr>
              <a:t>★★</a:t>
            </a:r>
            <a:r>
              <a:rPr lang="en-US" altLang="zh-CN" b="0" dirty="0">
                <a:cs typeface="+mn-ea"/>
                <a:sym typeface="+mn-lt"/>
              </a:rPr>
              <a:t>★</a:t>
            </a:r>
            <a:endParaRPr lang="en-US" altLang="zh-CN" b="0" dirty="0"/>
          </a:p>
          <a:p>
            <a:r>
              <a:rPr lang="en-US" altLang="zh-CN" b="0" dirty="0"/>
              <a:t>Differentiate between credit default risk and credit spread risk. </a:t>
            </a:r>
          </a:p>
          <a:p>
            <a:r>
              <a:rPr lang="en-US" altLang="zh-CN" b="0" dirty="0"/>
              <a:t>Describe event risk and explain what may cause it in corporate bonds. </a:t>
            </a:r>
          </a:p>
          <a:p>
            <a:r>
              <a:rPr lang="en-US" altLang="zh-CN" b="0" dirty="0"/>
              <a:t>Define high-yield bonds, and describe types of high-yield bond issuers and some of the payment features unique to high yield bonds. </a:t>
            </a:r>
          </a:p>
          <a:p>
            <a:r>
              <a:rPr lang="en-US" altLang="zh-CN" b="0" dirty="0"/>
              <a:t>Define and differentiate between an issuer default rate and a dollar default rate. </a:t>
            </a:r>
          </a:p>
          <a:p>
            <a:r>
              <a:rPr lang="en-US" altLang="zh-CN" b="0" dirty="0"/>
              <a:t>Define recovery rates and describe the relationship between recovery rates and seniority. </a:t>
            </a:r>
          </a:p>
          <a:p>
            <a:endParaRPr lang="zh-CN" altLang="en-US" dirty="0"/>
          </a:p>
        </p:txBody>
      </p:sp>
    </p:spTree>
    <p:extLst>
      <p:ext uri="{BB962C8B-B14F-4D97-AF65-F5344CB8AC3E}">
        <p14:creationId xmlns:p14="http://schemas.microsoft.com/office/powerpoint/2010/main" val="485471173"/>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6442745" y="3586574"/>
            <a:ext cx="4221446" cy="768085"/>
          </a:xfrm>
        </p:spPr>
        <p:txBody>
          <a:bodyPr/>
          <a:lstStyle/>
          <a:p>
            <a:r>
              <a:rPr lang="en-US" altLang="zh-CN" b="1" i="1" dirty="0" smtClean="0">
                <a:solidFill>
                  <a:schemeClr val="tx1"/>
                </a:solidFill>
                <a:latin typeface="+mn-lt"/>
                <a:ea typeface="+mn-ea"/>
                <a:cs typeface="+mn-ea"/>
                <a:sym typeface="+mn-lt"/>
              </a:rPr>
              <a:t>Financial Products</a:t>
            </a:r>
            <a:endParaRPr lang="zh-CN" altLang="en-US" b="1" i="1" dirty="0">
              <a:solidFill>
                <a:schemeClr val="tx1"/>
              </a:solidFill>
              <a:latin typeface="+mn-lt"/>
              <a:ea typeface="+mn-ea"/>
              <a:cs typeface="+mn-ea"/>
              <a:sym typeface="+mn-lt"/>
            </a:endParaRPr>
          </a:p>
        </p:txBody>
      </p:sp>
      <p:sp>
        <p:nvSpPr>
          <p:cNvPr id="3" name="文本占位符 2"/>
          <p:cNvSpPr>
            <a:spLocks noGrp="1"/>
          </p:cNvSpPr>
          <p:nvPr>
            <p:ph type="body" sz="quarter" idx="4294967295"/>
          </p:nvPr>
        </p:nvSpPr>
        <p:spPr>
          <a:xfrm>
            <a:off x="6442745" y="2688031"/>
            <a:ext cx="5069883" cy="1797085"/>
          </a:xfrm>
        </p:spPr>
        <p:txBody>
          <a:bodyPr>
            <a:normAutofit/>
          </a:bodyPr>
          <a:lstStyle/>
          <a:p>
            <a:r>
              <a:rPr lang="en-US" altLang="zh-CN" b="1" dirty="0">
                <a:solidFill>
                  <a:srgbClr val="002060"/>
                </a:solidFill>
                <a:latin typeface="+mn-lt"/>
                <a:ea typeface="+mn-ea"/>
                <a:cs typeface="+mn-ea"/>
                <a:sym typeface="+mn-lt"/>
              </a:rPr>
              <a:t>Mortgages and Mortgage-Backed Securities</a:t>
            </a:r>
          </a:p>
        </p:txBody>
      </p:sp>
    </p:spTree>
    <p:extLst>
      <p:ext uri="{BB962C8B-B14F-4D97-AF65-F5344CB8AC3E}">
        <p14:creationId xmlns:p14="http://schemas.microsoft.com/office/powerpoint/2010/main" val="3096610277"/>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095861" cy="576064"/>
          </a:xfrm>
        </p:spPr>
        <p:txBody>
          <a:bodyPr>
            <a:normAutofit/>
          </a:bodyPr>
          <a:lstStyle/>
          <a:p>
            <a:r>
              <a:rPr lang="en-US" altLang="zh-CN" sz="2670" dirty="0" smtClean="0"/>
              <a:t>Types of Residential Mortgage Products</a:t>
            </a:r>
            <a:endParaRPr lang="en-US" altLang="zh-CN" sz="2670" dirty="0"/>
          </a:p>
        </p:txBody>
      </p:sp>
      <p:sp>
        <p:nvSpPr>
          <p:cNvPr id="3" name="文本占位符 2"/>
          <p:cNvSpPr>
            <a:spLocks noGrp="1"/>
          </p:cNvSpPr>
          <p:nvPr>
            <p:ph type="body" sz="quarter" idx="10"/>
          </p:nvPr>
        </p:nvSpPr>
        <p:spPr/>
        <p:txBody>
          <a:bodyPr/>
          <a:lstStyle/>
          <a:p>
            <a:r>
              <a:rPr lang="en-US" altLang="zh-CN" dirty="0" smtClean="0"/>
              <a:t>Types </a:t>
            </a:r>
            <a:r>
              <a:rPr lang="en-US" altLang="zh-CN" dirty="0"/>
              <a:t>of mortgage loans offered by the </a:t>
            </a:r>
            <a:r>
              <a:rPr lang="en-US" altLang="zh-CN" dirty="0" smtClean="0"/>
              <a:t>lenders:</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pPr lvl="1"/>
            <a:r>
              <a:rPr lang="en-US" altLang="zh-CN" dirty="0"/>
              <a:t>Residential mortgages typically mature in 15 to 30 years and they are primarily classified on the basis of their securitization mechanism</a:t>
            </a:r>
            <a:endParaRPr lang="en-US" altLang="zh-CN" dirty="0" smtClean="0"/>
          </a:p>
          <a:p>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452" y="1686314"/>
            <a:ext cx="8829901" cy="30069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620285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Agency or </a:t>
            </a:r>
            <a:r>
              <a:rPr lang="en-US" altLang="zh-CN" dirty="0" smtClean="0"/>
              <a:t>conforming:</a:t>
            </a:r>
          </a:p>
          <a:p>
            <a:pPr lvl="1"/>
            <a:r>
              <a:rPr lang="en-US" altLang="zh-CN" b="0" dirty="0" smtClean="0"/>
              <a:t>loans </a:t>
            </a:r>
            <a:r>
              <a:rPr lang="en-US" altLang="zh-CN" b="0" dirty="0"/>
              <a:t>are eligible to be securitized by government entities such as </a:t>
            </a:r>
            <a:r>
              <a:rPr lang="en-US" altLang="zh-CN" b="0" u="sng" dirty="0"/>
              <a:t>Federal National Mortgage Association (</a:t>
            </a:r>
            <a:r>
              <a:rPr lang="en-US" altLang="zh-CN" b="0" u="sng" dirty="0" smtClean="0"/>
              <a:t>FNMA </a:t>
            </a:r>
            <a:r>
              <a:rPr lang="zh-CN" altLang="en-US" b="0" u="sng" dirty="0" smtClean="0"/>
              <a:t>房利美</a:t>
            </a:r>
            <a:r>
              <a:rPr lang="en-US" altLang="zh-CN" b="0" u="sng" dirty="0" smtClean="0"/>
              <a:t>), </a:t>
            </a:r>
            <a:r>
              <a:rPr lang="en-US" altLang="zh-CN" b="0" dirty="0"/>
              <a:t>Federal Home Loan Mortgage Corporation (FHLMC), or </a:t>
            </a:r>
            <a:r>
              <a:rPr lang="en-US" altLang="zh-CN" b="0" u="sng" dirty="0"/>
              <a:t>Government National Mortgage Association (</a:t>
            </a:r>
            <a:r>
              <a:rPr lang="en-US" altLang="zh-CN" b="0" u="sng" dirty="0" smtClean="0"/>
              <a:t>GNMA </a:t>
            </a:r>
            <a:r>
              <a:rPr lang="zh-CN" altLang="en-US" b="0" u="sng" dirty="0" smtClean="0"/>
              <a:t>吉利美</a:t>
            </a:r>
            <a:r>
              <a:rPr lang="en-US" altLang="zh-CN" b="0" u="sng" dirty="0" smtClean="0"/>
              <a:t>).</a:t>
            </a:r>
          </a:p>
          <a:p>
            <a:pPr lvl="1"/>
            <a:r>
              <a:rPr lang="en-US" altLang="zh-CN" b="0" dirty="0"/>
              <a:t>The loans securitized by aforementioned agencies are assessed as relatively </a:t>
            </a:r>
            <a:r>
              <a:rPr lang="en-US" altLang="zh-CN" b="0" dirty="0">
                <a:solidFill>
                  <a:srgbClr val="FF0000"/>
                </a:solidFill>
              </a:rPr>
              <a:t>more creditworthy</a:t>
            </a:r>
            <a:r>
              <a:rPr lang="en-US" altLang="zh-CN" b="0" dirty="0"/>
              <a:t>. The guidelines for conforming loans comprise of conditions such as maximum size of loans should not exceed a certain amount, </a:t>
            </a:r>
            <a:r>
              <a:rPr lang="en-US" altLang="zh-CN" b="0" u="sng" dirty="0"/>
              <a:t>the loan-to-value ratio should not fall below 80 per cent and so on</a:t>
            </a:r>
            <a:r>
              <a:rPr lang="en-US" altLang="zh-CN" b="0" dirty="0"/>
              <a:t>. </a:t>
            </a:r>
            <a:endParaRPr lang="zh-CN" altLang="en-US" b="0" dirty="0"/>
          </a:p>
        </p:txBody>
      </p:sp>
      <p:sp>
        <p:nvSpPr>
          <p:cNvPr id="4" name="标题 1"/>
          <p:cNvSpPr>
            <a:spLocks noGrp="1"/>
          </p:cNvSpPr>
          <p:nvPr>
            <p:ph type="title"/>
          </p:nvPr>
        </p:nvSpPr>
        <p:spPr/>
        <p:txBody>
          <a:bodyPr>
            <a:normAutofit/>
          </a:bodyPr>
          <a:lstStyle/>
          <a:p>
            <a:r>
              <a:rPr lang="en-US" altLang="zh-CN" sz="2670" dirty="0" smtClean="0"/>
              <a:t>Types of Residential Mortgage Products</a:t>
            </a:r>
            <a:endParaRPr lang="en-US" altLang="zh-CN" sz="2670" dirty="0"/>
          </a:p>
        </p:txBody>
      </p:sp>
    </p:spTree>
    <p:extLst>
      <p:ext uri="{BB962C8B-B14F-4D97-AF65-F5344CB8AC3E}">
        <p14:creationId xmlns:p14="http://schemas.microsoft.com/office/powerpoint/2010/main" val="3883528681"/>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85000" lnSpcReduction="10000"/>
          </a:bodyPr>
          <a:lstStyle/>
          <a:p>
            <a:r>
              <a:rPr lang="en-US" altLang="zh-CN" dirty="0" smtClean="0"/>
              <a:t>Non-agency </a:t>
            </a:r>
            <a:r>
              <a:rPr lang="en-US" altLang="zh-CN" dirty="0"/>
              <a:t>or Non-Conforming </a:t>
            </a:r>
            <a:r>
              <a:rPr lang="en-US" altLang="zh-CN" dirty="0" smtClean="0"/>
              <a:t>Loans</a:t>
            </a:r>
          </a:p>
          <a:p>
            <a:pPr lvl="1"/>
            <a:r>
              <a:rPr lang="en-US" altLang="zh-CN" dirty="0" smtClean="0"/>
              <a:t>These </a:t>
            </a:r>
            <a:r>
              <a:rPr lang="en-US" altLang="zh-CN" dirty="0"/>
              <a:t>mortgage loans do not ‘conform’ to the established guidelines by Fannie Mae and Freddie Mac and therefore, are not eligible for purchase by the same agencies. They are part of private-label securitizations. The non-conforming loans are usually offered to those borrowers which </a:t>
            </a:r>
            <a:r>
              <a:rPr lang="en-US" altLang="zh-CN" u="sng" dirty="0"/>
              <a:t>do not qualify for conforming loans and the loan type thus carries higher interest charge</a:t>
            </a:r>
            <a:r>
              <a:rPr lang="en-US" altLang="zh-CN" dirty="0"/>
              <a:t>.  </a:t>
            </a:r>
            <a:endParaRPr lang="en-US" altLang="zh-CN" dirty="0" smtClean="0"/>
          </a:p>
          <a:p>
            <a:pPr lvl="2"/>
            <a:r>
              <a:rPr lang="en-US" altLang="zh-CN" b="1" dirty="0"/>
              <a:t>Jumbos</a:t>
            </a:r>
            <a:r>
              <a:rPr lang="en-US" altLang="zh-CN" dirty="0"/>
              <a:t> – These loans are larger in size than the prescribed limit for conforming loans but otherwise similar</a:t>
            </a:r>
            <a:r>
              <a:rPr lang="en-US" altLang="zh-CN" dirty="0" smtClean="0"/>
              <a:t>.</a:t>
            </a:r>
          </a:p>
          <a:p>
            <a:pPr lvl="2"/>
            <a:r>
              <a:rPr lang="en-US" altLang="zh-CN" b="1" dirty="0"/>
              <a:t>Alt-A </a:t>
            </a:r>
            <a:r>
              <a:rPr lang="en-US" altLang="zh-CN" dirty="0"/>
              <a:t>– These types of loans deviate from conforming loans in one requirement. The Alt-A loans are positioned </a:t>
            </a:r>
            <a:r>
              <a:rPr lang="en-US" altLang="zh-CN" u="sng" dirty="0"/>
              <a:t>between prime &amp; subprime loans</a:t>
            </a:r>
            <a:r>
              <a:rPr lang="en-US" altLang="zh-CN" dirty="0"/>
              <a:t>. The interest charged on these loans is lesser than subprime lending rate but higher than prime lending rate</a:t>
            </a:r>
            <a:r>
              <a:rPr lang="en-US" altLang="zh-CN" dirty="0" smtClean="0"/>
              <a:t>.</a:t>
            </a:r>
          </a:p>
          <a:p>
            <a:pPr lvl="2"/>
            <a:r>
              <a:rPr lang="en-US" altLang="zh-CN" b="1" dirty="0"/>
              <a:t>Subprime</a:t>
            </a:r>
            <a:r>
              <a:rPr lang="en-US" altLang="zh-CN" dirty="0"/>
              <a:t> – These types of loans largely deviate from the conforming loan guidelines and are offered to borrowers with poor creditworthiness at very high interest rates. Most of the subprime loans are adjustable-rate mortgages (ARMs)</a:t>
            </a:r>
            <a:endParaRPr lang="zh-CN" altLang="en-US" dirty="0"/>
          </a:p>
        </p:txBody>
      </p:sp>
      <p:sp>
        <p:nvSpPr>
          <p:cNvPr id="4" name="标题 1"/>
          <p:cNvSpPr>
            <a:spLocks noGrp="1"/>
          </p:cNvSpPr>
          <p:nvPr>
            <p:ph type="title"/>
          </p:nvPr>
        </p:nvSpPr>
        <p:spPr/>
        <p:txBody>
          <a:bodyPr>
            <a:normAutofit/>
          </a:bodyPr>
          <a:lstStyle/>
          <a:p>
            <a:r>
              <a:rPr lang="en-US" altLang="zh-CN" sz="2670" dirty="0" smtClean="0"/>
              <a:t>Types of Residential Mortgage Products</a:t>
            </a:r>
            <a:endParaRPr lang="en-US" altLang="zh-CN" sz="2670" dirty="0"/>
          </a:p>
        </p:txBody>
      </p:sp>
    </p:spTree>
    <p:extLst>
      <p:ext uri="{BB962C8B-B14F-4D97-AF65-F5344CB8AC3E}">
        <p14:creationId xmlns:p14="http://schemas.microsoft.com/office/powerpoint/2010/main" val="2864214717"/>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Cash Flow of Mortgage Loans</a:t>
            </a:r>
          </a:p>
        </p:txBody>
      </p:sp>
      <p:sp>
        <p:nvSpPr>
          <p:cNvPr id="3" name="文本占位符 2"/>
          <p:cNvSpPr>
            <a:spLocks noGrp="1"/>
          </p:cNvSpPr>
          <p:nvPr>
            <p:ph type="body" sz="quarter" idx="10"/>
          </p:nvPr>
        </p:nvSpPr>
        <p:spPr/>
        <p:txBody>
          <a:bodyPr/>
          <a:lstStyle/>
          <a:p>
            <a:r>
              <a:rPr lang="en-US" altLang="zh-CN" dirty="0" smtClean="0"/>
              <a:t>Fixed rate mortgage payments</a:t>
            </a:r>
          </a:p>
          <a:p>
            <a:pPr marL="990576" lvl="2" indent="-457189">
              <a:buFont typeface="Wingdings" panose="05000000000000000000" pitchFamily="2" charset="2"/>
              <a:buChar char="l"/>
            </a:pPr>
            <a:r>
              <a:rPr lang="en-US" altLang="zh-CN" u="sng" dirty="0"/>
              <a:t>The mortgage loan is fair in the sense that the present value of the monthly mortgage payments, discounted at the monthly compounded mortgage rate, equals the original amount borrowed</a:t>
            </a:r>
            <a:r>
              <a:rPr lang="en-US" altLang="zh-CN" dirty="0"/>
              <a:t>. </a:t>
            </a:r>
            <a:endParaRPr lang="en-US" altLang="zh-CN" dirty="0" smtClean="0"/>
          </a:p>
          <a:p>
            <a:pPr marL="990576" lvl="2" indent="-457189">
              <a:buFont typeface="Wingdings" panose="05000000000000000000" pitchFamily="2" charset="2"/>
              <a:buChar char="l"/>
            </a:pPr>
            <a:endParaRPr lang="en-US" altLang="zh-CN" dirty="0"/>
          </a:p>
          <a:p>
            <a:pPr marL="990576" lvl="2" indent="-457189">
              <a:buFont typeface="Wingdings" panose="05000000000000000000" pitchFamily="2" charset="2"/>
              <a:buChar char="l"/>
            </a:pPr>
            <a:endParaRPr lang="en-US" altLang="zh-CN" dirty="0" smtClean="0"/>
          </a:p>
          <a:p>
            <a:pPr marL="990576" lvl="2" indent="-457189">
              <a:buFont typeface="Wingdings" panose="05000000000000000000" pitchFamily="2" charset="2"/>
              <a:buChar char="l"/>
            </a:pPr>
            <a:endParaRPr lang="en-US" altLang="zh-CN" dirty="0"/>
          </a:p>
          <a:p>
            <a:pPr marL="990576" lvl="2" indent="-457189">
              <a:buFont typeface="Wingdings" panose="05000000000000000000" pitchFamily="2" charset="2"/>
              <a:buChar char="l"/>
            </a:pPr>
            <a:r>
              <a:rPr lang="en-US" altLang="zh-CN" dirty="0"/>
              <a:t>for a monthly payment X on a T-year mortgage with a mortgage rate y and an original principal amount or loan balance of B(0):</a:t>
            </a:r>
          </a:p>
          <a:p>
            <a:pPr marL="990576" lvl="2" indent="-457189">
              <a:buFont typeface="Wingdings" panose="05000000000000000000" pitchFamily="2" charset="2"/>
              <a:buChar char="l"/>
            </a:pPr>
            <a:endParaRPr lang="zh-CN" altLang="en-US" dirty="0"/>
          </a:p>
        </p:txBody>
      </p:sp>
      <mc:AlternateContent xmlns:mc="http://schemas.openxmlformats.org/markup-compatibility/2006" xmlns:a14="http://schemas.microsoft.com/office/drawing/2010/main">
        <mc:Choice Requires="a14">
          <p:sp>
            <p:nvSpPr>
              <p:cNvPr id="4" name="文本框 4"/>
              <p:cNvSpPr txBox="1"/>
              <p:nvPr/>
            </p:nvSpPr>
            <p:spPr>
              <a:xfrm>
                <a:off x="1374440" y="3174640"/>
                <a:ext cx="5936306" cy="928588"/>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nary>
                        <m:naryPr>
                          <m:chr m:val="∑"/>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naryPr>
                        <m:sub>
                          <m:r>
                            <m:rPr>
                              <m:sty m:val="p"/>
                              <m:brk m:alnAt="23"/>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e>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num>
                                <m:den>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p>
                            </m:den>
                          </m:f>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d>
                            <m:d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d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e>
                          </m:d>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num>
                            <m:den>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den>
                          </m:f>
                          <m:d>
                            <m:dPr>
                              <m:begChr m:val="["/>
                              <m:endChr m:val="]"/>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d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fPr>
                                    <m:num>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num>
                                    <m:den>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sSup>
                                    <m:sSupPr>
                                      <m:ctrlPr>
                                        <a:rPr lang="en-US" altLang="zh-CN" sz="18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e>
                          </m:d>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e>
                      </m:nary>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4"/>
              <p:cNvSpPr txBox="1">
                <a:spLocks noRot="1" noChangeAspect="1" noMove="1" noResize="1" noEditPoints="1" noAdjustHandles="1" noChangeArrowheads="1" noChangeShapeType="1" noTextEdit="1"/>
              </p:cNvSpPr>
              <p:nvPr/>
            </p:nvSpPr>
            <p:spPr>
              <a:xfrm>
                <a:off x="1374440" y="3174640"/>
                <a:ext cx="5936306" cy="928588"/>
              </a:xfrm>
              <a:prstGeom prst="rect">
                <a:avLst/>
              </a:prstGeom>
              <a:blipFill rotWithShape="1">
                <a:blip r:embed="rId2"/>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698364325"/>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Fixed Rate Mortgage Payments (cont’d)</a:t>
            </a:r>
            <a:endParaRPr lang="en-US" altLang="zh-CN" u="sng" dirty="0"/>
          </a:p>
          <a:p>
            <a:pPr lvl="1"/>
            <a:r>
              <a:rPr lang="en-US" altLang="zh-CN" u="sng" dirty="0"/>
              <a:t>The fixed monthly payment is often divided into its interest and principal components</a:t>
            </a:r>
            <a:r>
              <a:rPr lang="en-US" altLang="zh-CN" dirty="0"/>
              <a:t>. </a:t>
            </a:r>
            <a:endParaRPr lang="en-US" altLang="zh-CN" dirty="0" smtClean="0"/>
          </a:p>
          <a:p>
            <a:pPr lvl="1"/>
            <a:r>
              <a:rPr lang="en-US" altLang="zh-CN" u="sng" dirty="0" smtClean="0"/>
              <a:t>Letting </a:t>
            </a:r>
            <a:r>
              <a:rPr lang="en-US" altLang="zh-CN" u="sng" dirty="0"/>
              <a:t>B(n) be the principal amount outstanding after the mortgage payment due on date n, the interest component on the payment on date n + 1 </a:t>
            </a:r>
            <a:r>
              <a:rPr lang="en-US" altLang="zh-CN" u="sng" dirty="0" smtClean="0"/>
              <a:t>is:</a:t>
            </a:r>
          </a:p>
          <a:p>
            <a:pPr marL="609585" lvl="1" indent="0">
              <a:buNone/>
            </a:pPr>
            <a:endParaRPr lang="en-US" altLang="zh-CN" u="sng" dirty="0" smtClean="0"/>
          </a:p>
          <a:p>
            <a:pPr marL="990576" lvl="2" indent="-457189">
              <a:buFont typeface="Wingdings" panose="05000000000000000000" pitchFamily="2" charset="2"/>
              <a:buChar char="l"/>
            </a:pPr>
            <a:r>
              <a:rPr lang="en-US" altLang="zh-CN" dirty="0"/>
              <a:t>In words, the monthly interest payment over a particular period equals the mortgage rate times the principal outstanding at the beginning of that period. </a:t>
            </a:r>
            <a:r>
              <a:rPr lang="en-US" altLang="zh-CN" u="sng" dirty="0"/>
              <a:t>The principal component of the monthly payment is the remainder, that is</a:t>
            </a:r>
            <a:r>
              <a:rPr lang="en-US" altLang="zh-CN" dirty="0"/>
              <a:t>:</a:t>
            </a:r>
          </a:p>
          <a:p>
            <a:endParaRPr lang="zh-CN" altLang="en-US" dirty="0"/>
          </a:p>
        </p:txBody>
      </p:sp>
      <p:sp>
        <p:nvSpPr>
          <p:cNvPr id="4" name="标题 1"/>
          <p:cNvSpPr>
            <a:spLocks noGrp="1"/>
          </p:cNvSpPr>
          <p:nvPr>
            <p:ph type="title"/>
          </p:nvPr>
        </p:nvSpPr>
        <p:spPr/>
        <p:txBody>
          <a:bodyPr/>
          <a:lstStyle/>
          <a:p>
            <a:r>
              <a:rPr lang="en-US" altLang="zh-CN" sz="2800" dirty="0"/>
              <a:t>Cash Flow of Mortgage Loans</a:t>
            </a:r>
          </a:p>
        </p:txBody>
      </p:sp>
      <mc:AlternateContent xmlns:mc="http://schemas.openxmlformats.org/markup-compatibility/2006" xmlns:a14="http://schemas.microsoft.com/office/drawing/2010/main">
        <mc:Choice Requires="a14">
          <p:sp>
            <p:nvSpPr>
              <p:cNvPr id="5" name="文本框 6"/>
              <p:cNvSpPr txBox="1"/>
              <p:nvPr/>
            </p:nvSpPr>
            <p:spPr>
              <a:xfrm>
                <a:off x="5282489" y="3465951"/>
                <a:ext cx="1556851" cy="584584"/>
              </a:xfrm>
              <a:prstGeom prst="rect">
                <a:avLst/>
              </a:prstGeom>
              <a:noFill/>
              <a:ln w="19050">
                <a:solidFill>
                  <a:srgbClr val="FF0000"/>
                </a:solidFill>
              </a:ln>
            </p:spPr>
            <p:txBody>
              <a:bodyPr wrap="square" rtlCol="0">
                <a:spAutoFit/>
              </a:bodyPr>
              <a:lstStyle/>
              <a:p>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B(n)</a:t>
                </a:r>
                <a14:m>
                  <m:oMath xmlns:m="http://schemas.openxmlformats.org/officeDocument/2006/math">
                    <m:r>
                      <a:rPr lang="en-US" altLang="zh-CN" sz="24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400" b="0" i="1">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𝑦</m:t>
                        </m:r>
                      </m:num>
                      <m:den>
                        <m:r>
                          <a:rPr lang="en-US" altLang="zh-CN" sz="24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oMath>
                </a14:m>
                <a:endParaRPr lang="zh-CN" altLang="en-US"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6"/>
              <p:cNvSpPr txBox="1">
                <a:spLocks noRot="1" noChangeAspect="1" noMove="1" noResize="1" noEditPoints="1" noAdjustHandles="1" noChangeArrowheads="1" noChangeShapeType="1" noTextEdit="1"/>
              </p:cNvSpPr>
              <p:nvPr/>
            </p:nvSpPr>
            <p:spPr>
              <a:xfrm>
                <a:off x="5282489" y="3465951"/>
                <a:ext cx="1556851" cy="584584"/>
              </a:xfrm>
              <a:prstGeom prst="rect">
                <a:avLst/>
              </a:prstGeom>
              <a:blipFill rotWithShape="1">
                <a:blip r:embed="rId2"/>
                <a:stretch>
                  <a:fillRect l="-5814" b="-8163"/>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7"/>
              <p:cNvSpPr txBox="1"/>
              <p:nvPr/>
            </p:nvSpPr>
            <p:spPr>
              <a:xfrm>
                <a:off x="5079577" y="5639894"/>
                <a:ext cx="1962673" cy="584584"/>
              </a:xfrm>
              <a:prstGeom prst="rect">
                <a:avLst/>
              </a:prstGeom>
              <a:noFill/>
              <a:ln w="19050">
                <a:solidFill>
                  <a:srgbClr val="FF0000"/>
                </a:solidFill>
              </a:ln>
            </p:spPr>
            <p:txBody>
              <a:bodyPr wrap="square" rtlCol="0">
                <a:spAutoFit/>
              </a:bodyPr>
              <a:lstStyle/>
              <a:p>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X-B(n)</a:t>
                </a:r>
                <a14:m>
                  <m:oMath xmlns:m="http://schemas.openxmlformats.org/officeDocument/2006/math">
                    <m:r>
                      <a:rPr lang="en-US" altLang="zh-CN" sz="24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400" b="0" i="1">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𝑦</m:t>
                        </m:r>
                      </m:num>
                      <m:den>
                        <m:r>
                          <a:rPr lang="en-US" altLang="zh-CN" sz="24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oMath>
                </a14:m>
                <a:endParaRPr lang="zh-CN" altLang="en-US"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6" name="文本框 7"/>
              <p:cNvSpPr txBox="1">
                <a:spLocks noRot="1" noChangeAspect="1" noMove="1" noResize="1" noEditPoints="1" noAdjustHandles="1" noChangeArrowheads="1" noChangeShapeType="1" noTextEdit="1"/>
              </p:cNvSpPr>
              <p:nvPr/>
            </p:nvSpPr>
            <p:spPr>
              <a:xfrm>
                <a:off x="5079577" y="5639894"/>
                <a:ext cx="1962673" cy="584584"/>
              </a:xfrm>
              <a:prstGeom prst="rect">
                <a:avLst/>
              </a:prstGeom>
              <a:blipFill rotWithShape="1">
                <a:blip r:embed="rId3"/>
                <a:stretch>
                  <a:fillRect l="-4308" b="-7071"/>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24013986"/>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457189" lvl="1" indent="-457189">
              <a:buFont typeface="Wingdings" panose="05000000000000000000" pitchFamily="2" charset="2"/>
              <a:buChar char="Ø"/>
            </a:pPr>
            <a:r>
              <a:rPr lang="en-US" altLang="zh-CN" dirty="0"/>
              <a:t>A homeowner might borrow $100,000 from a bank at 4% and agree to make payments of $477.42 every month for 30 years. The mortgage rate and the monthly payment are related by the following equation</a:t>
            </a:r>
            <a:r>
              <a:rPr lang="en-US" altLang="zh-CN" dirty="0" smtClean="0"/>
              <a:t>:</a:t>
            </a:r>
          </a:p>
          <a:p>
            <a:pPr marL="457189" lvl="1" indent="-457189">
              <a:buFont typeface="Wingdings" panose="05000000000000000000" pitchFamily="2" charset="2"/>
              <a:buChar char="Ø"/>
            </a:pPr>
            <a:endParaRPr lang="en-US" altLang="zh-CN" dirty="0"/>
          </a:p>
          <a:p>
            <a:pPr marL="457189" lvl="1" indent="-457189">
              <a:buFont typeface="Wingdings" panose="05000000000000000000" pitchFamily="2" charset="2"/>
              <a:buChar char="Ø"/>
            </a:pPr>
            <a:endParaRPr lang="en-US" altLang="zh-CN" dirty="0" smtClean="0"/>
          </a:p>
          <a:p>
            <a:pPr marL="457189" lvl="1" indent="-457189">
              <a:buFont typeface="Wingdings" panose="05000000000000000000" pitchFamily="2" charset="2"/>
              <a:buChar char="Ø"/>
            </a:pPr>
            <a:endParaRPr lang="en-US" altLang="zh-CN" dirty="0"/>
          </a:p>
          <a:p>
            <a:pPr marL="457189" lvl="1" indent="-457189">
              <a:buFont typeface="Wingdings" panose="05000000000000000000" pitchFamily="2" charset="2"/>
              <a:buChar char="Ø"/>
            </a:pPr>
            <a:r>
              <a:rPr lang="en-US" altLang="zh-CN" dirty="0"/>
              <a:t>In the example, the original balance is $100,000. At the end of the first month, interest at 4% is due on this balance, which comes to $100,000×0.04/12 or $333.33. The rest of the monthly payment, $477.42 - $333.33 or $144.08, is payment of principal. This $144.08 principal payment reduces the outstanding balance from the original $100,000 to $100,000 - $144.08 or $99,855.92 at the end of the first month.</a:t>
            </a:r>
          </a:p>
          <a:p>
            <a:pPr marL="457189" lvl="1" indent="-457189">
              <a:buFont typeface="Wingdings" panose="05000000000000000000" pitchFamily="2" charset="2"/>
              <a:buChar char="Ø"/>
            </a:pP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Fixed Rate Mortgage Payments </a:t>
            </a:r>
            <a:endParaRPr lang="zh-CN" altLang="en-US" dirty="0"/>
          </a:p>
        </p:txBody>
      </p:sp>
      <mc:AlternateContent xmlns:mc="http://schemas.openxmlformats.org/markup-compatibility/2006" xmlns:a14="http://schemas.microsoft.com/office/drawing/2010/main">
        <mc:Choice Requires="a14">
          <p:sp>
            <p:nvSpPr>
              <p:cNvPr id="4" name="文本框 4"/>
              <p:cNvSpPr txBox="1"/>
              <p:nvPr/>
            </p:nvSpPr>
            <p:spPr>
              <a:xfrm>
                <a:off x="3624739" y="2271187"/>
                <a:ext cx="4548877" cy="757195"/>
              </a:xfrm>
              <a:prstGeom prst="rect">
                <a:avLst/>
              </a:prstGeom>
              <a:noFill/>
            </p:spPr>
            <p:txBody>
              <a:bodyPr wrap="square" rtlCol="0">
                <a:spAutoFit/>
              </a:bodyPr>
              <a:lstStyle/>
              <a:p>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$477.42</a:t>
                </a:r>
                <a14:m>
                  <m:oMath xmlns:m="http://schemas.openxmlformats.org/officeDocument/2006/math">
                    <m:nary>
                      <m:naryPr>
                        <m:chr m:val="∑"/>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naryPr>
                      <m:sub>
                        <m:r>
                          <m:rPr>
                            <m:brk m:alnAt="23"/>
                          </m:rP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𝑛</m:t>
                        </m:r>
                        <m:r>
                          <m:rPr>
                            <m:brk m:alnAt="23"/>
                          </m:rP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brk m:alnAt="23"/>
                          </m:rP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360</m:t>
                        </m:r>
                      </m:sup>
                      <m:e>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04</m:t>
                                </m:r>
                              </m:num>
                              <m:den>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sSup>
                              <m:sSup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𝑛</m:t>
                                </m:r>
                              </m:sup>
                            </m:sSup>
                          </m:den>
                        </m:f>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100</m:t>
                        </m:r>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a:rPr lang="en-US" altLang="zh-CN" sz="24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000</m:t>
                        </m:r>
                      </m:e>
                    </m:nary>
                  </m:oMath>
                </a14:m>
                <a:endParaRPr lang="zh-CN" altLang="en-US" sz="20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4" name="文本框 4"/>
              <p:cNvSpPr txBox="1">
                <a:spLocks noRot="1" noChangeAspect="1" noMove="1" noResize="1" noEditPoints="1" noAdjustHandles="1" noChangeArrowheads="1" noChangeShapeType="1" noTextEdit="1"/>
              </p:cNvSpPr>
              <p:nvPr/>
            </p:nvSpPr>
            <p:spPr>
              <a:xfrm>
                <a:off x="3624739" y="2271187"/>
                <a:ext cx="4548877" cy="757195"/>
              </a:xfrm>
              <a:prstGeom prst="rect">
                <a:avLst/>
              </a:prstGeom>
              <a:blipFill rotWithShape="1">
                <a:blip r:embed="rId2"/>
                <a:stretch>
                  <a:fillRect l="-21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4561058"/>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40000"/>
              </a:lnSpc>
              <a:defRPr/>
            </a:pPr>
            <a:r>
              <a:rPr lang="en-US" altLang="zh-CN" dirty="0"/>
              <a:t>Fixed Rate Mortgage Payments (cont’d)</a:t>
            </a:r>
          </a:p>
          <a:p>
            <a:pPr lvl="1">
              <a:lnSpc>
                <a:spcPct val="140000"/>
              </a:lnSpc>
              <a:defRPr/>
            </a:pPr>
            <a:r>
              <a:rPr lang="en-US" altLang="zh-CN" u="sng" dirty="0"/>
              <a:t>Discounting using the mortgage rate at origination, the present value of the remaining payments equals the principal outstanding</a:t>
            </a:r>
            <a:r>
              <a:rPr lang="en-US" altLang="zh-CN" dirty="0"/>
              <a:t>. This is a fair pricing condition under the assumptions that term structure is flat and interest rates have not changed since the origination of the mortgage.</a:t>
            </a:r>
          </a:p>
          <a:p>
            <a:pPr lvl="2">
              <a:lnSpc>
                <a:spcPct val="140000"/>
              </a:lnSpc>
              <a:defRPr/>
            </a:pPr>
            <a:r>
              <a:rPr lang="en-US" altLang="zh-CN" b="1" dirty="0"/>
              <a:t>Example: </a:t>
            </a:r>
            <a:r>
              <a:rPr lang="en-US" altLang="zh-CN" dirty="0"/>
              <a:t>To illustrate this shortcut in this example, after 5 years or 60 monthly payments there remain 300 payments. The present value of these payments at the mortgage rate of 4% is</a:t>
            </a:r>
          </a:p>
          <a:p>
            <a:endParaRPr lang="zh-CN" altLang="en-US" dirty="0"/>
          </a:p>
        </p:txBody>
      </p:sp>
      <p:sp>
        <p:nvSpPr>
          <p:cNvPr id="4" name="标题 1"/>
          <p:cNvSpPr>
            <a:spLocks noGrp="1"/>
          </p:cNvSpPr>
          <p:nvPr>
            <p:ph type="title"/>
          </p:nvPr>
        </p:nvSpPr>
        <p:spPr/>
        <p:txBody>
          <a:bodyPr/>
          <a:lstStyle/>
          <a:p>
            <a:r>
              <a:rPr lang="en-US" altLang="zh-CN" sz="2800" dirty="0"/>
              <a:t>Cash Flow of Mortgage Loans</a:t>
            </a:r>
          </a:p>
        </p:txBody>
      </p:sp>
      <mc:AlternateContent xmlns:mc="http://schemas.openxmlformats.org/markup-compatibility/2006" xmlns:a14="http://schemas.microsoft.com/office/drawing/2010/main">
        <mc:Choice Requires="a14">
          <p:sp>
            <p:nvSpPr>
              <p:cNvPr id="5" name="文本框 4"/>
              <p:cNvSpPr txBox="1"/>
              <p:nvPr/>
            </p:nvSpPr>
            <p:spPr>
              <a:xfrm>
                <a:off x="1946243" y="4746092"/>
                <a:ext cx="8233454" cy="757964"/>
              </a:xfrm>
              <a:prstGeom prst="rect">
                <a:avLst/>
              </a:prstGeom>
              <a:noFill/>
            </p:spPr>
            <p:txBody>
              <a:bodyPr wrap="square" rtlCol="0">
                <a:spAutoFit/>
              </a:bodyPr>
              <a:lstStyle/>
              <a:p>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$477.42</a:t>
                </a:r>
                <a14:m>
                  <m:oMath xmlns:m="http://schemas.openxmlformats.org/officeDocument/2006/math">
                    <m:nary>
                      <m:naryPr>
                        <m:chr m:val="∑"/>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naryPr>
                      <m:sub>
                        <m:r>
                          <m:rPr>
                            <m:brk m:alnAt="23"/>
                          </m:rP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𝑛</m:t>
                        </m:r>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300</m:t>
                        </m:r>
                      </m:sup>
                      <m:e>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0.04</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sSup>
                              <m:sSup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𝑛</m:t>
                                </m:r>
                              </m:sup>
                            </m:sSup>
                          </m:den>
                        </m:f>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=$477.42</m:t>
                        </m:r>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0.04</m:t>
                            </m:r>
                          </m:den>
                        </m:f>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fPr>
                              <m:num>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0.04</m:t>
                                </m:r>
                              </m:num>
                              <m:den>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den>
                            </m:f>
                            <m:sSup>
                              <m:sSup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300</m:t>
                                </m:r>
                              </m:sup>
                            </m:sSup>
                          </m:den>
                        </m:f>
                        <m:r>
                          <a:rPr lang="en-US" altLang="zh-CN" sz="24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nary>
                  </m:oMath>
                </a14:m>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=$90,448</a:t>
                </a:r>
                <a:endParaRPr lang="zh-CN" altLang="en-US"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946243" y="4746092"/>
                <a:ext cx="8233454" cy="757964"/>
              </a:xfrm>
              <a:prstGeom prst="rect">
                <a:avLst/>
              </a:prstGeom>
              <a:blipFill rotWithShape="1">
                <a:blip r:embed="rId2"/>
                <a:stretch>
                  <a:fillRect l="-11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7387032"/>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40000"/>
              </a:lnSpc>
              <a:spcBef>
                <a:spcPct val="0"/>
              </a:spcBef>
            </a:pPr>
            <a:r>
              <a:rPr lang="en-US" altLang="zh-CN" dirty="0"/>
              <a:t>Prepayment Option</a:t>
            </a:r>
          </a:p>
          <a:p>
            <a:pPr lvl="1">
              <a:lnSpc>
                <a:spcPct val="140000"/>
              </a:lnSpc>
              <a:spcBef>
                <a:spcPct val="0"/>
              </a:spcBef>
            </a:pPr>
            <a:r>
              <a:rPr lang="en-US" altLang="zh-CN" dirty="0"/>
              <a:t>Mortgage borrowers have a prepayment option, that is, </a:t>
            </a:r>
            <a:r>
              <a:rPr lang="en-US" altLang="zh-CN" u="sng" dirty="0"/>
              <a:t>the option to pay the lender the outstanding principal at any time and be freed of the obligation to make further payments</a:t>
            </a:r>
            <a:r>
              <a:rPr lang="en-US" altLang="zh-CN" dirty="0"/>
              <a:t>. </a:t>
            </a:r>
          </a:p>
          <a:p>
            <a:pPr lvl="1">
              <a:lnSpc>
                <a:spcPct val="140000"/>
              </a:lnSpc>
              <a:spcBef>
                <a:spcPct val="0"/>
              </a:spcBef>
            </a:pPr>
            <a:r>
              <a:rPr lang="en-US" altLang="zh-CN" b="1" dirty="0"/>
              <a:t>Example: </a:t>
            </a:r>
            <a:r>
              <a:rPr lang="en-US" altLang="zh-CN" dirty="0"/>
              <a:t>In the example of the previous subsection, the mortgage balance at the end of five years is $ 90,448. At that time, therefore, the borrower can pay the lender this balance and no longer have to make monthly payments.</a:t>
            </a:r>
          </a:p>
          <a:p>
            <a:pPr lvl="1">
              <a:lnSpc>
                <a:spcPct val="140000"/>
              </a:lnSpc>
              <a:spcBef>
                <a:spcPct val="0"/>
              </a:spcBef>
            </a:pPr>
            <a:r>
              <a:rPr lang="en-US" altLang="zh-CN" u="sng" dirty="0"/>
              <a:t>The prepayment option is valuable when mortgage rates have fallen</a:t>
            </a:r>
            <a:r>
              <a:rPr lang="en-US" altLang="zh-CN" dirty="0"/>
              <a:t>. In that case, the present value of the remaining monthly payments exceeds the principal outstanding. Therefore, the borrower gains in present value from paying the principal outstanding in exchange for not having to make further payments.</a:t>
            </a:r>
          </a:p>
          <a:p>
            <a:endParaRPr lang="zh-CN" altLang="en-US" dirty="0"/>
          </a:p>
        </p:txBody>
      </p:sp>
      <p:sp>
        <p:nvSpPr>
          <p:cNvPr id="4" name="文本占位符 1"/>
          <p:cNvSpPr>
            <a:spLocks noGrp="1"/>
          </p:cNvSpPr>
          <p:nvPr>
            <p:ph type="title"/>
          </p:nvPr>
        </p:nvSpPr>
        <p:spPr/>
        <p:txBody>
          <a:bodyPr/>
          <a:lstStyle/>
          <a:p>
            <a:pPr eaLnBrk="1" hangingPunct="1"/>
            <a:r>
              <a:rPr lang="en-US" altLang="zh-CN" dirty="0"/>
              <a:t>Prepayment of Mortgage Loans</a:t>
            </a:r>
            <a:endParaRPr dirty="0"/>
          </a:p>
        </p:txBody>
      </p:sp>
    </p:spTree>
    <p:extLst>
      <p:ext uri="{BB962C8B-B14F-4D97-AF65-F5344CB8AC3E}">
        <p14:creationId xmlns:p14="http://schemas.microsoft.com/office/powerpoint/2010/main" val="3456090022"/>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40000"/>
              </a:lnSpc>
              <a:spcBef>
                <a:spcPct val="0"/>
              </a:spcBef>
            </a:pPr>
            <a:r>
              <a:rPr lang="en-US" altLang="zh-CN" dirty="0"/>
              <a:t>Prepayment Option</a:t>
            </a:r>
          </a:p>
          <a:p>
            <a:pPr lvl="1">
              <a:lnSpc>
                <a:spcPct val="140000"/>
              </a:lnSpc>
              <a:spcBef>
                <a:spcPct val="0"/>
              </a:spcBef>
            </a:pPr>
            <a:r>
              <a:rPr lang="en-US" altLang="zh-CN" b="1" dirty="0"/>
              <a:t>SMM and CPR</a:t>
            </a:r>
          </a:p>
          <a:p>
            <a:pPr lvl="2">
              <a:lnSpc>
                <a:spcPct val="140000"/>
              </a:lnSpc>
              <a:spcBef>
                <a:spcPct val="0"/>
              </a:spcBef>
            </a:pPr>
            <a:r>
              <a:rPr lang="en-US" altLang="zh-CN" dirty="0"/>
              <a:t>The </a:t>
            </a:r>
            <a:r>
              <a:rPr lang="en-US" altLang="zh-CN" b="1" dirty="0"/>
              <a:t>single monthly mortality rate</a:t>
            </a:r>
            <a:r>
              <a:rPr lang="en-US" altLang="zh-CN" dirty="0"/>
              <a:t> at month n, denoted SMM</a:t>
            </a:r>
            <a:r>
              <a:rPr lang="en-US" altLang="zh-CN" baseline="-25000" dirty="0"/>
              <a:t>n</a:t>
            </a:r>
            <a:r>
              <a:rPr lang="en-US" altLang="zh-CN" dirty="0"/>
              <a:t>, is the </a:t>
            </a:r>
            <a:r>
              <a:rPr lang="en-US" altLang="zh-CN" u="sng" dirty="0"/>
              <a:t>percentage of principal outstanding at the beginning of month n that is prepaid during month n</a:t>
            </a:r>
            <a:r>
              <a:rPr lang="en-US" altLang="zh-CN" dirty="0"/>
              <a:t>. The SMM is often </a:t>
            </a:r>
            <a:r>
              <a:rPr lang="en-US" altLang="zh-CN" u="sng" dirty="0"/>
              <a:t>annualized</a:t>
            </a:r>
            <a:r>
              <a:rPr lang="en-US" altLang="zh-CN" dirty="0"/>
              <a:t> to a </a:t>
            </a:r>
            <a:r>
              <a:rPr lang="en-US" altLang="zh-CN" b="1" dirty="0"/>
              <a:t>constant prepayment rate or conditional prepayment rate (CPR)</a:t>
            </a:r>
            <a:r>
              <a:rPr lang="en-US" altLang="zh-CN" dirty="0"/>
              <a:t>. A pool that prepays at a constant rate equal to SMM</a:t>
            </a:r>
            <a:r>
              <a:rPr lang="en-US" altLang="zh-CN" baseline="-25000" dirty="0"/>
              <a:t>n</a:t>
            </a:r>
            <a:r>
              <a:rPr lang="en-US" altLang="zh-CN" dirty="0"/>
              <a:t> has 1 – SMM</a:t>
            </a:r>
            <a:r>
              <a:rPr lang="en-US" altLang="zh-CN" baseline="-25000" dirty="0"/>
              <a:t>n</a:t>
            </a:r>
            <a:r>
              <a:rPr lang="en-US" altLang="zh-CN" dirty="0"/>
              <a:t> of the principal remaining at the end of one month, (1 – SMM</a:t>
            </a:r>
            <a:r>
              <a:rPr lang="en-US" altLang="zh-CN" baseline="-25000" dirty="0"/>
              <a:t>n</a:t>
            </a:r>
            <a:r>
              <a:rPr lang="en-US" altLang="zh-CN" dirty="0"/>
              <a:t>)</a:t>
            </a:r>
            <a:r>
              <a:rPr lang="en-US" altLang="zh-CN" baseline="30000" dirty="0"/>
              <a:t>12</a:t>
            </a:r>
            <a:r>
              <a:rPr lang="en-US" altLang="zh-CN" dirty="0"/>
              <a:t> remaining at the end of 12 months, and therefore 1 – (1 – SMM</a:t>
            </a:r>
            <a:r>
              <a:rPr lang="en-US" altLang="zh-CN" baseline="-25000" dirty="0"/>
              <a:t>n</a:t>
            </a:r>
            <a:r>
              <a:rPr lang="en-US" altLang="zh-CN" dirty="0"/>
              <a:t>)</a:t>
            </a:r>
            <a:r>
              <a:rPr lang="en-US" altLang="zh-CN" baseline="30000" dirty="0"/>
              <a:t>12</a:t>
            </a:r>
            <a:r>
              <a:rPr lang="en-US" altLang="zh-CN" dirty="0"/>
              <a:t> principal prepaying over those 12 months. Hence, the annualized CPR is related to SMM as follows:</a:t>
            </a:r>
          </a:p>
          <a:p>
            <a:endParaRPr lang="zh-CN" altLang="en-US" dirty="0"/>
          </a:p>
        </p:txBody>
      </p:sp>
      <p:sp>
        <p:nvSpPr>
          <p:cNvPr id="4" name="文本占位符 1"/>
          <p:cNvSpPr>
            <a:spLocks noGrp="1"/>
          </p:cNvSpPr>
          <p:nvPr>
            <p:ph type="title"/>
          </p:nvPr>
        </p:nvSpPr>
        <p:spPr/>
        <p:txBody>
          <a:bodyPr/>
          <a:lstStyle/>
          <a:p>
            <a:pPr eaLnBrk="1" hangingPunct="1"/>
            <a:r>
              <a:rPr lang="en-US" altLang="zh-CN" dirty="0"/>
              <a:t>Prepayment of Mortgage Loans</a:t>
            </a:r>
            <a:endParaRPr dirty="0"/>
          </a:p>
        </p:txBody>
      </p:sp>
      <mc:AlternateContent xmlns:mc="http://schemas.openxmlformats.org/markup-compatibility/2006" xmlns:a14="http://schemas.microsoft.com/office/drawing/2010/main">
        <mc:Choice Requires="a14">
          <p:sp>
            <p:nvSpPr>
              <p:cNvPr id="5" name="文本框 4"/>
              <p:cNvSpPr txBox="1"/>
              <p:nvPr/>
            </p:nvSpPr>
            <p:spPr>
              <a:xfrm>
                <a:off x="4386946" y="5744458"/>
                <a:ext cx="4243869" cy="461665"/>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CPR</m:t>
                          </m:r>
                        </m:e>
                        <m:sub>
                          <m:r>
                            <m:rPr>
                              <m:sty m:val="p"/>
                            </m:rP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=1−(1−</m:t>
                      </m:r>
                      <m:sSub>
                        <m:sSub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bPr>
                        <m:e>
                          <m:r>
                            <m:rPr>
                              <m:sty m:val="p"/>
                            </m:rP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SMM</m:t>
                          </m:r>
                        </m:e>
                        <m:sub>
                          <m:r>
                            <m:rPr>
                              <m:sty m:val="p"/>
                            </m:rP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sSup>
                        <m:sSupPr>
                          <m:ctrlPr>
                            <a:rPr lang="en-US" altLang="zh-CN" sz="2400" b="0" i="1" dirty="0">
                              <a:solidFill>
                                <a:srgbClr val="2C3E50"/>
                              </a:solidFill>
                              <a:latin typeface="Cambria Math"/>
                              <a:ea typeface="微软雅黑" panose="020B0503020204020204" pitchFamily="34" charset="-122"/>
                              <a:cs typeface="Segoe UI" panose="020B0502040204020203" pitchFamily="34" charset="0"/>
                            </a:rPr>
                          </m:ctrlPr>
                        </m:sSupPr>
                        <m:e>
                          <m: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24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sup>
                      </m:sSup>
                    </m:oMath>
                  </m:oMathPara>
                </a14:m>
                <a:endParaRPr lang="zh-CN" altLang="en-US"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386946" y="5744458"/>
                <a:ext cx="4243869" cy="461665"/>
              </a:xfrm>
              <a:prstGeom prst="rect">
                <a:avLst/>
              </a:prstGeom>
              <a:blipFill rotWithShape="1">
                <a:blip r:embed="rId2"/>
                <a:stretch>
                  <a:fillRect b="-16456"/>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981774726"/>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smtClean="0"/>
              <a:t>Participant</a:t>
            </a:r>
          </a:p>
          <a:p>
            <a:pPr lvl="1">
              <a:lnSpc>
                <a:spcPct val="140000"/>
              </a:lnSpc>
              <a:spcBef>
                <a:spcPct val="0"/>
              </a:spcBef>
            </a:pPr>
            <a:r>
              <a:rPr lang="en-US" altLang="zh-CN" b="1" dirty="0"/>
              <a:t>Original </a:t>
            </a:r>
            <a:r>
              <a:rPr lang="en-US" altLang="zh-CN" b="1" dirty="0" smtClean="0"/>
              <a:t>Bank: </a:t>
            </a:r>
            <a:r>
              <a:rPr lang="en-US" altLang="zh-CN" dirty="0" smtClean="0"/>
              <a:t>It </a:t>
            </a:r>
            <a:r>
              <a:rPr lang="en-US" altLang="zh-CN" dirty="0"/>
              <a:t>initially makes a mortgage loan that is part of a pool. </a:t>
            </a:r>
            <a:endParaRPr lang="en-US" altLang="zh-CN" dirty="0" smtClean="0"/>
          </a:p>
          <a:p>
            <a:pPr lvl="1">
              <a:lnSpc>
                <a:spcPct val="140000"/>
              </a:lnSpc>
              <a:spcBef>
                <a:spcPct val="0"/>
              </a:spcBef>
            </a:pPr>
            <a:r>
              <a:rPr lang="en-US" altLang="zh-CN" b="1" dirty="0"/>
              <a:t>MBS </a:t>
            </a:r>
            <a:r>
              <a:rPr lang="en-US" altLang="zh-CN" b="1" dirty="0" smtClean="0"/>
              <a:t>Issuer: </a:t>
            </a:r>
            <a:r>
              <a:rPr lang="en-US" altLang="zh-CN" dirty="0" smtClean="0"/>
              <a:t>This </a:t>
            </a:r>
            <a:r>
              <a:rPr lang="en-US" altLang="zh-CN" dirty="0"/>
              <a:t>is the original buyer of the mortgages from the bank and is responsible for the formation of pool and issuing the mortgage backed securities with the underlying pool. </a:t>
            </a:r>
          </a:p>
          <a:p>
            <a:pPr lvl="1">
              <a:lnSpc>
                <a:spcPct val="140000"/>
              </a:lnSpc>
              <a:spcBef>
                <a:spcPct val="0"/>
              </a:spcBef>
            </a:pPr>
            <a:r>
              <a:rPr lang="en-US" altLang="zh-CN" b="1" dirty="0"/>
              <a:t>Mortgage </a:t>
            </a:r>
            <a:r>
              <a:rPr lang="en-US" altLang="zh-CN" b="1" dirty="0" smtClean="0"/>
              <a:t>servicers: </a:t>
            </a:r>
            <a:r>
              <a:rPr lang="en-US" altLang="zh-CN" dirty="0" smtClean="0"/>
              <a:t>Manage </a:t>
            </a:r>
            <a:r>
              <a:rPr lang="en-US" altLang="zh-CN" dirty="0"/>
              <a:t>the flow of cash from borrowers to investors in exchange for a fee taken from those cash flows.</a:t>
            </a:r>
          </a:p>
          <a:p>
            <a:pPr lvl="1">
              <a:lnSpc>
                <a:spcPct val="140000"/>
              </a:lnSpc>
              <a:spcBef>
                <a:spcPct val="0"/>
              </a:spcBef>
            </a:pPr>
            <a:r>
              <a:rPr lang="en-US" altLang="zh-CN" b="1" dirty="0"/>
              <a:t>Mortgage </a:t>
            </a:r>
            <a:r>
              <a:rPr lang="en-US" altLang="zh-CN" b="1" dirty="0" smtClean="0"/>
              <a:t>guarantors:</a:t>
            </a:r>
            <a:r>
              <a:rPr lang="en-US" altLang="zh-CN" dirty="0" smtClean="0"/>
              <a:t> Guarantee </a:t>
            </a:r>
            <a:r>
              <a:rPr lang="en-US" altLang="zh-CN" dirty="0"/>
              <a:t>investors the payment of interest and principal against borrower defaults, also in exchange for a fee.</a:t>
            </a:r>
          </a:p>
          <a:p>
            <a:endParaRPr lang="zh-CN" altLang="en-US" dirty="0"/>
          </a:p>
        </p:txBody>
      </p:sp>
      <p:sp>
        <p:nvSpPr>
          <p:cNvPr id="4" name="文本占位符 1"/>
          <p:cNvSpPr>
            <a:spLocks noGrp="1"/>
          </p:cNvSpPr>
          <p:nvPr>
            <p:ph type="title"/>
          </p:nvPr>
        </p:nvSpPr>
        <p:spPr/>
        <p:txBody>
          <a:bodyPr/>
          <a:lstStyle/>
          <a:p>
            <a:r>
              <a:rPr lang="en-US" altLang="zh-CN" sz="2800" dirty="0"/>
              <a:t>Securitization </a:t>
            </a:r>
            <a:r>
              <a:rPr lang="en-US" altLang="zh-CN" sz="2800" dirty="0" smtClean="0"/>
              <a:t>Process </a:t>
            </a:r>
            <a:r>
              <a:rPr lang="en-US" altLang="zh-CN" sz="2800" dirty="0"/>
              <a:t>of MBS </a:t>
            </a:r>
          </a:p>
        </p:txBody>
      </p:sp>
    </p:spTree>
    <p:extLst>
      <p:ext uri="{BB962C8B-B14F-4D97-AF65-F5344CB8AC3E}">
        <p14:creationId xmlns:p14="http://schemas.microsoft.com/office/powerpoint/2010/main" val="2861710324"/>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85000" lnSpcReduction="20000"/>
          </a:bodyPr>
          <a:lstStyle/>
          <a:p>
            <a:pPr marL="457200" indent="-457200">
              <a:buFont typeface="+mj-lt"/>
              <a:buAutoNum type="arabicPeriod"/>
            </a:pPr>
            <a:r>
              <a:rPr lang="en-US" altLang="zh-CN" b="0" dirty="0">
                <a:solidFill>
                  <a:schemeClr val="tx1"/>
                </a:solidFill>
              </a:rPr>
              <a:t>Bank with considerable assets in the form of mortgages sells the portfolio to get early cash to make other loans. </a:t>
            </a:r>
            <a:r>
              <a:rPr lang="zh-CN" altLang="en-US" b="0" dirty="0" smtClean="0">
                <a:solidFill>
                  <a:schemeClr val="tx1"/>
                </a:solidFill>
              </a:rPr>
              <a:t>（</a:t>
            </a:r>
            <a:r>
              <a:rPr lang="en-US" altLang="zh-CN" b="0" dirty="0">
                <a:solidFill>
                  <a:schemeClr val="tx1"/>
                </a:solidFill>
              </a:rPr>
              <a:t>government backed organizations, quasi-governmental or private entities</a:t>
            </a:r>
            <a:r>
              <a:rPr lang="zh-CN" altLang="en-US" b="0" dirty="0" smtClean="0">
                <a:solidFill>
                  <a:schemeClr val="tx1"/>
                </a:solidFill>
              </a:rPr>
              <a:t>）</a:t>
            </a:r>
            <a:r>
              <a:rPr lang="en-US" altLang="zh-CN" b="0" dirty="0" smtClean="0">
                <a:solidFill>
                  <a:schemeClr val="tx1"/>
                </a:solidFill>
              </a:rPr>
              <a:t>.</a:t>
            </a:r>
          </a:p>
          <a:p>
            <a:pPr marL="457200" indent="-457200">
              <a:buFont typeface="+mj-lt"/>
              <a:buAutoNum type="arabicPeriod"/>
            </a:pPr>
            <a:r>
              <a:rPr lang="en-US" altLang="zh-CN" b="0" dirty="0" smtClean="0">
                <a:solidFill>
                  <a:schemeClr val="tx1"/>
                </a:solidFill>
              </a:rPr>
              <a:t>The </a:t>
            </a:r>
            <a:r>
              <a:rPr lang="en-US" altLang="zh-CN" b="0" dirty="0">
                <a:solidFill>
                  <a:schemeClr val="tx1"/>
                </a:solidFill>
              </a:rPr>
              <a:t>buyer then groups all the similar mortgages it has already purchased. The mortgages are grouped on the basis of similar characteristics such as loan type, interest rates, maturities, etc. Such kind of grouping is commonly known as pooling of mortgages</a:t>
            </a:r>
            <a:r>
              <a:rPr lang="en-US" altLang="zh-CN" b="0" dirty="0" smtClean="0">
                <a:solidFill>
                  <a:schemeClr val="tx1"/>
                </a:solidFill>
              </a:rPr>
              <a:t>.</a:t>
            </a:r>
          </a:p>
          <a:p>
            <a:pPr marL="457200" indent="-457200">
              <a:buFont typeface="+mj-lt"/>
              <a:buAutoNum type="arabicPeriod"/>
            </a:pPr>
            <a:r>
              <a:rPr lang="en-US" altLang="zh-CN" b="0" dirty="0">
                <a:solidFill>
                  <a:schemeClr val="tx1"/>
                </a:solidFill>
              </a:rPr>
              <a:t>The buyer then issues securities (MBS) that represent an interest in the pool of mortgages called </a:t>
            </a:r>
            <a:r>
              <a:rPr lang="en-US" altLang="zh-CN" dirty="0">
                <a:solidFill>
                  <a:schemeClr val="tx1"/>
                </a:solidFill>
              </a:rPr>
              <a:t>as securitizing the pool</a:t>
            </a:r>
            <a:r>
              <a:rPr lang="en-US" altLang="zh-CN" dirty="0" smtClean="0">
                <a:solidFill>
                  <a:schemeClr val="tx1"/>
                </a:solidFill>
              </a:rPr>
              <a:t>.</a:t>
            </a:r>
          </a:p>
          <a:p>
            <a:pPr marL="457200" indent="-457200">
              <a:buFont typeface="+mj-lt"/>
              <a:buAutoNum type="arabicPeriod"/>
            </a:pPr>
            <a:r>
              <a:rPr lang="en-US" altLang="zh-CN" b="0" dirty="0" smtClean="0">
                <a:solidFill>
                  <a:schemeClr val="tx1"/>
                </a:solidFill>
              </a:rPr>
              <a:t>It </a:t>
            </a:r>
            <a:r>
              <a:rPr lang="en-US" altLang="zh-CN" b="0" dirty="0">
                <a:solidFill>
                  <a:schemeClr val="tx1"/>
                </a:solidFill>
              </a:rPr>
              <a:t>sells the MBS to investors in the open market. With the funds from the sale of the MBS, the original buyer of the mortgage pools from the banks can purchase more mortgages and create more MBS</a:t>
            </a:r>
            <a:r>
              <a:rPr lang="en-US" altLang="zh-CN" b="0" dirty="0" smtClean="0">
                <a:solidFill>
                  <a:schemeClr val="tx1"/>
                </a:solidFill>
              </a:rPr>
              <a:t>.</a:t>
            </a:r>
          </a:p>
          <a:p>
            <a:pPr marL="457200" indent="-457200">
              <a:buFont typeface="+mj-lt"/>
              <a:buAutoNum type="arabicPeriod"/>
            </a:pPr>
            <a:r>
              <a:rPr lang="en-US" altLang="zh-CN" b="0" dirty="0">
                <a:solidFill>
                  <a:schemeClr val="tx1"/>
                </a:solidFill>
              </a:rPr>
              <a:t>When the obligors of the mortgage loans make their repayments, the bank &amp; the MBS issuers keep a fee or spread and pass on the rest of the payment to the investors.</a:t>
            </a:r>
            <a:endParaRPr lang="zh-CN" altLang="en-US" b="0" dirty="0">
              <a:solidFill>
                <a:schemeClr val="tx1"/>
              </a:solidFill>
            </a:endParaRPr>
          </a:p>
        </p:txBody>
      </p:sp>
      <p:sp>
        <p:nvSpPr>
          <p:cNvPr id="4" name="文本占位符 1"/>
          <p:cNvSpPr>
            <a:spLocks noGrp="1"/>
          </p:cNvSpPr>
          <p:nvPr>
            <p:ph type="title"/>
          </p:nvPr>
        </p:nvSpPr>
        <p:spPr/>
        <p:txBody>
          <a:bodyPr/>
          <a:lstStyle/>
          <a:p>
            <a:r>
              <a:rPr lang="en-US" altLang="zh-CN" sz="2800" dirty="0"/>
              <a:t>Securitization </a:t>
            </a:r>
            <a:r>
              <a:rPr lang="en-US" altLang="zh-CN" sz="2800" dirty="0" smtClean="0"/>
              <a:t>Process </a:t>
            </a:r>
            <a:r>
              <a:rPr lang="en-US" altLang="zh-CN" sz="2800" dirty="0"/>
              <a:t>of MBS </a:t>
            </a:r>
          </a:p>
        </p:txBody>
      </p:sp>
    </p:spTree>
    <p:extLst>
      <p:ext uri="{BB962C8B-B14F-4D97-AF65-F5344CB8AC3E}">
        <p14:creationId xmlns:p14="http://schemas.microsoft.com/office/powerpoint/2010/main" val="308364624"/>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a:bodyPr>
          <a:lstStyle/>
          <a:p>
            <a:r>
              <a:rPr lang="en-US" altLang="zh-CN" dirty="0"/>
              <a:t>There are two kinds of MBS. </a:t>
            </a:r>
            <a:endParaRPr lang="en-US" altLang="zh-CN" dirty="0" smtClean="0"/>
          </a:p>
          <a:p>
            <a:pPr lvl="1"/>
            <a:r>
              <a:rPr lang="en-US" altLang="zh-CN" dirty="0" smtClean="0"/>
              <a:t>The </a:t>
            </a:r>
            <a:r>
              <a:rPr lang="en-US" altLang="zh-CN" dirty="0"/>
              <a:t>first, called pass-through or participation certificates (PCs) represent a direct claim on the pool of mortgage loans</a:t>
            </a:r>
            <a:r>
              <a:rPr lang="en-US" altLang="zh-CN" dirty="0" smtClean="0"/>
              <a:t>.</a:t>
            </a:r>
          </a:p>
          <a:p>
            <a:pPr lvl="1"/>
            <a:r>
              <a:rPr lang="en-US" altLang="zh-CN" dirty="0" smtClean="0"/>
              <a:t>The </a:t>
            </a:r>
            <a:r>
              <a:rPr lang="en-US" altLang="zh-CN" dirty="0"/>
              <a:t>second kind, called collateralized mortgage obligation (CMOs) or real estate mortgage investment conduits (REMICs) are more complicated. These securities essentially take the interest and principal payments from several MBS and create additional securities with varying maturities and coupons</a:t>
            </a:r>
            <a:r>
              <a:rPr lang="en-US" altLang="zh-CN" dirty="0" smtClean="0"/>
              <a:t>.</a:t>
            </a:r>
          </a:p>
        </p:txBody>
      </p:sp>
      <p:sp>
        <p:nvSpPr>
          <p:cNvPr id="4" name="文本占位符 1"/>
          <p:cNvSpPr>
            <a:spLocks noGrp="1"/>
          </p:cNvSpPr>
          <p:nvPr>
            <p:ph type="title"/>
          </p:nvPr>
        </p:nvSpPr>
        <p:spPr/>
        <p:txBody>
          <a:bodyPr/>
          <a:lstStyle/>
          <a:p>
            <a:r>
              <a:rPr lang="en-US" altLang="zh-CN" sz="2800" dirty="0"/>
              <a:t>Securitization </a:t>
            </a:r>
            <a:r>
              <a:rPr lang="en-US" altLang="zh-CN" sz="2800" dirty="0" smtClean="0"/>
              <a:t>Process </a:t>
            </a:r>
            <a:r>
              <a:rPr lang="en-US" altLang="zh-CN" sz="2800" dirty="0"/>
              <a:t>of MBS </a:t>
            </a:r>
          </a:p>
        </p:txBody>
      </p:sp>
    </p:spTree>
    <p:extLst>
      <p:ext uri="{BB962C8B-B14F-4D97-AF65-F5344CB8AC3E}">
        <p14:creationId xmlns:p14="http://schemas.microsoft.com/office/powerpoint/2010/main" val="2330828721"/>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40000"/>
              </a:lnSpc>
              <a:spcBef>
                <a:spcPct val="0"/>
              </a:spcBef>
            </a:pPr>
            <a:r>
              <a:rPr lang="en-US" altLang="zh-CN" dirty="0"/>
              <a:t>Trading of Agency Mortgage Pools</a:t>
            </a:r>
          </a:p>
          <a:p>
            <a:pPr lvl="1">
              <a:lnSpc>
                <a:spcPct val="140000"/>
              </a:lnSpc>
              <a:spcBef>
                <a:spcPct val="0"/>
              </a:spcBef>
            </a:pPr>
            <a:r>
              <a:rPr lang="en-US" altLang="zh-CN" dirty="0"/>
              <a:t>Agency mortgage pools trade in two forms: specified pools and TBAs (To Be Announced)</a:t>
            </a:r>
          </a:p>
          <a:p>
            <a:pPr lvl="2">
              <a:lnSpc>
                <a:spcPct val="140000"/>
              </a:lnSpc>
              <a:spcBef>
                <a:spcPct val="0"/>
              </a:spcBef>
            </a:pPr>
            <a:r>
              <a:rPr lang="en-US" altLang="zh-CN" dirty="0"/>
              <a:t>In the </a:t>
            </a:r>
            <a:r>
              <a:rPr lang="en-US" altLang="zh-CN" b="1" dirty="0"/>
              <a:t>specified pools market</a:t>
            </a:r>
            <a:r>
              <a:rPr lang="en-US" altLang="zh-CN" dirty="0"/>
              <a:t>, buyer and sellers agree to </a:t>
            </a:r>
            <a:r>
              <a:rPr lang="en-US" altLang="zh-CN" u="sng" dirty="0"/>
              <a:t>trade a particular pool of loans</a:t>
            </a:r>
            <a:r>
              <a:rPr lang="en-US" altLang="zh-CN" dirty="0"/>
              <a:t>. Consequently, the price of a trade reflects the characteristics of the particular pool.</a:t>
            </a:r>
          </a:p>
          <a:p>
            <a:pPr lvl="2">
              <a:lnSpc>
                <a:spcPct val="140000"/>
              </a:lnSpc>
              <a:spcBef>
                <a:spcPct val="0"/>
              </a:spcBef>
            </a:pPr>
            <a:r>
              <a:rPr lang="en-US" altLang="zh-CN" dirty="0"/>
              <a:t>Much </a:t>
            </a:r>
            <a:r>
              <a:rPr lang="en-US" altLang="zh-CN" u="sng" dirty="0"/>
              <a:t>more liquid</a:t>
            </a:r>
            <a:r>
              <a:rPr lang="en-US" altLang="zh-CN" dirty="0"/>
              <a:t>, however, is the </a:t>
            </a:r>
            <a:r>
              <a:rPr lang="en-US" altLang="zh-CN" b="1" dirty="0"/>
              <a:t>TBA market</a:t>
            </a:r>
            <a:r>
              <a:rPr lang="en-US" altLang="zh-CN" dirty="0"/>
              <a:t>, which is a </a:t>
            </a:r>
            <a:r>
              <a:rPr lang="en-US" altLang="zh-CN" u="sng" dirty="0"/>
              <a:t>forward market with a delivery option</a:t>
            </a:r>
            <a:r>
              <a:rPr lang="en-US" altLang="zh-CN" dirty="0"/>
              <a:t>. The TBA seller will pick the cheapest-to-deliver pool, that is, the pool that is worth the least subject to the issuer, maturity, and coupon requirements.</a:t>
            </a:r>
          </a:p>
          <a:p>
            <a:endParaRPr lang="zh-CN" altLang="en-US" dirty="0"/>
          </a:p>
        </p:txBody>
      </p:sp>
      <p:sp>
        <p:nvSpPr>
          <p:cNvPr id="4" name="文本占位符 1"/>
          <p:cNvSpPr>
            <a:spLocks noGrp="1"/>
          </p:cNvSpPr>
          <p:nvPr>
            <p:ph type="title"/>
          </p:nvPr>
        </p:nvSpPr>
        <p:spPr/>
        <p:txBody>
          <a:bodyPr/>
          <a:lstStyle/>
          <a:p>
            <a:r>
              <a:rPr lang="en-US" altLang="zh-CN" sz="2800" dirty="0" smtClean="0"/>
              <a:t>Specified pools and TBAs</a:t>
            </a:r>
            <a:endParaRPr lang="en-US" altLang="zh-CN" sz="2800" dirty="0"/>
          </a:p>
        </p:txBody>
      </p:sp>
    </p:spTree>
    <p:extLst>
      <p:ext uri="{BB962C8B-B14F-4D97-AF65-F5344CB8AC3E}">
        <p14:creationId xmlns:p14="http://schemas.microsoft.com/office/powerpoint/2010/main" val="1768168874"/>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Dollar Rolls</a:t>
            </a:r>
            <a:endParaRPr lang="zh-CN" altLang="en-US" dirty="0"/>
          </a:p>
        </p:txBody>
      </p:sp>
      <p:sp>
        <p:nvSpPr>
          <p:cNvPr id="3" name="文本占位符 2"/>
          <p:cNvSpPr>
            <a:spLocks noGrp="1"/>
          </p:cNvSpPr>
          <p:nvPr>
            <p:ph type="body" sz="quarter" idx="10"/>
          </p:nvPr>
        </p:nvSpPr>
        <p:spPr/>
        <p:txBody>
          <a:bodyPr/>
          <a:lstStyle/>
          <a:p>
            <a:r>
              <a:rPr lang="en-US" altLang="zh-CN" dirty="0" smtClean="0"/>
              <a:t>Dollar rolls</a:t>
            </a:r>
          </a:p>
          <a:p>
            <a:pPr lvl="1">
              <a:lnSpc>
                <a:spcPct val="140000"/>
              </a:lnSpc>
              <a:spcBef>
                <a:spcPct val="0"/>
              </a:spcBef>
            </a:pPr>
            <a:r>
              <a:rPr lang="en-US" altLang="zh-CN" dirty="0"/>
              <a:t>Consider an investor who has just purchased a mortgage pool but wants to finance that purchase over the next month. An alternative for financing mortgages is the </a:t>
            </a:r>
            <a:r>
              <a:rPr lang="en-US" altLang="zh-CN" b="1" dirty="0"/>
              <a:t>dollar roll</a:t>
            </a:r>
            <a:r>
              <a:rPr lang="en-US" altLang="zh-CN" dirty="0"/>
              <a:t>. </a:t>
            </a:r>
            <a:r>
              <a:rPr lang="en-US" altLang="zh-CN" u="sng" dirty="0"/>
              <a:t>The buyer of the roll sells a TBA for one settlement month and buys the same TBA for the following settlement month</a:t>
            </a:r>
            <a:r>
              <a:rPr lang="en-US" altLang="zh-CN" dirty="0"/>
              <a:t>. </a:t>
            </a:r>
          </a:p>
          <a:p>
            <a:pPr lvl="1">
              <a:lnSpc>
                <a:spcPct val="140000"/>
              </a:lnSpc>
              <a:spcBef>
                <a:spcPct val="0"/>
              </a:spcBef>
            </a:pPr>
            <a:r>
              <a:rPr lang="en-US" altLang="zh-CN" b="1" dirty="0"/>
              <a:t>Value of the Dollar Roll</a:t>
            </a:r>
          </a:p>
          <a:p>
            <a:pPr lvl="2">
              <a:lnSpc>
                <a:spcPct val="140000"/>
              </a:lnSpc>
              <a:spcBef>
                <a:spcPct val="0"/>
              </a:spcBef>
            </a:pPr>
            <a:r>
              <a:rPr lang="en-US" altLang="zh-CN" u="sng" dirty="0"/>
              <a:t>Difference in proceeds between: a. Starting with a given pool and buying the roll and; b. Holding that pool over the month</a:t>
            </a:r>
            <a:r>
              <a:rPr lang="en-US" altLang="zh-CN" dirty="0"/>
              <a:t>. </a:t>
            </a:r>
          </a:p>
          <a:p>
            <a:pPr lvl="2">
              <a:lnSpc>
                <a:spcPct val="140000"/>
              </a:lnSpc>
              <a:spcBef>
                <a:spcPct val="0"/>
              </a:spcBef>
            </a:pPr>
            <a:r>
              <a:rPr lang="en-US" altLang="zh-CN" dirty="0"/>
              <a:t>If the value of the roll is </a:t>
            </a:r>
            <a:r>
              <a:rPr lang="en-US" altLang="zh-CN" u="sng" dirty="0"/>
              <a:t>zero</a:t>
            </a:r>
            <a:r>
              <a:rPr lang="en-US" altLang="zh-CN" dirty="0"/>
              <a:t>, the roll is said to trade at </a:t>
            </a:r>
            <a:r>
              <a:rPr lang="en-US" altLang="zh-CN" b="1" dirty="0"/>
              <a:t>breakeven</a:t>
            </a:r>
            <a:r>
              <a:rPr lang="en-US" altLang="zh-CN" dirty="0"/>
              <a:t>.</a:t>
            </a:r>
          </a:p>
          <a:p>
            <a:pPr lvl="2">
              <a:lnSpc>
                <a:spcPct val="140000"/>
              </a:lnSpc>
              <a:spcBef>
                <a:spcPct val="0"/>
              </a:spcBef>
            </a:pPr>
            <a:r>
              <a:rPr lang="en-US" altLang="zh-CN" dirty="0"/>
              <a:t>If the </a:t>
            </a:r>
            <a:r>
              <a:rPr lang="en-US" altLang="zh-CN" u="sng" dirty="0"/>
              <a:t>forward drop is larger</a:t>
            </a:r>
            <a:r>
              <a:rPr lang="en-US" altLang="zh-CN" dirty="0"/>
              <a:t> so that the </a:t>
            </a:r>
            <a:r>
              <a:rPr lang="en-US" altLang="zh-CN" u="sng" dirty="0"/>
              <a:t>value of the roll is positive</a:t>
            </a:r>
            <a:r>
              <a:rPr lang="en-US" altLang="zh-CN" dirty="0"/>
              <a:t>, the roll is said to trade </a:t>
            </a:r>
            <a:r>
              <a:rPr lang="en-US" altLang="zh-CN" b="1" dirty="0"/>
              <a:t>above carry</a:t>
            </a:r>
            <a:r>
              <a:rPr lang="en-US" altLang="zh-CN" dirty="0"/>
              <a:t>.</a:t>
            </a:r>
          </a:p>
          <a:p>
            <a:endParaRPr lang="zh-CN" altLang="en-US" dirty="0"/>
          </a:p>
        </p:txBody>
      </p:sp>
    </p:spTree>
    <p:extLst>
      <p:ext uri="{BB962C8B-B14F-4D97-AF65-F5344CB8AC3E}">
        <p14:creationId xmlns:p14="http://schemas.microsoft.com/office/powerpoint/2010/main" val="4293609989"/>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Dollar Rolls</a:t>
            </a:r>
            <a:endParaRPr lang="zh-CN" altLang="en-US" dirty="0"/>
          </a:p>
        </p:txBody>
      </p:sp>
      <p:sp>
        <p:nvSpPr>
          <p:cNvPr id="3" name="文本占位符 2"/>
          <p:cNvSpPr>
            <a:spLocks noGrp="1"/>
          </p:cNvSpPr>
          <p:nvPr>
            <p:ph type="body" sz="quarter" idx="10"/>
          </p:nvPr>
        </p:nvSpPr>
        <p:spPr/>
        <p:txBody>
          <a:bodyPr/>
          <a:lstStyle/>
          <a:p>
            <a:pPr>
              <a:lnSpc>
                <a:spcPct val="140000"/>
              </a:lnSpc>
              <a:spcBef>
                <a:spcPct val="0"/>
              </a:spcBef>
            </a:pPr>
            <a:r>
              <a:rPr lang="en-US" altLang="zh-CN" dirty="0"/>
              <a:t>Dollar Rolls (cont’d)</a:t>
            </a:r>
          </a:p>
          <a:p>
            <a:pPr lvl="1">
              <a:lnSpc>
                <a:spcPct val="140000"/>
              </a:lnSpc>
              <a:spcBef>
                <a:spcPct val="0"/>
              </a:spcBef>
            </a:pPr>
            <a:r>
              <a:rPr lang="en-US" altLang="zh-CN" b="1" dirty="0"/>
              <a:t>Example</a:t>
            </a:r>
          </a:p>
          <a:p>
            <a:pPr lvl="2">
              <a:lnSpc>
                <a:spcPct val="140000"/>
              </a:lnSpc>
              <a:spcBef>
                <a:spcPct val="0"/>
              </a:spcBef>
            </a:pPr>
            <a:r>
              <a:rPr lang="en-US" altLang="zh-CN" dirty="0"/>
              <a:t>Suppose TBA prices of the Fannie Mae 5% for July 12 and August 12 settlements are $102.50 and $102.15. </a:t>
            </a:r>
          </a:p>
          <a:p>
            <a:pPr lvl="2">
              <a:lnSpc>
                <a:spcPct val="140000"/>
              </a:lnSpc>
              <a:spcBef>
                <a:spcPct val="0"/>
              </a:spcBef>
            </a:pPr>
            <a:r>
              <a:rPr lang="en-US" altLang="zh-CN" dirty="0"/>
              <a:t>The accrued interest to be added to each of these prices is 12 actual/360 days of a month’s worth of a 5% coupon, i.e., 0.167. </a:t>
            </a:r>
          </a:p>
          <a:p>
            <a:pPr lvl="2">
              <a:lnSpc>
                <a:spcPct val="140000"/>
              </a:lnSpc>
              <a:spcBef>
                <a:spcPct val="0"/>
              </a:spcBef>
            </a:pPr>
            <a:r>
              <a:rPr lang="en-US" altLang="zh-CN" dirty="0"/>
              <a:t>Let the expected total principal pay down comprising of scheduled principal plus prepayments is 2% of outstanding balance and the prevailing short-term rate is 1%.</a:t>
            </a:r>
          </a:p>
          <a:p>
            <a:pPr lvl="2">
              <a:lnSpc>
                <a:spcPct val="140000"/>
              </a:lnSpc>
              <a:spcBef>
                <a:spcPct val="0"/>
              </a:spcBef>
            </a:pPr>
            <a:r>
              <a:rPr lang="en-US" altLang="zh-CN" dirty="0"/>
              <a:t>A balance of $10 million.</a:t>
            </a:r>
          </a:p>
          <a:p>
            <a:endParaRPr lang="zh-CN" altLang="en-US" dirty="0"/>
          </a:p>
        </p:txBody>
      </p:sp>
    </p:spTree>
    <p:extLst>
      <p:ext uri="{BB962C8B-B14F-4D97-AF65-F5344CB8AC3E}">
        <p14:creationId xmlns:p14="http://schemas.microsoft.com/office/powerpoint/2010/main" val="1978051536"/>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Dollar Rolls</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defRPr/>
            </a:pPr>
            <a:r>
              <a:rPr lang="en-US" altLang="zh-CN" dirty="0"/>
              <a:t>Dollar Rolls (cont’d)</a:t>
            </a:r>
          </a:p>
          <a:p>
            <a:pPr lvl="1">
              <a:lnSpc>
                <a:spcPct val="140000"/>
              </a:lnSpc>
              <a:spcBef>
                <a:spcPct val="0"/>
              </a:spcBef>
              <a:defRPr/>
            </a:pPr>
            <a:r>
              <a:rPr lang="en-US" altLang="zh-CN" b="1" dirty="0"/>
              <a:t>Example (cont’d)</a:t>
            </a:r>
          </a:p>
          <a:p>
            <a:pPr lvl="2">
              <a:lnSpc>
                <a:spcPct val="140000"/>
              </a:lnSpc>
              <a:spcBef>
                <a:spcPct val="0"/>
              </a:spcBef>
              <a:defRPr/>
            </a:pPr>
            <a:r>
              <a:rPr lang="en-US" altLang="zh-CN" dirty="0"/>
              <a:t>Selling the July TBA and investing the proceeds: </a:t>
            </a:r>
          </a:p>
          <a:p>
            <a:pPr marL="349250" lvl="2" indent="0" algn="ctr">
              <a:lnSpc>
                <a:spcPct val="140000"/>
              </a:lnSpc>
              <a:spcBef>
                <a:spcPct val="0"/>
              </a:spcBef>
              <a:buNone/>
              <a:defRPr/>
            </a:pPr>
            <a:r>
              <a:rPr lang="en-US" altLang="zh-CN" dirty="0"/>
              <a:t>$10M × (102.50 + 0.167)/100 = $10,266,700</a:t>
            </a:r>
          </a:p>
          <a:p>
            <a:pPr marL="349250" lvl="2" indent="0" algn="ctr">
              <a:lnSpc>
                <a:spcPct val="140000"/>
              </a:lnSpc>
              <a:spcBef>
                <a:spcPct val="0"/>
              </a:spcBef>
              <a:buNone/>
              <a:defRPr/>
            </a:pPr>
            <a:r>
              <a:rPr lang="en-US" altLang="zh-CN" dirty="0"/>
              <a:t>$10,266,700 × 1% × 31/360 = $8,841</a:t>
            </a:r>
          </a:p>
          <a:p>
            <a:pPr lvl="2">
              <a:lnSpc>
                <a:spcPct val="140000"/>
              </a:lnSpc>
              <a:spcBef>
                <a:spcPct val="0"/>
              </a:spcBef>
              <a:defRPr/>
            </a:pPr>
            <a:r>
              <a:rPr lang="en-US" altLang="zh-CN" dirty="0"/>
              <a:t>Purchasing the August TBA</a:t>
            </a:r>
          </a:p>
          <a:p>
            <a:pPr lvl="2">
              <a:lnSpc>
                <a:spcPct val="140000"/>
              </a:lnSpc>
              <a:spcBef>
                <a:spcPct val="0"/>
              </a:spcBef>
              <a:defRPr/>
            </a:pPr>
            <a:endParaRPr lang="en-US" altLang="zh-CN" dirty="0"/>
          </a:p>
          <a:p>
            <a:pPr lvl="2">
              <a:lnSpc>
                <a:spcPct val="140000"/>
              </a:lnSpc>
              <a:spcBef>
                <a:spcPct val="0"/>
              </a:spcBef>
              <a:defRPr/>
            </a:pPr>
            <a:r>
              <a:rPr lang="en-US" altLang="zh-CN" dirty="0"/>
              <a:t>Net proceeds from the roll are:</a:t>
            </a:r>
          </a:p>
          <a:p>
            <a:pPr lvl="2">
              <a:lnSpc>
                <a:spcPct val="140000"/>
              </a:lnSpc>
              <a:spcBef>
                <a:spcPct val="0"/>
              </a:spcBef>
              <a:defRPr/>
            </a:pPr>
            <a:endParaRPr lang="en-US" altLang="zh-CN" dirty="0"/>
          </a:p>
          <a:p>
            <a:pPr lvl="2">
              <a:lnSpc>
                <a:spcPct val="140000"/>
              </a:lnSpc>
              <a:spcBef>
                <a:spcPct val="0"/>
              </a:spcBef>
              <a:defRPr/>
            </a:pPr>
            <a:r>
              <a:rPr lang="en-US" altLang="zh-CN" dirty="0"/>
              <a:t>Had the investor not rolled, the net proceeds would have been the sum of Coupon and Principal Pay down, derived as:</a:t>
            </a:r>
          </a:p>
          <a:p>
            <a:pPr lvl="2">
              <a:lnSpc>
                <a:spcPct val="140000"/>
              </a:lnSpc>
              <a:spcBef>
                <a:spcPct val="0"/>
              </a:spcBef>
              <a:defRPr/>
            </a:pPr>
            <a:endParaRPr lang="en-US" altLang="zh-CN" dirty="0"/>
          </a:p>
          <a:p>
            <a:pPr lvl="2">
              <a:lnSpc>
                <a:spcPct val="140000"/>
              </a:lnSpc>
              <a:spcBef>
                <a:spcPct val="0"/>
              </a:spcBef>
              <a:defRPr/>
            </a:pPr>
            <a:r>
              <a:rPr lang="en-US" altLang="zh-CN" dirty="0"/>
              <a:t>The value of the roll: $248,475 - $241,667 = $6,808</a:t>
            </a:r>
          </a:p>
          <a:p>
            <a:endParaRPr lang="zh-CN" altLang="en-US" dirty="0"/>
          </a:p>
        </p:txBody>
      </p:sp>
      <p:sp>
        <p:nvSpPr>
          <p:cNvPr id="4" name="文本框 5"/>
          <p:cNvSpPr txBox="1">
            <a:spLocks noChangeArrowheads="1"/>
          </p:cNvSpPr>
          <p:nvPr/>
        </p:nvSpPr>
        <p:spPr bwMode="auto">
          <a:xfrm>
            <a:off x="3112375" y="3277458"/>
            <a:ext cx="6405921" cy="429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20000"/>
              </a:lnSpc>
              <a:spcBef>
                <a:spcPct val="0"/>
              </a:spcBef>
              <a:buFontTx/>
              <a:buNone/>
            </a:pPr>
            <a:r>
              <a:rPr lang="en-US" altLang="zh-CN" sz="2000" dirty="0">
                <a:latin typeface="Segoe UI" panose="020B0502040204020203" pitchFamily="34" charset="0"/>
                <a:ea typeface="微软雅黑" panose="020B0503020204020204" pitchFamily="34" charset="-122"/>
                <a:cs typeface="Segoe UI" panose="020B0502040204020203" pitchFamily="34" charset="0"/>
              </a:rPr>
              <a:t>$10M × (1 – 2%) × (102.15 + 0.167)/100 = $10,027,066</a:t>
            </a:r>
            <a:endParaRPr lang="zh-CN" altLang="en-US" sz="20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5" name="文本框 6"/>
          <p:cNvSpPr txBox="1">
            <a:spLocks noChangeArrowheads="1"/>
          </p:cNvSpPr>
          <p:nvPr/>
        </p:nvSpPr>
        <p:spPr bwMode="auto">
          <a:xfrm>
            <a:off x="3573625" y="4073526"/>
            <a:ext cx="5665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000" dirty="0">
                <a:latin typeface="Segoe UI" panose="020B0502040204020203" pitchFamily="34" charset="0"/>
                <a:ea typeface="微软雅黑" panose="020B0503020204020204" pitchFamily="34" charset="-122"/>
                <a:cs typeface="Segoe UI" panose="020B0502040204020203" pitchFamily="34" charset="0"/>
              </a:rPr>
              <a:t>($10,266,700 + $8,841) - $10,027,066 = $248,475</a:t>
            </a:r>
            <a:endParaRPr lang="zh-CN" altLang="en-US" sz="2000" dirty="0">
              <a:latin typeface="Segoe UI" panose="020B0502040204020203" pitchFamily="34" charset="0"/>
              <a:ea typeface="微软雅黑" panose="020B0503020204020204" pitchFamily="34" charset="-122"/>
              <a:cs typeface="Segoe UI" panose="020B0502040204020203" pitchFamily="34" charset="0"/>
            </a:endParaRPr>
          </a:p>
        </p:txBody>
      </p:sp>
      <p:sp>
        <p:nvSpPr>
          <p:cNvPr id="6" name="文本框 7"/>
          <p:cNvSpPr txBox="1">
            <a:spLocks noChangeArrowheads="1"/>
          </p:cNvSpPr>
          <p:nvPr/>
        </p:nvSpPr>
        <p:spPr bwMode="auto">
          <a:xfrm>
            <a:off x="4348746" y="5223669"/>
            <a:ext cx="40254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2000" dirty="0">
                <a:latin typeface="Segoe UI" panose="020B0502040204020203" pitchFamily="34" charset="0"/>
                <a:ea typeface="微软雅黑" panose="020B0503020204020204" pitchFamily="34" charset="-122"/>
                <a:cs typeface="Segoe UI" panose="020B0502040204020203" pitchFamily="34" charset="0"/>
              </a:rPr>
              <a:t>$10M × (5%/12 + 2%) = $241,667</a:t>
            </a:r>
            <a:endParaRPr lang="zh-CN" altLang="en-US" sz="2000" dirty="0">
              <a:latin typeface="Segoe UI" panose="020B0502040204020203" pitchFamily="34" charset="0"/>
              <a:ea typeface="微软雅黑" panose="020B0503020204020204" pitchFamily="34" charset="-122"/>
              <a:cs typeface="Segoe UI" panose="020B0502040204020203" pitchFamily="34" charset="0"/>
            </a:endParaRPr>
          </a:p>
        </p:txBody>
      </p:sp>
    </p:spTree>
    <p:extLst>
      <p:ext uri="{BB962C8B-B14F-4D97-AF65-F5344CB8AC3E}">
        <p14:creationId xmlns:p14="http://schemas.microsoft.com/office/powerpoint/2010/main" val="1725187710"/>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543731" cy="576064"/>
          </a:xfrm>
        </p:spPr>
        <p:txBody>
          <a:bodyPr>
            <a:normAutofit/>
          </a:bodyPr>
          <a:lstStyle/>
          <a:p>
            <a:r>
              <a:rPr lang="en-US" altLang="zh-CN" sz="2670" dirty="0" smtClean="0"/>
              <a:t>Refinancing, Turnover, Defaults, and Curtailments. </a:t>
            </a:r>
            <a:endParaRPr lang="en-US" altLang="zh-CN" sz="2670" dirty="0"/>
          </a:p>
        </p:txBody>
      </p:sp>
      <p:sp>
        <p:nvSpPr>
          <p:cNvPr id="3" name="文本占位符 2"/>
          <p:cNvSpPr>
            <a:spLocks noGrp="1"/>
          </p:cNvSpPr>
          <p:nvPr>
            <p:ph type="body" sz="quarter" idx="10"/>
          </p:nvPr>
        </p:nvSpPr>
        <p:spPr/>
        <p:txBody>
          <a:bodyPr/>
          <a:lstStyle/>
          <a:p>
            <a:r>
              <a:rPr lang="en-US" altLang="zh-CN" dirty="0"/>
              <a:t>Refinancing </a:t>
            </a:r>
            <a:endParaRPr lang="en-US" altLang="zh-CN" dirty="0" smtClean="0"/>
          </a:p>
          <a:p>
            <a:pPr lvl="1"/>
            <a:r>
              <a:rPr lang="en-US" altLang="zh-CN" dirty="0"/>
              <a:t>In a refinancing a borrower pays off the principal of an existing mortgage with the proceeds of a new </a:t>
            </a:r>
            <a:r>
              <a:rPr lang="en-US" altLang="zh-CN" dirty="0" smtClean="0"/>
              <a:t>one.</a:t>
            </a:r>
          </a:p>
          <a:p>
            <a:pPr lvl="1"/>
            <a:r>
              <a:rPr lang="en-US" altLang="zh-CN" b="1" dirty="0"/>
              <a:t>One major motive of refinancing is to reduce cost. </a:t>
            </a:r>
            <a:endParaRPr lang="en-US" altLang="zh-CN" b="1" dirty="0" smtClean="0"/>
          </a:p>
          <a:p>
            <a:pPr lvl="2"/>
            <a:r>
              <a:rPr lang="en-US" altLang="zh-CN" dirty="0"/>
              <a:t>The most likely reason for a decline in the mortgage rate is the decline in the prevailing level of interest </a:t>
            </a:r>
            <a:r>
              <a:rPr lang="en-US" altLang="zh-CN" dirty="0" smtClean="0"/>
              <a:t>rates</a:t>
            </a:r>
          </a:p>
          <a:p>
            <a:pPr lvl="3">
              <a:buFont typeface="Wingdings" panose="05000000000000000000" pitchFamily="2" charset="2"/>
              <a:buChar char="p"/>
            </a:pPr>
            <a:r>
              <a:rPr lang="en-US" altLang="zh-CN" dirty="0" smtClean="0"/>
              <a:t>Decline </a:t>
            </a:r>
            <a:r>
              <a:rPr lang="en-US" altLang="zh-CN" dirty="0"/>
              <a:t>in the spread of mortgage rates over benchmark rates  </a:t>
            </a:r>
            <a:endParaRPr lang="en-US" altLang="zh-CN" dirty="0" smtClean="0"/>
          </a:p>
          <a:p>
            <a:pPr lvl="3">
              <a:buFont typeface="Wingdings" panose="05000000000000000000" pitchFamily="2" charset="2"/>
              <a:buChar char="p"/>
            </a:pPr>
            <a:r>
              <a:rPr lang="en-US" altLang="zh-CN" dirty="0" smtClean="0"/>
              <a:t>Improvement </a:t>
            </a:r>
            <a:r>
              <a:rPr lang="en-US" altLang="zh-CN" dirty="0"/>
              <a:t>in the borrower’s credit rating  </a:t>
            </a:r>
            <a:endParaRPr lang="en-US" altLang="zh-CN" dirty="0" smtClean="0"/>
          </a:p>
          <a:p>
            <a:pPr lvl="3">
              <a:buFont typeface="Wingdings" panose="05000000000000000000" pitchFamily="2" charset="2"/>
              <a:buChar char="p"/>
            </a:pPr>
            <a:r>
              <a:rPr lang="en-US" altLang="zh-CN" dirty="0" smtClean="0"/>
              <a:t>Increase </a:t>
            </a:r>
            <a:r>
              <a:rPr lang="en-US" altLang="zh-CN" dirty="0"/>
              <a:t>in the value of mortgaged property</a:t>
            </a:r>
            <a:endParaRPr lang="zh-CN" altLang="en-US" dirty="0"/>
          </a:p>
        </p:txBody>
      </p:sp>
    </p:spTree>
    <p:extLst>
      <p:ext uri="{BB962C8B-B14F-4D97-AF65-F5344CB8AC3E}">
        <p14:creationId xmlns:p14="http://schemas.microsoft.com/office/powerpoint/2010/main" val="1375614114"/>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lnSpcReduction="10000"/>
          </a:bodyPr>
          <a:lstStyle/>
          <a:p>
            <a:r>
              <a:rPr lang="en-US" altLang="zh-CN" dirty="0"/>
              <a:t>Refinancing </a:t>
            </a:r>
            <a:endParaRPr lang="en-US" altLang="zh-CN" dirty="0" smtClean="0"/>
          </a:p>
          <a:p>
            <a:pPr lvl="1"/>
            <a:r>
              <a:rPr lang="en-US" altLang="zh-CN" b="1" dirty="0" smtClean="0"/>
              <a:t>Another </a:t>
            </a:r>
            <a:r>
              <a:rPr lang="en-US" altLang="zh-CN" b="1" dirty="0"/>
              <a:t>important motive of refinancing is to extract home equity and is commonly known as cash-out refinancing. </a:t>
            </a:r>
            <a:r>
              <a:rPr lang="en-US" altLang="zh-CN" dirty="0"/>
              <a:t>If a property value has increased, a borrower takes out a new mortgage with a higher balance than that on the existing mortgage to pay off that existing mortgage and keep some cash for other purposes. </a:t>
            </a:r>
            <a:endParaRPr lang="en-US" altLang="zh-CN" dirty="0" smtClean="0"/>
          </a:p>
          <a:p>
            <a:pPr lvl="1"/>
            <a:r>
              <a:rPr lang="en-US" altLang="zh-CN" dirty="0"/>
              <a:t>Modelling the refinancing component of prepayments considers an </a:t>
            </a:r>
            <a:r>
              <a:rPr lang="en-US" altLang="zh-CN" b="1" dirty="0"/>
              <a:t>incentive function</a:t>
            </a:r>
            <a:r>
              <a:rPr lang="en-US" altLang="zh-CN" dirty="0"/>
              <a:t> for a pool or group of loans in a pool and then defines prepayments due to refinancing as a </a:t>
            </a:r>
            <a:r>
              <a:rPr lang="en-US" altLang="zh-CN" dirty="0" smtClean="0"/>
              <a:t>non-decreasing </a:t>
            </a:r>
            <a:r>
              <a:rPr lang="en-US" altLang="zh-CN" dirty="0"/>
              <a:t>function of that incentive. Below is an example on estimating an incentive</a:t>
            </a:r>
            <a:r>
              <a:rPr lang="en-US" altLang="zh-CN" dirty="0" smtClean="0"/>
              <a:t>:</a:t>
            </a:r>
          </a:p>
          <a:p>
            <a:pPr marL="609585" lvl="1" indent="0" algn="ctr">
              <a:buNone/>
            </a:pPr>
            <a:r>
              <a:rPr lang="en-US" altLang="zh-CN" i="1" dirty="0" smtClean="0"/>
              <a:t>I </a:t>
            </a:r>
            <a:r>
              <a:rPr lang="en-US" altLang="zh-CN" i="1" dirty="0"/>
              <a:t>= (WAC − R) × WALS × A</a:t>
            </a:r>
            <a:r>
              <a:rPr lang="en-US" altLang="zh-CN" i="1" dirty="0" smtClean="0"/>
              <a:t>−K </a:t>
            </a:r>
            <a:r>
              <a:rPr lang="zh-CN" altLang="en-US" b="1" dirty="0" smtClean="0">
                <a:solidFill>
                  <a:srgbClr val="FF0000"/>
                </a:solidFill>
              </a:rPr>
              <a:t>（从来没考过）</a:t>
            </a:r>
            <a:endParaRPr lang="zh-CN" altLang="en-US" b="1" dirty="0">
              <a:solidFill>
                <a:srgbClr val="FF0000"/>
              </a:solidFill>
            </a:endParaRPr>
          </a:p>
        </p:txBody>
      </p:sp>
      <p:sp>
        <p:nvSpPr>
          <p:cNvPr id="5" name="标题 1"/>
          <p:cNvSpPr>
            <a:spLocks noGrp="1"/>
          </p:cNvSpPr>
          <p:nvPr>
            <p:ph type="title"/>
          </p:nvPr>
        </p:nvSpPr>
        <p:spPr>
          <a:xfrm>
            <a:off x="609600" y="62400"/>
            <a:ext cx="8217159" cy="576064"/>
          </a:xfrm>
        </p:spPr>
        <p:txBody>
          <a:bodyPr>
            <a:normAutofit/>
          </a:bodyPr>
          <a:lstStyle/>
          <a:p>
            <a:r>
              <a:rPr lang="en-US" altLang="zh-CN" sz="2670" dirty="0" smtClean="0"/>
              <a:t>Refinancing, Turnover, Defaults, and Curtailments. </a:t>
            </a:r>
            <a:endParaRPr lang="en-US" altLang="zh-CN" sz="2670" dirty="0"/>
          </a:p>
        </p:txBody>
      </p:sp>
    </p:spTree>
    <p:extLst>
      <p:ext uri="{BB962C8B-B14F-4D97-AF65-F5344CB8AC3E}">
        <p14:creationId xmlns:p14="http://schemas.microsoft.com/office/powerpoint/2010/main" val="401443329"/>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normAutofit fontScale="92500"/>
          </a:bodyPr>
          <a:lstStyle/>
          <a:p>
            <a:r>
              <a:rPr lang="en-US" altLang="zh-CN" dirty="0"/>
              <a:t>Turnover </a:t>
            </a:r>
            <a:endParaRPr lang="en-US" altLang="zh-CN" dirty="0" smtClean="0"/>
          </a:p>
          <a:p>
            <a:pPr lvl="1"/>
            <a:r>
              <a:rPr lang="en-US" altLang="zh-CN" dirty="0"/>
              <a:t>Turnover drives prepayments due to change in situation/condition of the borrowers such as relocation leading to sale of houses by borrowers, changing needs of borrowers to opt for a bigger or smaller house (due to divorce or addition of family members) or any other personal circumstances</a:t>
            </a:r>
            <a:r>
              <a:rPr lang="en-US" altLang="zh-CN" dirty="0" smtClean="0"/>
              <a:t>.</a:t>
            </a:r>
          </a:p>
          <a:p>
            <a:r>
              <a:rPr lang="en-US" altLang="zh-CN" dirty="0"/>
              <a:t>Defaults </a:t>
            </a:r>
            <a:endParaRPr lang="en-US" altLang="zh-CN" dirty="0" smtClean="0"/>
          </a:p>
          <a:p>
            <a:pPr lvl="1"/>
            <a:r>
              <a:rPr lang="en-US" altLang="zh-CN" dirty="0"/>
              <a:t>Default by borrowers leads to prepayment because mortgage guarantors are expected to pay interest and outstanding principal in the event of default by a borrower. </a:t>
            </a:r>
            <a:endParaRPr lang="en-US" altLang="zh-CN" dirty="0" smtClean="0"/>
          </a:p>
          <a:p>
            <a:r>
              <a:rPr lang="en-US" altLang="zh-CN" dirty="0"/>
              <a:t>Curtailments </a:t>
            </a:r>
            <a:endParaRPr lang="en-US" altLang="zh-CN" dirty="0" smtClean="0"/>
          </a:p>
          <a:p>
            <a:pPr lvl="1"/>
            <a:r>
              <a:rPr lang="en-US" altLang="zh-CN" dirty="0"/>
              <a:t>Curtailments as the name suggests are partial prepayments by a particular borrower. </a:t>
            </a:r>
            <a:endParaRPr lang="zh-CN" altLang="en-US" dirty="0"/>
          </a:p>
        </p:txBody>
      </p:sp>
      <p:sp>
        <p:nvSpPr>
          <p:cNvPr id="4" name="标题 1"/>
          <p:cNvSpPr>
            <a:spLocks noGrp="1"/>
          </p:cNvSpPr>
          <p:nvPr>
            <p:ph type="title"/>
          </p:nvPr>
        </p:nvSpPr>
        <p:spPr>
          <a:xfrm>
            <a:off x="609600" y="62400"/>
            <a:ext cx="9215535" cy="576064"/>
          </a:xfrm>
        </p:spPr>
        <p:txBody>
          <a:bodyPr>
            <a:normAutofit/>
          </a:bodyPr>
          <a:lstStyle/>
          <a:p>
            <a:r>
              <a:rPr lang="en-US" altLang="zh-CN" sz="2670" dirty="0" smtClean="0"/>
              <a:t>Refinancing, Turnover, Defaults, and Curtailments. </a:t>
            </a:r>
            <a:endParaRPr lang="en-US" altLang="zh-CN" sz="2670" dirty="0"/>
          </a:p>
        </p:txBody>
      </p:sp>
    </p:spTree>
    <p:extLst>
      <p:ext uri="{BB962C8B-B14F-4D97-AF65-F5344CB8AC3E}">
        <p14:creationId xmlns:p14="http://schemas.microsoft.com/office/powerpoint/2010/main" val="1666808109"/>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800" dirty="0"/>
              <a:t>Valuing MBS using Monte Carlo simulation</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Valuing MBS</a:t>
            </a:r>
          </a:p>
          <a:p>
            <a:pPr lvl="1">
              <a:lnSpc>
                <a:spcPct val="140000"/>
              </a:lnSpc>
              <a:spcBef>
                <a:spcPct val="0"/>
              </a:spcBef>
            </a:pPr>
            <a:r>
              <a:rPr lang="en-US" altLang="zh-CN" dirty="0"/>
              <a:t>Valuing MBSs can not use </a:t>
            </a:r>
            <a:r>
              <a:rPr lang="en-US" altLang="zh-CN" u="sng" dirty="0"/>
              <a:t>binomial model</a:t>
            </a:r>
            <a:r>
              <a:rPr lang="en-US" altLang="zh-CN" dirty="0"/>
              <a:t> while the cash flows of MBSs are strongly linked to prepayment choose.</a:t>
            </a:r>
          </a:p>
          <a:p>
            <a:pPr lvl="1">
              <a:lnSpc>
                <a:spcPct val="140000"/>
              </a:lnSpc>
              <a:spcBef>
                <a:spcPct val="0"/>
              </a:spcBef>
            </a:pPr>
            <a:r>
              <a:rPr lang="en-US" altLang="zh-CN" dirty="0"/>
              <a:t>The most popular solution to pricing path-dependent claims is Monte Carlo simulation. </a:t>
            </a:r>
          </a:p>
          <a:p>
            <a:pPr lvl="1">
              <a:lnSpc>
                <a:spcPct val="140000"/>
              </a:lnSpc>
              <a:spcBef>
                <a:spcPct val="0"/>
              </a:spcBef>
            </a:pPr>
            <a:r>
              <a:rPr lang="en-US" altLang="zh-CN" dirty="0"/>
              <a:t>A mortgage security is valued using the Monte Carlo methodology by:</a:t>
            </a:r>
          </a:p>
          <a:p>
            <a:pPr lvl="2">
              <a:lnSpc>
                <a:spcPct val="140000"/>
              </a:lnSpc>
              <a:spcBef>
                <a:spcPct val="0"/>
              </a:spcBef>
            </a:pPr>
            <a:r>
              <a:rPr lang="en-US" altLang="zh-CN" u="sng" dirty="0"/>
              <a:t>Modeling interest rate path and refinancing path.</a:t>
            </a:r>
          </a:p>
          <a:p>
            <a:pPr lvl="2">
              <a:lnSpc>
                <a:spcPct val="140000"/>
              </a:lnSpc>
              <a:spcBef>
                <a:spcPct val="0"/>
              </a:spcBef>
            </a:pPr>
            <a:r>
              <a:rPr lang="en-US" altLang="zh-CN" u="sng" dirty="0"/>
              <a:t>Calculate the cash flows of the security along each path.</a:t>
            </a:r>
          </a:p>
          <a:p>
            <a:pPr lvl="2">
              <a:lnSpc>
                <a:spcPct val="140000"/>
              </a:lnSpc>
              <a:spcBef>
                <a:spcPct val="0"/>
              </a:spcBef>
            </a:pPr>
            <a:r>
              <a:rPr lang="en-US" altLang="zh-CN" u="sng" dirty="0"/>
              <a:t>With forecast in each path, calculate the discounted value of the MBS’s cash flows.</a:t>
            </a:r>
          </a:p>
          <a:p>
            <a:pPr lvl="2">
              <a:lnSpc>
                <a:spcPct val="140000"/>
              </a:lnSpc>
              <a:spcBef>
                <a:spcPct val="0"/>
              </a:spcBef>
            </a:pPr>
            <a:r>
              <a:rPr lang="en-US" altLang="zh-CN" u="sng" dirty="0"/>
              <a:t>Compute the value of the MBS as the average of the discounted values across paths.</a:t>
            </a:r>
          </a:p>
          <a:p>
            <a:endParaRPr lang="zh-CN" altLang="en-US" dirty="0"/>
          </a:p>
        </p:txBody>
      </p:sp>
    </p:spTree>
    <p:extLst>
      <p:ext uri="{BB962C8B-B14F-4D97-AF65-F5344CB8AC3E}">
        <p14:creationId xmlns:p14="http://schemas.microsoft.com/office/powerpoint/2010/main" val="33645997"/>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670" dirty="0"/>
              <a:t>Option-Adjusted</a:t>
            </a:r>
            <a:r>
              <a:rPr lang="en-US" altLang="zh-CN" sz="2800" dirty="0"/>
              <a:t> Spread (OAS)</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Valuing MBS (cont’d)</a:t>
            </a:r>
          </a:p>
          <a:p>
            <a:pPr lvl="1">
              <a:lnSpc>
                <a:spcPct val="140000"/>
              </a:lnSpc>
              <a:spcBef>
                <a:spcPct val="0"/>
              </a:spcBef>
            </a:pPr>
            <a:r>
              <a:rPr lang="en-US" altLang="zh-CN" b="1" dirty="0"/>
              <a:t>Option-Adjusted Spread (OAS)</a:t>
            </a:r>
          </a:p>
          <a:p>
            <a:pPr lvl="2">
              <a:lnSpc>
                <a:spcPct val="140000"/>
              </a:lnSpc>
              <a:spcBef>
                <a:spcPct val="0"/>
              </a:spcBef>
            </a:pPr>
            <a:r>
              <a:rPr lang="en-US" altLang="zh-CN" dirty="0"/>
              <a:t>When using simulation to derive the value of MBS, OAS is the yield spread which has to be added to a benchmark yield curve to discount MBS's payments to match its market price.</a:t>
            </a:r>
          </a:p>
          <a:p>
            <a:pPr lvl="2">
              <a:lnSpc>
                <a:spcPct val="140000"/>
              </a:lnSpc>
              <a:spcBef>
                <a:spcPct val="0"/>
              </a:spcBef>
            </a:pPr>
            <a:r>
              <a:rPr lang="en-US" altLang="zh-CN" dirty="0"/>
              <a:t>OAS is the most popular measure of relative value for MBS.</a:t>
            </a:r>
          </a:p>
          <a:p>
            <a:pPr lvl="1">
              <a:lnSpc>
                <a:spcPct val="140000"/>
              </a:lnSpc>
              <a:spcBef>
                <a:spcPct val="0"/>
              </a:spcBef>
            </a:pPr>
            <a:r>
              <a:rPr lang="en-US" altLang="zh-CN" b="1" dirty="0"/>
              <a:t>OAS vs. Z-Spread</a:t>
            </a:r>
          </a:p>
          <a:p>
            <a:pPr lvl="2">
              <a:lnSpc>
                <a:spcPct val="140000"/>
              </a:lnSpc>
              <a:spcBef>
                <a:spcPct val="0"/>
              </a:spcBef>
            </a:pPr>
            <a:r>
              <a:rPr lang="en-US" altLang="zh-CN" b="1" dirty="0"/>
              <a:t>Zero-Volatility Spread (Z-Spread): </a:t>
            </a:r>
            <a:r>
              <a:rPr lang="en-US" altLang="zh-CN" dirty="0"/>
              <a:t>The spread is the parallel shift or spread over the zero-coupon Treasury yield curve required for discounting a pre-determined cash flow schedule to arrive at its present market price.</a:t>
            </a:r>
          </a:p>
          <a:p>
            <a:pPr lvl="2">
              <a:lnSpc>
                <a:spcPct val="140000"/>
              </a:lnSpc>
              <a:spcBef>
                <a:spcPct val="0"/>
              </a:spcBef>
            </a:pPr>
            <a:r>
              <a:rPr lang="en-US" altLang="zh-CN" dirty="0"/>
              <a:t>The implied cost of the embedded prepayment option is called </a:t>
            </a:r>
            <a:r>
              <a:rPr lang="en-US" altLang="zh-CN" u="sng" dirty="0"/>
              <a:t>option cost and it is equal to the difference between the OAS and z-spread</a:t>
            </a:r>
            <a:r>
              <a:rPr lang="en-US" altLang="zh-CN" dirty="0"/>
              <a:t>.</a:t>
            </a:r>
          </a:p>
          <a:p>
            <a:endParaRPr lang="zh-CN" altLang="en-US" dirty="0"/>
          </a:p>
        </p:txBody>
      </p:sp>
    </p:spTree>
    <p:extLst>
      <p:ext uri="{BB962C8B-B14F-4D97-AF65-F5344CB8AC3E}">
        <p14:creationId xmlns:p14="http://schemas.microsoft.com/office/powerpoint/2010/main" val="3650576045"/>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normAutofit fontScale="85000" lnSpcReduction="10000"/>
          </a:bodyPr>
          <a:lstStyle/>
          <a:p>
            <a:r>
              <a:rPr lang="en-US" altLang="zh-CN" b="0" dirty="0" smtClean="0"/>
              <a:t>Describe </a:t>
            </a:r>
            <a:r>
              <a:rPr lang="en-US" altLang="zh-CN" b="0" dirty="0"/>
              <a:t>the various types of residential mortgage products. </a:t>
            </a:r>
            <a:r>
              <a:rPr lang="en-US" altLang="zh-CN" b="0" dirty="0">
                <a:cs typeface="+mn-ea"/>
                <a:sym typeface="+mn-lt"/>
              </a:rPr>
              <a:t>★</a:t>
            </a:r>
            <a:endParaRPr lang="en-US" altLang="zh-CN" b="0" dirty="0"/>
          </a:p>
          <a:p>
            <a:r>
              <a:rPr lang="en-US" altLang="zh-CN" b="0" dirty="0">
                <a:solidFill>
                  <a:srgbClr val="FF0000"/>
                </a:solidFill>
              </a:rPr>
              <a:t>Calculate a fixed rate mortgage payment, and its principal and interest components.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t>Describe the mortgage prepayment option and the factors that influence prepayments. </a:t>
            </a:r>
            <a:r>
              <a:rPr lang="en-US" altLang="zh-CN" b="0" dirty="0">
                <a:cs typeface="+mn-ea"/>
                <a:sym typeface="+mn-lt"/>
              </a:rPr>
              <a:t>★</a:t>
            </a:r>
            <a:endParaRPr lang="en-US" altLang="zh-CN" b="0" dirty="0"/>
          </a:p>
          <a:p>
            <a:r>
              <a:rPr lang="en-US" altLang="zh-CN" b="0" dirty="0"/>
              <a:t>Summarize the securitization process of mortgage backed securities (MBS), particularly formation of mortgage pools including specific pools and TBAs. </a:t>
            </a:r>
            <a:r>
              <a:rPr lang="en-US" altLang="zh-CN" b="0" dirty="0" smtClean="0">
                <a:cs typeface="+mn-ea"/>
                <a:sym typeface="+mn-lt"/>
              </a:rPr>
              <a:t>★</a:t>
            </a:r>
            <a:r>
              <a:rPr lang="en-US" altLang="zh-CN" b="0" dirty="0">
                <a:cs typeface="+mn-ea"/>
                <a:sym typeface="+mn-lt"/>
              </a:rPr>
              <a:t>★</a:t>
            </a:r>
            <a:endParaRPr lang="en-US" altLang="zh-CN" b="0" dirty="0"/>
          </a:p>
          <a:p>
            <a:r>
              <a:rPr lang="en-US" altLang="zh-CN" b="0" dirty="0">
                <a:solidFill>
                  <a:srgbClr val="FF0000"/>
                </a:solidFill>
              </a:rPr>
              <a:t>Calculate weighted average coupon, weighted average maturity, and conditional prepayment rate (CPR) for a mortgage pool. </a:t>
            </a:r>
            <a:r>
              <a:rPr lang="en-US" altLang="zh-CN" b="0" dirty="0" smtClean="0">
                <a:solidFill>
                  <a:srgbClr val="FF0000"/>
                </a:solidFill>
                <a:cs typeface="+mn-ea"/>
                <a:sym typeface="+mn-lt"/>
              </a:rPr>
              <a:t>★★</a:t>
            </a:r>
            <a:r>
              <a:rPr lang="en-US" altLang="zh-CN" b="0" dirty="0">
                <a:solidFill>
                  <a:srgbClr val="FF0000"/>
                </a:solidFill>
                <a:cs typeface="+mn-ea"/>
                <a:sym typeface="+mn-lt"/>
              </a:rPr>
              <a:t>★</a:t>
            </a:r>
            <a:endParaRPr lang="en-US" altLang="zh-CN" b="0" dirty="0">
              <a:solidFill>
                <a:srgbClr val="FF0000"/>
              </a:solidFill>
            </a:endParaRPr>
          </a:p>
          <a:p>
            <a:r>
              <a:rPr lang="en-US" altLang="zh-CN" b="0" dirty="0"/>
              <a:t>Describe a dollar roll transaction and how to value a dollar roll. </a:t>
            </a:r>
            <a:r>
              <a:rPr lang="en-US" altLang="zh-CN" b="0" dirty="0" smtClean="0">
                <a:cs typeface="+mn-ea"/>
                <a:sym typeface="+mn-lt"/>
              </a:rPr>
              <a:t>★</a:t>
            </a:r>
            <a:endParaRPr lang="en-US" altLang="zh-CN" b="0" dirty="0"/>
          </a:p>
          <a:p>
            <a:r>
              <a:rPr lang="en-US" altLang="zh-CN" b="0" dirty="0"/>
              <a:t>Explain prepayment modeling and its four components: refinancing, turnover, defaults, and curtailments. </a:t>
            </a:r>
          </a:p>
          <a:p>
            <a:r>
              <a:rPr lang="en-US" altLang="zh-CN" b="0" dirty="0"/>
              <a:t>Describe the steps in valuing an MBS using Monte Carlo simulation. </a:t>
            </a:r>
          </a:p>
          <a:p>
            <a:r>
              <a:rPr lang="en-US" altLang="zh-CN" b="0" dirty="0"/>
              <a:t>Define Option Adjusted Spread (OAS), and explain its challenges and its uses. </a:t>
            </a:r>
            <a:r>
              <a:rPr lang="en-US" altLang="zh-CN" b="0" dirty="0">
                <a:cs typeface="+mn-ea"/>
                <a:sym typeface="+mn-lt"/>
              </a:rPr>
              <a:t>★</a:t>
            </a:r>
            <a:endParaRPr lang="en-US" altLang="zh-CN" b="0" dirty="0"/>
          </a:p>
          <a:p>
            <a:r>
              <a:rPr lang="en-US" altLang="zh-CN" b="0" dirty="0">
                <a:solidFill>
                  <a:srgbClr val="FF0000"/>
                </a:solidFill>
              </a:rPr>
              <a:t>Describe the effect of the prepayment option on the price-rate behavior of MBS</a:t>
            </a:r>
            <a:r>
              <a:rPr lang="en-US" altLang="zh-CN" b="0" dirty="0" smtClean="0">
                <a:solidFill>
                  <a:srgbClr val="FF0000"/>
                </a:solidFill>
              </a:rPr>
              <a:t>.</a:t>
            </a:r>
            <a:endParaRPr lang="zh-CN" altLang="en-US" dirty="0"/>
          </a:p>
        </p:txBody>
      </p:sp>
    </p:spTree>
    <p:extLst>
      <p:ext uri="{BB962C8B-B14F-4D97-AF65-F5344CB8AC3E}">
        <p14:creationId xmlns:p14="http://schemas.microsoft.com/office/powerpoint/2010/main" val="70279719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ne&quot;,&quot;Name&quot;:&quot;无&quot;,&quot;HeaderHeight&quot;:0.0,&quot;FooterHeight&quot;:0.0,&quot;SideMargin&quot;:0.0,&quot;TopMargin&quot;:0.0,&quot;BottomMargin&quot;:0.0,&quot;IntervalMargin&quot;:0.0,&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ISLIDE.VECTOR" val="b1a35102-f3bd-4dec-8a8d-8d1fbc06defb"/>
</p:tagLst>
</file>

<file path=ppt/theme/theme1.xml><?xml version="1.0" encoding="utf-8"?>
<a:theme xmlns:a="http://schemas.openxmlformats.org/drawingml/2006/main" name="1_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7295</TotalTime>
  <Words>26547</Words>
  <Application>Microsoft Office PowerPoint</Application>
  <PresentationFormat>自定义</PresentationFormat>
  <Paragraphs>2269</Paragraphs>
  <Slides>280</Slides>
  <Notes>4</Notes>
  <HiddenSlides>0</HiddenSlides>
  <MMClips>0</MMClips>
  <ScaleCrop>false</ScaleCrop>
  <HeadingPairs>
    <vt:vector size="4" baseType="variant">
      <vt:variant>
        <vt:lpstr>主题</vt:lpstr>
      </vt:variant>
      <vt:variant>
        <vt:i4>2</vt:i4>
      </vt:variant>
      <vt:variant>
        <vt:lpstr>幻灯片标题</vt:lpstr>
      </vt:variant>
      <vt:variant>
        <vt:i4>280</vt:i4>
      </vt:variant>
    </vt:vector>
  </HeadingPairs>
  <TitlesOfParts>
    <vt:vector size="282" baseType="lpstr">
      <vt:lpstr>1_Office 主题</vt:lpstr>
      <vt:lpstr>Office 主题</vt:lpstr>
      <vt:lpstr>Financial Market and Product</vt:lpstr>
      <vt:lpstr>Topic Weightings in FRM Part I </vt:lpstr>
      <vt:lpstr>PowerPoint 演示文稿</vt:lpstr>
      <vt:lpstr>PowerPoint 演示文稿</vt:lpstr>
      <vt:lpstr>The Risks Facing Banks</vt:lpstr>
      <vt:lpstr>Capital Management</vt:lpstr>
      <vt:lpstr>Capital Management</vt:lpstr>
      <vt:lpstr>Deposit Insurance</vt:lpstr>
      <vt:lpstr>Investment Banking Financial Arrangement</vt:lpstr>
      <vt:lpstr>Potential Conflicts of Interest In Banking</vt:lpstr>
      <vt:lpstr>Banking Book and Trading Book</vt:lpstr>
      <vt:lpstr>Banking Book and Trading Book</vt:lpstr>
      <vt:lpstr>Originate-to-Distribute Model</vt:lpstr>
      <vt:lpstr>PowerPoint 演示文稿</vt:lpstr>
      <vt:lpstr>PowerPoint 演示文稿</vt:lpstr>
      <vt:lpstr>Various Categories of Insurance Companies</vt:lpstr>
      <vt:lpstr>Mortality Table</vt:lpstr>
      <vt:lpstr>Mortality Table</vt:lpstr>
      <vt:lpstr>Mortality Table</vt:lpstr>
      <vt:lpstr>Mortality Table</vt:lpstr>
      <vt:lpstr>Mortality Table</vt:lpstr>
      <vt:lpstr>Property-casualty insurance companies</vt:lpstr>
      <vt:lpstr>Risks Facing Insurance Companies</vt:lpstr>
      <vt:lpstr>Risks in Life Insurance</vt:lpstr>
      <vt:lpstr>Moral Hazard and Adverse Selection</vt:lpstr>
      <vt:lpstr>Moral Hazard and Adverse Selection</vt:lpstr>
      <vt:lpstr>Key Indicators</vt:lpstr>
      <vt:lpstr>Example of Ratios for Property-Casualty Insurance</vt:lpstr>
      <vt:lpstr>Capital Requirement</vt:lpstr>
      <vt:lpstr>Capital Requirement</vt:lpstr>
      <vt:lpstr>DB Plans and DC Plans</vt:lpstr>
      <vt:lpstr>DB Plans and DC Plans</vt:lpstr>
      <vt:lpstr>DB Plans and DC Plans</vt:lpstr>
      <vt:lpstr>PowerPoint 演示文稿</vt:lpstr>
      <vt:lpstr>PowerPoint 演示文稿</vt:lpstr>
      <vt:lpstr>Mutual Funds and ETFs</vt:lpstr>
      <vt:lpstr>NAV of an Open-end Mutual Fund</vt:lpstr>
      <vt:lpstr>Mutual Funds and ETFs</vt:lpstr>
      <vt:lpstr>Mutual Funds and ETFs</vt:lpstr>
      <vt:lpstr>Key Differences between HFs and MFs</vt:lpstr>
      <vt:lpstr>Return on HF and the Incentive Fee of HF</vt:lpstr>
      <vt:lpstr>Return on a HF Investment </vt:lpstr>
      <vt:lpstr>Return on a HF Investment </vt:lpstr>
      <vt:lpstr>Return on a HF Investment </vt:lpstr>
      <vt:lpstr>Fee Structure</vt:lpstr>
      <vt:lpstr>Hedge Fund Strategies</vt:lpstr>
      <vt:lpstr>Hedge Fund Strategies</vt:lpstr>
      <vt:lpstr>Hedge Fund Strategies</vt:lpstr>
      <vt:lpstr>Hedge Fund Strategies</vt:lpstr>
      <vt:lpstr>Hedge Fund Strategies</vt:lpstr>
      <vt:lpstr>Hedge Fund Strategies</vt:lpstr>
      <vt:lpstr>Hedge Fund Strategies</vt:lpstr>
      <vt:lpstr>Hedge Fund Strategies</vt:lpstr>
      <vt:lpstr>PowerPoint 演示文稿</vt:lpstr>
      <vt:lpstr>PowerPoint 演示文稿</vt:lpstr>
      <vt:lpstr>Board Categories of Traders</vt:lpstr>
      <vt:lpstr>Over-The-Counter Markets</vt:lpstr>
      <vt:lpstr>Advantages and Disadvantages of OTC</vt:lpstr>
      <vt:lpstr>Over-The-Counter Markets</vt:lpstr>
      <vt:lpstr>Options, Forward contract payoffs</vt:lpstr>
      <vt:lpstr>Options, Forward contract payoffs</vt:lpstr>
      <vt:lpstr>Options, Forward contract payoffs</vt:lpstr>
      <vt:lpstr>Options, Forward contract payoffs</vt:lpstr>
      <vt:lpstr>Options, Forward contract payoffs</vt:lpstr>
      <vt:lpstr>Options, Forward contract payoffs</vt:lpstr>
      <vt:lpstr>Options, Forward contract payoffs</vt:lpstr>
      <vt:lpstr>PowerPoint 演示文稿</vt:lpstr>
      <vt:lpstr>PowerPoint 演示文稿</vt:lpstr>
      <vt:lpstr>Key Features of A Futures Contract</vt:lpstr>
      <vt:lpstr>Convergence of Futures and Spot price</vt:lpstr>
      <vt:lpstr>Margin Requirement</vt:lpstr>
      <vt:lpstr>Margin Requirement</vt:lpstr>
      <vt:lpstr>Margin Requirement</vt:lpstr>
      <vt:lpstr>Role of Clearinghouse in Futures</vt:lpstr>
      <vt:lpstr>Central Counterparties（CCPs）</vt:lpstr>
      <vt:lpstr>Role of Collateralization</vt:lpstr>
      <vt:lpstr>Differences Between A Normal and Inverted Futures Markets</vt:lpstr>
      <vt:lpstr>Different Market Quotes</vt:lpstr>
      <vt:lpstr>Delivery Process</vt:lpstr>
      <vt:lpstr>Different Trading Order Types</vt:lpstr>
      <vt:lpstr>Different Trading Order Types</vt:lpstr>
      <vt:lpstr>Different Trading Order Types</vt:lpstr>
      <vt:lpstr>Different Trading Order Types</vt:lpstr>
      <vt:lpstr>PowerPoint 演示文稿</vt:lpstr>
      <vt:lpstr>PowerPoint 演示文稿</vt:lpstr>
      <vt:lpstr>Short and Long Hedge</vt:lpstr>
      <vt:lpstr>Strip Hedge and Stack Hedge</vt:lpstr>
      <vt:lpstr>Basis Risk</vt:lpstr>
      <vt:lpstr>Basis Risk</vt:lpstr>
      <vt:lpstr>Basis Risk</vt:lpstr>
      <vt:lpstr>Minimum Variance Hedge Ratio(MVR)</vt:lpstr>
      <vt:lpstr>Minimum Variance Hedge Ratio(MVR)</vt:lpstr>
      <vt:lpstr>Hedging with Futures Contract</vt:lpstr>
      <vt:lpstr>Hedging with Futures Contract</vt:lpstr>
      <vt:lpstr>Hedging with Futures Contract</vt:lpstr>
      <vt:lpstr>Hedging with Futures Contract</vt:lpstr>
      <vt:lpstr>Hedging with Futures Contract</vt:lpstr>
      <vt:lpstr>Hedging with Futures Contract</vt:lpstr>
      <vt:lpstr>Hedging with Futures Contract</vt:lpstr>
      <vt:lpstr>Stack and Roll Hedge</vt:lpstr>
      <vt:lpstr>Stack and Roll Hedge</vt:lpstr>
      <vt:lpstr>Stack and Roll Hedge</vt:lpstr>
      <vt:lpstr>PowerPoint 演示文稿</vt:lpstr>
      <vt:lpstr>PowerPoint 演示文稿</vt:lpstr>
      <vt:lpstr>Treasury Rates,LIBOR,and Repo Rates</vt:lpstr>
      <vt:lpstr>Treasury Rates,LIBOR,and Repo Rates</vt:lpstr>
      <vt:lpstr>Treasury Rates,LIBOR,and Repo Rates</vt:lpstr>
      <vt:lpstr>Value of An Investment </vt:lpstr>
      <vt:lpstr>Value of An Investment </vt:lpstr>
      <vt:lpstr>Theoretical Price of A Bond</vt:lpstr>
      <vt:lpstr>Theoretical Price of A Bond</vt:lpstr>
      <vt:lpstr>Theoretical Price of A Bond</vt:lpstr>
      <vt:lpstr>Theoretical Price of A Bond</vt:lpstr>
      <vt:lpstr>Value of a FRA</vt:lpstr>
      <vt:lpstr>Value of a FRA</vt:lpstr>
      <vt:lpstr>Duration,Modified Duration,and Dollar Duration</vt:lpstr>
      <vt:lpstr>Duration,Modified Duration,and Dollar Duration</vt:lpstr>
      <vt:lpstr>Limitations of Duration and Convexity</vt:lpstr>
      <vt:lpstr>Limitations of Duration and Convexity</vt:lpstr>
      <vt:lpstr>Limitations of Duration and Convexity</vt:lpstr>
      <vt:lpstr>PowerPoint 演示文稿</vt:lpstr>
      <vt:lpstr>PowerPoint 演示文稿</vt:lpstr>
      <vt:lpstr>Cost of Carry Model</vt:lpstr>
      <vt:lpstr>Cost of Carry Model</vt:lpstr>
      <vt:lpstr>Cost of Carry Model</vt:lpstr>
      <vt:lpstr>Explain the Relationship Between Forward and Futures Prices</vt:lpstr>
      <vt:lpstr>Delivery Options Available In The Futures Markets</vt:lpstr>
      <vt:lpstr>Interest Rate Parity（IRP）</vt:lpstr>
      <vt:lpstr>PowerPoint 演示文稿</vt:lpstr>
      <vt:lpstr>PowerPoint 演示文稿</vt:lpstr>
      <vt:lpstr>Day Count Conventions</vt:lpstr>
      <vt:lpstr>Day Count Conventions</vt:lpstr>
      <vt:lpstr>Price Quotations of U.S T-Bills</vt:lpstr>
      <vt:lpstr>Clean Price and Dirty Price</vt:lpstr>
      <vt:lpstr>Clean Price and Dirty Price</vt:lpstr>
      <vt:lpstr>Conversion Factor</vt:lpstr>
      <vt:lpstr>Cost to Delivering</vt:lpstr>
      <vt:lpstr>CTD T-Bond</vt:lpstr>
      <vt:lpstr>Eurodollar Futures Contract</vt:lpstr>
      <vt:lpstr>Eurodollar Futures Contract</vt:lpstr>
      <vt:lpstr>Eurodollar Futures Contract</vt:lpstr>
      <vt:lpstr>LIBOR Zero Curve</vt:lpstr>
      <vt:lpstr>Duration-based hedge ratio and hedging strategy</vt:lpstr>
      <vt:lpstr>Duration-based Hedge Ratio and Hedging Strategy</vt:lpstr>
      <vt:lpstr>PowerPoint 演示文稿</vt:lpstr>
      <vt:lpstr>PowerPoint 演示文稿</vt:lpstr>
      <vt:lpstr>Plain Vanilla Interest Rate Swap</vt:lpstr>
      <vt:lpstr>Plain Vanilla Interest Rate Swap</vt:lpstr>
      <vt:lpstr>Comparative Advantage Argument</vt:lpstr>
      <vt:lpstr>Comparative Advantage Argument</vt:lpstr>
      <vt:lpstr>Using the Swap to Transform a Liability and An Asset</vt:lpstr>
      <vt:lpstr>Using the Swap to Transform a Liability and An Asset</vt:lpstr>
      <vt:lpstr>Financial Intermediaries in The Swaps Market</vt:lpstr>
      <vt:lpstr>Role of Confirmation in A Swap Transaction</vt:lpstr>
      <vt:lpstr>The Value of A Plain Vanilla Interest Rate Swap</vt:lpstr>
      <vt:lpstr>Valuation </vt:lpstr>
      <vt:lpstr>Mechanics of A Currency Swap</vt:lpstr>
      <vt:lpstr>Mechanics of A Currency Swap</vt:lpstr>
      <vt:lpstr>Mechanics of A Currency Swap</vt:lpstr>
      <vt:lpstr>Mechanics of A Currency Swap</vt:lpstr>
      <vt:lpstr>Valuation</vt:lpstr>
      <vt:lpstr>Credit Risk Exposure in A Swap Position.</vt:lpstr>
      <vt:lpstr>Other Types of Swaps</vt:lpstr>
      <vt:lpstr>PowerPoint 演示文稿</vt:lpstr>
      <vt:lpstr>PowerPoint 演示文稿</vt:lpstr>
      <vt:lpstr>PowerPoint 演示文稿</vt:lpstr>
      <vt:lpstr>Six Factors</vt:lpstr>
      <vt:lpstr>Six Factors</vt:lpstr>
      <vt:lpstr>Upper and Lower Bounds</vt:lpstr>
      <vt:lpstr>Upper and Lower Bounds</vt:lpstr>
      <vt:lpstr>Upper and Lower Bounds</vt:lpstr>
      <vt:lpstr>Put-Call Parity</vt:lpstr>
      <vt:lpstr>Early Exercise Features of American Call and Put Options.</vt:lpstr>
      <vt:lpstr>PowerPoint 演示文稿</vt:lpstr>
      <vt:lpstr>PowerPoint 演示文稿</vt:lpstr>
      <vt:lpstr>Covered Call and Protective Put</vt:lpstr>
      <vt:lpstr>Covered Call and Protective Put</vt:lpstr>
      <vt:lpstr>Covered Call and Protective Put</vt:lpstr>
      <vt:lpstr>Payoffs of Various Spread Strategies</vt:lpstr>
      <vt:lpstr>Payoffs of Various Spread Strategies</vt:lpstr>
      <vt:lpstr>Payoffs of Various Spread Strategies</vt:lpstr>
      <vt:lpstr>Payoffs of Various Spread Strategies</vt:lpstr>
      <vt:lpstr>Payoffs of Various Spread Strategies</vt:lpstr>
      <vt:lpstr>Payoffs of Various Spread Strategies</vt:lpstr>
      <vt:lpstr>Payoffs of Various Spread Strategies</vt:lpstr>
      <vt:lpstr>Payoffs of Various Spread Strategies</vt:lpstr>
      <vt:lpstr>Combination Strategies</vt:lpstr>
      <vt:lpstr>Combination Strategies</vt:lpstr>
      <vt:lpstr>Conclusion</vt:lpstr>
      <vt:lpstr>PowerPoint 演示文稿</vt:lpstr>
      <vt:lpstr>PowerPoint 演示文稿</vt:lpstr>
      <vt:lpstr>Compound Options</vt:lpstr>
      <vt:lpstr>Forward Start Options and Chooser Option</vt:lpstr>
      <vt:lpstr>Barrier Options</vt:lpstr>
      <vt:lpstr>Barrier Options</vt:lpstr>
      <vt:lpstr>Binary Options/Digital Option</vt:lpstr>
      <vt:lpstr>Lookback Options</vt:lpstr>
      <vt:lpstr>Shout Options</vt:lpstr>
      <vt:lpstr>Asian Options</vt:lpstr>
      <vt:lpstr>PowerPoint 演示文稿</vt:lpstr>
      <vt:lpstr>PowerPoint 演示文稿</vt:lpstr>
      <vt:lpstr>Commodity Terminology</vt:lpstr>
      <vt:lpstr>Commodity Terminology</vt:lpstr>
      <vt:lpstr>Basic Equilibrium Formula</vt:lpstr>
      <vt:lpstr>No‐Arbitrage Values</vt:lpstr>
      <vt:lpstr>Contango and Backwardation</vt:lpstr>
      <vt:lpstr>Compare The Lease Rate With The Convenience Yield</vt:lpstr>
      <vt:lpstr>Commodity Spread</vt:lpstr>
      <vt:lpstr>Commodity Spread</vt:lpstr>
      <vt:lpstr>PowerPoint 演示文稿</vt:lpstr>
      <vt:lpstr>PowerPoint 演示文稿</vt:lpstr>
      <vt:lpstr>Counterparty Risk</vt:lpstr>
      <vt:lpstr>The Developments in Clearing That Reduce Risk.</vt:lpstr>
      <vt:lpstr>The Developments in Clearing That Reduce Risk.</vt:lpstr>
      <vt:lpstr>The Developments in Clearing That Reduce Risk.</vt:lpstr>
      <vt:lpstr>The Developments in Clearing That Reduce Risk.</vt:lpstr>
      <vt:lpstr>Exchange-traded and OTC markets</vt:lpstr>
      <vt:lpstr>Special Purpose Vehicles (Spvs)</vt:lpstr>
      <vt:lpstr>Derivatives product companies</vt:lpstr>
      <vt:lpstr>PowerPoint 演示文稿</vt:lpstr>
      <vt:lpstr>PowerPoint 演示文稿</vt:lpstr>
      <vt:lpstr>Mechanics Of A Central Counterparty (CCP)</vt:lpstr>
      <vt:lpstr>Mechanics Of A Central Counterparty (CCP)</vt:lpstr>
      <vt:lpstr>Mechanics Of A Central Counterparty (CCP)</vt:lpstr>
      <vt:lpstr>Mechanics Of A Central Counterparty (CCP)</vt:lpstr>
      <vt:lpstr>Types of Risks Faced by CCPs</vt:lpstr>
      <vt:lpstr>Types of Risks Faced by CCPs</vt:lpstr>
      <vt:lpstr>Types of Risks Faced by CCPs</vt:lpstr>
      <vt:lpstr>Advantages and Disadvantages of OTC Central Clearing</vt:lpstr>
      <vt:lpstr>Lessons Learned from Prior CCP Failures</vt:lpstr>
      <vt:lpstr>PowerPoint 演示文稿</vt:lpstr>
      <vt:lpstr>PowerPoint 演示文稿</vt:lpstr>
      <vt:lpstr>Foreign Exchange Exposure</vt:lpstr>
      <vt:lpstr>Foreign Exchange Exposure</vt:lpstr>
      <vt:lpstr>Foreign Exchange Exposure</vt:lpstr>
      <vt:lpstr>Balance‐sheet hedging</vt:lpstr>
      <vt:lpstr>Off-Balance-Sheet Hedging</vt:lpstr>
      <vt:lpstr>PowerPoint 演示文稿</vt:lpstr>
      <vt:lpstr>PowerPoint 演示文稿</vt:lpstr>
      <vt:lpstr>Bond Indenture and Corporate Trustee</vt:lpstr>
      <vt:lpstr>Maturity Date and Main Types of Interest Payment </vt:lpstr>
      <vt:lpstr>Zero-coupon Bonds and Original-issue Discount</vt:lpstr>
      <vt:lpstr>Zero-coupon Bonds and Original-issue Discount</vt:lpstr>
      <vt:lpstr>Reinvestment Risk </vt:lpstr>
      <vt:lpstr>Various security types relevant for corporate bonds</vt:lpstr>
      <vt:lpstr>Various security types relevant for corporate bonds</vt:lpstr>
      <vt:lpstr>Retiring Bonds Before Maturity </vt:lpstr>
      <vt:lpstr>Retiring Bonds Before Maturity </vt:lpstr>
      <vt:lpstr>Retiring Bonds Before Maturity </vt:lpstr>
      <vt:lpstr>Retiring Bonds Before Maturity </vt:lpstr>
      <vt:lpstr>Retiring Bonds Before Maturity </vt:lpstr>
      <vt:lpstr>Credit Default Risk and Credit-spread Risk </vt:lpstr>
      <vt:lpstr>Event Risk</vt:lpstr>
      <vt:lpstr>High-yield Bonds</vt:lpstr>
      <vt:lpstr>Issuer default rate and a dollar default rate </vt:lpstr>
      <vt:lpstr>Recovery Rates </vt:lpstr>
      <vt:lpstr>PowerPoint 演示文稿</vt:lpstr>
      <vt:lpstr>PowerPoint 演示文稿</vt:lpstr>
      <vt:lpstr>Types of Residential Mortgage Products</vt:lpstr>
      <vt:lpstr>Types of Residential Mortgage Products</vt:lpstr>
      <vt:lpstr>Types of Residential Mortgage Products</vt:lpstr>
      <vt:lpstr>Cash Flow of Mortgage Loans</vt:lpstr>
      <vt:lpstr>Cash Flow of Mortgage Loans</vt:lpstr>
      <vt:lpstr>Fixed Rate Mortgage Payments </vt:lpstr>
      <vt:lpstr>Cash Flow of Mortgage Loans</vt:lpstr>
      <vt:lpstr>Prepayment of Mortgage Loans</vt:lpstr>
      <vt:lpstr>Prepayment of Mortgage Loans</vt:lpstr>
      <vt:lpstr>Securitization Process of MBS </vt:lpstr>
      <vt:lpstr>Securitization Process of MBS </vt:lpstr>
      <vt:lpstr>Securitization Process of MBS </vt:lpstr>
      <vt:lpstr>Specified pools and TBAs</vt:lpstr>
      <vt:lpstr>Dollar Rolls</vt:lpstr>
      <vt:lpstr>Dollar Rolls</vt:lpstr>
      <vt:lpstr>Dollar Rolls</vt:lpstr>
      <vt:lpstr>Refinancing, Turnover, Defaults, and Curtailments. </vt:lpstr>
      <vt:lpstr>Refinancing, Turnover, Defaults, and Curtailments. </vt:lpstr>
      <vt:lpstr>Refinancing, Turnover, Defaults, and Curtailments. </vt:lpstr>
      <vt:lpstr>Valuing MBS using Monte Carlo simulation</vt:lpstr>
      <vt:lpstr>Option-Adjusted Spread (OAS)</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 and Product</dc:title>
  <dc:creator>金程教育</dc:creator>
  <cp:lastModifiedBy>lenovo</cp:lastModifiedBy>
  <cp:revision>503</cp:revision>
  <dcterms:created xsi:type="dcterms:W3CDTF">2019-01-09T02:03:23Z</dcterms:created>
  <dcterms:modified xsi:type="dcterms:W3CDTF">2019-05-06T02:17:08Z</dcterms:modified>
</cp:coreProperties>
</file>